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
  </p:notesMasterIdLst>
  <p:sldIdLst>
    <p:sldId id="256" r:id="rId11"/>
    <p:sldId id="257" r:id="rId12"/>
    <p:sldId id="258" r:id="rId13"/>
    <p:sldId id="259" r:id="rId14"/>
    <p:sldId id="260" r:id="rId15"/>
    <p:sldId id="261" r:id="rId16"/>
    <p:sldId id="262" r:id="rId17"/>
    <p:sldId id="263" r:id="rId18"/>
    <p:sldId id="264" r:id="rId19"/>
    <p:sldId id="265" r:id="rId20"/>
    <p:sldId id="266" r:id="rId21"/>
    <p:sldId id="267" r:id="rId22"/>
    <p:sldId id="268" r:id="rId23"/>
    <p:sldId id="269" r:id="rId24"/>
    <p:sldId id="270" r:id="rId25"/>
  </p:sldIdLst>
  <p:sldSz cx="12192000" cy="6858000"/>
  <p:notesSz cx="6858000" cy="9144000"/>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notesMaster" Target="notesMasters/notesMaster1.xml"/><Relationship Id="rId3" Type="http://schemas.openxmlformats.org/officeDocument/2006/relationships/theme" Target="theme/theme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ableStyles" Target="tableStyles.xml"/><Relationship Id="rId11" Type="http://schemas.openxmlformats.org/officeDocument/2006/relationships/slide" Target="slides/slide1.xml"/><Relationship Id="rId12" Type="http://schemas.openxmlformats.org/officeDocument/2006/relationships/slide" Target="slides/slide2.xml"/><Relationship Id="rId13" Type="http://schemas.openxmlformats.org/officeDocument/2006/relationships/slide" Target="slides/slide3.xml"/><Relationship Id="rId14" Type="http://schemas.openxmlformats.org/officeDocument/2006/relationships/slide" Target="slides/slide4.xml"/><Relationship Id="rId15" Type="http://schemas.openxmlformats.org/officeDocument/2006/relationships/slide" Target="slides/slide5.xml"/><Relationship Id="rId16" Type="http://schemas.openxmlformats.org/officeDocument/2006/relationships/slide" Target="slides/slide6.xml"/><Relationship Id="rId17" Type="http://schemas.openxmlformats.org/officeDocument/2006/relationships/slide" Target="slides/slide7.xml"/><Relationship Id="rId18" Type="http://schemas.openxmlformats.org/officeDocument/2006/relationships/slide" Target="slides/slide8.xml"/><Relationship Id="rId19" Type="http://schemas.openxmlformats.org/officeDocument/2006/relationships/slide" Target="slides/slide9.xml"/><Relationship Id="rId20" Type="http://schemas.openxmlformats.org/officeDocument/2006/relationships/slide" Target="slides/slide10.xml"/><Relationship Id="rId21" Type="http://schemas.openxmlformats.org/officeDocument/2006/relationships/slide" Target="slides/slide11.xml"/><Relationship Id="rId22" Type="http://schemas.openxmlformats.org/officeDocument/2006/relationships/slide" Target="slides/slide12.xml"/><Relationship Id="rId23" Type="http://schemas.openxmlformats.org/officeDocument/2006/relationships/slide" Target="slides/slide13.xml"/><Relationship Id="rId24" Type="http://schemas.openxmlformats.org/officeDocument/2006/relationships/slide" Target="slides/slide14.xml"/><Relationship Id="rId25"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Notes</a:t>
            </a: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400" kern="1200">
        <a:solidFill>
          <a:schemeClr val="tx1"/>
        </a:solidFill>
        <a:latin typeface="+mn-lt"/>
        <a:ea typeface="+mn-ea"/>
        <a:cs typeface="+mn-cs"/>
      </a:defRPr>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IEP version of Lesson 4: a modified lesson that keeps the core skills and cuts the number of items. Each skill follows I do (teacher models), We do (together, with sentence frames), You do (student tries, then reveal). Click to reveal each answer. The bell work for every day follows this slide (the same questions as the online bell work); skip to the current day. Apply each student's IEP accommodations too: extended time, read-aloud, breaks, calculator, small group.</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Have this up as students walk in; they work silently while you take attendance (about 5 minutes). These review the skills today's lesson builds on: the slope formula, slope-intercept form, and distributing a negative, which students will need when they rewrite point-slope form. Reveal the answers one at a time. Watch #4: −2 times +3 is −6. Answer key: 1. Slope through (1, 3) and (4, 9): m = (9 − 3)/(4 − 1) = 6/3 = 2. 2. Slope and y-intercept of y = −3x + 5: m = −3, y-intercept (0, 5). 3. Line with slope 4 and y-intercept (0, −2): y = 4x − 2. 4. Distribute −2(x + 3): −2x − 6.</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Have this up as students walk in; they work silently while you take attendance (about 5 minutes). It reviews Day 1. For #1, the signs flip: the point (3, −1) gives x − 3 and y + 1. For #3, distribute and add 5: y − 5 = 3x − 6, so y = 3x − 1. For #4, horizontal keeps the y-value (y = 8) and vertical keeps the x-value (x = −3): HOY VUX. Answer key: 1. Slope −4 through (3, −1): y + 1 = −4(x − 3). 2. Through (2, 5) and (4, 11): m = (11 − 5)/(4 − 2) = 3, so y − 5 = 3(x − 2). 3. #2 in slope-intercept form: y = 3x − 1. 4. Through (−3, 8): horizontal y = 8; vertical x = −3.</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each word aloud. Students copy them onto their vocabulary card.</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slide up, or give students a printed copy, while they work.</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Think aloud: orange is the slope, blue is the point. The point goes in with a minus sign.</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fill in the blanks on their paper first, then reveal.</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there is no slope given, find it first with the slope formula.</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line, two forms. Slope-intercept form shows where it crosses the y-axis: (0, −1).</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Memory trick from the lesson: HOY VUX. Horizontal, zerO slope, y = a number. Vertical, Undefined slope, x = a number.</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students time to try all items before revealing. Students may use the steps slide and their notes.</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pattFill prst="lgGrid">
          <a:fgClr>
            <a:srgbClr val="E6E8F2"/>
          </a:fgClr>
          <a:bgClr>
            <a:srgbClr val="F7F7FB"/>
          </a:bgClr>
        </a:pattFill>
        <a:effectLst/>
      </p:bgPr>
    </p:bg>
    <p:spTree>
      <p:nvGrpSpPr>
        <p:cNvPr id="1" name=""/>
        <p:cNvGrpSpPr/>
        <p:nvPr/>
      </p:nvGrpSpPr>
      <p:grpSpPr>
        <a:xfrm>
          <a:off x="0" y="0"/>
          <a:ext cx="0" cy="0"/>
          <a:chOff x="0" y="0"/>
          <a:chExt cx="0" cy="0"/>
        </a:xfrm>
      </p:grpSpPr>
      <p:sp>
        <p:nvSpPr>
          <p:cNvPr id="101" name="Brand 101"/>
          <p:cNvSpPr/>
          <p:nvPr userDrawn="1"/>
        </p:nvSpPr>
        <p:spPr>
          <a:xfrm>
            <a:off x="9631375" y="128016"/>
            <a:ext cx="274320" cy="274320"/>
          </a:xfrm>
          <a:prstGeom prst="roundRect">
            <a:avLst>
              <a:gd name="adj" fmla="val 25000"/>
            </a:avLst>
          </a:prstGeom>
          <a:solidFill>
            <a:srgbClr val="3050B8"/>
          </a:solidFill>
          <a:ln>
            <a:noFill/>
          </a:ln>
        </p:spPr>
      </p:sp>
      <p:sp>
        <p:nvSpPr>
          <p:cNvPr id="102" name="Brand 102"/>
          <p:cNvSpPr/>
          <p:nvPr userDrawn="1"/>
        </p:nvSpPr>
        <p:spPr>
          <a:xfrm>
            <a:off x="9748818" y="172593"/>
            <a:ext cx="39434" cy="39434"/>
          </a:xfrm>
          <a:prstGeom prst="ellipse">
            <a:avLst/>
          </a:prstGeom>
          <a:solidFill>
            <a:srgbClr val="FFFFFF"/>
          </a:solidFill>
          <a:ln>
            <a:noFill/>
          </a:ln>
        </p:spPr>
      </p:sp>
      <p:sp>
        <p:nvSpPr>
          <p:cNvPr id="103" name="Brand 103"/>
          <p:cNvSpPr/>
          <p:nvPr userDrawn="1"/>
        </p:nvSpPr>
        <p:spPr>
          <a:xfrm>
            <a:off x="9719672" y="207740"/>
            <a:ext cx="42862" cy="42862"/>
          </a:xfrm>
          <a:prstGeom prst="ellipse">
            <a:avLst/>
          </a:prstGeom>
          <a:solidFill>
            <a:srgbClr val="FFFFFF">
              <a:alpha val="92000"/>
            </a:srgbClr>
          </a:solidFill>
          <a:ln>
            <a:noFill/>
          </a:ln>
        </p:spPr>
      </p:sp>
      <p:sp>
        <p:nvSpPr>
          <p:cNvPr id="104" name="Brand 104"/>
          <p:cNvSpPr/>
          <p:nvPr userDrawn="1"/>
        </p:nvSpPr>
        <p:spPr>
          <a:xfrm>
            <a:off x="9774536" y="207740"/>
            <a:ext cx="42862" cy="42862"/>
          </a:xfrm>
          <a:prstGeom prst="ellipse">
            <a:avLst/>
          </a:prstGeom>
          <a:solidFill>
            <a:srgbClr val="FFFFFF">
              <a:alpha val="92000"/>
            </a:srgbClr>
          </a:solidFill>
          <a:ln>
            <a:noFill/>
          </a:ln>
        </p:spPr>
      </p:sp>
      <p:sp>
        <p:nvSpPr>
          <p:cNvPr id="105" name="Brand 105"/>
          <p:cNvSpPr/>
          <p:nvPr userDrawn="1"/>
        </p:nvSpPr>
        <p:spPr>
          <a:xfrm>
            <a:off x="9746247" y="230886"/>
            <a:ext cx="44577" cy="44577"/>
          </a:xfrm>
          <a:prstGeom prst="ellipse">
            <a:avLst/>
          </a:prstGeom>
          <a:solidFill>
            <a:srgbClr val="FFFFFF"/>
          </a:solidFill>
          <a:ln>
            <a:noFill/>
          </a:ln>
        </p:spPr>
      </p:sp>
      <p:sp>
        <p:nvSpPr>
          <p:cNvPr id="106" name="Brand 106"/>
          <p:cNvSpPr/>
          <p:nvPr userDrawn="1"/>
        </p:nvSpPr>
        <p:spPr>
          <a:xfrm>
            <a:off x="9709385" y="255746"/>
            <a:ext cx="46292" cy="46292"/>
          </a:xfrm>
          <a:prstGeom prst="ellipse">
            <a:avLst/>
          </a:prstGeom>
          <a:solidFill>
            <a:srgbClr val="FFFFFF">
              <a:alpha val="82000"/>
            </a:srgbClr>
          </a:solidFill>
          <a:ln>
            <a:noFill/>
          </a:ln>
        </p:spPr>
      </p:sp>
      <p:sp>
        <p:nvSpPr>
          <p:cNvPr id="107" name="Brand 107"/>
          <p:cNvSpPr/>
          <p:nvPr userDrawn="1"/>
        </p:nvSpPr>
        <p:spPr>
          <a:xfrm>
            <a:off x="9781394" y="255746"/>
            <a:ext cx="46292" cy="46292"/>
          </a:xfrm>
          <a:prstGeom prst="ellipse">
            <a:avLst/>
          </a:prstGeom>
          <a:solidFill>
            <a:srgbClr val="FFFFFF">
              <a:alpha val="82000"/>
            </a:srgbClr>
          </a:solidFill>
          <a:ln>
            <a:noFill/>
          </a:ln>
        </p:spPr>
      </p:sp>
      <p:sp>
        <p:nvSpPr>
          <p:cNvPr id="108" name="Brand 108"/>
          <p:cNvSpPr/>
          <p:nvPr userDrawn="1"/>
        </p:nvSpPr>
        <p:spPr>
          <a:xfrm>
            <a:off x="9761677" y="303752"/>
            <a:ext cx="13716" cy="55721"/>
          </a:xfrm>
          <a:prstGeom prst="roundRect">
            <a:avLst>
              <a:gd name="adj" fmla="val 50000"/>
            </a:avLst>
          </a:prstGeom>
          <a:solidFill>
            <a:srgbClr val="9FD18B"/>
          </a:solidFill>
          <a:ln>
            <a:noFill/>
          </a:ln>
        </p:spPr>
      </p:sp>
      <p:sp>
        <p:nvSpPr>
          <p:cNvPr id="109" name="Shape 109"/>
          <p:cNvSpPr txBox="1"/>
          <p:nvPr/>
        </p:nvSpPr>
        <p:spPr>
          <a:xfrm>
            <a:off x="9960559" y="109728"/>
            <a:ext cx="1737360" cy="310896"/>
          </a:xfrm>
          <a:prstGeom prst="rect">
            <a:avLst/>
          </a:prstGeom>
          <a:noFill/>
          <a:ln>
            <a:noFill/>
          </a:ln>
        </p:spPr>
        <p:txBody>
          <a:bodyPr wrap="square" lIns="18288" tIns="0" rIns="18288" bIns="0" anchor="ctr">
            <a:noAutofit/>
          </a:bodyPr>
          <a:lstStyle/>
          <a:p>
            <a:pPr algn="l">
              <a:lnSpc>
                <a:spcPct val="100000"/>
              </a:lnSpc>
            </a:pPr>
            <a:r>
              <a:rPr lang="en-US" sz="1125" dirty="0">
                <a:solidFill>
                  <a:srgbClr val="16171D"/>
                </a:solidFill>
                <a:latin typeface="Segoe UI"/>
                <a:cs typeface="Segoe UI"/>
              </a:rPr>
              <a:t xml:space="preserve">Bluebonnet </a:t>
            </a:r>
            <a:r>
              <a:rPr lang="en-US" sz="1125" dirty="0" b="1">
                <a:solidFill>
                  <a:srgbClr val="3050B8"/>
                </a:solidFill>
                <a:latin typeface="Segoe UI"/>
                <a:cs typeface="Segoe UI"/>
              </a:rPr>
              <a:t xml:space="preserve">Algebra I</a:t>
            </a:r>
            <a:endParaRPr lang="en-US" sz="1125" dirty="0"/>
          </a:p>
        </p:txBody>
      </p:sp>
    </p:spTree>
  </p:cSld>
  <p:clrMap bg1="lt1" tx1="dk1" bg2="lt2" tx2="dk2" accent1="accent1" accent2="accent2" accent3="accent3" accent4="accent4" accent5="accent5" accent6="accent6" hlink="hlink" folHlink="folHlink"/>
  <p:sldLayoutIdLst>
    <p:sldLayoutId id="2147483649" r:id="rId1"/>
  </p:sldLayoutId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algebra1m2u1l4.vercel.app/IEP/lesson4-bellwork-day1-IEP.html" TargetMode="External"/><Relationship Id="rId4" Type="http://schemas.openxmlformats.org/officeDocument/2006/relationships/hyperlink" Target="https://algebra1m2u1l4.vercel.app/IEP/lesson4-bellwork-day2-IEP.html" TargetMode="External"/><Relationship Id="rId5" Type="http://schemas.openxmlformats.org/officeDocument/2006/relationships/hyperlink" Target="https://algebra1m2u1l4.vercel.app/IEP/lesson4-homework-IEP.html" TargetMode="External"/><Relationship Id="rId6" Type="http://schemas.openxmlformats.org/officeDocument/2006/relationships/hyperlink" Target="https://algebra1m2u1l4.vercel.app/IEP/lesson4-quiz-IEP.html"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hyperlink" Target="https://algebra1m2u1l4.vercel.app/IEP/lesson4-bellwork-day1-IEP.html" TargetMode="External"/><Relationship Id="rId4" Type="http://schemas.openxmlformats.org/officeDocument/2006/relationships/hyperlink" Target="https://algebra1m2u1l4.vercel.app/IEP/lesson4-bellwork-day2-IEP.html" TargetMode="External"/><Relationship Id="rId5" Type="http://schemas.openxmlformats.org/officeDocument/2006/relationships/hyperlink" Target="https://algebra1m2u1l4.vercel.app/IEP/lesson4-homework-IEP.html" TargetMode="External"/><Relationship Id="rId6" Type="http://schemas.openxmlformats.org/officeDocument/2006/relationships/hyperlink" Target="https://algebra1m2u1l4.vercel.app/IEP/lesson4-quiz-IEP.html"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Bluebonnet Algebra I · Module 2 · Topic 1 · Lesson 4 · IEP Version</a:t>
            </a:r>
            <a:endParaRPr lang="en-US" sz="1200" dirty="0"/>
          </a:p>
        </p:txBody>
      </p:sp>
      <p:sp>
        <p:nvSpPr>
          <p:cNvPr id="3" name="Shape 3"/>
          <p:cNvSpPr txBox="1"/>
          <p:nvPr/>
        </p:nvSpPr>
        <p:spPr>
          <a:xfrm>
            <a:off x="685800" y="961644"/>
            <a:ext cx="10820095" cy="740664"/>
          </a:xfrm>
          <a:prstGeom prst="rect">
            <a:avLst/>
          </a:prstGeom>
          <a:noFill/>
          <a:ln>
            <a:noFill/>
          </a:ln>
        </p:spPr>
        <p:txBody>
          <a:bodyPr wrap="square" lIns="36576" tIns="27432" rIns="36576" bIns="27432" anchor="t">
            <a:noAutofit/>
          </a:bodyPr>
          <a:lstStyle/>
          <a:p>
            <a:pPr algn="l">
              <a:lnSpc>
                <a:spcPct val="100000"/>
              </a:lnSpc>
            </a:pPr>
            <a:r>
              <a:rPr lang="en-US" sz="4500" dirty="0" b="1">
                <a:solidFill>
                  <a:srgbClr val="16171D"/>
                </a:solidFill>
                <a:latin typeface="Segoe UI"/>
                <a:cs typeface="Segoe UI"/>
              </a:rPr>
              <a:t xml:space="preserve">Point-Slope Form</a:t>
            </a:r>
            <a:endParaRPr lang="en-US" sz="4500" dirty="0"/>
          </a:p>
        </p:txBody>
      </p:sp>
      <p:sp>
        <p:nvSpPr>
          <p:cNvPr id="4" name="Shape 4"/>
          <p:cNvSpPr txBox="1"/>
          <p:nvPr/>
        </p:nvSpPr>
        <p:spPr>
          <a:xfrm>
            <a:off x="685800" y="1911858"/>
            <a:ext cx="10820095" cy="489204"/>
          </a:xfrm>
          <a:prstGeom prst="rect">
            <a:avLst/>
          </a:prstGeom>
          <a:noFill/>
          <a:ln>
            <a:noFill/>
          </a:ln>
        </p:spPr>
        <p:txBody>
          <a:bodyPr wrap="square" lIns="36576" tIns="27432" rIns="36576" bIns="27432" anchor="t">
            <a:noAutofit/>
          </a:bodyPr>
          <a:lstStyle/>
          <a:p>
            <a:pPr algn="l">
              <a:lnSpc>
                <a:spcPct val="100000"/>
              </a:lnSpc>
            </a:pP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i="1">
                <a:solidFill>
                  <a:srgbClr val="3050B8"/>
                </a:solidFill>
                <a:latin typeface="Cambria"/>
                <a:cs typeface="Cambria"/>
              </a:rPr>
              <a:t xml:space="preserve">y</a:t>
            </a:r>
            <a:r>
              <a:rPr lang="en-US" sz="2422" dirty="0" b="1" baseline="-25000">
                <a:solidFill>
                  <a:srgbClr val="3050B8"/>
                </a:solidFill>
                <a:latin typeface="Cambria"/>
                <a:cs typeface="Cambria"/>
              </a:rPr>
              <a:t xml:space="preserve">1</a:t>
            </a:r>
            <a:r>
              <a:rPr lang="en-US" sz="2850" dirty="0">
                <a:solidFill>
                  <a:srgbClr val="16171D"/>
                </a:solidFill>
                <a:latin typeface="Cambria"/>
                <a:cs typeface="Cambria"/>
              </a:rPr>
              <a:t xml:space="preserve"> = </a:t>
            </a:r>
            <a:r>
              <a:rPr lang="en-US" sz="2850" dirty="0" b="1" i="1">
                <a:solidFill>
                  <a:srgbClr val="C9561F"/>
                </a:solidFill>
                <a:latin typeface="Cambria"/>
                <a:cs typeface="Cambria"/>
              </a:rPr>
              <a:t xml:space="preserve">m</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i="1">
                <a:solidFill>
                  <a:srgbClr val="3050B8"/>
                </a:solidFill>
                <a:latin typeface="Cambria"/>
                <a:cs typeface="Cambria"/>
              </a:rPr>
              <a:t xml:space="preserve">x</a:t>
            </a:r>
            <a:r>
              <a:rPr lang="en-US" sz="2422" dirty="0" b="1" baseline="-25000">
                <a:solidFill>
                  <a:srgbClr val="3050B8"/>
                </a:solidFill>
                <a:latin typeface="Cambria"/>
                <a:cs typeface="Cambria"/>
              </a:rPr>
              <a:t xml:space="preserve">1</a:t>
            </a:r>
            <a:r>
              <a:rPr lang="en-US" sz="2850" dirty="0">
                <a:solidFill>
                  <a:srgbClr val="16171D"/>
                </a:solidFill>
                <a:latin typeface="Cambria"/>
                <a:cs typeface="Cambria"/>
              </a:rPr>
              <a:t xml:space="preserve">)</a:t>
            </a:r>
            <a:endParaRPr lang="en-US" sz="2850" dirty="0"/>
          </a:p>
        </p:txBody>
      </p:sp>
      <p:sp>
        <p:nvSpPr>
          <p:cNvPr id="5" name="Shape 5"/>
          <p:cNvSpPr txBox="1"/>
          <p:nvPr/>
        </p:nvSpPr>
        <p:spPr>
          <a:xfrm>
            <a:off x="685800" y="2648712"/>
            <a:ext cx="10820095"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I can…</a:t>
            </a:r>
            <a:endParaRPr lang="en-US" sz="2100" dirty="0"/>
          </a:p>
        </p:txBody>
      </p:sp>
      <p:sp>
        <p:nvSpPr>
          <p:cNvPr id="6" name="Shape 6"/>
          <p:cNvSpPr txBox="1"/>
          <p:nvPr/>
        </p:nvSpPr>
        <p:spPr>
          <a:xfrm>
            <a:off x="685800" y="319506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write an equation when I know the slope and one point.</a:t>
            </a:r>
            <a:endParaRPr lang="en-US" sz="1950" dirty="0"/>
          </a:p>
        </p:txBody>
      </p:sp>
      <p:sp>
        <p:nvSpPr>
          <p:cNvPr id="7" name="Shape 7"/>
          <p:cNvSpPr txBox="1"/>
          <p:nvPr/>
        </p:nvSpPr>
        <p:spPr>
          <a:xfrm>
            <a:off x="685800" y="371856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change point-slope form into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mx</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b</a:t>
            </a:r>
            <a:r>
              <a:rPr lang="en-US" sz="1950" dirty="0">
                <a:solidFill>
                  <a:srgbClr val="16171D"/>
                </a:solidFill>
                <a:latin typeface="Segoe UI"/>
                <a:cs typeface="Segoe UI"/>
              </a:rPr>
              <a:t xml:space="preserve">.</a:t>
            </a:r>
            <a:endParaRPr lang="en-US" sz="1950" dirty="0"/>
          </a:p>
        </p:txBody>
      </p:sp>
      <p:sp>
        <p:nvSpPr>
          <p:cNvPr id="8" name="Shape 8"/>
          <p:cNvSpPr txBox="1"/>
          <p:nvPr/>
        </p:nvSpPr>
        <p:spPr>
          <a:xfrm>
            <a:off x="685800" y="424205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write equations for horizontal and vertical lines.</a:t>
            </a:r>
            <a:endParaRPr lang="en-US" sz="1950" dirty="0"/>
          </a:p>
        </p:txBody>
      </p:sp>
      <p:sp>
        <p:nvSpPr>
          <p:cNvPr id="9" name="Shape 9"/>
          <p:cNvSpPr txBox="1"/>
          <p:nvPr/>
        </p:nvSpPr>
        <p:spPr>
          <a:xfrm>
            <a:off x="685800" y="4822698"/>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Bell work: </a:t>
            </a:r>
            <a:r>
              <a:rPr lang="en-US" sz="1800" dirty="0" b="1">
                <a:solidFill>
                  <a:srgbClr val="3050B8"/>
                </a:solidFill>
                <a:latin typeface="Segoe UI"/>
                <a:cs typeface="Segoe UI"/>
                <a:hlinkClick r:id="rId3"/>
              </a:rPr>
              <a:t xml:space="preserve">Day 1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4"/>
              </a:rPr>
              <a:t xml:space="preserve">Day 2 →</a:t>
            </a:r>
            <a:r>
              <a:rPr lang="en-US" sz="1800" dirty="0">
                <a:solidFill>
                  <a:srgbClr val="16171D"/>
                </a:solidFill>
                <a:latin typeface="Segoe UI"/>
                <a:cs typeface="Segoe UI"/>
              </a:rPr>
              <a:t xml:space="preserve"> | Practice: </a:t>
            </a:r>
            <a:r>
              <a:rPr lang="en-US" sz="1800" dirty="0" b="1">
                <a:solidFill>
                  <a:srgbClr val="3050B8"/>
                </a:solidFill>
                <a:latin typeface="Segoe UI"/>
                <a:cs typeface="Segoe UI"/>
                <a:hlinkClick r:id="rId5"/>
              </a:rPr>
              <a:t xml:space="preserve">Homework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6"/>
              </a:rPr>
              <a:t xml:space="preserve">Quiz →</a:t>
            </a:r>
            <a:endParaRPr lang="en-US" sz="1800" dirty="0"/>
          </a:p>
        </p:txBody>
      </p:sp>
      <p:sp>
        <p:nvSpPr>
          <p:cNvPr id="10" name="Shape 10"/>
          <p:cNvSpPr txBox="1"/>
          <p:nvPr/>
        </p:nvSpPr>
        <p:spPr>
          <a:xfrm>
            <a:off x="685800" y="6185916"/>
            <a:ext cx="10820095" cy="397764"/>
          </a:xfrm>
          <a:prstGeom prst="rect">
            <a:avLst/>
          </a:prstGeom>
          <a:noFill/>
          <a:ln>
            <a:noFill/>
          </a:ln>
        </p:spPr>
        <p:txBody>
          <a:bodyPr wrap="square" lIns="36576" tIns="27432" rIns="36576" bIns="27432" anchor="t">
            <a:noAutofit/>
          </a:bodyPr>
          <a:lstStyle/>
          <a:p>
            <a:pPr algn="l">
              <a:lnSpc>
                <a:spcPct val="100000"/>
              </a:lnSpc>
            </a:pPr>
            <a:r>
              <a:rPr lang="en-US" sz="1125" dirty="0">
                <a:solidFill>
                  <a:srgbClr val="5F6272"/>
                </a:solidFill>
                <a:latin typeface="Segoe UI"/>
                <a:cs typeface="Segoe UI"/>
              </a:rPr>
              <a:t xml:space="preserve">Based on Bluebonnet Learning Secondary Mathematics, Algebra I (©2024–2025 Texas Education Agency, portions ©2021 Carnegie Learning, Inc.), licensed CC BY-NC 4.0. A private site for Algebra I teachers.</a:t>
            </a:r>
            <a:endParaRPr lang="en-US" sz="1125" dirty="0"/>
          </a:p>
        </p:txBody>
      </p:sp>
      <p:sp>
        <p:nvSpPr>
          <p:cNvPr id="11" name="Slide Number 11"/>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a:t>
            </a:fld>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Bell Work · Review</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Warm up: work these on your own</a:t>
            </a:r>
            <a:endParaRPr lang="en-US" sz="3450" dirty="0"/>
          </a:p>
        </p:txBody>
      </p:sp>
      <p:sp>
        <p:nvSpPr>
          <p:cNvPr id="4" name="Shape 4"/>
          <p:cNvSpPr txBox="1"/>
          <p:nvPr/>
        </p:nvSpPr>
        <p:spPr>
          <a:xfrm>
            <a:off x="685800" y="1675638"/>
            <a:ext cx="51433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Slope through (1, 3) and (4, 9)?</a:t>
            </a:r>
            <a:endParaRPr lang="en-US" sz="1950" dirty="0"/>
          </a:p>
        </p:txBody>
      </p:sp>
      <p:sp>
        <p:nvSpPr>
          <p:cNvPr id="5" name="Shape 5"/>
          <p:cNvSpPr txBox="1"/>
          <p:nvPr/>
        </p:nvSpPr>
        <p:spPr>
          <a:xfrm>
            <a:off x="685800" y="2161032"/>
            <a:ext cx="514334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m</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9 − 3</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4 − 1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6</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3</a:t>
            </a:r>
            <a:r>
              <a:rPr lang="en-US" sz="2325" dirty="0">
                <a:solidFill>
                  <a:srgbClr val="16171D"/>
                </a:solidFill>
                <a:latin typeface="Cambria"/>
                <a:cs typeface="Cambria"/>
              </a:rPr>
              <a:t xml:space="preserve"> = 2</a:t>
            </a:r>
            <a:endParaRPr lang="en-US" sz="2325" dirty="0"/>
          </a:p>
        </p:txBody>
      </p:sp>
      <p:sp>
        <p:nvSpPr>
          <p:cNvPr id="6" name="Shape 6"/>
          <p:cNvSpPr txBox="1"/>
          <p:nvPr/>
        </p:nvSpPr>
        <p:spPr>
          <a:xfrm>
            <a:off x="685800" y="3300984"/>
            <a:ext cx="51433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Slope and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of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−3</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+ 5?</a:t>
            </a:r>
            <a:endParaRPr lang="en-US" sz="1950" dirty="0"/>
          </a:p>
        </p:txBody>
      </p:sp>
      <p:sp>
        <p:nvSpPr>
          <p:cNvPr id="7" name="Shape 7"/>
          <p:cNvSpPr txBox="1"/>
          <p:nvPr/>
        </p:nvSpPr>
        <p:spPr>
          <a:xfrm>
            <a:off x="685800" y="3786378"/>
            <a:ext cx="4234632"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m</a:t>
            </a:r>
            <a:r>
              <a:rPr lang="en-US" sz="2325" dirty="0">
                <a:solidFill>
                  <a:srgbClr val="16171D"/>
                </a:solidFill>
                <a:latin typeface="Cambria"/>
                <a:cs typeface="Cambria"/>
              </a:rPr>
              <a:t xml:space="preserve"> = −3, (0, 5)</a:t>
            </a:r>
            <a:endParaRPr lang="en-US" sz="2325" dirty="0"/>
          </a:p>
        </p:txBody>
      </p:sp>
      <p:sp>
        <p:nvSpPr>
          <p:cNvPr id="8" name="Shape 8"/>
          <p:cNvSpPr txBox="1"/>
          <p:nvPr/>
        </p:nvSpPr>
        <p:spPr>
          <a:xfrm>
            <a:off x="6362548" y="1675638"/>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Line with slope 4 and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(0, −2)?</a:t>
            </a:r>
            <a:endParaRPr lang="en-US" sz="1950" dirty="0"/>
          </a:p>
        </p:txBody>
      </p:sp>
      <p:sp>
        <p:nvSpPr>
          <p:cNvPr id="9" name="Shape 9"/>
          <p:cNvSpPr txBox="1"/>
          <p:nvPr/>
        </p:nvSpPr>
        <p:spPr>
          <a:xfrm>
            <a:off x="6362548" y="2458212"/>
            <a:ext cx="357132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4</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
        <p:nvSpPr>
          <p:cNvPr id="10" name="Shape 10"/>
          <p:cNvSpPr txBox="1"/>
          <p:nvPr/>
        </p:nvSpPr>
        <p:spPr>
          <a:xfrm>
            <a:off x="6362548" y="3243834"/>
            <a:ext cx="51433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4. Distribute: −2(</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+ 3)</a:t>
            </a:r>
            <a:endParaRPr lang="en-US" sz="1950" dirty="0"/>
          </a:p>
        </p:txBody>
      </p:sp>
      <p:sp>
        <p:nvSpPr>
          <p:cNvPr id="11" name="Shape 11"/>
          <p:cNvSpPr txBox="1"/>
          <p:nvPr/>
        </p:nvSpPr>
        <p:spPr>
          <a:xfrm>
            <a:off x="6362548" y="3729228"/>
            <a:ext cx="3073847"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− 6</a:t>
            </a:r>
            <a:endParaRPr lang="en-US" sz="2325" dirty="0"/>
          </a:p>
        </p:txBody>
      </p:sp>
      <p:sp>
        <p:nvSpPr>
          <p:cNvPr id="12" name="Slide Number 12"/>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anim calcmode="lin" valueType="num">
                                      <p:cBhvr>
                                        <p:cTn id="26" dur="500" fill="hold"/>
                                        <p:tgtEl>
                                          <p:spTgt spid="11"/>
                                        </p:tgtEl>
                                        <p:attrNameLst>
                                          <p:attrName>ppt_w</p:attrName>
                                        </p:attrNameLst>
                                      </p:cBhvr>
                                      <p:tavLst>
                                        <p:tav tm="0">
                                          <p:val>
                                            <p:fltVal val="0"/>
                                          </p:val>
                                        </p:tav>
                                        <p:tav tm="100000">
                                          <p:val>
                                            <p:strVal val="#ppt_w"/>
                                          </p:val>
                                        </p:tav>
                                      </p:tavLst>
                                    </p:anim>
                                    <p:anim calcmode="lin" valueType="num">
                                      <p:cBhvr>
                                        <p:cTn id="27"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Bell Work · Review of Day 1</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Warm up: work these on your own</a:t>
            </a:r>
            <a:endParaRPr lang="en-US" sz="3450" dirty="0"/>
          </a:p>
        </p:txBody>
      </p:sp>
      <p:sp>
        <p:nvSpPr>
          <p:cNvPr id="4" name="Shape 4"/>
          <p:cNvSpPr txBox="1"/>
          <p:nvPr/>
        </p:nvSpPr>
        <p:spPr>
          <a:xfrm>
            <a:off x="685800" y="1675638"/>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Point-slope form: slope −4, through (3, −1) </a:t>
            </a:r>
            <a:r>
              <a:rPr lang="en-US" sz="1575" dirty="0">
                <a:solidFill>
                  <a:srgbClr val="5F6272"/>
                </a:solidFill>
                <a:latin typeface="Segoe UI"/>
                <a:cs typeface="Segoe UI"/>
              </a:rPr>
              <a:t xml:space="preserve">(SE p. 204)</a:t>
            </a:r>
            <a:endParaRPr lang="en-US" sz="1950" dirty="0"/>
          </a:p>
        </p:txBody>
      </p:sp>
      <p:sp>
        <p:nvSpPr>
          <p:cNvPr id="5" name="Shape 5"/>
          <p:cNvSpPr txBox="1"/>
          <p:nvPr/>
        </p:nvSpPr>
        <p:spPr>
          <a:xfrm>
            <a:off x="685800" y="2458212"/>
            <a:ext cx="473211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+ 1 = −4(</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endParaRPr lang="en-US" sz="2325" dirty="0"/>
          </a:p>
        </p:txBody>
      </p:sp>
      <p:sp>
        <p:nvSpPr>
          <p:cNvPr id="6" name="Shape 6"/>
          <p:cNvSpPr txBox="1"/>
          <p:nvPr/>
        </p:nvSpPr>
        <p:spPr>
          <a:xfrm>
            <a:off x="685800" y="3243834"/>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Point-slope form: through (2, 5) and (4, 11) </a:t>
            </a:r>
            <a:r>
              <a:rPr lang="en-US" sz="1575" dirty="0">
                <a:solidFill>
                  <a:srgbClr val="5F6272"/>
                </a:solidFill>
                <a:latin typeface="Segoe UI"/>
                <a:cs typeface="Segoe UI"/>
              </a:rPr>
              <a:t xml:space="preserve">(SE p. 204)</a:t>
            </a:r>
            <a:endParaRPr lang="en-US" sz="1950" dirty="0"/>
          </a:p>
        </p:txBody>
      </p:sp>
      <p:sp>
        <p:nvSpPr>
          <p:cNvPr id="7" name="Shape 7"/>
          <p:cNvSpPr txBox="1"/>
          <p:nvPr/>
        </p:nvSpPr>
        <p:spPr>
          <a:xfrm>
            <a:off x="685800" y="4026408"/>
            <a:ext cx="514334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m</a:t>
            </a:r>
            <a:r>
              <a:rPr lang="en-US" sz="2325" dirty="0">
                <a:solidFill>
                  <a:srgbClr val="16171D"/>
                </a:solidFill>
                <a:latin typeface="Cambria"/>
                <a:cs typeface="Cambria"/>
              </a:rPr>
              <a:t xml:space="preserve"> = 3;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− 5 = 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
        <p:nvSpPr>
          <p:cNvPr id="8" name="Shape 8"/>
          <p:cNvSpPr txBox="1"/>
          <p:nvPr/>
        </p:nvSpPr>
        <p:spPr>
          <a:xfrm>
            <a:off x="6362548" y="1675638"/>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Rewrite #2 in slope-intercept form. </a:t>
            </a:r>
            <a:r>
              <a:rPr lang="en-US" sz="1575" dirty="0">
                <a:solidFill>
                  <a:srgbClr val="5F6272"/>
                </a:solidFill>
                <a:latin typeface="Segoe UI"/>
                <a:cs typeface="Segoe UI"/>
              </a:rPr>
              <a:t xml:space="preserve">(SE p. 203)</a:t>
            </a:r>
            <a:endParaRPr lang="en-US" sz="1950" dirty="0"/>
          </a:p>
        </p:txBody>
      </p:sp>
      <p:sp>
        <p:nvSpPr>
          <p:cNvPr id="9" name="Shape 9"/>
          <p:cNvSpPr txBox="1"/>
          <p:nvPr/>
        </p:nvSpPr>
        <p:spPr>
          <a:xfrm>
            <a:off x="6362548" y="2458212"/>
            <a:ext cx="357132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a:t>
            </a:r>
            <a:endParaRPr lang="en-US" sz="2325" dirty="0"/>
          </a:p>
        </p:txBody>
      </p:sp>
      <p:sp>
        <p:nvSpPr>
          <p:cNvPr id="10" name="Shape 10"/>
          <p:cNvSpPr txBox="1"/>
          <p:nvPr/>
        </p:nvSpPr>
        <p:spPr>
          <a:xfrm>
            <a:off x="6362548" y="3243834"/>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4. Horizontal and vertical lines through (−3, 8) </a:t>
            </a:r>
            <a:r>
              <a:rPr lang="en-US" sz="1575" dirty="0">
                <a:solidFill>
                  <a:srgbClr val="5F6272"/>
                </a:solidFill>
                <a:latin typeface="Segoe UI"/>
                <a:cs typeface="Segoe UI"/>
              </a:rPr>
              <a:t xml:space="preserve">(SE pp. 206–207)</a:t>
            </a:r>
            <a:endParaRPr lang="en-US" sz="1950" dirty="0"/>
          </a:p>
        </p:txBody>
      </p:sp>
      <p:sp>
        <p:nvSpPr>
          <p:cNvPr id="11" name="Shape 11"/>
          <p:cNvSpPr txBox="1"/>
          <p:nvPr/>
        </p:nvSpPr>
        <p:spPr>
          <a:xfrm>
            <a:off x="6362548" y="4026408"/>
            <a:ext cx="406880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8;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endParaRPr lang="en-US" sz="2325" dirty="0"/>
          </a:p>
        </p:txBody>
      </p:sp>
      <p:sp>
        <p:nvSpPr>
          <p:cNvPr id="12" name="Slide Number 12"/>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anim calcmode="lin" valueType="num">
                                      <p:cBhvr>
                                        <p:cTn id="26" dur="500" fill="hold"/>
                                        <p:tgtEl>
                                          <p:spTgt spid="11"/>
                                        </p:tgtEl>
                                        <p:attrNameLst>
                                          <p:attrName>ppt_w</p:attrName>
                                        </p:attrNameLst>
                                      </p:cBhvr>
                                      <p:tavLst>
                                        <p:tav tm="0">
                                          <p:val>
                                            <p:fltVal val="0"/>
                                          </p:val>
                                        </p:tav>
                                        <p:tav tm="100000">
                                          <p:val>
                                            <p:strVal val="#ppt_w"/>
                                          </p:val>
                                        </p:tav>
                                      </p:tavLst>
                                    </p:anim>
                                    <p:anim calcmode="lin" valueType="num">
                                      <p:cBhvr>
                                        <p:cTn id="27"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Lesson 4 · Vocabulary</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Words we need</a:t>
            </a:r>
            <a:endParaRPr lang="en-US" sz="3450" dirty="0"/>
          </a:p>
        </p:txBody>
      </p:sp>
      <p:sp>
        <p:nvSpPr>
          <p:cNvPr id="7" name="Shape 7"/>
          <p:cNvSpPr txBox="1"/>
          <p:nvPr/>
        </p:nvSpPr>
        <p:spPr>
          <a:xfrm>
            <a:off x="685800" y="1618488"/>
            <a:ext cx="3492398" cy="19667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Slope (</a:t>
            </a:r>
            <a:r>
              <a:rPr lang="en-US" sz="2100" dirty="0" b="1" i="1">
                <a:solidFill>
                  <a:srgbClr val="16171D"/>
                </a:solidFill>
                <a:latin typeface="Segoe UI"/>
                <a:cs typeface="Segoe UI"/>
              </a:rPr>
              <a:t xml:space="preserve">m</a:t>
            </a:r>
            <a:r>
              <a:rPr lang="en-US" sz="2100" dirty="0" b="1">
                <a:solidFill>
                  <a:srgbClr val="16171D"/>
                </a:solidFill>
                <a:latin typeface="Segoe UI"/>
                <a:cs typeface="Segoe UI"/>
              </a:rPr>
              <a:t xml:space="preserve">)</a:t>
            </a:r>
            <a:endParaRPr lang="en-US" sz="2100" dirty="0"/>
          </a:p>
        </p:txBody>
      </p:sp>
      <p:sp>
        <p:nvSpPr>
          <p:cNvPr id="5" name="Shape 5"/>
          <p:cNvSpPr txBox="1"/>
          <p:nvPr/>
        </p:nvSpPr>
        <p:spPr>
          <a:xfrm>
            <a:off x="895350" y="226009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How steep the line is.</a:t>
            </a:r>
            <a:endParaRPr lang="en-US" sz="1575" dirty="0"/>
          </a:p>
        </p:txBody>
      </p:sp>
      <p:sp>
        <p:nvSpPr>
          <p:cNvPr id="6" name="Shape 6"/>
          <p:cNvSpPr txBox="1"/>
          <p:nvPr/>
        </p:nvSpPr>
        <p:spPr>
          <a:xfrm>
            <a:off x="895350" y="2650236"/>
            <a:ext cx="3073298" cy="76352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m</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change in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change in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a:t>
            </a:r>
            <a:endParaRPr lang="en-US" sz="2325" dirty="0"/>
          </a:p>
        </p:txBody>
      </p:sp>
      <p:sp>
        <p:nvSpPr>
          <p:cNvPr id="11" name="Shape 11"/>
          <p:cNvSpPr txBox="1"/>
          <p:nvPr/>
        </p:nvSpPr>
        <p:spPr>
          <a:xfrm>
            <a:off x="4349648" y="1618488"/>
            <a:ext cx="3492398" cy="19667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4559198"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A point</a:t>
            </a:r>
            <a:endParaRPr lang="en-US" sz="2100" dirty="0"/>
          </a:p>
        </p:txBody>
      </p:sp>
      <p:sp>
        <p:nvSpPr>
          <p:cNvPr id="9" name="Shape 9"/>
          <p:cNvSpPr txBox="1"/>
          <p:nvPr/>
        </p:nvSpPr>
        <p:spPr>
          <a:xfrm>
            <a:off x="4559198"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A place on the line, written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a:t>
            </a:r>
            <a:endParaRPr lang="en-US" sz="1575" dirty="0"/>
          </a:p>
        </p:txBody>
      </p:sp>
      <p:sp>
        <p:nvSpPr>
          <p:cNvPr id="10" name="Shape 10"/>
          <p:cNvSpPr txBox="1"/>
          <p:nvPr/>
        </p:nvSpPr>
        <p:spPr>
          <a:xfrm>
            <a:off x="4559198" y="289026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a:t>
            </a:r>
            <a:r>
              <a:rPr lang="en-US" sz="2325" dirty="0" b="1">
                <a:solidFill>
                  <a:srgbClr val="3050B8"/>
                </a:solidFill>
                <a:latin typeface="Cambria"/>
                <a:cs typeface="Cambria"/>
              </a:rPr>
              <a:t xml:space="preserve">1</a:t>
            </a:r>
            <a:r>
              <a:rPr lang="en-US" sz="2325" dirty="0">
                <a:solidFill>
                  <a:srgbClr val="16171D"/>
                </a:solidFill>
                <a:latin typeface="Cambria"/>
                <a:cs typeface="Cambria"/>
              </a:rPr>
              <a:t xml:space="preserve">, </a:t>
            </a:r>
            <a:r>
              <a:rPr lang="en-US" sz="2325" dirty="0" b="1">
                <a:solidFill>
                  <a:srgbClr val="3050B8"/>
                </a:solidFill>
                <a:latin typeface="Cambria"/>
                <a:cs typeface="Cambria"/>
              </a:rPr>
              <a:t xml:space="preserve">4</a:t>
            </a:r>
            <a:r>
              <a:rPr lang="en-US" sz="2325" dirty="0">
                <a:solidFill>
                  <a:srgbClr val="16171D"/>
                </a:solidFill>
                <a:latin typeface="Cambria"/>
                <a:cs typeface="Cambria"/>
              </a:rPr>
              <a:t xml:space="preserve">)</a:t>
            </a:r>
            <a:endParaRPr lang="en-US" sz="2325" dirty="0"/>
          </a:p>
        </p:txBody>
      </p:sp>
      <p:sp>
        <p:nvSpPr>
          <p:cNvPr id="15" name="Shape 15"/>
          <p:cNvSpPr txBox="1"/>
          <p:nvPr/>
        </p:nvSpPr>
        <p:spPr>
          <a:xfrm>
            <a:off x="8013497" y="1618488"/>
            <a:ext cx="3492398" cy="19667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2" name="Shape 12"/>
          <p:cNvSpPr txBox="1"/>
          <p:nvPr/>
        </p:nvSpPr>
        <p:spPr>
          <a:xfrm>
            <a:off x="8223047"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Point-slope form</a:t>
            </a:r>
            <a:endParaRPr lang="en-US" sz="2100" dirty="0"/>
          </a:p>
        </p:txBody>
      </p:sp>
      <p:sp>
        <p:nvSpPr>
          <p:cNvPr id="13" name="Shape 13"/>
          <p:cNvSpPr txBox="1"/>
          <p:nvPr/>
        </p:nvSpPr>
        <p:spPr>
          <a:xfrm>
            <a:off x="8223047"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An equation made from the slope and one point.</a:t>
            </a:r>
            <a:endParaRPr lang="en-US" sz="1575" dirty="0"/>
          </a:p>
        </p:txBody>
      </p:sp>
      <p:sp>
        <p:nvSpPr>
          <p:cNvPr id="14" name="Shape 14"/>
          <p:cNvSpPr txBox="1"/>
          <p:nvPr/>
        </p:nvSpPr>
        <p:spPr>
          <a:xfrm>
            <a:off x="8223047" y="289026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b="1" i="1">
                <a:solidFill>
                  <a:srgbClr val="3050B8"/>
                </a:solidFill>
                <a:latin typeface="Cambria"/>
                <a:cs typeface="Cambria"/>
              </a:rPr>
              <a:t xml:space="preserve">y</a:t>
            </a:r>
            <a:r>
              <a:rPr lang="en-US" sz="1976" dirty="0" b="1" baseline="-25000">
                <a:solidFill>
                  <a:srgbClr val="3050B8"/>
                </a:solidFill>
                <a:latin typeface="Cambria"/>
                <a:cs typeface="Cambria"/>
              </a:rPr>
              <a:t xml:space="preserve">1</a:t>
            </a:r>
            <a:r>
              <a:rPr lang="en-US" sz="2325" dirty="0">
                <a:solidFill>
                  <a:srgbClr val="16171D"/>
                </a:solidFill>
                <a:latin typeface="Cambria"/>
                <a:cs typeface="Cambria"/>
              </a:rPr>
              <a:t xml:space="preserve"> = </a:t>
            </a:r>
            <a:r>
              <a:rPr lang="en-US" sz="2325" dirty="0" b="1" i="1">
                <a:solidFill>
                  <a:srgbClr val="C9561F"/>
                </a:solidFill>
                <a:latin typeface="Cambria"/>
                <a:cs typeface="Cambria"/>
              </a:rPr>
              <a:t xml:space="preserve">m</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i="1">
                <a:solidFill>
                  <a:srgbClr val="3050B8"/>
                </a:solidFill>
                <a:latin typeface="Cambria"/>
                <a:cs typeface="Cambria"/>
              </a:rPr>
              <a:t xml:space="preserve">x</a:t>
            </a:r>
            <a:r>
              <a:rPr lang="en-US" sz="1976" dirty="0" b="1" baseline="-25000">
                <a:solidFill>
                  <a:srgbClr val="3050B8"/>
                </a:solidFill>
                <a:latin typeface="Cambria"/>
                <a:cs typeface="Cambria"/>
              </a:rPr>
              <a:t xml:space="preserve">1</a:t>
            </a:r>
            <a:r>
              <a:rPr lang="en-US" sz="2325" dirty="0">
                <a:solidFill>
                  <a:srgbClr val="16171D"/>
                </a:solidFill>
                <a:latin typeface="Cambria"/>
                <a:cs typeface="Cambria"/>
              </a:rPr>
              <a:t xml:space="preserve">)</a:t>
            </a:r>
            <a:endParaRPr lang="en-US" sz="2325" dirty="0"/>
          </a:p>
        </p:txBody>
      </p:sp>
      <p:sp>
        <p:nvSpPr>
          <p:cNvPr id="16" name="Slide Number 1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a:t>
            </a:fld>
          </a:p>
        </p:txBody>
      </p:sp>
    </p:spTree>
  </p:cSld>
  <p:clrMapOvr>
    <a:masterClrMapping/>
  </p:clrMapOvr>
  <p:transition spd="med">
    <p:fad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Lesson 4 · Steps</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How to write point-slope form</a:t>
            </a:r>
            <a:endParaRPr lang="en-US" sz="3450" dirty="0"/>
          </a:p>
        </p:txBody>
      </p:sp>
      <p:sp>
        <p:nvSpPr>
          <p:cNvPr id="4" name="Shape 4"/>
          <p:cNvSpPr txBox="1"/>
          <p:nvPr/>
        </p:nvSpPr>
        <p:spPr>
          <a:xfrm>
            <a:off x="685800" y="161848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1.</a:t>
            </a:r>
            <a:r>
              <a:rPr lang="en-US" sz="1950" dirty="0">
                <a:solidFill>
                  <a:srgbClr val="16171D"/>
                </a:solidFill>
                <a:latin typeface="Segoe UI"/>
                <a:cs typeface="Segoe UI"/>
              </a:rPr>
              <a:t xml:space="preserve"> Find the slope, </a:t>
            </a:r>
            <a:r>
              <a:rPr lang="en-US" sz="1950" dirty="0" b="1" i="1">
                <a:solidFill>
                  <a:srgbClr val="C9561F"/>
                </a:solidFill>
                <a:latin typeface="Segoe UI"/>
                <a:cs typeface="Segoe UI"/>
              </a:rPr>
              <a:t xml:space="preserve">m</a:t>
            </a:r>
            <a:r>
              <a:rPr lang="en-US" sz="1950" dirty="0">
                <a:solidFill>
                  <a:srgbClr val="16171D"/>
                </a:solidFill>
                <a:latin typeface="Segoe UI"/>
                <a:cs typeface="Segoe UI"/>
              </a:rPr>
              <a:t xml:space="preserve">.</a:t>
            </a:r>
            <a:endParaRPr lang="en-US" sz="1950" dirty="0"/>
          </a:p>
        </p:txBody>
      </p:sp>
      <p:sp>
        <p:nvSpPr>
          <p:cNvPr id="5" name="Shape 5"/>
          <p:cNvSpPr txBox="1"/>
          <p:nvPr/>
        </p:nvSpPr>
        <p:spPr>
          <a:xfrm>
            <a:off x="685800" y="2141982"/>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2.</a:t>
            </a:r>
            <a:r>
              <a:rPr lang="en-US" sz="1950" dirty="0">
                <a:solidFill>
                  <a:srgbClr val="16171D"/>
                </a:solidFill>
                <a:latin typeface="Segoe UI"/>
                <a:cs typeface="Segoe UI"/>
              </a:rPr>
              <a:t xml:space="preserve"> Find a point, (</a:t>
            </a:r>
            <a:r>
              <a:rPr lang="en-US" sz="1950" dirty="0" b="1" i="1">
                <a:solidFill>
                  <a:srgbClr val="3050B8"/>
                </a:solidFill>
                <a:latin typeface="Segoe UI"/>
                <a:cs typeface="Segoe UI"/>
              </a:rPr>
              <a:t xml:space="preserve">x</a:t>
            </a:r>
            <a:r>
              <a:rPr lang="en-US" sz="1658" dirty="0" b="1" baseline="-25000">
                <a:solidFill>
                  <a:srgbClr val="3050B8"/>
                </a:solidFill>
                <a:latin typeface="Segoe UI"/>
                <a:cs typeface="Segoe UI"/>
              </a:rPr>
              <a:t xml:space="preserve">1</a:t>
            </a:r>
            <a:r>
              <a:rPr lang="en-US" sz="1950" dirty="0">
                <a:solidFill>
                  <a:srgbClr val="16171D"/>
                </a:solidFill>
                <a:latin typeface="Segoe UI"/>
                <a:cs typeface="Segoe UI"/>
              </a:rPr>
              <a:t xml:space="preserve">, </a:t>
            </a:r>
            <a:r>
              <a:rPr lang="en-US" sz="1950" dirty="0" b="1" i="1">
                <a:solidFill>
                  <a:srgbClr val="3050B8"/>
                </a:solidFill>
                <a:latin typeface="Segoe UI"/>
                <a:cs typeface="Segoe UI"/>
              </a:rPr>
              <a:t xml:space="preserve">y</a:t>
            </a:r>
            <a:r>
              <a:rPr lang="en-US" sz="1658" dirty="0" b="1" baseline="-25000">
                <a:solidFill>
                  <a:srgbClr val="3050B8"/>
                </a:solidFill>
                <a:latin typeface="Segoe UI"/>
                <a:cs typeface="Segoe UI"/>
              </a:rPr>
              <a:t xml:space="preserve">1</a:t>
            </a:r>
            <a:r>
              <a:rPr lang="en-US" sz="1950" dirty="0">
                <a:solidFill>
                  <a:srgbClr val="16171D"/>
                </a:solidFill>
                <a:latin typeface="Segoe UI"/>
                <a:cs typeface="Segoe UI"/>
              </a:rPr>
              <a:t xml:space="preserve">).</a:t>
            </a:r>
            <a:endParaRPr lang="en-US" sz="1950" dirty="0"/>
          </a:p>
        </p:txBody>
      </p:sp>
      <p:sp>
        <p:nvSpPr>
          <p:cNvPr id="6" name="Shape 6"/>
          <p:cNvSpPr txBox="1"/>
          <p:nvPr/>
        </p:nvSpPr>
        <p:spPr>
          <a:xfrm>
            <a:off x="685800" y="266547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3.</a:t>
            </a:r>
            <a:r>
              <a:rPr lang="en-US" sz="1950" dirty="0">
                <a:solidFill>
                  <a:srgbClr val="16171D"/>
                </a:solidFill>
                <a:latin typeface="Segoe UI"/>
                <a:cs typeface="Segoe UI"/>
              </a:rPr>
              <a:t xml:space="preserve"> Put them into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a:t>
            </a:r>
            <a:r>
              <a:rPr lang="en-US" sz="1950" dirty="0" b="1" i="1">
                <a:solidFill>
                  <a:srgbClr val="3050B8"/>
                </a:solidFill>
                <a:latin typeface="Segoe UI"/>
                <a:cs typeface="Segoe UI"/>
              </a:rPr>
              <a:t xml:space="preserve">y</a:t>
            </a:r>
            <a:r>
              <a:rPr lang="en-US" sz="1658" dirty="0" b="1" baseline="-25000">
                <a:solidFill>
                  <a:srgbClr val="3050B8"/>
                </a:solidFill>
                <a:latin typeface="Segoe UI"/>
                <a:cs typeface="Segoe UI"/>
              </a:rPr>
              <a:t xml:space="preserve">1</a:t>
            </a:r>
            <a:r>
              <a:rPr lang="en-US" sz="1950" dirty="0">
                <a:solidFill>
                  <a:srgbClr val="16171D"/>
                </a:solidFill>
                <a:latin typeface="Segoe UI"/>
                <a:cs typeface="Segoe UI"/>
              </a:rPr>
              <a:t xml:space="preserve"> = </a:t>
            </a:r>
            <a:r>
              <a:rPr lang="en-US" sz="1950" dirty="0" b="1" i="1">
                <a:solidFill>
                  <a:srgbClr val="C9561F"/>
                </a:solidFill>
                <a:latin typeface="Segoe UI"/>
                <a:cs typeface="Segoe UI"/>
              </a:rPr>
              <a:t xml:space="preserve">m</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a:t>
            </a:r>
            <a:r>
              <a:rPr lang="en-US" sz="1950" dirty="0" b="1" i="1">
                <a:solidFill>
                  <a:srgbClr val="3050B8"/>
                </a:solidFill>
                <a:latin typeface="Segoe UI"/>
                <a:cs typeface="Segoe UI"/>
              </a:rPr>
              <a:t xml:space="preserve">x</a:t>
            </a:r>
            <a:r>
              <a:rPr lang="en-US" sz="1658" dirty="0" b="1" baseline="-25000">
                <a:solidFill>
                  <a:srgbClr val="3050B8"/>
                </a:solidFill>
                <a:latin typeface="Segoe UI"/>
                <a:cs typeface="Segoe UI"/>
              </a:rPr>
              <a:t xml:space="preserve">1</a:t>
            </a:r>
            <a:r>
              <a:rPr lang="en-US" sz="1950" dirty="0">
                <a:solidFill>
                  <a:srgbClr val="16171D"/>
                </a:solidFill>
                <a:latin typeface="Segoe UI"/>
                <a:cs typeface="Segoe UI"/>
              </a:rPr>
              <a:t xml:space="preserve">).</a:t>
            </a:r>
            <a:endParaRPr lang="en-US" sz="1950" dirty="0"/>
          </a:p>
        </p:txBody>
      </p:sp>
      <p:sp>
        <p:nvSpPr>
          <p:cNvPr id="7" name="Shape 7"/>
          <p:cNvSpPr txBox="1"/>
          <p:nvPr/>
        </p:nvSpPr>
        <p:spPr>
          <a:xfrm>
            <a:off x="685800" y="318897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4.</a:t>
            </a:r>
            <a:r>
              <a:rPr lang="en-US" sz="1950" dirty="0">
                <a:solidFill>
                  <a:srgbClr val="16171D"/>
                </a:solidFill>
                <a:latin typeface="Segoe UI"/>
                <a:cs typeface="Segoe UI"/>
              </a:rPr>
              <a:t xml:space="preserve"> Check the signs: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(−4) becomes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+ 4.</a:t>
            </a:r>
            <a:endParaRPr lang="en-US" sz="1950" dirty="0"/>
          </a:p>
        </p:txBody>
      </p:sp>
      <p:sp>
        <p:nvSpPr>
          <p:cNvPr id="8" name="Slide Number 8"/>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5</a:t>
            </a:fld>
          </a:p>
        </p:txBody>
      </p:sp>
    </p:spTree>
  </p:cSld>
  <p:clrMapOvr>
    <a:masterClrMapping/>
  </p:clrMapOvr>
  <p:transition spd="med">
    <p:fade/>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I do · Watch me</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Slope 3, point (1, 4)</a:t>
            </a:r>
            <a:endParaRPr lang="en-US" sz="3450" dirty="0"/>
          </a:p>
        </p:txBody>
      </p:sp>
      <p:sp>
        <p:nvSpPr>
          <p:cNvPr id="4" name="Shape 4"/>
          <p:cNvSpPr txBox="1"/>
          <p:nvPr/>
        </p:nvSpPr>
        <p:spPr>
          <a:xfrm>
            <a:off x="685800" y="1618488"/>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Step 1: </a:t>
            </a:r>
            <a:r>
              <a:rPr lang="en-US" sz="1950" dirty="0" b="1" i="1">
                <a:solidFill>
                  <a:srgbClr val="C9561F"/>
                </a:solidFill>
                <a:latin typeface="Segoe UI"/>
                <a:cs typeface="Segoe UI"/>
              </a:rPr>
              <a:t xml:space="preserve">m</a:t>
            </a:r>
            <a:r>
              <a:rPr lang="en-US" sz="1950" dirty="0" b="1">
                <a:solidFill>
                  <a:srgbClr val="C9561F"/>
                </a:solidFill>
                <a:latin typeface="Segoe UI"/>
                <a:cs typeface="Segoe UI"/>
              </a:rPr>
              <a:t xml:space="preserve"> = 3</a:t>
            </a:r>
            <a:endParaRPr lang="en-US" sz="1950" dirty="0"/>
          </a:p>
        </p:txBody>
      </p:sp>
      <p:sp>
        <p:nvSpPr>
          <p:cNvPr id="5" name="Shape 5"/>
          <p:cNvSpPr txBox="1"/>
          <p:nvPr/>
        </p:nvSpPr>
        <p:spPr>
          <a:xfrm>
            <a:off x="685800" y="2103882"/>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Step 2: </a:t>
            </a:r>
            <a:r>
              <a:rPr lang="en-US" sz="1950" dirty="0" b="1" i="1">
                <a:solidFill>
                  <a:srgbClr val="3050B8"/>
                </a:solidFill>
                <a:latin typeface="Segoe UI"/>
                <a:cs typeface="Segoe UI"/>
              </a:rPr>
              <a:t xml:space="preserve">x</a:t>
            </a:r>
            <a:r>
              <a:rPr lang="en-US" sz="1658" dirty="0" b="1" baseline="-25000">
                <a:solidFill>
                  <a:srgbClr val="3050B8"/>
                </a:solidFill>
                <a:latin typeface="Segoe UI"/>
                <a:cs typeface="Segoe UI"/>
              </a:rPr>
              <a:t xml:space="preserve">1</a:t>
            </a:r>
            <a:r>
              <a:rPr lang="en-US" sz="1950" dirty="0" b="1">
                <a:solidFill>
                  <a:srgbClr val="3050B8"/>
                </a:solidFill>
                <a:latin typeface="Segoe UI"/>
                <a:cs typeface="Segoe UI"/>
              </a:rPr>
              <a:t xml:space="preserve"> = 1, </a:t>
            </a:r>
            <a:r>
              <a:rPr lang="en-US" sz="1950" dirty="0" b="1" i="1">
                <a:solidFill>
                  <a:srgbClr val="3050B8"/>
                </a:solidFill>
                <a:latin typeface="Segoe UI"/>
                <a:cs typeface="Segoe UI"/>
              </a:rPr>
              <a:t xml:space="preserve">y</a:t>
            </a:r>
            <a:r>
              <a:rPr lang="en-US" sz="1658" dirty="0" b="1" baseline="-25000">
                <a:solidFill>
                  <a:srgbClr val="3050B8"/>
                </a:solidFill>
                <a:latin typeface="Segoe UI"/>
                <a:cs typeface="Segoe UI"/>
              </a:rPr>
              <a:t xml:space="preserve">1</a:t>
            </a:r>
            <a:r>
              <a:rPr lang="en-US" sz="1950" dirty="0" b="1">
                <a:solidFill>
                  <a:srgbClr val="3050B8"/>
                </a:solidFill>
                <a:latin typeface="Segoe UI"/>
                <a:cs typeface="Segoe UI"/>
              </a:rPr>
              <a:t xml:space="preserve"> = 4</a:t>
            </a:r>
            <a:endParaRPr lang="en-US" sz="1950" dirty="0"/>
          </a:p>
        </p:txBody>
      </p:sp>
      <p:sp>
        <p:nvSpPr>
          <p:cNvPr id="6" name="Shape 6"/>
          <p:cNvSpPr txBox="1"/>
          <p:nvPr/>
        </p:nvSpPr>
        <p:spPr>
          <a:xfrm>
            <a:off x="685800" y="2589276"/>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Step 3: put them in.</a:t>
            </a:r>
            <a:endParaRPr lang="en-US" sz="1950" dirty="0"/>
          </a:p>
        </p:txBody>
      </p:sp>
      <p:sp>
        <p:nvSpPr>
          <p:cNvPr id="7" name="Shape 7"/>
          <p:cNvSpPr txBox="1"/>
          <p:nvPr/>
        </p:nvSpPr>
        <p:spPr>
          <a:xfrm>
            <a:off x="685800" y="3074670"/>
            <a:ext cx="5219548" cy="59893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4</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3</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1</a:t>
            </a:r>
            <a:r>
              <a:rPr lang="en-US" sz="2850" dirty="0">
                <a:solidFill>
                  <a:srgbClr val="16171D"/>
                </a:solidFill>
                <a:latin typeface="Cambria"/>
                <a:cs typeface="Cambria"/>
              </a:rPr>
              <a:t xml:space="preserve">)</a:t>
            </a:r>
            <a:endParaRPr lang="en-US" sz="2850" dirty="0"/>
          </a:p>
        </p:txBody>
      </p:sp>
      <p:sp>
        <p:nvSpPr>
          <p:cNvPr id="8" name="Shape 8"/>
          <p:cNvSpPr/>
          <p:nvPr/>
        </p:nvSpPr>
        <p:spPr>
          <a:xfrm>
            <a:off x="6286348" y="1618488"/>
            <a:ext cx="3238500" cy="34290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9" name="Line 9"/>
          <p:cNvCxnSpPr/>
          <p:nvPr/>
        </p:nvCxnSpPr>
        <p:spPr>
          <a:xfrm>
            <a:off x="6610198" y="1732788"/>
            <a:ext cx="0" cy="3067050"/>
          </a:xfrm>
          <a:prstGeom prst="line">
            <a:avLst/>
          </a:prstGeom>
          <a:ln w="9525" cap="flat">
            <a:solidFill>
              <a:srgbClr val="E6E8F2"/>
            </a:solidFill>
          </a:ln>
        </p:spPr>
      </p:cxnSp>
      <p:cxnSp>
        <p:nvCxnSpPr>
          <p:cNvPr id="10" name="Line 10"/>
          <p:cNvCxnSpPr/>
          <p:nvPr/>
        </p:nvCxnSpPr>
        <p:spPr>
          <a:xfrm>
            <a:off x="7076923" y="1732788"/>
            <a:ext cx="0" cy="3067050"/>
          </a:xfrm>
          <a:prstGeom prst="line">
            <a:avLst/>
          </a:prstGeom>
          <a:ln w="9525" cap="flat">
            <a:solidFill>
              <a:srgbClr val="E6E8F2"/>
            </a:solidFill>
          </a:ln>
        </p:spPr>
      </p:cxnSp>
      <p:cxnSp>
        <p:nvCxnSpPr>
          <p:cNvPr id="11" name="Line 11"/>
          <p:cNvCxnSpPr/>
          <p:nvPr/>
        </p:nvCxnSpPr>
        <p:spPr>
          <a:xfrm>
            <a:off x="7543648" y="1732788"/>
            <a:ext cx="0" cy="3067050"/>
          </a:xfrm>
          <a:prstGeom prst="line">
            <a:avLst/>
          </a:prstGeom>
          <a:ln w="9525" cap="flat">
            <a:solidFill>
              <a:srgbClr val="E6E8F2"/>
            </a:solidFill>
          </a:ln>
        </p:spPr>
      </p:cxnSp>
      <p:cxnSp>
        <p:nvCxnSpPr>
          <p:cNvPr id="12" name="Line 12"/>
          <p:cNvCxnSpPr/>
          <p:nvPr/>
        </p:nvCxnSpPr>
        <p:spPr>
          <a:xfrm>
            <a:off x="8010373" y="1732788"/>
            <a:ext cx="0" cy="3067050"/>
          </a:xfrm>
          <a:prstGeom prst="line">
            <a:avLst/>
          </a:prstGeom>
          <a:ln w="9525" cap="flat">
            <a:solidFill>
              <a:srgbClr val="E6E8F2"/>
            </a:solidFill>
          </a:ln>
        </p:spPr>
      </p:cxnSp>
      <p:cxnSp>
        <p:nvCxnSpPr>
          <p:cNvPr id="13" name="Line 13"/>
          <p:cNvCxnSpPr/>
          <p:nvPr/>
        </p:nvCxnSpPr>
        <p:spPr>
          <a:xfrm>
            <a:off x="8477098" y="1732788"/>
            <a:ext cx="0" cy="3067050"/>
          </a:xfrm>
          <a:prstGeom prst="line">
            <a:avLst/>
          </a:prstGeom>
          <a:ln w="9525" cap="flat">
            <a:solidFill>
              <a:srgbClr val="E6E8F2"/>
            </a:solidFill>
          </a:ln>
        </p:spPr>
      </p:cxnSp>
      <p:cxnSp>
        <p:nvCxnSpPr>
          <p:cNvPr id="14" name="Line 14"/>
          <p:cNvCxnSpPr/>
          <p:nvPr/>
        </p:nvCxnSpPr>
        <p:spPr>
          <a:xfrm>
            <a:off x="8943823" y="1732788"/>
            <a:ext cx="0" cy="3067050"/>
          </a:xfrm>
          <a:prstGeom prst="line">
            <a:avLst/>
          </a:prstGeom>
          <a:ln w="9525" cap="flat">
            <a:solidFill>
              <a:srgbClr val="E6E8F2"/>
            </a:solidFill>
          </a:ln>
        </p:spPr>
      </p:cxnSp>
      <p:cxnSp>
        <p:nvCxnSpPr>
          <p:cNvPr id="15" name="Line 15"/>
          <p:cNvCxnSpPr/>
          <p:nvPr/>
        </p:nvCxnSpPr>
        <p:spPr>
          <a:xfrm>
            <a:off x="9410548" y="1732788"/>
            <a:ext cx="0" cy="3067050"/>
          </a:xfrm>
          <a:prstGeom prst="line">
            <a:avLst/>
          </a:prstGeom>
          <a:ln w="9525" cap="flat">
            <a:solidFill>
              <a:srgbClr val="E6E8F2"/>
            </a:solidFill>
          </a:ln>
        </p:spPr>
      </p:cxnSp>
      <p:cxnSp>
        <p:nvCxnSpPr>
          <p:cNvPr id="16" name="Line 16"/>
          <p:cNvCxnSpPr/>
          <p:nvPr/>
        </p:nvCxnSpPr>
        <p:spPr>
          <a:xfrm>
            <a:off x="6610198" y="4799838"/>
            <a:ext cx="2800350" cy="0"/>
          </a:xfrm>
          <a:prstGeom prst="line">
            <a:avLst/>
          </a:prstGeom>
          <a:ln w="9525" cap="flat">
            <a:solidFill>
              <a:srgbClr val="E6E8F2"/>
            </a:solidFill>
          </a:ln>
        </p:spPr>
      </p:cxnSp>
      <p:cxnSp>
        <p:nvCxnSpPr>
          <p:cNvPr id="17" name="Line 17"/>
          <p:cNvCxnSpPr/>
          <p:nvPr/>
        </p:nvCxnSpPr>
        <p:spPr>
          <a:xfrm>
            <a:off x="6610198" y="4580763"/>
            <a:ext cx="2800350" cy="0"/>
          </a:xfrm>
          <a:prstGeom prst="line">
            <a:avLst/>
          </a:prstGeom>
          <a:ln w="9525" cap="flat">
            <a:solidFill>
              <a:srgbClr val="E6E8F2"/>
            </a:solidFill>
          </a:ln>
        </p:spPr>
      </p:cxnSp>
      <p:cxnSp>
        <p:nvCxnSpPr>
          <p:cNvPr id="18" name="Line 18"/>
          <p:cNvCxnSpPr/>
          <p:nvPr/>
        </p:nvCxnSpPr>
        <p:spPr>
          <a:xfrm>
            <a:off x="6610198" y="4361688"/>
            <a:ext cx="2800350" cy="0"/>
          </a:xfrm>
          <a:prstGeom prst="line">
            <a:avLst/>
          </a:prstGeom>
          <a:ln w="9525" cap="flat">
            <a:solidFill>
              <a:srgbClr val="E6E8F2"/>
            </a:solidFill>
          </a:ln>
        </p:spPr>
      </p:cxnSp>
      <p:cxnSp>
        <p:nvCxnSpPr>
          <p:cNvPr id="19" name="Line 19"/>
          <p:cNvCxnSpPr/>
          <p:nvPr/>
        </p:nvCxnSpPr>
        <p:spPr>
          <a:xfrm>
            <a:off x="6610198" y="4142613"/>
            <a:ext cx="2800350" cy="0"/>
          </a:xfrm>
          <a:prstGeom prst="line">
            <a:avLst/>
          </a:prstGeom>
          <a:ln w="9525" cap="flat">
            <a:solidFill>
              <a:srgbClr val="E6E8F2"/>
            </a:solidFill>
          </a:ln>
        </p:spPr>
      </p:cxnSp>
      <p:cxnSp>
        <p:nvCxnSpPr>
          <p:cNvPr id="20" name="Line 20"/>
          <p:cNvCxnSpPr/>
          <p:nvPr/>
        </p:nvCxnSpPr>
        <p:spPr>
          <a:xfrm>
            <a:off x="6610198" y="3923538"/>
            <a:ext cx="2800350" cy="0"/>
          </a:xfrm>
          <a:prstGeom prst="line">
            <a:avLst/>
          </a:prstGeom>
          <a:ln w="9525" cap="flat">
            <a:solidFill>
              <a:srgbClr val="E6E8F2"/>
            </a:solidFill>
          </a:ln>
        </p:spPr>
      </p:cxnSp>
      <p:cxnSp>
        <p:nvCxnSpPr>
          <p:cNvPr id="21" name="Line 21"/>
          <p:cNvCxnSpPr/>
          <p:nvPr/>
        </p:nvCxnSpPr>
        <p:spPr>
          <a:xfrm>
            <a:off x="6610198" y="3704463"/>
            <a:ext cx="2800350" cy="0"/>
          </a:xfrm>
          <a:prstGeom prst="line">
            <a:avLst/>
          </a:prstGeom>
          <a:ln w="9525" cap="flat">
            <a:solidFill>
              <a:srgbClr val="E6E8F2"/>
            </a:solidFill>
          </a:ln>
        </p:spPr>
      </p:cxnSp>
      <p:cxnSp>
        <p:nvCxnSpPr>
          <p:cNvPr id="22" name="Line 22"/>
          <p:cNvCxnSpPr/>
          <p:nvPr/>
        </p:nvCxnSpPr>
        <p:spPr>
          <a:xfrm>
            <a:off x="6610198" y="3485388"/>
            <a:ext cx="2800350" cy="0"/>
          </a:xfrm>
          <a:prstGeom prst="line">
            <a:avLst/>
          </a:prstGeom>
          <a:ln w="9525" cap="flat">
            <a:solidFill>
              <a:srgbClr val="E6E8F2"/>
            </a:solidFill>
          </a:ln>
        </p:spPr>
      </p:cxnSp>
      <p:cxnSp>
        <p:nvCxnSpPr>
          <p:cNvPr id="23" name="Line 23"/>
          <p:cNvCxnSpPr/>
          <p:nvPr/>
        </p:nvCxnSpPr>
        <p:spPr>
          <a:xfrm>
            <a:off x="6610198" y="3266313"/>
            <a:ext cx="2800350" cy="0"/>
          </a:xfrm>
          <a:prstGeom prst="line">
            <a:avLst/>
          </a:prstGeom>
          <a:ln w="9525" cap="flat">
            <a:solidFill>
              <a:srgbClr val="E6E8F2"/>
            </a:solidFill>
          </a:ln>
        </p:spPr>
      </p:cxnSp>
      <p:cxnSp>
        <p:nvCxnSpPr>
          <p:cNvPr id="24" name="Line 24"/>
          <p:cNvCxnSpPr/>
          <p:nvPr/>
        </p:nvCxnSpPr>
        <p:spPr>
          <a:xfrm>
            <a:off x="6610198" y="3047238"/>
            <a:ext cx="2800350" cy="0"/>
          </a:xfrm>
          <a:prstGeom prst="line">
            <a:avLst/>
          </a:prstGeom>
          <a:ln w="9525" cap="flat">
            <a:solidFill>
              <a:srgbClr val="E6E8F2"/>
            </a:solidFill>
          </a:ln>
        </p:spPr>
      </p:cxnSp>
      <p:cxnSp>
        <p:nvCxnSpPr>
          <p:cNvPr id="25" name="Line 25"/>
          <p:cNvCxnSpPr/>
          <p:nvPr/>
        </p:nvCxnSpPr>
        <p:spPr>
          <a:xfrm>
            <a:off x="6610198" y="2828163"/>
            <a:ext cx="2800350" cy="0"/>
          </a:xfrm>
          <a:prstGeom prst="line">
            <a:avLst/>
          </a:prstGeom>
          <a:ln w="9525" cap="flat">
            <a:solidFill>
              <a:srgbClr val="E6E8F2"/>
            </a:solidFill>
          </a:ln>
        </p:spPr>
      </p:cxnSp>
      <p:cxnSp>
        <p:nvCxnSpPr>
          <p:cNvPr id="26" name="Line 26"/>
          <p:cNvCxnSpPr/>
          <p:nvPr/>
        </p:nvCxnSpPr>
        <p:spPr>
          <a:xfrm>
            <a:off x="6610198" y="2609088"/>
            <a:ext cx="2800350" cy="0"/>
          </a:xfrm>
          <a:prstGeom prst="line">
            <a:avLst/>
          </a:prstGeom>
          <a:ln w="9525" cap="flat">
            <a:solidFill>
              <a:srgbClr val="E6E8F2"/>
            </a:solidFill>
          </a:ln>
        </p:spPr>
      </p:cxnSp>
      <p:cxnSp>
        <p:nvCxnSpPr>
          <p:cNvPr id="27" name="Line 27"/>
          <p:cNvCxnSpPr/>
          <p:nvPr/>
        </p:nvCxnSpPr>
        <p:spPr>
          <a:xfrm>
            <a:off x="6610198" y="2390013"/>
            <a:ext cx="2800350" cy="0"/>
          </a:xfrm>
          <a:prstGeom prst="line">
            <a:avLst/>
          </a:prstGeom>
          <a:ln w="9525" cap="flat">
            <a:solidFill>
              <a:srgbClr val="E6E8F2"/>
            </a:solidFill>
          </a:ln>
        </p:spPr>
      </p:cxnSp>
      <p:cxnSp>
        <p:nvCxnSpPr>
          <p:cNvPr id="28" name="Line 28"/>
          <p:cNvCxnSpPr/>
          <p:nvPr/>
        </p:nvCxnSpPr>
        <p:spPr>
          <a:xfrm>
            <a:off x="6610198" y="2170938"/>
            <a:ext cx="2800350" cy="0"/>
          </a:xfrm>
          <a:prstGeom prst="line">
            <a:avLst/>
          </a:prstGeom>
          <a:ln w="9525" cap="flat">
            <a:solidFill>
              <a:srgbClr val="E6E8F2"/>
            </a:solidFill>
          </a:ln>
        </p:spPr>
      </p:cxnSp>
      <p:cxnSp>
        <p:nvCxnSpPr>
          <p:cNvPr id="29" name="Line 29"/>
          <p:cNvCxnSpPr/>
          <p:nvPr/>
        </p:nvCxnSpPr>
        <p:spPr>
          <a:xfrm>
            <a:off x="6610198" y="1951863"/>
            <a:ext cx="2800350" cy="0"/>
          </a:xfrm>
          <a:prstGeom prst="line">
            <a:avLst/>
          </a:prstGeom>
          <a:ln w="9525" cap="flat">
            <a:solidFill>
              <a:srgbClr val="E6E8F2"/>
            </a:solidFill>
          </a:ln>
        </p:spPr>
      </p:cxnSp>
      <p:cxnSp>
        <p:nvCxnSpPr>
          <p:cNvPr id="30" name="Line 30"/>
          <p:cNvCxnSpPr/>
          <p:nvPr/>
        </p:nvCxnSpPr>
        <p:spPr>
          <a:xfrm>
            <a:off x="6610198" y="1732788"/>
            <a:ext cx="2800350" cy="0"/>
          </a:xfrm>
          <a:prstGeom prst="line">
            <a:avLst/>
          </a:prstGeom>
          <a:ln w="9525" cap="flat">
            <a:solidFill>
              <a:srgbClr val="E6E8F2"/>
            </a:solidFill>
          </a:ln>
        </p:spPr>
      </p:cxnSp>
      <p:cxnSp>
        <p:nvCxnSpPr>
          <p:cNvPr id="31" name="Line 31"/>
          <p:cNvCxnSpPr/>
          <p:nvPr/>
        </p:nvCxnSpPr>
        <p:spPr>
          <a:xfrm>
            <a:off x="7543648" y="1732788"/>
            <a:ext cx="0" cy="3067050"/>
          </a:xfrm>
          <a:prstGeom prst="line">
            <a:avLst/>
          </a:prstGeom>
          <a:ln w="19050" cap="flat">
            <a:solidFill>
              <a:srgbClr val="5F6272"/>
            </a:solidFill>
          </a:ln>
        </p:spPr>
      </p:cxnSp>
      <p:cxnSp>
        <p:nvCxnSpPr>
          <p:cNvPr id="32" name="Line 32"/>
          <p:cNvCxnSpPr/>
          <p:nvPr/>
        </p:nvCxnSpPr>
        <p:spPr>
          <a:xfrm>
            <a:off x="6610198" y="3923538"/>
            <a:ext cx="2800350" cy="0"/>
          </a:xfrm>
          <a:prstGeom prst="line">
            <a:avLst/>
          </a:prstGeom>
          <a:ln w="19050" cap="flat">
            <a:solidFill>
              <a:srgbClr val="5F6272"/>
            </a:solidFill>
          </a:ln>
        </p:spPr>
      </p:cxnSp>
      <p:sp>
        <p:nvSpPr>
          <p:cNvPr id="33" name="Shape 33"/>
          <p:cNvSpPr txBox="1"/>
          <p:nvPr/>
        </p:nvSpPr>
        <p:spPr>
          <a:xfrm>
            <a:off x="6335878"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4" name="Shape 34"/>
          <p:cNvSpPr txBox="1"/>
          <p:nvPr/>
        </p:nvSpPr>
        <p:spPr>
          <a:xfrm>
            <a:off x="6802603"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5" name="Shape 35"/>
          <p:cNvSpPr txBox="1"/>
          <p:nvPr/>
        </p:nvSpPr>
        <p:spPr>
          <a:xfrm>
            <a:off x="7269328"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6" name="Shape 36"/>
          <p:cNvSpPr txBox="1"/>
          <p:nvPr/>
        </p:nvSpPr>
        <p:spPr>
          <a:xfrm>
            <a:off x="7736053"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7" name="Shape 37"/>
          <p:cNvSpPr txBox="1"/>
          <p:nvPr/>
        </p:nvSpPr>
        <p:spPr>
          <a:xfrm>
            <a:off x="8202778"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8" name="Shape 38"/>
          <p:cNvSpPr txBox="1"/>
          <p:nvPr/>
        </p:nvSpPr>
        <p:spPr>
          <a:xfrm>
            <a:off x="8669503"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39" name="Shape 39"/>
          <p:cNvSpPr txBox="1"/>
          <p:nvPr/>
        </p:nvSpPr>
        <p:spPr>
          <a:xfrm>
            <a:off x="9136228"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0" name="Shape 40"/>
          <p:cNvSpPr txBox="1"/>
          <p:nvPr/>
        </p:nvSpPr>
        <p:spPr>
          <a:xfrm>
            <a:off x="6043270" y="47083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1" name="Shape 41"/>
          <p:cNvSpPr txBox="1"/>
          <p:nvPr/>
        </p:nvSpPr>
        <p:spPr>
          <a:xfrm>
            <a:off x="6043270" y="42702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2" name="Shape 42"/>
          <p:cNvSpPr txBox="1"/>
          <p:nvPr/>
        </p:nvSpPr>
        <p:spPr>
          <a:xfrm>
            <a:off x="6043270" y="38320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3" name="Shape 43"/>
          <p:cNvSpPr txBox="1"/>
          <p:nvPr/>
        </p:nvSpPr>
        <p:spPr>
          <a:xfrm>
            <a:off x="6043270" y="33939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4" name="Shape 44"/>
          <p:cNvSpPr txBox="1"/>
          <p:nvPr/>
        </p:nvSpPr>
        <p:spPr>
          <a:xfrm>
            <a:off x="6043270" y="29557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5" name="Shape 45"/>
          <p:cNvSpPr txBox="1"/>
          <p:nvPr/>
        </p:nvSpPr>
        <p:spPr>
          <a:xfrm>
            <a:off x="6043270" y="25176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46" name="Shape 46"/>
          <p:cNvSpPr txBox="1"/>
          <p:nvPr/>
        </p:nvSpPr>
        <p:spPr>
          <a:xfrm>
            <a:off x="6043270" y="20794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47" name="Shape 47"/>
          <p:cNvSpPr txBox="1"/>
          <p:nvPr/>
        </p:nvSpPr>
        <p:spPr>
          <a:xfrm>
            <a:off x="6043270"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a:t>
            </a:r>
            <a:endParaRPr lang="en-US" sz="975" dirty="0"/>
          </a:p>
        </p:txBody>
      </p:sp>
      <p:cxnSp>
        <p:nvCxnSpPr>
          <p:cNvPr id="48" name="Line 48"/>
          <p:cNvCxnSpPr/>
          <p:nvPr/>
        </p:nvCxnSpPr>
        <p:spPr>
          <a:xfrm flipV="1">
            <a:off x="6765773" y="1732788"/>
            <a:ext cx="2178050" cy="3067050"/>
          </a:xfrm>
          <a:prstGeom prst="line">
            <a:avLst/>
          </a:prstGeom>
          <a:ln w="38100" cap="rnd">
            <a:solidFill>
              <a:srgbClr val="16171D"/>
            </a:solidFill>
          </a:ln>
        </p:spPr>
      </p:cxnSp>
      <p:sp>
        <p:nvSpPr>
          <p:cNvPr id="49" name="Shape 49"/>
          <p:cNvSpPr/>
          <p:nvPr/>
        </p:nvSpPr>
        <p:spPr>
          <a:xfrm>
            <a:off x="7957985" y="2994850"/>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0" name="Shape 50"/>
          <p:cNvSpPr txBox="1"/>
          <p:nvPr/>
        </p:nvSpPr>
        <p:spPr>
          <a:xfrm>
            <a:off x="8096098" y="2799588"/>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(1, 4)</a:t>
            </a:r>
            <a:endParaRPr lang="en-US" sz="1125" dirty="0"/>
          </a:p>
        </p:txBody>
      </p:sp>
      <p:sp>
        <p:nvSpPr>
          <p:cNvPr id="51" name="Slide Number 51"/>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6</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7"/>
                                        </p:tgtEl>
                                        <p:attrNameLst>
                                          <p:attrName>style.visibility</p:attrName>
                                        </p:attrNameLst>
                                      </p:cBhvr>
                                      <p:to>
                                        <p:strVal val="visible"/>
                                      </p:to>
                                    </p:set>
                                    <p:animEffect transition="in" filter="fade">
                                      <p:cBhvr>
                                        <p:cTn id="4" dur="500"/>
                                        <p:tgtEl>
                                          <p:spTgt spid="7"/>
                                        </p:tgtEl>
                                      </p:cBhvr>
                                    </p:animEffect>
                                    <p:anim calcmode="lin" valueType="num">
                                      <p:cBhvr>
                                        <p:cTn id="5" dur="500" fill="hold"/>
                                        <p:tgtEl>
                                          <p:spTgt spid="7"/>
                                        </p:tgtEl>
                                        <p:attrNameLst>
                                          <p:attrName>ppt_w</p:attrName>
                                        </p:attrNameLst>
                                      </p:cBhvr>
                                      <p:tavLst>
                                        <p:tav tm="0">
                                          <p:val>
                                            <p:fltVal val="0"/>
                                          </p:val>
                                        </p:tav>
                                        <p:tav tm="100000">
                                          <p:val>
                                            <p:strVal val="#ppt_w"/>
                                          </p:val>
                                        </p:tav>
                                      </p:tavLst>
                                    </p:anim>
                                    <p:anim calcmode="lin" valueType="num">
                                      <p:cBhvr>
                                        <p:cTn id="6"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13" fill="hold">
                      <p:stCondLst>
                        <p:cond delay="indefinite"/>
                      </p:stCondLst>
                      <p:childTnLst>
                        <p:par>
                          <p:cTn id="14" fill="hold">
                            <p:stCondLst>
                              <p:cond delay="0"/>
                            </p:stCondLst>
                            <p:childTnLst>
                              <p:par>
                                <p:cTn id="12" presetID="22" presetClass="entr" presetSubtype="8" fill="hold" nodeType="clickEffect">
                                  <p:stCondLst>
                                    <p:cond delay="0"/>
                                  </p:stCondLst>
                                  <p:childTnLst>
                                    <p:set>
                                      <p:cBhvr>
                                        <p:cTn id="10" dur="1" fill="hold">
                                          <p:stCondLst>
                                            <p:cond delay="0"/>
                                          </p:stCondLst>
                                        </p:cTn>
                                        <p:tgtEl>
                                          <p:spTgt spid="48"/>
                                        </p:tgtEl>
                                        <p:attrNameLst>
                                          <p:attrName>style.visibility</p:attrName>
                                        </p:attrNameLst>
                                      </p:cBhvr>
                                      <p:to>
                                        <p:strVal val="visible"/>
                                      </p:to>
                                    </p:set>
                                    <p:animEffect transition="in" filter="wipe(left)">
                                      <p:cBhvr>
                                        <p:cTn id="11" dur="700"/>
                                        <p:tgtEl>
                                          <p:spTgt spid="4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We do · Together</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Slope −8, point (3, 12)</a:t>
            </a:r>
            <a:endParaRPr lang="en-US" sz="3450" dirty="0"/>
          </a:p>
        </p:txBody>
      </p:sp>
      <p:sp>
        <p:nvSpPr>
          <p:cNvPr id="4" name="Shape 4"/>
          <p:cNvSpPr txBox="1"/>
          <p:nvPr/>
        </p:nvSpPr>
        <p:spPr>
          <a:xfrm>
            <a:off x="685800" y="161848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i="1">
                <a:solidFill>
                  <a:srgbClr val="16171D"/>
                </a:solidFill>
                <a:latin typeface="Segoe UI"/>
                <a:cs typeface="Segoe UI"/>
              </a:rPr>
              <a:t xml:space="preserve">m</a:t>
            </a:r>
            <a:r>
              <a:rPr lang="en-US" sz="1950" dirty="0">
                <a:solidFill>
                  <a:srgbClr val="16171D"/>
                </a:solidFill>
                <a:latin typeface="Segoe UI"/>
                <a:cs typeface="Segoe UI"/>
              </a:rPr>
              <a:t xml:space="preserve"> = ____ </a:t>
            </a:r>
            <a:r>
              <a:rPr lang="en-US" sz="1950" dirty="0" i="1">
                <a:solidFill>
                  <a:srgbClr val="16171D"/>
                </a:solidFill>
                <a:latin typeface="Segoe UI"/>
                <a:cs typeface="Segoe UI"/>
              </a:rPr>
              <a:t xml:space="preserve">x</a:t>
            </a:r>
            <a:r>
              <a:rPr lang="en-US" sz="1658" dirty="0" baseline="-25000">
                <a:solidFill>
                  <a:srgbClr val="16171D"/>
                </a:solidFill>
                <a:latin typeface="Segoe UI"/>
                <a:cs typeface="Segoe UI"/>
              </a:rPr>
              <a:t xml:space="preserve">1</a:t>
            </a:r>
            <a:r>
              <a:rPr lang="en-US" sz="1950" dirty="0">
                <a:solidFill>
                  <a:srgbClr val="16171D"/>
                </a:solidFill>
                <a:latin typeface="Segoe UI"/>
                <a:cs typeface="Segoe UI"/>
              </a:rPr>
              <a:t xml:space="preserve"> = ____ </a:t>
            </a:r>
            <a:r>
              <a:rPr lang="en-US" sz="1950" dirty="0" i="1">
                <a:solidFill>
                  <a:srgbClr val="16171D"/>
                </a:solidFill>
                <a:latin typeface="Segoe UI"/>
                <a:cs typeface="Segoe UI"/>
              </a:rPr>
              <a:t xml:space="preserve">y</a:t>
            </a:r>
            <a:r>
              <a:rPr lang="en-US" sz="1658" dirty="0" baseline="-25000">
                <a:solidFill>
                  <a:srgbClr val="16171D"/>
                </a:solidFill>
                <a:latin typeface="Segoe UI"/>
                <a:cs typeface="Segoe UI"/>
              </a:rPr>
              <a:t xml:space="preserve">1</a:t>
            </a:r>
            <a:r>
              <a:rPr lang="en-US" sz="1950" dirty="0">
                <a:solidFill>
                  <a:srgbClr val="16171D"/>
                </a:solidFill>
                <a:latin typeface="Segoe UI"/>
                <a:cs typeface="Segoe UI"/>
              </a:rPr>
              <a:t xml:space="preserve"> = ____</a:t>
            </a:r>
            <a:endParaRPr lang="en-US" sz="1950" dirty="0"/>
          </a:p>
        </p:txBody>
      </p:sp>
      <p:sp>
        <p:nvSpPr>
          <p:cNvPr id="5" name="Shape 5"/>
          <p:cNvSpPr txBox="1"/>
          <p:nvPr/>
        </p:nvSpPr>
        <p:spPr>
          <a:xfrm>
            <a:off x="685800" y="2141982"/>
            <a:ext cx="5727070"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m</a:t>
            </a:r>
            <a:r>
              <a:rPr lang="en-US" sz="2325" dirty="0">
                <a:solidFill>
                  <a:srgbClr val="16171D"/>
                </a:solidFill>
                <a:latin typeface="Cambria"/>
                <a:cs typeface="Cambria"/>
              </a:rPr>
              <a:t xml:space="preserve"> = −8, </a:t>
            </a:r>
            <a:r>
              <a:rPr lang="en-US" sz="2325" dirty="0" i="1">
                <a:solidFill>
                  <a:srgbClr val="16171D"/>
                </a:solidFill>
                <a:latin typeface="Cambria"/>
                <a:cs typeface="Cambria"/>
              </a:rPr>
              <a:t xml:space="preserve">x</a:t>
            </a:r>
            <a:r>
              <a:rPr lang="en-US" sz="1976" dirty="0" baseline="-25000">
                <a:solidFill>
                  <a:srgbClr val="16171D"/>
                </a:solidFill>
                <a:latin typeface="Cambria"/>
                <a:cs typeface="Cambria"/>
              </a:rPr>
              <a:t xml:space="preserve">1</a:t>
            </a:r>
            <a:r>
              <a:rPr lang="en-US" sz="2325" dirty="0">
                <a:solidFill>
                  <a:srgbClr val="16171D"/>
                </a:solidFill>
                <a:latin typeface="Cambria"/>
                <a:cs typeface="Cambria"/>
              </a:rPr>
              <a:t xml:space="preserve"> = 3, </a:t>
            </a:r>
            <a:r>
              <a:rPr lang="en-US" sz="2325" dirty="0" i="1">
                <a:solidFill>
                  <a:srgbClr val="16171D"/>
                </a:solidFill>
                <a:latin typeface="Cambria"/>
                <a:cs typeface="Cambria"/>
              </a:rPr>
              <a:t xml:space="preserve">y</a:t>
            </a:r>
            <a:r>
              <a:rPr lang="en-US" sz="1976" dirty="0" baseline="-25000">
                <a:solidFill>
                  <a:srgbClr val="16171D"/>
                </a:solidFill>
                <a:latin typeface="Cambria"/>
                <a:cs typeface="Cambria"/>
              </a:rPr>
              <a:t xml:space="preserve">1</a:t>
            </a:r>
            <a:r>
              <a:rPr lang="en-US" sz="2325" dirty="0">
                <a:solidFill>
                  <a:srgbClr val="16171D"/>
                </a:solidFill>
                <a:latin typeface="Cambria"/>
                <a:cs typeface="Cambria"/>
              </a:rPr>
              <a:t xml:space="preserve"> = 12</a:t>
            </a:r>
            <a:endParaRPr lang="en-US" sz="2325" dirty="0"/>
          </a:p>
        </p:txBody>
      </p:sp>
      <p:sp>
        <p:nvSpPr>
          <p:cNvPr id="6" name="Shape 6"/>
          <p:cNvSpPr txBox="1"/>
          <p:nvPr/>
        </p:nvSpPr>
        <p:spPr>
          <a:xfrm>
            <a:off x="685800" y="283235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____ = ____(</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____)</a:t>
            </a:r>
            <a:endParaRPr lang="en-US" sz="1950" dirty="0"/>
          </a:p>
        </p:txBody>
      </p:sp>
      <p:sp>
        <p:nvSpPr>
          <p:cNvPr id="7" name="Shape 7"/>
          <p:cNvSpPr txBox="1"/>
          <p:nvPr/>
        </p:nvSpPr>
        <p:spPr>
          <a:xfrm>
            <a:off x="685800" y="3355848"/>
            <a:ext cx="489793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− 12 = −8(</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endParaRPr lang="en-US" sz="2325" dirty="0"/>
          </a:p>
        </p:txBody>
      </p:sp>
      <p:sp>
        <p:nvSpPr>
          <p:cNvPr id="8" name="Slide Number 8"/>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7</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You do · Try it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Write each in point-slope form</a:t>
            </a:r>
            <a:endParaRPr lang="en-US" sz="3450" dirty="0"/>
          </a:p>
        </p:txBody>
      </p:sp>
      <p:sp>
        <p:nvSpPr>
          <p:cNvPr id="7" name="Shape 7"/>
          <p:cNvSpPr txBox="1"/>
          <p:nvPr/>
        </p:nvSpPr>
        <p:spPr>
          <a:xfrm>
            <a:off x="685800" y="1618488"/>
            <a:ext cx="5219548" cy="169926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48004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Slope 5, point (2, −1)</a:t>
            </a:r>
            <a:endParaRPr lang="en-US" sz="1950" dirty="0"/>
          </a:p>
        </p:txBody>
      </p:sp>
      <p:sp>
        <p:nvSpPr>
          <p:cNvPr id="5" name="Shape 5"/>
          <p:cNvSpPr txBox="1"/>
          <p:nvPr/>
        </p:nvSpPr>
        <p:spPr>
          <a:xfrm>
            <a:off x="895350" y="2237232"/>
            <a:ext cx="48004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Tip: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 (−1) =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+ 1</a:t>
            </a:r>
            <a:endParaRPr lang="en-US" sz="1575" dirty="0"/>
          </a:p>
        </p:txBody>
      </p:sp>
      <p:sp>
        <p:nvSpPr>
          <p:cNvPr id="6" name="Shape 6"/>
          <p:cNvSpPr txBox="1"/>
          <p:nvPr/>
        </p:nvSpPr>
        <p:spPr>
          <a:xfrm>
            <a:off x="895350" y="2627376"/>
            <a:ext cx="4566285"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+ 1 = 5(</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
        <p:nvSpPr>
          <p:cNvPr id="11" name="Shape 11"/>
          <p:cNvSpPr txBox="1"/>
          <p:nvPr/>
        </p:nvSpPr>
        <p:spPr>
          <a:xfrm>
            <a:off x="6286348" y="1618488"/>
            <a:ext cx="5219548" cy="169926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6495898" y="1789938"/>
            <a:ext cx="48004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Slope </a:t>
            </a:r>
            <a:r>
              <a:rPr lang="en-US" sz="1950" dirty="0">
                <a:solidFill>
                  <a:srgbClr val="16171D"/>
                </a:solidFill>
                <a:latin typeface="Segoe UI"/>
                <a:cs typeface="Segoe UI"/>
              </a:rPr>
              <a:t xml:space="preserve">2</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3</a:t>
            </a:r>
            <a:r>
              <a:rPr lang="en-US" sz="1950" dirty="0">
                <a:solidFill>
                  <a:srgbClr val="16171D"/>
                </a:solidFill>
                <a:latin typeface="Segoe UI"/>
                <a:cs typeface="Segoe UI"/>
              </a:rPr>
              <a:t xml:space="preserve">, point (−4, 5)</a:t>
            </a:r>
            <a:endParaRPr lang="en-US" sz="1950" dirty="0"/>
          </a:p>
        </p:txBody>
      </p:sp>
      <p:sp>
        <p:nvSpPr>
          <p:cNvPr id="9" name="Shape 9"/>
          <p:cNvSpPr txBox="1"/>
          <p:nvPr/>
        </p:nvSpPr>
        <p:spPr>
          <a:xfrm>
            <a:off x="6495898" y="2237232"/>
            <a:ext cx="48004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Tip: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(−4) =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+ 4</a:t>
            </a:r>
            <a:endParaRPr lang="en-US" sz="1575" dirty="0"/>
          </a:p>
        </p:txBody>
      </p:sp>
      <p:sp>
        <p:nvSpPr>
          <p:cNvPr id="10" name="Shape 10"/>
          <p:cNvSpPr txBox="1"/>
          <p:nvPr/>
        </p:nvSpPr>
        <p:spPr>
          <a:xfrm>
            <a:off x="6495898" y="2627376"/>
            <a:ext cx="480044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− 5 = </a:t>
            </a:r>
            <a:r>
              <a:rPr lang="en-US" sz="2325" dirty="0">
                <a:solidFill>
                  <a:srgbClr val="16171D"/>
                </a:solidFill>
                <a:latin typeface="Cambria"/>
                <a:cs typeface="Cambria"/>
              </a:rPr>
              <a:t xml:space="preserve">2</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3</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a:t>
            </a:r>
            <a:endParaRPr lang="en-US" sz="2325" dirty="0"/>
          </a:p>
        </p:txBody>
      </p:sp>
      <p:sp>
        <p:nvSpPr>
          <p:cNvPr id="12" name="Slide Number 12"/>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8</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ppt_w</p:attrName>
                                        </p:attrNameLst>
                                      </p:cBhvr>
                                      <p:tavLst>
                                        <p:tav tm="0">
                                          <p:val>
                                            <p:fltVal val="0"/>
                                          </p:val>
                                        </p:tav>
                                        <p:tav tm="100000">
                                          <p:val>
                                            <p:strVal val="#ppt_w"/>
                                          </p:val>
                                        </p:tav>
                                      </p:tavLst>
                                    </p:anim>
                                    <p:anim calcmode="lin" valueType="num">
                                      <p:cBhvr>
                                        <p:cTn id="6" dur="500" fill="hold"/>
                                        <p:tgtEl>
                                          <p:spTgt spid="6"/>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500"/>
                                        <p:tgtEl>
                                          <p:spTgt spid="10"/>
                                        </p:tgtEl>
                                      </p:cBhvr>
                                    </p:animEffect>
                                    <p:anim calcmode="lin" valueType="num">
                                      <p:cBhvr>
                                        <p:cTn id="12" dur="500" fill="hold"/>
                                        <p:tgtEl>
                                          <p:spTgt spid="10"/>
                                        </p:tgtEl>
                                        <p:attrNameLst>
                                          <p:attrName>ppt_w</p:attrName>
                                        </p:attrNameLst>
                                      </p:cBhvr>
                                      <p:tavLst>
                                        <p:tav tm="0">
                                          <p:val>
                                            <p:fltVal val="0"/>
                                          </p:val>
                                        </p:tav>
                                        <p:tav tm="100000">
                                          <p:val>
                                            <p:strVal val="#ppt_w"/>
                                          </p:val>
                                        </p:tav>
                                      </p:tavLst>
                                    </p:anim>
                                    <p:anim calcmode="lin" valueType="num">
                                      <p:cBhvr>
                                        <p:cTn id="13" dur="500" fill="hold"/>
                                        <p:tgtEl>
                                          <p:spTgt spid="10"/>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We do · Two points</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A line through (2, 5) and (4, 11)</a:t>
            </a:r>
            <a:endParaRPr lang="en-US" sz="3450" dirty="0"/>
          </a:p>
        </p:txBody>
      </p:sp>
      <p:sp>
        <p:nvSpPr>
          <p:cNvPr id="4" name="Shape 4"/>
          <p:cNvSpPr txBox="1"/>
          <p:nvPr/>
        </p:nvSpPr>
        <p:spPr>
          <a:xfrm>
            <a:off x="685800" y="161848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Step 1: slope. </a:t>
            </a:r>
            <a:r>
              <a:rPr lang="en-US" sz="1950" dirty="0" i="1">
                <a:solidFill>
                  <a:srgbClr val="16171D"/>
                </a:solidFill>
                <a:latin typeface="Segoe UI"/>
                <a:cs typeface="Segoe UI"/>
              </a:rPr>
              <a:t xml:space="preserve">m</a:t>
            </a:r>
            <a:r>
              <a:rPr lang="en-US" sz="1950" dirty="0">
                <a:solidFill>
                  <a:srgbClr val="16171D"/>
                </a:solidFill>
                <a:latin typeface="Segoe UI"/>
                <a:cs typeface="Segoe UI"/>
              </a:rPr>
              <a:t xml:space="preserve"> = </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11 − 5</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4 − 2</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 = ____</a:t>
            </a:r>
            <a:endParaRPr lang="en-US" sz="1950" dirty="0"/>
          </a:p>
        </p:txBody>
      </p:sp>
      <p:sp>
        <p:nvSpPr>
          <p:cNvPr id="5" name="Shape 5"/>
          <p:cNvSpPr txBox="1"/>
          <p:nvPr/>
        </p:nvSpPr>
        <p:spPr>
          <a:xfrm>
            <a:off x="685800" y="2141982"/>
            <a:ext cx="3737153"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m</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6</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r>
              <a:rPr lang="en-US" sz="2325" dirty="0">
                <a:solidFill>
                  <a:srgbClr val="16171D"/>
                </a:solidFill>
                <a:latin typeface="Cambria"/>
                <a:cs typeface="Cambria"/>
              </a:rPr>
              <a:t xml:space="preserve"> = 3</a:t>
            </a:r>
            <a:endParaRPr lang="en-US" sz="2325" dirty="0"/>
          </a:p>
        </p:txBody>
      </p:sp>
      <p:sp>
        <p:nvSpPr>
          <p:cNvPr id="6" name="Shape 6"/>
          <p:cNvSpPr txBox="1"/>
          <p:nvPr/>
        </p:nvSpPr>
        <p:spPr>
          <a:xfrm>
            <a:off x="685800" y="283235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Step 2: use the point (2, 5).</a:t>
            </a:r>
            <a:endParaRPr lang="en-US" sz="1950" dirty="0"/>
          </a:p>
        </p:txBody>
      </p:sp>
      <p:sp>
        <p:nvSpPr>
          <p:cNvPr id="7" name="Shape 7"/>
          <p:cNvSpPr txBox="1"/>
          <p:nvPr/>
        </p:nvSpPr>
        <p:spPr>
          <a:xfrm>
            <a:off x="685800" y="335584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____ = ____(</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____)</a:t>
            </a:r>
            <a:endParaRPr lang="en-US" sz="1950" dirty="0"/>
          </a:p>
        </p:txBody>
      </p:sp>
      <p:sp>
        <p:nvSpPr>
          <p:cNvPr id="8" name="Shape 8"/>
          <p:cNvSpPr txBox="1"/>
          <p:nvPr/>
        </p:nvSpPr>
        <p:spPr>
          <a:xfrm>
            <a:off x="685800" y="3879342"/>
            <a:ext cx="4566285"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− 5 = 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
        <p:nvSpPr>
          <p:cNvPr id="9" name="Slide Number 9"/>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9</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anim calcmode="lin" valueType="num">
                                      <p:cBhvr>
                                        <p:cTn id="12" dur="500" fill="hold"/>
                                        <p:tgtEl>
                                          <p:spTgt spid="8"/>
                                        </p:tgtEl>
                                        <p:attrNameLst>
                                          <p:attrName>ppt_w</p:attrName>
                                        </p:attrNameLst>
                                      </p:cBhvr>
                                      <p:tavLst>
                                        <p:tav tm="0">
                                          <p:val>
                                            <p:fltVal val="0"/>
                                          </p:val>
                                        </p:tav>
                                        <p:tav tm="100000">
                                          <p:val>
                                            <p:strVal val="#ppt_w"/>
                                          </p:val>
                                        </p:tav>
                                      </p:tavLst>
                                    </p:anim>
                                    <p:anim calcmode="lin" valueType="num">
                                      <p:cBhvr>
                                        <p:cTn id="13" dur="500" fill="hold"/>
                                        <p:tgtEl>
                                          <p:spTgt spid="8"/>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I do · Change the form</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Rewrite as </a:t>
            </a:r>
            <a:r>
              <a:rPr lang="en-US" sz="3450" dirty="0" b="1" i="1">
                <a:solidFill>
                  <a:srgbClr val="16171D"/>
                </a:solidFill>
                <a:latin typeface="Segoe UI"/>
                <a:cs typeface="Segoe UI"/>
              </a:rPr>
              <a:t xml:space="preserve">y</a:t>
            </a:r>
            <a:r>
              <a:rPr lang="en-US" sz="3450" dirty="0" b="1">
                <a:solidFill>
                  <a:srgbClr val="16171D"/>
                </a:solidFill>
                <a:latin typeface="Segoe UI"/>
                <a:cs typeface="Segoe UI"/>
              </a:rPr>
              <a:t xml:space="preserve"> = </a:t>
            </a:r>
            <a:r>
              <a:rPr lang="en-US" sz="3450" dirty="0" b="1" i="1">
                <a:solidFill>
                  <a:srgbClr val="16171D"/>
                </a:solidFill>
                <a:latin typeface="Segoe UI"/>
                <a:cs typeface="Segoe UI"/>
              </a:rPr>
              <a:t xml:space="preserve">mx</a:t>
            </a:r>
            <a:r>
              <a:rPr lang="en-US" sz="3450" dirty="0" b="1">
                <a:solidFill>
                  <a:srgbClr val="16171D"/>
                </a:solidFill>
                <a:latin typeface="Segoe UI"/>
                <a:cs typeface="Segoe UI"/>
              </a:rPr>
              <a:t xml:space="preserve"> + </a:t>
            </a:r>
            <a:r>
              <a:rPr lang="en-US" sz="3450" dirty="0" b="1" i="1">
                <a:solidFill>
                  <a:srgbClr val="16171D"/>
                </a:solidFill>
                <a:latin typeface="Segoe UI"/>
                <a:cs typeface="Segoe UI"/>
              </a:rPr>
              <a:t xml:space="preserve">b</a:t>
            </a:r>
            <a:endParaRPr lang="en-US" sz="3450" dirty="0"/>
          </a:p>
        </p:txBody>
      </p:sp>
      <p:sp>
        <p:nvSpPr>
          <p:cNvPr id="4" name="Shape 4"/>
          <p:cNvSpPr txBox="1"/>
          <p:nvPr/>
        </p:nvSpPr>
        <p:spPr>
          <a:xfrm>
            <a:off x="685800" y="1618488"/>
            <a:ext cx="10820095" cy="489204"/>
          </a:xfrm>
          <a:prstGeom prst="rect">
            <a:avLst/>
          </a:prstGeom>
          <a:noFill/>
          <a:ln>
            <a:noFill/>
          </a:ln>
        </p:spPr>
        <p:txBody>
          <a:bodyPr wrap="square" lIns="36576" tIns="27432" rIns="36576" bIns="27432" anchor="t">
            <a:noAutofit/>
          </a:bodyPr>
          <a:lstStyle/>
          <a:p>
            <a:pPr algn="l">
              <a:lnSpc>
                <a:spcPct val="100000"/>
              </a:lnSpc>
            </a:pP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− 5 = 3(</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− 2)</a:t>
            </a:r>
            <a:endParaRPr lang="en-US" sz="2850" dirty="0"/>
          </a:p>
        </p:txBody>
      </p:sp>
      <p:sp>
        <p:nvSpPr>
          <p:cNvPr id="5" name="Shape 5"/>
          <p:cNvSpPr txBox="1"/>
          <p:nvPr/>
        </p:nvSpPr>
        <p:spPr>
          <a:xfrm>
            <a:off x="685800" y="2279142"/>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Step 1: distribute the 3.</a:t>
            </a:r>
            <a:endParaRPr lang="en-US" sz="1950" dirty="0"/>
          </a:p>
        </p:txBody>
      </p:sp>
      <p:sp>
        <p:nvSpPr>
          <p:cNvPr id="6" name="Shape 6"/>
          <p:cNvSpPr txBox="1"/>
          <p:nvPr/>
        </p:nvSpPr>
        <p:spPr>
          <a:xfrm>
            <a:off x="685800" y="2802636"/>
            <a:ext cx="4234632"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− 5 = 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− 6</a:t>
            </a:r>
            <a:endParaRPr lang="en-US" sz="2325" dirty="0"/>
          </a:p>
        </p:txBody>
      </p:sp>
      <p:sp>
        <p:nvSpPr>
          <p:cNvPr id="7" name="Shape 7"/>
          <p:cNvSpPr txBox="1"/>
          <p:nvPr/>
        </p:nvSpPr>
        <p:spPr>
          <a:xfrm>
            <a:off x="685800" y="349300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Step 2: add 5 to both sides.</a:t>
            </a:r>
            <a:endParaRPr lang="en-US" sz="1950" dirty="0"/>
          </a:p>
        </p:txBody>
      </p:sp>
      <p:sp>
        <p:nvSpPr>
          <p:cNvPr id="8" name="Shape 8"/>
          <p:cNvSpPr txBox="1"/>
          <p:nvPr/>
        </p:nvSpPr>
        <p:spPr>
          <a:xfrm>
            <a:off x="685800" y="4016502"/>
            <a:ext cx="357132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a:t>
            </a:r>
            <a:endParaRPr lang="en-US" sz="2325" dirty="0"/>
          </a:p>
        </p:txBody>
      </p:sp>
      <p:sp>
        <p:nvSpPr>
          <p:cNvPr id="9" name="Slide Number 9"/>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10</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ppt_w</p:attrName>
                                        </p:attrNameLst>
                                      </p:cBhvr>
                                      <p:tavLst>
                                        <p:tav tm="0">
                                          <p:val>
                                            <p:fltVal val="0"/>
                                          </p:val>
                                        </p:tav>
                                        <p:tav tm="100000">
                                          <p:val>
                                            <p:strVal val="#ppt_w"/>
                                          </p:val>
                                        </p:tav>
                                      </p:tavLst>
                                    </p:anim>
                                    <p:anim calcmode="lin" valueType="num">
                                      <p:cBhvr>
                                        <p:cTn id="6" dur="500" fill="hold"/>
                                        <p:tgtEl>
                                          <p:spTgt spid="6"/>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anim calcmode="lin" valueType="num">
                                      <p:cBhvr>
                                        <p:cTn id="12" dur="500" fill="hold"/>
                                        <p:tgtEl>
                                          <p:spTgt spid="8"/>
                                        </p:tgtEl>
                                        <p:attrNameLst>
                                          <p:attrName>ppt_w</p:attrName>
                                        </p:attrNameLst>
                                      </p:cBhvr>
                                      <p:tavLst>
                                        <p:tav tm="0">
                                          <p:val>
                                            <p:fltVal val="0"/>
                                          </p:val>
                                        </p:tav>
                                        <p:tav tm="100000">
                                          <p:val>
                                            <p:strVal val="#ppt_w"/>
                                          </p:val>
                                        </p:tav>
                                      </p:tavLst>
                                    </p:anim>
                                    <p:anim calcmode="lin" valueType="num">
                                      <p:cBhvr>
                                        <p:cTn id="13" dur="500" fill="hold"/>
                                        <p:tgtEl>
                                          <p:spTgt spid="8"/>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You do · Try it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Rewrite as </a:t>
            </a:r>
            <a:r>
              <a:rPr lang="en-US" sz="3450" dirty="0" b="1" i="1">
                <a:solidFill>
                  <a:srgbClr val="16171D"/>
                </a:solidFill>
                <a:latin typeface="Segoe UI"/>
                <a:cs typeface="Segoe UI"/>
              </a:rPr>
              <a:t xml:space="preserve">y</a:t>
            </a:r>
            <a:r>
              <a:rPr lang="en-US" sz="3450" dirty="0" b="1">
                <a:solidFill>
                  <a:srgbClr val="16171D"/>
                </a:solidFill>
                <a:latin typeface="Segoe UI"/>
                <a:cs typeface="Segoe UI"/>
              </a:rPr>
              <a:t xml:space="preserve"> = </a:t>
            </a:r>
            <a:r>
              <a:rPr lang="en-US" sz="3450" dirty="0" b="1" i="1">
                <a:solidFill>
                  <a:srgbClr val="16171D"/>
                </a:solidFill>
                <a:latin typeface="Segoe UI"/>
                <a:cs typeface="Segoe UI"/>
              </a:rPr>
              <a:t xml:space="preserve">mx</a:t>
            </a:r>
            <a:r>
              <a:rPr lang="en-US" sz="3450" dirty="0" b="1">
                <a:solidFill>
                  <a:srgbClr val="16171D"/>
                </a:solidFill>
                <a:latin typeface="Segoe UI"/>
                <a:cs typeface="Segoe UI"/>
              </a:rPr>
              <a:t xml:space="preserve"> + </a:t>
            </a:r>
            <a:r>
              <a:rPr lang="en-US" sz="3450" dirty="0" b="1" i="1">
                <a:solidFill>
                  <a:srgbClr val="16171D"/>
                </a:solidFill>
                <a:latin typeface="Segoe UI"/>
                <a:cs typeface="Segoe UI"/>
              </a:rPr>
              <a:t xml:space="preserve">b</a:t>
            </a:r>
            <a:endParaRPr lang="en-US" sz="3450" dirty="0"/>
          </a:p>
        </p:txBody>
      </p:sp>
      <p:sp>
        <p:nvSpPr>
          <p:cNvPr id="4" name="Shape 4"/>
          <p:cNvSpPr txBox="1"/>
          <p:nvPr/>
        </p:nvSpPr>
        <p:spPr>
          <a:xfrm>
            <a:off x="685800" y="1618488"/>
            <a:ext cx="10820095" cy="489204"/>
          </a:xfrm>
          <a:prstGeom prst="rect">
            <a:avLst/>
          </a:prstGeom>
          <a:noFill/>
          <a:ln>
            <a:noFill/>
          </a:ln>
        </p:spPr>
        <p:txBody>
          <a:bodyPr wrap="square" lIns="36576" tIns="27432" rIns="36576" bIns="27432" anchor="t">
            <a:noAutofit/>
          </a:bodyPr>
          <a:lstStyle/>
          <a:p>
            <a:pPr algn="l">
              <a:lnSpc>
                <a:spcPct val="100000"/>
              </a:lnSpc>
            </a:pP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− 3 = 5(</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+ 2)</a:t>
            </a:r>
            <a:endParaRPr lang="en-US" sz="2850" dirty="0"/>
          </a:p>
        </p:txBody>
      </p:sp>
      <p:sp>
        <p:nvSpPr>
          <p:cNvPr id="5" name="Shape 5"/>
          <p:cNvSpPr txBox="1"/>
          <p:nvPr/>
        </p:nvSpPr>
        <p:spPr>
          <a:xfrm>
            <a:off x="685800" y="2279142"/>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Step 1: distribute.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− 3 = ____</a:t>
            </a:r>
            <a:endParaRPr lang="en-US" sz="1950" dirty="0"/>
          </a:p>
        </p:txBody>
      </p:sp>
      <p:sp>
        <p:nvSpPr>
          <p:cNvPr id="6" name="Shape 6"/>
          <p:cNvSpPr txBox="1"/>
          <p:nvPr/>
        </p:nvSpPr>
        <p:spPr>
          <a:xfrm>
            <a:off x="685800" y="2802636"/>
            <a:ext cx="440045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− 3 = 5</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+ 10</a:t>
            </a:r>
            <a:endParaRPr lang="en-US" sz="2325" dirty="0"/>
          </a:p>
        </p:txBody>
      </p:sp>
      <p:sp>
        <p:nvSpPr>
          <p:cNvPr id="7" name="Shape 7"/>
          <p:cNvSpPr txBox="1"/>
          <p:nvPr/>
        </p:nvSpPr>
        <p:spPr>
          <a:xfrm>
            <a:off x="685800" y="349300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Step 2: add 3.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____</a:t>
            </a:r>
            <a:endParaRPr lang="en-US" sz="1950" dirty="0"/>
          </a:p>
        </p:txBody>
      </p:sp>
      <p:sp>
        <p:nvSpPr>
          <p:cNvPr id="8" name="Shape 8"/>
          <p:cNvSpPr txBox="1"/>
          <p:nvPr/>
        </p:nvSpPr>
        <p:spPr>
          <a:xfrm>
            <a:off x="685800" y="4016502"/>
            <a:ext cx="3737153"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5</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+ 13</a:t>
            </a:r>
            <a:endParaRPr lang="en-US" sz="2325" dirty="0"/>
          </a:p>
        </p:txBody>
      </p:sp>
      <p:sp>
        <p:nvSpPr>
          <p:cNvPr id="9" name="Slide Number 9"/>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11</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ppt_w</p:attrName>
                                        </p:attrNameLst>
                                      </p:cBhvr>
                                      <p:tavLst>
                                        <p:tav tm="0">
                                          <p:val>
                                            <p:fltVal val="0"/>
                                          </p:val>
                                        </p:tav>
                                        <p:tav tm="100000">
                                          <p:val>
                                            <p:strVal val="#ppt_w"/>
                                          </p:val>
                                        </p:tav>
                                      </p:tavLst>
                                    </p:anim>
                                    <p:anim calcmode="lin" valueType="num">
                                      <p:cBhvr>
                                        <p:cTn id="6" dur="500" fill="hold"/>
                                        <p:tgtEl>
                                          <p:spTgt spid="6"/>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anim calcmode="lin" valueType="num">
                                      <p:cBhvr>
                                        <p:cTn id="12" dur="500" fill="hold"/>
                                        <p:tgtEl>
                                          <p:spTgt spid="8"/>
                                        </p:tgtEl>
                                        <p:attrNameLst>
                                          <p:attrName>ppt_w</p:attrName>
                                        </p:attrNameLst>
                                      </p:cBhvr>
                                      <p:tavLst>
                                        <p:tav tm="0">
                                          <p:val>
                                            <p:fltVal val="0"/>
                                          </p:val>
                                        </p:tav>
                                        <p:tav tm="100000">
                                          <p:val>
                                            <p:strVal val="#ppt_w"/>
                                          </p:val>
                                        </p:tav>
                                      </p:tavLst>
                                    </p:anim>
                                    <p:anim calcmode="lin" valueType="num">
                                      <p:cBhvr>
                                        <p:cTn id="13" dur="500" fill="hold"/>
                                        <p:tgtEl>
                                          <p:spTgt spid="8"/>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Lesson 4 · Horizontal and Vertical</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Flat lines and straight-up lines</a:t>
            </a:r>
            <a:endParaRPr lang="en-US" sz="3450" dirty="0"/>
          </a:p>
        </p:txBody>
      </p:sp>
      <p:sp>
        <p:nvSpPr>
          <p:cNvPr id="7" name="Shape 7"/>
          <p:cNvSpPr txBox="1"/>
          <p:nvPr/>
        </p:nvSpPr>
        <p:spPr>
          <a:xfrm>
            <a:off x="685800" y="1618488"/>
            <a:ext cx="5219548" cy="161239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48004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Horizontal</a:t>
            </a:r>
            <a:endParaRPr lang="en-US" sz="2100" dirty="0"/>
          </a:p>
        </p:txBody>
      </p:sp>
      <p:sp>
        <p:nvSpPr>
          <p:cNvPr id="5" name="Shape 5"/>
          <p:cNvSpPr txBox="1"/>
          <p:nvPr/>
        </p:nvSpPr>
        <p:spPr>
          <a:xfrm>
            <a:off x="895350" y="2260092"/>
            <a:ext cx="4800448" cy="29489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stays the same. Slope = </a:t>
            </a:r>
            <a:r>
              <a:rPr lang="en-US" sz="1575" dirty="0" b="1">
                <a:solidFill>
                  <a:srgbClr val="16171D"/>
                </a:solidFill>
                <a:latin typeface="Segoe UI"/>
                <a:cs typeface="Segoe UI"/>
              </a:rPr>
              <a:t xml:space="preserve">0</a:t>
            </a:r>
            <a:r>
              <a:rPr lang="en-US" sz="1575" dirty="0">
                <a:solidFill>
                  <a:srgbClr val="16171D"/>
                </a:solidFill>
                <a:latin typeface="Segoe UI"/>
                <a:cs typeface="Segoe UI"/>
              </a:rPr>
              <a:t xml:space="preserve">.</a:t>
            </a:r>
            <a:endParaRPr lang="en-US" sz="1575" dirty="0"/>
          </a:p>
        </p:txBody>
      </p:sp>
      <p:sp>
        <p:nvSpPr>
          <p:cNvPr id="6" name="Shape 6"/>
          <p:cNvSpPr txBox="1"/>
          <p:nvPr/>
        </p:nvSpPr>
        <p:spPr>
          <a:xfrm>
            <a:off x="895350" y="2650236"/>
            <a:ext cx="480044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3</a:t>
            </a:r>
            <a:endParaRPr lang="en-US" sz="2325" dirty="0"/>
          </a:p>
        </p:txBody>
      </p:sp>
      <p:sp>
        <p:nvSpPr>
          <p:cNvPr id="8" name="Shape 8"/>
          <p:cNvSpPr/>
          <p:nvPr/>
        </p:nvSpPr>
        <p:spPr>
          <a:xfrm>
            <a:off x="685800" y="3364230"/>
            <a:ext cx="2857500" cy="21907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9" name="Line 9"/>
          <p:cNvCxnSpPr/>
          <p:nvPr/>
        </p:nvCxnSpPr>
        <p:spPr>
          <a:xfrm>
            <a:off x="1009650" y="3478530"/>
            <a:ext cx="0" cy="1828800"/>
          </a:xfrm>
          <a:prstGeom prst="line">
            <a:avLst/>
          </a:prstGeom>
          <a:ln w="9525" cap="flat">
            <a:solidFill>
              <a:srgbClr val="E6E8F2"/>
            </a:solidFill>
          </a:ln>
        </p:spPr>
      </p:cxnSp>
      <p:cxnSp>
        <p:nvCxnSpPr>
          <p:cNvPr id="10" name="Line 10"/>
          <p:cNvCxnSpPr/>
          <p:nvPr/>
        </p:nvCxnSpPr>
        <p:spPr>
          <a:xfrm>
            <a:off x="1312069" y="3478530"/>
            <a:ext cx="0" cy="1828800"/>
          </a:xfrm>
          <a:prstGeom prst="line">
            <a:avLst/>
          </a:prstGeom>
          <a:ln w="9525" cap="flat">
            <a:solidFill>
              <a:srgbClr val="E6E8F2"/>
            </a:solidFill>
          </a:ln>
        </p:spPr>
      </p:cxnSp>
      <p:cxnSp>
        <p:nvCxnSpPr>
          <p:cNvPr id="11" name="Line 11"/>
          <p:cNvCxnSpPr/>
          <p:nvPr/>
        </p:nvCxnSpPr>
        <p:spPr>
          <a:xfrm>
            <a:off x="1614488" y="3478530"/>
            <a:ext cx="0" cy="1828800"/>
          </a:xfrm>
          <a:prstGeom prst="line">
            <a:avLst/>
          </a:prstGeom>
          <a:ln w="9525" cap="flat">
            <a:solidFill>
              <a:srgbClr val="E6E8F2"/>
            </a:solidFill>
          </a:ln>
        </p:spPr>
      </p:cxnSp>
      <p:cxnSp>
        <p:nvCxnSpPr>
          <p:cNvPr id="12" name="Line 12"/>
          <p:cNvCxnSpPr/>
          <p:nvPr/>
        </p:nvCxnSpPr>
        <p:spPr>
          <a:xfrm>
            <a:off x="1916906" y="3478530"/>
            <a:ext cx="0" cy="1828800"/>
          </a:xfrm>
          <a:prstGeom prst="line">
            <a:avLst/>
          </a:prstGeom>
          <a:ln w="9525" cap="flat">
            <a:solidFill>
              <a:srgbClr val="E6E8F2"/>
            </a:solidFill>
          </a:ln>
        </p:spPr>
      </p:cxnSp>
      <p:cxnSp>
        <p:nvCxnSpPr>
          <p:cNvPr id="13" name="Line 13"/>
          <p:cNvCxnSpPr/>
          <p:nvPr/>
        </p:nvCxnSpPr>
        <p:spPr>
          <a:xfrm>
            <a:off x="2219325" y="3478530"/>
            <a:ext cx="0" cy="1828800"/>
          </a:xfrm>
          <a:prstGeom prst="line">
            <a:avLst/>
          </a:prstGeom>
          <a:ln w="9525" cap="flat">
            <a:solidFill>
              <a:srgbClr val="E6E8F2"/>
            </a:solidFill>
          </a:ln>
        </p:spPr>
      </p:cxnSp>
      <p:cxnSp>
        <p:nvCxnSpPr>
          <p:cNvPr id="14" name="Line 14"/>
          <p:cNvCxnSpPr/>
          <p:nvPr/>
        </p:nvCxnSpPr>
        <p:spPr>
          <a:xfrm>
            <a:off x="2521744" y="3478530"/>
            <a:ext cx="0" cy="1828800"/>
          </a:xfrm>
          <a:prstGeom prst="line">
            <a:avLst/>
          </a:prstGeom>
          <a:ln w="9525" cap="flat">
            <a:solidFill>
              <a:srgbClr val="E6E8F2"/>
            </a:solidFill>
          </a:ln>
        </p:spPr>
      </p:cxnSp>
      <p:cxnSp>
        <p:nvCxnSpPr>
          <p:cNvPr id="15" name="Line 15"/>
          <p:cNvCxnSpPr/>
          <p:nvPr/>
        </p:nvCxnSpPr>
        <p:spPr>
          <a:xfrm>
            <a:off x="2824162" y="3478530"/>
            <a:ext cx="0" cy="1828800"/>
          </a:xfrm>
          <a:prstGeom prst="line">
            <a:avLst/>
          </a:prstGeom>
          <a:ln w="9525" cap="flat">
            <a:solidFill>
              <a:srgbClr val="E6E8F2"/>
            </a:solidFill>
          </a:ln>
        </p:spPr>
      </p:cxnSp>
      <p:cxnSp>
        <p:nvCxnSpPr>
          <p:cNvPr id="16" name="Line 16"/>
          <p:cNvCxnSpPr/>
          <p:nvPr/>
        </p:nvCxnSpPr>
        <p:spPr>
          <a:xfrm>
            <a:off x="3126581" y="3478530"/>
            <a:ext cx="0" cy="1828800"/>
          </a:xfrm>
          <a:prstGeom prst="line">
            <a:avLst/>
          </a:prstGeom>
          <a:ln w="9525" cap="flat">
            <a:solidFill>
              <a:srgbClr val="E6E8F2"/>
            </a:solidFill>
          </a:ln>
        </p:spPr>
      </p:cxnSp>
      <p:cxnSp>
        <p:nvCxnSpPr>
          <p:cNvPr id="17" name="Line 17"/>
          <p:cNvCxnSpPr/>
          <p:nvPr/>
        </p:nvCxnSpPr>
        <p:spPr>
          <a:xfrm>
            <a:off x="3429000" y="3478530"/>
            <a:ext cx="0" cy="1828800"/>
          </a:xfrm>
          <a:prstGeom prst="line">
            <a:avLst/>
          </a:prstGeom>
          <a:ln w="9525" cap="flat">
            <a:solidFill>
              <a:srgbClr val="E6E8F2"/>
            </a:solidFill>
          </a:ln>
        </p:spPr>
      </p:cxnSp>
      <p:cxnSp>
        <p:nvCxnSpPr>
          <p:cNvPr id="18" name="Line 18"/>
          <p:cNvCxnSpPr/>
          <p:nvPr/>
        </p:nvCxnSpPr>
        <p:spPr>
          <a:xfrm>
            <a:off x="1009650" y="5307330"/>
            <a:ext cx="2419350" cy="0"/>
          </a:xfrm>
          <a:prstGeom prst="line">
            <a:avLst/>
          </a:prstGeom>
          <a:ln w="9525" cap="flat">
            <a:solidFill>
              <a:srgbClr val="E6E8F2"/>
            </a:solidFill>
          </a:ln>
        </p:spPr>
      </p:cxnSp>
      <p:cxnSp>
        <p:nvCxnSpPr>
          <p:cNvPr id="19" name="Line 19"/>
          <p:cNvCxnSpPr/>
          <p:nvPr/>
        </p:nvCxnSpPr>
        <p:spPr>
          <a:xfrm>
            <a:off x="1009650" y="5002530"/>
            <a:ext cx="2419350" cy="0"/>
          </a:xfrm>
          <a:prstGeom prst="line">
            <a:avLst/>
          </a:prstGeom>
          <a:ln w="9525" cap="flat">
            <a:solidFill>
              <a:srgbClr val="E6E8F2"/>
            </a:solidFill>
          </a:ln>
        </p:spPr>
      </p:cxnSp>
      <p:cxnSp>
        <p:nvCxnSpPr>
          <p:cNvPr id="20" name="Line 20"/>
          <p:cNvCxnSpPr/>
          <p:nvPr/>
        </p:nvCxnSpPr>
        <p:spPr>
          <a:xfrm>
            <a:off x="1009650" y="4697730"/>
            <a:ext cx="2419350" cy="0"/>
          </a:xfrm>
          <a:prstGeom prst="line">
            <a:avLst/>
          </a:prstGeom>
          <a:ln w="9525" cap="flat">
            <a:solidFill>
              <a:srgbClr val="E6E8F2"/>
            </a:solidFill>
          </a:ln>
        </p:spPr>
      </p:cxnSp>
      <p:cxnSp>
        <p:nvCxnSpPr>
          <p:cNvPr id="21" name="Line 21"/>
          <p:cNvCxnSpPr/>
          <p:nvPr/>
        </p:nvCxnSpPr>
        <p:spPr>
          <a:xfrm>
            <a:off x="1009650" y="4392930"/>
            <a:ext cx="2419350" cy="0"/>
          </a:xfrm>
          <a:prstGeom prst="line">
            <a:avLst/>
          </a:prstGeom>
          <a:ln w="9525" cap="flat">
            <a:solidFill>
              <a:srgbClr val="E6E8F2"/>
            </a:solidFill>
          </a:ln>
        </p:spPr>
      </p:cxnSp>
      <p:cxnSp>
        <p:nvCxnSpPr>
          <p:cNvPr id="22" name="Line 22"/>
          <p:cNvCxnSpPr/>
          <p:nvPr/>
        </p:nvCxnSpPr>
        <p:spPr>
          <a:xfrm>
            <a:off x="1009650" y="4088130"/>
            <a:ext cx="2419350" cy="0"/>
          </a:xfrm>
          <a:prstGeom prst="line">
            <a:avLst/>
          </a:prstGeom>
          <a:ln w="9525" cap="flat">
            <a:solidFill>
              <a:srgbClr val="E6E8F2"/>
            </a:solidFill>
          </a:ln>
        </p:spPr>
      </p:cxnSp>
      <p:cxnSp>
        <p:nvCxnSpPr>
          <p:cNvPr id="23" name="Line 23"/>
          <p:cNvCxnSpPr/>
          <p:nvPr/>
        </p:nvCxnSpPr>
        <p:spPr>
          <a:xfrm>
            <a:off x="1009650" y="3783330"/>
            <a:ext cx="2419350" cy="0"/>
          </a:xfrm>
          <a:prstGeom prst="line">
            <a:avLst/>
          </a:prstGeom>
          <a:ln w="9525" cap="flat">
            <a:solidFill>
              <a:srgbClr val="E6E8F2"/>
            </a:solidFill>
          </a:ln>
        </p:spPr>
      </p:cxnSp>
      <p:cxnSp>
        <p:nvCxnSpPr>
          <p:cNvPr id="24" name="Line 24"/>
          <p:cNvCxnSpPr/>
          <p:nvPr/>
        </p:nvCxnSpPr>
        <p:spPr>
          <a:xfrm>
            <a:off x="1009650" y="3478530"/>
            <a:ext cx="2419350" cy="0"/>
          </a:xfrm>
          <a:prstGeom prst="line">
            <a:avLst/>
          </a:prstGeom>
          <a:ln w="9525" cap="flat">
            <a:solidFill>
              <a:srgbClr val="E6E8F2"/>
            </a:solidFill>
          </a:ln>
        </p:spPr>
      </p:cxnSp>
      <p:cxnSp>
        <p:nvCxnSpPr>
          <p:cNvPr id="25" name="Line 25"/>
          <p:cNvCxnSpPr/>
          <p:nvPr/>
        </p:nvCxnSpPr>
        <p:spPr>
          <a:xfrm>
            <a:off x="2219325" y="3478530"/>
            <a:ext cx="0" cy="1828800"/>
          </a:xfrm>
          <a:prstGeom prst="line">
            <a:avLst/>
          </a:prstGeom>
          <a:ln w="19050" cap="flat">
            <a:solidFill>
              <a:srgbClr val="5F6272"/>
            </a:solidFill>
          </a:ln>
        </p:spPr>
      </p:cxnSp>
      <p:cxnSp>
        <p:nvCxnSpPr>
          <p:cNvPr id="26" name="Line 26"/>
          <p:cNvCxnSpPr/>
          <p:nvPr/>
        </p:nvCxnSpPr>
        <p:spPr>
          <a:xfrm>
            <a:off x="1009650" y="5002530"/>
            <a:ext cx="2419350" cy="0"/>
          </a:xfrm>
          <a:prstGeom prst="line">
            <a:avLst/>
          </a:prstGeom>
          <a:ln w="19050" cap="flat">
            <a:solidFill>
              <a:srgbClr val="5F6272"/>
            </a:solidFill>
          </a:ln>
        </p:spPr>
      </p:cxnSp>
      <p:sp>
        <p:nvSpPr>
          <p:cNvPr id="27" name="Shape 27"/>
          <p:cNvSpPr txBox="1"/>
          <p:nvPr/>
        </p:nvSpPr>
        <p:spPr>
          <a:xfrm>
            <a:off x="735330" y="5326380"/>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28" name="Shape 28"/>
          <p:cNvSpPr txBox="1"/>
          <p:nvPr/>
        </p:nvSpPr>
        <p:spPr>
          <a:xfrm>
            <a:off x="1037749" y="5326380"/>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29" name="Shape 29"/>
          <p:cNvSpPr txBox="1"/>
          <p:nvPr/>
        </p:nvSpPr>
        <p:spPr>
          <a:xfrm>
            <a:off x="1340168" y="5326380"/>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0" name="Shape 30"/>
          <p:cNvSpPr txBox="1"/>
          <p:nvPr/>
        </p:nvSpPr>
        <p:spPr>
          <a:xfrm>
            <a:off x="1642586" y="5326380"/>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1" name="Shape 31"/>
          <p:cNvSpPr txBox="1"/>
          <p:nvPr/>
        </p:nvSpPr>
        <p:spPr>
          <a:xfrm>
            <a:off x="1945005" y="5326380"/>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2" name="Shape 32"/>
          <p:cNvSpPr txBox="1"/>
          <p:nvPr/>
        </p:nvSpPr>
        <p:spPr>
          <a:xfrm>
            <a:off x="2247424" y="5326380"/>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3" name="Shape 33"/>
          <p:cNvSpPr txBox="1"/>
          <p:nvPr/>
        </p:nvSpPr>
        <p:spPr>
          <a:xfrm>
            <a:off x="2549842" y="5326380"/>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4" name="Shape 34"/>
          <p:cNvSpPr txBox="1"/>
          <p:nvPr/>
        </p:nvSpPr>
        <p:spPr>
          <a:xfrm>
            <a:off x="2852261" y="5326380"/>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35" name="Shape 35"/>
          <p:cNvSpPr txBox="1"/>
          <p:nvPr/>
        </p:nvSpPr>
        <p:spPr>
          <a:xfrm>
            <a:off x="3154680" y="5326380"/>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36" name="Shape 36"/>
          <p:cNvSpPr txBox="1"/>
          <p:nvPr/>
        </p:nvSpPr>
        <p:spPr>
          <a:xfrm>
            <a:off x="442722" y="521589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a:t>
            </a:r>
            <a:endParaRPr lang="en-US" sz="975" dirty="0"/>
          </a:p>
        </p:txBody>
      </p:sp>
      <p:sp>
        <p:nvSpPr>
          <p:cNvPr id="37" name="Shape 37"/>
          <p:cNvSpPr txBox="1"/>
          <p:nvPr/>
        </p:nvSpPr>
        <p:spPr>
          <a:xfrm>
            <a:off x="442722" y="491109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38" name="Shape 38"/>
          <p:cNvSpPr txBox="1"/>
          <p:nvPr/>
        </p:nvSpPr>
        <p:spPr>
          <a:xfrm>
            <a:off x="442722" y="460629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a:t>
            </a:r>
            <a:endParaRPr lang="en-US" sz="975" dirty="0"/>
          </a:p>
        </p:txBody>
      </p:sp>
      <p:sp>
        <p:nvSpPr>
          <p:cNvPr id="39" name="Shape 39"/>
          <p:cNvSpPr txBox="1"/>
          <p:nvPr/>
        </p:nvSpPr>
        <p:spPr>
          <a:xfrm>
            <a:off x="442722" y="430149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0" name="Shape 40"/>
          <p:cNvSpPr txBox="1"/>
          <p:nvPr/>
        </p:nvSpPr>
        <p:spPr>
          <a:xfrm>
            <a:off x="442722" y="399669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3</a:t>
            </a:r>
            <a:endParaRPr lang="en-US" sz="975" dirty="0"/>
          </a:p>
        </p:txBody>
      </p:sp>
      <p:sp>
        <p:nvSpPr>
          <p:cNvPr id="41" name="Shape 41"/>
          <p:cNvSpPr txBox="1"/>
          <p:nvPr/>
        </p:nvSpPr>
        <p:spPr>
          <a:xfrm>
            <a:off x="442722" y="369189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2" name="Shape 42"/>
          <p:cNvSpPr txBox="1"/>
          <p:nvPr/>
        </p:nvSpPr>
        <p:spPr>
          <a:xfrm>
            <a:off x="442722" y="338709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a:t>
            </a:r>
            <a:endParaRPr lang="en-US" sz="975" dirty="0"/>
          </a:p>
        </p:txBody>
      </p:sp>
      <p:cxnSp>
        <p:nvCxnSpPr>
          <p:cNvPr id="43" name="Line 43"/>
          <p:cNvCxnSpPr/>
          <p:nvPr/>
        </p:nvCxnSpPr>
        <p:spPr>
          <a:xfrm>
            <a:off x="1009650" y="4088130"/>
            <a:ext cx="2419350" cy="0"/>
          </a:xfrm>
          <a:prstGeom prst="line">
            <a:avLst/>
          </a:prstGeom>
          <a:ln w="38100" cap="rnd">
            <a:solidFill>
              <a:srgbClr val="16171D"/>
            </a:solidFill>
          </a:ln>
        </p:spPr>
      </p:cxnSp>
      <p:sp>
        <p:nvSpPr>
          <p:cNvPr id="44" name="Shape 44"/>
          <p:cNvSpPr txBox="1"/>
          <p:nvPr/>
        </p:nvSpPr>
        <p:spPr>
          <a:xfrm>
            <a:off x="937260" y="4107180"/>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y = 3</a:t>
            </a:r>
            <a:endParaRPr lang="en-US" sz="1275" dirty="0"/>
          </a:p>
        </p:txBody>
      </p:sp>
      <p:sp>
        <p:nvSpPr>
          <p:cNvPr id="48" name="Shape 48"/>
          <p:cNvSpPr txBox="1"/>
          <p:nvPr/>
        </p:nvSpPr>
        <p:spPr>
          <a:xfrm>
            <a:off x="6286348" y="1618488"/>
            <a:ext cx="5219548" cy="161239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5" name="Shape 45"/>
          <p:cNvSpPr txBox="1"/>
          <p:nvPr/>
        </p:nvSpPr>
        <p:spPr>
          <a:xfrm>
            <a:off x="6495898" y="1789938"/>
            <a:ext cx="48004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Vertical</a:t>
            </a:r>
            <a:endParaRPr lang="en-US" sz="2100" dirty="0"/>
          </a:p>
        </p:txBody>
      </p:sp>
      <p:sp>
        <p:nvSpPr>
          <p:cNvPr id="46" name="Shape 46"/>
          <p:cNvSpPr txBox="1"/>
          <p:nvPr/>
        </p:nvSpPr>
        <p:spPr>
          <a:xfrm>
            <a:off x="6495898" y="2260092"/>
            <a:ext cx="4800448" cy="29489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stays the same. Slope is </a:t>
            </a:r>
            <a:r>
              <a:rPr lang="en-US" sz="1575" dirty="0" b="1">
                <a:solidFill>
                  <a:srgbClr val="16171D"/>
                </a:solidFill>
                <a:latin typeface="Segoe UI"/>
                <a:cs typeface="Segoe UI"/>
              </a:rPr>
              <a:t xml:space="preserve">undefined</a:t>
            </a:r>
            <a:r>
              <a:rPr lang="en-US" sz="1575" dirty="0">
                <a:solidFill>
                  <a:srgbClr val="16171D"/>
                </a:solidFill>
                <a:latin typeface="Segoe UI"/>
                <a:cs typeface="Segoe UI"/>
              </a:rPr>
              <a:t xml:space="preserve">.</a:t>
            </a:r>
            <a:endParaRPr lang="en-US" sz="1575" dirty="0"/>
          </a:p>
        </p:txBody>
      </p:sp>
      <p:sp>
        <p:nvSpPr>
          <p:cNvPr id="47" name="Shape 47"/>
          <p:cNvSpPr txBox="1"/>
          <p:nvPr/>
        </p:nvSpPr>
        <p:spPr>
          <a:xfrm>
            <a:off x="6495898" y="2650236"/>
            <a:ext cx="480044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
        <p:nvSpPr>
          <p:cNvPr id="49" name="Shape 49"/>
          <p:cNvSpPr/>
          <p:nvPr/>
        </p:nvSpPr>
        <p:spPr>
          <a:xfrm>
            <a:off x="6286348" y="3364230"/>
            <a:ext cx="2857500" cy="21907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50" name="Line 50"/>
          <p:cNvCxnSpPr/>
          <p:nvPr/>
        </p:nvCxnSpPr>
        <p:spPr>
          <a:xfrm>
            <a:off x="6610198" y="3478530"/>
            <a:ext cx="0" cy="1828800"/>
          </a:xfrm>
          <a:prstGeom prst="line">
            <a:avLst/>
          </a:prstGeom>
          <a:ln w="9525" cap="flat">
            <a:solidFill>
              <a:srgbClr val="E6E8F2"/>
            </a:solidFill>
          </a:ln>
        </p:spPr>
      </p:cxnSp>
      <p:cxnSp>
        <p:nvCxnSpPr>
          <p:cNvPr id="51" name="Line 51"/>
          <p:cNvCxnSpPr/>
          <p:nvPr/>
        </p:nvCxnSpPr>
        <p:spPr>
          <a:xfrm>
            <a:off x="6912616" y="3478530"/>
            <a:ext cx="0" cy="1828800"/>
          </a:xfrm>
          <a:prstGeom prst="line">
            <a:avLst/>
          </a:prstGeom>
          <a:ln w="9525" cap="flat">
            <a:solidFill>
              <a:srgbClr val="E6E8F2"/>
            </a:solidFill>
          </a:ln>
        </p:spPr>
      </p:cxnSp>
      <p:cxnSp>
        <p:nvCxnSpPr>
          <p:cNvPr id="52" name="Line 52"/>
          <p:cNvCxnSpPr/>
          <p:nvPr/>
        </p:nvCxnSpPr>
        <p:spPr>
          <a:xfrm>
            <a:off x="7215035" y="3478530"/>
            <a:ext cx="0" cy="1828800"/>
          </a:xfrm>
          <a:prstGeom prst="line">
            <a:avLst/>
          </a:prstGeom>
          <a:ln w="9525" cap="flat">
            <a:solidFill>
              <a:srgbClr val="E6E8F2"/>
            </a:solidFill>
          </a:ln>
        </p:spPr>
      </p:cxnSp>
      <p:cxnSp>
        <p:nvCxnSpPr>
          <p:cNvPr id="53" name="Line 53"/>
          <p:cNvCxnSpPr/>
          <p:nvPr/>
        </p:nvCxnSpPr>
        <p:spPr>
          <a:xfrm>
            <a:off x="7517454" y="3478530"/>
            <a:ext cx="0" cy="1828800"/>
          </a:xfrm>
          <a:prstGeom prst="line">
            <a:avLst/>
          </a:prstGeom>
          <a:ln w="9525" cap="flat">
            <a:solidFill>
              <a:srgbClr val="E6E8F2"/>
            </a:solidFill>
          </a:ln>
        </p:spPr>
      </p:cxnSp>
      <p:cxnSp>
        <p:nvCxnSpPr>
          <p:cNvPr id="54" name="Line 54"/>
          <p:cNvCxnSpPr/>
          <p:nvPr/>
        </p:nvCxnSpPr>
        <p:spPr>
          <a:xfrm>
            <a:off x="7819873" y="3478530"/>
            <a:ext cx="0" cy="1828800"/>
          </a:xfrm>
          <a:prstGeom prst="line">
            <a:avLst/>
          </a:prstGeom>
          <a:ln w="9525" cap="flat">
            <a:solidFill>
              <a:srgbClr val="E6E8F2"/>
            </a:solidFill>
          </a:ln>
        </p:spPr>
      </p:cxnSp>
      <p:cxnSp>
        <p:nvCxnSpPr>
          <p:cNvPr id="55" name="Line 55"/>
          <p:cNvCxnSpPr/>
          <p:nvPr/>
        </p:nvCxnSpPr>
        <p:spPr>
          <a:xfrm>
            <a:off x="8122291" y="3478530"/>
            <a:ext cx="0" cy="1828800"/>
          </a:xfrm>
          <a:prstGeom prst="line">
            <a:avLst/>
          </a:prstGeom>
          <a:ln w="9525" cap="flat">
            <a:solidFill>
              <a:srgbClr val="E6E8F2"/>
            </a:solidFill>
          </a:ln>
        </p:spPr>
      </p:cxnSp>
      <p:cxnSp>
        <p:nvCxnSpPr>
          <p:cNvPr id="56" name="Line 56"/>
          <p:cNvCxnSpPr/>
          <p:nvPr/>
        </p:nvCxnSpPr>
        <p:spPr>
          <a:xfrm>
            <a:off x="8424710" y="3478530"/>
            <a:ext cx="0" cy="1828800"/>
          </a:xfrm>
          <a:prstGeom prst="line">
            <a:avLst/>
          </a:prstGeom>
          <a:ln w="9525" cap="flat">
            <a:solidFill>
              <a:srgbClr val="E6E8F2"/>
            </a:solidFill>
          </a:ln>
        </p:spPr>
      </p:cxnSp>
      <p:cxnSp>
        <p:nvCxnSpPr>
          <p:cNvPr id="57" name="Line 57"/>
          <p:cNvCxnSpPr/>
          <p:nvPr/>
        </p:nvCxnSpPr>
        <p:spPr>
          <a:xfrm>
            <a:off x="8727129" y="3478530"/>
            <a:ext cx="0" cy="1828800"/>
          </a:xfrm>
          <a:prstGeom prst="line">
            <a:avLst/>
          </a:prstGeom>
          <a:ln w="9525" cap="flat">
            <a:solidFill>
              <a:srgbClr val="E6E8F2"/>
            </a:solidFill>
          </a:ln>
        </p:spPr>
      </p:cxnSp>
      <p:cxnSp>
        <p:nvCxnSpPr>
          <p:cNvPr id="58" name="Line 58"/>
          <p:cNvCxnSpPr/>
          <p:nvPr/>
        </p:nvCxnSpPr>
        <p:spPr>
          <a:xfrm>
            <a:off x="9029548" y="3478530"/>
            <a:ext cx="0" cy="1828800"/>
          </a:xfrm>
          <a:prstGeom prst="line">
            <a:avLst/>
          </a:prstGeom>
          <a:ln w="9525" cap="flat">
            <a:solidFill>
              <a:srgbClr val="E6E8F2"/>
            </a:solidFill>
          </a:ln>
        </p:spPr>
      </p:cxnSp>
      <p:cxnSp>
        <p:nvCxnSpPr>
          <p:cNvPr id="59" name="Line 59"/>
          <p:cNvCxnSpPr/>
          <p:nvPr/>
        </p:nvCxnSpPr>
        <p:spPr>
          <a:xfrm>
            <a:off x="6610198" y="5307330"/>
            <a:ext cx="2419350" cy="0"/>
          </a:xfrm>
          <a:prstGeom prst="line">
            <a:avLst/>
          </a:prstGeom>
          <a:ln w="9525" cap="flat">
            <a:solidFill>
              <a:srgbClr val="E6E8F2"/>
            </a:solidFill>
          </a:ln>
        </p:spPr>
      </p:cxnSp>
      <p:cxnSp>
        <p:nvCxnSpPr>
          <p:cNvPr id="60" name="Line 60"/>
          <p:cNvCxnSpPr/>
          <p:nvPr/>
        </p:nvCxnSpPr>
        <p:spPr>
          <a:xfrm>
            <a:off x="6610198" y="5002530"/>
            <a:ext cx="2419350" cy="0"/>
          </a:xfrm>
          <a:prstGeom prst="line">
            <a:avLst/>
          </a:prstGeom>
          <a:ln w="9525" cap="flat">
            <a:solidFill>
              <a:srgbClr val="E6E8F2"/>
            </a:solidFill>
          </a:ln>
        </p:spPr>
      </p:cxnSp>
      <p:cxnSp>
        <p:nvCxnSpPr>
          <p:cNvPr id="61" name="Line 61"/>
          <p:cNvCxnSpPr/>
          <p:nvPr/>
        </p:nvCxnSpPr>
        <p:spPr>
          <a:xfrm>
            <a:off x="6610198" y="4697730"/>
            <a:ext cx="2419350" cy="0"/>
          </a:xfrm>
          <a:prstGeom prst="line">
            <a:avLst/>
          </a:prstGeom>
          <a:ln w="9525" cap="flat">
            <a:solidFill>
              <a:srgbClr val="E6E8F2"/>
            </a:solidFill>
          </a:ln>
        </p:spPr>
      </p:cxnSp>
      <p:cxnSp>
        <p:nvCxnSpPr>
          <p:cNvPr id="62" name="Line 62"/>
          <p:cNvCxnSpPr/>
          <p:nvPr/>
        </p:nvCxnSpPr>
        <p:spPr>
          <a:xfrm>
            <a:off x="6610198" y="4392930"/>
            <a:ext cx="2419350" cy="0"/>
          </a:xfrm>
          <a:prstGeom prst="line">
            <a:avLst/>
          </a:prstGeom>
          <a:ln w="9525" cap="flat">
            <a:solidFill>
              <a:srgbClr val="E6E8F2"/>
            </a:solidFill>
          </a:ln>
        </p:spPr>
      </p:cxnSp>
      <p:cxnSp>
        <p:nvCxnSpPr>
          <p:cNvPr id="63" name="Line 63"/>
          <p:cNvCxnSpPr/>
          <p:nvPr/>
        </p:nvCxnSpPr>
        <p:spPr>
          <a:xfrm>
            <a:off x="6610198" y="4088130"/>
            <a:ext cx="2419350" cy="0"/>
          </a:xfrm>
          <a:prstGeom prst="line">
            <a:avLst/>
          </a:prstGeom>
          <a:ln w="9525" cap="flat">
            <a:solidFill>
              <a:srgbClr val="E6E8F2"/>
            </a:solidFill>
          </a:ln>
        </p:spPr>
      </p:cxnSp>
      <p:cxnSp>
        <p:nvCxnSpPr>
          <p:cNvPr id="64" name="Line 64"/>
          <p:cNvCxnSpPr/>
          <p:nvPr/>
        </p:nvCxnSpPr>
        <p:spPr>
          <a:xfrm>
            <a:off x="6610198" y="3783330"/>
            <a:ext cx="2419350" cy="0"/>
          </a:xfrm>
          <a:prstGeom prst="line">
            <a:avLst/>
          </a:prstGeom>
          <a:ln w="9525" cap="flat">
            <a:solidFill>
              <a:srgbClr val="E6E8F2"/>
            </a:solidFill>
          </a:ln>
        </p:spPr>
      </p:cxnSp>
      <p:cxnSp>
        <p:nvCxnSpPr>
          <p:cNvPr id="65" name="Line 65"/>
          <p:cNvCxnSpPr/>
          <p:nvPr/>
        </p:nvCxnSpPr>
        <p:spPr>
          <a:xfrm>
            <a:off x="6610198" y="3478530"/>
            <a:ext cx="2419350" cy="0"/>
          </a:xfrm>
          <a:prstGeom prst="line">
            <a:avLst/>
          </a:prstGeom>
          <a:ln w="9525" cap="flat">
            <a:solidFill>
              <a:srgbClr val="E6E8F2"/>
            </a:solidFill>
          </a:ln>
        </p:spPr>
      </p:cxnSp>
      <p:cxnSp>
        <p:nvCxnSpPr>
          <p:cNvPr id="66" name="Line 66"/>
          <p:cNvCxnSpPr/>
          <p:nvPr/>
        </p:nvCxnSpPr>
        <p:spPr>
          <a:xfrm>
            <a:off x="7819873" y="3478530"/>
            <a:ext cx="0" cy="1828800"/>
          </a:xfrm>
          <a:prstGeom prst="line">
            <a:avLst/>
          </a:prstGeom>
          <a:ln w="19050" cap="flat">
            <a:solidFill>
              <a:srgbClr val="5F6272"/>
            </a:solidFill>
          </a:ln>
        </p:spPr>
      </p:cxnSp>
      <p:cxnSp>
        <p:nvCxnSpPr>
          <p:cNvPr id="67" name="Line 67"/>
          <p:cNvCxnSpPr/>
          <p:nvPr/>
        </p:nvCxnSpPr>
        <p:spPr>
          <a:xfrm>
            <a:off x="6610198" y="4392930"/>
            <a:ext cx="2419350" cy="0"/>
          </a:xfrm>
          <a:prstGeom prst="line">
            <a:avLst/>
          </a:prstGeom>
          <a:ln w="19050" cap="flat">
            <a:solidFill>
              <a:srgbClr val="5F6272"/>
            </a:solidFill>
          </a:ln>
        </p:spPr>
      </p:cxnSp>
      <p:sp>
        <p:nvSpPr>
          <p:cNvPr id="68" name="Shape 68"/>
          <p:cNvSpPr txBox="1"/>
          <p:nvPr/>
        </p:nvSpPr>
        <p:spPr>
          <a:xfrm>
            <a:off x="6335878" y="5326380"/>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69" name="Shape 69"/>
          <p:cNvSpPr txBox="1"/>
          <p:nvPr/>
        </p:nvSpPr>
        <p:spPr>
          <a:xfrm>
            <a:off x="6638296" y="5326380"/>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70" name="Shape 70"/>
          <p:cNvSpPr txBox="1"/>
          <p:nvPr/>
        </p:nvSpPr>
        <p:spPr>
          <a:xfrm>
            <a:off x="6940715" y="5326380"/>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71" name="Shape 71"/>
          <p:cNvSpPr txBox="1"/>
          <p:nvPr/>
        </p:nvSpPr>
        <p:spPr>
          <a:xfrm>
            <a:off x="7243134" y="5326380"/>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72" name="Shape 72"/>
          <p:cNvSpPr txBox="1"/>
          <p:nvPr/>
        </p:nvSpPr>
        <p:spPr>
          <a:xfrm>
            <a:off x="7545553" y="5326380"/>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73" name="Shape 73"/>
          <p:cNvSpPr txBox="1"/>
          <p:nvPr/>
        </p:nvSpPr>
        <p:spPr>
          <a:xfrm>
            <a:off x="7847971" y="5326380"/>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74" name="Shape 74"/>
          <p:cNvSpPr txBox="1"/>
          <p:nvPr/>
        </p:nvSpPr>
        <p:spPr>
          <a:xfrm>
            <a:off x="8150390" y="5326380"/>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75" name="Shape 75"/>
          <p:cNvSpPr txBox="1"/>
          <p:nvPr/>
        </p:nvSpPr>
        <p:spPr>
          <a:xfrm>
            <a:off x="8452809" y="5326380"/>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76" name="Shape 76"/>
          <p:cNvSpPr txBox="1"/>
          <p:nvPr/>
        </p:nvSpPr>
        <p:spPr>
          <a:xfrm>
            <a:off x="8755228" y="5326380"/>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77" name="Shape 77"/>
          <p:cNvSpPr txBox="1"/>
          <p:nvPr/>
        </p:nvSpPr>
        <p:spPr>
          <a:xfrm>
            <a:off x="6043270" y="521589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−3</a:t>
            </a:r>
            <a:endParaRPr lang="en-US" sz="975" dirty="0"/>
          </a:p>
        </p:txBody>
      </p:sp>
      <p:sp>
        <p:nvSpPr>
          <p:cNvPr id="78" name="Shape 78"/>
          <p:cNvSpPr txBox="1"/>
          <p:nvPr/>
        </p:nvSpPr>
        <p:spPr>
          <a:xfrm>
            <a:off x="6043270" y="491109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79" name="Shape 79"/>
          <p:cNvSpPr txBox="1"/>
          <p:nvPr/>
        </p:nvSpPr>
        <p:spPr>
          <a:xfrm>
            <a:off x="6043270" y="460629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a:t>
            </a:r>
            <a:endParaRPr lang="en-US" sz="975" dirty="0"/>
          </a:p>
        </p:txBody>
      </p:sp>
      <p:sp>
        <p:nvSpPr>
          <p:cNvPr id="80" name="Shape 80"/>
          <p:cNvSpPr txBox="1"/>
          <p:nvPr/>
        </p:nvSpPr>
        <p:spPr>
          <a:xfrm>
            <a:off x="6043270" y="430149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81" name="Shape 81"/>
          <p:cNvSpPr txBox="1"/>
          <p:nvPr/>
        </p:nvSpPr>
        <p:spPr>
          <a:xfrm>
            <a:off x="6043270" y="399669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a:t>
            </a:r>
            <a:endParaRPr lang="en-US" sz="975" dirty="0"/>
          </a:p>
        </p:txBody>
      </p:sp>
      <p:sp>
        <p:nvSpPr>
          <p:cNvPr id="82" name="Shape 82"/>
          <p:cNvSpPr txBox="1"/>
          <p:nvPr/>
        </p:nvSpPr>
        <p:spPr>
          <a:xfrm>
            <a:off x="6043270" y="369189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83" name="Shape 83"/>
          <p:cNvSpPr txBox="1"/>
          <p:nvPr/>
        </p:nvSpPr>
        <p:spPr>
          <a:xfrm>
            <a:off x="6043270" y="338709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3</a:t>
            </a:r>
            <a:endParaRPr lang="en-US" sz="975" dirty="0"/>
          </a:p>
        </p:txBody>
      </p:sp>
      <p:cxnSp>
        <p:nvCxnSpPr>
          <p:cNvPr id="84" name="Line 84"/>
          <p:cNvCxnSpPr/>
          <p:nvPr/>
        </p:nvCxnSpPr>
        <p:spPr>
          <a:xfrm flipV="1">
            <a:off x="7215035" y="3478530"/>
            <a:ext cx="0" cy="1828800"/>
          </a:xfrm>
          <a:prstGeom prst="line">
            <a:avLst/>
          </a:prstGeom>
          <a:ln w="38100" cap="rnd">
            <a:solidFill>
              <a:srgbClr val="16171D"/>
            </a:solidFill>
          </a:ln>
        </p:spPr>
      </p:cxnSp>
      <p:sp>
        <p:nvSpPr>
          <p:cNvPr id="85" name="Shape 85"/>
          <p:cNvSpPr txBox="1"/>
          <p:nvPr/>
        </p:nvSpPr>
        <p:spPr>
          <a:xfrm>
            <a:off x="7291235" y="3497580"/>
            <a:ext cx="2377440" cy="228600"/>
          </a:xfrm>
          <a:prstGeom prst="rect">
            <a:avLst/>
          </a:prstGeom>
          <a:noFill/>
          <a:ln>
            <a:noFill/>
          </a:ln>
        </p:spPr>
        <p:txBody>
          <a:bodyPr wrap="square" lIns="0" tIns="0" rIns="0" bIns="0" anchor="t">
            <a:noAutofit/>
          </a:bodyPr>
          <a:lstStyle/>
          <a:p>
            <a:pPr algn="l">
              <a:lnSpc>
                <a:spcPct val="100000"/>
              </a:lnSpc>
            </a:pPr>
            <a:r>
              <a:rPr lang="en-US" sz="1275" dirty="0" i="1">
                <a:solidFill>
                  <a:srgbClr val="16171D"/>
                </a:solidFill>
                <a:latin typeface="Cambria"/>
                <a:cs typeface="Cambria"/>
              </a:rPr>
              <a:t xml:space="preserve">x = −2</a:t>
            </a:r>
            <a:endParaRPr lang="en-US" sz="1275" dirty="0"/>
          </a:p>
        </p:txBody>
      </p:sp>
      <p:sp>
        <p:nvSpPr>
          <p:cNvPr id="86" name="Slide Number 8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12</a:t>
            </a:fld>
          </a:p>
        </p:txBody>
      </p:sp>
    </p:spTree>
  </p:cSld>
  <p:clrMapOvr>
    <a:masterClrMapping/>
  </p:clrMapOvr>
  <p:transition spd="med">
    <p:fade/>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You do · Try it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Horizontal and vertical lines</a:t>
            </a:r>
            <a:endParaRPr lang="en-US" sz="3450" dirty="0"/>
          </a:p>
        </p:txBody>
      </p:sp>
      <p:sp>
        <p:nvSpPr>
          <p:cNvPr id="14" name="Shape 14"/>
          <p:cNvSpPr txBox="1"/>
          <p:nvPr/>
        </p:nvSpPr>
        <p:spPr>
          <a:xfrm>
            <a:off x="685800" y="1618488"/>
            <a:ext cx="5219548" cy="308686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48004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-values are all 11.</a:t>
            </a:r>
            <a:endParaRPr lang="en-US" sz="1950" dirty="0"/>
          </a:p>
        </p:txBody>
      </p:sp>
      <p:sp>
        <p:nvSpPr>
          <p:cNvPr id="5" name="Shape 5"/>
          <p:cNvSpPr txBox="1"/>
          <p:nvPr/>
        </p:nvSpPr>
        <p:spPr>
          <a:xfrm>
            <a:off x="895350" y="2237232"/>
            <a:ext cx="1143000" cy="42062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800" dirty="0" i="1">
                <a:solidFill>
                  <a:srgbClr val="16171D"/>
                </a:solidFill>
                <a:latin typeface="Cambria"/>
                <a:cs typeface="Cambria"/>
              </a:rPr>
              <a:t xml:space="preserve">x</a:t>
            </a:r>
            <a:endParaRPr lang="en-US" sz="1800" dirty="0"/>
          </a:p>
        </p:txBody>
      </p:sp>
      <p:sp>
        <p:nvSpPr>
          <p:cNvPr id="6" name="Shape 6"/>
          <p:cNvSpPr txBox="1"/>
          <p:nvPr/>
        </p:nvSpPr>
        <p:spPr>
          <a:xfrm>
            <a:off x="2038350" y="2237232"/>
            <a:ext cx="1143000" cy="42062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800" dirty="0" i="1">
                <a:solidFill>
                  <a:srgbClr val="16171D"/>
                </a:solidFill>
                <a:latin typeface="Cambria"/>
                <a:cs typeface="Cambria"/>
              </a:rPr>
              <a:t xml:space="preserve">y</a:t>
            </a:r>
            <a:endParaRPr lang="en-US" sz="1800" dirty="0"/>
          </a:p>
        </p:txBody>
      </p:sp>
      <p:sp>
        <p:nvSpPr>
          <p:cNvPr id="7" name="Shape 7"/>
          <p:cNvSpPr txBox="1"/>
          <p:nvPr/>
        </p:nvSpPr>
        <p:spPr>
          <a:xfrm>
            <a:off x="895350" y="2657856"/>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−7</a:t>
            </a:r>
            <a:endParaRPr lang="en-US" sz="1800" dirty="0"/>
          </a:p>
        </p:txBody>
      </p:sp>
      <p:sp>
        <p:nvSpPr>
          <p:cNvPr id="8" name="Shape 8"/>
          <p:cNvSpPr txBox="1"/>
          <p:nvPr/>
        </p:nvSpPr>
        <p:spPr>
          <a:xfrm>
            <a:off x="2038350" y="2657856"/>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11</a:t>
            </a:r>
            <a:endParaRPr lang="en-US" sz="1800" dirty="0"/>
          </a:p>
        </p:txBody>
      </p:sp>
      <p:sp>
        <p:nvSpPr>
          <p:cNvPr id="9" name="Shape 9"/>
          <p:cNvSpPr txBox="1"/>
          <p:nvPr/>
        </p:nvSpPr>
        <p:spPr>
          <a:xfrm>
            <a:off x="895350" y="3078480"/>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−2</a:t>
            </a:r>
            <a:endParaRPr lang="en-US" sz="1800" dirty="0"/>
          </a:p>
        </p:txBody>
      </p:sp>
      <p:sp>
        <p:nvSpPr>
          <p:cNvPr id="10" name="Shape 10"/>
          <p:cNvSpPr txBox="1"/>
          <p:nvPr/>
        </p:nvSpPr>
        <p:spPr>
          <a:xfrm>
            <a:off x="2038350" y="3078480"/>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11</a:t>
            </a:r>
            <a:endParaRPr lang="en-US" sz="1800" dirty="0"/>
          </a:p>
        </p:txBody>
      </p:sp>
      <p:sp>
        <p:nvSpPr>
          <p:cNvPr id="11" name="Shape 11"/>
          <p:cNvSpPr txBox="1"/>
          <p:nvPr/>
        </p:nvSpPr>
        <p:spPr>
          <a:xfrm>
            <a:off x="895350" y="3499104"/>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0</a:t>
            </a:r>
            <a:endParaRPr lang="en-US" sz="1800" dirty="0"/>
          </a:p>
        </p:txBody>
      </p:sp>
      <p:sp>
        <p:nvSpPr>
          <p:cNvPr id="12" name="Shape 12"/>
          <p:cNvSpPr txBox="1"/>
          <p:nvPr/>
        </p:nvSpPr>
        <p:spPr>
          <a:xfrm>
            <a:off x="2038350" y="3499104"/>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11</a:t>
            </a:r>
            <a:endParaRPr lang="en-US" sz="1800" dirty="0"/>
          </a:p>
        </p:txBody>
      </p:sp>
      <p:sp>
        <p:nvSpPr>
          <p:cNvPr id="13" name="Shape 13"/>
          <p:cNvSpPr txBox="1"/>
          <p:nvPr/>
        </p:nvSpPr>
        <p:spPr>
          <a:xfrm>
            <a:off x="895350" y="4014978"/>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11</a:t>
            </a:r>
            <a:endParaRPr lang="en-US" sz="2325" dirty="0"/>
          </a:p>
        </p:txBody>
      </p:sp>
      <p:sp>
        <p:nvSpPr>
          <p:cNvPr id="20" name="Shape 20"/>
          <p:cNvSpPr txBox="1"/>
          <p:nvPr/>
        </p:nvSpPr>
        <p:spPr>
          <a:xfrm>
            <a:off x="6286348" y="1618488"/>
            <a:ext cx="5219548" cy="270357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5" name="Shape 15"/>
          <p:cNvSpPr txBox="1"/>
          <p:nvPr/>
        </p:nvSpPr>
        <p:spPr>
          <a:xfrm>
            <a:off x="6495898" y="1789938"/>
            <a:ext cx="48004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Through (−3, 8)</a:t>
            </a:r>
            <a:endParaRPr lang="en-US" sz="1950" dirty="0"/>
          </a:p>
        </p:txBody>
      </p:sp>
      <p:sp>
        <p:nvSpPr>
          <p:cNvPr id="16" name="Shape 16"/>
          <p:cNvSpPr txBox="1"/>
          <p:nvPr/>
        </p:nvSpPr>
        <p:spPr>
          <a:xfrm>
            <a:off x="6495898" y="2237232"/>
            <a:ext cx="48004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Horizontal: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 ____</a:t>
            </a:r>
            <a:endParaRPr lang="en-US" sz="1575" dirty="0"/>
          </a:p>
        </p:txBody>
      </p:sp>
      <p:sp>
        <p:nvSpPr>
          <p:cNvPr id="17" name="Shape 17"/>
          <p:cNvSpPr txBox="1"/>
          <p:nvPr/>
        </p:nvSpPr>
        <p:spPr>
          <a:xfrm>
            <a:off x="6495898" y="2627376"/>
            <a:ext cx="2742194"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8</a:t>
            </a:r>
            <a:endParaRPr lang="en-US" sz="2325" dirty="0"/>
          </a:p>
        </p:txBody>
      </p:sp>
      <p:sp>
        <p:nvSpPr>
          <p:cNvPr id="18" name="Shape 18"/>
          <p:cNvSpPr txBox="1"/>
          <p:nvPr/>
        </p:nvSpPr>
        <p:spPr>
          <a:xfrm>
            <a:off x="6495898" y="3241548"/>
            <a:ext cx="48004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Vertical: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____</a:t>
            </a:r>
            <a:endParaRPr lang="en-US" sz="1575" dirty="0"/>
          </a:p>
        </p:txBody>
      </p:sp>
      <p:sp>
        <p:nvSpPr>
          <p:cNvPr id="19" name="Shape 19"/>
          <p:cNvSpPr txBox="1"/>
          <p:nvPr/>
        </p:nvSpPr>
        <p:spPr>
          <a:xfrm>
            <a:off x="6495898" y="3631692"/>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endParaRPr lang="en-US" sz="2325" dirty="0"/>
          </a:p>
        </p:txBody>
      </p:sp>
      <p:sp>
        <p:nvSpPr>
          <p:cNvPr id="21" name="Slide Number 21"/>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13</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13"/>
                                        </p:tgtEl>
                                        <p:attrNameLst>
                                          <p:attrName>style.visibility</p:attrName>
                                        </p:attrNameLst>
                                      </p:cBhvr>
                                      <p:to>
                                        <p:strVal val="visible"/>
                                      </p:to>
                                    </p:set>
                                    <p:animEffect transition="in" filter="fade">
                                      <p:cBhvr>
                                        <p:cTn id="4" dur="500"/>
                                        <p:tgtEl>
                                          <p:spTgt spid="13"/>
                                        </p:tgtEl>
                                      </p:cBhvr>
                                    </p:animEffect>
                                    <p:anim calcmode="lin" valueType="num">
                                      <p:cBhvr>
                                        <p:cTn id="5" dur="500" fill="hold"/>
                                        <p:tgtEl>
                                          <p:spTgt spid="13"/>
                                        </p:tgtEl>
                                        <p:attrNameLst>
                                          <p:attrName>ppt_w</p:attrName>
                                        </p:attrNameLst>
                                      </p:cBhvr>
                                      <p:tavLst>
                                        <p:tav tm="0">
                                          <p:val>
                                            <p:fltVal val="0"/>
                                          </p:val>
                                        </p:tav>
                                        <p:tav tm="100000">
                                          <p:val>
                                            <p:strVal val="#ppt_w"/>
                                          </p:val>
                                        </p:tav>
                                      </p:tavLst>
                                    </p:anim>
                                    <p:anim calcmode="lin" valueType="num">
                                      <p:cBhvr>
                                        <p:cTn id="6" dur="500" fill="hold"/>
                                        <p:tgtEl>
                                          <p:spTgt spid="13"/>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17"/>
                                        </p:tgtEl>
                                        <p:attrNameLst>
                                          <p:attrName>style.visibility</p:attrName>
                                        </p:attrNameLst>
                                      </p:cBhvr>
                                      <p:to>
                                        <p:strVal val="visible"/>
                                      </p:to>
                                    </p:set>
                                    <p:animEffect transition="in" filter="fade">
                                      <p:cBhvr>
                                        <p:cTn id="11" dur="500"/>
                                        <p:tgtEl>
                                          <p:spTgt spid="17"/>
                                        </p:tgtEl>
                                      </p:cBhvr>
                                    </p:animEffect>
                                    <p:anim calcmode="lin" valueType="num">
                                      <p:cBhvr>
                                        <p:cTn id="12" dur="500" fill="hold"/>
                                        <p:tgtEl>
                                          <p:spTgt spid="17"/>
                                        </p:tgtEl>
                                        <p:attrNameLst>
                                          <p:attrName>ppt_w</p:attrName>
                                        </p:attrNameLst>
                                      </p:cBhvr>
                                      <p:tavLst>
                                        <p:tav tm="0">
                                          <p:val>
                                            <p:fltVal val="0"/>
                                          </p:val>
                                        </p:tav>
                                        <p:tav tm="100000">
                                          <p:val>
                                            <p:strVal val="#ppt_w"/>
                                          </p:val>
                                        </p:tav>
                                      </p:tavLst>
                                    </p:anim>
                                    <p:anim calcmode="lin" valueType="num">
                                      <p:cBhvr>
                                        <p:cTn id="13" dur="500" fill="hold"/>
                                        <p:tgtEl>
                                          <p:spTgt spid="1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9"/>
                                        </p:tgtEl>
                                        <p:attrNameLst>
                                          <p:attrName>style.visibility</p:attrName>
                                        </p:attrNameLst>
                                      </p:cBhvr>
                                      <p:to>
                                        <p:strVal val="visible"/>
                                      </p:to>
                                    </p:set>
                                    <p:animEffect transition="in" filter="fade">
                                      <p:cBhvr>
                                        <p:cTn id="18" dur="500"/>
                                        <p:tgtEl>
                                          <p:spTgt spid="19"/>
                                        </p:tgtEl>
                                      </p:cBhvr>
                                    </p:animEffect>
                                    <p:anim calcmode="lin" valueType="num">
                                      <p:cBhvr>
                                        <p:cTn id="19" dur="500" fill="hold"/>
                                        <p:tgtEl>
                                          <p:spTgt spid="19"/>
                                        </p:tgtEl>
                                        <p:attrNameLst>
                                          <p:attrName>ppt_w</p:attrName>
                                        </p:attrNameLst>
                                      </p:cBhvr>
                                      <p:tavLst>
                                        <p:tav tm="0">
                                          <p:val>
                                            <p:fltVal val="0"/>
                                          </p:val>
                                        </p:tav>
                                        <p:tav tm="100000">
                                          <p:val>
                                            <p:strVal val="#ppt_w"/>
                                          </p:val>
                                        </p:tav>
                                      </p:tavLst>
                                    </p:anim>
                                    <p:anim calcmode="lin" valueType="num">
                                      <p:cBhvr>
                                        <p:cTn id="20" dur="500" fill="hold"/>
                                        <p:tgtEl>
                                          <p:spTgt spid="19"/>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Exit Ticket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Show what you know</a:t>
            </a:r>
            <a:endParaRPr lang="en-US" sz="3450" dirty="0"/>
          </a:p>
        </p:txBody>
      </p:sp>
      <p:sp>
        <p:nvSpPr>
          <p:cNvPr id="6" name="Shape 6"/>
          <p:cNvSpPr txBox="1"/>
          <p:nvPr/>
        </p:nvSpPr>
        <p:spPr>
          <a:xfrm>
            <a:off x="685800" y="1618488"/>
            <a:ext cx="10820095"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104009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Slope 4, point (1, 6). Write point-slope form.</a:t>
            </a:r>
            <a:endParaRPr lang="en-US" sz="1950" dirty="0"/>
          </a:p>
        </p:txBody>
      </p:sp>
      <p:sp>
        <p:nvSpPr>
          <p:cNvPr id="5" name="Shape 5"/>
          <p:cNvSpPr txBox="1"/>
          <p:nvPr/>
        </p:nvSpPr>
        <p:spPr>
          <a:xfrm>
            <a:off x="895350" y="2237232"/>
            <a:ext cx="4566285"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− 6 = 4(</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a:t>
            </a:r>
            <a:endParaRPr lang="en-US" sz="2325" dirty="0"/>
          </a:p>
        </p:txBody>
      </p:sp>
      <p:sp>
        <p:nvSpPr>
          <p:cNvPr id="9" name="Shape 9"/>
          <p:cNvSpPr txBox="1"/>
          <p:nvPr/>
        </p:nvSpPr>
        <p:spPr>
          <a:xfrm>
            <a:off x="685800" y="3060954"/>
            <a:ext cx="10820095"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895350" y="3232404"/>
            <a:ext cx="104009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Rewrite #1 as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mx</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b</a:t>
            </a:r>
            <a:r>
              <a:rPr lang="en-US" sz="1950" dirty="0">
                <a:solidFill>
                  <a:srgbClr val="16171D"/>
                </a:solidFill>
                <a:latin typeface="Segoe UI"/>
                <a:cs typeface="Segoe UI"/>
              </a:rPr>
              <a:t xml:space="preserve">.</a:t>
            </a:r>
            <a:endParaRPr lang="en-US" sz="1950" dirty="0"/>
          </a:p>
        </p:txBody>
      </p:sp>
      <p:sp>
        <p:nvSpPr>
          <p:cNvPr id="8" name="Shape 8"/>
          <p:cNvSpPr txBox="1"/>
          <p:nvPr/>
        </p:nvSpPr>
        <p:spPr>
          <a:xfrm>
            <a:off x="895350" y="3679698"/>
            <a:ext cx="357132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4</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
        <p:nvSpPr>
          <p:cNvPr id="12" name="Shape 12"/>
          <p:cNvSpPr txBox="1"/>
          <p:nvPr/>
        </p:nvSpPr>
        <p:spPr>
          <a:xfrm>
            <a:off x="685800" y="4503420"/>
            <a:ext cx="10820095"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895350" y="4674870"/>
            <a:ext cx="104009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A line through (4, 1) and (4, −7). Horizontal or vertical? Write its equation.</a:t>
            </a:r>
            <a:endParaRPr lang="en-US" sz="1950" dirty="0"/>
          </a:p>
        </p:txBody>
      </p:sp>
      <p:sp>
        <p:nvSpPr>
          <p:cNvPr id="11" name="Shape 11"/>
          <p:cNvSpPr txBox="1"/>
          <p:nvPr/>
        </p:nvSpPr>
        <p:spPr>
          <a:xfrm>
            <a:off x="895350" y="5122164"/>
            <a:ext cx="4566285"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 · vertical</a:t>
            </a:r>
            <a:endParaRPr lang="en-US" sz="2325" dirty="0"/>
          </a:p>
        </p:txBody>
      </p:sp>
      <p:sp>
        <p:nvSpPr>
          <p:cNvPr id="13" name="Slide Number 13"/>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14</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anim calcmode="lin" valueType="num">
                                      <p:cBhvr>
                                        <p:cTn id="12" dur="500" fill="hold"/>
                                        <p:tgtEl>
                                          <p:spTgt spid="8"/>
                                        </p:tgtEl>
                                        <p:attrNameLst>
                                          <p:attrName>ppt_w</p:attrName>
                                        </p:attrNameLst>
                                      </p:cBhvr>
                                      <p:tavLst>
                                        <p:tav tm="0">
                                          <p:val>
                                            <p:fltVal val="0"/>
                                          </p:val>
                                        </p:tav>
                                        <p:tav tm="100000">
                                          <p:val>
                                            <p:strVal val="#ppt_w"/>
                                          </p:val>
                                        </p:tav>
                                      </p:tavLst>
                                    </p:anim>
                                    <p:anim calcmode="lin" valueType="num">
                                      <p:cBhvr>
                                        <p:cTn id="13" dur="500" fill="hold"/>
                                        <p:tgtEl>
                                          <p:spTgt spid="8"/>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1"/>
                                        </p:tgtEl>
                                        <p:attrNameLst>
                                          <p:attrName>style.visibility</p:attrName>
                                        </p:attrNameLst>
                                      </p:cBhvr>
                                      <p:to>
                                        <p:strVal val="visible"/>
                                      </p:to>
                                    </p:set>
                                    <p:animEffect transition="in" filter="fade">
                                      <p:cBhvr>
                                        <p:cTn id="18" dur="500"/>
                                        <p:tgtEl>
                                          <p:spTgt spid="11"/>
                                        </p:tgtEl>
                                      </p:cBhvr>
                                    </p:animEffect>
                                    <p:anim calcmode="lin" valueType="num">
                                      <p:cBhvr>
                                        <p:cTn id="19" dur="500" fill="hold"/>
                                        <p:tgtEl>
                                          <p:spTgt spid="11"/>
                                        </p:tgtEl>
                                        <p:attrNameLst>
                                          <p:attrName>ppt_w</p:attrName>
                                        </p:attrNameLst>
                                      </p:cBhvr>
                                      <p:tavLst>
                                        <p:tav tm="0">
                                          <p:val>
                                            <p:fltVal val="0"/>
                                          </p:val>
                                        </p:tav>
                                        <p:tav tm="100000">
                                          <p:val>
                                            <p:strVal val="#ppt_w"/>
                                          </p:val>
                                        </p:tav>
                                      </p:tavLst>
                                    </p:anim>
                                    <p:anim calcmode="lin" valueType="num">
                                      <p:cBhvr>
                                        <p:cTn id="20"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Practice Online</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Bell work, homework and quiz</a:t>
            </a:r>
            <a:endParaRPr lang="en-US" sz="3450" dirty="0"/>
          </a:p>
        </p:txBody>
      </p:sp>
      <p:sp>
        <p:nvSpPr>
          <p:cNvPr id="4" name="Shape 4"/>
          <p:cNvSpPr txBox="1"/>
          <p:nvPr/>
        </p:nvSpPr>
        <p:spPr>
          <a:xfrm>
            <a:off x="685800" y="1675638"/>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Bell work: </a:t>
            </a:r>
            <a:r>
              <a:rPr lang="en-US" sz="1800" dirty="0" b="1">
                <a:solidFill>
                  <a:srgbClr val="3050B8"/>
                </a:solidFill>
                <a:latin typeface="Segoe UI"/>
                <a:cs typeface="Segoe UI"/>
                <a:hlinkClick r:id="rId3"/>
              </a:rPr>
              <a:t xml:space="preserve">Day 1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4"/>
              </a:rPr>
              <a:t xml:space="preserve">Day 2 →</a:t>
            </a:r>
            <a:r>
              <a:rPr lang="en-US" sz="1800" dirty="0">
                <a:solidFill>
                  <a:srgbClr val="16171D"/>
                </a:solidFill>
                <a:latin typeface="Segoe UI"/>
                <a:cs typeface="Segoe UI"/>
              </a:rPr>
              <a:t xml:space="preserve"> | Practice: </a:t>
            </a:r>
            <a:r>
              <a:rPr lang="en-US" sz="1800" dirty="0" b="1">
                <a:solidFill>
                  <a:srgbClr val="3050B8"/>
                </a:solidFill>
                <a:latin typeface="Segoe UI"/>
                <a:cs typeface="Segoe UI"/>
                <a:hlinkClick r:id="rId5"/>
              </a:rPr>
              <a:t xml:space="preserve">Homework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6"/>
              </a:rPr>
              <a:t xml:space="preserve">Quiz →</a:t>
            </a:r>
            <a:endParaRPr lang="en-US" sz="1800" dirty="0"/>
          </a:p>
        </p:txBody>
      </p:sp>
      <p:sp>
        <p:nvSpPr>
          <p:cNvPr id="5" name="Shape 5"/>
          <p:cNvSpPr txBox="1"/>
          <p:nvPr/>
        </p:nvSpPr>
        <p:spPr>
          <a:xfrm>
            <a:off x="685800" y="2176272"/>
            <a:ext cx="108200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IEP pages have 3 answer choices, 6 homework and quiz questions, a reminder card and read-aloud. Allow notes and a calculator, and give extended time as the IEP lists.</a:t>
            </a:r>
            <a:endParaRPr lang="en-US" sz="1575" dirty="0"/>
          </a:p>
        </p:txBody>
      </p:sp>
      <p:sp>
        <p:nvSpPr>
          <p:cNvPr id="6" name="Slide Number 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15</a:t>
            </a:fld>
          </a:p>
        </p:txBody>
      </p:sp>
    </p:spTree>
  </p:cSld>
  <p:clrMapOvr>
    <a:masterClrMapping/>
  </p:clrMapOvr>
  <p:transition spd="med">
    <p:fade/>
  </p:transition>
</p:sld>
</file>

<file path=ppt/theme/theme1.xml><?xml version="1.0" encoding="utf-8"?>
<a:theme xmlns:a="http://schemas.openxmlformats.org/drawingml/2006/main" name="Point-Slope Form">
  <a:themeElements>
    <a:clrScheme name="Lesson">
      <a:dk1>
        <a:srgbClr val="16171D"/>
      </a:dk1>
      <a:lt1>
        <a:srgbClr val="FFFFFF"/>
      </a:lt1>
      <a:dk2>
        <a:srgbClr val="233D94"/>
      </a:dk2>
      <a:lt2>
        <a:srgbClr val="F7F7FB"/>
      </a:lt2>
      <a:accent1>
        <a:srgbClr val="C9561F"/>
      </a:accent1>
      <a:accent2>
        <a:srgbClr val="3050B8"/>
      </a:accent2>
      <a:accent3>
        <a:srgbClr val="4F8A3C"/>
      </a:accent3>
      <a:accent4>
        <a:srgbClr val="7A5AC8"/>
      </a:accent4>
      <a:accent5>
        <a:srgbClr val="C23B6B"/>
      </a:accent5>
      <a:accent6>
        <a:srgbClr val="4F8A3C"/>
      </a:accent6>
      <a:hlink>
        <a:srgbClr val="3050B8"/>
      </a:hlink>
      <a:folHlink>
        <a:srgbClr val="7A5AC8"/>
      </a:folHlink>
    </a:clrScheme>
    <a:fontScheme name="Lesson">
      <a:majorFont>
        <a:latin typeface="Segoe UI"/>
        <a:ea typeface=""/>
        <a:cs typeface=""/>
      </a:majorFont>
      <a:minorFont>
        <a:latin typeface="Segoe UI"/>
        <a:ea typeface=""/>
        <a:cs typeface=""/>
      </a:minorFont>
    </a:fontScheme>
    <a:fmtScheme name="Lesson">
      <a:fillStyleLst>
        <a:solidFill>
          <a:schemeClr val="phClr"/>
        </a:solidFill>
        <a:solidFill>
          <a:schemeClr val="phClr"/>
        </a:solidFill>
        <a:solidFill>
          <a:schemeClr val="phClr"/>
        </a:solidFill>
      </a:fillStyleLst>
      <a:lnStyleLst>
        <a:ln w="9525" cap="flat" cmpd="sng" algn="ctr">
          <a:solidFill>
            <a:schemeClr val="phClr"/>
          </a:solidFill>
          <a:prstDash val="solid"/>
        </a:ln>
        <a:ln w="9525" cap="flat" cmpd="sng" algn="ctr">
          <a:solidFill>
            <a:schemeClr val="phClr"/>
          </a:solidFill>
          <a:prstDash val="solid"/>
        </a:ln>
        <a:ln w="95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ppt/theme/theme2.xml><?xml version="1.0" encoding="utf-8"?>
<a:theme xmlns:a="http://schemas.openxmlformats.org/drawingml/2006/main" name="Notes">
  <a:themeElements>
    <a:clrScheme name="Lesson">
      <a:dk1>
        <a:srgbClr val="16171D"/>
      </a:dk1>
      <a:lt1>
        <a:srgbClr val="FFFFFF"/>
      </a:lt1>
      <a:dk2>
        <a:srgbClr val="233D94"/>
      </a:dk2>
      <a:lt2>
        <a:srgbClr val="F7F7FB"/>
      </a:lt2>
      <a:accent1>
        <a:srgbClr val="C9561F"/>
      </a:accent1>
      <a:accent2>
        <a:srgbClr val="3050B8"/>
      </a:accent2>
      <a:accent3>
        <a:srgbClr val="4F8A3C"/>
      </a:accent3>
      <a:accent4>
        <a:srgbClr val="7A5AC8"/>
      </a:accent4>
      <a:accent5>
        <a:srgbClr val="C23B6B"/>
      </a:accent5>
      <a:accent6>
        <a:srgbClr val="4F8A3C"/>
      </a:accent6>
      <a:hlink>
        <a:srgbClr val="3050B8"/>
      </a:hlink>
      <a:folHlink>
        <a:srgbClr val="7A5AC8"/>
      </a:folHlink>
    </a:clrScheme>
    <a:fontScheme name="Lesson">
      <a:majorFont>
        <a:latin typeface="Segoe UI"/>
        <a:ea typeface=""/>
        <a:cs typeface=""/>
      </a:majorFont>
      <a:minorFont>
        <a:latin typeface="Segoe UI"/>
        <a:ea typeface=""/>
        <a:cs typeface=""/>
      </a:minorFont>
    </a:fontScheme>
    <a:fmtScheme name="Lesson">
      <a:fillStyleLst>
        <a:solidFill>
          <a:schemeClr val="phClr"/>
        </a:solidFill>
        <a:solidFill>
          <a:schemeClr val="phClr"/>
        </a:solidFill>
        <a:solidFill>
          <a:schemeClr val="phClr"/>
        </a:solidFill>
      </a:fillStyleLst>
      <a:lnStyleLst>
        <a:ln w="9525" cap="flat" cmpd="sng" algn="ctr">
          <a:solidFill>
            <a:schemeClr val="phClr"/>
          </a:solidFill>
          <a:prstDash val="solid"/>
        </a:ln>
        <a:ln w="9525" cap="flat" cmpd="sng" algn="ctr">
          <a:solidFill>
            <a:schemeClr val="phClr"/>
          </a:solidFill>
          <a:prstDash val="solid"/>
        </a:ln>
        <a:ln w="95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Application>Microsoft Office PowerPoint</Application>
  <Slides>15</Slides>
  <Notes>15</Notes>
</Properties>
</file>

<file path=docProps/core.xml><?xml version="1.0" encoding="utf-8"?>
<cp:coreProperties xmlns:cp="http://schemas.openxmlformats.org/package/2006/metadata/core-properties" xmlns:dc="http://purl.org/dc/elements/1.1/">
  <dc:title>Point-Slope Form</dc:title>
  <dc:subject>Bluebonnet Algebra I</dc:subject>
</cp:coreProperties>
</file>