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4: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word aloud. Students copy them onto their vocabulary card.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aloud: orange is the slope, blue is the point. The point goes in with a minus sign.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fill in the blanks on their paper first, then reveal.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there is no slope given, find it first with the slope formula.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line, two forms. Slope-intercept form shows where it crosses the y-axis: (0, −1).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trick from the lesson: HOY VUX. Horizontal, zerO slope, y = a number. Vertical, Undefined slope, x = a number.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IEP/lesson4-bellwork-day1-IEP.html" TargetMode="External"/><Relationship Id="rId4" Type="http://schemas.openxmlformats.org/officeDocument/2006/relationships/hyperlink" Target="https://algebra1m2u1l4.vercel.app/IEP/lesson4-bellwork-day2-IEP.html" TargetMode="External"/><Relationship Id="rId5" Type="http://schemas.openxmlformats.org/officeDocument/2006/relationships/hyperlink" Target="https://algebra1m2u1l4.vercel.app/IEP/lesson4-homework-IEP.html" TargetMode="External"/><Relationship Id="rId6" Type="http://schemas.openxmlformats.org/officeDocument/2006/relationships/hyperlink" Target="https://algebra1m2u1l4.vercel.app/IEP/lesson4-quiz-IEP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algebra1m2u1l4.vercel.app/IEP/lesson4-bellwork-day1-IEP.html" TargetMode="External"/><Relationship Id="rId4" Type="http://schemas.openxmlformats.org/officeDocument/2006/relationships/hyperlink" Target="https://algebra1m2u1l4.vercel.app/IEP/lesson4-bellwork-day2-IEP.html" TargetMode="External"/><Relationship Id="rId5" Type="http://schemas.openxmlformats.org/officeDocument/2006/relationships/hyperlink" Target="https://algebra1m2u1l4.vercel.app/IEP/lesson4-homework-IEP.html" TargetMode="External"/><Relationship Id="rId6" Type="http://schemas.openxmlformats.org/officeDocument/2006/relationships/hyperlink" Target="https://algebra1m2u1l4.vercel.app/IEP/lesson4-quiz-IEP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4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an equation when I know the slope and one point.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change point-slope form into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equations for horizontal and vertical lines.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82269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How steep the line is.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change in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change in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point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place on the line, written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4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equation made from the slope and one point.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to write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the slope, </a:t>
            </a:r>
            <a:r>
              <a:rPr lang="en-US" sz="1950" dirty="0" b="1" i="1">
                <a:solidFill>
                  <a:srgbClr val="C9561F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a point, (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Put them into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b="1" i="1">
                <a:solidFill>
                  <a:srgbClr val="C9561F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Check the signs: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(−4) becomes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+ 4.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3, point (1, 4)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</a:t>
            </a:r>
            <a:r>
              <a:rPr lang="en-US" sz="1950" dirty="0" b="1" i="1">
                <a:solidFill>
                  <a:srgbClr val="C9561F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 b="1">
                <a:solidFill>
                  <a:srgbClr val="C9561F"/>
                </a:solidFill>
                <a:latin typeface="Segoe UI"/>
                <a:cs typeface="Segoe UI"/>
              </a:rPr>
              <a:t xml:space="preserve"> = 3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 b="1">
                <a:solidFill>
                  <a:srgbClr val="3050B8"/>
                </a:solidFill>
                <a:latin typeface="Segoe UI"/>
                <a:cs typeface="Segoe UI"/>
              </a:rPr>
              <a:t xml:space="preserve"> = 1,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 b="1">
                <a:solidFill>
                  <a:srgbClr val="3050B8"/>
                </a:solidFill>
                <a:latin typeface="Segoe UI"/>
                <a:cs typeface="Segoe UI"/>
              </a:rPr>
              <a:t xml:space="preserve"> = 4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8927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put them in.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74670"/>
            <a:ext cx="5219548" cy="59893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>
                <a:solidFill>
                  <a:srgbClr val="3050B8"/>
                </a:solidFill>
                <a:latin typeface="Cambria"/>
                <a:cs typeface="Cambria"/>
              </a:rPr>
              <a:t xml:space="preserve">4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b="1">
                <a:solidFill>
                  <a:srgbClr val="C9561F"/>
                </a:solidFill>
                <a:latin typeface="Cambria"/>
                <a:cs typeface="Cambria"/>
              </a:rPr>
              <a:t xml:space="preserve">3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2385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70769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5436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80103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4770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9438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94105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6610198" y="47998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610198" y="45807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3616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1426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39235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7044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4853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2663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0472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8281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090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3900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1709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518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5436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235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026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2693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73605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82027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6695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91362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42702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3832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33939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29557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2517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0794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cxnSp>
        <p:nvCxnSpPr>
          <p:cNvPr id="48" name="Line 48"/>
          <p:cNvCxnSpPr/>
          <p:nvPr/>
        </p:nvCxnSpPr>
        <p:spPr>
          <a:xfrm flipV="1">
            <a:off x="6765773" y="1732788"/>
            <a:ext cx="217805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49" name="Shape 49"/>
          <p:cNvSpPr/>
          <p:nvPr/>
        </p:nvSpPr>
        <p:spPr>
          <a:xfrm>
            <a:off x="7957985" y="29948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0" name="Shape 50"/>
          <p:cNvSpPr txBox="1"/>
          <p:nvPr/>
        </p:nvSpPr>
        <p:spPr>
          <a:xfrm>
            <a:off x="8096098" y="279958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(1, 4)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−8, point (3, 12)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−8,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76" dirty="0" baseline="-2500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76" dirty="0" baseline="-2500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23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 = ____(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55848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 = −8(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each in point-slope form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699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5, point (2, −1)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Tip: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(−1)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27376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 = 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699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Slope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point (−4, 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3723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Tip: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(−4)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27376"/>
            <a:ext cx="48004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Two points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through (2, 5) and (4, 11)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slope.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11 − 5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23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use the point (2, 5).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558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 = ____(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____)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934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 = 3(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Change the form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Rewrite as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− 5 = 3(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distribute the 3.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9300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add 5 to both sides.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Rewrite as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− 3 = 5(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+ 2)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distribute.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 = ____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 = 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9300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add 3.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Horizontal and Vertical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Flat lines and straight-up lines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Slope =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endParaRPr lang="en-US" sz="2325" dirty="0"/>
          </a:p>
        </p:txBody>
      </p:sp>
      <p:sp>
        <p:nvSpPr>
          <p:cNvPr id="8" name="Shape 8"/>
          <p:cNvSpPr/>
          <p:nvPr/>
        </p:nvSpPr>
        <p:spPr>
          <a:xfrm>
            <a:off x="685800" y="3364230"/>
            <a:ext cx="28575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1009650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312069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614488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916906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19325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521744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24162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126581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429000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5307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5002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46977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43929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0881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3783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3478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2219325" y="3478530"/>
            <a:ext cx="0" cy="18288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5002530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7" name="Shape 27"/>
          <p:cNvSpPr txBox="1"/>
          <p:nvPr/>
        </p:nvSpPr>
        <p:spPr>
          <a:xfrm>
            <a:off x="735330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1037749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1340168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1642586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1945005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2247424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2549842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2852261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3154680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42722" y="5215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42722" y="4911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2722" y="46062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3014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9966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691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3387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43" name="Line 43"/>
          <p:cNvCxnSpPr/>
          <p:nvPr/>
        </p:nvCxnSpPr>
        <p:spPr>
          <a:xfrm>
            <a:off x="1009650" y="4088130"/>
            <a:ext cx="2419350" cy="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937260" y="41071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3</a:t>
            </a:r>
            <a:endParaRPr lang="en-US" sz="1275" dirty="0"/>
          </a:p>
        </p:txBody>
      </p:sp>
      <p:sp>
        <p:nvSpPr>
          <p:cNvPr id="48" name="Shape 48"/>
          <p:cNvSpPr txBox="1"/>
          <p:nvPr/>
        </p:nvSpPr>
        <p:spPr>
          <a:xfrm>
            <a:off x="6286348" y="1618488"/>
            <a:ext cx="521954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5" name="Shape 45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46" name="Shape 46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Slope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47" name="Shape 47"/>
          <p:cNvSpPr txBox="1"/>
          <p:nvPr/>
        </p:nvSpPr>
        <p:spPr>
          <a:xfrm>
            <a:off x="6495898" y="265023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endParaRPr lang="en-US" sz="2325" dirty="0"/>
          </a:p>
        </p:txBody>
      </p:sp>
      <p:sp>
        <p:nvSpPr>
          <p:cNvPr id="49" name="Shape 49"/>
          <p:cNvSpPr/>
          <p:nvPr/>
        </p:nvSpPr>
        <p:spPr>
          <a:xfrm>
            <a:off x="6286348" y="3364230"/>
            <a:ext cx="28575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0" name="Line 50"/>
          <p:cNvCxnSpPr/>
          <p:nvPr/>
        </p:nvCxnSpPr>
        <p:spPr>
          <a:xfrm>
            <a:off x="6610198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912616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215035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517454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819873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122291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424710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8727129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029548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5307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5002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46977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43929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40881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3783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3478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7819873" y="3478530"/>
            <a:ext cx="0" cy="18288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6610198" y="4392930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8" name="Shape 68"/>
          <p:cNvSpPr txBox="1"/>
          <p:nvPr/>
        </p:nvSpPr>
        <p:spPr>
          <a:xfrm>
            <a:off x="6335878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6638296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940715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43134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545553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7847971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150390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452809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8755228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5215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4911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46062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43014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39966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3691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6043270" y="3387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84" name="Line 84"/>
          <p:cNvCxnSpPr/>
          <p:nvPr/>
        </p:nvCxnSpPr>
        <p:spPr>
          <a:xfrm flipV="1">
            <a:off x="7215035" y="3478530"/>
            <a:ext cx="0" cy="18288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85" name="Shape 85"/>
          <p:cNvSpPr txBox="1"/>
          <p:nvPr/>
        </p:nvSpPr>
        <p:spPr>
          <a:xfrm>
            <a:off x="7291235" y="34975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x = −2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 lines</a:t>
            </a:r>
            <a:endParaRPr lang="en-US" sz="34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1618488"/>
            <a:ext cx="5219548" cy="30868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are all 11.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114300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237232"/>
            <a:ext cx="114300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265785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265785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07848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07848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499104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499104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01497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11</a:t>
            </a:r>
            <a:endParaRPr lang="en-US" sz="232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1618488"/>
            <a:ext cx="5219548" cy="27035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495898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Through (−3, 8)</a:t>
            </a: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6495898" y="223723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495898" y="2627376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495898" y="3241548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495898" y="363169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4, point (1, 6). Write point-slope form.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 = 4(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Rewrite #1 as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line through (4, 1) and (4, −7). Horizontal or vertical? Write its equation.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216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 · vertical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IEP pages have 3 answer choices, 6 homework and quiz questions, a reminder card and read-aloud.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Point-Slope Form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13</Slides>
  <Notes>13</Notes>
</Properties>
</file>

<file path=docProps/core.xml><?xml version="1.0" encoding="utf-8"?>
<cp:coreProperties xmlns:cp="http://schemas.openxmlformats.org/package/2006/metadata/core-properties" xmlns:dc="http://purl.org/dc/elements/1.1/">
  <dc:title>Point-Slope Form</dc:title>
  <dc:subject>Bluebonnet Algebra I</dc:subject>
</cp:coreProperties>
</file>