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Lesson 4: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the skills today's lesson builds on: the slope formula, slope-intercept form, and distributing a negative, which students will need when they rewrite point-slope form. Reveal the answers one at a time. Watch #4: −2 times +3 is −6. Answer key: 1. Slope through (1, 3) and (4, 9): m = (9 − 3)/(4 − 1) = 6/3 = 2. 2. Slope and y-intercept of y = −3x + 5: m = −3, y-intercept (0, 5). 3. Line with slope 4 and y-intercept (0, −2): y = 4x − 2. 4. Distribute −2(x + 3): −2x − 6.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1. For #1, the signs flip: the point (3, −1) gives x − 3 and y + 1. For #3, distribute and add 5: y − 5 = 3x − 6, so y = 3x − 1. For #4, horizontal keeps the y-value (y = 8) and vertical keeps the x-value (x = −3): HOY VUX. Answer key: 1. Slope −4 through (3, −1): y + 1 = −4(x − 3). 2. Through (2, 5) and (4, 11): m = (11 − 5)/(4 − 2) = 3, so y − 5 = 3(x − 2). 3. #2 in slope-intercept form: y = 3x − 1. 4. Through (−3, 8): horizontal y = 8; vertical x = −3.</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word aloud. Students copy them onto their vocabulary card.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aloud: orange is the slope, blue is the point. The point goes in with a minus sign.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fill in the blanks on their paper first, then reveal.</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there is no slope given, find it first with the slope formula.</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line, two forms. Slope-intercept form shows where it crosses the y-axis: (0, −1).</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trick from the lesson: HOY VUX. Horizontal, zerO slope, y = a number. Vertical, Undefined slope, x = a number.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lesson4-bellwork-day1-IEP.html" TargetMode="External"/><Relationship Id="rId4" Type="http://schemas.openxmlformats.org/officeDocument/2006/relationships/hyperlink" Target="https://algebra1m2u1l4.vercel.app/IEP/lesson4-bellwork-day2-IEP.html" TargetMode="External"/><Relationship Id="rId5" Type="http://schemas.openxmlformats.org/officeDocument/2006/relationships/hyperlink" Target="https://algebra1m2u1l4.vercel.app/IEP/lesson4-homework-IEP.html" TargetMode="External"/><Relationship Id="rId6" Type="http://schemas.openxmlformats.org/officeDocument/2006/relationships/hyperlink" Target="https://algebra1m2u1l4.vercel.app/IEP/lesson4-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algebra1m2u1l4.vercel.app/IEP/lesson4-bellwork-day1-IEP.html" TargetMode="External"/><Relationship Id="rId4" Type="http://schemas.openxmlformats.org/officeDocument/2006/relationships/hyperlink" Target="https://algebra1m2u1l4.vercel.app/IEP/lesson4-bellwork-day2-IEP.html" TargetMode="External"/><Relationship Id="rId5" Type="http://schemas.openxmlformats.org/officeDocument/2006/relationships/hyperlink" Target="https://algebra1m2u1l4.vercel.app/IEP/lesson4-homework-IEP.html" TargetMode="External"/><Relationship Id="rId6" Type="http://schemas.openxmlformats.org/officeDocument/2006/relationships/hyperlink" Target="https://algebra1m2u1l4.vercel.app/IEP/lesson4-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4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Point-Slope Form</a:t>
            </a:r>
            <a:endParaRPr lang="en-US" sz="4500" dirty="0"/>
          </a:p>
        </p:txBody>
      </p:sp>
      <p:sp>
        <p:nvSpPr>
          <p:cNvPr id="4" name="Shape 4"/>
          <p:cNvSpPr txBox="1"/>
          <p:nvPr/>
        </p:nvSpPr>
        <p:spPr>
          <a:xfrm>
            <a:off x="685800" y="19118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5" name="Shape 5"/>
          <p:cNvSpPr txBox="1"/>
          <p:nvPr/>
        </p:nvSpPr>
        <p:spPr>
          <a:xfrm>
            <a:off x="685800" y="26487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1950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an equation when I know the slope and one point.</a:t>
            </a:r>
            <a:endParaRPr lang="en-US" sz="1950" dirty="0"/>
          </a:p>
        </p:txBody>
      </p:sp>
      <p:sp>
        <p:nvSpPr>
          <p:cNvPr id="7" name="Shape 7"/>
          <p:cNvSpPr txBox="1"/>
          <p:nvPr/>
        </p:nvSpPr>
        <p:spPr>
          <a:xfrm>
            <a:off x="685800" y="37185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change point-slope form into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42420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equations for horizontal and vertical lines.</a:t>
            </a:r>
            <a:endParaRPr lang="en-US" sz="1950" dirty="0"/>
          </a:p>
        </p:txBody>
      </p:sp>
      <p:sp>
        <p:nvSpPr>
          <p:cNvPr id="9" name="Shape 9"/>
          <p:cNvSpPr txBox="1"/>
          <p:nvPr/>
        </p:nvSpPr>
        <p:spPr>
          <a:xfrm>
            <a:off x="685800" y="48226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through (1, 3) and (4, 9)?</a:t>
            </a:r>
            <a:endParaRPr lang="en-US" sz="1950" dirty="0"/>
          </a:p>
        </p:txBody>
      </p:sp>
      <p:sp>
        <p:nvSpPr>
          <p:cNvPr id="5" name="Shape 5"/>
          <p:cNvSpPr txBox="1"/>
          <p:nvPr/>
        </p:nvSpPr>
        <p:spPr>
          <a:xfrm>
            <a:off x="685800" y="216103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9 − 3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330098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7" name="Shape 7"/>
          <p:cNvSpPr txBox="1"/>
          <p:nvPr/>
        </p:nvSpPr>
        <p:spPr>
          <a:xfrm>
            <a:off x="685800" y="3786378"/>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 (0, 5)</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Line with slope 4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−2)?</a:t>
            </a:r>
            <a:endParaRPr lang="en-US" sz="1950" dirty="0"/>
          </a:p>
        </p:txBody>
      </p:sp>
      <p:sp>
        <p:nvSpPr>
          <p:cNvPr id="9" name="Shape 9"/>
          <p:cNvSpPr txBox="1"/>
          <p:nvPr/>
        </p:nvSpPr>
        <p:spPr>
          <a:xfrm>
            <a:off x="6362548" y="245821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Distribute: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6362548"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Point-slope form: slope −4, through (3, −1)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45821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Point-slope form: through (2, 5) and (4, 11) </a:t>
            </a:r>
            <a:r>
              <a:rPr lang="en-US" sz="1575" dirty="0">
                <a:solidFill>
                  <a:srgbClr val="5F6272"/>
                </a:solidFill>
                <a:latin typeface="Segoe UI"/>
                <a:cs typeface="Segoe UI"/>
              </a:rPr>
              <a:t xml:space="preserve">(SE p. 204)</a:t>
            </a:r>
            <a:endParaRPr lang="en-US" sz="1950" dirty="0"/>
          </a:p>
        </p:txBody>
      </p:sp>
      <p:sp>
        <p:nvSpPr>
          <p:cNvPr id="7" name="Shape 7"/>
          <p:cNvSpPr txBox="1"/>
          <p:nvPr/>
        </p:nvSpPr>
        <p:spPr>
          <a:xfrm>
            <a:off x="685800" y="4026408"/>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Rewrite #2 in slope-intercept form. </a:t>
            </a:r>
            <a:r>
              <a:rPr lang="en-US" sz="1575" dirty="0">
                <a:solidFill>
                  <a:srgbClr val="5F6272"/>
                </a:solidFill>
                <a:latin typeface="Segoe UI"/>
                <a:cs typeface="Segoe UI"/>
              </a:rPr>
              <a:t xml:space="preserve">(SE p. 203)</a:t>
            </a:r>
            <a:endParaRPr lang="en-US" sz="1950" dirty="0"/>
          </a:p>
        </p:txBody>
      </p:sp>
      <p:sp>
        <p:nvSpPr>
          <p:cNvPr id="9" name="Shape 9"/>
          <p:cNvSpPr txBox="1"/>
          <p:nvPr/>
        </p:nvSpPr>
        <p:spPr>
          <a:xfrm>
            <a:off x="6362548" y="245821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Horizontal and vertical lines through (−3, 8) </a:t>
            </a:r>
            <a:r>
              <a:rPr lang="en-US" sz="1575" dirty="0">
                <a:solidFill>
                  <a:srgbClr val="5F6272"/>
                </a:solidFill>
                <a:latin typeface="Segoe UI"/>
                <a:cs typeface="Segoe UI"/>
              </a:rPr>
              <a:t xml:space="preserve">(SE pp. 206–207)</a:t>
            </a:r>
            <a:endParaRPr lang="en-US" sz="1950" dirty="0"/>
          </a:p>
        </p:txBody>
      </p:sp>
      <p:sp>
        <p:nvSpPr>
          <p:cNvPr id="11" name="Shape 11"/>
          <p:cNvSpPr txBox="1"/>
          <p:nvPr/>
        </p:nvSpPr>
        <p:spPr>
          <a:xfrm>
            <a:off x="6362548" y="402640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9667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 (</a:t>
            </a:r>
            <a:r>
              <a:rPr lang="en-US" sz="2100" dirty="0" b="1" i="1">
                <a:solidFill>
                  <a:srgbClr val="16171D"/>
                </a:solidFill>
                <a:latin typeface="Segoe UI"/>
                <a:cs typeface="Segoe UI"/>
              </a:rPr>
              <a:t xml:space="preserve">m</a:t>
            </a:r>
            <a:r>
              <a:rPr lang="en-US" sz="2100" dirty="0" b="1">
                <a:solidFill>
                  <a:srgbClr val="16171D"/>
                </a:solidFill>
                <a:latin typeface="Segoe UI"/>
                <a:cs typeface="Segoe UI"/>
              </a:rPr>
              <a:t xml:space="preserve">)</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How steep the line is.</a:t>
            </a:r>
            <a:endParaRPr lang="en-US" sz="1575" dirty="0"/>
          </a:p>
        </p:txBody>
      </p:sp>
      <p:sp>
        <p:nvSpPr>
          <p:cNvPr id="6" name="Shape 6"/>
          <p:cNvSpPr txBox="1"/>
          <p:nvPr/>
        </p:nvSpPr>
        <p:spPr>
          <a:xfrm>
            <a:off x="895350" y="265023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change in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change in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9667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 point</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place on the line, written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r>
              <a:rPr lang="en-US" sz="2325" dirty="0" b="1">
                <a:solidFill>
                  <a:srgbClr val="3050B8"/>
                </a:solidFill>
                <a:latin typeface="Cambria"/>
                <a:cs typeface="Cambria"/>
              </a:rPr>
              <a:t xml:space="preserve">1</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4</a:t>
            </a:r>
            <a:r>
              <a:rPr lang="en-US" sz="2325" dirty="0">
                <a:solidFill>
                  <a:srgbClr val="16171D"/>
                </a:solidFill>
                <a:latin typeface="Cambria"/>
                <a:cs typeface="Cambria"/>
              </a:rPr>
              <a:t xml:space="preserve">)</a:t>
            </a:r>
            <a:endParaRPr lang="en-US" sz="2325" dirty="0"/>
          </a:p>
        </p:txBody>
      </p:sp>
      <p:sp>
        <p:nvSpPr>
          <p:cNvPr id="15" name="Shape 15"/>
          <p:cNvSpPr txBox="1"/>
          <p:nvPr/>
        </p:nvSpPr>
        <p:spPr>
          <a:xfrm>
            <a:off x="8013497" y="1618488"/>
            <a:ext cx="3492398" cy="19667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 equation made from the slope and one point.</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write point-slope form</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slope, </a:t>
            </a:r>
            <a:r>
              <a:rPr lang="en-US" sz="1950" dirty="0" b="1" i="1">
                <a:solidFill>
                  <a:srgbClr val="C9561F"/>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Find a point, (</a:t>
            </a:r>
            <a:r>
              <a:rPr lang="en-US" sz="1950" dirty="0" b="1" i="1">
                <a:solidFill>
                  <a:srgbClr val="3050B8"/>
                </a:solidFill>
                <a:latin typeface="Segoe UI"/>
                <a:cs typeface="Segoe UI"/>
              </a:rPr>
              <a:t xml:space="preserve">x</a:t>
            </a:r>
            <a:r>
              <a:rPr lang="en-US" sz="1658" dirty="0" b="1" baseline="-25000">
                <a:solidFill>
                  <a:srgbClr val="3050B8"/>
                </a:solidFill>
                <a:latin typeface="Segoe UI"/>
                <a:cs typeface="Segoe UI"/>
              </a:rPr>
              <a:t xml:space="preserve">1</a:t>
            </a:r>
            <a:r>
              <a:rPr lang="en-US" sz="1950" dirty="0">
                <a:solidFill>
                  <a:srgbClr val="16171D"/>
                </a:solidFill>
                <a:latin typeface="Segoe UI"/>
                <a:cs typeface="Segoe UI"/>
              </a:rPr>
              <a:t xml:space="preserve">, </a:t>
            </a:r>
            <a:r>
              <a:rPr lang="en-US" sz="1950" dirty="0" b="1" i="1">
                <a:solidFill>
                  <a:srgbClr val="3050B8"/>
                </a:solidFill>
                <a:latin typeface="Segoe UI"/>
                <a:cs typeface="Segoe UI"/>
              </a:rPr>
              <a:t xml:space="preserve">y</a:t>
            </a:r>
            <a:r>
              <a:rPr lang="en-US" sz="1658" dirty="0" b="1" baseline="-25000">
                <a:solidFill>
                  <a:srgbClr val="3050B8"/>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Put them into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b="1" i="1">
                <a:solidFill>
                  <a:srgbClr val="3050B8"/>
                </a:solidFill>
                <a:latin typeface="Segoe UI"/>
                <a:cs typeface="Segoe UI"/>
              </a:rPr>
              <a:t xml:space="preserve">y</a:t>
            </a:r>
            <a:r>
              <a:rPr lang="en-US" sz="1658" dirty="0" b="1" baseline="-25000">
                <a:solidFill>
                  <a:srgbClr val="3050B8"/>
                </a:solidFill>
                <a:latin typeface="Segoe UI"/>
                <a:cs typeface="Segoe UI"/>
              </a:rPr>
              <a:t xml:space="preserve">1</a:t>
            </a:r>
            <a:r>
              <a:rPr lang="en-US" sz="1950" dirty="0">
                <a:solidFill>
                  <a:srgbClr val="16171D"/>
                </a:solidFill>
                <a:latin typeface="Segoe UI"/>
                <a:cs typeface="Segoe UI"/>
              </a:rPr>
              <a:t xml:space="preserve"> = </a:t>
            </a:r>
            <a:r>
              <a:rPr lang="en-US" sz="1950" dirty="0" b="1" i="1">
                <a:solidFill>
                  <a:srgbClr val="C9561F"/>
                </a:solidFill>
                <a:latin typeface="Segoe UI"/>
                <a:cs typeface="Segoe UI"/>
              </a:rPr>
              <a:t xml:space="preserve">m</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b="1" i="1">
                <a:solidFill>
                  <a:srgbClr val="3050B8"/>
                </a:solidFill>
                <a:latin typeface="Segoe UI"/>
                <a:cs typeface="Segoe UI"/>
              </a:rPr>
              <a:t xml:space="preserve">x</a:t>
            </a:r>
            <a:r>
              <a:rPr lang="en-US" sz="1658" dirty="0" b="1" baseline="-25000">
                <a:solidFill>
                  <a:srgbClr val="3050B8"/>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Check the signs: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 becomes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endParaRPr lang="en-US" sz="195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Slope 3, point (1, 4)</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a:t>
            </a:r>
            <a:r>
              <a:rPr lang="en-US" sz="1950" dirty="0" b="1" i="1">
                <a:solidFill>
                  <a:srgbClr val="C9561F"/>
                </a:solidFill>
                <a:latin typeface="Segoe UI"/>
                <a:cs typeface="Segoe UI"/>
              </a:rPr>
              <a:t xml:space="preserve">m</a:t>
            </a:r>
            <a:r>
              <a:rPr lang="en-US" sz="1950" dirty="0" b="1">
                <a:solidFill>
                  <a:srgbClr val="C9561F"/>
                </a:solidFill>
                <a:latin typeface="Segoe UI"/>
                <a:cs typeface="Segoe UI"/>
              </a:rPr>
              <a:t xml:space="preserve"> = 3</a:t>
            </a:r>
            <a:endParaRPr lang="en-US" sz="1950" dirty="0"/>
          </a:p>
        </p:txBody>
      </p:sp>
      <p:sp>
        <p:nvSpPr>
          <p:cNvPr id="5" name="Shape 5"/>
          <p:cNvSpPr txBox="1"/>
          <p:nvPr/>
        </p:nvSpPr>
        <p:spPr>
          <a:xfrm>
            <a:off x="685800"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a:t>
            </a:r>
            <a:r>
              <a:rPr lang="en-US" sz="1950" dirty="0" b="1" i="1">
                <a:solidFill>
                  <a:srgbClr val="3050B8"/>
                </a:solidFill>
                <a:latin typeface="Segoe UI"/>
                <a:cs typeface="Segoe UI"/>
              </a:rPr>
              <a:t xml:space="preserve">x</a:t>
            </a:r>
            <a:r>
              <a:rPr lang="en-US" sz="1658" dirty="0" b="1" baseline="-25000">
                <a:solidFill>
                  <a:srgbClr val="3050B8"/>
                </a:solidFill>
                <a:latin typeface="Segoe UI"/>
                <a:cs typeface="Segoe UI"/>
              </a:rPr>
              <a:t xml:space="preserve">1</a:t>
            </a:r>
            <a:r>
              <a:rPr lang="en-US" sz="1950" dirty="0" b="1">
                <a:solidFill>
                  <a:srgbClr val="3050B8"/>
                </a:solidFill>
                <a:latin typeface="Segoe UI"/>
                <a:cs typeface="Segoe UI"/>
              </a:rPr>
              <a:t xml:space="preserve"> = 1, </a:t>
            </a:r>
            <a:r>
              <a:rPr lang="en-US" sz="1950" dirty="0" b="1" i="1">
                <a:solidFill>
                  <a:srgbClr val="3050B8"/>
                </a:solidFill>
                <a:latin typeface="Segoe UI"/>
                <a:cs typeface="Segoe UI"/>
              </a:rPr>
              <a:t xml:space="preserve">y</a:t>
            </a:r>
            <a:r>
              <a:rPr lang="en-US" sz="1658" dirty="0" b="1" baseline="-25000">
                <a:solidFill>
                  <a:srgbClr val="3050B8"/>
                </a:solidFill>
                <a:latin typeface="Segoe UI"/>
                <a:cs typeface="Segoe UI"/>
              </a:rPr>
              <a:t xml:space="preserve">1</a:t>
            </a:r>
            <a:r>
              <a:rPr lang="en-US" sz="1950" dirty="0" b="1">
                <a:solidFill>
                  <a:srgbClr val="3050B8"/>
                </a:solidFill>
                <a:latin typeface="Segoe UI"/>
                <a:cs typeface="Segoe UI"/>
              </a:rPr>
              <a:t xml:space="preserve"> = 4</a:t>
            </a:r>
            <a:endParaRPr lang="en-US" sz="1950" dirty="0"/>
          </a:p>
        </p:txBody>
      </p:sp>
      <p:sp>
        <p:nvSpPr>
          <p:cNvPr id="6" name="Shape 6"/>
          <p:cNvSpPr txBox="1"/>
          <p:nvPr/>
        </p:nvSpPr>
        <p:spPr>
          <a:xfrm>
            <a:off x="685800" y="2589276"/>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put them in.</a:t>
            </a:r>
            <a:endParaRPr lang="en-US" sz="1950" dirty="0"/>
          </a:p>
        </p:txBody>
      </p:sp>
      <p:sp>
        <p:nvSpPr>
          <p:cNvPr id="7" name="Shape 7"/>
          <p:cNvSpPr txBox="1"/>
          <p:nvPr/>
        </p:nvSpPr>
        <p:spPr>
          <a:xfrm>
            <a:off x="685800" y="3074670"/>
            <a:ext cx="521954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8" name="Shape 8"/>
          <p:cNvSpPr/>
          <p:nvPr/>
        </p:nvSpPr>
        <p:spPr>
          <a:xfrm>
            <a:off x="6286348" y="1618488"/>
            <a:ext cx="32385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3067050"/>
          </a:xfrm>
          <a:prstGeom prst="line">
            <a:avLst/>
          </a:prstGeom>
          <a:ln w="9525" cap="flat">
            <a:solidFill>
              <a:srgbClr val="E6E8F2"/>
            </a:solidFill>
          </a:ln>
        </p:spPr>
      </p:cxnSp>
      <p:cxnSp>
        <p:nvCxnSpPr>
          <p:cNvPr id="10" name="Line 10"/>
          <p:cNvCxnSpPr/>
          <p:nvPr/>
        </p:nvCxnSpPr>
        <p:spPr>
          <a:xfrm>
            <a:off x="7076923" y="1732788"/>
            <a:ext cx="0" cy="3067050"/>
          </a:xfrm>
          <a:prstGeom prst="line">
            <a:avLst/>
          </a:prstGeom>
          <a:ln w="9525" cap="flat">
            <a:solidFill>
              <a:srgbClr val="E6E8F2"/>
            </a:solidFill>
          </a:ln>
        </p:spPr>
      </p:cxnSp>
      <p:cxnSp>
        <p:nvCxnSpPr>
          <p:cNvPr id="11" name="Line 11"/>
          <p:cNvCxnSpPr/>
          <p:nvPr/>
        </p:nvCxnSpPr>
        <p:spPr>
          <a:xfrm>
            <a:off x="7543648" y="1732788"/>
            <a:ext cx="0" cy="3067050"/>
          </a:xfrm>
          <a:prstGeom prst="line">
            <a:avLst/>
          </a:prstGeom>
          <a:ln w="9525" cap="flat">
            <a:solidFill>
              <a:srgbClr val="E6E8F2"/>
            </a:solidFill>
          </a:ln>
        </p:spPr>
      </p:cxnSp>
      <p:cxnSp>
        <p:nvCxnSpPr>
          <p:cNvPr id="12" name="Line 12"/>
          <p:cNvCxnSpPr/>
          <p:nvPr/>
        </p:nvCxnSpPr>
        <p:spPr>
          <a:xfrm>
            <a:off x="8010373" y="1732788"/>
            <a:ext cx="0" cy="3067050"/>
          </a:xfrm>
          <a:prstGeom prst="line">
            <a:avLst/>
          </a:prstGeom>
          <a:ln w="9525" cap="flat">
            <a:solidFill>
              <a:srgbClr val="E6E8F2"/>
            </a:solidFill>
          </a:ln>
        </p:spPr>
      </p:cxnSp>
      <p:cxnSp>
        <p:nvCxnSpPr>
          <p:cNvPr id="13" name="Line 13"/>
          <p:cNvCxnSpPr/>
          <p:nvPr/>
        </p:nvCxnSpPr>
        <p:spPr>
          <a:xfrm>
            <a:off x="8477098" y="1732788"/>
            <a:ext cx="0" cy="3067050"/>
          </a:xfrm>
          <a:prstGeom prst="line">
            <a:avLst/>
          </a:prstGeom>
          <a:ln w="9525" cap="flat">
            <a:solidFill>
              <a:srgbClr val="E6E8F2"/>
            </a:solidFill>
          </a:ln>
        </p:spPr>
      </p:cxnSp>
      <p:cxnSp>
        <p:nvCxnSpPr>
          <p:cNvPr id="14" name="Line 14"/>
          <p:cNvCxnSpPr/>
          <p:nvPr/>
        </p:nvCxnSpPr>
        <p:spPr>
          <a:xfrm>
            <a:off x="8943823" y="1732788"/>
            <a:ext cx="0" cy="3067050"/>
          </a:xfrm>
          <a:prstGeom prst="line">
            <a:avLst/>
          </a:prstGeom>
          <a:ln w="9525" cap="flat">
            <a:solidFill>
              <a:srgbClr val="E6E8F2"/>
            </a:solidFill>
          </a:ln>
        </p:spPr>
      </p:cxnSp>
      <p:cxnSp>
        <p:nvCxnSpPr>
          <p:cNvPr id="15" name="Line 15"/>
          <p:cNvCxnSpPr/>
          <p:nvPr/>
        </p:nvCxnSpPr>
        <p:spPr>
          <a:xfrm>
            <a:off x="9410548" y="1732788"/>
            <a:ext cx="0" cy="3067050"/>
          </a:xfrm>
          <a:prstGeom prst="line">
            <a:avLst/>
          </a:prstGeom>
          <a:ln w="9525" cap="flat">
            <a:solidFill>
              <a:srgbClr val="E6E8F2"/>
            </a:solidFill>
          </a:ln>
        </p:spPr>
      </p:cxnSp>
      <p:cxnSp>
        <p:nvCxnSpPr>
          <p:cNvPr id="16" name="Line 16"/>
          <p:cNvCxnSpPr/>
          <p:nvPr/>
        </p:nvCxnSpPr>
        <p:spPr>
          <a:xfrm>
            <a:off x="6610198" y="4799838"/>
            <a:ext cx="2800350" cy="0"/>
          </a:xfrm>
          <a:prstGeom prst="line">
            <a:avLst/>
          </a:prstGeom>
          <a:ln w="9525" cap="flat">
            <a:solidFill>
              <a:srgbClr val="E6E8F2"/>
            </a:solidFill>
          </a:ln>
        </p:spPr>
      </p:cxnSp>
      <p:cxnSp>
        <p:nvCxnSpPr>
          <p:cNvPr id="17" name="Line 17"/>
          <p:cNvCxnSpPr/>
          <p:nvPr/>
        </p:nvCxnSpPr>
        <p:spPr>
          <a:xfrm>
            <a:off x="6610198" y="4580763"/>
            <a:ext cx="2800350" cy="0"/>
          </a:xfrm>
          <a:prstGeom prst="line">
            <a:avLst/>
          </a:prstGeom>
          <a:ln w="9525" cap="flat">
            <a:solidFill>
              <a:srgbClr val="E6E8F2"/>
            </a:solidFill>
          </a:ln>
        </p:spPr>
      </p:cxnSp>
      <p:cxnSp>
        <p:nvCxnSpPr>
          <p:cNvPr id="18" name="Line 18"/>
          <p:cNvCxnSpPr/>
          <p:nvPr/>
        </p:nvCxnSpPr>
        <p:spPr>
          <a:xfrm>
            <a:off x="6610198" y="4361688"/>
            <a:ext cx="2800350" cy="0"/>
          </a:xfrm>
          <a:prstGeom prst="line">
            <a:avLst/>
          </a:prstGeom>
          <a:ln w="9525" cap="flat">
            <a:solidFill>
              <a:srgbClr val="E6E8F2"/>
            </a:solidFill>
          </a:ln>
        </p:spPr>
      </p:cxnSp>
      <p:cxnSp>
        <p:nvCxnSpPr>
          <p:cNvPr id="19" name="Line 19"/>
          <p:cNvCxnSpPr/>
          <p:nvPr/>
        </p:nvCxnSpPr>
        <p:spPr>
          <a:xfrm>
            <a:off x="6610198" y="4142613"/>
            <a:ext cx="2800350" cy="0"/>
          </a:xfrm>
          <a:prstGeom prst="line">
            <a:avLst/>
          </a:prstGeom>
          <a:ln w="9525" cap="flat">
            <a:solidFill>
              <a:srgbClr val="E6E8F2"/>
            </a:solidFill>
          </a:ln>
        </p:spPr>
      </p:cxnSp>
      <p:cxnSp>
        <p:nvCxnSpPr>
          <p:cNvPr id="20" name="Line 20"/>
          <p:cNvCxnSpPr/>
          <p:nvPr/>
        </p:nvCxnSpPr>
        <p:spPr>
          <a:xfrm>
            <a:off x="6610198" y="3923538"/>
            <a:ext cx="2800350" cy="0"/>
          </a:xfrm>
          <a:prstGeom prst="line">
            <a:avLst/>
          </a:prstGeom>
          <a:ln w="9525" cap="flat">
            <a:solidFill>
              <a:srgbClr val="E6E8F2"/>
            </a:solidFill>
          </a:ln>
        </p:spPr>
      </p:cxnSp>
      <p:cxnSp>
        <p:nvCxnSpPr>
          <p:cNvPr id="21" name="Line 21"/>
          <p:cNvCxnSpPr/>
          <p:nvPr/>
        </p:nvCxnSpPr>
        <p:spPr>
          <a:xfrm>
            <a:off x="6610198" y="3704463"/>
            <a:ext cx="2800350" cy="0"/>
          </a:xfrm>
          <a:prstGeom prst="line">
            <a:avLst/>
          </a:prstGeom>
          <a:ln w="9525" cap="flat">
            <a:solidFill>
              <a:srgbClr val="E6E8F2"/>
            </a:solidFill>
          </a:ln>
        </p:spPr>
      </p:cxnSp>
      <p:cxnSp>
        <p:nvCxnSpPr>
          <p:cNvPr id="22" name="Line 22"/>
          <p:cNvCxnSpPr/>
          <p:nvPr/>
        </p:nvCxnSpPr>
        <p:spPr>
          <a:xfrm>
            <a:off x="6610198" y="3485388"/>
            <a:ext cx="2800350" cy="0"/>
          </a:xfrm>
          <a:prstGeom prst="line">
            <a:avLst/>
          </a:prstGeom>
          <a:ln w="9525" cap="flat">
            <a:solidFill>
              <a:srgbClr val="E6E8F2"/>
            </a:solidFill>
          </a:ln>
        </p:spPr>
      </p:cxnSp>
      <p:cxnSp>
        <p:nvCxnSpPr>
          <p:cNvPr id="23" name="Line 23"/>
          <p:cNvCxnSpPr/>
          <p:nvPr/>
        </p:nvCxnSpPr>
        <p:spPr>
          <a:xfrm>
            <a:off x="6610198" y="3266313"/>
            <a:ext cx="2800350" cy="0"/>
          </a:xfrm>
          <a:prstGeom prst="line">
            <a:avLst/>
          </a:prstGeom>
          <a:ln w="9525" cap="flat">
            <a:solidFill>
              <a:srgbClr val="E6E8F2"/>
            </a:solidFill>
          </a:ln>
        </p:spPr>
      </p:cxnSp>
      <p:cxnSp>
        <p:nvCxnSpPr>
          <p:cNvPr id="24" name="Line 24"/>
          <p:cNvCxnSpPr/>
          <p:nvPr/>
        </p:nvCxnSpPr>
        <p:spPr>
          <a:xfrm>
            <a:off x="6610198" y="3047238"/>
            <a:ext cx="2800350" cy="0"/>
          </a:xfrm>
          <a:prstGeom prst="line">
            <a:avLst/>
          </a:prstGeom>
          <a:ln w="9525" cap="flat">
            <a:solidFill>
              <a:srgbClr val="E6E8F2"/>
            </a:solidFill>
          </a:ln>
        </p:spPr>
      </p:cxnSp>
      <p:cxnSp>
        <p:nvCxnSpPr>
          <p:cNvPr id="25" name="Line 25"/>
          <p:cNvCxnSpPr/>
          <p:nvPr/>
        </p:nvCxnSpPr>
        <p:spPr>
          <a:xfrm>
            <a:off x="6610198" y="2828163"/>
            <a:ext cx="2800350" cy="0"/>
          </a:xfrm>
          <a:prstGeom prst="line">
            <a:avLst/>
          </a:prstGeom>
          <a:ln w="9525" cap="flat">
            <a:solidFill>
              <a:srgbClr val="E6E8F2"/>
            </a:solidFill>
          </a:ln>
        </p:spPr>
      </p:cxnSp>
      <p:cxnSp>
        <p:nvCxnSpPr>
          <p:cNvPr id="26" name="Line 26"/>
          <p:cNvCxnSpPr/>
          <p:nvPr/>
        </p:nvCxnSpPr>
        <p:spPr>
          <a:xfrm>
            <a:off x="6610198" y="2609088"/>
            <a:ext cx="2800350" cy="0"/>
          </a:xfrm>
          <a:prstGeom prst="line">
            <a:avLst/>
          </a:prstGeom>
          <a:ln w="9525" cap="flat">
            <a:solidFill>
              <a:srgbClr val="E6E8F2"/>
            </a:solidFill>
          </a:ln>
        </p:spPr>
      </p:cxnSp>
      <p:cxnSp>
        <p:nvCxnSpPr>
          <p:cNvPr id="27" name="Line 27"/>
          <p:cNvCxnSpPr/>
          <p:nvPr/>
        </p:nvCxnSpPr>
        <p:spPr>
          <a:xfrm>
            <a:off x="6610198" y="2390013"/>
            <a:ext cx="2800350" cy="0"/>
          </a:xfrm>
          <a:prstGeom prst="line">
            <a:avLst/>
          </a:prstGeom>
          <a:ln w="9525" cap="flat">
            <a:solidFill>
              <a:srgbClr val="E6E8F2"/>
            </a:solidFill>
          </a:ln>
        </p:spPr>
      </p:cxnSp>
      <p:cxnSp>
        <p:nvCxnSpPr>
          <p:cNvPr id="28" name="Line 28"/>
          <p:cNvCxnSpPr/>
          <p:nvPr/>
        </p:nvCxnSpPr>
        <p:spPr>
          <a:xfrm>
            <a:off x="6610198" y="2170938"/>
            <a:ext cx="2800350" cy="0"/>
          </a:xfrm>
          <a:prstGeom prst="line">
            <a:avLst/>
          </a:prstGeom>
          <a:ln w="9525" cap="flat">
            <a:solidFill>
              <a:srgbClr val="E6E8F2"/>
            </a:solidFill>
          </a:ln>
        </p:spPr>
      </p:cxnSp>
      <p:cxnSp>
        <p:nvCxnSpPr>
          <p:cNvPr id="29" name="Line 29"/>
          <p:cNvCxnSpPr/>
          <p:nvPr/>
        </p:nvCxnSpPr>
        <p:spPr>
          <a:xfrm>
            <a:off x="6610198" y="1951863"/>
            <a:ext cx="2800350" cy="0"/>
          </a:xfrm>
          <a:prstGeom prst="line">
            <a:avLst/>
          </a:prstGeom>
          <a:ln w="9525" cap="flat">
            <a:solidFill>
              <a:srgbClr val="E6E8F2"/>
            </a:solidFill>
          </a:ln>
        </p:spPr>
      </p:cxnSp>
      <p:cxnSp>
        <p:nvCxnSpPr>
          <p:cNvPr id="30" name="Line 30"/>
          <p:cNvCxnSpPr/>
          <p:nvPr/>
        </p:nvCxnSpPr>
        <p:spPr>
          <a:xfrm>
            <a:off x="6610198" y="1732788"/>
            <a:ext cx="2800350" cy="0"/>
          </a:xfrm>
          <a:prstGeom prst="line">
            <a:avLst/>
          </a:prstGeom>
          <a:ln w="9525" cap="flat">
            <a:solidFill>
              <a:srgbClr val="E6E8F2"/>
            </a:solidFill>
          </a:ln>
        </p:spPr>
      </p:cxnSp>
      <p:cxnSp>
        <p:nvCxnSpPr>
          <p:cNvPr id="31" name="Line 31"/>
          <p:cNvCxnSpPr/>
          <p:nvPr/>
        </p:nvCxnSpPr>
        <p:spPr>
          <a:xfrm>
            <a:off x="7543648" y="1732788"/>
            <a:ext cx="0" cy="3067050"/>
          </a:xfrm>
          <a:prstGeom prst="line">
            <a:avLst/>
          </a:prstGeom>
          <a:ln w="19050" cap="flat">
            <a:solidFill>
              <a:srgbClr val="5F6272"/>
            </a:solidFill>
          </a:ln>
        </p:spPr>
      </p:cxnSp>
      <p:cxnSp>
        <p:nvCxnSpPr>
          <p:cNvPr id="32" name="Line 32"/>
          <p:cNvCxnSpPr/>
          <p:nvPr/>
        </p:nvCxnSpPr>
        <p:spPr>
          <a:xfrm>
            <a:off x="6610198" y="3923538"/>
            <a:ext cx="2800350" cy="0"/>
          </a:xfrm>
          <a:prstGeom prst="line">
            <a:avLst/>
          </a:prstGeom>
          <a:ln w="19050" cap="flat">
            <a:solidFill>
              <a:srgbClr val="5F6272"/>
            </a:solidFill>
          </a:ln>
        </p:spPr>
      </p:cxnSp>
      <p:sp>
        <p:nvSpPr>
          <p:cNvPr id="33" name="Shape 33"/>
          <p:cNvSpPr txBox="1"/>
          <p:nvPr/>
        </p:nvSpPr>
        <p:spPr>
          <a:xfrm>
            <a:off x="63358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680260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2693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773605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82027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8" name="Shape 38"/>
          <p:cNvSpPr txBox="1"/>
          <p:nvPr/>
        </p:nvSpPr>
        <p:spPr>
          <a:xfrm>
            <a:off x="866950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9" name="Shape 39"/>
          <p:cNvSpPr txBox="1"/>
          <p:nvPr/>
        </p:nvSpPr>
        <p:spPr>
          <a:xfrm>
            <a:off x="91362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6043270"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6043270" y="42702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6043270" y="38320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6043270" y="33939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29557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6043270" y="25176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6" name="Shape 46"/>
          <p:cNvSpPr txBox="1"/>
          <p:nvPr/>
        </p:nvSpPr>
        <p:spPr>
          <a:xfrm>
            <a:off x="6043270" y="2079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cxnSp>
        <p:nvCxnSpPr>
          <p:cNvPr id="48" name="Line 48"/>
          <p:cNvCxnSpPr/>
          <p:nvPr/>
        </p:nvCxnSpPr>
        <p:spPr>
          <a:xfrm flipV="1">
            <a:off x="6765773" y="1732788"/>
            <a:ext cx="2178050" cy="3067050"/>
          </a:xfrm>
          <a:prstGeom prst="line">
            <a:avLst/>
          </a:prstGeom>
          <a:ln w="38100" cap="rnd">
            <a:solidFill>
              <a:srgbClr val="16171D"/>
            </a:solidFill>
          </a:ln>
        </p:spPr>
      </p:cxnSp>
      <p:sp>
        <p:nvSpPr>
          <p:cNvPr id="49" name="Shape 49"/>
          <p:cNvSpPr/>
          <p:nvPr/>
        </p:nvSpPr>
        <p:spPr>
          <a:xfrm>
            <a:off x="7957985" y="29948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8096098" y="27995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ppt_w</p:attrName>
                                        </p:attrNameLst>
                                      </p:cBhvr>
                                      <p:tavLst>
                                        <p:tav tm="0">
                                          <p:val>
                                            <p:fltVal val="0"/>
                                          </p:val>
                                        </p:tav>
                                        <p:tav tm="100000">
                                          <p:val>
                                            <p:strVal val="#ppt_w"/>
                                          </p:val>
                                        </p:tav>
                                      </p:tavLst>
                                    </p:anim>
                                    <p:anim calcmode="lin" valueType="num">
                                      <p:cBhvr>
                                        <p:cTn id="6"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7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Slope −8, point (3, 12)</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____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 ____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572707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−8, </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 = 3, </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 = 12</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 = ____(</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355848"/>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 = −8(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each in point-slope form</a:t>
            </a:r>
            <a:endParaRPr lang="en-US" sz="3450" dirty="0"/>
          </a:p>
        </p:txBody>
      </p:sp>
      <p:sp>
        <p:nvSpPr>
          <p:cNvPr id="7" name="Shape 7"/>
          <p:cNvSpPr txBox="1"/>
          <p:nvPr/>
        </p:nvSpPr>
        <p:spPr>
          <a:xfrm>
            <a:off x="685800" y="1618488"/>
            <a:ext cx="5219548" cy="16992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5, point (2, −1)</a:t>
            </a:r>
            <a:endParaRPr lang="en-US" sz="1950" dirty="0"/>
          </a:p>
        </p:txBody>
      </p:sp>
      <p:sp>
        <p:nvSpPr>
          <p:cNvPr id="5" name="Shape 5"/>
          <p:cNvSpPr txBox="1"/>
          <p:nvPr/>
        </p:nvSpPr>
        <p:spPr>
          <a:xfrm>
            <a:off x="895350" y="223723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Tip: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a:t>
            </a:r>
            <a:endParaRPr lang="en-US" sz="1575" dirty="0"/>
          </a:p>
        </p:txBody>
      </p:sp>
      <p:sp>
        <p:nvSpPr>
          <p:cNvPr id="6" name="Shape 6"/>
          <p:cNvSpPr txBox="1"/>
          <p:nvPr/>
        </p:nvSpPr>
        <p:spPr>
          <a:xfrm>
            <a:off x="895350" y="2627376"/>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1" name="Shape 11"/>
          <p:cNvSpPr txBox="1"/>
          <p:nvPr/>
        </p:nvSpPr>
        <p:spPr>
          <a:xfrm>
            <a:off x="6286348" y="1618488"/>
            <a:ext cx="5219548" cy="16992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 point (−4, 5)</a:t>
            </a:r>
            <a:endParaRPr lang="en-US" sz="1950" dirty="0"/>
          </a:p>
        </p:txBody>
      </p:sp>
      <p:sp>
        <p:nvSpPr>
          <p:cNvPr id="9" name="Shape 9"/>
          <p:cNvSpPr txBox="1"/>
          <p:nvPr/>
        </p:nvSpPr>
        <p:spPr>
          <a:xfrm>
            <a:off x="6495898" y="223723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Tip: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(−4)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+ 4</a:t>
            </a:r>
            <a:endParaRPr lang="en-US" sz="1575" dirty="0"/>
          </a:p>
        </p:txBody>
      </p:sp>
      <p:sp>
        <p:nvSpPr>
          <p:cNvPr id="10" name="Shape 10"/>
          <p:cNvSpPr txBox="1"/>
          <p:nvPr/>
        </p:nvSpPr>
        <p:spPr>
          <a:xfrm>
            <a:off x="6495898" y="2627376"/>
            <a:ext cx="48004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Two points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line through (2, 5) and (4, 11)</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slope.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11 − 5</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4 − 2</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use the point (2, 5).</a:t>
            </a:r>
            <a:endParaRPr lang="en-US" sz="1950" dirty="0"/>
          </a:p>
        </p:txBody>
      </p:sp>
      <p:sp>
        <p:nvSpPr>
          <p:cNvPr id="7" name="Shape 7"/>
          <p:cNvSpPr txBox="1"/>
          <p:nvPr/>
        </p:nvSpPr>
        <p:spPr>
          <a:xfrm>
            <a:off x="685800" y="335584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 = ____(</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8" name="Shape 8"/>
          <p:cNvSpPr txBox="1"/>
          <p:nvPr/>
        </p:nvSpPr>
        <p:spPr>
          <a:xfrm>
            <a:off x="685800" y="387934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Change the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as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mx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b</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− 5 = 3(</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distribute the 3.</a:t>
            </a:r>
            <a:endParaRPr lang="en-US" sz="1950" dirty="0"/>
          </a:p>
        </p:txBody>
      </p:sp>
      <p:sp>
        <p:nvSpPr>
          <p:cNvPr id="6" name="Shape 6"/>
          <p:cNvSpPr txBox="1"/>
          <p:nvPr/>
        </p:nvSpPr>
        <p:spPr>
          <a:xfrm>
            <a:off x="685800" y="2802636"/>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7" name="Shape 7"/>
          <p:cNvSpPr txBox="1"/>
          <p:nvPr/>
        </p:nvSpPr>
        <p:spPr>
          <a:xfrm>
            <a:off x="685800" y="349300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add 5 to both sides.</a:t>
            </a:r>
            <a:endParaRPr lang="en-US" sz="1950" dirty="0"/>
          </a:p>
        </p:txBody>
      </p:sp>
      <p:sp>
        <p:nvSpPr>
          <p:cNvPr id="8" name="Shape 8"/>
          <p:cNvSpPr txBox="1"/>
          <p:nvPr/>
        </p:nvSpPr>
        <p:spPr>
          <a:xfrm>
            <a:off x="685800" y="401650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as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mx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b</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− 3 = 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distribute.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− 3 = ____</a:t>
            </a:r>
            <a:endParaRPr lang="en-US" sz="1950" dirty="0"/>
          </a:p>
        </p:txBody>
      </p:sp>
      <p:sp>
        <p:nvSpPr>
          <p:cNvPr id="6" name="Shape 6"/>
          <p:cNvSpPr txBox="1"/>
          <p:nvPr/>
        </p:nvSpPr>
        <p:spPr>
          <a:xfrm>
            <a:off x="685800" y="280263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+ 10</a:t>
            </a:r>
            <a:endParaRPr lang="en-US" sz="2325" dirty="0"/>
          </a:p>
        </p:txBody>
      </p:sp>
      <p:sp>
        <p:nvSpPr>
          <p:cNvPr id="7" name="Shape 7"/>
          <p:cNvSpPr txBox="1"/>
          <p:nvPr/>
        </p:nvSpPr>
        <p:spPr>
          <a:xfrm>
            <a:off x="685800" y="349300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add 3.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8" name="Shape 8"/>
          <p:cNvSpPr txBox="1"/>
          <p:nvPr/>
        </p:nvSpPr>
        <p:spPr>
          <a:xfrm>
            <a:off x="685800" y="401650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Horizontal and Vertical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Flat lines and straight-up lines</a:t>
            </a:r>
            <a:endParaRPr lang="en-US" sz="3450" dirty="0"/>
          </a:p>
        </p:txBody>
      </p:sp>
      <p:sp>
        <p:nvSpPr>
          <p:cNvPr id="7" name="Shape 7"/>
          <p:cNvSpPr txBox="1"/>
          <p:nvPr/>
        </p:nvSpPr>
        <p:spPr>
          <a:xfrm>
            <a:off x="685800" y="1618488"/>
            <a:ext cx="521954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a:t>
            </a:r>
            <a:endParaRPr lang="en-US" sz="2100" dirty="0"/>
          </a:p>
        </p:txBody>
      </p:sp>
      <p:sp>
        <p:nvSpPr>
          <p:cNvPr id="5" name="Shape 5"/>
          <p:cNvSpPr txBox="1"/>
          <p:nvPr/>
        </p:nvSpPr>
        <p:spPr>
          <a:xfrm>
            <a:off x="895350"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stays the same. Slope = </a:t>
            </a:r>
            <a:r>
              <a:rPr lang="en-US" sz="1575" dirty="0" b="1">
                <a:solidFill>
                  <a:srgbClr val="16171D"/>
                </a:solidFill>
                <a:latin typeface="Segoe UI"/>
                <a:cs typeface="Segoe UI"/>
              </a:rPr>
              <a:t xml:space="preserve">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650236"/>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endParaRPr lang="en-US" sz="2325" dirty="0"/>
          </a:p>
        </p:txBody>
      </p:sp>
      <p:sp>
        <p:nvSpPr>
          <p:cNvPr id="8" name="Shape 8"/>
          <p:cNvSpPr/>
          <p:nvPr/>
        </p:nvSpPr>
        <p:spPr>
          <a:xfrm>
            <a:off x="685800" y="3364230"/>
            <a:ext cx="2857500" cy="2190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1009650" y="3478530"/>
            <a:ext cx="0" cy="1828800"/>
          </a:xfrm>
          <a:prstGeom prst="line">
            <a:avLst/>
          </a:prstGeom>
          <a:ln w="9525" cap="flat">
            <a:solidFill>
              <a:srgbClr val="E6E8F2"/>
            </a:solidFill>
          </a:ln>
        </p:spPr>
      </p:cxnSp>
      <p:cxnSp>
        <p:nvCxnSpPr>
          <p:cNvPr id="10" name="Line 10"/>
          <p:cNvCxnSpPr/>
          <p:nvPr/>
        </p:nvCxnSpPr>
        <p:spPr>
          <a:xfrm>
            <a:off x="1312069" y="3478530"/>
            <a:ext cx="0" cy="1828800"/>
          </a:xfrm>
          <a:prstGeom prst="line">
            <a:avLst/>
          </a:prstGeom>
          <a:ln w="9525" cap="flat">
            <a:solidFill>
              <a:srgbClr val="E6E8F2"/>
            </a:solidFill>
          </a:ln>
        </p:spPr>
      </p:cxnSp>
      <p:cxnSp>
        <p:nvCxnSpPr>
          <p:cNvPr id="11" name="Line 11"/>
          <p:cNvCxnSpPr/>
          <p:nvPr/>
        </p:nvCxnSpPr>
        <p:spPr>
          <a:xfrm>
            <a:off x="1614488" y="3478530"/>
            <a:ext cx="0" cy="1828800"/>
          </a:xfrm>
          <a:prstGeom prst="line">
            <a:avLst/>
          </a:prstGeom>
          <a:ln w="9525" cap="flat">
            <a:solidFill>
              <a:srgbClr val="E6E8F2"/>
            </a:solidFill>
          </a:ln>
        </p:spPr>
      </p:cxnSp>
      <p:cxnSp>
        <p:nvCxnSpPr>
          <p:cNvPr id="12" name="Line 12"/>
          <p:cNvCxnSpPr/>
          <p:nvPr/>
        </p:nvCxnSpPr>
        <p:spPr>
          <a:xfrm>
            <a:off x="1916906" y="3478530"/>
            <a:ext cx="0" cy="1828800"/>
          </a:xfrm>
          <a:prstGeom prst="line">
            <a:avLst/>
          </a:prstGeom>
          <a:ln w="9525" cap="flat">
            <a:solidFill>
              <a:srgbClr val="E6E8F2"/>
            </a:solidFill>
          </a:ln>
        </p:spPr>
      </p:cxnSp>
      <p:cxnSp>
        <p:nvCxnSpPr>
          <p:cNvPr id="13" name="Line 13"/>
          <p:cNvCxnSpPr/>
          <p:nvPr/>
        </p:nvCxnSpPr>
        <p:spPr>
          <a:xfrm>
            <a:off x="2219325" y="3478530"/>
            <a:ext cx="0" cy="1828800"/>
          </a:xfrm>
          <a:prstGeom prst="line">
            <a:avLst/>
          </a:prstGeom>
          <a:ln w="9525" cap="flat">
            <a:solidFill>
              <a:srgbClr val="E6E8F2"/>
            </a:solidFill>
          </a:ln>
        </p:spPr>
      </p:cxnSp>
      <p:cxnSp>
        <p:nvCxnSpPr>
          <p:cNvPr id="14" name="Line 14"/>
          <p:cNvCxnSpPr/>
          <p:nvPr/>
        </p:nvCxnSpPr>
        <p:spPr>
          <a:xfrm>
            <a:off x="2521744" y="3478530"/>
            <a:ext cx="0" cy="1828800"/>
          </a:xfrm>
          <a:prstGeom prst="line">
            <a:avLst/>
          </a:prstGeom>
          <a:ln w="9525" cap="flat">
            <a:solidFill>
              <a:srgbClr val="E6E8F2"/>
            </a:solidFill>
          </a:ln>
        </p:spPr>
      </p:cxnSp>
      <p:cxnSp>
        <p:nvCxnSpPr>
          <p:cNvPr id="15" name="Line 15"/>
          <p:cNvCxnSpPr/>
          <p:nvPr/>
        </p:nvCxnSpPr>
        <p:spPr>
          <a:xfrm>
            <a:off x="2824162" y="3478530"/>
            <a:ext cx="0" cy="1828800"/>
          </a:xfrm>
          <a:prstGeom prst="line">
            <a:avLst/>
          </a:prstGeom>
          <a:ln w="9525" cap="flat">
            <a:solidFill>
              <a:srgbClr val="E6E8F2"/>
            </a:solidFill>
          </a:ln>
        </p:spPr>
      </p:cxnSp>
      <p:cxnSp>
        <p:nvCxnSpPr>
          <p:cNvPr id="16" name="Line 16"/>
          <p:cNvCxnSpPr/>
          <p:nvPr/>
        </p:nvCxnSpPr>
        <p:spPr>
          <a:xfrm>
            <a:off x="3126581" y="3478530"/>
            <a:ext cx="0" cy="1828800"/>
          </a:xfrm>
          <a:prstGeom prst="line">
            <a:avLst/>
          </a:prstGeom>
          <a:ln w="9525" cap="flat">
            <a:solidFill>
              <a:srgbClr val="E6E8F2"/>
            </a:solidFill>
          </a:ln>
        </p:spPr>
      </p:cxnSp>
      <p:cxnSp>
        <p:nvCxnSpPr>
          <p:cNvPr id="17" name="Line 17"/>
          <p:cNvCxnSpPr/>
          <p:nvPr/>
        </p:nvCxnSpPr>
        <p:spPr>
          <a:xfrm>
            <a:off x="3429000" y="3478530"/>
            <a:ext cx="0" cy="1828800"/>
          </a:xfrm>
          <a:prstGeom prst="line">
            <a:avLst/>
          </a:prstGeom>
          <a:ln w="9525" cap="flat">
            <a:solidFill>
              <a:srgbClr val="E6E8F2"/>
            </a:solidFill>
          </a:ln>
        </p:spPr>
      </p:cxnSp>
      <p:cxnSp>
        <p:nvCxnSpPr>
          <p:cNvPr id="18" name="Line 18"/>
          <p:cNvCxnSpPr/>
          <p:nvPr/>
        </p:nvCxnSpPr>
        <p:spPr>
          <a:xfrm>
            <a:off x="1009650" y="5307330"/>
            <a:ext cx="2419350" cy="0"/>
          </a:xfrm>
          <a:prstGeom prst="line">
            <a:avLst/>
          </a:prstGeom>
          <a:ln w="9525" cap="flat">
            <a:solidFill>
              <a:srgbClr val="E6E8F2"/>
            </a:solidFill>
          </a:ln>
        </p:spPr>
      </p:cxnSp>
      <p:cxnSp>
        <p:nvCxnSpPr>
          <p:cNvPr id="19" name="Line 19"/>
          <p:cNvCxnSpPr/>
          <p:nvPr/>
        </p:nvCxnSpPr>
        <p:spPr>
          <a:xfrm>
            <a:off x="1009650" y="5002530"/>
            <a:ext cx="2419350" cy="0"/>
          </a:xfrm>
          <a:prstGeom prst="line">
            <a:avLst/>
          </a:prstGeom>
          <a:ln w="9525" cap="flat">
            <a:solidFill>
              <a:srgbClr val="E6E8F2"/>
            </a:solidFill>
          </a:ln>
        </p:spPr>
      </p:cxnSp>
      <p:cxnSp>
        <p:nvCxnSpPr>
          <p:cNvPr id="20" name="Line 20"/>
          <p:cNvCxnSpPr/>
          <p:nvPr/>
        </p:nvCxnSpPr>
        <p:spPr>
          <a:xfrm>
            <a:off x="1009650" y="4697730"/>
            <a:ext cx="2419350" cy="0"/>
          </a:xfrm>
          <a:prstGeom prst="line">
            <a:avLst/>
          </a:prstGeom>
          <a:ln w="9525" cap="flat">
            <a:solidFill>
              <a:srgbClr val="E6E8F2"/>
            </a:solidFill>
          </a:ln>
        </p:spPr>
      </p:cxnSp>
      <p:cxnSp>
        <p:nvCxnSpPr>
          <p:cNvPr id="21" name="Line 21"/>
          <p:cNvCxnSpPr/>
          <p:nvPr/>
        </p:nvCxnSpPr>
        <p:spPr>
          <a:xfrm>
            <a:off x="1009650" y="4392930"/>
            <a:ext cx="2419350" cy="0"/>
          </a:xfrm>
          <a:prstGeom prst="line">
            <a:avLst/>
          </a:prstGeom>
          <a:ln w="9525" cap="flat">
            <a:solidFill>
              <a:srgbClr val="E6E8F2"/>
            </a:solidFill>
          </a:ln>
        </p:spPr>
      </p:cxnSp>
      <p:cxnSp>
        <p:nvCxnSpPr>
          <p:cNvPr id="22" name="Line 22"/>
          <p:cNvCxnSpPr/>
          <p:nvPr/>
        </p:nvCxnSpPr>
        <p:spPr>
          <a:xfrm>
            <a:off x="1009650" y="4088130"/>
            <a:ext cx="2419350" cy="0"/>
          </a:xfrm>
          <a:prstGeom prst="line">
            <a:avLst/>
          </a:prstGeom>
          <a:ln w="9525" cap="flat">
            <a:solidFill>
              <a:srgbClr val="E6E8F2"/>
            </a:solidFill>
          </a:ln>
        </p:spPr>
      </p:cxnSp>
      <p:cxnSp>
        <p:nvCxnSpPr>
          <p:cNvPr id="23" name="Line 23"/>
          <p:cNvCxnSpPr/>
          <p:nvPr/>
        </p:nvCxnSpPr>
        <p:spPr>
          <a:xfrm>
            <a:off x="1009650" y="3783330"/>
            <a:ext cx="2419350" cy="0"/>
          </a:xfrm>
          <a:prstGeom prst="line">
            <a:avLst/>
          </a:prstGeom>
          <a:ln w="9525" cap="flat">
            <a:solidFill>
              <a:srgbClr val="E6E8F2"/>
            </a:solidFill>
          </a:ln>
        </p:spPr>
      </p:cxnSp>
      <p:cxnSp>
        <p:nvCxnSpPr>
          <p:cNvPr id="24" name="Line 24"/>
          <p:cNvCxnSpPr/>
          <p:nvPr/>
        </p:nvCxnSpPr>
        <p:spPr>
          <a:xfrm>
            <a:off x="1009650" y="3478530"/>
            <a:ext cx="2419350" cy="0"/>
          </a:xfrm>
          <a:prstGeom prst="line">
            <a:avLst/>
          </a:prstGeom>
          <a:ln w="9525" cap="flat">
            <a:solidFill>
              <a:srgbClr val="E6E8F2"/>
            </a:solidFill>
          </a:ln>
        </p:spPr>
      </p:cxnSp>
      <p:cxnSp>
        <p:nvCxnSpPr>
          <p:cNvPr id="25" name="Line 25"/>
          <p:cNvCxnSpPr/>
          <p:nvPr/>
        </p:nvCxnSpPr>
        <p:spPr>
          <a:xfrm>
            <a:off x="2219325" y="3478530"/>
            <a:ext cx="0" cy="1828800"/>
          </a:xfrm>
          <a:prstGeom prst="line">
            <a:avLst/>
          </a:prstGeom>
          <a:ln w="19050" cap="flat">
            <a:solidFill>
              <a:srgbClr val="5F6272"/>
            </a:solidFill>
          </a:ln>
        </p:spPr>
      </p:cxnSp>
      <p:cxnSp>
        <p:nvCxnSpPr>
          <p:cNvPr id="26" name="Line 26"/>
          <p:cNvCxnSpPr/>
          <p:nvPr/>
        </p:nvCxnSpPr>
        <p:spPr>
          <a:xfrm>
            <a:off x="1009650" y="5002530"/>
            <a:ext cx="2419350" cy="0"/>
          </a:xfrm>
          <a:prstGeom prst="line">
            <a:avLst/>
          </a:prstGeom>
          <a:ln w="19050" cap="flat">
            <a:solidFill>
              <a:srgbClr val="5F6272"/>
            </a:solidFill>
          </a:ln>
        </p:spPr>
      </p:cxnSp>
      <p:sp>
        <p:nvSpPr>
          <p:cNvPr id="27" name="Shape 27"/>
          <p:cNvSpPr txBox="1"/>
          <p:nvPr/>
        </p:nvSpPr>
        <p:spPr>
          <a:xfrm>
            <a:off x="735330"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28" name="Shape 28"/>
          <p:cNvSpPr txBox="1"/>
          <p:nvPr/>
        </p:nvSpPr>
        <p:spPr>
          <a:xfrm>
            <a:off x="1037749"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29" name="Shape 29"/>
          <p:cNvSpPr txBox="1"/>
          <p:nvPr/>
        </p:nvSpPr>
        <p:spPr>
          <a:xfrm>
            <a:off x="1340168"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0" name="Shape 30"/>
          <p:cNvSpPr txBox="1"/>
          <p:nvPr/>
        </p:nvSpPr>
        <p:spPr>
          <a:xfrm>
            <a:off x="1642586"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1" name="Shape 31"/>
          <p:cNvSpPr txBox="1"/>
          <p:nvPr/>
        </p:nvSpPr>
        <p:spPr>
          <a:xfrm>
            <a:off x="1945005"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2247424"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2549842"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2852261"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3154680"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442722" y="52158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442722" y="49110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442722" y="46062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442722" y="43014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442722" y="39966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442722" y="36918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442722" y="33870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43" name="Line 43"/>
          <p:cNvCxnSpPr/>
          <p:nvPr/>
        </p:nvCxnSpPr>
        <p:spPr>
          <a:xfrm>
            <a:off x="1009650" y="4088130"/>
            <a:ext cx="2419350" cy="0"/>
          </a:xfrm>
          <a:prstGeom prst="line">
            <a:avLst/>
          </a:prstGeom>
          <a:ln w="38100" cap="rnd">
            <a:solidFill>
              <a:srgbClr val="16171D"/>
            </a:solidFill>
          </a:ln>
        </p:spPr>
      </p:cxnSp>
      <p:sp>
        <p:nvSpPr>
          <p:cNvPr id="44" name="Shape 44"/>
          <p:cNvSpPr txBox="1"/>
          <p:nvPr/>
        </p:nvSpPr>
        <p:spPr>
          <a:xfrm>
            <a:off x="937260" y="4107180"/>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3</a:t>
            </a:r>
            <a:endParaRPr lang="en-US" sz="1275" dirty="0"/>
          </a:p>
        </p:txBody>
      </p:sp>
      <p:sp>
        <p:nvSpPr>
          <p:cNvPr id="48" name="Shape 48"/>
          <p:cNvSpPr txBox="1"/>
          <p:nvPr/>
        </p:nvSpPr>
        <p:spPr>
          <a:xfrm>
            <a:off x="6286348" y="1618488"/>
            <a:ext cx="521954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5" name="Shape 45"/>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Vertical</a:t>
            </a:r>
            <a:endParaRPr lang="en-US" sz="2100" dirty="0"/>
          </a:p>
        </p:txBody>
      </p:sp>
      <p:sp>
        <p:nvSpPr>
          <p:cNvPr id="46" name="Shape 46"/>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stays the same. Slope is </a:t>
            </a:r>
            <a:r>
              <a:rPr lang="en-US" sz="1575" dirty="0" b="1">
                <a:solidFill>
                  <a:srgbClr val="16171D"/>
                </a:solidFill>
                <a:latin typeface="Segoe UI"/>
                <a:cs typeface="Segoe UI"/>
              </a:rPr>
              <a:t xml:space="preserve">undefined</a:t>
            </a:r>
            <a:r>
              <a:rPr lang="en-US" sz="1575" dirty="0">
                <a:solidFill>
                  <a:srgbClr val="16171D"/>
                </a:solidFill>
                <a:latin typeface="Segoe UI"/>
                <a:cs typeface="Segoe UI"/>
              </a:rPr>
              <a:t xml:space="preserve">.</a:t>
            </a:r>
            <a:endParaRPr lang="en-US" sz="1575" dirty="0"/>
          </a:p>
        </p:txBody>
      </p:sp>
      <p:sp>
        <p:nvSpPr>
          <p:cNvPr id="47" name="Shape 47"/>
          <p:cNvSpPr txBox="1"/>
          <p:nvPr/>
        </p:nvSpPr>
        <p:spPr>
          <a:xfrm>
            <a:off x="6495898" y="2650236"/>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49" name="Shape 49"/>
          <p:cNvSpPr/>
          <p:nvPr/>
        </p:nvSpPr>
        <p:spPr>
          <a:xfrm>
            <a:off x="6286348" y="3364230"/>
            <a:ext cx="2857500" cy="2190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0" name="Line 50"/>
          <p:cNvCxnSpPr/>
          <p:nvPr/>
        </p:nvCxnSpPr>
        <p:spPr>
          <a:xfrm>
            <a:off x="6610198" y="3478530"/>
            <a:ext cx="0" cy="1828800"/>
          </a:xfrm>
          <a:prstGeom prst="line">
            <a:avLst/>
          </a:prstGeom>
          <a:ln w="9525" cap="flat">
            <a:solidFill>
              <a:srgbClr val="E6E8F2"/>
            </a:solidFill>
          </a:ln>
        </p:spPr>
      </p:cxnSp>
      <p:cxnSp>
        <p:nvCxnSpPr>
          <p:cNvPr id="51" name="Line 51"/>
          <p:cNvCxnSpPr/>
          <p:nvPr/>
        </p:nvCxnSpPr>
        <p:spPr>
          <a:xfrm>
            <a:off x="6912616" y="3478530"/>
            <a:ext cx="0" cy="1828800"/>
          </a:xfrm>
          <a:prstGeom prst="line">
            <a:avLst/>
          </a:prstGeom>
          <a:ln w="9525" cap="flat">
            <a:solidFill>
              <a:srgbClr val="E6E8F2"/>
            </a:solidFill>
          </a:ln>
        </p:spPr>
      </p:cxnSp>
      <p:cxnSp>
        <p:nvCxnSpPr>
          <p:cNvPr id="52" name="Line 52"/>
          <p:cNvCxnSpPr/>
          <p:nvPr/>
        </p:nvCxnSpPr>
        <p:spPr>
          <a:xfrm>
            <a:off x="7215035" y="3478530"/>
            <a:ext cx="0" cy="1828800"/>
          </a:xfrm>
          <a:prstGeom prst="line">
            <a:avLst/>
          </a:prstGeom>
          <a:ln w="9525" cap="flat">
            <a:solidFill>
              <a:srgbClr val="E6E8F2"/>
            </a:solidFill>
          </a:ln>
        </p:spPr>
      </p:cxnSp>
      <p:cxnSp>
        <p:nvCxnSpPr>
          <p:cNvPr id="53" name="Line 53"/>
          <p:cNvCxnSpPr/>
          <p:nvPr/>
        </p:nvCxnSpPr>
        <p:spPr>
          <a:xfrm>
            <a:off x="7517454" y="3478530"/>
            <a:ext cx="0" cy="1828800"/>
          </a:xfrm>
          <a:prstGeom prst="line">
            <a:avLst/>
          </a:prstGeom>
          <a:ln w="9525" cap="flat">
            <a:solidFill>
              <a:srgbClr val="E6E8F2"/>
            </a:solidFill>
          </a:ln>
        </p:spPr>
      </p:cxnSp>
      <p:cxnSp>
        <p:nvCxnSpPr>
          <p:cNvPr id="54" name="Line 54"/>
          <p:cNvCxnSpPr/>
          <p:nvPr/>
        </p:nvCxnSpPr>
        <p:spPr>
          <a:xfrm>
            <a:off x="7819873" y="3478530"/>
            <a:ext cx="0" cy="1828800"/>
          </a:xfrm>
          <a:prstGeom prst="line">
            <a:avLst/>
          </a:prstGeom>
          <a:ln w="9525" cap="flat">
            <a:solidFill>
              <a:srgbClr val="E6E8F2"/>
            </a:solidFill>
          </a:ln>
        </p:spPr>
      </p:cxnSp>
      <p:cxnSp>
        <p:nvCxnSpPr>
          <p:cNvPr id="55" name="Line 55"/>
          <p:cNvCxnSpPr/>
          <p:nvPr/>
        </p:nvCxnSpPr>
        <p:spPr>
          <a:xfrm>
            <a:off x="8122291" y="3478530"/>
            <a:ext cx="0" cy="1828800"/>
          </a:xfrm>
          <a:prstGeom prst="line">
            <a:avLst/>
          </a:prstGeom>
          <a:ln w="9525" cap="flat">
            <a:solidFill>
              <a:srgbClr val="E6E8F2"/>
            </a:solidFill>
          </a:ln>
        </p:spPr>
      </p:cxnSp>
      <p:cxnSp>
        <p:nvCxnSpPr>
          <p:cNvPr id="56" name="Line 56"/>
          <p:cNvCxnSpPr/>
          <p:nvPr/>
        </p:nvCxnSpPr>
        <p:spPr>
          <a:xfrm>
            <a:off x="8424710" y="3478530"/>
            <a:ext cx="0" cy="1828800"/>
          </a:xfrm>
          <a:prstGeom prst="line">
            <a:avLst/>
          </a:prstGeom>
          <a:ln w="9525" cap="flat">
            <a:solidFill>
              <a:srgbClr val="E6E8F2"/>
            </a:solidFill>
          </a:ln>
        </p:spPr>
      </p:cxnSp>
      <p:cxnSp>
        <p:nvCxnSpPr>
          <p:cNvPr id="57" name="Line 57"/>
          <p:cNvCxnSpPr/>
          <p:nvPr/>
        </p:nvCxnSpPr>
        <p:spPr>
          <a:xfrm>
            <a:off x="8727129" y="3478530"/>
            <a:ext cx="0" cy="1828800"/>
          </a:xfrm>
          <a:prstGeom prst="line">
            <a:avLst/>
          </a:prstGeom>
          <a:ln w="9525" cap="flat">
            <a:solidFill>
              <a:srgbClr val="E6E8F2"/>
            </a:solidFill>
          </a:ln>
        </p:spPr>
      </p:cxnSp>
      <p:cxnSp>
        <p:nvCxnSpPr>
          <p:cNvPr id="58" name="Line 58"/>
          <p:cNvCxnSpPr/>
          <p:nvPr/>
        </p:nvCxnSpPr>
        <p:spPr>
          <a:xfrm>
            <a:off x="9029548" y="3478530"/>
            <a:ext cx="0" cy="1828800"/>
          </a:xfrm>
          <a:prstGeom prst="line">
            <a:avLst/>
          </a:prstGeom>
          <a:ln w="9525" cap="flat">
            <a:solidFill>
              <a:srgbClr val="E6E8F2"/>
            </a:solidFill>
          </a:ln>
        </p:spPr>
      </p:cxnSp>
      <p:cxnSp>
        <p:nvCxnSpPr>
          <p:cNvPr id="59" name="Line 59"/>
          <p:cNvCxnSpPr/>
          <p:nvPr/>
        </p:nvCxnSpPr>
        <p:spPr>
          <a:xfrm>
            <a:off x="6610198" y="5307330"/>
            <a:ext cx="2419350" cy="0"/>
          </a:xfrm>
          <a:prstGeom prst="line">
            <a:avLst/>
          </a:prstGeom>
          <a:ln w="9525" cap="flat">
            <a:solidFill>
              <a:srgbClr val="E6E8F2"/>
            </a:solidFill>
          </a:ln>
        </p:spPr>
      </p:cxnSp>
      <p:cxnSp>
        <p:nvCxnSpPr>
          <p:cNvPr id="60" name="Line 60"/>
          <p:cNvCxnSpPr/>
          <p:nvPr/>
        </p:nvCxnSpPr>
        <p:spPr>
          <a:xfrm>
            <a:off x="6610198" y="5002530"/>
            <a:ext cx="2419350" cy="0"/>
          </a:xfrm>
          <a:prstGeom prst="line">
            <a:avLst/>
          </a:prstGeom>
          <a:ln w="9525" cap="flat">
            <a:solidFill>
              <a:srgbClr val="E6E8F2"/>
            </a:solidFill>
          </a:ln>
        </p:spPr>
      </p:cxnSp>
      <p:cxnSp>
        <p:nvCxnSpPr>
          <p:cNvPr id="61" name="Line 61"/>
          <p:cNvCxnSpPr/>
          <p:nvPr/>
        </p:nvCxnSpPr>
        <p:spPr>
          <a:xfrm>
            <a:off x="6610198" y="4697730"/>
            <a:ext cx="2419350" cy="0"/>
          </a:xfrm>
          <a:prstGeom prst="line">
            <a:avLst/>
          </a:prstGeom>
          <a:ln w="9525" cap="flat">
            <a:solidFill>
              <a:srgbClr val="E6E8F2"/>
            </a:solidFill>
          </a:ln>
        </p:spPr>
      </p:cxnSp>
      <p:cxnSp>
        <p:nvCxnSpPr>
          <p:cNvPr id="62" name="Line 62"/>
          <p:cNvCxnSpPr/>
          <p:nvPr/>
        </p:nvCxnSpPr>
        <p:spPr>
          <a:xfrm>
            <a:off x="6610198" y="4392930"/>
            <a:ext cx="2419350" cy="0"/>
          </a:xfrm>
          <a:prstGeom prst="line">
            <a:avLst/>
          </a:prstGeom>
          <a:ln w="9525" cap="flat">
            <a:solidFill>
              <a:srgbClr val="E6E8F2"/>
            </a:solidFill>
          </a:ln>
        </p:spPr>
      </p:cxnSp>
      <p:cxnSp>
        <p:nvCxnSpPr>
          <p:cNvPr id="63" name="Line 63"/>
          <p:cNvCxnSpPr/>
          <p:nvPr/>
        </p:nvCxnSpPr>
        <p:spPr>
          <a:xfrm>
            <a:off x="6610198" y="4088130"/>
            <a:ext cx="2419350" cy="0"/>
          </a:xfrm>
          <a:prstGeom prst="line">
            <a:avLst/>
          </a:prstGeom>
          <a:ln w="9525" cap="flat">
            <a:solidFill>
              <a:srgbClr val="E6E8F2"/>
            </a:solidFill>
          </a:ln>
        </p:spPr>
      </p:cxnSp>
      <p:cxnSp>
        <p:nvCxnSpPr>
          <p:cNvPr id="64" name="Line 64"/>
          <p:cNvCxnSpPr/>
          <p:nvPr/>
        </p:nvCxnSpPr>
        <p:spPr>
          <a:xfrm>
            <a:off x="6610198" y="3783330"/>
            <a:ext cx="2419350" cy="0"/>
          </a:xfrm>
          <a:prstGeom prst="line">
            <a:avLst/>
          </a:prstGeom>
          <a:ln w="9525" cap="flat">
            <a:solidFill>
              <a:srgbClr val="E6E8F2"/>
            </a:solidFill>
          </a:ln>
        </p:spPr>
      </p:cxnSp>
      <p:cxnSp>
        <p:nvCxnSpPr>
          <p:cNvPr id="65" name="Line 65"/>
          <p:cNvCxnSpPr/>
          <p:nvPr/>
        </p:nvCxnSpPr>
        <p:spPr>
          <a:xfrm>
            <a:off x="6610198" y="3478530"/>
            <a:ext cx="2419350" cy="0"/>
          </a:xfrm>
          <a:prstGeom prst="line">
            <a:avLst/>
          </a:prstGeom>
          <a:ln w="9525" cap="flat">
            <a:solidFill>
              <a:srgbClr val="E6E8F2"/>
            </a:solidFill>
          </a:ln>
        </p:spPr>
      </p:cxnSp>
      <p:cxnSp>
        <p:nvCxnSpPr>
          <p:cNvPr id="66" name="Line 66"/>
          <p:cNvCxnSpPr/>
          <p:nvPr/>
        </p:nvCxnSpPr>
        <p:spPr>
          <a:xfrm>
            <a:off x="7819873" y="3478530"/>
            <a:ext cx="0" cy="1828800"/>
          </a:xfrm>
          <a:prstGeom prst="line">
            <a:avLst/>
          </a:prstGeom>
          <a:ln w="19050" cap="flat">
            <a:solidFill>
              <a:srgbClr val="5F6272"/>
            </a:solidFill>
          </a:ln>
        </p:spPr>
      </p:cxnSp>
      <p:cxnSp>
        <p:nvCxnSpPr>
          <p:cNvPr id="67" name="Line 67"/>
          <p:cNvCxnSpPr/>
          <p:nvPr/>
        </p:nvCxnSpPr>
        <p:spPr>
          <a:xfrm>
            <a:off x="6610198" y="4392930"/>
            <a:ext cx="2419350" cy="0"/>
          </a:xfrm>
          <a:prstGeom prst="line">
            <a:avLst/>
          </a:prstGeom>
          <a:ln w="19050" cap="flat">
            <a:solidFill>
              <a:srgbClr val="5F6272"/>
            </a:solidFill>
          </a:ln>
        </p:spPr>
      </p:cxnSp>
      <p:sp>
        <p:nvSpPr>
          <p:cNvPr id="68" name="Shape 68"/>
          <p:cNvSpPr txBox="1"/>
          <p:nvPr/>
        </p:nvSpPr>
        <p:spPr>
          <a:xfrm>
            <a:off x="6335878"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9" name="Shape 69"/>
          <p:cNvSpPr txBox="1"/>
          <p:nvPr/>
        </p:nvSpPr>
        <p:spPr>
          <a:xfrm>
            <a:off x="6638296"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70" name="Shape 70"/>
          <p:cNvSpPr txBox="1"/>
          <p:nvPr/>
        </p:nvSpPr>
        <p:spPr>
          <a:xfrm>
            <a:off x="6940715"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1" name="Shape 71"/>
          <p:cNvSpPr txBox="1"/>
          <p:nvPr/>
        </p:nvSpPr>
        <p:spPr>
          <a:xfrm>
            <a:off x="7243134"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72" name="Shape 72"/>
          <p:cNvSpPr txBox="1"/>
          <p:nvPr/>
        </p:nvSpPr>
        <p:spPr>
          <a:xfrm>
            <a:off x="7545553"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3" name="Shape 73"/>
          <p:cNvSpPr txBox="1"/>
          <p:nvPr/>
        </p:nvSpPr>
        <p:spPr>
          <a:xfrm>
            <a:off x="7847971"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74" name="Shape 74"/>
          <p:cNvSpPr txBox="1"/>
          <p:nvPr/>
        </p:nvSpPr>
        <p:spPr>
          <a:xfrm>
            <a:off x="8150390"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5" name="Shape 75"/>
          <p:cNvSpPr txBox="1"/>
          <p:nvPr/>
        </p:nvSpPr>
        <p:spPr>
          <a:xfrm>
            <a:off x="8452809"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76" name="Shape 76"/>
          <p:cNvSpPr txBox="1"/>
          <p:nvPr/>
        </p:nvSpPr>
        <p:spPr>
          <a:xfrm>
            <a:off x="8755228"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7" name="Shape 77"/>
          <p:cNvSpPr txBox="1"/>
          <p:nvPr/>
        </p:nvSpPr>
        <p:spPr>
          <a:xfrm>
            <a:off x="6043270" y="52158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78" name="Shape 78"/>
          <p:cNvSpPr txBox="1"/>
          <p:nvPr/>
        </p:nvSpPr>
        <p:spPr>
          <a:xfrm>
            <a:off x="6043270" y="49110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79" name="Shape 79"/>
          <p:cNvSpPr txBox="1"/>
          <p:nvPr/>
        </p:nvSpPr>
        <p:spPr>
          <a:xfrm>
            <a:off x="6043270" y="46062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80" name="Shape 80"/>
          <p:cNvSpPr txBox="1"/>
          <p:nvPr/>
        </p:nvSpPr>
        <p:spPr>
          <a:xfrm>
            <a:off x="6043270" y="43014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1" name="Shape 81"/>
          <p:cNvSpPr txBox="1"/>
          <p:nvPr/>
        </p:nvSpPr>
        <p:spPr>
          <a:xfrm>
            <a:off x="6043270" y="39966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82" name="Shape 82"/>
          <p:cNvSpPr txBox="1"/>
          <p:nvPr/>
        </p:nvSpPr>
        <p:spPr>
          <a:xfrm>
            <a:off x="6043270" y="36918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6043270" y="33870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cxnSp>
        <p:nvCxnSpPr>
          <p:cNvPr id="84" name="Line 84"/>
          <p:cNvCxnSpPr/>
          <p:nvPr/>
        </p:nvCxnSpPr>
        <p:spPr>
          <a:xfrm flipV="1">
            <a:off x="7215035" y="3478530"/>
            <a:ext cx="0" cy="1828800"/>
          </a:xfrm>
          <a:prstGeom prst="line">
            <a:avLst/>
          </a:prstGeom>
          <a:ln w="38100" cap="rnd">
            <a:solidFill>
              <a:srgbClr val="16171D"/>
            </a:solidFill>
          </a:ln>
        </p:spPr>
      </p:cxnSp>
      <p:sp>
        <p:nvSpPr>
          <p:cNvPr id="85" name="Shape 85"/>
          <p:cNvSpPr txBox="1"/>
          <p:nvPr/>
        </p:nvSpPr>
        <p:spPr>
          <a:xfrm>
            <a:off x="7291235" y="3497580"/>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x = −2</a:t>
            </a:r>
            <a:endParaRPr lang="en-US" sz="1275"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and vertical lines</a:t>
            </a:r>
            <a:endParaRPr lang="en-US" sz="3450" dirty="0"/>
          </a:p>
        </p:txBody>
      </p:sp>
      <p:sp>
        <p:nvSpPr>
          <p:cNvPr id="14" name="Shape 14"/>
          <p:cNvSpPr txBox="1"/>
          <p:nvPr/>
        </p:nvSpPr>
        <p:spPr>
          <a:xfrm>
            <a:off x="685800" y="1618488"/>
            <a:ext cx="5219548" cy="308686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-values are all 11.</a:t>
            </a:r>
            <a:endParaRPr lang="en-US" sz="1950" dirty="0"/>
          </a:p>
        </p:txBody>
      </p:sp>
      <p:sp>
        <p:nvSpPr>
          <p:cNvPr id="5" name="Shape 5"/>
          <p:cNvSpPr txBox="1"/>
          <p:nvPr/>
        </p:nvSpPr>
        <p:spPr>
          <a:xfrm>
            <a:off x="895350" y="223723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6" name="Shape 6"/>
          <p:cNvSpPr txBox="1"/>
          <p:nvPr/>
        </p:nvSpPr>
        <p:spPr>
          <a:xfrm>
            <a:off x="2038350" y="223723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7" name="Shape 7"/>
          <p:cNvSpPr txBox="1"/>
          <p:nvPr/>
        </p:nvSpPr>
        <p:spPr>
          <a:xfrm>
            <a:off x="895350" y="265785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8" name="Shape 8"/>
          <p:cNvSpPr txBox="1"/>
          <p:nvPr/>
        </p:nvSpPr>
        <p:spPr>
          <a:xfrm>
            <a:off x="2038350" y="265785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11</a:t>
            </a:r>
            <a:endParaRPr lang="en-US" sz="1800" dirty="0"/>
          </a:p>
        </p:txBody>
      </p:sp>
      <p:sp>
        <p:nvSpPr>
          <p:cNvPr id="9" name="Shape 9"/>
          <p:cNvSpPr txBox="1"/>
          <p:nvPr/>
        </p:nvSpPr>
        <p:spPr>
          <a:xfrm>
            <a:off x="895350" y="307848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10" name="Shape 10"/>
          <p:cNvSpPr txBox="1"/>
          <p:nvPr/>
        </p:nvSpPr>
        <p:spPr>
          <a:xfrm>
            <a:off x="2038350" y="307848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11</a:t>
            </a:r>
            <a:endParaRPr lang="en-US" sz="1800" dirty="0"/>
          </a:p>
        </p:txBody>
      </p:sp>
      <p:sp>
        <p:nvSpPr>
          <p:cNvPr id="11" name="Shape 11"/>
          <p:cNvSpPr txBox="1"/>
          <p:nvPr/>
        </p:nvSpPr>
        <p:spPr>
          <a:xfrm>
            <a:off x="895350" y="349910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12" name="Shape 12"/>
          <p:cNvSpPr txBox="1"/>
          <p:nvPr/>
        </p:nvSpPr>
        <p:spPr>
          <a:xfrm>
            <a:off x="2038350" y="349910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11</a:t>
            </a:r>
            <a:endParaRPr lang="en-US" sz="1800" dirty="0"/>
          </a:p>
        </p:txBody>
      </p:sp>
      <p:sp>
        <p:nvSpPr>
          <p:cNvPr id="13" name="Shape 13"/>
          <p:cNvSpPr txBox="1"/>
          <p:nvPr/>
        </p:nvSpPr>
        <p:spPr>
          <a:xfrm>
            <a:off x="895350" y="401497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20" name="Shape 20"/>
          <p:cNvSpPr txBox="1"/>
          <p:nvPr/>
        </p:nvSpPr>
        <p:spPr>
          <a:xfrm>
            <a:off x="6286348" y="1618488"/>
            <a:ext cx="5219548" cy="27035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Through (−3, 8)</a:t>
            </a:r>
            <a:endParaRPr lang="en-US" sz="1950" dirty="0"/>
          </a:p>
        </p:txBody>
      </p:sp>
      <p:sp>
        <p:nvSpPr>
          <p:cNvPr id="16" name="Shape 16"/>
          <p:cNvSpPr txBox="1"/>
          <p:nvPr/>
        </p:nvSpPr>
        <p:spPr>
          <a:xfrm>
            <a:off x="6495898" y="223723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____</a:t>
            </a:r>
            <a:endParaRPr lang="en-US" sz="1575" dirty="0"/>
          </a:p>
        </p:txBody>
      </p:sp>
      <p:sp>
        <p:nvSpPr>
          <p:cNvPr id="17" name="Shape 17"/>
          <p:cNvSpPr txBox="1"/>
          <p:nvPr/>
        </p:nvSpPr>
        <p:spPr>
          <a:xfrm>
            <a:off x="6495898" y="2627376"/>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8" name="Shape 18"/>
          <p:cNvSpPr txBox="1"/>
          <p:nvPr/>
        </p:nvSpPr>
        <p:spPr>
          <a:xfrm>
            <a:off x="6495898" y="3241548"/>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____</a:t>
            </a:r>
            <a:endParaRPr lang="en-US" sz="1575" dirty="0"/>
          </a:p>
        </p:txBody>
      </p:sp>
      <p:sp>
        <p:nvSpPr>
          <p:cNvPr id="19" name="Shape 19"/>
          <p:cNvSpPr txBox="1"/>
          <p:nvPr/>
        </p:nvSpPr>
        <p:spPr>
          <a:xfrm>
            <a:off x="6495898" y="363169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4, point (1, 6). Write point-slope form.</a:t>
            </a:r>
            <a:endParaRPr lang="en-US" sz="1950" dirty="0"/>
          </a:p>
        </p:txBody>
      </p:sp>
      <p:sp>
        <p:nvSpPr>
          <p:cNvPr id="5" name="Shape 5"/>
          <p:cNvSpPr txBox="1"/>
          <p:nvPr/>
        </p:nvSpPr>
        <p:spPr>
          <a:xfrm>
            <a:off x="895350" y="223723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Rewrite #1 as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895350" y="367969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 line through (4, 1) and (4, −7). Horizontal or vertical? Write its equation.</a:t>
            </a:r>
            <a:endParaRPr lang="en-US" sz="1950" dirty="0"/>
          </a:p>
        </p:txBody>
      </p:sp>
      <p:sp>
        <p:nvSpPr>
          <p:cNvPr id="11" name="Shape 11"/>
          <p:cNvSpPr txBox="1"/>
          <p:nvPr/>
        </p:nvSpPr>
        <p:spPr>
          <a:xfrm>
            <a:off x="895350" y="5122164"/>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vertical</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Tree>
  </p:cSld>
  <p:clrMapOvr>
    <a:masterClrMapping/>
  </p:clrMapOvr>
  <p:transition spd="med">
    <p:fade/>
  </p:transition>
</p:sld>
</file>

<file path=ppt/theme/theme1.xml><?xml version="1.0" encoding="utf-8"?>
<a:theme xmlns:a="http://schemas.openxmlformats.org/drawingml/2006/main" name="Point-Slope Form">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15</Slides>
  <Notes>15</Notes>
</Properties>
</file>

<file path=docProps/core.xml><?xml version="1.0" encoding="utf-8"?>
<cp:coreProperties xmlns:cp="http://schemas.openxmlformats.org/package/2006/metadata/core-properties" xmlns:dc="http://purl.org/dc/elements/1.1/">
  <dc:title>Point-Slope Form</dc:title>
  <dc:subject>Bluebonnet Algebra I</dc:subject>
</cp:coreProperties>
</file>