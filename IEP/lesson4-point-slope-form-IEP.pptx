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version of Lesson 4: a modified lesson that keeps the core skills and cuts the number of items. Each skill follows I do (teacher models), We do (together, with sentence frames), You do (student tries, then reveal). Click to reveal each answer. Apply each student's IEP accommodations too: extended time, read-aloud, breaks, calculator, small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word aloud. Students copy them onto their vocabulary card.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up, or give students a printed copy, while they work.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aloud: orange is the slope, blue is the point. The point goes in with a minus sign.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fill in the blanks on their paper first, then reveal.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there is no slope given, find it first with the slope formula.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line, two forms. Slope-intercept form shows where it crosses the y-axis: (0, −1).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trick from the lesson: HOY VUX. Horizontal, zerO slope, y = a number. Vertical, Undefined slope, x = a number.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time to try all items before revealing. Students may use the steps slide and their notes.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IEP/lesson4-bellwork-day1-IEP.html" TargetMode="External"/><Relationship Id="rId4" Type="http://schemas.openxmlformats.org/officeDocument/2006/relationships/hyperlink" Target="https://algebra1m2u1l4.vercel.app/IEP/lesson4-bellwork-day2-IEP.html" TargetMode="External"/><Relationship Id="rId5" Type="http://schemas.openxmlformats.org/officeDocument/2006/relationships/hyperlink" Target="https://algebra1m2u1l4.vercel.app/IEP/lesson4-homework-IEP.html" TargetMode="External"/><Relationship Id="rId6" Type="http://schemas.openxmlformats.org/officeDocument/2006/relationships/hyperlink" Target="https://algebra1m2u1l4.vercel.app/lesson4/lesson4-quiz.html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lgebra1m2u1l4.vercel.app/IEP/lesson4-bellwork-day1-IEP.html" TargetMode="External"/><Relationship Id="rId4" Type="http://schemas.openxmlformats.org/officeDocument/2006/relationships/hyperlink" Target="https://algebra1m2u1l4.vercel.app/IEP/lesson4-bellwork-day2-IEP.html" TargetMode="External"/><Relationship Id="rId5" Type="http://schemas.openxmlformats.org/officeDocument/2006/relationships/hyperlink" Target="https://algebra1m2u1l4.vercel.app/IEP/lesson4-homework-IEP.html" TargetMode="External"/><Relationship Id="rId6" Type="http://schemas.openxmlformats.org/officeDocument/2006/relationships/hyperlink" Target="https://algebra1m2u1l4.vercel.app/lesson4/lesson4-quiz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1 · Lesson 4 · IEP Version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6164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5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endParaRPr lang="en-US" sz="45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1185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8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y</a:t>
            </a:r>
            <a:r>
              <a:rPr lang="en-US" sz="2422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85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850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x</a:t>
            </a:r>
            <a:r>
              <a:rPr lang="en-US" sz="2422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48712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 can…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9506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write an equation when I know the slope and one point.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1856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change point-slope form into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242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write equations for horizontal and vertical lines.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822698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618591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Based on Bluebonnet Learning Secondary Mathematics, Algebra I (©2024–2025 Texas Education Agency, portions ©2021 Carnegie Learning, Inc.), licensed CC BY-NC 4.0. A private site for Algebra I teachers.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4 ·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Words we need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966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(</a:t>
            </a:r>
            <a:r>
              <a:rPr lang="en-US" sz="21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How steep the line is.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change in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change in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966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point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place on the line, written 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4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9667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An equation made from the slope and one point.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y</a:t>
            </a:r>
            <a:r>
              <a:rPr lang="en-US" sz="1976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325" dirty="0" b="1" i="1">
                <a:solidFill>
                  <a:srgbClr val="3050B8"/>
                </a:solidFill>
                <a:latin typeface="Cambria"/>
                <a:cs typeface="Cambria"/>
              </a:rPr>
              <a:t xml:space="preserve">x</a:t>
            </a:r>
            <a:r>
              <a:rPr lang="en-US" sz="1976" dirty="0" b="1" baseline="-25000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4 · Steps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to write point-slope form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Find the slope, </a:t>
            </a:r>
            <a:r>
              <a:rPr lang="en-US" sz="1950" dirty="0" b="1" i="1">
                <a:solidFill>
                  <a:srgbClr val="C9561F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Find a point, (</a:t>
            </a:r>
            <a:r>
              <a:rPr lang="en-US" sz="1950" dirty="0" b="1" i="1">
                <a:solidFill>
                  <a:srgbClr val="3050B8"/>
                </a:solidFill>
                <a:latin typeface="Segoe UI"/>
                <a:cs typeface="Segoe UI"/>
              </a:rPr>
              <a:t xml:space="preserve">x</a:t>
            </a:r>
            <a:r>
              <a:rPr lang="en-US" sz="1658" dirty="0" b="1" baseline="-25000">
                <a:solidFill>
                  <a:srgbClr val="3050B8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b="1" i="1">
                <a:solidFill>
                  <a:srgbClr val="3050B8"/>
                </a:solidFill>
                <a:latin typeface="Segoe UI"/>
                <a:cs typeface="Segoe UI"/>
              </a:rPr>
              <a:t xml:space="preserve">y</a:t>
            </a:r>
            <a:r>
              <a:rPr lang="en-US" sz="1658" dirty="0" b="1" baseline="-25000">
                <a:solidFill>
                  <a:srgbClr val="3050B8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Put them into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950" dirty="0" b="1" i="1">
                <a:solidFill>
                  <a:srgbClr val="3050B8"/>
                </a:solidFill>
                <a:latin typeface="Segoe UI"/>
                <a:cs typeface="Segoe UI"/>
              </a:rPr>
              <a:t xml:space="preserve">y</a:t>
            </a:r>
            <a:r>
              <a:rPr lang="en-US" sz="1658" dirty="0" b="1" baseline="-25000">
                <a:solidFill>
                  <a:srgbClr val="3050B8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 b="1" i="1">
                <a:solidFill>
                  <a:srgbClr val="C9561F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950" dirty="0" b="1" i="1">
                <a:solidFill>
                  <a:srgbClr val="3050B8"/>
                </a:solidFill>
                <a:latin typeface="Segoe UI"/>
                <a:cs typeface="Segoe UI"/>
              </a:rPr>
              <a:t xml:space="preserve">x</a:t>
            </a:r>
            <a:r>
              <a:rPr lang="en-US" sz="1658" dirty="0" b="1" baseline="-25000">
                <a:solidFill>
                  <a:srgbClr val="3050B8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Check the signs: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(−4) becomes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+ 4.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I do · Watch me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3, point (1, 4)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</a:t>
            </a:r>
            <a:r>
              <a:rPr lang="en-US" sz="1950" dirty="0" b="1" i="1">
                <a:solidFill>
                  <a:srgbClr val="C9561F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 b="1">
                <a:solidFill>
                  <a:srgbClr val="C9561F"/>
                </a:solidFill>
                <a:latin typeface="Segoe UI"/>
                <a:cs typeface="Segoe UI"/>
              </a:rPr>
              <a:t xml:space="preserve"> = 3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</a:t>
            </a:r>
            <a:r>
              <a:rPr lang="en-US" sz="1950" dirty="0" b="1" i="1">
                <a:solidFill>
                  <a:srgbClr val="3050B8"/>
                </a:solidFill>
                <a:latin typeface="Segoe UI"/>
                <a:cs typeface="Segoe UI"/>
              </a:rPr>
              <a:t xml:space="preserve">x</a:t>
            </a:r>
            <a:r>
              <a:rPr lang="en-US" sz="1658" dirty="0" b="1" baseline="-25000">
                <a:solidFill>
                  <a:srgbClr val="3050B8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 b="1">
                <a:solidFill>
                  <a:srgbClr val="3050B8"/>
                </a:solidFill>
                <a:latin typeface="Segoe UI"/>
                <a:cs typeface="Segoe UI"/>
              </a:rPr>
              <a:t xml:space="preserve"> = 1, </a:t>
            </a:r>
            <a:r>
              <a:rPr lang="en-US" sz="1950" dirty="0" b="1" i="1">
                <a:solidFill>
                  <a:srgbClr val="3050B8"/>
                </a:solidFill>
                <a:latin typeface="Segoe UI"/>
                <a:cs typeface="Segoe UI"/>
              </a:rPr>
              <a:t xml:space="preserve">y</a:t>
            </a:r>
            <a:r>
              <a:rPr lang="en-US" sz="1658" dirty="0" b="1" baseline="-25000">
                <a:solidFill>
                  <a:srgbClr val="3050B8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 b="1">
                <a:solidFill>
                  <a:srgbClr val="3050B8"/>
                </a:solidFill>
                <a:latin typeface="Segoe UI"/>
                <a:cs typeface="Segoe UI"/>
              </a:rPr>
              <a:t xml:space="preserve"> = 4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89276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put them in.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074670"/>
            <a:ext cx="5219548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850" dirty="0" b="1">
                <a:solidFill>
                  <a:srgbClr val="3050B8"/>
                </a:solidFill>
                <a:latin typeface="Cambria"/>
                <a:cs typeface="Cambria"/>
              </a:rPr>
              <a:t xml:space="preserve">4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850" dirty="0" b="1">
                <a:solidFill>
                  <a:srgbClr val="C9561F"/>
                </a:solidFill>
                <a:latin typeface="Cambria"/>
                <a:cs typeface="Cambria"/>
              </a:rPr>
              <a:t xml:space="preserve">3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2850" dirty="0" b="1">
                <a:solidFill>
                  <a:srgbClr val="3050B8"/>
                </a:solidFill>
                <a:latin typeface="Cambria"/>
                <a:cs typeface="Cambria"/>
              </a:rPr>
              <a:t xml:space="preserve">1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2850" dirty="0"/>
          </a:p>
        </p:txBody>
      </p:sp>
      <p:sp>
        <p:nvSpPr>
          <p:cNvPr id="8" name="Shape 8"/>
          <p:cNvSpPr/>
          <p:nvPr/>
        </p:nvSpPr>
        <p:spPr>
          <a:xfrm>
            <a:off x="6286348" y="1618488"/>
            <a:ext cx="32385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66101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70769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5436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801037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47709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943823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9410548" y="1732788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6610198" y="47998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6610198" y="45807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6610198" y="43616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610198" y="41426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6610198" y="39235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37044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34853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32663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0472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28281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26090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39001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17093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195186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610198" y="173278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7543648" y="1732788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3923538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3" name="Shape 33"/>
          <p:cNvSpPr txBox="1"/>
          <p:nvPr/>
        </p:nvSpPr>
        <p:spPr>
          <a:xfrm>
            <a:off x="63358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802603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2693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736053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820277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669503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9136228" y="4818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6043270" y="47083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6043270" y="42702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6043270" y="3832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33939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29557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2517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20794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cxnSp>
        <p:nvCxnSpPr>
          <p:cNvPr id="48" name="Line 48"/>
          <p:cNvCxnSpPr/>
          <p:nvPr/>
        </p:nvCxnSpPr>
        <p:spPr>
          <a:xfrm flipV="1">
            <a:off x="6765773" y="1732788"/>
            <a:ext cx="2178050" cy="3067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49" name="Shape 49"/>
          <p:cNvSpPr/>
          <p:nvPr/>
        </p:nvSpPr>
        <p:spPr>
          <a:xfrm>
            <a:off x="7957985" y="299485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0" name="Shape 50"/>
          <p:cNvSpPr txBox="1"/>
          <p:nvPr/>
        </p:nvSpPr>
        <p:spPr>
          <a:xfrm>
            <a:off x="8096098" y="27995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(1, 4)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We do · Together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−8, point (3, 12)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8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8" dirty="0" baseline="-2500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5727070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−8,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76" dirty="0" baseline="-2500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3,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76" dirty="0" baseline="-2500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323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____ = ____(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____)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55848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− 12 = −8(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You do · Try it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each in point-slope form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19548" cy="16992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Slope 5, point (2, −1)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3723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Tip: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(−1)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27376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 = 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1618488"/>
            <a:ext cx="5219548" cy="16992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1789938"/>
            <a:ext cx="48004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Slope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point (−4, 5)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23723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Tip: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(−4)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+ 4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627376"/>
            <a:ext cx="48004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 =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We do · Two points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line through (2, 5) and (4, 11)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slope.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11 − 5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4 − 2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323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use the point (2, 5).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558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____ = ____(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____)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934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 = 3(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I do · Change the form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Rewrite as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− 5 = 3(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− 2)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91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distribute the 3.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02636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− 5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9300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add 5 to both sides.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16502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You do · Try it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Rewrite as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34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− 3 = 5(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+ 2)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7914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distribute.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 = ____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02636"/>
            <a:ext cx="440045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 =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9300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add 3.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16502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+ 13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4 · Horizontal and Vertical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Flat lines and straight-up lines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1954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stays the same. Slope =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004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endParaRPr lang="en-US" sz="2325" dirty="0"/>
          </a:p>
        </p:txBody>
      </p:sp>
      <p:sp>
        <p:nvSpPr>
          <p:cNvPr id="8" name="Shape 8"/>
          <p:cNvSpPr/>
          <p:nvPr/>
        </p:nvSpPr>
        <p:spPr>
          <a:xfrm>
            <a:off x="685800" y="3364230"/>
            <a:ext cx="28575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9" name="Line 9"/>
          <p:cNvCxnSpPr/>
          <p:nvPr/>
        </p:nvCxnSpPr>
        <p:spPr>
          <a:xfrm>
            <a:off x="1009650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1312069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1614488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1916906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219325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2521744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2824162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3126581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3429000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53073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50025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46977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43929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40881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37833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34785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2219325" y="3478530"/>
            <a:ext cx="0" cy="18288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5002530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7" name="Shape 27"/>
          <p:cNvSpPr txBox="1"/>
          <p:nvPr/>
        </p:nvSpPr>
        <p:spPr>
          <a:xfrm>
            <a:off x="735330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1037749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1340168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1642586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1945005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2247424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2549842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2852261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3154680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42722" y="52158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49110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46062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3014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9966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6918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33870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cxnSp>
        <p:nvCxnSpPr>
          <p:cNvPr id="43" name="Line 43"/>
          <p:cNvCxnSpPr/>
          <p:nvPr/>
        </p:nvCxnSpPr>
        <p:spPr>
          <a:xfrm>
            <a:off x="1009650" y="4088130"/>
            <a:ext cx="2419350" cy="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937260" y="41071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3</a:t>
            </a:r>
            <a:endParaRPr lang="en-US" sz="1275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1618488"/>
            <a:ext cx="521954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5" name="Shape 45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</a:t>
            </a:r>
            <a:endParaRPr lang="en-US" sz="2100" dirty="0"/>
          </a:p>
        </p:txBody>
      </p:sp>
      <p:sp>
        <p:nvSpPr>
          <p:cNvPr id="46" name="Shape 46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stays the same. Slope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47" name="Shape 47"/>
          <p:cNvSpPr txBox="1"/>
          <p:nvPr/>
        </p:nvSpPr>
        <p:spPr>
          <a:xfrm>
            <a:off x="6495898" y="2650236"/>
            <a:ext cx="48004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endParaRPr lang="en-US" sz="2325" dirty="0"/>
          </a:p>
        </p:txBody>
      </p:sp>
      <p:sp>
        <p:nvSpPr>
          <p:cNvPr id="49" name="Shape 49"/>
          <p:cNvSpPr/>
          <p:nvPr/>
        </p:nvSpPr>
        <p:spPr>
          <a:xfrm>
            <a:off x="6286348" y="3364230"/>
            <a:ext cx="28575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0" name="Line 50"/>
          <p:cNvCxnSpPr/>
          <p:nvPr/>
        </p:nvCxnSpPr>
        <p:spPr>
          <a:xfrm>
            <a:off x="6610198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912616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215035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7517454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7819873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8122291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8424710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8727129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9029548" y="3478530"/>
            <a:ext cx="0" cy="18288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6610198" y="53073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6610198" y="50025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6610198" y="46977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6610198" y="43929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6610198" y="40881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6610198" y="37833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6610198" y="3478530"/>
            <a:ext cx="2419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7819873" y="3478530"/>
            <a:ext cx="0" cy="18288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6610198" y="4392930"/>
            <a:ext cx="2419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68" name="Shape 68"/>
          <p:cNvSpPr txBox="1"/>
          <p:nvPr/>
        </p:nvSpPr>
        <p:spPr>
          <a:xfrm>
            <a:off x="6335878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69" name="Shape 69"/>
          <p:cNvSpPr txBox="1"/>
          <p:nvPr/>
        </p:nvSpPr>
        <p:spPr>
          <a:xfrm>
            <a:off x="6638296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0" name="Shape 70"/>
          <p:cNvSpPr txBox="1"/>
          <p:nvPr/>
        </p:nvSpPr>
        <p:spPr>
          <a:xfrm>
            <a:off x="6940715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71" name="Shape 71"/>
          <p:cNvSpPr txBox="1"/>
          <p:nvPr/>
        </p:nvSpPr>
        <p:spPr>
          <a:xfrm>
            <a:off x="7243134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72" name="Shape 72"/>
          <p:cNvSpPr txBox="1"/>
          <p:nvPr/>
        </p:nvSpPr>
        <p:spPr>
          <a:xfrm>
            <a:off x="7545553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3" name="Shape 73"/>
          <p:cNvSpPr txBox="1"/>
          <p:nvPr/>
        </p:nvSpPr>
        <p:spPr>
          <a:xfrm>
            <a:off x="7847971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150390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8452809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8755228" y="53263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6043270" y="52158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6043270" y="49110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6043270" y="46062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6043270" y="43014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6043270" y="39966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6043270" y="36918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83" name="Shape 83"/>
          <p:cNvSpPr txBox="1"/>
          <p:nvPr/>
        </p:nvSpPr>
        <p:spPr>
          <a:xfrm>
            <a:off x="6043270" y="33870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cxnSp>
        <p:nvCxnSpPr>
          <p:cNvPr id="84" name="Line 84"/>
          <p:cNvCxnSpPr/>
          <p:nvPr/>
        </p:nvCxnSpPr>
        <p:spPr>
          <a:xfrm flipV="1">
            <a:off x="7215035" y="3478530"/>
            <a:ext cx="0" cy="182880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85" name="Shape 85"/>
          <p:cNvSpPr txBox="1"/>
          <p:nvPr/>
        </p:nvSpPr>
        <p:spPr>
          <a:xfrm>
            <a:off x="7291235" y="34975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x = −2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You do · Try it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and vertical lines</a:t>
            </a:r>
            <a:endParaRPr lang="en-US" sz="34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1618488"/>
            <a:ext cx="5219548" cy="3086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004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The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are all 11.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37232"/>
            <a:ext cx="114300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2038350" y="2237232"/>
            <a:ext cx="114300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265785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−7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038350" y="265785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07848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−2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2038350" y="307848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3499104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038350" y="3499104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895350" y="401497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11</a:t>
            </a:r>
            <a:endParaRPr lang="en-US" sz="2325" dirty="0"/>
          </a:p>
        </p:txBody>
      </p:sp>
      <p:sp>
        <p:nvSpPr>
          <p:cNvPr id="20" name="Shape 20"/>
          <p:cNvSpPr txBox="1"/>
          <p:nvPr/>
        </p:nvSpPr>
        <p:spPr>
          <a:xfrm>
            <a:off x="6286348" y="1618488"/>
            <a:ext cx="5219548" cy="2703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6495898" y="1789938"/>
            <a:ext cx="48004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Through (−3, 8)</a:t>
            </a: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95898" y="223723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Horizontal: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95898" y="2627376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6495898" y="3241548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Vertical: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____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6495898" y="363169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10820095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104009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Slope 4, point (1, 6). Write point-slope form.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3723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 = 4(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− 1)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060954"/>
            <a:ext cx="10820095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232404"/>
            <a:ext cx="104009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Rewrite #1 as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679698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4503420"/>
            <a:ext cx="10820095" cy="13091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4674870"/>
            <a:ext cx="104009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A line through (4, 1) and (4, −7). Horizontal or vertical? Write its equation.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5122164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 · vertical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76272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the quiz are the same pages as the general lesson. Assign fewer items, allow notes and a calculator, and give extended time as the IEP lists.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Point-Slope Form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13</Slides>
  <Notes>13</Notes>
</Properties>
</file>

<file path=docProps/core.xml><?xml version="1.0" encoding="utf-8"?>
<cp:coreProperties xmlns:cp="http://schemas.openxmlformats.org/package/2006/metadata/core-properties" xmlns:dc="http://purl.org/dc/elements/1.1/">
  <dc:title>Point-Slope Form</dc:title>
  <dc:subject>Bluebonnet Algebra I</dc:subject>
</cp:coreProperties>
</file>