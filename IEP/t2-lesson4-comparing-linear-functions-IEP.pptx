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4: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1 bell work. Reveal the answers one at a time. Answer key: 1. Slope = (4 − (−6)) ÷ (0 − (−2.5)) = 10 ÷ 2.5 = 4. 2. Parallel lines have equal slopes. 3. The negative reciprocal of 4 is −¼. 4. Equal numbers of each grade: y = x, slope 1.</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 same 4 questions are on the online Day 2 bell work. Reveal the answers one at a time. Answer key: 1. 15 · 3 = 45. 2. Slope = 20 ÷ 1 = 20 dollars per ton. 3. 9/5 · 10 + 32 = 18 + 32 = 50, so 10°C is 50°F. 4. 80 ÷ 4 = 20 dollars per month.</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slope from two rows of the table.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Units: dollars per month.</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algebra1m2u1l4.vercel.app/IEP/t2-lesson4-bellwork-day1-IEP.html" TargetMode="External"/><Relationship Id="rId4" Type="http://schemas.openxmlformats.org/officeDocument/2006/relationships/hyperlink" Target="https://algebra1m2u1l4.vercel.app/IEP/t2-lesson4-bellwork-day2-IEP.html" TargetMode="External"/><Relationship Id="rId5" Type="http://schemas.openxmlformats.org/officeDocument/2006/relationships/hyperlink" Target="https://algebra1m2u1l4.vercel.app/IEP/t2-lesson4-homework-IEP.html" TargetMode="External"/><Relationship Id="rId6" Type="http://schemas.openxmlformats.org/officeDocument/2006/relationships/hyperlink" Target="https://algebra1m2u1l4.vercel.app/IEP/t2-lesson4-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4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Comparing Linear Functions</a:t>
            </a:r>
            <a:endParaRPr lang="en-US" sz="4500" dirty="0"/>
          </a:p>
        </p:txBody>
      </p:sp>
      <p:sp>
        <p:nvSpPr>
          <p:cNvPr id="4" name="Shape 4"/>
          <p:cNvSpPr txBox="1"/>
          <p:nvPr/>
        </p:nvSpPr>
        <p:spPr>
          <a:xfrm>
            <a:off x="685800" y="191185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table · graph · equation · words</a:t>
            </a:r>
            <a:endParaRPr lang="en-US" sz="2850" dirty="0"/>
          </a:p>
        </p:txBody>
      </p:sp>
      <p:sp>
        <p:nvSpPr>
          <p:cNvPr id="5" name="Shape 5"/>
          <p:cNvSpPr txBox="1"/>
          <p:nvPr/>
        </p:nvSpPr>
        <p:spPr>
          <a:xfrm>
            <a:off x="685800" y="26487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6" name="Shape 6"/>
          <p:cNvSpPr txBox="1"/>
          <p:nvPr/>
        </p:nvSpPr>
        <p:spPr>
          <a:xfrm>
            <a:off x="685800" y="319506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in a table, graph, equation or story.</a:t>
            </a:r>
            <a:endParaRPr lang="en-US" sz="1950" dirty="0"/>
          </a:p>
        </p:txBody>
      </p:sp>
      <p:sp>
        <p:nvSpPr>
          <p:cNvPr id="7" name="Shape 7"/>
          <p:cNvSpPr txBox="1"/>
          <p:nvPr/>
        </p:nvSpPr>
        <p:spPr>
          <a:xfrm>
            <a:off x="685800" y="371856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two lines are parallel, perpendicular or neither.</a:t>
            </a:r>
            <a:endParaRPr lang="en-US" sz="1950" dirty="0"/>
          </a:p>
        </p:txBody>
      </p:sp>
      <p:sp>
        <p:nvSpPr>
          <p:cNvPr id="8" name="Shape 8"/>
          <p:cNvSpPr txBox="1"/>
          <p:nvPr/>
        </p:nvSpPr>
        <p:spPr>
          <a:xfrm>
            <a:off x="685800" y="42420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explain what the slope and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a:t>
            </a:r>
            <a:endParaRPr lang="en-US" sz="1950" dirty="0"/>
          </a:p>
        </p:txBody>
      </p:sp>
      <p:sp>
        <p:nvSpPr>
          <p:cNvPr id="9" name="Shape 9"/>
          <p:cNvSpPr txBox="1"/>
          <p:nvPr/>
        </p:nvSpPr>
        <p:spPr>
          <a:xfrm>
            <a:off x="685800" y="482269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0" name="Shape 10"/>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is the slope of the line through </a:t>
            </a:r>
            <a:r>
              <a:rPr lang="en-US" sz="1950" dirty="0">
                <a:solidFill>
                  <a:srgbClr val="16171D"/>
                </a:solidFill>
                <a:latin typeface="Cambria"/>
                <a:cs typeface="Cambria"/>
              </a:rPr>
              <a:t xml:space="preserve">(−2.5, −6)</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(0, 4)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321)</a:t>
            </a:r>
            <a:endParaRPr lang="en-US" sz="1950" dirty="0"/>
          </a:p>
        </p:txBody>
      </p:sp>
      <p:sp>
        <p:nvSpPr>
          <p:cNvPr id="5" name="Shape 5"/>
          <p:cNvSpPr txBox="1"/>
          <p:nvPr/>
        </p:nvSpPr>
        <p:spPr>
          <a:xfrm>
            <a:off x="685800" y="245821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What slope does a line parallel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7" name="Shape 7"/>
          <p:cNvSpPr txBox="1"/>
          <p:nvPr/>
        </p:nvSpPr>
        <p:spPr>
          <a:xfrm>
            <a:off x="685800" y="402640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What slope does a line perpendicular 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have? </a:t>
            </a:r>
            <a:r>
              <a:rPr lang="en-US" sz="1575" dirty="0">
                <a:solidFill>
                  <a:srgbClr val="5F6272"/>
                </a:solidFill>
                <a:latin typeface="Segoe UI"/>
                <a:cs typeface="Segoe UI"/>
              </a:rPr>
              <a:t xml:space="preserve">(SE p. 321)</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−¼</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The ratio of 9th-graders to 10th-graders is </a:t>
            </a:r>
            <a:r>
              <a:rPr lang="en-US" sz="1950" dirty="0">
                <a:solidFill>
                  <a:srgbClr val="16171D"/>
                </a:solidFill>
                <a:latin typeface="Cambria"/>
                <a:cs typeface="Cambria"/>
              </a:rPr>
              <a:t xml:space="preserve">1 : 1</a:t>
            </a:r>
            <a:r>
              <a:rPr lang="en-US" sz="1950" dirty="0">
                <a:solidFill>
                  <a:srgbClr val="16171D"/>
                </a:solidFill>
                <a:latin typeface="Segoe UI"/>
                <a:cs typeface="Segoe UI"/>
              </a:rPr>
              <a:t xml:space="preserve">. What is the slope of this relationship? </a:t>
            </a:r>
            <a:r>
              <a:rPr lang="en-US" sz="1575" dirty="0">
                <a:solidFill>
                  <a:srgbClr val="5F6272"/>
                </a:solidFill>
                <a:latin typeface="Segoe UI"/>
                <a:cs typeface="Segoe UI"/>
              </a:rPr>
              <a:t xml:space="preserve">(SE p. 320)</a:t>
            </a:r>
            <a:endParaRPr lang="en-US" sz="1950" dirty="0"/>
          </a:p>
        </p:txBody>
      </p:sp>
      <p:sp>
        <p:nvSpPr>
          <p:cNvPr id="11" name="Shape 11"/>
          <p:cNvSpPr txBox="1"/>
          <p:nvPr/>
        </p:nvSpPr>
        <p:spPr>
          <a:xfrm>
            <a:off x="6362548" y="4323588"/>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Travis County pays $15 per ton of cardboard. How much is paid for 3 tons? </a:t>
            </a:r>
            <a:r>
              <a:rPr lang="en-US" sz="1575" dirty="0">
                <a:solidFill>
                  <a:srgbClr val="5F6272"/>
                </a:solidFill>
                <a:latin typeface="Segoe UI"/>
                <a:cs typeface="Segoe UI"/>
              </a:rPr>
              <a:t xml:space="preserve">(SE p. 322)</a:t>
            </a:r>
            <a:endParaRPr lang="en-US" sz="1950" dirty="0"/>
          </a:p>
        </p:txBody>
      </p:sp>
      <p:sp>
        <p:nvSpPr>
          <p:cNvPr id="5" name="Shape 5"/>
          <p:cNvSpPr txBox="1"/>
          <p:nvPr/>
        </p:nvSpPr>
        <p:spPr>
          <a:xfrm>
            <a:off x="685800" y="275539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$45</a:t>
            </a:r>
            <a:endParaRPr lang="en-US" sz="2325" dirty="0"/>
          </a:p>
        </p:txBody>
      </p:sp>
      <p:sp>
        <p:nvSpPr>
          <p:cNvPr id="6" name="Shape 6"/>
          <p:cNvSpPr txBox="1"/>
          <p:nvPr/>
        </p:nvSpPr>
        <p:spPr>
          <a:xfrm>
            <a:off x="685800" y="354101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Hays County's graph passes through </a:t>
            </a:r>
            <a:r>
              <a:rPr lang="en-US" sz="1950" dirty="0">
                <a:solidFill>
                  <a:srgbClr val="16171D"/>
                </a:solidFill>
                <a:latin typeface="Cambria"/>
                <a:cs typeface="Cambria"/>
              </a:rPr>
              <a:t xml:space="preserve">(0, 0)</a:t>
            </a:r>
            <a:r>
              <a:rPr lang="en-US" sz="1950" dirty="0">
                <a:solidFill>
                  <a:srgbClr val="16171D"/>
                </a:solidFill>
                <a:latin typeface="Segoe UI"/>
                <a:cs typeface="Segoe UI"/>
              </a:rPr>
              <a:t xml:space="preserve"> and </a:t>
            </a:r>
            <a:r>
              <a:rPr lang="en-US" sz="1950" dirty="0">
                <a:solidFill>
                  <a:srgbClr val="16171D"/>
                </a:solidFill>
                <a:latin typeface="Cambria"/>
                <a:cs typeface="Cambria"/>
              </a:rPr>
              <a:t xml:space="preserve">(1, 20)</a:t>
            </a:r>
            <a:r>
              <a:rPr lang="en-US" sz="1950" dirty="0">
                <a:solidFill>
                  <a:srgbClr val="16171D"/>
                </a:solidFill>
                <a:latin typeface="Segoe UI"/>
                <a:cs typeface="Segoe UI"/>
              </a:rPr>
              <a:t xml:space="preserve">. What is the payout per ton? </a:t>
            </a:r>
            <a:r>
              <a:rPr lang="en-US" sz="1575" dirty="0">
                <a:solidFill>
                  <a:srgbClr val="5F6272"/>
                </a:solidFill>
                <a:latin typeface="Segoe UI"/>
                <a:cs typeface="Segoe UI"/>
              </a:rPr>
              <a:t xml:space="preserve">(SE p. 322)</a:t>
            </a:r>
            <a:endParaRPr lang="en-US" sz="1950" dirty="0"/>
          </a:p>
        </p:txBody>
      </p:sp>
      <p:sp>
        <p:nvSpPr>
          <p:cNvPr id="7" name="Shape 7"/>
          <p:cNvSpPr txBox="1"/>
          <p:nvPr/>
        </p:nvSpPr>
        <p:spPr>
          <a:xfrm>
            <a:off x="685800" y="462076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9/5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+ 32</a:t>
            </a:r>
            <a:r>
              <a:rPr lang="en-US" sz="1950" dirty="0">
                <a:solidFill>
                  <a:srgbClr val="16171D"/>
                </a:solidFill>
                <a:latin typeface="Segoe UI"/>
                <a:cs typeface="Segoe UI"/>
              </a:rPr>
              <a:t xml:space="preserve"> converts °C to °F. What is </a:t>
            </a:r>
            <a:r>
              <a:rPr lang="en-US" sz="1950" dirty="0" i="1">
                <a:solidFill>
                  <a:srgbClr val="16171D"/>
                </a:solidFill>
                <a:latin typeface="Cambria"/>
                <a:cs typeface="Cambria"/>
              </a:rPr>
              <a:t xml:space="preserve">J</a:t>
            </a:r>
            <a:r>
              <a:rPr lang="en-US" sz="1950" dirty="0">
                <a:solidFill>
                  <a:srgbClr val="16171D"/>
                </a:solidFill>
                <a:latin typeface="Cambria"/>
                <a:cs typeface="Cambria"/>
              </a:rPr>
              <a:t xml:space="preserve">(10)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323)</a:t>
            </a:r>
            <a:endParaRPr lang="en-US" sz="1950" dirty="0"/>
          </a:p>
        </p:txBody>
      </p:sp>
      <p:sp>
        <p:nvSpPr>
          <p:cNvPr id="9" name="Shape 9"/>
          <p:cNvSpPr txBox="1"/>
          <p:nvPr/>
        </p:nvSpPr>
        <p:spPr>
          <a:xfrm>
            <a:off x="6362548" y="245821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a:t>
            </a:r>
            <a:endParaRPr lang="en-US" sz="2325" dirty="0"/>
          </a:p>
        </p:txBody>
      </p:sp>
      <p:sp>
        <p:nvSpPr>
          <p:cNvPr id="10" name="Shape 10"/>
          <p:cNvSpPr txBox="1"/>
          <p:nvPr/>
        </p:nvSpPr>
        <p:spPr>
          <a:xfrm>
            <a:off x="6362548" y="3243834"/>
            <a:ext cx="5143348" cy="94640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Miguel started with $0 and had $80 after 4 months. How much did he save each month? </a:t>
            </a:r>
            <a:r>
              <a:rPr lang="en-US" sz="1575" dirty="0">
                <a:solidFill>
                  <a:srgbClr val="5F6272"/>
                </a:solidFill>
                <a:latin typeface="Segoe UI"/>
                <a:cs typeface="Segoe UI"/>
              </a:rPr>
              <a:t xml:space="preserve">(SE p. 324)</a:t>
            </a:r>
            <a:endParaRPr lang="en-US" sz="1950" dirty="0"/>
          </a:p>
        </p:txBody>
      </p:sp>
      <p:sp>
        <p:nvSpPr>
          <p:cNvPr id="11" name="Shape 11"/>
          <p:cNvSpPr txBox="1"/>
          <p:nvPr/>
        </p:nvSpPr>
        <p:spPr>
          <a:xfrm>
            <a:off x="6362548" y="432358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how much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changes for each 1 of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$15 per ton</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starting amount, when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$25 to start</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Units</a:t>
            </a:r>
            <a:endParaRPr lang="en-US" sz="2100" dirty="0"/>
          </a:p>
        </p:txBody>
      </p:sp>
      <p:sp>
        <p:nvSpPr>
          <p:cNvPr id="13" name="Shape 13"/>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What the numbers count.</a:t>
            </a:r>
            <a:endParaRPr lang="en-US" sz="1575" dirty="0"/>
          </a:p>
        </p:txBody>
      </p:sp>
      <p:sp>
        <p:nvSpPr>
          <p:cNvPr id="14" name="Shape 14"/>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dollars, months</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4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find the slope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Equation</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slope is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Table or graph:</a:t>
            </a:r>
            <a:r>
              <a:rPr lang="en-US" sz="1950" dirty="0">
                <a:solidFill>
                  <a:srgbClr val="16171D"/>
                </a:solidFill>
                <a:latin typeface="Segoe UI"/>
                <a:cs typeface="Segoe UI"/>
              </a:rPr>
              <a:t xml:space="preserve"> pick two points.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t>
            </a:r>
            <a:r>
              <a:rPr lang="en-US" sz="1950" dirty="0" b="1">
                <a:solidFill>
                  <a:srgbClr val="16171D"/>
                </a:solidFill>
                <a:latin typeface="Segoe UI"/>
                <a:cs typeface="Segoe UI"/>
              </a:rPr>
              <a:t xml:space="preserve">Story:</a:t>
            </a:r>
            <a:r>
              <a:rPr lang="en-US" sz="1950" dirty="0">
                <a:solidFill>
                  <a:srgbClr val="16171D"/>
                </a:solidFill>
                <a:latin typeface="Segoe UI"/>
                <a:cs typeface="Segoe UI"/>
              </a:rPr>
              <a:t xml:space="preserve"> look for "each" or "per".</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Compare: same slope → parallel. Product −1 → perpendicular.</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4" name="Shape 4"/>
          <p:cNvSpPr txBox="1"/>
          <p:nvPr/>
        </p:nvSpPr>
        <p:spPr>
          <a:xfrm>
            <a:off x="685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x</a:t>
            </a:r>
            <a:endParaRPr lang="en-US" sz="1800" dirty="0"/>
          </a:p>
        </p:txBody>
      </p:sp>
      <p:sp>
        <p:nvSpPr>
          <p:cNvPr id="5" name="Shape 5"/>
          <p:cNvSpPr txBox="1"/>
          <p:nvPr/>
        </p:nvSpPr>
        <p:spPr>
          <a:xfrm>
            <a:off x="1828800" y="1618488"/>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y</a:t>
            </a:r>
            <a:endParaRPr lang="en-US" sz="1800" dirty="0"/>
          </a:p>
        </p:txBody>
      </p:sp>
      <p:sp>
        <p:nvSpPr>
          <p:cNvPr id="6" name="Shape 6"/>
          <p:cNvSpPr txBox="1"/>
          <p:nvPr/>
        </p:nvSpPr>
        <p:spPr>
          <a:xfrm>
            <a:off x="685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a:t>
            </a:r>
            <a:endParaRPr lang="en-US" sz="1800" dirty="0"/>
          </a:p>
        </p:txBody>
      </p:sp>
      <p:sp>
        <p:nvSpPr>
          <p:cNvPr id="7" name="Shape 7"/>
          <p:cNvSpPr txBox="1"/>
          <p:nvPr/>
        </p:nvSpPr>
        <p:spPr>
          <a:xfrm>
            <a:off x="1828800" y="2039112"/>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4</a:t>
            </a:r>
            <a:endParaRPr lang="en-US" sz="1800" dirty="0"/>
          </a:p>
        </p:txBody>
      </p:sp>
      <p:sp>
        <p:nvSpPr>
          <p:cNvPr id="8" name="Shape 8"/>
          <p:cNvSpPr txBox="1"/>
          <p:nvPr/>
        </p:nvSpPr>
        <p:spPr>
          <a:xfrm>
            <a:off x="685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0.5</a:t>
            </a:r>
            <a:endParaRPr lang="en-US" sz="1800" dirty="0"/>
          </a:p>
        </p:txBody>
      </p:sp>
      <p:sp>
        <p:nvSpPr>
          <p:cNvPr id="9" name="Shape 9"/>
          <p:cNvSpPr txBox="1"/>
          <p:nvPr/>
        </p:nvSpPr>
        <p:spPr>
          <a:xfrm>
            <a:off x="1828800" y="245973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6</a:t>
            </a:r>
            <a:endParaRPr lang="en-US" sz="1800" dirty="0"/>
          </a:p>
        </p:txBody>
      </p:sp>
      <p:sp>
        <p:nvSpPr>
          <p:cNvPr id="10" name="Shape 10"/>
          <p:cNvSpPr txBox="1"/>
          <p:nvPr/>
        </p:nvSpPr>
        <p:spPr>
          <a:xfrm>
            <a:off x="685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a:t>
            </a:r>
            <a:endParaRPr lang="en-US" sz="1800" dirty="0"/>
          </a:p>
        </p:txBody>
      </p:sp>
      <p:sp>
        <p:nvSpPr>
          <p:cNvPr id="11" name="Shape 11"/>
          <p:cNvSpPr txBox="1"/>
          <p:nvPr/>
        </p:nvSpPr>
        <p:spPr>
          <a:xfrm>
            <a:off x="1828800" y="288036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16</a:t>
            </a:r>
            <a:endParaRPr lang="en-US" sz="1800" dirty="0"/>
          </a:p>
        </p:txBody>
      </p:sp>
      <p:sp>
        <p:nvSpPr>
          <p:cNvPr id="12" name="Shape 12"/>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From (0, 4) to (0.5, 6): </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0.5</a:t>
            </a:r>
            <a:r>
              <a:rPr lang="en-US" sz="1950" dirty="0">
                <a:solidFill>
                  <a:srgbClr val="16171D"/>
                </a:solidFill>
                <a:latin typeface="Segoe UI"/>
                <a:cs typeface="Segoe UI"/>
              </a:rPr>
              <a:t xml:space="preserve"> = 4.</a:t>
            </a:r>
            <a:endParaRPr lang="en-US" sz="1950" dirty="0"/>
          </a:p>
        </p:txBody>
      </p:sp>
      <p:sp>
        <p:nvSpPr>
          <p:cNvPr id="13" name="Shape 13"/>
          <p:cNvSpPr txBox="1"/>
          <p:nvPr/>
        </p:nvSpPr>
        <p:spPr>
          <a:xfrm>
            <a:off x="6286348" y="210388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14" name="Shape 14"/>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Same slope as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 different start.</a:t>
            </a:r>
            <a:endParaRPr lang="en-US" sz="1950"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4</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− 3</a:t>
            </a:r>
            <a:endParaRPr lang="en-US" sz="3450" dirty="0"/>
          </a:p>
        </p:txBody>
      </p:sp>
      <p:sp>
        <p:nvSpPr>
          <p:cNvPr id="6" name="Shape 6"/>
          <p:cNvSpPr txBox="1"/>
          <p:nvPr/>
        </p:nvSpPr>
        <p:spPr>
          <a:xfrm>
            <a:off x="685800" y="1618488"/>
            <a:ext cx="5219548" cy="16062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Chiletso makes 4 dozen cookies per hour.</a:t>
            </a:r>
            <a:endParaRPr lang="en-US" sz="1950" dirty="0"/>
          </a:p>
        </p:txBody>
      </p:sp>
      <p:sp>
        <p:nvSpPr>
          <p:cNvPr id="5" name="Shape 5"/>
          <p:cNvSpPr txBox="1"/>
          <p:nvPr/>
        </p:nvSpPr>
        <p:spPr>
          <a:xfrm>
            <a:off x="895350" y="25344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slope 4: parallel</a:t>
            </a:r>
            <a:endParaRPr lang="en-US" sz="2325" dirty="0"/>
          </a:p>
        </p:txBody>
      </p:sp>
      <p:sp>
        <p:nvSpPr>
          <p:cNvPr id="9" name="Shape 9"/>
          <p:cNvSpPr txBox="1"/>
          <p:nvPr/>
        </p:nvSpPr>
        <p:spPr>
          <a:xfrm>
            <a:off x="6286348"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perpendicular</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Table and graph</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recycling center pays more?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Travis County</a:t>
            </a:r>
            <a:endParaRPr lang="en-US" sz="1950" dirty="0"/>
          </a:p>
        </p:txBody>
      </p:sp>
      <p:sp>
        <p:nvSpPr>
          <p:cNvPr id="5" name="Shape 5"/>
          <p:cNvSpPr txBox="1"/>
          <p:nvPr/>
        </p:nvSpPr>
        <p:spPr>
          <a:xfrm>
            <a:off x="685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tons</a:t>
            </a:r>
            <a:endParaRPr lang="en-US" sz="1800" dirty="0"/>
          </a:p>
        </p:txBody>
      </p:sp>
      <p:sp>
        <p:nvSpPr>
          <p:cNvPr id="6" name="Shape 6"/>
          <p:cNvSpPr txBox="1"/>
          <p:nvPr/>
        </p:nvSpPr>
        <p:spPr>
          <a:xfrm>
            <a:off x="1828800" y="2103882"/>
            <a:ext cx="1143000" cy="42062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a:t>
            </a:r>
            <a:endParaRPr lang="en-US" sz="1800" dirty="0"/>
          </a:p>
        </p:txBody>
      </p:sp>
      <p:sp>
        <p:nvSpPr>
          <p:cNvPr id="7" name="Shape 7"/>
          <p:cNvSpPr txBox="1"/>
          <p:nvPr/>
        </p:nvSpPr>
        <p:spPr>
          <a:xfrm>
            <a:off x="685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a:t>
            </a:r>
            <a:endParaRPr lang="en-US" sz="1800" dirty="0"/>
          </a:p>
        </p:txBody>
      </p:sp>
      <p:sp>
        <p:nvSpPr>
          <p:cNvPr id="8" name="Shape 8"/>
          <p:cNvSpPr txBox="1"/>
          <p:nvPr/>
        </p:nvSpPr>
        <p:spPr>
          <a:xfrm>
            <a:off x="1828800" y="2524506"/>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15</a:t>
            </a:r>
            <a:endParaRPr lang="en-US" sz="1800" dirty="0"/>
          </a:p>
        </p:txBody>
      </p:sp>
      <p:sp>
        <p:nvSpPr>
          <p:cNvPr id="9" name="Shape 9"/>
          <p:cNvSpPr txBox="1"/>
          <p:nvPr/>
        </p:nvSpPr>
        <p:spPr>
          <a:xfrm>
            <a:off x="685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2</a:t>
            </a:r>
            <a:endParaRPr lang="en-US" sz="1800" dirty="0"/>
          </a:p>
        </p:txBody>
      </p:sp>
      <p:sp>
        <p:nvSpPr>
          <p:cNvPr id="10" name="Shape 10"/>
          <p:cNvSpPr txBox="1"/>
          <p:nvPr/>
        </p:nvSpPr>
        <p:spPr>
          <a:xfrm>
            <a:off x="1828800" y="2945130"/>
            <a:ext cx="1143000" cy="42062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800" dirty="0">
                <a:solidFill>
                  <a:srgbClr val="16171D"/>
                </a:solidFill>
                <a:latin typeface="Cambria"/>
                <a:cs typeface="Cambria"/>
              </a:rPr>
              <a:t xml:space="preserve">30</a:t>
            </a:r>
            <a:endParaRPr lang="en-US" sz="1800" dirty="0"/>
          </a:p>
        </p:txBody>
      </p:sp>
      <p:sp>
        <p:nvSpPr>
          <p:cNvPr id="11" name="Shape 11"/>
          <p:cNvSpPr txBox="1"/>
          <p:nvPr/>
        </p:nvSpPr>
        <p:spPr>
          <a:xfrm>
            <a:off x="685800" y="349910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2" name="Shape 12"/>
          <p:cNvSpPr txBox="1"/>
          <p:nvPr/>
        </p:nvSpPr>
        <p:spPr>
          <a:xfrm>
            <a:off x="685800" y="3984498"/>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a:t>
            </a:r>
            <a:endParaRPr lang="en-US" sz="2325" dirty="0"/>
          </a:p>
        </p:txBody>
      </p:sp>
      <p:sp>
        <p:nvSpPr>
          <p:cNvPr id="13" name="Shape 13"/>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Hays County graph: through (1, 20)</a:t>
            </a:r>
            <a:endParaRPr lang="en-US" sz="1950" dirty="0"/>
          </a:p>
        </p:txBody>
      </p:sp>
      <p:sp>
        <p:nvSpPr>
          <p:cNvPr id="14" name="Shape 14"/>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Rate: ____ per ton</a:t>
            </a:r>
            <a:endParaRPr lang="en-US" sz="1950" dirty="0"/>
          </a:p>
        </p:txBody>
      </p:sp>
      <p:sp>
        <p:nvSpPr>
          <p:cNvPr id="15" name="Shape 15"/>
          <p:cNvSpPr txBox="1"/>
          <p:nvPr/>
        </p:nvSpPr>
        <p:spPr>
          <a:xfrm>
            <a:off x="6286348" y="258927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endParaRPr lang="en-US" sz="2325" dirty="0"/>
          </a:p>
        </p:txBody>
      </p:sp>
      <p:sp>
        <p:nvSpPr>
          <p:cNvPr id="16" name="Shape 16"/>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Which pays more?</a:t>
            </a:r>
            <a:endParaRPr lang="en-US" sz="1950" dirty="0"/>
          </a:p>
        </p:txBody>
      </p:sp>
      <p:sp>
        <p:nvSpPr>
          <p:cNvPr id="17" name="Shape 17"/>
          <p:cNvSpPr txBox="1"/>
          <p:nvPr/>
        </p:nvSpPr>
        <p:spPr>
          <a:xfrm>
            <a:off x="6286348" y="372694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Hays County</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ppt_w</p:attrName>
                                        </p:attrNameLst>
                                      </p:cBhvr>
                                      <p:tavLst>
                                        <p:tav tm="0">
                                          <p:val>
                                            <p:fltVal val="0"/>
                                          </p:val>
                                        </p:tav>
                                        <p:tav tm="100000">
                                          <p:val>
                                            <p:strVal val="#ppt_w"/>
                                          </p:val>
                                        </p:tav>
                                      </p:tavLst>
                                    </p:anim>
                                    <p:anim calcmode="lin" valueType="num">
                                      <p:cBhvr>
                                        <p:cTn id="6"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animEffect transition="in" filter="fade">
                                      <p:cBhvr>
                                        <p:cTn id="11" dur="500"/>
                                        <p:tgtEl>
                                          <p:spTgt spid="15"/>
                                        </p:tgtEl>
                                      </p:cBhvr>
                                    </p:animEffect>
                                    <p:anim calcmode="lin" valueType="num">
                                      <p:cBhvr>
                                        <p:cTn id="12" dur="500" fill="hold"/>
                                        <p:tgtEl>
                                          <p:spTgt spid="15"/>
                                        </p:tgtEl>
                                        <p:attrNameLst>
                                          <p:attrName>ppt_w</p:attrName>
                                        </p:attrNameLst>
                                      </p:cBhvr>
                                      <p:tavLst>
                                        <p:tav tm="0">
                                          <p:val>
                                            <p:fltVal val="0"/>
                                          </p:val>
                                        </p:tav>
                                        <p:tav tm="100000">
                                          <p:val>
                                            <p:strVal val="#ppt_w"/>
                                          </p:val>
                                        </p:tav>
                                      </p:tavLst>
                                    </p:anim>
                                    <p:anim calcmode="lin" valueType="num">
                                      <p:cBhvr>
                                        <p:cTn id="13"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7"/>
                                        </p:tgtEl>
                                        <p:attrNameLst>
                                          <p:attrName>style.visibility</p:attrName>
                                        </p:attrNameLst>
                                      </p:cBhvr>
                                      <p:to>
                                        <p:strVal val="visible"/>
                                      </p:to>
                                    </p:set>
                                    <p:animEffect transition="in" filter="fade">
                                      <p:cBhvr>
                                        <p:cTn id="18" dur="500"/>
                                        <p:tgtEl>
                                          <p:spTgt spid="17"/>
                                        </p:tgtEl>
                                      </p:cBhvr>
                                    </p:animEffect>
                                    <p:anim calcmode="lin" valueType="num">
                                      <p:cBhvr>
                                        <p:cTn id="19" dur="500" fill="hold"/>
                                        <p:tgtEl>
                                          <p:spTgt spid="17"/>
                                        </p:tgtEl>
                                        <p:attrNameLst>
                                          <p:attrName>ppt_w</p:attrName>
                                        </p:attrNameLst>
                                      </p:cBhvr>
                                      <p:tavLst>
                                        <p:tav tm="0">
                                          <p:val>
                                            <p:fltVal val="0"/>
                                          </p:val>
                                        </p:tav>
                                        <p:tav tm="100000">
                                          <p:val>
                                            <p:strVal val="#ppt_w"/>
                                          </p:val>
                                        </p:tav>
                                      </p:tavLst>
                                    </p:anim>
                                    <p:anim calcmode="lin" valueType="num">
                                      <p:cBhvr>
                                        <p:cTn id="20"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Lauren starts with $25 and saves $25 each month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25</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25</a:t>
            </a:r>
            <a:r>
              <a:rPr lang="en-US" sz="1950" dirty="0">
                <a:solidFill>
                  <a:srgbClr val="16171D"/>
                </a:solidFill>
                <a:latin typeface="Segoe UI"/>
                <a:cs typeface="Segoe UI"/>
              </a:rPr>
              <a:t xml:space="preserve"> (slope): she saves $25 each month.</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3050B8"/>
                </a:solidFill>
                <a:latin typeface="Segoe UI"/>
                <a:cs typeface="Segoe UI"/>
              </a:rPr>
              <a:t xml:space="preserve">25</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she started with $25.</a:t>
            </a:r>
            <a:endParaRPr lang="en-US" sz="1950" dirty="0"/>
          </a:p>
        </p:txBody>
      </p:sp>
      <p:sp>
        <p:nvSpPr>
          <p:cNvPr id="7" name="Shape 7"/>
          <p:cNvSpPr txBox="1"/>
          <p:nvPr/>
        </p:nvSpPr>
        <p:spPr>
          <a:xfrm>
            <a:off x="685800" y="332613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Miguel saves $20 a month from $0. Who saves faster?</a:t>
            </a:r>
            <a:endParaRPr lang="en-US" sz="1950" dirty="0"/>
          </a:p>
        </p:txBody>
      </p:sp>
      <p:sp>
        <p:nvSpPr>
          <p:cNvPr id="8" name="Shape 8"/>
          <p:cNvSpPr txBox="1"/>
          <p:nvPr/>
        </p:nvSpPr>
        <p:spPr>
          <a:xfrm>
            <a:off x="685800" y="3849624"/>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Lauren ($25 &gt; $20)</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ppt_w</p:attrName>
                                        </p:attrNameLst>
                                      </p:cBhvr>
                                      <p:tavLst>
                                        <p:tav tm="0">
                                          <p:val>
                                            <p:fltVal val="0"/>
                                          </p:val>
                                        </p:tav>
                                        <p:tav tm="100000">
                                          <p:val>
                                            <p:strVal val="#ppt_w"/>
                                          </p:val>
                                        </p:tav>
                                      </p:tavLst>
                                    </p:anim>
                                    <p:anim calcmode="lin" valueType="num">
                                      <p:cBhvr>
                                        <p:cTn id="6"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taxi charges $3 plus $2 per mile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(with units): ____</a:t>
            </a:r>
            <a:endParaRPr lang="en-US" sz="1950" dirty="0"/>
          </a:p>
        </p:txBody>
      </p:sp>
      <p:sp>
        <p:nvSpPr>
          <p:cNvPr id="5" name="Shape 5"/>
          <p:cNvSpPr txBox="1"/>
          <p:nvPr/>
        </p:nvSpPr>
        <p:spPr>
          <a:xfrm>
            <a:off x="685800" y="214198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per mile</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meaning: ____</a:t>
            </a:r>
            <a:endParaRPr lang="en-US" sz="1950" dirty="0"/>
          </a:p>
        </p:txBody>
      </p:sp>
      <p:sp>
        <p:nvSpPr>
          <p:cNvPr id="7" name="Shape 7"/>
          <p:cNvSpPr txBox="1"/>
          <p:nvPr/>
        </p:nvSpPr>
        <p:spPr>
          <a:xfrm>
            <a:off x="685800" y="335584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before driving</a:t>
            </a:r>
            <a:endParaRPr lang="en-US" sz="23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 table has (0, 1) and (2, 9). What is its slope?</a:t>
            </a:r>
            <a:endParaRPr lang="en-US" sz="1950" dirty="0"/>
          </a:p>
        </p:txBody>
      </p:sp>
      <p:sp>
        <p:nvSpPr>
          <p:cNvPr id="5" name="Shape 5"/>
          <p:cNvSpPr txBox="1"/>
          <p:nvPr/>
        </p:nvSpPr>
        <p:spPr>
          <a:xfrm>
            <a:off x="895350" y="2237232"/>
            <a:ext cx="207888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Is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+ 7 parallel or perpendicular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895350" y="367969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parallel</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Savings: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10</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+ 50. What does 50 mean?</a:t>
            </a:r>
            <a:endParaRPr lang="en-US" sz="1950" dirty="0"/>
          </a:p>
        </p:txBody>
      </p:sp>
      <p:sp>
        <p:nvSpPr>
          <p:cNvPr id="11" name="Shape 11"/>
          <p:cNvSpPr txBox="1"/>
          <p:nvPr/>
        </p:nvSpPr>
        <p:spPr>
          <a:xfrm>
            <a:off x="895350" y="5122164"/>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$50 to start</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sld>
</file>

<file path=ppt/theme/theme1.xml><?xml version="1.0" encoding="utf-8"?>
<a:theme xmlns:a="http://schemas.openxmlformats.org/drawingml/2006/main" name="Comparing Linear Functions in Different Form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12</Slides>
  <Notes>12</Notes>
</Properties>
</file>

<file path=docProps/core.xml><?xml version="1.0" encoding="utf-8"?>
<cp:coreProperties xmlns:cp="http://schemas.openxmlformats.org/package/2006/metadata/core-properties" xmlns:dc="http://purl.org/dc/elements/1.1/">
  <dc:title>Comparing Linear Functions in Different Forms</dc:title>
  <dc:subject>Bluebonnet Algebra I</dc:subject>
</cp:coreProperties>
</file>