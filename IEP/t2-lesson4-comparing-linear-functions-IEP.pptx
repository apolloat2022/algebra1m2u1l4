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Notes</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4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IEP version of Topic 2 Lesson 4: a modified lesson that keeps the core skills and cuts the number of items. Each skill follows I do (teacher models), We do (together, with sentence frames), You do (student tries, then reveal). Click to reveal each answer. The bell work for every day follows this slide (the same questions as the online bell work); skip to the current day. Apply each student's IEP accommodations too: extended time, read-aloud, breaks, calculator, small group.</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this up as students walk in (about 5 minutes). The same 4 questions are on the online IEP Day 1 bell work, which shows the same formula under each question and these steps after each answer. Click to reveal one answer at a time; read each step aloud and point to where the formula is used.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this up as students walk in (about 5 minutes). The same 4 questions are on the online IEP Day 2 bell work, which shows the same formula under each question and these steps after each answer. Click to reveal one answer at a time; read each step aloud and point to where the formula is used.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or give students a printed copy, while they work.</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the slope from two rows of the table.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teacher or assistant: click once for each step. Read the step aloud, and before each click ask the student what to do next. Students check their own paper and fix any mistake in a different color.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Units: dollars per month.</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teacher or assistant: click once for each step. Read the step aloud, and before each click ask the student what to do next. Students check their own paper and fix any mistake in a different color.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try all items before revealing. Students may use the steps slide and their notes. After each answer, click once per step and read it aloud so students can find where their work went wrong.</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gGrid">
          <a:fgClr>
            <a:srgbClr val="E6E8F2"/>
          </a:fgClr>
          <a:bgClr>
            <a:srgbClr val="F7F7FB"/>
          </a:bgClr>
        </a:pattFill>
        <a:effectLst/>
      </p:bgPr>
    </p:bg>
    <p:spTree>
      <p:nvGrpSpPr>
        <p:cNvPr id="1" name=""/>
        <p:cNvGrpSpPr/>
        <p:nvPr/>
      </p:nvGrpSpPr>
      <p:grpSpPr>
        <a:xfrm>
          <a:off x="0" y="0"/>
          <a:ext cx="0" cy="0"/>
          <a:chOff x="0" y="0"/>
          <a:chExt cx="0" cy="0"/>
        </a:xfrm>
      </p:grpSpPr>
      <p:sp>
        <p:nvSpPr>
          <p:cNvPr id="101" name="Brand 101"/>
          <p:cNvSpPr/>
          <p:nvPr userDrawn="1"/>
        </p:nvSpPr>
        <p:spPr>
          <a:xfrm>
            <a:off x="9631375" y="128016"/>
            <a:ext cx="274320" cy="274320"/>
          </a:xfrm>
          <a:prstGeom prst="roundRect">
            <a:avLst>
              <a:gd name="adj" fmla="val 25000"/>
            </a:avLst>
          </a:prstGeom>
          <a:solidFill>
            <a:srgbClr val="3050B8"/>
          </a:solidFill>
          <a:ln>
            <a:noFill/>
          </a:ln>
        </p:spPr>
      </p:sp>
      <p:sp>
        <p:nvSpPr>
          <p:cNvPr id="102" name="Brand 102"/>
          <p:cNvSpPr/>
          <p:nvPr userDrawn="1"/>
        </p:nvSpPr>
        <p:spPr>
          <a:xfrm>
            <a:off x="9748818" y="172593"/>
            <a:ext cx="39434" cy="39434"/>
          </a:xfrm>
          <a:prstGeom prst="ellipse">
            <a:avLst/>
          </a:prstGeom>
          <a:solidFill>
            <a:srgbClr val="FFFFFF"/>
          </a:solidFill>
          <a:ln>
            <a:noFill/>
          </a:ln>
        </p:spPr>
      </p:sp>
      <p:sp>
        <p:nvSpPr>
          <p:cNvPr id="103" name="Brand 103"/>
          <p:cNvSpPr/>
          <p:nvPr userDrawn="1"/>
        </p:nvSpPr>
        <p:spPr>
          <a:xfrm>
            <a:off x="9719672" y="207740"/>
            <a:ext cx="42862" cy="42862"/>
          </a:xfrm>
          <a:prstGeom prst="ellipse">
            <a:avLst/>
          </a:prstGeom>
          <a:solidFill>
            <a:srgbClr val="FFFFFF">
              <a:alpha val="92000"/>
            </a:srgbClr>
          </a:solidFill>
          <a:ln>
            <a:noFill/>
          </a:ln>
        </p:spPr>
      </p:sp>
      <p:sp>
        <p:nvSpPr>
          <p:cNvPr id="104" name="Brand 104"/>
          <p:cNvSpPr/>
          <p:nvPr userDrawn="1"/>
        </p:nvSpPr>
        <p:spPr>
          <a:xfrm>
            <a:off x="9774536" y="207740"/>
            <a:ext cx="42862" cy="42862"/>
          </a:xfrm>
          <a:prstGeom prst="ellipse">
            <a:avLst/>
          </a:prstGeom>
          <a:solidFill>
            <a:srgbClr val="FFFFFF">
              <a:alpha val="92000"/>
            </a:srgbClr>
          </a:solidFill>
          <a:ln>
            <a:noFill/>
          </a:ln>
        </p:spPr>
      </p:sp>
      <p:sp>
        <p:nvSpPr>
          <p:cNvPr id="105" name="Brand 105"/>
          <p:cNvSpPr/>
          <p:nvPr userDrawn="1"/>
        </p:nvSpPr>
        <p:spPr>
          <a:xfrm>
            <a:off x="9746247" y="230886"/>
            <a:ext cx="44577" cy="44577"/>
          </a:xfrm>
          <a:prstGeom prst="ellipse">
            <a:avLst/>
          </a:prstGeom>
          <a:solidFill>
            <a:srgbClr val="FFFFFF"/>
          </a:solidFill>
          <a:ln>
            <a:noFill/>
          </a:ln>
        </p:spPr>
      </p:sp>
      <p:sp>
        <p:nvSpPr>
          <p:cNvPr id="106" name="Brand 106"/>
          <p:cNvSpPr/>
          <p:nvPr userDrawn="1"/>
        </p:nvSpPr>
        <p:spPr>
          <a:xfrm>
            <a:off x="9709385" y="255746"/>
            <a:ext cx="46292" cy="46292"/>
          </a:xfrm>
          <a:prstGeom prst="ellipse">
            <a:avLst/>
          </a:prstGeom>
          <a:solidFill>
            <a:srgbClr val="FFFFFF">
              <a:alpha val="82000"/>
            </a:srgbClr>
          </a:solidFill>
          <a:ln>
            <a:noFill/>
          </a:ln>
        </p:spPr>
      </p:sp>
      <p:sp>
        <p:nvSpPr>
          <p:cNvPr id="107" name="Brand 107"/>
          <p:cNvSpPr/>
          <p:nvPr userDrawn="1"/>
        </p:nvSpPr>
        <p:spPr>
          <a:xfrm>
            <a:off x="9781394" y="255746"/>
            <a:ext cx="46292" cy="46292"/>
          </a:xfrm>
          <a:prstGeom prst="ellipse">
            <a:avLst/>
          </a:prstGeom>
          <a:solidFill>
            <a:srgbClr val="FFFFFF">
              <a:alpha val="82000"/>
            </a:srgbClr>
          </a:solidFill>
          <a:ln>
            <a:noFill/>
          </a:ln>
        </p:spPr>
      </p:sp>
      <p:sp>
        <p:nvSpPr>
          <p:cNvPr id="108" name="Brand 108"/>
          <p:cNvSpPr/>
          <p:nvPr userDrawn="1"/>
        </p:nvSpPr>
        <p:spPr>
          <a:xfrm>
            <a:off x="9761677" y="303752"/>
            <a:ext cx="13716" cy="55721"/>
          </a:xfrm>
          <a:prstGeom prst="roundRect">
            <a:avLst>
              <a:gd name="adj" fmla="val 50000"/>
            </a:avLst>
          </a:prstGeom>
          <a:solidFill>
            <a:srgbClr val="9FD18B"/>
          </a:solidFill>
          <a:ln>
            <a:noFill/>
          </a:ln>
        </p:spPr>
      </p:sp>
      <p:sp>
        <p:nvSpPr>
          <p:cNvPr id="109" name="Shape 109"/>
          <p:cNvSpPr txBox="1"/>
          <p:nvPr/>
        </p:nvSpPr>
        <p:spPr>
          <a:xfrm>
            <a:off x="9960559" y="109728"/>
            <a:ext cx="1737360" cy="310896"/>
          </a:xfrm>
          <a:prstGeom prst="rect">
            <a:avLst/>
          </a:prstGeom>
          <a:noFill/>
          <a:ln>
            <a:noFill/>
          </a:ln>
        </p:spPr>
        <p:txBody>
          <a:bodyPr wrap="square" lIns="18288" tIns="0" rIns="18288" bIns="0" anchor="ctr">
            <a:noAutofit/>
          </a:bodyPr>
          <a:lstStyle/>
          <a:p>
            <a:pPr algn="l">
              <a:lnSpc>
                <a:spcPct val="100000"/>
              </a:lnSpc>
            </a:pPr>
            <a:r>
              <a:rPr lang="en-US" sz="1125" dirty="0">
                <a:solidFill>
                  <a:srgbClr val="16171D"/>
                </a:solidFill>
                <a:latin typeface="Segoe UI"/>
                <a:cs typeface="Segoe UI"/>
              </a:rPr>
              <a:t xml:space="preserve">Bluebonnet </a:t>
            </a:r>
            <a:r>
              <a:rPr lang="en-US" sz="1125" dirty="0" b="1">
                <a:solidFill>
                  <a:srgbClr val="3050B8"/>
                </a:solidFill>
                <a:latin typeface="Segoe UI"/>
                <a:cs typeface="Segoe UI"/>
              </a:rPr>
              <a:t xml:space="preserve">Algebra I</a:t>
            </a:r>
            <a:endParaRPr lang="en-US" sz="1125" dirty="0"/>
          </a:p>
        </p:txBody>
      </p:sp>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algebra1m2u1l4.vercel.app/IEP/t2-lesson4-bellwork-day1-IEP.html" TargetMode="External"/><Relationship Id="rId4" Type="http://schemas.openxmlformats.org/officeDocument/2006/relationships/hyperlink" Target="https://algebra1m2u1l4.vercel.app/IEP/t2-lesson4-bellwork-day2-IEP.html" TargetMode="External"/><Relationship Id="rId5" Type="http://schemas.openxmlformats.org/officeDocument/2006/relationships/hyperlink" Target="https://algebra1m2u1l4.vercel.app/IEP/t2-lesson4-homework-IEP.html" TargetMode="External"/><Relationship Id="rId6" Type="http://schemas.openxmlformats.org/officeDocument/2006/relationships/hyperlink" Target="https://algebra1m2u1l4.vercel.app/IEP/t2-lesson4-quiz-IEP.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algebra1m2u1l4.vercel.app/IEP/t2-lesson4-bellwork-day1-IEP.html" TargetMode="External"/><Relationship Id="rId4" Type="http://schemas.openxmlformats.org/officeDocument/2006/relationships/hyperlink" Target="https://algebra1m2u1l4.vercel.app/IEP/t2-lesson4-bellwork-day2-IEP.html" TargetMode="External"/><Relationship Id="rId5" Type="http://schemas.openxmlformats.org/officeDocument/2006/relationships/hyperlink" Target="https://algebra1m2u1l4.vercel.app/IEP/t2-lesson4-homework-IEP.html" TargetMode="External"/><Relationship Id="rId6" Type="http://schemas.openxmlformats.org/officeDocument/2006/relationships/hyperlink" Target="https://algebra1m2u1l4.vercel.app/IEP/t2-lesson4-quiz-IEP.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Bluebonnet Algebra I · Module 2 · Topic 2 · Lesson 4 · IEP Version</a:t>
            </a:r>
            <a:endParaRPr lang="en-US" sz="1200" dirty="0"/>
          </a:p>
        </p:txBody>
      </p:sp>
      <p:sp>
        <p:nvSpPr>
          <p:cNvPr id="3" name="Shape 3"/>
          <p:cNvSpPr txBox="1"/>
          <p:nvPr/>
        </p:nvSpPr>
        <p:spPr>
          <a:xfrm>
            <a:off x="685800" y="961644"/>
            <a:ext cx="10820095" cy="740664"/>
          </a:xfrm>
          <a:prstGeom prst="rect">
            <a:avLst/>
          </a:prstGeom>
          <a:noFill/>
          <a:ln>
            <a:noFill/>
          </a:ln>
        </p:spPr>
        <p:txBody>
          <a:bodyPr wrap="square" lIns="36576" tIns="27432" rIns="36576" bIns="27432" anchor="t">
            <a:noAutofit/>
          </a:bodyPr>
          <a:lstStyle/>
          <a:p>
            <a:pPr algn="l">
              <a:lnSpc>
                <a:spcPct val="100000"/>
              </a:lnSpc>
            </a:pPr>
            <a:r>
              <a:rPr lang="en-US" sz="4500" dirty="0" b="1">
                <a:solidFill>
                  <a:srgbClr val="16171D"/>
                </a:solidFill>
                <a:latin typeface="Segoe UI"/>
                <a:cs typeface="Segoe UI"/>
              </a:rPr>
              <a:t xml:space="preserve">Comparing Linear Functions</a:t>
            </a:r>
            <a:endParaRPr lang="en-US" sz="4500" dirty="0"/>
          </a:p>
        </p:txBody>
      </p:sp>
      <p:sp>
        <p:nvSpPr>
          <p:cNvPr id="4" name="Shape 4"/>
          <p:cNvSpPr txBox="1"/>
          <p:nvPr/>
        </p:nvSpPr>
        <p:spPr>
          <a:xfrm>
            <a:off x="685800" y="1911858"/>
            <a:ext cx="10820095" cy="489204"/>
          </a:xfrm>
          <a:prstGeom prst="rect">
            <a:avLst/>
          </a:prstGeom>
          <a:noFill/>
          <a:ln>
            <a:noFill/>
          </a:ln>
        </p:spPr>
        <p:txBody>
          <a:bodyPr wrap="square" lIns="36576" tIns="27432" rIns="36576" bIns="27432" anchor="t">
            <a:noAutofit/>
          </a:bodyPr>
          <a:lstStyle/>
          <a:p>
            <a:pPr algn="l">
              <a:lnSpc>
                <a:spcPct val="100000"/>
              </a:lnSpc>
            </a:pPr>
            <a:r>
              <a:rPr lang="en-US" sz="2850" dirty="0">
                <a:solidFill>
                  <a:srgbClr val="16171D"/>
                </a:solidFill>
                <a:latin typeface="Cambria"/>
                <a:cs typeface="Cambria"/>
              </a:rPr>
              <a:t xml:space="preserve">table · graph · equation · words</a:t>
            </a:r>
            <a:endParaRPr lang="en-US" sz="2850" dirty="0"/>
          </a:p>
        </p:txBody>
      </p:sp>
      <p:sp>
        <p:nvSpPr>
          <p:cNvPr id="5" name="Shape 5"/>
          <p:cNvSpPr txBox="1"/>
          <p:nvPr/>
        </p:nvSpPr>
        <p:spPr>
          <a:xfrm>
            <a:off x="685800" y="2648712"/>
            <a:ext cx="10820095"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I can…</a:t>
            </a:r>
            <a:endParaRPr lang="en-US" sz="2100" dirty="0"/>
          </a:p>
        </p:txBody>
      </p:sp>
      <p:sp>
        <p:nvSpPr>
          <p:cNvPr id="6" name="Shape 6"/>
          <p:cNvSpPr txBox="1"/>
          <p:nvPr/>
        </p:nvSpPr>
        <p:spPr>
          <a:xfrm>
            <a:off x="685800" y="319506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find the slope in a table, graph, equation or story.</a:t>
            </a:r>
            <a:endParaRPr lang="en-US" sz="1950" dirty="0"/>
          </a:p>
        </p:txBody>
      </p:sp>
      <p:sp>
        <p:nvSpPr>
          <p:cNvPr id="7" name="Shape 7"/>
          <p:cNvSpPr txBox="1"/>
          <p:nvPr/>
        </p:nvSpPr>
        <p:spPr>
          <a:xfrm>
            <a:off x="685800" y="371856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tell whether two lines are parallel, perpendicular or neither.</a:t>
            </a:r>
            <a:endParaRPr lang="en-US" sz="1950" dirty="0"/>
          </a:p>
        </p:txBody>
      </p:sp>
      <p:sp>
        <p:nvSpPr>
          <p:cNvPr id="8" name="Shape 8"/>
          <p:cNvSpPr txBox="1"/>
          <p:nvPr/>
        </p:nvSpPr>
        <p:spPr>
          <a:xfrm>
            <a:off x="685800" y="424205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explain what the slope and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mean.</a:t>
            </a:r>
            <a:endParaRPr lang="en-US" sz="1950" dirty="0"/>
          </a:p>
        </p:txBody>
      </p:sp>
      <p:sp>
        <p:nvSpPr>
          <p:cNvPr id="9" name="Shape 9"/>
          <p:cNvSpPr txBox="1"/>
          <p:nvPr/>
        </p:nvSpPr>
        <p:spPr>
          <a:xfrm>
            <a:off x="685800" y="4822698"/>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Bell work: </a:t>
            </a:r>
            <a:r>
              <a:rPr lang="en-US" sz="1800" dirty="0" b="1">
                <a:solidFill>
                  <a:srgbClr val="3050B8"/>
                </a:solidFill>
                <a:latin typeface="Segoe UI"/>
                <a:cs typeface="Segoe UI"/>
                <a:hlinkClick r:id="rId3"/>
              </a:rPr>
              <a:t xml:space="preserve">Day 1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4"/>
              </a:rPr>
              <a:t xml:space="preserve">Day 2 →</a:t>
            </a:r>
            <a:r>
              <a:rPr lang="en-US" sz="1800" dirty="0">
                <a:solidFill>
                  <a:srgbClr val="16171D"/>
                </a:solidFill>
                <a:latin typeface="Segoe UI"/>
                <a:cs typeface="Segoe UI"/>
              </a:rPr>
              <a:t xml:space="preserve"> | Practice: </a:t>
            </a:r>
            <a:r>
              <a:rPr lang="en-US" sz="1800" dirty="0" b="1">
                <a:solidFill>
                  <a:srgbClr val="3050B8"/>
                </a:solidFill>
                <a:latin typeface="Segoe UI"/>
                <a:cs typeface="Segoe UI"/>
                <a:hlinkClick r:id="rId5"/>
              </a:rPr>
              <a:t xml:space="preserve">Homework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6"/>
              </a:rPr>
              <a:t xml:space="preserve">Quiz →</a:t>
            </a:r>
            <a:endParaRPr lang="en-US" sz="1800" dirty="0"/>
          </a:p>
        </p:txBody>
      </p:sp>
      <p:sp>
        <p:nvSpPr>
          <p:cNvPr id="10" name="Shape 10"/>
          <p:cNvSpPr txBox="1"/>
          <p:nvPr/>
        </p:nvSpPr>
        <p:spPr>
          <a:xfrm>
            <a:off x="685800" y="6185916"/>
            <a:ext cx="10820095" cy="397764"/>
          </a:xfrm>
          <a:prstGeom prst="rect">
            <a:avLst/>
          </a:prstGeom>
          <a:noFill/>
          <a:ln>
            <a:noFill/>
          </a:ln>
        </p:spPr>
        <p:txBody>
          <a:bodyPr wrap="square" lIns="36576" tIns="27432" rIns="36576" bIns="27432" anchor="t">
            <a:noAutofit/>
          </a:bodyPr>
          <a:lstStyle/>
          <a:p>
            <a:pPr algn="l">
              <a:lnSpc>
                <a:spcPct val="100000"/>
              </a:lnSpc>
            </a:pPr>
            <a:r>
              <a:rPr lang="en-US" sz="1125" dirty="0">
                <a:solidFill>
                  <a:srgbClr val="5F6272"/>
                </a:solidFill>
                <a:latin typeface="Segoe UI"/>
                <a:cs typeface="Segoe UI"/>
              </a:rPr>
              <a:t xml:space="preserve">Based on Bluebonnet Learning Secondary Mathematics, Algebra I (©2024–2025 Texas Education Agency, portions ©2021 Carnegie Learning, Inc.), licensed CC BY-NC 4.0. A private site for Algebra I teachers.</a:t>
            </a:r>
            <a:endParaRPr lang="en-US" sz="1125" dirty="0"/>
          </a:p>
        </p:txBody>
      </p:sp>
      <p:sp>
        <p:nvSpPr>
          <p:cNvPr id="11" name="Slide Number 11"/>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a:t>
            </a:fld>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Bell Work · Review</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7" name="Shape 7"/>
          <p:cNvSpPr txBox="1"/>
          <p:nvPr/>
        </p:nvSpPr>
        <p:spPr>
          <a:xfrm>
            <a:off x="685800" y="1618488"/>
            <a:ext cx="5295748" cy="228219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What is the slope of the line through </a:t>
            </a:r>
            <a:r>
              <a:rPr lang="en-US" sz="1575" dirty="0">
                <a:solidFill>
                  <a:srgbClr val="16171D"/>
                </a:solidFill>
                <a:latin typeface="Cambria"/>
                <a:cs typeface="Cambria"/>
              </a:rPr>
              <a:t xml:space="preserve">(−2.5, −6)</a:t>
            </a:r>
            <a:r>
              <a:rPr lang="en-US" sz="1575" dirty="0">
                <a:solidFill>
                  <a:srgbClr val="16171D"/>
                </a:solidFill>
                <a:latin typeface="Segoe UI"/>
                <a:cs typeface="Segoe UI"/>
              </a:rPr>
              <a:t xml:space="preserve"> and </a:t>
            </a:r>
            <a:r>
              <a:rPr lang="en-US" sz="1575" dirty="0">
                <a:solidFill>
                  <a:srgbClr val="16171D"/>
                </a:solidFill>
                <a:latin typeface="Cambria"/>
                <a:cs typeface="Cambria"/>
              </a:rPr>
              <a:t xml:space="preserve">(0, 4)</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895350" y="236296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m</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₂ −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₁) ÷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₂ −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₁)</a:t>
            </a:r>
            <a:endParaRPr lang="en-US" sz="1575" dirty="0"/>
          </a:p>
        </p:txBody>
      </p:sp>
      <p:sp>
        <p:nvSpPr>
          <p:cNvPr id="6" name="Shape 6"/>
          <p:cNvSpPr txBox="1"/>
          <p:nvPr/>
        </p:nvSpPr>
        <p:spPr>
          <a:xfrm>
            <a:off x="895350" y="2695956"/>
            <a:ext cx="487664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4</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Subtract the </a:t>
            </a:r>
            <a:r>
              <a:rPr lang="en-US" sz="1425" dirty="0" i="1">
                <a:solidFill>
                  <a:srgbClr val="16171D"/>
                </a:solidFill>
                <a:latin typeface="Cambria"/>
                <a:cs typeface="Cambria"/>
              </a:rPr>
              <a:t xml:space="preserve">y</a:t>
            </a:r>
            <a:r>
              <a:rPr lang="en-US" sz="1425" dirty="0">
                <a:solidFill>
                  <a:srgbClr val="16171D"/>
                </a:solidFill>
                <a:latin typeface="Segoe UI"/>
                <a:cs typeface="Segoe UI"/>
              </a:rPr>
              <a:t xml:space="preserve">-values: </a:t>
            </a:r>
            <a:r>
              <a:rPr lang="en-US" sz="1425" dirty="0">
                <a:solidFill>
                  <a:srgbClr val="16171D"/>
                </a:solidFill>
                <a:latin typeface="Cambria"/>
                <a:cs typeface="Cambria"/>
              </a:rPr>
              <a:t xml:space="preserve">4 − (−6) = 4 + 6 = 10</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Subtract the </a:t>
            </a:r>
            <a:r>
              <a:rPr lang="en-US" sz="1425" dirty="0" i="1">
                <a:solidFill>
                  <a:srgbClr val="16171D"/>
                </a:solidFill>
                <a:latin typeface="Cambria"/>
                <a:cs typeface="Cambria"/>
              </a:rPr>
              <a:t xml:space="preserve">x</a:t>
            </a:r>
            <a:r>
              <a:rPr lang="en-US" sz="1425" dirty="0">
                <a:solidFill>
                  <a:srgbClr val="16171D"/>
                </a:solidFill>
                <a:latin typeface="Segoe UI"/>
                <a:cs typeface="Segoe UI"/>
              </a:rPr>
              <a:t xml:space="preserve">-values: </a:t>
            </a:r>
            <a:r>
              <a:rPr lang="en-US" sz="1425" dirty="0">
                <a:solidFill>
                  <a:srgbClr val="16171D"/>
                </a:solidFill>
                <a:latin typeface="Cambria"/>
                <a:cs typeface="Cambria"/>
              </a:rPr>
              <a:t xml:space="preserve">0 − (−2.5) = 2.5</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3.</a:t>
            </a:r>
            <a:r>
              <a:rPr lang="en-US" sz="1425" dirty="0">
                <a:solidFill>
                  <a:srgbClr val="16171D"/>
                </a:solidFill>
                <a:latin typeface="Segoe UI"/>
                <a:cs typeface="Segoe UI"/>
              </a:rPr>
              <a:t xml:space="preserve"> Divide: </a:t>
            </a:r>
            <a:r>
              <a:rPr lang="en-US" sz="1425" dirty="0">
                <a:solidFill>
                  <a:srgbClr val="16171D"/>
                </a:solidFill>
                <a:latin typeface="Cambria"/>
                <a:cs typeface="Cambria"/>
              </a:rPr>
              <a:t xml:space="preserve">10 ÷ 2.5 = 4</a:t>
            </a:r>
            <a:r>
              <a:rPr lang="en-US" sz="1425" dirty="0">
                <a:solidFill>
                  <a:srgbClr val="16171D"/>
                </a:solidFill>
                <a:latin typeface="Segoe UI"/>
                <a:cs typeface="Segoe UI"/>
              </a:rPr>
              <a:t xml:space="preserve">.</a:t>
            </a:r>
            <a:endParaRPr lang="en-US" sz="1425" dirty="0"/>
          </a:p>
        </p:txBody>
      </p:sp>
      <p:sp>
        <p:nvSpPr>
          <p:cNvPr id="11" name="Shape 11"/>
          <p:cNvSpPr txBox="1"/>
          <p:nvPr/>
        </p:nvSpPr>
        <p:spPr>
          <a:xfrm>
            <a:off x="685800" y="4034028"/>
            <a:ext cx="5295748" cy="228219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895350" y="420547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What slope does a line parallel to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4</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− 3</a:t>
            </a:r>
            <a:r>
              <a:rPr lang="en-US" sz="1575" dirty="0">
                <a:solidFill>
                  <a:srgbClr val="16171D"/>
                </a:solidFill>
                <a:latin typeface="Segoe UI"/>
                <a:cs typeface="Segoe UI"/>
              </a:rPr>
              <a:t xml:space="preserve"> have?</a:t>
            </a:r>
            <a:endParaRPr lang="en-US" sz="1575" dirty="0"/>
          </a:p>
        </p:txBody>
      </p:sp>
      <p:sp>
        <p:nvSpPr>
          <p:cNvPr id="9" name="Shape 9"/>
          <p:cNvSpPr txBox="1"/>
          <p:nvPr/>
        </p:nvSpPr>
        <p:spPr>
          <a:xfrm>
            <a:off x="895350" y="477850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parallel lines have the same slope</a:t>
            </a:r>
            <a:endParaRPr lang="en-US" sz="1575" dirty="0"/>
          </a:p>
        </p:txBody>
      </p:sp>
      <p:sp>
        <p:nvSpPr>
          <p:cNvPr id="10" name="Shape 10"/>
          <p:cNvSpPr txBox="1"/>
          <p:nvPr/>
        </p:nvSpPr>
        <p:spPr>
          <a:xfrm>
            <a:off x="895350" y="5111496"/>
            <a:ext cx="487664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4</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The slope of </a:t>
            </a:r>
            <a:r>
              <a:rPr lang="en-US" sz="1425" dirty="0" i="1">
                <a:solidFill>
                  <a:srgbClr val="16171D"/>
                </a:solidFill>
                <a:latin typeface="Cambria"/>
                <a:cs typeface="Cambria"/>
              </a:rPr>
              <a:t xml:space="preserve">y</a:t>
            </a:r>
            <a:r>
              <a:rPr lang="en-US" sz="1425" dirty="0">
                <a:solidFill>
                  <a:srgbClr val="16171D"/>
                </a:solidFill>
                <a:latin typeface="Cambria"/>
                <a:cs typeface="Cambria"/>
              </a:rPr>
              <a:t xml:space="preserve"> = 4</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− 3</a:t>
            </a:r>
            <a:r>
              <a:rPr lang="en-US" sz="1425" dirty="0">
                <a:solidFill>
                  <a:srgbClr val="16171D"/>
                </a:solidFill>
                <a:latin typeface="Segoe UI"/>
                <a:cs typeface="Segoe UI"/>
              </a:rPr>
              <a:t xml:space="preserve"> is 4, the number with </a:t>
            </a:r>
            <a:r>
              <a:rPr lang="en-US" sz="1425" dirty="0" i="1">
                <a:solidFill>
                  <a:srgbClr val="16171D"/>
                </a:solidFill>
                <a:latin typeface="Cambria"/>
                <a:cs typeface="Cambria"/>
              </a:rPr>
              <a:t xml:space="preserve">x</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A parallel line has the same slope: 4.</a:t>
            </a:r>
            <a:endParaRPr lang="en-US" sz="1425" dirty="0"/>
          </a:p>
        </p:txBody>
      </p:sp>
      <p:sp>
        <p:nvSpPr>
          <p:cNvPr id="15" name="Shape 15"/>
          <p:cNvSpPr txBox="1"/>
          <p:nvPr/>
        </p:nvSpPr>
        <p:spPr>
          <a:xfrm>
            <a:off x="6210148" y="1618488"/>
            <a:ext cx="5295748" cy="228219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6419698" y="178993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3.</a:t>
            </a:r>
            <a:r>
              <a:rPr lang="en-US" sz="1575" dirty="0">
                <a:solidFill>
                  <a:srgbClr val="16171D"/>
                </a:solidFill>
                <a:latin typeface="Segoe UI"/>
                <a:cs typeface="Segoe UI"/>
              </a:rPr>
              <a:t xml:space="preserve"> What slope does a line perpendicular to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4</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− 3</a:t>
            </a:r>
            <a:r>
              <a:rPr lang="en-US" sz="1575" dirty="0">
                <a:solidFill>
                  <a:srgbClr val="16171D"/>
                </a:solidFill>
                <a:latin typeface="Segoe UI"/>
                <a:cs typeface="Segoe UI"/>
              </a:rPr>
              <a:t xml:space="preserve"> have?</a:t>
            </a:r>
            <a:endParaRPr lang="en-US" sz="1575" dirty="0"/>
          </a:p>
        </p:txBody>
      </p:sp>
      <p:sp>
        <p:nvSpPr>
          <p:cNvPr id="13" name="Shape 13"/>
          <p:cNvSpPr txBox="1"/>
          <p:nvPr/>
        </p:nvSpPr>
        <p:spPr>
          <a:xfrm>
            <a:off x="6419698" y="236296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perpendicular: flip and change the sign</a:t>
            </a:r>
            <a:endParaRPr lang="en-US" sz="1575" dirty="0"/>
          </a:p>
        </p:txBody>
      </p:sp>
      <p:sp>
        <p:nvSpPr>
          <p:cNvPr id="14" name="Shape 14"/>
          <p:cNvSpPr txBox="1"/>
          <p:nvPr/>
        </p:nvSpPr>
        <p:spPr>
          <a:xfrm>
            <a:off x="6419698" y="2695956"/>
            <a:ext cx="2814923"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−¼</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4 = 4/1</a:t>
            </a:r>
            <a:r>
              <a:rPr lang="en-US" sz="1425" dirty="0">
                <a:solidFill>
                  <a:srgbClr val="16171D"/>
                </a:solidFill>
                <a:latin typeface="Segoe UI"/>
                <a:cs typeface="Segoe UI"/>
              </a:rPr>
              <a:t xml:space="preserve">. Flip it: </a:t>
            </a:r>
            <a:r>
              <a:rPr lang="en-US" sz="1425" dirty="0">
                <a:solidFill>
                  <a:srgbClr val="16171D"/>
                </a:solidFill>
                <a:latin typeface="Cambria"/>
                <a:cs typeface="Cambria"/>
              </a:rPr>
              <a:t xml:space="preserve">1/4</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Change the sign: </a:t>
            </a:r>
            <a:r>
              <a:rPr lang="en-US" sz="1425" dirty="0">
                <a:solidFill>
                  <a:srgbClr val="16171D"/>
                </a:solidFill>
                <a:latin typeface="Cambria"/>
                <a:cs typeface="Cambria"/>
              </a:rPr>
              <a:t xml:space="preserve">−¼</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3.</a:t>
            </a:r>
            <a:r>
              <a:rPr lang="en-US" sz="1425" dirty="0">
                <a:solidFill>
                  <a:srgbClr val="16171D"/>
                </a:solidFill>
                <a:latin typeface="Segoe UI"/>
                <a:cs typeface="Segoe UI"/>
              </a:rPr>
              <a:t xml:space="preserve"> Check: </a:t>
            </a:r>
            <a:r>
              <a:rPr lang="en-US" sz="1425" dirty="0">
                <a:solidFill>
                  <a:srgbClr val="16171D"/>
                </a:solidFill>
                <a:latin typeface="Cambria"/>
                <a:cs typeface="Cambria"/>
              </a:rPr>
              <a:t xml:space="preserve">4 · (−¼) = −1</a:t>
            </a:r>
            <a:r>
              <a:rPr lang="en-US" sz="1425" dirty="0">
                <a:solidFill>
                  <a:srgbClr val="16171D"/>
                </a:solidFill>
                <a:latin typeface="Segoe UI"/>
                <a:cs typeface="Segoe UI"/>
              </a:rPr>
              <a:t xml:space="preserve">.</a:t>
            </a:r>
            <a:endParaRPr lang="en-US" sz="1425" dirty="0"/>
          </a:p>
        </p:txBody>
      </p:sp>
      <p:sp>
        <p:nvSpPr>
          <p:cNvPr id="19" name="Shape 19"/>
          <p:cNvSpPr txBox="1"/>
          <p:nvPr/>
        </p:nvSpPr>
        <p:spPr>
          <a:xfrm>
            <a:off x="6210148" y="4034028"/>
            <a:ext cx="5295748" cy="273939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6419698" y="4205478"/>
            <a:ext cx="4876648"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4.</a:t>
            </a:r>
            <a:r>
              <a:rPr lang="en-US" sz="1575" dirty="0">
                <a:solidFill>
                  <a:srgbClr val="16171D"/>
                </a:solidFill>
                <a:latin typeface="Segoe UI"/>
                <a:cs typeface="Segoe UI"/>
              </a:rPr>
              <a:t xml:space="preserve"> Function </a:t>
            </a:r>
            <a:r>
              <a:rPr lang="en-US" sz="1575" dirty="0" i="1">
                <a:solidFill>
                  <a:srgbClr val="16171D"/>
                </a:solidFill>
                <a:latin typeface="Cambria"/>
                <a:cs typeface="Cambria"/>
              </a:rPr>
              <a:t xml:space="preserve">p</a:t>
            </a:r>
            <a:r>
              <a:rPr lang="en-US" sz="1575" dirty="0">
                <a:solidFill>
                  <a:srgbClr val="16171D"/>
                </a:solidFill>
                <a:latin typeface="Segoe UI"/>
                <a:cs typeface="Segoe UI"/>
              </a:rPr>
              <a:t xml:space="preserve"> passes through </a:t>
            </a:r>
            <a:r>
              <a:rPr lang="en-US" sz="1575" dirty="0">
                <a:solidFill>
                  <a:srgbClr val="16171D"/>
                </a:solidFill>
                <a:latin typeface="Cambria"/>
                <a:cs typeface="Cambria"/>
              </a:rPr>
              <a:t xml:space="preserve">(0, 1)</a:t>
            </a:r>
            <a:r>
              <a:rPr lang="en-US" sz="1575" dirty="0">
                <a:solidFill>
                  <a:srgbClr val="16171D"/>
                </a:solidFill>
                <a:latin typeface="Segoe UI"/>
                <a:cs typeface="Segoe UI"/>
              </a:rPr>
              <a:t xml:space="preserve"> and </a:t>
            </a:r>
            <a:r>
              <a:rPr lang="en-US" sz="1575" dirty="0">
                <a:solidFill>
                  <a:srgbClr val="16171D"/>
                </a:solidFill>
                <a:latin typeface="Cambria"/>
                <a:cs typeface="Cambria"/>
              </a:rPr>
              <a:t xml:space="preserve">(4, 4)</a:t>
            </a:r>
            <a:r>
              <a:rPr lang="en-US" sz="1575" dirty="0">
                <a:solidFill>
                  <a:srgbClr val="16171D"/>
                </a:solidFill>
                <a:latin typeface="Segoe UI"/>
                <a:cs typeface="Segoe UI"/>
              </a:rPr>
              <a:t xml:space="preserve">. Which function has a greater rate of change than function </a:t>
            </a:r>
            <a:r>
              <a:rPr lang="en-US" sz="1575" dirty="0" i="1">
                <a:solidFill>
                  <a:srgbClr val="16171D"/>
                </a:solidFill>
                <a:latin typeface="Cambria"/>
                <a:cs typeface="Cambria"/>
              </a:rPr>
              <a:t xml:space="preserve">p</a:t>
            </a:r>
            <a:r>
              <a:rPr lang="en-US" sz="1575" dirty="0">
                <a:solidFill>
                  <a:srgbClr val="16171D"/>
                </a:solidFill>
                <a:latin typeface="Segoe UI"/>
                <a:cs typeface="Segoe UI"/>
              </a:rPr>
              <a:t xml:space="preserve">?</a:t>
            </a:r>
            <a:endParaRPr lang="en-US" sz="1575" dirty="0"/>
          </a:p>
        </p:txBody>
      </p:sp>
      <p:sp>
        <p:nvSpPr>
          <p:cNvPr id="17" name="Shape 17"/>
          <p:cNvSpPr txBox="1"/>
          <p:nvPr/>
        </p:nvSpPr>
        <p:spPr>
          <a:xfrm>
            <a:off x="6419698" y="501853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m</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₂ −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₁) ÷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₂ −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₁)</a:t>
            </a:r>
            <a:endParaRPr lang="en-US" sz="1575" dirty="0"/>
          </a:p>
        </p:txBody>
      </p:sp>
      <p:sp>
        <p:nvSpPr>
          <p:cNvPr id="18" name="Shape 18"/>
          <p:cNvSpPr txBox="1"/>
          <p:nvPr/>
        </p:nvSpPr>
        <p:spPr>
          <a:xfrm>
            <a:off x="6419698" y="5351526"/>
            <a:ext cx="4876648" cy="125044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i="1">
                <a:solidFill>
                  <a:srgbClr val="16171D"/>
                </a:solidFill>
                <a:latin typeface="Cambria"/>
                <a:cs typeface="Cambria"/>
              </a:rPr>
              <a:t xml:space="preserve">y</a:t>
            </a:r>
            <a:r>
              <a:rPr lang="en-US" sz="1425" dirty="0" b="1">
                <a:solidFill>
                  <a:srgbClr val="16171D"/>
                </a:solidFill>
                <a:latin typeface="Cambria"/>
                <a:cs typeface="Cambria"/>
              </a:rPr>
              <a:t xml:space="preserve"> = </a:t>
            </a:r>
            <a:r>
              <a:rPr lang="en-US" sz="1425" dirty="0" b="1" i="1">
                <a:solidFill>
                  <a:srgbClr val="16171D"/>
                </a:solidFill>
                <a:latin typeface="Cambria"/>
                <a:cs typeface="Cambria"/>
              </a:rPr>
              <a:t xml:space="preserve">x</a:t>
            </a:r>
            <a:r>
              <a:rPr lang="en-US" sz="1425" dirty="0" b="1">
                <a:solidFill>
                  <a:srgbClr val="16171D"/>
                </a:solidFill>
                <a:latin typeface="Cambria"/>
                <a:cs typeface="Cambria"/>
              </a:rPr>
              <a:t xml:space="preserve"> − 2</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Slope of </a:t>
            </a:r>
            <a:r>
              <a:rPr lang="en-US" sz="1425" dirty="0" i="1">
                <a:solidFill>
                  <a:srgbClr val="16171D"/>
                </a:solidFill>
                <a:latin typeface="Cambria"/>
                <a:cs typeface="Cambria"/>
              </a:rPr>
              <a:t xml:space="preserve">p</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(4 − 1) ÷ (4 − 0) = 3/4 = 0.75</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Compare each slope with 0.75: </a:t>
            </a:r>
            <a:r>
              <a:rPr lang="en-US" sz="1425" dirty="0">
                <a:solidFill>
                  <a:srgbClr val="16171D"/>
                </a:solidFill>
                <a:latin typeface="Cambria"/>
                <a:cs typeface="Cambria"/>
              </a:rPr>
              <a:t xml:space="preserve">1</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0.5</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0.75</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3</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− 4</a:t>
            </a:r>
            <a:r>
              <a:rPr lang="en-US" sz="1425" dirty="0" i="1">
                <a:solidFill>
                  <a:srgbClr val="16171D"/>
                </a:solidFill>
                <a:latin typeface="Cambria"/>
                <a:cs typeface="Cambria"/>
              </a:rPr>
              <a:t xml:space="preserve">y</a:t>
            </a:r>
            <a:r>
              <a:rPr lang="en-US" sz="1425" dirty="0">
                <a:solidFill>
                  <a:srgbClr val="16171D"/>
                </a:solidFill>
                <a:latin typeface="Cambria"/>
                <a:cs typeface="Cambria"/>
              </a:rPr>
              <a:t xml:space="preserve"> = 8</a:t>
            </a:r>
            <a:r>
              <a:rPr lang="en-US" sz="1425" dirty="0">
                <a:solidFill>
                  <a:srgbClr val="16171D"/>
                </a:solidFill>
                <a:latin typeface="Segoe UI"/>
                <a:cs typeface="Segoe UI"/>
              </a:rPr>
              <a:t xml:space="preserve"> is </a:t>
            </a:r>
            <a:r>
              <a:rPr lang="en-US" sz="1425" dirty="0" i="1">
                <a:solidFill>
                  <a:srgbClr val="16171D"/>
                </a:solidFill>
                <a:latin typeface="Cambria"/>
                <a:cs typeface="Cambria"/>
              </a:rPr>
              <a:t xml:space="preserve">y</a:t>
            </a:r>
            <a:r>
              <a:rPr lang="en-US" sz="1425" dirty="0">
                <a:solidFill>
                  <a:srgbClr val="16171D"/>
                </a:solidFill>
                <a:latin typeface="Cambria"/>
                <a:cs typeface="Cambria"/>
              </a:rPr>
              <a:t xml:space="preserve"> = ¾</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− 2</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0.7</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3.</a:t>
            </a:r>
            <a:r>
              <a:rPr lang="en-US" sz="1425" dirty="0">
                <a:solidFill>
                  <a:srgbClr val="16171D"/>
                </a:solidFill>
                <a:latin typeface="Segoe UI"/>
                <a:cs typeface="Segoe UI"/>
              </a:rPr>
              <a:t xml:space="preserve"> Only 1 is greater: </a:t>
            </a:r>
            <a:r>
              <a:rPr lang="en-US" sz="1425" dirty="0" i="1">
                <a:solidFill>
                  <a:srgbClr val="16171D"/>
                </a:solidFill>
                <a:latin typeface="Cambria"/>
                <a:cs typeface="Cambria"/>
              </a:rPr>
              <a:t xml:space="preserve">y</a:t>
            </a:r>
            <a:r>
              <a:rPr lang="en-US" sz="1425" dirty="0">
                <a:solidFill>
                  <a:srgbClr val="16171D"/>
                </a:solidFill>
                <a:latin typeface="Cambria"/>
                <a:cs typeface="Cambria"/>
              </a:rPr>
              <a:t xml:space="preserve"> = </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− 2</a:t>
            </a:r>
            <a:r>
              <a:rPr lang="en-US" sz="1425" dirty="0">
                <a:solidFill>
                  <a:srgbClr val="16171D"/>
                </a:solidFill>
                <a:latin typeface="Segoe UI"/>
                <a:cs typeface="Segoe UI"/>
              </a:rPr>
              <a:t xml:space="preserve">.</a:t>
            </a:r>
            <a:endParaRPr lang="en-US" sz="1425" dirty="0"/>
          </a:p>
        </p:txBody>
      </p:sp>
      <p:sp>
        <p:nvSpPr>
          <p:cNvPr id="20" name="Slide Number 2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ppt_w</p:attrName>
                                        </p:attrNameLst>
                                      </p:cBhvr>
                                      <p:tavLst>
                                        <p:tav tm="0">
                                          <p:val>
                                            <p:fltVal val="0"/>
                                          </p:val>
                                        </p:tav>
                                        <p:tav tm="100000">
                                          <p:val>
                                            <p:strVal val="#ppt_w"/>
                                          </p:val>
                                        </p:tav>
                                      </p:tavLst>
                                    </p:anim>
                                    <p:anim calcmode="lin" valueType="num">
                                      <p:cBhvr>
                                        <p:cTn id="6"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anim calcmode="lin" valueType="num">
                                      <p:cBhvr>
                                        <p:cTn id="19" dur="500" fill="hold"/>
                                        <p:tgtEl>
                                          <p:spTgt spid="14"/>
                                        </p:tgtEl>
                                        <p:attrNameLst>
                                          <p:attrName>ppt_w</p:attrName>
                                        </p:attrNameLst>
                                      </p:cBhvr>
                                      <p:tavLst>
                                        <p:tav tm="0">
                                          <p:val>
                                            <p:fltVal val="0"/>
                                          </p:val>
                                        </p:tav>
                                        <p:tav tm="100000">
                                          <p:val>
                                            <p:strVal val="#ppt_w"/>
                                          </p:val>
                                        </p:tav>
                                      </p:tavLst>
                                    </p:anim>
                                    <p:anim calcmode="lin" valueType="num">
                                      <p:cBhvr>
                                        <p:cTn id="20"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anim calcmode="lin" valueType="num">
                                      <p:cBhvr>
                                        <p:cTn id="26" dur="500" fill="hold"/>
                                        <p:tgtEl>
                                          <p:spTgt spid="18"/>
                                        </p:tgtEl>
                                        <p:attrNameLst>
                                          <p:attrName>ppt_w</p:attrName>
                                        </p:attrNameLst>
                                      </p:cBhvr>
                                      <p:tavLst>
                                        <p:tav tm="0">
                                          <p:val>
                                            <p:fltVal val="0"/>
                                          </p:val>
                                        </p:tav>
                                        <p:tav tm="100000">
                                          <p:val>
                                            <p:strVal val="#ppt_w"/>
                                          </p:val>
                                        </p:tav>
                                      </p:tavLst>
                                    </p:anim>
                                    <p:anim calcmode="lin" valueType="num">
                                      <p:cBhvr>
                                        <p:cTn id="27" dur="500" fill="hold"/>
                                        <p:tgtEl>
                                          <p:spTgt spid="1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Bell Work · Review</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7" name="Shape 7"/>
          <p:cNvSpPr txBox="1"/>
          <p:nvPr/>
        </p:nvSpPr>
        <p:spPr>
          <a:xfrm>
            <a:off x="685800" y="1618488"/>
            <a:ext cx="5295748" cy="206502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Travis County pays $15 per ton of cardboard. How much is paid for 3 tons?</a:t>
            </a:r>
            <a:endParaRPr lang="en-US" sz="1575" dirty="0"/>
          </a:p>
        </p:txBody>
      </p:sp>
      <p:sp>
        <p:nvSpPr>
          <p:cNvPr id="5" name="Shape 5"/>
          <p:cNvSpPr txBox="1"/>
          <p:nvPr/>
        </p:nvSpPr>
        <p:spPr>
          <a:xfrm>
            <a:off x="895350" y="236296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total = rate × amount</a:t>
            </a:r>
            <a:endParaRPr lang="en-US" sz="1575" dirty="0"/>
          </a:p>
        </p:txBody>
      </p:sp>
      <p:sp>
        <p:nvSpPr>
          <p:cNvPr id="6" name="Shape 6"/>
          <p:cNvSpPr txBox="1"/>
          <p:nvPr/>
        </p:nvSpPr>
        <p:spPr>
          <a:xfrm>
            <a:off x="895350" y="2695956"/>
            <a:ext cx="3964187" cy="81610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Segoe UI"/>
                <a:cs typeface="Segoe UI"/>
              </a:rPr>
              <a:t xml:space="preserve">$45</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Rate: $15 per ton. Amount: 3 tons.</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15 · 3 = 45</a:t>
            </a:r>
            <a:r>
              <a:rPr lang="en-US" sz="1425" dirty="0">
                <a:solidFill>
                  <a:srgbClr val="16171D"/>
                </a:solidFill>
                <a:latin typeface="Segoe UI"/>
                <a:cs typeface="Segoe UI"/>
              </a:rPr>
              <a:t xml:space="preserve">, so $45.</a:t>
            </a:r>
            <a:endParaRPr lang="en-US" sz="1425" dirty="0"/>
          </a:p>
        </p:txBody>
      </p:sp>
      <p:sp>
        <p:nvSpPr>
          <p:cNvPr id="11" name="Shape 11"/>
          <p:cNvSpPr txBox="1"/>
          <p:nvPr/>
        </p:nvSpPr>
        <p:spPr>
          <a:xfrm>
            <a:off x="685800" y="3816858"/>
            <a:ext cx="5295748" cy="228219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895350" y="398830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Hays County's graph passes through </a:t>
            </a:r>
            <a:r>
              <a:rPr lang="en-US" sz="1575" dirty="0">
                <a:solidFill>
                  <a:srgbClr val="16171D"/>
                </a:solidFill>
                <a:latin typeface="Cambria"/>
                <a:cs typeface="Cambria"/>
              </a:rPr>
              <a:t xml:space="preserve">(0, 0)</a:t>
            </a:r>
            <a:r>
              <a:rPr lang="en-US" sz="1575" dirty="0">
                <a:solidFill>
                  <a:srgbClr val="16171D"/>
                </a:solidFill>
                <a:latin typeface="Segoe UI"/>
                <a:cs typeface="Segoe UI"/>
              </a:rPr>
              <a:t xml:space="preserve"> and </a:t>
            </a:r>
            <a:r>
              <a:rPr lang="en-US" sz="1575" dirty="0">
                <a:solidFill>
                  <a:srgbClr val="16171D"/>
                </a:solidFill>
                <a:latin typeface="Cambria"/>
                <a:cs typeface="Cambria"/>
              </a:rPr>
              <a:t xml:space="preserve">(1, 20)</a:t>
            </a:r>
            <a:r>
              <a:rPr lang="en-US" sz="1575" dirty="0">
                <a:solidFill>
                  <a:srgbClr val="16171D"/>
                </a:solidFill>
                <a:latin typeface="Segoe UI"/>
                <a:cs typeface="Segoe UI"/>
              </a:rPr>
              <a:t xml:space="preserve">. What is the payout per ton?</a:t>
            </a:r>
            <a:endParaRPr lang="en-US" sz="1575" dirty="0"/>
          </a:p>
        </p:txBody>
      </p:sp>
      <p:sp>
        <p:nvSpPr>
          <p:cNvPr id="9" name="Shape 9"/>
          <p:cNvSpPr txBox="1"/>
          <p:nvPr/>
        </p:nvSpPr>
        <p:spPr>
          <a:xfrm>
            <a:off x="895350" y="456133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m</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₂ −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₁) ÷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₂ −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₁)</a:t>
            </a:r>
            <a:endParaRPr lang="en-US" sz="1575" dirty="0"/>
          </a:p>
        </p:txBody>
      </p:sp>
      <p:sp>
        <p:nvSpPr>
          <p:cNvPr id="10" name="Shape 10"/>
          <p:cNvSpPr txBox="1"/>
          <p:nvPr/>
        </p:nvSpPr>
        <p:spPr>
          <a:xfrm>
            <a:off x="895350" y="4894326"/>
            <a:ext cx="487664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Segoe UI"/>
                <a:cs typeface="Segoe UI"/>
              </a:rPr>
              <a:t xml:space="preserve">$20</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Change in </a:t>
            </a:r>
            <a:r>
              <a:rPr lang="en-US" sz="1425" dirty="0" i="1">
                <a:solidFill>
                  <a:srgbClr val="16171D"/>
                </a:solidFill>
                <a:latin typeface="Cambria"/>
                <a:cs typeface="Cambria"/>
              </a:rPr>
              <a:t xml:space="preserve">y</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20 − 0 = 20</a:t>
            </a:r>
            <a:r>
              <a:rPr lang="en-US" sz="1425" dirty="0">
                <a:solidFill>
                  <a:srgbClr val="16171D"/>
                </a:solidFill>
                <a:latin typeface="Segoe UI"/>
                <a:cs typeface="Segoe UI"/>
              </a:rPr>
              <a:t xml:space="preserve">. Change in </a:t>
            </a:r>
            <a:r>
              <a:rPr lang="en-US" sz="1425" dirty="0" i="1">
                <a:solidFill>
                  <a:srgbClr val="16171D"/>
                </a:solidFill>
                <a:latin typeface="Cambria"/>
                <a:cs typeface="Cambria"/>
              </a:rPr>
              <a:t xml:space="preserve">x</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1 − 0 = 1</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20 ÷ 1 = 20</a:t>
            </a:r>
            <a:r>
              <a:rPr lang="en-US" sz="1425" dirty="0">
                <a:solidFill>
                  <a:srgbClr val="16171D"/>
                </a:solidFill>
                <a:latin typeface="Segoe UI"/>
                <a:cs typeface="Segoe UI"/>
              </a:rPr>
              <a:t xml:space="preserve">, so $20 per ton.</a:t>
            </a:r>
            <a:endParaRPr lang="en-US" sz="1425" dirty="0"/>
          </a:p>
        </p:txBody>
      </p:sp>
      <p:sp>
        <p:nvSpPr>
          <p:cNvPr id="15" name="Shape 15"/>
          <p:cNvSpPr txBox="1"/>
          <p:nvPr/>
        </p:nvSpPr>
        <p:spPr>
          <a:xfrm>
            <a:off x="6210148" y="1618488"/>
            <a:ext cx="5295748" cy="228219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6419698" y="178993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3.</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J</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9/5</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+ 32</a:t>
            </a:r>
            <a:r>
              <a:rPr lang="en-US" sz="1575" dirty="0">
                <a:solidFill>
                  <a:srgbClr val="16171D"/>
                </a:solidFill>
                <a:latin typeface="Segoe UI"/>
                <a:cs typeface="Segoe UI"/>
              </a:rPr>
              <a:t xml:space="preserve"> converts °C to °F. What is </a:t>
            </a:r>
            <a:r>
              <a:rPr lang="en-US" sz="1575" dirty="0" i="1">
                <a:solidFill>
                  <a:srgbClr val="16171D"/>
                </a:solidFill>
                <a:latin typeface="Cambria"/>
                <a:cs typeface="Cambria"/>
              </a:rPr>
              <a:t xml:space="preserve">J</a:t>
            </a:r>
            <a:r>
              <a:rPr lang="en-US" sz="1575" dirty="0">
                <a:solidFill>
                  <a:srgbClr val="16171D"/>
                </a:solidFill>
                <a:latin typeface="Cambria"/>
                <a:cs typeface="Cambria"/>
              </a:rPr>
              <a:t xml:space="preserve">(10)</a:t>
            </a:r>
            <a:r>
              <a:rPr lang="en-US" sz="1575" dirty="0">
                <a:solidFill>
                  <a:srgbClr val="16171D"/>
                </a:solidFill>
                <a:latin typeface="Segoe UI"/>
                <a:cs typeface="Segoe UI"/>
              </a:rPr>
              <a:t xml:space="preserve">?</a:t>
            </a:r>
            <a:endParaRPr lang="en-US" sz="1575" dirty="0"/>
          </a:p>
        </p:txBody>
      </p:sp>
      <p:sp>
        <p:nvSpPr>
          <p:cNvPr id="13" name="Shape 13"/>
          <p:cNvSpPr txBox="1"/>
          <p:nvPr/>
        </p:nvSpPr>
        <p:spPr>
          <a:xfrm>
            <a:off x="6419698" y="236296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put the number in for </a:t>
            </a:r>
            <a:r>
              <a:rPr lang="en-US" sz="1575" dirty="0" i="1">
                <a:solidFill>
                  <a:srgbClr val="16171D"/>
                </a:solidFill>
                <a:latin typeface="Cambria"/>
                <a:cs typeface="Cambria"/>
              </a:rPr>
              <a:t xml:space="preserve">x</a:t>
            </a:r>
            <a:endParaRPr lang="en-US" sz="1575" dirty="0"/>
          </a:p>
        </p:txBody>
      </p:sp>
      <p:sp>
        <p:nvSpPr>
          <p:cNvPr id="14" name="Shape 14"/>
          <p:cNvSpPr txBox="1"/>
          <p:nvPr/>
        </p:nvSpPr>
        <p:spPr>
          <a:xfrm>
            <a:off x="6419698" y="2695956"/>
            <a:ext cx="3868415"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50</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a:t>
            </a:r>
            <a:r>
              <a:rPr lang="en-US" sz="1425" dirty="0" i="1">
                <a:solidFill>
                  <a:srgbClr val="16171D"/>
                </a:solidFill>
                <a:latin typeface="Cambria"/>
                <a:cs typeface="Cambria"/>
              </a:rPr>
              <a:t xml:space="preserve">J</a:t>
            </a:r>
            <a:r>
              <a:rPr lang="en-US" sz="1425" dirty="0">
                <a:solidFill>
                  <a:srgbClr val="16171D"/>
                </a:solidFill>
                <a:latin typeface="Cambria"/>
                <a:cs typeface="Cambria"/>
              </a:rPr>
              <a:t xml:space="preserve">(10) = 9/5 · 10 + 32</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Multiply: </a:t>
            </a:r>
            <a:r>
              <a:rPr lang="en-US" sz="1425" dirty="0">
                <a:solidFill>
                  <a:srgbClr val="16171D"/>
                </a:solidFill>
                <a:latin typeface="Cambria"/>
                <a:cs typeface="Cambria"/>
              </a:rPr>
              <a:t xml:space="preserve">9/5 · 10 = 90 ÷ 5 = 18</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3.</a:t>
            </a:r>
            <a:r>
              <a:rPr lang="en-US" sz="1425" dirty="0">
                <a:solidFill>
                  <a:srgbClr val="16171D"/>
                </a:solidFill>
                <a:latin typeface="Segoe UI"/>
                <a:cs typeface="Segoe UI"/>
              </a:rPr>
              <a:t xml:space="preserve"> Add: </a:t>
            </a:r>
            <a:r>
              <a:rPr lang="en-US" sz="1425" dirty="0">
                <a:solidFill>
                  <a:srgbClr val="16171D"/>
                </a:solidFill>
                <a:latin typeface="Cambria"/>
                <a:cs typeface="Cambria"/>
              </a:rPr>
              <a:t xml:space="preserve">18 + 32 = 50</a:t>
            </a:r>
            <a:r>
              <a:rPr lang="en-US" sz="1425" dirty="0">
                <a:solidFill>
                  <a:srgbClr val="16171D"/>
                </a:solidFill>
                <a:latin typeface="Segoe UI"/>
                <a:cs typeface="Segoe UI"/>
              </a:rPr>
              <a:t xml:space="preserve">. 10°C is 50°F.</a:t>
            </a:r>
            <a:endParaRPr lang="en-US" sz="1425" dirty="0"/>
          </a:p>
        </p:txBody>
      </p:sp>
      <p:sp>
        <p:nvSpPr>
          <p:cNvPr id="19" name="Shape 19"/>
          <p:cNvSpPr txBox="1"/>
          <p:nvPr/>
        </p:nvSpPr>
        <p:spPr>
          <a:xfrm>
            <a:off x="6210148" y="4034028"/>
            <a:ext cx="5295748" cy="273939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6419698" y="4205478"/>
            <a:ext cx="4876648"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4.</a:t>
            </a:r>
            <a:r>
              <a:rPr lang="en-US" sz="1575" dirty="0">
                <a:solidFill>
                  <a:srgbClr val="16171D"/>
                </a:solidFill>
                <a:latin typeface="Segoe UI"/>
                <a:cs typeface="Segoe UI"/>
              </a:rPr>
              <a:t xml:space="preserve"> A 200-gallon tank drains 10 gallons each minute: </a:t>
            </a:r>
            <a:r>
              <a:rPr lang="en-US" sz="1575" dirty="0" i="1">
                <a:solidFill>
                  <a:srgbClr val="16171D"/>
                </a:solidFill>
                <a:latin typeface="Cambria"/>
                <a:cs typeface="Cambria"/>
              </a:rPr>
              <a:t xml:space="preserve">w</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200 − 10</a:t>
            </a:r>
            <a:r>
              <a:rPr lang="en-US" sz="1575" dirty="0" i="1">
                <a:solidFill>
                  <a:srgbClr val="16171D"/>
                </a:solidFill>
                <a:latin typeface="Cambria"/>
                <a:cs typeface="Cambria"/>
              </a:rPr>
              <a:t xml:space="preserve">t</a:t>
            </a:r>
            <a:r>
              <a:rPr lang="en-US" sz="1575" dirty="0">
                <a:solidFill>
                  <a:srgbClr val="16171D"/>
                </a:solidFill>
                <a:latin typeface="Segoe UI"/>
                <a:cs typeface="Segoe UI"/>
              </a:rPr>
              <a:t xml:space="preserve">. What is the range of the function for this situation?</a:t>
            </a:r>
            <a:endParaRPr lang="en-US" sz="1575" dirty="0"/>
          </a:p>
        </p:txBody>
      </p:sp>
      <p:sp>
        <p:nvSpPr>
          <p:cNvPr id="17" name="Shape 17"/>
          <p:cNvSpPr txBox="1"/>
          <p:nvPr/>
        </p:nvSpPr>
        <p:spPr>
          <a:xfrm>
            <a:off x="6419698" y="501853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range = the outputs</a:t>
            </a:r>
            <a:endParaRPr lang="en-US" sz="1575" dirty="0"/>
          </a:p>
        </p:txBody>
      </p:sp>
      <p:sp>
        <p:nvSpPr>
          <p:cNvPr id="18" name="Shape 18"/>
          <p:cNvSpPr txBox="1"/>
          <p:nvPr/>
        </p:nvSpPr>
        <p:spPr>
          <a:xfrm>
            <a:off x="6419698" y="5351526"/>
            <a:ext cx="4876648" cy="125044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0 ≤ </a:t>
            </a:r>
            <a:r>
              <a:rPr lang="en-US" sz="1425" dirty="0" b="1" i="1">
                <a:solidFill>
                  <a:srgbClr val="16171D"/>
                </a:solidFill>
                <a:latin typeface="Cambria"/>
                <a:cs typeface="Cambria"/>
              </a:rPr>
              <a:t xml:space="preserve">w</a:t>
            </a:r>
            <a:r>
              <a:rPr lang="en-US" sz="1425" dirty="0" b="1">
                <a:solidFill>
                  <a:srgbClr val="16171D"/>
                </a:solidFill>
                <a:latin typeface="Cambria"/>
                <a:cs typeface="Cambria"/>
              </a:rPr>
              <a:t xml:space="preserve">(</a:t>
            </a:r>
            <a:r>
              <a:rPr lang="en-US" sz="1425" dirty="0" b="1" i="1">
                <a:solidFill>
                  <a:srgbClr val="16171D"/>
                </a:solidFill>
                <a:latin typeface="Cambria"/>
                <a:cs typeface="Cambria"/>
              </a:rPr>
              <a:t xml:space="preserve">t</a:t>
            </a:r>
            <a:r>
              <a:rPr lang="en-US" sz="1425" dirty="0" b="1">
                <a:solidFill>
                  <a:srgbClr val="16171D"/>
                </a:solidFill>
                <a:latin typeface="Cambria"/>
                <a:cs typeface="Cambria"/>
              </a:rPr>
              <a:t xml:space="preserve">) ≤ 200</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The output is </a:t>
            </a:r>
            <a:r>
              <a:rPr lang="en-US" sz="1425" dirty="0" i="1">
                <a:solidFill>
                  <a:srgbClr val="16171D"/>
                </a:solidFill>
                <a:latin typeface="Cambria"/>
                <a:cs typeface="Cambria"/>
              </a:rPr>
              <a:t xml:space="preserve">w</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t</a:t>
            </a:r>
            <a:r>
              <a:rPr lang="en-US" sz="1425" dirty="0">
                <a:solidFill>
                  <a:srgbClr val="16171D"/>
                </a:solidFill>
                <a:latin typeface="Cambria"/>
                <a:cs typeface="Cambria"/>
              </a:rPr>
              <a:t xml:space="preserve">)</a:t>
            </a:r>
            <a:r>
              <a:rPr lang="en-US" sz="1425" dirty="0">
                <a:solidFill>
                  <a:srgbClr val="16171D"/>
                </a:solidFill>
                <a:latin typeface="Segoe UI"/>
                <a:cs typeface="Segoe UI"/>
              </a:rPr>
              <a:t xml:space="preserve">, the gallons left.</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Most: 200 gallons at the start. Least: 0 gallons, when </a:t>
            </a:r>
            <a:r>
              <a:rPr lang="en-US" sz="1425" dirty="0">
                <a:solidFill>
                  <a:srgbClr val="16171D"/>
                </a:solidFill>
                <a:latin typeface="Cambria"/>
                <a:cs typeface="Cambria"/>
              </a:rPr>
              <a:t xml:space="preserve">200 − 10</a:t>
            </a:r>
            <a:r>
              <a:rPr lang="en-US" sz="1425" dirty="0" i="1">
                <a:solidFill>
                  <a:srgbClr val="16171D"/>
                </a:solidFill>
                <a:latin typeface="Cambria"/>
                <a:cs typeface="Cambria"/>
              </a:rPr>
              <a:t xml:space="preserve">t</a:t>
            </a:r>
            <a:r>
              <a:rPr lang="en-US" sz="1425" dirty="0">
                <a:solidFill>
                  <a:srgbClr val="16171D"/>
                </a:solidFill>
                <a:latin typeface="Cambria"/>
                <a:cs typeface="Cambria"/>
              </a:rPr>
              <a:t xml:space="preserve"> = 0</a:t>
            </a:r>
            <a:r>
              <a:rPr lang="en-US" sz="1425" dirty="0">
                <a:solidFill>
                  <a:srgbClr val="16171D"/>
                </a:solidFill>
                <a:latin typeface="Segoe UI"/>
                <a:cs typeface="Segoe UI"/>
              </a:rPr>
              <a:t xml:space="preserve"> at </a:t>
            </a:r>
            <a:r>
              <a:rPr lang="en-US" sz="1425" dirty="0" i="1">
                <a:solidFill>
                  <a:srgbClr val="16171D"/>
                </a:solidFill>
                <a:latin typeface="Cambria"/>
                <a:cs typeface="Cambria"/>
              </a:rPr>
              <a:t xml:space="preserve">t</a:t>
            </a:r>
            <a:r>
              <a:rPr lang="en-US" sz="1425" dirty="0">
                <a:solidFill>
                  <a:srgbClr val="16171D"/>
                </a:solidFill>
                <a:latin typeface="Cambria"/>
                <a:cs typeface="Cambria"/>
              </a:rPr>
              <a:t xml:space="preserve"> = 20</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3.</a:t>
            </a:r>
            <a:r>
              <a:rPr lang="en-US" sz="1425" dirty="0">
                <a:solidFill>
                  <a:srgbClr val="16171D"/>
                </a:solidFill>
                <a:latin typeface="Segoe UI"/>
                <a:cs typeface="Segoe UI"/>
              </a:rPr>
              <a:t xml:space="preserve"> Range: </a:t>
            </a:r>
            <a:r>
              <a:rPr lang="en-US" sz="1425" dirty="0">
                <a:solidFill>
                  <a:srgbClr val="16171D"/>
                </a:solidFill>
                <a:latin typeface="Cambria"/>
                <a:cs typeface="Cambria"/>
              </a:rPr>
              <a:t xml:space="preserve">0 ≤ </a:t>
            </a:r>
            <a:r>
              <a:rPr lang="en-US" sz="1425" dirty="0" i="1">
                <a:solidFill>
                  <a:srgbClr val="16171D"/>
                </a:solidFill>
                <a:latin typeface="Cambria"/>
                <a:cs typeface="Cambria"/>
              </a:rPr>
              <a:t xml:space="preserve">w</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t</a:t>
            </a:r>
            <a:r>
              <a:rPr lang="en-US" sz="1425" dirty="0">
                <a:solidFill>
                  <a:srgbClr val="16171D"/>
                </a:solidFill>
                <a:latin typeface="Cambria"/>
                <a:cs typeface="Cambria"/>
              </a:rPr>
              <a:t xml:space="preserve">) ≤ 200</a:t>
            </a:r>
            <a:r>
              <a:rPr lang="en-US" sz="1425" dirty="0">
                <a:solidFill>
                  <a:srgbClr val="16171D"/>
                </a:solidFill>
                <a:latin typeface="Segoe UI"/>
                <a:cs typeface="Segoe UI"/>
              </a:rPr>
              <a:t xml:space="preserve">.</a:t>
            </a:r>
            <a:endParaRPr lang="en-US" sz="1425" dirty="0"/>
          </a:p>
        </p:txBody>
      </p:sp>
      <p:sp>
        <p:nvSpPr>
          <p:cNvPr id="20" name="Slide Number 2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ppt_w</p:attrName>
                                        </p:attrNameLst>
                                      </p:cBhvr>
                                      <p:tavLst>
                                        <p:tav tm="0">
                                          <p:val>
                                            <p:fltVal val="0"/>
                                          </p:val>
                                        </p:tav>
                                        <p:tav tm="100000">
                                          <p:val>
                                            <p:strVal val="#ppt_w"/>
                                          </p:val>
                                        </p:tav>
                                      </p:tavLst>
                                    </p:anim>
                                    <p:anim calcmode="lin" valueType="num">
                                      <p:cBhvr>
                                        <p:cTn id="6"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anim calcmode="lin" valueType="num">
                                      <p:cBhvr>
                                        <p:cTn id="19" dur="500" fill="hold"/>
                                        <p:tgtEl>
                                          <p:spTgt spid="14"/>
                                        </p:tgtEl>
                                        <p:attrNameLst>
                                          <p:attrName>ppt_w</p:attrName>
                                        </p:attrNameLst>
                                      </p:cBhvr>
                                      <p:tavLst>
                                        <p:tav tm="0">
                                          <p:val>
                                            <p:fltVal val="0"/>
                                          </p:val>
                                        </p:tav>
                                        <p:tav tm="100000">
                                          <p:val>
                                            <p:strVal val="#ppt_w"/>
                                          </p:val>
                                        </p:tav>
                                      </p:tavLst>
                                    </p:anim>
                                    <p:anim calcmode="lin" valueType="num">
                                      <p:cBhvr>
                                        <p:cTn id="20"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anim calcmode="lin" valueType="num">
                                      <p:cBhvr>
                                        <p:cTn id="26" dur="500" fill="hold"/>
                                        <p:tgtEl>
                                          <p:spTgt spid="18"/>
                                        </p:tgtEl>
                                        <p:attrNameLst>
                                          <p:attrName>ppt_w</p:attrName>
                                        </p:attrNameLst>
                                      </p:cBhvr>
                                      <p:tavLst>
                                        <p:tav tm="0">
                                          <p:val>
                                            <p:fltVal val="0"/>
                                          </p:val>
                                        </p:tav>
                                        <p:tav tm="100000">
                                          <p:val>
                                            <p:strVal val="#ppt_w"/>
                                          </p:val>
                                        </p:tav>
                                      </p:tavLst>
                                    </p:anim>
                                    <p:anim calcmode="lin" valueType="num">
                                      <p:cBhvr>
                                        <p:cTn id="27" dur="500" fill="hold"/>
                                        <p:tgtEl>
                                          <p:spTgt spid="1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Lesson 4 · Vocabulary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Words we need</a:t>
            </a:r>
            <a:endParaRPr lang="en-US" sz="3450" dirty="0"/>
          </a:p>
        </p:txBody>
      </p:sp>
      <p:sp>
        <p:nvSpPr>
          <p:cNvPr id="7" name="Shape 7"/>
          <p:cNvSpPr txBox="1"/>
          <p:nvPr/>
        </p:nvSpPr>
        <p:spPr>
          <a:xfrm>
            <a:off x="685800"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Slope</a:t>
            </a:r>
            <a:endParaRPr lang="en-US" sz="2100" dirty="0"/>
          </a:p>
        </p:txBody>
      </p:sp>
      <p:sp>
        <p:nvSpPr>
          <p:cNvPr id="5" name="Shape 5"/>
          <p:cNvSpPr txBox="1"/>
          <p:nvPr/>
        </p:nvSpPr>
        <p:spPr>
          <a:xfrm>
            <a:off x="895350"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rate: how much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changes for each 1 of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t>
            </a:r>
            <a:endParaRPr lang="en-US" sz="1575" dirty="0"/>
          </a:p>
        </p:txBody>
      </p:sp>
      <p:sp>
        <p:nvSpPr>
          <p:cNvPr id="6" name="Shape 6"/>
          <p:cNvSpPr txBox="1"/>
          <p:nvPr/>
        </p:nvSpPr>
        <p:spPr>
          <a:xfrm>
            <a:off x="895350" y="289026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$15 per ton</a:t>
            </a:r>
            <a:endParaRPr lang="en-US" sz="2325" dirty="0"/>
          </a:p>
        </p:txBody>
      </p:sp>
      <p:sp>
        <p:nvSpPr>
          <p:cNvPr id="11" name="Shape 11"/>
          <p:cNvSpPr txBox="1"/>
          <p:nvPr/>
        </p:nvSpPr>
        <p:spPr>
          <a:xfrm>
            <a:off x="4349648"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Segoe UI"/>
                <a:cs typeface="Segoe UI"/>
              </a:rPr>
              <a:t xml:space="preserve">y</a:t>
            </a:r>
            <a:r>
              <a:rPr lang="en-US" sz="2100" dirty="0" b="1">
                <a:solidFill>
                  <a:srgbClr val="16171D"/>
                </a:solidFill>
                <a:latin typeface="Segoe UI"/>
                <a:cs typeface="Segoe UI"/>
              </a:rPr>
              <a:t xml:space="preserve">-intercept</a:t>
            </a:r>
            <a:endParaRPr lang="en-US" sz="2100" dirty="0"/>
          </a:p>
        </p:txBody>
      </p:sp>
      <p:sp>
        <p:nvSpPr>
          <p:cNvPr id="9" name="Shape 9"/>
          <p:cNvSpPr txBox="1"/>
          <p:nvPr/>
        </p:nvSpPr>
        <p:spPr>
          <a:xfrm>
            <a:off x="4559198"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starting amount, when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0.</a:t>
            </a:r>
            <a:endParaRPr lang="en-US" sz="1575" dirty="0"/>
          </a:p>
        </p:txBody>
      </p:sp>
      <p:sp>
        <p:nvSpPr>
          <p:cNvPr id="10" name="Shape 10"/>
          <p:cNvSpPr txBox="1"/>
          <p:nvPr/>
        </p:nvSpPr>
        <p:spPr>
          <a:xfrm>
            <a:off x="4559198" y="289026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$25 to start</a:t>
            </a:r>
            <a:endParaRPr lang="en-US" sz="2325" dirty="0"/>
          </a:p>
        </p:txBody>
      </p:sp>
      <p:sp>
        <p:nvSpPr>
          <p:cNvPr id="15" name="Shape 15"/>
          <p:cNvSpPr txBox="1"/>
          <p:nvPr/>
        </p:nvSpPr>
        <p:spPr>
          <a:xfrm>
            <a:off x="8013497"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Units</a:t>
            </a:r>
            <a:endParaRPr lang="en-US" sz="2100" dirty="0"/>
          </a:p>
        </p:txBody>
      </p:sp>
      <p:sp>
        <p:nvSpPr>
          <p:cNvPr id="13" name="Shape 13"/>
          <p:cNvSpPr txBox="1"/>
          <p:nvPr/>
        </p:nvSpPr>
        <p:spPr>
          <a:xfrm>
            <a:off x="8223047" y="226009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What the numbers count.</a:t>
            </a:r>
            <a:endParaRPr lang="en-US" sz="1575" dirty="0"/>
          </a:p>
        </p:txBody>
      </p:sp>
      <p:sp>
        <p:nvSpPr>
          <p:cNvPr id="14" name="Shape 14"/>
          <p:cNvSpPr txBox="1"/>
          <p:nvPr/>
        </p:nvSpPr>
        <p:spPr>
          <a:xfrm>
            <a:off x="8223047" y="265023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dollars, months</a:t>
            </a:r>
            <a:endParaRPr lang="en-US" sz="2325" dirty="0"/>
          </a:p>
        </p:txBody>
      </p:sp>
      <p:sp>
        <p:nvSpPr>
          <p:cNvPr id="16" name="Slide Number 1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a:t>
            </a:fld>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Lesson 4 · Steps</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How to find the slope</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1.</a:t>
            </a:r>
            <a:r>
              <a:rPr lang="en-US" sz="1950" dirty="0">
                <a:solidFill>
                  <a:srgbClr val="16171D"/>
                </a:solidFill>
                <a:latin typeface="Segoe UI"/>
                <a:cs typeface="Segoe UI"/>
              </a:rPr>
              <a:t xml:space="preserve"> </a:t>
            </a:r>
            <a:r>
              <a:rPr lang="en-US" sz="1950" dirty="0" b="1">
                <a:solidFill>
                  <a:srgbClr val="16171D"/>
                </a:solidFill>
                <a:latin typeface="Segoe UI"/>
                <a:cs typeface="Segoe UI"/>
              </a:rPr>
              <a:t xml:space="preserve">Equation</a:t>
            </a:r>
            <a:r>
              <a:rPr lang="en-US" sz="1950" dirty="0">
                <a:solidFill>
                  <a:srgbClr val="16171D"/>
                </a:solidFill>
                <a:latin typeface="Segoe UI"/>
                <a:cs typeface="Segoe UI"/>
              </a:rPr>
              <a:t xml:space="preserv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mx</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b</a:t>
            </a:r>
            <a:r>
              <a:rPr lang="en-US" sz="1950" dirty="0">
                <a:solidFill>
                  <a:srgbClr val="16171D"/>
                </a:solidFill>
                <a:latin typeface="Segoe UI"/>
                <a:cs typeface="Segoe UI"/>
              </a:rPr>
              <a:t xml:space="preserve">: the slope is </a:t>
            </a:r>
            <a:r>
              <a:rPr lang="en-US" sz="1950" dirty="0" i="1">
                <a:solidFill>
                  <a:srgbClr val="16171D"/>
                </a:solidFill>
                <a:latin typeface="Segoe UI"/>
                <a:cs typeface="Segoe UI"/>
              </a:rPr>
              <a:t xml:space="preserve">m</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14198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2.</a:t>
            </a:r>
            <a:r>
              <a:rPr lang="en-US" sz="1950" dirty="0">
                <a:solidFill>
                  <a:srgbClr val="16171D"/>
                </a:solidFill>
                <a:latin typeface="Segoe UI"/>
                <a:cs typeface="Segoe UI"/>
              </a:rPr>
              <a:t xml:space="preserve"> </a:t>
            </a:r>
            <a:r>
              <a:rPr lang="en-US" sz="1950" dirty="0" b="1">
                <a:solidFill>
                  <a:srgbClr val="16171D"/>
                </a:solidFill>
                <a:latin typeface="Segoe UI"/>
                <a:cs typeface="Segoe UI"/>
              </a:rPr>
              <a:t xml:space="preserve">Table or graph:</a:t>
            </a:r>
            <a:r>
              <a:rPr lang="en-US" sz="1950" dirty="0">
                <a:solidFill>
                  <a:srgbClr val="16171D"/>
                </a:solidFill>
                <a:latin typeface="Segoe UI"/>
                <a:cs typeface="Segoe UI"/>
              </a:rPr>
              <a:t xml:space="preserve"> pick two points. </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change in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change in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a:t>
            </a:r>
            <a:endParaRPr lang="en-US" sz="1950" dirty="0"/>
          </a:p>
        </p:txBody>
      </p:sp>
      <p:sp>
        <p:nvSpPr>
          <p:cNvPr id="6" name="Shape 6"/>
          <p:cNvSpPr txBox="1"/>
          <p:nvPr/>
        </p:nvSpPr>
        <p:spPr>
          <a:xfrm>
            <a:off x="685800" y="266547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3.</a:t>
            </a:r>
            <a:r>
              <a:rPr lang="en-US" sz="1950" dirty="0">
                <a:solidFill>
                  <a:srgbClr val="16171D"/>
                </a:solidFill>
                <a:latin typeface="Segoe UI"/>
                <a:cs typeface="Segoe UI"/>
              </a:rPr>
              <a:t xml:space="preserve"> </a:t>
            </a:r>
            <a:r>
              <a:rPr lang="en-US" sz="1950" dirty="0" b="1">
                <a:solidFill>
                  <a:srgbClr val="16171D"/>
                </a:solidFill>
                <a:latin typeface="Segoe UI"/>
                <a:cs typeface="Segoe UI"/>
              </a:rPr>
              <a:t xml:space="preserve">Story:</a:t>
            </a:r>
            <a:r>
              <a:rPr lang="en-US" sz="1950" dirty="0">
                <a:solidFill>
                  <a:srgbClr val="16171D"/>
                </a:solidFill>
                <a:latin typeface="Segoe UI"/>
                <a:cs typeface="Segoe UI"/>
              </a:rPr>
              <a:t xml:space="preserve"> look for "each" or "per".</a:t>
            </a:r>
            <a:endParaRPr lang="en-US" sz="1950" dirty="0"/>
          </a:p>
        </p:txBody>
      </p:sp>
      <p:sp>
        <p:nvSpPr>
          <p:cNvPr id="7" name="Shape 7"/>
          <p:cNvSpPr txBox="1"/>
          <p:nvPr/>
        </p:nvSpPr>
        <p:spPr>
          <a:xfrm>
            <a:off x="685800" y="318897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4.</a:t>
            </a:r>
            <a:r>
              <a:rPr lang="en-US" sz="1950" dirty="0">
                <a:solidFill>
                  <a:srgbClr val="16171D"/>
                </a:solidFill>
                <a:latin typeface="Segoe UI"/>
                <a:cs typeface="Segoe UI"/>
              </a:rPr>
              <a:t xml:space="preserve"> Compare: same slope → parallel. Product −1 → perpendicular.</a:t>
            </a:r>
            <a:endParaRPr lang="en-US" sz="1950" dirty="0"/>
          </a:p>
        </p:txBody>
      </p:sp>
      <p:sp>
        <p:nvSpPr>
          <p:cNvPr id="8" name="Slide Number 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a:t>
            </a:fld>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I do · Watch me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Compare to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 = 4</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− 3</a:t>
            </a:r>
            <a:endParaRPr lang="en-US" sz="3450" dirty="0"/>
          </a:p>
        </p:txBody>
      </p:sp>
      <p:sp>
        <p:nvSpPr>
          <p:cNvPr id="4" name="Shape 4"/>
          <p:cNvSpPr txBox="1"/>
          <p:nvPr/>
        </p:nvSpPr>
        <p:spPr>
          <a:xfrm>
            <a:off x="685800" y="1618488"/>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x</a:t>
            </a:r>
            <a:endParaRPr lang="en-US" sz="1800" dirty="0"/>
          </a:p>
        </p:txBody>
      </p:sp>
      <p:sp>
        <p:nvSpPr>
          <p:cNvPr id="5" name="Shape 5"/>
          <p:cNvSpPr txBox="1"/>
          <p:nvPr/>
        </p:nvSpPr>
        <p:spPr>
          <a:xfrm>
            <a:off x="1828800" y="1618488"/>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y</a:t>
            </a:r>
            <a:endParaRPr lang="en-US" sz="1800" dirty="0"/>
          </a:p>
        </p:txBody>
      </p:sp>
      <p:sp>
        <p:nvSpPr>
          <p:cNvPr id="6" name="Shape 6"/>
          <p:cNvSpPr txBox="1"/>
          <p:nvPr/>
        </p:nvSpPr>
        <p:spPr>
          <a:xfrm>
            <a:off x="685800"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0</a:t>
            </a:r>
            <a:endParaRPr lang="en-US" sz="1800" dirty="0"/>
          </a:p>
        </p:txBody>
      </p:sp>
      <p:sp>
        <p:nvSpPr>
          <p:cNvPr id="7" name="Shape 7"/>
          <p:cNvSpPr txBox="1"/>
          <p:nvPr/>
        </p:nvSpPr>
        <p:spPr>
          <a:xfrm>
            <a:off x="1828800" y="203911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8" name="Shape 8"/>
          <p:cNvSpPr txBox="1"/>
          <p:nvPr/>
        </p:nvSpPr>
        <p:spPr>
          <a:xfrm>
            <a:off x="685800" y="245973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0.5</a:t>
            </a:r>
            <a:endParaRPr lang="en-US" sz="1800" dirty="0"/>
          </a:p>
        </p:txBody>
      </p:sp>
      <p:sp>
        <p:nvSpPr>
          <p:cNvPr id="9" name="Shape 9"/>
          <p:cNvSpPr txBox="1"/>
          <p:nvPr/>
        </p:nvSpPr>
        <p:spPr>
          <a:xfrm>
            <a:off x="1828800" y="245973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6</a:t>
            </a:r>
            <a:endParaRPr lang="en-US" sz="1800" dirty="0"/>
          </a:p>
        </p:txBody>
      </p:sp>
      <p:sp>
        <p:nvSpPr>
          <p:cNvPr id="10" name="Shape 10"/>
          <p:cNvSpPr txBox="1"/>
          <p:nvPr/>
        </p:nvSpPr>
        <p:spPr>
          <a:xfrm>
            <a:off x="685800" y="288036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3</a:t>
            </a:r>
            <a:endParaRPr lang="en-US" sz="1800" dirty="0"/>
          </a:p>
        </p:txBody>
      </p:sp>
      <p:sp>
        <p:nvSpPr>
          <p:cNvPr id="11" name="Shape 11"/>
          <p:cNvSpPr txBox="1"/>
          <p:nvPr/>
        </p:nvSpPr>
        <p:spPr>
          <a:xfrm>
            <a:off x="1828800" y="288036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16</a:t>
            </a:r>
            <a:endParaRPr lang="en-US" sz="1800" dirty="0"/>
          </a:p>
        </p:txBody>
      </p:sp>
      <p:sp>
        <p:nvSpPr>
          <p:cNvPr id="12" name="Shape 12"/>
          <p:cNvSpPr txBox="1"/>
          <p:nvPr/>
        </p:nvSpPr>
        <p:spPr>
          <a:xfrm>
            <a:off x="6286348" y="161848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From (0, 4) to (0.5, 6): </a:t>
            </a:r>
            <a:r>
              <a:rPr lang="en-US" sz="1950" dirty="0">
                <a:solidFill>
                  <a:srgbClr val="16171D"/>
                </a:solidFill>
                <a:latin typeface="Segoe UI"/>
                <a:cs typeface="Segoe UI"/>
              </a:rPr>
              <a:t xml:space="preserve">2</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0.5</a:t>
            </a:r>
            <a:r>
              <a:rPr lang="en-US" sz="1950" dirty="0">
                <a:solidFill>
                  <a:srgbClr val="16171D"/>
                </a:solidFill>
                <a:latin typeface="Segoe UI"/>
                <a:cs typeface="Segoe UI"/>
              </a:rPr>
              <a:t xml:space="preserve"> = 4.</a:t>
            </a:r>
            <a:endParaRPr lang="en-US" sz="1950" dirty="0"/>
          </a:p>
        </p:txBody>
      </p:sp>
      <p:sp>
        <p:nvSpPr>
          <p:cNvPr id="13" name="Shape 13"/>
          <p:cNvSpPr txBox="1"/>
          <p:nvPr/>
        </p:nvSpPr>
        <p:spPr>
          <a:xfrm>
            <a:off x="6286348" y="2103882"/>
            <a:ext cx="473211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slope 4: parallel</a:t>
            </a:r>
            <a:endParaRPr lang="en-US" sz="2325" dirty="0"/>
          </a:p>
        </p:txBody>
      </p:sp>
      <p:sp>
        <p:nvSpPr>
          <p:cNvPr id="14" name="Shape 14"/>
          <p:cNvSpPr txBox="1"/>
          <p:nvPr/>
        </p:nvSpPr>
        <p:spPr>
          <a:xfrm>
            <a:off x="6286348" y="2756154"/>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Same slope as 4</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− 3, different start.</a:t>
            </a:r>
            <a:endParaRPr lang="en-US" sz="1950" dirty="0"/>
          </a:p>
        </p:txBody>
      </p:sp>
      <p:sp>
        <p:nvSpPr>
          <p:cNvPr id="15" name="Slide Number 1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fade">
                                      <p:cBhvr>
                                        <p:cTn id="4" dur="500"/>
                                        <p:tgtEl>
                                          <p:spTgt spid="13"/>
                                        </p:tgtEl>
                                      </p:cBhvr>
                                    </p:animEffect>
                                    <p:anim calcmode="lin" valueType="num">
                                      <p:cBhvr>
                                        <p:cTn id="5" dur="500" fill="hold"/>
                                        <p:tgtEl>
                                          <p:spTgt spid="13"/>
                                        </p:tgtEl>
                                        <p:attrNameLst>
                                          <p:attrName>ppt_w</p:attrName>
                                        </p:attrNameLst>
                                      </p:cBhvr>
                                      <p:tavLst>
                                        <p:tav tm="0">
                                          <p:val>
                                            <p:fltVal val="0"/>
                                          </p:val>
                                        </p:tav>
                                        <p:tav tm="100000">
                                          <p:val>
                                            <p:strVal val="#ppt_w"/>
                                          </p:val>
                                        </p:tav>
                                      </p:tavLst>
                                    </p:anim>
                                    <p:anim calcmode="lin" valueType="num">
                                      <p:cBhvr>
                                        <p:cTn id="6" dur="500" fill="hold"/>
                                        <p:tgtEl>
                                          <p:spTgt spid="1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You do · Try it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Compare to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 = 4</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− 3</a:t>
            </a:r>
            <a:endParaRPr lang="en-US" sz="3450" dirty="0"/>
          </a:p>
        </p:txBody>
      </p:sp>
      <p:sp>
        <p:nvSpPr>
          <p:cNvPr id="6" name="Shape 6"/>
          <p:cNvSpPr txBox="1"/>
          <p:nvPr/>
        </p:nvSpPr>
        <p:spPr>
          <a:xfrm>
            <a:off x="685800" y="1618488"/>
            <a:ext cx="5219548" cy="160629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004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Chiletso makes 4 dozen cookies per hour.</a:t>
            </a:r>
            <a:endParaRPr lang="en-US" sz="1950" dirty="0"/>
          </a:p>
        </p:txBody>
      </p:sp>
      <p:sp>
        <p:nvSpPr>
          <p:cNvPr id="5" name="Shape 5"/>
          <p:cNvSpPr txBox="1"/>
          <p:nvPr/>
        </p:nvSpPr>
        <p:spPr>
          <a:xfrm>
            <a:off x="895350" y="2534412"/>
            <a:ext cx="473211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slope 4: parallel</a:t>
            </a:r>
            <a:endParaRPr lang="en-US" sz="2325" dirty="0"/>
          </a:p>
        </p:txBody>
      </p:sp>
      <p:sp>
        <p:nvSpPr>
          <p:cNvPr id="9" name="Shape 9"/>
          <p:cNvSpPr txBox="1"/>
          <p:nvPr/>
        </p:nvSpPr>
        <p:spPr>
          <a:xfrm>
            <a:off x="6286348" y="1618488"/>
            <a:ext cx="5219548"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6495898" y="1789938"/>
            <a:ext cx="48004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a:t>
            </a:r>
            <a:r>
              <a:rPr lang="en-US" sz="1950" dirty="0">
                <a:solidFill>
                  <a:srgbClr val="16171D"/>
                </a:solidFill>
                <a:latin typeface="Segoe UI"/>
                <a:cs typeface="Segoe UI"/>
              </a:rPr>
              <a:t xml:space="preserve">1</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4</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+ 2</a:t>
            </a:r>
            <a:endParaRPr lang="en-US" sz="1950" dirty="0"/>
          </a:p>
        </p:txBody>
      </p:sp>
      <p:sp>
        <p:nvSpPr>
          <p:cNvPr id="8" name="Shape 8"/>
          <p:cNvSpPr txBox="1"/>
          <p:nvPr/>
        </p:nvSpPr>
        <p:spPr>
          <a:xfrm>
            <a:off x="6495898" y="2237232"/>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perpendicular</a:t>
            </a:r>
            <a:endParaRPr lang="en-US" sz="2325" dirty="0"/>
          </a:p>
        </p:txBody>
      </p:sp>
      <p:sp>
        <p:nvSpPr>
          <p:cNvPr id="10" name="Slide Number 1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7</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Check it · Step by step</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Compare to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 = 4</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− 3</a:t>
            </a:r>
            <a:endParaRPr lang="en-US" sz="3450" dirty="0"/>
          </a:p>
        </p:txBody>
      </p:sp>
      <p:sp>
        <p:nvSpPr>
          <p:cNvPr id="9" name="Shape 9"/>
          <p:cNvSpPr txBox="1"/>
          <p:nvPr/>
        </p:nvSpPr>
        <p:spPr>
          <a:xfrm>
            <a:off x="685800" y="1618488"/>
            <a:ext cx="5295748" cy="35425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76648" cy="69494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1. Chiletso makes 4 dozen cookies per hour.</a:t>
            </a:r>
            <a:endParaRPr lang="en-US" sz="2100" dirty="0"/>
          </a:p>
        </p:txBody>
      </p:sp>
      <p:sp>
        <p:nvSpPr>
          <p:cNvPr id="5" name="Shape 5"/>
          <p:cNvSpPr txBox="1"/>
          <p:nvPr/>
        </p:nvSpPr>
        <p:spPr>
          <a:xfrm>
            <a:off x="895350" y="2580132"/>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1.</a:t>
            </a:r>
            <a:r>
              <a:rPr lang="en-US" sz="1575" dirty="0">
                <a:solidFill>
                  <a:srgbClr val="16171D"/>
                </a:solidFill>
                <a:latin typeface="Segoe UI"/>
                <a:cs typeface="Segoe UI"/>
              </a:rPr>
              <a:t xml:space="preserve"> Look for "per": 4 dozen </a:t>
            </a:r>
            <a:r>
              <a:rPr lang="en-US" sz="1575" dirty="0" b="1">
                <a:solidFill>
                  <a:srgbClr val="16171D"/>
                </a:solidFill>
                <a:latin typeface="Segoe UI"/>
                <a:cs typeface="Segoe UI"/>
              </a:rPr>
              <a:t xml:space="preserve">per</a:t>
            </a:r>
            <a:r>
              <a:rPr lang="en-US" sz="1575" dirty="0">
                <a:solidFill>
                  <a:srgbClr val="16171D"/>
                </a:solidFill>
                <a:latin typeface="Segoe UI"/>
                <a:cs typeface="Segoe UI"/>
              </a:rPr>
              <a:t xml:space="preserve"> hour. The slope is 4.</a:t>
            </a:r>
            <a:endParaRPr lang="en-US" sz="1575" dirty="0"/>
          </a:p>
        </p:txBody>
      </p:sp>
      <p:sp>
        <p:nvSpPr>
          <p:cNvPr id="6" name="Shape 6"/>
          <p:cNvSpPr txBox="1"/>
          <p:nvPr/>
        </p:nvSpPr>
        <p:spPr>
          <a:xfrm>
            <a:off x="895350" y="3210306"/>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2.</a:t>
            </a:r>
            <a:r>
              <a:rPr lang="en-US" sz="1575" dirty="0">
                <a:solidFill>
                  <a:srgbClr val="16171D"/>
                </a:solidFill>
                <a:latin typeface="Segoe UI"/>
                <a:cs typeface="Segoe UI"/>
              </a:rPr>
              <a:t xml:space="preserve"> The slope of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4</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− 3 is the number with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4.</a:t>
            </a:r>
            <a:endParaRPr lang="en-US" sz="1575" dirty="0"/>
          </a:p>
        </p:txBody>
      </p:sp>
      <p:sp>
        <p:nvSpPr>
          <p:cNvPr id="7" name="Shape 7"/>
          <p:cNvSpPr txBox="1"/>
          <p:nvPr/>
        </p:nvSpPr>
        <p:spPr>
          <a:xfrm>
            <a:off x="895350" y="3840480"/>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3.</a:t>
            </a:r>
            <a:r>
              <a:rPr lang="en-US" sz="1575" dirty="0">
                <a:solidFill>
                  <a:srgbClr val="16171D"/>
                </a:solidFill>
                <a:latin typeface="Segoe UI"/>
                <a:cs typeface="Segoe UI"/>
              </a:rPr>
              <a:t xml:space="preserve"> 4 and 4 are the same slope, so the lines are parallel.</a:t>
            </a:r>
            <a:endParaRPr lang="en-US" sz="1575" dirty="0"/>
          </a:p>
        </p:txBody>
      </p:sp>
      <p:sp>
        <p:nvSpPr>
          <p:cNvPr id="8" name="Shape 8"/>
          <p:cNvSpPr txBox="1"/>
          <p:nvPr/>
        </p:nvSpPr>
        <p:spPr>
          <a:xfrm>
            <a:off x="895350" y="4470654"/>
            <a:ext cx="473211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slope 4: parallel</a:t>
            </a:r>
            <a:endParaRPr lang="en-US" sz="2325" dirty="0"/>
          </a:p>
        </p:txBody>
      </p:sp>
      <p:sp>
        <p:nvSpPr>
          <p:cNvPr id="15" name="Shape 15"/>
          <p:cNvSpPr txBox="1"/>
          <p:nvPr/>
        </p:nvSpPr>
        <p:spPr>
          <a:xfrm>
            <a:off x="6210148" y="1618488"/>
            <a:ext cx="5295748" cy="29824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6419698" y="1789938"/>
            <a:ext cx="48766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2. </a:t>
            </a:r>
            <a:r>
              <a:rPr lang="en-US" sz="2100" dirty="0" b="1" i="1">
                <a:solidFill>
                  <a:srgbClr val="16171D"/>
                </a:solidFill>
                <a:latin typeface="Segoe UI"/>
                <a:cs typeface="Segoe UI"/>
              </a:rPr>
              <a:t xml:space="preserve">y</a:t>
            </a:r>
            <a:r>
              <a:rPr lang="en-US" sz="2100" dirty="0" b="1">
                <a:solidFill>
                  <a:srgbClr val="16171D"/>
                </a:solidFill>
                <a:latin typeface="Segoe UI"/>
                <a:cs typeface="Segoe UI"/>
              </a:rPr>
              <a:t xml:space="preserve"> = −</a:t>
            </a:r>
            <a:r>
              <a:rPr lang="en-US" sz="2100" dirty="0" b="1">
                <a:solidFill>
                  <a:srgbClr val="16171D"/>
                </a:solidFill>
                <a:latin typeface="Segoe UI"/>
                <a:cs typeface="Segoe UI"/>
              </a:rPr>
              <a:t xml:space="preserve">1</a:t>
            </a:r>
            <a:r>
              <a:rPr lang="en-US" sz="2100" dirty="0" b="1">
                <a:solidFill>
                  <a:srgbClr val="16171D"/>
                </a:solidFill>
                <a:latin typeface="Segoe UI"/>
                <a:cs typeface="Segoe UI"/>
              </a:rPr>
              <a:t xml:space="preserve">/</a:t>
            </a:r>
            <a:r>
              <a:rPr lang="en-US" sz="2100" dirty="0" b="1">
                <a:solidFill>
                  <a:srgbClr val="16171D"/>
                </a:solidFill>
                <a:latin typeface="Segoe UI"/>
                <a:cs typeface="Segoe UI"/>
              </a:rPr>
              <a:t xml:space="preserve">4</a:t>
            </a:r>
            <a:r>
              <a:rPr lang="en-US" sz="2100" dirty="0" b="1" i="1">
                <a:solidFill>
                  <a:srgbClr val="16171D"/>
                </a:solidFill>
                <a:latin typeface="Segoe UI"/>
                <a:cs typeface="Segoe UI"/>
              </a:rPr>
              <a:t xml:space="preserve">x</a:t>
            </a:r>
            <a:r>
              <a:rPr lang="en-US" sz="2100" dirty="0" b="1">
                <a:solidFill>
                  <a:srgbClr val="16171D"/>
                </a:solidFill>
                <a:latin typeface="Segoe UI"/>
                <a:cs typeface="Segoe UI"/>
              </a:rPr>
              <a:t xml:space="preserve"> + 2</a:t>
            </a:r>
            <a:endParaRPr lang="en-US" sz="2100" dirty="0"/>
          </a:p>
        </p:txBody>
      </p:sp>
      <p:sp>
        <p:nvSpPr>
          <p:cNvPr id="11" name="Shape 11"/>
          <p:cNvSpPr txBox="1"/>
          <p:nvPr/>
        </p:nvSpPr>
        <p:spPr>
          <a:xfrm>
            <a:off x="6419698" y="226009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1.</a:t>
            </a:r>
            <a:r>
              <a:rPr lang="en-US" sz="1575" dirty="0">
                <a:solidFill>
                  <a:srgbClr val="16171D"/>
                </a:solidFill>
                <a:latin typeface="Segoe UI"/>
                <a:cs typeface="Segoe UI"/>
              </a:rPr>
              <a:t xml:space="preserve"> The slope is the number with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4</a:t>
            </a:r>
            <a:r>
              <a:rPr lang="en-US" sz="1575" dirty="0">
                <a:solidFill>
                  <a:srgbClr val="16171D"/>
                </a:solidFill>
                <a:latin typeface="Segoe UI"/>
                <a:cs typeface="Segoe UI"/>
              </a:rPr>
              <a:t xml:space="preserve">.</a:t>
            </a:r>
            <a:endParaRPr lang="en-US" sz="1575" dirty="0"/>
          </a:p>
        </p:txBody>
      </p:sp>
      <p:sp>
        <p:nvSpPr>
          <p:cNvPr id="12" name="Shape 12"/>
          <p:cNvSpPr txBox="1"/>
          <p:nvPr/>
        </p:nvSpPr>
        <p:spPr>
          <a:xfrm>
            <a:off x="6419698" y="2650236"/>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2.</a:t>
            </a:r>
            <a:r>
              <a:rPr lang="en-US" sz="1575" dirty="0">
                <a:solidFill>
                  <a:srgbClr val="16171D"/>
                </a:solidFill>
                <a:latin typeface="Segoe UI"/>
                <a:cs typeface="Segoe UI"/>
              </a:rPr>
              <a:t xml:space="preserve"> Is it the same as 4? No, so not parallel.</a:t>
            </a:r>
            <a:endParaRPr lang="en-US" sz="1575" dirty="0"/>
          </a:p>
        </p:txBody>
      </p:sp>
      <p:sp>
        <p:nvSpPr>
          <p:cNvPr id="13" name="Shape 13"/>
          <p:cNvSpPr txBox="1"/>
          <p:nvPr/>
        </p:nvSpPr>
        <p:spPr>
          <a:xfrm>
            <a:off x="6419698" y="3280410"/>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3.</a:t>
            </a:r>
            <a:r>
              <a:rPr lang="en-US" sz="1575" dirty="0">
                <a:solidFill>
                  <a:srgbClr val="16171D"/>
                </a:solidFill>
                <a:latin typeface="Segoe UI"/>
                <a:cs typeface="Segoe UI"/>
              </a:rPr>
              <a:t xml:space="preserve"> Multiply the slopes: 4 ·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4</a:t>
            </a:r>
            <a:r>
              <a:rPr lang="en-US" sz="1575" dirty="0">
                <a:solidFill>
                  <a:srgbClr val="16171D"/>
                </a:solidFill>
                <a:latin typeface="Segoe UI"/>
                <a:cs typeface="Segoe UI"/>
              </a:rPr>
              <a:t xml:space="preserve">) = −1. A product of −1 means perpendicular.</a:t>
            </a:r>
            <a:endParaRPr lang="en-US" sz="1575" dirty="0"/>
          </a:p>
        </p:txBody>
      </p:sp>
      <p:sp>
        <p:nvSpPr>
          <p:cNvPr id="14" name="Shape 14"/>
          <p:cNvSpPr txBox="1"/>
          <p:nvPr/>
        </p:nvSpPr>
        <p:spPr>
          <a:xfrm>
            <a:off x="6419698" y="3910584"/>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perpendicular</a:t>
            </a:r>
            <a:endParaRPr lang="en-US" sz="2325" dirty="0"/>
          </a:p>
        </p:txBody>
      </p:sp>
      <p:sp>
        <p:nvSpPr>
          <p:cNvPr id="16" name="Slide Number 1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8</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anim calcmode="lin" valueType="num">
                                      <p:cBhvr>
                                        <p:cTn id="33" dur="500" fill="hold"/>
                                        <p:tgtEl>
                                          <p:spTgt spid="11"/>
                                        </p:tgtEl>
                                        <p:attrNameLst>
                                          <p:attrName>ppt_x</p:attrName>
                                        </p:attrNameLst>
                                      </p:cBhvr>
                                      <p:tavLst>
                                        <p:tav tm="0">
                                          <p:val>
                                            <p:strVal val="#ppt_x"/>
                                          </p:val>
                                        </p:tav>
                                        <p:tav tm="100000">
                                          <p:val>
                                            <p:strVal val="#ppt_x"/>
                                          </p:val>
                                        </p:tav>
                                      </p:tavLst>
                                    </p:anim>
                                    <p:anim calcmode="lin" valueType="num">
                                      <p:cBhvr>
                                        <p:cTn id="34"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anim calcmode="lin" valueType="num">
                                      <p:cBhvr>
                                        <p:cTn id="40" dur="500" fill="hold"/>
                                        <p:tgtEl>
                                          <p:spTgt spid="12"/>
                                        </p:tgtEl>
                                        <p:attrNameLst>
                                          <p:attrName>ppt_x</p:attrName>
                                        </p:attrNameLst>
                                      </p:cBhvr>
                                      <p:tavLst>
                                        <p:tav tm="0">
                                          <p:val>
                                            <p:strVal val="#ppt_x"/>
                                          </p:val>
                                        </p:tav>
                                        <p:tav tm="100000">
                                          <p:val>
                                            <p:strVal val="#ppt_x"/>
                                          </p:val>
                                        </p:tav>
                                      </p:tavLst>
                                    </p:anim>
                                    <p:anim calcmode="lin" valueType="num">
                                      <p:cBhvr>
                                        <p:cTn id="41"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00"/>
                                        <p:tgtEl>
                                          <p:spTgt spid="13"/>
                                        </p:tgtEl>
                                      </p:cBhvr>
                                    </p:animEffect>
                                    <p:anim calcmode="lin" valueType="num">
                                      <p:cBhvr>
                                        <p:cTn id="47" dur="500" fill="hold"/>
                                        <p:tgtEl>
                                          <p:spTgt spid="13"/>
                                        </p:tgtEl>
                                        <p:attrNameLst>
                                          <p:attrName>ppt_x</p:attrName>
                                        </p:attrNameLst>
                                      </p:cBhvr>
                                      <p:tavLst>
                                        <p:tav tm="0">
                                          <p:val>
                                            <p:strVal val="#ppt_x"/>
                                          </p:val>
                                        </p:tav>
                                        <p:tav tm="100000">
                                          <p:val>
                                            <p:strVal val="#ppt_x"/>
                                          </p:val>
                                        </p:tav>
                                      </p:tavLst>
                                    </p:anim>
                                    <p:anim calcmode="lin" valueType="num">
                                      <p:cBhvr>
                                        <p:cTn id="48"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53" presetClass="entr" presetSubtype="16" fill="hold" nodeType="click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500"/>
                                        <p:tgtEl>
                                          <p:spTgt spid="14"/>
                                        </p:tgtEl>
                                      </p:cBhvr>
                                    </p:animEffect>
                                    <p:anim calcmode="lin" valueType="num">
                                      <p:cBhvr>
                                        <p:cTn id="54" dur="500" fill="hold"/>
                                        <p:tgtEl>
                                          <p:spTgt spid="14"/>
                                        </p:tgtEl>
                                        <p:attrNameLst>
                                          <p:attrName>ppt_w</p:attrName>
                                        </p:attrNameLst>
                                      </p:cBhvr>
                                      <p:tavLst>
                                        <p:tav tm="0">
                                          <p:val>
                                            <p:fltVal val="0"/>
                                          </p:val>
                                        </p:tav>
                                        <p:tav tm="100000">
                                          <p:val>
                                            <p:strVal val="#ppt_w"/>
                                          </p:val>
                                        </p:tav>
                                      </p:tavLst>
                                    </p:anim>
                                    <p:anim calcmode="lin" valueType="num">
                                      <p:cBhvr>
                                        <p:cTn id="55" dur="500" fill="hold"/>
                                        <p:tgtEl>
                                          <p:spTgt spid="1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We do · Table and graph</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Which recycling center pays more?</a:t>
            </a:r>
            <a:endParaRPr lang="en-US" sz="3450" dirty="0"/>
          </a:p>
        </p:txBody>
      </p:sp>
      <p:sp>
        <p:nvSpPr>
          <p:cNvPr id="4" name="Shape 4"/>
          <p:cNvSpPr txBox="1"/>
          <p:nvPr/>
        </p:nvSpPr>
        <p:spPr>
          <a:xfrm>
            <a:off x="685800" y="161848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Travis County</a:t>
            </a:r>
            <a:endParaRPr lang="en-US" sz="1950" dirty="0"/>
          </a:p>
        </p:txBody>
      </p:sp>
      <p:sp>
        <p:nvSpPr>
          <p:cNvPr id="5" name="Shape 5"/>
          <p:cNvSpPr txBox="1"/>
          <p:nvPr/>
        </p:nvSpPr>
        <p:spPr>
          <a:xfrm>
            <a:off x="685800" y="2103882"/>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tons</a:t>
            </a:r>
            <a:endParaRPr lang="en-US" sz="1800" dirty="0"/>
          </a:p>
        </p:txBody>
      </p:sp>
      <p:sp>
        <p:nvSpPr>
          <p:cNvPr id="6" name="Shape 6"/>
          <p:cNvSpPr txBox="1"/>
          <p:nvPr/>
        </p:nvSpPr>
        <p:spPr>
          <a:xfrm>
            <a:off x="1828800" y="2103882"/>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a:t>
            </a:r>
            <a:endParaRPr lang="en-US" sz="1800" dirty="0"/>
          </a:p>
        </p:txBody>
      </p:sp>
      <p:sp>
        <p:nvSpPr>
          <p:cNvPr id="7" name="Shape 7"/>
          <p:cNvSpPr txBox="1"/>
          <p:nvPr/>
        </p:nvSpPr>
        <p:spPr>
          <a:xfrm>
            <a:off x="685800" y="252450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a:t>
            </a:r>
            <a:endParaRPr lang="en-US" sz="1800" dirty="0"/>
          </a:p>
        </p:txBody>
      </p:sp>
      <p:sp>
        <p:nvSpPr>
          <p:cNvPr id="8" name="Shape 8"/>
          <p:cNvSpPr txBox="1"/>
          <p:nvPr/>
        </p:nvSpPr>
        <p:spPr>
          <a:xfrm>
            <a:off x="1828800" y="252450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15</a:t>
            </a:r>
            <a:endParaRPr lang="en-US" sz="1800" dirty="0"/>
          </a:p>
        </p:txBody>
      </p:sp>
      <p:sp>
        <p:nvSpPr>
          <p:cNvPr id="9" name="Shape 9"/>
          <p:cNvSpPr txBox="1"/>
          <p:nvPr/>
        </p:nvSpPr>
        <p:spPr>
          <a:xfrm>
            <a:off x="685800" y="294513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a:t>
            </a:r>
            <a:endParaRPr lang="en-US" sz="1800" dirty="0"/>
          </a:p>
        </p:txBody>
      </p:sp>
      <p:sp>
        <p:nvSpPr>
          <p:cNvPr id="10" name="Shape 10"/>
          <p:cNvSpPr txBox="1"/>
          <p:nvPr/>
        </p:nvSpPr>
        <p:spPr>
          <a:xfrm>
            <a:off x="1828800" y="294513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30</a:t>
            </a:r>
            <a:endParaRPr lang="en-US" sz="1800" dirty="0"/>
          </a:p>
        </p:txBody>
      </p:sp>
      <p:sp>
        <p:nvSpPr>
          <p:cNvPr id="11" name="Shape 11"/>
          <p:cNvSpPr txBox="1"/>
          <p:nvPr/>
        </p:nvSpPr>
        <p:spPr>
          <a:xfrm>
            <a:off x="685800" y="3499104"/>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Rate: ____ per ton</a:t>
            </a:r>
            <a:endParaRPr lang="en-US" sz="1950" dirty="0"/>
          </a:p>
        </p:txBody>
      </p:sp>
      <p:sp>
        <p:nvSpPr>
          <p:cNvPr id="12" name="Shape 12"/>
          <p:cNvSpPr txBox="1"/>
          <p:nvPr/>
        </p:nvSpPr>
        <p:spPr>
          <a:xfrm>
            <a:off x="685800" y="3984498"/>
            <a:ext cx="241054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$15</a:t>
            </a:r>
            <a:endParaRPr lang="en-US" sz="2325" dirty="0"/>
          </a:p>
        </p:txBody>
      </p:sp>
      <p:sp>
        <p:nvSpPr>
          <p:cNvPr id="13" name="Shape 13"/>
          <p:cNvSpPr txBox="1"/>
          <p:nvPr/>
        </p:nvSpPr>
        <p:spPr>
          <a:xfrm>
            <a:off x="6286348" y="161848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Hays County graph: through (1, 20)</a:t>
            </a:r>
            <a:endParaRPr lang="en-US" sz="1950" dirty="0"/>
          </a:p>
        </p:txBody>
      </p:sp>
      <p:sp>
        <p:nvSpPr>
          <p:cNvPr id="14" name="Shape 14"/>
          <p:cNvSpPr txBox="1"/>
          <p:nvPr/>
        </p:nvSpPr>
        <p:spPr>
          <a:xfrm>
            <a:off x="6286348" y="2103882"/>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Rate: ____ per ton</a:t>
            </a:r>
            <a:endParaRPr lang="en-US" sz="1950" dirty="0"/>
          </a:p>
        </p:txBody>
      </p:sp>
      <p:sp>
        <p:nvSpPr>
          <p:cNvPr id="15" name="Shape 15"/>
          <p:cNvSpPr txBox="1"/>
          <p:nvPr/>
        </p:nvSpPr>
        <p:spPr>
          <a:xfrm>
            <a:off x="6286348" y="2589276"/>
            <a:ext cx="241054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$20</a:t>
            </a:r>
            <a:endParaRPr lang="en-US" sz="2325" dirty="0"/>
          </a:p>
        </p:txBody>
      </p:sp>
      <p:sp>
        <p:nvSpPr>
          <p:cNvPr id="16" name="Shape 16"/>
          <p:cNvSpPr txBox="1"/>
          <p:nvPr/>
        </p:nvSpPr>
        <p:spPr>
          <a:xfrm>
            <a:off x="6286348" y="324154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Which pays more?</a:t>
            </a:r>
            <a:endParaRPr lang="en-US" sz="1950" dirty="0"/>
          </a:p>
        </p:txBody>
      </p:sp>
      <p:sp>
        <p:nvSpPr>
          <p:cNvPr id="17" name="Shape 17"/>
          <p:cNvSpPr txBox="1"/>
          <p:nvPr/>
        </p:nvSpPr>
        <p:spPr>
          <a:xfrm>
            <a:off x="6286348" y="3726942"/>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Hays County</a:t>
            </a:r>
            <a:endParaRPr lang="en-US" sz="2325" dirty="0"/>
          </a:p>
        </p:txBody>
      </p:sp>
      <p:sp>
        <p:nvSpPr>
          <p:cNvPr id="18" name="Slide Number 1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9</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12"/>
                                        </p:tgtEl>
                                        <p:attrNameLst>
                                          <p:attrName>style.visibility</p:attrName>
                                        </p:attrNameLst>
                                      </p:cBhvr>
                                      <p:to>
                                        <p:strVal val="visible"/>
                                      </p:to>
                                    </p:set>
                                    <p:animEffect transition="in" filter="fade">
                                      <p:cBhvr>
                                        <p:cTn id="4" dur="500"/>
                                        <p:tgtEl>
                                          <p:spTgt spid="12"/>
                                        </p:tgtEl>
                                      </p:cBhvr>
                                    </p:animEffect>
                                    <p:anim calcmode="lin" valueType="num">
                                      <p:cBhvr>
                                        <p:cTn id="5" dur="500" fill="hold"/>
                                        <p:tgtEl>
                                          <p:spTgt spid="12"/>
                                        </p:tgtEl>
                                        <p:attrNameLst>
                                          <p:attrName>ppt_w</p:attrName>
                                        </p:attrNameLst>
                                      </p:cBhvr>
                                      <p:tavLst>
                                        <p:tav tm="0">
                                          <p:val>
                                            <p:fltVal val="0"/>
                                          </p:val>
                                        </p:tav>
                                        <p:tav tm="100000">
                                          <p:val>
                                            <p:strVal val="#ppt_w"/>
                                          </p:val>
                                        </p:tav>
                                      </p:tavLst>
                                    </p:anim>
                                    <p:anim calcmode="lin" valueType="num">
                                      <p:cBhvr>
                                        <p:cTn id="6" dur="500" fill="hold"/>
                                        <p:tgtEl>
                                          <p:spTgt spid="12"/>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anim calcmode="lin" valueType="num">
                                      <p:cBhvr>
                                        <p:cTn id="12" dur="500" fill="hold"/>
                                        <p:tgtEl>
                                          <p:spTgt spid="15"/>
                                        </p:tgtEl>
                                        <p:attrNameLst>
                                          <p:attrName>ppt_w</p:attrName>
                                        </p:attrNameLst>
                                      </p:cBhvr>
                                      <p:tavLst>
                                        <p:tav tm="0">
                                          <p:val>
                                            <p:fltVal val="0"/>
                                          </p:val>
                                        </p:tav>
                                        <p:tav tm="100000">
                                          <p:val>
                                            <p:strVal val="#ppt_w"/>
                                          </p:val>
                                        </p:tav>
                                      </p:tavLst>
                                    </p:anim>
                                    <p:anim calcmode="lin" valueType="num">
                                      <p:cBhvr>
                                        <p:cTn id="13"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anim calcmode="lin" valueType="num">
                                      <p:cBhvr>
                                        <p:cTn id="19" dur="500" fill="hold"/>
                                        <p:tgtEl>
                                          <p:spTgt spid="17"/>
                                        </p:tgtEl>
                                        <p:attrNameLst>
                                          <p:attrName>ppt_w</p:attrName>
                                        </p:attrNameLst>
                                      </p:cBhvr>
                                      <p:tavLst>
                                        <p:tav tm="0">
                                          <p:val>
                                            <p:fltVal val="0"/>
                                          </p:val>
                                        </p:tav>
                                        <p:tav tm="100000">
                                          <p:val>
                                            <p:strVal val="#ppt_w"/>
                                          </p:val>
                                        </p:tav>
                                      </p:tavLst>
                                    </p:anim>
                                    <p:anim calcmode="lin" valueType="num">
                                      <p:cBhvr>
                                        <p:cTn id="20" dur="500" fill="hold"/>
                                        <p:tgtEl>
                                          <p:spTgt spid="1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I do · Meaning in a story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Lauren starts with $25 and saves $25 each month</a:t>
            </a:r>
            <a:endParaRPr lang="en-US" sz="3450" dirty="0"/>
          </a:p>
        </p:txBody>
      </p:sp>
      <p:sp>
        <p:nvSpPr>
          <p:cNvPr id="4" name="Shape 4"/>
          <p:cNvSpPr txBox="1"/>
          <p:nvPr/>
        </p:nvSpPr>
        <p:spPr>
          <a:xfrm>
            <a:off x="685800" y="1618488"/>
            <a:ext cx="10820095"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25</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25</a:t>
            </a:r>
            <a:endParaRPr lang="en-US" sz="2850" dirty="0"/>
          </a:p>
        </p:txBody>
      </p:sp>
      <p:sp>
        <p:nvSpPr>
          <p:cNvPr id="5" name="Shape 5"/>
          <p:cNvSpPr txBox="1"/>
          <p:nvPr/>
        </p:nvSpPr>
        <p:spPr>
          <a:xfrm>
            <a:off x="685800" y="227914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C9561F"/>
                </a:solidFill>
                <a:latin typeface="Segoe UI"/>
                <a:cs typeface="Segoe UI"/>
              </a:rPr>
              <a:t xml:space="preserve">25</a:t>
            </a:r>
            <a:r>
              <a:rPr lang="en-US" sz="1950" dirty="0">
                <a:solidFill>
                  <a:srgbClr val="16171D"/>
                </a:solidFill>
                <a:latin typeface="Segoe UI"/>
                <a:cs typeface="Segoe UI"/>
              </a:rPr>
              <a:t xml:space="preserve"> (slope): she saves $25 each month.</a:t>
            </a:r>
            <a:endParaRPr lang="en-US" sz="1950" dirty="0"/>
          </a:p>
        </p:txBody>
      </p:sp>
      <p:sp>
        <p:nvSpPr>
          <p:cNvPr id="6" name="Shape 6"/>
          <p:cNvSpPr txBox="1"/>
          <p:nvPr/>
        </p:nvSpPr>
        <p:spPr>
          <a:xfrm>
            <a:off x="685800" y="280263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3050B8"/>
                </a:solidFill>
                <a:latin typeface="Segoe UI"/>
                <a:cs typeface="Segoe UI"/>
              </a:rPr>
              <a:t xml:space="preserve">25</a:t>
            </a:r>
            <a:r>
              <a:rPr lang="en-US" sz="1950" dirty="0">
                <a:solidFill>
                  <a:srgbClr val="16171D"/>
                </a:solidFill>
                <a:latin typeface="Segoe UI"/>
                <a:cs typeface="Segoe UI"/>
              </a:rPr>
              <a:t xml:space="preserv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she started with $25.</a:t>
            </a:r>
            <a:endParaRPr lang="en-US" sz="1950" dirty="0"/>
          </a:p>
        </p:txBody>
      </p:sp>
      <p:sp>
        <p:nvSpPr>
          <p:cNvPr id="7" name="Shape 7"/>
          <p:cNvSpPr txBox="1"/>
          <p:nvPr/>
        </p:nvSpPr>
        <p:spPr>
          <a:xfrm>
            <a:off x="685800" y="332613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Miguel saves $20 a month from $0. Who saves faster?</a:t>
            </a:r>
            <a:endParaRPr lang="en-US" sz="1950" dirty="0"/>
          </a:p>
        </p:txBody>
      </p:sp>
      <p:sp>
        <p:nvSpPr>
          <p:cNvPr id="8" name="Shape 8"/>
          <p:cNvSpPr txBox="1"/>
          <p:nvPr/>
        </p:nvSpPr>
        <p:spPr>
          <a:xfrm>
            <a:off x="685800" y="3849624"/>
            <a:ext cx="489793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Lauren ($25 &gt; $20)</a:t>
            </a:r>
            <a:endParaRPr lang="en-US" sz="2325" dirty="0"/>
          </a:p>
        </p:txBody>
      </p:sp>
      <p:sp>
        <p:nvSpPr>
          <p:cNvPr id="9" name="Slide Number 9"/>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10</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500"/>
                                        <p:tgtEl>
                                          <p:spTgt spid="8"/>
                                        </p:tgtEl>
                                      </p:cBhvr>
                                    </p:animEffect>
                                    <p:anim calcmode="lin" valueType="num">
                                      <p:cBhvr>
                                        <p:cTn id="5" dur="500" fill="hold"/>
                                        <p:tgtEl>
                                          <p:spTgt spid="8"/>
                                        </p:tgtEl>
                                        <p:attrNameLst>
                                          <p:attrName>ppt_w</p:attrName>
                                        </p:attrNameLst>
                                      </p:cBhvr>
                                      <p:tavLst>
                                        <p:tav tm="0">
                                          <p:val>
                                            <p:fltVal val="0"/>
                                          </p:val>
                                        </p:tav>
                                        <p:tav tm="100000">
                                          <p:val>
                                            <p:strVal val="#ppt_w"/>
                                          </p:val>
                                        </p:tav>
                                      </p:tavLst>
                                    </p:anim>
                                    <p:anim calcmode="lin" valueType="num">
                                      <p:cBhvr>
                                        <p:cTn id="6" dur="500" fill="hold"/>
                                        <p:tgtEl>
                                          <p:spTgt spid="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You do · Try it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 taxi charges $3 plus $2 per mile</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Slope (with units): ____</a:t>
            </a:r>
            <a:endParaRPr lang="en-US" sz="1950" dirty="0"/>
          </a:p>
        </p:txBody>
      </p:sp>
      <p:sp>
        <p:nvSpPr>
          <p:cNvPr id="5" name="Shape 5"/>
          <p:cNvSpPr txBox="1"/>
          <p:nvPr/>
        </p:nvSpPr>
        <p:spPr>
          <a:xfrm>
            <a:off x="685800" y="2141982"/>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 per mile</a:t>
            </a:r>
            <a:endParaRPr lang="en-US" sz="2325" dirty="0"/>
          </a:p>
        </p:txBody>
      </p:sp>
      <p:sp>
        <p:nvSpPr>
          <p:cNvPr id="6" name="Shape 6"/>
          <p:cNvSpPr txBox="1"/>
          <p:nvPr/>
        </p:nvSpPr>
        <p:spPr>
          <a:xfrm>
            <a:off x="685800" y="283235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meaning: ____</a:t>
            </a:r>
            <a:endParaRPr lang="en-US" sz="1950" dirty="0"/>
          </a:p>
        </p:txBody>
      </p:sp>
      <p:sp>
        <p:nvSpPr>
          <p:cNvPr id="7" name="Shape 7"/>
          <p:cNvSpPr txBox="1"/>
          <p:nvPr/>
        </p:nvSpPr>
        <p:spPr>
          <a:xfrm>
            <a:off x="685800" y="3355848"/>
            <a:ext cx="473211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 before driving</a:t>
            </a:r>
            <a:endParaRPr lang="en-US" sz="2325" dirty="0"/>
          </a:p>
        </p:txBody>
      </p:sp>
      <p:sp>
        <p:nvSpPr>
          <p:cNvPr id="8" name="Slide Number 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11</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Check it · Step by step</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 taxi charges $3 plus $2 per mile</a:t>
            </a:r>
            <a:endParaRPr lang="en-US" sz="3450" dirty="0"/>
          </a:p>
        </p:txBody>
      </p:sp>
      <p:sp>
        <p:nvSpPr>
          <p:cNvPr id="9" name="Shape 9"/>
          <p:cNvSpPr txBox="1"/>
          <p:nvPr/>
        </p:nvSpPr>
        <p:spPr>
          <a:xfrm>
            <a:off x="685800" y="1618488"/>
            <a:ext cx="5295748" cy="29824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766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1. Slope (with units)</a:t>
            </a:r>
            <a:endParaRPr lang="en-US" sz="2100" dirty="0"/>
          </a:p>
        </p:txBody>
      </p:sp>
      <p:sp>
        <p:nvSpPr>
          <p:cNvPr id="5" name="Shape 5"/>
          <p:cNvSpPr txBox="1"/>
          <p:nvPr/>
        </p:nvSpPr>
        <p:spPr>
          <a:xfrm>
            <a:off x="895350" y="226009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1.</a:t>
            </a:r>
            <a:r>
              <a:rPr lang="en-US" sz="1575" dirty="0">
                <a:solidFill>
                  <a:srgbClr val="16171D"/>
                </a:solidFill>
                <a:latin typeface="Segoe UI"/>
                <a:cs typeface="Segoe UI"/>
              </a:rPr>
              <a:t xml:space="preserve"> Look for "per": $2 </a:t>
            </a:r>
            <a:r>
              <a:rPr lang="en-US" sz="1575" dirty="0" b="1">
                <a:solidFill>
                  <a:srgbClr val="16171D"/>
                </a:solidFill>
                <a:latin typeface="Segoe UI"/>
                <a:cs typeface="Segoe UI"/>
              </a:rPr>
              <a:t xml:space="preserve">per</a:t>
            </a:r>
            <a:r>
              <a:rPr lang="en-US" sz="1575" dirty="0">
                <a:solidFill>
                  <a:srgbClr val="16171D"/>
                </a:solidFill>
                <a:latin typeface="Segoe UI"/>
                <a:cs typeface="Segoe UI"/>
              </a:rPr>
              <a:t xml:space="preserve"> mile.</a:t>
            </a:r>
            <a:endParaRPr lang="en-US" sz="1575" dirty="0"/>
          </a:p>
        </p:txBody>
      </p:sp>
      <p:sp>
        <p:nvSpPr>
          <p:cNvPr id="6" name="Shape 6"/>
          <p:cNvSpPr txBox="1"/>
          <p:nvPr/>
        </p:nvSpPr>
        <p:spPr>
          <a:xfrm>
            <a:off x="895350" y="2650236"/>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2.</a:t>
            </a:r>
            <a:r>
              <a:rPr lang="en-US" sz="1575" dirty="0">
                <a:solidFill>
                  <a:srgbClr val="16171D"/>
                </a:solidFill>
                <a:latin typeface="Segoe UI"/>
                <a:cs typeface="Segoe UI"/>
              </a:rPr>
              <a:t xml:space="preserve"> The slope is how much the cost goes up for each 1 mile: $2.</a:t>
            </a:r>
            <a:endParaRPr lang="en-US" sz="1575" dirty="0"/>
          </a:p>
        </p:txBody>
      </p:sp>
      <p:sp>
        <p:nvSpPr>
          <p:cNvPr id="7" name="Shape 7"/>
          <p:cNvSpPr txBox="1"/>
          <p:nvPr/>
        </p:nvSpPr>
        <p:spPr>
          <a:xfrm>
            <a:off x="895350" y="3280410"/>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3.</a:t>
            </a:r>
            <a:r>
              <a:rPr lang="en-US" sz="1575" dirty="0">
                <a:solidFill>
                  <a:srgbClr val="16171D"/>
                </a:solidFill>
                <a:latin typeface="Segoe UI"/>
                <a:cs typeface="Segoe UI"/>
              </a:rPr>
              <a:t xml:space="preserve"> Units: output (dollars) per input (miles).</a:t>
            </a:r>
            <a:endParaRPr lang="en-US" sz="1575" dirty="0"/>
          </a:p>
        </p:txBody>
      </p:sp>
      <p:sp>
        <p:nvSpPr>
          <p:cNvPr id="8" name="Shape 8"/>
          <p:cNvSpPr txBox="1"/>
          <p:nvPr/>
        </p:nvSpPr>
        <p:spPr>
          <a:xfrm>
            <a:off x="895350" y="3910584"/>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 per mile</a:t>
            </a:r>
            <a:endParaRPr lang="en-US" sz="2325" dirty="0"/>
          </a:p>
        </p:txBody>
      </p:sp>
      <p:sp>
        <p:nvSpPr>
          <p:cNvPr id="15" name="Shape 15"/>
          <p:cNvSpPr txBox="1"/>
          <p:nvPr/>
        </p:nvSpPr>
        <p:spPr>
          <a:xfrm>
            <a:off x="6210148" y="1618488"/>
            <a:ext cx="5295748" cy="29824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6419698" y="1789938"/>
            <a:ext cx="48766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2. What the </a:t>
            </a:r>
            <a:r>
              <a:rPr lang="en-US" sz="2100" dirty="0" b="1" i="1">
                <a:solidFill>
                  <a:srgbClr val="16171D"/>
                </a:solidFill>
                <a:latin typeface="Segoe UI"/>
                <a:cs typeface="Segoe UI"/>
              </a:rPr>
              <a:t xml:space="preserve">y</a:t>
            </a:r>
            <a:r>
              <a:rPr lang="en-US" sz="2100" dirty="0" b="1">
                <a:solidFill>
                  <a:srgbClr val="16171D"/>
                </a:solidFill>
                <a:latin typeface="Segoe UI"/>
                <a:cs typeface="Segoe UI"/>
              </a:rPr>
              <a:t xml:space="preserve">-intercept means</a:t>
            </a:r>
            <a:endParaRPr lang="en-US" sz="2100" dirty="0"/>
          </a:p>
        </p:txBody>
      </p:sp>
      <p:sp>
        <p:nvSpPr>
          <p:cNvPr id="11" name="Shape 11"/>
          <p:cNvSpPr txBox="1"/>
          <p:nvPr/>
        </p:nvSpPr>
        <p:spPr>
          <a:xfrm>
            <a:off x="6419698" y="2260092"/>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1.</a:t>
            </a:r>
            <a:r>
              <a:rPr lang="en-US" sz="1575" dirty="0">
                <a:solidFill>
                  <a:srgbClr val="16171D"/>
                </a:solidFill>
                <a:latin typeface="Segoe UI"/>
                <a:cs typeface="Segoe UI"/>
              </a:rPr>
              <a:t xml:space="preserve">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is the cost when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0 miles.</a:t>
            </a:r>
            <a:endParaRPr lang="en-US" sz="1575" dirty="0"/>
          </a:p>
        </p:txBody>
      </p:sp>
      <p:sp>
        <p:nvSpPr>
          <p:cNvPr id="12" name="Shape 12"/>
          <p:cNvSpPr txBox="1"/>
          <p:nvPr/>
        </p:nvSpPr>
        <p:spPr>
          <a:xfrm>
            <a:off x="6419698" y="2890266"/>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2.</a:t>
            </a:r>
            <a:r>
              <a:rPr lang="en-US" sz="1575" dirty="0">
                <a:solidFill>
                  <a:srgbClr val="16171D"/>
                </a:solidFill>
                <a:latin typeface="Segoe UI"/>
                <a:cs typeface="Segoe UI"/>
              </a:rPr>
              <a:t xml:space="preserve"> At 0 miles you still pay the $3.</a:t>
            </a:r>
            <a:endParaRPr lang="en-US" sz="1575" dirty="0"/>
          </a:p>
        </p:txBody>
      </p:sp>
      <p:sp>
        <p:nvSpPr>
          <p:cNvPr id="13" name="Shape 13"/>
          <p:cNvSpPr txBox="1"/>
          <p:nvPr/>
        </p:nvSpPr>
        <p:spPr>
          <a:xfrm>
            <a:off x="6419698" y="3280410"/>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3.</a:t>
            </a:r>
            <a:r>
              <a:rPr lang="en-US" sz="1575" dirty="0">
                <a:solidFill>
                  <a:srgbClr val="16171D"/>
                </a:solidFill>
                <a:latin typeface="Segoe UI"/>
                <a:cs typeface="Segoe UI"/>
              </a:rPr>
              <a:t xml:space="preserve"> So the equation is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2</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+ 3, and 3 is the start.</a:t>
            </a:r>
            <a:endParaRPr lang="en-US" sz="1575" dirty="0"/>
          </a:p>
        </p:txBody>
      </p:sp>
      <p:sp>
        <p:nvSpPr>
          <p:cNvPr id="14" name="Shape 14"/>
          <p:cNvSpPr txBox="1"/>
          <p:nvPr/>
        </p:nvSpPr>
        <p:spPr>
          <a:xfrm>
            <a:off x="6419698" y="3910584"/>
            <a:ext cx="473211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 before driving</a:t>
            </a:r>
            <a:endParaRPr lang="en-US" sz="2325" dirty="0"/>
          </a:p>
        </p:txBody>
      </p:sp>
      <p:sp>
        <p:nvSpPr>
          <p:cNvPr id="16" name="Slide Number 1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anim calcmode="lin" valueType="num">
                                      <p:cBhvr>
                                        <p:cTn id="33" dur="500" fill="hold"/>
                                        <p:tgtEl>
                                          <p:spTgt spid="11"/>
                                        </p:tgtEl>
                                        <p:attrNameLst>
                                          <p:attrName>ppt_x</p:attrName>
                                        </p:attrNameLst>
                                      </p:cBhvr>
                                      <p:tavLst>
                                        <p:tav tm="0">
                                          <p:val>
                                            <p:strVal val="#ppt_x"/>
                                          </p:val>
                                        </p:tav>
                                        <p:tav tm="100000">
                                          <p:val>
                                            <p:strVal val="#ppt_x"/>
                                          </p:val>
                                        </p:tav>
                                      </p:tavLst>
                                    </p:anim>
                                    <p:anim calcmode="lin" valueType="num">
                                      <p:cBhvr>
                                        <p:cTn id="34"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anim calcmode="lin" valueType="num">
                                      <p:cBhvr>
                                        <p:cTn id="40" dur="500" fill="hold"/>
                                        <p:tgtEl>
                                          <p:spTgt spid="12"/>
                                        </p:tgtEl>
                                        <p:attrNameLst>
                                          <p:attrName>ppt_x</p:attrName>
                                        </p:attrNameLst>
                                      </p:cBhvr>
                                      <p:tavLst>
                                        <p:tav tm="0">
                                          <p:val>
                                            <p:strVal val="#ppt_x"/>
                                          </p:val>
                                        </p:tav>
                                        <p:tav tm="100000">
                                          <p:val>
                                            <p:strVal val="#ppt_x"/>
                                          </p:val>
                                        </p:tav>
                                      </p:tavLst>
                                    </p:anim>
                                    <p:anim calcmode="lin" valueType="num">
                                      <p:cBhvr>
                                        <p:cTn id="41"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00"/>
                                        <p:tgtEl>
                                          <p:spTgt spid="13"/>
                                        </p:tgtEl>
                                      </p:cBhvr>
                                    </p:animEffect>
                                    <p:anim calcmode="lin" valueType="num">
                                      <p:cBhvr>
                                        <p:cTn id="47" dur="500" fill="hold"/>
                                        <p:tgtEl>
                                          <p:spTgt spid="13"/>
                                        </p:tgtEl>
                                        <p:attrNameLst>
                                          <p:attrName>ppt_x</p:attrName>
                                        </p:attrNameLst>
                                      </p:cBhvr>
                                      <p:tavLst>
                                        <p:tav tm="0">
                                          <p:val>
                                            <p:strVal val="#ppt_x"/>
                                          </p:val>
                                        </p:tav>
                                        <p:tav tm="100000">
                                          <p:val>
                                            <p:strVal val="#ppt_x"/>
                                          </p:val>
                                        </p:tav>
                                      </p:tavLst>
                                    </p:anim>
                                    <p:anim calcmode="lin" valueType="num">
                                      <p:cBhvr>
                                        <p:cTn id="48"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53" presetClass="entr" presetSubtype="16" fill="hold" nodeType="click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500"/>
                                        <p:tgtEl>
                                          <p:spTgt spid="14"/>
                                        </p:tgtEl>
                                      </p:cBhvr>
                                    </p:animEffect>
                                    <p:anim calcmode="lin" valueType="num">
                                      <p:cBhvr>
                                        <p:cTn id="54" dur="500" fill="hold"/>
                                        <p:tgtEl>
                                          <p:spTgt spid="14"/>
                                        </p:tgtEl>
                                        <p:attrNameLst>
                                          <p:attrName>ppt_w</p:attrName>
                                        </p:attrNameLst>
                                      </p:cBhvr>
                                      <p:tavLst>
                                        <p:tav tm="0">
                                          <p:val>
                                            <p:fltVal val="0"/>
                                          </p:val>
                                        </p:tav>
                                        <p:tav tm="100000">
                                          <p:val>
                                            <p:strVal val="#ppt_w"/>
                                          </p:val>
                                        </p:tav>
                                      </p:tavLst>
                                    </p:anim>
                                    <p:anim calcmode="lin" valueType="num">
                                      <p:cBhvr>
                                        <p:cTn id="55" dur="500" fill="hold"/>
                                        <p:tgtEl>
                                          <p:spTgt spid="1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Exit Ticket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Show what you know</a:t>
            </a:r>
            <a:endParaRPr lang="en-US" sz="3450" dirty="0"/>
          </a:p>
        </p:txBody>
      </p:sp>
      <p:sp>
        <p:nvSpPr>
          <p:cNvPr id="9" name="Shape 9"/>
          <p:cNvSpPr txBox="1"/>
          <p:nvPr/>
        </p:nvSpPr>
        <p:spPr>
          <a:xfrm>
            <a:off x="685800" y="1618488"/>
            <a:ext cx="3479698" cy="30739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60598" cy="94640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 table has (0, 1) and (2, 9). What is its slope?</a:t>
            </a:r>
            <a:endParaRPr lang="en-US" sz="1950" dirty="0"/>
          </a:p>
        </p:txBody>
      </p:sp>
      <p:sp>
        <p:nvSpPr>
          <p:cNvPr id="5" name="Shape 5"/>
          <p:cNvSpPr txBox="1"/>
          <p:nvPr/>
        </p:nvSpPr>
        <p:spPr>
          <a:xfrm>
            <a:off x="895350" y="2831592"/>
            <a:ext cx="207888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4</a:t>
            </a:r>
            <a:endParaRPr lang="en-US" sz="2325" dirty="0"/>
          </a:p>
        </p:txBody>
      </p:sp>
      <p:sp>
        <p:nvSpPr>
          <p:cNvPr id="6" name="Shape 6"/>
          <p:cNvSpPr txBox="1"/>
          <p:nvPr/>
        </p:nvSpPr>
        <p:spPr>
          <a:xfrm>
            <a:off x="895350" y="3445764"/>
            <a:ext cx="30605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Change in y: 9 − 1 = 8.</a:t>
            </a:r>
            <a:endParaRPr lang="en-US" sz="1575" dirty="0"/>
          </a:p>
        </p:txBody>
      </p:sp>
      <p:sp>
        <p:nvSpPr>
          <p:cNvPr id="7" name="Shape 7"/>
          <p:cNvSpPr txBox="1"/>
          <p:nvPr/>
        </p:nvSpPr>
        <p:spPr>
          <a:xfrm>
            <a:off x="895350" y="3835908"/>
            <a:ext cx="30605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Change in x: 2 − 0 = 2.</a:t>
            </a:r>
            <a:endParaRPr lang="en-US" sz="1575" dirty="0"/>
          </a:p>
        </p:txBody>
      </p:sp>
      <p:sp>
        <p:nvSpPr>
          <p:cNvPr id="8" name="Shape 8"/>
          <p:cNvSpPr txBox="1"/>
          <p:nvPr/>
        </p:nvSpPr>
        <p:spPr>
          <a:xfrm>
            <a:off x="895350" y="4226052"/>
            <a:ext cx="30605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3.</a:t>
            </a:r>
            <a:r>
              <a:rPr lang="en-US" sz="1575" dirty="0">
                <a:solidFill>
                  <a:srgbClr val="16171D"/>
                </a:solidFill>
                <a:latin typeface="Segoe UI"/>
                <a:cs typeface="Segoe UI"/>
              </a:rPr>
              <a:t xml:space="preserve"> Divide: 8 ÷ 2 = 4.</a:t>
            </a:r>
            <a:endParaRPr lang="en-US" sz="1575" dirty="0"/>
          </a:p>
        </p:txBody>
      </p:sp>
      <p:sp>
        <p:nvSpPr>
          <p:cNvPr id="14" name="Shape 14"/>
          <p:cNvSpPr txBox="1"/>
          <p:nvPr/>
        </p:nvSpPr>
        <p:spPr>
          <a:xfrm>
            <a:off x="4355998" y="1618488"/>
            <a:ext cx="3479698" cy="292379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4565548" y="1789938"/>
            <a:ext cx="3060598" cy="94640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Is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4</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+ 7 parallel or perpendicular to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4</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− 3?</a:t>
            </a:r>
            <a:endParaRPr lang="en-US" sz="1950" dirty="0"/>
          </a:p>
        </p:txBody>
      </p:sp>
      <p:sp>
        <p:nvSpPr>
          <p:cNvPr id="11" name="Shape 11"/>
          <p:cNvSpPr txBox="1"/>
          <p:nvPr/>
        </p:nvSpPr>
        <p:spPr>
          <a:xfrm>
            <a:off x="4565548" y="2831592"/>
            <a:ext cx="306059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parallel</a:t>
            </a:r>
            <a:endParaRPr lang="en-US" sz="2325" dirty="0"/>
          </a:p>
        </p:txBody>
      </p:sp>
      <p:sp>
        <p:nvSpPr>
          <p:cNvPr id="12" name="Shape 12"/>
          <p:cNvSpPr txBox="1"/>
          <p:nvPr/>
        </p:nvSpPr>
        <p:spPr>
          <a:xfrm>
            <a:off x="4565548" y="3445764"/>
            <a:ext cx="3060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The slope is the number with x: both are 4.</a:t>
            </a:r>
            <a:endParaRPr lang="en-US" sz="1575" dirty="0"/>
          </a:p>
        </p:txBody>
      </p:sp>
      <p:sp>
        <p:nvSpPr>
          <p:cNvPr id="13" name="Shape 13"/>
          <p:cNvSpPr txBox="1"/>
          <p:nvPr/>
        </p:nvSpPr>
        <p:spPr>
          <a:xfrm>
            <a:off x="4565548" y="4075938"/>
            <a:ext cx="30605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Same slope means parallel.</a:t>
            </a:r>
            <a:endParaRPr lang="en-US" sz="1575" dirty="0"/>
          </a:p>
        </p:txBody>
      </p:sp>
      <p:sp>
        <p:nvSpPr>
          <p:cNvPr id="19" name="Shape 19"/>
          <p:cNvSpPr txBox="1"/>
          <p:nvPr/>
        </p:nvSpPr>
        <p:spPr>
          <a:xfrm>
            <a:off x="8026197" y="1618488"/>
            <a:ext cx="3479698" cy="346100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5" name="Shape 15"/>
          <p:cNvSpPr txBox="1"/>
          <p:nvPr/>
        </p:nvSpPr>
        <p:spPr>
          <a:xfrm>
            <a:off x="8235747" y="1789938"/>
            <a:ext cx="306059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Savings: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10</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+ 50. What does 50 mean?</a:t>
            </a:r>
            <a:endParaRPr lang="en-US" sz="1950" dirty="0"/>
          </a:p>
        </p:txBody>
      </p:sp>
      <p:sp>
        <p:nvSpPr>
          <p:cNvPr id="16" name="Shape 16"/>
          <p:cNvSpPr txBox="1"/>
          <p:nvPr/>
        </p:nvSpPr>
        <p:spPr>
          <a:xfrm>
            <a:off x="8235747" y="2534412"/>
            <a:ext cx="30605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$50 to start</a:t>
            </a:r>
            <a:endParaRPr lang="en-US" sz="2325" dirty="0"/>
          </a:p>
        </p:txBody>
      </p:sp>
      <p:sp>
        <p:nvSpPr>
          <p:cNvPr id="17" name="Shape 17"/>
          <p:cNvSpPr txBox="1"/>
          <p:nvPr/>
        </p:nvSpPr>
        <p:spPr>
          <a:xfrm>
            <a:off x="8235747" y="3502914"/>
            <a:ext cx="3060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In y = mx + b, 50 is b: the value when x = 0.</a:t>
            </a:r>
            <a:endParaRPr lang="en-US" sz="1575" dirty="0"/>
          </a:p>
        </p:txBody>
      </p:sp>
      <p:sp>
        <p:nvSpPr>
          <p:cNvPr id="18" name="Shape 18"/>
          <p:cNvSpPr txBox="1"/>
          <p:nvPr/>
        </p:nvSpPr>
        <p:spPr>
          <a:xfrm>
            <a:off x="8235747" y="4133088"/>
            <a:ext cx="3060598"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x = 0 months is the start, so 50 is the $50 saved at the start.</a:t>
            </a:r>
            <a:endParaRPr lang="en-US" sz="1575" dirty="0"/>
          </a:p>
        </p:txBody>
      </p:sp>
      <p:sp>
        <p:nvSpPr>
          <p:cNvPr id="20" name="Slide Number 2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anim calcmode="lin" valueType="num">
                                      <p:cBhvr>
                                        <p:cTn id="33" dur="500" fill="hold"/>
                                        <p:tgtEl>
                                          <p:spTgt spid="11"/>
                                        </p:tgtEl>
                                        <p:attrNameLst>
                                          <p:attrName>ppt_w</p:attrName>
                                        </p:attrNameLst>
                                      </p:cBhvr>
                                      <p:tavLst>
                                        <p:tav tm="0">
                                          <p:val>
                                            <p:fltVal val="0"/>
                                          </p:val>
                                        </p:tav>
                                        <p:tav tm="100000">
                                          <p:val>
                                            <p:strVal val="#ppt_w"/>
                                          </p:val>
                                        </p:tav>
                                      </p:tavLst>
                                    </p:anim>
                                    <p:anim calcmode="lin" valueType="num">
                                      <p:cBhvr>
                                        <p:cTn id="34"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anim calcmode="lin" valueType="num">
                                      <p:cBhvr>
                                        <p:cTn id="40" dur="500" fill="hold"/>
                                        <p:tgtEl>
                                          <p:spTgt spid="12"/>
                                        </p:tgtEl>
                                        <p:attrNameLst>
                                          <p:attrName>ppt_x</p:attrName>
                                        </p:attrNameLst>
                                      </p:cBhvr>
                                      <p:tavLst>
                                        <p:tav tm="0">
                                          <p:val>
                                            <p:strVal val="#ppt_x"/>
                                          </p:val>
                                        </p:tav>
                                        <p:tav tm="100000">
                                          <p:val>
                                            <p:strVal val="#ppt_x"/>
                                          </p:val>
                                        </p:tav>
                                      </p:tavLst>
                                    </p:anim>
                                    <p:anim calcmode="lin" valueType="num">
                                      <p:cBhvr>
                                        <p:cTn id="41"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00"/>
                                        <p:tgtEl>
                                          <p:spTgt spid="13"/>
                                        </p:tgtEl>
                                      </p:cBhvr>
                                    </p:animEffect>
                                    <p:anim calcmode="lin" valueType="num">
                                      <p:cBhvr>
                                        <p:cTn id="47" dur="500" fill="hold"/>
                                        <p:tgtEl>
                                          <p:spTgt spid="13"/>
                                        </p:tgtEl>
                                        <p:attrNameLst>
                                          <p:attrName>ppt_x</p:attrName>
                                        </p:attrNameLst>
                                      </p:cBhvr>
                                      <p:tavLst>
                                        <p:tav tm="0">
                                          <p:val>
                                            <p:strVal val="#ppt_x"/>
                                          </p:val>
                                        </p:tav>
                                        <p:tav tm="100000">
                                          <p:val>
                                            <p:strVal val="#ppt_x"/>
                                          </p:val>
                                        </p:tav>
                                      </p:tavLst>
                                    </p:anim>
                                    <p:anim calcmode="lin" valueType="num">
                                      <p:cBhvr>
                                        <p:cTn id="48"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53" presetClass="entr" presetSubtype="16" fill="hold" nodeType="click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500"/>
                                        <p:tgtEl>
                                          <p:spTgt spid="16"/>
                                        </p:tgtEl>
                                      </p:cBhvr>
                                    </p:animEffect>
                                    <p:anim calcmode="lin" valueType="num">
                                      <p:cBhvr>
                                        <p:cTn id="54" dur="500" fill="hold"/>
                                        <p:tgtEl>
                                          <p:spTgt spid="16"/>
                                        </p:tgtEl>
                                        <p:attrNameLst>
                                          <p:attrName>ppt_w</p:attrName>
                                        </p:attrNameLst>
                                      </p:cBhvr>
                                      <p:tavLst>
                                        <p:tav tm="0">
                                          <p:val>
                                            <p:fltVal val="0"/>
                                          </p:val>
                                        </p:tav>
                                        <p:tav tm="100000">
                                          <p:val>
                                            <p:strVal val="#ppt_w"/>
                                          </p:val>
                                        </p:tav>
                                      </p:tavLst>
                                    </p:anim>
                                    <p:anim calcmode="lin" valueType="num">
                                      <p:cBhvr>
                                        <p:cTn id="55" dur="500" fill="hold"/>
                                        <p:tgtEl>
                                          <p:spTgt spid="16"/>
                                        </p:tgtEl>
                                        <p:attrNameLst>
                                          <p:attrName>ppt_h</p:attrName>
                                        </p:attrNameLst>
                                      </p:cBhvr>
                                      <p:tavLst>
                                        <p:tav tm="0">
                                          <p:val>
                                            <p:fltVal val="0"/>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3" presetID="42" presetClass="entr" presetSubtype="0" fill="hold" nodeType="click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500"/>
                                        <p:tgtEl>
                                          <p:spTgt spid="17"/>
                                        </p:tgtEl>
                                      </p:cBhvr>
                                    </p:animEffect>
                                    <p:anim calcmode="lin" valueType="num">
                                      <p:cBhvr>
                                        <p:cTn id="61" dur="500" fill="hold"/>
                                        <p:tgtEl>
                                          <p:spTgt spid="17"/>
                                        </p:tgtEl>
                                        <p:attrNameLst>
                                          <p:attrName>ppt_x</p:attrName>
                                        </p:attrNameLst>
                                      </p:cBhvr>
                                      <p:tavLst>
                                        <p:tav tm="0">
                                          <p:val>
                                            <p:strVal val="#ppt_x"/>
                                          </p:val>
                                        </p:tav>
                                        <p:tav tm="100000">
                                          <p:val>
                                            <p:strVal val="#ppt_x"/>
                                          </p:val>
                                        </p:tav>
                                      </p:tavLst>
                                    </p:anim>
                                    <p:anim calcmode="lin" valueType="num">
                                      <p:cBhvr>
                                        <p:cTn id="62"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0" presetID="42" presetClass="entr" presetSubtype="0" fill="hold" nodeType="click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500"/>
                                        <p:tgtEl>
                                          <p:spTgt spid="18"/>
                                        </p:tgtEl>
                                      </p:cBhvr>
                                    </p:animEffect>
                                    <p:anim calcmode="lin" valueType="num">
                                      <p:cBhvr>
                                        <p:cTn id="68" dur="500" fill="hold"/>
                                        <p:tgtEl>
                                          <p:spTgt spid="18"/>
                                        </p:tgtEl>
                                        <p:attrNameLst>
                                          <p:attrName>ppt_x</p:attrName>
                                        </p:attrNameLst>
                                      </p:cBhvr>
                                      <p:tavLst>
                                        <p:tav tm="0">
                                          <p:val>
                                            <p:strVal val="#ppt_x"/>
                                          </p:val>
                                        </p:tav>
                                        <p:tav tm="100000">
                                          <p:val>
                                            <p:strVal val="#ppt_x"/>
                                          </p:val>
                                        </p:tav>
                                      </p:tavLst>
                                    </p:anim>
                                    <p:anim calcmode="lin" valueType="num">
                                      <p:cBhvr>
                                        <p:cTn id="69" dur="5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Practice Online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Bell work, homework and quiz</a:t>
            </a:r>
            <a:endParaRPr lang="en-US" sz="3450" dirty="0"/>
          </a:p>
        </p:txBody>
      </p:sp>
      <p:sp>
        <p:nvSpPr>
          <p:cNvPr id="4" name="Shape 4"/>
          <p:cNvSpPr txBox="1"/>
          <p:nvPr/>
        </p:nvSpPr>
        <p:spPr>
          <a:xfrm>
            <a:off x="685800" y="1675638"/>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Bell work: </a:t>
            </a:r>
            <a:r>
              <a:rPr lang="en-US" sz="1800" dirty="0" b="1">
                <a:solidFill>
                  <a:srgbClr val="3050B8"/>
                </a:solidFill>
                <a:latin typeface="Segoe UI"/>
                <a:cs typeface="Segoe UI"/>
                <a:hlinkClick r:id="rId3"/>
              </a:rPr>
              <a:t xml:space="preserve">Day 1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4"/>
              </a:rPr>
              <a:t xml:space="preserve">Day 2 →</a:t>
            </a:r>
            <a:r>
              <a:rPr lang="en-US" sz="1800" dirty="0">
                <a:solidFill>
                  <a:srgbClr val="16171D"/>
                </a:solidFill>
                <a:latin typeface="Segoe UI"/>
                <a:cs typeface="Segoe UI"/>
              </a:rPr>
              <a:t xml:space="preserve"> | Practice: </a:t>
            </a:r>
            <a:r>
              <a:rPr lang="en-US" sz="1800" dirty="0" b="1">
                <a:solidFill>
                  <a:srgbClr val="3050B8"/>
                </a:solidFill>
                <a:latin typeface="Segoe UI"/>
                <a:cs typeface="Segoe UI"/>
                <a:hlinkClick r:id="rId5"/>
              </a:rPr>
              <a:t xml:space="preserve">Homework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6"/>
              </a:rPr>
              <a:t xml:space="preserve">Quiz →</a:t>
            </a:r>
            <a:endParaRPr lang="en-US" sz="1800" dirty="0"/>
          </a:p>
        </p:txBody>
      </p:sp>
      <p:sp>
        <p:nvSpPr>
          <p:cNvPr id="5" name="Shape 5"/>
          <p:cNvSpPr txBox="1"/>
          <p:nvPr/>
        </p:nvSpPr>
        <p:spPr>
          <a:xfrm>
            <a:off x="685800" y="2176272"/>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IEP pages have 3 answer choices, 6 homework and quiz questions, a reminder card and read-aloud. Allow notes and a calculator, and give extended time as the IEP lists.</a:t>
            </a:r>
            <a:endParaRPr lang="en-US" sz="1575" dirty="0"/>
          </a:p>
        </p:txBody>
      </p:sp>
      <p:sp>
        <p:nvSpPr>
          <p:cNvPr id="6" name="Slide Number 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14</a:t>
            </a:fld>
          </a:p>
        </p:txBody>
      </p:sp>
    </p:spTree>
  </p:cSld>
  <p:clrMapOvr>
    <a:masterClrMapping/>
  </p:clrMapOvr>
  <p:transition spd="med">
    <p:fade/>
  </p:transition>
</p:sld>
</file>

<file path=ppt/theme/theme1.xml><?xml version="1.0" encoding="utf-8"?>
<a:theme xmlns:a="http://schemas.openxmlformats.org/drawingml/2006/main" name="Comparing Linear Functions in Different Form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Note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Microsoft Office PowerPoint</Application>
  <Slides>14</Slides>
  <Notes>14</Notes>
</Properties>
</file>

<file path=docProps/core.xml><?xml version="1.0" encoding="utf-8"?>
<cp:coreProperties xmlns:cp="http://schemas.openxmlformats.org/package/2006/metadata/core-properties" xmlns:dc="http://purl.org/dc/elements/1.1/">
  <dc:title>Comparing Linear Functions in Different Forms</dc:title>
  <dc:subject>Bluebonnet Algebra I</dc:subject>
</cp:coreProperties>
</file>