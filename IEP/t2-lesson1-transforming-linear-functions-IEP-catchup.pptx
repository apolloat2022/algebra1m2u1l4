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IEP version of Topic 2 Lesson 1: a modified lesson that keeps the core skills and cuts the number of items. Each skill follows I do (teacher models), We do (together, with sentence frames), You do (student tries, then reveal). Click to reveal each answer. The bell work for every day follows this slide (the same questions as the online bell work); skip to the current day. Apply each student's IEP accommodations too: extended time, read-aloud, breaks, calculator, small group.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Monday, October 19.</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1 bell work. Reveal the answers one at a time. Answer key: 1. Slope = (11 − 2) ÷ (4 − 1) = 9 ÷ 3 = 3. 2. In y = mx + b, the y-intercept is (0, b), so it is (0, −7). 3. 2(−3) + 1 = −6 + 1 = −5. 4. Parallel lines have the same slope. Only y = 3x − 5 has slope 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or give students a printed copy, while they work.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point as it appears. Negative slope: the line falls left to right.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word aloud. Students copy them onto their vocabulary card.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or give students a printed copy, while they work.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every point moves straight up 5. The lines are parallel.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in the blanks on their paper first, then reveal.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Monday, October 19.</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Tuesday, October 20.</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2 bell work. Reveal the answers one at a time. Answer key: 1. A vertical translation adds to the output: g(x) = f(x) + 4 = x + 4. 2. A vertical translation changes only y: 5 − 3 = 2, so (2, 2). 3. A vertical translation does not change the slope. g(x) = 2x + 5 still has slope 2. 4. g(x) = 2x − 1 + 6 = 2x + 5, so the y-intercept moves from (0, −1) up 6 to (0, 5).</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the point instead of the y-intercept; everything else is the same.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 lines have the same slope; only b changes.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lines pass through (0, 0): multiplying 0 gives 0.</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Tuesday, October 20.</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Wednesday, October 21.</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3 bell work. Reveal the answers one at a time. Answer key: 1. g(x) = 3x. A vertical dilation by 3 multiplies the slope of f(x) = x by 3. 2. The 2 stretches the graph and the negative sign reflects it across the x-axis. 3. Multiplying by a number between 0 and 1 compresses the graph toward the x-axis. 4. g(x) = 2x − 5. The dilation keeps (0, 0) fixed, then the graph moves down 5.</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x-term to find the y-intercept, and cover the y-term to find the x-intercept.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try all items before revealing. Students may use the steps slide and their notes.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Wednesday, October 21.</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IEP/t2-lesson1-bellwork-day1-IEP.html" TargetMode="External"/><Relationship Id="rId4" Type="http://schemas.openxmlformats.org/officeDocument/2006/relationships/hyperlink" Target="https://algebra1m2u1l4.vercel.app/IEP/t2-lesson1-bellwork-day2-IEP.html" TargetMode="External"/><Relationship Id="rId5" Type="http://schemas.openxmlformats.org/officeDocument/2006/relationships/hyperlink" Target="https://algebra1m2u1l4.vercel.app/IEP/t2-lesson1-bellwork-day3-IEP.html" TargetMode="External"/><Relationship Id="rId6" Type="http://schemas.openxmlformats.org/officeDocument/2006/relationships/hyperlink" Target="https://algebra1m2u1l4.vercel.app/IEP/t2-lesson1-homework-IEP.html" TargetMode="External"/><Relationship Id="rId7" Type="http://schemas.openxmlformats.org/officeDocument/2006/relationships/hyperlink" Target="https://algebra1m2u1l4.vercel.app/IEP/t2-lesson1-quiz-IEP.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lgebra1m2u1l4.vercel.app/IEP/lesson5-homework-IEP.html" TargetMode="External"/><Relationship Id="rId4" Type="http://schemas.openxmlformats.org/officeDocument/2006/relationships/hyperlink" Target="https://algebra1m2u1l4.vercel.app/IEP/lesson5-quiz-IEP.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algebra1m2u1l4.vercel.app/IEP/lesson5-homework-IEP.html" TargetMode="External"/><Relationship Id="rId4" Type="http://schemas.openxmlformats.org/officeDocument/2006/relationships/hyperlink" Target="https://algebra1m2u1l4.vercel.app/IEP/lesson5-quiz-IEP.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algebra1m2u1l4.vercel.app/IEP/lesson5-homework-IEP.html" TargetMode="External"/><Relationship Id="rId4" Type="http://schemas.openxmlformats.org/officeDocument/2006/relationships/hyperlink" Target="https://algebra1m2u1l4.vercel.app/IEP/lesson5-quiz-IEP.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https://algebra1m2u1l4.vercel.app/IEP/t2-lesson1-bellwork-day1-IEP.html" TargetMode="External"/><Relationship Id="rId4" Type="http://schemas.openxmlformats.org/officeDocument/2006/relationships/hyperlink" Target="https://algebra1m2u1l4.vercel.app/IEP/t2-lesson1-bellwork-day2-IEP.html" TargetMode="External"/><Relationship Id="rId5" Type="http://schemas.openxmlformats.org/officeDocument/2006/relationships/hyperlink" Target="https://algebra1m2u1l4.vercel.app/IEP/t2-lesson1-bellwork-day3-IEP.html" TargetMode="External"/><Relationship Id="rId6" Type="http://schemas.openxmlformats.org/officeDocument/2006/relationships/hyperlink" Target="https://algebra1m2u1l4.vercel.app/IEP/t2-lesson1-homework-IEP.html" TargetMode="External"/><Relationship Id="rId7" Type="http://schemas.openxmlformats.org/officeDocument/2006/relationships/hyperlink" Target="https://algebra1m2u1l4.vercel.app/IEP/t2-lesson1-quiz-IE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1 · IEP Version</a:t>
            </a:r>
            <a:endParaRPr lang="en-US" sz="1200" dirty="0"/>
          </a:p>
        </p:txBody>
      </p:sp>
      <p:sp>
        <p:nvSpPr>
          <p:cNvPr id="3" name="Shape 3"/>
          <p:cNvSpPr txBox="1"/>
          <p:nvPr/>
        </p:nvSpPr>
        <p:spPr>
          <a:xfrm>
            <a:off x="685800" y="961644"/>
            <a:ext cx="10820095" cy="740664"/>
          </a:xfrm>
          <a:prstGeom prst="rect">
            <a:avLst/>
          </a:prstGeom>
          <a:noFill/>
          <a:ln>
            <a:noFill/>
          </a:ln>
        </p:spPr>
        <p:txBody>
          <a:bodyPr wrap="square" lIns="36576" tIns="27432" rIns="36576" bIns="27432" anchor="t">
            <a:noAutofit/>
          </a:bodyPr>
          <a:lstStyle/>
          <a:p>
            <a:pPr algn="l">
              <a:lnSpc>
                <a:spcPct val="100000"/>
              </a:lnSpc>
            </a:pPr>
            <a:r>
              <a:rPr lang="en-US" sz="4500" dirty="0" b="1">
                <a:solidFill>
                  <a:srgbClr val="16171D"/>
                </a:solidFill>
                <a:latin typeface="Segoe UI"/>
                <a:cs typeface="Segoe UI"/>
              </a:rPr>
              <a:t xml:space="preserve">Transforming Linear Functions</a:t>
            </a:r>
            <a:endParaRPr lang="en-US" sz="4500" dirty="0"/>
          </a:p>
        </p:txBody>
      </p:sp>
      <p:sp>
        <p:nvSpPr>
          <p:cNvPr id="4" name="Shape 4"/>
          <p:cNvSpPr txBox="1"/>
          <p:nvPr/>
        </p:nvSpPr>
        <p:spPr>
          <a:xfrm>
            <a:off x="685800" y="1873758"/>
            <a:ext cx="10820095" cy="64922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Adds a 15-minute Topic 1 Catch-Up (Lessons 5–6) each day · Day 1: Mon, Oct 19 · Day 2: Tue, Oct 20 · Day 3: Wed, Oct 21</a:t>
            </a:r>
            <a:endParaRPr lang="en-US" sz="1650" dirty="0"/>
          </a:p>
        </p:txBody>
      </p:sp>
      <p:sp>
        <p:nvSpPr>
          <p:cNvPr id="5" name="Shape 5"/>
          <p:cNvSpPr txBox="1"/>
          <p:nvPr/>
        </p:nvSpPr>
        <p:spPr>
          <a:xfrm>
            <a:off x="685800" y="273253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g</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C9561F"/>
                </a:solidFill>
                <a:latin typeface="Cambria"/>
                <a:cs typeface="Cambria"/>
              </a:rPr>
              <a:t xml:space="preserve">a</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f</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i="1">
                <a:solidFill>
                  <a:srgbClr val="3050B8"/>
                </a:solidFill>
                <a:latin typeface="Cambria"/>
                <a:cs typeface="Cambria"/>
              </a:rPr>
              <a:t xml:space="preserve">d</a:t>
            </a:r>
            <a:endParaRPr lang="en-US" sz="2850" dirty="0"/>
          </a:p>
        </p:txBody>
      </p:sp>
      <p:sp>
        <p:nvSpPr>
          <p:cNvPr id="6" name="Shape 6"/>
          <p:cNvSpPr txBox="1"/>
          <p:nvPr/>
        </p:nvSpPr>
        <p:spPr>
          <a:xfrm>
            <a:off x="685800" y="3469386"/>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 can…</a:t>
            </a:r>
            <a:endParaRPr lang="en-US" sz="2100" dirty="0"/>
          </a:p>
        </p:txBody>
      </p:sp>
      <p:sp>
        <p:nvSpPr>
          <p:cNvPr id="7" name="Shape 7"/>
          <p:cNvSpPr txBox="1"/>
          <p:nvPr/>
        </p:nvSpPr>
        <p:spPr>
          <a:xfrm>
            <a:off x="685800" y="401574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move a line up or down and write its equation.</a:t>
            </a:r>
            <a:endParaRPr lang="en-US" sz="1950" dirty="0"/>
          </a:p>
        </p:txBody>
      </p:sp>
      <p:sp>
        <p:nvSpPr>
          <p:cNvPr id="8" name="Shape 8"/>
          <p:cNvSpPr txBox="1"/>
          <p:nvPr/>
        </p:nvSpPr>
        <p:spPr>
          <a:xfrm>
            <a:off x="685800" y="453923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stretch, compress or flip a line and find its new slope.</a:t>
            </a:r>
            <a:endParaRPr lang="en-US" sz="1950" dirty="0"/>
          </a:p>
        </p:txBody>
      </p:sp>
      <p:sp>
        <p:nvSpPr>
          <p:cNvPr id="9" name="Shape 9"/>
          <p:cNvSpPr txBox="1"/>
          <p:nvPr/>
        </p:nvSpPr>
        <p:spPr>
          <a:xfrm>
            <a:off x="685800" y="506272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write a line parallel to another line through a point.</a:t>
            </a:r>
            <a:endParaRPr lang="en-US" sz="1950" dirty="0"/>
          </a:p>
        </p:txBody>
      </p:sp>
      <p:sp>
        <p:nvSpPr>
          <p:cNvPr id="10" name="Shape 10"/>
          <p:cNvSpPr txBox="1"/>
          <p:nvPr/>
        </p:nvSpPr>
        <p:spPr>
          <a:xfrm>
            <a:off x="685800" y="564337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11" name="Shape 11"/>
          <p:cNvSpPr txBox="1"/>
          <p:nvPr/>
        </p:nvSpPr>
        <p:spPr>
          <a:xfrm>
            <a:off x="685800" y="6185916"/>
            <a:ext cx="10820095" cy="397764"/>
          </a:xfrm>
          <a:prstGeom prst="rect">
            <a:avLst/>
          </a:prstGeom>
          <a:noFill/>
          <a:ln>
            <a:noFill/>
          </a:ln>
        </p:spPr>
        <p:txBody>
          <a:bodyPr wrap="square" lIns="36576" tIns="27432" rIns="36576" bIns="27432" anchor="t">
            <a:noAutofit/>
          </a:bodyPr>
          <a:lstStyle/>
          <a:p>
            <a:pPr algn="l">
              <a:lnSpc>
                <a:spcPct val="100000"/>
              </a:lnSpc>
            </a:pPr>
            <a:r>
              <a:rPr lang="en-US" sz="1125" dirty="0">
                <a:solidFill>
                  <a:srgbClr val="5F6272"/>
                </a:solidFill>
                <a:latin typeface="Segoe UI"/>
                <a:cs typeface="Segoe UI"/>
              </a:rPr>
              <a:t xml:space="preserve">Based on Bluebonnet Learning Secondary Mathematics, Algebra I (©2024–2025 Texas Education Agency, portions ©2021 Carnegie Learning, Inc.), licensed CC BY-NC 4.0. A private site for Algebra I teachers.</a:t>
            </a:r>
            <a:endParaRPr lang="en-US" sz="11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Day 1 of 3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Monday, October 19</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(Graphing from slope-intercept form) → Lesson 1, Day 1.</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 · Mon, Oct 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What is the slope between </a:t>
            </a:r>
            <a:r>
              <a:rPr lang="en-US" sz="1950" dirty="0">
                <a:solidFill>
                  <a:srgbClr val="16171D"/>
                </a:solidFill>
                <a:latin typeface="Cambria"/>
                <a:cs typeface="Cambria"/>
              </a:rPr>
              <a:t xml:space="preserve">(1, 2)</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(4, 11)</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45821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685800" y="324383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a:t>
            </a:r>
            <a:r>
              <a:rPr lang="en-US" sz="1950" dirty="0" i="1">
                <a:solidFill>
                  <a:srgbClr val="16171D"/>
                </a:solidFill>
                <a:latin typeface="Cambria"/>
                <a:cs typeface="Cambria"/>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72922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−7)</a:t>
            </a:r>
            <a:endParaRPr lang="en-US" sz="2325" dirty="0"/>
          </a:p>
        </p:txBody>
      </p:sp>
      <p:sp>
        <p:nvSpPr>
          <p:cNvPr id="8" name="Shape 8"/>
          <p:cNvSpPr txBox="1"/>
          <p:nvPr/>
        </p:nvSpPr>
        <p:spPr>
          <a:xfrm>
            <a:off x="6362548"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What is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(−3)</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362548" y="216103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endParaRPr lang="en-US" sz="2325" dirty="0"/>
          </a:p>
        </p:txBody>
      </p:sp>
      <p:sp>
        <p:nvSpPr>
          <p:cNvPr id="10" name="Shape 10"/>
          <p:cNvSpPr txBox="1"/>
          <p:nvPr/>
        </p:nvSpPr>
        <p:spPr>
          <a:xfrm>
            <a:off x="6362548" y="294665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Which line is parallel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a:t>
            </a:r>
            <a:endParaRPr lang="en-US" sz="1950" dirty="0"/>
          </a:p>
        </p:txBody>
      </p:sp>
      <p:sp>
        <p:nvSpPr>
          <p:cNvPr id="11" name="Shape 11"/>
          <p:cNvSpPr txBox="1"/>
          <p:nvPr/>
        </p:nvSpPr>
        <p:spPr>
          <a:xfrm>
            <a:off x="6362548" y="343204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Mon, Oct 19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Graphing from slope-intercept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Today's g(x) = a · f(x) + d is slope-intercept form: a is the slope and d is the y-intercept.</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Words we need</a:t>
            </a:r>
            <a:endParaRPr lang="en-US" sz="3450" dirty="0"/>
          </a:p>
        </p:txBody>
      </p:sp>
      <p:sp>
        <p:nvSpPr>
          <p:cNvPr id="7" name="Shape 7"/>
          <p:cNvSpPr txBox="1"/>
          <p:nvPr/>
        </p:nvSpPr>
        <p:spPr>
          <a:xfrm>
            <a:off x="685800" y="1618488"/>
            <a:ext cx="3492398" cy="22067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-intercept</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Where the line crosses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 (0,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895350"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+ 5</a:t>
            </a:r>
            <a:r>
              <a:rPr lang="en-US" sz="2325" dirty="0">
                <a:solidFill>
                  <a:srgbClr val="16171D"/>
                </a:solidFill>
                <a:latin typeface="Cambria"/>
                <a:cs typeface="Cambria"/>
              </a:rPr>
              <a:t xml:space="preserve"> → (0, 5)</a:t>
            </a:r>
            <a:endParaRPr lang="en-US" sz="2325" dirty="0"/>
          </a:p>
        </p:txBody>
      </p:sp>
      <p:sp>
        <p:nvSpPr>
          <p:cNvPr id="11" name="Shape 11"/>
          <p:cNvSpPr txBox="1"/>
          <p:nvPr/>
        </p:nvSpPr>
        <p:spPr>
          <a:xfrm>
            <a:off x="4349648" y="1618488"/>
            <a:ext cx="3492398" cy="22067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Rise over run</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Rise: up (+) or down (−). Run: right.</a:t>
            </a:r>
            <a:endParaRPr lang="en-US" sz="1575" dirty="0"/>
          </a:p>
        </p:txBody>
      </p:sp>
      <p:sp>
        <p:nvSpPr>
          <p:cNvPr id="10" name="Shape 10"/>
          <p:cNvSpPr txBox="1"/>
          <p:nvPr/>
        </p:nvSpPr>
        <p:spPr>
          <a:xfrm>
            <a:off x="4559198" y="2890266"/>
            <a:ext cx="3073298" cy="76352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up 3, right 2</a:t>
            </a:r>
            <a:endParaRPr lang="en-US" sz="2325" dirty="0"/>
          </a:p>
        </p:txBody>
      </p:sp>
      <p:sp>
        <p:nvSpPr>
          <p:cNvPr id="15" name="Shape 15"/>
          <p:cNvSpPr txBox="1"/>
          <p:nvPr/>
        </p:nvSpPr>
        <p:spPr>
          <a:xfrm>
            <a:off x="8013497" y="1618488"/>
            <a:ext cx="3492398" cy="22067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-intercept</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Where the line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0).</a:t>
            </a:r>
            <a:endParaRPr lang="en-US" sz="1575" dirty="0"/>
          </a:p>
        </p:txBody>
      </p:sp>
      <p:sp>
        <p:nvSpPr>
          <p:cNvPr id="14" name="Shape 14"/>
          <p:cNvSpPr txBox="1"/>
          <p:nvPr/>
        </p:nvSpPr>
        <p:spPr>
          <a:xfrm>
            <a:off x="8223047"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Put 0 in for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a:t>
            </a:r>
            <a:endParaRPr lang="en-US" sz="2325" dirty="0"/>
          </a:p>
        </p:txBody>
      </p:sp>
      <p:sp>
        <p:nvSpPr>
          <p:cNvPr id="19" name="Shape 19"/>
          <p:cNvSpPr txBox="1"/>
          <p:nvPr/>
        </p:nvSpPr>
        <p:spPr>
          <a:xfrm>
            <a:off x="685800" y="399669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416814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Standard form</a:t>
            </a:r>
            <a:endParaRPr lang="en-US" sz="2100" dirty="0"/>
          </a:p>
        </p:txBody>
      </p:sp>
      <p:sp>
        <p:nvSpPr>
          <p:cNvPr id="17" name="Shape 17"/>
          <p:cNvSpPr txBox="1"/>
          <p:nvPr/>
        </p:nvSpPr>
        <p:spPr>
          <a:xfrm>
            <a:off x="895350" y="463829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By</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C</a:t>
            </a:r>
            <a:endParaRPr lang="en-US" sz="1575" dirty="0"/>
          </a:p>
        </p:txBody>
      </p:sp>
      <p:sp>
        <p:nvSpPr>
          <p:cNvPr id="18" name="Shape 18"/>
          <p:cNvSpPr txBox="1"/>
          <p:nvPr/>
        </p:nvSpPr>
        <p:spPr>
          <a:xfrm>
            <a:off x="895350" y="50284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12</a:t>
            </a:r>
            <a:endParaRPr lang="en-US" sz="2325" dirty="0"/>
          </a:p>
        </p:txBody>
      </p:sp>
      <p:sp>
        <p:nvSpPr>
          <p:cNvPr id="23" name="Shape 23"/>
          <p:cNvSpPr txBox="1"/>
          <p:nvPr/>
        </p:nvSpPr>
        <p:spPr>
          <a:xfrm>
            <a:off x="4349648" y="399669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416814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Slope-intercept form</a:t>
            </a:r>
            <a:endParaRPr lang="en-US" sz="2100" dirty="0"/>
          </a:p>
        </p:txBody>
      </p:sp>
      <p:sp>
        <p:nvSpPr>
          <p:cNvPr id="21" name="Shape 21"/>
          <p:cNvSpPr txBox="1"/>
          <p:nvPr/>
        </p:nvSpPr>
        <p:spPr>
          <a:xfrm>
            <a:off x="4559198" y="463829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m</a:t>
            </a:r>
            <a:r>
              <a:rPr lang="en-US" sz="1575" dirty="0">
                <a:solidFill>
                  <a:srgbClr val="16171D"/>
                </a:solidFill>
                <a:latin typeface="Segoe UI"/>
                <a:cs typeface="Segoe UI"/>
              </a:rPr>
              <a:t xml:space="preserve"> is the slope,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is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endParaRPr lang="en-US" sz="1575" dirty="0"/>
          </a:p>
        </p:txBody>
      </p:sp>
      <p:sp>
        <p:nvSpPr>
          <p:cNvPr id="22" name="Shape 22"/>
          <p:cNvSpPr txBox="1"/>
          <p:nvPr/>
        </p:nvSpPr>
        <p:spPr>
          <a:xfrm>
            <a:off x="4559198" y="526846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m</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b</a:t>
            </a:r>
            <a:endParaRPr lang="en-US" sz="2325" dirty="0"/>
          </a:p>
        </p:txBody>
      </p:sp>
      <p:sp>
        <p:nvSpPr>
          <p:cNvPr id="27" name="Shape 27"/>
          <p:cNvSpPr txBox="1"/>
          <p:nvPr/>
        </p:nvSpPr>
        <p:spPr>
          <a:xfrm>
            <a:off x="8013497" y="399669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416814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Point-slope form</a:t>
            </a:r>
            <a:endParaRPr lang="en-US" sz="2100" dirty="0"/>
          </a:p>
        </p:txBody>
      </p:sp>
      <p:sp>
        <p:nvSpPr>
          <p:cNvPr id="25" name="Shape 25"/>
          <p:cNvSpPr txBox="1"/>
          <p:nvPr/>
        </p:nvSpPr>
        <p:spPr>
          <a:xfrm>
            <a:off x="8223047" y="463829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and one point.</a:t>
            </a:r>
            <a:endParaRPr lang="en-US" sz="1575" dirty="0"/>
          </a:p>
        </p:txBody>
      </p:sp>
      <p:sp>
        <p:nvSpPr>
          <p:cNvPr id="26" name="Shape 26"/>
          <p:cNvSpPr txBox="1"/>
          <p:nvPr/>
        </p:nvSpPr>
        <p:spPr>
          <a:xfrm>
            <a:off x="8223047" y="50284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y</a:t>
            </a:r>
            <a:r>
              <a:rPr lang="en-US" sz="1976" dirty="0" b="1" baseline="-25000">
                <a:solidFill>
                  <a:srgbClr val="3050B8"/>
                </a:solidFill>
                <a:latin typeface="Cambria"/>
                <a:cs typeface="Cambria"/>
              </a:rPr>
              <a:t xml:space="preserve">1</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m</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x</a:t>
            </a:r>
            <a:r>
              <a:rPr lang="en-US" sz="1976" dirty="0" b="1" baseline="-25000">
                <a:solidFill>
                  <a:srgbClr val="3050B8"/>
                </a:solidFill>
                <a:latin typeface="Cambria"/>
                <a:cs typeface="Cambria"/>
              </a:rPr>
              <a:t xml:space="preserve">1</a:t>
            </a:r>
            <a:r>
              <a:rPr lang="en-US" sz="2325" dirty="0">
                <a:solidFill>
                  <a:srgbClr val="16171D"/>
                </a:solidFill>
                <a:latin typeface="Cambria"/>
                <a:cs typeface="Cambria"/>
              </a:rPr>
              <a:t xml:space="preserve">)</a:t>
            </a:r>
            <a:endParaRPr lang="en-US" sz="2325" dirty="0"/>
          </a:p>
        </p:txBody>
      </p:sp>
      <p:sp>
        <p:nvSpPr>
          <p:cNvPr id="28" name="Slide Number 2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Steps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to graph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mx</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b</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(0,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Write the slope as </a:t>
            </a:r>
            <a:r>
              <a:rPr lang="en-US" sz="1950" dirty="0">
                <a:solidFill>
                  <a:srgbClr val="16171D"/>
                </a:solidFill>
                <a:latin typeface="Segoe UI"/>
                <a:cs typeface="Segoe UI"/>
              </a:rPr>
              <a:t xml:space="preserve">rise</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run</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From the point, count the rise (up or down), then the run (right). Plot a point.</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Do it again, so you have 3 points. Connect them with a ruler.</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I do · Watch me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+ 10</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 = 10. Plot (0, 10).</a:t>
            </a:r>
            <a:endParaRPr lang="en-US" sz="1950" dirty="0"/>
          </a:p>
        </p:txBody>
      </p:sp>
      <p:sp>
        <p:nvSpPr>
          <p:cNvPr id="5" name="Shape 5"/>
          <p:cNvSpPr txBox="1"/>
          <p:nvPr/>
        </p:nvSpPr>
        <p:spPr>
          <a:xfrm>
            <a:off x="685800" y="2103882"/>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2: </a:t>
            </a:r>
            <a:r>
              <a:rPr lang="en-US" sz="1950" dirty="0" i="1">
                <a:solidFill>
                  <a:srgbClr val="16171D"/>
                </a:solidFill>
                <a:latin typeface="Segoe UI"/>
                <a:cs typeface="Segoe UI"/>
              </a:rPr>
              <a:t xml:space="preserve">m</a:t>
            </a:r>
            <a:r>
              <a:rPr lang="en-US" sz="1950" dirty="0">
                <a:solidFill>
                  <a:srgbClr val="16171D"/>
                </a:solidFill>
                <a:latin typeface="Segoe UI"/>
                <a:cs typeface="Segoe UI"/>
              </a:rPr>
              <a:t xml:space="preserve"> = </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 down 2, right 1.</a:t>
            </a:r>
            <a:endParaRPr lang="en-US" sz="1950" dirty="0"/>
          </a:p>
        </p:txBody>
      </p:sp>
      <p:sp>
        <p:nvSpPr>
          <p:cNvPr id="6" name="Shape 6"/>
          <p:cNvSpPr txBox="1"/>
          <p:nvPr/>
        </p:nvSpPr>
        <p:spPr>
          <a:xfrm>
            <a:off x="685800" y="2589276"/>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 8) and (2, 6)</a:t>
            </a:r>
            <a:endParaRPr lang="en-US" sz="2325" dirty="0"/>
          </a:p>
        </p:txBody>
      </p:sp>
      <p:sp>
        <p:nvSpPr>
          <p:cNvPr id="7" name="Shape 7"/>
          <p:cNvSpPr txBox="1"/>
          <p:nvPr/>
        </p:nvSpPr>
        <p:spPr>
          <a:xfrm>
            <a:off x="685800" y="324154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3: connect with a ruler.</a:t>
            </a:r>
            <a:endParaRPr lang="en-US" sz="1950" dirty="0"/>
          </a:p>
        </p:txBody>
      </p:sp>
      <p:sp>
        <p:nvSpPr>
          <p:cNvPr id="8" name="Shape 8"/>
          <p:cNvSpPr/>
          <p:nvPr/>
        </p:nvSpPr>
        <p:spPr>
          <a:xfrm>
            <a:off x="6286348" y="1618488"/>
            <a:ext cx="3238500" cy="3619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6610198" y="1732788"/>
            <a:ext cx="0" cy="3257550"/>
          </a:xfrm>
          <a:prstGeom prst="line">
            <a:avLst/>
          </a:prstGeom>
          <a:ln w="9525" cap="flat">
            <a:solidFill>
              <a:srgbClr val="E6E8F2"/>
            </a:solidFill>
          </a:ln>
        </p:spPr>
      </p:cxnSp>
      <p:cxnSp>
        <p:nvCxnSpPr>
          <p:cNvPr id="10" name="Line 10"/>
          <p:cNvCxnSpPr/>
          <p:nvPr/>
        </p:nvCxnSpPr>
        <p:spPr>
          <a:xfrm>
            <a:off x="7010248" y="1732788"/>
            <a:ext cx="0" cy="3257550"/>
          </a:xfrm>
          <a:prstGeom prst="line">
            <a:avLst/>
          </a:prstGeom>
          <a:ln w="9525" cap="flat">
            <a:solidFill>
              <a:srgbClr val="E6E8F2"/>
            </a:solidFill>
          </a:ln>
        </p:spPr>
      </p:cxnSp>
      <p:cxnSp>
        <p:nvCxnSpPr>
          <p:cNvPr id="11" name="Line 11"/>
          <p:cNvCxnSpPr/>
          <p:nvPr/>
        </p:nvCxnSpPr>
        <p:spPr>
          <a:xfrm>
            <a:off x="7410298" y="1732788"/>
            <a:ext cx="0" cy="3257550"/>
          </a:xfrm>
          <a:prstGeom prst="line">
            <a:avLst/>
          </a:prstGeom>
          <a:ln w="9525" cap="flat">
            <a:solidFill>
              <a:srgbClr val="E6E8F2"/>
            </a:solidFill>
          </a:ln>
        </p:spPr>
      </p:cxnSp>
      <p:cxnSp>
        <p:nvCxnSpPr>
          <p:cNvPr id="12" name="Line 12"/>
          <p:cNvCxnSpPr/>
          <p:nvPr/>
        </p:nvCxnSpPr>
        <p:spPr>
          <a:xfrm>
            <a:off x="7810348" y="1732788"/>
            <a:ext cx="0" cy="3257550"/>
          </a:xfrm>
          <a:prstGeom prst="line">
            <a:avLst/>
          </a:prstGeom>
          <a:ln w="9525" cap="flat">
            <a:solidFill>
              <a:srgbClr val="E6E8F2"/>
            </a:solidFill>
          </a:ln>
        </p:spPr>
      </p:cxnSp>
      <p:cxnSp>
        <p:nvCxnSpPr>
          <p:cNvPr id="13" name="Line 13"/>
          <p:cNvCxnSpPr/>
          <p:nvPr/>
        </p:nvCxnSpPr>
        <p:spPr>
          <a:xfrm>
            <a:off x="8210398" y="1732788"/>
            <a:ext cx="0" cy="3257550"/>
          </a:xfrm>
          <a:prstGeom prst="line">
            <a:avLst/>
          </a:prstGeom>
          <a:ln w="9525" cap="flat">
            <a:solidFill>
              <a:srgbClr val="E6E8F2"/>
            </a:solidFill>
          </a:ln>
        </p:spPr>
      </p:cxnSp>
      <p:cxnSp>
        <p:nvCxnSpPr>
          <p:cNvPr id="14" name="Line 14"/>
          <p:cNvCxnSpPr/>
          <p:nvPr/>
        </p:nvCxnSpPr>
        <p:spPr>
          <a:xfrm>
            <a:off x="8610448" y="1732788"/>
            <a:ext cx="0" cy="3257550"/>
          </a:xfrm>
          <a:prstGeom prst="line">
            <a:avLst/>
          </a:prstGeom>
          <a:ln w="9525" cap="flat">
            <a:solidFill>
              <a:srgbClr val="E6E8F2"/>
            </a:solidFill>
          </a:ln>
        </p:spPr>
      </p:cxnSp>
      <p:cxnSp>
        <p:nvCxnSpPr>
          <p:cNvPr id="15" name="Line 15"/>
          <p:cNvCxnSpPr/>
          <p:nvPr/>
        </p:nvCxnSpPr>
        <p:spPr>
          <a:xfrm>
            <a:off x="9010498" y="1732788"/>
            <a:ext cx="0" cy="3257550"/>
          </a:xfrm>
          <a:prstGeom prst="line">
            <a:avLst/>
          </a:prstGeom>
          <a:ln w="9525" cap="flat">
            <a:solidFill>
              <a:srgbClr val="E6E8F2"/>
            </a:solidFill>
          </a:ln>
        </p:spPr>
      </p:cxnSp>
      <p:cxnSp>
        <p:nvCxnSpPr>
          <p:cNvPr id="16" name="Line 16"/>
          <p:cNvCxnSpPr/>
          <p:nvPr/>
        </p:nvCxnSpPr>
        <p:spPr>
          <a:xfrm>
            <a:off x="9410548" y="1732788"/>
            <a:ext cx="0" cy="3257550"/>
          </a:xfrm>
          <a:prstGeom prst="line">
            <a:avLst/>
          </a:prstGeom>
          <a:ln w="9525" cap="flat">
            <a:solidFill>
              <a:srgbClr val="E6E8F2"/>
            </a:solidFill>
          </a:ln>
        </p:spPr>
      </p:cxnSp>
      <p:cxnSp>
        <p:nvCxnSpPr>
          <p:cNvPr id="17" name="Line 17"/>
          <p:cNvCxnSpPr/>
          <p:nvPr/>
        </p:nvCxnSpPr>
        <p:spPr>
          <a:xfrm>
            <a:off x="6610198" y="4990338"/>
            <a:ext cx="2800350" cy="0"/>
          </a:xfrm>
          <a:prstGeom prst="line">
            <a:avLst/>
          </a:prstGeom>
          <a:ln w="9525" cap="flat">
            <a:solidFill>
              <a:srgbClr val="E6E8F2"/>
            </a:solidFill>
          </a:ln>
        </p:spPr>
      </p:cxnSp>
      <p:cxnSp>
        <p:nvCxnSpPr>
          <p:cNvPr id="18" name="Line 18"/>
          <p:cNvCxnSpPr/>
          <p:nvPr/>
        </p:nvCxnSpPr>
        <p:spPr>
          <a:xfrm>
            <a:off x="6610198" y="4718876"/>
            <a:ext cx="2800350" cy="0"/>
          </a:xfrm>
          <a:prstGeom prst="line">
            <a:avLst/>
          </a:prstGeom>
          <a:ln w="9525" cap="flat">
            <a:solidFill>
              <a:srgbClr val="E6E8F2"/>
            </a:solidFill>
          </a:ln>
        </p:spPr>
      </p:cxnSp>
      <p:cxnSp>
        <p:nvCxnSpPr>
          <p:cNvPr id="19" name="Line 19"/>
          <p:cNvCxnSpPr/>
          <p:nvPr/>
        </p:nvCxnSpPr>
        <p:spPr>
          <a:xfrm>
            <a:off x="6610198" y="4447413"/>
            <a:ext cx="2800350" cy="0"/>
          </a:xfrm>
          <a:prstGeom prst="line">
            <a:avLst/>
          </a:prstGeom>
          <a:ln w="9525" cap="flat">
            <a:solidFill>
              <a:srgbClr val="E6E8F2"/>
            </a:solidFill>
          </a:ln>
        </p:spPr>
      </p:cxnSp>
      <p:cxnSp>
        <p:nvCxnSpPr>
          <p:cNvPr id="20" name="Line 20"/>
          <p:cNvCxnSpPr/>
          <p:nvPr/>
        </p:nvCxnSpPr>
        <p:spPr>
          <a:xfrm>
            <a:off x="6610198" y="4175950"/>
            <a:ext cx="2800350" cy="0"/>
          </a:xfrm>
          <a:prstGeom prst="line">
            <a:avLst/>
          </a:prstGeom>
          <a:ln w="9525" cap="flat">
            <a:solidFill>
              <a:srgbClr val="E6E8F2"/>
            </a:solidFill>
          </a:ln>
        </p:spPr>
      </p:cxnSp>
      <p:cxnSp>
        <p:nvCxnSpPr>
          <p:cNvPr id="21" name="Line 21"/>
          <p:cNvCxnSpPr/>
          <p:nvPr/>
        </p:nvCxnSpPr>
        <p:spPr>
          <a:xfrm>
            <a:off x="6610198" y="3904488"/>
            <a:ext cx="2800350" cy="0"/>
          </a:xfrm>
          <a:prstGeom prst="line">
            <a:avLst/>
          </a:prstGeom>
          <a:ln w="9525" cap="flat">
            <a:solidFill>
              <a:srgbClr val="E6E8F2"/>
            </a:solidFill>
          </a:ln>
        </p:spPr>
      </p:cxnSp>
      <p:cxnSp>
        <p:nvCxnSpPr>
          <p:cNvPr id="22" name="Line 22"/>
          <p:cNvCxnSpPr/>
          <p:nvPr/>
        </p:nvCxnSpPr>
        <p:spPr>
          <a:xfrm>
            <a:off x="6610198" y="3633026"/>
            <a:ext cx="2800350" cy="0"/>
          </a:xfrm>
          <a:prstGeom prst="line">
            <a:avLst/>
          </a:prstGeom>
          <a:ln w="9525" cap="flat">
            <a:solidFill>
              <a:srgbClr val="E6E8F2"/>
            </a:solidFill>
          </a:ln>
        </p:spPr>
      </p:cxnSp>
      <p:cxnSp>
        <p:nvCxnSpPr>
          <p:cNvPr id="23" name="Line 23"/>
          <p:cNvCxnSpPr/>
          <p:nvPr/>
        </p:nvCxnSpPr>
        <p:spPr>
          <a:xfrm>
            <a:off x="6610198" y="3361563"/>
            <a:ext cx="2800350" cy="0"/>
          </a:xfrm>
          <a:prstGeom prst="line">
            <a:avLst/>
          </a:prstGeom>
          <a:ln w="9525" cap="flat">
            <a:solidFill>
              <a:srgbClr val="E6E8F2"/>
            </a:solidFill>
          </a:ln>
        </p:spPr>
      </p:cxnSp>
      <p:cxnSp>
        <p:nvCxnSpPr>
          <p:cNvPr id="24" name="Line 24"/>
          <p:cNvCxnSpPr/>
          <p:nvPr/>
        </p:nvCxnSpPr>
        <p:spPr>
          <a:xfrm>
            <a:off x="6610198" y="3090100"/>
            <a:ext cx="2800350" cy="0"/>
          </a:xfrm>
          <a:prstGeom prst="line">
            <a:avLst/>
          </a:prstGeom>
          <a:ln w="9525" cap="flat">
            <a:solidFill>
              <a:srgbClr val="E6E8F2"/>
            </a:solidFill>
          </a:ln>
        </p:spPr>
      </p:cxnSp>
      <p:cxnSp>
        <p:nvCxnSpPr>
          <p:cNvPr id="25" name="Line 25"/>
          <p:cNvCxnSpPr/>
          <p:nvPr/>
        </p:nvCxnSpPr>
        <p:spPr>
          <a:xfrm>
            <a:off x="6610198" y="2818638"/>
            <a:ext cx="2800350" cy="0"/>
          </a:xfrm>
          <a:prstGeom prst="line">
            <a:avLst/>
          </a:prstGeom>
          <a:ln w="9525" cap="flat">
            <a:solidFill>
              <a:srgbClr val="E6E8F2"/>
            </a:solidFill>
          </a:ln>
        </p:spPr>
      </p:cxnSp>
      <p:cxnSp>
        <p:nvCxnSpPr>
          <p:cNvPr id="26" name="Line 26"/>
          <p:cNvCxnSpPr/>
          <p:nvPr/>
        </p:nvCxnSpPr>
        <p:spPr>
          <a:xfrm>
            <a:off x="6610198" y="2547176"/>
            <a:ext cx="2800350" cy="0"/>
          </a:xfrm>
          <a:prstGeom prst="line">
            <a:avLst/>
          </a:prstGeom>
          <a:ln w="9525" cap="flat">
            <a:solidFill>
              <a:srgbClr val="E6E8F2"/>
            </a:solidFill>
          </a:ln>
        </p:spPr>
      </p:cxnSp>
      <p:cxnSp>
        <p:nvCxnSpPr>
          <p:cNvPr id="27" name="Line 27"/>
          <p:cNvCxnSpPr/>
          <p:nvPr/>
        </p:nvCxnSpPr>
        <p:spPr>
          <a:xfrm>
            <a:off x="6610198" y="2275713"/>
            <a:ext cx="2800350" cy="0"/>
          </a:xfrm>
          <a:prstGeom prst="line">
            <a:avLst/>
          </a:prstGeom>
          <a:ln w="9525" cap="flat">
            <a:solidFill>
              <a:srgbClr val="E6E8F2"/>
            </a:solidFill>
          </a:ln>
        </p:spPr>
      </p:cxnSp>
      <p:cxnSp>
        <p:nvCxnSpPr>
          <p:cNvPr id="28" name="Line 28"/>
          <p:cNvCxnSpPr/>
          <p:nvPr/>
        </p:nvCxnSpPr>
        <p:spPr>
          <a:xfrm>
            <a:off x="6610198" y="2004250"/>
            <a:ext cx="2800350" cy="0"/>
          </a:xfrm>
          <a:prstGeom prst="line">
            <a:avLst/>
          </a:prstGeom>
          <a:ln w="9525" cap="flat">
            <a:solidFill>
              <a:srgbClr val="E6E8F2"/>
            </a:solidFill>
          </a:ln>
        </p:spPr>
      </p:cxnSp>
      <p:cxnSp>
        <p:nvCxnSpPr>
          <p:cNvPr id="29" name="Line 29"/>
          <p:cNvCxnSpPr/>
          <p:nvPr/>
        </p:nvCxnSpPr>
        <p:spPr>
          <a:xfrm>
            <a:off x="6610198" y="1732788"/>
            <a:ext cx="2800350" cy="0"/>
          </a:xfrm>
          <a:prstGeom prst="line">
            <a:avLst/>
          </a:prstGeom>
          <a:ln w="9525" cap="flat">
            <a:solidFill>
              <a:srgbClr val="E6E8F2"/>
            </a:solidFill>
          </a:ln>
        </p:spPr>
      </p:cxnSp>
      <p:cxnSp>
        <p:nvCxnSpPr>
          <p:cNvPr id="30" name="Line 30"/>
          <p:cNvCxnSpPr/>
          <p:nvPr/>
        </p:nvCxnSpPr>
        <p:spPr>
          <a:xfrm>
            <a:off x="7010248" y="1732788"/>
            <a:ext cx="0" cy="3257550"/>
          </a:xfrm>
          <a:prstGeom prst="line">
            <a:avLst/>
          </a:prstGeom>
          <a:ln w="19050" cap="flat">
            <a:solidFill>
              <a:srgbClr val="5F6272"/>
            </a:solidFill>
          </a:ln>
        </p:spPr>
      </p:cxnSp>
      <p:cxnSp>
        <p:nvCxnSpPr>
          <p:cNvPr id="31" name="Line 31"/>
          <p:cNvCxnSpPr/>
          <p:nvPr/>
        </p:nvCxnSpPr>
        <p:spPr>
          <a:xfrm>
            <a:off x="6610198" y="4990338"/>
            <a:ext cx="2800350" cy="0"/>
          </a:xfrm>
          <a:prstGeom prst="line">
            <a:avLst/>
          </a:prstGeom>
          <a:ln w="19050" cap="flat">
            <a:solidFill>
              <a:srgbClr val="5F6272"/>
            </a:solidFill>
          </a:ln>
        </p:spPr>
      </p:cxnSp>
      <p:sp>
        <p:nvSpPr>
          <p:cNvPr id="32" name="Shape 32"/>
          <p:cNvSpPr txBox="1"/>
          <p:nvPr/>
        </p:nvSpPr>
        <p:spPr>
          <a:xfrm>
            <a:off x="63358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3" name="Shape 33"/>
          <p:cNvSpPr txBox="1"/>
          <p:nvPr/>
        </p:nvSpPr>
        <p:spPr>
          <a:xfrm>
            <a:off x="67359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4" name="Shape 34"/>
          <p:cNvSpPr txBox="1"/>
          <p:nvPr/>
        </p:nvSpPr>
        <p:spPr>
          <a:xfrm>
            <a:off x="71359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5" name="Shape 35"/>
          <p:cNvSpPr txBox="1"/>
          <p:nvPr/>
        </p:nvSpPr>
        <p:spPr>
          <a:xfrm>
            <a:off x="75360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6" name="Shape 36"/>
          <p:cNvSpPr txBox="1"/>
          <p:nvPr/>
        </p:nvSpPr>
        <p:spPr>
          <a:xfrm>
            <a:off x="79360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7" name="Shape 37"/>
          <p:cNvSpPr txBox="1"/>
          <p:nvPr/>
        </p:nvSpPr>
        <p:spPr>
          <a:xfrm>
            <a:off x="83361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8" name="Shape 38"/>
          <p:cNvSpPr txBox="1"/>
          <p:nvPr/>
        </p:nvSpPr>
        <p:spPr>
          <a:xfrm>
            <a:off x="87361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9" name="Shape 39"/>
          <p:cNvSpPr txBox="1"/>
          <p:nvPr/>
        </p:nvSpPr>
        <p:spPr>
          <a:xfrm>
            <a:off x="91362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0" name="Shape 40"/>
          <p:cNvSpPr txBox="1"/>
          <p:nvPr/>
        </p:nvSpPr>
        <p:spPr>
          <a:xfrm>
            <a:off x="6043270" y="4898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1" name="Shape 41"/>
          <p:cNvSpPr txBox="1"/>
          <p:nvPr/>
        </p:nvSpPr>
        <p:spPr>
          <a:xfrm>
            <a:off x="6043270" y="43559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2" name="Shape 42"/>
          <p:cNvSpPr txBox="1"/>
          <p:nvPr/>
        </p:nvSpPr>
        <p:spPr>
          <a:xfrm>
            <a:off x="6043270" y="3813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6043270" y="32701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4" name="Shape 44"/>
          <p:cNvSpPr txBox="1"/>
          <p:nvPr/>
        </p:nvSpPr>
        <p:spPr>
          <a:xfrm>
            <a:off x="6043270" y="27271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5" name="Shape 45"/>
          <p:cNvSpPr txBox="1"/>
          <p:nvPr/>
        </p:nvSpPr>
        <p:spPr>
          <a:xfrm>
            <a:off x="6043270" y="21842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6" name="Shape 46"/>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7" name="Shape 47"/>
          <p:cNvSpPr/>
          <p:nvPr/>
        </p:nvSpPr>
        <p:spPr>
          <a:xfrm>
            <a:off x="6957860" y="222332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8" name="Shape 48"/>
          <p:cNvSpPr txBox="1"/>
          <p:nvPr/>
        </p:nvSpPr>
        <p:spPr>
          <a:xfrm>
            <a:off x="7095973" y="202806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(0, 10)</a:t>
            </a:r>
            <a:endParaRPr lang="en-US" sz="1125" dirty="0"/>
          </a:p>
        </p:txBody>
      </p:sp>
      <p:sp>
        <p:nvSpPr>
          <p:cNvPr id="49" name="Shape 49"/>
          <p:cNvSpPr/>
          <p:nvPr/>
        </p:nvSpPr>
        <p:spPr>
          <a:xfrm>
            <a:off x="7357910" y="27662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0" name="Shape 50"/>
          <p:cNvSpPr txBox="1"/>
          <p:nvPr/>
        </p:nvSpPr>
        <p:spPr>
          <a:xfrm>
            <a:off x="7496023" y="25709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(1, 8)</a:t>
            </a:r>
            <a:endParaRPr lang="en-US" sz="1125" dirty="0"/>
          </a:p>
        </p:txBody>
      </p:sp>
      <p:sp>
        <p:nvSpPr>
          <p:cNvPr id="51" name="Shape 51"/>
          <p:cNvSpPr/>
          <p:nvPr/>
        </p:nvSpPr>
        <p:spPr>
          <a:xfrm>
            <a:off x="7757960" y="33091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2" name="Shape 52"/>
          <p:cNvSpPr txBox="1"/>
          <p:nvPr/>
        </p:nvSpPr>
        <p:spPr>
          <a:xfrm>
            <a:off x="7896073" y="31139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(2, 6)</a:t>
            </a:r>
            <a:endParaRPr lang="en-US" sz="1125" dirty="0"/>
          </a:p>
        </p:txBody>
      </p:sp>
      <p:cxnSp>
        <p:nvCxnSpPr>
          <p:cNvPr id="53" name="Line 53"/>
          <p:cNvCxnSpPr/>
          <p:nvPr/>
        </p:nvCxnSpPr>
        <p:spPr>
          <a:xfrm>
            <a:off x="6610198" y="1732788"/>
            <a:ext cx="2400300" cy="3257550"/>
          </a:xfrm>
          <a:prstGeom prst="line">
            <a:avLst/>
          </a:prstGeom>
          <a:ln w="38100" cap="rnd">
            <a:solidFill>
              <a:srgbClr val="16171D"/>
            </a:solidFill>
          </a:ln>
        </p:spPr>
      </p:cxnSp>
      <p:sp>
        <p:nvSpPr>
          <p:cNvPr id="54" name="Slide Number 5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500"/>
                                        <p:tgtEl>
                                          <p:spTgt spid="47"/>
                                        </p:tgtEl>
                                      </p:cBhvr>
                                    </p:animEffect>
                                    <p:anim calcmode="lin" valueType="num">
                                      <p:cBhvr>
                                        <p:cTn id="12" dur="500" fill="hold"/>
                                        <p:tgtEl>
                                          <p:spTgt spid="47"/>
                                        </p:tgtEl>
                                        <p:attrNameLst>
                                          <p:attrName>ppt_w</p:attrName>
                                        </p:attrNameLst>
                                      </p:cBhvr>
                                      <p:tavLst>
                                        <p:tav tm="0">
                                          <p:val>
                                            <p:fltVal val="0"/>
                                          </p:val>
                                        </p:tav>
                                        <p:tav tm="100000">
                                          <p:val>
                                            <p:strVal val="#ppt_w"/>
                                          </p:val>
                                        </p:tav>
                                      </p:tavLst>
                                    </p:anim>
                                    <p:anim calcmode="lin" valueType="num">
                                      <p:cBhvr>
                                        <p:cTn id="13" dur="500" fill="hold"/>
                                        <p:tgtEl>
                                          <p:spTgt spid="47"/>
                                        </p:tgtEl>
                                        <p:attrNameLst>
                                          <p:attrName>ppt_h</p:attrName>
                                        </p:attrNameLst>
                                      </p:cBhvr>
                                      <p:tavLst>
                                        <p:tav tm="0">
                                          <p:val>
                                            <p:fltVal val="0"/>
                                          </p:val>
                                        </p:tav>
                                        <p:tav tm="100000">
                                          <p:val>
                                            <p:strVal val="#ppt_h"/>
                                          </p:val>
                                        </p:tav>
                                      </p:tavLst>
                                    </p:anim>
                                  </p:childTnLst>
                                </p:cTn>
                              </p:par>
                              <p:par>
                                <p:cTn id="19" presetID="53" presetClass="entr" presetSubtype="16" fill="hold" nodeType="with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fade">
                                      <p:cBhvr>
                                        <p:cTn id="16" dur="500"/>
                                        <p:tgtEl>
                                          <p:spTgt spid="48"/>
                                        </p:tgtEl>
                                      </p:cBhvr>
                                    </p:animEffect>
                                    <p:anim calcmode="lin" valueType="num">
                                      <p:cBhvr>
                                        <p:cTn id="17" dur="500" fill="hold"/>
                                        <p:tgtEl>
                                          <p:spTgt spid="48"/>
                                        </p:tgtEl>
                                        <p:attrNameLst>
                                          <p:attrName>ppt_w</p:attrName>
                                        </p:attrNameLst>
                                      </p:cBhvr>
                                      <p:tavLst>
                                        <p:tav tm="0">
                                          <p:val>
                                            <p:fltVal val="0"/>
                                          </p:val>
                                        </p:tav>
                                        <p:tav tm="100000">
                                          <p:val>
                                            <p:strVal val="#ppt_w"/>
                                          </p:val>
                                        </p:tav>
                                      </p:tavLst>
                                    </p:anim>
                                    <p:anim calcmode="lin" valueType="num">
                                      <p:cBhvr>
                                        <p:cTn id="18" dur="500" fill="hold"/>
                                        <p:tgtEl>
                                          <p:spTgt spid="48"/>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500"/>
                                        <p:tgtEl>
                                          <p:spTgt spid="49"/>
                                        </p:tgtEl>
                                      </p:cBhvr>
                                    </p:animEffect>
                                    <p:anim calcmode="lin" valueType="num">
                                      <p:cBhvr>
                                        <p:cTn id="24" dur="500" fill="hold"/>
                                        <p:tgtEl>
                                          <p:spTgt spid="49"/>
                                        </p:tgtEl>
                                        <p:attrNameLst>
                                          <p:attrName>ppt_w</p:attrName>
                                        </p:attrNameLst>
                                      </p:cBhvr>
                                      <p:tavLst>
                                        <p:tav tm="0">
                                          <p:val>
                                            <p:fltVal val="0"/>
                                          </p:val>
                                        </p:tav>
                                        <p:tav tm="100000">
                                          <p:val>
                                            <p:strVal val="#ppt_w"/>
                                          </p:val>
                                        </p:tav>
                                      </p:tavLst>
                                    </p:anim>
                                    <p:anim calcmode="lin" valueType="num">
                                      <p:cBhvr>
                                        <p:cTn id="25" dur="500" fill="hold"/>
                                        <p:tgtEl>
                                          <p:spTgt spid="49"/>
                                        </p:tgtEl>
                                        <p:attrNameLst>
                                          <p:attrName>ppt_h</p:attrName>
                                        </p:attrNameLst>
                                      </p:cBhvr>
                                      <p:tavLst>
                                        <p:tav tm="0">
                                          <p:val>
                                            <p:fltVal val="0"/>
                                          </p:val>
                                        </p:tav>
                                        <p:tav tm="100000">
                                          <p:val>
                                            <p:strVal val="#ppt_h"/>
                                          </p:val>
                                        </p:tav>
                                      </p:tavLst>
                                    </p:anim>
                                  </p:childTnLst>
                                </p:cTn>
                              </p:par>
                              <p:par>
                                <p:cTn id="31" presetID="53" presetClass="entr" presetSubtype="16"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anim calcmode="lin" valueType="num">
                                      <p:cBhvr>
                                        <p:cTn id="29" dur="500" fill="hold"/>
                                        <p:tgtEl>
                                          <p:spTgt spid="50"/>
                                        </p:tgtEl>
                                        <p:attrNameLst>
                                          <p:attrName>ppt_w</p:attrName>
                                        </p:attrNameLst>
                                      </p:cBhvr>
                                      <p:tavLst>
                                        <p:tav tm="0">
                                          <p:val>
                                            <p:fltVal val="0"/>
                                          </p:val>
                                        </p:tav>
                                        <p:tav tm="100000">
                                          <p:val>
                                            <p:strVal val="#ppt_w"/>
                                          </p:val>
                                        </p:tav>
                                      </p:tavLst>
                                    </p:anim>
                                    <p:anim calcmode="lin" valueType="num">
                                      <p:cBhvr>
                                        <p:cTn id="30"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38" presetID="53" presetClass="entr" presetSubtype="16" fill="hold" nodeType="click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500"/>
                                        <p:tgtEl>
                                          <p:spTgt spid="51"/>
                                        </p:tgtEl>
                                      </p:cBhvr>
                                    </p:animEffect>
                                    <p:anim calcmode="lin" valueType="num">
                                      <p:cBhvr>
                                        <p:cTn id="36" dur="500" fill="hold"/>
                                        <p:tgtEl>
                                          <p:spTgt spid="51"/>
                                        </p:tgtEl>
                                        <p:attrNameLst>
                                          <p:attrName>ppt_w</p:attrName>
                                        </p:attrNameLst>
                                      </p:cBhvr>
                                      <p:tavLst>
                                        <p:tav tm="0">
                                          <p:val>
                                            <p:fltVal val="0"/>
                                          </p:val>
                                        </p:tav>
                                        <p:tav tm="100000">
                                          <p:val>
                                            <p:strVal val="#ppt_w"/>
                                          </p:val>
                                        </p:tav>
                                      </p:tavLst>
                                    </p:anim>
                                    <p:anim calcmode="lin" valueType="num">
                                      <p:cBhvr>
                                        <p:cTn id="37" dur="500" fill="hold"/>
                                        <p:tgtEl>
                                          <p:spTgt spid="51"/>
                                        </p:tgtEl>
                                        <p:attrNameLst>
                                          <p:attrName>ppt_h</p:attrName>
                                        </p:attrNameLst>
                                      </p:cBhvr>
                                      <p:tavLst>
                                        <p:tav tm="0">
                                          <p:val>
                                            <p:fltVal val="0"/>
                                          </p:val>
                                        </p:tav>
                                        <p:tav tm="100000">
                                          <p:val>
                                            <p:strVal val="#ppt_h"/>
                                          </p:val>
                                        </p:tav>
                                      </p:tavLst>
                                    </p:anim>
                                  </p:childTnLst>
                                </p:cTn>
                              </p:par>
                              <p:par>
                                <p:cTn id="43" presetID="53" presetClass="entr" presetSubtype="16" fill="hold" nodeType="withEffect">
                                  <p:stCondLst>
                                    <p:cond delay="0"/>
                                  </p:stCondLst>
                                  <p:childTnLst>
                                    <p:set>
                                      <p:cBhvr>
                                        <p:cTn id="39" dur="1" fill="hold">
                                          <p:stCondLst>
                                            <p:cond delay="0"/>
                                          </p:stCondLst>
                                        </p:cTn>
                                        <p:tgtEl>
                                          <p:spTgt spid="52"/>
                                        </p:tgtEl>
                                        <p:attrNameLst>
                                          <p:attrName>style.visibility</p:attrName>
                                        </p:attrNameLst>
                                      </p:cBhvr>
                                      <p:to>
                                        <p:strVal val="visible"/>
                                      </p:to>
                                    </p:set>
                                    <p:animEffect transition="in" filter="fade">
                                      <p:cBhvr>
                                        <p:cTn id="40" dur="500"/>
                                        <p:tgtEl>
                                          <p:spTgt spid="52"/>
                                        </p:tgtEl>
                                      </p:cBhvr>
                                    </p:animEffect>
                                    <p:anim calcmode="lin" valueType="num">
                                      <p:cBhvr>
                                        <p:cTn id="41" dur="500" fill="hold"/>
                                        <p:tgtEl>
                                          <p:spTgt spid="52"/>
                                        </p:tgtEl>
                                        <p:attrNameLst>
                                          <p:attrName>ppt_w</p:attrName>
                                        </p:attrNameLst>
                                      </p:cBhvr>
                                      <p:tavLst>
                                        <p:tav tm="0">
                                          <p:val>
                                            <p:fltVal val="0"/>
                                          </p:val>
                                        </p:tav>
                                        <p:tav tm="100000">
                                          <p:val>
                                            <p:strVal val="#ppt_w"/>
                                          </p:val>
                                        </p:tav>
                                      </p:tavLst>
                                    </p:anim>
                                    <p:anim calcmode="lin" valueType="num">
                                      <p:cBhvr>
                                        <p:cTn id="42" dur="500" fill="hold"/>
                                        <p:tgtEl>
                                          <p:spTgt spid="52"/>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48" presetID="22" presetClass="entr" presetSubtype="8"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wipe(left)">
                                      <p:cBhvr>
                                        <p:cTn id="47" dur="7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We do · Together</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a:t>
            </a:r>
            <a:r>
              <a:rPr lang="en-US" sz="3450" dirty="0" b="1">
                <a:solidFill>
                  <a:srgbClr val="16171D"/>
                </a:solidFill>
                <a:latin typeface="Segoe UI"/>
                <a:cs typeface="Segoe UI"/>
              </a:rPr>
              <a:t xml:space="preserve">3</a:t>
            </a:r>
            <a:r>
              <a:rPr lang="en-US" sz="3450" dirty="0" b="1">
                <a:solidFill>
                  <a:srgbClr val="16171D"/>
                </a:solidFill>
                <a:latin typeface="Segoe UI"/>
                <a:cs typeface="Segoe UI"/>
              </a:rPr>
              <a:t xml:space="preserve">/</a:t>
            </a:r>
            <a:r>
              <a:rPr lang="en-US" sz="3450" dirty="0" b="1">
                <a:solidFill>
                  <a:srgbClr val="16171D"/>
                </a:solidFill>
                <a:latin typeface="Segoe UI"/>
                <a:cs typeface="Segoe UI"/>
              </a:rPr>
              <a:t xml:space="preserve">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Plot (0, ____).</a:t>
            </a:r>
            <a:endParaRPr lang="en-US" sz="1950" dirty="0"/>
          </a:p>
        </p:txBody>
      </p:sp>
      <p:sp>
        <p:nvSpPr>
          <p:cNvPr id="5" name="Shape 5"/>
          <p:cNvSpPr txBox="1"/>
          <p:nvPr/>
        </p:nvSpPr>
        <p:spPr>
          <a:xfrm>
            <a:off x="685800" y="2103882"/>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−1)</a:t>
            </a:r>
            <a:endParaRPr lang="en-US" sz="2325" dirty="0"/>
          </a:p>
        </p:txBody>
      </p:sp>
      <p:sp>
        <p:nvSpPr>
          <p:cNvPr id="6" name="Shape 6"/>
          <p:cNvSpPr txBox="1"/>
          <p:nvPr/>
        </p:nvSpPr>
        <p:spPr>
          <a:xfrm>
            <a:off x="685800"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Rise ____, run ____.</a:t>
            </a:r>
            <a:endParaRPr lang="en-US" sz="1950" dirty="0"/>
          </a:p>
        </p:txBody>
      </p:sp>
      <p:sp>
        <p:nvSpPr>
          <p:cNvPr id="7" name="Shape 7"/>
          <p:cNvSpPr txBox="1"/>
          <p:nvPr/>
        </p:nvSpPr>
        <p:spPr>
          <a:xfrm>
            <a:off x="685800" y="324154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up 3, right 2</a:t>
            </a:r>
            <a:endParaRPr lang="en-US" sz="2325" dirty="0"/>
          </a:p>
        </p:txBody>
      </p:sp>
      <p:sp>
        <p:nvSpPr>
          <p:cNvPr id="8" name="Shape 8"/>
          <p:cNvSpPr txBox="1"/>
          <p:nvPr/>
        </p:nvSpPr>
        <p:spPr>
          <a:xfrm>
            <a:off x="685800" y="3893820"/>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Next points:</a:t>
            </a:r>
            <a:endParaRPr lang="en-US" sz="1950" dirty="0"/>
          </a:p>
        </p:txBody>
      </p:sp>
      <p:sp>
        <p:nvSpPr>
          <p:cNvPr id="9" name="Shape 9"/>
          <p:cNvSpPr txBox="1"/>
          <p:nvPr/>
        </p:nvSpPr>
        <p:spPr>
          <a:xfrm>
            <a:off x="685800" y="4379214"/>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2) and (4, 5)</a:t>
            </a:r>
            <a:endParaRPr lang="en-US" sz="2325" dirty="0"/>
          </a:p>
        </p:txBody>
      </p:sp>
      <p:sp>
        <p:nvSpPr>
          <p:cNvPr id="10" name="Shape 10"/>
          <p:cNvSpPr/>
          <p:nvPr/>
        </p:nvSpPr>
        <p:spPr>
          <a:xfrm>
            <a:off x="6286348" y="1618488"/>
            <a:ext cx="3238500" cy="3619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6610198" y="1732788"/>
            <a:ext cx="0" cy="3257550"/>
          </a:xfrm>
          <a:prstGeom prst="line">
            <a:avLst/>
          </a:prstGeom>
          <a:ln w="9525" cap="flat">
            <a:solidFill>
              <a:srgbClr val="E6E8F2"/>
            </a:solidFill>
          </a:ln>
        </p:spPr>
      </p:cxnSp>
      <p:cxnSp>
        <p:nvCxnSpPr>
          <p:cNvPr id="12" name="Line 12"/>
          <p:cNvCxnSpPr/>
          <p:nvPr/>
        </p:nvCxnSpPr>
        <p:spPr>
          <a:xfrm>
            <a:off x="6960241" y="1732788"/>
            <a:ext cx="0" cy="3257550"/>
          </a:xfrm>
          <a:prstGeom prst="line">
            <a:avLst/>
          </a:prstGeom>
          <a:ln w="9525" cap="flat">
            <a:solidFill>
              <a:srgbClr val="E6E8F2"/>
            </a:solidFill>
          </a:ln>
        </p:spPr>
      </p:cxnSp>
      <p:cxnSp>
        <p:nvCxnSpPr>
          <p:cNvPr id="13" name="Line 13"/>
          <p:cNvCxnSpPr/>
          <p:nvPr/>
        </p:nvCxnSpPr>
        <p:spPr>
          <a:xfrm>
            <a:off x="7310285" y="1732788"/>
            <a:ext cx="0" cy="3257550"/>
          </a:xfrm>
          <a:prstGeom prst="line">
            <a:avLst/>
          </a:prstGeom>
          <a:ln w="9525" cap="flat">
            <a:solidFill>
              <a:srgbClr val="E6E8F2"/>
            </a:solidFill>
          </a:ln>
        </p:spPr>
      </p:cxnSp>
      <p:cxnSp>
        <p:nvCxnSpPr>
          <p:cNvPr id="14" name="Line 14"/>
          <p:cNvCxnSpPr/>
          <p:nvPr/>
        </p:nvCxnSpPr>
        <p:spPr>
          <a:xfrm>
            <a:off x="7660329" y="1732788"/>
            <a:ext cx="0" cy="3257550"/>
          </a:xfrm>
          <a:prstGeom prst="line">
            <a:avLst/>
          </a:prstGeom>
          <a:ln w="9525" cap="flat">
            <a:solidFill>
              <a:srgbClr val="E6E8F2"/>
            </a:solidFill>
          </a:ln>
        </p:spPr>
      </p:cxnSp>
      <p:cxnSp>
        <p:nvCxnSpPr>
          <p:cNvPr id="15" name="Line 15"/>
          <p:cNvCxnSpPr/>
          <p:nvPr/>
        </p:nvCxnSpPr>
        <p:spPr>
          <a:xfrm>
            <a:off x="8010373" y="1732788"/>
            <a:ext cx="0" cy="3257550"/>
          </a:xfrm>
          <a:prstGeom prst="line">
            <a:avLst/>
          </a:prstGeom>
          <a:ln w="9525" cap="flat">
            <a:solidFill>
              <a:srgbClr val="E6E8F2"/>
            </a:solidFill>
          </a:ln>
        </p:spPr>
      </p:cxnSp>
      <p:cxnSp>
        <p:nvCxnSpPr>
          <p:cNvPr id="16" name="Line 16"/>
          <p:cNvCxnSpPr/>
          <p:nvPr/>
        </p:nvCxnSpPr>
        <p:spPr>
          <a:xfrm>
            <a:off x="8360416" y="1732788"/>
            <a:ext cx="0" cy="3257550"/>
          </a:xfrm>
          <a:prstGeom prst="line">
            <a:avLst/>
          </a:prstGeom>
          <a:ln w="9525" cap="flat">
            <a:solidFill>
              <a:srgbClr val="E6E8F2"/>
            </a:solidFill>
          </a:ln>
        </p:spPr>
      </p:cxnSp>
      <p:cxnSp>
        <p:nvCxnSpPr>
          <p:cNvPr id="17" name="Line 17"/>
          <p:cNvCxnSpPr/>
          <p:nvPr/>
        </p:nvCxnSpPr>
        <p:spPr>
          <a:xfrm>
            <a:off x="8710460" y="1732788"/>
            <a:ext cx="0" cy="3257550"/>
          </a:xfrm>
          <a:prstGeom prst="line">
            <a:avLst/>
          </a:prstGeom>
          <a:ln w="9525" cap="flat">
            <a:solidFill>
              <a:srgbClr val="E6E8F2"/>
            </a:solidFill>
          </a:ln>
        </p:spPr>
      </p:cxnSp>
      <p:cxnSp>
        <p:nvCxnSpPr>
          <p:cNvPr id="18" name="Line 18"/>
          <p:cNvCxnSpPr/>
          <p:nvPr/>
        </p:nvCxnSpPr>
        <p:spPr>
          <a:xfrm>
            <a:off x="9060504" y="1732788"/>
            <a:ext cx="0" cy="3257550"/>
          </a:xfrm>
          <a:prstGeom prst="line">
            <a:avLst/>
          </a:prstGeom>
          <a:ln w="9525" cap="flat">
            <a:solidFill>
              <a:srgbClr val="E6E8F2"/>
            </a:solidFill>
          </a:ln>
        </p:spPr>
      </p:cxnSp>
      <p:cxnSp>
        <p:nvCxnSpPr>
          <p:cNvPr id="19" name="Line 19"/>
          <p:cNvCxnSpPr/>
          <p:nvPr/>
        </p:nvCxnSpPr>
        <p:spPr>
          <a:xfrm>
            <a:off x="9410548" y="1732788"/>
            <a:ext cx="0" cy="3257550"/>
          </a:xfrm>
          <a:prstGeom prst="line">
            <a:avLst/>
          </a:prstGeom>
          <a:ln w="9525" cap="flat">
            <a:solidFill>
              <a:srgbClr val="E6E8F2"/>
            </a:solidFill>
          </a:ln>
        </p:spPr>
      </p:cxnSp>
      <p:cxnSp>
        <p:nvCxnSpPr>
          <p:cNvPr id="20" name="Line 20"/>
          <p:cNvCxnSpPr/>
          <p:nvPr/>
        </p:nvCxnSpPr>
        <p:spPr>
          <a:xfrm>
            <a:off x="6610198" y="4990338"/>
            <a:ext cx="2800350" cy="0"/>
          </a:xfrm>
          <a:prstGeom prst="line">
            <a:avLst/>
          </a:prstGeom>
          <a:ln w="9525" cap="flat">
            <a:solidFill>
              <a:srgbClr val="E6E8F2"/>
            </a:solidFill>
          </a:ln>
        </p:spPr>
      </p:cxnSp>
      <p:cxnSp>
        <p:nvCxnSpPr>
          <p:cNvPr id="21" name="Line 21"/>
          <p:cNvCxnSpPr/>
          <p:nvPr/>
        </p:nvCxnSpPr>
        <p:spPr>
          <a:xfrm>
            <a:off x="6610198" y="4664583"/>
            <a:ext cx="2800350" cy="0"/>
          </a:xfrm>
          <a:prstGeom prst="line">
            <a:avLst/>
          </a:prstGeom>
          <a:ln w="9525" cap="flat">
            <a:solidFill>
              <a:srgbClr val="E6E8F2"/>
            </a:solidFill>
          </a:ln>
        </p:spPr>
      </p:cxnSp>
      <p:cxnSp>
        <p:nvCxnSpPr>
          <p:cNvPr id="22" name="Line 22"/>
          <p:cNvCxnSpPr/>
          <p:nvPr/>
        </p:nvCxnSpPr>
        <p:spPr>
          <a:xfrm>
            <a:off x="6610198" y="4338828"/>
            <a:ext cx="2800350" cy="0"/>
          </a:xfrm>
          <a:prstGeom prst="line">
            <a:avLst/>
          </a:prstGeom>
          <a:ln w="9525" cap="flat">
            <a:solidFill>
              <a:srgbClr val="E6E8F2"/>
            </a:solidFill>
          </a:ln>
        </p:spPr>
      </p:cxnSp>
      <p:cxnSp>
        <p:nvCxnSpPr>
          <p:cNvPr id="23" name="Line 23"/>
          <p:cNvCxnSpPr/>
          <p:nvPr/>
        </p:nvCxnSpPr>
        <p:spPr>
          <a:xfrm>
            <a:off x="6610198" y="4013073"/>
            <a:ext cx="2800350" cy="0"/>
          </a:xfrm>
          <a:prstGeom prst="line">
            <a:avLst/>
          </a:prstGeom>
          <a:ln w="9525" cap="flat">
            <a:solidFill>
              <a:srgbClr val="E6E8F2"/>
            </a:solidFill>
          </a:ln>
        </p:spPr>
      </p:cxnSp>
      <p:cxnSp>
        <p:nvCxnSpPr>
          <p:cNvPr id="24" name="Line 24"/>
          <p:cNvCxnSpPr/>
          <p:nvPr/>
        </p:nvCxnSpPr>
        <p:spPr>
          <a:xfrm>
            <a:off x="6610198" y="3687318"/>
            <a:ext cx="2800350" cy="0"/>
          </a:xfrm>
          <a:prstGeom prst="line">
            <a:avLst/>
          </a:prstGeom>
          <a:ln w="9525" cap="flat">
            <a:solidFill>
              <a:srgbClr val="E6E8F2"/>
            </a:solidFill>
          </a:ln>
        </p:spPr>
      </p:cxnSp>
      <p:cxnSp>
        <p:nvCxnSpPr>
          <p:cNvPr id="25" name="Line 25"/>
          <p:cNvCxnSpPr/>
          <p:nvPr/>
        </p:nvCxnSpPr>
        <p:spPr>
          <a:xfrm>
            <a:off x="6610198" y="3361563"/>
            <a:ext cx="2800350" cy="0"/>
          </a:xfrm>
          <a:prstGeom prst="line">
            <a:avLst/>
          </a:prstGeom>
          <a:ln w="9525" cap="flat">
            <a:solidFill>
              <a:srgbClr val="E6E8F2"/>
            </a:solidFill>
          </a:ln>
        </p:spPr>
      </p:cxnSp>
      <p:cxnSp>
        <p:nvCxnSpPr>
          <p:cNvPr id="26" name="Line 26"/>
          <p:cNvCxnSpPr/>
          <p:nvPr/>
        </p:nvCxnSpPr>
        <p:spPr>
          <a:xfrm>
            <a:off x="6610198" y="3035808"/>
            <a:ext cx="2800350" cy="0"/>
          </a:xfrm>
          <a:prstGeom prst="line">
            <a:avLst/>
          </a:prstGeom>
          <a:ln w="9525" cap="flat">
            <a:solidFill>
              <a:srgbClr val="E6E8F2"/>
            </a:solidFill>
          </a:ln>
        </p:spPr>
      </p:cxnSp>
      <p:cxnSp>
        <p:nvCxnSpPr>
          <p:cNvPr id="27" name="Line 27"/>
          <p:cNvCxnSpPr/>
          <p:nvPr/>
        </p:nvCxnSpPr>
        <p:spPr>
          <a:xfrm>
            <a:off x="6610198" y="2710053"/>
            <a:ext cx="2800350" cy="0"/>
          </a:xfrm>
          <a:prstGeom prst="line">
            <a:avLst/>
          </a:prstGeom>
          <a:ln w="9525" cap="flat">
            <a:solidFill>
              <a:srgbClr val="E6E8F2"/>
            </a:solidFill>
          </a:ln>
        </p:spPr>
      </p:cxnSp>
      <p:cxnSp>
        <p:nvCxnSpPr>
          <p:cNvPr id="28" name="Line 28"/>
          <p:cNvCxnSpPr/>
          <p:nvPr/>
        </p:nvCxnSpPr>
        <p:spPr>
          <a:xfrm>
            <a:off x="6610198" y="2384298"/>
            <a:ext cx="2800350" cy="0"/>
          </a:xfrm>
          <a:prstGeom prst="line">
            <a:avLst/>
          </a:prstGeom>
          <a:ln w="9525" cap="flat">
            <a:solidFill>
              <a:srgbClr val="E6E8F2"/>
            </a:solidFill>
          </a:ln>
        </p:spPr>
      </p:cxnSp>
      <p:cxnSp>
        <p:nvCxnSpPr>
          <p:cNvPr id="29" name="Line 29"/>
          <p:cNvCxnSpPr/>
          <p:nvPr/>
        </p:nvCxnSpPr>
        <p:spPr>
          <a:xfrm>
            <a:off x="6610198" y="2058543"/>
            <a:ext cx="2800350" cy="0"/>
          </a:xfrm>
          <a:prstGeom prst="line">
            <a:avLst/>
          </a:prstGeom>
          <a:ln w="9525" cap="flat">
            <a:solidFill>
              <a:srgbClr val="E6E8F2"/>
            </a:solidFill>
          </a:ln>
        </p:spPr>
      </p:cxnSp>
      <p:cxnSp>
        <p:nvCxnSpPr>
          <p:cNvPr id="30" name="Line 30"/>
          <p:cNvCxnSpPr/>
          <p:nvPr/>
        </p:nvCxnSpPr>
        <p:spPr>
          <a:xfrm>
            <a:off x="6610198" y="1732788"/>
            <a:ext cx="2800350" cy="0"/>
          </a:xfrm>
          <a:prstGeom prst="line">
            <a:avLst/>
          </a:prstGeom>
          <a:ln w="9525" cap="flat">
            <a:solidFill>
              <a:srgbClr val="E6E8F2"/>
            </a:solidFill>
          </a:ln>
        </p:spPr>
      </p:cxnSp>
      <p:cxnSp>
        <p:nvCxnSpPr>
          <p:cNvPr id="31" name="Line 31"/>
          <p:cNvCxnSpPr/>
          <p:nvPr/>
        </p:nvCxnSpPr>
        <p:spPr>
          <a:xfrm>
            <a:off x="7310285" y="1732788"/>
            <a:ext cx="0" cy="3257550"/>
          </a:xfrm>
          <a:prstGeom prst="line">
            <a:avLst/>
          </a:prstGeom>
          <a:ln w="19050" cap="flat">
            <a:solidFill>
              <a:srgbClr val="5F6272"/>
            </a:solidFill>
          </a:ln>
        </p:spPr>
      </p:cxnSp>
      <p:cxnSp>
        <p:nvCxnSpPr>
          <p:cNvPr id="32" name="Line 32"/>
          <p:cNvCxnSpPr/>
          <p:nvPr/>
        </p:nvCxnSpPr>
        <p:spPr>
          <a:xfrm>
            <a:off x="6610198" y="4013073"/>
            <a:ext cx="2800350" cy="0"/>
          </a:xfrm>
          <a:prstGeom prst="line">
            <a:avLst/>
          </a:prstGeom>
          <a:ln w="19050" cap="flat">
            <a:solidFill>
              <a:srgbClr val="5F6272"/>
            </a:solidFill>
          </a:ln>
        </p:spPr>
      </p:cxnSp>
      <p:sp>
        <p:nvSpPr>
          <p:cNvPr id="33" name="Shape 33"/>
          <p:cNvSpPr txBox="1"/>
          <p:nvPr/>
        </p:nvSpPr>
        <p:spPr>
          <a:xfrm>
            <a:off x="63358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4" name="Shape 34"/>
          <p:cNvSpPr txBox="1"/>
          <p:nvPr/>
        </p:nvSpPr>
        <p:spPr>
          <a:xfrm>
            <a:off x="6685921"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5" name="Shape 35"/>
          <p:cNvSpPr txBox="1"/>
          <p:nvPr/>
        </p:nvSpPr>
        <p:spPr>
          <a:xfrm>
            <a:off x="7035965"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6" name="Shape 36"/>
          <p:cNvSpPr txBox="1"/>
          <p:nvPr/>
        </p:nvSpPr>
        <p:spPr>
          <a:xfrm>
            <a:off x="7386009"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7" name="Shape 37"/>
          <p:cNvSpPr txBox="1"/>
          <p:nvPr/>
        </p:nvSpPr>
        <p:spPr>
          <a:xfrm>
            <a:off x="7736053"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8" name="Shape 38"/>
          <p:cNvSpPr txBox="1"/>
          <p:nvPr/>
        </p:nvSpPr>
        <p:spPr>
          <a:xfrm>
            <a:off x="8086096"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9" name="Shape 39"/>
          <p:cNvSpPr txBox="1"/>
          <p:nvPr/>
        </p:nvSpPr>
        <p:spPr>
          <a:xfrm>
            <a:off x="8436140"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0" name="Shape 40"/>
          <p:cNvSpPr txBox="1"/>
          <p:nvPr/>
        </p:nvSpPr>
        <p:spPr>
          <a:xfrm>
            <a:off x="8786184"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1" name="Shape 41"/>
          <p:cNvSpPr txBox="1"/>
          <p:nvPr/>
        </p:nvSpPr>
        <p:spPr>
          <a:xfrm>
            <a:off x="91362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2" name="Shape 42"/>
          <p:cNvSpPr txBox="1"/>
          <p:nvPr/>
        </p:nvSpPr>
        <p:spPr>
          <a:xfrm>
            <a:off x="6043270" y="4898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43" name="Shape 43"/>
          <p:cNvSpPr txBox="1"/>
          <p:nvPr/>
        </p:nvSpPr>
        <p:spPr>
          <a:xfrm>
            <a:off x="6043270" y="457314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6043270" y="42473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5" name="Shape 45"/>
          <p:cNvSpPr txBox="1"/>
          <p:nvPr/>
        </p:nvSpPr>
        <p:spPr>
          <a:xfrm>
            <a:off x="6043270" y="392163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6043270" y="35958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7" name="Shape 47"/>
          <p:cNvSpPr txBox="1"/>
          <p:nvPr/>
        </p:nvSpPr>
        <p:spPr>
          <a:xfrm>
            <a:off x="6043270" y="32701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8" name="Shape 48"/>
          <p:cNvSpPr txBox="1"/>
          <p:nvPr/>
        </p:nvSpPr>
        <p:spPr>
          <a:xfrm>
            <a:off x="6043270" y="29443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49" name="Shape 49"/>
          <p:cNvSpPr txBox="1"/>
          <p:nvPr/>
        </p:nvSpPr>
        <p:spPr>
          <a:xfrm>
            <a:off x="6043270" y="261861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6043270" y="22928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51" name="Shape 51"/>
          <p:cNvSpPr txBox="1"/>
          <p:nvPr/>
        </p:nvSpPr>
        <p:spPr>
          <a:xfrm>
            <a:off x="6043270" y="19671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2" name="Shape 52"/>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a:t>
            </a:r>
            <a:endParaRPr lang="en-US" sz="975" dirty="0"/>
          </a:p>
        </p:txBody>
      </p:sp>
      <p:sp>
        <p:nvSpPr>
          <p:cNvPr id="53" name="Shape 53"/>
          <p:cNvSpPr/>
          <p:nvPr/>
        </p:nvSpPr>
        <p:spPr>
          <a:xfrm>
            <a:off x="7257898" y="428644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4" name="Shape 54"/>
          <p:cNvSpPr txBox="1"/>
          <p:nvPr/>
        </p:nvSpPr>
        <p:spPr>
          <a:xfrm>
            <a:off x="7396010" y="409117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a:t>
            </a:r>
            <a:endParaRPr lang="en-US" sz="1125" dirty="0"/>
          </a:p>
        </p:txBody>
      </p:sp>
      <p:sp>
        <p:nvSpPr>
          <p:cNvPr id="55" name="Shape 55"/>
          <p:cNvSpPr/>
          <p:nvPr/>
        </p:nvSpPr>
        <p:spPr>
          <a:xfrm>
            <a:off x="7957985" y="33091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6" name="Shape 56"/>
          <p:cNvSpPr txBox="1"/>
          <p:nvPr/>
        </p:nvSpPr>
        <p:spPr>
          <a:xfrm>
            <a:off x="8096098" y="31139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(2, 2)</a:t>
            </a:r>
            <a:endParaRPr lang="en-US" sz="1125" dirty="0"/>
          </a:p>
        </p:txBody>
      </p:sp>
      <p:sp>
        <p:nvSpPr>
          <p:cNvPr id="57" name="Shape 57"/>
          <p:cNvSpPr/>
          <p:nvPr/>
        </p:nvSpPr>
        <p:spPr>
          <a:xfrm>
            <a:off x="8658073" y="233191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8" name="Shape 58"/>
          <p:cNvSpPr txBox="1"/>
          <p:nvPr/>
        </p:nvSpPr>
        <p:spPr>
          <a:xfrm>
            <a:off x="8796185" y="213664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(4, 5)</a:t>
            </a:r>
            <a:endParaRPr lang="en-US" sz="1125" dirty="0"/>
          </a:p>
        </p:txBody>
      </p:sp>
      <p:cxnSp>
        <p:nvCxnSpPr>
          <p:cNvPr id="59" name="Line 59"/>
          <p:cNvCxnSpPr/>
          <p:nvPr/>
        </p:nvCxnSpPr>
        <p:spPr>
          <a:xfrm flipV="1">
            <a:off x="6843560" y="1732788"/>
            <a:ext cx="2333625" cy="3257550"/>
          </a:xfrm>
          <a:prstGeom prst="line">
            <a:avLst/>
          </a:prstGeom>
          <a:ln w="38100" cap="rnd">
            <a:solidFill>
              <a:srgbClr val="16171D"/>
            </a:solidFill>
          </a:ln>
        </p:spPr>
      </p:cxnSp>
      <p:sp>
        <p:nvSpPr>
          <p:cNvPr id="60" name="Slide Number 6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53"/>
                                        </p:tgtEl>
                                        <p:attrNameLst>
                                          <p:attrName>style.visibility</p:attrName>
                                        </p:attrNameLst>
                                      </p:cBhvr>
                                      <p:to>
                                        <p:strVal val="visible"/>
                                      </p:to>
                                    </p:set>
                                    <p:animEffect transition="in" filter="fade">
                                      <p:cBhvr>
                                        <p:cTn id="25" dur="500"/>
                                        <p:tgtEl>
                                          <p:spTgt spid="53"/>
                                        </p:tgtEl>
                                      </p:cBhvr>
                                    </p:animEffect>
                                    <p:anim calcmode="lin" valueType="num">
                                      <p:cBhvr>
                                        <p:cTn id="26" dur="500" fill="hold"/>
                                        <p:tgtEl>
                                          <p:spTgt spid="53"/>
                                        </p:tgtEl>
                                        <p:attrNameLst>
                                          <p:attrName>ppt_w</p:attrName>
                                        </p:attrNameLst>
                                      </p:cBhvr>
                                      <p:tavLst>
                                        <p:tav tm="0">
                                          <p:val>
                                            <p:fltVal val="0"/>
                                          </p:val>
                                        </p:tav>
                                        <p:tav tm="100000">
                                          <p:val>
                                            <p:strVal val="#ppt_w"/>
                                          </p:val>
                                        </p:tav>
                                      </p:tavLst>
                                    </p:anim>
                                    <p:anim calcmode="lin" valueType="num">
                                      <p:cBhvr>
                                        <p:cTn id="27" dur="500" fill="hold"/>
                                        <p:tgtEl>
                                          <p:spTgt spid="53"/>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fade">
                                      <p:cBhvr>
                                        <p:cTn id="30" dur="500"/>
                                        <p:tgtEl>
                                          <p:spTgt spid="54"/>
                                        </p:tgtEl>
                                      </p:cBhvr>
                                    </p:animEffect>
                                    <p:anim calcmode="lin" valueType="num">
                                      <p:cBhvr>
                                        <p:cTn id="31" dur="500" fill="hold"/>
                                        <p:tgtEl>
                                          <p:spTgt spid="54"/>
                                        </p:tgtEl>
                                        <p:attrNameLst>
                                          <p:attrName>ppt_w</p:attrName>
                                        </p:attrNameLst>
                                      </p:cBhvr>
                                      <p:tavLst>
                                        <p:tav tm="0">
                                          <p:val>
                                            <p:fltVal val="0"/>
                                          </p:val>
                                        </p:tav>
                                        <p:tav tm="100000">
                                          <p:val>
                                            <p:strVal val="#ppt_w"/>
                                          </p:val>
                                        </p:tav>
                                      </p:tavLst>
                                    </p:anim>
                                    <p:anim calcmode="lin" valueType="num">
                                      <p:cBhvr>
                                        <p:cTn id="32"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anim calcmode="lin" valueType="num">
                                      <p:cBhvr>
                                        <p:cTn id="38" dur="500" fill="hold"/>
                                        <p:tgtEl>
                                          <p:spTgt spid="55"/>
                                        </p:tgtEl>
                                        <p:attrNameLst>
                                          <p:attrName>ppt_w</p:attrName>
                                        </p:attrNameLst>
                                      </p:cBhvr>
                                      <p:tavLst>
                                        <p:tav tm="0">
                                          <p:val>
                                            <p:fltVal val="0"/>
                                          </p:val>
                                        </p:tav>
                                        <p:tav tm="100000">
                                          <p:val>
                                            <p:strVal val="#ppt_w"/>
                                          </p:val>
                                        </p:tav>
                                      </p:tavLst>
                                    </p:anim>
                                    <p:anim calcmode="lin" valueType="num">
                                      <p:cBhvr>
                                        <p:cTn id="39" dur="500" fill="hold"/>
                                        <p:tgtEl>
                                          <p:spTgt spid="55"/>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56"/>
                                        </p:tgtEl>
                                        <p:attrNameLst>
                                          <p:attrName>style.visibility</p:attrName>
                                        </p:attrNameLst>
                                      </p:cBhvr>
                                      <p:to>
                                        <p:strVal val="visible"/>
                                      </p:to>
                                    </p:set>
                                    <p:animEffect transition="in" filter="fade">
                                      <p:cBhvr>
                                        <p:cTn id="42" dur="500"/>
                                        <p:tgtEl>
                                          <p:spTgt spid="56"/>
                                        </p:tgtEl>
                                      </p:cBhvr>
                                    </p:animEffect>
                                    <p:anim calcmode="lin" valueType="num">
                                      <p:cBhvr>
                                        <p:cTn id="43" dur="500" fill="hold"/>
                                        <p:tgtEl>
                                          <p:spTgt spid="56"/>
                                        </p:tgtEl>
                                        <p:attrNameLst>
                                          <p:attrName>ppt_w</p:attrName>
                                        </p:attrNameLst>
                                      </p:cBhvr>
                                      <p:tavLst>
                                        <p:tav tm="0">
                                          <p:val>
                                            <p:fltVal val="0"/>
                                          </p:val>
                                        </p:tav>
                                        <p:tav tm="100000">
                                          <p:val>
                                            <p:strVal val="#ppt_w"/>
                                          </p:val>
                                        </p:tav>
                                      </p:tavLst>
                                    </p:anim>
                                    <p:anim calcmode="lin" valueType="num">
                                      <p:cBhvr>
                                        <p:cTn id="44"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52" presetID="53" presetClass="entr" presetSubtype="16" fill="hold" nodeType="click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anim calcmode="lin" valueType="num">
                                      <p:cBhvr>
                                        <p:cTn id="50" dur="500" fill="hold"/>
                                        <p:tgtEl>
                                          <p:spTgt spid="57"/>
                                        </p:tgtEl>
                                        <p:attrNameLst>
                                          <p:attrName>ppt_w</p:attrName>
                                        </p:attrNameLst>
                                      </p:cBhvr>
                                      <p:tavLst>
                                        <p:tav tm="0">
                                          <p:val>
                                            <p:fltVal val="0"/>
                                          </p:val>
                                        </p:tav>
                                        <p:tav tm="100000">
                                          <p:val>
                                            <p:strVal val="#ppt_w"/>
                                          </p:val>
                                        </p:tav>
                                      </p:tavLst>
                                    </p:anim>
                                    <p:anim calcmode="lin" valueType="num">
                                      <p:cBhvr>
                                        <p:cTn id="51" dur="500" fill="hold"/>
                                        <p:tgtEl>
                                          <p:spTgt spid="57"/>
                                        </p:tgtEl>
                                        <p:attrNameLst>
                                          <p:attrName>ppt_h</p:attrName>
                                        </p:attrNameLst>
                                      </p:cBhvr>
                                      <p:tavLst>
                                        <p:tav tm="0">
                                          <p:val>
                                            <p:fltVal val="0"/>
                                          </p:val>
                                        </p:tav>
                                        <p:tav tm="100000">
                                          <p:val>
                                            <p:strVal val="#ppt_h"/>
                                          </p:val>
                                        </p:tav>
                                      </p:tavLst>
                                    </p:anim>
                                  </p:childTnLst>
                                </p:cTn>
                              </p:par>
                              <p:par>
                                <p:cTn id="57" presetID="53" presetClass="entr" presetSubtype="16" fill="hold" nodeType="withEffect">
                                  <p:stCondLst>
                                    <p:cond delay="0"/>
                                  </p:stCondLst>
                                  <p:childTnLst>
                                    <p:set>
                                      <p:cBhvr>
                                        <p:cTn id="53" dur="1" fill="hold">
                                          <p:stCondLst>
                                            <p:cond delay="0"/>
                                          </p:stCondLst>
                                        </p:cTn>
                                        <p:tgtEl>
                                          <p:spTgt spid="58"/>
                                        </p:tgtEl>
                                        <p:attrNameLst>
                                          <p:attrName>style.visibility</p:attrName>
                                        </p:attrNameLst>
                                      </p:cBhvr>
                                      <p:to>
                                        <p:strVal val="visible"/>
                                      </p:to>
                                    </p:set>
                                    <p:animEffect transition="in" filter="fade">
                                      <p:cBhvr>
                                        <p:cTn id="54" dur="500"/>
                                        <p:tgtEl>
                                          <p:spTgt spid="58"/>
                                        </p:tgtEl>
                                      </p:cBhvr>
                                    </p:animEffect>
                                    <p:anim calcmode="lin" valueType="num">
                                      <p:cBhvr>
                                        <p:cTn id="55" dur="500" fill="hold"/>
                                        <p:tgtEl>
                                          <p:spTgt spid="58"/>
                                        </p:tgtEl>
                                        <p:attrNameLst>
                                          <p:attrName>ppt_w</p:attrName>
                                        </p:attrNameLst>
                                      </p:cBhvr>
                                      <p:tavLst>
                                        <p:tav tm="0">
                                          <p:val>
                                            <p:fltVal val="0"/>
                                          </p:val>
                                        </p:tav>
                                        <p:tav tm="100000">
                                          <p:val>
                                            <p:strVal val="#ppt_w"/>
                                          </p:val>
                                        </p:tav>
                                      </p:tavLst>
                                    </p:anim>
                                    <p:anim calcmode="lin" valueType="num">
                                      <p:cBhvr>
                                        <p:cTn id="56" dur="500" fill="hold"/>
                                        <p:tgtEl>
                                          <p:spTgt spid="58"/>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2" presetID="22" presetClass="entr" presetSubtype="8" fill="hold" nodeType="clickEffect">
                                  <p:stCondLst>
                                    <p:cond delay="0"/>
                                  </p:stCondLst>
                                  <p:childTnLst>
                                    <p:set>
                                      <p:cBhvr>
                                        <p:cTn id="60" dur="1" fill="hold">
                                          <p:stCondLst>
                                            <p:cond delay="0"/>
                                          </p:stCondLst>
                                        </p:cTn>
                                        <p:tgtEl>
                                          <p:spTgt spid="59"/>
                                        </p:tgtEl>
                                        <p:attrNameLst>
                                          <p:attrName>style.visibility</p:attrName>
                                        </p:attrNameLst>
                                      </p:cBhvr>
                                      <p:to>
                                        <p:strVal val="visible"/>
                                      </p:to>
                                    </p:set>
                                    <p:animEffect transition="in" filter="wipe(left)">
                                      <p:cBhvr>
                                        <p:cTn id="61" dur="7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a:t>
            </a:r>
            <a:r>
              <a:rPr lang="en-US" sz="3450" dirty="0" b="1">
                <a:solidFill>
                  <a:srgbClr val="16171D"/>
                </a:solidFill>
                <a:latin typeface="Segoe UI"/>
                <a:cs typeface="Segoe UI"/>
              </a:rPr>
              <a:t xml:space="preserve">1</a:t>
            </a:r>
            <a:r>
              <a:rPr lang="en-US" sz="3450" dirty="0" b="1">
                <a:solidFill>
                  <a:srgbClr val="16171D"/>
                </a:solidFill>
                <a:latin typeface="Segoe UI"/>
                <a:cs typeface="Segoe UI"/>
              </a:rPr>
              <a:t xml:space="preserve">/</a:t>
            </a:r>
            <a:r>
              <a:rPr lang="en-US" sz="3450" dirty="0" b="1">
                <a:solidFill>
                  <a:srgbClr val="16171D"/>
                </a:solidFill>
                <a:latin typeface="Segoe UI"/>
                <a:cs typeface="Segoe UI"/>
              </a:rPr>
              <a:t xml:space="preserve">3</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+ 4</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Start at (0, ____).</a:t>
            </a:r>
            <a:endParaRPr lang="en-US" sz="1950" dirty="0"/>
          </a:p>
        </p:txBody>
      </p:sp>
      <p:sp>
        <p:nvSpPr>
          <p:cNvPr id="5" name="Shape 5"/>
          <p:cNvSpPr txBox="1"/>
          <p:nvPr/>
        </p:nvSpPr>
        <p:spPr>
          <a:xfrm>
            <a:off x="685800" y="210388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(0, 4)</a:t>
            </a:r>
            <a:endParaRPr lang="en-US" sz="2325" dirty="0"/>
          </a:p>
        </p:txBody>
      </p:sp>
      <p:sp>
        <p:nvSpPr>
          <p:cNvPr id="6" name="Shape 6"/>
          <p:cNvSpPr txBox="1"/>
          <p:nvPr/>
        </p:nvSpPr>
        <p:spPr>
          <a:xfrm>
            <a:off x="685800"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Down ____, right ____.</a:t>
            </a:r>
            <a:endParaRPr lang="en-US" sz="1950" dirty="0"/>
          </a:p>
        </p:txBody>
      </p:sp>
      <p:sp>
        <p:nvSpPr>
          <p:cNvPr id="7" name="Shape 7"/>
          <p:cNvSpPr txBox="1"/>
          <p:nvPr/>
        </p:nvSpPr>
        <p:spPr>
          <a:xfrm>
            <a:off x="685800" y="3241548"/>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down 1, right 3</a:t>
            </a:r>
            <a:endParaRPr lang="en-US" sz="2325" dirty="0"/>
          </a:p>
        </p:txBody>
      </p:sp>
      <p:sp>
        <p:nvSpPr>
          <p:cNvPr id="8" name="Shape 8"/>
          <p:cNvSpPr txBox="1"/>
          <p:nvPr/>
        </p:nvSpPr>
        <p:spPr>
          <a:xfrm>
            <a:off x="685800" y="3893820"/>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Two more points:</a:t>
            </a:r>
            <a:endParaRPr lang="en-US" sz="1950" dirty="0"/>
          </a:p>
        </p:txBody>
      </p:sp>
      <p:sp>
        <p:nvSpPr>
          <p:cNvPr id="9" name="Shape 9"/>
          <p:cNvSpPr txBox="1"/>
          <p:nvPr/>
        </p:nvSpPr>
        <p:spPr>
          <a:xfrm>
            <a:off x="685800" y="4379214"/>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3) and (6, 2)</a:t>
            </a:r>
            <a:endParaRPr lang="en-US" sz="2325" dirty="0"/>
          </a:p>
        </p:txBody>
      </p:sp>
      <p:sp>
        <p:nvSpPr>
          <p:cNvPr id="10" name="Shape 10"/>
          <p:cNvSpPr/>
          <p:nvPr/>
        </p:nvSpPr>
        <p:spPr>
          <a:xfrm>
            <a:off x="6286348" y="1618488"/>
            <a:ext cx="3238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6610198" y="1732788"/>
            <a:ext cx="0" cy="2876550"/>
          </a:xfrm>
          <a:prstGeom prst="line">
            <a:avLst/>
          </a:prstGeom>
          <a:ln w="9525" cap="flat">
            <a:solidFill>
              <a:srgbClr val="E6E8F2"/>
            </a:solidFill>
          </a:ln>
        </p:spPr>
      </p:cxnSp>
      <p:cxnSp>
        <p:nvCxnSpPr>
          <p:cNvPr id="12" name="Line 12"/>
          <p:cNvCxnSpPr/>
          <p:nvPr/>
        </p:nvCxnSpPr>
        <p:spPr>
          <a:xfrm>
            <a:off x="6960241" y="1732788"/>
            <a:ext cx="0" cy="2876550"/>
          </a:xfrm>
          <a:prstGeom prst="line">
            <a:avLst/>
          </a:prstGeom>
          <a:ln w="9525" cap="flat">
            <a:solidFill>
              <a:srgbClr val="E6E8F2"/>
            </a:solidFill>
          </a:ln>
        </p:spPr>
      </p:cxnSp>
      <p:cxnSp>
        <p:nvCxnSpPr>
          <p:cNvPr id="13" name="Line 13"/>
          <p:cNvCxnSpPr/>
          <p:nvPr/>
        </p:nvCxnSpPr>
        <p:spPr>
          <a:xfrm>
            <a:off x="7310285" y="1732788"/>
            <a:ext cx="0" cy="2876550"/>
          </a:xfrm>
          <a:prstGeom prst="line">
            <a:avLst/>
          </a:prstGeom>
          <a:ln w="9525" cap="flat">
            <a:solidFill>
              <a:srgbClr val="E6E8F2"/>
            </a:solidFill>
          </a:ln>
        </p:spPr>
      </p:cxnSp>
      <p:cxnSp>
        <p:nvCxnSpPr>
          <p:cNvPr id="14" name="Line 14"/>
          <p:cNvCxnSpPr/>
          <p:nvPr/>
        </p:nvCxnSpPr>
        <p:spPr>
          <a:xfrm>
            <a:off x="7660329" y="1732788"/>
            <a:ext cx="0" cy="2876550"/>
          </a:xfrm>
          <a:prstGeom prst="line">
            <a:avLst/>
          </a:prstGeom>
          <a:ln w="9525" cap="flat">
            <a:solidFill>
              <a:srgbClr val="E6E8F2"/>
            </a:solidFill>
          </a:ln>
        </p:spPr>
      </p:cxnSp>
      <p:cxnSp>
        <p:nvCxnSpPr>
          <p:cNvPr id="15" name="Line 15"/>
          <p:cNvCxnSpPr/>
          <p:nvPr/>
        </p:nvCxnSpPr>
        <p:spPr>
          <a:xfrm>
            <a:off x="8010373" y="1732788"/>
            <a:ext cx="0" cy="2876550"/>
          </a:xfrm>
          <a:prstGeom prst="line">
            <a:avLst/>
          </a:prstGeom>
          <a:ln w="9525" cap="flat">
            <a:solidFill>
              <a:srgbClr val="E6E8F2"/>
            </a:solidFill>
          </a:ln>
        </p:spPr>
      </p:cxnSp>
      <p:cxnSp>
        <p:nvCxnSpPr>
          <p:cNvPr id="16" name="Line 16"/>
          <p:cNvCxnSpPr/>
          <p:nvPr/>
        </p:nvCxnSpPr>
        <p:spPr>
          <a:xfrm>
            <a:off x="8360416" y="1732788"/>
            <a:ext cx="0" cy="2876550"/>
          </a:xfrm>
          <a:prstGeom prst="line">
            <a:avLst/>
          </a:prstGeom>
          <a:ln w="9525" cap="flat">
            <a:solidFill>
              <a:srgbClr val="E6E8F2"/>
            </a:solidFill>
          </a:ln>
        </p:spPr>
      </p:cxnSp>
      <p:cxnSp>
        <p:nvCxnSpPr>
          <p:cNvPr id="17" name="Line 17"/>
          <p:cNvCxnSpPr/>
          <p:nvPr/>
        </p:nvCxnSpPr>
        <p:spPr>
          <a:xfrm>
            <a:off x="8710460" y="1732788"/>
            <a:ext cx="0" cy="2876550"/>
          </a:xfrm>
          <a:prstGeom prst="line">
            <a:avLst/>
          </a:prstGeom>
          <a:ln w="9525" cap="flat">
            <a:solidFill>
              <a:srgbClr val="E6E8F2"/>
            </a:solidFill>
          </a:ln>
        </p:spPr>
      </p:cxnSp>
      <p:cxnSp>
        <p:nvCxnSpPr>
          <p:cNvPr id="18" name="Line 18"/>
          <p:cNvCxnSpPr/>
          <p:nvPr/>
        </p:nvCxnSpPr>
        <p:spPr>
          <a:xfrm>
            <a:off x="9060504" y="1732788"/>
            <a:ext cx="0" cy="2876550"/>
          </a:xfrm>
          <a:prstGeom prst="line">
            <a:avLst/>
          </a:prstGeom>
          <a:ln w="9525" cap="flat">
            <a:solidFill>
              <a:srgbClr val="E6E8F2"/>
            </a:solidFill>
          </a:ln>
        </p:spPr>
      </p:cxnSp>
      <p:cxnSp>
        <p:nvCxnSpPr>
          <p:cNvPr id="19" name="Line 19"/>
          <p:cNvCxnSpPr/>
          <p:nvPr/>
        </p:nvCxnSpPr>
        <p:spPr>
          <a:xfrm>
            <a:off x="9410548" y="1732788"/>
            <a:ext cx="0" cy="2876550"/>
          </a:xfrm>
          <a:prstGeom prst="line">
            <a:avLst/>
          </a:prstGeom>
          <a:ln w="9525" cap="flat">
            <a:solidFill>
              <a:srgbClr val="E6E8F2"/>
            </a:solidFill>
          </a:ln>
        </p:spPr>
      </p:cxnSp>
      <p:cxnSp>
        <p:nvCxnSpPr>
          <p:cNvPr id="20" name="Line 20"/>
          <p:cNvCxnSpPr/>
          <p:nvPr/>
        </p:nvCxnSpPr>
        <p:spPr>
          <a:xfrm>
            <a:off x="6610198" y="4609338"/>
            <a:ext cx="2800350" cy="0"/>
          </a:xfrm>
          <a:prstGeom prst="line">
            <a:avLst/>
          </a:prstGeom>
          <a:ln w="9525" cap="flat">
            <a:solidFill>
              <a:srgbClr val="E6E8F2"/>
            </a:solidFill>
          </a:ln>
        </p:spPr>
      </p:cxnSp>
      <p:cxnSp>
        <p:nvCxnSpPr>
          <p:cNvPr id="21" name="Line 21"/>
          <p:cNvCxnSpPr/>
          <p:nvPr/>
        </p:nvCxnSpPr>
        <p:spPr>
          <a:xfrm>
            <a:off x="6610198" y="4129913"/>
            <a:ext cx="2800350" cy="0"/>
          </a:xfrm>
          <a:prstGeom prst="line">
            <a:avLst/>
          </a:prstGeom>
          <a:ln w="9525" cap="flat">
            <a:solidFill>
              <a:srgbClr val="E6E8F2"/>
            </a:solidFill>
          </a:ln>
        </p:spPr>
      </p:cxnSp>
      <p:cxnSp>
        <p:nvCxnSpPr>
          <p:cNvPr id="22" name="Line 22"/>
          <p:cNvCxnSpPr/>
          <p:nvPr/>
        </p:nvCxnSpPr>
        <p:spPr>
          <a:xfrm>
            <a:off x="6610198" y="3650488"/>
            <a:ext cx="2800350" cy="0"/>
          </a:xfrm>
          <a:prstGeom prst="line">
            <a:avLst/>
          </a:prstGeom>
          <a:ln w="9525" cap="flat">
            <a:solidFill>
              <a:srgbClr val="E6E8F2"/>
            </a:solidFill>
          </a:ln>
        </p:spPr>
      </p:cxnSp>
      <p:cxnSp>
        <p:nvCxnSpPr>
          <p:cNvPr id="23" name="Line 23"/>
          <p:cNvCxnSpPr/>
          <p:nvPr/>
        </p:nvCxnSpPr>
        <p:spPr>
          <a:xfrm>
            <a:off x="6610198" y="3171063"/>
            <a:ext cx="2800350" cy="0"/>
          </a:xfrm>
          <a:prstGeom prst="line">
            <a:avLst/>
          </a:prstGeom>
          <a:ln w="9525" cap="flat">
            <a:solidFill>
              <a:srgbClr val="E6E8F2"/>
            </a:solidFill>
          </a:ln>
        </p:spPr>
      </p:cxnSp>
      <p:cxnSp>
        <p:nvCxnSpPr>
          <p:cNvPr id="24" name="Line 24"/>
          <p:cNvCxnSpPr/>
          <p:nvPr/>
        </p:nvCxnSpPr>
        <p:spPr>
          <a:xfrm>
            <a:off x="6610198" y="2691638"/>
            <a:ext cx="2800350" cy="0"/>
          </a:xfrm>
          <a:prstGeom prst="line">
            <a:avLst/>
          </a:prstGeom>
          <a:ln w="9525" cap="flat">
            <a:solidFill>
              <a:srgbClr val="E6E8F2"/>
            </a:solidFill>
          </a:ln>
        </p:spPr>
      </p:cxnSp>
      <p:cxnSp>
        <p:nvCxnSpPr>
          <p:cNvPr id="25" name="Line 25"/>
          <p:cNvCxnSpPr/>
          <p:nvPr/>
        </p:nvCxnSpPr>
        <p:spPr>
          <a:xfrm>
            <a:off x="6610198" y="2212213"/>
            <a:ext cx="2800350" cy="0"/>
          </a:xfrm>
          <a:prstGeom prst="line">
            <a:avLst/>
          </a:prstGeom>
          <a:ln w="9525" cap="flat">
            <a:solidFill>
              <a:srgbClr val="E6E8F2"/>
            </a:solidFill>
          </a:ln>
        </p:spPr>
      </p:cxnSp>
      <p:cxnSp>
        <p:nvCxnSpPr>
          <p:cNvPr id="26" name="Line 26"/>
          <p:cNvCxnSpPr/>
          <p:nvPr/>
        </p:nvCxnSpPr>
        <p:spPr>
          <a:xfrm>
            <a:off x="6610198" y="1732788"/>
            <a:ext cx="2800350" cy="0"/>
          </a:xfrm>
          <a:prstGeom prst="line">
            <a:avLst/>
          </a:prstGeom>
          <a:ln w="9525" cap="flat">
            <a:solidFill>
              <a:srgbClr val="E6E8F2"/>
            </a:solidFill>
          </a:ln>
        </p:spPr>
      </p:cxnSp>
      <p:cxnSp>
        <p:nvCxnSpPr>
          <p:cNvPr id="27" name="Line 27"/>
          <p:cNvCxnSpPr/>
          <p:nvPr/>
        </p:nvCxnSpPr>
        <p:spPr>
          <a:xfrm>
            <a:off x="6960241" y="1732788"/>
            <a:ext cx="0" cy="2876550"/>
          </a:xfrm>
          <a:prstGeom prst="line">
            <a:avLst/>
          </a:prstGeom>
          <a:ln w="19050" cap="flat">
            <a:solidFill>
              <a:srgbClr val="5F6272"/>
            </a:solidFill>
          </a:ln>
        </p:spPr>
      </p:cxnSp>
      <p:cxnSp>
        <p:nvCxnSpPr>
          <p:cNvPr id="28" name="Line 28"/>
          <p:cNvCxnSpPr/>
          <p:nvPr/>
        </p:nvCxnSpPr>
        <p:spPr>
          <a:xfrm>
            <a:off x="6610198" y="4609338"/>
            <a:ext cx="2800350" cy="0"/>
          </a:xfrm>
          <a:prstGeom prst="line">
            <a:avLst/>
          </a:prstGeom>
          <a:ln w="19050" cap="flat">
            <a:solidFill>
              <a:srgbClr val="5F6272"/>
            </a:solidFill>
          </a:ln>
        </p:spPr>
      </p:cxnSp>
      <p:sp>
        <p:nvSpPr>
          <p:cNvPr id="29" name="Shape 29"/>
          <p:cNvSpPr txBox="1"/>
          <p:nvPr/>
        </p:nvSpPr>
        <p:spPr>
          <a:xfrm>
            <a:off x="633587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0" name="Shape 30"/>
          <p:cNvSpPr txBox="1"/>
          <p:nvPr/>
        </p:nvSpPr>
        <p:spPr>
          <a:xfrm>
            <a:off x="6685921"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1" name="Shape 31"/>
          <p:cNvSpPr txBox="1"/>
          <p:nvPr/>
        </p:nvSpPr>
        <p:spPr>
          <a:xfrm>
            <a:off x="7035965"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2" name="Shape 32"/>
          <p:cNvSpPr txBox="1"/>
          <p:nvPr/>
        </p:nvSpPr>
        <p:spPr>
          <a:xfrm>
            <a:off x="7386009"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3" name="Shape 33"/>
          <p:cNvSpPr txBox="1"/>
          <p:nvPr/>
        </p:nvSpPr>
        <p:spPr>
          <a:xfrm>
            <a:off x="773605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4" name="Shape 34"/>
          <p:cNvSpPr txBox="1"/>
          <p:nvPr/>
        </p:nvSpPr>
        <p:spPr>
          <a:xfrm>
            <a:off x="8086096"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5" name="Shape 35"/>
          <p:cNvSpPr txBox="1"/>
          <p:nvPr/>
        </p:nvSpPr>
        <p:spPr>
          <a:xfrm>
            <a:off x="8436140"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6" name="Shape 36"/>
          <p:cNvSpPr txBox="1"/>
          <p:nvPr/>
        </p:nvSpPr>
        <p:spPr>
          <a:xfrm>
            <a:off x="8786184"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7" name="Shape 37"/>
          <p:cNvSpPr txBox="1"/>
          <p:nvPr/>
        </p:nvSpPr>
        <p:spPr>
          <a:xfrm>
            <a:off x="913622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38" name="Shape 38"/>
          <p:cNvSpPr txBox="1"/>
          <p:nvPr/>
        </p:nvSpPr>
        <p:spPr>
          <a:xfrm>
            <a:off x="6043270" y="4517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9" name="Shape 39"/>
          <p:cNvSpPr txBox="1"/>
          <p:nvPr/>
        </p:nvSpPr>
        <p:spPr>
          <a:xfrm>
            <a:off x="6043270" y="40384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0" name="Shape 40"/>
          <p:cNvSpPr txBox="1"/>
          <p:nvPr/>
        </p:nvSpPr>
        <p:spPr>
          <a:xfrm>
            <a:off x="6043270" y="3559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6043270" y="3079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42" name="Shape 42"/>
          <p:cNvSpPr txBox="1"/>
          <p:nvPr/>
        </p:nvSpPr>
        <p:spPr>
          <a:xfrm>
            <a:off x="6043270" y="26001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6043270" y="21207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44" name="Shape 44"/>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p:nvPr/>
        </p:nvSpPr>
        <p:spPr>
          <a:xfrm>
            <a:off x="6907854" y="26392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6" name="Shape 46"/>
          <p:cNvSpPr txBox="1"/>
          <p:nvPr/>
        </p:nvSpPr>
        <p:spPr>
          <a:xfrm>
            <a:off x="7045966" y="24439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(0, 4)</a:t>
            </a:r>
            <a:endParaRPr lang="en-US" sz="1125" dirty="0"/>
          </a:p>
        </p:txBody>
      </p:sp>
      <p:sp>
        <p:nvSpPr>
          <p:cNvPr id="47" name="Shape 47"/>
          <p:cNvSpPr/>
          <p:nvPr/>
        </p:nvSpPr>
        <p:spPr>
          <a:xfrm>
            <a:off x="7957985" y="31186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8" name="Shape 48"/>
          <p:cNvSpPr txBox="1"/>
          <p:nvPr/>
        </p:nvSpPr>
        <p:spPr>
          <a:xfrm>
            <a:off x="8096098" y="29234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(3, 3)</a:t>
            </a:r>
            <a:endParaRPr lang="en-US" sz="1125" dirty="0"/>
          </a:p>
        </p:txBody>
      </p:sp>
      <p:sp>
        <p:nvSpPr>
          <p:cNvPr id="49" name="Shape 49"/>
          <p:cNvSpPr/>
          <p:nvPr/>
        </p:nvSpPr>
        <p:spPr>
          <a:xfrm>
            <a:off x="9008116" y="359810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0" name="Shape 50"/>
          <p:cNvSpPr txBox="1"/>
          <p:nvPr/>
        </p:nvSpPr>
        <p:spPr>
          <a:xfrm>
            <a:off x="9146229" y="340283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(6, 2)</a:t>
            </a:r>
            <a:endParaRPr lang="en-US" sz="1125" dirty="0"/>
          </a:p>
        </p:txBody>
      </p:sp>
      <p:cxnSp>
        <p:nvCxnSpPr>
          <p:cNvPr id="51" name="Line 51"/>
          <p:cNvCxnSpPr/>
          <p:nvPr/>
        </p:nvCxnSpPr>
        <p:spPr>
          <a:xfrm>
            <a:off x="6610198" y="2531830"/>
            <a:ext cx="2800350" cy="1278467"/>
          </a:xfrm>
          <a:prstGeom prst="line">
            <a:avLst/>
          </a:prstGeom>
          <a:ln w="38100" cap="rnd">
            <a:solidFill>
              <a:srgbClr val="16171D"/>
            </a:solidFill>
          </a:ln>
        </p:spPr>
      </p:cxnSp>
      <p:sp>
        <p:nvSpPr>
          <p:cNvPr id="52" name="Slide Number 5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anim calcmode="lin" valueType="num">
                                      <p:cBhvr>
                                        <p:cTn id="26" dur="500" fill="hold"/>
                                        <p:tgtEl>
                                          <p:spTgt spid="45"/>
                                        </p:tgtEl>
                                        <p:attrNameLst>
                                          <p:attrName>ppt_w</p:attrName>
                                        </p:attrNameLst>
                                      </p:cBhvr>
                                      <p:tavLst>
                                        <p:tav tm="0">
                                          <p:val>
                                            <p:fltVal val="0"/>
                                          </p:val>
                                        </p:tav>
                                        <p:tav tm="100000">
                                          <p:val>
                                            <p:strVal val="#ppt_w"/>
                                          </p:val>
                                        </p:tav>
                                      </p:tavLst>
                                    </p:anim>
                                    <p:anim calcmode="lin" valueType="num">
                                      <p:cBhvr>
                                        <p:cTn id="27" dur="500" fill="hold"/>
                                        <p:tgtEl>
                                          <p:spTgt spid="45"/>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500"/>
                                        <p:tgtEl>
                                          <p:spTgt spid="46"/>
                                        </p:tgtEl>
                                      </p:cBhvr>
                                    </p:animEffect>
                                    <p:anim calcmode="lin" valueType="num">
                                      <p:cBhvr>
                                        <p:cTn id="31" dur="500" fill="hold"/>
                                        <p:tgtEl>
                                          <p:spTgt spid="46"/>
                                        </p:tgtEl>
                                        <p:attrNameLst>
                                          <p:attrName>ppt_w</p:attrName>
                                        </p:attrNameLst>
                                      </p:cBhvr>
                                      <p:tavLst>
                                        <p:tav tm="0">
                                          <p:val>
                                            <p:fltVal val="0"/>
                                          </p:val>
                                        </p:tav>
                                        <p:tav tm="100000">
                                          <p:val>
                                            <p:strVal val="#ppt_w"/>
                                          </p:val>
                                        </p:tav>
                                      </p:tavLst>
                                    </p:anim>
                                    <p:anim calcmode="lin" valueType="num">
                                      <p:cBhvr>
                                        <p:cTn id="32" dur="500" fill="hold"/>
                                        <p:tgtEl>
                                          <p:spTgt spid="46"/>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500"/>
                                        <p:tgtEl>
                                          <p:spTgt spid="47"/>
                                        </p:tgtEl>
                                      </p:cBhvr>
                                    </p:animEffect>
                                    <p:anim calcmode="lin" valueType="num">
                                      <p:cBhvr>
                                        <p:cTn id="38" dur="500" fill="hold"/>
                                        <p:tgtEl>
                                          <p:spTgt spid="47"/>
                                        </p:tgtEl>
                                        <p:attrNameLst>
                                          <p:attrName>ppt_w</p:attrName>
                                        </p:attrNameLst>
                                      </p:cBhvr>
                                      <p:tavLst>
                                        <p:tav tm="0">
                                          <p:val>
                                            <p:fltVal val="0"/>
                                          </p:val>
                                        </p:tav>
                                        <p:tav tm="100000">
                                          <p:val>
                                            <p:strVal val="#ppt_w"/>
                                          </p:val>
                                        </p:tav>
                                      </p:tavLst>
                                    </p:anim>
                                    <p:anim calcmode="lin" valueType="num">
                                      <p:cBhvr>
                                        <p:cTn id="39" dur="500" fill="hold"/>
                                        <p:tgtEl>
                                          <p:spTgt spid="47"/>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500"/>
                                        <p:tgtEl>
                                          <p:spTgt spid="48"/>
                                        </p:tgtEl>
                                      </p:cBhvr>
                                    </p:animEffect>
                                    <p:anim calcmode="lin" valueType="num">
                                      <p:cBhvr>
                                        <p:cTn id="43" dur="500" fill="hold"/>
                                        <p:tgtEl>
                                          <p:spTgt spid="48"/>
                                        </p:tgtEl>
                                        <p:attrNameLst>
                                          <p:attrName>ppt_w</p:attrName>
                                        </p:attrNameLst>
                                      </p:cBhvr>
                                      <p:tavLst>
                                        <p:tav tm="0">
                                          <p:val>
                                            <p:fltVal val="0"/>
                                          </p:val>
                                        </p:tav>
                                        <p:tav tm="100000">
                                          <p:val>
                                            <p:strVal val="#ppt_w"/>
                                          </p:val>
                                        </p:tav>
                                      </p:tavLst>
                                    </p:anim>
                                    <p:anim calcmode="lin" valueType="num">
                                      <p:cBhvr>
                                        <p:cTn id="44" dur="500" fill="hold"/>
                                        <p:tgtEl>
                                          <p:spTgt spid="48"/>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52" presetID="53" presetClass="entr" presetSubtype="16" fill="hold" nodeType="click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500"/>
                                        <p:tgtEl>
                                          <p:spTgt spid="49"/>
                                        </p:tgtEl>
                                      </p:cBhvr>
                                    </p:animEffect>
                                    <p:anim calcmode="lin" valueType="num">
                                      <p:cBhvr>
                                        <p:cTn id="50" dur="500" fill="hold"/>
                                        <p:tgtEl>
                                          <p:spTgt spid="49"/>
                                        </p:tgtEl>
                                        <p:attrNameLst>
                                          <p:attrName>ppt_w</p:attrName>
                                        </p:attrNameLst>
                                      </p:cBhvr>
                                      <p:tavLst>
                                        <p:tav tm="0">
                                          <p:val>
                                            <p:fltVal val="0"/>
                                          </p:val>
                                        </p:tav>
                                        <p:tav tm="100000">
                                          <p:val>
                                            <p:strVal val="#ppt_w"/>
                                          </p:val>
                                        </p:tav>
                                      </p:tavLst>
                                    </p:anim>
                                    <p:anim calcmode="lin" valueType="num">
                                      <p:cBhvr>
                                        <p:cTn id="51" dur="500" fill="hold"/>
                                        <p:tgtEl>
                                          <p:spTgt spid="49"/>
                                        </p:tgtEl>
                                        <p:attrNameLst>
                                          <p:attrName>ppt_h</p:attrName>
                                        </p:attrNameLst>
                                      </p:cBhvr>
                                      <p:tavLst>
                                        <p:tav tm="0">
                                          <p:val>
                                            <p:fltVal val="0"/>
                                          </p:val>
                                        </p:tav>
                                        <p:tav tm="100000">
                                          <p:val>
                                            <p:strVal val="#ppt_h"/>
                                          </p:val>
                                        </p:tav>
                                      </p:tavLst>
                                    </p:anim>
                                  </p:childTnLst>
                                </p:cTn>
                              </p:par>
                              <p:par>
                                <p:cTn id="57" presetID="53" presetClass="entr" presetSubtype="16" fill="hold" nodeType="with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fade">
                                      <p:cBhvr>
                                        <p:cTn id="54" dur="500"/>
                                        <p:tgtEl>
                                          <p:spTgt spid="50"/>
                                        </p:tgtEl>
                                      </p:cBhvr>
                                    </p:animEffect>
                                    <p:anim calcmode="lin" valueType="num">
                                      <p:cBhvr>
                                        <p:cTn id="55" dur="500" fill="hold"/>
                                        <p:tgtEl>
                                          <p:spTgt spid="50"/>
                                        </p:tgtEl>
                                        <p:attrNameLst>
                                          <p:attrName>ppt_w</p:attrName>
                                        </p:attrNameLst>
                                      </p:cBhvr>
                                      <p:tavLst>
                                        <p:tav tm="0">
                                          <p:val>
                                            <p:fltVal val="0"/>
                                          </p:val>
                                        </p:tav>
                                        <p:tav tm="100000">
                                          <p:val>
                                            <p:strVal val="#ppt_w"/>
                                          </p:val>
                                        </p:tav>
                                      </p:tavLst>
                                    </p:anim>
                                    <p:anim calcmode="lin" valueType="num">
                                      <p:cBhvr>
                                        <p:cTn id="56"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2" presetID="22" presetClass="entr" presetSubtype="8" fill="hold" nodeType="clickEffect">
                                  <p:stCondLst>
                                    <p:cond delay="0"/>
                                  </p:stCondLst>
                                  <p:childTnLst>
                                    <p:set>
                                      <p:cBhvr>
                                        <p:cTn id="60" dur="1" fill="hold">
                                          <p:stCondLst>
                                            <p:cond delay="0"/>
                                          </p:stCondLst>
                                        </p:cTn>
                                        <p:tgtEl>
                                          <p:spTgt spid="51"/>
                                        </p:tgtEl>
                                        <p:attrNameLst>
                                          <p:attrName>style.visibility</p:attrName>
                                        </p:attrNameLst>
                                      </p:cBhvr>
                                      <p:to>
                                        <p:strVal val="visible"/>
                                      </p:to>
                                    </p:set>
                                    <p:animEffect transition="in" filter="wipe(left)">
                                      <p:cBhvr>
                                        <p:cTn id="61" dur="7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1 ·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Words we need</a:t>
            </a:r>
            <a:endParaRPr lang="en-US" sz="3450" dirty="0"/>
          </a:p>
        </p:txBody>
      </p:sp>
      <p:sp>
        <p:nvSpPr>
          <p:cNvPr id="7" name="Shape 7"/>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Parent function</a:t>
            </a:r>
            <a:endParaRPr lang="en-US" sz="2100" dirty="0"/>
          </a:p>
        </p:txBody>
      </p:sp>
      <p:sp>
        <p:nvSpPr>
          <p:cNvPr id="5" name="Shape 5"/>
          <p:cNvSpPr txBox="1"/>
          <p:nvPr/>
        </p:nvSpPr>
        <p:spPr>
          <a:xfrm>
            <a:off x="895350"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simplest line.</a:t>
            </a:r>
            <a:endParaRPr lang="en-US" sz="1575" dirty="0"/>
          </a:p>
        </p:txBody>
      </p:sp>
      <p:sp>
        <p:nvSpPr>
          <p:cNvPr id="6" name="Shape 6"/>
          <p:cNvSpPr txBox="1"/>
          <p:nvPr/>
        </p:nvSpPr>
        <p:spPr>
          <a:xfrm>
            <a:off x="895350" y="265023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endParaRPr lang="en-US" sz="2325" dirty="0"/>
          </a:p>
        </p:txBody>
      </p:sp>
      <p:sp>
        <p:nvSpPr>
          <p:cNvPr id="11" name="Shape 11"/>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Translate</a:t>
            </a:r>
            <a:endParaRPr lang="en-US" sz="2100" dirty="0"/>
          </a:p>
        </p:txBody>
      </p:sp>
      <p:sp>
        <p:nvSpPr>
          <p:cNvPr id="9" name="Shape 9"/>
          <p:cNvSpPr txBox="1"/>
          <p:nvPr/>
        </p:nvSpPr>
        <p:spPr>
          <a:xfrm>
            <a:off x="4559198"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Move up or down. Add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4559198" y="265023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+ 4</a:t>
            </a:r>
            <a:endParaRPr lang="en-US" sz="2325" dirty="0"/>
          </a:p>
        </p:txBody>
      </p:sp>
      <p:sp>
        <p:nvSpPr>
          <p:cNvPr id="15" name="Shape 15"/>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Dilate</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 or squeeze. Multiply by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8223047"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1 · Steps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to read </a:t>
            </a:r>
            <a:r>
              <a:rPr lang="en-US" sz="3450" dirty="0" b="1" i="1">
                <a:solidFill>
                  <a:srgbClr val="16171D"/>
                </a:solidFill>
                <a:latin typeface="Segoe UI"/>
                <a:cs typeface="Segoe UI"/>
              </a:rPr>
              <a:t xml:space="preserve">g</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a</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d</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Start with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slope 1, through (0, 0).</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a:t>
            </a:r>
            <a:r>
              <a:rPr lang="en-US" sz="1950" dirty="0" b="1" i="1">
                <a:solidFill>
                  <a:srgbClr val="C9561F"/>
                </a:solidFill>
                <a:latin typeface="Segoe UI"/>
                <a:cs typeface="Segoe UI"/>
              </a:rPr>
              <a:t xml:space="preserve">a</a:t>
            </a:r>
            <a:r>
              <a:rPr lang="en-US" sz="1950" dirty="0">
                <a:solidFill>
                  <a:srgbClr val="16171D"/>
                </a:solidFill>
                <a:latin typeface="Segoe UI"/>
                <a:cs typeface="Segoe UI"/>
              </a:rPr>
              <a:t xml:space="preserve"> is the new slope. A negative </a:t>
            </a:r>
            <a:r>
              <a:rPr lang="en-US" sz="1950" dirty="0" i="1">
                <a:solidFill>
                  <a:srgbClr val="16171D"/>
                </a:solidFill>
                <a:latin typeface="Segoe UI"/>
                <a:cs typeface="Segoe UI"/>
              </a:rPr>
              <a:t xml:space="preserve">a</a:t>
            </a:r>
            <a:r>
              <a:rPr lang="en-US" sz="1950" dirty="0">
                <a:solidFill>
                  <a:srgbClr val="16171D"/>
                </a:solidFill>
                <a:latin typeface="Segoe UI"/>
                <a:cs typeface="Segoe UI"/>
              </a:rPr>
              <a:t xml:space="preserve"> flips the line.</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a:t>
            </a:r>
            <a:r>
              <a:rPr lang="en-US" sz="1950" dirty="0" b="1" i="1">
                <a:solidFill>
                  <a:srgbClr val="3050B8"/>
                </a:solidFill>
                <a:latin typeface="Segoe UI"/>
                <a:cs typeface="Segoe UI"/>
              </a:rPr>
              <a:t xml:space="preserve">d</a:t>
            </a:r>
            <a:r>
              <a:rPr lang="en-US" sz="1950" dirty="0">
                <a:solidFill>
                  <a:srgbClr val="16171D"/>
                </a:solidFill>
                <a:latin typeface="Segoe UI"/>
                <a:cs typeface="Segoe UI"/>
              </a:rPr>
              <a:t xml:space="preserve"> moves the line up (+) or down (−).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is (0, </a:t>
            </a:r>
            <a:r>
              <a:rPr lang="en-US" sz="1950" dirty="0" i="1">
                <a:solidFill>
                  <a:srgbClr val="16171D"/>
                </a:solidFill>
                <a:latin typeface="Segoe UI"/>
                <a:cs typeface="Segoe UI"/>
              </a:rPr>
              <a:t xml:space="preserve">d</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Plot (0, </a:t>
            </a:r>
            <a:r>
              <a:rPr lang="en-US" sz="1950" dirty="0" i="1">
                <a:solidFill>
                  <a:srgbClr val="16171D"/>
                </a:solidFill>
                <a:latin typeface="Segoe UI"/>
                <a:cs typeface="Segoe UI"/>
              </a:rPr>
              <a:t xml:space="preserve">d</a:t>
            </a:r>
            <a:r>
              <a:rPr lang="en-US" sz="1950" dirty="0">
                <a:solidFill>
                  <a:srgbClr val="16171D"/>
                </a:solidFill>
                <a:latin typeface="Segoe UI"/>
                <a:cs typeface="Segoe UI"/>
              </a:rPr>
              <a:t xml:space="preserve">), then count the slope </a:t>
            </a:r>
            <a:r>
              <a:rPr lang="en-US" sz="1950" dirty="0" i="1">
                <a:solidFill>
                  <a:srgbClr val="16171D"/>
                </a:solidFill>
                <a:latin typeface="Segoe UI"/>
                <a:cs typeface="Segoe UI"/>
              </a:rPr>
              <a:t xml:space="preserve">a</a:t>
            </a:r>
            <a:r>
              <a:rPr lang="en-US" sz="1950" dirty="0">
                <a:solidFill>
                  <a:srgbClr val="16171D"/>
                </a:solidFill>
                <a:latin typeface="Segoe UI"/>
                <a:cs typeface="Segoe UI"/>
              </a:rPr>
              <a:t xml:space="preserve">.</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Watch me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Move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up 5</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Add 5 to every output.</a:t>
            </a:r>
            <a:endParaRPr lang="en-US" sz="1950" dirty="0"/>
          </a:p>
        </p:txBody>
      </p:sp>
      <p:sp>
        <p:nvSpPr>
          <p:cNvPr id="5" name="Shape 5"/>
          <p:cNvSpPr txBox="1"/>
          <p:nvPr/>
        </p:nvSpPr>
        <p:spPr>
          <a:xfrm>
            <a:off x="685800" y="2103882"/>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p</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6" name="Shape 6"/>
          <p:cNvSpPr txBox="1"/>
          <p:nvPr/>
        </p:nvSpPr>
        <p:spPr>
          <a:xfrm>
            <a:off x="685800" y="2646426"/>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p</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7" name="Shape 7"/>
          <p:cNvSpPr txBox="1"/>
          <p:nvPr/>
        </p:nvSpPr>
        <p:spPr>
          <a:xfrm>
            <a:off x="685800" y="329869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Slope: still 1.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(0, 5).</a:t>
            </a:r>
            <a:endParaRPr lang="en-US" sz="1950" dirty="0"/>
          </a:p>
        </p:txBody>
      </p:sp>
      <p:sp>
        <p:nvSpPr>
          <p:cNvPr id="8" name="Shape 8"/>
          <p:cNvSpPr/>
          <p:nvPr/>
        </p:nvSpPr>
        <p:spPr>
          <a:xfrm>
            <a:off x="6286348" y="1618488"/>
            <a:ext cx="3238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6610198" y="1732788"/>
            <a:ext cx="0" cy="2876550"/>
          </a:xfrm>
          <a:prstGeom prst="line">
            <a:avLst/>
          </a:prstGeom>
          <a:ln w="9525" cap="flat">
            <a:solidFill>
              <a:srgbClr val="E6E8F2"/>
            </a:solidFill>
          </a:ln>
        </p:spPr>
      </p:cxnSp>
      <p:cxnSp>
        <p:nvCxnSpPr>
          <p:cNvPr id="10" name="Line 10"/>
          <p:cNvCxnSpPr/>
          <p:nvPr/>
        </p:nvCxnSpPr>
        <p:spPr>
          <a:xfrm>
            <a:off x="6843560" y="1732788"/>
            <a:ext cx="0" cy="2876550"/>
          </a:xfrm>
          <a:prstGeom prst="line">
            <a:avLst/>
          </a:prstGeom>
          <a:ln w="9525" cap="flat">
            <a:solidFill>
              <a:srgbClr val="E6E8F2"/>
            </a:solidFill>
          </a:ln>
        </p:spPr>
      </p:cxnSp>
      <p:cxnSp>
        <p:nvCxnSpPr>
          <p:cNvPr id="11" name="Line 11"/>
          <p:cNvCxnSpPr/>
          <p:nvPr/>
        </p:nvCxnSpPr>
        <p:spPr>
          <a:xfrm>
            <a:off x="7076923" y="1732788"/>
            <a:ext cx="0" cy="2876550"/>
          </a:xfrm>
          <a:prstGeom prst="line">
            <a:avLst/>
          </a:prstGeom>
          <a:ln w="9525" cap="flat">
            <a:solidFill>
              <a:srgbClr val="E6E8F2"/>
            </a:solidFill>
          </a:ln>
        </p:spPr>
      </p:cxnSp>
      <p:cxnSp>
        <p:nvCxnSpPr>
          <p:cNvPr id="12" name="Line 12"/>
          <p:cNvCxnSpPr/>
          <p:nvPr/>
        </p:nvCxnSpPr>
        <p:spPr>
          <a:xfrm>
            <a:off x="7310285" y="1732788"/>
            <a:ext cx="0" cy="2876550"/>
          </a:xfrm>
          <a:prstGeom prst="line">
            <a:avLst/>
          </a:prstGeom>
          <a:ln w="9525" cap="flat">
            <a:solidFill>
              <a:srgbClr val="E6E8F2"/>
            </a:solidFill>
          </a:ln>
        </p:spPr>
      </p:cxnSp>
      <p:cxnSp>
        <p:nvCxnSpPr>
          <p:cNvPr id="13" name="Line 13"/>
          <p:cNvCxnSpPr/>
          <p:nvPr/>
        </p:nvCxnSpPr>
        <p:spPr>
          <a:xfrm>
            <a:off x="7543648" y="1732788"/>
            <a:ext cx="0" cy="2876550"/>
          </a:xfrm>
          <a:prstGeom prst="line">
            <a:avLst/>
          </a:prstGeom>
          <a:ln w="9525" cap="flat">
            <a:solidFill>
              <a:srgbClr val="E6E8F2"/>
            </a:solidFill>
          </a:ln>
        </p:spPr>
      </p:cxnSp>
      <p:cxnSp>
        <p:nvCxnSpPr>
          <p:cNvPr id="14" name="Line 14"/>
          <p:cNvCxnSpPr/>
          <p:nvPr/>
        </p:nvCxnSpPr>
        <p:spPr>
          <a:xfrm>
            <a:off x="7777010" y="1732788"/>
            <a:ext cx="0" cy="2876550"/>
          </a:xfrm>
          <a:prstGeom prst="line">
            <a:avLst/>
          </a:prstGeom>
          <a:ln w="9525" cap="flat">
            <a:solidFill>
              <a:srgbClr val="E6E8F2"/>
            </a:solidFill>
          </a:ln>
        </p:spPr>
      </p:cxnSp>
      <p:cxnSp>
        <p:nvCxnSpPr>
          <p:cNvPr id="15" name="Line 15"/>
          <p:cNvCxnSpPr/>
          <p:nvPr/>
        </p:nvCxnSpPr>
        <p:spPr>
          <a:xfrm>
            <a:off x="8010373" y="1732788"/>
            <a:ext cx="0" cy="2876550"/>
          </a:xfrm>
          <a:prstGeom prst="line">
            <a:avLst/>
          </a:prstGeom>
          <a:ln w="9525" cap="flat">
            <a:solidFill>
              <a:srgbClr val="E6E8F2"/>
            </a:solidFill>
          </a:ln>
        </p:spPr>
      </p:cxnSp>
      <p:cxnSp>
        <p:nvCxnSpPr>
          <p:cNvPr id="16" name="Line 16"/>
          <p:cNvCxnSpPr/>
          <p:nvPr/>
        </p:nvCxnSpPr>
        <p:spPr>
          <a:xfrm>
            <a:off x="8243735" y="1732788"/>
            <a:ext cx="0" cy="2876550"/>
          </a:xfrm>
          <a:prstGeom prst="line">
            <a:avLst/>
          </a:prstGeom>
          <a:ln w="9525" cap="flat">
            <a:solidFill>
              <a:srgbClr val="E6E8F2"/>
            </a:solidFill>
          </a:ln>
        </p:spPr>
      </p:cxnSp>
      <p:cxnSp>
        <p:nvCxnSpPr>
          <p:cNvPr id="17" name="Line 17"/>
          <p:cNvCxnSpPr/>
          <p:nvPr/>
        </p:nvCxnSpPr>
        <p:spPr>
          <a:xfrm>
            <a:off x="8477098" y="1732788"/>
            <a:ext cx="0" cy="2876550"/>
          </a:xfrm>
          <a:prstGeom prst="line">
            <a:avLst/>
          </a:prstGeom>
          <a:ln w="9525" cap="flat">
            <a:solidFill>
              <a:srgbClr val="E6E8F2"/>
            </a:solidFill>
          </a:ln>
        </p:spPr>
      </p:cxnSp>
      <p:cxnSp>
        <p:nvCxnSpPr>
          <p:cNvPr id="18" name="Line 18"/>
          <p:cNvCxnSpPr/>
          <p:nvPr/>
        </p:nvCxnSpPr>
        <p:spPr>
          <a:xfrm>
            <a:off x="8710460" y="1732788"/>
            <a:ext cx="0" cy="2876550"/>
          </a:xfrm>
          <a:prstGeom prst="line">
            <a:avLst/>
          </a:prstGeom>
          <a:ln w="9525" cap="flat">
            <a:solidFill>
              <a:srgbClr val="E6E8F2"/>
            </a:solidFill>
          </a:ln>
        </p:spPr>
      </p:cxnSp>
      <p:cxnSp>
        <p:nvCxnSpPr>
          <p:cNvPr id="19" name="Line 19"/>
          <p:cNvCxnSpPr/>
          <p:nvPr/>
        </p:nvCxnSpPr>
        <p:spPr>
          <a:xfrm>
            <a:off x="8943823" y="1732788"/>
            <a:ext cx="0" cy="2876550"/>
          </a:xfrm>
          <a:prstGeom prst="line">
            <a:avLst/>
          </a:prstGeom>
          <a:ln w="9525" cap="flat">
            <a:solidFill>
              <a:srgbClr val="E6E8F2"/>
            </a:solidFill>
          </a:ln>
        </p:spPr>
      </p:cxnSp>
      <p:cxnSp>
        <p:nvCxnSpPr>
          <p:cNvPr id="20" name="Line 20"/>
          <p:cNvCxnSpPr/>
          <p:nvPr/>
        </p:nvCxnSpPr>
        <p:spPr>
          <a:xfrm>
            <a:off x="9177185" y="1732788"/>
            <a:ext cx="0" cy="2876550"/>
          </a:xfrm>
          <a:prstGeom prst="line">
            <a:avLst/>
          </a:prstGeom>
          <a:ln w="9525" cap="flat">
            <a:solidFill>
              <a:srgbClr val="E6E8F2"/>
            </a:solidFill>
          </a:ln>
        </p:spPr>
      </p:cxnSp>
      <p:cxnSp>
        <p:nvCxnSpPr>
          <p:cNvPr id="21" name="Line 21"/>
          <p:cNvCxnSpPr/>
          <p:nvPr/>
        </p:nvCxnSpPr>
        <p:spPr>
          <a:xfrm>
            <a:off x="9410548" y="1732788"/>
            <a:ext cx="0" cy="2876550"/>
          </a:xfrm>
          <a:prstGeom prst="line">
            <a:avLst/>
          </a:prstGeom>
          <a:ln w="9525" cap="flat">
            <a:solidFill>
              <a:srgbClr val="E6E8F2"/>
            </a:solidFill>
          </a:ln>
        </p:spPr>
      </p:cxnSp>
      <p:cxnSp>
        <p:nvCxnSpPr>
          <p:cNvPr id="22" name="Line 22"/>
          <p:cNvCxnSpPr/>
          <p:nvPr/>
        </p:nvCxnSpPr>
        <p:spPr>
          <a:xfrm>
            <a:off x="6610198" y="4609338"/>
            <a:ext cx="2800350" cy="0"/>
          </a:xfrm>
          <a:prstGeom prst="line">
            <a:avLst/>
          </a:prstGeom>
          <a:ln w="9525" cap="flat">
            <a:solidFill>
              <a:srgbClr val="E6E8F2"/>
            </a:solidFill>
          </a:ln>
        </p:spPr>
      </p:cxnSp>
      <p:cxnSp>
        <p:nvCxnSpPr>
          <p:cNvPr id="23" name="Line 23"/>
          <p:cNvCxnSpPr/>
          <p:nvPr/>
        </p:nvCxnSpPr>
        <p:spPr>
          <a:xfrm>
            <a:off x="6610198" y="4403870"/>
            <a:ext cx="2800350" cy="0"/>
          </a:xfrm>
          <a:prstGeom prst="line">
            <a:avLst/>
          </a:prstGeom>
          <a:ln w="9525" cap="flat">
            <a:solidFill>
              <a:srgbClr val="E6E8F2"/>
            </a:solidFill>
          </a:ln>
        </p:spPr>
      </p:cxnSp>
      <p:cxnSp>
        <p:nvCxnSpPr>
          <p:cNvPr id="24" name="Line 24"/>
          <p:cNvCxnSpPr/>
          <p:nvPr/>
        </p:nvCxnSpPr>
        <p:spPr>
          <a:xfrm>
            <a:off x="6610198" y="4198402"/>
            <a:ext cx="2800350" cy="0"/>
          </a:xfrm>
          <a:prstGeom prst="line">
            <a:avLst/>
          </a:prstGeom>
          <a:ln w="9525" cap="flat">
            <a:solidFill>
              <a:srgbClr val="E6E8F2"/>
            </a:solidFill>
          </a:ln>
        </p:spPr>
      </p:cxnSp>
      <p:cxnSp>
        <p:nvCxnSpPr>
          <p:cNvPr id="25" name="Line 25"/>
          <p:cNvCxnSpPr/>
          <p:nvPr/>
        </p:nvCxnSpPr>
        <p:spPr>
          <a:xfrm>
            <a:off x="6610198" y="3992934"/>
            <a:ext cx="2800350" cy="0"/>
          </a:xfrm>
          <a:prstGeom prst="line">
            <a:avLst/>
          </a:prstGeom>
          <a:ln w="9525" cap="flat">
            <a:solidFill>
              <a:srgbClr val="E6E8F2"/>
            </a:solidFill>
          </a:ln>
        </p:spPr>
      </p:cxnSp>
      <p:cxnSp>
        <p:nvCxnSpPr>
          <p:cNvPr id="26" name="Line 26"/>
          <p:cNvCxnSpPr/>
          <p:nvPr/>
        </p:nvCxnSpPr>
        <p:spPr>
          <a:xfrm>
            <a:off x="6610198" y="3787467"/>
            <a:ext cx="2800350" cy="0"/>
          </a:xfrm>
          <a:prstGeom prst="line">
            <a:avLst/>
          </a:prstGeom>
          <a:ln w="9525" cap="flat">
            <a:solidFill>
              <a:srgbClr val="E6E8F2"/>
            </a:solidFill>
          </a:ln>
        </p:spPr>
      </p:cxnSp>
      <p:cxnSp>
        <p:nvCxnSpPr>
          <p:cNvPr id="27" name="Line 27"/>
          <p:cNvCxnSpPr/>
          <p:nvPr/>
        </p:nvCxnSpPr>
        <p:spPr>
          <a:xfrm>
            <a:off x="6610198" y="3581999"/>
            <a:ext cx="2800350" cy="0"/>
          </a:xfrm>
          <a:prstGeom prst="line">
            <a:avLst/>
          </a:prstGeom>
          <a:ln w="9525" cap="flat">
            <a:solidFill>
              <a:srgbClr val="E6E8F2"/>
            </a:solidFill>
          </a:ln>
        </p:spPr>
      </p:cxnSp>
      <p:cxnSp>
        <p:nvCxnSpPr>
          <p:cNvPr id="28" name="Line 28"/>
          <p:cNvCxnSpPr/>
          <p:nvPr/>
        </p:nvCxnSpPr>
        <p:spPr>
          <a:xfrm>
            <a:off x="6610198" y="3376531"/>
            <a:ext cx="2800350" cy="0"/>
          </a:xfrm>
          <a:prstGeom prst="line">
            <a:avLst/>
          </a:prstGeom>
          <a:ln w="9525" cap="flat">
            <a:solidFill>
              <a:srgbClr val="E6E8F2"/>
            </a:solidFill>
          </a:ln>
        </p:spPr>
      </p:cxnSp>
      <p:cxnSp>
        <p:nvCxnSpPr>
          <p:cNvPr id="29" name="Line 29"/>
          <p:cNvCxnSpPr/>
          <p:nvPr/>
        </p:nvCxnSpPr>
        <p:spPr>
          <a:xfrm>
            <a:off x="6610198" y="3171063"/>
            <a:ext cx="2800350" cy="0"/>
          </a:xfrm>
          <a:prstGeom prst="line">
            <a:avLst/>
          </a:prstGeom>
          <a:ln w="9525" cap="flat">
            <a:solidFill>
              <a:srgbClr val="E6E8F2"/>
            </a:solidFill>
          </a:ln>
        </p:spPr>
      </p:cxnSp>
      <p:cxnSp>
        <p:nvCxnSpPr>
          <p:cNvPr id="30" name="Line 30"/>
          <p:cNvCxnSpPr/>
          <p:nvPr/>
        </p:nvCxnSpPr>
        <p:spPr>
          <a:xfrm>
            <a:off x="6610198" y="2965595"/>
            <a:ext cx="2800350" cy="0"/>
          </a:xfrm>
          <a:prstGeom prst="line">
            <a:avLst/>
          </a:prstGeom>
          <a:ln w="9525" cap="flat">
            <a:solidFill>
              <a:srgbClr val="E6E8F2"/>
            </a:solidFill>
          </a:ln>
        </p:spPr>
      </p:cxnSp>
      <p:cxnSp>
        <p:nvCxnSpPr>
          <p:cNvPr id="31" name="Line 31"/>
          <p:cNvCxnSpPr/>
          <p:nvPr/>
        </p:nvCxnSpPr>
        <p:spPr>
          <a:xfrm>
            <a:off x="6610198" y="2760127"/>
            <a:ext cx="2800350" cy="0"/>
          </a:xfrm>
          <a:prstGeom prst="line">
            <a:avLst/>
          </a:prstGeom>
          <a:ln w="9525" cap="flat">
            <a:solidFill>
              <a:srgbClr val="E6E8F2"/>
            </a:solidFill>
          </a:ln>
        </p:spPr>
      </p:cxnSp>
      <p:cxnSp>
        <p:nvCxnSpPr>
          <p:cNvPr id="32" name="Line 32"/>
          <p:cNvCxnSpPr/>
          <p:nvPr/>
        </p:nvCxnSpPr>
        <p:spPr>
          <a:xfrm>
            <a:off x="6610198" y="2554659"/>
            <a:ext cx="2800350" cy="0"/>
          </a:xfrm>
          <a:prstGeom prst="line">
            <a:avLst/>
          </a:prstGeom>
          <a:ln w="9525" cap="flat">
            <a:solidFill>
              <a:srgbClr val="E6E8F2"/>
            </a:solidFill>
          </a:ln>
        </p:spPr>
      </p:cxnSp>
      <p:cxnSp>
        <p:nvCxnSpPr>
          <p:cNvPr id="33" name="Line 33"/>
          <p:cNvCxnSpPr/>
          <p:nvPr/>
        </p:nvCxnSpPr>
        <p:spPr>
          <a:xfrm>
            <a:off x="6610198" y="2349192"/>
            <a:ext cx="2800350" cy="0"/>
          </a:xfrm>
          <a:prstGeom prst="line">
            <a:avLst/>
          </a:prstGeom>
          <a:ln w="9525" cap="flat">
            <a:solidFill>
              <a:srgbClr val="E6E8F2"/>
            </a:solidFill>
          </a:ln>
        </p:spPr>
      </p:cxnSp>
      <p:cxnSp>
        <p:nvCxnSpPr>
          <p:cNvPr id="34" name="Line 34"/>
          <p:cNvCxnSpPr/>
          <p:nvPr/>
        </p:nvCxnSpPr>
        <p:spPr>
          <a:xfrm>
            <a:off x="6610198" y="2143724"/>
            <a:ext cx="2800350" cy="0"/>
          </a:xfrm>
          <a:prstGeom prst="line">
            <a:avLst/>
          </a:prstGeom>
          <a:ln w="9525" cap="flat">
            <a:solidFill>
              <a:srgbClr val="E6E8F2"/>
            </a:solidFill>
          </a:ln>
        </p:spPr>
      </p:cxnSp>
      <p:cxnSp>
        <p:nvCxnSpPr>
          <p:cNvPr id="35" name="Line 35"/>
          <p:cNvCxnSpPr/>
          <p:nvPr/>
        </p:nvCxnSpPr>
        <p:spPr>
          <a:xfrm>
            <a:off x="6610198" y="1938256"/>
            <a:ext cx="2800350" cy="0"/>
          </a:xfrm>
          <a:prstGeom prst="line">
            <a:avLst/>
          </a:prstGeom>
          <a:ln w="9525" cap="flat">
            <a:solidFill>
              <a:srgbClr val="E6E8F2"/>
            </a:solidFill>
          </a:ln>
        </p:spPr>
      </p:cxnSp>
      <p:cxnSp>
        <p:nvCxnSpPr>
          <p:cNvPr id="36" name="Line 36"/>
          <p:cNvCxnSpPr/>
          <p:nvPr/>
        </p:nvCxnSpPr>
        <p:spPr>
          <a:xfrm>
            <a:off x="6610198" y="1732788"/>
            <a:ext cx="2800350" cy="0"/>
          </a:xfrm>
          <a:prstGeom prst="line">
            <a:avLst/>
          </a:prstGeom>
          <a:ln w="9525" cap="flat">
            <a:solidFill>
              <a:srgbClr val="E6E8F2"/>
            </a:solidFill>
          </a:ln>
        </p:spPr>
      </p:cxnSp>
      <p:cxnSp>
        <p:nvCxnSpPr>
          <p:cNvPr id="37" name="Line 37"/>
          <p:cNvCxnSpPr/>
          <p:nvPr/>
        </p:nvCxnSpPr>
        <p:spPr>
          <a:xfrm>
            <a:off x="8010373" y="1732788"/>
            <a:ext cx="0" cy="2876550"/>
          </a:xfrm>
          <a:prstGeom prst="line">
            <a:avLst/>
          </a:prstGeom>
          <a:ln w="19050" cap="flat">
            <a:solidFill>
              <a:srgbClr val="5F6272"/>
            </a:solidFill>
          </a:ln>
        </p:spPr>
      </p:cxnSp>
      <p:cxnSp>
        <p:nvCxnSpPr>
          <p:cNvPr id="38" name="Line 38"/>
          <p:cNvCxnSpPr/>
          <p:nvPr/>
        </p:nvCxnSpPr>
        <p:spPr>
          <a:xfrm>
            <a:off x="6610198" y="3376531"/>
            <a:ext cx="2800350" cy="0"/>
          </a:xfrm>
          <a:prstGeom prst="line">
            <a:avLst/>
          </a:prstGeom>
          <a:ln w="19050" cap="flat">
            <a:solidFill>
              <a:srgbClr val="5F6272"/>
            </a:solidFill>
          </a:ln>
        </p:spPr>
      </p:cxnSp>
      <p:sp>
        <p:nvSpPr>
          <p:cNvPr id="39" name="Shape 39"/>
          <p:cNvSpPr txBox="1"/>
          <p:nvPr/>
        </p:nvSpPr>
        <p:spPr>
          <a:xfrm>
            <a:off x="633587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0" name="Shape 40"/>
          <p:cNvSpPr txBox="1"/>
          <p:nvPr/>
        </p:nvSpPr>
        <p:spPr>
          <a:xfrm>
            <a:off x="680260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1" name="Shape 41"/>
          <p:cNvSpPr txBox="1"/>
          <p:nvPr/>
        </p:nvSpPr>
        <p:spPr>
          <a:xfrm>
            <a:off x="726932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2" name="Shape 42"/>
          <p:cNvSpPr txBox="1"/>
          <p:nvPr/>
        </p:nvSpPr>
        <p:spPr>
          <a:xfrm>
            <a:off x="773605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3" name="Shape 43"/>
          <p:cNvSpPr txBox="1"/>
          <p:nvPr/>
        </p:nvSpPr>
        <p:spPr>
          <a:xfrm>
            <a:off x="820277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866950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5" name="Shape 45"/>
          <p:cNvSpPr txBox="1"/>
          <p:nvPr/>
        </p:nvSpPr>
        <p:spPr>
          <a:xfrm>
            <a:off x="913622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6" name="Shape 46"/>
          <p:cNvSpPr txBox="1"/>
          <p:nvPr/>
        </p:nvSpPr>
        <p:spPr>
          <a:xfrm>
            <a:off x="6043270" y="4517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7" name="Shape 47"/>
          <p:cNvSpPr txBox="1"/>
          <p:nvPr/>
        </p:nvSpPr>
        <p:spPr>
          <a:xfrm>
            <a:off x="6043270" y="410696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8" name="Shape 48"/>
          <p:cNvSpPr txBox="1"/>
          <p:nvPr/>
        </p:nvSpPr>
        <p:spPr>
          <a:xfrm>
            <a:off x="6043270" y="369602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6043270" y="328509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6043270" y="287415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1" name="Shape 51"/>
          <p:cNvSpPr txBox="1"/>
          <p:nvPr/>
        </p:nvSpPr>
        <p:spPr>
          <a:xfrm>
            <a:off x="6043270" y="246321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6043270" y="205228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3" name="Shape 53"/>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54" name="Line 54"/>
          <p:cNvCxnSpPr/>
          <p:nvPr/>
        </p:nvCxnSpPr>
        <p:spPr>
          <a:xfrm flipV="1">
            <a:off x="6610198" y="2143724"/>
            <a:ext cx="2800350" cy="2465614"/>
          </a:xfrm>
          <a:prstGeom prst="line">
            <a:avLst/>
          </a:prstGeom>
          <a:ln w="38100" cap="rnd">
            <a:solidFill>
              <a:srgbClr val="16171D"/>
            </a:solidFill>
          </a:ln>
        </p:spPr>
      </p:cxnSp>
      <p:sp>
        <p:nvSpPr>
          <p:cNvPr id="55" name="Shape 55"/>
          <p:cNvSpPr txBox="1"/>
          <p:nvPr/>
        </p:nvSpPr>
        <p:spPr>
          <a:xfrm>
            <a:off x="6918808" y="2162774"/>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56" name="Line 56"/>
          <p:cNvCxnSpPr/>
          <p:nvPr/>
        </p:nvCxnSpPr>
        <p:spPr>
          <a:xfrm flipV="1">
            <a:off x="6610198" y="1732788"/>
            <a:ext cx="2100262" cy="1849211"/>
          </a:xfrm>
          <a:prstGeom prst="line">
            <a:avLst/>
          </a:prstGeom>
          <a:ln w="38100" cap="rnd">
            <a:solidFill>
              <a:srgbClr val="7A4FC4"/>
            </a:solidFill>
          </a:ln>
        </p:spPr>
      </p:cxnSp>
      <p:sp>
        <p:nvSpPr>
          <p:cNvPr id="57" name="Shape 57"/>
          <p:cNvSpPr txBox="1"/>
          <p:nvPr/>
        </p:nvSpPr>
        <p:spPr>
          <a:xfrm>
            <a:off x="621872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p(x)</a:t>
            </a:r>
            <a:endParaRPr lang="en-US" sz="1275" dirty="0"/>
          </a:p>
        </p:txBody>
      </p:sp>
      <p:sp>
        <p:nvSpPr>
          <p:cNvPr id="58" name="Slide Number 5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2" presetID="22" presetClass="entr" presetSubtype="8"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wipe(left)">
                                      <p:cBhvr>
                                        <p:cTn id="11" dur="700"/>
                                        <p:tgtEl>
                                          <p:spTgt spid="56"/>
                                        </p:tgtEl>
                                      </p:cBhvr>
                                    </p:animEffect>
                                  </p:childTnLst>
                                </p:cTn>
                              </p:par>
                              <p:par>
                                <p:cTn id="15" presetID="22" presetClass="entr" presetSubtype="8" fill="hold" nodeType="withEffect">
                                  <p:stCondLst>
                                    <p:cond delay="0"/>
                                  </p:stCondLst>
                                  <p:childTnLst>
                                    <p:set>
                                      <p:cBhvr>
                                        <p:cTn id="13" dur="1" fill="hold">
                                          <p:stCondLst>
                                            <p:cond delay="0"/>
                                          </p:stCondLst>
                                        </p:cTn>
                                        <p:tgtEl>
                                          <p:spTgt spid="57"/>
                                        </p:tgtEl>
                                        <p:attrNameLst>
                                          <p:attrName>style.visibility</p:attrName>
                                        </p:attrNameLst>
                                      </p:cBhvr>
                                      <p:to>
                                        <p:strVal val="visible"/>
                                      </p:to>
                                    </p:set>
                                    <p:animEffect transition="in" filter="wipe(left)">
                                      <p:cBhvr>
                                        <p:cTn id="14" dur="7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Together</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Move </a:t>
            </a:r>
            <a:r>
              <a:rPr lang="en-US" sz="3450" dirty="0" b="1" i="1">
                <a:solidFill>
                  <a:srgbClr val="16171D"/>
                </a:solidFill>
                <a:latin typeface="Segoe UI"/>
                <a:cs typeface="Segoe UI"/>
              </a:rPr>
              <a:t xml:space="preserve">j</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 down 4</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r</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j</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____</a:t>
            </a:r>
            <a:endParaRPr lang="en-US" sz="1950" dirty="0"/>
          </a:p>
        </p:txBody>
      </p:sp>
      <p:sp>
        <p:nvSpPr>
          <p:cNvPr id="5" name="Shape 5"/>
          <p:cNvSpPr txBox="1"/>
          <p:nvPr/>
        </p:nvSpPr>
        <p:spPr>
          <a:xfrm>
            <a:off x="685800" y="2141982"/>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r</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Simplify: 2</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− 1 − 4 = ____</a:t>
            </a:r>
            <a:endParaRPr lang="en-US" sz="1950" dirty="0"/>
          </a:p>
        </p:txBody>
      </p:sp>
      <p:sp>
        <p:nvSpPr>
          <p:cNvPr id="7" name="Shape 7"/>
          <p:cNvSpPr txBox="1"/>
          <p:nvPr/>
        </p:nvSpPr>
        <p:spPr>
          <a:xfrm>
            <a:off x="685800" y="335584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r</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8" name="Shape 8"/>
          <p:cNvSpPr txBox="1"/>
          <p:nvPr/>
        </p:nvSpPr>
        <p:spPr>
          <a:xfrm>
            <a:off x="685800" y="404622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Slope ____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____</a:t>
            </a:r>
            <a:endParaRPr lang="en-US" sz="1950" dirty="0"/>
          </a:p>
        </p:txBody>
      </p:sp>
      <p:sp>
        <p:nvSpPr>
          <p:cNvPr id="9" name="Shape 9"/>
          <p:cNvSpPr txBox="1"/>
          <p:nvPr/>
        </p:nvSpPr>
        <p:spPr>
          <a:xfrm>
            <a:off x="685800" y="4569714"/>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2, (0, −5)</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End of Day 1</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Monday, October 19</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Tuesday, October 20. Start at the next slide, “Start: Tuesday, October 20.”</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Day 2 of 3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Tuesday, October 20</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(Graphing from point-slope form) → Lesson 1, Day 2.</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 · Tue, Oct 20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is translated up 4 units. Which equation is the new function? </a:t>
            </a:r>
            <a:r>
              <a:rPr lang="en-US" sz="1575" dirty="0">
                <a:solidFill>
                  <a:srgbClr val="5F6272"/>
                </a:solidFill>
                <a:latin typeface="Segoe UI"/>
                <a:cs typeface="Segoe UI"/>
              </a:rPr>
              <a:t xml:space="preserve">(SE p. 272)</a:t>
            </a:r>
            <a:endParaRPr lang="en-US" sz="1950" dirty="0"/>
          </a:p>
        </p:txBody>
      </p:sp>
      <p:sp>
        <p:nvSpPr>
          <p:cNvPr id="5" name="Shape 5"/>
          <p:cNvSpPr txBox="1"/>
          <p:nvPr/>
        </p:nvSpPr>
        <p:spPr>
          <a:xfrm>
            <a:off x="685800" y="2755392"/>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6" name="Shape 6"/>
          <p:cNvSpPr txBox="1"/>
          <p:nvPr/>
        </p:nvSpPr>
        <p:spPr>
          <a:xfrm>
            <a:off x="685800" y="354101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The point </a:t>
            </a:r>
            <a:r>
              <a:rPr lang="en-US" sz="1950" dirty="0">
                <a:solidFill>
                  <a:srgbClr val="16171D"/>
                </a:solidFill>
                <a:latin typeface="Cambria"/>
                <a:cs typeface="Cambria"/>
              </a:rPr>
              <a:t xml:space="preserve">(2, 5)</a:t>
            </a:r>
            <a:r>
              <a:rPr lang="en-US" sz="1950" dirty="0">
                <a:solidFill>
                  <a:srgbClr val="16171D"/>
                </a:solidFill>
                <a:latin typeface="Segoe UI"/>
                <a:cs typeface="Segoe UI"/>
              </a:rPr>
              <a:t xml:space="preserve"> is translated down 3 units. Where does it go? </a:t>
            </a:r>
            <a:r>
              <a:rPr lang="en-US" sz="1575" dirty="0">
                <a:solidFill>
                  <a:srgbClr val="5F6272"/>
                </a:solidFill>
                <a:latin typeface="Segoe UI"/>
                <a:cs typeface="Segoe UI"/>
              </a:rPr>
              <a:t xml:space="preserve">(SE p. 273)</a:t>
            </a:r>
            <a:endParaRPr lang="en-US" sz="1950" dirty="0"/>
          </a:p>
        </p:txBody>
      </p:sp>
      <p:sp>
        <p:nvSpPr>
          <p:cNvPr id="7" name="Shape 7"/>
          <p:cNvSpPr txBox="1"/>
          <p:nvPr/>
        </p:nvSpPr>
        <p:spPr>
          <a:xfrm>
            <a:off x="685800" y="432358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(2, 2)</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What is the slope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275)</a:t>
            </a:r>
            <a:endParaRPr lang="en-US" sz="1950" dirty="0"/>
          </a:p>
        </p:txBody>
      </p:sp>
      <p:sp>
        <p:nvSpPr>
          <p:cNvPr id="9" name="Shape 9"/>
          <p:cNvSpPr txBox="1"/>
          <p:nvPr/>
        </p:nvSpPr>
        <p:spPr>
          <a:xfrm>
            <a:off x="6362548" y="245821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What is the </a:t>
            </a:r>
            <a:r>
              <a:rPr lang="en-US" sz="1950" dirty="0" i="1">
                <a:solidFill>
                  <a:srgbClr val="16171D"/>
                </a:solidFill>
                <a:latin typeface="Cambria"/>
                <a:cs typeface="Cambria"/>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275)</a:t>
            </a:r>
            <a:endParaRPr lang="en-US" sz="1950" dirty="0"/>
          </a:p>
        </p:txBody>
      </p:sp>
      <p:sp>
        <p:nvSpPr>
          <p:cNvPr id="11" name="Shape 11"/>
          <p:cNvSpPr txBox="1"/>
          <p:nvPr/>
        </p:nvSpPr>
        <p:spPr>
          <a:xfrm>
            <a:off x="6362548" y="402640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(0, 5)</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Tue, Oct 20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Graphing from point-slope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Activity 1.2 writes parallel lines with point-slope form, so practice it first.</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I do · Point-slope form</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+ 8 = </a:t>
            </a:r>
            <a:r>
              <a:rPr lang="en-US" sz="3450" dirty="0" b="1">
                <a:solidFill>
                  <a:srgbClr val="16171D"/>
                </a:solidFill>
                <a:latin typeface="Segoe UI"/>
                <a:cs typeface="Segoe UI"/>
              </a:rPr>
              <a:t xml:space="preserve">1</a:t>
            </a:r>
            <a:r>
              <a:rPr lang="en-US" sz="3450" dirty="0" b="1">
                <a:solidFill>
                  <a:srgbClr val="16171D"/>
                </a:solidFill>
                <a:latin typeface="Segoe UI"/>
                <a:cs typeface="Segoe UI"/>
              </a:rPr>
              <a:t xml:space="preserve">/</a:t>
            </a:r>
            <a:r>
              <a:rPr lang="en-US" sz="3450" dirty="0" b="1">
                <a:solidFill>
                  <a:srgbClr val="16171D"/>
                </a:solidFill>
                <a:latin typeface="Segoe UI"/>
                <a:cs typeface="Segoe UI"/>
              </a:rPr>
              <a:t xml:space="preserve">2</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+ 6)</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find the point. The signs </a:t>
            </a:r>
            <a:r>
              <a:rPr lang="en-US" sz="1950" dirty="0" b="1">
                <a:solidFill>
                  <a:srgbClr val="16171D"/>
                </a:solidFill>
                <a:latin typeface="Segoe UI"/>
                <a:cs typeface="Segoe UI"/>
              </a:rPr>
              <a:t xml:space="preserve">flip</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03882"/>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(−6, −8)</a:t>
            </a:r>
            <a:endParaRPr lang="en-US" sz="2325" dirty="0"/>
          </a:p>
        </p:txBody>
      </p:sp>
      <p:sp>
        <p:nvSpPr>
          <p:cNvPr id="6" name="Shape 6"/>
          <p:cNvSpPr txBox="1"/>
          <p:nvPr/>
        </p:nvSpPr>
        <p:spPr>
          <a:xfrm>
            <a:off x="685800"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2: </a:t>
            </a:r>
            <a:r>
              <a:rPr lang="en-US" sz="1950" dirty="0" i="1">
                <a:solidFill>
                  <a:srgbClr val="16171D"/>
                </a:solidFill>
                <a:latin typeface="Segoe UI"/>
                <a:cs typeface="Segoe UI"/>
              </a:rPr>
              <a:t xml:space="preserve">m</a:t>
            </a:r>
            <a:r>
              <a:rPr lang="en-US" sz="1950" dirty="0">
                <a:solidFill>
                  <a:srgbClr val="16171D"/>
                </a:solidFill>
                <a:latin typeface="Segoe UI"/>
                <a:cs typeface="Segoe UI"/>
              </a:rPr>
              <a:t xml:space="preserve"> = </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 up 1, right 2.</a:t>
            </a:r>
            <a:endParaRPr lang="en-US" sz="1950" dirty="0"/>
          </a:p>
        </p:txBody>
      </p:sp>
      <p:sp>
        <p:nvSpPr>
          <p:cNvPr id="7" name="Shape 7"/>
          <p:cNvSpPr txBox="1"/>
          <p:nvPr/>
        </p:nvSpPr>
        <p:spPr>
          <a:xfrm>
            <a:off x="685800" y="3241548"/>
            <a:ext cx="521954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 −7) and (−2, −6)</a:t>
            </a:r>
            <a:endParaRPr lang="en-US" sz="2325" dirty="0"/>
          </a:p>
        </p:txBody>
      </p:sp>
      <p:sp>
        <p:nvSpPr>
          <p:cNvPr id="8" name="Shape 8"/>
          <p:cNvSpPr/>
          <p:nvPr/>
        </p:nvSpPr>
        <p:spPr>
          <a:xfrm>
            <a:off x="6286348" y="1618488"/>
            <a:ext cx="3238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6610198" y="1732788"/>
            <a:ext cx="0" cy="2876550"/>
          </a:xfrm>
          <a:prstGeom prst="line">
            <a:avLst/>
          </a:prstGeom>
          <a:ln w="9525" cap="flat">
            <a:solidFill>
              <a:srgbClr val="E6E8F2"/>
            </a:solidFill>
          </a:ln>
        </p:spPr>
      </p:cxnSp>
      <p:cxnSp>
        <p:nvCxnSpPr>
          <p:cNvPr id="10" name="Line 10"/>
          <p:cNvCxnSpPr/>
          <p:nvPr/>
        </p:nvCxnSpPr>
        <p:spPr>
          <a:xfrm>
            <a:off x="6960241" y="1732788"/>
            <a:ext cx="0" cy="2876550"/>
          </a:xfrm>
          <a:prstGeom prst="line">
            <a:avLst/>
          </a:prstGeom>
          <a:ln w="9525" cap="flat">
            <a:solidFill>
              <a:srgbClr val="E6E8F2"/>
            </a:solidFill>
          </a:ln>
        </p:spPr>
      </p:cxnSp>
      <p:cxnSp>
        <p:nvCxnSpPr>
          <p:cNvPr id="11" name="Line 11"/>
          <p:cNvCxnSpPr/>
          <p:nvPr/>
        </p:nvCxnSpPr>
        <p:spPr>
          <a:xfrm>
            <a:off x="7310285" y="1732788"/>
            <a:ext cx="0" cy="2876550"/>
          </a:xfrm>
          <a:prstGeom prst="line">
            <a:avLst/>
          </a:prstGeom>
          <a:ln w="9525" cap="flat">
            <a:solidFill>
              <a:srgbClr val="E6E8F2"/>
            </a:solidFill>
          </a:ln>
        </p:spPr>
      </p:cxnSp>
      <p:cxnSp>
        <p:nvCxnSpPr>
          <p:cNvPr id="12" name="Line 12"/>
          <p:cNvCxnSpPr/>
          <p:nvPr/>
        </p:nvCxnSpPr>
        <p:spPr>
          <a:xfrm>
            <a:off x="7660329" y="1732788"/>
            <a:ext cx="0" cy="2876550"/>
          </a:xfrm>
          <a:prstGeom prst="line">
            <a:avLst/>
          </a:prstGeom>
          <a:ln w="9525" cap="flat">
            <a:solidFill>
              <a:srgbClr val="E6E8F2"/>
            </a:solidFill>
          </a:ln>
        </p:spPr>
      </p:cxnSp>
      <p:cxnSp>
        <p:nvCxnSpPr>
          <p:cNvPr id="13" name="Line 13"/>
          <p:cNvCxnSpPr/>
          <p:nvPr/>
        </p:nvCxnSpPr>
        <p:spPr>
          <a:xfrm>
            <a:off x="8010373" y="1732788"/>
            <a:ext cx="0" cy="2876550"/>
          </a:xfrm>
          <a:prstGeom prst="line">
            <a:avLst/>
          </a:prstGeom>
          <a:ln w="9525" cap="flat">
            <a:solidFill>
              <a:srgbClr val="E6E8F2"/>
            </a:solidFill>
          </a:ln>
        </p:spPr>
      </p:cxnSp>
      <p:cxnSp>
        <p:nvCxnSpPr>
          <p:cNvPr id="14" name="Line 14"/>
          <p:cNvCxnSpPr/>
          <p:nvPr/>
        </p:nvCxnSpPr>
        <p:spPr>
          <a:xfrm>
            <a:off x="8360416" y="1732788"/>
            <a:ext cx="0" cy="2876550"/>
          </a:xfrm>
          <a:prstGeom prst="line">
            <a:avLst/>
          </a:prstGeom>
          <a:ln w="9525" cap="flat">
            <a:solidFill>
              <a:srgbClr val="E6E8F2"/>
            </a:solidFill>
          </a:ln>
        </p:spPr>
      </p:cxnSp>
      <p:cxnSp>
        <p:nvCxnSpPr>
          <p:cNvPr id="15" name="Line 15"/>
          <p:cNvCxnSpPr/>
          <p:nvPr/>
        </p:nvCxnSpPr>
        <p:spPr>
          <a:xfrm>
            <a:off x="8710460" y="1732788"/>
            <a:ext cx="0" cy="2876550"/>
          </a:xfrm>
          <a:prstGeom prst="line">
            <a:avLst/>
          </a:prstGeom>
          <a:ln w="9525" cap="flat">
            <a:solidFill>
              <a:srgbClr val="E6E8F2"/>
            </a:solidFill>
          </a:ln>
        </p:spPr>
      </p:cxnSp>
      <p:cxnSp>
        <p:nvCxnSpPr>
          <p:cNvPr id="16" name="Line 16"/>
          <p:cNvCxnSpPr/>
          <p:nvPr/>
        </p:nvCxnSpPr>
        <p:spPr>
          <a:xfrm>
            <a:off x="9060504" y="1732788"/>
            <a:ext cx="0" cy="2876550"/>
          </a:xfrm>
          <a:prstGeom prst="line">
            <a:avLst/>
          </a:prstGeom>
          <a:ln w="9525" cap="flat">
            <a:solidFill>
              <a:srgbClr val="E6E8F2"/>
            </a:solidFill>
          </a:ln>
        </p:spPr>
      </p:cxnSp>
      <p:cxnSp>
        <p:nvCxnSpPr>
          <p:cNvPr id="17" name="Line 17"/>
          <p:cNvCxnSpPr/>
          <p:nvPr/>
        </p:nvCxnSpPr>
        <p:spPr>
          <a:xfrm>
            <a:off x="9410548" y="1732788"/>
            <a:ext cx="0" cy="2876550"/>
          </a:xfrm>
          <a:prstGeom prst="line">
            <a:avLst/>
          </a:prstGeom>
          <a:ln w="9525" cap="flat">
            <a:solidFill>
              <a:srgbClr val="E6E8F2"/>
            </a:solidFill>
          </a:ln>
        </p:spPr>
      </p:cxnSp>
      <p:cxnSp>
        <p:nvCxnSpPr>
          <p:cNvPr id="18" name="Line 18"/>
          <p:cNvCxnSpPr/>
          <p:nvPr/>
        </p:nvCxnSpPr>
        <p:spPr>
          <a:xfrm>
            <a:off x="6610198" y="4609338"/>
            <a:ext cx="2800350" cy="0"/>
          </a:xfrm>
          <a:prstGeom prst="line">
            <a:avLst/>
          </a:prstGeom>
          <a:ln w="9525" cap="flat">
            <a:solidFill>
              <a:srgbClr val="E6E8F2"/>
            </a:solidFill>
          </a:ln>
        </p:spPr>
      </p:cxnSp>
      <p:cxnSp>
        <p:nvCxnSpPr>
          <p:cNvPr id="19" name="Line 19"/>
          <p:cNvCxnSpPr/>
          <p:nvPr/>
        </p:nvCxnSpPr>
        <p:spPr>
          <a:xfrm>
            <a:off x="6610198" y="4129913"/>
            <a:ext cx="2800350" cy="0"/>
          </a:xfrm>
          <a:prstGeom prst="line">
            <a:avLst/>
          </a:prstGeom>
          <a:ln w="9525" cap="flat">
            <a:solidFill>
              <a:srgbClr val="E6E8F2"/>
            </a:solidFill>
          </a:ln>
        </p:spPr>
      </p:cxnSp>
      <p:cxnSp>
        <p:nvCxnSpPr>
          <p:cNvPr id="20" name="Line 20"/>
          <p:cNvCxnSpPr/>
          <p:nvPr/>
        </p:nvCxnSpPr>
        <p:spPr>
          <a:xfrm>
            <a:off x="6610198" y="3650488"/>
            <a:ext cx="2800350" cy="0"/>
          </a:xfrm>
          <a:prstGeom prst="line">
            <a:avLst/>
          </a:prstGeom>
          <a:ln w="9525" cap="flat">
            <a:solidFill>
              <a:srgbClr val="E6E8F2"/>
            </a:solidFill>
          </a:ln>
        </p:spPr>
      </p:cxnSp>
      <p:cxnSp>
        <p:nvCxnSpPr>
          <p:cNvPr id="21" name="Line 21"/>
          <p:cNvCxnSpPr/>
          <p:nvPr/>
        </p:nvCxnSpPr>
        <p:spPr>
          <a:xfrm>
            <a:off x="6610198" y="3171063"/>
            <a:ext cx="2800350" cy="0"/>
          </a:xfrm>
          <a:prstGeom prst="line">
            <a:avLst/>
          </a:prstGeom>
          <a:ln w="9525" cap="flat">
            <a:solidFill>
              <a:srgbClr val="E6E8F2"/>
            </a:solidFill>
          </a:ln>
        </p:spPr>
      </p:cxnSp>
      <p:cxnSp>
        <p:nvCxnSpPr>
          <p:cNvPr id="22" name="Line 22"/>
          <p:cNvCxnSpPr/>
          <p:nvPr/>
        </p:nvCxnSpPr>
        <p:spPr>
          <a:xfrm>
            <a:off x="6610198" y="2691638"/>
            <a:ext cx="2800350" cy="0"/>
          </a:xfrm>
          <a:prstGeom prst="line">
            <a:avLst/>
          </a:prstGeom>
          <a:ln w="9525" cap="flat">
            <a:solidFill>
              <a:srgbClr val="E6E8F2"/>
            </a:solidFill>
          </a:ln>
        </p:spPr>
      </p:cxnSp>
      <p:cxnSp>
        <p:nvCxnSpPr>
          <p:cNvPr id="23" name="Line 23"/>
          <p:cNvCxnSpPr/>
          <p:nvPr/>
        </p:nvCxnSpPr>
        <p:spPr>
          <a:xfrm>
            <a:off x="6610198" y="2212213"/>
            <a:ext cx="2800350" cy="0"/>
          </a:xfrm>
          <a:prstGeom prst="line">
            <a:avLst/>
          </a:prstGeom>
          <a:ln w="9525" cap="flat">
            <a:solidFill>
              <a:srgbClr val="E6E8F2"/>
            </a:solidFill>
          </a:ln>
        </p:spPr>
      </p:cxnSp>
      <p:cxnSp>
        <p:nvCxnSpPr>
          <p:cNvPr id="24" name="Line 24"/>
          <p:cNvCxnSpPr/>
          <p:nvPr/>
        </p:nvCxnSpPr>
        <p:spPr>
          <a:xfrm>
            <a:off x="6610198" y="1732788"/>
            <a:ext cx="2800350" cy="0"/>
          </a:xfrm>
          <a:prstGeom prst="line">
            <a:avLst/>
          </a:prstGeom>
          <a:ln w="9525" cap="flat">
            <a:solidFill>
              <a:srgbClr val="E6E8F2"/>
            </a:solidFill>
          </a:ln>
        </p:spPr>
      </p:cxnSp>
      <p:cxnSp>
        <p:nvCxnSpPr>
          <p:cNvPr id="25" name="Line 25"/>
          <p:cNvCxnSpPr/>
          <p:nvPr/>
        </p:nvCxnSpPr>
        <p:spPr>
          <a:xfrm>
            <a:off x="9410548" y="1732788"/>
            <a:ext cx="0" cy="2876550"/>
          </a:xfrm>
          <a:prstGeom prst="line">
            <a:avLst/>
          </a:prstGeom>
          <a:ln w="19050" cap="flat">
            <a:solidFill>
              <a:srgbClr val="5F6272"/>
            </a:solidFill>
          </a:ln>
        </p:spPr>
      </p:cxnSp>
      <p:cxnSp>
        <p:nvCxnSpPr>
          <p:cNvPr id="26" name="Line 26"/>
          <p:cNvCxnSpPr/>
          <p:nvPr/>
        </p:nvCxnSpPr>
        <p:spPr>
          <a:xfrm>
            <a:off x="6610198" y="4609338"/>
            <a:ext cx="2800350" cy="0"/>
          </a:xfrm>
          <a:prstGeom prst="line">
            <a:avLst/>
          </a:prstGeom>
          <a:ln w="19050" cap="flat">
            <a:solidFill>
              <a:srgbClr val="5F6272"/>
            </a:solidFill>
          </a:ln>
        </p:spPr>
      </p:cxnSp>
      <p:sp>
        <p:nvSpPr>
          <p:cNvPr id="27" name="Shape 27"/>
          <p:cNvSpPr txBox="1"/>
          <p:nvPr/>
        </p:nvSpPr>
        <p:spPr>
          <a:xfrm>
            <a:off x="633587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28" name="Shape 28"/>
          <p:cNvSpPr txBox="1"/>
          <p:nvPr/>
        </p:nvSpPr>
        <p:spPr>
          <a:xfrm>
            <a:off x="6685921"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29" name="Shape 29"/>
          <p:cNvSpPr txBox="1"/>
          <p:nvPr/>
        </p:nvSpPr>
        <p:spPr>
          <a:xfrm>
            <a:off x="7035965"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0" name="Shape 30"/>
          <p:cNvSpPr txBox="1"/>
          <p:nvPr/>
        </p:nvSpPr>
        <p:spPr>
          <a:xfrm>
            <a:off x="7386009"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1" name="Shape 31"/>
          <p:cNvSpPr txBox="1"/>
          <p:nvPr/>
        </p:nvSpPr>
        <p:spPr>
          <a:xfrm>
            <a:off x="773605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2" name="Shape 32"/>
          <p:cNvSpPr txBox="1"/>
          <p:nvPr/>
        </p:nvSpPr>
        <p:spPr>
          <a:xfrm>
            <a:off x="8086096"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3" name="Shape 33"/>
          <p:cNvSpPr txBox="1"/>
          <p:nvPr/>
        </p:nvSpPr>
        <p:spPr>
          <a:xfrm>
            <a:off x="8436140"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4" name="Shape 34"/>
          <p:cNvSpPr txBox="1"/>
          <p:nvPr/>
        </p:nvSpPr>
        <p:spPr>
          <a:xfrm>
            <a:off x="8786184"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5" name="Shape 35"/>
          <p:cNvSpPr txBox="1"/>
          <p:nvPr/>
        </p:nvSpPr>
        <p:spPr>
          <a:xfrm>
            <a:off x="913622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6" name="Shape 36"/>
          <p:cNvSpPr txBox="1"/>
          <p:nvPr/>
        </p:nvSpPr>
        <p:spPr>
          <a:xfrm>
            <a:off x="6043270" y="4517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37" name="Shape 37"/>
          <p:cNvSpPr txBox="1"/>
          <p:nvPr/>
        </p:nvSpPr>
        <p:spPr>
          <a:xfrm>
            <a:off x="6043270" y="40384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−9</a:t>
            </a:r>
            <a:endParaRPr lang="en-US" sz="975" dirty="0"/>
          </a:p>
        </p:txBody>
      </p:sp>
      <p:sp>
        <p:nvSpPr>
          <p:cNvPr id="38" name="Shape 38"/>
          <p:cNvSpPr txBox="1"/>
          <p:nvPr/>
        </p:nvSpPr>
        <p:spPr>
          <a:xfrm>
            <a:off x="6043270" y="3559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39" name="Shape 39"/>
          <p:cNvSpPr txBox="1"/>
          <p:nvPr/>
        </p:nvSpPr>
        <p:spPr>
          <a:xfrm>
            <a:off x="6043270" y="3079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a:t>
            </a:r>
            <a:endParaRPr lang="en-US" sz="975" dirty="0"/>
          </a:p>
        </p:txBody>
      </p:sp>
      <p:sp>
        <p:nvSpPr>
          <p:cNvPr id="40" name="Shape 40"/>
          <p:cNvSpPr txBox="1"/>
          <p:nvPr/>
        </p:nvSpPr>
        <p:spPr>
          <a:xfrm>
            <a:off x="6043270" y="26001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6043270" y="21207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42" name="Shape 42"/>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p:nvPr/>
        </p:nvSpPr>
        <p:spPr>
          <a:xfrm>
            <a:off x="7257898" y="359810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4" name="Shape 44"/>
          <p:cNvSpPr txBox="1"/>
          <p:nvPr/>
        </p:nvSpPr>
        <p:spPr>
          <a:xfrm>
            <a:off x="7396010" y="340283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(−6, −8)</a:t>
            </a:r>
            <a:endParaRPr lang="en-US" sz="1125" dirty="0"/>
          </a:p>
        </p:txBody>
      </p:sp>
      <p:sp>
        <p:nvSpPr>
          <p:cNvPr id="45" name="Shape 45"/>
          <p:cNvSpPr/>
          <p:nvPr/>
        </p:nvSpPr>
        <p:spPr>
          <a:xfrm>
            <a:off x="7957985" y="31186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6" name="Shape 46"/>
          <p:cNvSpPr/>
          <p:nvPr/>
        </p:nvSpPr>
        <p:spPr>
          <a:xfrm>
            <a:off x="8658073" y="26392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47" name="Line 47"/>
          <p:cNvCxnSpPr/>
          <p:nvPr/>
        </p:nvCxnSpPr>
        <p:spPr>
          <a:xfrm flipV="1">
            <a:off x="6610198" y="2212213"/>
            <a:ext cx="2800350" cy="1917700"/>
          </a:xfrm>
          <a:prstGeom prst="line">
            <a:avLst/>
          </a:prstGeom>
          <a:ln w="38100" cap="rnd">
            <a:solidFill>
              <a:srgbClr val="16171D"/>
            </a:solidFill>
          </a:ln>
        </p:spPr>
      </p:cxnSp>
      <p:sp>
        <p:nvSpPr>
          <p:cNvPr id="48" name="Slide Number 4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500"/>
                                        <p:tgtEl>
                                          <p:spTgt spid="43"/>
                                        </p:tgtEl>
                                      </p:cBhvr>
                                    </p:animEffect>
                                    <p:anim calcmode="lin" valueType="num">
                                      <p:cBhvr>
                                        <p:cTn id="19" dur="500" fill="hold"/>
                                        <p:tgtEl>
                                          <p:spTgt spid="43"/>
                                        </p:tgtEl>
                                        <p:attrNameLst>
                                          <p:attrName>ppt_w</p:attrName>
                                        </p:attrNameLst>
                                      </p:cBhvr>
                                      <p:tavLst>
                                        <p:tav tm="0">
                                          <p:val>
                                            <p:fltVal val="0"/>
                                          </p:val>
                                        </p:tav>
                                        <p:tav tm="100000">
                                          <p:val>
                                            <p:strVal val="#ppt_w"/>
                                          </p:val>
                                        </p:tav>
                                      </p:tavLst>
                                    </p:anim>
                                    <p:anim calcmode="lin" valueType="num">
                                      <p:cBhvr>
                                        <p:cTn id="20" dur="500" fill="hold"/>
                                        <p:tgtEl>
                                          <p:spTgt spid="43"/>
                                        </p:tgtEl>
                                        <p:attrNameLst>
                                          <p:attrName>ppt_h</p:attrName>
                                        </p:attrNameLst>
                                      </p:cBhvr>
                                      <p:tavLst>
                                        <p:tav tm="0">
                                          <p:val>
                                            <p:fltVal val="0"/>
                                          </p:val>
                                        </p:tav>
                                        <p:tav tm="100000">
                                          <p:val>
                                            <p:strVal val="#ppt_h"/>
                                          </p:val>
                                        </p:tav>
                                      </p:tavLst>
                                    </p:anim>
                                  </p:childTnLst>
                                </p:cTn>
                              </p:par>
                              <p:par>
                                <p:cTn id="26" presetID="53" presetClass="entr" presetSubtype="16" fill="hold" nodeType="with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fade">
                                      <p:cBhvr>
                                        <p:cTn id="23" dur="500"/>
                                        <p:tgtEl>
                                          <p:spTgt spid="44"/>
                                        </p:tgtEl>
                                      </p:cBhvr>
                                    </p:animEffect>
                                    <p:anim calcmode="lin" valueType="num">
                                      <p:cBhvr>
                                        <p:cTn id="24" dur="500" fill="hold"/>
                                        <p:tgtEl>
                                          <p:spTgt spid="44"/>
                                        </p:tgtEl>
                                        <p:attrNameLst>
                                          <p:attrName>ppt_w</p:attrName>
                                        </p:attrNameLst>
                                      </p:cBhvr>
                                      <p:tavLst>
                                        <p:tav tm="0">
                                          <p:val>
                                            <p:fltVal val="0"/>
                                          </p:val>
                                        </p:tav>
                                        <p:tav tm="100000">
                                          <p:val>
                                            <p:strVal val="#ppt_w"/>
                                          </p:val>
                                        </p:tav>
                                      </p:tavLst>
                                    </p:anim>
                                    <p:anim calcmode="lin" valueType="num">
                                      <p:cBhvr>
                                        <p:cTn id="25" dur="5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3" presetID="53" presetClass="entr" presetSubtype="16" fill="hold" nodeType="click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fade">
                                      <p:cBhvr>
                                        <p:cTn id="30" dur="500"/>
                                        <p:tgtEl>
                                          <p:spTgt spid="45"/>
                                        </p:tgtEl>
                                      </p:cBhvr>
                                    </p:animEffect>
                                    <p:anim calcmode="lin" valueType="num">
                                      <p:cBhvr>
                                        <p:cTn id="31" dur="500" fill="hold"/>
                                        <p:tgtEl>
                                          <p:spTgt spid="45"/>
                                        </p:tgtEl>
                                        <p:attrNameLst>
                                          <p:attrName>ppt_w</p:attrName>
                                        </p:attrNameLst>
                                      </p:cBhvr>
                                      <p:tavLst>
                                        <p:tav tm="0">
                                          <p:val>
                                            <p:fltVal val="0"/>
                                          </p:val>
                                        </p:tav>
                                        <p:tav tm="100000">
                                          <p:val>
                                            <p:strVal val="#ppt_w"/>
                                          </p:val>
                                        </p:tav>
                                      </p:tavLst>
                                    </p:anim>
                                    <p:anim calcmode="lin" valueType="num">
                                      <p:cBhvr>
                                        <p:cTn id="32" dur="500" fill="hold"/>
                                        <p:tgtEl>
                                          <p:spTgt spid="45"/>
                                        </p:tgtEl>
                                        <p:attrNameLst>
                                          <p:attrName>ppt_h</p:attrName>
                                        </p:attrNameLst>
                                      </p:cBhvr>
                                      <p:tavLst>
                                        <p:tav tm="0">
                                          <p:val>
                                            <p:fltVal val="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anim calcmode="lin" valueType="num">
                                      <p:cBhvr>
                                        <p:cTn id="38" dur="500" fill="hold"/>
                                        <p:tgtEl>
                                          <p:spTgt spid="46"/>
                                        </p:tgtEl>
                                        <p:attrNameLst>
                                          <p:attrName>ppt_w</p:attrName>
                                        </p:attrNameLst>
                                      </p:cBhvr>
                                      <p:tavLst>
                                        <p:tav tm="0">
                                          <p:val>
                                            <p:fltVal val="0"/>
                                          </p:val>
                                        </p:tav>
                                        <p:tav tm="100000">
                                          <p:val>
                                            <p:strVal val="#ppt_w"/>
                                          </p:val>
                                        </p:tav>
                                      </p:tavLst>
                                    </p:anim>
                                    <p:anim calcmode="lin" valueType="num">
                                      <p:cBhvr>
                                        <p:cTn id="39" dur="500" fill="hold"/>
                                        <p:tgtEl>
                                          <p:spTgt spid="46"/>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5" presetID="22" presetClass="entr" presetSubtype="8" fill="hold" nodeType="click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wipe(left)">
                                      <p:cBhvr>
                                        <p:cTn id="44" dur="7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Parallel 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Parallel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−3</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 through (−1, 5)</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same slope. </a:t>
            </a:r>
            <a:r>
              <a:rPr lang="en-US" sz="1950" dirty="0" i="1">
                <a:solidFill>
                  <a:srgbClr val="16171D"/>
                </a:solidFill>
                <a:latin typeface="Segoe UI"/>
                <a:cs typeface="Segoe UI"/>
              </a:rPr>
              <a:t xml:space="preserve">m</a:t>
            </a:r>
            <a:r>
              <a:rPr lang="en-US" sz="1950" dirty="0">
                <a:solidFill>
                  <a:srgbClr val="16171D"/>
                </a:solidFill>
                <a:latin typeface="Segoe UI"/>
                <a:cs typeface="Segoe UI"/>
              </a:rPr>
              <a:t xml:space="preserve"> = ____</a:t>
            </a:r>
            <a:endParaRPr lang="en-US" sz="1950" dirty="0"/>
          </a:p>
        </p:txBody>
      </p:sp>
      <p:sp>
        <p:nvSpPr>
          <p:cNvPr id="5" name="Shape 5"/>
          <p:cNvSpPr txBox="1"/>
          <p:nvPr/>
        </p:nvSpPr>
        <p:spPr>
          <a:xfrm>
            <a:off x="685800" y="214198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2: 5 = −3(−1) +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 so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 = ____</a:t>
            </a:r>
            <a:endParaRPr lang="en-US" sz="1950" dirty="0"/>
          </a:p>
        </p:txBody>
      </p:sp>
      <p:sp>
        <p:nvSpPr>
          <p:cNvPr id="7" name="Shape 7"/>
          <p:cNvSpPr txBox="1"/>
          <p:nvPr/>
        </p:nvSpPr>
        <p:spPr>
          <a:xfrm>
            <a:off x="685800" y="3355848"/>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b</a:t>
            </a:r>
            <a:r>
              <a:rPr lang="en-US" sz="2325" dirty="0">
                <a:solidFill>
                  <a:srgbClr val="16171D"/>
                </a:solidFill>
                <a:latin typeface="Cambria"/>
                <a:cs typeface="Cambria"/>
              </a:rPr>
              <a:t xml:space="preserve"> = 2</a:t>
            </a:r>
            <a:endParaRPr lang="en-US" sz="2325" dirty="0"/>
          </a:p>
        </p:txBody>
      </p:sp>
      <p:sp>
        <p:nvSpPr>
          <p:cNvPr id="8" name="Shape 8"/>
          <p:cNvSpPr txBox="1"/>
          <p:nvPr/>
        </p:nvSpPr>
        <p:spPr>
          <a:xfrm>
            <a:off x="685800" y="404622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3: write it.</a:t>
            </a:r>
            <a:endParaRPr lang="en-US" sz="1950" dirty="0"/>
          </a:p>
        </p:txBody>
      </p:sp>
      <p:sp>
        <p:nvSpPr>
          <p:cNvPr id="9" name="Shape 9"/>
          <p:cNvSpPr txBox="1"/>
          <p:nvPr/>
        </p:nvSpPr>
        <p:spPr>
          <a:xfrm>
            <a:off x="685800" y="4569714"/>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Parallel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endParaRPr lang="en-US" sz="3450" dirty="0"/>
          </a:p>
        </p:txBody>
      </p:sp>
      <p:sp>
        <p:nvSpPr>
          <p:cNvPr id="6" name="Shape 6"/>
          <p:cNvSpPr txBox="1"/>
          <p:nvPr/>
        </p:nvSpPr>
        <p:spPr>
          <a:xfrm>
            <a:off x="685800" y="1618488"/>
            <a:ext cx="521954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Through (0, 4)</a:t>
            </a:r>
            <a:endParaRPr lang="en-US" sz="1950" dirty="0"/>
          </a:p>
        </p:txBody>
      </p:sp>
      <p:sp>
        <p:nvSpPr>
          <p:cNvPr id="5" name="Shape 5"/>
          <p:cNvSpPr txBox="1"/>
          <p:nvPr/>
        </p:nvSpPr>
        <p:spPr>
          <a:xfrm>
            <a:off x="895350" y="223723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0" name="Shape 10"/>
          <p:cNvSpPr txBox="1"/>
          <p:nvPr/>
        </p:nvSpPr>
        <p:spPr>
          <a:xfrm>
            <a:off x="6286348" y="1618488"/>
            <a:ext cx="5219548" cy="16992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Through (2, 0)</a:t>
            </a:r>
            <a:endParaRPr lang="en-US" sz="1950" dirty="0"/>
          </a:p>
        </p:txBody>
      </p:sp>
      <p:sp>
        <p:nvSpPr>
          <p:cNvPr id="8" name="Shape 8"/>
          <p:cNvSpPr txBox="1"/>
          <p:nvPr/>
        </p:nvSpPr>
        <p:spPr>
          <a:xfrm>
            <a:off x="6495898" y="2237232"/>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0 = 2(2) + </a:t>
            </a:r>
            <a:r>
              <a:rPr lang="en-US" sz="1575" dirty="0" i="1">
                <a:solidFill>
                  <a:srgbClr val="16171D"/>
                </a:solidFill>
                <a:latin typeface="Segoe UI"/>
                <a:cs typeface="Segoe UI"/>
              </a:rPr>
              <a:t xml:space="preserve">b</a:t>
            </a:r>
            <a:endParaRPr lang="en-US" sz="1575" dirty="0"/>
          </a:p>
        </p:txBody>
      </p:sp>
      <p:sp>
        <p:nvSpPr>
          <p:cNvPr id="9" name="Shape 9"/>
          <p:cNvSpPr txBox="1"/>
          <p:nvPr/>
        </p:nvSpPr>
        <p:spPr>
          <a:xfrm>
            <a:off x="6495898" y="2627376"/>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1" name="Slide Number 11"/>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Parallel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endParaRPr lang="en-US" sz="3450" dirty="0"/>
          </a:p>
        </p:txBody>
      </p:sp>
      <p:sp>
        <p:nvSpPr>
          <p:cNvPr id="10" name="Shape 10"/>
          <p:cNvSpPr txBox="1"/>
          <p:nvPr/>
        </p:nvSpPr>
        <p:spPr>
          <a:xfrm>
            <a:off x="685800" y="1618488"/>
            <a:ext cx="5295748" cy="31325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Through (0, 4)</a:t>
            </a:r>
            <a:endParaRPr lang="en-US" sz="2100" dirty="0"/>
          </a:p>
        </p:txBody>
      </p:sp>
      <p:sp>
        <p:nvSpPr>
          <p:cNvPr id="5" name="Shape 5"/>
          <p:cNvSpPr txBox="1"/>
          <p:nvPr/>
        </p:nvSpPr>
        <p:spPr>
          <a:xfrm>
            <a:off x="895350" y="226009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Parallel means the </a:t>
            </a:r>
            <a:r>
              <a:rPr lang="en-US" sz="1575" dirty="0" b="1">
                <a:solidFill>
                  <a:srgbClr val="16171D"/>
                </a:solidFill>
                <a:latin typeface="Segoe UI"/>
                <a:cs typeface="Segoe UI"/>
              </a:rPr>
              <a:t xml:space="preserve">same slope</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m</a:t>
            </a:r>
            <a:r>
              <a:rPr lang="en-US" sz="1575" dirty="0">
                <a:solidFill>
                  <a:srgbClr val="16171D"/>
                </a:solidFill>
                <a:latin typeface="Segoe UI"/>
                <a:cs typeface="Segoe UI"/>
              </a:rPr>
              <a:t xml:space="preserve"> = 2.</a:t>
            </a:r>
            <a:endParaRPr lang="en-US" sz="1575" dirty="0"/>
          </a:p>
        </p:txBody>
      </p:sp>
      <p:sp>
        <p:nvSpPr>
          <p:cNvPr id="6" name="Shape 6"/>
          <p:cNvSpPr txBox="1"/>
          <p:nvPr/>
        </p:nvSpPr>
        <p:spPr>
          <a:xfrm>
            <a:off x="895350" y="265023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Put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4 into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mx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4 = 2(0)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895350" y="3280410"/>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2(0) = 0, so 4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895350" y="3670554"/>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4.</a:t>
            </a:r>
            <a:r>
              <a:rPr lang="en-US" sz="1575" dirty="0">
                <a:solidFill>
                  <a:srgbClr val="16171D"/>
                </a:solidFill>
                <a:latin typeface="Segoe UI"/>
                <a:cs typeface="Segoe UI"/>
              </a:rPr>
              <a:t xml:space="preserve"> Write the slope and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+ 4.</a:t>
            </a:r>
            <a:endParaRPr lang="en-US" sz="1575" dirty="0"/>
          </a:p>
        </p:txBody>
      </p:sp>
      <p:sp>
        <p:nvSpPr>
          <p:cNvPr id="9" name="Shape 9"/>
          <p:cNvSpPr txBox="1"/>
          <p:nvPr/>
        </p:nvSpPr>
        <p:spPr>
          <a:xfrm>
            <a:off x="895350" y="406069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7" name="Shape 17"/>
          <p:cNvSpPr txBox="1"/>
          <p:nvPr/>
        </p:nvSpPr>
        <p:spPr>
          <a:xfrm>
            <a:off x="6210148" y="1618488"/>
            <a:ext cx="5295748" cy="31325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6419698"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Through (2, 0)</a:t>
            </a:r>
            <a:endParaRPr lang="en-US" sz="2100" dirty="0"/>
          </a:p>
        </p:txBody>
      </p:sp>
      <p:sp>
        <p:nvSpPr>
          <p:cNvPr id="12" name="Shape 12"/>
          <p:cNvSpPr txBox="1"/>
          <p:nvPr/>
        </p:nvSpPr>
        <p:spPr>
          <a:xfrm>
            <a:off x="6419698" y="226009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Same slope: </a:t>
            </a:r>
            <a:r>
              <a:rPr lang="en-US" sz="1575" dirty="0" i="1">
                <a:solidFill>
                  <a:srgbClr val="16171D"/>
                </a:solidFill>
                <a:latin typeface="Segoe UI"/>
                <a:cs typeface="Segoe UI"/>
              </a:rPr>
              <a:t xml:space="preserve">m</a:t>
            </a:r>
            <a:r>
              <a:rPr lang="en-US" sz="1575" dirty="0">
                <a:solidFill>
                  <a:srgbClr val="16171D"/>
                </a:solidFill>
                <a:latin typeface="Segoe UI"/>
                <a:cs typeface="Segoe UI"/>
              </a:rPr>
              <a:t xml:space="preserve"> = 2.</a:t>
            </a:r>
            <a:endParaRPr lang="en-US" sz="1575" dirty="0"/>
          </a:p>
        </p:txBody>
      </p:sp>
      <p:sp>
        <p:nvSpPr>
          <p:cNvPr id="13" name="Shape 13"/>
          <p:cNvSpPr txBox="1"/>
          <p:nvPr/>
        </p:nvSpPr>
        <p:spPr>
          <a:xfrm>
            <a:off x="6419698" y="265023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Put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0 into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mx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0 = 2(2)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6419698" y="3280410"/>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Multiply: 0 = 4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15" name="Shape 15"/>
          <p:cNvSpPr txBox="1"/>
          <p:nvPr/>
        </p:nvSpPr>
        <p:spPr>
          <a:xfrm>
            <a:off x="6419698" y="3670554"/>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4.</a:t>
            </a:r>
            <a:r>
              <a:rPr lang="en-US" sz="1575" dirty="0">
                <a:solidFill>
                  <a:srgbClr val="16171D"/>
                </a:solidFill>
                <a:latin typeface="Segoe UI"/>
                <a:cs typeface="Segoe UI"/>
              </a:rPr>
              <a:t xml:space="preserve"> Subtract 4 from both sides: −4 =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6419698" y="406069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8" name="Slide Number 1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ppt_x</p:attrName>
                                        </p:attrNameLst>
                                      </p:cBhvr>
                                      <p:tavLst>
                                        <p:tav tm="0">
                                          <p:val>
                                            <p:strVal val="#ppt_x"/>
                                          </p:val>
                                        </p:tav>
                                        <p:tav tm="100000">
                                          <p:val>
                                            <p:strVal val="#ppt_x"/>
                                          </p:val>
                                        </p:tav>
                                      </p:tavLst>
                                    </p:anim>
                                    <p:anim calcmode="lin" valueType="num">
                                      <p:cBhvr>
                                        <p:cTn id="5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p:cTn id="61" dur="500" fill="hold"/>
                                        <p:tgtEl>
                                          <p:spTgt spid="15"/>
                                        </p:tgtEl>
                                        <p:attrNameLst>
                                          <p:attrName>ppt_x</p:attrName>
                                        </p:attrNameLst>
                                      </p:cBhvr>
                                      <p:tavLst>
                                        <p:tav tm="0">
                                          <p:val>
                                            <p:strVal val="#ppt_x"/>
                                          </p:val>
                                        </p:tav>
                                        <p:tav tm="100000">
                                          <p:val>
                                            <p:strVal val="#ppt_x"/>
                                          </p:val>
                                        </p:tav>
                                      </p:tavLst>
                                    </p:anim>
                                    <p:anim calcmode="lin" valueType="num">
                                      <p:cBhvr>
                                        <p:cTn id="62"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53" presetClass="entr" presetSubtype="16" fill="hold"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anim calcmode="lin" valueType="num">
                                      <p:cBhvr>
                                        <p:cTn id="68" dur="500" fill="hold"/>
                                        <p:tgtEl>
                                          <p:spTgt spid="16"/>
                                        </p:tgtEl>
                                        <p:attrNameLst>
                                          <p:attrName>ppt_w</p:attrName>
                                        </p:attrNameLst>
                                      </p:cBhvr>
                                      <p:tavLst>
                                        <p:tav tm="0">
                                          <p:val>
                                            <p:fltVal val="0"/>
                                          </p:val>
                                        </p:tav>
                                        <p:tav tm="100000">
                                          <p:val>
                                            <p:strVal val="#ppt_w"/>
                                          </p:val>
                                        </p:tav>
                                      </p:tavLst>
                                    </p:anim>
                                    <p:anim calcmode="lin" valueType="num">
                                      <p:cBhvr>
                                        <p:cTn id="69" dur="500" fill="hold"/>
                                        <p:tgtEl>
                                          <p:spTgt spid="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Stretch</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Multiply </a:t>
            </a:r>
            <a:r>
              <a:rPr lang="en-US" sz="3450" dirty="0" b="1" i="1">
                <a:solidFill>
                  <a:srgbClr val="16171D"/>
                </a:solidFill>
                <a:latin typeface="Segoe UI"/>
                <a:cs typeface="Segoe UI"/>
              </a:rPr>
              <a:t xml:space="preserve">f</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by 4</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Multiply every output by 4.</a:t>
            </a:r>
            <a:endParaRPr lang="en-US" sz="1950" dirty="0"/>
          </a:p>
        </p:txBody>
      </p:sp>
      <p:sp>
        <p:nvSpPr>
          <p:cNvPr id="5" name="Shape 5"/>
          <p:cNvSpPr txBox="1"/>
          <p:nvPr/>
        </p:nvSpPr>
        <p:spPr>
          <a:xfrm>
            <a:off x="685800" y="2103882"/>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a</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endParaRPr lang="en-US" sz="2325" dirty="0"/>
          </a:p>
        </p:txBody>
      </p:sp>
      <p:sp>
        <p:nvSpPr>
          <p:cNvPr id="6" name="Shape 6"/>
          <p:cNvSpPr txBox="1"/>
          <p:nvPr/>
        </p:nvSpPr>
        <p:spPr>
          <a:xfrm>
            <a:off x="685800"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slope is now </a:t>
            </a:r>
            <a:r>
              <a:rPr lang="en-US" sz="1950" dirty="0" b="1">
                <a:solidFill>
                  <a:srgbClr val="C9561F"/>
                </a:solidFill>
                <a:latin typeface="Segoe UI"/>
                <a:cs typeface="Segoe UI"/>
              </a:rPr>
              <a:t xml:space="preserve">4</a:t>
            </a:r>
            <a:r>
              <a:rPr lang="en-US" sz="1950" dirty="0">
                <a:solidFill>
                  <a:srgbClr val="16171D"/>
                </a:solidFill>
                <a:latin typeface="Segoe UI"/>
                <a:cs typeface="Segoe UI"/>
              </a:rPr>
              <a:t xml:space="preserve">: steeper.</a:t>
            </a:r>
            <a:endParaRPr lang="en-US" sz="1950" dirty="0"/>
          </a:p>
        </p:txBody>
      </p:sp>
      <p:sp>
        <p:nvSpPr>
          <p:cNvPr id="7" name="Shape 7"/>
          <p:cNvSpPr txBox="1"/>
          <p:nvPr/>
        </p:nvSpPr>
        <p:spPr>
          <a:xfrm>
            <a:off x="685800" y="324154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With −4, the line also </a:t>
            </a:r>
            <a:r>
              <a:rPr lang="en-US" sz="1950" dirty="0" b="1">
                <a:solidFill>
                  <a:srgbClr val="16171D"/>
                </a:solidFill>
                <a:latin typeface="Segoe UI"/>
                <a:cs typeface="Segoe UI"/>
              </a:rPr>
              <a:t xml:space="preserve">flips</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685800" y="372694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c</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endParaRPr lang="en-US" sz="2325" dirty="0"/>
          </a:p>
        </p:txBody>
      </p:sp>
      <p:sp>
        <p:nvSpPr>
          <p:cNvPr id="9" name="Shape 9"/>
          <p:cNvSpPr/>
          <p:nvPr/>
        </p:nvSpPr>
        <p:spPr>
          <a:xfrm>
            <a:off x="6286348" y="1618488"/>
            <a:ext cx="3238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6610198" y="1732788"/>
            <a:ext cx="0" cy="2876550"/>
          </a:xfrm>
          <a:prstGeom prst="line">
            <a:avLst/>
          </a:prstGeom>
          <a:ln w="9525" cap="flat">
            <a:solidFill>
              <a:srgbClr val="E6E8F2"/>
            </a:solidFill>
          </a:ln>
        </p:spPr>
      </p:cxnSp>
      <p:cxnSp>
        <p:nvCxnSpPr>
          <p:cNvPr id="11" name="Line 11"/>
          <p:cNvCxnSpPr/>
          <p:nvPr/>
        </p:nvCxnSpPr>
        <p:spPr>
          <a:xfrm>
            <a:off x="6960241" y="1732788"/>
            <a:ext cx="0" cy="2876550"/>
          </a:xfrm>
          <a:prstGeom prst="line">
            <a:avLst/>
          </a:prstGeom>
          <a:ln w="9525" cap="flat">
            <a:solidFill>
              <a:srgbClr val="E6E8F2"/>
            </a:solidFill>
          </a:ln>
        </p:spPr>
      </p:cxnSp>
      <p:cxnSp>
        <p:nvCxnSpPr>
          <p:cNvPr id="12" name="Line 12"/>
          <p:cNvCxnSpPr/>
          <p:nvPr/>
        </p:nvCxnSpPr>
        <p:spPr>
          <a:xfrm>
            <a:off x="7310285" y="1732788"/>
            <a:ext cx="0" cy="2876550"/>
          </a:xfrm>
          <a:prstGeom prst="line">
            <a:avLst/>
          </a:prstGeom>
          <a:ln w="9525" cap="flat">
            <a:solidFill>
              <a:srgbClr val="E6E8F2"/>
            </a:solidFill>
          </a:ln>
        </p:spPr>
      </p:cxnSp>
      <p:cxnSp>
        <p:nvCxnSpPr>
          <p:cNvPr id="13" name="Line 13"/>
          <p:cNvCxnSpPr/>
          <p:nvPr/>
        </p:nvCxnSpPr>
        <p:spPr>
          <a:xfrm>
            <a:off x="7660329" y="1732788"/>
            <a:ext cx="0" cy="2876550"/>
          </a:xfrm>
          <a:prstGeom prst="line">
            <a:avLst/>
          </a:prstGeom>
          <a:ln w="9525" cap="flat">
            <a:solidFill>
              <a:srgbClr val="E6E8F2"/>
            </a:solidFill>
          </a:ln>
        </p:spPr>
      </p:cxnSp>
      <p:cxnSp>
        <p:nvCxnSpPr>
          <p:cNvPr id="14" name="Line 14"/>
          <p:cNvCxnSpPr/>
          <p:nvPr/>
        </p:nvCxnSpPr>
        <p:spPr>
          <a:xfrm>
            <a:off x="8010373" y="1732788"/>
            <a:ext cx="0" cy="2876550"/>
          </a:xfrm>
          <a:prstGeom prst="line">
            <a:avLst/>
          </a:prstGeom>
          <a:ln w="9525" cap="flat">
            <a:solidFill>
              <a:srgbClr val="E6E8F2"/>
            </a:solidFill>
          </a:ln>
        </p:spPr>
      </p:cxnSp>
      <p:cxnSp>
        <p:nvCxnSpPr>
          <p:cNvPr id="15" name="Line 15"/>
          <p:cNvCxnSpPr/>
          <p:nvPr/>
        </p:nvCxnSpPr>
        <p:spPr>
          <a:xfrm>
            <a:off x="8360416" y="1732788"/>
            <a:ext cx="0" cy="2876550"/>
          </a:xfrm>
          <a:prstGeom prst="line">
            <a:avLst/>
          </a:prstGeom>
          <a:ln w="9525" cap="flat">
            <a:solidFill>
              <a:srgbClr val="E6E8F2"/>
            </a:solidFill>
          </a:ln>
        </p:spPr>
      </p:cxnSp>
      <p:cxnSp>
        <p:nvCxnSpPr>
          <p:cNvPr id="16" name="Line 16"/>
          <p:cNvCxnSpPr/>
          <p:nvPr/>
        </p:nvCxnSpPr>
        <p:spPr>
          <a:xfrm>
            <a:off x="8710460" y="1732788"/>
            <a:ext cx="0" cy="2876550"/>
          </a:xfrm>
          <a:prstGeom prst="line">
            <a:avLst/>
          </a:prstGeom>
          <a:ln w="9525" cap="flat">
            <a:solidFill>
              <a:srgbClr val="E6E8F2"/>
            </a:solidFill>
          </a:ln>
        </p:spPr>
      </p:cxnSp>
      <p:cxnSp>
        <p:nvCxnSpPr>
          <p:cNvPr id="17" name="Line 17"/>
          <p:cNvCxnSpPr/>
          <p:nvPr/>
        </p:nvCxnSpPr>
        <p:spPr>
          <a:xfrm>
            <a:off x="9060504" y="1732788"/>
            <a:ext cx="0" cy="2876550"/>
          </a:xfrm>
          <a:prstGeom prst="line">
            <a:avLst/>
          </a:prstGeom>
          <a:ln w="9525" cap="flat">
            <a:solidFill>
              <a:srgbClr val="E6E8F2"/>
            </a:solidFill>
          </a:ln>
        </p:spPr>
      </p:cxnSp>
      <p:cxnSp>
        <p:nvCxnSpPr>
          <p:cNvPr id="18" name="Line 18"/>
          <p:cNvCxnSpPr/>
          <p:nvPr/>
        </p:nvCxnSpPr>
        <p:spPr>
          <a:xfrm>
            <a:off x="9410548" y="1732788"/>
            <a:ext cx="0" cy="2876550"/>
          </a:xfrm>
          <a:prstGeom prst="line">
            <a:avLst/>
          </a:prstGeom>
          <a:ln w="9525" cap="flat">
            <a:solidFill>
              <a:srgbClr val="E6E8F2"/>
            </a:solidFill>
          </a:ln>
        </p:spPr>
      </p:cxnSp>
      <p:cxnSp>
        <p:nvCxnSpPr>
          <p:cNvPr id="19" name="Line 19"/>
          <p:cNvCxnSpPr/>
          <p:nvPr/>
        </p:nvCxnSpPr>
        <p:spPr>
          <a:xfrm>
            <a:off x="6610198" y="4609338"/>
            <a:ext cx="2800350" cy="0"/>
          </a:xfrm>
          <a:prstGeom prst="line">
            <a:avLst/>
          </a:prstGeom>
          <a:ln w="9525" cap="flat">
            <a:solidFill>
              <a:srgbClr val="E6E8F2"/>
            </a:solidFill>
          </a:ln>
        </p:spPr>
      </p:cxnSp>
      <p:cxnSp>
        <p:nvCxnSpPr>
          <p:cNvPr id="20" name="Line 20"/>
          <p:cNvCxnSpPr/>
          <p:nvPr/>
        </p:nvCxnSpPr>
        <p:spPr>
          <a:xfrm>
            <a:off x="6610198" y="4429554"/>
            <a:ext cx="2800350" cy="0"/>
          </a:xfrm>
          <a:prstGeom prst="line">
            <a:avLst/>
          </a:prstGeom>
          <a:ln w="9525" cap="flat">
            <a:solidFill>
              <a:srgbClr val="E6E8F2"/>
            </a:solidFill>
          </a:ln>
        </p:spPr>
      </p:cxnSp>
      <p:cxnSp>
        <p:nvCxnSpPr>
          <p:cNvPr id="21" name="Line 21"/>
          <p:cNvCxnSpPr/>
          <p:nvPr/>
        </p:nvCxnSpPr>
        <p:spPr>
          <a:xfrm>
            <a:off x="6610198" y="4249769"/>
            <a:ext cx="2800350" cy="0"/>
          </a:xfrm>
          <a:prstGeom prst="line">
            <a:avLst/>
          </a:prstGeom>
          <a:ln w="9525" cap="flat">
            <a:solidFill>
              <a:srgbClr val="E6E8F2"/>
            </a:solidFill>
          </a:ln>
        </p:spPr>
      </p:cxnSp>
      <p:cxnSp>
        <p:nvCxnSpPr>
          <p:cNvPr id="22" name="Line 22"/>
          <p:cNvCxnSpPr/>
          <p:nvPr/>
        </p:nvCxnSpPr>
        <p:spPr>
          <a:xfrm>
            <a:off x="6610198" y="4069985"/>
            <a:ext cx="2800350" cy="0"/>
          </a:xfrm>
          <a:prstGeom prst="line">
            <a:avLst/>
          </a:prstGeom>
          <a:ln w="9525" cap="flat">
            <a:solidFill>
              <a:srgbClr val="E6E8F2"/>
            </a:solidFill>
          </a:ln>
        </p:spPr>
      </p:cxnSp>
      <p:cxnSp>
        <p:nvCxnSpPr>
          <p:cNvPr id="23" name="Line 23"/>
          <p:cNvCxnSpPr/>
          <p:nvPr/>
        </p:nvCxnSpPr>
        <p:spPr>
          <a:xfrm>
            <a:off x="6610198" y="3890200"/>
            <a:ext cx="2800350" cy="0"/>
          </a:xfrm>
          <a:prstGeom prst="line">
            <a:avLst/>
          </a:prstGeom>
          <a:ln w="9525" cap="flat">
            <a:solidFill>
              <a:srgbClr val="E6E8F2"/>
            </a:solidFill>
          </a:ln>
        </p:spPr>
      </p:cxnSp>
      <p:cxnSp>
        <p:nvCxnSpPr>
          <p:cNvPr id="24" name="Line 24"/>
          <p:cNvCxnSpPr/>
          <p:nvPr/>
        </p:nvCxnSpPr>
        <p:spPr>
          <a:xfrm>
            <a:off x="6610198" y="3710416"/>
            <a:ext cx="2800350" cy="0"/>
          </a:xfrm>
          <a:prstGeom prst="line">
            <a:avLst/>
          </a:prstGeom>
          <a:ln w="9525" cap="flat">
            <a:solidFill>
              <a:srgbClr val="E6E8F2"/>
            </a:solidFill>
          </a:ln>
        </p:spPr>
      </p:cxnSp>
      <p:cxnSp>
        <p:nvCxnSpPr>
          <p:cNvPr id="25" name="Line 25"/>
          <p:cNvCxnSpPr/>
          <p:nvPr/>
        </p:nvCxnSpPr>
        <p:spPr>
          <a:xfrm>
            <a:off x="6610198" y="3530632"/>
            <a:ext cx="2800350" cy="0"/>
          </a:xfrm>
          <a:prstGeom prst="line">
            <a:avLst/>
          </a:prstGeom>
          <a:ln w="9525" cap="flat">
            <a:solidFill>
              <a:srgbClr val="E6E8F2"/>
            </a:solidFill>
          </a:ln>
        </p:spPr>
      </p:cxnSp>
      <p:cxnSp>
        <p:nvCxnSpPr>
          <p:cNvPr id="26" name="Line 26"/>
          <p:cNvCxnSpPr/>
          <p:nvPr/>
        </p:nvCxnSpPr>
        <p:spPr>
          <a:xfrm>
            <a:off x="6610198" y="3350847"/>
            <a:ext cx="2800350" cy="0"/>
          </a:xfrm>
          <a:prstGeom prst="line">
            <a:avLst/>
          </a:prstGeom>
          <a:ln w="9525" cap="flat">
            <a:solidFill>
              <a:srgbClr val="E6E8F2"/>
            </a:solidFill>
          </a:ln>
        </p:spPr>
      </p:cxnSp>
      <p:cxnSp>
        <p:nvCxnSpPr>
          <p:cNvPr id="27" name="Line 27"/>
          <p:cNvCxnSpPr/>
          <p:nvPr/>
        </p:nvCxnSpPr>
        <p:spPr>
          <a:xfrm>
            <a:off x="6610198" y="3171063"/>
            <a:ext cx="2800350" cy="0"/>
          </a:xfrm>
          <a:prstGeom prst="line">
            <a:avLst/>
          </a:prstGeom>
          <a:ln w="9525" cap="flat">
            <a:solidFill>
              <a:srgbClr val="E6E8F2"/>
            </a:solidFill>
          </a:ln>
        </p:spPr>
      </p:cxnSp>
      <p:cxnSp>
        <p:nvCxnSpPr>
          <p:cNvPr id="28" name="Line 28"/>
          <p:cNvCxnSpPr/>
          <p:nvPr/>
        </p:nvCxnSpPr>
        <p:spPr>
          <a:xfrm>
            <a:off x="6610198" y="2991279"/>
            <a:ext cx="2800350" cy="0"/>
          </a:xfrm>
          <a:prstGeom prst="line">
            <a:avLst/>
          </a:prstGeom>
          <a:ln w="9525" cap="flat">
            <a:solidFill>
              <a:srgbClr val="E6E8F2"/>
            </a:solidFill>
          </a:ln>
        </p:spPr>
      </p:cxnSp>
      <p:cxnSp>
        <p:nvCxnSpPr>
          <p:cNvPr id="29" name="Line 29"/>
          <p:cNvCxnSpPr/>
          <p:nvPr/>
        </p:nvCxnSpPr>
        <p:spPr>
          <a:xfrm>
            <a:off x="6610198" y="2811494"/>
            <a:ext cx="2800350" cy="0"/>
          </a:xfrm>
          <a:prstGeom prst="line">
            <a:avLst/>
          </a:prstGeom>
          <a:ln w="9525" cap="flat">
            <a:solidFill>
              <a:srgbClr val="E6E8F2"/>
            </a:solidFill>
          </a:ln>
        </p:spPr>
      </p:cxnSp>
      <p:cxnSp>
        <p:nvCxnSpPr>
          <p:cNvPr id="30" name="Line 30"/>
          <p:cNvCxnSpPr/>
          <p:nvPr/>
        </p:nvCxnSpPr>
        <p:spPr>
          <a:xfrm>
            <a:off x="6610198" y="2631710"/>
            <a:ext cx="2800350" cy="0"/>
          </a:xfrm>
          <a:prstGeom prst="line">
            <a:avLst/>
          </a:prstGeom>
          <a:ln w="9525" cap="flat">
            <a:solidFill>
              <a:srgbClr val="E6E8F2"/>
            </a:solidFill>
          </a:ln>
        </p:spPr>
      </p:cxnSp>
      <p:cxnSp>
        <p:nvCxnSpPr>
          <p:cNvPr id="31" name="Line 31"/>
          <p:cNvCxnSpPr/>
          <p:nvPr/>
        </p:nvCxnSpPr>
        <p:spPr>
          <a:xfrm>
            <a:off x="6610198" y="2451926"/>
            <a:ext cx="2800350" cy="0"/>
          </a:xfrm>
          <a:prstGeom prst="line">
            <a:avLst/>
          </a:prstGeom>
          <a:ln w="9525" cap="flat">
            <a:solidFill>
              <a:srgbClr val="E6E8F2"/>
            </a:solidFill>
          </a:ln>
        </p:spPr>
      </p:cxnSp>
      <p:cxnSp>
        <p:nvCxnSpPr>
          <p:cNvPr id="32" name="Line 32"/>
          <p:cNvCxnSpPr/>
          <p:nvPr/>
        </p:nvCxnSpPr>
        <p:spPr>
          <a:xfrm>
            <a:off x="6610198" y="2272141"/>
            <a:ext cx="2800350" cy="0"/>
          </a:xfrm>
          <a:prstGeom prst="line">
            <a:avLst/>
          </a:prstGeom>
          <a:ln w="9525" cap="flat">
            <a:solidFill>
              <a:srgbClr val="E6E8F2"/>
            </a:solidFill>
          </a:ln>
        </p:spPr>
      </p:cxnSp>
      <p:cxnSp>
        <p:nvCxnSpPr>
          <p:cNvPr id="33" name="Line 33"/>
          <p:cNvCxnSpPr/>
          <p:nvPr/>
        </p:nvCxnSpPr>
        <p:spPr>
          <a:xfrm>
            <a:off x="6610198" y="2092357"/>
            <a:ext cx="2800350" cy="0"/>
          </a:xfrm>
          <a:prstGeom prst="line">
            <a:avLst/>
          </a:prstGeom>
          <a:ln w="9525" cap="flat">
            <a:solidFill>
              <a:srgbClr val="E6E8F2"/>
            </a:solidFill>
          </a:ln>
        </p:spPr>
      </p:cxnSp>
      <p:cxnSp>
        <p:nvCxnSpPr>
          <p:cNvPr id="34" name="Line 34"/>
          <p:cNvCxnSpPr/>
          <p:nvPr/>
        </p:nvCxnSpPr>
        <p:spPr>
          <a:xfrm>
            <a:off x="6610198" y="1912572"/>
            <a:ext cx="2800350" cy="0"/>
          </a:xfrm>
          <a:prstGeom prst="line">
            <a:avLst/>
          </a:prstGeom>
          <a:ln w="9525" cap="flat">
            <a:solidFill>
              <a:srgbClr val="E6E8F2"/>
            </a:solidFill>
          </a:ln>
        </p:spPr>
      </p:cxnSp>
      <p:cxnSp>
        <p:nvCxnSpPr>
          <p:cNvPr id="35" name="Line 35"/>
          <p:cNvCxnSpPr/>
          <p:nvPr/>
        </p:nvCxnSpPr>
        <p:spPr>
          <a:xfrm>
            <a:off x="6610198" y="1732788"/>
            <a:ext cx="2800350" cy="0"/>
          </a:xfrm>
          <a:prstGeom prst="line">
            <a:avLst/>
          </a:prstGeom>
          <a:ln w="9525" cap="flat">
            <a:solidFill>
              <a:srgbClr val="E6E8F2"/>
            </a:solidFill>
          </a:ln>
        </p:spPr>
      </p:cxnSp>
      <p:cxnSp>
        <p:nvCxnSpPr>
          <p:cNvPr id="36" name="Line 36"/>
          <p:cNvCxnSpPr/>
          <p:nvPr/>
        </p:nvCxnSpPr>
        <p:spPr>
          <a:xfrm>
            <a:off x="8010373" y="1732788"/>
            <a:ext cx="0" cy="2876550"/>
          </a:xfrm>
          <a:prstGeom prst="line">
            <a:avLst/>
          </a:prstGeom>
          <a:ln w="19050" cap="flat">
            <a:solidFill>
              <a:srgbClr val="5F6272"/>
            </a:solidFill>
          </a:ln>
        </p:spPr>
      </p:cxnSp>
      <p:cxnSp>
        <p:nvCxnSpPr>
          <p:cNvPr id="37" name="Line 37"/>
          <p:cNvCxnSpPr/>
          <p:nvPr/>
        </p:nvCxnSpPr>
        <p:spPr>
          <a:xfrm>
            <a:off x="6610198" y="3171063"/>
            <a:ext cx="2800350" cy="0"/>
          </a:xfrm>
          <a:prstGeom prst="line">
            <a:avLst/>
          </a:prstGeom>
          <a:ln w="19050" cap="flat">
            <a:solidFill>
              <a:srgbClr val="5F6272"/>
            </a:solidFill>
          </a:ln>
        </p:spPr>
      </p:cxnSp>
      <p:sp>
        <p:nvSpPr>
          <p:cNvPr id="38" name="Shape 38"/>
          <p:cNvSpPr txBox="1"/>
          <p:nvPr/>
        </p:nvSpPr>
        <p:spPr>
          <a:xfrm>
            <a:off x="633587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9" name="Shape 39"/>
          <p:cNvSpPr txBox="1"/>
          <p:nvPr/>
        </p:nvSpPr>
        <p:spPr>
          <a:xfrm>
            <a:off x="6685921"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0" name="Shape 40"/>
          <p:cNvSpPr txBox="1"/>
          <p:nvPr/>
        </p:nvSpPr>
        <p:spPr>
          <a:xfrm>
            <a:off x="7035965"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7386009"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2" name="Shape 42"/>
          <p:cNvSpPr txBox="1"/>
          <p:nvPr/>
        </p:nvSpPr>
        <p:spPr>
          <a:xfrm>
            <a:off x="773605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3" name="Shape 43"/>
          <p:cNvSpPr txBox="1"/>
          <p:nvPr/>
        </p:nvSpPr>
        <p:spPr>
          <a:xfrm>
            <a:off x="8086096"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4" name="Shape 44"/>
          <p:cNvSpPr txBox="1"/>
          <p:nvPr/>
        </p:nvSpPr>
        <p:spPr>
          <a:xfrm>
            <a:off x="8436140"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8786184"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6" name="Shape 46"/>
          <p:cNvSpPr txBox="1"/>
          <p:nvPr/>
        </p:nvSpPr>
        <p:spPr>
          <a:xfrm>
            <a:off x="913622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6043270" y="4517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6043270" y="415832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9" name="Shape 49"/>
          <p:cNvSpPr txBox="1"/>
          <p:nvPr/>
        </p:nvSpPr>
        <p:spPr>
          <a:xfrm>
            <a:off x="6043270" y="37987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6043270" y="34391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1" name="Shape 51"/>
          <p:cNvSpPr txBox="1"/>
          <p:nvPr/>
        </p:nvSpPr>
        <p:spPr>
          <a:xfrm>
            <a:off x="6043270" y="3079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2" name="Shape 52"/>
          <p:cNvSpPr txBox="1"/>
          <p:nvPr/>
        </p:nvSpPr>
        <p:spPr>
          <a:xfrm>
            <a:off x="6043270" y="272005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3" name="Shape 53"/>
          <p:cNvSpPr txBox="1"/>
          <p:nvPr/>
        </p:nvSpPr>
        <p:spPr>
          <a:xfrm>
            <a:off x="6043270" y="2360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4" name="Shape 54"/>
          <p:cNvSpPr txBox="1"/>
          <p:nvPr/>
        </p:nvSpPr>
        <p:spPr>
          <a:xfrm>
            <a:off x="6043270" y="20009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5" name="Shape 55"/>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56" name="Line 56"/>
          <p:cNvCxnSpPr/>
          <p:nvPr/>
        </p:nvCxnSpPr>
        <p:spPr>
          <a:xfrm flipV="1">
            <a:off x="6610198" y="2451926"/>
            <a:ext cx="2800350" cy="1438275"/>
          </a:xfrm>
          <a:prstGeom prst="line">
            <a:avLst/>
          </a:prstGeom>
          <a:ln w="38100" cap="rnd">
            <a:solidFill>
              <a:srgbClr val="16171D"/>
            </a:solidFill>
          </a:ln>
        </p:spPr>
      </p:cxnSp>
      <p:sp>
        <p:nvSpPr>
          <p:cNvPr id="57" name="Shape 57"/>
          <p:cNvSpPr txBox="1"/>
          <p:nvPr/>
        </p:nvSpPr>
        <p:spPr>
          <a:xfrm>
            <a:off x="6918808" y="2470976"/>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58" name="Line 58"/>
          <p:cNvCxnSpPr/>
          <p:nvPr/>
        </p:nvCxnSpPr>
        <p:spPr>
          <a:xfrm flipV="1">
            <a:off x="7310285" y="1732788"/>
            <a:ext cx="1400175" cy="2876550"/>
          </a:xfrm>
          <a:prstGeom prst="line">
            <a:avLst/>
          </a:prstGeom>
          <a:ln w="38100" cap="rnd">
            <a:solidFill>
              <a:srgbClr val="16171D"/>
            </a:solidFill>
          </a:ln>
        </p:spPr>
      </p:cxnSp>
      <p:sp>
        <p:nvSpPr>
          <p:cNvPr id="59" name="Shape 59"/>
          <p:cNvSpPr txBox="1"/>
          <p:nvPr/>
        </p:nvSpPr>
        <p:spPr>
          <a:xfrm>
            <a:off x="621872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4x</a:t>
            </a:r>
            <a:endParaRPr lang="en-US" sz="1275" dirty="0"/>
          </a:p>
        </p:txBody>
      </p:sp>
      <p:cxnSp>
        <p:nvCxnSpPr>
          <p:cNvPr id="60" name="Line 60"/>
          <p:cNvCxnSpPr/>
          <p:nvPr/>
        </p:nvCxnSpPr>
        <p:spPr>
          <a:xfrm>
            <a:off x="7310285" y="1732788"/>
            <a:ext cx="1400175" cy="2876550"/>
          </a:xfrm>
          <a:prstGeom prst="line">
            <a:avLst/>
          </a:prstGeom>
          <a:ln w="38100" cap="rnd">
            <a:solidFill>
              <a:srgbClr val="7A4FC4"/>
            </a:solidFill>
          </a:ln>
        </p:spPr>
      </p:cxnSp>
      <p:sp>
        <p:nvSpPr>
          <p:cNvPr id="61" name="Shape 61"/>
          <p:cNvSpPr txBox="1"/>
          <p:nvPr/>
        </p:nvSpPr>
        <p:spPr>
          <a:xfrm>
            <a:off x="7386485" y="1751838"/>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−4x</a:t>
            </a:r>
            <a:endParaRPr lang="en-US" sz="1275" dirty="0"/>
          </a:p>
        </p:txBody>
      </p:sp>
      <p:sp>
        <p:nvSpPr>
          <p:cNvPr id="62" name="Slide Number 6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wipe(left)">
                                      <p:cBhvr>
                                        <p:cTn id="18" dur="700"/>
                                        <p:tgtEl>
                                          <p:spTgt spid="58"/>
                                        </p:tgtEl>
                                      </p:cBhvr>
                                    </p:animEffect>
                                  </p:childTnLst>
                                </p:cTn>
                              </p:par>
                              <p:par>
                                <p:cTn id="22" presetID="22" presetClass="entr" presetSubtype="8"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wipe(left)">
                                      <p:cBhvr>
                                        <p:cTn id="21" dur="700"/>
                                        <p:tgtEl>
                                          <p:spTgt spid="59"/>
                                        </p:tgtEl>
                                      </p:cBhvr>
                                    </p:animEffect>
                                  </p:childTnLst>
                                </p:cTn>
                              </p:par>
                            </p:childTnLst>
                          </p:cTn>
                        </p:par>
                      </p:childTnLst>
                    </p:cTn>
                  </p:par>
                  <p:par>
                    <p:cTn id="31" fill="hold">
                      <p:stCondLst>
                        <p:cond delay="indefinite"/>
                      </p:stCondLst>
                      <p:childTnLst>
                        <p:par>
                          <p:cTn id="32" fill="hold">
                            <p:stCondLst>
                              <p:cond delay="0"/>
                            </p:stCondLst>
                            <p:childTnLst>
                              <p:par>
                                <p:cTn id="27" presetID="22" presetClass="entr" presetSubtype="8" fill="hold" nodeType="clickEffect">
                                  <p:stCondLst>
                                    <p:cond delay="0"/>
                                  </p:stCondLst>
                                  <p:childTnLst>
                                    <p:set>
                                      <p:cBhvr>
                                        <p:cTn id="25" dur="1" fill="hold">
                                          <p:stCondLst>
                                            <p:cond delay="0"/>
                                          </p:stCondLst>
                                        </p:cTn>
                                        <p:tgtEl>
                                          <p:spTgt spid="60"/>
                                        </p:tgtEl>
                                        <p:attrNameLst>
                                          <p:attrName>style.visibility</p:attrName>
                                        </p:attrNameLst>
                                      </p:cBhvr>
                                      <p:to>
                                        <p:strVal val="visible"/>
                                      </p:to>
                                    </p:set>
                                    <p:animEffect transition="in" filter="wipe(left)">
                                      <p:cBhvr>
                                        <p:cTn id="26" dur="700"/>
                                        <p:tgtEl>
                                          <p:spTgt spid="60"/>
                                        </p:tgtEl>
                                      </p:cBhvr>
                                    </p:animEffect>
                                  </p:childTnLst>
                                </p:cTn>
                              </p:par>
                              <p:par>
                                <p:cTn id="30" presetID="22" presetClass="entr" presetSubtype="8"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wipe(left)">
                                      <p:cBhvr>
                                        <p:cTn id="29" dur="7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End of Day 2</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Tuesday, October 20</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Wednesday, October 21. Start at the next slide, “Start: Wednesday, October 21.”</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Day 3 of 3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Wednesday, October 21</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(Standard form and intercepts) → Lesson 1, Day 3.</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Bell Work · Review of Day 2 · Wed, Oct 21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What is the slope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277)</a:t>
            </a:r>
            <a:endParaRPr lang="en-US" sz="1950" dirty="0"/>
          </a:p>
        </p:txBody>
      </p:sp>
      <p:sp>
        <p:nvSpPr>
          <p:cNvPr id="5" name="Shape 5"/>
          <p:cNvSpPr txBox="1"/>
          <p:nvPr/>
        </p:nvSpPr>
        <p:spPr>
          <a:xfrm>
            <a:off x="685800" y="245821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How is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related to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278)</a:t>
            </a:r>
            <a:endParaRPr lang="en-US" sz="1950" dirty="0"/>
          </a:p>
        </p:txBody>
      </p:sp>
      <p:sp>
        <p:nvSpPr>
          <p:cNvPr id="7" name="Shape 7"/>
          <p:cNvSpPr txBox="1"/>
          <p:nvPr/>
        </p:nvSpPr>
        <p:spPr>
          <a:xfrm>
            <a:off x="685800" y="4026408"/>
            <a:ext cx="5143348" cy="122758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Stretched vertically by 2 and reflected across the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-axis</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Which function is a vertical compression of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278)</a:t>
            </a:r>
            <a:endParaRPr lang="en-US" sz="1950" dirty="0"/>
          </a:p>
        </p:txBody>
      </p:sp>
      <p:sp>
        <p:nvSpPr>
          <p:cNvPr id="9" name="Shape 9"/>
          <p:cNvSpPr txBox="1"/>
          <p:nvPr/>
        </p:nvSpPr>
        <p:spPr>
          <a:xfrm>
            <a:off x="6362548" y="2458212"/>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½</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a:solidFill>
                  <a:srgbClr val="16171D"/>
                </a:solidFill>
                <a:latin typeface="Segoe UI"/>
                <a:cs typeface="Segoe UI"/>
              </a:rPr>
              <a:t xml:space="preserve">. What is the </a:t>
            </a:r>
            <a:r>
              <a:rPr lang="en-US" sz="1950" dirty="0" i="1">
                <a:solidFill>
                  <a:srgbClr val="16171D"/>
                </a:solidFill>
                <a:latin typeface="Cambria"/>
                <a:cs typeface="Cambria"/>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280)</a:t>
            </a:r>
            <a:endParaRPr lang="en-US" sz="1950" dirty="0"/>
          </a:p>
        </p:txBody>
      </p:sp>
      <p:sp>
        <p:nvSpPr>
          <p:cNvPr id="11" name="Shape 11"/>
          <p:cNvSpPr txBox="1"/>
          <p:nvPr/>
        </p:nvSpPr>
        <p:spPr>
          <a:xfrm>
            <a:off x="6362548" y="402640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−5)</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Wed, Oct 21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Standard form and intercepts</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Graphing with the intercepts is a fast check on the transformed graphs in Activity 1.4.</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I do · Standard form</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3</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12</a:t>
            </a:r>
            <a:endParaRPr lang="en-US" sz="3450" dirty="0"/>
          </a:p>
        </p:txBody>
      </p:sp>
      <p:sp>
        <p:nvSpPr>
          <p:cNvPr id="4" name="Shape 4"/>
          <p:cNvSpPr txBox="1"/>
          <p:nvPr/>
        </p:nvSpPr>
        <p:spPr>
          <a:xfrm>
            <a:off x="685800" y="1618488"/>
            <a:ext cx="5219548" cy="64922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-intercept: put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0.</a:t>
            </a:r>
            <a:br>
              <a:rPr lang="en-US" sz="1950" dirty="0">
                <a:solidFill>
                  <a:srgbClr val="16171D"/>
                </a:solidFill>
                <a:latin typeface="Segoe UI"/>
                <a:cs typeface="Segoe UI"/>
              </a:rPr>
            </a:br>
            <a:r>
              <a:rPr lang="en-US" sz="1950" dirty="0">
                <a:solidFill>
                  <a:srgbClr val="16171D"/>
                </a:solidFill>
                <a:latin typeface="Segoe UI"/>
                <a:cs typeface="Segoe UI"/>
              </a:rPr>
              <a:t xml:space="preserve">3</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12, so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4.</a:t>
            </a:r>
            <a:endParaRPr lang="en-US" sz="1950" dirty="0"/>
          </a:p>
        </p:txBody>
      </p:sp>
      <p:sp>
        <p:nvSpPr>
          <p:cNvPr id="5" name="Shape 5"/>
          <p:cNvSpPr txBox="1"/>
          <p:nvPr/>
        </p:nvSpPr>
        <p:spPr>
          <a:xfrm>
            <a:off x="685800" y="240106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(4, 0)</a:t>
            </a:r>
            <a:endParaRPr lang="en-US" sz="2325" dirty="0"/>
          </a:p>
        </p:txBody>
      </p:sp>
      <p:sp>
        <p:nvSpPr>
          <p:cNvPr id="6" name="Shape 6"/>
          <p:cNvSpPr txBox="1"/>
          <p:nvPr/>
        </p:nvSpPr>
        <p:spPr>
          <a:xfrm>
            <a:off x="685800" y="3053334"/>
            <a:ext cx="5219548" cy="64922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put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0.</a:t>
            </a:r>
            <a:br>
              <a:rPr lang="en-US" sz="1950" dirty="0">
                <a:solidFill>
                  <a:srgbClr val="16171D"/>
                </a:solidFill>
                <a:latin typeface="Segoe UI"/>
                <a:cs typeface="Segoe UI"/>
              </a:rPr>
            </a:br>
            <a:r>
              <a:rPr lang="en-US" sz="1950" dirty="0">
                <a:solidFill>
                  <a:srgbClr val="16171D"/>
                </a:solidFill>
                <a:latin typeface="Segoe UI"/>
                <a:cs typeface="Segoe UI"/>
              </a:rPr>
              <a:t xml:space="preserve">2</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12, so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6.</a:t>
            </a:r>
            <a:endParaRPr lang="en-US" sz="1950" dirty="0"/>
          </a:p>
        </p:txBody>
      </p:sp>
      <p:sp>
        <p:nvSpPr>
          <p:cNvPr id="7" name="Shape 7"/>
          <p:cNvSpPr txBox="1"/>
          <p:nvPr/>
        </p:nvSpPr>
        <p:spPr>
          <a:xfrm>
            <a:off x="685800" y="383590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(0, 6)</a:t>
            </a:r>
            <a:endParaRPr lang="en-US" sz="2325" dirty="0"/>
          </a:p>
        </p:txBody>
      </p:sp>
      <p:sp>
        <p:nvSpPr>
          <p:cNvPr id="8" name="Shape 8"/>
          <p:cNvSpPr txBox="1"/>
          <p:nvPr/>
        </p:nvSpPr>
        <p:spPr>
          <a:xfrm>
            <a:off x="685800" y="4488180"/>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Connect the two points.</a:t>
            </a:r>
            <a:endParaRPr lang="en-US" sz="1950" dirty="0"/>
          </a:p>
        </p:txBody>
      </p:sp>
      <p:sp>
        <p:nvSpPr>
          <p:cNvPr id="9" name="Shape 9"/>
          <p:cNvSpPr/>
          <p:nvPr/>
        </p:nvSpPr>
        <p:spPr>
          <a:xfrm>
            <a:off x="6286348" y="1618488"/>
            <a:ext cx="30480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6610198" y="1732788"/>
            <a:ext cx="0" cy="2876550"/>
          </a:xfrm>
          <a:prstGeom prst="line">
            <a:avLst/>
          </a:prstGeom>
          <a:ln w="9525" cap="flat">
            <a:solidFill>
              <a:srgbClr val="E6E8F2"/>
            </a:solidFill>
          </a:ln>
        </p:spPr>
      </p:cxnSp>
      <p:cxnSp>
        <p:nvCxnSpPr>
          <p:cNvPr id="11" name="Line 11"/>
          <p:cNvCxnSpPr/>
          <p:nvPr/>
        </p:nvCxnSpPr>
        <p:spPr>
          <a:xfrm>
            <a:off x="6983033" y="1732788"/>
            <a:ext cx="0" cy="2876550"/>
          </a:xfrm>
          <a:prstGeom prst="line">
            <a:avLst/>
          </a:prstGeom>
          <a:ln w="9525" cap="flat">
            <a:solidFill>
              <a:srgbClr val="E6E8F2"/>
            </a:solidFill>
          </a:ln>
        </p:spPr>
      </p:cxnSp>
      <p:cxnSp>
        <p:nvCxnSpPr>
          <p:cNvPr id="12" name="Line 12"/>
          <p:cNvCxnSpPr/>
          <p:nvPr/>
        </p:nvCxnSpPr>
        <p:spPr>
          <a:xfrm>
            <a:off x="7355869" y="1732788"/>
            <a:ext cx="0" cy="2876550"/>
          </a:xfrm>
          <a:prstGeom prst="line">
            <a:avLst/>
          </a:prstGeom>
          <a:ln w="9525" cap="flat">
            <a:solidFill>
              <a:srgbClr val="E6E8F2"/>
            </a:solidFill>
          </a:ln>
        </p:spPr>
      </p:cxnSp>
      <p:cxnSp>
        <p:nvCxnSpPr>
          <p:cNvPr id="13" name="Line 13"/>
          <p:cNvCxnSpPr/>
          <p:nvPr/>
        </p:nvCxnSpPr>
        <p:spPr>
          <a:xfrm>
            <a:off x="7728705" y="1732788"/>
            <a:ext cx="0" cy="2876550"/>
          </a:xfrm>
          <a:prstGeom prst="line">
            <a:avLst/>
          </a:prstGeom>
          <a:ln w="9525" cap="flat">
            <a:solidFill>
              <a:srgbClr val="E6E8F2"/>
            </a:solidFill>
          </a:ln>
        </p:spPr>
      </p:cxnSp>
      <p:cxnSp>
        <p:nvCxnSpPr>
          <p:cNvPr id="14" name="Line 14"/>
          <p:cNvCxnSpPr/>
          <p:nvPr/>
        </p:nvCxnSpPr>
        <p:spPr>
          <a:xfrm>
            <a:off x="8101540" y="1732788"/>
            <a:ext cx="0" cy="2876550"/>
          </a:xfrm>
          <a:prstGeom prst="line">
            <a:avLst/>
          </a:prstGeom>
          <a:ln w="9525" cap="flat">
            <a:solidFill>
              <a:srgbClr val="E6E8F2"/>
            </a:solidFill>
          </a:ln>
        </p:spPr>
      </p:cxnSp>
      <p:cxnSp>
        <p:nvCxnSpPr>
          <p:cNvPr id="15" name="Line 15"/>
          <p:cNvCxnSpPr/>
          <p:nvPr/>
        </p:nvCxnSpPr>
        <p:spPr>
          <a:xfrm>
            <a:off x="8474376" y="1732788"/>
            <a:ext cx="0" cy="2876550"/>
          </a:xfrm>
          <a:prstGeom prst="line">
            <a:avLst/>
          </a:prstGeom>
          <a:ln w="9525" cap="flat">
            <a:solidFill>
              <a:srgbClr val="E6E8F2"/>
            </a:solidFill>
          </a:ln>
        </p:spPr>
      </p:cxnSp>
      <p:cxnSp>
        <p:nvCxnSpPr>
          <p:cNvPr id="16" name="Line 16"/>
          <p:cNvCxnSpPr/>
          <p:nvPr/>
        </p:nvCxnSpPr>
        <p:spPr>
          <a:xfrm>
            <a:off x="8847212" y="1732788"/>
            <a:ext cx="0" cy="2876550"/>
          </a:xfrm>
          <a:prstGeom prst="line">
            <a:avLst/>
          </a:prstGeom>
          <a:ln w="9525" cap="flat">
            <a:solidFill>
              <a:srgbClr val="E6E8F2"/>
            </a:solidFill>
          </a:ln>
        </p:spPr>
      </p:cxnSp>
      <p:cxnSp>
        <p:nvCxnSpPr>
          <p:cNvPr id="17" name="Line 17"/>
          <p:cNvCxnSpPr/>
          <p:nvPr/>
        </p:nvCxnSpPr>
        <p:spPr>
          <a:xfrm>
            <a:off x="9220048" y="1732788"/>
            <a:ext cx="0" cy="2876550"/>
          </a:xfrm>
          <a:prstGeom prst="line">
            <a:avLst/>
          </a:prstGeom>
          <a:ln w="9525" cap="flat">
            <a:solidFill>
              <a:srgbClr val="E6E8F2"/>
            </a:solidFill>
          </a:ln>
        </p:spPr>
      </p:cxnSp>
      <p:cxnSp>
        <p:nvCxnSpPr>
          <p:cNvPr id="18" name="Line 18"/>
          <p:cNvCxnSpPr/>
          <p:nvPr/>
        </p:nvCxnSpPr>
        <p:spPr>
          <a:xfrm>
            <a:off x="6610198" y="4609338"/>
            <a:ext cx="2609850" cy="0"/>
          </a:xfrm>
          <a:prstGeom prst="line">
            <a:avLst/>
          </a:prstGeom>
          <a:ln w="9525" cap="flat">
            <a:solidFill>
              <a:srgbClr val="E6E8F2"/>
            </a:solidFill>
          </a:ln>
        </p:spPr>
      </p:cxnSp>
      <p:cxnSp>
        <p:nvCxnSpPr>
          <p:cNvPr id="19" name="Line 19"/>
          <p:cNvCxnSpPr/>
          <p:nvPr/>
        </p:nvCxnSpPr>
        <p:spPr>
          <a:xfrm>
            <a:off x="6610198" y="4289721"/>
            <a:ext cx="2609850" cy="0"/>
          </a:xfrm>
          <a:prstGeom prst="line">
            <a:avLst/>
          </a:prstGeom>
          <a:ln w="9525" cap="flat">
            <a:solidFill>
              <a:srgbClr val="E6E8F2"/>
            </a:solidFill>
          </a:ln>
        </p:spPr>
      </p:cxnSp>
      <p:cxnSp>
        <p:nvCxnSpPr>
          <p:cNvPr id="20" name="Line 20"/>
          <p:cNvCxnSpPr/>
          <p:nvPr/>
        </p:nvCxnSpPr>
        <p:spPr>
          <a:xfrm>
            <a:off x="6610198" y="3970105"/>
            <a:ext cx="2609850" cy="0"/>
          </a:xfrm>
          <a:prstGeom prst="line">
            <a:avLst/>
          </a:prstGeom>
          <a:ln w="9525" cap="flat">
            <a:solidFill>
              <a:srgbClr val="E6E8F2"/>
            </a:solidFill>
          </a:ln>
        </p:spPr>
      </p:cxnSp>
      <p:cxnSp>
        <p:nvCxnSpPr>
          <p:cNvPr id="21" name="Line 21"/>
          <p:cNvCxnSpPr/>
          <p:nvPr/>
        </p:nvCxnSpPr>
        <p:spPr>
          <a:xfrm>
            <a:off x="6610198" y="3650488"/>
            <a:ext cx="2609850" cy="0"/>
          </a:xfrm>
          <a:prstGeom prst="line">
            <a:avLst/>
          </a:prstGeom>
          <a:ln w="9525" cap="flat">
            <a:solidFill>
              <a:srgbClr val="E6E8F2"/>
            </a:solidFill>
          </a:ln>
        </p:spPr>
      </p:cxnSp>
      <p:cxnSp>
        <p:nvCxnSpPr>
          <p:cNvPr id="22" name="Line 22"/>
          <p:cNvCxnSpPr/>
          <p:nvPr/>
        </p:nvCxnSpPr>
        <p:spPr>
          <a:xfrm>
            <a:off x="6610198" y="3330871"/>
            <a:ext cx="2609850" cy="0"/>
          </a:xfrm>
          <a:prstGeom prst="line">
            <a:avLst/>
          </a:prstGeom>
          <a:ln w="9525" cap="flat">
            <a:solidFill>
              <a:srgbClr val="E6E8F2"/>
            </a:solidFill>
          </a:ln>
        </p:spPr>
      </p:cxnSp>
      <p:cxnSp>
        <p:nvCxnSpPr>
          <p:cNvPr id="23" name="Line 23"/>
          <p:cNvCxnSpPr/>
          <p:nvPr/>
        </p:nvCxnSpPr>
        <p:spPr>
          <a:xfrm>
            <a:off x="6610198" y="3011255"/>
            <a:ext cx="2609850" cy="0"/>
          </a:xfrm>
          <a:prstGeom prst="line">
            <a:avLst/>
          </a:prstGeom>
          <a:ln w="9525" cap="flat">
            <a:solidFill>
              <a:srgbClr val="E6E8F2"/>
            </a:solidFill>
          </a:ln>
        </p:spPr>
      </p:cxnSp>
      <p:cxnSp>
        <p:nvCxnSpPr>
          <p:cNvPr id="24" name="Line 24"/>
          <p:cNvCxnSpPr/>
          <p:nvPr/>
        </p:nvCxnSpPr>
        <p:spPr>
          <a:xfrm>
            <a:off x="6610198" y="2691638"/>
            <a:ext cx="2609850" cy="0"/>
          </a:xfrm>
          <a:prstGeom prst="line">
            <a:avLst/>
          </a:prstGeom>
          <a:ln w="9525" cap="flat">
            <a:solidFill>
              <a:srgbClr val="E6E8F2"/>
            </a:solidFill>
          </a:ln>
        </p:spPr>
      </p:cxnSp>
      <p:cxnSp>
        <p:nvCxnSpPr>
          <p:cNvPr id="25" name="Line 25"/>
          <p:cNvCxnSpPr/>
          <p:nvPr/>
        </p:nvCxnSpPr>
        <p:spPr>
          <a:xfrm>
            <a:off x="6610198" y="2372021"/>
            <a:ext cx="2609850" cy="0"/>
          </a:xfrm>
          <a:prstGeom prst="line">
            <a:avLst/>
          </a:prstGeom>
          <a:ln w="9525" cap="flat">
            <a:solidFill>
              <a:srgbClr val="E6E8F2"/>
            </a:solidFill>
          </a:ln>
        </p:spPr>
      </p:cxnSp>
      <p:cxnSp>
        <p:nvCxnSpPr>
          <p:cNvPr id="26" name="Line 26"/>
          <p:cNvCxnSpPr/>
          <p:nvPr/>
        </p:nvCxnSpPr>
        <p:spPr>
          <a:xfrm>
            <a:off x="6610198" y="2052405"/>
            <a:ext cx="2609850" cy="0"/>
          </a:xfrm>
          <a:prstGeom prst="line">
            <a:avLst/>
          </a:prstGeom>
          <a:ln w="9525" cap="flat">
            <a:solidFill>
              <a:srgbClr val="E6E8F2"/>
            </a:solidFill>
          </a:ln>
        </p:spPr>
      </p:cxnSp>
      <p:cxnSp>
        <p:nvCxnSpPr>
          <p:cNvPr id="27" name="Line 27"/>
          <p:cNvCxnSpPr/>
          <p:nvPr/>
        </p:nvCxnSpPr>
        <p:spPr>
          <a:xfrm>
            <a:off x="6610198" y="1732788"/>
            <a:ext cx="2609850" cy="0"/>
          </a:xfrm>
          <a:prstGeom prst="line">
            <a:avLst/>
          </a:prstGeom>
          <a:ln w="9525" cap="flat">
            <a:solidFill>
              <a:srgbClr val="E6E8F2"/>
            </a:solidFill>
          </a:ln>
        </p:spPr>
      </p:cxnSp>
      <p:cxnSp>
        <p:nvCxnSpPr>
          <p:cNvPr id="28" name="Line 28"/>
          <p:cNvCxnSpPr/>
          <p:nvPr/>
        </p:nvCxnSpPr>
        <p:spPr>
          <a:xfrm>
            <a:off x="6983033" y="1732788"/>
            <a:ext cx="0" cy="2876550"/>
          </a:xfrm>
          <a:prstGeom prst="line">
            <a:avLst/>
          </a:prstGeom>
          <a:ln w="19050" cap="flat">
            <a:solidFill>
              <a:srgbClr val="5F6272"/>
            </a:solidFill>
          </a:ln>
        </p:spPr>
      </p:cxnSp>
      <p:cxnSp>
        <p:nvCxnSpPr>
          <p:cNvPr id="29" name="Line 29"/>
          <p:cNvCxnSpPr/>
          <p:nvPr/>
        </p:nvCxnSpPr>
        <p:spPr>
          <a:xfrm>
            <a:off x="6610198" y="4289721"/>
            <a:ext cx="2609850" cy="0"/>
          </a:xfrm>
          <a:prstGeom prst="line">
            <a:avLst/>
          </a:prstGeom>
          <a:ln w="19050" cap="flat">
            <a:solidFill>
              <a:srgbClr val="5F6272"/>
            </a:solidFill>
          </a:ln>
        </p:spPr>
      </p:cxnSp>
      <p:sp>
        <p:nvSpPr>
          <p:cNvPr id="30" name="Shape 30"/>
          <p:cNvSpPr txBox="1"/>
          <p:nvPr/>
        </p:nvSpPr>
        <p:spPr>
          <a:xfrm>
            <a:off x="633587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1" name="Shape 31"/>
          <p:cNvSpPr txBox="1"/>
          <p:nvPr/>
        </p:nvSpPr>
        <p:spPr>
          <a:xfrm>
            <a:off x="670871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7081549"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3" name="Shape 33"/>
          <p:cNvSpPr txBox="1"/>
          <p:nvPr/>
        </p:nvSpPr>
        <p:spPr>
          <a:xfrm>
            <a:off x="7454385"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4" name="Shape 34"/>
          <p:cNvSpPr txBox="1"/>
          <p:nvPr/>
        </p:nvSpPr>
        <p:spPr>
          <a:xfrm>
            <a:off x="7827220"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5" name="Shape 35"/>
          <p:cNvSpPr txBox="1"/>
          <p:nvPr/>
        </p:nvSpPr>
        <p:spPr>
          <a:xfrm>
            <a:off x="8200056"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6" name="Shape 36"/>
          <p:cNvSpPr txBox="1"/>
          <p:nvPr/>
        </p:nvSpPr>
        <p:spPr>
          <a:xfrm>
            <a:off x="8572892"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37" name="Shape 37"/>
          <p:cNvSpPr txBox="1"/>
          <p:nvPr/>
        </p:nvSpPr>
        <p:spPr>
          <a:xfrm>
            <a:off x="894572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8" name="Shape 38"/>
          <p:cNvSpPr txBox="1"/>
          <p:nvPr/>
        </p:nvSpPr>
        <p:spPr>
          <a:xfrm>
            <a:off x="6043270" y="4517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39" name="Shape 39"/>
          <p:cNvSpPr txBox="1"/>
          <p:nvPr/>
        </p:nvSpPr>
        <p:spPr>
          <a:xfrm>
            <a:off x="6043270" y="419828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0" name="Shape 40"/>
          <p:cNvSpPr txBox="1"/>
          <p:nvPr/>
        </p:nvSpPr>
        <p:spPr>
          <a:xfrm>
            <a:off x="6043270" y="38786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1" name="Shape 41"/>
          <p:cNvSpPr txBox="1"/>
          <p:nvPr/>
        </p:nvSpPr>
        <p:spPr>
          <a:xfrm>
            <a:off x="6043270" y="3559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2" name="Shape 42"/>
          <p:cNvSpPr txBox="1"/>
          <p:nvPr/>
        </p:nvSpPr>
        <p:spPr>
          <a:xfrm>
            <a:off x="6043270" y="32394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43" name="Shape 43"/>
          <p:cNvSpPr txBox="1"/>
          <p:nvPr/>
        </p:nvSpPr>
        <p:spPr>
          <a:xfrm>
            <a:off x="6043270" y="291981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6043270" y="26001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45" name="Shape 45"/>
          <p:cNvSpPr txBox="1"/>
          <p:nvPr/>
        </p:nvSpPr>
        <p:spPr>
          <a:xfrm>
            <a:off x="6043270" y="228058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6" name="Shape 46"/>
          <p:cNvSpPr txBox="1"/>
          <p:nvPr/>
        </p:nvSpPr>
        <p:spPr>
          <a:xfrm>
            <a:off x="6043270" y="19609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a:t>
            </a:r>
            <a:endParaRPr lang="en-US" sz="975" dirty="0"/>
          </a:p>
        </p:txBody>
      </p:sp>
      <p:sp>
        <p:nvSpPr>
          <p:cNvPr id="47" name="Shape 47"/>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p:nvPr/>
        </p:nvSpPr>
        <p:spPr>
          <a:xfrm>
            <a:off x="8421989" y="423733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9" name="Shape 49"/>
          <p:cNvSpPr txBox="1"/>
          <p:nvPr/>
        </p:nvSpPr>
        <p:spPr>
          <a:xfrm>
            <a:off x="8560101" y="404207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(4, 0)</a:t>
            </a:r>
            <a:endParaRPr lang="en-US" sz="1125" dirty="0"/>
          </a:p>
        </p:txBody>
      </p:sp>
      <p:sp>
        <p:nvSpPr>
          <p:cNvPr id="50" name="Shape 50"/>
          <p:cNvSpPr/>
          <p:nvPr/>
        </p:nvSpPr>
        <p:spPr>
          <a:xfrm>
            <a:off x="6930646" y="231963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1" name="Shape 51"/>
          <p:cNvSpPr txBox="1"/>
          <p:nvPr/>
        </p:nvSpPr>
        <p:spPr>
          <a:xfrm>
            <a:off x="7068758" y="212437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(0, 6)</a:t>
            </a:r>
            <a:endParaRPr lang="en-US" sz="1125" dirty="0"/>
          </a:p>
        </p:txBody>
      </p:sp>
      <p:cxnSp>
        <p:nvCxnSpPr>
          <p:cNvPr id="52" name="Line 52"/>
          <p:cNvCxnSpPr/>
          <p:nvPr/>
        </p:nvCxnSpPr>
        <p:spPr>
          <a:xfrm>
            <a:off x="6610198" y="1892596"/>
            <a:ext cx="2112736" cy="2716742"/>
          </a:xfrm>
          <a:prstGeom prst="line">
            <a:avLst/>
          </a:prstGeom>
          <a:ln w="38100" cap="rnd">
            <a:solidFill>
              <a:srgbClr val="16171D"/>
            </a:solidFill>
          </a:ln>
        </p:spPr>
      </p:cxnSp>
      <p:sp>
        <p:nvSpPr>
          <p:cNvPr id="53" name="Slide Number 5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fade">
                                      <p:cBhvr>
                                        <p:cTn id="18" dur="500"/>
                                        <p:tgtEl>
                                          <p:spTgt spid="48"/>
                                        </p:tgtEl>
                                      </p:cBhvr>
                                    </p:animEffect>
                                    <p:anim calcmode="lin" valueType="num">
                                      <p:cBhvr>
                                        <p:cTn id="19" dur="500" fill="hold"/>
                                        <p:tgtEl>
                                          <p:spTgt spid="48"/>
                                        </p:tgtEl>
                                        <p:attrNameLst>
                                          <p:attrName>ppt_w</p:attrName>
                                        </p:attrNameLst>
                                      </p:cBhvr>
                                      <p:tavLst>
                                        <p:tav tm="0">
                                          <p:val>
                                            <p:fltVal val="0"/>
                                          </p:val>
                                        </p:tav>
                                        <p:tav tm="100000">
                                          <p:val>
                                            <p:strVal val="#ppt_w"/>
                                          </p:val>
                                        </p:tav>
                                      </p:tavLst>
                                    </p:anim>
                                    <p:anim calcmode="lin" valueType="num">
                                      <p:cBhvr>
                                        <p:cTn id="20" dur="500" fill="hold"/>
                                        <p:tgtEl>
                                          <p:spTgt spid="48"/>
                                        </p:tgtEl>
                                        <p:attrNameLst>
                                          <p:attrName>ppt_h</p:attrName>
                                        </p:attrNameLst>
                                      </p:cBhvr>
                                      <p:tavLst>
                                        <p:tav tm="0">
                                          <p:val>
                                            <p:fltVal val="0"/>
                                          </p:val>
                                        </p:tav>
                                        <p:tav tm="100000">
                                          <p:val>
                                            <p:strVal val="#ppt_h"/>
                                          </p:val>
                                        </p:tav>
                                      </p:tavLst>
                                    </p:anim>
                                  </p:childTnLst>
                                </p:cTn>
                              </p:par>
                              <p:par>
                                <p:cTn id="26" presetID="53" presetClass="entr" presetSubtype="16"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500"/>
                                        <p:tgtEl>
                                          <p:spTgt spid="49"/>
                                        </p:tgtEl>
                                      </p:cBhvr>
                                    </p:animEffect>
                                    <p:anim calcmode="lin" valueType="num">
                                      <p:cBhvr>
                                        <p:cTn id="24" dur="500" fill="hold"/>
                                        <p:tgtEl>
                                          <p:spTgt spid="49"/>
                                        </p:tgtEl>
                                        <p:attrNameLst>
                                          <p:attrName>ppt_w</p:attrName>
                                        </p:attrNameLst>
                                      </p:cBhvr>
                                      <p:tavLst>
                                        <p:tav tm="0">
                                          <p:val>
                                            <p:fltVal val="0"/>
                                          </p:val>
                                        </p:tav>
                                        <p:tav tm="100000">
                                          <p:val>
                                            <p:strVal val="#ppt_w"/>
                                          </p:val>
                                        </p:tav>
                                      </p:tavLst>
                                    </p:anim>
                                    <p:anim calcmode="lin" valueType="num">
                                      <p:cBhvr>
                                        <p:cTn id="25" dur="500" fill="hold"/>
                                        <p:tgtEl>
                                          <p:spTgt spid="49"/>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33" presetID="53" presetClass="entr" presetSubtype="16"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anim calcmode="lin" valueType="num">
                                      <p:cBhvr>
                                        <p:cTn id="31" dur="500" fill="hold"/>
                                        <p:tgtEl>
                                          <p:spTgt spid="50"/>
                                        </p:tgtEl>
                                        <p:attrNameLst>
                                          <p:attrName>ppt_w</p:attrName>
                                        </p:attrNameLst>
                                      </p:cBhvr>
                                      <p:tavLst>
                                        <p:tav tm="0">
                                          <p:val>
                                            <p:fltVal val="0"/>
                                          </p:val>
                                        </p:tav>
                                        <p:tav tm="100000">
                                          <p:val>
                                            <p:strVal val="#ppt_w"/>
                                          </p:val>
                                        </p:tav>
                                      </p:tavLst>
                                    </p:anim>
                                    <p:anim calcmode="lin" valueType="num">
                                      <p:cBhvr>
                                        <p:cTn id="32" dur="500" fill="hold"/>
                                        <p:tgtEl>
                                          <p:spTgt spid="50"/>
                                        </p:tgtEl>
                                        <p:attrNameLst>
                                          <p:attrName>ppt_h</p:attrName>
                                        </p:attrNameLst>
                                      </p:cBhvr>
                                      <p:tavLst>
                                        <p:tav tm="0">
                                          <p:val>
                                            <p:fltVal val="0"/>
                                          </p:val>
                                        </p:tav>
                                        <p:tav tm="100000">
                                          <p:val>
                                            <p:strVal val="#ppt_h"/>
                                          </p:val>
                                        </p:tav>
                                      </p:tavLst>
                                    </p:anim>
                                  </p:childTnLst>
                                </p:cTn>
                              </p:par>
                              <p:par>
                                <p:cTn id="38" presetID="53" presetClass="entr" presetSubtype="16"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500"/>
                                        <p:tgtEl>
                                          <p:spTgt spid="51"/>
                                        </p:tgtEl>
                                      </p:cBhvr>
                                    </p:animEffect>
                                    <p:anim calcmode="lin" valueType="num">
                                      <p:cBhvr>
                                        <p:cTn id="36" dur="500" fill="hold"/>
                                        <p:tgtEl>
                                          <p:spTgt spid="51"/>
                                        </p:tgtEl>
                                        <p:attrNameLst>
                                          <p:attrName>ppt_w</p:attrName>
                                        </p:attrNameLst>
                                      </p:cBhvr>
                                      <p:tavLst>
                                        <p:tav tm="0">
                                          <p:val>
                                            <p:fltVal val="0"/>
                                          </p:val>
                                        </p:tav>
                                        <p:tav tm="100000">
                                          <p:val>
                                            <p:strVal val="#ppt_w"/>
                                          </p:val>
                                        </p:tav>
                                      </p:tavLst>
                                    </p:anim>
                                    <p:anim calcmode="lin" valueType="num">
                                      <p:cBhvr>
                                        <p:cTn id="37" dur="500" fill="hold"/>
                                        <p:tgtEl>
                                          <p:spTgt spid="51"/>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3" presetID="22" presetClass="entr" presetSubtype="8" fill="hold" nodeType="click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wipe(left)">
                                      <p:cBhvr>
                                        <p:cTn id="42" dur="7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intercepts of 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+ 5</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20</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0: 2</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20, so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____</a:t>
            </a:r>
            <a:endParaRPr lang="en-US" sz="1950" dirty="0"/>
          </a:p>
        </p:txBody>
      </p:sp>
      <p:sp>
        <p:nvSpPr>
          <p:cNvPr id="5" name="Shape 5"/>
          <p:cNvSpPr txBox="1"/>
          <p:nvPr/>
        </p:nvSpPr>
        <p:spPr>
          <a:xfrm>
            <a:off x="685800" y="2141982"/>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(10, 0)</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0: 5</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20, so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____</a:t>
            </a:r>
            <a:endParaRPr lang="en-US" sz="1950" dirty="0"/>
          </a:p>
        </p:txBody>
      </p:sp>
      <p:sp>
        <p:nvSpPr>
          <p:cNvPr id="7" name="Shape 7"/>
          <p:cNvSpPr txBox="1"/>
          <p:nvPr/>
        </p:nvSpPr>
        <p:spPr>
          <a:xfrm>
            <a:off x="685800" y="335584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(0, 4)</a:t>
            </a:r>
            <a:endParaRPr lang="en-US" sz="2325"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Describe the change and write </a:t>
            </a:r>
            <a:r>
              <a:rPr lang="en-US" sz="3450" dirty="0" b="1" i="1">
                <a:solidFill>
                  <a:srgbClr val="16171D"/>
                </a:solidFill>
                <a:latin typeface="Segoe UI"/>
                <a:cs typeface="Segoe UI"/>
              </a:rPr>
              <a:t xml:space="preserve">g</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a:t>
            </a:r>
            <a:endParaRPr lang="en-US" sz="3450" dirty="0"/>
          </a:p>
        </p:txBody>
      </p:sp>
      <p:sp>
        <p:nvSpPr>
          <p:cNvPr id="6" name="Shape 6"/>
          <p:cNvSpPr txBox="1"/>
          <p:nvPr/>
        </p:nvSpPr>
        <p:spPr>
          <a:xfrm>
            <a:off x="685800" y="1618488"/>
            <a:ext cx="5219548" cy="166344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2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+ 7</a:t>
            </a:r>
            <a:endParaRPr lang="en-US" sz="1950" dirty="0"/>
          </a:p>
        </p:txBody>
      </p:sp>
      <p:sp>
        <p:nvSpPr>
          <p:cNvPr id="5" name="Shape 5"/>
          <p:cNvSpPr txBox="1"/>
          <p:nvPr/>
        </p:nvSpPr>
        <p:spPr>
          <a:xfrm>
            <a:off x="895350" y="2237232"/>
            <a:ext cx="48004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stretch by 2, up 7: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9" name="Shape 9"/>
          <p:cNvSpPr txBox="1"/>
          <p:nvPr/>
        </p:nvSpPr>
        <p:spPr>
          <a:xfrm>
            <a:off x="6286348" y="1618488"/>
            <a:ext cx="5219548" cy="166344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8" name="Shape 8"/>
          <p:cNvSpPr txBox="1"/>
          <p:nvPr/>
        </p:nvSpPr>
        <p:spPr>
          <a:xfrm>
            <a:off x="6495898" y="2237232"/>
            <a:ext cx="48004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compress by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down 3: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Describe the change and write </a:t>
            </a:r>
            <a:r>
              <a:rPr lang="en-US" sz="3450" dirty="0" b="1" i="1">
                <a:solidFill>
                  <a:srgbClr val="16171D"/>
                </a:solidFill>
                <a:latin typeface="Segoe UI"/>
                <a:cs typeface="Segoe UI"/>
              </a:rPr>
              <a:t xml:space="preserve">g</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a:t>
            </a:r>
            <a:endParaRPr lang="en-US" sz="3450" dirty="0"/>
          </a:p>
        </p:txBody>
      </p:sp>
      <p:sp>
        <p:nvSpPr>
          <p:cNvPr id="9" name="Shape 9"/>
          <p:cNvSpPr txBox="1"/>
          <p:nvPr/>
        </p:nvSpPr>
        <p:spPr>
          <a:xfrm>
            <a:off x="685800" y="1618488"/>
            <a:ext cx="5295748" cy="405688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a:t>
            </a:r>
            <a:r>
              <a:rPr lang="en-US" sz="2100" dirty="0" b="1" i="1">
                <a:solidFill>
                  <a:srgbClr val="16171D"/>
                </a:solidFill>
                <a:latin typeface="Segoe UI"/>
                <a:cs typeface="Segoe UI"/>
              </a:rPr>
              <a:t xml:space="preserve">g</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2 · </a:t>
            </a: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+ 7</a:t>
            </a:r>
            <a:endParaRPr lang="en-US" sz="2100" dirty="0"/>
          </a:p>
        </p:txBody>
      </p:sp>
      <p:sp>
        <p:nvSpPr>
          <p:cNvPr id="5" name="Shape 5"/>
          <p:cNvSpPr txBox="1"/>
          <p:nvPr/>
        </p:nvSpPr>
        <p:spPr>
          <a:xfrm>
            <a:off x="895350" y="226009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so write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in its place: </a:t>
            </a:r>
            <a:r>
              <a:rPr lang="en-US" sz="1575" dirty="0" i="1">
                <a:solidFill>
                  <a:srgbClr val="16171D"/>
                </a:solidFill>
                <a:latin typeface="Segoe UI"/>
                <a:cs typeface="Segoe UI"/>
              </a:rPr>
              <a:t xml:space="preserve">g</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+ 7.</a:t>
            </a:r>
            <a:endParaRPr lang="en-US" sz="1575" dirty="0"/>
          </a:p>
        </p:txBody>
      </p:sp>
      <p:sp>
        <p:nvSpPr>
          <p:cNvPr id="6" name="Shape 6"/>
          <p:cNvSpPr txBox="1"/>
          <p:nvPr/>
        </p:nvSpPr>
        <p:spPr>
          <a:xfrm>
            <a:off x="895350" y="2890266"/>
            <a:ext cx="487664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The number </a:t>
            </a:r>
            <a:r>
              <a:rPr lang="en-US" sz="1575" dirty="0" b="1">
                <a:solidFill>
                  <a:srgbClr val="C9561F"/>
                </a:solidFill>
                <a:latin typeface="Segoe UI"/>
                <a:cs typeface="Segoe UI"/>
              </a:rPr>
              <a:t xml:space="preserve">multiplied</a:t>
            </a:r>
            <a:r>
              <a:rPr lang="en-US" sz="1575" dirty="0">
                <a:solidFill>
                  <a:srgbClr val="16171D"/>
                </a:solidFill>
                <a:latin typeface="Segoe UI"/>
                <a:cs typeface="Segoe UI"/>
              </a:rPr>
              <a:t xml:space="preserve"> is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 2. It is the new slope. 2 is more than 1, so the line </a:t>
            </a:r>
            <a:r>
              <a:rPr lang="en-US" sz="1575" dirty="0" b="1">
                <a:solidFill>
                  <a:srgbClr val="16171D"/>
                </a:solidFill>
                <a:latin typeface="Segoe UI"/>
                <a:cs typeface="Segoe UI"/>
              </a:rPr>
              <a:t xml:space="preserve">stretches</a:t>
            </a:r>
            <a:r>
              <a:rPr lang="en-US" sz="1575" dirty="0">
                <a:solidFill>
                  <a:srgbClr val="16171D"/>
                </a:solidFill>
                <a:latin typeface="Segoe UI"/>
                <a:cs typeface="Segoe UI"/>
              </a:rPr>
              <a:t xml:space="preserve"> (gets steeper).</a:t>
            </a:r>
            <a:endParaRPr lang="en-US" sz="1575" dirty="0"/>
          </a:p>
        </p:txBody>
      </p:sp>
      <p:sp>
        <p:nvSpPr>
          <p:cNvPr id="7" name="Shape 7"/>
          <p:cNvSpPr txBox="1"/>
          <p:nvPr/>
        </p:nvSpPr>
        <p:spPr>
          <a:xfrm>
            <a:off x="895350" y="3760470"/>
            <a:ext cx="487664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The number </a:t>
            </a:r>
            <a:r>
              <a:rPr lang="en-US" sz="1575" dirty="0" b="1">
                <a:solidFill>
                  <a:srgbClr val="3050B8"/>
                </a:solidFill>
                <a:latin typeface="Segoe UI"/>
                <a:cs typeface="Segoe UI"/>
              </a:rPr>
              <a:t xml:space="preserve">added</a:t>
            </a:r>
            <a:r>
              <a:rPr lang="en-US" sz="1575" dirty="0">
                <a:solidFill>
                  <a:srgbClr val="16171D"/>
                </a:solidFill>
                <a:latin typeface="Segoe UI"/>
                <a:cs typeface="Segoe UI"/>
              </a:rPr>
              <a:t xml:space="preserve"> is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 = +7. Plus means the line moves </a:t>
            </a:r>
            <a:r>
              <a:rPr lang="en-US" sz="1575" dirty="0" b="1">
                <a:solidFill>
                  <a:srgbClr val="16171D"/>
                </a:solidFill>
                <a:latin typeface="Segoe UI"/>
                <a:cs typeface="Segoe UI"/>
              </a:rPr>
              <a:t xml:space="preserve">up 7</a:t>
            </a:r>
            <a:r>
              <a:rPr lang="en-US" sz="1575" dirty="0">
                <a:solidFill>
                  <a:srgbClr val="16171D"/>
                </a:solidFill>
                <a:latin typeface="Segoe UI"/>
                <a:cs typeface="Segoe UI"/>
              </a:rPr>
              <a:t xml:space="preserve">. It crosses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 at (0, 7).</a:t>
            </a:r>
            <a:endParaRPr lang="en-US" sz="1575" dirty="0"/>
          </a:p>
        </p:txBody>
      </p:sp>
      <p:sp>
        <p:nvSpPr>
          <p:cNvPr id="8" name="Shape 8"/>
          <p:cNvSpPr txBox="1"/>
          <p:nvPr/>
        </p:nvSpPr>
        <p:spPr>
          <a:xfrm>
            <a:off x="895350" y="4630674"/>
            <a:ext cx="48766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stretch by 2, up 7: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5" name="Shape 15"/>
          <p:cNvSpPr txBox="1"/>
          <p:nvPr/>
        </p:nvSpPr>
        <p:spPr>
          <a:xfrm>
            <a:off x="6210148" y="1618488"/>
            <a:ext cx="5295748" cy="357682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6419698" y="1789938"/>
            <a:ext cx="48766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a:t>
            </a:r>
            <a:r>
              <a:rPr lang="en-US" sz="2100" dirty="0" b="1" i="1">
                <a:solidFill>
                  <a:srgbClr val="16171D"/>
                </a:solidFill>
                <a:latin typeface="Segoe UI"/>
                <a:cs typeface="Segoe UI"/>
              </a:rPr>
              <a:t xml:space="preserve">g</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a:t>
            </a:r>
            <a:r>
              <a:rPr lang="en-US" sz="2100" dirty="0" b="1">
                <a:solidFill>
                  <a:srgbClr val="16171D"/>
                </a:solidFill>
                <a:latin typeface="Segoe UI"/>
                <a:cs typeface="Segoe UI"/>
              </a:rPr>
              <a:t xml:space="preserve">1</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2</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− 3</a:t>
            </a:r>
            <a:endParaRPr lang="en-US" sz="2100" dirty="0"/>
          </a:p>
        </p:txBody>
      </p:sp>
      <p:sp>
        <p:nvSpPr>
          <p:cNvPr id="11" name="Shape 11"/>
          <p:cNvSpPr txBox="1"/>
          <p:nvPr/>
        </p:nvSpPr>
        <p:spPr>
          <a:xfrm>
            <a:off x="6419698" y="226009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Write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in place of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g</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− 3.</a:t>
            </a:r>
            <a:endParaRPr lang="en-US" sz="1575" dirty="0"/>
          </a:p>
        </p:txBody>
      </p:sp>
      <p:sp>
        <p:nvSpPr>
          <p:cNvPr id="12" name="Shape 12"/>
          <p:cNvSpPr txBox="1"/>
          <p:nvPr/>
        </p:nvSpPr>
        <p:spPr>
          <a:xfrm>
            <a:off x="6419698" y="2890266"/>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 is between 0 and 1, so the line </a:t>
            </a:r>
            <a:r>
              <a:rPr lang="en-US" sz="1575" dirty="0" b="1">
                <a:solidFill>
                  <a:srgbClr val="16171D"/>
                </a:solidFill>
                <a:latin typeface="Segoe UI"/>
                <a:cs typeface="Segoe UI"/>
              </a:rPr>
              <a:t xml:space="preserve">compresses</a:t>
            </a:r>
            <a:r>
              <a:rPr lang="en-US" sz="1575" dirty="0">
                <a:solidFill>
                  <a:srgbClr val="16171D"/>
                </a:solidFill>
                <a:latin typeface="Segoe UI"/>
                <a:cs typeface="Segoe UI"/>
              </a:rPr>
              <a:t xml:space="preserve"> (gets less steep). The slope is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3520440"/>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 = −3. Minus means the line moves </a:t>
            </a:r>
            <a:r>
              <a:rPr lang="en-US" sz="1575" dirty="0" b="1">
                <a:solidFill>
                  <a:srgbClr val="16171D"/>
                </a:solidFill>
                <a:latin typeface="Segoe UI"/>
                <a:cs typeface="Segoe UI"/>
              </a:rPr>
              <a:t xml:space="preserve">down 3</a:t>
            </a:r>
            <a:r>
              <a:rPr lang="en-US" sz="1575" dirty="0">
                <a:solidFill>
                  <a:srgbClr val="16171D"/>
                </a:solidFill>
                <a:latin typeface="Segoe UI"/>
                <a:cs typeface="Segoe UI"/>
              </a:rPr>
              <a:t xml:space="preserve">. It crosses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 at (0, −3).</a:t>
            </a:r>
            <a:endParaRPr lang="en-US" sz="1575" dirty="0"/>
          </a:p>
        </p:txBody>
      </p:sp>
      <p:sp>
        <p:nvSpPr>
          <p:cNvPr id="14" name="Shape 14"/>
          <p:cNvSpPr txBox="1"/>
          <p:nvPr/>
        </p:nvSpPr>
        <p:spPr>
          <a:xfrm>
            <a:off x="6419698" y="4150614"/>
            <a:ext cx="48766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compress by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down 3: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ppt_w</p:attrName>
                                        </p:attrNameLst>
                                      </p:cBhvr>
                                      <p:tavLst>
                                        <p:tav tm="0">
                                          <p:val>
                                            <p:fltVal val="0"/>
                                          </p:val>
                                        </p:tav>
                                        <p:tav tm="100000">
                                          <p:val>
                                            <p:strVal val="#ppt_w"/>
                                          </p:val>
                                        </p:tav>
                                      </p:tavLst>
                                    </p:anim>
                                    <p:anim calcmode="lin" valueType="num">
                                      <p:cBhvr>
                                        <p:cTn id="55"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6" name="Shape 6"/>
          <p:cNvSpPr txBox="1"/>
          <p:nvPr/>
        </p:nvSpPr>
        <p:spPr>
          <a:xfrm>
            <a:off x="685800" y="1618488"/>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+ 6. Up or down? How far?</a:t>
            </a:r>
            <a:endParaRPr lang="en-US" sz="1950" dirty="0"/>
          </a:p>
        </p:txBody>
      </p:sp>
      <p:sp>
        <p:nvSpPr>
          <p:cNvPr id="5" name="Shape 5"/>
          <p:cNvSpPr txBox="1"/>
          <p:nvPr/>
        </p:nvSpPr>
        <p:spPr>
          <a:xfrm>
            <a:off x="895350" y="223723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up 6</a:t>
            </a:r>
            <a:endParaRPr lang="en-US" sz="2325" dirty="0"/>
          </a:p>
        </p:txBody>
      </p:sp>
      <p:sp>
        <p:nvSpPr>
          <p:cNvPr id="9" name="Shape 9"/>
          <p:cNvSpPr txBox="1"/>
          <p:nvPr/>
        </p:nvSpPr>
        <p:spPr>
          <a:xfrm>
            <a:off x="685800" y="3060954"/>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895350" y="3232404"/>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slope of </a:t>
            </a:r>
            <a:r>
              <a:rPr lang="en-US" sz="1950" dirty="0" i="1">
                <a:solidFill>
                  <a:srgbClr val="16171D"/>
                </a:solidFill>
                <a:latin typeface="Segoe UI"/>
                <a:cs typeface="Segoe UI"/>
              </a:rPr>
              <a:t xml:space="preserve">g</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5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t>
            </a:r>
            <a:endParaRPr lang="en-US" sz="1950" dirty="0"/>
          </a:p>
        </p:txBody>
      </p:sp>
      <p:sp>
        <p:nvSpPr>
          <p:cNvPr id="8" name="Shape 8"/>
          <p:cNvSpPr txBox="1"/>
          <p:nvPr/>
        </p:nvSpPr>
        <p:spPr>
          <a:xfrm>
            <a:off x="895350" y="367969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endParaRPr lang="en-US" sz="2325" dirty="0"/>
          </a:p>
        </p:txBody>
      </p:sp>
      <p:sp>
        <p:nvSpPr>
          <p:cNvPr id="12" name="Shape 12"/>
          <p:cNvSpPr txBox="1"/>
          <p:nvPr/>
        </p:nvSpPr>
        <p:spPr>
          <a:xfrm>
            <a:off x="685800" y="4503420"/>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95350" y="4674870"/>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Write the line parallel to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+ 1 through (0, −2).</a:t>
            </a:r>
            <a:endParaRPr lang="en-US" sz="1950" dirty="0"/>
          </a:p>
        </p:txBody>
      </p:sp>
      <p:sp>
        <p:nvSpPr>
          <p:cNvPr id="11" name="Shape 11"/>
          <p:cNvSpPr txBox="1"/>
          <p:nvPr/>
        </p:nvSpPr>
        <p:spPr>
          <a:xfrm>
            <a:off x="895350" y="5122164"/>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3" name="Slide Number 1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End of Day 3</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Wednesday, October 21</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Thursday, October 22. Skills Practice day: Lesson 1 quiz and Topic 1 Lesson 5 homework. Then Lesson 2 starts Monday, October 26.</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4" name="Shape 4"/>
          <p:cNvSpPr txBox="1"/>
          <p:nvPr/>
        </p:nvSpPr>
        <p:spPr>
          <a:xfrm>
            <a:off x="685800" y="167563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5" name="Shape 5"/>
          <p:cNvSpPr txBox="1"/>
          <p:nvPr/>
        </p:nvSpPr>
        <p:spPr>
          <a:xfrm>
            <a:off x="685800" y="2176272"/>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IEP pages have 3 answer choices, 6 homework and quiz questions, a reminder card and read-aloud. Allow notes and a calculator, and give extended time as the IEP lists.</a:t>
            </a:r>
            <a:endParaRPr lang="en-US" sz="1575"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36</a:t>
            </a:fld>
          </a:p>
        </p:txBody>
      </p:sp>
    </p:spTree>
  </p:cSld>
  <p:clrMapOvr>
    <a:masterClrMapping/>
  </p:clrMapOvr>
  <p:transition spd="med">
    <p:fade/>
  </p:transition>
</p:sld>
</file>

<file path=ppt/theme/theme1.xml><?xml version="1.0" encoding="utf-8"?>
<a:theme xmlns:a="http://schemas.openxmlformats.org/drawingml/2006/main" name="Transforming Linear Function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36</Slides>
  <Notes>36</Notes>
</Properties>
</file>

<file path=docProps/core.xml><?xml version="1.0" encoding="utf-8"?>
<cp:coreProperties xmlns:cp="http://schemas.openxmlformats.org/package/2006/metadata/core-properties" xmlns:dc="http://purl.org/dc/elements/1.1/">
  <dc:title>Transforming Linear Functions</dc:title>
  <dc:subject>Bluebonnet Algebra I</dc:subject>
</cp:coreProperties>
</file>