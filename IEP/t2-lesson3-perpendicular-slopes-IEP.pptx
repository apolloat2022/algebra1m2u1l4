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Flip the fraction: ⅔ · 3/2 = 1. 2. A 90° counterclockwise rotation maps (x, y) to (−y, x). 3. Slope = (5 − 0) ÷ (8 − 0) = 5/8. 4. In y = mx + b, m = −3.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Perpendicular slopes are negative reciprocals: ⅔ · (−3/2) = −1. 2. On a horizontal line y never changes, so the rise is 0. 3. Every point on a vertical line has the same x-value, here 2. 4. Negative reciprocals multiply to −1.</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reciprocal of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Rotate the point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90° counterclockwise about the origin. Where does it go? </a:t>
            </a:r>
            <a:r>
              <a:rPr lang="en-US" sz="1575" dirty="0">
                <a:solidFill>
                  <a:srgbClr val="5F6272"/>
                </a:solidFill>
                <a:latin typeface="Segoe UI"/>
                <a:cs typeface="Segoe UI"/>
              </a:rPr>
              <a:t xml:space="preserve">(SE p. 306)</a:t>
            </a:r>
            <a:endParaRPr lang="en-US" sz="1950" dirty="0"/>
          </a:p>
        </p:txBody>
      </p:sp>
      <p:sp>
        <p:nvSpPr>
          <p:cNvPr id="7" name="Shape 7"/>
          <p:cNvSpPr txBox="1"/>
          <p:nvPr/>
        </p:nvSpPr>
        <p:spPr>
          <a:xfrm>
            <a:off x="685800" y="402640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 8)</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is the slope of the segment from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to </a:t>
            </a:r>
            <a:r>
              <a:rPr lang="en-US" sz="1950" dirty="0">
                <a:solidFill>
                  <a:srgbClr val="16171D"/>
                </a:solidFill>
                <a:latin typeface="Cambria"/>
                <a:cs typeface="Cambria"/>
              </a:rPr>
              <a:t xml:space="preserve">(8, 5)</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306)</a:t>
            </a:r>
            <a:endParaRPr lang="en-US" sz="1950" dirty="0"/>
          </a:p>
        </p:txBody>
      </p:sp>
      <p:sp>
        <p:nvSpPr>
          <p:cNvPr id="9" name="Shape 9"/>
          <p:cNvSpPr txBox="1"/>
          <p:nvPr/>
        </p:nvSpPr>
        <p:spPr>
          <a:xfrm>
            <a:off x="6362548" y="245821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5/8</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slope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372922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Line </a:t>
            </a:r>
            <a:r>
              <a:rPr lang="en-US" sz="1950" dirty="0" i="1">
                <a:solidFill>
                  <a:srgbClr val="16171D"/>
                </a:solidFill>
                <a:latin typeface="Cambria"/>
                <a:cs typeface="Cambria"/>
              </a:rPr>
              <a:t xml:space="preserve">j</a:t>
            </a:r>
            <a:r>
              <a:rPr lang="en-US" sz="1950" dirty="0">
                <a:solidFill>
                  <a:srgbClr val="16171D"/>
                </a:solidFill>
                <a:latin typeface="Segoe UI"/>
                <a:cs typeface="Segoe UI"/>
              </a:rPr>
              <a:t xml:space="preserve"> has slope </a:t>
            </a:r>
            <a:r>
              <a:rPr lang="en-US" sz="1950" dirty="0">
                <a:solidFill>
                  <a:srgbClr val="16171D"/>
                </a:solidFill>
                <a:latin typeface="Cambria"/>
                <a:cs typeface="Cambria"/>
              </a:rPr>
              <a:t xml:space="preserve">⅔</a:t>
            </a:r>
            <a:r>
              <a:rPr lang="en-US" sz="1950" dirty="0">
                <a:solidFill>
                  <a:srgbClr val="16171D"/>
                </a:solidFill>
                <a:latin typeface="Segoe UI"/>
                <a:cs typeface="Segoe UI"/>
              </a:rPr>
              <a:t xml:space="preserve">. Line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is perpendicular to it. What is the slope of </a:t>
            </a:r>
            <a:r>
              <a:rPr lang="en-US" sz="1950" dirty="0" i="1">
                <a:solidFill>
                  <a:srgbClr val="16171D"/>
                </a:solidFill>
                <a:latin typeface="Cambria"/>
                <a:cs typeface="Cambria"/>
              </a:rPr>
              <a:t xml:space="preserve">k</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309)</a:t>
            </a:r>
            <a:endParaRPr lang="en-US" sz="1950" dirty="0"/>
          </a:p>
        </p:txBody>
      </p:sp>
      <p:sp>
        <p:nvSpPr>
          <p:cNvPr id="5" name="Shape 5"/>
          <p:cNvSpPr txBox="1"/>
          <p:nvPr/>
        </p:nvSpPr>
        <p:spPr>
          <a:xfrm>
            <a:off x="685800" y="275539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−3/2</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slope of any horizontal line? </a:t>
            </a:r>
            <a:r>
              <a:rPr lang="en-US" sz="1575" dirty="0">
                <a:solidFill>
                  <a:srgbClr val="5F6272"/>
                </a:solidFill>
                <a:latin typeface="Segoe UI"/>
                <a:cs typeface="Segoe UI"/>
              </a:rPr>
              <a:t xml:space="preserve">(SE p. 310)</a:t>
            </a:r>
            <a:endParaRPr lang="en-US" sz="1950" dirty="0"/>
          </a:p>
        </p:txBody>
      </p:sp>
      <p:sp>
        <p:nvSpPr>
          <p:cNvPr id="7" name="Shape 7"/>
          <p:cNvSpPr txBox="1"/>
          <p:nvPr/>
        </p:nvSpPr>
        <p:spPr>
          <a:xfrm>
            <a:off x="685800"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is the equation of the vertical line through </a:t>
            </a:r>
            <a:r>
              <a:rPr lang="en-US" sz="1950" dirty="0">
                <a:solidFill>
                  <a:srgbClr val="16171D"/>
                </a:solidFill>
                <a:latin typeface="Cambria"/>
                <a:cs typeface="Cambria"/>
              </a:rPr>
              <a:t xml:space="preserve">(2,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311)</a:t>
            </a:r>
            <a:endParaRPr lang="en-US" sz="1950" dirty="0"/>
          </a:p>
        </p:txBody>
      </p:sp>
      <p:sp>
        <p:nvSpPr>
          <p:cNvPr id="9" name="Shape 9"/>
          <p:cNvSpPr txBox="1"/>
          <p:nvPr/>
        </p:nvSpPr>
        <p:spPr>
          <a:xfrm>
            <a:off x="6362548" y="24582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What is the product of the slopes of two perpendicular lines (neither vertical)? </a:t>
            </a:r>
            <a:r>
              <a:rPr lang="en-US" sz="1575" dirty="0">
                <a:solidFill>
                  <a:srgbClr val="5F6272"/>
                </a:solidFill>
                <a:latin typeface="Segoe UI"/>
                <a:cs typeface="Segoe UI"/>
              </a:rPr>
              <a:t xml:space="preserve">(SE p. 308)</a:t>
            </a:r>
            <a:endParaRPr lang="en-US" sz="1950" dirty="0"/>
          </a:p>
        </p:txBody>
      </p:sp>
      <p:sp>
        <p:nvSpPr>
          <p:cNvPr id="11" name="Shape 11"/>
          <p:cNvSpPr txBox="1"/>
          <p:nvPr/>
        </p:nvSpPr>
        <p:spPr>
          <a:xfrm>
            <a:off x="6362548" y="432358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8" name="Shape 8"/>
          <p:cNvSpPr txBox="1"/>
          <p:nvPr/>
        </p:nvSpPr>
        <p:spPr>
          <a:xfrm>
            <a:off x="895350" y="367969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1" name="Shape 11"/>
          <p:cNvSpPr txBox="1"/>
          <p:nvPr/>
        </p:nvSpPr>
        <p:spPr>
          <a:xfrm>
            <a:off x="895350" y="512216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12</Slides>
  <Notes>12</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