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and Activity 3.1 in one example. Turning a line 90° makes a square corner, and the slopes become negative reciprocals: flip and change the sign. Have students say the rule out loud before the next slide.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product −1 means perpendicular. Pair 2 has opposite signs but is not flipped, the most common mistake.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reciprocal of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reciprocal: flip the fraction</a:t>
            </a:r>
            <a:endParaRPr lang="en-US" sz="1575" dirty="0"/>
          </a:p>
        </p:txBody>
      </p:sp>
      <p:sp>
        <p:nvSpPr>
          <p:cNvPr id="6" name="Shape 6"/>
          <p:cNvSpPr txBox="1"/>
          <p:nvPr/>
        </p:nvSpPr>
        <p:spPr>
          <a:xfrm>
            <a:off x="895350" y="24559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has 2 on top and 3 on the bottom. Flip them: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79399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654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Rotate the point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 90° counterclockwise about the origin. Where does it go?</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90° counterclockwise: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4871466"/>
            <a:ext cx="243183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 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8)</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slope of the segment from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to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5 − 0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8 − 0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5 ÷ 8 = 5/8</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7165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A line passes through the points </a:t>
            </a:r>
            <a:r>
              <a:rPr lang="en-US" sz="1575" dirty="0">
                <a:solidFill>
                  <a:srgbClr val="16171D"/>
                </a:solidFill>
                <a:latin typeface="Cambria"/>
                <a:cs typeface="Cambria"/>
              </a:rPr>
              <a:t xml:space="preserve">(−1, 4)</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(2, −2)</a:t>
            </a:r>
            <a:r>
              <a:rPr lang="en-US" sz="1575" dirty="0">
                <a:solidFill>
                  <a:srgbClr val="16171D"/>
                </a:solidFill>
                <a:latin typeface="Segoe UI"/>
                <a:cs typeface="Segoe UI"/>
              </a:rPr>
              <a:t xml:space="preserve">. What is the slope of the line?</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8" name="Shape 18"/>
          <p:cNvSpPr txBox="1"/>
          <p:nvPr/>
        </p:nvSpPr>
        <p:spPr>
          <a:xfrm>
            <a:off x="6419698" y="511149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Label the points: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₁,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₁) = (−1, 4)</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₂,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₂) = (2,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−2 − 4 = −6</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2 − (−1)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−6 ÷ 3 = −2</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j</a:t>
            </a:r>
            <a:r>
              <a:rPr lang="en-US" sz="1575" dirty="0">
                <a:solidFill>
                  <a:srgbClr val="16171D"/>
                </a:solidFill>
                <a:latin typeface="Segoe UI"/>
                <a:cs typeface="Segoe UI"/>
              </a:rPr>
              <a:t xml:space="preserve"> has slope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 is perpendicular to it. What is the slope of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6" name="Shape 6"/>
          <p:cNvSpPr txBox="1"/>
          <p:nvPr/>
        </p:nvSpPr>
        <p:spPr>
          <a:xfrm>
            <a:off x="895350" y="2695956"/>
            <a:ext cx="291069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Flip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any horizontal line?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rise ÷ run</a:t>
            </a:r>
            <a:endParaRPr lang="en-US" sz="1575" dirty="0"/>
          </a:p>
        </p:txBody>
      </p:sp>
      <p:sp>
        <p:nvSpPr>
          <p:cNvPr id="10" name="Shape 10"/>
          <p:cNvSpPr txBox="1"/>
          <p:nvPr/>
        </p:nvSpPr>
        <p:spPr>
          <a:xfrm>
            <a:off x="895350" y="487146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 horizontal line is flat: it never goes up or down, so the rise is 0.</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 ÷ </a:t>
            </a:r>
            <a:r>
              <a:rPr lang="en-US" sz="1425" dirty="0" i="1">
                <a:solidFill>
                  <a:srgbClr val="16171D"/>
                </a:solidFill>
                <a:latin typeface="Cambria"/>
                <a:cs typeface="Cambria"/>
              </a:rPr>
              <a:t xml:space="preserve">r</a:t>
            </a:r>
            <a:r>
              <a:rPr lang="en-US" sz="1425" dirty="0" i="1">
                <a:solidFill>
                  <a:srgbClr val="16171D"/>
                </a:solidFill>
                <a:latin typeface="Cambria"/>
                <a:cs typeface="Cambria"/>
              </a:rPr>
              <a:t xml:space="preserve">u</a:t>
            </a:r>
            <a:r>
              <a:rPr lang="en-US" sz="1425" dirty="0" i="1">
                <a:solidFill>
                  <a:srgbClr val="16171D"/>
                </a:solidFill>
                <a:latin typeface="Cambria"/>
                <a:cs typeface="Cambria"/>
              </a:rPr>
              <a:t xml:space="preserve">n</a:t>
            </a:r>
            <a:r>
              <a:rPr lang="en-US" sz="1425" dirty="0">
                <a:solidFill>
                  <a:srgbClr val="16171D"/>
                </a:solidFill>
                <a:latin typeface="Cambria"/>
                <a:cs typeface="Cambria"/>
              </a:rPr>
              <a:t xml:space="preserve"> = 0</a:t>
            </a:r>
            <a:r>
              <a:rPr lang="en-US" sz="1425" dirty="0">
                <a:solidFill>
                  <a:srgbClr val="16171D"/>
                </a:solidFill>
                <a:latin typeface="Segoe UI"/>
                <a:cs typeface="Segoe UI"/>
              </a:rPr>
              <a:t xml:space="preserve">. The slope is 0.</a:t>
            </a:r>
            <a:endParaRPr lang="en-US" sz="1425" dirty="0"/>
          </a:p>
        </p:txBody>
      </p:sp>
      <p:sp>
        <p:nvSpPr>
          <p:cNvPr id="15" name="Shape 15"/>
          <p:cNvSpPr txBox="1"/>
          <p:nvPr/>
        </p:nvSpPr>
        <p:spPr>
          <a:xfrm>
            <a:off x="6210148"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is the equation of the vertical line through </a:t>
            </a:r>
            <a:r>
              <a:rPr lang="en-US" sz="1575" dirty="0">
                <a:solidFill>
                  <a:srgbClr val="16171D"/>
                </a:solidFill>
                <a:latin typeface="Cambria"/>
                <a:cs typeface="Cambria"/>
              </a:rPr>
              <a:t xml:space="preserve">(2, −1)</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vertical line: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a:solidFill>
                  <a:srgbClr val="16171D"/>
                </a:solidFill>
                <a:latin typeface="Segoe UI"/>
                <a:cs typeface="Segoe UI"/>
              </a:rPr>
              <a:t xml:space="preserve"> a number</a:t>
            </a:r>
            <a:endParaRPr lang="en-US" sz="1575" dirty="0"/>
          </a:p>
        </p:txBody>
      </p:sp>
      <p:sp>
        <p:nvSpPr>
          <p:cNvPr id="14" name="Shape 14"/>
          <p:cNvSpPr txBox="1"/>
          <p:nvPr/>
        </p:nvSpPr>
        <p:spPr>
          <a:xfrm>
            <a:off x="6419698"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On a vertical line,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never changes.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point has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so the line is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816858"/>
            <a:ext cx="5295748" cy="29794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88308"/>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equation represents a line perpendicular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that passes through the point </a:t>
            </a:r>
            <a:r>
              <a:rPr lang="en-US" sz="1575" dirty="0">
                <a:solidFill>
                  <a:srgbClr val="16171D"/>
                </a:solidFill>
                <a:latin typeface="Cambria"/>
                <a:cs typeface="Cambria"/>
              </a:rPr>
              <a:t xml:space="preserve">(4, 1)</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80136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endParaRPr lang="en-US" sz="1575" dirty="0"/>
          </a:p>
        </p:txBody>
      </p:sp>
      <p:sp>
        <p:nvSpPr>
          <p:cNvPr id="18" name="Shape 18"/>
          <p:cNvSpPr txBox="1"/>
          <p:nvPr/>
        </p:nvSpPr>
        <p:spPr>
          <a:xfrm>
            <a:off x="6419698" y="537438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−½</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is 2. Flip and change the sign: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a:t>
            </a:r>
            <a:r>
              <a:rPr lang="en-US" sz="1425" dirty="0">
                <a:solidFill>
                  <a:srgbClr val="16171D"/>
                </a:solidFill>
                <a:latin typeface="Cambria"/>
                <a:cs typeface="Cambria"/>
              </a:rPr>
              <a:t xml:space="preserve">(4, 1)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−½(4) +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−2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−½</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10" name="Shape 10"/>
          <p:cNvSpPr txBox="1"/>
          <p:nvPr/>
        </p:nvSpPr>
        <p:spPr>
          <a:xfrm>
            <a:off x="685800" y="1618488"/>
            <a:ext cx="3454298" cy="361264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1. 4</a:t>
            </a:r>
            <a:endParaRPr lang="en-US" sz="2100" dirty="0"/>
          </a:p>
        </p:txBody>
      </p:sp>
      <p:sp>
        <p:nvSpPr>
          <p:cNvPr id="5" name="Shape 5"/>
          <p:cNvSpPr txBox="1"/>
          <p:nvPr/>
        </p:nvSpPr>
        <p:spPr>
          <a:xfrm>
            <a:off x="895350"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it as a fraction: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Change the sign: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910584"/>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Check: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9" name="Shape 9"/>
          <p:cNvSpPr txBox="1"/>
          <p:nvPr/>
        </p:nvSpPr>
        <p:spPr>
          <a:xfrm>
            <a:off x="895350" y="454075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6" name="Shape 16"/>
          <p:cNvSpPr txBox="1"/>
          <p:nvPr/>
        </p:nvSpPr>
        <p:spPr>
          <a:xfrm>
            <a:off x="4368698" y="1618488"/>
            <a:ext cx="345429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5</a:t>
            </a:r>
            <a:endParaRPr lang="en-US" sz="2100" dirty="0"/>
          </a:p>
        </p:txBody>
      </p:sp>
      <p:sp>
        <p:nvSpPr>
          <p:cNvPr id="12" name="Shape 12"/>
          <p:cNvSpPr txBox="1"/>
          <p:nvPr/>
        </p:nvSpPr>
        <p:spPr>
          <a:xfrm>
            <a:off x="4578248"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578248" y="265023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 becomes +, so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4578248"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15" name="Shape 15"/>
          <p:cNvSpPr txBox="1"/>
          <p:nvPr/>
        </p:nvSpPr>
        <p:spPr>
          <a:xfrm>
            <a:off x="4578248" y="391058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22" name="Shape 22"/>
          <p:cNvSpPr txBox="1"/>
          <p:nvPr/>
        </p:nvSpPr>
        <p:spPr>
          <a:xfrm>
            <a:off x="8051597" y="1618488"/>
            <a:ext cx="3454298" cy="27424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endParaRPr lang="en-US" sz="2100" dirty="0"/>
          </a:p>
        </p:txBody>
      </p:sp>
      <p:sp>
        <p:nvSpPr>
          <p:cNvPr id="18" name="Shape 18"/>
          <p:cNvSpPr txBox="1"/>
          <p:nvPr/>
        </p:nvSpPr>
        <p:spPr>
          <a:xfrm>
            <a:off x="8261147"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 2.</a:t>
            </a:r>
            <a:endParaRPr lang="en-US" sz="1575" dirty="0"/>
          </a:p>
        </p:txBody>
      </p:sp>
      <p:sp>
        <p:nvSpPr>
          <p:cNvPr id="19" name="Shape 19"/>
          <p:cNvSpPr txBox="1"/>
          <p:nvPr/>
        </p:nvSpPr>
        <p:spPr>
          <a:xfrm>
            <a:off x="8261147" y="265023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−2.</a:t>
            </a:r>
            <a:endParaRPr lang="en-US" sz="1575" dirty="0"/>
          </a:p>
        </p:txBody>
      </p:sp>
      <p:sp>
        <p:nvSpPr>
          <p:cNvPr id="20" name="Shape 20"/>
          <p:cNvSpPr txBox="1"/>
          <p:nvPr/>
        </p:nvSpPr>
        <p:spPr>
          <a:xfrm>
            <a:off x="8261147" y="304038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(−2) = −1 ✓</a:t>
            </a:r>
            <a:endParaRPr lang="en-US" sz="1575" dirty="0"/>
          </a:p>
        </p:txBody>
      </p:sp>
      <p:sp>
        <p:nvSpPr>
          <p:cNvPr id="21" name="Shape 21"/>
          <p:cNvSpPr txBox="1"/>
          <p:nvPr/>
        </p:nvSpPr>
        <p:spPr>
          <a:xfrm>
            <a:off x="8261147" y="3670554"/>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ppt_w</p:attrName>
                                        </p:attrNameLst>
                                      </p:cBhvr>
                                      <p:tavLst>
                                        <p:tav tm="0">
                                          <p:val>
                                            <p:fltVal val="0"/>
                                          </p:val>
                                        </p:tav>
                                        <p:tav tm="100000">
                                          <p:val>
                                            <p:strVal val="#ppt_w"/>
                                          </p:val>
                                        </p:tav>
                                      </p:tavLst>
                                    </p:anim>
                                    <p:anim calcmode="lin" valueType="num">
                                      <p:cBhvr>
                                        <p:cTn id="62"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fill="hold"/>
                                        <p:tgtEl>
                                          <p:spTgt spid="20"/>
                                        </p:tgtEl>
                                        <p:attrNameLst>
                                          <p:attrName>ppt_x</p:attrName>
                                        </p:attrNameLst>
                                      </p:cBhvr>
                                      <p:tavLst>
                                        <p:tav tm="0">
                                          <p:val>
                                            <p:strVal val="#ppt_x"/>
                                          </p:val>
                                        </p:tav>
                                        <p:tav tm="100000">
                                          <p:val>
                                            <p:strVal val="#ppt_x"/>
                                          </p:val>
                                        </p:tav>
                                      </p:tavLst>
                                    </p:anim>
                                    <p:anim calcmode="lin" valueType="num">
                                      <p:cBhvr>
                                        <p:cTn id="83"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53" presetClass="entr" presetSubtype="16" fill="hold" nodeType="clickEffect">
                                  <p:stCondLst>
                                    <p:cond delay="0"/>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500"/>
                                        <p:tgtEl>
                                          <p:spTgt spid="21"/>
                                        </p:tgtEl>
                                      </p:cBhvr>
                                    </p:animEffect>
                                    <p:anim calcmode="lin" valueType="num">
                                      <p:cBhvr>
                                        <p:cTn id="89" dur="500" fill="hold"/>
                                        <p:tgtEl>
                                          <p:spTgt spid="21"/>
                                        </p:tgtEl>
                                        <p:attrNameLst>
                                          <p:attrName>ppt_w</p:attrName>
                                        </p:attrNameLst>
                                      </p:cBhvr>
                                      <p:tavLst>
                                        <p:tav tm="0">
                                          <p:val>
                                            <p:fltVal val="0"/>
                                          </p:val>
                                        </p:tav>
                                        <p:tav tm="100000">
                                          <p:val>
                                            <p:strVal val="#ppt_w"/>
                                          </p:val>
                                        </p:tav>
                                      </p:tavLst>
                                    </p:anim>
                                    <p:anim calcmode="lin" valueType="num">
                                      <p:cBhvr>
                                        <p:cTn id="90" dur="500" fill="hold"/>
                                        <p:tgtEl>
                                          <p:spTgt spid="2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Rotate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Turn a segment 90° and compare the slopes</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Segment from (0, 0) to </a:t>
            </a:r>
            <a:r>
              <a:rPr lang="en-US" sz="1950" dirty="0" b="1">
                <a:solidFill>
                  <a:srgbClr val="3050B8"/>
                </a:solidFill>
                <a:latin typeface="Segoe UI"/>
                <a:cs typeface="Segoe UI"/>
              </a:rPr>
              <a:t xml:space="preserve">(4, 2)</a:t>
            </a:r>
            <a:r>
              <a:rPr lang="en-US" sz="1950" dirty="0">
                <a:solidFill>
                  <a:srgbClr val="16171D"/>
                </a:solidFill>
                <a:latin typeface="Segoe UI"/>
                <a:cs typeface="Segoe UI"/>
              </a:rPr>
              <a:t xml:space="preserve">. Slope:</a:t>
            </a:r>
            <a:endParaRPr lang="en-US" sz="1950" dirty="0"/>
          </a:p>
        </p:txBody>
      </p:sp>
      <p:sp>
        <p:nvSpPr>
          <p:cNvPr id="5" name="Shape 5"/>
          <p:cNvSpPr txBox="1"/>
          <p:nvPr/>
        </p:nvSpPr>
        <p:spPr>
          <a:xfrm>
            <a:off x="685800" y="2103882"/>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Turn 90°: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(4, 2) goes to</a:t>
            </a:r>
            <a:endParaRPr lang="en-US" sz="1950" dirty="0"/>
          </a:p>
        </p:txBody>
      </p:sp>
      <p:sp>
        <p:nvSpPr>
          <p:cNvPr id="7" name="Shape 7"/>
          <p:cNvSpPr txBox="1"/>
          <p:nvPr/>
        </p:nvSpPr>
        <p:spPr>
          <a:xfrm>
            <a:off x="685800" y="324154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4)</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then multiply:</a:t>
            </a:r>
            <a:endParaRPr lang="en-US" sz="1950" dirty="0"/>
          </a:p>
        </p:txBody>
      </p:sp>
      <p:sp>
        <p:nvSpPr>
          <p:cNvPr id="9" name="Shape 9"/>
          <p:cNvSpPr txBox="1"/>
          <p:nvPr/>
        </p:nvSpPr>
        <p:spPr>
          <a:xfrm>
            <a:off x="685800" y="4379214"/>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−2. Then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(−2) = −1: ⊥</a:t>
            </a:r>
            <a:endParaRPr lang="en-US" sz="2325" dirty="0"/>
          </a:p>
        </p:txBody>
      </p:sp>
      <p:sp>
        <p:nvSpPr>
          <p:cNvPr id="10" name="Shape 10"/>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2686050"/>
          </a:xfrm>
          <a:prstGeom prst="line">
            <a:avLst/>
          </a:prstGeom>
          <a:ln w="9525" cap="flat">
            <a:solidFill>
              <a:srgbClr val="E6E8F2"/>
            </a:solidFill>
          </a:ln>
        </p:spPr>
      </p:cxnSp>
      <p:cxnSp>
        <p:nvCxnSpPr>
          <p:cNvPr id="12" name="Line 12"/>
          <p:cNvCxnSpPr/>
          <p:nvPr/>
        </p:nvCxnSpPr>
        <p:spPr>
          <a:xfrm>
            <a:off x="6900181" y="1732788"/>
            <a:ext cx="0" cy="2686050"/>
          </a:xfrm>
          <a:prstGeom prst="line">
            <a:avLst/>
          </a:prstGeom>
          <a:ln w="9525" cap="flat">
            <a:solidFill>
              <a:srgbClr val="E6E8F2"/>
            </a:solidFill>
          </a:ln>
        </p:spPr>
      </p:cxnSp>
      <p:cxnSp>
        <p:nvCxnSpPr>
          <p:cNvPr id="13" name="Line 13"/>
          <p:cNvCxnSpPr/>
          <p:nvPr/>
        </p:nvCxnSpPr>
        <p:spPr>
          <a:xfrm>
            <a:off x="7190164" y="1732788"/>
            <a:ext cx="0" cy="2686050"/>
          </a:xfrm>
          <a:prstGeom prst="line">
            <a:avLst/>
          </a:prstGeom>
          <a:ln w="9525" cap="flat">
            <a:solidFill>
              <a:srgbClr val="E6E8F2"/>
            </a:solidFill>
          </a:ln>
        </p:spPr>
      </p:cxnSp>
      <p:cxnSp>
        <p:nvCxnSpPr>
          <p:cNvPr id="14" name="Line 14"/>
          <p:cNvCxnSpPr/>
          <p:nvPr/>
        </p:nvCxnSpPr>
        <p:spPr>
          <a:xfrm>
            <a:off x="7480148" y="1732788"/>
            <a:ext cx="0" cy="2686050"/>
          </a:xfrm>
          <a:prstGeom prst="line">
            <a:avLst/>
          </a:prstGeom>
          <a:ln w="9525" cap="flat">
            <a:solidFill>
              <a:srgbClr val="E6E8F2"/>
            </a:solidFill>
          </a:ln>
        </p:spPr>
      </p:cxnSp>
      <p:cxnSp>
        <p:nvCxnSpPr>
          <p:cNvPr id="15" name="Line 15"/>
          <p:cNvCxnSpPr/>
          <p:nvPr/>
        </p:nvCxnSpPr>
        <p:spPr>
          <a:xfrm>
            <a:off x="7770131" y="1732788"/>
            <a:ext cx="0" cy="2686050"/>
          </a:xfrm>
          <a:prstGeom prst="line">
            <a:avLst/>
          </a:prstGeom>
          <a:ln w="9525" cap="flat">
            <a:solidFill>
              <a:srgbClr val="E6E8F2"/>
            </a:solidFill>
          </a:ln>
        </p:spPr>
      </p:cxnSp>
      <p:cxnSp>
        <p:nvCxnSpPr>
          <p:cNvPr id="16" name="Line 16"/>
          <p:cNvCxnSpPr/>
          <p:nvPr/>
        </p:nvCxnSpPr>
        <p:spPr>
          <a:xfrm>
            <a:off x="8060114" y="1732788"/>
            <a:ext cx="0" cy="2686050"/>
          </a:xfrm>
          <a:prstGeom prst="line">
            <a:avLst/>
          </a:prstGeom>
          <a:ln w="9525" cap="flat">
            <a:solidFill>
              <a:srgbClr val="E6E8F2"/>
            </a:solidFill>
          </a:ln>
        </p:spPr>
      </p:cxnSp>
      <p:cxnSp>
        <p:nvCxnSpPr>
          <p:cNvPr id="17" name="Line 17"/>
          <p:cNvCxnSpPr/>
          <p:nvPr/>
        </p:nvCxnSpPr>
        <p:spPr>
          <a:xfrm>
            <a:off x="8350098" y="1732788"/>
            <a:ext cx="0" cy="2686050"/>
          </a:xfrm>
          <a:prstGeom prst="line">
            <a:avLst/>
          </a:prstGeom>
          <a:ln w="9525" cap="flat">
            <a:solidFill>
              <a:srgbClr val="E6E8F2"/>
            </a:solidFill>
          </a:ln>
        </p:spPr>
      </p:cxnSp>
      <p:cxnSp>
        <p:nvCxnSpPr>
          <p:cNvPr id="18" name="Line 18"/>
          <p:cNvCxnSpPr/>
          <p:nvPr/>
        </p:nvCxnSpPr>
        <p:spPr>
          <a:xfrm>
            <a:off x="8640081" y="1732788"/>
            <a:ext cx="0" cy="2686050"/>
          </a:xfrm>
          <a:prstGeom prst="line">
            <a:avLst/>
          </a:prstGeom>
          <a:ln w="9525" cap="flat">
            <a:solidFill>
              <a:srgbClr val="E6E8F2"/>
            </a:solidFill>
          </a:ln>
        </p:spPr>
      </p:cxnSp>
      <p:cxnSp>
        <p:nvCxnSpPr>
          <p:cNvPr id="19" name="Line 19"/>
          <p:cNvCxnSpPr/>
          <p:nvPr/>
        </p:nvCxnSpPr>
        <p:spPr>
          <a:xfrm>
            <a:off x="8930064" y="1732788"/>
            <a:ext cx="0" cy="2686050"/>
          </a:xfrm>
          <a:prstGeom prst="line">
            <a:avLst/>
          </a:prstGeom>
          <a:ln w="9525" cap="flat">
            <a:solidFill>
              <a:srgbClr val="E6E8F2"/>
            </a:solidFill>
          </a:ln>
        </p:spPr>
      </p:cxnSp>
      <p:cxnSp>
        <p:nvCxnSpPr>
          <p:cNvPr id="20" name="Line 20"/>
          <p:cNvCxnSpPr/>
          <p:nvPr/>
        </p:nvCxnSpPr>
        <p:spPr>
          <a:xfrm>
            <a:off x="9220048" y="1732788"/>
            <a:ext cx="0" cy="2686050"/>
          </a:xfrm>
          <a:prstGeom prst="line">
            <a:avLst/>
          </a:prstGeom>
          <a:ln w="9525" cap="flat">
            <a:solidFill>
              <a:srgbClr val="E6E8F2"/>
            </a:solidFill>
          </a:ln>
        </p:spPr>
      </p:cxnSp>
      <p:cxnSp>
        <p:nvCxnSpPr>
          <p:cNvPr id="21" name="Line 21"/>
          <p:cNvCxnSpPr/>
          <p:nvPr/>
        </p:nvCxnSpPr>
        <p:spPr>
          <a:xfrm>
            <a:off x="6610198" y="4418838"/>
            <a:ext cx="2609850" cy="0"/>
          </a:xfrm>
          <a:prstGeom prst="line">
            <a:avLst/>
          </a:prstGeom>
          <a:ln w="9525" cap="flat">
            <a:solidFill>
              <a:srgbClr val="E6E8F2"/>
            </a:solidFill>
          </a:ln>
        </p:spPr>
      </p:cxnSp>
      <p:cxnSp>
        <p:nvCxnSpPr>
          <p:cNvPr id="22" name="Line 22"/>
          <p:cNvCxnSpPr/>
          <p:nvPr/>
        </p:nvCxnSpPr>
        <p:spPr>
          <a:xfrm>
            <a:off x="6610198" y="3971163"/>
            <a:ext cx="2609850" cy="0"/>
          </a:xfrm>
          <a:prstGeom prst="line">
            <a:avLst/>
          </a:prstGeom>
          <a:ln w="9525" cap="flat">
            <a:solidFill>
              <a:srgbClr val="E6E8F2"/>
            </a:solidFill>
          </a:ln>
        </p:spPr>
      </p:cxnSp>
      <p:cxnSp>
        <p:nvCxnSpPr>
          <p:cNvPr id="23" name="Line 23"/>
          <p:cNvCxnSpPr/>
          <p:nvPr/>
        </p:nvCxnSpPr>
        <p:spPr>
          <a:xfrm>
            <a:off x="6610198" y="3523488"/>
            <a:ext cx="2609850" cy="0"/>
          </a:xfrm>
          <a:prstGeom prst="line">
            <a:avLst/>
          </a:prstGeom>
          <a:ln w="9525" cap="flat">
            <a:solidFill>
              <a:srgbClr val="E6E8F2"/>
            </a:solidFill>
          </a:ln>
        </p:spPr>
      </p:cxnSp>
      <p:cxnSp>
        <p:nvCxnSpPr>
          <p:cNvPr id="24" name="Line 24"/>
          <p:cNvCxnSpPr/>
          <p:nvPr/>
        </p:nvCxnSpPr>
        <p:spPr>
          <a:xfrm>
            <a:off x="6610198" y="3075813"/>
            <a:ext cx="2609850" cy="0"/>
          </a:xfrm>
          <a:prstGeom prst="line">
            <a:avLst/>
          </a:prstGeom>
          <a:ln w="9525" cap="flat">
            <a:solidFill>
              <a:srgbClr val="E6E8F2"/>
            </a:solidFill>
          </a:ln>
        </p:spPr>
      </p:cxnSp>
      <p:cxnSp>
        <p:nvCxnSpPr>
          <p:cNvPr id="25" name="Line 25"/>
          <p:cNvCxnSpPr/>
          <p:nvPr/>
        </p:nvCxnSpPr>
        <p:spPr>
          <a:xfrm>
            <a:off x="6610198" y="2628138"/>
            <a:ext cx="2609850" cy="0"/>
          </a:xfrm>
          <a:prstGeom prst="line">
            <a:avLst/>
          </a:prstGeom>
          <a:ln w="9525" cap="flat">
            <a:solidFill>
              <a:srgbClr val="E6E8F2"/>
            </a:solidFill>
          </a:ln>
        </p:spPr>
      </p:cxnSp>
      <p:cxnSp>
        <p:nvCxnSpPr>
          <p:cNvPr id="26" name="Line 26"/>
          <p:cNvCxnSpPr/>
          <p:nvPr/>
        </p:nvCxnSpPr>
        <p:spPr>
          <a:xfrm>
            <a:off x="6610198" y="2180463"/>
            <a:ext cx="2609850" cy="0"/>
          </a:xfrm>
          <a:prstGeom prst="line">
            <a:avLst/>
          </a:prstGeom>
          <a:ln w="9525" cap="flat">
            <a:solidFill>
              <a:srgbClr val="E6E8F2"/>
            </a:solidFill>
          </a:ln>
        </p:spPr>
      </p:cxnSp>
      <p:cxnSp>
        <p:nvCxnSpPr>
          <p:cNvPr id="27" name="Line 27"/>
          <p:cNvCxnSpPr/>
          <p:nvPr/>
        </p:nvCxnSpPr>
        <p:spPr>
          <a:xfrm>
            <a:off x="6610198" y="1732788"/>
            <a:ext cx="2609850" cy="0"/>
          </a:xfrm>
          <a:prstGeom prst="line">
            <a:avLst/>
          </a:prstGeom>
          <a:ln w="9525" cap="flat">
            <a:solidFill>
              <a:srgbClr val="E6E8F2"/>
            </a:solidFill>
          </a:ln>
        </p:spPr>
      </p:cxnSp>
      <p:cxnSp>
        <p:nvCxnSpPr>
          <p:cNvPr id="28" name="Line 28"/>
          <p:cNvCxnSpPr/>
          <p:nvPr/>
        </p:nvCxnSpPr>
        <p:spPr>
          <a:xfrm>
            <a:off x="7770131" y="1732788"/>
            <a:ext cx="0" cy="2686050"/>
          </a:xfrm>
          <a:prstGeom prst="line">
            <a:avLst/>
          </a:prstGeom>
          <a:ln w="19050" cap="flat">
            <a:solidFill>
              <a:srgbClr val="5F6272"/>
            </a:solidFill>
          </a:ln>
        </p:spPr>
      </p:cxnSp>
      <p:cxnSp>
        <p:nvCxnSpPr>
          <p:cNvPr id="29" name="Line 29"/>
          <p:cNvCxnSpPr/>
          <p:nvPr/>
        </p:nvCxnSpPr>
        <p:spPr>
          <a:xfrm>
            <a:off x="6610198" y="3971163"/>
            <a:ext cx="2609850" cy="0"/>
          </a:xfrm>
          <a:prstGeom prst="line">
            <a:avLst/>
          </a:prstGeom>
          <a:ln w="19050" cap="flat">
            <a:solidFill>
              <a:srgbClr val="5F6272"/>
            </a:solidFill>
          </a:ln>
        </p:spPr>
      </p:cxnSp>
      <p:sp>
        <p:nvSpPr>
          <p:cNvPr id="30" name="Shape 30"/>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1" name="Shape 31"/>
          <p:cNvSpPr txBox="1"/>
          <p:nvPr/>
        </p:nvSpPr>
        <p:spPr>
          <a:xfrm>
            <a:off x="662586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2" name="Shape 32"/>
          <p:cNvSpPr txBox="1"/>
          <p:nvPr/>
        </p:nvSpPr>
        <p:spPr>
          <a:xfrm>
            <a:off x="691584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72058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749581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778579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80757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7" name="Shape 37"/>
          <p:cNvSpPr txBox="1"/>
          <p:nvPr/>
        </p:nvSpPr>
        <p:spPr>
          <a:xfrm>
            <a:off x="836576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8" name="Shape 38"/>
          <p:cNvSpPr txBox="1"/>
          <p:nvPr/>
        </p:nvSpPr>
        <p:spPr>
          <a:xfrm>
            <a:off x="865574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043270" y="3879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6043270" y="3432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2536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2089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p:nvPr/>
        </p:nvSpPr>
        <p:spPr>
          <a:xfrm>
            <a:off x="8877677" y="30234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9015789" y="28281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(4, 2)</a:t>
            </a:r>
            <a:endParaRPr lang="en-US" sz="1125" dirty="0"/>
          </a:p>
        </p:txBody>
      </p:sp>
      <p:sp>
        <p:nvSpPr>
          <p:cNvPr id="49" name="Shape 49"/>
          <p:cNvSpPr/>
          <p:nvPr/>
        </p:nvSpPr>
        <p:spPr>
          <a:xfrm>
            <a:off x="7137777" y="21280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7275889" y="19328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51" name="Line 51"/>
          <p:cNvCxnSpPr/>
          <p:nvPr/>
        </p:nvCxnSpPr>
        <p:spPr>
          <a:xfrm flipV="1">
            <a:off x="7770131" y="3075813"/>
            <a:ext cx="1159933" cy="895350"/>
          </a:xfrm>
          <a:prstGeom prst="line">
            <a:avLst/>
          </a:prstGeom>
          <a:ln w="38100" cap="rnd">
            <a:solidFill>
              <a:srgbClr val="16171D"/>
            </a:solidFill>
          </a:ln>
        </p:spPr>
      </p:cxnSp>
      <p:cxnSp>
        <p:nvCxnSpPr>
          <p:cNvPr id="52" name="Line 52"/>
          <p:cNvCxnSpPr/>
          <p:nvPr/>
        </p:nvCxnSpPr>
        <p:spPr>
          <a:xfrm>
            <a:off x="7190164" y="2180463"/>
            <a:ext cx="579967" cy="1790700"/>
          </a:xfrm>
          <a:prstGeom prst="line">
            <a:avLst/>
          </a:prstGeom>
          <a:ln w="38100" cap="rnd">
            <a:solidFill>
              <a:srgbClr val="7A4FC4"/>
            </a:solidFill>
          </a:ln>
        </p:spPr>
      </p:cxn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500"/>
                                        <p:tgtEl>
                                          <p:spTgt spid="47"/>
                                        </p:tgtEl>
                                      </p:cBhvr>
                                    </p:animEffect>
                                    <p:anim calcmode="lin" valueType="num">
                                      <p:cBhvr>
                                        <p:cTn id="26" dur="500" fill="hold"/>
                                        <p:tgtEl>
                                          <p:spTgt spid="47"/>
                                        </p:tgtEl>
                                        <p:attrNameLst>
                                          <p:attrName>ppt_w</p:attrName>
                                        </p:attrNameLst>
                                      </p:cBhvr>
                                      <p:tavLst>
                                        <p:tav tm="0">
                                          <p:val>
                                            <p:fltVal val="0"/>
                                          </p:val>
                                        </p:tav>
                                        <p:tav tm="100000">
                                          <p:val>
                                            <p:strVal val="#ppt_w"/>
                                          </p:val>
                                        </p:tav>
                                      </p:tavLst>
                                    </p:anim>
                                    <p:anim calcmode="lin" valueType="num">
                                      <p:cBhvr>
                                        <p:cTn id="27" dur="500" fill="hold"/>
                                        <p:tgtEl>
                                          <p:spTgt spid="47"/>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8"/>
                                        </p:tgtEl>
                                        <p:attrNameLst>
                                          <p:attrName>style.visibility</p:attrName>
                                        </p:attrNameLst>
                                      </p:cBhvr>
                                      <p:to>
                                        <p:strVal val="visible"/>
                                      </p:to>
                                    </p:set>
                                    <p:animEffect transition="in" filter="fade">
                                      <p:cBhvr>
                                        <p:cTn id="30" dur="500"/>
                                        <p:tgtEl>
                                          <p:spTgt spid="48"/>
                                        </p:tgtEl>
                                      </p:cBhvr>
                                    </p:animEffect>
                                    <p:anim calcmode="lin" valueType="num">
                                      <p:cBhvr>
                                        <p:cTn id="31" dur="500" fill="hold"/>
                                        <p:tgtEl>
                                          <p:spTgt spid="48"/>
                                        </p:tgtEl>
                                        <p:attrNameLst>
                                          <p:attrName>ppt_w</p:attrName>
                                        </p:attrNameLst>
                                      </p:cBhvr>
                                      <p:tavLst>
                                        <p:tav tm="0">
                                          <p:val>
                                            <p:fltVal val="0"/>
                                          </p:val>
                                        </p:tav>
                                        <p:tav tm="100000">
                                          <p:val>
                                            <p:strVal val="#ppt_w"/>
                                          </p:val>
                                        </p:tav>
                                      </p:tavLst>
                                    </p:anim>
                                    <p:anim calcmode="lin" valueType="num">
                                      <p:cBhvr>
                                        <p:cTn id="32"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500"/>
                                        <p:tgtEl>
                                          <p:spTgt spid="49"/>
                                        </p:tgtEl>
                                      </p:cBhvr>
                                    </p:animEffect>
                                    <p:anim calcmode="lin" valueType="num">
                                      <p:cBhvr>
                                        <p:cTn id="38" dur="500" fill="hold"/>
                                        <p:tgtEl>
                                          <p:spTgt spid="49"/>
                                        </p:tgtEl>
                                        <p:attrNameLst>
                                          <p:attrName>ppt_w</p:attrName>
                                        </p:attrNameLst>
                                      </p:cBhvr>
                                      <p:tavLst>
                                        <p:tav tm="0">
                                          <p:val>
                                            <p:fltVal val="0"/>
                                          </p:val>
                                        </p:tav>
                                        <p:tav tm="100000">
                                          <p:val>
                                            <p:strVal val="#ppt_w"/>
                                          </p:val>
                                        </p:tav>
                                      </p:tavLst>
                                    </p:anim>
                                    <p:anim calcmode="lin" valueType="num">
                                      <p:cBhvr>
                                        <p:cTn id="39" dur="500" fill="hold"/>
                                        <p:tgtEl>
                                          <p:spTgt spid="49"/>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50"/>
                                        </p:tgtEl>
                                        <p:attrNameLst>
                                          <p:attrName>style.visibility</p:attrName>
                                        </p:attrNameLst>
                                      </p:cBhvr>
                                      <p:to>
                                        <p:strVal val="visible"/>
                                      </p:to>
                                    </p:set>
                                    <p:animEffect transition="in" filter="fade">
                                      <p:cBhvr>
                                        <p:cTn id="42" dur="500"/>
                                        <p:tgtEl>
                                          <p:spTgt spid="50"/>
                                        </p:tgtEl>
                                      </p:cBhvr>
                                    </p:animEffect>
                                    <p:anim calcmode="lin" valueType="num">
                                      <p:cBhvr>
                                        <p:cTn id="43" dur="500" fill="hold"/>
                                        <p:tgtEl>
                                          <p:spTgt spid="50"/>
                                        </p:tgtEl>
                                        <p:attrNameLst>
                                          <p:attrName>ppt_w</p:attrName>
                                        </p:attrNameLst>
                                      </p:cBhvr>
                                      <p:tavLst>
                                        <p:tav tm="0">
                                          <p:val>
                                            <p:fltVal val="0"/>
                                          </p:val>
                                        </p:tav>
                                        <p:tav tm="100000">
                                          <p:val>
                                            <p:strVal val="#ppt_w"/>
                                          </p:val>
                                        </p:tav>
                                      </p:tavLst>
                                    </p:anim>
                                    <p:anim calcmode="lin" valueType="num">
                                      <p:cBhvr>
                                        <p:cTn id="44"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52"/>
                                        </p:tgtEl>
                                        <p:attrNameLst>
                                          <p:attrName>style.visibility</p:attrName>
                                        </p:attrNameLst>
                                      </p:cBhvr>
                                      <p:to>
                                        <p:strVal val="visible"/>
                                      </p:to>
                                    </p:set>
                                    <p:animEffect transition="in" filter="wipe(left)">
                                      <p:cBhvr>
                                        <p:cTn id="49"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Perpendicular or not?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the slopes. Is the product −1?</a:t>
            </a:r>
            <a:endParaRPr lang="en-US" sz="3450" dirty="0"/>
          </a:p>
        </p:txBody>
      </p:sp>
      <p:sp>
        <p:nvSpPr>
          <p:cNvPr id="6" name="Shape 6"/>
          <p:cNvSpPr txBox="1"/>
          <p:nvPr/>
        </p:nvSpPr>
        <p:spPr>
          <a:xfrm>
            <a:off x="685800" y="1618488"/>
            <a:ext cx="335269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2 and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5" name="Shape 5"/>
          <p:cNvSpPr txBox="1"/>
          <p:nvPr/>
        </p:nvSpPr>
        <p:spPr>
          <a:xfrm>
            <a:off x="895350" y="2237232"/>
            <a:ext cx="2933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2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4419498" y="1618488"/>
            <a:ext cx="335269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3 and −3</a:t>
            </a:r>
            <a:endParaRPr lang="en-US" sz="1950" dirty="0"/>
          </a:p>
        </p:txBody>
      </p:sp>
      <p:sp>
        <p:nvSpPr>
          <p:cNvPr id="8" name="Shape 8"/>
          <p:cNvSpPr txBox="1"/>
          <p:nvPr/>
        </p:nvSpPr>
        <p:spPr>
          <a:xfrm>
            <a:off x="4629048" y="2237232"/>
            <a:ext cx="2933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 3 · (−3) = −9</a:t>
            </a:r>
            <a:endParaRPr lang="en-US" sz="2325" dirty="0"/>
          </a:p>
        </p:txBody>
      </p:sp>
      <p:sp>
        <p:nvSpPr>
          <p:cNvPr id="12" name="Shape 12"/>
          <p:cNvSpPr txBox="1"/>
          <p:nvPr/>
        </p:nvSpPr>
        <p:spPr>
          <a:xfrm>
            <a:off x="8153197" y="1618488"/>
            <a:ext cx="335269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 and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3</a:t>
            </a:r>
            <a:endParaRPr lang="en-US" sz="1950" dirty="0"/>
          </a:p>
        </p:txBody>
      </p:sp>
      <p:sp>
        <p:nvSpPr>
          <p:cNvPr id="11" name="Shape 11"/>
          <p:cNvSpPr txBox="1"/>
          <p:nvPr/>
        </p:nvSpPr>
        <p:spPr>
          <a:xfrm>
            <a:off x="8362747" y="2237232"/>
            <a:ext cx="2933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−1</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or not?</a:t>
            </a:r>
            <a:endParaRPr lang="en-US" sz="3450" dirty="0"/>
          </a:p>
        </p:txBody>
      </p:sp>
      <p:sp>
        <p:nvSpPr>
          <p:cNvPr id="9" name="Shape 9"/>
          <p:cNvSpPr txBox="1"/>
          <p:nvPr/>
        </p:nvSpPr>
        <p:spPr>
          <a:xfrm>
            <a:off x="685800" y="1618488"/>
            <a:ext cx="3454298" cy="33367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2 and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endParaRPr lang="en-US" sz="2100" dirty="0"/>
          </a:p>
        </p:txBody>
      </p:sp>
      <p:sp>
        <p:nvSpPr>
          <p:cNvPr id="5" name="Shape 5"/>
          <p:cNvSpPr txBox="1"/>
          <p:nvPr/>
        </p:nvSpPr>
        <p:spPr>
          <a:xfrm>
            <a:off x="895350"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2 as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65023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Multiply: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−1.</a:t>
            </a:r>
            <a:endParaRPr lang="en-US" sz="1575" dirty="0"/>
          </a:p>
        </p:txBody>
      </p:sp>
      <p:sp>
        <p:nvSpPr>
          <p:cNvPr id="7" name="Shape 7"/>
          <p:cNvSpPr txBox="1"/>
          <p:nvPr/>
        </p:nvSpPr>
        <p:spPr>
          <a:xfrm>
            <a:off x="895350"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The product is −1, so yes.</a:t>
            </a:r>
            <a:endParaRPr lang="en-US" sz="1575" dirty="0"/>
          </a:p>
        </p:txBody>
      </p:sp>
      <p:sp>
        <p:nvSpPr>
          <p:cNvPr id="8" name="Shape 8"/>
          <p:cNvSpPr txBox="1"/>
          <p:nvPr/>
        </p:nvSpPr>
        <p:spPr>
          <a:xfrm>
            <a:off x="895350" y="3910584"/>
            <a:ext cx="30351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5" name="Shape 15"/>
          <p:cNvSpPr txBox="1"/>
          <p:nvPr/>
        </p:nvSpPr>
        <p:spPr>
          <a:xfrm>
            <a:off x="4368698" y="1618488"/>
            <a:ext cx="3454298" cy="33367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3 and −3</a:t>
            </a:r>
            <a:endParaRPr lang="en-US" sz="2100" dirty="0"/>
          </a:p>
        </p:txBody>
      </p:sp>
      <p:sp>
        <p:nvSpPr>
          <p:cNvPr id="11" name="Shape 11"/>
          <p:cNvSpPr txBox="1"/>
          <p:nvPr/>
        </p:nvSpPr>
        <p:spPr>
          <a:xfrm>
            <a:off x="4578248"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Multiply: 3 · (−3) = −9.</a:t>
            </a:r>
            <a:endParaRPr lang="en-US" sz="1575" dirty="0"/>
          </a:p>
        </p:txBody>
      </p:sp>
      <p:sp>
        <p:nvSpPr>
          <p:cNvPr id="12" name="Shape 12"/>
          <p:cNvSpPr txBox="1"/>
          <p:nvPr/>
        </p:nvSpPr>
        <p:spPr>
          <a:xfrm>
            <a:off x="4578248" y="289026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−9 is not −1, so no.</a:t>
            </a:r>
            <a:endParaRPr lang="en-US" sz="1575" dirty="0"/>
          </a:p>
        </p:txBody>
      </p:sp>
      <p:sp>
        <p:nvSpPr>
          <p:cNvPr id="13" name="Shape 13"/>
          <p:cNvSpPr txBox="1"/>
          <p:nvPr/>
        </p:nvSpPr>
        <p:spPr>
          <a:xfrm>
            <a:off x="4578248"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The signs are opposite, but 3 was not flipped.</a:t>
            </a:r>
            <a:endParaRPr lang="en-US" sz="1575" dirty="0"/>
          </a:p>
        </p:txBody>
      </p:sp>
      <p:sp>
        <p:nvSpPr>
          <p:cNvPr id="14" name="Shape 14"/>
          <p:cNvSpPr txBox="1"/>
          <p:nvPr/>
        </p:nvSpPr>
        <p:spPr>
          <a:xfrm>
            <a:off x="4578248" y="3910584"/>
            <a:ext cx="30351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perpendicular</a:t>
            </a:r>
            <a:endParaRPr lang="en-US" sz="2325" dirty="0"/>
          </a:p>
        </p:txBody>
      </p:sp>
      <p:sp>
        <p:nvSpPr>
          <p:cNvPr id="21" name="Shape 21"/>
          <p:cNvSpPr txBox="1"/>
          <p:nvPr/>
        </p:nvSpPr>
        <p:spPr>
          <a:xfrm>
            <a:off x="8051597" y="1618488"/>
            <a:ext cx="3454298" cy="381685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 and −</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17" name="Shape 17"/>
          <p:cNvSpPr txBox="1"/>
          <p:nvPr/>
        </p:nvSpPr>
        <p:spPr>
          <a:xfrm>
            <a:off x="8261147"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Multiply the tops: 3 · 4 = 12. Multiply the bottoms: 4 · 3 = 12.</a:t>
            </a:r>
            <a:endParaRPr lang="en-US" sz="1575" dirty="0"/>
          </a:p>
        </p:txBody>
      </p:sp>
      <p:sp>
        <p:nvSpPr>
          <p:cNvPr id="18" name="Shape 18"/>
          <p:cNvSpPr txBox="1"/>
          <p:nvPr/>
        </p:nvSpPr>
        <p:spPr>
          <a:xfrm>
            <a:off x="8261147"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a:r>
            <a:r>
              <a:rPr lang="en-US" sz="1575" dirty="0">
                <a:solidFill>
                  <a:srgbClr val="16171D"/>
                </a:solidFill>
                <a:latin typeface="Segoe UI"/>
                <a:cs typeface="Segoe UI"/>
              </a:rPr>
              <a:t xml:space="preserve">12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12</a:t>
            </a:r>
            <a:r>
              <a:rPr lang="en-US" sz="1575" dirty="0">
                <a:solidFill>
                  <a:srgbClr val="16171D"/>
                </a:solidFill>
                <a:latin typeface="Segoe UI"/>
                <a:cs typeface="Segoe UI"/>
              </a:rPr>
              <a:t xml:space="preserve"> = 1, and the sign is −: −1.</a:t>
            </a:r>
            <a:endParaRPr lang="en-US" sz="1575" dirty="0"/>
          </a:p>
        </p:txBody>
      </p:sp>
      <p:sp>
        <p:nvSpPr>
          <p:cNvPr id="19" name="Shape 19"/>
          <p:cNvSpPr txBox="1"/>
          <p:nvPr/>
        </p:nvSpPr>
        <p:spPr>
          <a:xfrm>
            <a:off x="8261147" y="376047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The product is −1, so yes.</a:t>
            </a:r>
            <a:endParaRPr lang="en-US" sz="1575" dirty="0"/>
          </a:p>
        </p:txBody>
      </p:sp>
      <p:sp>
        <p:nvSpPr>
          <p:cNvPr id="20" name="Shape 20"/>
          <p:cNvSpPr txBox="1"/>
          <p:nvPr/>
        </p:nvSpPr>
        <p:spPr>
          <a:xfrm>
            <a:off x="8261147" y="4390644"/>
            <a:ext cx="30351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22" name="Slide Number 2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fill="hold"/>
                                        <p:tgtEl>
                                          <p:spTgt spid="20"/>
                                        </p:tgtEl>
                                        <p:attrNameLst>
                                          <p:attrName>ppt_w</p:attrName>
                                        </p:attrNameLst>
                                      </p:cBhvr>
                                      <p:tavLst>
                                        <p:tav tm="0">
                                          <p:val>
                                            <p:fltVal val="0"/>
                                          </p:val>
                                        </p:tav>
                                        <p:tav tm="100000">
                                          <p:val>
                                            <p:strVal val="#ppt_w"/>
                                          </p:val>
                                        </p:tav>
                                      </p:tavLst>
                                    </p:anim>
                                    <p:anim calcmode="lin" valueType="num">
                                      <p:cBhvr>
                                        <p:cTn id="83" dur="500" fill="hold"/>
                                        <p:tgtEl>
                                          <p:spTgt spid="2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11" name="Shape 11"/>
          <p:cNvSpPr txBox="1"/>
          <p:nvPr/>
        </p:nvSpPr>
        <p:spPr>
          <a:xfrm>
            <a:off x="685800" y="1618488"/>
            <a:ext cx="10820095" cy="32826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perpendicular line</a:t>
            </a:r>
            <a:endParaRPr lang="en-US" sz="2100" dirty="0"/>
          </a:p>
        </p:txBody>
      </p:sp>
      <p:sp>
        <p:nvSpPr>
          <p:cNvPr id="5" name="Shape 5"/>
          <p:cNvSpPr txBox="1"/>
          <p:nvPr/>
        </p:nvSpPr>
        <p:spPr>
          <a:xfrm>
            <a:off x="895350" y="2260092"/>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given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3.</a:t>
            </a:r>
            <a:endParaRPr lang="en-US" sz="1575" dirty="0"/>
          </a:p>
        </p:txBody>
      </p:sp>
      <p:sp>
        <p:nvSpPr>
          <p:cNvPr id="6" name="Shape 6"/>
          <p:cNvSpPr txBox="1"/>
          <p:nvPr/>
        </p:nvSpPr>
        <p:spPr>
          <a:xfrm>
            <a:off x="895350" y="2650236"/>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it to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then change the sign: the new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040380"/>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3,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1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8" name="Shape 8"/>
          <p:cNvSpPr txBox="1"/>
          <p:nvPr/>
        </p:nvSpPr>
        <p:spPr>
          <a:xfrm>
            <a:off x="895350" y="3430524"/>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(−3) = +1. Now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a:t>
            </a:r>
            <a:endParaRPr lang="en-US" sz="1575" dirty="0"/>
          </a:p>
        </p:txBody>
      </p:sp>
      <p:sp>
        <p:nvSpPr>
          <p:cNvPr id="9" name="Shape 9"/>
          <p:cNvSpPr txBox="1"/>
          <p:nvPr/>
        </p:nvSpPr>
        <p:spPr>
          <a:xfrm>
            <a:off x="895350" y="3820668"/>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5.</a:t>
            </a:r>
            <a:r>
              <a:rPr lang="en-US" sz="1575" dirty="0">
                <a:solidFill>
                  <a:srgbClr val="16171D"/>
                </a:solidFill>
                <a:latin typeface="Segoe UI"/>
                <a:cs typeface="Segoe UI"/>
              </a:rPr>
              <a:t xml:space="preserve"> Add 1 to both sides to get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alone: 1 + 1 = 2.</a:t>
            </a:r>
            <a:endParaRPr lang="en-US" sz="1575" dirty="0"/>
          </a:p>
        </p:txBody>
      </p:sp>
      <p:sp>
        <p:nvSpPr>
          <p:cNvPr id="10" name="Shape 10"/>
          <p:cNvSpPr txBox="1"/>
          <p:nvPr/>
        </p:nvSpPr>
        <p:spPr>
          <a:xfrm>
            <a:off x="895350" y="42108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9" name="Shape 9"/>
          <p:cNvSpPr txBox="1"/>
          <p:nvPr/>
        </p:nvSpPr>
        <p:spPr>
          <a:xfrm>
            <a:off x="685800" y="1618488"/>
            <a:ext cx="3479698" cy="27767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895350" y="314858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Flip 3/4: 4/3.</a:t>
            </a:r>
            <a:endParaRPr lang="en-US" sz="1575" dirty="0"/>
          </a:p>
        </p:txBody>
      </p:sp>
      <p:sp>
        <p:nvSpPr>
          <p:cNvPr id="7" name="Shape 7"/>
          <p:cNvSpPr txBox="1"/>
          <p:nvPr/>
        </p:nvSpPr>
        <p:spPr>
          <a:xfrm>
            <a:off x="895350" y="353872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Change the sign: −4/3.</a:t>
            </a:r>
            <a:endParaRPr lang="en-US" sz="1575" dirty="0"/>
          </a:p>
        </p:txBody>
      </p:sp>
      <p:sp>
        <p:nvSpPr>
          <p:cNvPr id="8" name="Shape 8"/>
          <p:cNvSpPr txBox="1"/>
          <p:nvPr/>
        </p:nvSpPr>
        <p:spPr>
          <a:xfrm>
            <a:off x="895350" y="392887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Check: 3/4 · (−4/3) = −1.</a:t>
            </a:r>
            <a:endParaRPr lang="en-US" sz="1575" dirty="0"/>
          </a:p>
        </p:txBody>
      </p:sp>
      <p:sp>
        <p:nvSpPr>
          <p:cNvPr id="14" name="Shape 14"/>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11" name="Shape 11"/>
          <p:cNvSpPr txBox="1"/>
          <p:nvPr/>
        </p:nvSpPr>
        <p:spPr>
          <a:xfrm>
            <a:off x="4565548" y="253441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On a vertical line, x never changes.</a:t>
            </a:r>
            <a:endParaRPr lang="en-US" sz="1575" dirty="0"/>
          </a:p>
        </p:txBody>
      </p:sp>
      <p:sp>
        <p:nvSpPr>
          <p:cNvPr id="13" name="Shape 13"/>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point has x = 5, so the line is x = 5.</a:t>
            </a:r>
            <a:endParaRPr lang="en-US" sz="1575" dirty="0"/>
          </a:p>
        </p:txBody>
      </p:sp>
      <p:sp>
        <p:nvSpPr>
          <p:cNvPr id="20" name="Shape 20"/>
          <p:cNvSpPr txBox="1"/>
          <p:nvPr/>
        </p:nvSpPr>
        <p:spPr>
          <a:xfrm>
            <a:off x="8026197" y="1618488"/>
            <a:ext cx="3479698" cy="36111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6" name="Shape 16"/>
          <p:cNvSpPr txBox="1"/>
          <p:nvPr/>
        </p:nvSpPr>
        <p:spPr>
          <a:xfrm>
            <a:off x="8235747" y="253441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8235747" y="350291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slope of y = −x is −1.</a:t>
            </a:r>
            <a:endParaRPr lang="en-US" sz="1575" dirty="0"/>
          </a:p>
        </p:txBody>
      </p:sp>
      <p:sp>
        <p:nvSpPr>
          <p:cNvPr id="18" name="Shape 18"/>
          <p:cNvSpPr txBox="1"/>
          <p:nvPr/>
        </p:nvSpPr>
        <p:spPr>
          <a:xfrm>
            <a:off x="8235747" y="38930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Flip and change the sign: −1 becomes 1.</a:t>
            </a:r>
            <a:endParaRPr lang="en-US" sz="1575" dirty="0"/>
          </a:p>
        </p:txBody>
      </p:sp>
      <p:sp>
        <p:nvSpPr>
          <p:cNvPr id="19" name="Shape 19"/>
          <p:cNvSpPr txBox="1"/>
          <p:nvPr/>
        </p:nvSpPr>
        <p:spPr>
          <a:xfrm>
            <a:off x="8235747" y="452323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(0, 3) is on the y-axis, so b = 3: y = x + 3.</a:t>
            </a:r>
            <a:endParaRPr lang="en-US" sz="1575" dirty="0"/>
          </a:p>
        </p:txBody>
      </p:sp>
      <p:sp>
        <p:nvSpPr>
          <p:cNvPr id="21" name="Slide Number 2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ppt_w</p:attrName>
                                        </p:attrNameLst>
                                      </p:cBhvr>
                                      <p:tavLst>
                                        <p:tav tm="0">
                                          <p:val>
                                            <p:fltVal val="0"/>
                                          </p:val>
                                        </p:tav>
                                        <p:tav tm="100000">
                                          <p:val>
                                            <p:strVal val="#ppt_w"/>
                                          </p:val>
                                        </p:tav>
                                      </p:tavLst>
                                    </p:anim>
                                    <p:anim calcmode="lin" valueType="num">
                                      <p:cBhvr>
                                        <p:cTn id="55"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17</Slides>
  <Notes>17</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