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8" name="Shape 18"/>
          <p:cNvSpPr txBox="1"/>
          <p:nvPr/>
        </p:nvSpPr>
        <p:spPr>
          <a:xfrm>
            <a:off x="6419698"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slope is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is the product of the slopes of two perpendicular lines (neither vertical)?</a:t>
            </a:r>
            <a:endParaRPr lang="en-US" sz="1575" dirty="0"/>
          </a:p>
        </p:txBody>
      </p:sp>
      <p:sp>
        <p:nvSpPr>
          <p:cNvPr id="17" name="Shape 17"/>
          <p:cNvSpPr txBox="1"/>
          <p:nvPr/>
        </p:nvSpPr>
        <p:spPr>
          <a:xfrm>
            <a:off x="6419698"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₂ = −1</a:t>
            </a:r>
            <a:endParaRPr lang="en-US" sz="1575" dirty="0"/>
          </a:p>
        </p:txBody>
      </p:sp>
      <p:sp>
        <p:nvSpPr>
          <p:cNvPr id="18" name="Shape 18"/>
          <p:cNvSpPr txBox="1"/>
          <p:nvPr/>
        </p:nvSpPr>
        <p:spPr>
          <a:xfrm>
            <a:off x="6419698" y="4894326"/>
            <a:ext cx="48261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Example: slopes </a:t>
            </a:r>
            <a:r>
              <a:rPr lang="en-US" sz="1425" dirty="0">
                <a:solidFill>
                  <a:srgbClr val="16171D"/>
                </a:solidFill>
                <a:latin typeface="Cambria"/>
                <a:cs typeface="Cambria"/>
              </a:rPr>
              <a:t xml:space="preserve">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are perpendicular.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 · (−½) = −1</a:t>
            </a:r>
            <a:r>
              <a:rPr lang="en-US" sz="1425" dirty="0">
                <a:solidFill>
                  <a:srgbClr val="16171D"/>
                </a:solidFill>
                <a:latin typeface="Segoe UI"/>
                <a:cs typeface="Segoe UI"/>
              </a:rPr>
              <a:t xml:space="preserve">. The product is always </a:t>
            </a:r>
            <a:r>
              <a:rPr lang="en-US" sz="1425" dirty="0">
                <a:solidFill>
                  <a:srgbClr val="16171D"/>
                </a:solidFill>
                <a:latin typeface="Cambria"/>
                <a:cs typeface="Cambria"/>
              </a:rPr>
              <a:t xml:space="preserve">−1</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