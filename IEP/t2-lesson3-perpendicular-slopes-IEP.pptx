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docProps/core.xml" ContentType="application/vnd.openxmlformats-package.core-properties+xml"/>
  <Override PartName="/docProps/app.xml" ContentType="application/vnd.openxmlformats-officedocument.extended-properti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
  </p:notesMasterIdLst>
  <p:sldIdLst>
    <p:sldId id="256" r:id="rId11"/>
    <p:sldId id="257" r:id="rId12"/>
    <p:sldId id="258" r:id="rId13"/>
    <p:sldId id="259" r:id="rId14"/>
    <p:sldId id="260" r:id="rId15"/>
    <p:sldId id="261" r:id="rId16"/>
    <p:sldId id="262" r:id="rId17"/>
    <p:sldId id="263" r:id="rId18"/>
    <p:sldId id="264" r:id="rId19"/>
    <p:sldId id="265" r:id="rId20"/>
    <p:sldId id="266" r:id="rId21"/>
    <p:sldId id="267" r:id="rId22"/>
    <p:sldId id="268" r:id="rId23"/>
    <p:sldId id="269" r:id="rId24"/>
  </p:sldIdLst>
  <p:sldSz cx="12192000" cy="6858000"/>
  <p:notesSz cx="6858000" cy="9144000"/>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notesMaster" Target="notesMasters/notesMaster1.xml"/><Relationship Id="rId3" Type="http://schemas.openxmlformats.org/officeDocument/2006/relationships/theme" Target="theme/theme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ableStyles" Target="tableStyles.xml"/><Relationship Id="rId11" Type="http://schemas.openxmlformats.org/officeDocument/2006/relationships/slide" Target="slides/slide1.xml"/><Relationship Id="rId12" Type="http://schemas.openxmlformats.org/officeDocument/2006/relationships/slide" Target="slides/slide2.xml"/><Relationship Id="rId13" Type="http://schemas.openxmlformats.org/officeDocument/2006/relationships/slide" Target="slides/slide3.xml"/><Relationship Id="rId14" Type="http://schemas.openxmlformats.org/officeDocument/2006/relationships/slide" Target="slides/slide4.xml"/><Relationship Id="rId15" Type="http://schemas.openxmlformats.org/officeDocument/2006/relationships/slide" Target="slides/slide5.xml"/><Relationship Id="rId16" Type="http://schemas.openxmlformats.org/officeDocument/2006/relationships/slide" Target="slides/slide6.xml"/><Relationship Id="rId17" Type="http://schemas.openxmlformats.org/officeDocument/2006/relationships/slide" Target="slides/slide7.xml"/><Relationship Id="rId18" Type="http://schemas.openxmlformats.org/officeDocument/2006/relationships/slide" Target="slides/slide8.xml"/><Relationship Id="rId19" Type="http://schemas.openxmlformats.org/officeDocument/2006/relationships/slide" Target="slides/slide9.xml"/><Relationship Id="rId20" Type="http://schemas.openxmlformats.org/officeDocument/2006/relationships/slide" Target="slides/slide10.xml"/><Relationship Id="rId21" Type="http://schemas.openxmlformats.org/officeDocument/2006/relationships/slide" Target="slides/slide11.xml"/><Relationship Id="rId22" Type="http://schemas.openxmlformats.org/officeDocument/2006/relationships/slide" Target="slides/slide12.xml"/><Relationship Id="rId23" Type="http://schemas.openxmlformats.org/officeDocument/2006/relationships/slide" Target="slides/slide13.xml"/><Relationship Id="rId24"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Notes</a:t>
            </a: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400" kern="1200">
        <a:solidFill>
          <a:schemeClr val="tx1"/>
        </a:solidFill>
        <a:latin typeface="+mn-lt"/>
        <a:ea typeface="+mn-ea"/>
        <a:cs typeface="+mn-cs"/>
      </a:defRPr>
    </a:lvl1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IEP version of Topic 2 Lesson 3: a modified lesson that keeps the core skills and cuts the number of items. Each skill follows I do (teacher models), We do (together, with sentence frames), You do (student tries, then reveal). Click to reveal each answer. The bell work for every day follows this slide (the same questions as the online bell work); skip to the current day. Apply each student's IEP accommodations too: extended time, read-aloud, breaks, calculator, small group.</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this up as students walk in (about 5 minutes). The same 4 questions are on the online IEP Day 1 bell work, which shows the same formula under each question and these steps after each answer. Click to reveal one answer at a time; read each step aloud and point to where the formula is used.</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this up as students walk in (about 5 minutes). The same 4 questions are on the online IEP Day 2 bell work, which shows the same formula under each question and these steps after each answer. Click to reveal one answer at a time; read each step aloud and point to where the formula is used.</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this slide up, or give students a printed copy, while they work.</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each: the product should be −1.</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teacher or assistant: click once for each step. Read the step aloud, and before each click ask the student what to do next. Students check their own paper and fix any mistake in a different color.</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each step; point to the steps slide.</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teacher or assistant: click once for each step. Read the step aloud, and before each click ask the student what to do next. Students check their own paper and fix any mistake in a different color.</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students time to try all items before revealing. Students may use the steps slide and their notes.</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pattFill prst="lgGrid">
          <a:fgClr>
            <a:srgbClr val="E6E8F2"/>
          </a:fgClr>
          <a:bgClr>
            <a:srgbClr val="F7F7FB"/>
          </a:bgClr>
        </a:pattFill>
        <a:effectLst/>
      </p:bgPr>
    </p:bg>
    <p:spTree>
      <p:nvGrpSpPr>
        <p:cNvPr id="1" name=""/>
        <p:cNvGrpSpPr/>
        <p:nvPr/>
      </p:nvGrpSpPr>
      <p:grpSpPr>
        <a:xfrm>
          <a:off x="0" y="0"/>
          <a:ext cx="0" cy="0"/>
          <a:chOff x="0" y="0"/>
          <a:chExt cx="0" cy="0"/>
        </a:xfrm>
      </p:grpSpPr>
      <p:sp>
        <p:nvSpPr>
          <p:cNvPr id="101" name="Brand 101"/>
          <p:cNvSpPr/>
          <p:nvPr userDrawn="1"/>
        </p:nvSpPr>
        <p:spPr>
          <a:xfrm>
            <a:off x="9631375" y="128016"/>
            <a:ext cx="274320" cy="274320"/>
          </a:xfrm>
          <a:prstGeom prst="roundRect">
            <a:avLst>
              <a:gd name="adj" fmla="val 25000"/>
            </a:avLst>
          </a:prstGeom>
          <a:solidFill>
            <a:srgbClr val="3050B8"/>
          </a:solidFill>
          <a:ln>
            <a:noFill/>
          </a:ln>
        </p:spPr>
      </p:sp>
      <p:sp>
        <p:nvSpPr>
          <p:cNvPr id="102" name="Brand 102"/>
          <p:cNvSpPr/>
          <p:nvPr userDrawn="1"/>
        </p:nvSpPr>
        <p:spPr>
          <a:xfrm>
            <a:off x="9748818" y="172593"/>
            <a:ext cx="39434" cy="39434"/>
          </a:xfrm>
          <a:prstGeom prst="ellipse">
            <a:avLst/>
          </a:prstGeom>
          <a:solidFill>
            <a:srgbClr val="FFFFFF"/>
          </a:solidFill>
          <a:ln>
            <a:noFill/>
          </a:ln>
        </p:spPr>
      </p:sp>
      <p:sp>
        <p:nvSpPr>
          <p:cNvPr id="103" name="Brand 103"/>
          <p:cNvSpPr/>
          <p:nvPr userDrawn="1"/>
        </p:nvSpPr>
        <p:spPr>
          <a:xfrm>
            <a:off x="9719672" y="207740"/>
            <a:ext cx="42862" cy="42862"/>
          </a:xfrm>
          <a:prstGeom prst="ellipse">
            <a:avLst/>
          </a:prstGeom>
          <a:solidFill>
            <a:srgbClr val="FFFFFF">
              <a:alpha val="92000"/>
            </a:srgbClr>
          </a:solidFill>
          <a:ln>
            <a:noFill/>
          </a:ln>
        </p:spPr>
      </p:sp>
      <p:sp>
        <p:nvSpPr>
          <p:cNvPr id="104" name="Brand 104"/>
          <p:cNvSpPr/>
          <p:nvPr userDrawn="1"/>
        </p:nvSpPr>
        <p:spPr>
          <a:xfrm>
            <a:off x="9774536" y="207740"/>
            <a:ext cx="42862" cy="42862"/>
          </a:xfrm>
          <a:prstGeom prst="ellipse">
            <a:avLst/>
          </a:prstGeom>
          <a:solidFill>
            <a:srgbClr val="FFFFFF">
              <a:alpha val="92000"/>
            </a:srgbClr>
          </a:solidFill>
          <a:ln>
            <a:noFill/>
          </a:ln>
        </p:spPr>
      </p:sp>
      <p:sp>
        <p:nvSpPr>
          <p:cNvPr id="105" name="Brand 105"/>
          <p:cNvSpPr/>
          <p:nvPr userDrawn="1"/>
        </p:nvSpPr>
        <p:spPr>
          <a:xfrm>
            <a:off x="9746247" y="230886"/>
            <a:ext cx="44577" cy="44577"/>
          </a:xfrm>
          <a:prstGeom prst="ellipse">
            <a:avLst/>
          </a:prstGeom>
          <a:solidFill>
            <a:srgbClr val="FFFFFF"/>
          </a:solidFill>
          <a:ln>
            <a:noFill/>
          </a:ln>
        </p:spPr>
      </p:sp>
      <p:sp>
        <p:nvSpPr>
          <p:cNvPr id="106" name="Brand 106"/>
          <p:cNvSpPr/>
          <p:nvPr userDrawn="1"/>
        </p:nvSpPr>
        <p:spPr>
          <a:xfrm>
            <a:off x="9709385" y="255746"/>
            <a:ext cx="46292" cy="46292"/>
          </a:xfrm>
          <a:prstGeom prst="ellipse">
            <a:avLst/>
          </a:prstGeom>
          <a:solidFill>
            <a:srgbClr val="FFFFFF">
              <a:alpha val="82000"/>
            </a:srgbClr>
          </a:solidFill>
          <a:ln>
            <a:noFill/>
          </a:ln>
        </p:spPr>
      </p:sp>
      <p:sp>
        <p:nvSpPr>
          <p:cNvPr id="107" name="Brand 107"/>
          <p:cNvSpPr/>
          <p:nvPr userDrawn="1"/>
        </p:nvSpPr>
        <p:spPr>
          <a:xfrm>
            <a:off x="9781394" y="255746"/>
            <a:ext cx="46292" cy="46292"/>
          </a:xfrm>
          <a:prstGeom prst="ellipse">
            <a:avLst/>
          </a:prstGeom>
          <a:solidFill>
            <a:srgbClr val="FFFFFF">
              <a:alpha val="82000"/>
            </a:srgbClr>
          </a:solidFill>
          <a:ln>
            <a:noFill/>
          </a:ln>
        </p:spPr>
      </p:sp>
      <p:sp>
        <p:nvSpPr>
          <p:cNvPr id="108" name="Brand 108"/>
          <p:cNvSpPr/>
          <p:nvPr userDrawn="1"/>
        </p:nvSpPr>
        <p:spPr>
          <a:xfrm>
            <a:off x="9761677" y="303752"/>
            <a:ext cx="13716" cy="55721"/>
          </a:xfrm>
          <a:prstGeom prst="roundRect">
            <a:avLst>
              <a:gd name="adj" fmla="val 50000"/>
            </a:avLst>
          </a:prstGeom>
          <a:solidFill>
            <a:srgbClr val="9FD18B"/>
          </a:solidFill>
          <a:ln>
            <a:noFill/>
          </a:ln>
        </p:spPr>
      </p:sp>
      <p:sp>
        <p:nvSpPr>
          <p:cNvPr id="109" name="Shape 109"/>
          <p:cNvSpPr txBox="1"/>
          <p:nvPr/>
        </p:nvSpPr>
        <p:spPr>
          <a:xfrm>
            <a:off x="9960559" y="109728"/>
            <a:ext cx="1737360" cy="310896"/>
          </a:xfrm>
          <a:prstGeom prst="rect">
            <a:avLst/>
          </a:prstGeom>
          <a:noFill/>
          <a:ln>
            <a:noFill/>
          </a:ln>
        </p:spPr>
        <p:txBody>
          <a:bodyPr wrap="square" lIns="18288" tIns="0" rIns="18288" bIns="0" anchor="ctr">
            <a:noAutofit/>
          </a:bodyPr>
          <a:lstStyle/>
          <a:p>
            <a:pPr algn="l">
              <a:lnSpc>
                <a:spcPct val="100000"/>
              </a:lnSpc>
            </a:pPr>
            <a:r>
              <a:rPr lang="en-US" sz="1125" dirty="0">
                <a:solidFill>
                  <a:srgbClr val="16171D"/>
                </a:solidFill>
                <a:latin typeface="Segoe UI"/>
                <a:cs typeface="Segoe UI"/>
              </a:rPr>
              <a:t xml:space="preserve">Bluebonnet </a:t>
            </a:r>
            <a:r>
              <a:rPr lang="en-US" sz="1125" dirty="0" b="1">
                <a:solidFill>
                  <a:srgbClr val="3050B8"/>
                </a:solidFill>
                <a:latin typeface="Segoe UI"/>
                <a:cs typeface="Segoe UI"/>
              </a:rPr>
              <a:t xml:space="preserve">Algebra I</a:t>
            </a:r>
            <a:endParaRPr lang="en-US" sz="1125" dirty="0"/>
          </a:p>
        </p:txBody>
      </p:sp>
    </p:spTree>
  </p:cSld>
  <p:clrMap bg1="lt1" tx1="dk1" bg2="lt2" tx2="dk2" accent1="accent1" accent2="accent2" accent3="accent3" accent4="accent4" accent5="accent5" accent6="accent6" hlink="hlink" folHlink="folHlink"/>
  <p:sldLayoutIdLst>
    <p:sldLayoutId id="2147483649" r:id="rId1"/>
  </p:sldLayoutId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hyperlink" Target="https://algebra1m2u1l4.vercel.app/IEP/t2-lesson3-bellwork-day1-IEP.html" TargetMode="External"/><Relationship Id="rId4" Type="http://schemas.openxmlformats.org/officeDocument/2006/relationships/hyperlink" Target="https://algebra1m2u1l4.vercel.app/IEP/t2-lesson3-bellwork-day2-IEP.html" TargetMode="External"/><Relationship Id="rId5" Type="http://schemas.openxmlformats.org/officeDocument/2006/relationships/hyperlink" Target="https://algebra1m2u1l4.vercel.app/IEP/t2-lesson3-homework-IEP.html" TargetMode="External"/><Relationship Id="rId6" Type="http://schemas.openxmlformats.org/officeDocument/2006/relationships/hyperlink" Target="https://algebra1m2u1l4.vercel.app/IEP/t2-lesson3-quiz-IEP.html"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hyperlink" Target="https://algebra1m2u1l4.vercel.app/IEP/t2-lesson3-bellwork-day1-IEP.html" TargetMode="External"/><Relationship Id="rId4" Type="http://schemas.openxmlformats.org/officeDocument/2006/relationships/hyperlink" Target="https://algebra1m2u1l4.vercel.app/IEP/t2-lesson3-bellwork-day2-IEP.html" TargetMode="External"/><Relationship Id="rId5" Type="http://schemas.openxmlformats.org/officeDocument/2006/relationships/hyperlink" Target="https://algebra1m2u1l4.vercel.app/IEP/t2-lesson3-homework-IEP.html" TargetMode="External"/><Relationship Id="rId6" Type="http://schemas.openxmlformats.org/officeDocument/2006/relationships/hyperlink" Target="https://algebra1m2u1l4.vercel.app/IEP/t2-lesson3-quiz-IEP.html"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Bluebonnet Algebra I · Module 2 · Topic 2 · Lesson 3 · IEP Version</a:t>
            </a:r>
            <a:endParaRPr lang="en-US" sz="1200" dirty="0"/>
          </a:p>
        </p:txBody>
      </p:sp>
      <p:sp>
        <p:nvSpPr>
          <p:cNvPr id="3" name="Shape 3"/>
          <p:cNvSpPr txBox="1"/>
          <p:nvPr/>
        </p:nvSpPr>
        <p:spPr>
          <a:xfrm>
            <a:off x="685800" y="961644"/>
            <a:ext cx="10820095" cy="740664"/>
          </a:xfrm>
          <a:prstGeom prst="rect">
            <a:avLst/>
          </a:prstGeom>
          <a:noFill/>
          <a:ln>
            <a:noFill/>
          </a:ln>
        </p:spPr>
        <p:txBody>
          <a:bodyPr wrap="square" lIns="36576" tIns="27432" rIns="36576" bIns="27432" anchor="t">
            <a:noAutofit/>
          </a:bodyPr>
          <a:lstStyle/>
          <a:p>
            <a:pPr algn="l">
              <a:lnSpc>
                <a:spcPct val="100000"/>
              </a:lnSpc>
            </a:pPr>
            <a:r>
              <a:rPr lang="en-US" sz="4500" dirty="0" b="1">
                <a:solidFill>
                  <a:srgbClr val="16171D"/>
                </a:solidFill>
                <a:latin typeface="Segoe UI"/>
                <a:cs typeface="Segoe UI"/>
              </a:rPr>
              <a:t xml:space="preserve">Slopes of Perpendicular Lines</a:t>
            </a:r>
            <a:endParaRPr lang="en-US" sz="4500" dirty="0"/>
          </a:p>
        </p:txBody>
      </p:sp>
      <p:sp>
        <p:nvSpPr>
          <p:cNvPr id="4" name="Shape 4"/>
          <p:cNvSpPr txBox="1"/>
          <p:nvPr/>
        </p:nvSpPr>
        <p:spPr>
          <a:xfrm>
            <a:off x="685800" y="1911858"/>
            <a:ext cx="10820095" cy="489204"/>
          </a:xfrm>
          <a:prstGeom prst="rect">
            <a:avLst/>
          </a:prstGeom>
          <a:noFill/>
          <a:ln>
            <a:noFill/>
          </a:ln>
        </p:spPr>
        <p:txBody>
          <a:bodyPr wrap="square" lIns="36576" tIns="27432" rIns="36576" bIns="27432" anchor="t">
            <a:noAutofit/>
          </a:bodyPr>
          <a:lstStyle/>
          <a:p>
            <a:pPr algn="l">
              <a:lnSpc>
                <a:spcPct val="100000"/>
              </a:lnSpc>
            </a:pPr>
            <a:r>
              <a:rPr lang="en-US" sz="2850" dirty="0" b="1" i="1">
                <a:solidFill>
                  <a:srgbClr val="C9561F"/>
                </a:solidFill>
                <a:latin typeface="Cambria"/>
                <a:cs typeface="Cambria"/>
              </a:rPr>
              <a:t xml:space="preserve">m</a:t>
            </a:r>
            <a:r>
              <a:rPr lang="en-US" sz="2422" dirty="0" b="1" baseline="-25000">
                <a:solidFill>
                  <a:srgbClr val="C9561F"/>
                </a:solidFill>
                <a:latin typeface="Cambria"/>
                <a:cs typeface="Cambria"/>
              </a:rPr>
              <a:t xml:space="preserve">1</a:t>
            </a:r>
            <a:r>
              <a:rPr lang="en-US" sz="2850" dirty="0">
                <a:solidFill>
                  <a:srgbClr val="16171D"/>
                </a:solidFill>
                <a:latin typeface="Cambria"/>
                <a:cs typeface="Cambria"/>
              </a:rPr>
              <a:t xml:space="preserve"> · </a:t>
            </a:r>
            <a:r>
              <a:rPr lang="en-US" sz="2850" dirty="0" b="1" i="1">
                <a:solidFill>
                  <a:srgbClr val="C9561F"/>
                </a:solidFill>
                <a:latin typeface="Cambria"/>
                <a:cs typeface="Cambria"/>
              </a:rPr>
              <a:t xml:space="preserve">m</a:t>
            </a:r>
            <a:r>
              <a:rPr lang="en-US" sz="2422" dirty="0" b="1" baseline="-25000">
                <a:solidFill>
                  <a:srgbClr val="C9561F"/>
                </a:solidFill>
                <a:latin typeface="Cambria"/>
                <a:cs typeface="Cambria"/>
              </a:rPr>
              <a:t xml:space="preserve">2</a:t>
            </a:r>
            <a:r>
              <a:rPr lang="en-US" sz="2850" dirty="0">
                <a:solidFill>
                  <a:srgbClr val="16171D"/>
                </a:solidFill>
                <a:latin typeface="Cambria"/>
                <a:cs typeface="Cambria"/>
              </a:rPr>
              <a:t xml:space="preserve"> = −1</a:t>
            </a:r>
            <a:endParaRPr lang="en-US" sz="2850" dirty="0"/>
          </a:p>
        </p:txBody>
      </p:sp>
      <p:sp>
        <p:nvSpPr>
          <p:cNvPr id="5" name="Shape 5"/>
          <p:cNvSpPr txBox="1"/>
          <p:nvPr/>
        </p:nvSpPr>
        <p:spPr>
          <a:xfrm>
            <a:off x="685800" y="2648712"/>
            <a:ext cx="10820095"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I can…</a:t>
            </a:r>
            <a:endParaRPr lang="en-US" sz="2100" dirty="0"/>
          </a:p>
        </p:txBody>
      </p:sp>
      <p:sp>
        <p:nvSpPr>
          <p:cNvPr id="6" name="Shape 6"/>
          <p:cNvSpPr txBox="1"/>
          <p:nvPr/>
        </p:nvSpPr>
        <p:spPr>
          <a:xfrm>
            <a:off x="685800" y="3195066"/>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find the slope of a perpendicular line.</a:t>
            </a:r>
            <a:endParaRPr lang="en-US" sz="1950" dirty="0"/>
          </a:p>
        </p:txBody>
      </p:sp>
      <p:sp>
        <p:nvSpPr>
          <p:cNvPr id="7" name="Shape 7"/>
          <p:cNvSpPr txBox="1"/>
          <p:nvPr/>
        </p:nvSpPr>
        <p:spPr>
          <a:xfrm>
            <a:off x="685800" y="3718560"/>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write equations of horizontal and vertical lines.</a:t>
            </a:r>
            <a:endParaRPr lang="en-US" sz="1950" dirty="0"/>
          </a:p>
        </p:txBody>
      </p:sp>
      <p:sp>
        <p:nvSpPr>
          <p:cNvPr id="8" name="Shape 8"/>
          <p:cNvSpPr txBox="1"/>
          <p:nvPr/>
        </p:nvSpPr>
        <p:spPr>
          <a:xfrm>
            <a:off x="685800" y="4242054"/>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write the equation of a perpendicular line through a point.</a:t>
            </a:r>
            <a:endParaRPr lang="en-US" sz="1950" dirty="0"/>
          </a:p>
        </p:txBody>
      </p:sp>
      <p:sp>
        <p:nvSpPr>
          <p:cNvPr id="9" name="Shape 9"/>
          <p:cNvSpPr txBox="1"/>
          <p:nvPr/>
        </p:nvSpPr>
        <p:spPr>
          <a:xfrm>
            <a:off x="685800" y="4822698"/>
            <a:ext cx="10820095" cy="329184"/>
          </a:xfrm>
          <a:prstGeom prst="rect">
            <a:avLst/>
          </a:prstGeom>
          <a:noFill/>
          <a:ln>
            <a:noFill/>
          </a:ln>
        </p:spPr>
        <p:txBody>
          <a:bodyPr wrap="square" lIns="36576" tIns="27432" rIns="36576" bIns="27432" anchor="t">
            <a:noAutofit/>
          </a:bodyPr>
          <a:lstStyle/>
          <a:p>
            <a:pPr algn="l">
              <a:lnSpc>
                <a:spcPct val="100000"/>
              </a:lnSpc>
            </a:pPr>
            <a:r>
              <a:rPr lang="en-US" sz="1800" dirty="0">
                <a:solidFill>
                  <a:srgbClr val="16171D"/>
                </a:solidFill>
                <a:latin typeface="Segoe UI"/>
                <a:cs typeface="Segoe UI"/>
              </a:rPr>
              <a:t xml:space="preserve">Bell work: </a:t>
            </a:r>
            <a:r>
              <a:rPr lang="en-US" sz="1800" dirty="0" b="1">
                <a:solidFill>
                  <a:srgbClr val="3050B8"/>
                </a:solidFill>
                <a:latin typeface="Segoe UI"/>
                <a:cs typeface="Segoe UI"/>
                <a:hlinkClick r:id="rId3"/>
              </a:rPr>
              <a:t xml:space="preserve">Day 1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4"/>
              </a:rPr>
              <a:t xml:space="preserve">Day 2 →</a:t>
            </a:r>
            <a:r>
              <a:rPr lang="en-US" sz="1800" dirty="0">
                <a:solidFill>
                  <a:srgbClr val="16171D"/>
                </a:solidFill>
                <a:latin typeface="Segoe UI"/>
                <a:cs typeface="Segoe UI"/>
              </a:rPr>
              <a:t xml:space="preserve"> | Practice: </a:t>
            </a:r>
            <a:r>
              <a:rPr lang="en-US" sz="1800" dirty="0" b="1">
                <a:solidFill>
                  <a:srgbClr val="3050B8"/>
                </a:solidFill>
                <a:latin typeface="Segoe UI"/>
                <a:cs typeface="Segoe UI"/>
                <a:hlinkClick r:id="rId5"/>
              </a:rPr>
              <a:t xml:space="preserve">Homework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6"/>
              </a:rPr>
              <a:t xml:space="preserve">Quiz →</a:t>
            </a:r>
            <a:endParaRPr lang="en-US" sz="1800" dirty="0"/>
          </a:p>
        </p:txBody>
      </p:sp>
      <p:sp>
        <p:nvSpPr>
          <p:cNvPr id="10" name="Shape 10"/>
          <p:cNvSpPr txBox="1"/>
          <p:nvPr/>
        </p:nvSpPr>
        <p:spPr>
          <a:xfrm>
            <a:off x="685800" y="6185916"/>
            <a:ext cx="10820095" cy="397764"/>
          </a:xfrm>
          <a:prstGeom prst="rect">
            <a:avLst/>
          </a:prstGeom>
          <a:noFill/>
          <a:ln>
            <a:noFill/>
          </a:ln>
        </p:spPr>
        <p:txBody>
          <a:bodyPr wrap="square" lIns="36576" tIns="27432" rIns="36576" bIns="27432" anchor="t">
            <a:noAutofit/>
          </a:bodyPr>
          <a:lstStyle/>
          <a:p>
            <a:pPr algn="l">
              <a:lnSpc>
                <a:spcPct val="100000"/>
              </a:lnSpc>
            </a:pPr>
            <a:r>
              <a:rPr lang="en-US" sz="1125" dirty="0">
                <a:solidFill>
                  <a:srgbClr val="5F6272"/>
                </a:solidFill>
                <a:latin typeface="Segoe UI"/>
                <a:cs typeface="Segoe UI"/>
              </a:rPr>
              <a:t xml:space="preserve">Based on Bluebonnet Learning Secondary Mathematics, Algebra I (©2024–2025 Texas Education Agency, portions ©2021 Carnegie Learning, Inc.), licensed CC BY-NC 4.0. A private site for Algebra I teachers.</a:t>
            </a:r>
            <a:endParaRPr lang="en-US" sz="1125" dirty="0"/>
          </a:p>
        </p:txBody>
      </p:sp>
      <p:sp>
        <p:nvSpPr>
          <p:cNvPr id="11" name="Slide Number 11"/>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a:t>
            </a:fld>
          </a:p>
        </p:txBody>
      </p:sp>
    </p:spTree>
  </p:cSld>
  <p:clrMapOvr>
    <a:masterClrMapping/>
  </p:clrMapOvr>
  <p:transition spd="med">
    <p:fade/>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Bell Work · Review</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Warm up: work these on your own</a:t>
            </a:r>
            <a:endParaRPr lang="en-US" sz="3450" dirty="0"/>
          </a:p>
        </p:txBody>
      </p:sp>
      <p:sp>
        <p:nvSpPr>
          <p:cNvPr id="7" name="Shape 7"/>
          <p:cNvSpPr txBox="1"/>
          <p:nvPr/>
        </p:nvSpPr>
        <p:spPr>
          <a:xfrm>
            <a:off x="685800" y="1618488"/>
            <a:ext cx="5295748" cy="204216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1.</a:t>
            </a:r>
            <a:r>
              <a:rPr lang="en-US" sz="1575" dirty="0">
                <a:solidFill>
                  <a:srgbClr val="16171D"/>
                </a:solidFill>
                <a:latin typeface="Segoe UI"/>
                <a:cs typeface="Segoe UI"/>
              </a:rPr>
              <a:t xml:space="preserve"> What is the reciprocal of </a:t>
            </a:r>
            <a:r>
              <a:rPr lang="en-US" sz="1575" dirty="0">
                <a:solidFill>
                  <a:srgbClr val="16171D"/>
                </a:solidFill>
                <a:latin typeface="Cambria"/>
                <a:cs typeface="Cambria"/>
              </a:rPr>
              <a:t xml:space="preserve">⅔</a:t>
            </a:r>
            <a:r>
              <a:rPr lang="en-US" sz="1575" dirty="0">
                <a:solidFill>
                  <a:srgbClr val="16171D"/>
                </a:solidFill>
                <a:latin typeface="Segoe UI"/>
                <a:cs typeface="Segoe UI"/>
              </a:rPr>
              <a:t xml:space="preserve">?</a:t>
            </a:r>
            <a:endParaRPr lang="en-US" sz="1575" dirty="0"/>
          </a:p>
        </p:txBody>
      </p:sp>
      <p:sp>
        <p:nvSpPr>
          <p:cNvPr id="5" name="Shape 5"/>
          <p:cNvSpPr txBox="1"/>
          <p:nvPr/>
        </p:nvSpPr>
        <p:spPr>
          <a:xfrm>
            <a:off x="895350" y="2122932"/>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Formula:</a:t>
            </a:r>
            <a:r>
              <a:rPr lang="en-US" sz="1575" dirty="0">
                <a:solidFill>
                  <a:srgbClr val="16171D"/>
                </a:solidFill>
                <a:latin typeface="Segoe UI"/>
                <a:cs typeface="Segoe UI"/>
              </a:rPr>
              <a:t xml:space="preserve"> reciprocal: flip the fraction</a:t>
            </a:r>
            <a:endParaRPr lang="en-US" sz="1575" dirty="0"/>
          </a:p>
        </p:txBody>
      </p:sp>
      <p:sp>
        <p:nvSpPr>
          <p:cNvPr id="6" name="Shape 6"/>
          <p:cNvSpPr txBox="1"/>
          <p:nvPr/>
        </p:nvSpPr>
        <p:spPr>
          <a:xfrm>
            <a:off x="895350" y="2455926"/>
            <a:ext cx="4876648" cy="103327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1425" dirty="0" b="1">
                <a:solidFill>
                  <a:srgbClr val="16171D"/>
                </a:solidFill>
                <a:latin typeface="Cambria"/>
                <a:cs typeface="Cambria"/>
              </a:rPr>
              <a:t xml:space="preserve">3/2</a:t>
            </a:r>
            <a:br>
              <a:rPr lang="en-US" sz="1425" dirty="0">
                <a:solidFill>
                  <a:srgbClr val="16171D"/>
                </a:solidFill>
                <a:latin typeface="Segoe UI"/>
                <a:cs typeface="Segoe UI"/>
              </a:rPr>
            </a:br>
            <a:r>
              <a:rPr lang="en-US" sz="1425" dirty="0" b="1">
                <a:solidFill>
                  <a:srgbClr val="16171D"/>
                </a:solidFill>
                <a:latin typeface="Segoe UI"/>
                <a:cs typeface="Segoe UI"/>
              </a:rPr>
              <a:t xml:space="preserve">1.</a:t>
            </a:r>
            <a:r>
              <a:rPr lang="en-US" sz="1425" dirty="0">
                <a:solidFill>
                  <a:srgbClr val="16171D"/>
                </a:solidFill>
                <a:latin typeface="Segoe UI"/>
                <a:cs typeface="Segoe UI"/>
              </a:rPr>
              <a:t xml:space="preserve"> </a:t>
            </a:r>
            <a:r>
              <a:rPr lang="en-US" sz="1425" dirty="0">
                <a:solidFill>
                  <a:srgbClr val="16171D"/>
                </a:solidFill>
                <a:latin typeface="Cambria"/>
                <a:cs typeface="Cambria"/>
              </a:rPr>
              <a:t xml:space="preserve">⅔</a:t>
            </a:r>
            <a:r>
              <a:rPr lang="en-US" sz="1425" dirty="0">
                <a:solidFill>
                  <a:srgbClr val="16171D"/>
                </a:solidFill>
                <a:latin typeface="Segoe UI"/>
                <a:cs typeface="Segoe UI"/>
              </a:rPr>
              <a:t xml:space="preserve"> has 2 on top and 3 on the bottom. Flip them: </a:t>
            </a:r>
            <a:r>
              <a:rPr lang="en-US" sz="1425" dirty="0">
                <a:solidFill>
                  <a:srgbClr val="16171D"/>
                </a:solidFill>
                <a:latin typeface="Cambria"/>
                <a:cs typeface="Cambria"/>
              </a:rPr>
              <a:t xml:space="preserve">3/2</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2.</a:t>
            </a:r>
            <a:r>
              <a:rPr lang="en-US" sz="1425" dirty="0">
                <a:solidFill>
                  <a:srgbClr val="16171D"/>
                </a:solidFill>
                <a:latin typeface="Segoe UI"/>
                <a:cs typeface="Segoe UI"/>
              </a:rPr>
              <a:t xml:space="preserve"> Check: </a:t>
            </a:r>
            <a:r>
              <a:rPr lang="en-US" sz="1425" dirty="0">
                <a:solidFill>
                  <a:srgbClr val="16171D"/>
                </a:solidFill>
                <a:latin typeface="Cambria"/>
                <a:cs typeface="Cambria"/>
              </a:rPr>
              <a:t xml:space="preserve">⅔ · 3/2 = 1</a:t>
            </a:r>
            <a:r>
              <a:rPr lang="en-US" sz="1425" dirty="0">
                <a:solidFill>
                  <a:srgbClr val="16171D"/>
                </a:solidFill>
                <a:latin typeface="Segoe UI"/>
                <a:cs typeface="Segoe UI"/>
              </a:rPr>
              <a:t xml:space="preserve">.</a:t>
            </a:r>
            <a:endParaRPr lang="en-US" sz="1425" dirty="0"/>
          </a:p>
        </p:txBody>
      </p:sp>
      <p:sp>
        <p:nvSpPr>
          <p:cNvPr id="11" name="Shape 11"/>
          <p:cNvSpPr txBox="1"/>
          <p:nvPr/>
        </p:nvSpPr>
        <p:spPr>
          <a:xfrm>
            <a:off x="685800" y="3793998"/>
            <a:ext cx="5295748" cy="206502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895350" y="3965448"/>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2.</a:t>
            </a:r>
            <a:r>
              <a:rPr lang="en-US" sz="1575" dirty="0">
                <a:solidFill>
                  <a:srgbClr val="16171D"/>
                </a:solidFill>
                <a:latin typeface="Segoe UI"/>
                <a:cs typeface="Segoe UI"/>
              </a:rPr>
              <a:t xml:space="preserve"> Rotate the point </a:t>
            </a:r>
            <a:r>
              <a:rPr lang="en-US" sz="1575" dirty="0">
                <a:solidFill>
                  <a:srgbClr val="16171D"/>
                </a:solidFill>
                <a:latin typeface="Cambria"/>
                <a:cs typeface="Cambria"/>
              </a:rPr>
              <a:t xml:space="preserve">(8, 5)</a:t>
            </a:r>
            <a:r>
              <a:rPr lang="en-US" sz="1575" dirty="0">
                <a:solidFill>
                  <a:srgbClr val="16171D"/>
                </a:solidFill>
                <a:latin typeface="Segoe UI"/>
                <a:cs typeface="Segoe UI"/>
              </a:rPr>
              <a:t xml:space="preserve"> 90° counterclockwise about the origin. Where does it go?</a:t>
            </a:r>
            <a:endParaRPr lang="en-US" sz="1575" dirty="0"/>
          </a:p>
        </p:txBody>
      </p:sp>
      <p:sp>
        <p:nvSpPr>
          <p:cNvPr id="9" name="Shape 9"/>
          <p:cNvSpPr txBox="1"/>
          <p:nvPr/>
        </p:nvSpPr>
        <p:spPr>
          <a:xfrm>
            <a:off x="895350" y="4538472"/>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Formula:</a:t>
            </a:r>
            <a:r>
              <a:rPr lang="en-US" sz="1575" dirty="0">
                <a:solidFill>
                  <a:srgbClr val="16171D"/>
                </a:solidFill>
                <a:latin typeface="Segoe UI"/>
                <a:cs typeface="Segoe UI"/>
              </a:rPr>
              <a:t xml:space="preserve"> 90° counterclockwise: </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 </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a:t>
            </a:r>
            <a:endParaRPr lang="en-US" sz="1575" dirty="0"/>
          </a:p>
        </p:txBody>
      </p:sp>
      <p:sp>
        <p:nvSpPr>
          <p:cNvPr id="10" name="Shape 10"/>
          <p:cNvSpPr txBox="1"/>
          <p:nvPr/>
        </p:nvSpPr>
        <p:spPr>
          <a:xfrm>
            <a:off x="895350" y="4871466"/>
            <a:ext cx="2431835" cy="81610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1425" dirty="0" b="1">
                <a:solidFill>
                  <a:srgbClr val="16171D"/>
                </a:solidFill>
                <a:latin typeface="Cambria"/>
                <a:cs typeface="Cambria"/>
              </a:rPr>
              <a:t xml:space="preserve">(−5, 8)</a:t>
            </a:r>
            <a:br>
              <a:rPr lang="en-US" sz="1425" dirty="0">
                <a:solidFill>
                  <a:srgbClr val="16171D"/>
                </a:solidFill>
                <a:latin typeface="Segoe UI"/>
                <a:cs typeface="Segoe UI"/>
              </a:rPr>
            </a:br>
            <a:r>
              <a:rPr lang="en-US" sz="1425" dirty="0" b="1">
                <a:solidFill>
                  <a:srgbClr val="16171D"/>
                </a:solidFill>
                <a:latin typeface="Segoe UI"/>
                <a:cs typeface="Segoe UI"/>
              </a:rPr>
              <a:t xml:space="preserve">1.</a:t>
            </a:r>
            <a:r>
              <a:rPr lang="en-US" sz="1425" dirty="0">
                <a:solidFill>
                  <a:srgbClr val="16171D"/>
                </a:solidFill>
                <a:latin typeface="Segoe UI"/>
                <a:cs typeface="Segoe UI"/>
              </a:rPr>
              <a:t xml:space="preserve"> </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8</a:t>
            </a:r>
            <a:r>
              <a:rPr lang="en-US" sz="1425" dirty="0">
                <a:solidFill>
                  <a:srgbClr val="16171D"/>
                </a:solidFill>
                <a:latin typeface="Segoe UI"/>
                <a:cs typeface="Segoe UI"/>
              </a:rPr>
              <a:t xml:space="preserve"> and </a:t>
            </a:r>
            <a:r>
              <a:rPr lang="en-US" sz="1425" dirty="0" i="1">
                <a:solidFill>
                  <a:srgbClr val="16171D"/>
                </a:solidFill>
                <a:latin typeface="Cambria"/>
                <a:cs typeface="Cambria"/>
              </a:rPr>
              <a:t xml:space="preserve">y</a:t>
            </a:r>
            <a:r>
              <a:rPr lang="en-US" sz="1425" dirty="0">
                <a:solidFill>
                  <a:srgbClr val="16171D"/>
                </a:solidFill>
                <a:latin typeface="Cambria"/>
                <a:cs typeface="Cambria"/>
              </a:rPr>
              <a:t xml:space="preserve"> = 5</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2.</a:t>
            </a:r>
            <a:r>
              <a:rPr lang="en-US" sz="1425" dirty="0">
                <a:solidFill>
                  <a:srgbClr val="16171D"/>
                </a:solidFill>
                <a:latin typeface="Segoe UI"/>
                <a:cs typeface="Segoe UI"/>
              </a:rPr>
              <a:t xml:space="preserve"> </a:t>
            </a:r>
            <a:r>
              <a:rPr lang="en-US" sz="1425" dirty="0">
                <a:solidFill>
                  <a:srgbClr val="16171D"/>
                </a:solidFill>
                <a:latin typeface="Cambria"/>
                <a:cs typeface="Cambria"/>
              </a:rPr>
              <a:t xml:space="preserve">(−</a:t>
            </a:r>
            <a:r>
              <a:rPr lang="en-US" sz="1425" dirty="0" i="1">
                <a:solidFill>
                  <a:srgbClr val="16171D"/>
                </a:solidFill>
                <a:latin typeface="Cambria"/>
                <a:cs typeface="Cambria"/>
              </a:rPr>
              <a:t xml:space="preserve">y</a:t>
            </a:r>
            <a:r>
              <a:rPr lang="en-US" sz="1425" dirty="0">
                <a:solidFill>
                  <a:srgbClr val="16171D"/>
                </a:solidFill>
                <a:latin typeface="Cambria"/>
                <a:cs typeface="Cambria"/>
              </a:rPr>
              <a:t xml:space="preserve">, </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(−5, 8)</a:t>
            </a:r>
            <a:r>
              <a:rPr lang="en-US" sz="1425" dirty="0">
                <a:solidFill>
                  <a:srgbClr val="16171D"/>
                </a:solidFill>
                <a:latin typeface="Segoe UI"/>
                <a:cs typeface="Segoe UI"/>
              </a:rPr>
              <a:t xml:space="preserve">.</a:t>
            </a:r>
            <a:endParaRPr lang="en-US" sz="1425" dirty="0"/>
          </a:p>
        </p:txBody>
      </p:sp>
      <p:sp>
        <p:nvSpPr>
          <p:cNvPr id="15" name="Shape 15"/>
          <p:cNvSpPr txBox="1"/>
          <p:nvPr/>
        </p:nvSpPr>
        <p:spPr>
          <a:xfrm>
            <a:off x="6210148" y="1618488"/>
            <a:ext cx="5295748" cy="228219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2" name="Shape 12"/>
          <p:cNvSpPr txBox="1"/>
          <p:nvPr/>
        </p:nvSpPr>
        <p:spPr>
          <a:xfrm>
            <a:off x="6419698" y="1789938"/>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3.</a:t>
            </a:r>
            <a:r>
              <a:rPr lang="en-US" sz="1575" dirty="0">
                <a:solidFill>
                  <a:srgbClr val="16171D"/>
                </a:solidFill>
                <a:latin typeface="Segoe UI"/>
                <a:cs typeface="Segoe UI"/>
              </a:rPr>
              <a:t xml:space="preserve"> What is the slope of the segment from </a:t>
            </a:r>
            <a:r>
              <a:rPr lang="en-US" sz="1575" dirty="0">
                <a:solidFill>
                  <a:srgbClr val="16171D"/>
                </a:solidFill>
                <a:latin typeface="Cambria"/>
                <a:cs typeface="Cambria"/>
              </a:rPr>
              <a:t xml:space="preserve">(0, 0)</a:t>
            </a:r>
            <a:r>
              <a:rPr lang="en-US" sz="1575" dirty="0">
                <a:solidFill>
                  <a:srgbClr val="16171D"/>
                </a:solidFill>
                <a:latin typeface="Segoe UI"/>
                <a:cs typeface="Segoe UI"/>
              </a:rPr>
              <a:t xml:space="preserve"> to </a:t>
            </a:r>
            <a:r>
              <a:rPr lang="en-US" sz="1575" dirty="0">
                <a:solidFill>
                  <a:srgbClr val="16171D"/>
                </a:solidFill>
                <a:latin typeface="Cambria"/>
                <a:cs typeface="Cambria"/>
              </a:rPr>
              <a:t xml:space="preserve">(8, 5)</a:t>
            </a:r>
            <a:r>
              <a:rPr lang="en-US" sz="1575" dirty="0">
                <a:solidFill>
                  <a:srgbClr val="16171D"/>
                </a:solidFill>
                <a:latin typeface="Segoe UI"/>
                <a:cs typeface="Segoe UI"/>
              </a:rPr>
              <a:t xml:space="preserve">?</a:t>
            </a:r>
            <a:endParaRPr lang="en-US" sz="1575" dirty="0"/>
          </a:p>
        </p:txBody>
      </p:sp>
      <p:sp>
        <p:nvSpPr>
          <p:cNvPr id="13" name="Shape 13"/>
          <p:cNvSpPr txBox="1"/>
          <p:nvPr/>
        </p:nvSpPr>
        <p:spPr>
          <a:xfrm>
            <a:off x="6419698" y="2362962"/>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Formula:</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m</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₂ − </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₁) ÷ (</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₂ − </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₁)</a:t>
            </a:r>
            <a:endParaRPr lang="en-US" sz="1575" dirty="0"/>
          </a:p>
        </p:txBody>
      </p:sp>
      <p:sp>
        <p:nvSpPr>
          <p:cNvPr id="14" name="Shape 14"/>
          <p:cNvSpPr txBox="1"/>
          <p:nvPr/>
        </p:nvSpPr>
        <p:spPr>
          <a:xfrm>
            <a:off x="6419698" y="2695956"/>
            <a:ext cx="3868415" cy="103327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1425" dirty="0" b="1">
                <a:solidFill>
                  <a:srgbClr val="16171D"/>
                </a:solidFill>
                <a:latin typeface="Cambria"/>
                <a:cs typeface="Cambria"/>
              </a:rPr>
              <a:t xml:space="preserve">5/8</a:t>
            </a:r>
            <a:br>
              <a:rPr lang="en-US" sz="1425" dirty="0">
                <a:solidFill>
                  <a:srgbClr val="16171D"/>
                </a:solidFill>
                <a:latin typeface="Segoe UI"/>
                <a:cs typeface="Segoe UI"/>
              </a:rPr>
            </a:br>
            <a:r>
              <a:rPr lang="en-US" sz="1425" dirty="0" b="1">
                <a:solidFill>
                  <a:srgbClr val="16171D"/>
                </a:solidFill>
                <a:latin typeface="Segoe UI"/>
                <a:cs typeface="Segoe UI"/>
              </a:rPr>
              <a:t xml:space="preserve">1.</a:t>
            </a:r>
            <a:r>
              <a:rPr lang="en-US" sz="1425" dirty="0">
                <a:solidFill>
                  <a:srgbClr val="16171D"/>
                </a:solidFill>
                <a:latin typeface="Segoe UI"/>
                <a:cs typeface="Segoe UI"/>
              </a:rPr>
              <a:t xml:space="preserve"> Subtract the </a:t>
            </a:r>
            <a:r>
              <a:rPr lang="en-US" sz="1425" dirty="0" i="1">
                <a:solidFill>
                  <a:srgbClr val="16171D"/>
                </a:solidFill>
                <a:latin typeface="Cambria"/>
                <a:cs typeface="Cambria"/>
              </a:rPr>
              <a:t xml:space="preserve">y</a:t>
            </a:r>
            <a:r>
              <a:rPr lang="en-US" sz="1425" dirty="0">
                <a:solidFill>
                  <a:srgbClr val="16171D"/>
                </a:solidFill>
                <a:latin typeface="Segoe UI"/>
                <a:cs typeface="Segoe UI"/>
              </a:rPr>
              <a:t xml:space="preserve">-values: </a:t>
            </a:r>
            <a:r>
              <a:rPr lang="en-US" sz="1425" dirty="0">
                <a:solidFill>
                  <a:srgbClr val="16171D"/>
                </a:solidFill>
                <a:latin typeface="Cambria"/>
                <a:cs typeface="Cambria"/>
              </a:rPr>
              <a:t xml:space="preserve">5 − 0 = 5</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2.</a:t>
            </a:r>
            <a:r>
              <a:rPr lang="en-US" sz="1425" dirty="0">
                <a:solidFill>
                  <a:srgbClr val="16171D"/>
                </a:solidFill>
                <a:latin typeface="Segoe UI"/>
                <a:cs typeface="Segoe UI"/>
              </a:rPr>
              <a:t xml:space="preserve"> Subtract the </a:t>
            </a:r>
            <a:r>
              <a:rPr lang="en-US" sz="1425" dirty="0" i="1">
                <a:solidFill>
                  <a:srgbClr val="16171D"/>
                </a:solidFill>
                <a:latin typeface="Cambria"/>
                <a:cs typeface="Cambria"/>
              </a:rPr>
              <a:t xml:space="preserve">x</a:t>
            </a:r>
            <a:r>
              <a:rPr lang="en-US" sz="1425" dirty="0">
                <a:solidFill>
                  <a:srgbClr val="16171D"/>
                </a:solidFill>
                <a:latin typeface="Segoe UI"/>
                <a:cs typeface="Segoe UI"/>
              </a:rPr>
              <a:t xml:space="preserve">-values: </a:t>
            </a:r>
            <a:r>
              <a:rPr lang="en-US" sz="1425" dirty="0">
                <a:solidFill>
                  <a:srgbClr val="16171D"/>
                </a:solidFill>
                <a:latin typeface="Cambria"/>
                <a:cs typeface="Cambria"/>
              </a:rPr>
              <a:t xml:space="preserve">8 − 0 = 8</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3.</a:t>
            </a:r>
            <a:r>
              <a:rPr lang="en-US" sz="1425" dirty="0">
                <a:solidFill>
                  <a:srgbClr val="16171D"/>
                </a:solidFill>
                <a:latin typeface="Segoe UI"/>
                <a:cs typeface="Segoe UI"/>
              </a:rPr>
              <a:t xml:space="preserve"> Divide: </a:t>
            </a:r>
            <a:r>
              <a:rPr lang="en-US" sz="1425" dirty="0">
                <a:solidFill>
                  <a:srgbClr val="16171D"/>
                </a:solidFill>
                <a:latin typeface="Cambria"/>
                <a:cs typeface="Cambria"/>
              </a:rPr>
              <a:t xml:space="preserve">5 ÷ 8 = 5/8</a:t>
            </a:r>
            <a:r>
              <a:rPr lang="en-US" sz="1425" dirty="0">
                <a:solidFill>
                  <a:srgbClr val="16171D"/>
                </a:solidFill>
                <a:latin typeface="Segoe UI"/>
                <a:cs typeface="Segoe UI"/>
              </a:rPr>
              <a:t xml:space="preserve">.</a:t>
            </a:r>
            <a:endParaRPr lang="en-US" sz="1425" dirty="0"/>
          </a:p>
        </p:txBody>
      </p:sp>
      <p:sp>
        <p:nvSpPr>
          <p:cNvPr id="19" name="Shape 19"/>
          <p:cNvSpPr txBox="1"/>
          <p:nvPr/>
        </p:nvSpPr>
        <p:spPr>
          <a:xfrm>
            <a:off x="6210148" y="4034028"/>
            <a:ext cx="5295748" cy="204216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6" name="Shape 16"/>
          <p:cNvSpPr txBox="1"/>
          <p:nvPr/>
        </p:nvSpPr>
        <p:spPr>
          <a:xfrm>
            <a:off x="6419698" y="4205478"/>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4.</a:t>
            </a:r>
            <a:r>
              <a:rPr lang="en-US" sz="1575" dirty="0">
                <a:solidFill>
                  <a:srgbClr val="16171D"/>
                </a:solidFill>
                <a:latin typeface="Segoe UI"/>
                <a:cs typeface="Segoe UI"/>
              </a:rPr>
              <a:t xml:space="preserve"> What is the slope of </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 = −3</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+ 5</a:t>
            </a:r>
            <a:r>
              <a:rPr lang="en-US" sz="1575" dirty="0">
                <a:solidFill>
                  <a:srgbClr val="16171D"/>
                </a:solidFill>
                <a:latin typeface="Segoe UI"/>
                <a:cs typeface="Segoe UI"/>
              </a:rPr>
              <a:t xml:space="preserve">?</a:t>
            </a:r>
            <a:endParaRPr lang="en-US" sz="1575" dirty="0"/>
          </a:p>
        </p:txBody>
      </p:sp>
      <p:sp>
        <p:nvSpPr>
          <p:cNvPr id="17" name="Shape 17"/>
          <p:cNvSpPr txBox="1"/>
          <p:nvPr/>
        </p:nvSpPr>
        <p:spPr>
          <a:xfrm>
            <a:off x="6419698" y="4538472"/>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Formula:</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m</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b</a:t>
            </a:r>
            <a:r>
              <a:rPr lang="en-US" sz="1575" dirty="0">
                <a:solidFill>
                  <a:srgbClr val="16171D"/>
                </a:solidFill>
                <a:latin typeface="Segoe UI"/>
                <a:cs typeface="Segoe UI"/>
              </a:rPr>
              <a:t xml:space="preserve">, slope </a:t>
            </a:r>
            <a:r>
              <a:rPr lang="en-US" sz="1575" dirty="0" i="1">
                <a:solidFill>
                  <a:srgbClr val="16171D"/>
                </a:solidFill>
                <a:latin typeface="Cambria"/>
                <a:cs typeface="Cambria"/>
              </a:rPr>
              <a:t xml:space="preserve">m</a:t>
            </a:r>
            <a:endParaRPr lang="en-US" sz="1575" dirty="0"/>
          </a:p>
        </p:txBody>
      </p:sp>
      <p:sp>
        <p:nvSpPr>
          <p:cNvPr id="18" name="Shape 18"/>
          <p:cNvSpPr txBox="1"/>
          <p:nvPr/>
        </p:nvSpPr>
        <p:spPr>
          <a:xfrm>
            <a:off x="6419698" y="4871466"/>
            <a:ext cx="4876648" cy="103327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1425" dirty="0" b="1">
                <a:solidFill>
                  <a:srgbClr val="16171D"/>
                </a:solidFill>
                <a:latin typeface="Cambria"/>
                <a:cs typeface="Cambria"/>
              </a:rPr>
              <a:t xml:space="preserve">−3</a:t>
            </a:r>
            <a:br>
              <a:rPr lang="en-US" sz="1425" dirty="0">
                <a:solidFill>
                  <a:srgbClr val="16171D"/>
                </a:solidFill>
                <a:latin typeface="Segoe UI"/>
                <a:cs typeface="Segoe UI"/>
              </a:rPr>
            </a:br>
            <a:r>
              <a:rPr lang="en-US" sz="1425" dirty="0" b="1">
                <a:solidFill>
                  <a:srgbClr val="16171D"/>
                </a:solidFill>
                <a:latin typeface="Segoe UI"/>
                <a:cs typeface="Segoe UI"/>
              </a:rPr>
              <a:t xml:space="preserve">1.</a:t>
            </a:r>
            <a:r>
              <a:rPr lang="en-US" sz="1425" dirty="0">
                <a:solidFill>
                  <a:srgbClr val="16171D"/>
                </a:solidFill>
                <a:latin typeface="Segoe UI"/>
                <a:cs typeface="Segoe UI"/>
              </a:rPr>
              <a:t xml:space="preserve"> Match </a:t>
            </a:r>
            <a:r>
              <a:rPr lang="en-US" sz="1425" dirty="0" i="1">
                <a:solidFill>
                  <a:srgbClr val="16171D"/>
                </a:solidFill>
                <a:latin typeface="Cambria"/>
                <a:cs typeface="Cambria"/>
              </a:rPr>
              <a:t xml:space="preserve">y</a:t>
            </a:r>
            <a:r>
              <a:rPr lang="en-US" sz="1425" dirty="0">
                <a:solidFill>
                  <a:srgbClr val="16171D"/>
                </a:solidFill>
                <a:latin typeface="Cambria"/>
                <a:cs typeface="Cambria"/>
              </a:rPr>
              <a:t xml:space="preserve"> = −3</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+ 5</a:t>
            </a:r>
            <a:r>
              <a:rPr lang="en-US" sz="1425" dirty="0">
                <a:solidFill>
                  <a:srgbClr val="16171D"/>
                </a:solidFill>
                <a:latin typeface="Segoe UI"/>
                <a:cs typeface="Segoe UI"/>
              </a:rPr>
              <a:t xml:space="preserve"> to </a:t>
            </a:r>
            <a:r>
              <a:rPr lang="en-US" sz="1425" dirty="0" i="1">
                <a:solidFill>
                  <a:srgbClr val="16171D"/>
                </a:solidFill>
                <a:latin typeface="Cambria"/>
                <a:cs typeface="Cambria"/>
              </a:rPr>
              <a:t xml:space="preserve">y</a:t>
            </a:r>
            <a:r>
              <a:rPr lang="en-US" sz="1425" dirty="0">
                <a:solidFill>
                  <a:srgbClr val="16171D"/>
                </a:solidFill>
                <a:latin typeface="Cambria"/>
                <a:cs typeface="Cambria"/>
              </a:rPr>
              <a:t xml:space="preserve"> = </a:t>
            </a:r>
            <a:r>
              <a:rPr lang="en-US" sz="1425" dirty="0" i="1">
                <a:solidFill>
                  <a:srgbClr val="16171D"/>
                </a:solidFill>
                <a:latin typeface="Cambria"/>
                <a:cs typeface="Cambria"/>
              </a:rPr>
              <a:t xml:space="preserve">m</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a:t>
            </a:r>
            <a:r>
              <a:rPr lang="en-US" sz="1425" dirty="0" i="1">
                <a:solidFill>
                  <a:srgbClr val="16171D"/>
                </a:solidFill>
                <a:latin typeface="Cambria"/>
                <a:cs typeface="Cambria"/>
              </a:rPr>
              <a:t xml:space="preserve">b</a:t>
            </a:r>
            <a:r>
              <a:rPr lang="en-US" sz="1425" dirty="0">
                <a:solidFill>
                  <a:srgbClr val="16171D"/>
                </a:solidFill>
                <a:latin typeface="Segoe UI"/>
                <a:cs typeface="Segoe UI"/>
              </a:rPr>
              <a:t xml:space="preserve">: </a:t>
            </a:r>
            <a:r>
              <a:rPr lang="en-US" sz="1425" dirty="0" i="1">
                <a:solidFill>
                  <a:srgbClr val="16171D"/>
                </a:solidFill>
                <a:latin typeface="Cambria"/>
                <a:cs typeface="Cambria"/>
              </a:rPr>
              <a:t xml:space="preserve">m</a:t>
            </a:r>
            <a:r>
              <a:rPr lang="en-US" sz="1425" dirty="0">
                <a:solidFill>
                  <a:srgbClr val="16171D"/>
                </a:solidFill>
                <a:latin typeface="Cambria"/>
                <a:cs typeface="Cambria"/>
              </a:rPr>
              <a:t xml:space="preserve"> = −3</a:t>
            </a:r>
            <a:r>
              <a:rPr lang="en-US" sz="1425" dirty="0">
                <a:solidFill>
                  <a:srgbClr val="16171D"/>
                </a:solidFill>
                <a:latin typeface="Segoe UI"/>
                <a:cs typeface="Segoe UI"/>
              </a:rPr>
              <a:t xml:space="preserve"> and </a:t>
            </a:r>
            <a:r>
              <a:rPr lang="en-US" sz="1425" dirty="0" i="1">
                <a:solidFill>
                  <a:srgbClr val="16171D"/>
                </a:solidFill>
                <a:latin typeface="Cambria"/>
                <a:cs typeface="Cambria"/>
              </a:rPr>
              <a:t xml:space="preserve">b</a:t>
            </a:r>
            <a:r>
              <a:rPr lang="en-US" sz="1425" dirty="0">
                <a:solidFill>
                  <a:srgbClr val="16171D"/>
                </a:solidFill>
                <a:latin typeface="Cambria"/>
                <a:cs typeface="Cambria"/>
              </a:rPr>
              <a:t xml:space="preserve"> = 5</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2.</a:t>
            </a:r>
            <a:r>
              <a:rPr lang="en-US" sz="1425" dirty="0">
                <a:solidFill>
                  <a:srgbClr val="16171D"/>
                </a:solidFill>
                <a:latin typeface="Segoe UI"/>
                <a:cs typeface="Segoe UI"/>
              </a:rPr>
              <a:t xml:space="preserve"> The slope is </a:t>
            </a:r>
            <a:r>
              <a:rPr lang="en-US" sz="1425" dirty="0">
                <a:solidFill>
                  <a:srgbClr val="16171D"/>
                </a:solidFill>
                <a:latin typeface="Cambria"/>
                <a:cs typeface="Cambria"/>
              </a:rPr>
              <a:t xml:space="preserve">−3</a:t>
            </a:r>
            <a:r>
              <a:rPr lang="en-US" sz="1425" dirty="0">
                <a:solidFill>
                  <a:srgbClr val="16171D"/>
                </a:solidFill>
                <a:latin typeface="Segoe UI"/>
                <a:cs typeface="Segoe UI"/>
              </a:rPr>
              <a:t xml:space="preserve">.</a:t>
            </a:r>
            <a:endParaRPr lang="en-US" sz="1425" dirty="0"/>
          </a:p>
        </p:txBody>
      </p:sp>
      <p:sp>
        <p:nvSpPr>
          <p:cNvPr id="20" name="Slide Number 20"/>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6"/>
                                        </p:tgtEl>
                                        <p:attrNameLst>
                                          <p:attrName>style.visibility</p:attrName>
                                        </p:attrNameLst>
                                      </p:cBhvr>
                                      <p:to>
                                        <p:strVal val="visible"/>
                                      </p:to>
                                    </p:set>
                                    <p:animEffect transition="in" filter="fade">
                                      <p:cBhvr>
                                        <p:cTn id="4" dur="500"/>
                                        <p:tgtEl>
                                          <p:spTgt spid="6"/>
                                        </p:tgtEl>
                                      </p:cBhvr>
                                    </p:animEffect>
                                    <p:anim calcmode="lin" valueType="num">
                                      <p:cBhvr>
                                        <p:cTn id="5" dur="500" fill="hold"/>
                                        <p:tgtEl>
                                          <p:spTgt spid="6"/>
                                        </p:tgtEl>
                                        <p:attrNameLst>
                                          <p:attrName>ppt_w</p:attrName>
                                        </p:attrNameLst>
                                      </p:cBhvr>
                                      <p:tavLst>
                                        <p:tav tm="0">
                                          <p:val>
                                            <p:fltVal val="0"/>
                                          </p:val>
                                        </p:tav>
                                        <p:tav tm="100000">
                                          <p:val>
                                            <p:strVal val="#ppt_w"/>
                                          </p:val>
                                        </p:tav>
                                      </p:tavLst>
                                    </p:anim>
                                    <p:anim calcmode="lin" valueType="num">
                                      <p:cBhvr>
                                        <p:cTn id="6" dur="500" fill="hold"/>
                                        <p:tgtEl>
                                          <p:spTgt spid="6"/>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10"/>
                                        </p:tgtEl>
                                        <p:attrNameLst>
                                          <p:attrName>style.visibility</p:attrName>
                                        </p:attrNameLst>
                                      </p:cBhvr>
                                      <p:to>
                                        <p:strVal val="visible"/>
                                      </p:to>
                                    </p:set>
                                    <p:animEffect transition="in" filter="fade">
                                      <p:cBhvr>
                                        <p:cTn id="11" dur="500"/>
                                        <p:tgtEl>
                                          <p:spTgt spid="10"/>
                                        </p:tgtEl>
                                      </p:cBhvr>
                                    </p:animEffect>
                                    <p:anim calcmode="lin" valueType="num">
                                      <p:cBhvr>
                                        <p:cTn id="12" dur="500" fill="hold"/>
                                        <p:tgtEl>
                                          <p:spTgt spid="10"/>
                                        </p:tgtEl>
                                        <p:attrNameLst>
                                          <p:attrName>ppt_w</p:attrName>
                                        </p:attrNameLst>
                                      </p:cBhvr>
                                      <p:tavLst>
                                        <p:tav tm="0">
                                          <p:val>
                                            <p:fltVal val="0"/>
                                          </p:val>
                                        </p:tav>
                                        <p:tav tm="100000">
                                          <p:val>
                                            <p:strVal val="#ppt_w"/>
                                          </p:val>
                                        </p:tav>
                                      </p:tavLst>
                                    </p:anim>
                                    <p:anim calcmode="lin" valueType="num">
                                      <p:cBhvr>
                                        <p:cTn id="13" dur="500" fill="hold"/>
                                        <p:tgtEl>
                                          <p:spTgt spid="10"/>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14"/>
                                        </p:tgtEl>
                                        <p:attrNameLst>
                                          <p:attrName>style.visibility</p:attrName>
                                        </p:attrNameLst>
                                      </p:cBhvr>
                                      <p:to>
                                        <p:strVal val="visible"/>
                                      </p:to>
                                    </p:set>
                                    <p:animEffect transition="in" filter="fade">
                                      <p:cBhvr>
                                        <p:cTn id="18" dur="500"/>
                                        <p:tgtEl>
                                          <p:spTgt spid="14"/>
                                        </p:tgtEl>
                                      </p:cBhvr>
                                    </p:animEffect>
                                    <p:anim calcmode="lin" valueType="num">
                                      <p:cBhvr>
                                        <p:cTn id="19" dur="500" fill="hold"/>
                                        <p:tgtEl>
                                          <p:spTgt spid="14"/>
                                        </p:tgtEl>
                                        <p:attrNameLst>
                                          <p:attrName>ppt_w</p:attrName>
                                        </p:attrNameLst>
                                      </p:cBhvr>
                                      <p:tavLst>
                                        <p:tav tm="0">
                                          <p:val>
                                            <p:fltVal val="0"/>
                                          </p:val>
                                        </p:tav>
                                        <p:tav tm="100000">
                                          <p:val>
                                            <p:strVal val="#ppt_w"/>
                                          </p:val>
                                        </p:tav>
                                      </p:tavLst>
                                    </p:anim>
                                    <p:anim calcmode="lin" valueType="num">
                                      <p:cBhvr>
                                        <p:cTn id="20" dur="500" fill="hold"/>
                                        <p:tgtEl>
                                          <p:spTgt spid="14"/>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8"/>
                                        </p:tgtEl>
                                        <p:attrNameLst>
                                          <p:attrName>style.visibility</p:attrName>
                                        </p:attrNameLst>
                                      </p:cBhvr>
                                      <p:to>
                                        <p:strVal val="visible"/>
                                      </p:to>
                                    </p:set>
                                    <p:animEffect transition="in" filter="fade">
                                      <p:cBhvr>
                                        <p:cTn id="25" dur="500"/>
                                        <p:tgtEl>
                                          <p:spTgt spid="18"/>
                                        </p:tgtEl>
                                      </p:cBhvr>
                                    </p:animEffect>
                                    <p:anim calcmode="lin" valueType="num">
                                      <p:cBhvr>
                                        <p:cTn id="26" dur="500" fill="hold"/>
                                        <p:tgtEl>
                                          <p:spTgt spid="18"/>
                                        </p:tgtEl>
                                        <p:attrNameLst>
                                          <p:attrName>ppt_w</p:attrName>
                                        </p:attrNameLst>
                                      </p:cBhvr>
                                      <p:tavLst>
                                        <p:tav tm="0">
                                          <p:val>
                                            <p:fltVal val="0"/>
                                          </p:val>
                                        </p:tav>
                                        <p:tav tm="100000">
                                          <p:val>
                                            <p:strVal val="#ppt_w"/>
                                          </p:val>
                                        </p:tav>
                                      </p:tavLst>
                                    </p:anim>
                                    <p:anim calcmode="lin" valueType="num">
                                      <p:cBhvr>
                                        <p:cTn id="27" dur="500" fill="hold"/>
                                        <p:tgtEl>
                                          <p:spTgt spid="18"/>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Bell Work · Review</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Warm up: work these on your own</a:t>
            </a:r>
            <a:endParaRPr lang="en-US" sz="3450" dirty="0"/>
          </a:p>
        </p:txBody>
      </p:sp>
      <p:sp>
        <p:nvSpPr>
          <p:cNvPr id="7" name="Shape 7"/>
          <p:cNvSpPr txBox="1"/>
          <p:nvPr/>
        </p:nvSpPr>
        <p:spPr>
          <a:xfrm>
            <a:off x="685800" y="1618488"/>
            <a:ext cx="5295748" cy="228219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1.</a:t>
            </a:r>
            <a:r>
              <a:rPr lang="en-US" sz="1575" dirty="0">
                <a:solidFill>
                  <a:srgbClr val="16171D"/>
                </a:solidFill>
                <a:latin typeface="Segoe UI"/>
                <a:cs typeface="Segoe UI"/>
              </a:rPr>
              <a:t xml:space="preserve"> Line </a:t>
            </a:r>
            <a:r>
              <a:rPr lang="en-US" sz="1575" dirty="0" i="1">
                <a:solidFill>
                  <a:srgbClr val="16171D"/>
                </a:solidFill>
                <a:latin typeface="Cambria"/>
                <a:cs typeface="Cambria"/>
              </a:rPr>
              <a:t xml:space="preserve">j</a:t>
            </a:r>
            <a:r>
              <a:rPr lang="en-US" sz="1575" dirty="0">
                <a:solidFill>
                  <a:srgbClr val="16171D"/>
                </a:solidFill>
                <a:latin typeface="Segoe UI"/>
                <a:cs typeface="Segoe UI"/>
              </a:rPr>
              <a:t xml:space="preserve"> has slope </a:t>
            </a:r>
            <a:r>
              <a:rPr lang="en-US" sz="1575" dirty="0">
                <a:solidFill>
                  <a:srgbClr val="16171D"/>
                </a:solidFill>
                <a:latin typeface="Cambria"/>
                <a:cs typeface="Cambria"/>
              </a:rPr>
              <a:t xml:space="preserve">⅔</a:t>
            </a:r>
            <a:r>
              <a:rPr lang="en-US" sz="1575" dirty="0">
                <a:solidFill>
                  <a:srgbClr val="16171D"/>
                </a:solidFill>
                <a:latin typeface="Segoe UI"/>
                <a:cs typeface="Segoe UI"/>
              </a:rPr>
              <a:t xml:space="preserve">. Line </a:t>
            </a:r>
            <a:r>
              <a:rPr lang="en-US" sz="1575" dirty="0" i="1">
                <a:solidFill>
                  <a:srgbClr val="16171D"/>
                </a:solidFill>
                <a:latin typeface="Cambria"/>
                <a:cs typeface="Cambria"/>
              </a:rPr>
              <a:t xml:space="preserve">k</a:t>
            </a:r>
            <a:r>
              <a:rPr lang="en-US" sz="1575" dirty="0">
                <a:solidFill>
                  <a:srgbClr val="16171D"/>
                </a:solidFill>
                <a:latin typeface="Segoe UI"/>
                <a:cs typeface="Segoe UI"/>
              </a:rPr>
              <a:t xml:space="preserve"> is perpendicular to it. What is the slope of </a:t>
            </a:r>
            <a:r>
              <a:rPr lang="en-US" sz="1575" dirty="0" i="1">
                <a:solidFill>
                  <a:srgbClr val="16171D"/>
                </a:solidFill>
                <a:latin typeface="Cambria"/>
                <a:cs typeface="Cambria"/>
              </a:rPr>
              <a:t xml:space="preserve">k</a:t>
            </a:r>
            <a:r>
              <a:rPr lang="en-US" sz="1575" dirty="0">
                <a:solidFill>
                  <a:srgbClr val="16171D"/>
                </a:solidFill>
                <a:latin typeface="Segoe UI"/>
                <a:cs typeface="Segoe UI"/>
              </a:rPr>
              <a:t xml:space="preserve">?</a:t>
            </a:r>
            <a:endParaRPr lang="en-US" sz="1575" dirty="0"/>
          </a:p>
        </p:txBody>
      </p:sp>
      <p:sp>
        <p:nvSpPr>
          <p:cNvPr id="5" name="Shape 5"/>
          <p:cNvSpPr txBox="1"/>
          <p:nvPr/>
        </p:nvSpPr>
        <p:spPr>
          <a:xfrm>
            <a:off x="895350" y="2362962"/>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Formula:</a:t>
            </a:r>
            <a:r>
              <a:rPr lang="en-US" sz="1575" dirty="0">
                <a:solidFill>
                  <a:srgbClr val="16171D"/>
                </a:solidFill>
                <a:latin typeface="Segoe UI"/>
                <a:cs typeface="Segoe UI"/>
              </a:rPr>
              <a:t xml:space="preserve"> perpendicular: flip and change the sign</a:t>
            </a:r>
            <a:endParaRPr lang="en-US" sz="1575" dirty="0"/>
          </a:p>
        </p:txBody>
      </p:sp>
      <p:sp>
        <p:nvSpPr>
          <p:cNvPr id="6" name="Shape 6"/>
          <p:cNvSpPr txBox="1"/>
          <p:nvPr/>
        </p:nvSpPr>
        <p:spPr>
          <a:xfrm>
            <a:off x="895350" y="2695956"/>
            <a:ext cx="2910695" cy="103327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1425" dirty="0" b="1">
                <a:solidFill>
                  <a:srgbClr val="16171D"/>
                </a:solidFill>
                <a:latin typeface="Cambria"/>
                <a:cs typeface="Cambria"/>
              </a:rPr>
              <a:t xml:space="preserve">−3/2</a:t>
            </a:r>
            <a:br>
              <a:rPr lang="en-US" sz="1425" dirty="0">
                <a:solidFill>
                  <a:srgbClr val="16171D"/>
                </a:solidFill>
                <a:latin typeface="Segoe UI"/>
                <a:cs typeface="Segoe UI"/>
              </a:rPr>
            </a:br>
            <a:r>
              <a:rPr lang="en-US" sz="1425" dirty="0" b="1">
                <a:solidFill>
                  <a:srgbClr val="16171D"/>
                </a:solidFill>
                <a:latin typeface="Segoe UI"/>
                <a:cs typeface="Segoe UI"/>
              </a:rPr>
              <a:t xml:space="preserve">1.</a:t>
            </a:r>
            <a:r>
              <a:rPr lang="en-US" sz="1425" dirty="0">
                <a:solidFill>
                  <a:srgbClr val="16171D"/>
                </a:solidFill>
                <a:latin typeface="Segoe UI"/>
                <a:cs typeface="Segoe UI"/>
              </a:rPr>
              <a:t xml:space="preserve"> Flip </a:t>
            </a:r>
            <a:r>
              <a:rPr lang="en-US" sz="1425" dirty="0">
                <a:solidFill>
                  <a:srgbClr val="16171D"/>
                </a:solidFill>
                <a:latin typeface="Cambria"/>
                <a:cs typeface="Cambria"/>
              </a:rPr>
              <a:t xml:space="preserve">⅔</a:t>
            </a:r>
            <a:r>
              <a:rPr lang="en-US" sz="1425" dirty="0">
                <a:solidFill>
                  <a:srgbClr val="16171D"/>
                </a:solidFill>
                <a:latin typeface="Segoe UI"/>
                <a:cs typeface="Segoe UI"/>
              </a:rPr>
              <a:t xml:space="preserve">: </a:t>
            </a:r>
            <a:r>
              <a:rPr lang="en-US" sz="1425" dirty="0">
                <a:solidFill>
                  <a:srgbClr val="16171D"/>
                </a:solidFill>
                <a:latin typeface="Cambria"/>
                <a:cs typeface="Cambria"/>
              </a:rPr>
              <a:t xml:space="preserve">3/2</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2.</a:t>
            </a:r>
            <a:r>
              <a:rPr lang="en-US" sz="1425" dirty="0">
                <a:solidFill>
                  <a:srgbClr val="16171D"/>
                </a:solidFill>
                <a:latin typeface="Segoe UI"/>
                <a:cs typeface="Segoe UI"/>
              </a:rPr>
              <a:t xml:space="preserve"> Change the sign: </a:t>
            </a:r>
            <a:r>
              <a:rPr lang="en-US" sz="1425" dirty="0">
                <a:solidFill>
                  <a:srgbClr val="16171D"/>
                </a:solidFill>
                <a:latin typeface="Cambria"/>
                <a:cs typeface="Cambria"/>
              </a:rPr>
              <a:t xml:space="preserve">−3/2</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3.</a:t>
            </a:r>
            <a:r>
              <a:rPr lang="en-US" sz="1425" dirty="0">
                <a:solidFill>
                  <a:srgbClr val="16171D"/>
                </a:solidFill>
                <a:latin typeface="Segoe UI"/>
                <a:cs typeface="Segoe UI"/>
              </a:rPr>
              <a:t xml:space="preserve"> Check: </a:t>
            </a:r>
            <a:r>
              <a:rPr lang="en-US" sz="1425" dirty="0">
                <a:solidFill>
                  <a:srgbClr val="16171D"/>
                </a:solidFill>
                <a:latin typeface="Cambria"/>
                <a:cs typeface="Cambria"/>
              </a:rPr>
              <a:t xml:space="preserve">⅔ · (−3/2) = −1</a:t>
            </a:r>
            <a:r>
              <a:rPr lang="en-US" sz="1425" dirty="0">
                <a:solidFill>
                  <a:srgbClr val="16171D"/>
                </a:solidFill>
                <a:latin typeface="Segoe UI"/>
                <a:cs typeface="Segoe UI"/>
              </a:rPr>
              <a:t xml:space="preserve">.</a:t>
            </a:r>
            <a:endParaRPr lang="en-US" sz="1425" dirty="0"/>
          </a:p>
        </p:txBody>
      </p:sp>
      <p:sp>
        <p:nvSpPr>
          <p:cNvPr id="11" name="Shape 11"/>
          <p:cNvSpPr txBox="1"/>
          <p:nvPr/>
        </p:nvSpPr>
        <p:spPr>
          <a:xfrm>
            <a:off x="685800" y="4034028"/>
            <a:ext cx="5295748" cy="204216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895350" y="4205478"/>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2.</a:t>
            </a:r>
            <a:r>
              <a:rPr lang="en-US" sz="1575" dirty="0">
                <a:solidFill>
                  <a:srgbClr val="16171D"/>
                </a:solidFill>
                <a:latin typeface="Segoe UI"/>
                <a:cs typeface="Segoe UI"/>
              </a:rPr>
              <a:t xml:space="preserve"> What is the slope of any horizontal line?</a:t>
            </a:r>
            <a:endParaRPr lang="en-US" sz="1575" dirty="0"/>
          </a:p>
        </p:txBody>
      </p:sp>
      <p:sp>
        <p:nvSpPr>
          <p:cNvPr id="9" name="Shape 9"/>
          <p:cNvSpPr txBox="1"/>
          <p:nvPr/>
        </p:nvSpPr>
        <p:spPr>
          <a:xfrm>
            <a:off x="895350" y="4538472"/>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Formula:</a:t>
            </a:r>
            <a:r>
              <a:rPr lang="en-US" sz="1575" dirty="0">
                <a:solidFill>
                  <a:srgbClr val="16171D"/>
                </a:solidFill>
                <a:latin typeface="Segoe UI"/>
                <a:cs typeface="Segoe UI"/>
              </a:rPr>
              <a:t xml:space="preserve"> slope = rise ÷ run</a:t>
            </a:r>
            <a:endParaRPr lang="en-US" sz="1575" dirty="0"/>
          </a:p>
        </p:txBody>
      </p:sp>
      <p:sp>
        <p:nvSpPr>
          <p:cNvPr id="10" name="Shape 10"/>
          <p:cNvSpPr txBox="1"/>
          <p:nvPr/>
        </p:nvSpPr>
        <p:spPr>
          <a:xfrm>
            <a:off x="895350" y="4871466"/>
            <a:ext cx="4876648" cy="103327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1425" dirty="0" b="1">
                <a:solidFill>
                  <a:srgbClr val="16171D"/>
                </a:solidFill>
                <a:latin typeface="Cambria"/>
                <a:cs typeface="Cambria"/>
              </a:rPr>
              <a:t xml:space="preserve">0</a:t>
            </a:r>
            <a:br>
              <a:rPr lang="en-US" sz="1425" dirty="0">
                <a:solidFill>
                  <a:srgbClr val="16171D"/>
                </a:solidFill>
                <a:latin typeface="Segoe UI"/>
                <a:cs typeface="Segoe UI"/>
              </a:rPr>
            </a:br>
            <a:r>
              <a:rPr lang="en-US" sz="1425" dirty="0" b="1">
                <a:solidFill>
                  <a:srgbClr val="16171D"/>
                </a:solidFill>
                <a:latin typeface="Segoe UI"/>
                <a:cs typeface="Segoe UI"/>
              </a:rPr>
              <a:t xml:space="preserve">1.</a:t>
            </a:r>
            <a:r>
              <a:rPr lang="en-US" sz="1425" dirty="0">
                <a:solidFill>
                  <a:srgbClr val="16171D"/>
                </a:solidFill>
                <a:latin typeface="Segoe UI"/>
                <a:cs typeface="Segoe UI"/>
              </a:rPr>
              <a:t xml:space="preserve"> A horizontal line is flat: it never goes up or down, so the rise is 0.</a:t>
            </a:r>
            <a:br>
              <a:rPr lang="en-US" sz="1425" dirty="0">
                <a:solidFill>
                  <a:srgbClr val="16171D"/>
                </a:solidFill>
                <a:latin typeface="Segoe UI"/>
                <a:cs typeface="Segoe UI"/>
              </a:rPr>
            </a:br>
            <a:r>
              <a:rPr lang="en-US" sz="1425" dirty="0" b="1">
                <a:solidFill>
                  <a:srgbClr val="16171D"/>
                </a:solidFill>
                <a:latin typeface="Segoe UI"/>
                <a:cs typeface="Segoe UI"/>
              </a:rPr>
              <a:t xml:space="preserve">2.</a:t>
            </a:r>
            <a:r>
              <a:rPr lang="en-US" sz="1425" dirty="0">
                <a:solidFill>
                  <a:srgbClr val="16171D"/>
                </a:solidFill>
                <a:latin typeface="Segoe UI"/>
                <a:cs typeface="Segoe UI"/>
              </a:rPr>
              <a:t xml:space="preserve"> </a:t>
            </a:r>
            <a:r>
              <a:rPr lang="en-US" sz="1425" dirty="0">
                <a:solidFill>
                  <a:srgbClr val="16171D"/>
                </a:solidFill>
                <a:latin typeface="Cambria"/>
                <a:cs typeface="Cambria"/>
              </a:rPr>
              <a:t xml:space="preserve">0 ÷ </a:t>
            </a:r>
            <a:r>
              <a:rPr lang="en-US" sz="1425" dirty="0" i="1">
                <a:solidFill>
                  <a:srgbClr val="16171D"/>
                </a:solidFill>
                <a:latin typeface="Cambria"/>
                <a:cs typeface="Cambria"/>
              </a:rPr>
              <a:t xml:space="preserve">r</a:t>
            </a:r>
            <a:r>
              <a:rPr lang="en-US" sz="1425" dirty="0" i="1">
                <a:solidFill>
                  <a:srgbClr val="16171D"/>
                </a:solidFill>
                <a:latin typeface="Cambria"/>
                <a:cs typeface="Cambria"/>
              </a:rPr>
              <a:t xml:space="preserve">u</a:t>
            </a:r>
            <a:r>
              <a:rPr lang="en-US" sz="1425" dirty="0" i="1">
                <a:solidFill>
                  <a:srgbClr val="16171D"/>
                </a:solidFill>
                <a:latin typeface="Cambria"/>
                <a:cs typeface="Cambria"/>
              </a:rPr>
              <a:t xml:space="preserve">n</a:t>
            </a:r>
            <a:r>
              <a:rPr lang="en-US" sz="1425" dirty="0">
                <a:solidFill>
                  <a:srgbClr val="16171D"/>
                </a:solidFill>
                <a:latin typeface="Cambria"/>
                <a:cs typeface="Cambria"/>
              </a:rPr>
              <a:t xml:space="preserve"> = 0</a:t>
            </a:r>
            <a:r>
              <a:rPr lang="en-US" sz="1425" dirty="0">
                <a:solidFill>
                  <a:srgbClr val="16171D"/>
                </a:solidFill>
                <a:latin typeface="Segoe UI"/>
                <a:cs typeface="Segoe UI"/>
              </a:rPr>
              <a:t xml:space="preserve">. The slope is 0.</a:t>
            </a:r>
            <a:endParaRPr lang="en-US" sz="1425" dirty="0"/>
          </a:p>
        </p:txBody>
      </p:sp>
      <p:sp>
        <p:nvSpPr>
          <p:cNvPr id="15" name="Shape 15"/>
          <p:cNvSpPr txBox="1"/>
          <p:nvPr/>
        </p:nvSpPr>
        <p:spPr>
          <a:xfrm>
            <a:off x="6210148" y="1618488"/>
            <a:ext cx="5295748" cy="206502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2" name="Shape 12"/>
          <p:cNvSpPr txBox="1"/>
          <p:nvPr/>
        </p:nvSpPr>
        <p:spPr>
          <a:xfrm>
            <a:off x="6419698" y="1789938"/>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3.</a:t>
            </a:r>
            <a:r>
              <a:rPr lang="en-US" sz="1575" dirty="0">
                <a:solidFill>
                  <a:srgbClr val="16171D"/>
                </a:solidFill>
                <a:latin typeface="Segoe UI"/>
                <a:cs typeface="Segoe UI"/>
              </a:rPr>
              <a:t xml:space="preserve"> Which is the equation of the vertical line through </a:t>
            </a:r>
            <a:r>
              <a:rPr lang="en-US" sz="1575" dirty="0">
                <a:solidFill>
                  <a:srgbClr val="16171D"/>
                </a:solidFill>
                <a:latin typeface="Cambria"/>
                <a:cs typeface="Cambria"/>
              </a:rPr>
              <a:t xml:space="preserve">(2, −1)</a:t>
            </a:r>
            <a:r>
              <a:rPr lang="en-US" sz="1575" dirty="0">
                <a:solidFill>
                  <a:srgbClr val="16171D"/>
                </a:solidFill>
                <a:latin typeface="Segoe UI"/>
                <a:cs typeface="Segoe UI"/>
              </a:rPr>
              <a:t xml:space="preserve">?</a:t>
            </a:r>
            <a:endParaRPr lang="en-US" sz="1575" dirty="0"/>
          </a:p>
        </p:txBody>
      </p:sp>
      <p:sp>
        <p:nvSpPr>
          <p:cNvPr id="13" name="Shape 13"/>
          <p:cNvSpPr txBox="1"/>
          <p:nvPr/>
        </p:nvSpPr>
        <p:spPr>
          <a:xfrm>
            <a:off x="6419698" y="2362962"/>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Formula:</a:t>
            </a:r>
            <a:r>
              <a:rPr lang="en-US" sz="1575" dirty="0">
                <a:solidFill>
                  <a:srgbClr val="16171D"/>
                </a:solidFill>
                <a:latin typeface="Segoe UI"/>
                <a:cs typeface="Segoe UI"/>
              </a:rPr>
              <a:t xml:space="preserve"> vertical line: </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a:t>
            </a:r>
            <a:r>
              <a:rPr lang="en-US" sz="1575" dirty="0">
                <a:solidFill>
                  <a:srgbClr val="16171D"/>
                </a:solidFill>
                <a:latin typeface="Segoe UI"/>
                <a:cs typeface="Segoe UI"/>
              </a:rPr>
              <a:t xml:space="preserve"> a number</a:t>
            </a:r>
            <a:endParaRPr lang="en-US" sz="1575" dirty="0"/>
          </a:p>
        </p:txBody>
      </p:sp>
      <p:sp>
        <p:nvSpPr>
          <p:cNvPr id="14" name="Shape 14"/>
          <p:cNvSpPr txBox="1"/>
          <p:nvPr/>
        </p:nvSpPr>
        <p:spPr>
          <a:xfrm>
            <a:off x="6419698" y="2695956"/>
            <a:ext cx="4730363" cy="81610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1425" dirty="0" b="1" i="1">
                <a:solidFill>
                  <a:srgbClr val="16171D"/>
                </a:solidFill>
                <a:latin typeface="Cambria"/>
                <a:cs typeface="Cambria"/>
              </a:rPr>
              <a:t xml:space="preserve">x</a:t>
            </a:r>
            <a:r>
              <a:rPr lang="en-US" sz="1425" dirty="0" b="1">
                <a:solidFill>
                  <a:srgbClr val="16171D"/>
                </a:solidFill>
                <a:latin typeface="Cambria"/>
                <a:cs typeface="Cambria"/>
              </a:rPr>
              <a:t xml:space="preserve"> = 2</a:t>
            </a:r>
            <a:br>
              <a:rPr lang="en-US" sz="1425" dirty="0">
                <a:solidFill>
                  <a:srgbClr val="16171D"/>
                </a:solidFill>
                <a:latin typeface="Segoe UI"/>
                <a:cs typeface="Segoe UI"/>
              </a:rPr>
            </a:br>
            <a:r>
              <a:rPr lang="en-US" sz="1425" dirty="0" b="1">
                <a:solidFill>
                  <a:srgbClr val="16171D"/>
                </a:solidFill>
                <a:latin typeface="Segoe UI"/>
                <a:cs typeface="Segoe UI"/>
              </a:rPr>
              <a:t xml:space="preserve">1.</a:t>
            </a:r>
            <a:r>
              <a:rPr lang="en-US" sz="1425" dirty="0">
                <a:solidFill>
                  <a:srgbClr val="16171D"/>
                </a:solidFill>
                <a:latin typeface="Segoe UI"/>
                <a:cs typeface="Segoe UI"/>
              </a:rPr>
              <a:t xml:space="preserve"> On a vertical line, </a:t>
            </a:r>
            <a:r>
              <a:rPr lang="en-US" sz="1425" dirty="0" i="1">
                <a:solidFill>
                  <a:srgbClr val="16171D"/>
                </a:solidFill>
                <a:latin typeface="Cambria"/>
                <a:cs typeface="Cambria"/>
              </a:rPr>
              <a:t xml:space="preserve">x</a:t>
            </a:r>
            <a:r>
              <a:rPr lang="en-US" sz="1425" dirty="0">
                <a:solidFill>
                  <a:srgbClr val="16171D"/>
                </a:solidFill>
                <a:latin typeface="Segoe UI"/>
                <a:cs typeface="Segoe UI"/>
              </a:rPr>
              <a:t xml:space="preserve"> never changes.</a:t>
            </a:r>
            <a:br>
              <a:rPr lang="en-US" sz="1425" dirty="0">
                <a:solidFill>
                  <a:srgbClr val="16171D"/>
                </a:solidFill>
                <a:latin typeface="Segoe UI"/>
                <a:cs typeface="Segoe UI"/>
              </a:rPr>
            </a:br>
            <a:r>
              <a:rPr lang="en-US" sz="1425" dirty="0" b="1">
                <a:solidFill>
                  <a:srgbClr val="16171D"/>
                </a:solidFill>
                <a:latin typeface="Segoe UI"/>
                <a:cs typeface="Segoe UI"/>
              </a:rPr>
              <a:t xml:space="preserve">2.</a:t>
            </a:r>
            <a:r>
              <a:rPr lang="en-US" sz="1425" dirty="0">
                <a:solidFill>
                  <a:srgbClr val="16171D"/>
                </a:solidFill>
                <a:latin typeface="Segoe UI"/>
                <a:cs typeface="Segoe UI"/>
              </a:rPr>
              <a:t xml:space="preserve"> The point has </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2</a:t>
            </a:r>
            <a:r>
              <a:rPr lang="en-US" sz="1425" dirty="0">
                <a:solidFill>
                  <a:srgbClr val="16171D"/>
                </a:solidFill>
                <a:latin typeface="Segoe UI"/>
                <a:cs typeface="Segoe UI"/>
              </a:rPr>
              <a:t xml:space="preserve">, so the line is </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2</a:t>
            </a:r>
            <a:r>
              <a:rPr lang="en-US" sz="1425" dirty="0">
                <a:solidFill>
                  <a:srgbClr val="16171D"/>
                </a:solidFill>
                <a:latin typeface="Segoe UI"/>
                <a:cs typeface="Segoe UI"/>
              </a:rPr>
              <a:t xml:space="preserve">.</a:t>
            </a:r>
            <a:endParaRPr lang="en-US" sz="1425" dirty="0"/>
          </a:p>
        </p:txBody>
      </p:sp>
      <p:sp>
        <p:nvSpPr>
          <p:cNvPr id="19" name="Shape 19"/>
          <p:cNvSpPr txBox="1"/>
          <p:nvPr/>
        </p:nvSpPr>
        <p:spPr>
          <a:xfrm>
            <a:off x="6210148" y="3816858"/>
            <a:ext cx="5295748" cy="206502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6" name="Shape 16"/>
          <p:cNvSpPr txBox="1"/>
          <p:nvPr/>
        </p:nvSpPr>
        <p:spPr>
          <a:xfrm>
            <a:off x="6419698" y="3988308"/>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4.</a:t>
            </a:r>
            <a:r>
              <a:rPr lang="en-US" sz="1575" dirty="0">
                <a:solidFill>
                  <a:srgbClr val="16171D"/>
                </a:solidFill>
                <a:latin typeface="Segoe UI"/>
                <a:cs typeface="Segoe UI"/>
              </a:rPr>
              <a:t xml:space="preserve"> What is the product of the slopes of two perpendicular lines (neither vertical)?</a:t>
            </a:r>
            <a:endParaRPr lang="en-US" sz="1575" dirty="0"/>
          </a:p>
        </p:txBody>
      </p:sp>
      <p:sp>
        <p:nvSpPr>
          <p:cNvPr id="17" name="Shape 17"/>
          <p:cNvSpPr txBox="1"/>
          <p:nvPr/>
        </p:nvSpPr>
        <p:spPr>
          <a:xfrm>
            <a:off x="6419698" y="4561332"/>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Formula:</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m</a:t>
            </a:r>
            <a:r>
              <a:rPr lang="en-US" sz="1575" dirty="0">
                <a:solidFill>
                  <a:srgbClr val="16171D"/>
                </a:solidFill>
                <a:latin typeface="Cambria"/>
                <a:cs typeface="Cambria"/>
              </a:rPr>
              <a:t xml:space="preserve">₁ · </a:t>
            </a:r>
            <a:r>
              <a:rPr lang="en-US" sz="1575" dirty="0" i="1">
                <a:solidFill>
                  <a:srgbClr val="16171D"/>
                </a:solidFill>
                <a:latin typeface="Cambria"/>
                <a:cs typeface="Cambria"/>
              </a:rPr>
              <a:t xml:space="preserve">m</a:t>
            </a:r>
            <a:r>
              <a:rPr lang="en-US" sz="1575" dirty="0">
                <a:solidFill>
                  <a:srgbClr val="16171D"/>
                </a:solidFill>
                <a:latin typeface="Cambria"/>
                <a:cs typeface="Cambria"/>
              </a:rPr>
              <a:t xml:space="preserve">₂ = −1</a:t>
            </a:r>
            <a:endParaRPr lang="en-US" sz="1575" dirty="0"/>
          </a:p>
        </p:txBody>
      </p:sp>
      <p:sp>
        <p:nvSpPr>
          <p:cNvPr id="18" name="Shape 18"/>
          <p:cNvSpPr txBox="1"/>
          <p:nvPr/>
        </p:nvSpPr>
        <p:spPr>
          <a:xfrm>
            <a:off x="6419698" y="4894326"/>
            <a:ext cx="4826135" cy="81610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1425" dirty="0" b="1">
                <a:solidFill>
                  <a:srgbClr val="16171D"/>
                </a:solidFill>
                <a:latin typeface="Cambria"/>
                <a:cs typeface="Cambria"/>
              </a:rPr>
              <a:t xml:space="preserve">−1</a:t>
            </a:r>
            <a:br>
              <a:rPr lang="en-US" sz="1425" dirty="0">
                <a:solidFill>
                  <a:srgbClr val="16171D"/>
                </a:solidFill>
                <a:latin typeface="Segoe UI"/>
                <a:cs typeface="Segoe UI"/>
              </a:rPr>
            </a:br>
            <a:r>
              <a:rPr lang="en-US" sz="1425" dirty="0" b="1">
                <a:solidFill>
                  <a:srgbClr val="16171D"/>
                </a:solidFill>
                <a:latin typeface="Segoe UI"/>
                <a:cs typeface="Segoe UI"/>
              </a:rPr>
              <a:t xml:space="preserve">1.</a:t>
            </a:r>
            <a:r>
              <a:rPr lang="en-US" sz="1425" dirty="0">
                <a:solidFill>
                  <a:srgbClr val="16171D"/>
                </a:solidFill>
                <a:latin typeface="Segoe UI"/>
                <a:cs typeface="Segoe UI"/>
              </a:rPr>
              <a:t xml:space="preserve"> Example: slopes </a:t>
            </a:r>
            <a:r>
              <a:rPr lang="en-US" sz="1425" dirty="0">
                <a:solidFill>
                  <a:srgbClr val="16171D"/>
                </a:solidFill>
                <a:latin typeface="Cambria"/>
                <a:cs typeface="Cambria"/>
              </a:rPr>
              <a:t xml:space="preserve">2</a:t>
            </a:r>
            <a:r>
              <a:rPr lang="en-US" sz="1425" dirty="0">
                <a:solidFill>
                  <a:srgbClr val="16171D"/>
                </a:solidFill>
                <a:latin typeface="Segoe UI"/>
                <a:cs typeface="Segoe UI"/>
              </a:rPr>
              <a:t xml:space="preserve"> and </a:t>
            </a:r>
            <a:r>
              <a:rPr lang="en-US" sz="1425" dirty="0">
                <a:solidFill>
                  <a:srgbClr val="16171D"/>
                </a:solidFill>
                <a:latin typeface="Cambria"/>
                <a:cs typeface="Cambria"/>
              </a:rPr>
              <a:t xml:space="preserve">−½</a:t>
            </a:r>
            <a:r>
              <a:rPr lang="en-US" sz="1425" dirty="0">
                <a:solidFill>
                  <a:srgbClr val="16171D"/>
                </a:solidFill>
                <a:latin typeface="Segoe UI"/>
                <a:cs typeface="Segoe UI"/>
              </a:rPr>
              <a:t xml:space="preserve"> are perpendicular.</a:t>
            </a:r>
            <a:br>
              <a:rPr lang="en-US" sz="1425" dirty="0">
                <a:solidFill>
                  <a:srgbClr val="16171D"/>
                </a:solidFill>
                <a:latin typeface="Segoe UI"/>
                <a:cs typeface="Segoe UI"/>
              </a:rPr>
            </a:br>
            <a:r>
              <a:rPr lang="en-US" sz="1425" dirty="0" b="1">
                <a:solidFill>
                  <a:srgbClr val="16171D"/>
                </a:solidFill>
                <a:latin typeface="Segoe UI"/>
                <a:cs typeface="Segoe UI"/>
              </a:rPr>
              <a:t xml:space="preserve">2.</a:t>
            </a:r>
            <a:r>
              <a:rPr lang="en-US" sz="1425" dirty="0">
                <a:solidFill>
                  <a:srgbClr val="16171D"/>
                </a:solidFill>
                <a:latin typeface="Segoe UI"/>
                <a:cs typeface="Segoe UI"/>
              </a:rPr>
              <a:t xml:space="preserve"> </a:t>
            </a:r>
            <a:r>
              <a:rPr lang="en-US" sz="1425" dirty="0">
                <a:solidFill>
                  <a:srgbClr val="16171D"/>
                </a:solidFill>
                <a:latin typeface="Cambria"/>
                <a:cs typeface="Cambria"/>
              </a:rPr>
              <a:t xml:space="preserve">2 · (−½) = −1</a:t>
            </a:r>
            <a:r>
              <a:rPr lang="en-US" sz="1425" dirty="0">
                <a:solidFill>
                  <a:srgbClr val="16171D"/>
                </a:solidFill>
                <a:latin typeface="Segoe UI"/>
                <a:cs typeface="Segoe UI"/>
              </a:rPr>
              <a:t xml:space="preserve">. The product is always </a:t>
            </a:r>
            <a:r>
              <a:rPr lang="en-US" sz="1425" dirty="0">
                <a:solidFill>
                  <a:srgbClr val="16171D"/>
                </a:solidFill>
                <a:latin typeface="Cambria"/>
                <a:cs typeface="Cambria"/>
              </a:rPr>
              <a:t xml:space="preserve">−1</a:t>
            </a:r>
            <a:r>
              <a:rPr lang="en-US" sz="1425" dirty="0">
                <a:solidFill>
                  <a:srgbClr val="16171D"/>
                </a:solidFill>
                <a:latin typeface="Segoe UI"/>
                <a:cs typeface="Segoe UI"/>
              </a:rPr>
              <a:t xml:space="preserve">.</a:t>
            </a:r>
            <a:endParaRPr lang="en-US" sz="1425" dirty="0"/>
          </a:p>
        </p:txBody>
      </p:sp>
      <p:sp>
        <p:nvSpPr>
          <p:cNvPr id="20" name="Slide Number 20"/>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6"/>
                                        </p:tgtEl>
                                        <p:attrNameLst>
                                          <p:attrName>style.visibility</p:attrName>
                                        </p:attrNameLst>
                                      </p:cBhvr>
                                      <p:to>
                                        <p:strVal val="visible"/>
                                      </p:to>
                                    </p:set>
                                    <p:animEffect transition="in" filter="fade">
                                      <p:cBhvr>
                                        <p:cTn id="4" dur="500"/>
                                        <p:tgtEl>
                                          <p:spTgt spid="6"/>
                                        </p:tgtEl>
                                      </p:cBhvr>
                                    </p:animEffect>
                                    <p:anim calcmode="lin" valueType="num">
                                      <p:cBhvr>
                                        <p:cTn id="5" dur="500" fill="hold"/>
                                        <p:tgtEl>
                                          <p:spTgt spid="6"/>
                                        </p:tgtEl>
                                        <p:attrNameLst>
                                          <p:attrName>ppt_w</p:attrName>
                                        </p:attrNameLst>
                                      </p:cBhvr>
                                      <p:tavLst>
                                        <p:tav tm="0">
                                          <p:val>
                                            <p:fltVal val="0"/>
                                          </p:val>
                                        </p:tav>
                                        <p:tav tm="100000">
                                          <p:val>
                                            <p:strVal val="#ppt_w"/>
                                          </p:val>
                                        </p:tav>
                                      </p:tavLst>
                                    </p:anim>
                                    <p:anim calcmode="lin" valueType="num">
                                      <p:cBhvr>
                                        <p:cTn id="6" dur="500" fill="hold"/>
                                        <p:tgtEl>
                                          <p:spTgt spid="6"/>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10"/>
                                        </p:tgtEl>
                                        <p:attrNameLst>
                                          <p:attrName>style.visibility</p:attrName>
                                        </p:attrNameLst>
                                      </p:cBhvr>
                                      <p:to>
                                        <p:strVal val="visible"/>
                                      </p:to>
                                    </p:set>
                                    <p:animEffect transition="in" filter="fade">
                                      <p:cBhvr>
                                        <p:cTn id="11" dur="500"/>
                                        <p:tgtEl>
                                          <p:spTgt spid="10"/>
                                        </p:tgtEl>
                                      </p:cBhvr>
                                    </p:animEffect>
                                    <p:anim calcmode="lin" valueType="num">
                                      <p:cBhvr>
                                        <p:cTn id="12" dur="500" fill="hold"/>
                                        <p:tgtEl>
                                          <p:spTgt spid="10"/>
                                        </p:tgtEl>
                                        <p:attrNameLst>
                                          <p:attrName>ppt_w</p:attrName>
                                        </p:attrNameLst>
                                      </p:cBhvr>
                                      <p:tavLst>
                                        <p:tav tm="0">
                                          <p:val>
                                            <p:fltVal val="0"/>
                                          </p:val>
                                        </p:tav>
                                        <p:tav tm="100000">
                                          <p:val>
                                            <p:strVal val="#ppt_w"/>
                                          </p:val>
                                        </p:tav>
                                      </p:tavLst>
                                    </p:anim>
                                    <p:anim calcmode="lin" valueType="num">
                                      <p:cBhvr>
                                        <p:cTn id="13" dur="500" fill="hold"/>
                                        <p:tgtEl>
                                          <p:spTgt spid="10"/>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14"/>
                                        </p:tgtEl>
                                        <p:attrNameLst>
                                          <p:attrName>style.visibility</p:attrName>
                                        </p:attrNameLst>
                                      </p:cBhvr>
                                      <p:to>
                                        <p:strVal val="visible"/>
                                      </p:to>
                                    </p:set>
                                    <p:animEffect transition="in" filter="fade">
                                      <p:cBhvr>
                                        <p:cTn id="18" dur="500"/>
                                        <p:tgtEl>
                                          <p:spTgt spid="14"/>
                                        </p:tgtEl>
                                      </p:cBhvr>
                                    </p:animEffect>
                                    <p:anim calcmode="lin" valueType="num">
                                      <p:cBhvr>
                                        <p:cTn id="19" dur="500" fill="hold"/>
                                        <p:tgtEl>
                                          <p:spTgt spid="14"/>
                                        </p:tgtEl>
                                        <p:attrNameLst>
                                          <p:attrName>ppt_w</p:attrName>
                                        </p:attrNameLst>
                                      </p:cBhvr>
                                      <p:tavLst>
                                        <p:tav tm="0">
                                          <p:val>
                                            <p:fltVal val="0"/>
                                          </p:val>
                                        </p:tav>
                                        <p:tav tm="100000">
                                          <p:val>
                                            <p:strVal val="#ppt_w"/>
                                          </p:val>
                                        </p:tav>
                                      </p:tavLst>
                                    </p:anim>
                                    <p:anim calcmode="lin" valueType="num">
                                      <p:cBhvr>
                                        <p:cTn id="20" dur="500" fill="hold"/>
                                        <p:tgtEl>
                                          <p:spTgt spid="14"/>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8"/>
                                        </p:tgtEl>
                                        <p:attrNameLst>
                                          <p:attrName>style.visibility</p:attrName>
                                        </p:attrNameLst>
                                      </p:cBhvr>
                                      <p:to>
                                        <p:strVal val="visible"/>
                                      </p:to>
                                    </p:set>
                                    <p:animEffect transition="in" filter="fade">
                                      <p:cBhvr>
                                        <p:cTn id="25" dur="500"/>
                                        <p:tgtEl>
                                          <p:spTgt spid="18"/>
                                        </p:tgtEl>
                                      </p:cBhvr>
                                    </p:animEffect>
                                    <p:anim calcmode="lin" valueType="num">
                                      <p:cBhvr>
                                        <p:cTn id="26" dur="500" fill="hold"/>
                                        <p:tgtEl>
                                          <p:spTgt spid="18"/>
                                        </p:tgtEl>
                                        <p:attrNameLst>
                                          <p:attrName>ppt_w</p:attrName>
                                        </p:attrNameLst>
                                      </p:cBhvr>
                                      <p:tavLst>
                                        <p:tav tm="0">
                                          <p:val>
                                            <p:fltVal val="0"/>
                                          </p:val>
                                        </p:tav>
                                        <p:tav tm="100000">
                                          <p:val>
                                            <p:strVal val="#ppt_w"/>
                                          </p:val>
                                        </p:tav>
                                      </p:tavLst>
                                    </p:anim>
                                    <p:anim calcmode="lin" valueType="num">
                                      <p:cBhvr>
                                        <p:cTn id="27" dur="500" fill="hold"/>
                                        <p:tgtEl>
                                          <p:spTgt spid="18"/>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Lesson 3 · Vocabulary</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Words we need</a:t>
            </a:r>
            <a:endParaRPr lang="en-US" sz="3450" dirty="0"/>
          </a:p>
        </p:txBody>
      </p:sp>
      <p:sp>
        <p:nvSpPr>
          <p:cNvPr id="7" name="Shape 7"/>
          <p:cNvSpPr txBox="1"/>
          <p:nvPr/>
        </p:nvSpPr>
        <p:spPr>
          <a:xfrm>
            <a:off x="685800" y="1618488"/>
            <a:ext cx="34923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Perpendicular</a:t>
            </a:r>
            <a:endParaRPr lang="en-US" sz="2100" dirty="0"/>
          </a:p>
        </p:txBody>
      </p:sp>
      <p:sp>
        <p:nvSpPr>
          <p:cNvPr id="5" name="Shape 5"/>
          <p:cNvSpPr txBox="1"/>
          <p:nvPr/>
        </p:nvSpPr>
        <p:spPr>
          <a:xfrm>
            <a:off x="895350" y="226009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Lines that make a square corner (90°).</a:t>
            </a:r>
            <a:endParaRPr lang="en-US" sz="1575" dirty="0"/>
          </a:p>
        </p:txBody>
      </p:sp>
      <p:sp>
        <p:nvSpPr>
          <p:cNvPr id="6" name="Shape 6"/>
          <p:cNvSpPr txBox="1"/>
          <p:nvPr/>
        </p:nvSpPr>
        <p:spPr>
          <a:xfrm>
            <a:off x="895350" y="289026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a:t>
            </a:r>
            <a:endParaRPr lang="en-US" sz="2325" dirty="0"/>
          </a:p>
        </p:txBody>
      </p:sp>
      <p:sp>
        <p:nvSpPr>
          <p:cNvPr id="11" name="Shape 11"/>
          <p:cNvSpPr txBox="1"/>
          <p:nvPr/>
        </p:nvSpPr>
        <p:spPr>
          <a:xfrm>
            <a:off x="4349648" y="1618488"/>
            <a:ext cx="34923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4559198"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Negative reciprocal</a:t>
            </a:r>
            <a:endParaRPr lang="en-US" sz="2100" dirty="0"/>
          </a:p>
        </p:txBody>
      </p:sp>
      <p:sp>
        <p:nvSpPr>
          <p:cNvPr id="9" name="Shape 9"/>
          <p:cNvSpPr txBox="1"/>
          <p:nvPr/>
        </p:nvSpPr>
        <p:spPr>
          <a:xfrm>
            <a:off x="4559198" y="226009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Flip the fraction and change the sign.</a:t>
            </a:r>
            <a:endParaRPr lang="en-US" sz="1575" dirty="0"/>
          </a:p>
        </p:txBody>
      </p:sp>
      <p:sp>
        <p:nvSpPr>
          <p:cNvPr id="10" name="Shape 10"/>
          <p:cNvSpPr txBox="1"/>
          <p:nvPr/>
        </p:nvSpPr>
        <p:spPr>
          <a:xfrm>
            <a:off x="4559198" y="289026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2</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3</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3</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2</a:t>
            </a:r>
            <a:endParaRPr lang="en-US" sz="2325" dirty="0"/>
          </a:p>
        </p:txBody>
      </p:sp>
      <p:sp>
        <p:nvSpPr>
          <p:cNvPr id="15" name="Shape 15"/>
          <p:cNvSpPr txBox="1"/>
          <p:nvPr/>
        </p:nvSpPr>
        <p:spPr>
          <a:xfrm>
            <a:off x="8013497" y="1618488"/>
            <a:ext cx="34923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2" name="Shape 12"/>
          <p:cNvSpPr txBox="1"/>
          <p:nvPr/>
        </p:nvSpPr>
        <p:spPr>
          <a:xfrm>
            <a:off x="8223047"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Horizontal / vertical</a:t>
            </a:r>
            <a:endParaRPr lang="en-US" sz="2100" dirty="0"/>
          </a:p>
        </p:txBody>
      </p:sp>
      <p:sp>
        <p:nvSpPr>
          <p:cNvPr id="13" name="Shape 13"/>
          <p:cNvSpPr txBox="1"/>
          <p:nvPr/>
        </p:nvSpPr>
        <p:spPr>
          <a:xfrm>
            <a:off x="8223047" y="226009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 = number (slope 0) /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number (undefined).</a:t>
            </a:r>
            <a:endParaRPr lang="en-US" sz="1575" dirty="0"/>
          </a:p>
        </p:txBody>
      </p:sp>
      <p:sp>
        <p:nvSpPr>
          <p:cNvPr id="14" name="Shape 14"/>
          <p:cNvSpPr txBox="1"/>
          <p:nvPr/>
        </p:nvSpPr>
        <p:spPr>
          <a:xfrm>
            <a:off x="8223047" y="289026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4,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endParaRPr lang="en-US" sz="2325" dirty="0"/>
          </a:p>
        </p:txBody>
      </p:sp>
      <p:sp>
        <p:nvSpPr>
          <p:cNvPr id="16" name="Slide Number 16"/>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a:t>
            </a:fld>
          </a:p>
        </p:txBody>
      </p:sp>
    </p:spTree>
  </p:cSld>
  <p:clrMapOvr>
    <a:masterClrMapping/>
  </p:clrMapOvr>
  <p:transition spd="med">
    <p:fade/>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Lesson 3 · Steps</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How to write a perpendicular line</a:t>
            </a:r>
            <a:endParaRPr lang="en-US" sz="3450" dirty="0"/>
          </a:p>
        </p:txBody>
      </p:sp>
      <p:sp>
        <p:nvSpPr>
          <p:cNvPr id="4" name="Shape 4"/>
          <p:cNvSpPr txBox="1"/>
          <p:nvPr/>
        </p:nvSpPr>
        <p:spPr>
          <a:xfrm>
            <a:off x="685800" y="161848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1.</a:t>
            </a:r>
            <a:r>
              <a:rPr lang="en-US" sz="1950" dirty="0">
                <a:solidFill>
                  <a:srgbClr val="16171D"/>
                </a:solidFill>
                <a:latin typeface="Segoe UI"/>
                <a:cs typeface="Segoe UI"/>
              </a:rPr>
              <a:t xml:space="preserve"> Find the slope of the given line.</a:t>
            </a:r>
            <a:endParaRPr lang="en-US" sz="1950" dirty="0"/>
          </a:p>
        </p:txBody>
      </p:sp>
      <p:sp>
        <p:nvSpPr>
          <p:cNvPr id="5" name="Shape 5"/>
          <p:cNvSpPr txBox="1"/>
          <p:nvPr/>
        </p:nvSpPr>
        <p:spPr>
          <a:xfrm>
            <a:off x="685800" y="2141982"/>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2.</a:t>
            </a:r>
            <a:r>
              <a:rPr lang="en-US" sz="1950" dirty="0">
                <a:solidFill>
                  <a:srgbClr val="16171D"/>
                </a:solidFill>
                <a:latin typeface="Segoe UI"/>
                <a:cs typeface="Segoe UI"/>
              </a:rPr>
              <a:t xml:space="preserve"> Flip it and change the sign. That is the new slope.</a:t>
            </a:r>
            <a:endParaRPr lang="en-US" sz="1950" dirty="0"/>
          </a:p>
        </p:txBody>
      </p:sp>
      <p:sp>
        <p:nvSpPr>
          <p:cNvPr id="6" name="Shape 6"/>
          <p:cNvSpPr txBox="1"/>
          <p:nvPr/>
        </p:nvSpPr>
        <p:spPr>
          <a:xfrm>
            <a:off x="685800" y="2665476"/>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3.</a:t>
            </a:r>
            <a:r>
              <a:rPr lang="en-US" sz="1950" dirty="0">
                <a:solidFill>
                  <a:srgbClr val="16171D"/>
                </a:solidFill>
                <a:latin typeface="Segoe UI"/>
                <a:cs typeface="Segoe UI"/>
              </a:rPr>
              <a:t xml:space="preserve"> Use the point: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 </a:t>
            </a:r>
            <a:r>
              <a:rPr lang="en-US" sz="1950" dirty="0" i="1">
                <a:solidFill>
                  <a:srgbClr val="16171D"/>
                </a:solidFill>
                <a:latin typeface="Segoe UI"/>
                <a:cs typeface="Segoe UI"/>
              </a:rPr>
              <a:t xml:space="preserve">y</a:t>
            </a:r>
            <a:r>
              <a:rPr lang="en-US" sz="1658" dirty="0" baseline="-25000">
                <a:solidFill>
                  <a:srgbClr val="16171D"/>
                </a:solidFill>
                <a:latin typeface="Segoe UI"/>
                <a:cs typeface="Segoe UI"/>
              </a:rPr>
              <a:t xml:space="preserve">1</a:t>
            </a:r>
            <a:r>
              <a:rPr lang="en-US" sz="1950" dirty="0">
                <a:solidFill>
                  <a:srgbClr val="16171D"/>
                </a:solidFill>
                <a:latin typeface="Segoe UI"/>
                <a:cs typeface="Segoe UI"/>
              </a:rPr>
              <a:t xml:space="preserve"> = </a:t>
            </a:r>
            <a:r>
              <a:rPr lang="en-US" sz="1950" dirty="0" i="1">
                <a:solidFill>
                  <a:srgbClr val="16171D"/>
                </a:solidFill>
                <a:latin typeface="Segoe UI"/>
                <a:cs typeface="Segoe UI"/>
              </a:rPr>
              <a:t xml:space="preserve">m</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a:t>
            </a:r>
            <a:r>
              <a:rPr lang="en-US" sz="1950" dirty="0" i="1">
                <a:solidFill>
                  <a:srgbClr val="16171D"/>
                </a:solidFill>
                <a:latin typeface="Segoe UI"/>
                <a:cs typeface="Segoe UI"/>
              </a:rPr>
              <a:t xml:space="preserve">x</a:t>
            </a:r>
            <a:r>
              <a:rPr lang="en-US" sz="1658" dirty="0" baseline="-25000">
                <a:solidFill>
                  <a:srgbClr val="16171D"/>
                </a:solidFill>
                <a:latin typeface="Segoe UI"/>
                <a:cs typeface="Segoe UI"/>
              </a:rPr>
              <a:t xml:space="preserve">1</a:t>
            </a:r>
            <a:r>
              <a:rPr lang="en-US" sz="1950" dirty="0">
                <a:solidFill>
                  <a:srgbClr val="16171D"/>
                </a:solidFill>
                <a:latin typeface="Segoe UI"/>
                <a:cs typeface="Segoe UI"/>
              </a:rPr>
              <a:t xml:space="preserve">).</a:t>
            </a:r>
            <a:endParaRPr lang="en-US" sz="1950" dirty="0"/>
          </a:p>
        </p:txBody>
      </p:sp>
      <p:sp>
        <p:nvSpPr>
          <p:cNvPr id="7" name="Shape 7"/>
          <p:cNvSpPr txBox="1"/>
          <p:nvPr/>
        </p:nvSpPr>
        <p:spPr>
          <a:xfrm>
            <a:off x="685800" y="3188970"/>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4.</a:t>
            </a:r>
            <a:r>
              <a:rPr lang="en-US" sz="1950" dirty="0">
                <a:solidFill>
                  <a:srgbClr val="16171D"/>
                </a:solidFill>
                <a:latin typeface="Segoe UI"/>
                <a:cs typeface="Segoe UI"/>
              </a:rPr>
              <a:t xml:space="preserve"> Get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alone.</a:t>
            </a:r>
            <a:endParaRPr lang="en-US" sz="1950" dirty="0"/>
          </a:p>
        </p:txBody>
      </p:sp>
      <p:sp>
        <p:nvSpPr>
          <p:cNvPr id="8" name="Slide Number 8"/>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5</a:t>
            </a:fld>
          </a:p>
        </p:txBody>
      </p:sp>
    </p:spTree>
  </p:cSld>
  <p:clrMapOvr>
    <a:masterClrMapping/>
  </p:clrMapOvr>
  <p:transition spd="med">
    <p:fade/>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I do · Watch me</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Perpendicular slopes</a:t>
            </a:r>
            <a:endParaRPr lang="en-US" sz="3450" dirty="0"/>
          </a:p>
        </p:txBody>
      </p:sp>
      <p:sp>
        <p:nvSpPr>
          <p:cNvPr id="7" name="Shape 7"/>
          <p:cNvSpPr txBox="1"/>
          <p:nvPr/>
        </p:nvSpPr>
        <p:spPr>
          <a:xfrm>
            <a:off x="685800" y="1618488"/>
            <a:ext cx="5219548" cy="172212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48004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2</a:t>
            </a:r>
            <a:r>
              <a:rPr lang="en-US" sz="2100" dirty="0" b="1">
                <a:solidFill>
                  <a:srgbClr val="16171D"/>
                </a:solidFill>
                <a:latin typeface="Segoe UI"/>
                <a:cs typeface="Segoe UI"/>
              </a:rPr>
              <a:t xml:space="preserve">/</a:t>
            </a:r>
            <a:r>
              <a:rPr lang="en-US" sz="2100" dirty="0" b="1">
                <a:solidFill>
                  <a:srgbClr val="16171D"/>
                </a:solidFill>
                <a:latin typeface="Segoe UI"/>
                <a:cs typeface="Segoe UI"/>
              </a:rPr>
              <a:t xml:space="preserve">3</a:t>
            </a:r>
            <a:endParaRPr lang="en-US" sz="2100" dirty="0"/>
          </a:p>
        </p:txBody>
      </p:sp>
      <p:sp>
        <p:nvSpPr>
          <p:cNvPr id="5" name="Shape 5"/>
          <p:cNvSpPr txBox="1"/>
          <p:nvPr/>
        </p:nvSpPr>
        <p:spPr>
          <a:xfrm>
            <a:off x="895350" y="2260092"/>
            <a:ext cx="48004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Flip: </a:t>
            </a:r>
            <a:r>
              <a:rPr lang="en-US" sz="1575" dirty="0">
                <a:solidFill>
                  <a:srgbClr val="16171D"/>
                </a:solidFill>
                <a:latin typeface="Segoe UI"/>
                <a:cs typeface="Segoe UI"/>
              </a:rPr>
              <a:t xml:space="preserve">3</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2</a:t>
            </a:r>
            <a:r>
              <a:rPr lang="en-US" sz="1575" dirty="0">
                <a:solidFill>
                  <a:srgbClr val="16171D"/>
                </a:solidFill>
                <a:latin typeface="Segoe UI"/>
                <a:cs typeface="Segoe UI"/>
              </a:rPr>
              <a:t xml:space="preserve">. Change sign:</a:t>
            </a:r>
            <a:endParaRPr lang="en-US" sz="1575" dirty="0"/>
          </a:p>
        </p:txBody>
      </p:sp>
      <p:sp>
        <p:nvSpPr>
          <p:cNvPr id="6" name="Shape 6"/>
          <p:cNvSpPr txBox="1"/>
          <p:nvPr/>
        </p:nvSpPr>
        <p:spPr>
          <a:xfrm>
            <a:off x="895350" y="2650236"/>
            <a:ext cx="257636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3</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2</a:t>
            </a:r>
            <a:endParaRPr lang="en-US" sz="2325" dirty="0"/>
          </a:p>
        </p:txBody>
      </p:sp>
      <p:sp>
        <p:nvSpPr>
          <p:cNvPr id="11" name="Shape 11"/>
          <p:cNvSpPr txBox="1"/>
          <p:nvPr/>
        </p:nvSpPr>
        <p:spPr>
          <a:xfrm>
            <a:off x="6286348" y="1618488"/>
            <a:ext cx="5219548" cy="172212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6495898" y="1789938"/>
            <a:ext cx="48004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−3</a:t>
            </a:r>
            <a:endParaRPr lang="en-US" sz="2100" dirty="0"/>
          </a:p>
        </p:txBody>
      </p:sp>
      <p:sp>
        <p:nvSpPr>
          <p:cNvPr id="9" name="Shape 9"/>
          <p:cNvSpPr txBox="1"/>
          <p:nvPr/>
        </p:nvSpPr>
        <p:spPr>
          <a:xfrm>
            <a:off x="6495898" y="2260092"/>
            <a:ext cx="48004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−3 = −</a:t>
            </a:r>
            <a:r>
              <a:rPr lang="en-US" sz="1575" dirty="0">
                <a:solidFill>
                  <a:srgbClr val="16171D"/>
                </a:solidFill>
                <a:latin typeface="Segoe UI"/>
                <a:cs typeface="Segoe UI"/>
              </a:rPr>
              <a:t xml:space="preserve">3</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1</a:t>
            </a:r>
            <a:r>
              <a:rPr lang="en-US" sz="1575" dirty="0">
                <a:solidFill>
                  <a:srgbClr val="16171D"/>
                </a:solidFill>
                <a:latin typeface="Segoe UI"/>
                <a:cs typeface="Segoe UI"/>
              </a:rPr>
              <a:t xml:space="preserve">. Flip: </a:t>
            </a:r>
            <a:r>
              <a:rPr lang="en-US" sz="1575" dirty="0">
                <a:solidFill>
                  <a:srgbClr val="16171D"/>
                </a:solidFill>
                <a:latin typeface="Segoe UI"/>
                <a:cs typeface="Segoe UI"/>
              </a:rPr>
              <a:t xml:space="preserve">1</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3</a:t>
            </a:r>
            <a:r>
              <a:rPr lang="en-US" sz="1575" dirty="0">
                <a:solidFill>
                  <a:srgbClr val="16171D"/>
                </a:solidFill>
                <a:latin typeface="Segoe UI"/>
                <a:cs typeface="Segoe UI"/>
              </a:rPr>
              <a:t xml:space="preserve">. Change sign:</a:t>
            </a:r>
            <a:endParaRPr lang="en-US" sz="1575" dirty="0"/>
          </a:p>
        </p:txBody>
      </p:sp>
      <p:sp>
        <p:nvSpPr>
          <p:cNvPr id="10" name="Shape 10"/>
          <p:cNvSpPr txBox="1"/>
          <p:nvPr/>
        </p:nvSpPr>
        <p:spPr>
          <a:xfrm>
            <a:off x="6495898" y="2650236"/>
            <a:ext cx="241054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3</a:t>
            </a:r>
            <a:endParaRPr lang="en-US" sz="2325" dirty="0"/>
          </a:p>
        </p:txBody>
      </p:sp>
      <p:sp>
        <p:nvSpPr>
          <p:cNvPr id="12" name="Slide Number 12"/>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6</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6"/>
                                        </p:tgtEl>
                                        <p:attrNameLst>
                                          <p:attrName>style.visibility</p:attrName>
                                        </p:attrNameLst>
                                      </p:cBhvr>
                                      <p:to>
                                        <p:strVal val="visible"/>
                                      </p:to>
                                    </p:set>
                                    <p:animEffect transition="in" filter="fade">
                                      <p:cBhvr>
                                        <p:cTn id="4" dur="500"/>
                                        <p:tgtEl>
                                          <p:spTgt spid="6"/>
                                        </p:tgtEl>
                                      </p:cBhvr>
                                    </p:animEffect>
                                    <p:anim calcmode="lin" valueType="num">
                                      <p:cBhvr>
                                        <p:cTn id="5" dur="500" fill="hold"/>
                                        <p:tgtEl>
                                          <p:spTgt spid="6"/>
                                        </p:tgtEl>
                                        <p:attrNameLst>
                                          <p:attrName>ppt_w</p:attrName>
                                        </p:attrNameLst>
                                      </p:cBhvr>
                                      <p:tavLst>
                                        <p:tav tm="0">
                                          <p:val>
                                            <p:fltVal val="0"/>
                                          </p:val>
                                        </p:tav>
                                        <p:tav tm="100000">
                                          <p:val>
                                            <p:strVal val="#ppt_w"/>
                                          </p:val>
                                        </p:tav>
                                      </p:tavLst>
                                    </p:anim>
                                    <p:anim calcmode="lin" valueType="num">
                                      <p:cBhvr>
                                        <p:cTn id="6" dur="500" fill="hold"/>
                                        <p:tgtEl>
                                          <p:spTgt spid="6"/>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10"/>
                                        </p:tgtEl>
                                        <p:attrNameLst>
                                          <p:attrName>style.visibility</p:attrName>
                                        </p:attrNameLst>
                                      </p:cBhvr>
                                      <p:to>
                                        <p:strVal val="visible"/>
                                      </p:to>
                                    </p:set>
                                    <p:animEffect transition="in" filter="fade">
                                      <p:cBhvr>
                                        <p:cTn id="11" dur="500"/>
                                        <p:tgtEl>
                                          <p:spTgt spid="10"/>
                                        </p:tgtEl>
                                      </p:cBhvr>
                                    </p:animEffect>
                                    <p:anim calcmode="lin" valueType="num">
                                      <p:cBhvr>
                                        <p:cTn id="12" dur="500" fill="hold"/>
                                        <p:tgtEl>
                                          <p:spTgt spid="10"/>
                                        </p:tgtEl>
                                        <p:attrNameLst>
                                          <p:attrName>ppt_w</p:attrName>
                                        </p:attrNameLst>
                                      </p:cBhvr>
                                      <p:tavLst>
                                        <p:tav tm="0">
                                          <p:val>
                                            <p:fltVal val="0"/>
                                          </p:val>
                                        </p:tav>
                                        <p:tav tm="100000">
                                          <p:val>
                                            <p:strVal val="#ppt_w"/>
                                          </p:val>
                                        </p:tav>
                                      </p:tavLst>
                                    </p:anim>
                                    <p:anim calcmode="lin" valueType="num">
                                      <p:cBhvr>
                                        <p:cTn id="13" dur="500" fill="hold"/>
                                        <p:tgtEl>
                                          <p:spTgt spid="10"/>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You do · Try it</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Find the perpendicular slope</a:t>
            </a:r>
            <a:endParaRPr lang="en-US" sz="3450" dirty="0"/>
          </a:p>
        </p:txBody>
      </p:sp>
      <p:sp>
        <p:nvSpPr>
          <p:cNvPr id="6" name="Shape 6"/>
          <p:cNvSpPr txBox="1"/>
          <p:nvPr/>
        </p:nvSpPr>
        <p:spPr>
          <a:xfrm>
            <a:off x="685800" y="1618488"/>
            <a:ext cx="3352698" cy="130911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293359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1. 4</a:t>
            </a:r>
            <a:endParaRPr lang="en-US" sz="1950" dirty="0"/>
          </a:p>
        </p:txBody>
      </p:sp>
      <p:sp>
        <p:nvSpPr>
          <p:cNvPr id="5" name="Shape 5"/>
          <p:cNvSpPr txBox="1"/>
          <p:nvPr/>
        </p:nvSpPr>
        <p:spPr>
          <a:xfrm>
            <a:off x="895350" y="2237232"/>
            <a:ext cx="257636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4</a:t>
            </a:r>
            <a:endParaRPr lang="en-US" sz="2325" dirty="0"/>
          </a:p>
        </p:txBody>
      </p:sp>
      <p:sp>
        <p:nvSpPr>
          <p:cNvPr id="9" name="Shape 9"/>
          <p:cNvSpPr txBox="1"/>
          <p:nvPr/>
        </p:nvSpPr>
        <p:spPr>
          <a:xfrm>
            <a:off x="4419498" y="1618488"/>
            <a:ext cx="3352698" cy="130911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7" name="Shape 7"/>
          <p:cNvSpPr txBox="1"/>
          <p:nvPr/>
        </p:nvSpPr>
        <p:spPr>
          <a:xfrm>
            <a:off x="4629048" y="1789938"/>
            <a:ext cx="293359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a:t>
            </a:r>
            <a:r>
              <a:rPr lang="en-US" sz="1950" dirty="0">
                <a:solidFill>
                  <a:srgbClr val="16171D"/>
                </a:solidFill>
                <a:latin typeface="Segoe UI"/>
                <a:cs typeface="Segoe UI"/>
              </a:rPr>
              <a:t xml:space="preserve">4</a:t>
            </a:r>
            <a:r>
              <a:rPr lang="en-US" sz="1950" dirty="0">
                <a:solidFill>
                  <a:srgbClr val="16171D"/>
                </a:solidFill>
                <a:latin typeface="Segoe UI"/>
                <a:cs typeface="Segoe UI"/>
              </a:rPr>
              <a:t xml:space="preserve">/</a:t>
            </a:r>
            <a:r>
              <a:rPr lang="en-US" sz="1950" dirty="0">
                <a:solidFill>
                  <a:srgbClr val="16171D"/>
                </a:solidFill>
                <a:latin typeface="Segoe UI"/>
                <a:cs typeface="Segoe UI"/>
              </a:rPr>
              <a:t xml:space="preserve">5</a:t>
            </a:r>
            <a:endParaRPr lang="en-US" sz="1950" dirty="0"/>
          </a:p>
        </p:txBody>
      </p:sp>
      <p:sp>
        <p:nvSpPr>
          <p:cNvPr id="8" name="Shape 8"/>
          <p:cNvSpPr txBox="1"/>
          <p:nvPr/>
        </p:nvSpPr>
        <p:spPr>
          <a:xfrm>
            <a:off x="4629048" y="2237232"/>
            <a:ext cx="241054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5</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4</a:t>
            </a:r>
            <a:endParaRPr lang="en-US" sz="2325" dirty="0"/>
          </a:p>
        </p:txBody>
      </p:sp>
      <p:sp>
        <p:nvSpPr>
          <p:cNvPr id="12" name="Shape 12"/>
          <p:cNvSpPr txBox="1"/>
          <p:nvPr/>
        </p:nvSpPr>
        <p:spPr>
          <a:xfrm>
            <a:off x="8153197" y="1618488"/>
            <a:ext cx="3352698" cy="130911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0" name="Shape 10"/>
          <p:cNvSpPr txBox="1"/>
          <p:nvPr/>
        </p:nvSpPr>
        <p:spPr>
          <a:xfrm>
            <a:off x="8362747" y="1789938"/>
            <a:ext cx="293359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a:t>
            </a:r>
            <a:r>
              <a:rPr lang="en-US" sz="1950" dirty="0">
                <a:solidFill>
                  <a:srgbClr val="16171D"/>
                </a:solidFill>
                <a:latin typeface="Segoe UI"/>
                <a:cs typeface="Segoe UI"/>
              </a:rPr>
              <a:t xml:space="preserve">1</a:t>
            </a:r>
            <a:r>
              <a:rPr lang="en-US" sz="1950" dirty="0">
                <a:solidFill>
                  <a:srgbClr val="16171D"/>
                </a:solidFill>
                <a:latin typeface="Segoe UI"/>
                <a:cs typeface="Segoe UI"/>
              </a:rPr>
              <a:t xml:space="preserve">/</a:t>
            </a:r>
            <a:r>
              <a:rPr lang="en-US" sz="1950" dirty="0">
                <a:solidFill>
                  <a:srgbClr val="16171D"/>
                </a:solidFill>
                <a:latin typeface="Segoe UI"/>
                <a:cs typeface="Segoe UI"/>
              </a:rPr>
              <a:t xml:space="preserve">2</a:t>
            </a:r>
            <a:endParaRPr lang="en-US" sz="1950" dirty="0"/>
          </a:p>
        </p:txBody>
      </p:sp>
      <p:sp>
        <p:nvSpPr>
          <p:cNvPr id="11" name="Shape 11"/>
          <p:cNvSpPr txBox="1"/>
          <p:nvPr/>
        </p:nvSpPr>
        <p:spPr>
          <a:xfrm>
            <a:off x="8362747" y="2237232"/>
            <a:ext cx="2244715"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−2</a:t>
            </a:r>
            <a:endParaRPr lang="en-US" sz="2325" dirty="0"/>
          </a:p>
        </p:txBody>
      </p:sp>
      <p:sp>
        <p:nvSpPr>
          <p:cNvPr id="13" name="Slide Number 13"/>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7</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500"/>
                                        <p:tgtEl>
                                          <p:spTgt spid="8"/>
                                        </p:tgtEl>
                                      </p:cBhvr>
                                    </p:animEffect>
                                    <p:anim calcmode="lin" valueType="num">
                                      <p:cBhvr>
                                        <p:cTn id="12" dur="500" fill="hold"/>
                                        <p:tgtEl>
                                          <p:spTgt spid="8"/>
                                        </p:tgtEl>
                                        <p:attrNameLst>
                                          <p:attrName>ppt_w</p:attrName>
                                        </p:attrNameLst>
                                      </p:cBhvr>
                                      <p:tavLst>
                                        <p:tav tm="0">
                                          <p:val>
                                            <p:fltVal val="0"/>
                                          </p:val>
                                        </p:tav>
                                        <p:tav tm="100000">
                                          <p:val>
                                            <p:strVal val="#ppt_w"/>
                                          </p:val>
                                        </p:tav>
                                      </p:tavLst>
                                    </p:anim>
                                    <p:anim calcmode="lin" valueType="num">
                                      <p:cBhvr>
                                        <p:cTn id="13" dur="500" fill="hold"/>
                                        <p:tgtEl>
                                          <p:spTgt spid="8"/>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11"/>
                                        </p:tgtEl>
                                        <p:attrNameLst>
                                          <p:attrName>style.visibility</p:attrName>
                                        </p:attrNameLst>
                                      </p:cBhvr>
                                      <p:to>
                                        <p:strVal val="visible"/>
                                      </p:to>
                                    </p:set>
                                    <p:animEffect transition="in" filter="fade">
                                      <p:cBhvr>
                                        <p:cTn id="18" dur="500"/>
                                        <p:tgtEl>
                                          <p:spTgt spid="11"/>
                                        </p:tgtEl>
                                      </p:cBhvr>
                                    </p:animEffect>
                                    <p:anim calcmode="lin" valueType="num">
                                      <p:cBhvr>
                                        <p:cTn id="19" dur="500" fill="hold"/>
                                        <p:tgtEl>
                                          <p:spTgt spid="11"/>
                                        </p:tgtEl>
                                        <p:attrNameLst>
                                          <p:attrName>ppt_w</p:attrName>
                                        </p:attrNameLst>
                                      </p:cBhvr>
                                      <p:tavLst>
                                        <p:tav tm="0">
                                          <p:val>
                                            <p:fltVal val="0"/>
                                          </p:val>
                                        </p:tav>
                                        <p:tav tm="100000">
                                          <p:val>
                                            <p:strVal val="#ppt_w"/>
                                          </p:val>
                                        </p:tav>
                                      </p:tavLst>
                                    </p:anim>
                                    <p:anim calcmode="lin" valueType="num">
                                      <p:cBhvr>
                                        <p:cTn id="20" dur="500" fill="hold"/>
                                        <p:tgtEl>
                                          <p:spTgt spid="1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Check it · Step by step</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Find the perpendicular slope</a:t>
            </a:r>
            <a:endParaRPr lang="en-US" sz="3450" dirty="0"/>
          </a:p>
        </p:txBody>
      </p:sp>
      <p:sp>
        <p:nvSpPr>
          <p:cNvPr id="10" name="Shape 10"/>
          <p:cNvSpPr txBox="1"/>
          <p:nvPr/>
        </p:nvSpPr>
        <p:spPr>
          <a:xfrm>
            <a:off x="685800" y="1618488"/>
            <a:ext cx="3454298" cy="361264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30351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1. 4</a:t>
            </a:r>
            <a:endParaRPr lang="en-US" sz="2100" dirty="0"/>
          </a:p>
        </p:txBody>
      </p:sp>
      <p:sp>
        <p:nvSpPr>
          <p:cNvPr id="5" name="Shape 5"/>
          <p:cNvSpPr txBox="1"/>
          <p:nvPr/>
        </p:nvSpPr>
        <p:spPr>
          <a:xfrm>
            <a:off x="895350" y="2260092"/>
            <a:ext cx="30351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1.</a:t>
            </a:r>
            <a:r>
              <a:rPr lang="en-US" sz="1575" dirty="0">
                <a:solidFill>
                  <a:srgbClr val="16171D"/>
                </a:solidFill>
                <a:latin typeface="Segoe UI"/>
                <a:cs typeface="Segoe UI"/>
              </a:rPr>
              <a:t xml:space="preserve"> Write it as a fraction: </a:t>
            </a:r>
            <a:r>
              <a:rPr lang="en-US" sz="1575" dirty="0">
                <a:solidFill>
                  <a:srgbClr val="16171D"/>
                </a:solidFill>
                <a:latin typeface="Segoe UI"/>
                <a:cs typeface="Segoe UI"/>
              </a:rPr>
              <a:t xml:space="preserve">4</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1</a:t>
            </a:r>
            <a:r>
              <a:rPr lang="en-US" sz="1575" dirty="0">
                <a:solidFill>
                  <a:srgbClr val="16171D"/>
                </a:solidFill>
                <a:latin typeface="Segoe UI"/>
                <a:cs typeface="Segoe UI"/>
              </a:rPr>
              <a:t xml:space="preserve">.</a:t>
            </a:r>
            <a:endParaRPr lang="en-US" sz="1575" dirty="0"/>
          </a:p>
        </p:txBody>
      </p:sp>
      <p:sp>
        <p:nvSpPr>
          <p:cNvPr id="6" name="Shape 6"/>
          <p:cNvSpPr txBox="1"/>
          <p:nvPr/>
        </p:nvSpPr>
        <p:spPr>
          <a:xfrm>
            <a:off x="895350" y="2890266"/>
            <a:ext cx="303519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2.</a:t>
            </a:r>
            <a:r>
              <a:rPr lang="en-US" sz="1575" dirty="0">
                <a:solidFill>
                  <a:srgbClr val="16171D"/>
                </a:solidFill>
                <a:latin typeface="Segoe UI"/>
                <a:cs typeface="Segoe UI"/>
              </a:rPr>
              <a:t xml:space="preserve"> Flip it: </a:t>
            </a:r>
            <a:r>
              <a:rPr lang="en-US" sz="1575" dirty="0">
                <a:solidFill>
                  <a:srgbClr val="16171D"/>
                </a:solidFill>
                <a:latin typeface="Segoe UI"/>
                <a:cs typeface="Segoe UI"/>
              </a:rPr>
              <a:t xml:space="preserve">1</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4</a:t>
            </a:r>
            <a:r>
              <a:rPr lang="en-US" sz="1575" dirty="0">
                <a:solidFill>
                  <a:srgbClr val="16171D"/>
                </a:solidFill>
                <a:latin typeface="Segoe UI"/>
                <a:cs typeface="Segoe UI"/>
              </a:rPr>
              <a:t xml:space="preserve">.</a:t>
            </a:r>
            <a:endParaRPr lang="en-US" sz="1575" dirty="0"/>
          </a:p>
        </p:txBody>
      </p:sp>
      <p:sp>
        <p:nvSpPr>
          <p:cNvPr id="7" name="Shape 7"/>
          <p:cNvSpPr txBox="1"/>
          <p:nvPr/>
        </p:nvSpPr>
        <p:spPr>
          <a:xfrm>
            <a:off x="895350" y="3280410"/>
            <a:ext cx="30351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3.</a:t>
            </a:r>
            <a:r>
              <a:rPr lang="en-US" sz="1575" dirty="0">
                <a:solidFill>
                  <a:srgbClr val="16171D"/>
                </a:solidFill>
                <a:latin typeface="Segoe UI"/>
                <a:cs typeface="Segoe UI"/>
              </a:rPr>
              <a:t xml:space="preserve"> Change the sign: −</a:t>
            </a:r>
            <a:r>
              <a:rPr lang="en-US" sz="1575" dirty="0">
                <a:solidFill>
                  <a:srgbClr val="16171D"/>
                </a:solidFill>
                <a:latin typeface="Segoe UI"/>
                <a:cs typeface="Segoe UI"/>
              </a:rPr>
              <a:t xml:space="preserve">1</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4</a:t>
            </a:r>
            <a:r>
              <a:rPr lang="en-US" sz="1575" dirty="0">
                <a:solidFill>
                  <a:srgbClr val="16171D"/>
                </a:solidFill>
                <a:latin typeface="Segoe UI"/>
                <a:cs typeface="Segoe UI"/>
              </a:rPr>
              <a:t xml:space="preserve">.</a:t>
            </a:r>
            <a:endParaRPr lang="en-US" sz="1575" dirty="0"/>
          </a:p>
        </p:txBody>
      </p:sp>
      <p:sp>
        <p:nvSpPr>
          <p:cNvPr id="8" name="Shape 8"/>
          <p:cNvSpPr txBox="1"/>
          <p:nvPr/>
        </p:nvSpPr>
        <p:spPr>
          <a:xfrm>
            <a:off x="895350" y="3910584"/>
            <a:ext cx="30351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4.</a:t>
            </a:r>
            <a:r>
              <a:rPr lang="en-US" sz="1575" dirty="0">
                <a:solidFill>
                  <a:srgbClr val="16171D"/>
                </a:solidFill>
                <a:latin typeface="Segoe UI"/>
                <a:cs typeface="Segoe UI"/>
              </a:rPr>
              <a:t xml:space="preserve"> Check: 4 · (−</a:t>
            </a:r>
            <a:r>
              <a:rPr lang="en-US" sz="1575" dirty="0">
                <a:solidFill>
                  <a:srgbClr val="16171D"/>
                </a:solidFill>
                <a:latin typeface="Segoe UI"/>
                <a:cs typeface="Segoe UI"/>
              </a:rPr>
              <a:t xml:space="preserve">1</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4</a:t>
            </a:r>
            <a:r>
              <a:rPr lang="en-US" sz="1575" dirty="0">
                <a:solidFill>
                  <a:srgbClr val="16171D"/>
                </a:solidFill>
                <a:latin typeface="Segoe UI"/>
                <a:cs typeface="Segoe UI"/>
              </a:rPr>
              <a:t xml:space="preserve">) = −1 ✓</a:t>
            </a:r>
            <a:endParaRPr lang="en-US" sz="1575" dirty="0"/>
          </a:p>
        </p:txBody>
      </p:sp>
      <p:sp>
        <p:nvSpPr>
          <p:cNvPr id="9" name="Shape 9"/>
          <p:cNvSpPr txBox="1"/>
          <p:nvPr/>
        </p:nvSpPr>
        <p:spPr>
          <a:xfrm>
            <a:off x="895350" y="4540758"/>
            <a:ext cx="257636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4</a:t>
            </a:r>
            <a:endParaRPr lang="en-US" sz="2325" dirty="0"/>
          </a:p>
        </p:txBody>
      </p:sp>
      <p:sp>
        <p:nvSpPr>
          <p:cNvPr id="16" name="Shape 16"/>
          <p:cNvSpPr txBox="1"/>
          <p:nvPr/>
        </p:nvSpPr>
        <p:spPr>
          <a:xfrm>
            <a:off x="4368698" y="1618488"/>
            <a:ext cx="3454298" cy="298246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1" name="Shape 11"/>
          <p:cNvSpPr txBox="1"/>
          <p:nvPr/>
        </p:nvSpPr>
        <p:spPr>
          <a:xfrm>
            <a:off x="4578248" y="1789938"/>
            <a:ext cx="30351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2. −</a:t>
            </a:r>
            <a:r>
              <a:rPr lang="en-US" sz="2100" dirty="0" b="1">
                <a:solidFill>
                  <a:srgbClr val="16171D"/>
                </a:solidFill>
                <a:latin typeface="Segoe UI"/>
                <a:cs typeface="Segoe UI"/>
              </a:rPr>
              <a:t xml:space="preserve">4</a:t>
            </a:r>
            <a:r>
              <a:rPr lang="en-US" sz="2100" dirty="0" b="1">
                <a:solidFill>
                  <a:srgbClr val="16171D"/>
                </a:solidFill>
                <a:latin typeface="Segoe UI"/>
                <a:cs typeface="Segoe UI"/>
              </a:rPr>
              <a:t xml:space="preserve">/</a:t>
            </a:r>
            <a:r>
              <a:rPr lang="en-US" sz="2100" dirty="0" b="1">
                <a:solidFill>
                  <a:srgbClr val="16171D"/>
                </a:solidFill>
                <a:latin typeface="Segoe UI"/>
                <a:cs typeface="Segoe UI"/>
              </a:rPr>
              <a:t xml:space="preserve">5</a:t>
            </a:r>
            <a:endParaRPr lang="en-US" sz="2100" dirty="0"/>
          </a:p>
        </p:txBody>
      </p:sp>
      <p:sp>
        <p:nvSpPr>
          <p:cNvPr id="12" name="Shape 12"/>
          <p:cNvSpPr txBox="1"/>
          <p:nvPr/>
        </p:nvSpPr>
        <p:spPr>
          <a:xfrm>
            <a:off x="4578248" y="2260092"/>
            <a:ext cx="303519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1.</a:t>
            </a:r>
            <a:r>
              <a:rPr lang="en-US" sz="1575" dirty="0">
                <a:solidFill>
                  <a:srgbClr val="16171D"/>
                </a:solidFill>
                <a:latin typeface="Segoe UI"/>
                <a:cs typeface="Segoe UI"/>
              </a:rPr>
              <a:t xml:space="preserve"> Flip it: −</a:t>
            </a:r>
            <a:r>
              <a:rPr lang="en-US" sz="1575" dirty="0">
                <a:solidFill>
                  <a:srgbClr val="16171D"/>
                </a:solidFill>
                <a:latin typeface="Segoe UI"/>
                <a:cs typeface="Segoe UI"/>
              </a:rPr>
              <a:t xml:space="preserve">5</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4</a:t>
            </a:r>
            <a:r>
              <a:rPr lang="en-US" sz="1575" dirty="0">
                <a:solidFill>
                  <a:srgbClr val="16171D"/>
                </a:solidFill>
                <a:latin typeface="Segoe UI"/>
                <a:cs typeface="Segoe UI"/>
              </a:rPr>
              <a:t xml:space="preserve">.</a:t>
            </a:r>
            <a:endParaRPr lang="en-US" sz="1575" dirty="0"/>
          </a:p>
        </p:txBody>
      </p:sp>
      <p:sp>
        <p:nvSpPr>
          <p:cNvPr id="13" name="Shape 13"/>
          <p:cNvSpPr txBox="1"/>
          <p:nvPr/>
        </p:nvSpPr>
        <p:spPr>
          <a:xfrm>
            <a:off x="4578248" y="2650236"/>
            <a:ext cx="30351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2.</a:t>
            </a:r>
            <a:r>
              <a:rPr lang="en-US" sz="1575" dirty="0">
                <a:solidFill>
                  <a:srgbClr val="16171D"/>
                </a:solidFill>
                <a:latin typeface="Segoe UI"/>
                <a:cs typeface="Segoe UI"/>
              </a:rPr>
              <a:t xml:space="preserve"> Change the sign: − becomes +, so </a:t>
            </a:r>
            <a:r>
              <a:rPr lang="en-US" sz="1575" dirty="0">
                <a:solidFill>
                  <a:srgbClr val="16171D"/>
                </a:solidFill>
                <a:latin typeface="Segoe UI"/>
                <a:cs typeface="Segoe UI"/>
              </a:rPr>
              <a:t xml:space="preserve">5</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4</a:t>
            </a:r>
            <a:r>
              <a:rPr lang="en-US" sz="1575" dirty="0">
                <a:solidFill>
                  <a:srgbClr val="16171D"/>
                </a:solidFill>
                <a:latin typeface="Segoe UI"/>
                <a:cs typeface="Segoe UI"/>
              </a:rPr>
              <a:t xml:space="preserve">.</a:t>
            </a:r>
            <a:endParaRPr lang="en-US" sz="1575" dirty="0"/>
          </a:p>
        </p:txBody>
      </p:sp>
      <p:sp>
        <p:nvSpPr>
          <p:cNvPr id="14" name="Shape 14"/>
          <p:cNvSpPr txBox="1"/>
          <p:nvPr/>
        </p:nvSpPr>
        <p:spPr>
          <a:xfrm>
            <a:off x="4578248" y="3280410"/>
            <a:ext cx="30351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3.</a:t>
            </a:r>
            <a:r>
              <a:rPr lang="en-US" sz="1575" dirty="0">
                <a:solidFill>
                  <a:srgbClr val="16171D"/>
                </a:solidFill>
                <a:latin typeface="Segoe UI"/>
                <a:cs typeface="Segoe UI"/>
              </a:rPr>
              <a:t xml:space="preserve"> Check: −</a:t>
            </a:r>
            <a:r>
              <a:rPr lang="en-US" sz="1575" dirty="0">
                <a:solidFill>
                  <a:srgbClr val="16171D"/>
                </a:solidFill>
                <a:latin typeface="Segoe UI"/>
                <a:cs typeface="Segoe UI"/>
              </a:rPr>
              <a:t xml:space="preserve">4</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5</a:t>
            </a:r>
            <a:r>
              <a:rPr lang="en-US" sz="1575" dirty="0">
                <a:solidFill>
                  <a:srgbClr val="16171D"/>
                </a:solidFill>
                <a:latin typeface="Segoe UI"/>
                <a:cs typeface="Segoe UI"/>
              </a:rPr>
              <a:t xml:space="preserve"> · </a:t>
            </a:r>
            <a:r>
              <a:rPr lang="en-US" sz="1575" dirty="0">
                <a:solidFill>
                  <a:srgbClr val="16171D"/>
                </a:solidFill>
                <a:latin typeface="Segoe UI"/>
                <a:cs typeface="Segoe UI"/>
              </a:rPr>
              <a:t xml:space="preserve">5</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4</a:t>
            </a:r>
            <a:r>
              <a:rPr lang="en-US" sz="1575" dirty="0">
                <a:solidFill>
                  <a:srgbClr val="16171D"/>
                </a:solidFill>
                <a:latin typeface="Segoe UI"/>
                <a:cs typeface="Segoe UI"/>
              </a:rPr>
              <a:t xml:space="preserve"> = −1 ✓</a:t>
            </a:r>
            <a:endParaRPr lang="en-US" sz="1575" dirty="0"/>
          </a:p>
        </p:txBody>
      </p:sp>
      <p:sp>
        <p:nvSpPr>
          <p:cNvPr id="15" name="Shape 15"/>
          <p:cNvSpPr txBox="1"/>
          <p:nvPr/>
        </p:nvSpPr>
        <p:spPr>
          <a:xfrm>
            <a:off x="4578248" y="3910584"/>
            <a:ext cx="241054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5</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4</a:t>
            </a:r>
            <a:endParaRPr lang="en-US" sz="2325" dirty="0"/>
          </a:p>
        </p:txBody>
      </p:sp>
      <p:sp>
        <p:nvSpPr>
          <p:cNvPr id="22" name="Shape 22"/>
          <p:cNvSpPr txBox="1"/>
          <p:nvPr/>
        </p:nvSpPr>
        <p:spPr>
          <a:xfrm>
            <a:off x="8051597" y="1618488"/>
            <a:ext cx="3454298" cy="274243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7" name="Shape 17"/>
          <p:cNvSpPr txBox="1"/>
          <p:nvPr/>
        </p:nvSpPr>
        <p:spPr>
          <a:xfrm>
            <a:off x="8261147" y="1789938"/>
            <a:ext cx="30351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3. </a:t>
            </a:r>
            <a:r>
              <a:rPr lang="en-US" sz="2100" dirty="0" b="1">
                <a:solidFill>
                  <a:srgbClr val="16171D"/>
                </a:solidFill>
                <a:latin typeface="Segoe UI"/>
                <a:cs typeface="Segoe UI"/>
              </a:rPr>
              <a:t xml:space="preserve">1</a:t>
            </a:r>
            <a:r>
              <a:rPr lang="en-US" sz="2100" dirty="0" b="1">
                <a:solidFill>
                  <a:srgbClr val="16171D"/>
                </a:solidFill>
                <a:latin typeface="Segoe UI"/>
                <a:cs typeface="Segoe UI"/>
              </a:rPr>
              <a:t xml:space="preserve">/</a:t>
            </a:r>
            <a:r>
              <a:rPr lang="en-US" sz="2100" dirty="0" b="1">
                <a:solidFill>
                  <a:srgbClr val="16171D"/>
                </a:solidFill>
                <a:latin typeface="Segoe UI"/>
                <a:cs typeface="Segoe UI"/>
              </a:rPr>
              <a:t xml:space="preserve">2</a:t>
            </a:r>
            <a:endParaRPr lang="en-US" sz="2100" dirty="0"/>
          </a:p>
        </p:txBody>
      </p:sp>
      <p:sp>
        <p:nvSpPr>
          <p:cNvPr id="18" name="Shape 18"/>
          <p:cNvSpPr txBox="1"/>
          <p:nvPr/>
        </p:nvSpPr>
        <p:spPr>
          <a:xfrm>
            <a:off x="8261147" y="2260092"/>
            <a:ext cx="303519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1.</a:t>
            </a:r>
            <a:r>
              <a:rPr lang="en-US" sz="1575" dirty="0">
                <a:solidFill>
                  <a:srgbClr val="16171D"/>
                </a:solidFill>
                <a:latin typeface="Segoe UI"/>
                <a:cs typeface="Segoe UI"/>
              </a:rPr>
              <a:t xml:space="preserve"> Flip it: </a:t>
            </a:r>
            <a:r>
              <a:rPr lang="en-US" sz="1575" dirty="0">
                <a:solidFill>
                  <a:srgbClr val="16171D"/>
                </a:solidFill>
                <a:latin typeface="Segoe UI"/>
                <a:cs typeface="Segoe UI"/>
              </a:rPr>
              <a:t xml:space="preserve">2</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1</a:t>
            </a:r>
            <a:r>
              <a:rPr lang="en-US" sz="1575" dirty="0">
                <a:solidFill>
                  <a:srgbClr val="16171D"/>
                </a:solidFill>
                <a:latin typeface="Segoe UI"/>
                <a:cs typeface="Segoe UI"/>
              </a:rPr>
              <a:t xml:space="preserve"> = 2.</a:t>
            </a:r>
            <a:endParaRPr lang="en-US" sz="1575" dirty="0"/>
          </a:p>
        </p:txBody>
      </p:sp>
      <p:sp>
        <p:nvSpPr>
          <p:cNvPr id="19" name="Shape 19"/>
          <p:cNvSpPr txBox="1"/>
          <p:nvPr/>
        </p:nvSpPr>
        <p:spPr>
          <a:xfrm>
            <a:off x="8261147" y="2650236"/>
            <a:ext cx="303519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2.</a:t>
            </a:r>
            <a:r>
              <a:rPr lang="en-US" sz="1575" dirty="0">
                <a:solidFill>
                  <a:srgbClr val="16171D"/>
                </a:solidFill>
                <a:latin typeface="Segoe UI"/>
                <a:cs typeface="Segoe UI"/>
              </a:rPr>
              <a:t xml:space="preserve"> Change the sign: −2.</a:t>
            </a:r>
            <a:endParaRPr lang="en-US" sz="1575" dirty="0"/>
          </a:p>
        </p:txBody>
      </p:sp>
      <p:sp>
        <p:nvSpPr>
          <p:cNvPr id="20" name="Shape 20"/>
          <p:cNvSpPr txBox="1"/>
          <p:nvPr/>
        </p:nvSpPr>
        <p:spPr>
          <a:xfrm>
            <a:off x="8261147" y="3040380"/>
            <a:ext cx="30351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3.</a:t>
            </a:r>
            <a:r>
              <a:rPr lang="en-US" sz="1575" dirty="0">
                <a:solidFill>
                  <a:srgbClr val="16171D"/>
                </a:solidFill>
                <a:latin typeface="Segoe UI"/>
                <a:cs typeface="Segoe UI"/>
              </a:rPr>
              <a:t xml:space="preserve"> Check: </a:t>
            </a:r>
            <a:r>
              <a:rPr lang="en-US" sz="1575" dirty="0">
                <a:solidFill>
                  <a:srgbClr val="16171D"/>
                </a:solidFill>
                <a:latin typeface="Segoe UI"/>
                <a:cs typeface="Segoe UI"/>
              </a:rPr>
              <a:t xml:space="preserve">1</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2</a:t>
            </a:r>
            <a:r>
              <a:rPr lang="en-US" sz="1575" dirty="0">
                <a:solidFill>
                  <a:srgbClr val="16171D"/>
                </a:solidFill>
                <a:latin typeface="Segoe UI"/>
                <a:cs typeface="Segoe UI"/>
              </a:rPr>
              <a:t xml:space="preserve"> · (−2) = −1 ✓</a:t>
            </a:r>
            <a:endParaRPr lang="en-US" sz="1575" dirty="0"/>
          </a:p>
        </p:txBody>
      </p:sp>
      <p:sp>
        <p:nvSpPr>
          <p:cNvPr id="21" name="Shape 21"/>
          <p:cNvSpPr txBox="1"/>
          <p:nvPr/>
        </p:nvSpPr>
        <p:spPr>
          <a:xfrm>
            <a:off x="8261147" y="3670554"/>
            <a:ext cx="2244715"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−2</a:t>
            </a:r>
            <a:endParaRPr lang="en-US" sz="2325" dirty="0"/>
          </a:p>
        </p:txBody>
      </p:sp>
      <p:sp>
        <p:nvSpPr>
          <p:cNvPr id="23" name="Slide Number 23"/>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8</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ppt_x</p:attrName>
                                        </p:attrNameLst>
                                      </p:cBhvr>
                                      <p:tavLst>
                                        <p:tav tm="0">
                                          <p:val>
                                            <p:strVal val="#ppt_x"/>
                                          </p:val>
                                        </p:tav>
                                        <p:tav tm="100000">
                                          <p:val>
                                            <p:strVal val="#ppt_x"/>
                                          </p:val>
                                        </p:tav>
                                      </p:tavLst>
                                    </p:anim>
                                    <p:anim calcmode="lin" valueType="num">
                                      <p:cBhvr>
                                        <p:cTn id="13"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500"/>
                                        <p:tgtEl>
                                          <p:spTgt spid="7"/>
                                        </p:tgtEl>
                                      </p:cBhvr>
                                    </p:animEffect>
                                    <p:anim calcmode="lin" valueType="num">
                                      <p:cBhvr>
                                        <p:cTn id="19" dur="500" fill="hold"/>
                                        <p:tgtEl>
                                          <p:spTgt spid="7"/>
                                        </p:tgtEl>
                                        <p:attrNameLst>
                                          <p:attrName>ppt_x</p:attrName>
                                        </p:attrNameLst>
                                      </p:cBhvr>
                                      <p:tavLst>
                                        <p:tav tm="0">
                                          <p:val>
                                            <p:strVal val="#ppt_x"/>
                                          </p:val>
                                        </p:tav>
                                        <p:tav tm="100000">
                                          <p:val>
                                            <p:strVal val="#ppt_x"/>
                                          </p:val>
                                        </p:tav>
                                      </p:tavLst>
                                    </p:anim>
                                    <p:anim calcmode="lin" valueType="num">
                                      <p:cBhvr>
                                        <p:cTn id="20"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8"/>
                                        </p:tgtEl>
                                        <p:attrNameLst>
                                          <p:attrName>style.visibility</p:attrName>
                                        </p:attrNameLst>
                                      </p:cBhvr>
                                      <p:to>
                                        <p:strVal val="visible"/>
                                      </p:to>
                                    </p:set>
                                    <p:animEffect transition="in" filter="fade">
                                      <p:cBhvr>
                                        <p:cTn id="25" dur="500"/>
                                        <p:tgtEl>
                                          <p:spTgt spid="8"/>
                                        </p:tgtEl>
                                      </p:cBhvr>
                                    </p:animEffect>
                                    <p:anim calcmode="lin" valueType="num">
                                      <p:cBhvr>
                                        <p:cTn id="26" dur="500" fill="hold"/>
                                        <p:tgtEl>
                                          <p:spTgt spid="8"/>
                                        </p:tgtEl>
                                        <p:attrNameLst>
                                          <p:attrName>ppt_x</p:attrName>
                                        </p:attrNameLst>
                                      </p:cBhvr>
                                      <p:tavLst>
                                        <p:tav tm="0">
                                          <p:val>
                                            <p:strVal val="#ppt_x"/>
                                          </p:val>
                                        </p:tav>
                                        <p:tav tm="100000">
                                          <p:val>
                                            <p:strVal val="#ppt_x"/>
                                          </p:val>
                                        </p:tav>
                                      </p:tavLst>
                                    </p:anim>
                                    <p:anim calcmode="lin" valueType="num">
                                      <p:cBhvr>
                                        <p:cTn id="27"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53" presetClass="entr" presetSubtype="16" fill="hold" nodeType="clickEffect">
                                  <p:stCondLst>
                                    <p:cond delay="0"/>
                                  </p:stCondLst>
                                  <p:childTnLst>
                                    <p:set>
                                      <p:cBhvr>
                                        <p:cTn id="31" dur="1" fill="hold">
                                          <p:stCondLst>
                                            <p:cond delay="0"/>
                                          </p:stCondLst>
                                        </p:cTn>
                                        <p:tgtEl>
                                          <p:spTgt spid="9"/>
                                        </p:tgtEl>
                                        <p:attrNameLst>
                                          <p:attrName>style.visibility</p:attrName>
                                        </p:attrNameLst>
                                      </p:cBhvr>
                                      <p:to>
                                        <p:strVal val="visible"/>
                                      </p:to>
                                    </p:set>
                                    <p:animEffect transition="in" filter="fade">
                                      <p:cBhvr>
                                        <p:cTn id="32" dur="500"/>
                                        <p:tgtEl>
                                          <p:spTgt spid="9"/>
                                        </p:tgtEl>
                                      </p:cBhvr>
                                    </p:animEffect>
                                    <p:anim calcmode="lin" valueType="num">
                                      <p:cBhvr>
                                        <p:cTn id="33" dur="500" fill="hold"/>
                                        <p:tgtEl>
                                          <p:spTgt spid="9"/>
                                        </p:tgtEl>
                                        <p:attrNameLst>
                                          <p:attrName>ppt_w</p:attrName>
                                        </p:attrNameLst>
                                      </p:cBhvr>
                                      <p:tavLst>
                                        <p:tav tm="0">
                                          <p:val>
                                            <p:fltVal val="0"/>
                                          </p:val>
                                        </p:tav>
                                        <p:tav tm="100000">
                                          <p:val>
                                            <p:strVal val="#ppt_w"/>
                                          </p:val>
                                        </p:tav>
                                      </p:tavLst>
                                    </p:anim>
                                    <p:anim calcmode="lin" valueType="num">
                                      <p:cBhvr>
                                        <p:cTn id="34" dur="500" fill="hold"/>
                                        <p:tgtEl>
                                          <p:spTgt spid="9"/>
                                        </p:tgtEl>
                                        <p:attrNameLst>
                                          <p:attrName>ppt_h</p:attrName>
                                        </p:attrNameLst>
                                      </p:cBhvr>
                                      <p:tavLst>
                                        <p:tav tm="0">
                                          <p:val>
                                            <p:fltVal val="0"/>
                                          </p:val>
                                        </p:tav>
                                        <p:tav tm="100000">
                                          <p:val>
                                            <p:strVal val="#ppt_h"/>
                                          </p:val>
                                        </p:tav>
                                      </p:tavLst>
                                    </p:anim>
                                  </p:childTnLst>
                                </p:cTn>
                              </p:par>
                            </p:childTnLst>
                          </p:cTn>
                        </p:par>
                      </p:childTnLst>
                    </p:cTn>
                  </p:par>
                  <p:par>
                    <p:cTn id="43" fill="hold">
                      <p:stCondLst>
                        <p:cond delay="indefinite"/>
                      </p:stCondLst>
                      <p:childTnLst>
                        <p:par>
                          <p:cTn id="44" fill="hold">
                            <p:stCondLst>
                              <p:cond delay="0"/>
                            </p:stCondLst>
                            <p:childTnLst>
                              <p:par>
                                <p:cTn id="42" presetID="42" presetClass="entr" presetSubtype="0" fill="hold" nodeType="clickEffect">
                                  <p:stCondLst>
                                    <p:cond delay="0"/>
                                  </p:stCondLst>
                                  <p:childTnLst>
                                    <p:set>
                                      <p:cBhvr>
                                        <p:cTn id="38" dur="1" fill="hold">
                                          <p:stCondLst>
                                            <p:cond delay="0"/>
                                          </p:stCondLst>
                                        </p:cTn>
                                        <p:tgtEl>
                                          <p:spTgt spid="12"/>
                                        </p:tgtEl>
                                        <p:attrNameLst>
                                          <p:attrName>style.visibility</p:attrName>
                                        </p:attrNameLst>
                                      </p:cBhvr>
                                      <p:to>
                                        <p:strVal val="visible"/>
                                      </p:to>
                                    </p:set>
                                    <p:animEffect transition="in" filter="fade">
                                      <p:cBhvr>
                                        <p:cTn id="39" dur="500"/>
                                        <p:tgtEl>
                                          <p:spTgt spid="12"/>
                                        </p:tgtEl>
                                      </p:cBhvr>
                                    </p:animEffect>
                                    <p:anim calcmode="lin" valueType="num">
                                      <p:cBhvr>
                                        <p:cTn id="40" dur="500" fill="hold"/>
                                        <p:tgtEl>
                                          <p:spTgt spid="12"/>
                                        </p:tgtEl>
                                        <p:attrNameLst>
                                          <p:attrName>ppt_x</p:attrName>
                                        </p:attrNameLst>
                                      </p:cBhvr>
                                      <p:tavLst>
                                        <p:tav tm="0">
                                          <p:val>
                                            <p:strVal val="#ppt_x"/>
                                          </p:val>
                                        </p:tav>
                                        <p:tav tm="100000">
                                          <p:val>
                                            <p:strVal val="#ppt_x"/>
                                          </p:val>
                                        </p:tav>
                                      </p:tavLst>
                                    </p:anim>
                                    <p:anim calcmode="lin" valueType="num">
                                      <p:cBhvr>
                                        <p:cTn id="41" dur="500" fill="hold"/>
                                        <p:tgtEl>
                                          <p:spTgt spid="12"/>
                                        </p:tgtEl>
                                        <p:attrNameLst>
                                          <p:attrName>ppt_y</p:attrName>
                                        </p:attrNameLst>
                                      </p:cBhvr>
                                      <p:tavLst>
                                        <p:tav tm="0">
                                          <p:val>
                                            <p:strVal val="#ppt_y+.1"/>
                                          </p:val>
                                        </p:tav>
                                        <p:tav tm="100000">
                                          <p:val>
                                            <p:strVal val="#ppt_y"/>
                                          </p:val>
                                        </p:tav>
                                      </p:tavLst>
                                    </p:anim>
                                  </p:childTnLst>
                                </p:cTn>
                              </p:par>
                            </p:childTnLst>
                          </p:cTn>
                        </p:par>
                      </p:childTnLst>
                    </p:cTn>
                  </p:par>
                  <p:par>
                    <p:cTn id="50" fill="hold">
                      <p:stCondLst>
                        <p:cond delay="indefinite"/>
                      </p:stCondLst>
                      <p:childTnLst>
                        <p:par>
                          <p:cTn id="51" fill="hold">
                            <p:stCondLst>
                              <p:cond delay="0"/>
                            </p:stCondLst>
                            <p:childTnLst>
                              <p:par>
                                <p:cTn id="49" presetID="42" presetClass="entr" presetSubtype="0" fill="hold" nodeType="click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00"/>
                                        <p:tgtEl>
                                          <p:spTgt spid="13"/>
                                        </p:tgtEl>
                                      </p:cBhvr>
                                    </p:animEffect>
                                    <p:anim calcmode="lin" valueType="num">
                                      <p:cBhvr>
                                        <p:cTn id="47" dur="500" fill="hold"/>
                                        <p:tgtEl>
                                          <p:spTgt spid="13"/>
                                        </p:tgtEl>
                                        <p:attrNameLst>
                                          <p:attrName>ppt_x</p:attrName>
                                        </p:attrNameLst>
                                      </p:cBhvr>
                                      <p:tavLst>
                                        <p:tav tm="0">
                                          <p:val>
                                            <p:strVal val="#ppt_x"/>
                                          </p:val>
                                        </p:tav>
                                        <p:tav tm="100000">
                                          <p:val>
                                            <p:strVal val="#ppt_x"/>
                                          </p:val>
                                        </p:tav>
                                      </p:tavLst>
                                    </p:anim>
                                    <p:anim calcmode="lin" valueType="num">
                                      <p:cBhvr>
                                        <p:cTn id="48" dur="500" fill="hold"/>
                                        <p:tgtEl>
                                          <p:spTgt spid="13"/>
                                        </p:tgtEl>
                                        <p:attrNameLst>
                                          <p:attrName>ppt_y</p:attrName>
                                        </p:attrNameLst>
                                      </p:cBhvr>
                                      <p:tavLst>
                                        <p:tav tm="0">
                                          <p:val>
                                            <p:strVal val="#ppt_y+.1"/>
                                          </p:val>
                                        </p:tav>
                                        <p:tav tm="100000">
                                          <p:val>
                                            <p:strVal val="#ppt_y"/>
                                          </p:val>
                                        </p:tav>
                                      </p:tavLst>
                                    </p:anim>
                                  </p:childTnLst>
                                </p:cTn>
                              </p:par>
                            </p:childTnLst>
                          </p:cTn>
                        </p:par>
                      </p:childTnLst>
                    </p:cTn>
                  </p:par>
                  <p:par>
                    <p:cTn id="57" fill="hold">
                      <p:stCondLst>
                        <p:cond delay="indefinite"/>
                      </p:stCondLst>
                      <p:childTnLst>
                        <p:par>
                          <p:cTn id="58" fill="hold">
                            <p:stCondLst>
                              <p:cond delay="0"/>
                            </p:stCondLst>
                            <p:childTnLst>
                              <p:par>
                                <p:cTn id="56" presetID="42" presetClass="entr" presetSubtype="0" fill="hold" nodeType="clickEffect">
                                  <p:stCondLst>
                                    <p:cond delay="0"/>
                                  </p:stCondLst>
                                  <p:childTnLst>
                                    <p:set>
                                      <p:cBhvr>
                                        <p:cTn id="52" dur="1" fill="hold">
                                          <p:stCondLst>
                                            <p:cond delay="0"/>
                                          </p:stCondLst>
                                        </p:cTn>
                                        <p:tgtEl>
                                          <p:spTgt spid="14"/>
                                        </p:tgtEl>
                                        <p:attrNameLst>
                                          <p:attrName>style.visibility</p:attrName>
                                        </p:attrNameLst>
                                      </p:cBhvr>
                                      <p:to>
                                        <p:strVal val="visible"/>
                                      </p:to>
                                    </p:set>
                                    <p:animEffect transition="in" filter="fade">
                                      <p:cBhvr>
                                        <p:cTn id="53" dur="500"/>
                                        <p:tgtEl>
                                          <p:spTgt spid="14"/>
                                        </p:tgtEl>
                                      </p:cBhvr>
                                    </p:animEffect>
                                    <p:anim calcmode="lin" valueType="num">
                                      <p:cBhvr>
                                        <p:cTn id="54" dur="500" fill="hold"/>
                                        <p:tgtEl>
                                          <p:spTgt spid="14"/>
                                        </p:tgtEl>
                                        <p:attrNameLst>
                                          <p:attrName>ppt_x</p:attrName>
                                        </p:attrNameLst>
                                      </p:cBhvr>
                                      <p:tavLst>
                                        <p:tav tm="0">
                                          <p:val>
                                            <p:strVal val="#ppt_x"/>
                                          </p:val>
                                        </p:tav>
                                        <p:tav tm="100000">
                                          <p:val>
                                            <p:strVal val="#ppt_x"/>
                                          </p:val>
                                        </p:tav>
                                      </p:tavLst>
                                    </p:anim>
                                    <p:anim calcmode="lin" valueType="num">
                                      <p:cBhvr>
                                        <p:cTn id="55" dur="500" fill="hold"/>
                                        <p:tgtEl>
                                          <p:spTgt spid="14"/>
                                        </p:tgtEl>
                                        <p:attrNameLst>
                                          <p:attrName>ppt_y</p:attrName>
                                        </p:attrNameLst>
                                      </p:cBhvr>
                                      <p:tavLst>
                                        <p:tav tm="0">
                                          <p:val>
                                            <p:strVal val="#ppt_y+.1"/>
                                          </p:val>
                                        </p:tav>
                                        <p:tav tm="100000">
                                          <p:val>
                                            <p:strVal val="#ppt_y"/>
                                          </p:val>
                                        </p:tav>
                                      </p:tavLst>
                                    </p:anim>
                                  </p:childTnLst>
                                </p:cTn>
                              </p:par>
                            </p:childTnLst>
                          </p:cTn>
                        </p:par>
                      </p:childTnLst>
                    </p:cTn>
                  </p:par>
                  <p:par>
                    <p:cTn id="64" fill="hold">
                      <p:stCondLst>
                        <p:cond delay="indefinite"/>
                      </p:stCondLst>
                      <p:childTnLst>
                        <p:par>
                          <p:cTn id="65" fill="hold">
                            <p:stCondLst>
                              <p:cond delay="0"/>
                            </p:stCondLst>
                            <p:childTnLst>
                              <p:par>
                                <p:cTn id="63" presetID="53" presetClass="entr" presetSubtype="16" fill="hold" nodeType="clickEffect">
                                  <p:stCondLst>
                                    <p:cond delay="0"/>
                                  </p:stCondLst>
                                  <p:childTnLst>
                                    <p:set>
                                      <p:cBhvr>
                                        <p:cTn id="59" dur="1" fill="hold">
                                          <p:stCondLst>
                                            <p:cond delay="0"/>
                                          </p:stCondLst>
                                        </p:cTn>
                                        <p:tgtEl>
                                          <p:spTgt spid="15"/>
                                        </p:tgtEl>
                                        <p:attrNameLst>
                                          <p:attrName>style.visibility</p:attrName>
                                        </p:attrNameLst>
                                      </p:cBhvr>
                                      <p:to>
                                        <p:strVal val="visible"/>
                                      </p:to>
                                    </p:set>
                                    <p:animEffect transition="in" filter="fade">
                                      <p:cBhvr>
                                        <p:cTn id="60" dur="500"/>
                                        <p:tgtEl>
                                          <p:spTgt spid="15"/>
                                        </p:tgtEl>
                                      </p:cBhvr>
                                    </p:animEffect>
                                    <p:anim calcmode="lin" valueType="num">
                                      <p:cBhvr>
                                        <p:cTn id="61" dur="500" fill="hold"/>
                                        <p:tgtEl>
                                          <p:spTgt spid="15"/>
                                        </p:tgtEl>
                                        <p:attrNameLst>
                                          <p:attrName>ppt_w</p:attrName>
                                        </p:attrNameLst>
                                      </p:cBhvr>
                                      <p:tavLst>
                                        <p:tav tm="0">
                                          <p:val>
                                            <p:fltVal val="0"/>
                                          </p:val>
                                        </p:tav>
                                        <p:tav tm="100000">
                                          <p:val>
                                            <p:strVal val="#ppt_w"/>
                                          </p:val>
                                        </p:tav>
                                      </p:tavLst>
                                    </p:anim>
                                    <p:anim calcmode="lin" valueType="num">
                                      <p:cBhvr>
                                        <p:cTn id="62" dur="500" fill="hold"/>
                                        <p:tgtEl>
                                          <p:spTgt spid="15"/>
                                        </p:tgtEl>
                                        <p:attrNameLst>
                                          <p:attrName>ppt_h</p:attrName>
                                        </p:attrNameLst>
                                      </p:cBhvr>
                                      <p:tavLst>
                                        <p:tav tm="0">
                                          <p:val>
                                            <p:fltVal val="0"/>
                                          </p:val>
                                        </p:tav>
                                        <p:tav tm="100000">
                                          <p:val>
                                            <p:strVal val="#ppt_h"/>
                                          </p:val>
                                        </p:tav>
                                      </p:tavLst>
                                    </p:anim>
                                  </p:childTnLst>
                                </p:cTn>
                              </p:par>
                            </p:childTnLst>
                          </p:cTn>
                        </p:par>
                      </p:childTnLst>
                    </p:cTn>
                  </p:par>
                  <p:par>
                    <p:cTn id="71" fill="hold">
                      <p:stCondLst>
                        <p:cond delay="indefinite"/>
                      </p:stCondLst>
                      <p:childTnLst>
                        <p:par>
                          <p:cTn id="72" fill="hold">
                            <p:stCondLst>
                              <p:cond delay="0"/>
                            </p:stCondLst>
                            <p:childTnLst>
                              <p:par>
                                <p:cTn id="70" presetID="42" presetClass="entr" presetSubtype="0" fill="hold" nodeType="clickEffect">
                                  <p:stCondLst>
                                    <p:cond delay="0"/>
                                  </p:stCondLst>
                                  <p:childTnLst>
                                    <p:set>
                                      <p:cBhvr>
                                        <p:cTn id="66" dur="1" fill="hold">
                                          <p:stCondLst>
                                            <p:cond delay="0"/>
                                          </p:stCondLst>
                                        </p:cTn>
                                        <p:tgtEl>
                                          <p:spTgt spid="18"/>
                                        </p:tgtEl>
                                        <p:attrNameLst>
                                          <p:attrName>style.visibility</p:attrName>
                                        </p:attrNameLst>
                                      </p:cBhvr>
                                      <p:to>
                                        <p:strVal val="visible"/>
                                      </p:to>
                                    </p:set>
                                    <p:animEffect transition="in" filter="fade">
                                      <p:cBhvr>
                                        <p:cTn id="67" dur="500"/>
                                        <p:tgtEl>
                                          <p:spTgt spid="18"/>
                                        </p:tgtEl>
                                      </p:cBhvr>
                                    </p:animEffect>
                                    <p:anim calcmode="lin" valueType="num">
                                      <p:cBhvr>
                                        <p:cTn id="68" dur="500" fill="hold"/>
                                        <p:tgtEl>
                                          <p:spTgt spid="18"/>
                                        </p:tgtEl>
                                        <p:attrNameLst>
                                          <p:attrName>ppt_x</p:attrName>
                                        </p:attrNameLst>
                                      </p:cBhvr>
                                      <p:tavLst>
                                        <p:tav tm="0">
                                          <p:val>
                                            <p:strVal val="#ppt_x"/>
                                          </p:val>
                                        </p:tav>
                                        <p:tav tm="100000">
                                          <p:val>
                                            <p:strVal val="#ppt_x"/>
                                          </p:val>
                                        </p:tav>
                                      </p:tavLst>
                                    </p:anim>
                                    <p:anim calcmode="lin" valueType="num">
                                      <p:cBhvr>
                                        <p:cTn id="69" dur="500" fill="hold"/>
                                        <p:tgtEl>
                                          <p:spTgt spid="18"/>
                                        </p:tgtEl>
                                        <p:attrNameLst>
                                          <p:attrName>ppt_y</p:attrName>
                                        </p:attrNameLst>
                                      </p:cBhvr>
                                      <p:tavLst>
                                        <p:tav tm="0">
                                          <p:val>
                                            <p:strVal val="#ppt_y+.1"/>
                                          </p:val>
                                        </p:tav>
                                        <p:tav tm="100000">
                                          <p:val>
                                            <p:strVal val="#ppt_y"/>
                                          </p:val>
                                        </p:tav>
                                      </p:tavLst>
                                    </p:anim>
                                  </p:childTnLst>
                                </p:cTn>
                              </p:par>
                            </p:childTnLst>
                          </p:cTn>
                        </p:par>
                      </p:childTnLst>
                    </p:cTn>
                  </p:par>
                  <p:par>
                    <p:cTn id="78" fill="hold">
                      <p:stCondLst>
                        <p:cond delay="indefinite"/>
                      </p:stCondLst>
                      <p:childTnLst>
                        <p:par>
                          <p:cTn id="79" fill="hold">
                            <p:stCondLst>
                              <p:cond delay="0"/>
                            </p:stCondLst>
                            <p:childTnLst>
                              <p:par>
                                <p:cTn id="77" presetID="42" presetClass="entr" presetSubtype="0" fill="hold" nodeType="clickEffect">
                                  <p:stCondLst>
                                    <p:cond delay="0"/>
                                  </p:stCondLst>
                                  <p:childTnLst>
                                    <p:set>
                                      <p:cBhvr>
                                        <p:cTn id="73" dur="1" fill="hold">
                                          <p:stCondLst>
                                            <p:cond delay="0"/>
                                          </p:stCondLst>
                                        </p:cTn>
                                        <p:tgtEl>
                                          <p:spTgt spid="19"/>
                                        </p:tgtEl>
                                        <p:attrNameLst>
                                          <p:attrName>style.visibility</p:attrName>
                                        </p:attrNameLst>
                                      </p:cBhvr>
                                      <p:to>
                                        <p:strVal val="visible"/>
                                      </p:to>
                                    </p:set>
                                    <p:animEffect transition="in" filter="fade">
                                      <p:cBhvr>
                                        <p:cTn id="74" dur="500"/>
                                        <p:tgtEl>
                                          <p:spTgt spid="19"/>
                                        </p:tgtEl>
                                      </p:cBhvr>
                                    </p:animEffect>
                                    <p:anim calcmode="lin" valueType="num">
                                      <p:cBhvr>
                                        <p:cTn id="75" dur="500" fill="hold"/>
                                        <p:tgtEl>
                                          <p:spTgt spid="19"/>
                                        </p:tgtEl>
                                        <p:attrNameLst>
                                          <p:attrName>ppt_x</p:attrName>
                                        </p:attrNameLst>
                                      </p:cBhvr>
                                      <p:tavLst>
                                        <p:tav tm="0">
                                          <p:val>
                                            <p:strVal val="#ppt_x"/>
                                          </p:val>
                                        </p:tav>
                                        <p:tav tm="100000">
                                          <p:val>
                                            <p:strVal val="#ppt_x"/>
                                          </p:val>
                                        </p:tav>
                                      </p:tavLst>
                                    </p:anim>
                                    <p:anim calcmode="lin" valueType="num">
                                      <p:cBhvr>
                                        <p:cTn id="76" dur="500" fill="hold"/>
                                        <p:tgtEl>
                                          <p:spTgt spid="19"/>
                                        </p:tgtEl>
                                        <p:attrNameLst>
                                          <p:attrName>ppt_y</p:attrName>
                                        </p:attrNameLst>
                                      </p:cBhvr>
                                      <p:tavLst>
                                        <p:tav tm="0">
                                          <p:val>
                                            <p:strVal val="#ppt_y+.1"/>
                                          </p:val>
                                        </p:tav>
                                        <p:tav tm="100000">
                                          <p:val>
                                            <p:strVal val="#ppt_y"/>
                                          </p:val>
                                        </p:tav>
                                      </p:tavLst>
                                    </p:anim>
                                  </p:childTnLst>
                                </p:cTn>
                              </p:par>
                            </p:childTnLst>
                          </p:cTn>
                        </p:par>
                      </p:childTnLst>
                    </p:cTn>
                  </p:par>
                  <p:par>
                    <p:cTn id="85" fill="hold">
                      <p:stCondLst>
                        <p:cond delay="indefinite"/>
                      </p:stCondLst>
                      <p:childTnLst>
                        <p:par>
                          <p:cTn id="86" fill="hold">
                            <p:stCondLst>
                              <p:cond delay="0"/>
                            </p:stCondLst>
                            <p:childTnLst>
                              <p:par>
                                <p:cTn id="84" presetID="42" presetClass="entr" presetSubtype="0" fill="hold" nodeType="clickEffect">
                                  <p:stCondLst>
                                    <p:cond delay="0"/>
                                  </p:stCondLst>
                                  <p:childTnLst>
                                    <p:set>
                                      <p:cBhvr>
                                        <p:cTn id="80" dur="1" fill="hold">
                                          <p:stCondLst>
                                            <p:cond delay="0"/>
                                          </p:stCondLst>
                                        </p:cTn>
                                        <p:tgtEl>
                                          <p:spTgt spid="20"/>
                                        </p:tgtEl>
                                        <p:attrNameLst>
                                          <p:attrName>style.visibility</p:attrName>
                                        </p:attrNameLst>
                                      </p:cBhvr>
                                      <p:to>
                                        <p:strVal val="visible"/>
                                      </p:to>
                                    </p:set>
                                    <p:animEffect transition="in" filter="fade">
                                      <p:cBhvr>
                                        <p:cTn id="81" dur="500"/>
                                        <p:tgtEl>
                                          <p:spTgt spid="20"/>
                                        </p:tgtEl>
                                      </p:cBhvr>
                                    </p:animEffect>
                                    <p:anim calcmode="lin" valueType="num">
                                      <p:cBhvr>
                                        <p:cTn id="82" dur="500" fill="hold"/>
                                        <p:tgtEl>
                                          <p:spTgt spid="20"/>
                                        </p:tgtEl>
                                        <p:attrNameLst>
                                          <p:attrName>ppt_x</p:attrName>
                                        </p:attrNameLst>
                                      </p:cBhvr>
                                      <p:tavLst>
                                        <p:tav tm="0">
                                          <p:val>
                                            <p:strVal val="#ppt_x"/>
                                          </p:val>
                                        </p:tav>
                                        <p:tav tm="100000">
                                          <p:val>
                                            <p:strVal val="#ppt_x"/>
                                          </p:val>
                                        </p:tav>
                                      </p:tavLst>
                                    </p:anim>
                                    <p:anim calcmode="lin" valueType="num">
                                      <p:cBhvr>
                                        <p:cTn id="83" dur="500" fill="hold"/>
                                        <p:tgtEl>
                                          <p:spTgt spid="20"/>
                                        </p:tgtEl>
                                        <p:attrNameLst>
                                          <p:attrName>ppt_y</p:attrName>
                                        </p:attrNameLst>
                                      </p:cBhvr>
                                      <p:tavLst>
                                        <p:tav tm="0">
                                          <p:val>
                                            <p:strVal val="#ppt_y+.1"/>
                                          </p:val>
                                        </p:tav>
                                        <p:tav tm="100000">
                                          <p:val>
                                            <p:strVal val="#ppt_y"/>
                                          </p:val>
                                        </p:tav>
                                      </p:tavLst>
                                    </p:anim>
                                  </p:childTnLst>
                                </p:cTn>
                              </p:par>
                            </p:childTnLst>
                          </p:cTn>
                        </p:par>
                      </p:childTnLst>
                    </p:cTn>
                  </p:par>
                  <p:par>
                    <p:cTn id="92" fill="hold">
                      <p:stCondLst>
                        <p:cond delay="indefinite"/>
                      </p:stCondLst>
                      <p:childTnLst>
                        <p:par>
                          <p:cTn id="93" fill="hold">
                            <p:stCondLst>
                              <p:cond delay="0"/>
                            </p:stCondLst>
                            <p:childTnLst>
                              <p:par>
                                <p:cTn id="91" presetID="53" presetClass="entr" presetSubtype="16" fill="hold" nodeType="clickEffect">
                                  <p:stCondLst>
                                    <p:cond delay="0"/>
                                  </p:stCondLst>
                                  <p:childTnLst>
                                    <p:set>
                                      <p:cBhvr>
                                        <p:cTn id="87" dur="1" fill="hold">
                                          <p:stCondLst>
                                            <p:cond delay="0"/>
                                          </p:stCondLst>
                                        </p:cTn>
                                        <p:tgtEl>
                                          <p:spTgt spid="21"/>
                                        </p:tgtEl>
                                        <p:attrNameLst>
                                          <p:attrName>style.visibility</p:attrName>
                                        </p:attrNameLst>
                                      </p:cBhvr>
                                      <p:to>
                                        <p:strVal val="visible"/>
                                      </p:to>
                                    </p:set>
                                    <p:animEffect transition="in" filter="fade">
                                      <p:cBhvr>
                                        <p:cTn id="88" dur="500"/>
                                        <p:tgtEl>
                                          <p:spTgt spid="21"/>
                                        </p:tgtEl>
                                      </p:cBhvr>
                                    </p:animEffect>
                                    <p:anim calcmode="lin" valueType="num">
                                      <p:cBhvr>
                                        <p:cTn id="89" dur="500" fill="hold"/>
                                        <p:tgtEl>
                                          <p:spTgt spid="21"/>
                                        </p:tgtEl>
                                        <p:attrNameLst>
                                          <p:attrName>ppt_w</p:attrName>
                                        </p:attrNameLst>
                                      </p:cBhvr>
                                      <p:tavLst>
                                        <p:tav tm="0">
                                          <p:val>
                                            <p:fltVal val="0"/>
                                          </p:val>
                                        </p:tav>
                                        <p:tav tm="100000">
                                          <p:val>
                                            <p:strVal val="#ppt_w"/>
                                          </p:val>
                                        </p:tav>
                                      </p:tavLst>
                                    </p:anim>
                                    <p:anim calcmode="lin" valueType="num">
                                      <p:cBhvr>
                                        <p:cTn id="90" dur="500" fill="hold"/>
                                        <p:tgtEl>
                                          <p:spTgt spid="2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We do · Flat and straight-up lines</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Through (2, −1)</a:t>
            </a:r>
            <a:endParaRPr lang="en-US" sz="3450" dirty="0"/>
          </a:p>
        </p:txBody>
      </p:sp>
      <p:sp>
        <p:nvSpPr>
          <p:cNvPr id="4" name="Shape 4"/>
          <p:cNvSpPr txBox="1"/>
          <p:nvPr/>
        </p:nvSpPr>
        <p:spPr>
          <a:xfrm>
            <a:off x="685800" y="1618488"/>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Horizontal: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 ____</a:t>
            </a:r>
            <a:endParaRPr lang="en-US" sz="1950" dirty="0"/>
          </a:p>
        </p:txBody>
      </p:sp>
      <p:sp>
        <p:nvSpPr>
          <p:cNvPr id="5" name="Shape 5"/>
          <p:cNvSpPr txBox="1"/>
          <p:nvPr/>
        </p:nvSpPr>
        <p:spPr>
          <a:xfrm>
            <a:off x="685800" y="2103882"/>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−1</a:t>
            </a:r>
            <a:endParaRPr lang="en-US" sz="2325" dirty="0"/>
          </a:p>
        </p:txBody>
      </p:sp>
      <p:sp>
        <p:nvSpPr>
          <p:cNvPr id="6" name="Shape 6"/>
          <p:cNvSpPr txBox="1"/>
          <p:nvPr/>
        </p:nvSpPr>
        <p:spPr>
          <a:xfrm>
            <a:off x="685800" y="2756154"/>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Vertical: </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____</a:t>
            </a:r>
            <a:endParaRPr lang="en-US" sz="1950" dirty="0"/>
          </a:p>
        </p:txBody>
      </p:sp>
      <p:sp>
        <p:nvSpPr>
          <p:cNvPr id="7" name="Shape 7"/>
          <p:cNvSpPr txBox="1"/>
          <p:nvPr/>
        </p:nvSpPr>
        <p:spPr>
          <a:xfrm>
            <a:off x="685800" y="3241548"/>
            <a:ext cx="2742194"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endParaRPr lang="en-US" sz="2325" dirty="0"/>
          </a:p>
        </p:txBody>
      </p:sp>
      <p:sp>
        <p:nvSpPr>
          <p:cNvPr id="8" name="Shape 8"/>
          <p:cNvSpPr txBox="1"/>
          <p:nvPr/>
        </p:nvSpPr>
        <p:spPr>
          <a:xfrm>
            <a:off x="685800" y="3893820"/>
            <a:ext cx="521954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A horizontal line and a vertical line are always perpendicular.</a:t>
            </a:r>
            <a:endParaRPr lang="en-US" sz="1575" dirty="0"/>
          </a:p>
        </p:txBody>
      </p:sp>
      <p:sp>
        <p:nvSpPr>
          <p:cNvPr id="9" name="Shape 9"/>
          <p:cNvSpPr/>
          <p:nvPr/>
        </p:nvSpPr>
        <p:spPr>
          <a:xfrm>
            <a:off x="6286348" y="1618488"/>
            <a:ext cx="2857500" cy="28575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0" name="Line 10"/>
          <p:cNvCxnSpPr/>
          <p:nvPr/>
        </p:nvCxnSpPr>
        <p:spPr>
          <a:xfrm>
            <a:off x="6610198" y="1732788"/>
            <a:ext cx="0" cy="2495550"/>
          </a:xfrm>
          <a:prstGeom prst="line">
            <a:avLst/>
          </a:prstGeom>
          <a:ln w="9525" cap="flat">
            <a:solidFill>
              <a:srgbClr val="E6E8F2"/>
            </a:solidFill>
          </a:ln>
        </p:spPr>
      </p:cxnSp>
      <p:cxnSp>
        <p:nvCxnSpPr>
          <p:cNvPr id="11" name="Line 11"/>
          <p:cNvCxnSpPr/>
          <p:nvPr/>
        </p:nvCxnSpPr>
        <p:spPr>
          <a:xfrm>
            <a:off x="6879014" y="1732788"/>
            <a:ext cx="0" cy="2495550"/>
          </a:xfrm>
          <a:prstGeom prst="line">
            <a:avLst/>
          </a:prstGeom>
          <a:ln w="9525" cap="flat">
            <a:solidFill>
              <a:srgbClr val="E6E8F2"/>
            </a:solidFill>
          </a:ln>
        </p:spPr>
      </p:cxnSp>
      <p:cxnSp>
        <p:nvCxnSpPr>
          <p:cNvPr id="12" name="Line 12"/>
          <p:cNvCxnSpPr/>
          <p:nvPr/>
        </p:nvCxnSpPr>
        <p:spPr>
          <a:xfrm>
            <a:off x="7147831" y="1732788"/>
            <a:ext cx="0" cy="2495550"/>
          </a:xfrm>
          <a:prstGeom prst="line">
            <a:avLst/>
          </a:prstGeom>
          <a:ln w="9525" cap="flat">
            <a:solidFill>
              <a:srgbClr val="E6E8F2"/>
            </a:solidFill>
          </a:ln>
        </p:spPr>
      </p:cxnSp>
      <p:cxnSp>
        <p:nvCxnSpPr>
          <p:cNvPr id="13" name="Line 13"/>
          <p:cNvCxnSpPr/>
          <p:nvPr/>
        </p:nvCxnSpPr>
        <p:spPr>
          <a:xfrm>
            <a:off x="7416648" y="1732788"/>
            <a:ext cx="0" cy="2495550"/>
          </a:xfrm>
          <a:prstGeom prst="line">
            <a:avLst/>
          </a:prstGeom>
          <a:ln w="9525" cap="flat">
            <a:solidFill>
              <a:srgbClr val="E6E8F2"/>
            </a:solidFill>
          </a:ln>
        </p:spPr>
      </p:cxnSp>
      <p:cxnSp>
        <p:nvCxnSpPr>
          <p:cNvPr id="14" name="Line 14"/>
          <p:cNvCxnSpPr/>
          <p:nvPr/>
        </p:nvCxnSpPr>
        <p:spPr>
          <a:xfrm>
            <a:off x="7685464" y="1732788"/>
            <a:ext cx="0" cy="2495550"/>
          </a:xfrm>
          <a:prstGeom prst="line">
            <a:avLst/>
          </a:prstGeom>
          <a:ln w="9525" cap="flat">
            <a:solidFill>
              <a:srgbClr val="E6E8F2"/>
            </a:solidFill>
          </a:ln>
        </p:spPr>
      </p:cxnSp>
      <p:cxnSp>
        <p:nvCxnSpPr>
          <p:cNvPr id="15" name="Line 15"/>
          <p:cNvCxnSpPr/>
          <p:nvPr/>
        </p:nvCxnSpPr>
        <p:spPr>
          <a:xfrm>
            <a:off x="7954281" y="1732788"/>
            <a:ext cx="0" cy="2495550"/>
          </a:xfrm>
          <a:prstGeom prst="line">
            <a:avLst/>
          </a:prstGeom>
          <a:ln w="9525" cap="flat">
            <a:solidFill>
              <a:srgbClr val="E6E8F2"/>
            </a:solidFill>
          </a:ln>
        </p:spPr>
      </p:cxnSp>
      <p:cxnSp>
        <p:nvCxnSpPr>
          <p:cNvPr id="16" name="Line 16"/>
          <p:cNvCxnSpPr/>
          <p:nvPr/>
        </p:nvCxnSpPr>
        <p:spPr>
          <a:xfrm>
            <a:off x="8223098" y="1732788"/>
            <a:ext cx="0" cy="2495550"/>
          </a:xfrm>
          <a:prstGeom prst="line">
            <a:avLst/>
          </a:prstGeom>
          <a:ln w="9525" cap="flat">
            <a:solidFill>
              <a:srgbClr val="E6E8F2"/>
            </a:solidFill>
          </a:ln>
        </p:spPr>
      </p:cxnSp>
      <p:cxnSp>
        <p:nvCxnSpPr>
          <p:cNvPr id="17" name="Line 17"/>
          <p:cNvCxnSpPr/>
          <p:nvPr/>
        </p:nvCxnSpPr>
        <p:spPr>
          <a:xfrm>
            <a:off x="8491914" y="1732788"/>
            <a:ext cx="0" cy="2495550"/>
          </a:xfrm>
          <a:prstGeom prst="line">
            <a:avLst/>
          </a:prstGeom>
          <a:ln w="9525" cap="flat">
            <a:solidFill>
              <a:srgbClr val="E6E8F2"/>
            </a:solidFill>
          </a:ln>
        </p:spPr>
      </p:cxnSp>
      <p:cxnSp>
        <p:nvCxnSpPr>
          <p:cNvPr id="18" name="Line 18"/>
          <p:cNvCxnSpPr/>
          <p:nvPr/>
        </p:nvCxnSpPr>
        <p:spPr>
          <a:xfrm>
            <a:off x="8760731" y="1732788"/>
            <a:ext cx="0" cy="2495550"/>
          </a:xfrm>
          <a:prstGeom prst="line">
            <a:avLst/>
          </a:prstGeom>
          <a:ln w="9525" cap="flat">
            <a:solidFill>
              <a:srgbClr val="E6E8F2"/>
            </a:solidFill>
          </a:ln>
        </p:spPr>
      </p:cxnSp>
      <p:cxnSp>
        <p:nvCxnSpPr>
          <p:cNvPr id="19" name="Line 19"/>
          <p:cNvCxnSpPr/>
          <p:nvPr/>
        </p:nvCxnSpPr>
        <p:spPr>
          <a:xfrm>
            <a:off x="9029548" y="1732788"/>
            <a:ext cx="0" cy="2495550"/>
          </a:xfrm>
          <a:prstGeom prst="line">
            <a:avLst/>
          </a:prstGeom>
          <a:ln w="9525" cap="flat">
            <a:solidFill>
              <a:srgbClr val="E6E8F2"/>
            </a:solidFill>
          </a:ln>
        </p:spPr>
      </p:cxnSp>
      <p:cxnSp>
        <p:nvCxnSpPr>
          <p:cNvPr id="20" name="Line 20"/>
          <p:cNvCxnSpPr/>
          <p:nvPr/>
        </p:nvCxnSpPr>
        <p:spPr>
          <a:xfrm>
            <a:off x="6610198" y="4228338"/>
            <a:ext cx="2419350" cy="0"/>
          </a:xfrm>
          <a:prstGeom prst="line">
            <a:avLst/>
          </a:prstGeom>
          <a:ln w="9525" cap="flat">
            <a:solidFill>
              <a:srgbClr val="E6E8F2"/>
            </a:solidFill>
          </a:ln>
        </p:spPr>
      </p:cxnSp>
      <p:cxnSp>
        <p:nvCxnSpPr>
          <p:cNvPr id="21" name="Line 21"/>
          <p:cNvCxnSpPr/>
          <p:nvPr/>
        </p:nvCxnSpPr>
        <p:spPr>
          <a:xfrm>
            <a:off x="6610198" y="3951055"/>
            <a:ext cx="2419350" cy="0"/>
          </a:xfrm>
          <a:prstGeom prst="line">
            <a:avLst/>
          </a:prstGeom>
          <a:ln w="9525" cap="flat">
            <a:solidFill>
              <a:srgbClr val="E6E8F2"/>
            </a:solidFill>
          </a:ln>
        </p:spPr>
      </p:cxnSp>
      <p:cxnSp>
        <p:nvCxnSpPr>
          <p:cNvPr id="22" name="Line 22"/>
          <p:cNvCxnSpPr/>
          <p:nvPr/>
        </p:nvCxnSpPr>
        <p:spPr>
          <a:xfrm>
            <a:off x="6610198" y="3673771"/>
            <a:ext cx="2419350" cy="0"/>
          </a:xfrm>
          <a:prstGeom prst="line">
            <a:avLst/>
          </a:prstGeom>
          <a:ln w="9525" cap="flat">
            <a:solidFill>
              <a:srgbClr val="E6E8F2"/>
            </a:solidFill>
          </a:ln>
        </p:spPr>
      </p:cxnSp>
      <p:cxnSp>
        <p:nvCxnSpPr>
          <p:cNvPr id="23" name="Line 23"/>
          <p:cNvCxnSpPr/>
          <p:nvPr/>
        </p:nvCxnSpPr>
        <p:spPr>
          <a:xfrm>
            <a:off x="6610198" y="3396488"/>
            <a:ext cx="2419350" cy="0"/>
          </a:xfrm>
          <a:prstGeom prst="line">
            <a:avLst/>
          </a:prstGeom>
          <a:ln w="9525" cap="flat">
            <a:solidFill>
              <a:srgbClr val="E6E8F2"/>
            </a:solidFill>
          </a:ln>
        </p:spPr>
      </p:cxnSp>
      <p:cxnSp>
        <p:nvCxnSpPr>
          <p:cNvPr id="24" name="Line 24"/>
          <p:cNvCxnSpPr/>
          <p:nvPr/>
        </p:nvCxnSpPr>
        <p:spPr>
          <a:xfrm>
            <a:off x="6610198" y="3119205"/>
            <a:ext cx="2419350" cy="0"/>
          </a:xfrm>
          <a:prstGeom prst="line">
            <a:avLst/>
          </a:prstGeom>
          <a:ln w="9525" cap="flat">
            <a:solidFill>
              <a:srgbClr val="E6E8F2"/>
            </a:solidFill>
          </a:ln>
        </p:spPr>
      </p:cxnSp>
      <p:cxnSp>
        <p:nvCxnSpPr>
          <p:cNvPr id="25" name="Line 25"/>
          <p:cNvCxnSpPr/>
          <p:nvPr/>
        </p:nvCxnSpPr>
        <p:spPr>
          <a:xfrm>
            <a:off x="6610198" y="2841921"/>
            <a:ext cx="2419350" cy="0"/>
          </a:xfrm>
          <a:prstGeom prst="line">
            <a:avLst/>
          </a:prstGeom>
          <a:ln w="9525" cap="flat">
            <a:solidFill>
              <a:srgbClr val="E6E8F2"/>
            </a:solidFill>
          </a:ln>
        </p:spPr>
      </p:cxnSp>
      <p:cxnSp>
        <p:nvCxnSpPr>
          <p:cNvPr id="26" name="Line 26"/>
          <p:cNvCxnSpPr/>
          <p:nvPr/>
        </p:nvCxnSpPr>
        <p:spPr>
          <a:xfrm>
            <a:off x="6610198" y="2564638"/>
            <a:ext cx="2419350" cy="0"/>
          </a:xfrm>
          <a:prstGeom prst="line">
            <a:avLst/>
          </a:prstGeom>
          <a:ln w="9525" cap="flat">
            <a:solidFill>
              <a:srgbClr val="E6E8F2"/>
            </a:solidFill>
          </a:ln>
        </p:spPr>
      </p:cxnSp>
      <p:cxnSp>
        <p:nvCxnSpPr>
          <p:cNvPr id="27" name="Line 27"/>
          <p:cNvCxnSpPr/>
          <p:nvPr/>
        </p:nvCxnSpPr>
        <p:spPr>
          <a:xfrm>
            <a:off x="6610198" y="2287355"/>
            <a:ext cx="2419350" cy="0"/>
          </a:xfrm>
          <a:prstGeom prst="line">
            <a:avLst/>
          </a:prstGeom>
          <a:ln w="9525" cap="flat">
            <a:solidFill>
              <a:srgbClr val="E6E8F2"/>
            </a:solidFill>
          </a:ln>
        </p:spPr>
      </p:cxnSp>
      <p:cxnSp>
        <p:nvCxnSpPr>
          <p:cNvPr id="28" name="Line 28"/>
          <p:cNvCxnSpPr/>
          <p:nvPr/>
        </p:nvCxnSpPr>
        <p:spPr>
          <a:xfrm>
            <a:off x="6610198" y="2010071"/>
            <a:ext cx="2419350" cy="0"/>
          </a:xfrm>
          <a:prstGeom prst="line">
            <a:avLst/>
          </a:prstGeom>
          <a:ln w="9525" cap="flat">
            <a:solidFill>
              <a:srgbClr val="E6E8F2"/>
            </a:solidFill>
          </a:ln>
        </p:spPr>
      </p:cxnSp>
      <p:cxnSp>
        <p:nvCxnSpPr>
          <p:cNvPr id="29" name="Line 29"/>
          <p:cNvCxnSpPr/>
          <p:nvPr/>
        </p:nvCxnSpPr>
        <p:spPr>
          <a:xfrm>
            <a:off x="6610198" y="1732788"/>
            <a:ext cx="2419350" cy="0"/>
          </a:xfrm>
          <a:prstGeom prst="line">
            <a:avLst/>
          </a:prstGeom>
          <a:ln w="9525" cap="flat">
            <a:solidFill>
              <a:srgbClr val="E6E8F2"/>
            </a:solidFill>
          </a:ln>
        </p:spPr>
      </p:cxnSp>
      <p:cxnSp>
        <p:nvCxnSpPr>
          <p:cNvPr id="30" name="Line 30"/>
          <p:cNvCxnSpPr/>
          <p:nvPr/>
        </p:nvCxnSpPr>
        <p:spPr>
          <a:xfrm>
            <a:off x="7685464" y="1732788"/>
            <a:ext cx="0" cy="2495550"/>
          </a:xfrm>
          <a:prstGeom prst="line">
            <a:avLst/>
          </a:prstGeom>
          <a:ln w="19050" cap="flat">
            <a:solidFill>
              <a:srgbClr val="5F6272"/>
            </a:solidFill>
          </a:ln>
        </p:spPr>
      </p:cxnSp>
      <p:cxnSp>
        <p:nvCxnSpPr>
          <p:cNvPr id="31" name="Line 31"/>
          <p:cNvCxnSpPr/>
          <p:nvPr/>
        </p:nvCxnSpPr>
        <p:spPr>
          <a:xfrm>
            <a:off x="6610198" y="2841921"/>
            <a:ext cx="2419350" cy="0"/>
          </a:xfrm>
          <a:prstGeom prst="line">
            <a:avLst/>
          </a:prstGeom>
          <a:ln w="19050" cap="flat">
            <a:solidFill>
              <a:srgbClr val="5F6272"/>
            </a:solidFill>
          </a:ln>
        </p:spPr>
      </p:cxnSp>
      <p:sp>
        <p:nvSpPr>
          <p:cNvPr id="32" name="Shape 32"/>
          <p:cNvSpPr txBox="1"/>
          <p:nvPr/>
        </p:nvSpPr>
        <p:spPr>
          <a:xfrm>
            <a:off x="6335878" y="4247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33" name="Shape 33"/>
          <p:cNvSpPr txBox="1"/>
          <p:nvPr/>
        </p:nvSpPr>
        <p:spPr>
          <a:xfrm>
            <a:off x="6604694" y="4247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34" name="Shape 34"/>
          <p:cNvSpPr txBox="1"/>
          <p:nvPr/>
        </p:nvSpPr>
        <p:spPr>
          <a:xfrm>
            <a:off x="6873511" y="4247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35" name="Shape 35"/>
          <p:cNvSpPr txBox="1"/>
          <p:nvPr/>
        </p:nvSpPr>
        <p:spPr>
          <a:xfrm>
            <a:off x="7142328" y="4247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36" name="Shape 36"/>
          <p:cNvSpPr txBox="1"/>
          <p:nvPr/>
        </p:nvSpPr>
        <p:spPr>
          <a:xfrm>
            <a:off x="7411144" y="4247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37" name="Shape 37"/>
          <p:cNvSpPr txBox="1"/>
          <p:nvPr/>
        </p:nvSpPr>
        <p:spPr>
          <a:xfrm>
            <a:off x="7679961" y="4247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38" name="Shape 38"/>
          <p:cNvSpPr txBox="1"/>
          <p:nvPr/>
        </p:nvSpPr>
        <p:spPr>
          <a:xfrm>
            <a:off x="7948778" y="4247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39" name="Shape 39"/>
          <p:cNvSpPr txBox="1"/>
          <p:nvPr/>
        </p:nvSpPr>
        <p:spPr>
          <a:xfrm>
            <a:off x="8217594" y="4247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40" name="Shape 40"/>
          <p:cNvSpPr txBox="1"/>
          <p:nvPr/>
        </p:nvSpPr>
        <p:spPr>
          <a:xfrm>
            <a:off x="8486411" y="4247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1" name="Shape 41"/>
          <p:cNvSpPr txBox="1"/>
          <p:nvPr/>
        </p:nvSpPr>
        <p:spPr>
          <a:xfrm>
            <a:off x="8755228" y="4247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42" name="Shape 42"/>
          <p:cNvSpPr txBox="1"/>
          <p:nvPr/>
        </p:nvSpPr>
        <p:spPr>
          <a:xfrm>
            <a:off x="6043270" y="41368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−5</a:t>
            </a:r>
            <a:endParaRPr lang="en-US" sz="975" dirty="0"/>
          </a:p>
        </p:txBody>
      </p:sp>
      <p:sp>
        <p:nvSpPr>
          <p:cNvPr id="43" name="Shape 43"/>
          <p:cNvSpPr txBox="1"/>
          <p:nvPr/>
        </p:nvSpPr>
        <p:spPr>
          <a:xfrm>
            <a:off x="6043270" y="3859615"/>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44" name="Shape 44"/>
          <p:cNvSpPr txBox="1"/>
          <p:nvPr/>
        </p:nvSpPr>
        <p:spPr>
          <a:xfrm>
            <a:off x="6043270" y="3582331"/>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−3</a:t>
            </a:r>
            <a:endParaRPr lang="en-US" sz="975" dirty="0"/>
          </a:p>
        </p:txBody>
      </p:sp>
      <p:sp>
        <p:nvSpPr>
          <p:cNvPr id="45" name="Shape 45"/>
          <p:cNvSpPr txBox="1"/>
          <p:nvPr/>
        </p:nvSpPr>
        <p:spPr>
          <a:xfrm>
            <a:off x="6043270" y="33050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46" name="Shape 46"/>
          <p:cNvSpPr txBox="1"/>
          <p:nvPr/>
        </p:nvSpPr>
        <p:spPr>
          <a:xfrm>
            <a:off x="6043270" y="3027765"/>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a:t>
            </a:r>
            <a:endParaRPr lang="en-US" sz="975" dirty="0"/>
          </a:p>
        </p:txBody>
      </p:sp>
      <p:sp>
        <p:nvSpPr>
          <p:cNvPr id="47" name="Shape 47"/>
          <p:cNvSpPr txBox="1"/>
          <p:nvPr/>
        </p:nvSpPr>
        <p:spPr>
          <a:xfrm>
            <a:off x="6043270" y="2750481"/>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48" name="Shape 48"/>
          <p:cNvSpPr txBox="1"/>
          <p:nvPr/>
        </p:nvSpPr>
        <p:spPr>
          <a:xfrm>
            <a:off x="6043270" y="24731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a:t>
            </a:r>
            <a:endParaRPr lang="en-US" sz="975" dirty="0"/>
          </a:p>
        </p:txBody>
      </p:sp>
      <p:sp>
        <p:nvSpPr>
          <p:cNvPr id="49" name="Shape 49"/>
          <p:cNvSpPr txBox="1"/>
          <p:nvPr/>
        </p:nvSpPr>
        <p:spPr>
          <a:xfrm>
            <a:off x="6043270" y="2195915"/>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50" name="Shape 50"/>
          <p:cNvSpPr txBox="1"/>
          <p:nvPr/>
        </p:nvSpPr>
        <p:spPr>
          <a:xfrm>
            <a:off x="6043270" y="1918631"/>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3</a:t>
            </a:r>
            <a:endParaRPr lang="en-US" sz="975" dirty="0"/>
          </a:p>
        </p:txBody>
      </p:sp>
      <p:sp>
        <p:nvSpPr>
          <p:cNvPr id="51" name="Shape 51"/>
          <p:cNvSpPr txBox="1"/>
          <p:nvPr/>
        </p:nvSpPr>
        <p:spPr>
          <a:xfrm>
            <a:off x="6043270" y="16413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cxnSp>
        <p:nvCxnSpPr>
          <p:cNvPr id="52" name="Line 52"/>
          <p:cNvCxnSpPr/>
          <p:nvPr/>
        </p:nvCxnSpPr>
        <p:spPr>
          <a:xfrm>
            <a:off x="6610198" y="3119205"/>
            <a:ext cx="2419350" cy="0"/>
          </a:xfrm>
          <a:prstGeom prst="line">
            <a:avLst/>
          </a:prstGeom>
          <a:ln w="38100" cap="rnd">
            <a:solidFill>
              <a:srgbClr val="16171D"/>
            </a:solidFill>
          </a:ln>
        </p:spPr>
      </p:cxnSp>
      <p:sp>
        <p:nvSpPr>
          <p:cNvPr id="53" name="Shape 53"/>
          <p:cNvSpPr txBox="1"/>
          <p:nvPr/>
        </p:nvSpPr>
        <p:spPr>
          <a:xfrm>
            <a:off x="6537808" y="3138255"/>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y = −1</a:t>
            </a:r>
            <a:endParaRPr lang="en-US" sz="1275" dirty="0"/>
          </a:p>
        </p:txBody>
      </p:sp>
      <p:cxnSp>
        <p:nvCxnSpPr>
          <p:cNvPr id="54" name="Line 54"/>
          <p:cNvCxnSpPr/>
          <p:nvPr/>
        </p:nvCxnSpPr>
        <p:spPr>
          <a:xfrm flipV="1">
            <a:off x="8223098" y="1732788"/>
            <a:ext cx="0" cy="2495550"/>
          </a:xfrm>
          <a:prstGeom prst="line">
            <a:avLst/>
          </a:prstGeom>
          <a:ln w="38100" cap="rnd">
            <a:solidFill>
              <a:srgbClr val="7A4FC4"/>
            </a:solidFill>
          </a:ln>
        </p:spPr>
      </p:cxnSp>
      <p:sp>
        <p:nvSpPr>
          <p:cNvPr id="55" name="Shape 55"/>
          <p:cNvSpPr txBox="1"/>
          <p:nvPr/>
        </p:nvSpPr>
        <p:spPr>
          <a:xfrm>
            <a:off x="5731358" y="1751838"/>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x = 2</a:t>
            </a:r>
            <a:endParaRPr lang="en-US" sz="1275" dirty="0"/>
          </a:p>
        </p:txBody>
      </p:sp>
      <p:sp>
        <p:nvSpPr>
          <p:cNvPr id="56" name="Shape 56"/>
          <p:cNvSpPr/>
          <p:nvPr/>
        </p:nvSpPr>
        <p:spPr>
          <a:xfrm>
            <a:off x="8170710" y="3066817"/>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7" name="Shape 57"/>
          <p:cNvSpPr txBox="1"/>
          <p:nvPr/>
        </p:nvSpPr>
        <p:spPr>
          <a:xfrm>
            <a:off x="8308823" y="2871555"/>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(2, −1)</a:t>
            </a:r>
            <a:endParaRPr lang="en-US" sz="1125" dirty="0"/>
          </a:p>
        </p:txBody>
      </p:sp>
      <p:sp>
        <p:nvSpPr>
          <p:cNvPr id="58" name="Slide Number 58"/>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9</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3" fill="hold">
                      <p:stCondLst>
                        <p:cond delay="indefinite"/>
                      </p:stCondLst>
                      <p:childTnLst>
                        <p:par>
                          <p:cTn id="24" fill="hold">
                            <p:stCondLst>
                              <p:cond delay="0"/>
                            </p:stCondLst>
                            <p:childTnLst>
                              <p:par>
                                <p:cTn id="19" presetID="22" presetClass="entr" presetSubtype="8" fill="hold" nodeType="clickEffect">
                                  <p:stCondLst>
                                    <p:cond delay="0"/>
                                  </p:stCondLst>
                                  <p:childTnLst>
                                    <p:set>
                                      <p:cBhvr>
                                        <p:cTn id="17" dur="1" fill="hold">
                                          <p:stCondLst>
                                            <p:cond delay="0"/>
                                          </p:stCondLst>
                                        </p:cTn>
                                        <p:tgtEl>
                                          <p:spTgt spid="52"/>
                                        </p:tgtEl>
                                        <p:attrNameLst>
                                          <p:attrName>style.visibility</p:attrName>
                                        </p:attrNameLst>
                                      </p:cBhvr>
                                      <p:to>
                                        <p:strVal val="visible"/>
                                      </p:to>
                                    </p:set>
                                    <p:animEffect transition="in" filter="wipe(left)">
                                      <p:cBhvr>
                                        <p:cTn id="18" dur="700"/>
                                        <p:tgtEl>
                                          <p:spTgt spid="52"/>
                                        </p:tgtEl>
                                      </p:cBhvr>
                                    </p:animEffect>
                                  </p:childTnLst>
                                </p:cTn>
                              </p:par>
                              <p:par>
                                <p:cTn id="22" presetID="22" presetClass="entr" presetSubtype="8" fill="hold" nodeType="withEffect">
                                  <p:stCondLst>
                                    <p:cond delay="0"/>
                                  </p:stCondLst>
                                  <p:childTnLst>
                                    <p:set>
                                      <p:cBhvr>
                                        <p:cTn id="20" dur="1" fill="hold">
                                          <p:stCondLst>
                                            <p:cond delay="0"/>
                                          </p:stCondLst>
                                        </p:cTn>
                                        <p:tgtEl>
                                          <p:spTgt spid="53"/>
                                        </p:tgtEl>
                                        <p:attrNameLst>
                                          <p:attrName>style.visibility</p:attrName>
                                        </p:attrNameLst>
                                      </p:cBhvr>
                                      <p:to>
                                        <p:strVal val="visible"/>
                                      </p:to>
                                    </p:set>
                                    <p:animEffect transition="in" filter="wipe(left)">
                                      <p:cBhvr>
                                        <p:cTn id="21" dur="700"/>
                                        <p:tgtEl>
                                          <p:spTgt spid="53"/>
                                        </p:tgtEl>
                                      </p:cBhvr>
                                    </p:animEffect>
                                  </p:childTnLst>
                                </p:cTn>
                              </p:par>
                            </p:childTnLst>
                          </p:cTn>
                        </p:par>
                      </p:childTnLst>
                    </p:cTn>
                  </p:par>
                  <p:par>
                    <p:cTn id="31" fill="hold">
                      <p:stCondLst>
                        <p:cond delay="indefinite"/>
                      </p:stCondLst>
                      <p:childTnLst>
                        <p:par>
                          <p:cTn id="32" fill="hold">
                            <p:stCondLst>
                              <p:cond delay="0"/>
                            </p:stCondLst>
                            <p:childTnLst>
                              <p:par>
                                <p:cTn id="27" presetID="22" presetClass="entr" presetSubtype="8" fill="hold" nodeType="clickEffect">
                                  <p:stCondLst>
                                    <p:cond delay="0"/>
                                  </p:stCondLst>
                                  <p:childTnLst>
                                    <p:set>
                                      <p:cBhvr>
                                        <p:cTn id="25" dur="1" fill="hold">
                                          <p:stCondLst>
                                            <p:cond delay="0"/>
                                          </p:stCondLst>
                                        </p:cTn>
                                        <p:tgtEl>
                                          <p:spTgt spid="54"/>
                                        </p:tgtEl>
                                        <p:attrNameLst>
                                          <p:attrName>style.visibility</p:attrName>
                                        </p:attrNameLst>
                                      </p:cBhvr>
                                      <p:to>
                                        <p:strVal val="visible"/>
                                      </p:to>
                                    </p:set>
                                    <p:animEffect transition="in" filter="wipe(left)">
                                      <p:cBhvr>
                                        <p:cTn id="26" dur="700"/>
                                        <p:tgtEl>
                                          <p:spTgt spid="54"/>
                                        </p:tgtEl>
                                      </p:cBhvr>
                                    </p:animEffect>
                                  </p:childTnLst>
                                </p:cTn>
                              </p:par>
                              <p:par>
                                <p:cTn id="30" presetID="22" presetClass="entr" presetSubtype="8" fill="hold" nodeType="withEffect">
                                  <p:stCondLst>
                                    <p:cond delay="0"/>
                                  </p:stCondLst>
                                  <p:childTnLst>
                                    <p:set>
                                      <p:cBhvr>
                                        <p:cTn id="28" dur="1" fill="hold">
                                          <p:stCondLst>
                                            <p:cond delay="0"/>
                                          </p:stCondLst>
                                        </p:cTn>
                                        <p:tgtEl>
                                          <p:spTgt spid="55"/>
                                        </p:tgtEl>
                                        <p:attrNameLst>
                                          <p:attrName>style.visibility</p:attrName>
                                        </p:attrNameLst>
                                      </p:cBhvr>
                                      <p:to>
                                        <p:strVal val="visible"/>
                                      </p:to>
                                    </p:set>
                                    <p:animEffect transition="in" filter="wipe(left)">
                                      <p:cBhvr>
                                        <p:cTn id="29" dur="700"/>
                                        <p:tgtEl>
                                          <p:spTgt spid="5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I do · Write it</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 to </a:t>
            </a:r>
            <a:r>
              <a:rPr lang="en-US" sz="3450" dirty="0" b="1" i="1">
                <a:solidFill>
                  <a:srgbClr val="16171D"/>
                </a:solidFill>
                <a:latin typeface="Segoe UI"/>
                <a:cs typeface="Segoe UI"/>
              </a:rPr>
              <a:t xml:space="preserve">y</a:t>
            </a:r>
            <a:r>
              <a:rPr lang="en-US" sz="3450" dirty="0" b="1">
                <a:solidFill>
                  <a:srgbClr val="16171D"/>
                </a:solidFill>
                <a:latin typeface="Segoe UI"/>
                <a:cs typeface="Segoe UI"/>
              </a:rPr>
              <a:t xml:space="preserve"> = 2</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+ 1, through (6, 2)</a:t>
            </a:r>
            <a:endParaRPr lang="en-US" sz="3450" dirty="0"/>
          </a:p>
        </p:txBody>
      </p:sp>
      <p:sp>
        <p:nvSpPr>
          <p:cNvPr id="4" name="Shape 4"/>
          <p:cNvSpPr txBox="1"/>
          <p:nvPr/>
        </p:nvSpPr>
        <p:spPr>
          <a:xfrm>
            <a:off x="685800" y="161848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Step 1: given slope 2. Step 2: new slope:</a:t>
            </a:r>
            <a:endParaRPr lang="en-US" sz="1950" dirty="0"/>
          </a:p>
        </p:txBody>
      </p:sp>
      <p:sp>
        <p:nvSpPr>
          <p:cNvPr id="5" name="Shape 5"/>
          <p:cNvSpPr txBox="1"/>
          <p:nvPr/>
        </p:nvSpPr>
        <p:spPr>
          <a:xfrm>
            <a:off x="685800" y="2141982"/>
            <a:ext cx="257636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2</a:t>
            </a:r>
            <a:endParaRPr lang="en-US" sz="2325" dirty="0"/>
          </a:p>
        </p:txBody>
      </p:sp>
      <p:sp>
        <p:nvSpPr>
          <p:cNvPr id="6" name="Shape 6"/>
          <p:cNvSpPr txBox="1"/>
          <p:nvPr/>
        </p:nvSpPr>
        <p:spPr>
          <a:xfrm>
            <a:off x="685800" y="2832354"/>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Step 3: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− 2 = −</a:t>
            </a:r>
            <a:r>
              <a:rPr lang="en-US" sz="1950" dirty="0">
                <a:solidFill>
                  <a:srgbClr val="16171D"/>
                </a:solidFill>
                <a:latin typeface="Segoe UI"/>
                <a:cs typeface="Segoe UI"/>
              </a:rPr>
              <a:t xml:space="preserve">1</a:t>
            </a:r>
            <a:r>
              <a:rPr lang="en-US" sz="1950" dirty="0">
                <a:solidFill>
                  <a:srgbClr val="16171D"/>
                </a:solidFill>
                <a:latin typeface="Segoe UI"/>
                <a:cs typeface="Segoe UI"/>
              </a:rPr>
              <a:t xml:space="preserve">/</a:t>
            </a:r>
            <a:r>
              <a:rPr lang="en-US" sz="1950" dirty="0">
                <a:solidFill>
                  <a:srgbClr val="16171D"/>
                </a:solidFill>
                <a:latin typeface="Segoe UI"/>
                <a:cs typeface="Segoe UI"/>
              </a:rPr>
              <a:t xml:space="preserve">2</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− 6)</a:t>
            </a:r>
            <a:endParaRPr lang="en-US" sz="1950" dirty="0"/>
          </a:p>
        </p:txBody>
      </p:sp>
      <p:sp>
        <p:nvSpPr>
          <p:cNvPr id="7" name="Shape 7"/>
          <p:cNvSpPr txBox="1"/>
          <p:nvPr/>
        </p:nvSpPr>
        <p:spPr>
          <a:xfrm>
            <a:off x="685800" y="335584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Step 4: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− 2 = −</a:t>
            </a:r>
            <a:r>
              <a:rPr lang="en-US" sz="1950" dirty="0">
                <a:solidFill>
                  <a:srgbClr val="16171D"/>
                </a:solidFill>
                <a:latin typeface="Segoe UI"/>
                <a:cs typeface="Segoe UI"/>
              </a:rPr>
              <a:t xml:space="preserve">1</a:t>
            </a:r>
            <a:r>
              <a:rPr lang="en-US" sz="1950" dirty="0">
                <a:solidFill>
                  <a:srgbClr val="16171D"/>
                </a:solidFill>
                <a:latin typeface="Segoe UI"/>
                <a:cs typeface="Segoe UI"/>
              </a:rPr>
              <a:t xml:space="preserve">/</a:t>
            </a:r>
            <a:r>
              <a:rPr lang="en-US" sz="1950" dirty="0">
                <a:solidFill>
                  <a:srgbClr val="16171D"/>
                </a:solidFill>
                <a:latin typeface="Segoe UI"/>
                <a:cs typeface="Segoe UI"/>
              </a:rPr>
              <a:t xml:space="preserve">2</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+ 3</a:t>
            </a:r>
            <a:endParaRPr lang="en-US" sz="1950" dirty="0"/>
          </a:p>
        </p:txBody>
      </p:sp>
      <p:sp>
        <p:nvSpPr>
          <p:cNvPr id="8" name="Shape 8"/>
          <p:cNvSpPr txBox="1"/>
          <p:nvPr/>
        </p:nvSpPr>
        <p:spPr>
          <a:xfrm>
            <a:off x="685800" y="3879342"/>
            <a:ext cx="406880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+ 5</a:t>
            </a:r>
            <a:endParaRPr lang="en-US" sz="2325" dirty="0"/>
          </a:p>
        </p:txBody>
      </p:sp>
      <p:sp>
        <p:nvSpPr>
          <p:cNvPr id="9" name="Slide Number 9"/>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10</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500"/>
                                        <p:tgtEl>
                                          <p:spTgt spid="8"/>
                                        </p:tgtEl>
                                      </p:cBhvr>
                                    </p:animEffect>
                                    <p:anim calcmode="lin" valueType="num">
                                      <p:cBhvr>
                                        <p:cTn id="12" dur="500" fill="hold"/>
                                        <p:tgtEl>
                                          <p:spTgt spid="8"/>
                                        </p:tgtEl>
                                        <p:attrNameLst>
                                          <p:attrName>ppt_w</p:attrName>
                                        </p:attrNameLst>
                                      </p:cBhvr>
                                      <p:tavLst>
                                        <p:tav tm="0">
                                          <p:val>
                                            <p:fltVal val="0"/>
                                          </p:val>
                                        </p:tav>
                                        <p:tav tm="100000">
                                          <p:val>
                                            <p:strVal val="#ppt_w"/>
                                          </p:val>
                                        </p:tav>
                                      </p:tavLst>
                                    </p:anim>
                                    <p:anim calcmode="lin" valueType="num">
                                      <p:cBhvr>
                                        <p:cTn id="13" dur="500" fill="hold"/>
                                        <p:tgtEl>
                                          <p:spTgt spid="8"/>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You do · Try it</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 to </a:t>
            </a:r>
            <a:r>
              <a:rPr lang="en-US" sz="3450" dirty="0" b="1" i="1">
                <a:solidFill>
                  <a:srgbClr val="16171D"/>
                </a:solidFill>
                <a:latin typeface="Segoe UI"/>
                <a:cs typeface="Segoe UI"/>
              </a:rPr>
              <a:t xml:space="preserve">y</a:t>
            </a:r>
            <a:r>
              <a:rPr lang="en-US" sz="3450" dirty="0" b="1">
                <a:solidFill>
                  <a:srgbClr val="16171D"/>
                </a:solidFill>
                <a:latin typeface="Segoe UI"/>
                <a:cs typeface="Segoe UI"/>
              </a:rPr>
              <a:t xml:space="preserve"> = 3</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through (3, 1)</a:t>
            </a:r>
            <a:endParaRPr lang="en-US" sz="3450" dirty="0"/>
          </a:p>
        </p:txBody>
      </p:sp>
      <p:sp>
        <p:nvSpPr>
          <p:cNvPr id="4" name="Shape 4"/>
          <p:cNvSpPr txBox="1"/>
          <p:nvPr/>
        </p:nvSpPr>
        <p:spPr>
          <a:xfrm>
            <a:off x="685800" y="161848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New slope: ____</a:t>
            </a:r>
            <a:endParaRPr lang="en-US" sz="1950" dirty="0"/>
          </a:p>
        </p:txBody>
      </p:sp>
      <p:sp>
        <p:nvSpPr>
          <p:cNvPr id="5" name="Shape 5"/>
          <p:cNvSpPr txBox="1"/>
          <p:nvPr/>
        </p:nvSpPr>
        <p:spPr>
          <a:xfrm>
            <a:off x="685800" y="2141982"/>
            <a:ext cx="257636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3</a:t>
            </a:r>
            <a:endParaRPr lang="en-US" sz="2325" dirty="0"/>
          </a:p>
        </p:txBody>
      </p:sp>
      <p:sp>
        <p:nvSpPr>
          <p:cNvPr id="6" name="Shape 6"/>
          <p:cNvSpPr txBox="1"/>
          <p:nvPr/>
        </p:nvSpPr>
        <p:spPr>
          <a:xfrm>
            <a:off x="685800" y="2832354"/>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− 1 = ____(</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− 3)</a:t>
            </a:r>
            <a:endParaRPr lang="en-US" sz="1950" dirty="0"/>
          </a:p>
        </p:txBody>
      </p:sp>
      <p:sp>
        <p:nvSpPr>
          <p:cNvPr id="7" name="Shape 7"/>
          <p:cNvSpPr txBox="1"/>
          <p:nvPr/>
        </p:nvSpPr>
        <p:spPr>
          <a:xfrm>
            <a:off x="685800" y="3355848"/>
            <a:ext cx="5063764"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− 1 = −</a:t>
            </a:r>
            <a:r>
              <a:rPr lang="en-US" sz="2325" dirty="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3</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− 3)</a:t>
            </a:r>
            <a:endParaRPr lang="en-US" sz="2325" dirty="0"/>
          </a:p>
        </p:txBody>
      </p:sp>
      <p:sp>
        <p:nvSpPr>
          <p:cNvPr id="8" name="Shape 8"/>
          <p:cNvSpPr txBox="1"/>
          <p:nvPr/>
        </p:nvSpPr>
        <p:spPr>
          <a:xfrm>
            <a:off x="685800" y="4046220"/>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 ____</a:t>
            </a:r>
            <a:endParaRPr lang="en-US" sz="1950" dirty="0"/>
          </a:p>
        </p:txBody>
      </p:sp>
      <p:sp>
        <p:nvSpPr>
          <p:cNvPr id="9" name="Shape 9"/>
          <p:cNvSpPr txBox="1"/>
          <p:nvPr/>
        </p:nvSpPr>
        <p:spPr>
          <a:xfrm>
            <a:off x="685800" y="4569714"/>
            <a:ext cx="406880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3</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endParaRPr lang="en-US" sz="2325" dirty="0"/>
          </a:p>
        </p:txBody>
      </p:sp>
      <p:sp>
        <p:nvSpPr>
          <p:cNvPr id="10" name="Slide Number 10"/>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11</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Check it · Step by step</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 to </a:t>
            </a:r>
            <a:r>
              <a:rPr lang="en-US" sz="3450" dirty="0" b="1" i="1">
                <a:solidFill>
                  <a:srgbClr val="16171D"/>
                </a:solidFill>
                <a:latin typeface="Segoe UI"/>
                <a:cs typeface="Segoe UI"/>
              </a:rPr>
              <a:t xml:space="preserve">y</a:t>
            </a:r>
            <a:r>
              <a:rPr lang="en-US" sz="3450" dirty="0" b="1">
                <a:solidFill>
                  <a:srgbClr val="16171D"/>
                </a:solidFill>
                <a:latin typeface="Segoe UI"/>
                <a:cs typeface="Segoe UI"/>
              </a:rPr>
              <a:t xml:space="preserve"> = 3</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through (3, 1)</a:t>
            </a:r>
            <a:endParaRPr lang="en-US" sz="3450" dirty="0"/>
          </a:p>
        </p:txBody>
      </p:sp>
      <p:sp>
        <p:nvSpPr>
          <p:cNvPr id="11" name="Shape 11"/>
          <p:cNvSpPr txBox="1"/>
          <p:nvPr/>
        </p:nvSpPr>
        <p:spPr>
          <a:xfrm>
            <a:off x="685800" y="1618488"/>
            <a:ext cx="10820095" cy="328269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10400995"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Write the perpendicular line</a:t>
            </a:r>
            <a:endParaRPr lang="en-US" sz="2100" dirty="0"/>
          </a:p>
        </p:txBody>
      </p:sp>
      <p:sp>
        <p:nvSpPr>
          <p:cNvPr id="5" name="Shape 5"/>
          <p:cNvSpPr txBox="1"/>
          <p:nvPr/>
        </p:nvSpPr>
        <p:spPr>
          <a:xfrm>
            <a:off x="895350" y="2260092"/>
            <a:ext cx="104009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1.</a:t>
            </a:r>
            <a:r>
              <a:rPr lang="en-US" sz="1575" dirty="0">
                <a:solidFill>
                  <a:srgbClr val="16171D"/>
                </a:solidFill>
                <a:latin typeface="Segoe UI"/>
                <a:cs typeface="Segoe UI"/>
              </a:rPr>
              <a:t xml:space="preserve"> The given slope is the number with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3.</a:t>
            </a:r>
            <a:endParaRPr lang="en-US" sz="1575" dirty="0"/>
          </a:p>
        </p:txBody>
      </p:sp>
      <p:sp>
        <p:nvSpPr>
          <p:cNvPr id="6" name="Shape 6"/>
          <p:cNvSpPr txBox="1"/>
          <p:nvPr/>
        </p:nvSpPr>
        <p:spPr>
          <a:xfrm>
            <a:off x="895350" y="2650236"/>
            <a:ext cx="104009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2.</a:t>
            </a:r>
            <a:r>
              <a:rPr lang="en-US" sz="1575" dirty="0">
                <a:solidFill>
                  <a:srgbClr val="16171D"/>
                </a:solidFill>
                <a:latin typeface="Segoe UI"/>
                <a:cs typeface="Segoe UI"/>
              </a:rPr>
              <a:t xml:space="preserve"> 3 = </a:t>
            </a:r>
            <a:r>
              <a:rPr lang="en-US" sz="1575" dirty="0">
                <a:solidFill>
                  <a:srgbClr val="16171D"/>
                </a:solidFill>
                <a:latin typeface="Segoe UI"/>
                <a:cs typeface="Segoe UI"/>
              </a:rPr>
              <a:t xml:space="preserve">3</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1</a:t>
            </a:r>
            <a:r>
              <a:rPr lang="en-US" sz="1575" dirty="0">
                <a:solidFill>
                  <a:srgbClr val="16171D"/>
                </a:solidFill>
                <a:latin typeface="Segoe UI"/>
                <a:cs typeface="Segoe UI"/>
              </a:rPr>
              <a:t xml:space="preserve">. Flip it to </a:t>
            </a:r>
            <a:r>
              <a:rPr lang="en-US" sz="1575" dirty="0">
                <a:solidFill>
                  <a:srgbClr val="16171D"/>
                </a:solidFill>
                <a:latin typeface="Segoe UI"/>
                <a:cs typeface="Segoe UI"/>
              </a:rPr>
              <a:t xml:space="preserve">1</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3</a:t>
            </a:r>
            <a:r>
              <a:rPr lang="en-US" sz="1575" dirty="0">
                <a:solidFill>
                  <a:srgbClr val="16171D"/>
                </a:solidFill>
                <a:latin typeface="Segoe UI"/>
                <a:cs typeface="Segoe UI"/>
              </a:rPr>
              <a:t xml:space="preserve">, then change the sign: the new slope is −</a:t>
            </a:r>
            <a:r>
              <a:rPr lang="en-US" sz="1575" dirty="0">
                <a:solidFill>
                  <a:srgbClr val="16171D"/>
                </a:solidFill>
                <a:latin typeface="Segoe UI"/>
                <a:cs typeface="Segoe UI"/>
              </a:rPr>
              <a:t xml:space="preserve">1</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3</a:t>
            </a:r>
            <a:r>
              <a:rPr lang="en-US" sz="1575" dirty="0">
                <a:solidFill>
                  <a:srgbClr val="16171D"/>
                </a:solidFill>
                <a:latin typeface="Segoe UI"/>
                <a:cs typeface="Segoe UI"/>
              </a:rPr>
              <a:t xml:space="preserve">.</a:t>
            </a:r>
            <a:endParaRPr lang="en-US" sz="1575" dirty="0"/>
          </a:p>
        </p:txBody>
      </p:sp>
      <p:sp>
        <p:nvSpPr>
          <p:cNvPr id="7" name="Shape 7"/>
          <p:cNvSpPr txBox="1"/>
          <p:nvPr/>
        </p:nvSpPr>
        <p:spPr>
          <a:xfrm>
            <a:off x="895350" y="3040380"/>
            <a:ext cx="104009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3.</a:t>
            </a:r>
            <a:r>
              <a:rPr lang="en-US" sz="1575" dirty="0">
                <a:solidFill>
                  <a:srgbClr val="16171D"/>
                </a:solidFill>
                <a:latin typeface="Segoe UI"/>
                <a:cs typeface="Segoe UI"/>
              </a:rPr>
              <a:t xml:space="preserve"> Put </a:t>
            </a:r>
            <a:r>
              <a:rPr lang="en-US" sz="1575" dirty="0" i="1">
                <a:solidFill>
                  <a:srgbClr val="16171D"/>
                </a:solidFill>
                <a:latin typeface="Segoe UI"/>
                <a:cs typeface="Segoe UI"/>
              </a:rPr>
              <a:t xml:space="preserve">m</a:t>
            </a:r>
            <a:r>
              <a:rPr lang="en-US" sz="1575" dirty="0">
                <a:solidFill>
                  <a:srgbClr val="16171D"/>
                </a:solidFill>
                <a:latin typeface="Segoe UI"/>
                <a:cs typeface="Segoe UI"/>
              </a:rPr>
              <a:t xml:space="preserve"> = −</a:t>
            </a:r>
            <a:r>
              <a:rPr lang="en-US" sz="1575" dirty="0">
                <a:solidFill>
                  <a:srgbClr val="16171D"/>
                </a:solidFill>
                <a:latin typeface="Segoe UI"/>
                <a:cs typeface="Segoe UI"/>
              </a:rPr>
              <a:t xml:space="preserve">1</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3</a:t>
            </a:r>
            <a:r>
              <a:rPr lang="en-US" sz="1575" dirty="0">
                <a:solidFill>
                  <a:srgbClr val="16171D"/>
                </a:solidFill>
                <a:latin typeface="Segoe UI"/>
                <a:cs typeface="Segoe UI"/>
              </a:rPr>
              <a:t xml:space="preserve">, </a:t>
            </a:r>
            <a:r>
              <a:rPr lang="en-US" sz="1575" dirty="0" i="1">
                <a:solidFill>
                  <a:srgbClr val="16171D"/>
                </a:solidFill>
                <a:latin typeface="Segoe UI"/>
                <a:cs typeface="Segoe UI"/>
              </a:rPr>
              <a:t xml:space="preserve">x</a:t>
            </a:r>
            <a:r>
              <a:rPr lang="en-US" sz="1339" dirty="0" baseline="-25000">
                <a:solidFill>
                  <a:srgbClr val="16171D"/>
                </a:solidFill>
                <a:latin typeface="Segoe UI"/>
                <a:cs typeface="Segoe UI"/>
              </a:rPr>
              <a:t xml:space="preserve">1</a:t>
            </a:r>
            <a:r>
              <a:rPr lang="en-US" sz="1575" dirty="0">
                <a:solidFill>
                  <a:srgbClr val="16171D"/>
                </a:solidFill>
                <a:latin typeface="Segoe UI"/>
                <a:cs typeface="Segoe UI"/>
              </a:rPr>
              <a:t xml:space="preserve"> = 3, </a:t>
            </a:r>
            <a:r>
              <a:rPr lang="en-US" sz="1575" dirty="0" i="1">
                <a:solidFill>
                  <a:srgbClr val="16171D"/>
                </a:solidFill>
                <a:latin typeface="Segoe UI"/>
                <a:cs typeface="Segoe UI"/>
              </a:rPr>
              <a:t xml:space="preserve">y</a:t>
            </a:r>
            <a:r>
              <a:rPr lang="en-US" sz="1339" dirty="0" baseline="-25000">
                <a:solidFill>
                  <a:srgbClr val="16171D"/>
                </a:solidFill>
                <a:latin typeface="Segoe UI"/>
                <a:cs typeface="Segoe UI"/>
              </a:rPr>
              <a:t xml:space="preserve">1</a:t>
            </a:r>
            <a:r>
              <a:rPr lang="en-US" sz="1575" dirty="0">
                <a:solidFill>
                  <a:srgbClr val="16171D"/>
                </a:solidFill>
                <a:latin typeface="Segoe UI"/>
                <a:cs typeface="Segoe UI"/>
              </a:rPr>
              <a:t xml:space="preserve"> = 1 into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 − </a:t>
            </a:r>
            <a:r>
              <a:rPr lang="en-US" sz="1575" dirty="0" i="1">
                <a:solidFill>
                  <a:srgbClr val="16171D"/>
                </a:solidFill>
                <a:latin typeface="Segoe UI"/>
                <a:cs typeface="Segoe UI"/>
              </a:rPr>
              <a:t xml:space="preserve">y</a:t>
            </a:r>
            <a:r>
              <a:rPr lang="en-US" sz="1339" dirty="0" baseline="-25000">
                <a:solidFill>
                  <a:srgbClr val="16171D"/>
                </a:solidFill>
                <a:latin typeface="Segoe UI"/>
                <a:cs typeface="Segoe UI"/>
              </a:rPr>
              <a:t xml:space="preserve">1</a:t>
            </a:r>
            <a:r>
              <a:rPr lang="en-US" sz="1575" dirty="0">
                <a:solidFill>
                  <a:srgbClr val="16171D"/>
                </a:solidFill>
                <a:latin typeface="Segoe UI"/>
                <a:cs typeface="Segoe UI"/>
              </a:rPr>
              <a:t xml:space="preserve"> = </a:t>
            </a:r>
            <a:r>
              <a:rPr lang="en-US" sz="1575" dirty="0" i="1">
                <a:solidFill>
                  <a:srgbClr val="16171D"/>
                </a:solidFill>
                <a:latin typeface="Segoe UI"/>
                <a:cs typeface="Segoe UI"/>
              </a:rPr>
              <a:t xml:space="preserve">m</a:t>
            </a:r>
            <a:r>
              <a:rPr lang="en-US" sz="1575" dirty="0">
                <a:solidFill>
                  <a:srgbClr val="16171D"/>
                </a:solidFill>
                <a:latin typeface="Segoe UI"/>
                <a:cs typeface="Segoe UI"/>
              </a:rPr>
              <a:t xml:space="preserve">(</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a:t>
            </a:r>
            <a:r>
              <a:rPr lang="en-US" sz="1575" dirty="0" i="1">
                <a:solidFill>
                  <a:srgbClr val="16171D"/>
                </a:solidFill>
                <a:latin typeface="Segoe UI"/>
                <a:cs typeface="Segoe UI"/>
              </a:rPr>
              <a:t xml:space="preserve">x</a:t>
            </a:r>
            <a:r>
              <a:rPr lang="en-US" sz="1339" dirty="0" baseline="-25000">
                <a:solidFill>
                  <a:srgbClr val="16171D"/>
                </a:solidFill>
                <a:latin typeface="Segoe UI"/>
                <a:cs typeface="Segoe UI"/>
              </a:rPr>
              <a:t xml:space="preserve">1</a:t>
            </a:r>
            <a:r>
              <a:rPr lang="en-US" sz="1575" dirty="0">
                <a:solidFill>
                  <a:srgbClr val="16171D"/>
                </a:solidFill>
                <a:latin typeface="Segoe UI"/>
                <a:cs typeface="Segoe UI"/>
              </a:rPr>
              <a:t xml:space="preserv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 − 1 = −</a:t>
            </a:r>
            <a:r>
              <a:rPr lang="en-US" sz="1575" dirty="0">
                <a:solidFill>
                  <a:srgbClr val="16171D"/>
                </a:solidFill>
                <a:latin typeface="Segoe UI"/>
                <a:cs typeface="Segoe UI"/>
              </a:rPr>
              <a:t xml:space="preserve">1</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3</a:t>
            </a:r>
            <a:r>
              <a:rPr lang="en-US" sz="1575" dirty="0">
                <a:solidFill>
                  <a:srgbClr val="16171D"/>
                </a:solidFill>
                <a:latin typeface="Segoe UI"/>
                <a:cs typeface="Segoe UI"/>
              </a:rPr>
              <a:t xml:space="preserve">(</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− 3).</a:t>
            </a:r>
            <a:endParaRPr lang="en-US" sz="1575" dirty="0"/>
          </a:p>
        </p:txBody>
      </p:sp>
      <p:sp>
        <p:nvSpPr>
          <p:cNvPr id="8" name="Shape 8"/>
          <p:cNvSpPr txBox="1"/>
          <p:nvPr/>
        </p:nvSpPr>
        <p:spPr>
          <a:xfrm>
            <a:off x="895350" y="3430524"/>
            <a:ext cx="104009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4.</a:t>
            </a:r>
            <a:r>
              <a:rPr lang="en-US" sz="1575" dirty="0">
                <a:solidFill>
                  <a:srgbClr val="16171D"/>
                </a:solidFill>
                <a:latin typeface="Segoe UI"/>
                <a:cs typeface="Segoe UI"/>
              </a:rPr>
              <a:t xml:space="preserve"> Distribute: −</a:t>
            </a:r>
            <a:r>
              <a:rPr lang="en-US" sz="1575" dirty="0">
                <a:solidFill>
                  <a:srgbClr val="16171D"/>
                </a:solidFill>
                <a:latin typeface="Segoe UI"/>
                <a:cs typeface="Segoe UI"/>
              </a:rPr>
              <a:t xml:space="preserve">1</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3</a:t>
            </a:r>
            <a:r>
              <a:rPr lang="en-US" sz="1575" dirty="0">
                <a:solidFill>
                  <a:srgbClr val="16171D"/>
                </a:solidFill>
                <a:latin typeface="Segoe UI"/>
                <a:cs typeface="Segoe UI"/>
              </a:rPr>
              <a:t xml:space="preserve"> ·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a:t>
            </a:r>
            <a:r>
              <a:rPr lang="en-US" sz="1575" dirty="0">
                <a:solidFill>
                  <a:srgbClr val="16171D"/>
                </a:solidFill>
                <a:latin typeface="Segoe UI"/>
                <a:cs typeface="Segoe UI"/>
              </a:rPr>
              <a:t xml:space="preserve">1</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3</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and −</a:t>
            </a:r>
            <a:r>
              <a:rPr lang="en-US" sz="1575" dirty="0">
                <a:solidFill>
                  <a:srgbClr val="16171D"/>
                </a:solidFill>
                <a:latin typeface="Segoe UI"/>
                <a:cs typeface="Segoe UI"/>
              </a:rPr>
              <a:t xml:space="preserve">1</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3</a:t>
            </a:r>
            <a:r>
              <a:rPr lang="en-US" sz="1575" dirty="0">
                <a:solidFill>
                  <a:srgbClr val="16171D"/>
                </a:solidFill>
                <a:latin typeface="Segoe UI"/>
                <a:cs typeface="Segoe UI"/>
              </a:rPr>
              <a:t xml:space="preserve"> · (−3) = +1. Now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 − 1 = −</a:t>
            </a:r>
            <a:r>
              <a:rPr lang="en-US" sz="1575" dirty="0">
                <a:solidFill>
                  <a:srgbClr val="16171D"/>
                </a:solidFill>
                <a:latin typeface="Segoe UI"/>
                <a:cs typeface="Segoe UI"/>
              </a:rPr>
              <a:t xml:space="preserve">1</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3</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+ 1.</a:t>
            </a:r>
            <a:endParaRPr lang="en-US" sz="1575" dirty="0"/>
          </a:p>
        </p:txBody>
      </p:sp>
      <p:sp>
        <p:nvSpPr>
          <p:cNvPr id="9" name="Shape 9"/>
          <p:cNvSpPr txBox="1"/>
          <p:nvPr/>
        </p:nvSpPr>
        <p:spPr>
          <a:xfrm>
            <a:off x="895350" y="3820668"/>
            <a:ext cx="104009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5.</a:t>
            </a:r>
            <a:r>
              <a:rPr lang="en-US" sz="1575" dirty="0">
                <a:solidFill>
                  <a:srgbClr val="16171D"/>
                </a:solidFill>
                <a:latin typeface="Segoe UI"/>
                <a:cs typeface="Segoe UI"/>
              </a:rPr>
              <a:t xml:space="preserve"> Add 1 to both sides to get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 alone: 1 + 1 = 2.</a:t>
            </a:r>
            <a:endParaRPr lang="en-US" sz="1575" dirty="0"/>
          </a:p>
        </p:txBody>
      </p:sp>
      <p:sp>
        <p:nvSpPr>
          <p:cNvPr id="10" name="Shape 10"/>
          <p:cNvSpPr txBox="1"/>
          <p:nvPr/>
        </p:nvSpPr>
        <p:spPr>
          <a:xfrm>
            <a:off x="895350" y="4210812"/>
            <a:ext cx="406880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3</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endParaRPr lang="en-US" sz="2325" dirty="0"/>
          </a:p>
        </p:txBody>
      </p:sp>
      <p:sp>
        <p:nvSpPr>
          <p:cNvPr id="12" name="Slide Number 12"/>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12</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ppt_x</p:attrName>
                                        </p:attrNameLst>
                                      </p:cBhvr>
                                      <p:tavLst>
                                        <p:tav tm="0">
                                          <p:val>
                                            <p:strVal val="#ppt_x"/>
                                          </p:val>
                                        </p:tav>
                                        <p:tav tm="100000">
                                          <p:val>
                                            <p:strVal val="#ppt_x"/>
                                          </p:val>
                                        </p:tav>
                                      </p:tavLst>
                                    </p:anim>
                                    <p:anim calcmode="lin" valueType="num">
                                      <p:cBhvr>
                                        <p:cTn id="13"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500"/>
                                        <p:tgtEl>
                                          <p:spTgt spid="7"/>
                                        </p:tgtEl>
                                      </p:cBhvr>
                                    </p:animEffect>
                                    <p:anim calcmode="lin" valueType="num">
                                      <p:cBhvr>
                                        <p:cTn id="19" dur="500" fill="hold"/>
                                        <p:tgtEl>
                                          <p:spTgt spid="7"/>
                                        </p:tgtEl>
                                        <p:attrNameLst>
                                          <p:attrName>ppt_x</p:attrName>
                                        </p:attrNameLst>
                                      </p:cBhvr>
                                      <p:tavLst>
                                        <p:tav tm="0">
                                          <p:val>
                                            <p:strVal val="#ppt_x"/>
                                          </p:val>
                                        </p:tav>
                                        <p:tav tm="100000">
                                          <p:val>
                                            <p:strVal val="#ppt_x"/>
                                          </p:val>
                                        </p:tav>
                                      </p:tavLst>
                                    </p:anim>
                                    <p:anim calcmode="lin" valueType="num">
                                      <p:cBhvr>
                                        <p:cTn id="20"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8"/>
                                        </p:tgtEl>
                                        <p:attrNameLst>
                                          <p:attrName>style.visibility</p:attrName>
                                        </p:attrNameLst>
                                      </p:cBhvr>
                                      <p:to>
                                        <p:strVal val="visible"/>
                                      </p:to>
                                    </p:set>
                                    <p:animEffect transition="in" filter="fade">
                                      <p:cBhvr>
                                        <p:cTn id="25" dur="500"/>
                                        <p:tgtEl>
                                          <p:spTgt spid="8"/>
                                        </p:tgtEl>
                                      </p:cBhvr>
                                    </p:animEffect>
                                    <p:anim calcmode="lin" valueType="num">
                                      <p:cBhvr>
                                        <p:cTn id="26" dur="500" fill="hold"/>
                                        <p:tgtEl>
                                          <p:spTgt spid="8"/>
                                        </p:tgtEl>
                                        <p:attrNameLst>
                                          <p:attrName>ppt_x</p:attrName>
                                        </p:attrNameLst>
                                      </p:cBhvr>
                                      <p:tavLst>
                                        <p:tav tm="0">
                                          <p:val>
                                            <p:strVal val="#ppt_x"/>
                                          </p:val>
                                        </p:tav>
                                        <p:tav tm="100000">
                                          <p:val>
                                            <p:strVal val="#ppt_x"/>
                                          </p:val>
                                        </p:tav>
                                      </p:tavLst>
                                    </p:anim>
                                    <p:anim calcmode="lin" valueType="num">
                                      <p:cBhvr>
                                        <p:cTn id="27"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9"/>
                                        </p:tgtEl>
                                        <p:attrNameLst>
                                          <p:attrName>style.visibility</p:attrName>
                                        </p:attrNameLst>
                                      </p:cBhvr>
                                      <p:to>
                                        <p:strVal val="visible"/>
                                      </p:to>
                                    </p:set>
                                    <p:animEffect transition="in" filter="fade">
                                      <p:cBhvr>
                                        <p:cTn id="32" dur="500"/>
                                        <p:tgtEl>
                                          <p:spTgt spid="9"/>
                                        </p:tgtEl>
                                      </p:cBhvr>
                                    </p:animEffect>
                                    <p:anim calcmode="lin" valueType="num">
                                      <p:cBhvr>
                                        <p:cTn id="33" dur="500" fill="hold"/>
                                        <p:tgtEl>
                                          <p:spTgt spid="9"/>
                                        </p:tgtEl>
                                        <p:attrNameLst>
                                          <p:attrName>ppt_x</p:attrName>
                                        </p:attrNameLst>
                                      </p:cBhvr>
                                      <p:tavLst>
                                        <p:tav tm="0">
                                          <p:val>
                                            <p:strVal val="#ppt_x"/>
                                          </p:val>
                                        </p:tav>
                                        <p:tav tm="100000">
                                          <p:val>
                                            <p:strVal val="#ppt_x"/>
                                          </p:val>
                                        </p:tav>
                                      </p:tavLst>
                                    </p:anim>
                                    <p:anim calcmode="lin" valueType="num">
                                      <p:cBhvr>
                                        <p:cTn id="34" dur="500" fill="hold"/>
                                        <p:tgtEl>
                                          <p:spTgt spid="9"/>
                                        </p:tgtEl>
                                        <p:attrNameLst>
                                          <p:attrName>ppt_y</p:attrName>
                                        </p:attrNameLst>
                                      </p:cBhvr>
                                      <p:tavLst>
                                        <p:tav tm="0">
                                          <p:val>
                                            <p:strVal val="#ppt_y+.1"/>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2" presetID="53" presetClass="entr" presetSubtype="16" fill="hold" nodeType="clickEffect">
                                  <p:stCondLst>
                                    <p:cond delay="0"/>
                                  </p:stCondLst>
                                  <p:childTnLst>
                                    <p:set>
                                      <p:cBhvr>
                                        <p:cTn id="38" dur="1" fill="hold">
                                          <p:stCondLst>
                                            <p:cond delay="0"/>
                                          </p:stCondLst>
                                        </p:cTn>
                                        <p:tgtEl>
                                          <p:spTgt spid="10"/>
                                        </p:tgtEl>
                                        <p:attrNameLst>
                                          <p:attrName>style.visibility</p:attrName>
                                        </p:attrNameLst>
                                      </p:cBhvr>
                                      <p:to>
                                        <p:strVal val="visible"/>
                                      </p:to>
                                    </p:set>
                                    <p:animEffect transition="in" filter="fade">
                                      <p:cBhvr>
                                        <p:cTn id="39" dur="500"/>
                                        <p:tgtEl>
                                          <p:spTgt spid="10"/>
                                        </p:tgtEl>
                                      </p:cBhvr>
                                    </p:animEffect>
                                    <p:anim calcmode="lin" valueType="num">
                                      <p:cBhvr>
                                        <p:cTn id="40" dur="500" fill="hold"/>
                                        <p:tgtEl>
                                          <p:spTgt spid="10"/>
                                        </p:tgtEl>
                                        <p:attrNameLst>
                                          <p:attrName>ppt_w</p:attrName>
                                        </p:attrNameLst>
                                      </p:cBhvr>
                                      <p:tavLst>
                                        <p:tav tm="0">
                                          <p:val>
                                            <p:fltVal val="0"/>
                                          </p:val>
                                        </p:tav>
                                        <p:tav tm="100000">
                                          <p:val>
                                            <p:strVal val="#ppt_w"/>
                                          </p:val>
                                        </p:tav>
                                      </p:tavLst>
                                    </p:anim>
                                    <p:anim calcmode="lin" valueType="num">
                                      <p:cBhvr>
                                        <p:cTn id="41" dur="500" fill="hold"/>
                                        <p:tgtEl>
                                          <p:spTgt spid="10"/>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Exit Ticket</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Show what you know</a:t>
            </a:r>
            <a:endParaRPr lang="en-US" sz="3450" dirty="0"/>
          </a:p>
        </p:txBody>
      </p:sp>
      <p:sp>
        <p:nvSpPr>
          <p:cNvPr id="6" name="Shape 6"/>
          <p:cNvSpPr txBox="1"/>
          <p:nvPr/>
        </p:nvSpPr>
        <p:spPr>
          <a:xfrm>
            <a:off x="685800" y="1618488"/>
            <a:ext cx="10820095" cy="130911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104009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What slope is perpendicular to </a:t>
            </a:r>
            <a:r>
              <a:rPr lang="en-US" sz="1950" dirty="0">
                <a:solidFill>
                  <a:srgbClr val="16171D"/>
                </a:solidFill>
                <a:latin typeface="Segoe UI"/>
                <a:cs typeface="Segoe UI"/>
              </a:rPr>
              <a:t xml:space="preserve">3</a:t>
            </a:r>
            <a:r>
              <a:rPr lang="en-US" sz="1950" dirty="0">
                <a:solidFill>
                  <a:srgbClr val="16171D"/>
                </a:solidFill>
                <a:latin typeface="Segoe UI"/>
                <a:cs typeface="Segoe UI"/>
              </a:rPr>
              <a:t xml:space="preserve">/</a:t>
            </a:r>
            <a:r>
              <a:rPr lang="en-US" sz="1950" dirty="0">
                <a:solidFill>
                  <a:srgbClr val="16171D"/>
                </a:solidFill>
                <a:latin typeface="Segoe UI"/>
                <a:cs typeface="Segoe UI"/>
              </a:rPr>
              <a:t xml:space="preserve">4</a:t>
            </a:r>
            <a:r>
              <a:rPr lang="en-US" sz="1950" dirty="0">
                <a:solidFill>
                  <a:srgbClr val="16171D"/>
                </a:solidFill>
                <a:latin typeface="Segoe UI"/>
                <a:cs typeface="Segoe UI"/>
              </a:rPr>
              <a:t xml:space="preserve">?</a:t>
            </a:r>
            <a:endParaRPr lang="en-US" sz="1950" dirty="0"/>
          </a:p>
        </p:txBody>
      </p:sp>
      <p:sp>
        <p:nvSpPr>
          <p:cNvPr id="5" name="Shape 5"/>
          <p:cNvSpPr txBox="1"/>
          <p:nvPr/>
        </p:nvSpPr>
        <p:spPr>
          <a:xfrm>
            <a:off x="895350" y="2237232"/>
            <a:ext cx="257636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4</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3</a:t>
            </a:r>
            <a:endParaRPr lang="en-US" sz="2325" dirty="0"/>
          </a:p>
        </p:txBody>
      </p:sp>
      <p:sp>
        <p:nvSpPr>
          <p:cNvPr id="9" name="Shape 9"/>
          <p:cNvSpPr txBox="1"/>
          <p:nvPr/>
        </p:nvSpPr>
        <p:spPr>
          <a:xfrm>
            <a:off x="685800" y="3060954"/>
            <a:ext cx="10820095" cy="130911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7" name="Shape 7"/>
          <p:cNvSpPr txBox="1"/>
          <p:nvPr/>
        </p:nvSpPr>
        <p:spPr>
          <a:xfrm>
            <a:off x="895350" y="3232404"/>
            <a:ext cx="104009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Write the vertical line through (5, 6).</a:t>
            </a:r>
            <a:endParaRPr lang="en-US" sz="1950" dirty="0"/>
          </a:p>
        </p:txBody>
      </p:sp>
      <p:sp>
        <p:nvSpPr>
          <p:cNvPr id="8" name="Shape 8"/>
          <p:cNvSpPr txBox="1"/>
          <p:nvPr/>
        </p:nvSpPr>
        <p:spPr>
          <a:xfrm>
            <a:off x="895350" y="3679698"/>
            <a:ext cx="2742194"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5</a:t>
            </a:r>
            <a:endParaRPr lang="en-US" sz="2325" dirty="0"/>
          </a:p>
        </p:txBody>
      </p:sp>
      <p:sp>
        <p:nvSpPr>
          <p:cNvPr id="12" name="Shape 12"/>
          <p:cNvSpPr txBox="1"/>
          <p:nvPr/>
        </p:nvSpPr>
        <p:spPr>
          <a:xfrm>
            <a:off x="685800" y="4503420"/>
            <a:ext cx="10820095" cy="130911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0" name="Shape 10"/>
          <p:cNvSpPr txBox="1"/>
          <p:nvPr/>
        </p:nvSpPr>
        <p:spPr>
          <a:xfrm>
            <a:off x="895350" y="4674870"/>
            <a:ext cx="104009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Write the line ⊥ to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 −</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through (0, 3).</a:t>
            </a:r>
            <a:endParaRPr lang="en-US" sz="1950" dirty="0"/>
          </a:p>
        </p:txBody>
      </p:sp>
      <p:sp>
        <p:nvSpPr>
          <p:cNvPr id="11" name="Shape 11"/>
          <p:cNvSpPr txBox="1"/>
          <p:nvPr/>
        </p:nvSpPr>
        <p:spPr>
          <a:xfrm>
            <a:off x="895350" y="5122164"/>
            <a:ext cx="3405500"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+ 3</a:t>
            </a:r>
            <a:endParaRPr lang="en-US" sz="2325" dirty="0"/>
          </a:p>
        </p:txBody>
      </p:sp>
      <p:sp>
        <p:nvSpPr>
          <p:cNvPr id="13" name="Slide Number 13"/>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13</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500"/>
                                        <p:tgtEl>
                                          <p:spTgt spid="8"/>
                                        </p:tgtEl>
                                      </p:cBhvr>
                                    </p:animEffect>
                                    <p:anim calcmode="lin" valueType="num">
                                      <p:cBhvr>
                                        <p:cTn id="12" dur="500" fill="hold"/>
                                        <p:tgtEl>
                                          <p:spTgt spid="8"/>
                                        </p:tgtEl>
                                        <p:attrNameLst>
                                          <p:attrName>ppt_w</p:attrName>
                                        </p:attrNameLst>
                                      </p:cBhvr>
                                      <p:tavLst>
                                        <p:tav tm="0">
                                          <p:val>
                                            <p:fltVal val="0"/>
                                          </p:val>
                                        </p:tav>
                                        <p:tav tm="100000">
                                          <p:val>
                                            <p:strVal val="#ppt_w"/>
                                          </p:val>
                                        </p:tav>
                                      </p:tavLst>
                                    </p:anim>
                                    <p:anim calcmode="lin" valueType="num">
                                      <p:cBhvr>
                                        <p:cTn id="13" dur="500" fill="hold"/>
                                        <p:tgtEl>
                                          <p:spTgt spid="8"/>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11"/>
                                        </p:tgtEl>
                                        <p:attrNameLst>
                                          <p:attrName>style.visibility</p:attrName>
                                        </p:attrNameLst>
                                      </p:cBhvr>
                                      <p:to>
                                        <p:strVal val="visible"/>
                                      </p:to>
                                    </p:set>
                                    <p:animEffect transition="in" filter="fade">
                                      <p:cBhvr>
                                        <p:cTn id="18" dur="500"/>
                                        <p:tgtEl>
                                          <p:spTgt spid="11"/>
                                        </p:tgtEl>
                                      </p:cBhvr>
                                    </p:animEffect>
                                    <p:anim calcmode="lin" valueType="num">
                                      <p:cBhvr>
                                        <p:cTn id="19" dur="500" fill="hold"/>
                                        <p:tgtEl>
                                          <p:spTgt spid="11"/>
                                        </p:tgtEl>
                                        <p:attrNameLst>
                                          <p:attrName>ppt_w</p:attrName>
                                        </p:attrNameLst>
                                      </p:cBhvr>
                                      <p:tavLst>
                                        <p:tav tm="0">
                                          <p:val>
                                            <p:fltVal val="0"/>
                                          </p:val>
                                        </p:tav>
                                        <p:tav tm="100000">
                                          <p:val>
                                            <p:strVal val="#ppt_w"/>
                                          </p:val>
                                        </p:tav>
                                      </p:tavLst>
                                    </p:anim>
                                    <p:anim calcmode="lin" valueType="num">
                                      <p:cBhvr>
                                        <p:cTn id="20" dur="500" fill="hold"/>
                                        <p:tgtEl>
                                          <p:spTgt spid="1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Practice Online</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Bell work, homework and quiz</a:t>
            </a:r>
            <a:endParaRPr lang="en-US" sz="3450" dirty="0"/>
          </a:p>
        </p:txBody>
      </p:sp>
      <p:sp>
        <p:nvSpPr>
          <p:cNvPr id="4" name="Shape 4"/>
          <p:cNvSpPr txBox="1"/>
          <p:nvPr/>
        </p:nvSpPr>
        <p:spPr>
          <a:xfrm>
            <a:off x="685800" y="1675638"/>
            <a:ext cx="10820095" cy="329184"/>
          </a:xfrm>
          <a:prstGeom prst="rect">
            <a:avLst/>
          </a:prstGeom>
          <a:noFill/>
          <a:ln>
            <a:noFill/>
          </a:ln>
        </p:spPr>
        <p:txBody>
          <a:bodyPr wrap="square" lIns="36576" tIns="27432" rIns="36576" bIns="27432" anchor="t">
            <a:noAutofit/>
          </a:bodyPr>
          <a:lstStyle/>
          <a:p>
            <a:pPr algn="l">
              <a:lnSpc>
                <a:spcPct val="100000"/>
              </a:lnSpc>
            </a:pPr>
            <a:r>
              <a:rPr lang="en-US" sz="1800" dirty="0">
                <a:solidFill>
                  <a:srgbClr val="16171D"/>
                </a:solidFill>
                <a:latin typeface="Segoe UI"/>
                <a:cs typeface="Segoe UI"/>
              </a:rPr>
              <a:t xml:space="preserve">Bell work: </a:t>
            </a:r>
            <a:r>
              <a:rPr lang="en-US" sz="1800" dirty="0" b="1">
                <a:solidFill>
                  <a:srgbClr val="3050B8"/>
                </a:solidFill>
                <a:latin typeface="Segoe UI"/>
                <a:cs typeface="Segoe UI"/>
                <a:hlinkClick r:id="rId3"/>
              </a:rPr>
              <a:t xml:space="preserve">Day 1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4"/>
              </a:rPr>
              <a:t xml:space="preserve">Day 2 →</a:t>
            </a:r>
            <a:r>
              <a:rPr lang="en-US" sz="1800" dirty="0">
                <a:solidFill>
                  <a:srgbClr val="16171D"/>
                </a:solidFill>
                <a:latin typeface="Segoe UI"/>
                <a:cs typeface="Segoe UI"/>
              </a:rPr>
              <a:t xml:space="preserve"> | Practice: </a:t>
            </a:r>
            <a:r>
              <a:rPr lang="en-US" sz="1800" dirty="0" b="1">
                <a:solidFill>
                  <a:srgbClr val="3050B8"/>
                </a:solidFill>
                <a:latin typeface="Segoe UI"/>
                <a:cs typeface="Segoe UI"/>
                <a:hlinkClick r:id="rId5"/>
              </a:rPr>
              <a:t xml:space="preserve">Homework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6"/>
              </a:rPr>
              <a:t xml:space="preserve">Quiz →</a:t>
            </a:r>
            <a:endParaRPr lang="en-US" sz="1800" dirty="0"/>
          </a:p>
        </p:txBody>
      </p:sp>
      <p:sp>
        <p:nvSpPr>
          <p:cNvPr id="5" name="Shape 5"/>
          <p:cNvSpPr txBox="1"/>
          <p:nvPr/>
        </p:nvSpPr>
        <p:spPr>
          <a:xfrm>
            <a:off x="685800" y="2176272"/>
            <a:ext cx="10820095"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IEP pages have 3 answer choices, 6 homework and quiz questions, a reminder card and read-aloud. Allow notes and a calculator, and give extended time as the IEP lists.</a:t>
            </a:r>
            <a:endParaRPr lang="en-US" sz="1575" dirty="0"/>
          </a:p>
        </p:txBody>
      </p:sp>
      <p:sp>
        <p:nvSpPr>
          <p:cNvPr id="6" name="Slide Number 6"/>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14</a:t>
            </a:fld>
          </a:p>
        </p:txBody>
      </p:sp>
    </p:spTree>
  </p:cSld>
  <p:clrMapOvr>
    <a:masterClrMapping/>
  </p:clrMapOvr>
  <p:transition spd="med">
    <p:fade/>
  </p:transition>
</p:sld>
</file>

<file path=ppt/theme/theme1.xml><?xml version="1.0" encoding="utf-8"?>
<a:theme xmlns:a="http://schemas.openxmlformats.org/drawingml/2006/main" name="Determining Slopes of Perpendicular Lines">
  <a:themeElements>
    <a:clrScheme name="Lesson">
      <a:dk1>
        <a:srgbClr val="16171D"/>
      </a:dk1>
      <a:lt1>
        <a:srgbClr val="FFFFFF"/>
      </a:lt1>
      <a:dk2>
        <a:srgbClr val="233D94"/>
      </a:dk2>
      <a:lt2>
        <a:srgbClr val="F7F7FB"/>
      </a:lt2>
      <a:accent1>
        <a:srgbClr val="C9561F"/>
      </a:accent1>
      <a:accent2>
        <a:srgbClr val="3050B8"/>
      </a:accent2>
      <a:accent3>
        <a:srgbClr val="4F8A3C"/>
      </a:accent3>
      <a:accent4>
        <a:srgbClr val="7A5AC8"/>
      </a:accent4>
      <a:accent5>
        <a:srgbClr val="C23B6B"/>
      </a:accent5>
      <a:accent6>
        <a:srgbClr val="4F8A3C"/>
      </a:accent6>
      <a:hlink>
        <a:srgbClr val="3050B8"/>
      </a:hlink>
      <a:folHlink>
        <a:srgbClr val="7A5AC8"/>
      </a:folHlink>
    </a:clrScheme>
    <a:fontScheme name="Lesson">
      <a:majorFont>
        <a:latin typeface="Segoe UI"/>
        <a:ea typeface=""/>
        <a:cs typeface=""/>
      </a:majorFont>
      <a:minorFont>
        <a:latin typeface="Segoe UI"/>
        <a:ea typeface=""/>
        <a:cs typeface=""/>
      </a:minorFont>
    </a:fontScheme>
    <a:fmtScheme name="Lesson">
      <a:fillStyleLst>
        <a:solidFill>
          <a:schemeClr val="phClr"/>
        </a:solidFill>
        <a:solidFill>
          <a:schemeClr val="phClr"/>
        </a:solidFill>
        <a:solidFill>
          <a:schemeClr val="phClr"/>
        </a:solidFill>
      </a:fillStyleLst>
      <a:lnStyleLst>
        <a:ln w="9525" cap="flat" cmpd="sng" algn="ctr">
          <a:solidFill>
            <a:schemeClr val="phClr"/>
          </a:solidFill>
          <a:prstDash val="solid"/>
        </a:ln>
        <a:ln w="9525" cap="flat" cmpd="sng" algn="ctr">
          <a:solidFill>
            <a:schemeClr val="phClr"/>
          </a:solidFill>
          <a:prstDash val="solid"/>
        </a:ln>
        <a:ln w="9525"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ppt/theme/theme2.xml><?xml version="1.0" encoding="utf-8"?>
<a:theme xmlns:a="http://schemas.openxmlformats.org/drawingml/2006/main" name="Notes">
  <a:themeElements>
    <a:clrScheme name="Lesson">
      <a:dk1>
        <a:srgbClr val="16171D"/>
      </a:dk1>
      <a:lt1>
        <a:srgbClr val="FFFFFF"/>
      </a:lt1>
      <a:dk2>
        <a:srgbClr val="233D94"/>
      </a:dk2>
      <a:lt2>
        <a:srgbClr val="F7F7FB"/>
      </a:lt2>
      <a:accent1>
        <a:srgbClr val="C9561F"/>
      </a:accent1>
      <a:accent2>
        <a:srgbClr val="3050B8"/>
      </a:accent2>
      <a:accent3>
        <a:srgbClr val="4F8A3C"/>
      </a:accent3>
      <a:accent4>
        <a:srgbClr val="7A5AC8"/>
      </a:accent4>
      <a:accent5>
        <a:srgbClr val="C23B6B"/>
      </a:accent5>
      <a:accent6>
        <a:srgbClr val="4F8A3C"/>
      </a:accent6>
      <a:hlink>
        <a:srgbClr val="3050B8"/>
      </a:hlink>
      <a:folHlink>
        <a:srgbClr val="7A5AC8"/>
      </a:folHlink>
    </a:clrScheme>
    <a:fontScheme name="Lesson">
      <a:majorFont>
        <a:latin typeface="Segoe UI"/>
        <a:ea typeface=""/>
        <a:cs typeface=""/>
      </a:majorFont>
      <a:minorFont>
        <a:latin typeface="Segoe UI"/>
        <a:ea typeface=""/>
        <a:cs typeface=""/>
      </a:minorFont>
    </a:fontScheme>
    <a:fmtScheme name="Lesson">
      <a:fillStyleLst>
        <a:solidFill>
          <a:schemeClr val="phClr"/>
        </a:solidFill>
        <a:solidFill>
          <a:schemeClr val="phClr"/>
        </a:solidFill>
        <a:solidFill>
          <a:schemeClr val="phClr"/>
        </a:solidFill>
      </a:fillStyleLst>
      <a:lnStyleLst>
        <a:ln w="9525" cap="flat" cmpd="sng" algn="ctr">
          <a:solidFill>
            <a:schemeClr val="phClr"/>
          </a:solidFill>
          <a:prstDash val="solid"/>
        </a:ln>
        <a:ln w="9525" cap="flat" cmpd="sng" algn="ctr">
          <a:solidFill>
            <a:schemeClr val="phClr"/>
          </a:solidFill>
          <a:prstDash val="solid"/>
        </a:ln>
        <a:ln w="9525"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docProps/app.xml><?xml version="1.0" encoding="utf-8"?>
<Properties xmlns="http://schemas.openxmlformats.org/officeDocument/2006/extended-properties">
  <Application>Microsoft Office PowerPoint</Application>
  <Slides>14</Slides>
  <Notes>14</Notes>
</Properties>
</file>

<file path=docProps/core.xml><?xml version="1.0" encoding="utf-8"?>
<cp:coreProperties xmlns:cp="http://schemas.openxmlformats.org/package/2006/metadata/core-properties" xmlns:dc="http://purl.org/dc/elements/1.1/">
  <dc:title>Determining Slopes of Perpendicular Lines</dc:title>
  <dc:subject>Bluebonnet Algebra I</dc:subject>
</cp:coreProperties>
</file>