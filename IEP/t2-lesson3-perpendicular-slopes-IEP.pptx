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
  </p:notes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theme" Target="theme/theme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ableStyles" Target="tableStyles.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Notes</a:t>
            </a: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400" kern="1200">
        <a:solidFill>
          <a:schemeClr val="tx1"/>
        </a:solidFill>
        <a:latin typeface="+mn-lt"/>
        <a:ea typeface="+mn-ea"/>
        <a:cs typeface="+mn-cs"/>
      </a:defRPr>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IEP version of Topic 2 Lesson 3: a modified lesson that keeps the core skills and cuts the number of items. Each skill follows I do (teacher models), We do (together, with sentence frames), You do (student tries, then reveal). Click to reveal each answer. The bell work for every day follows this slide (the same questions as the online bell work); skip to the current day. Apply each student's IEP accommodations too: extended time, read-aloud, breaks, calculator, small group.</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1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this up as students walk in (about 5 minutes). The same 4 questions are on the online IEP Day 2 bell work, which shows the same formula under each question and these steps after each answer. Click to reveal one answer at a time; read each step aloud and point to where the formula is used.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slide up, or give students a printed copy, while they work.</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each: the product should be −1.</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each step; point to the steps slide.</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teacher or assistant: click once for each step. Read the step aloud, and before each click ask the student what to do next. Students check their own paper and fix any mistake in a different color.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try all items before revealing. Students may use the steps slide and their notes. After each answer, click once per step and read it aloud so students can find where their work went wrong.</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gGrid">
          <a:fgClr>
            <a:srgbClr val="E6E8F2"/>
          </a:fgClr>
          <a:bgClr>
            <a:srgbClr val="F7F7FB"/>
          </a:bgClr>
        </a:pattFill>
        <a:effectLst/>
      </p:bgPr>
    </p:bg>
    <p:spTree>
      <p:nvGrpSpPr>
        <p:cNvPr id="1" name=""/>
        <p:cNvGrpSpPr/>
        <p:nvPr/>
      </p:nvGrpSpPr>
      <p:grpSpPr>
        <a:xfrm>
          <a:off x="0" y="0"/>
          <a:ext cx="0" cy="0"/>
          <a:chOff x="0" y="0"/>
          <a:chExt cx="0" cy="0"/>
        </a:xfrm>
      </p:grpSpPr>
      <p:sp>
        <p:nvSpPr>
          <p:cNvPr id="101" name="Brand 101"/>
          <p:cNvSpPr/>
          <p:nvPr userDrawn="1"/>
        </p:nvSpPr>
        <p:spPr>
          <a:xfrm>
            <a:off x="9631375" y="128016"/>
            <a:ext cx="274320" cy="274320"/>
          </a:xfrm>
          <a:prstGeom prst="roundRect">
            <a:avLst>
              <a:gd name="adj" fmla="val 25000"/>
            </a:avLst>
          </a:prstGeom>
          <a:solidFill>
            <a:srgbClr val="3050B8"/>
          </a:solidFill>
          <a:ln>
            <a:noFill/>
          </a:ln>
        </p:spPr>
      </p:sp>
      <p:sp>
        <p:nvSpPr>
          <p:cNvPr id="102" name="Brand 102"/>
          <p:cNvSpPr/>
          <p:nvPr userDrawn="1"/>
        </p:nvSpPr>
        <p:spPr>
          <a:xfrm>
            <a:off x="9748818" y="172593"/>
            <a:ext cx="39434" cy="39434"/>
          </a:xfrm>
          <a:prstGeom prst="ellipse">
            <a:avLst/>
          </a:prstGeom>
          <a:solidFill>
            <a:srgbClr val="FFFFFF"/>
          </a:solidFill>
          <a:ln>
            <a:noFill/>
          </a:ln>
        </p:spPr>
      </p:sp>
      <p:sp>
        <p:nvSpPr>
          <p:cNvPr id="103" name="Brand 103"/>
          <p:cNvSpPr/>
          <p:nvPr userDrawn="1"/>
        </p:nvSpPr>
        <p:spPr>
          <a:xfrm>
            <a:off x="9719672" y="207740"/>
            <a:ext cx="42862" cy="42862"/>
          </a:xfrm>
          <a:prstGeom prst="ellipse">
            <a:avLst/>
          </a:prstGeom>
          <a:solidFill>
            <a:srgbClr val="FFFFFF">
              <a:alpha val="92000"/>
            </a:srgbClr>
          </a:solidFill>
          <a:ln>
            <a:noFill/>
          </a:ln>
        </p:spPr>
      </p:sp>
      <p:sp>
        <p:nvSpPr>
          <p:cNvPr id="104" name="Brand 104"/>
          <p:cNvSpPr/>
          <p:nvPr userDrawn="1"/>
        </p:nvSpPr>
        <p:spPr>
          <a:xfrm>
            <a:off x="9774536" y="207740"/>
            <a:ext cx="42862" cy="42862"/>
          </a:xfrm>
          <a:prstGeom prst="ellipse">
            <a:avLst/>
          </a:prstGeom>
          <a:solidFill>
            <a:srgbClr val="FFFFFF">
              <a:alpha val="92000"/>
            </a:srgbClr>
          </a:solidFill>
          <a:ln>
            <a:noFill/>
          </a:ln>
        </p:spPr>
      </p:sp>
      <p:sp>
        <p:nvSpPr>
          <p:cNvPr id="105" name="Brand 105"/>
          <p:cNvSpPr/>
          <p:nvPr userDrawn="1"/>
        </p:nvSpPr>
        <p:spPr>
          <a:xfrm>
            <a:off x="9746247" y="230886"/>
            <a:ext cx="44577" cy="44577"/>
          </a:xfrm>
          <a:prstGeom prst="ellipse">
            <a:avLst/>
          </a:prstGeom>
          <a:solidFill>
            <a:srgbClr val="FFFFFF"/>
          </a:solidFill>
          <a:ln>
            <a:noFill/>
          </a:ln>
        </p:spPr>
      </p:sp>
      <p:sp>
        <p:nvSpPr>
          <p:cNvPr id="106" name="Brand 106"/>
          <p:cNvSpPr/>
          <p:nvPr userDrawn="1"/>
        </p:nvSpPr>
        <p:spPr>
          <a:xfrm>
            <a:off x="9709385" y="255746"/>
            <a:ext cx="46292" cy="46292"/>
          </a:xfrm>
          <a:prstGeom prst="ellipse">
            <a:avLst/>
          </a:prstGeom>
          <a:solidFill>
            <a:srgbClr val="FFFFFF">
              <a:alpha val="82000"/>
            </a:srgbClr>
          </a:solidFill>
          <a:ln>
            <a:noFill/>
          </a:ln>
        </p:spPr>
      </p:sp>
      <p:sp>
        <p:nvSpPr>
          <p:cNvPr id="107" name="Brand 107"/>
          <p:cNvSpPr/>
          <p:nvPr userDrawn="1"/>
        </p:nvSpPr>
        <p:spPr>
          <a:xfrm>
            <a:off x="9781394" y="255746"/>
            <a:ext cx="46292" cy="46292"/>
          </a:xfrm>
          <a:prstGeom prst="ellipse">
            <a:avLst/>
          </a:prstGeom>
          <a:solidFill>
            <a:srgbClr val="FFFFFF">
              <a:alpha val="82000"/>
            </a:srgbClr>
          </a:solidFill>
          <a:ln>
            <a:noFill/>
          </a:ln>
        </p:spPr>
      </p:sp>
      <p:sp>
        <p:nvSpPr>
          <p:cNvPr id="108" name="Brand 108"/>
          <p:cNvSpPr/>
          <p:nvPr userDrawn="1"/>
        </p:nvSpPr>
        <p:spPr>
          <a:xfrm>
            <a:off x="9761677" y="303752"/>
            <a:ext cx="13716" cy="55721"/>
          </a:xfrm>
          <a:prstGeom prst="roundRect">
            <a:avLst>
              <a:gd name="adj" fmla="val 50000"/>
            </a:avLst>
          </a:prstGeom>
          <a:solidFill>
            <a:srgbClr val="9FD18B"/>
          </a:solidFill>
          <a:ln>
            <a:noFill/>
          </a:ln>
        </p:spPr>
      </p:sp>
      <p:sp>
        <p:nvSpPr>
          <p:cNvPr id="109" name="Shape 109"/>
          <p:cNvSpPr txBox="1"/>
          <p:nvPr/>
        </p:nvSpPr>
        <p:spPr>
          <a:xfrm>
            <a:off x="9960559" y="109728"/>
            <a:ext cx="1737360" cy="310896"/>
          </a:xfrm>
          <a:prstGeom prst="rect">
            <a:avLst/>
          </a:prstGeom>
          <a:noFill/>
          <a:ln>
            <a:noFill/>
          </a:ln>
        </p:spPr>
        <p:txBody>
          <a:bodyPr wrap="square" lIns="18288" tIns="0" rIns="18288" bIns="0" anchor="ctr">
            <a:noAutofit/>
          </a:bodyPr>
          <a:lstStyle/>
          <a:p>
            <a:pPr algn="l">
              <a:lnSpc>
                <a:spcPct val="100000"/>
              </a:lnSpc>
            </a:pPr>
            <a:r>
              <a:rPr lang="en-US" sz="1125" dirty="0">
                <a:solidFill>
                  <a:srgbClr val="16171D"/>
                </a:solidFill>
                <a:latin typeface="Segoe UI"/>
                <a:cs typeface="Segoe UI"/>
              </a:rPr>
              <a:t xml:space="preserve">Bluebonnet </a:t>
            </a:r>
            <a:r>
              <a:rPr lang="en-US" sz="1125" dirty="0" b="1">
                <a:solidFill>
                  <a:srgbClr val="3050B8"/>
                </a:solidFill>
                <a:latin typeface="Segoe UI"/>
                <a:cs typeface="Segoe UI"/>
              </a:rPr>
              <a:t xml:space="preserve">Algebra I</a:t>
            </a:r>
            <a:endParaRPr lang="en-US" sz="1125" dirty="0"/>
          </a:p>
        </p:txBody>
      </p:sp>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lgebra1m2u1l4.vercel.app/IEP/t2-lesson3-bellwork-day1-IEP.html" TargetMode="External"/><Relationship Id="rId4" Type="http://schemas.openxmlformats.org/officeDocument/2006/relationships/hyperlink" Target="https://algebra1m2u1l4.vercel.app/IEP/t2-lesson3-bellwork-day2-IEP.html" TargetMode="External"/><Relationship Id="rId5" Type="http://schemas.openxmlformats.org/officeDocument/2006/relationships/hyperlink" Target="https://algebra1m2u1l4.vercel.app/IEP/t2-lesson3-homework-IEP.html" TargetMode="External"/><Relationship Id="rId6" Type="http://schemas.openxmlformats.org/officeDocument/2006/relationships/hyperlink" Target="https://algebra1m2u1l4.vercel.app/IEP/t2-lesson3-quiz-IEP.html"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hyperlink" Target="https://algebra1m2u1l4.vercel.app/IEP/t2-lesson3-bellwork-day1-IEP.html" TargetMode="External"/><Relationship Id="rId4" Type="http://schemas.openxmlformats.org/officeDocument/2006/relationships/hyperlink" Target="https://algebra1m2u1l4.vercel.app/IEP/t2-lesson3-bellwork-day2-IEP.html" TargetMode="External"/><Relationship Id="rId5" Type="http://schemas.openxmlformats.org/officeDocument/2006/relationships/hyperlink" Target="https://algebra1m2u1l4.vercel.app/IEP/t2-lesson3-homework-IEP.html" TargetMode="External"/><Relationship Id="rId6" Type="http://schemas.openxmlformats.org/officeDocument/2006/relationships/hyperlink" Target="https://algebra1m2u1l4.vercel.app/IEP/t2-lesson3-quiz-IEP.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Bluebonnet Algebra I · Module 2 · Topic 2 · Lesson 3 · IEP Version</a:t>
            </a:r>
            <a:endParaRPr lang="en-US" sz="1200" dirty="0"/>
          </a:p>
        </p:txBody>
      </p:sp>
      <p:sp>
        <p:nvSpPr>
          <p:cNvPr id="3" name="Shape 3"/>
          <p:cNvSpPr txBox="1"/>
          <p:nvPr/>
        </p:nvSpPr>
        <p:spPr>
          <a:xfrm>
            <a:off x="685800" y="961644"/>
            <a:ext cx="10820095" cy="740664"/>
          </a:xfrm>
          <a:prstGeom prst="rect">
            <a:avLst/>
          </a:prstGeom>
          <a:noFill/>
          <a:ln>
            <a:noFill/>
          </a:ln>
        </p:spPr>
        <p:txBody>
          <a:bodyPr wrap="square" lIns="36576" tIns="27432" rIns="36576" bIns="27432" anchor="t">
            <a:noAutofit/>
          </a:bodyPr>
          <a:lstStyle/>
          <a:p>
            <a:pPr algn="l">
              <a:lnSpc>
                <a:spcPct val="100000"/>
              </a:lnSpc>
            </a:pPr>
            <a:r>
              <a:rPr lang="en-US" sz="4500" dirty="0" b="1">
                <a:solidFill>
                  <a:srgbClr val="16171D"/>
                </a:solidFill>
                <a:latin typeface="Segoe UI"/>
                <a:cs typeface="Segoe UI"/>
              </a:rPr>
              <a:t xml:space="preserve">Slopes of Perpendicular Lines</a:t>
            </a:r>
            <a:endParaRPr lang="en-US" sz="4500" dirty="0"/>
          </a:p>
        </p:txBody>
      </p:sp>
      <p:sp>
        <p:nvSpPr>
          <p:cNvPr id="4" name="Shape 4"/>
          <p:cNvSpPr txBox="1"/>
          <p:nvPr/>
        </p:nvSpPr>
        <p:spPr>
          <a:xfrm>
            <a:off x="685800" y="1911858"/>
            <a:ext cx="10820095" cy="489204"/>
          </a:xfrm>
          <a:prstGeom prst="rect">
            <a:avLst/>
          </a:prstGeom>
          <a:noFill/>
          <a:ln>
            <a:noFill/>
          </a:ln>
        </p:spPr>
        <p:txBody>
          <a:bodyPr wrap="square" lIns="36576" tIns="27432" rIns="36576" bIns="27432" anchor="t">
            <a:noAutofit/>
          </a:bodyPr>
          <a:lstStyle/>
          <a:p>
            <a:pPr algn="l">
              <a:lnSpc>
                <a:spcPct val="100000"/>
              </a:lnSpc>
            </a:pPr>
            <a:r>
              <a:rPr lang="en-US" sz="2850" dirty="0" b="1" i="1">
                <a:solidFill>
                  <a:srgbClr val="C9561F"/>
                </a:solidFill>
                <a:latin typeface="Cambria"/>
                <a:cs typeface="Cambria"/>
              </a:rPr>
              <a:t xml:space="preserve">m</a:t>
            </a:r>
            <a:r>
              <a:rPr lang="en-US" sz="2422" dirty="0" b="1" baseline="-25000">
                <a:solidFill>
                  <a:srgbClr val="C9561F"/>
                </a:solidFill>
                <a:latin typeface="Cambria"/>
                <a:cs typeface="Cambria"/>
              </a:rPr>
              <a:t xml:space="preserve">1</a:t>
            </a:r>
            <a:r>
              <a:rPr lang="en-US" sz="2850" dirty="0">
                <a:solidFill>
                  <a:srgbClr val="16171D"/>
                </a:solidFill>
                <a:latin typeface="Cambria"/>
                <a:cs typeface="Cambria"/>
              </a:rPr>
              <a:t xml:space="preserve"> · </a:t>
            </a:r>
            <a:r>
              <a:rPr lang="en-US" sz="2850" dirty="0" b="1" i="1">
                <a:solidFill>
                  <a:srgbClr val="C9561F"/>
                </a:solidFill>
                <a:latin typeface="Cambria"/>
                <a:cs typeface="Cambria"/>
              </a:rPr>
              <a:t xml:space="preserve">m</a:t>
            </a:r>
            <a:r>
              <a:rPr lang="en-US" sz="2422" dirty="0" b="1" baseline="-25000">
                <a:solidFill>
                  <a:srgbClr val="C9561F"/>
                </a:solidFill>
                <a:latin typeface="Cambria"/>
                <a:cs typeface="Cambria"/>
              </a:rPr>
              <a:t xml:space="preserve">2</a:t>
            </a:r>
            <a:r>
              <a:rPr lang="en-US" sz="2850" dirty="0">
                <a:solidFill>
                  <a:srgbClr val="16171D"/>
                </a:solidFill>
                <a:latin typeface="Cambria"/>
                <a:cs typeface="Cambria"/>
              </a:rPr>
              <a:t xml:space="preserve"> = −1</a:t>
            </a:r>
            <a:endParaRPr lang="en-US" sz="2850" dirty="0"/>
          </a:p>
        </p:txBody>
      </p:sp>
      <p:sp>
        <p:nvSpPr>
          <p:cNvPr id="5" name="Shape 5"/>
          <p:cNvSpPr txBox="1"/>
          <p:nvPr/>
        </p:nvSpPr>
        <p:spPr>
          <a:xfrm>
            <a:off x="685800" y="2648712"/>
            <a:ext cx="108200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I can…</a:t>
            </a:r>
            <a:endParaRPr lang="en-US" sz="2100" dirty="0"/>
          </a:p>
        </p:txBody>
      </p:sp>
      <p:sp>
        <p:nvSpPr>
          <p:cNvPr id="6" name="Shape 6"/>
          <p:cNvSpPr txBox="1"/>
          <p:nvPr/>
        </p:nvSpPr>
        <p:spPr>
          <a:xfrm>
            <a:off x="685800" y="319506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find the slope of a perpendicular line.</a:t>
            </a:r>
            <a:endParaRPr lang="en-US" sz="1950" dirty="0"/>
          </a:p>
        </p:txBody>
      </p:sp>
      <p:sp>
        <p:nvSpPr>
          <p:cNvPr id="7" name="Shape 7"/>
          <p:cNvSpPr txBox="1"/>
          <p:nvPr/>
        </p:nvSpPr>
        <p:spPr>
          <a:xfrm>
            <a:off x="685800" y="371856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equations of horizontal and vertical lines.</a:t>
            </a:r>
            <a:endParaRPr lang="en-US" sz="1950" dirty="0"/>
          </a:p>
        </p:txBody>
      </p:sp>
      <p:sp>
        <p:nvSpPr>
          <p:cNvPr id="8" name="Shape 8"/>
          <p:cNvSpPr txBox="1"/>
          <p:nvPr/>
        </p:nvSpPr>
        <p:spPr>
          <a:xfrm>
            <a:off x="685800" y="42420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 write the equation of a perpendicular line through a point.</a:t>
            </a:r>
            <a:endParaRPr lang="en-US" sz="1950" dirty="0"/>
          </a:p>
        </p:txBody>
      </p:sp>
      <p:sp>
        <p:nvSpPr>
          <p:cNvPr id="9" name="Shape 9"/>
          <p:cNvSpPr txBox="1"/>
          <p:nvPr/>
        </p:nvSpPr>
        <p:spPr>
          <a:xfrm>
            <a:off x="685800" y="482269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10" name="Shape 10"/>
          <p:cNvSpPr txBox="1"/>
          <p:nvPr/>
        </p:nvSpPr>
        <p:spPr>
          <a:xfrm>
            <a:off x="685800" y="6185916"/>
            <a:ext cx="10820095" cy="397764"/>
          </a:xfrm>
          <a:prstGeom prst="rect">
            <a:avLst/>
          </a:prstGeom>
          <a:noFill/>
          <a:ln>
            <a:noFill/>
          </a:ln>
        </p:spPr>
        <p:txBody>
          <a:bodyPr wrap="square" lIns="36576" tIns="27432" rIns="36576" bIns="27432" anchor="t">
            <a:noAutofit/>
          </a:bodyPr>
          <a:lstStyle/>
          <a:p>
            <a:pPr algn="l">
              <a:lnSpc>
                <a:spcPct val="100000"/>
              </a:lnSpc>
            </a:pPr>
            <a:r>
              <a:rPr lang="en-US" sz="1125" dirty="0">
                <a:solidFill>
                  <a:srgbClr val="5F6272"/>
                </a:solidFill>
                <a:latin typeface="Segoe UI"/>
                <a:cs typeface="Segoe UI"/>
              </a:rPr>
              <a:t xml:space="preserve">Based on Bluebonnet Learning Secondary Mathematics, Algebra I (©2024–2025 Texas Education Agency, portions ©2021 Carnegie Learning, Inc.), licensed CC BY-NC 4.0. A private site for Algebra I teachers.</a:t>
            </a:r>
            <a:endParaRPr lang="en-US" sz="1125" dirty="0"/>
          </a:p>
        </p:txBody>
      </p:sp>
      <p:sp>
        <p:nvSpPr>
          <p:cNvPr id="11" name="Slide Number 1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a:t>
            </a:fld>
          </a:p>
        </p:txBody>
      </p:sp>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1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What is the reciprocal of </a:t>
            </a:r>
            <a:r>
              <a:rPr lang="en-US" sz="1575" dirty="0">
                <a:solidFill>
                  <a:srgbClr val="16171D"/>
                </a:solidFill>
                <a:latin typeface="Cambria"/>
                <a:cs typeface="Cambria"/>
              </a:rPr>
              <a:t xml:space="preserve">⅔</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12293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reciprocal: flip the fraction</a:t>
            </a:r>
            <a:endParaRPr lang="en-US" sz="1575" dirty="0"/>
          </a:p>
        </p:txBody>
      </p:sp>
      <p:sp>
        <p:nvSpPr>
          <p:cNvPr id="6" name="Shape 6"/>
          <p:cNvSpPr txBox="1"/>
          <p:nvPr/>
        </p:nvSpPr>
        <p:spPr>
          <a:xfrm>
            <a:off x="895350" y="245592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⅔</a:t>
            </a:r>
            <a:r>
              <a:rPr lang="en-US" sz="1425" dirty="0">
                <a:solidFill>
                  <a:srgbClr val="16171D"/>
                </a:solidFill>
                <a:latin typeface="Segoe UI"/>
                <a:cs typeface="Segoe UI"/>
              </a:rPr>
              <a:t xml:space="preserve"> has 2 on top and 3 on the bottom. Flip them: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⅔ · 3/2 = 1</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379399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396544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Rotate the point </a:t>
            </a:r>
            <a:r>
              <a:rPr lang="en-US" sz="1575" dirty="0">
                <a:solidFill>
                  <a:srgbClr val="16171D"/>
                </a:solidFill>
                <a:latin typeface="Cambria"/>
                <a:cs typeface="Cambria"/>
              </a:rPr>
              <a:t xml:space="preserve">(8, 5)</a:t>
            </a:r>
            <a:r>
              <a:rPr lang="en-US" sz="1575" dirty="0">
                <a:solidFill>
                  <a:srgbClr val="16171D"/>
                </a:solidFill>
                <a:latin typeface="Segoe UI"/>
                <a:cs typeface="Segoe UI"/>
              </a:rPr>
              <a:t xml:space="preserve"> 90° counterclockwise about the origin. Where does it go?</a:t>
            </a:r>
            <a:endParaRPr lang="en-US" sz="1575" dirty="0"/>
          </a:p>
        </p:txBody>
      </p:sp>
      <p:sp>
        <p:nvSpPr>
          <p:cNvPr id="9" name="Shape 9"/>
          <p:cNvSpPr txBox="1"/>
          <p:nvPr/>
        </p:nvSpPr>
        <p:spPr>
          <a:xfrm>
            <a:off x="895350"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90° counterclockwise: </a:t>
            </a:r>
            <a:r>
              <a:rPr lang="en-US" sz="1575" dirty="0">
                <a:solidFill>
                  <a:srgbClr val="16171D"/>
                </a:solidFill>
                <a:latin typeface="Cambria"/>
                <a:cs typeface="Cambria"/>
              </a:rPr>
              <a:t xml:space="preserve">(</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a:t>
            </a:r>
            <a:endParaRPr lang="en-US" sz="1575" dirty="0"/>
          </a:p>
        </p:txBody>
      </p:sp>
      <p:sp>
        <p:nvSpPr>
          <p:cNvPr id="10" name="Shape 10"/>
          <p:cNvSpPr txBox="1"/>
          <p:nvPr/>
        </p:nvSpPr>
        <p:spPr>
          <a:xfrm>
            <a:off x="895350" y="4871466"/>
            <a:ext cx="2431835"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 8)</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8</a:t>
            </a:r>
            <a:r>
              <a:rPr lang="en-US" sz="1425" dirty="0">
                <a:solidFill>
                  <a:srgbClr val="16171D"/>
                </a:solidFill>
                <a:latin typeface="Segoe UI"/>
                <a:cs typeface="Segoe UI"/>
              </a:rPr>
              <a:t xml:space="preserve"> and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(−5, 8)</a:t>
            </a:r>
            <a:r>
              <a:rPr lang="en-US" sz="1425" dirty="0">
                <a:solidFill>
                  <a:srgbClr val="16171D"/>
                </a:solidFill>
                <a:latin typeface="Segoe UI"/>
                <a:cs typeface="Segoe UI"/>
              </a:rPr>
              <a:t xml:space="preserve">.</a:t>
            </a:r>
            <a:endParaRPr lang="en-US" sz="1425" dirty="0"/>
          </a:p>
        </p:txBody>
      </p:sp>
      <p:sp>
        <p:nvSpPr>
          <p:cNvPr id="15" name="Shape 15"/>
          <p:cNvSpPr txBox="1"/>
          <p:nvPr/>
        </p:nvSpPr>
        <p:spPr>
          <a:xfrm>
            <a:off x="6210148"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What is the slope of the segment from </a:t>
            </a:r>
            <a:r>
              <a:rPr lang="en-US" sz="1575" dirty="0">
                <a:solidFill>
                  <a:srgbClr val="16171D"/>
                </a:solidFill>
                <a:latin typeface="Cambria"/>
                <a:cs typeface="Cambria"/>
              </a:rPr>
              <a:t xml:space="preserve">(0, 0)</a:t>
            </a:r>
            <a:r>
              <a:rPr lang="en-US" sz="1575" dirty="0">
                <a:solidFill>
                  <a:srgbClr val="16171D"/>
                </a:solidFill>
                <a:latin typeface="Segoe UI"/>
                <a:cs typeface="Segoe UI"/>
              </a:rPr>
              <a:t xml:space="preserve"> to </a:t>
            </a:r>
            <a:r>
              <a:rPr lang="en-US" sz="1575" dirty="0">
                <a:solidFill>
                  <a:srgbClr val="16171D"/>
                </a:solidFill>
                <a:latin typeface="Cambria"/>
                <a:cs typeface="Cambria"/>
              </a:rPr>
              <a:t xml:space="preserve">(8, 5)</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4" name="Shape 14"/>
          <p:cNvSpPr txBox="1"/>
          <p:nvPr/>
        </p:nvSpPr>
        <p:spPr>
          <a:xfrm>
            <a:off x="6419698" y="2695956"/>
            <a:ext cx="386841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5/8</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5 − 0 = 5</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8 − 0 = 8</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5 ÷ 8 = 5/8</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4034028"/>
            <a:ext cx="5295748" cy="271653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420547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A line passes through the points </a:t>
            </a:r>
            <a:r>
              <a:rPr lang="en-US" sz="1575" dirty="0">
                <a:solidFill>
                  <a:srgbClr val="16171D"/>
                </a:solidFill>
                <a:latin typeface="Cambria"/>
                <a:cs typeface="Cambria"/>
              </a:rPr>
              <a:t xml:space="preserve">(−1, 4)</a:t>
            </a:r>
            <a:r>
              <a:rPr lang="en-US" sz="1575" dirty="0">
                <a:solidFill>
                  <a:srgbClr val="16171D"/>
                </a:solidFill>
                <a:latin typeface="Segoe UI"/>
                <a:cs typeface="Segoe UI"/>
              </a:rPr>
              <a:t xml:space="preserve"> and </a:t>
            </a:r>
            <a:r>
              <a:rPr lang="en-US" sz="1575" dirty="0">
                <a:solidFill>
                  <a:srgbClr val="16171D"/>
                </a:solidFill>
                <a:latin typeface="Cambria"/>
                <a:cs typeface="Cambria"/>
              </a:rPr>
              <a:t xml:space="preserve">(2, −2)</a:t>
            </a:r>
            <a:r>
              <a:rPr lang="en-US" sz="1575" dirty="0">
                <a:solidFill>
                  <a:srgbClr val="16171D"/>
                </a:solidFill>
                <a:latin typeface="Segoe UI"/>
                <a:cs typeface="Segoe UI"/>
              </a:rPr>
              <a:t xml:space="preserve">. What is the slope of the line?</a:t>
            </a:r>
            <a:endParaRPr lang="en-US" sz="1575" dirty="0"/>
          </a:p>
        </p:txBody>
      </p:sp>
      <p:sp>
        <p:nvSpPr>
          <p:cNvPr id="17" name="Shape 17"/>
          <p:cNvSpPr txBox="1"/>
          <p:nvPr/>
        </p:nvSpPr>
        <p:spPr>
          <a:xfrm>
            <a:off x="6419698" y="477850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a:t>
            </a:r>
            <a:r>
              <a:rPr lang="en-US" sz="1575" dirty="0" i="1">
                <a:solidFill>
                  <a:srgbClr val="16171D"/>
                </a:solidFill>
                <a:latin typeface="Cambria"/>
                <a:cs typeface="Cambria"/>
              </a:rPr>
              <a:t xml:space="preserve">m</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₁)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₂ −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₁)</a:t>
            </a:r>
            <a:endParaRPr lang="en-US" sz="1575" dirty="0"/>
          </a:p>
        </p:txBody>
      </p:sp>
      <p:sp>
        <p:nvSpPr>
          <p:cNvPr id="18" name="Shape 18"/>
          <p:cNvSpPr txBox="1"/>
          <p:nvPr/>
        </p:nvSpPr>
        <p:spPr>
          <a:xfrm>
            <a:off x="6419698" y="5111496"/>
            <a:ext cx="4876648" cy="146761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Label the points: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₁,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₁) = (−1, 4)</a:t>
            </a:r>
            <a:r>
              <a:rPr lang="en-US" sz="1425" dirty="0">
                <a:solidFill>
                  <a:srgbClr val="16171D"/>
                </a:solidFill>
                <a:latin typeface="Segoe UI"/>
                <a:cs typeface="Segoe UI"/>
              </a:rPr>
              <a:t xml:space="preserve"> and </a:t>
            </a:r>
            <a:r>
              <a:rPr lang="en-US" sz="1425" dirty="0">
                <a:solidFill>
                  <a:srgbClr val="16171D"/>
                </a:solidFill>
                <a:latin typeface="Cambria"/>
                <a:cs typeface="Cambria"/>
              </a:rPr>
              <a:t xml:space="preserve">(</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₂,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₂) = (2, −2)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y</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−2 − 4 = −6</a:t>
            </a:r>
            <a:r>
              <a:rPr lang="en-US" sz="1425" dirty="0">
                <a:solidFill>
                  <a:srgbClr val="16171D"/>
                </a:solidFill>
                <a:latin typeface="Segoe UI"/>
                <a:cs typeface="Segoe UI"/>
              </a:rPr>
              <a:t xml:space="preserve">. Subtract the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-values: </a:t>
            </a:r>
            <a:r>
              <a:rPr lang="en-US" sz="1425" dirty="0">
                <a:solidFill>
                  <a:srgbClr val="16171D"/>
                </a:solidFill>
                <a:latin typeface="Cambria"/>
                <a:cs typeface="Cambria"/>
              </a:rPr>
              <a:t xml:space="preserve">2 − (−1) = 3</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Divide: </a:t>
            </a:r>
            <a:r>
              <a:rPr lang="en-US" sz="1425" dirty="0">
                <a:solidFill>
                  <a:srgbClr val="16171D"/>
                </a:solidFill>
                <a:latin typeface="Cambria"/>
                <a:cs typeface="Cambria"/>
              </a:rPr>
              <a:t xml:space="preserve">−6 ÷ 3 = −2</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Day 2 · Bell Work · Review</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Warm up: work these on your own</a:t>
            </a:r>
            <a:endParaRPr lang="en-US" sz="3450" dirty="0"/>
          </a:p>
        </p:txBody>
      </p:sp>
      <p:sp>
        <p:nvSpPr>
          <p:cNvPr id="7" name="Shape 7"/>
          <p:cNvSpPr txBox="1"/>
          <p:nvPr/>
        </p:nvSpPr>
        <p:spPr>
          <a:xfrm>
            <a:off x="685800" y="1618488"/>
            <a:ext cx="5295748" cy="228219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Line </a:t>
            </a:r>
            <a:r>
              <a:rPr lang="en-US" sz="1575" dirty="0" i="1">
                <a:solidFill>
                  <a:srgbClr val="16171D"/>
                </a:solidFill>
                <a:latin typeface="Cambria"/>
                <a:cs typeface="Cambria"/>
              </a:rPr>
              <a:t xml:space="preserve">j</a:t>
            </a:r>
            <a:r>
              <a:rPr lang="en-US" sz="1575" dirty="0">
                <a:solidFill>
                  <a:srgbClr val="16171D"/>
                </a:solidFill>
                <a:latin typeface="Segoe UI"/>
                <a:cs typeface="Segoe UI"/>
              </a:rPr>
              <a:t xml:space="preserve"> has slope </a:t>
            </a:r>
            <a:r>
              <a:rPr lang="en-US" sz="1575" dirty="0">
                <a:solidFill>
                  <a:srgbClr val="16171D"/>
                </a:solidFill>
                <a:latin typeface="Cambria"/>
                <a:cs typeface="Cambria"/>
              </a:rPr>
              <a:t xml:space="preserve">⅔</a:t>
            </a:r>
            <a:r>
              <a:rPr lang="en-US" sz="1575" dirty="0">
                <a:solidFill>
                  <a:srgbClr val="16171D"/>
                </a:solidFill>
                <a:latin typeface="Segoe UI"/>
                <a:cs typeface="Segoe UI"/>
              </a:rPr>
              <a:t xml:space="preserve">. Line </a:t>
            </a:r>
            <a:r>
              <a:rPr lang="en-US" sz="1575" dirty="0" i="1">
                <a:solidFill>
                  <a:srgbClr val="16171D"/>
                </a:solidFill>
                <a:latin typeface="Cambria"/>
                <a:cs typeface="Cambria"/>
              </a:rPr>
              <a:t xml:space="preserve">k</a:t>
            </a:r>
            <a:r>
              <a:rPr lang="en-US" sz="1575" dirty="0">
                <a:solidFill>
                  <a:srgbClr val="16171D"/>
                </a:solidFill>
                <a:latin typeface="Segoe UI"/>
                <a:cs typeface="Segoe UI"/>
              </a:rPr>
              <a:t xml:space="preserve"> is perpendicular to it. What is the slope of </a:t>
            </a:r>
            <a:r>
              <a:rPr lang="en-US" sz="1575" dirty="0" i="1">
                <a:solidFill>
                  <a:srgbClr val="16171D"/>
                </a:solidFill>
                <a:latin typeface="Cambria"/>
                <a:cs typeface="Cambria"/>
              </a:rPr>
              <a:t xml:space="preserve">k</a:t>
            </a:r>
            <a:r>
              <a:rPr lang="en-US" sz="1575" dirty="0">
                <a:solidFill>
                  <a:srgbClr val="16171D"/>
                </a:solidFill>
                <a:latin typeface="Segoe UI"/>
                <a:cs typeface="Segoe UI"/>
              </a:rPr>
              <a:t xml:space="preserve">?</a:t>
            </a:r>
            <a:endParaRPr lang="en-US" sz="1575" dirty="0"/>
          </a:p>
        </p:txBody>
      </p:sp>
      <p:sp>
        <p:nvSpPr>
          <p:cNvPr id="5" name="Shape 5"/>
          <p:cNvSpPr txBox="1"/>
          <p:nvPr/>
        </p:nvSpPr>
        <p:spPr>
          <a:xfrm>
            <a:off x="895350"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perpendicular: flip and change the sign</a:t>
            </a:r>
            <a:endParaRPr lang="en-US" sz="1575" dirty="0"/>
          </a:p>
        </p:txBody>
      </p:sp>
      <p:sp>
        <p:nvSpPr>
          <p:cNvPr id="6" name="Shape 6"/>
          <p:cNvSpPr txBox="1"/>
          <p:nvPr/>
        </p:nvSpPr>
        <p:spPr>
          <a:xfrm>
            <a:off x="895350" y="2695956"/>
            <a:ext cx="2910695"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−3/2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Flip </a:t>
            </a:r>
            <a:r>
              <a:rPr lang="en-US" sz="1425" dirty="0">
                <a:solidFill>
                  <a:srgbClr val="16171D"/>
                </a:solidFill>
                <a:latin typeface="Cambria"/>
                <a:cs typeface="Cambria"/>
              </a:rPr>
              <a:t xml:space="preserve">⅔</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Change the sign: </a:t>
            </a:r>
            <a:r>
              <a:rPr lang="en-US" sz="1425" dirty="0">
                <a:solidFill>
                  <a:srgbClr val="16171D"/>
                </a:solidFill>
                <a:latin typeface="Cambria"/>
                <a:cs typeface="Cambria"/>
              </a:rPr>
              <a:t xml:space="preserve">−3/2</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Check: </a:t>
            </a:r>
            <a:r>
              <a:rPr lang="en-US" sz="1425" dirty="0">
                <a:solidFill>
                  <a:srgbClr val="16171D"/>
                </a:solidFill>
                <a:latin typeface="Cambria"/>
                <a:cs typeface="Cambria"/>
              </a:rPr>
              <a:t xml:space="preserve">⅔ · (−3/2) = −1</a:t>
            </a:r>
            <a:r>
              <a:rPr lang="en-US" sz="1425" dirty="0">
                <a:solidFill>
                  <a:srgbClr val="16171D"/>
                </a:solidFill>
                <a:latin typeface="Segoe UI"/>
                <a:cs typeface="Segoe UI"/>
              </a:rPr>
              <a:t xml:space="preserve">.</a:t>
            </a:r>
            <a:endParaRPr lang="en-US" sz="1425" dirty="0"/>
          </a:p>
        </p:txBody>
      </p:sp>
      <p:sp>
        <p:nvSpPr>
          <p:cNvPr id="11" name="Shape 11"/>
          <p:cNvSpPr txBox="1"/>
          <p:nvPr/>
        </p:nvSpPr>
        <p:spPr>
          <a:xfrm>
            <a:off x="685800" y="4034028"/>
            <a:ext cx="5295748" cy="204216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895350" y="4205478"/>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What is the slope of any horizontal line?</a:t>
            </a:r>
            <a:endParaRPr lang="en-US" sz="1575" dirty="0"/>
          </a:p>
        </p:txBody>
      </p:sp>
      <p:sp>
        <p:nvSpPr>
          <p:cNvPr id="9" name="Shape 9"/>
          <p:cNvSpPr txBox="1"/>
          <p:nvPr/>
        </p:nvSpPr>
        <p:spPr>
          <a:xfrm>
            <a:off x="895350" y="453847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slope = rise ÷ run</a:t>
            </a:r>
            <a:endParaRPr lang="en-US" sz="1575" dirty="0"/>
          </a:p>
        </p:txBody>
      </p:sp>
      <p:sp>
        <p:nvSpPr>
          <p:cNvPr id="10" name="Shape 10"/>
          <p:cNvSpPr txBox="1"/>
          <p:nvPr/>
        </p:nvSpPr>
        <p:spPr>
          <a:xfrm>
            <a:off x="895350" y="4871466"/>
            <a:ext cx="4876648" cy="103327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a:solidFill>
                  <a:srgbClr val="16171D"/>
                </a:solidFill>
                <a:latin typeface="Cambria"/>
                <a:cs typeface="Cambria"/>
              </a:rPr>
              <a:t xml:space="preserve">0</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A horizontal line is flat: it never goes up or down, so the rise is 0.</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0 ÷ </a:t>
            </a:r>
            <a:r>
              <a:rPr lang="en-US" sz="1425" dirty="0" i="1">
                <a:solidFill>
                  <a:srgbClr val="16171D"/>
                </a:solidFill>
                <a:latin typeface="Cambria"/>
                <a:cs typeface="Cambria"/>
              </a:rPr>
              <a:t xml:space="preserve">r</a:t>
            </a:r>
            <a:r>
              <a:rPr lang="en-US" sz="1425" dirty="0" i="1">
                <a:solidFill>
                  <a:srgbClr val="16171D"/>
                </a:solidFill>
                <a:latin typeface="Cambria"/>
                <a:cs typeface="Cambria"/>
              </a:rPr>
              <a:t xml:space="preserve">u</a:t>
            </a:r>
            <a:r>
              <a:rPr lang="en-US" sz="1425" dirty="0" i="1">
                <a:solidFill>
                  <a:srgbClr val="16171D"/>
                </a:solidFill>
                <a:latin typeface="Cambria"/>
                <a:cs typeface="Cambria"/>
              </a:rPr>
              <a:t xml:space="preserve">n</a:t>
            </a:r>
            <a:r>
              <a:rPr lang="en-US" sz="1425" dirty="0">
                <a:solidFill>
                  <a:srgbClr val="16171D"/>
                </a:solidFill>
                <a:latin typeface="Cambria"/>
                <a:cs typeface="Cambria"/>
              </a:rPr>
              <a:t xml:space="preserve"> = 0</a:t>
            </a:r>
            <a:r>
              <a:rPr lang="en-US" sz="1425" dirty="0">
                <a:solidFill>
                  <a:srgbClr val="16171D"/>
                </a:solidFill>
                <a:latin typeface="Segoe UI"/>
                <a:cs typeface="Segoe UI"/>
              </a:rPr>
              <a:t xml:space="preserve">. The slope is 0.</a:t>
            </a:r>
            <a:endParaRPr lang="en-US" sz="1425" dirty="0"/>
          </a:p>
        </p:txBody>
      </p:sp>
      <p:sp>
        <p:nvSpPr>
          <p:cNvPr id="15" name="Shape 15"/>
          <p:cNvSpPr txBox="1"/>
          <p:nvPr/>
        </p:nvSpPr>
        <p:spPr>
          <a:xfrm>
            <a:off x="6210148" y="1618488"/>
            <a:ext cx="5295748" cy="20650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6419698" y="1789938"/>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Which is the equation of the vertical line through </a:t>
            </a:r>
            <a:r>
              <a:rPr lang="en-US" sz="1575" dirty="0">
                <a:solidFill>
                  <a:srgbClr val="16171D"/>
                </a:solidFill>
                <a:latin typeface="Cambria"/>
                <a:cs typeface="Cambria"/>
              </a:rPr>
              <a:t xml:space="preserve">(2, −1)</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6419698" y="2362962"/>
            <a:ext cx="487664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vertical line: </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a:t>
            </a:r>
            <a:r>
              <a:rPr lang="en-US" sz="1575" dirty="0">
                <a:solidFill>
                  <a:srgbClr val="16171D"/>
                </a:solidFill>
                <a:latin typeface="Segoe UI"/>
                <a:cs typeface="Segoe UI"/>
              </a:rPr>
              <a:t xml:space="preserve"> a number</a:t>
            </a:r>
            <a:endParaRPr lang="en-US" sz="1575" dirty="0"/>
          </a:p>
        </p:txBody>
      </p:sp>
      <p:sp>
        <p:nvSpPr>
          <p:cNvPr id="14" name="Shape 14"/>
          <p:cNvSpPr txBox="1"/>
          <p:nvPr/>
        </p:nvSpPr>
        <p:spPr>
          <a:xfrm>
            <a:off x="6419698" y="2695956"/>
            <a:ext cx="4730363" cy="81610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2</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On a vertical line, </a:t>
            </a:r>
            <a:r>
              <a:rPr lang="en-US" sz="1425" dirty="0" i="1">
                <a:solidFill>
                  <a:srgbClr val="16171D"/>
                </a:solidFill>
                <a:latin typeface="Cambria"/>
                <a:cs typeface="Cambria"/>
              </a:rPr>
              <a:t xml:space="preserve">x</a:t>
            </a:r>
            <a:r>
              <a:rPr lang="en-US" sz="1425" dirty="0">
                <a:solidFill>
                  <a:srgbClr val="16171D"/>
                </a:solidFill>
                <a:latin typeface="Segoe UI"/>
                <a:cs typeface="Segoe UI"/>
              </a:rPr>
              <a:t xml:space="preserve"> never changes.</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The point has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 so the line is </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2</a:t>
            </a:r>
            <a:r>
              <a:rPr lang="en-US" sz="1425" dirty="0">
                <a:solidFill>
                  <a:srgbClr val="16171D"/>
                </a:solidFill>
                <a:latin typeface="Segoe UI"/>
                <a:cs typeface="Segoe UI"/>
              </a:rPr>
              <a:t xml:space="preserve">.</a:t>
            </a:r>
            <a:endParaRPr lang="en-US" sz="1425" dirty="0"/>
          </a:p>
        </p:txBody>
      </p:sp>
      <p:sp>
        <p:nvSpPr>
          <p:cNvPr id="19" name="Shape 19"/>
          <p:cNvSpPr txBox="1"/>
          <p:nvPr/>
        </p:nvSpPr>
        <p:spPr>
          <a:xfrm>
            <a:off x="6210148" y="3816858"/>
            <a:ext cx="5295748" cy="29794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6" name="Shape 16"/>
          <p:cNvSpPr txBox="1"/>
          <p:nvPr/>
        </p:nvSpPr>
        <p:spPr>
          <a:xfrm>
            <a:off x="6419698" y="3988308"/>
            <a:ext cx="4876648" cy="77495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4.</a:t>
            </a:r>
            <a:r>
              <a:rPr lang="en-US" sz="1575" dirty="0">
                <a:solidFill>
                  <a:srgbClr val="16171D"/>
                </a:solidFill>
                <a:latin typeface="Segoe UI"/>
                <a:cs typeface="Segoe UI"/>
              </a:rPr>
              <a:t xml:space="preserve"> Which equation represents a line perpendicular to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2</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+ 3</a:t>
            </a:r>
            <a:r>
              <a:rPr lang="en-US" sz="1575" dirty="0">
                <a:solidFill>
                  <a:srgbClr val="16171D"/>
                </a:solidFill>
                <a:latin typeface="Segoe UI"/>
                <a:cs typeface="Segoe UI"/>
              </a:rPr>
              <a:t xml:space="preserve"> that passes through the point </a:t>
            </a:r>
            <a:r>
              <a:rPr lang="en-US" sz="1575" dirty="0">
                <a:solidFill>
                  <a:srgbClr val="16171D"/>
                </a:solidFill>
                <a:latin typeface="Cambria"/>
                <a:cs typeface="Cambria"/>
              </a:rPr>
              <a:t xml:space="preserve">(4, 1)</a:t>
            </a:r>
            <a:r>
              <a:rPr lang="en-US" sz="1575" dirty="0">
                <a:solidFill>
                  <a:srgbClr val="16171D"/>
                </a:solidFill>
                <a:latin typeface="Segoe UI"/>
                <a:cs typeface="Segoe UI"/>
              </a:rPr>
              <a:t xml:space="preserve">?</a:t>
            </a:r>
            <a:endParaRPr lang="en-US" sz="1575" dirty="0"/>
          </a:p>
        </p:txBody>
      </p:sp>
      <p:sp>
        <p:nvSpPr>
          <p:cNvPr id="17" name="Shape 17"/>
          <p:cNvSpPr txBox="1"/>
          <p:nvPr/>
        </p:nvSpPr>
        <p:spPr>
          <a:xfrm>
            <a:off x="6419698" y="4801362"/>
            <a:ext cx="487664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Formula:</a:t>
            </a:r>
            <a:r>
              <a:rPr lang="en-US" sz="1575" dirty="0">
                <a:solidFill>
                  <a:srgbClr val="16171D"/>
                </a:solidFill>
                <a:latin typeface="Segoe UI"/>
                <a:cs typeface="Segoe UI"/>
              </a:rPr>
              <a:t xml:space="preserve"> perpendicular: flip and change the sign · </a:t>
            </a:r>
            <a:r>
              <a:rPr lang="en-US" sz="1575" dirty="0" i="1">
                <a:solidFill>
                  <a:srgbClr val="16171D"/>
                </a:solidFill>
                <a:latin typeface="Cambria"/>
                <a:cs typeface="Cambria"/>
              </a:rPr>
              <a:t xml:space="preserve">y</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m</a:t>
            </a:r>
            <a:r>
              <a:rPr lang="en-US" sz="1575" dirty="0" i="1">
                <a:solidFill>
                  <a:srgbClr val="16171D"/>
                </a:solidFill>
                <a:latin typeface="Cambria"/>
                <a:cs typeface="Cambria"/>
              </a:rPr>
              <a:t xml:space="preserve">x</a:t>
            </a:r>
            <a:r>
              <a:rPr lang="en-US" sz="1575" dirty="0">
                <a:solidFill>
                  <a:srgbClr val="16171D"/>
                </a:solidFill>
                <a:latin typeface="Cambria"/>
                <a:cs typeface="Cambria"/>
              </a:rPr>
              <a:t xml:space="preserve"> + </a:t>
            </a:r>
            <a:r>
              <a:rPr lang="en-US" sz="1575" dirty="0" i="1">
                <a:solidFill>
                  <a:srgbClr val="16171D"/>
                </a:solidFill>
                <a:latin typeface="Cambria"/>
                <a:cs typeface="Cambria"/>
              </a:rPr>
              <a:t xml:space="preserve">b</a:t>
            </a:r>
            <a:endParaRPr lang="en-US" sz="1575" dirty="0"/>
          </a:p>
        </p:txBody>
      </p:sp>
      <p:sp>
        <p:nvSpPr>
          <p:cNvPr id="18" name="Shape 18"/>
          <p:cNvSpPr txBox="1"/>
          <p:nvPr/>
        </p:nvSpPr>
        <p:spPr>
          <a:xfrm>
            <a:off x="6419698" y="5374386"/>
            <a:ext cx="4876648" cy="125044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1425" dirty="0" b="1" i="1">
                <a:solidFill>
                  <a:srgbClr val="16171D"/>
                </a:solidFill>
                <a:latin typeface="Cambria"/>
                <a:cs typeface="Cambria"/>
              </a:rPr>
              <a:t xml:space="preserve">y</a:t>
            </a:r>
            <a:r>
              <a:rPr lang="en-US" sz="1425" dirty="0" b="1">
                <a:solidFill>
                  <a:srgbClr val="16171D"/>
                </a:solidFill>
                <a:latin typeface="Cambria"/>
                <a:cs typeface="Cambria"/>
              </a:rPr>
              <a:t xml:space="preserve"> = −½</a:t>
            </a:r>
            <a:r>
              <a:rPr lang="en-US" sz="1425" dirty="0" b="1" i="1">
                <a:solidFill>
                  <a:srgbClr val="16171D"/>
                </a:solidFill>
                <a:latin typeface="Cambria"/>
                <a:cs typeface="Cambria"/>
              </a:rPr>
              <a:t xml:space="preserve">x</a:t>
            </a:r>
            <a:r>
              <a:rPr lang="en-US" sz="1425" dirty="0" b="1">
                <a:solidFill>
                  <a:srgbClr val="16171D"/>
                </a:solidFill>
                <a:latin typeface="Cambria"/>
                <a:cs typeface="Cambria"/>
              </a:rPr>
              <a:t xml:space="preserve"> + 3</a:t>
            </a:r>
            <a:br>
              <a:rPr lang="en-US" sz="1425" dirty="0">
                <a:solidFill>
                  <a:srgbClr val="16171D"/>
                </a:solidFill>
                <a:latin typeface="Segoe UI"/>
                <a:cs typeface="Segoe UI"/>
              </a:rPr>
            </a:br>
            <a:r>
              <a:rPr lang="en-US" sz="1425" dirty="0" b="1">
                <a:solidFill>
                  <a:srgbClr val="16171D"/>
                </a:solidFill>
                <a:latin typeface="Segoe UI"/>
                <a:cs typeface="Segoe UI"/>
              </a:rPr>
              <a:t xml:space="preserve">1.</a:t>
            </a:r>
            <a:r>
              <a:rPr lang="en-US" sz="1425" dirty="0">
                <a:solidFill>
                  <a:srgbClr val="16171D"/>
                </a:solidFill>
                <a:latin typeface="Segoe UI"/>
                <a:cs typeface="Segoe UI"/>
              </a:rPr>
              <a:t xml:space="preserve"> Slope of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2</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is 2. Flip and change the sign: </a:t>
            </a:r>
            <a:r>
              <a:rPr lang="en-US" sz="1425" dirty="0">
                <a:solidFill>
                  <a:srgbClr val="16171D"/>
                </a:solidFill>
                <a:latin typeface="Cambria"/>
                <a:cs typeface="Cambria"/>
              </a:rPr>
              <a:t xml:space="preserve">−½</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2.</a:t>
            </a:r>
            <a:r>
              <a:rPr lang="en-US" sz="1425" dirty="0">
                <a:solidFill>
                  <a:srgbClr val="16171D"/>
                </a:solidFill>
                <a:latin typeface="Segoe UI"/>
                <a:cs typeface="Segoe UI"/>
              </a:rPr>
              <a:t xml:space="preserve"> Put in </a:t>
            </a:r>
            <a:r>
              <a:rPr lang="en-US" sz="1425" dirty="0">
                <a:solidFill>
                  <a:srgbClr val="16171D"/>
                </a:solidFill>
                <a:latin typeface="Cambria"/>
                <a:cs typeface="Cambria"/>
              </a:rPr>
              <a:t xml:space="preserve">(4, 1)</a:t>
            </a:r>
            <a:r>
              <a:rPr lang="en-US" sz="1425" dirty="0">
                <a:solidFill>
                  <a:srgbClr val="16171D"/>
                </a:solidFill>
                <a:latin typeface="Segoe UI"/>
                <a:cs typeface="Segoe UI"/>
              </a:rPr>
              <a:t xml:space="preserve">: </a:t>
            </a:r>
            <a:r>
              <a:rPr lang="en-US" sz="1425" dirty="0">
                <a:solidFill>
                  <a:srgbClr val="16171D"/>
                </a:solidFill>
                <a:latin typeface="Cambria"/>
                <a:cs typeface="Cambria"/>
              </a:rPr>
              <a:t xml:space="preserve">1 = −½(4) +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−2 + </a:t>
            </a:r>
            <a:r>
              <a:rPr lang="en-US" sz="1425" dirty="0" i="1">
                <a:solidFill>
                  <a:srgbClr val="16171D"/>
                </a:solidFill>
                <a:latin typeface="Cambria"/>
                <a:cs typeface="Cambria"/>
              </a:rPr>
              <a:t xml:space="preserve">b</a:t>
            </a:r>
            <a:r>
              <a:rPr lang="en-US" sz="1425" dirty="0">
                <a:solidFill>
                  <a:srgbClr val="16171D"/>
                </a:solidFill>
                <a:latin typeface="Segoe UI"/>
                <a:cs typeface="Segoe UI"/>
              </a:rPr>
              <a:t xml:space="preserve">.</a:t>
            </a:r>
            <a:br>
              <a:rPr lang="en-US" sz="1425" dirty="0">
                <a:solidFill>
                  <a:srgbClr val="16171D"/>
                </a:solidFill>
                <a:latin typeface="Segoe UI"/>
                <a:cs typeface="Segoe UI"/>
              </a:rPr>
            </a:br>
            <a:r>
              <a:rPr lang="en-US" sz="1425" dirty="0" b="1">
                <a:solidFill>
                  <a:srgbClr val="16171D"/>
                </a:solidFill>
                <a:latin typeface="Segoe UI"/>
                <a:cs typeface="Segoe UI"/>
              </a:rPr>
              <a:t xml:space="preserve">3.</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b</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 </a:t>
            </a:r>
            <a:r>
              <a:rPr lang="en-US" sz="1425" dirty="0" i="1">
                <a:solidFill>
                  <a:srgbClr val="16171D"/>
                </a:solidFill>
                <a:latin typeface="Cambria"/>
                <a:cs typeface="Cambria"/>
              </a:rPr>
              <a:t xml:space="preserve">y</a:t>
            </a:r>
            <a:r>
              <a:rPr lang="en-US" sz="1425" dirty="0">
                <a:solidFill>
                  <a:srgbClr val="16171D"/>
                </a:solidFill>
                <a:latin typeface="Cambria"/>
                <a:cs typeface="Cambria"/>
              </a:rPr>
              <a:t xml:space="preserve"> = −½</a:t>
            </a:r>
            <a:r>
              <a:rPr lang="en-US" sz="1425" dirty="0" i="1">
                <a:solidFill>
                  <a:srgbClr val="16171D"/>
                </a:solidFill>
                <a:latin typeface="Cambria"/>
                <a:cs typeface="Cambria"/>
              </a:rPr>
              <a:t xml:space="preserve">x</a:t>
            </a:r>
            <a:r>
              <a:rPr lang="en-US" sz="1425" dirty="0">
                <a:solidFill>
                  <a:srgbClr val="16171D"/>
                </a:solidFill>
                <a:latin typeface="Cambria"/>
                <a:cs typeface="Cambria"/>
              </a:rPr>
              <a:t xml:space="preserve"> + 3</a:t>
            </a:r>
            <a:r>
              <a:rPr lang="en-US" sz="1425" dirty="0">
                <a:solidFill>
                  <a:srgbClr val="16171D"/>
                </a:solidFill>
                <a:latin typeface="Segoe UI"/>
                <a:cs typeface="Segoe UI"/>
              </a:rPr>
              <a:t xml:space="preserve">.</a:t>
            </a:r>
            <a:endParaRPr lang="en-US" sz="1425" dirty="0"/>
          </a:p>
        </p:txBody>
      </p:sp>
      <p:sp>
        <p:nvSpPr>
          <p:cNvPr id="20" name="Slide Number 2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500"/>
                                        <p:tgtEl>
                                          <p:spTgt spid="14"/>
                                        </p:tgtEl>
                                      </p:cBhvr>
                                    </p:animEffect>
                                    <p:anim calcmode="lin" valueType="num">
                                      <p:cBhvr>
                                        <p:cTn id="19" dur="500" fill="hold"/>
                                        <p:tgtEl>
                                          <p:spTgt spid="14"/>
                                        </p:tgtEl>
                                        <p:attrNameLst>
                                          <p:attrName>ppt_w</p:attrName>
                                        </p:attrNameLst>
                                      </p:cBhvr>
                                      <p:tavLst>
                                        <p:tav tm="0">
                                          <p:val>
                                            <p:fltVal val="0"/>
                                          </p:val>
                                        </p:tav>
                                        <p:tav tm="100000">
                                          <p:val>
                                            <p:strVal val="#ppt_w"/>
                                          </p:val>
                                        </p:tav>
                                      </p:tavLst>
                                    </p:anim>
                                    <p:anim calcmode="lin" valueType="num">
                                      <p:cBhvr>
                                        <p:cTn id="20" dur="500" fill="hold"/>
                                        <p:tgtEl>
                                          <p:spTgt spid="14"/>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28" presetID="53" presetClass="entr" presetSubtype="16" fill="hold" nodeType="click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anim calcmode="lin" valueType="num">
                                      <p:cBhvr>
                                        <p:cTn id="26" dur="500" fill="hold"/>
                                        <p:tgtEl>
                                          <p:spTgt spid="18"/>
                                        </p:tgtEl>
                                        <p:attrNameLst>
                                          <p:attrName>ppt_w</p:attrName>
                                        </p:attrNameLst>
                                      </p:cBhvr>
                                      <p:tavLst>
                                        <p:tav tm="0">
                                          <p:val>
                                            <p:fltVal val="0"/>
                                          </p:val>
                                        </p:tav>
                                        <p:tav tm="100000">
                                          <p:val>
                                            <p:strVal val="#ppt_w"/>
                                          </p:val>
                                        </p:tav>
                                      </p:tavLst>
                                    </p:anim>
                                    <p:anim calcmode="lin" valueType="num">
                                      <p:cBhvr>
                                        <p:cTn id="27"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3 · Vocabulary</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Words we need</a:t>
            </a:r>
            <a:endParaRPr lang="en-US" sz="3450" dirty="0"/>
          </a:p>
        </p:txBody>
      </p:sp>
      <p:sp>
        <p:nvSpPr>
          <p:cNvPr id="7" name="Shape 7"/>
          <p:cNvSpPr txBox="1"/>
          <p:nvPr/>
        </p:nvSpPr>
        <p:spPr>
          <a:xfrm>
            <a:off x="685800"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Perpendicular</a:t>
            </a:r>
            <a:endParaRPr lang="en-US" sz="2100" dirty="0"/>
          </a:p>
        </p:txBody>
      </p:sp>
      <p:sp>
        <p:nvSpPr>
          <p:cNvPr id="5" name="Shape 5"/>
          <p:cNvSpPr txBox="1"/>
          <p:nvPr/>
        </p:nvSpPr>
        <p:spPr>
          <a:xfrm>
            <a:off x="895350"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Lines that make a square corner (90°).</a:t>
            </a:r>
            <a:endParaRPr lang="en-US" sz="1575" dirty="0"/>
          </a:p>
        </p:txBody>
      </p:sp>
      <p:sp>
        <p:nvSpPr>
          <p:cNvPr id="6" name="Shape 6"/>
          <p:cNvSpPr txBox="1"/>
          <p:nvPr/>
        </p:nvSpPr>
        <p:spPr>
          <a:xfrm>
            <a:off x="895350"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a:t>
            </a:r>
            <a:endParaRPr lang="en-US" sz="2325" dirty="0"/>
          </a:p>
        </p:txBody>
      </p:sp>
      <p:sp>
        <p:nvSpPr>
          <p:cNvPr id="11" name="Shape 11"/>
          <p:cNvSpPr txBox="1"/>
          <p:nvPr/>
        </p:nvSpPr>
        <p:spPr>
          <a:xfrm>
            <a:off x="4349648"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4559198"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Negative reciprocal</a:t>
            </a:r>
            <a:endParaRPr lang="en-US" sz="2100" dirty="0"/>
          </a:p>
        </p:txBody>
      </p:sp>
      <p:sp>
        <p:nvSpPr>
          <p:cNvPr id="9" name="Shape 9"/>
          <p:cNvSpPr txBox="1"/>
          <p:nvPr/>
        </p:nvSpPr>
        <p:spPr>
          <a:xfrm>
            <a:off x="4559198"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Flip the fraction and change the sign.</a:t>
            </a:r>
            <a:endParaRPr lang="en-US" sz="1575" dirty="0"/>
          </a:p>
        </p:txBody>
      </p:sp>
      <p:sp>
        <p:nvSpPr>
          <p:cNvPr id="10" name="Shape 10"/>
          <p:cNvSpPr txBox="1"/>
          <p:nvPr/>
        </p:nvSpPr>
        <p:spPr>
          <a:xfrm>
            <a:off x="4559198"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a:solidFill>
                  <a:srgbClr val="16171D"/>
                </a:solidFill>
                <a:latin typeface="Cambria"/>
                <a:cs typeface="Cambria"/>
              </a:rPr>
              <a:t xml:space="preserve">2</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5" name="Shape 15"/>
          <p:cNvSpPr txBox="1"/>
          <p:nvPr/>
        </p:nvSpPr>
        <p:spPr>
          <a:xfrm>
            <a:off x="8013497" y="1618488"/>
            <a:ext cx="3492398" cy="185242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2" name="Shape 12"/>
          <p:cNvSpPr txBox="1"/>
          <p:nvPr/>
        </p:nvSpPr>
        <p:spPr>
          <a:xfrm>
            <a:off x="8223047" y="1789938"/>
            <a:ext cx="30732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Horizontal / vertical</a:t>
            </a:r>
            <a:endParaRPr lang="en-US" sz="2100" dirty="0"/>
          </a:p>
        </p:txBody>
      </p:sp>
      <p:sp>
        <p:nvSpPr>
          <p:cNvPr id="13" name="Shape 13"/>
          <p:cNvSpPr txBox="1"/>
          <p:nvPr/>
        </p:nvSpPr>
        <p:spPr>
          <a:xfrm>
            <a:off x="8223047" y="2260092"/>
            <a:ext cx="3073298" cy="534924"/>
          </a:xfrm>
          <a:prstGeom prst="rect">
            <a:avLst/>
          </a:prstGeom>
          <a:noFill/>
          <a:ln>
            <a:noFill/>
          </a:ln>
        </p:spPr>
        <p:txBody>
          <a:bodyPr wrap="square" lIns="36576" tIns="27432" rIns="36576" bIns="27432" anchor="t">
            <a:noAutofit/>
          </a:bodyPr>
          <a:lstStyle/>
          <a:p>
            <a:pPr algn="l">
              <a:lnSpc>
                <a:spcPct val="100000"/>
              </a:lnSpc>
            </a:pP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number (slope 0)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number (undefined).</a:t>
            </a:r>
            <a:endParaRPr lang="en-US" sz="1575" dirty="0"/>
          </a:p>
        </p:txBody>
      </p:sp>
      <p:sp>
        <p:nvSpPr>
          <p:cNvPr id="14" name="Shape 14"/>
          <p:cNvSpPr txBox="1"/>
          <p:nvPr/>
        </p:nvSpPr>
        <p:spPr>
          <a:xfrm>
            <a:off x="8223047" y="2890266"/>
            <a:ext cx="3073298" cy="409194"/>
          </a:xfrm>
          <a:prstGeom prst="rect">
            <a:avLst/>
          </a:prstGeom>
          <a:noFill/>
          <a:ln>
            <a:noFill/>
          </a:ln>
        </p:spPr>
        <p:txBody>
          <a:bodyPr wrap="square" lIns="36576" tIns="27432" rIns="36576" bIns="27432" anchor="t">
            <a:noAutofit/>
          </a:bodyPr>
          <a:lstStyle/>
          <a:p>
            <a:pPr algn="l">
              <a:lnSpc>
                <a:spcPct val="100000"/>
              </a:lnSpc>
            </a:pP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4,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6" name="Slide Number 1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4</a:t>
            </a:fld>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Topic 2 Lesson 3 · Steps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How to write a perpendicular line</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1.</a:t>
            </a:r>
            <a:r>
              <a:rPr lang="en-US" sz="1950" dirty="0">
                <a:solidFill>
                  <a:srgbClr val="16171D"/>
                </a:solidFill>
                <a:latin typeface="Segoe UI"/>
                <a:cs typeface="Segoe UI"/>
              </a:rPr>
              <a:t xml:space="preserve"> Find the slope of the given line.</a:t>
            </a:r>
            <a:endParaRPr lang="en-US" sz="1950" dirty="0"/>
          </a:p>
        </p:txBody>
      </p:sp>
      <p:sp>
        <p:nvSpPr>
          <p:cNvPr id="5" name="Shape 5"/>
          <p:cNvSpPr txBox="1"/>
          <p:nvPr/>
        </p:nvSpPr>
        <p:spPr>
          <a:xfrm>
            <a:off x="685800" y="2141982"/>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2.</a:t>
            </a:r>
            <a:r>
              <a:rPr lang="en-US" sz="1950" dirty="0">
                <a:solidFill>
                  <a:srgbClr val="16171D"/>
                </a:solidFill>
                <a:latin typeface="Segoe UI"/>
                <a:cs typeface="Segoe UI"/>
              </a:rPr>
              <a:t xml:space="preserve"> Flip it and change the sign. That is the new slope.</a:t>
            </a:r>
            <a:endParaRPr lang="en-US" sz="1950" dirty="0"/>
          </a:p>
        </p:txBody>
      </p:sp>
      <p:sp>
        <p:nvSpPr>
          <p:cNvPr id="6" name="Shape 6"/>
          <p:cNvSpPr txBox="1"/>
          <p:nvPr/>
        </p:nvSpPr>
        <p:spPr>
          <a:xfrm>
            <a:off x="685800" y="2665476"/>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3.</a:t>
            </a:r>
            <a:r>
              <a:rPr lang="en-US" sz="1950" dirty="0">
                <a:solidFill>
                  <a:srgbClr val="16171D"/>
                </a:solidFill>
                <a:latin typeface="Segoe UI"/>
                <a:cs typeface="Segoe UI"/>
              </a:rPr>
              <a:t xml:space="preserve"> Use the point: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y</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m</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658" dirty="0" baseline="-25000">
                <a:solidFill>
                  <a:srgbClr val="16171D"/>
                </a:solidFill>
                <a:latin typeface="Segoe UI"/>
                <a:cs typeface="Segoe UI"/>
              </a:rPr>
              <a:t xml:space="preserve">1</a:t>
            </a:r>
            <a:r>
              <a:rPr lang="en-US" sz="1950" dirty="0">
                <a:solidFill>
                  <a:srgbClr val="16171D"/>
                </a:solidFill>
                <a:latin typeface="Segoe UI"/>
                <a:cs typeface="Segoe UI"/>
              </a:rPr>
              <a:t xml:space="preserve">).</a:t>
            </a:r>
            <a:endParaRPr lang="en-US" sz="1950" dirty="0"/>
          </a:p>
        </p:txBody>
      </p:sp>
      <p:sp>
        <p:nvSpPr>
          <p:cNvPr id="7" name="Shape 7"/>
          <p:cNvSpPr txBox="1"/>
          <p:nvPr/>
        </p:nvSpPr>
        <p:spPr>
          <a:xfrm>
            <a:off x="685800" y="318897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b="1">
                <a:solidFill>
                  <a:srgbClr val="16171D"/>
                </a:solidFill>
                <a:latin typeface="Segoe UI"/>
                <a:cs typeface="Segoe UI"/>
              </a:rPr>
              <a:t xml:space="preserve">4.</a:t>
            </a:r>
            <a:r>
              <a:rPr lang="en-US" sz="1950" dirty="0">
                <a:solidFill>
                  <a:srgbClr val="16171D"/>
                </a:solidFill>
                <a:latin typeface="Segoe UI"/>
                <a:cs typeface="Segoe UI"/>
              </a:rPr>
              <a:t xml:space="preserve"> Get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alone.</a:t>
            </a:r>
            <a:endParaRPr lang="en-US" sz="1950" dirty="0"/>
          </a:p>
        </p:txBody>
      </p:sp>
      <p:sp>
        <p:nvSpPr>
          <p:cNvPr id="8" name="Slide Number 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5</a:t>
            </a:fld>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Watch me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Perpendicular slopes</a:t>
            </a:r>
            <a:endParaRPr lang="en-US" sz="3450" dirty="0"/>
          </a:p>
        </p:txBody>
      </p:sp>
      <p:sp>
        <p:nvSpPr>
          <p:cNvPr id="7" name="Shape 7"/>
          <p:cNvSpPr txBox="1"/>
          <p:nvPr/>
        </p:nvSpPr>
        <p:spPr>
          <a:xfrm>
            <a:off x="685800"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3</a:t>
            </a:r>
            <a:endParaRPr lang="en-US" sz="2100" dirty="0"/>
          </a:p>
        </p:txBody>
      </p:sp>
      <p:sp>
        <p:nvSpPr>
          <p:cNvPr id="5" name="Shape 5"/>
          <p:cNvSpPr txBox="1"/>
          <p:nvPr/>
        </p:nvSpPr>
        <p:spPr>
          <a:xfrm>
            <a:off x="895350"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Flip: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Change sign:</a:t>
            </a:r>
            <a:endParaRPr lang="en-US" sz="1575" dirty="0"/>
          </a:p>
        </p:txBody>
      </p:sp>
      <p:sp>
        <p:nvSpPr>
          <p:cNvPr id="6" name="Shape 6"/>
          <p:cNvSpPr txBox="1"/>
          <p:nvPr/>
        </p:nvSpPr>
        <p:spPr>
          <a:xfrm>
            <a:off x="895350" y="2650236"/>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11" name="Shape 11"/>
          <p:cNvSpPr txBox="1"/>
          <p:nvPr/>
        </p:nvSpPr>
        <p:spPr>
          <a:xfrm>
            <a:off x="6286348" y="1618488"/>
            <a:ext cx="5219548" cy="172212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8" name="Shape 8"/>
          <p:cNvSpPr txBox="1"/>
          <p:nvPr/>
        </p:nvSpPr>
        <p:spPr>
          <a:xfrm>
            <a:off x="6495898" y="1789938"/>
            <a:ext cx="480044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a:t>
            </a:r>
            <a:endParaRPr lang="en-US" sz="2100" dirty="0"/>
          </a:p>
        </p:txBody>
      </p:sp>
      <p:sp>
        <p:nvSpPr>
          <p:cNvPr id="9" name="Shape 9"/>
          <p:cNvSpPr txBox="1"/>
          <p:nvPr/>
        </p:nvSpPr>
        <p:spPr>
          <a:xfrm>
            <a:off x="6495898" y="2260092"/>
            <a:ext cx="4800448" cy="29489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−3 =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Flip: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Change sign:</a:t>
            </a:r>
            <a:endParaRPr lang="en-US" sz="1575" dirty="0"/>
          </a:p>
        </p:txBody>
      </p:sp>
      <p:sp>
        <p:nvSpPr>
          <p:cNvPr id="10" name="Shape 10"/>
          <p:cNvSpPr txBox="1"/>
          <p:nvPr/>
        </p:nvSpPr>
        <p:spPr>
          <a:xfrm>
            <a:off x="6495898" y="2650236"/>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6</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6"/>
                                        </p:tgtEl>
                                        <p:attrNameLst>
                                          <p:attrName>style.visibility</p:attrName>
                                        </p:attrNameLst>
                                      </p:cBhvr>
                                      <p:to>
                                        <p:strVal val="visible"/>
                                      </p:to>
                                    </p:set>
                                    <p:animEffect transition="in" filter="fade">
                                      <p:cBhvr>
                                        <p:cTn id="4" dur="500"/>
                                        <p:tgtEl>
                                          <p:spTgt spid="6"/>
                                        </p:tgtEl>
                                      </p:cBhvr>
                                    </p:animEffect>
                                    <p:anim calcmode="lin" valueType="num">
                                      <p:cBhvr>
                                        <p:cTn id="5" dur="500" fill="hold"/>
                                        <p:tgtEl>
                                          <p:spTgt spid="6"/>
                                        </p:tgtEl>
                                        <p:attrNameLst>
                                          <p:attrName>ppt_w</p:attrName>
                                        </p:attrNameLst>
                                      </p:cBhvr>
                                      <p:tavLst>
                                        <p:tav tm="0">
                                          <p:val>
                                            <p:fltVal val="0"/>
                                          </p:val>
                                        </p:tav>
                                        <p:tav tm="100000">
                                          <p:val>
                                            <p:strVal val="#ppt_w"/>
                                          </p:val>
                                        </p:tav>
                                      </p:tavLst>
                                    </p:anim>
                                    <p:anim calcmode="lin" valueType="num">
                                      <p:cBhvr>
                                        <p:cTn id="6" dur="500" fill="hold"/>
                                        <p:tgtEl>
                                          <p:spTgt spid="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p:cTn id="12" dur="500" fill="hold"/>
                                        <p:tgtEl>
                                          <p:spTgt spid="10"/>
                                        </p:tgtEl>
                                        <p:attrNameLst>
                                          <p:attrName>ppt_w</p:attrName>
                                        </p:attrNameLst>
                                      </p:cBhvr>
                                      <p:tavLst>
                                        <p:tav tm="0">
                                          <p:val>
                                            <p:fltVal val="0"/>
                                          </p:val>
                                        </p:tav>
                                        <p:tav tm="100000">
                                          <p:val>
                                            <p:strVal val="#ppt_w"/>
                                          </p:val>
                                        </p:tav>
                                      </p:tavLst>
                                    </p:anim>
                                    <p:anim calcmode="lin" valueType="num">
                                      <p:cBhvr>
                                        <p:cTn id="13"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perpendicular slope</a:t>
            </a:r>
            <a:endParaRPr lang="en-US" sz="3450" dirty="0"/>
          </a:p>
        </p:txBody>
      </p:sp>
      <p:sp>
        <p:nvSpPr>
          <p:cNvPr id="6" name="Shape 6"/>
          <p:cNvSpPr txBox="1"/>
          <p:nvPr/>
        </p:nvSpPr>
        <p:spPr>
          <a:xfrm>
            <a:off x="685800"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1. 4</a:t>
            </a:r>
            <a:endParaRPr lang="en-US" sz="1950" dirty="0"/>
          </a:p>
        </p:txBody>
      </p:sp>
      <p:sp>
        <p:nvSpPr>
          <p:cNvPr id="5" name="Shape 5"/>
          <p:cNvSpPr txBox="1"/>
          <p:nvPr/>
        </p:nvSpPr>
        <p:spPr>
          <a:xfrm>
            <a:off x="895350" y="223723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9" name="Shape 9"/>
          <p:cNvSpPr txBox="1"/>
          <p:nvPr/>
        </p:nvSpPr>
        <p:spPr>
          <a:xfrm>
            <a:off x="4419498"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7" name="Shape 7"/>
          <p:cNvSpPr txBox="1"/>
          <p:nvPr/>
        </p:nvSpPr>
        <p:spPr>
          <a:xfrm>
            <a:off x="4629048"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a:t>
            </a: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5</a:t>
            </a:r>
            <a:endParaRPr lang="en-US" sz="1950" dirty="0"/>
          </a:p>
        </p:txBody>
      </p:sp>
      <p:sp>
        <p:nvSpPr>
          <p:cNvPr id="8" name="Shape 8"/>
          <p:cNvSpPr txBox="1"/>
          <p:nvPr/>
        </p:nvSpPr>
        <p:spPr>
          <a:xfrm>
            <a:off x="4629048" y="2237232"/>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12" name="Shape 12"/>
          <p:cNvSpPr txBox="1"/>
          <p:nvPr/>
        </p:nvSpPr>
        <p:spPr>
          <a:xfrm>
            <a:off x="8153197" y="1618488"/>
            <a:ext cx="3352698" cy="130911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8362747" y="1789938"/>
            <a:ext cx="293359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endParaRPr lang="en-US" sz="1950" dirty="0"/>
          </a:p>
        </p:txBody>
      </p:sp>
      <p:sp>
        <p:nvSpPr>
          <p:cNvPr id="11" name="Shape 11"/>
          <p:cNvSpPr txBox="1"/>
          <p:nvPr/>
        </p:nvSpPr>
        <p:spPr>
          <a:xfrm>
            <a:off x="8362747" y="2237232"/>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13" name="Slide Number 1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7</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anim calcmode="lin" valueType="num">
                                      <p:cBhvr>
                                        <p:cTn id="19" dur="500" fill="hold"/>
                                        <p:tgtEl>
                                          <p:spTgt spid="11"/>
                                        </p:tgtEl>
                                        <p:attrNameLst>
                                          <p:attrName>ppt_w</p:attrName>
                                        </p:attrNameLst>
                                      </p:cBhvr>
                                      <p:tavLst>
                                        <p:tav tm="0">
                                          <p:val>
                                            <p:fltVal val="0"/>
                                          </p:val>
                                        </p:tav>
                                        <p:tav tm="100000">
                                          <p:val>
                                            <p:strVal val="#ppt_w"/>
                                          </p:val>
                                        </p:tav>
                                      </p:tavLst>
                                    </p:anim>
                                    <p:anim calcmode="lin" valueType="num">
                                      <p:cBhvr>
                                        <p:cTn id="20"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Find the perpendicular slope</a:t>
            </a:r>
            <a:endParaRPr lang="en-US" sz="3450" dirty="0"/>
          </a:p>
        </p:txBody>
      </p:sp>
      <p:sp>
        <p:nvSpPr>
          <p:cNvPr id="10" name="Shape 10"/>
          <p:cNvSpPr txBox="1"/>
          <p:nvPr/>
        </p:nvSpPr>
        <p:spPr>
          <a:xfrm>
            <a:off x="685800" y="1618488"/>
            <a:ext cx="3454298" cy="3612642"/>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1. 4</a:t>
            </a:r>
            <a:endParaRPr lang="en-US" sz="2100" dirty="0"/>
          </a:p>
        </p:txBody>
      </p:sp>
      <p:sp>
        <p:nvSpPr>
          <p:cNvPr id="5" name="Shape 5"/>
          <p:cNvSpPr txBox="1"/>
          <p:nvPr/>
        </p:nvSpPr>
        <p:spPr>
          <a:xfrm>
            <a:off x="895350" y="2260092"/>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Write it as a fraction: </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endParaRPr lang="en-US" sz="1575" dirty="0"/>
          </a:p>
        </p:txBody>
      </p:sp>
      <p:sp>
        <p:nvSpPr>
          <p:cNvPr id="6" name="Shape 6"/>
          <p:cNvSpPr txBox="1"/>
          <p:nvPr/>
        </p:nvSpPr>
        <p:spPr>
          <a:xfrm>
            <a:off x="895350" y="2890266"/>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28041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Change the sign: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8" name="Shape 8"/>
          <p:cNvSpPr txBox="1"/>
          <p:nvPr/>
        </p:nvSpPr>
        <p:spPr>
          <a:xfrm>
            <a:off x="895350" y="3910584"/>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Check: 4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t>
            </a:r>
            <a:endParaRPr lang="en-US" sz="1575" dirty="0"/>
          </a:p>
        </p:txBody>
      </p:sp>
      <p:sp>
        <p:nvSpPr>
          <p:cNvPr id="9" name="Shape 9"/>
          <p:cNvSpPr txBox="1"/>
          <p:nvPr/>
        </p:nvSpPr>
        <p:spPr>
          <a:xfrm>
            <a:off x="895350" y="4540758"/>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16" name="Shape 16"/>
          <p:cNvSpPr txBox="1"/>
          <p:nvPr/>
        </p:nvSpPr>
        <p:spPr>
          <a:xfrm>
            <a:off x="4368698" y="1618488"/>
            <a:ext cx="3454298" cy="298246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1" name="Shape 11"/>
          <p:cNvSpPr txBox="1"/>
          <p:nvPr/>
        </p:nvSpPr>
        <p:spPr>
          <a:xfrm>
            <a:off x="4578248"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2. −</a:t>
            </a:r>
            <a:r>
              <a:rPr lang="en-US" sz="2100" dirty="0" b="1">
                <a:solidFill>
                  <a:srgbClr val="16171D"/>
                </a:solidFill>
                <a:latin typeface="Segoe UI"/>
                <a:cs typeface="Segoe UI"/>
              </a:rPr>
              <a:t xml:space="preserve">4</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5</a:t>
            </a:r>
            <a:endParaRPr lang="en-US" sz="2100" dirty="0"/>
          </a:p>
        </p:txBody>
      </p:sp>
      <p:sp>
        <p:nvSpPr>
          <p:cNvPr id="12" name="Shape 12"/>
          <p:cNvSpPr txBox="1"/>
          <p:nvPr/>
        </p:nvSpPr>
        <p:spPr>
          <a:xfrm>
            <a:off x="4578248" y="2260092"/>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3" name="Shape 13"/>
          <p:cNvSpPr txBox="1"/>
          <p:nvPr/>
        </p:nvSpPr>
        <p:spPr>
          <a:xfrm>
            <a:off x="4578248" y="2650236"/>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Change the sign: − becomes +, so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endParaRPr lang="en-US" sz="1575" dirty="0"/>
          </a:p>
        </p:txBody>
      </p:sp>
      <p:sp>
        <p:nvSpPr>
          <p:cNvPr id="14" name="Shape 14"/>
          <p:cNvSpPr txBox="1"/>
          <p:nvPr/>
        </p:nvSpPr>
        <p:spPr>
          <a:xfrm>
            <a:off x="4578248" y="328041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Check: −</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5</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4</a:t>
            </a:r>
            <a:r>
              <a:rPr lang="en-US" sz="1575" dirty="0">
                <a:solidFill>
                  <a:srgbClr val="16171D"/>
                </a:solidFill>
                <a:latin typeface="Segoe UI"/>
                <a:cs typeface="Segoe UI"/>
              </a:rPr>
              <a:t xml:space="preserve"> = −1 ✓</a:t>
            </a:r>
            <a:endParaRPr lang="en-US" sz="1575" dirty="0"/>
          </a:p>
        </p:txBody>
      </p:sp>
      <p:sp>
        <p:nvSpPr>
          <p:cNvPr id="15" name="Shape 15"/>
          <p:cNvSpPr txBox="1"/>
          <p:nvPr/>
        </p:nvSpPr>
        <p:spPr>
          <a:xfrm>
            <a:off x="4578248" y="3910584"/>
            <a:ext cx="241054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5</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endParaRPr lang="en-US" sz="2325" dirty="0"/>
          </a:p>
        </p:txBody>
      </p:sp>
      <p:sp>
        <p:nvSpPr>
          <p:cNvPr id="22" name="Shape 22"/>
          <p:cNvSpPr txBox="1"/>
          <p:nvPr/>
        </p:nvSpPr>
        <p:spPr>
          <a:xfrm>
            <a:off x="8051597" y="1618488"/>
            <a:ext cx="3454298" cy="274243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7" name="Shape 17"/>
          <p:cNvSpPr txBox="1"/>
          <p:nvPr/>
        </p:nvSpPr>
        <p:spPr>
          <a:xfrm>
            <a:off x="8261147" y="1789938"/>
            <a:ext cx="3035198"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3. </a:t>
            </a:r>
            <a:r>
              <a:rPr lang="en-US" sz="2100" dirty="0" b="1">
                <a:solidFill>
                  <a:srgbClr val="16171D"/>
                </a:solidFill>
                <a:latin typeface="Segoe UI"/>
                <a:cs typeface="Segoe UI"/>
              </a:rPr>
              <a:t xml:space="preserve">1</a:t>
            </a:r>
            <a:r>
              <a:rPr lang="en-US" sz="2100" dirty="0" b="1">
                <a:solidFill>
                  <a:srgbClr val="16171D"/>
                </a:solidFill>
                <a:latin typeface="Segoe UI"/>
                <a:cs typeface="Segoe UI"/>
              </a:rPr>
              <a:t xml:space="preserve">/</a:t>
            </a:r>
            <a:r>
              <a:rPr lang="en-US" sz="2100" dirty="0" b="1">
                <a:solidFill>
                  <a:srgbClr val="16171D"/>
                </a:solidFill>
                <a:latin typeface="Segoe UI"/>
                <a:cs typeface="Segoe UI"/>
              </a:rPr>
              <a:t xml:space="preserve">2</a:t>
            </a:r>
            <a:endParaRPr lang="en-US" sz="2100" dirty="0"/>
          </a:p>
        </p:txBody>
      </p:sp>
      <p:sp>
        <p:nvSpPr>
          <p:cNvPr id="18" name="Shape 18"/>
          <p:cNvSpPr txBox="1"/>
          <p:nvPr/>
        </p:nvSpPr>
        <p:spPr>
          <a:xfrm>
            <a:off x="8261147" y="2260092"/>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Flip it: </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 2.</a:t>
            </a:r>
            <a:endParaRPr lang="en-US" sz="1575" dirty="0"/>
          </a:p>
        </p:txBody>
      </p:sp>
      <p:sp>
        <p:nvSpPr>
          <p:cNvPr id="19" name="Shape 19"/>
          <p:cNvSpPr txBox="1"/>
          <p:nvPr/>
        </p:nvSpPr>
        <p:spPr>
          <a:xfrm>
            <a:off x="8261147" y="2650236"/>
            <a:ext cx="30351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Change the sign: −2.</a:t>
            </a:r>
            <a:endParaRPr lang="en-US" sz="1575" dirty="0"/>
          </a:p>
        </p:txBody>
      </p:sp>
      <p:sp>
        <p:nvSpPr>
          <p:cNvPr id="20" name="Shape 20"/>
          <p:cNvSpPr txBox="1"/>
          <p:nvPr/>
        </p:nvSpPr>
        <p:spPr>
          <a:xfrm>
            <a:off x="8261147" y="3040380"/>
            <a:ext cx="30351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Check: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2</a:t>
            </a:r>
            <a:r>
              <a:rPr lang="en-US" sz="1575" dirty="0">
                <a:solidFill>
                  <a:srgbClr val="16171D"/>
                </a:solidFill>
                <a:latin typeface="Segoe UI"/>
                <a:cs typeface="Segoe UI"/>
              </a:rPr>
              <a:t xml:space="preserve"> · (−2) = −1 ✓</a:t>
            </a:r>
            <a:endParaRPr lang="en-US" sz="1575" dirty="0"/>
          </a:p>
        </p:txBody>
      </p:sp>
      <p:sp>
        <p:nvSpPr>
          <p:cNvPr id="21" name="Shape 21"/>
          <p:cNvSpPr txBox="1"/>
          <p:nvPr/>
        </p:nvSpPr>
        <p:spPr>
          <a:xfrm>
            <a:off x="8261147" y="3670554"/>
            <a:ext cx="2244715"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−2</a:t>
            </a:r>
            <a:endParaRPr lang="en-US" sz="2325" dirty="0"/>
          </a:p>
        </p:txBody>
      </p:sp>
      <p:sp>
        <p:nvSpPr>
          <p:cNvPr id="23" name="Slide Number 23"/>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8</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ppt_w</p:attrName>
                                        </p:attrNameLst>
                                      </p:cBhvr>
                                      <p:tavLst>
                                        <p:tav tm="0">
                                          <p:val>
                                            <p:fltVal val="0"/>
                                          </p:val>
                                        </p:tav>
                                        <p:tav tm="100000">
                                          <p:val>
                                            <p:strVal val="#ppt_w"/>
                                          </p:val>
                                        </p:tav>
                                      </p:tavLst>
                                    </p:anim>
                                    <p:anim calcmode="lin" valueType="num">
                                      <p:cBhvr>
                                        <p:cTn id="34"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42" presetClass="entr" presetSubtype="0" fill="hold" nodeType="click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500"/>
                                        <p:tgtEl>
                                          <p:spTgt spid="14"/>
                                        </p:tgtEl>
                                      </p:cBhvr>
                                    </p:animEffect>
                                    <p:anim calcmode="lin" valueType="num">
                                      <p:cBhvr>
                                        <p:cTn id="54" dur="500" fill="hold"/>
                                        <p:tgtEl>
                                          <p:spTgt spid="14"/>
                                        </p:tgtEl>
                                        <p:attrNameLst>
                                          <p:attrName>ppt_x</p:attrName>
                                        </p:attrNameLst>
                                      </p:cBhvr>
                                      <p:tavLst>
                                        <p:tav tm="0">
                                          <p:val>
                                            <p:strVal val="#ppt_x"/>
                                          </p:val>
                                        </p:tav>
                                        <p:tav tm="100000">
                                          <p:val>
                                            <p:strVal val="#ppt_x"/>
                                          </p:val>
                                        </p:tav>
                                      </p:tavLst>
                                    </p:anim>
                                    <p:anim calcmode="lin" valueType="num">
                                      <p:cBhvr>
                                        <p:cTn id="55" dur="5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3" presetID="53" presetClass="entr" presetSubtype="16" fill="hold" nodeType="clickEffect">
                                  <p:stCondLst>
                                    <p:cond delay="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500"/>
                                        <p:tgtEl>
                                          <p:spTgt spid="15"/>
                                        </p:tgtEl>
                                      </p:cBhvr>
                                    </p:animEffect>
                                    <p:anim calcmode="lin" valueType="num">
                                      <p:cBhvr>
                                        <p:cTn id="61" dur="500" fill="hold"/>
                                        <p:tgtEl>
                                          <p:spTgt spid="15"/>
                                        </p:tgtEl>
                                        <p:attrNameLst>
                                          <p:attrName>ppt_w</p:attrName>
                                        </p:attrNameLst>
                                      </p:cBhvr>
                                      <p:tavLst>
                                        <p:tav tm="0">
                                          <p:val>
                                            <p:fltVal val="0"/>
                                          </p:val>
                                        </p:tav>
                                        <p:tav tm="100000">
                                          <p:val>
                                            <p:strVal val="#ppt_w"/>
                                          </p:val>
                                        </p:tav>
                                      </p:tavLst>
                                    </p:anim>
                                    <p:anim calcmode="lin" valueType="num">
                                      <p:cBhvr>
                                        <p:cTn id="62" dur="500" fill="hold"/>
                                        <p:tgtEl>
                                          <p:spTgt spid="15"/>
                                        </p:tgtEl>
                                        <p:attrNameLst>
                                          <p:attrName>ppt_h</p:attrName>
                                        </p:attrNameLst>
                                      </p:cBhvr>
                                      <p:tavLst>
                                        <p:tav tm="0">
                                          <p:val>
                                            <p:fltVal val="0"/>
                                          </p:val>
                                        </p:tav>
                                        <p:tav tm="100000">
                                          <p:val>
                                            <p:strVal val="#ppt_h"/>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p:cTn id="75" dur="500" fill="hold"/>
                                        <p:tgtEl>
                                          <p:spTgt spid="19"/>
                                        </p:tgtEl>
                                        <p:attrNameLst>
                                          <p:attrName>ppt_x</p:attrName>
                                        </p:attrNameLst>
                                      </p:cBhvr>
                                      <p:tavLst>
                                        <p:tav tm="0">
                                          <p:val>
                                            <p:strVal val="#ppt_x"/>
                                          </p:val>
                                        </p:tav>
                                        <p:tav tm="100000">
                                          <p:val>
                                            <p:strVal val="#ppt_x"/>
                                          </p:val>
                                        </p:tav>
                                      </p:tavLst>
                                    </p:anim>
                                    <p:anim calcmode="lin" valueType="num">
                                      <p:cBhvr>
                                        <p:cTn id="7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4" presetID="42" presetClass="entr" presetSubtype="0" fill="hold" nodeType="click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500"/>
                                        <p:tgtEl>
                                          <p:spTgt spid="20"/>
                                        </p:tgtEl>
                                      </p:cBhvr>
                                    </p:animEffect>
                                    <p:anim calcmode="lin" valueType="num">
                                      <p:cBhvr>
                                        <p:cTn id="82" dur="500" fill="hold"/>
                                        <p:tgtEl>
                                          <p:spTgt spid="20"/>
                                        </p:tgtEl>
                                        <p:attrNameLst>
                                          <p:attrName>ppt_x</p:attrName>
                                        </p:attrNameLst>
                                      </p:cBhvr>
                                      <p:tavLst>
                                        <p:tav tm="0">
                                          <p:val>
                                            <p:strVal val="#ppt_x"/>
                                          </p:val>
                                        </p:tav>
                                        <p:tav tm="100000">
                                          <p:val>
                                            <p:strVal val="#ppt_x"/>
                                          </p:val>
                                        </p:tav>
                                      </p:tavLst>
                                    </p:anim>
                                    <p:anim calcmode="lin" valueType="num">
                                      <p:cBhvr>
                                        <p:cTn id="83" dur="500" fill="hold"/>
                                        <p:tgtEl>
                                          <p:spTgt spid="20"/>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1" presetID="53" presetClass="entr" presetSubtype="16" fill="hold" nodeType="clickEffect">
                                  <p:stCondLst>
                                    <p:cond delay="0"/>
                                  </p:stCondLst>
                                  <p:childTnLst>
                                    <p:set>
                                      <p:cBhvr>
                                        <p:cTn id="87" dur="1" fill="hold">
                                          <p:stCondLst>
                                            <p:cond delay="0"/>
                                          </p:stCondLst>
                                        </p:cTn>
                                        <p:tgtEl>
                                          <p:spTgt spid="21"/>
                                        </p:tgtEl>
                                        <p:attrNameLst>
                                          <p:attrName>style.visibility</p:attrName>
                                        </p:attrNameLst>
                                      </p:cBhvr>
                                      <p:to>
                                        <p:strVal val="visible"/>
                                      </p:to>
                                    </p:set>
                                    <p:animEffect transition="in" filter="fade">
                                      <p:cBhvr>
                                        <p:cTn id="88" dur="500"/>
                                        <p:tgtEl>
                                          <p:spTgt spid="21"/>
                                        </p:tgtEl>
                                      </p:cBhvr>
                                    </p:animEffect>
                                    <p:anim calcmode="lin" valueType="num">
                                      <p:cBhvr>
                                        <p:cTn id="89" dur="500" fill="hold"/>
                                        <p:tgtEl>
                                          <p:spTgt spid="21"/>
                                        </p:tgtEl>
                                        <p:attrNameLst>
                                          <p:attrName>ppt_w</p:attrName>
                                        </p:attrNameLst>
                                      </p:cBhvr>
                                      <p:tavLst>
                                        <p:tav tm="0">
                                          <p:val>
                                            <p:fltVal val="0"/>
                                          </p:val>
                                        </p:tav>
                                        <p:tav tm="100000">
                                          <p:val>
                                            <p:strVal val="#ppt_w"/>
                                          </p:val>
                                        </p:tav>
                                      </p:tavLst>
                                    </p:anim>
                                    <p:anim calcmode="lin" valueType="num">
                                      <p:cBhvr>
                                        <p:cTn id="90" dur="500" fill="hold"/>
                                        <p:tgtEl>
                                          <p:spTgt spid="2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We do · Flat and straight-up lines</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Through (2, −1)</a:t>
            </a:r>
            <a:endParaRPr lang="en-US" sz="3450" dirty="0"/>
          </a:p>
        </p:txBody>
      </p:sp>
      <p:sp>
        <p:nvSpPr>
          <p:cNvPr id="4" name="Shape 4"/>
          <p:cNvSpPr txBox="1"/>
          <p:nvPr/>
        </p:nvSpPr>
        <p:spPr>
          <a:xfrm>
            <a:off x="685800" y="1618488"/>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Horizontal: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endParaRPr lang="en-US" sz="1950" dirty="0"/>
          </a:p>
        </p:txBody>
      </p:sp>
      <p:sp>
        <p:nvSpPr>
          <p:cNvPr id="5" name="Shape 5"/>
          <p:cNvSpPr txBox="1"/>
          <p:nvPr/>
        </p:nvSpPr>
        <p:spPr>
          <a:xfrm>
            <a:off x="685800" y="2103882"/>
            <a:ext cx="2908021"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a:t>
            </a:r>
            <a:endParaRPr lang="en-US" sz="2325" dirty="0"/>
          </a:p>
        </p:txBody>
      </p:sp>
      <p:sp>
        <p:nvSpPr>
          <p:cNvPr id="6" name="Shape 6"/>
          <p:cNvSpPr txBox="1"/>
          <p:nvPr/>
        </p:nvSpPr>
        <p:spPr>
          <a:xfrm>
            <a:off x="685800" y="2756154"/>
            <a:ext cx="5219548"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Vertical: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____</a:t>
            </a:r>
            <a:endParaRPr lang="en-US" sz="1950" dirty="0"/>
          </a:p>
        </p:txBody>
      </p:sp>
      <p:sp>
        <p:nvSpPr>
          <p:cNvPr id="7" name="Shape 7"/>
          <p:cNvSpPr txBox="1"/>
          <p:nvPr/>
        </p:nvSpPr>
        <p:spPr>
          <a:xfrm>
            <a:off x="685800" y="3241548"/>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8" name="Shape 8"/>
          <p:cNvSpPr txBox="1"/>
          <p:nvPr/>
        </p:nvSpPr>
        <p:spPr>
          <a:xfrm>
            <a:off x="685800" y="3893820"/>
            <a:ext cx="5219548"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A horizontal line and a vertical line are always perpendicular.</a:t>
            </a:r>
            <a:endParaRPr lang="en-US" sz="1575" dirty="0"/>
          </a:p>
        </p:txBody>
      </p:sp>
      <p:sp>
        <p:nvSpPr>
          <p:cNvPr id="9" name="Shape 9"/>
          <p:cNvSpPr/>
          <p:nvPr/>
        </p:nvSpPr>
        <p:spPr>
          <a:xfrm>
            <a:off x="6286348" y="1618488"/>
            <a:ext cx="2857500" cy="2857500"/>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cxnSp>
        <p:nvCxnSpPr>
          <p:cNvPr id="10" name="Line 10"/>
          <p:cNvCxnSpPr/>
          <p:nvPr/>
        </p:nvCxnSpPr>
        <p:spPr>
          <a:xfrm>
            <a:off x="6610198" y="1732788"/>
            <a:ext cx="0" cy="2495550"/>
          </a:xfrm>
          <a:prstGeom prst="line">
            <a:avLst/>
          </a:prstGeom>
          <a:ln w="9525" cap="flat">
            <a:solidFill>
              <a:srgbClr val="E6E8F2"/>
            </a:solidFill>
          </a:ln>
        </p:spPr>
      </p:cxnSp>
      <p:cxnSp>
        <p:nvCxnSpPr>
          <p:cNvPr id="11" name="Line 11"/>
          <p:cNvCxnSpPr/>
          <p:nvPr/>
        </p:nvCxnSpPr>
        <p:spPr>
          <a:xfrm>
            <a:off x="6879014" y="1732788"/>
            <a:ext cx="0" cy="2495550"/>
          </a:xfrm>
          <a:prstGeom prst="line">
            <a:avLst/>
          </a:prstGeom>
          <a:ln w="9525" cap="flat">
            <a:solidFill>
              <a:srgbClr val="E6E8F2"/>
            </a:solidFill>
          </a:ln>
        </p:spPr>
      </p:cxnSp>
      <p:cxnSp>
        <p:nvCxnSpPr>
          <p:cNvPr id="12" name="Line 12"/>
          <p:cNvCxnSpPr/>
          <p:nvPr/>
        </p:nvCxnSpPr>
        <p:spPr>
          <a:xfrm>
            <a:off x="7147831" y="1732788"/>
            <a:ext cx="0" cy="2495550"/>
          </a:xfrm>
          <a:prstGeom prst="line">
            <a:avLst/>
          </a:prstGeom>
          <a:ln w="9525" cap="flat">
            <a:solidFill>
              <a:srgbClr val="E6E8F2"/>
            </a:solidFill>
          </a:ln>
        </p:spPr>
      </p:cxnSp>
      <p:cxnSp>
        <p:nvCxnSpPr>
          <p:cNvPr id="13" name="Line 13"/>
          <p:cNvCxnSpPr/>
          <p:nvPr/>
        </p:nvCxnSpPr>
        <p:spPr>
          <a:xfrm>
            <a:off x="7416648" y="1732788"/>
            <a:ext cx="0" cy="2495550"/>
          </a:xfrm>
          <a:prstGeom prst="line">
            <a:avLst/>
          </a:prstGeom>
          <a:ln w="9525" cap="flat">
            <a:solidFill>
              <a:srgbClr val="E6E8F2"/>
            </a:solidFill>
          </a:ln>
        </p:spPr>
      </p:cxnSp>
      <p:cxnSp>
        <p:nvCxnSpPr>
          <p:cNvPr id="14" name="Line 14"/>
          <p:cNvCxnSpPr/>
          <p:nvPr/>
        </p:nvCxnSpPr>
        <p:spPr>
          <a:xfrm>
            <a:off x="7685464" y="1732788"/>
            <a:ext cx="0" cy="2495550"/>
          </a:xfrm>
          <a:prstGeom prst="line">
            <a:avLst/>
          </a:prstGeom>
          <a:ln w="9525" cap="flat">
            <a:solidFill>
              <a:srgbClr val="E6E8F2"/>
            </a:solidFill>
          </a:ln>
        </p:spPr>
      </p:cxnSp>
      <p:cxnSp>
        <p:nvCxnSpPr>
          <p:cNvPr id="15" name="Line 15"/>
          <p:cNvCxnSpPr/>
          <p:nvPr/>
        </p:nvCxnSpPr>
        <p:spPr>
          <a:xfrm>
            <a:off x="7954281" y="1732788"/>
            <a:ext cx="0" cy="2495550"/>
          </a:xfrm>
          <a:prstGeom prst="line">
            <a:avLst/>
          </a:prstGeom>
          <a:ln w="9525" cap="flat">
            <a:solidFill>
              <a:srgbClr val="E6E8F2"/>
            </a:solidFill>
          </a:ln>
        </p:spPr>
      </p:cxnSp>
      <p:cxnSp>
        <p:nvCxnSpPr>
          <p:cNvPr id="16" name="Line 16"/>
          <p:cNvCxnSpPr/>
          <p:nvPr/>
        </p:nvCxnSpPr>
        <p:spPr>
          <a:xfrm>
            <a:off x="8223098" y="1732788"/>
            <a:ext cx="0" cy="2495550"/>
          </a:xfrm>
          <a:prstGeom prst="line">
            <a:avLst/>
          </a:prstGeom>
          <a:ln w="9525" cap="flat">
            <a:solidFill>
              <a:srgbClr val="E6E8F2"/>
            </a:solidFill>
          </a:ln>
        </p:spPr>
      </p:cxnSp>
      <p:cxnSp>
        <p:nvCxnSpPr>
          <p:cNvPr id="17" name="Line 17"/>
          <p:cNvCxnSpPr/>
          <p:nvPr/>
        </p:nvCxnSpPr>
        <p:spPr>
          <a:xfrm>
            <a:off x="8491914" y="1732788"/>
            <a:ext cx="0" cy="2495550"/>
          </a:xfrm>
          <a:prstGeom prst="line">
            <a:avLst/>
          </a:prstGeom>
          <a:ln w="9525" cap="flat">
            <a:solidFill>
              <a:srgbClr val="E6E8F2"/>
            </a:solidFill>
          </a:ln>
        </p:spPr>
      </p:cxnSp>
      <p:cxnSp>
        <p:nvCxnSpPr>
          <p:cNvPr id="18" name="Line 18"/>
          <p:cNvCxnSpPr/>
          <p:nvPr/>
        </p:nvCxnSpPr>
        <p:spPr>
          <a:xfrm>
            <a:off x="8760731" y="1732788"/>
            <a:ext cx="0" cy="2495550"/>
          </a:xfrm>
          <a:prstGeom prst="line">
            <a:avLst/>
          </a:prstGeom>
          <a:ln w="9525" cap="flat">
            <a:solidFill>
              <a:srgbClr val="E6E8F2"/>
            </a:solidFill>
          </a:ln>
        </p:spPr>
      </p:cxnSp>
      <p:cxnSp>
        <p:nvCxnSpPr>
          <p:cNvPr id="19" name="Line 19"/>
          <p:cNvCxnSpPr/>
          <p:nvPr/>
        </p:nvCxnSpPr>
        <p:spPr>
          <a:xfrm>
            <a:off x="9029548" y="1732788"/>
            <a:ext cx="0" cy="2495550"/>
          </a:xfrm>
          <a:prstGeom prst="line">
            <a:avLst/>
          </a:prstGeom>
          <a:ln w="9525" cap="flat">
            <a:solidFill>
              <a:srgbClr val="E6E8F2"/>
            </a:solidFill>
          </a:ln>
        </p:spPr>
      </p:cxnSp>
      <p:cxnSp>
        <p:nvCxnSpPr>
          <p:cNvPr id="20" name="Line 20"/>
          <p:cNvCxnSpPr/>
          <p:nvPr/>
        </p:nvCxnSpPr>
        <p:spPr>
          <a:xfrm>
            <a:off x="6610198" y="4228338"/>
            <a:ext cx="2419350" cy="0"/>
          </a:xfrm>
          <a:prstGeom prst="line">
            <a:avLst/>
          </a:prstGeom>
          <a:ln w="9525" cap="flat">
            <a:solidFill>
              <a:srgbClr val="E6E8F2"/>
            </a:solidFill>
          </a:ln>
        </p:spPr>
      </p:cxnSp>
      <p:cxnSp>
        <p:nvCxnSpPr>
          <p:cNvPr id="21" name="Line 21"/>
          <p:cNvCxnSpPr/>
          <p:nvPr/>
        </p:nvCxnSpPr>
        <p:spPr>
          <a:xfrm>
            <a:off x="6610198" y="3951055"/>
            <a:ext cx="2419350" cy="0"/>
          </a:xfrm>
          <a:prstGeom prst="line">
            <a:avLst/>
          </a:prstGeom>
          <a:ln w="9525" cap="flat">
            <a:solidFill>
              <a:srgbClr val="E6E8F2"/>
            </a:solidFill>
          </a:ln>
        </p:spPr>
      </p:cxnSp>
      <p:cxnSp>
        <p:nvCxnSpPr>
          <p:cNvPr id="22" name="Line 22"/>
          <p:cNvCxnSpPr/>
          <p:nvPr/>
        </p:nvCxnSpPr>
        <p:spPr>
          <a:xfrm>
            <a:off x="6610198" y="3673771"/>
            <a:ext cx="2419350" cy="0"/>
          </a:xfrm>
          <a:prstGeom prst="line">
            <a:avLst/>
          </a:prstGeom>
          <a:ln w="9525" cap="flat">
            <a:solidFill>
              <a:srgbClr val="E6E8F2"/>
            </a:solidFill>
          </a:ln>
        </p:spPr>
      </p:cxnSp>
      <p:cxnSp>
        <p:nvCxnSpPr>
          <p:cNvPr id="23" name="Line 23"/>
          <p:cNvCxnSpPr/>
          <p:nvPr/>
        </p:nvCxnSpPr>
        <p:spPr>
          <a:xfrm>
            <a:off x="6610198" y="3396488"/>
            <a:ext cx="2419350" cy="0"/>
          </a:xfrm>
          <a:prstGeom prst="line">
            <a:avLst/>
          </a:prstGeom>
          <a:ln w="9525" cap="flat">
            <a:solidFill>
              <a:srgbClr val="E6E8F2"/>
            </a:solidFill>
          </a:ln>
        </p:spPr>
      </p:cxnSp>
      <p:cxnSp>
        <p:nvCxnSpPr>
          <p:cNvPr id="24" name="Line 24"/>
          <p:cNvCxnSpPr/>
          <p:nvPr/>
        </p:nvCxnSpPr>
        <p:spPr>
          <a:xfrm>
            <a:off x="6610198" y="3119205"/>
            <a:ext cx="2419350" cy="0"/>
          </a:xfrm>
          <a:prstGeom prst="line">
            <a:avLst/>
          </a:prstGeom>
          <a:ln w="9525" cap="flat">
            <a:solidFill>
              <a:srgbClr val="E6E8F2"/>
            </a:solidFill>
          </a:ln>
        </p:spPr>
      </p:cxnSp>
      <p:cxnSp>
        <p:nvCxnSpPr>
          <p:cNvPr id="25" name="Line 25"/>
          <p:cNvCxnSpPr/>
          <p:nvPr/>
        </p:nvCxnSpPr>
        <p:spPr>
          <a:xfrm>
            <a:off x="6610198" y="2841921"/>
            <a:ext cx="2419350" cy="0"/>
          </a:xfrm>
          <a:prstGeom prst="line">
            <a:avLst/>
          </a:prstGeom>
          <a:ln w="9525" cap="flat">
            <a:solidFill>
              <a:srgbClr val="E6E8F2"/>
            </a:solidFill>
          </a:ln>
        </p:spPr>
      </p:cxnSp>
      <p:cxnSp>
        <p:nvCxnSpPr>
          <p:cNvPr id="26" name="Line 26"/>
          <p:cNvCxnSpPr/>
          <p:nvPr/>
        </p:nvCxnSpPr>
        <p:spPr>
          <a:xfrm>
            <a:off x="6610198" y="2564638"/>
            <a:ext cx="2419350" cy="0"/>
          </a:xfrm>
          <a:prstGeom prst="line">
            <a:avLst/>
          </a:prstGeom>
          <a:ln w="9525" cap="flat">
            <a:solidFill>
              <a:srgbClr val="E6E8F2"/>
            </a:solidFill>
          </a:ln>
        </p:spPr>
      </p:cxnSp>
      <p:cxnSp>
        <p:nvCxnSpPr>
          <p:cNvPr id="27" name="Line 27"/>
          <p:cNvCxnSpPr/>
          <p:nvPr/>
        </p:nvCxnSpPr>
        <p:spPr>
          <a:xfrm>
            <a:off x="6610198" y="2287355"/>
            <a:ext cx="2419350" cy="0"/>
          </a:xfrm>
          <a:prstGeom prst="line">
            <a:avLst/>
          </a:prstGeom>
          <a:ln w="9525" cap="flat">
            <a:solidFill>
              <a:srgbClr val="E6E8F2"/>
            </a:solidFill>
          </a:ln>
        </p:spPr>
      </p:cxnSp>
      <p:cxnSp>
        <p:nvCxnSpPr>
          <p:cNvPr id="28" name="Line 28"/>
          <p:cNvCxnSpPr/>
          <p:nvPr/>
        </p:nvCxnSpPr>
        <p:spPr>
          <a:xfrm>
            <a:off x="6610198" y="2010071"/>
            <a:ext cx="2419350" cy="0"/>
          </a:xfrm>
          <a:prstGeom prst="line">
            <a:avLst/>
          </a:prstGeom>
          <a:ln w="9525" cap="flat">
            <a:solidFill>
              <a:srgbClr val="E6E8F2"/>
            </a:solidFill>
          </a:ln>
        </p:spPr>
      </p:cxnSp>
      <p:cxnSp>
        <p:nvCxnSpPr>
          <p:cNvPr id="29" name="Line 29"/>
          <p:cNvCxnSpPr/>
          <p:nvPr/>
        </p:nvCxnSpPr>
        <p:spPr>
          <a:xfrm>
            <a:off x="6610198" y="1732788"/>
            <a:ext cx="2419350" cy="0"/>
          </a:xfrm>
          <a:prstGeom prst="line">
            <a:avLst/>
          </a:prstGeom>
          <a:ln w="9525" cap="flat">
            <a:solidFill>
              <a:srgbClr val="E6E8F2"/>
            </a:solidFill>
          </a:ln>
        </p:spPr>
      </p:cxnSp>
      <p:cxnSp>
        <p:nvCxnSpPr>
          <p:cNvPr id="30" name="Line 30"/>
          <p:cNvCxnSpPr/>
          <p:nvPr/>
        </p:nvCxnSpPr>
        <p:spPr>
          <a:xfrm>
            <a:off x="7685464" y="1732788"/>
            <a:ext cx="0" cy="2495550"/>
          </a:xfrm>
          <a:prstGeom prst="line">
            <a:avLst/>
          </a:prstGeom>
          <a:ln w="19050" cap="flat">
            <a:solidFill>
              <a:srgbClr val="5F6272"/>
            </a:solidFill>
          </a:ln>
        </p:spPr>
      </p:cxnSp>
      <p:cxnSp>
        <p:nvCxnSpPr>
          <p:cNvPr id="31" name="Line 31"/>
          <p:cNvCxnSpPr/>
          <p:nvPr/>
        </p:nvCxnSpPr>
        <p:spPr>
          <a:xfrm>
            <a:off x="6610198" y="2841921"/>
            <a:ext cx="2419350" cy="0"/>
          </a:xfrm>
          <a:prstGeom prst="line">
            <a:avLst/>
          </a:prstGeom>
          <a:ln w="19050" cap="flat">
            <a:solidFill>
              <a:srgbClr val="5F6272"/>
            </a:solidFill>
          </a:ln>
        </p:spPr>
      </p:cxnSp>
      <p:sp>
        <p:nvSpPr>
          <p:cNvPr id="32" name="Shape 32"/>
          <p:cNvSpPr txBox="1"/>
          <p:nvPr/>
        </p:nvSpPr>
        <p:spPr>
          <a:xfrm>
            <a:off x="633587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33" name="Shape 33"/>
          <p:cNvSpPr txBox="1"/>
          <p:nvPr/>
        </p:nvSpPr>
        <p:spPr>
          <a:xfrm>
            <a:off x="660469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34" name="Shape 34"/>
          <p:cNvSpPr txBox="1"/>
          <p:nvPr/>
        </p:nvSpPr>
        <p:spPr>
          <a:xfrm>
            <a:off x="687351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5" name="Shape 35"/>
          <p:cNvSpPr txBox="1"/>
          <p:nvPr/>
        </p:nvSpPr>
        <p:spPr>
          <a:xfrm>
            <a:off x="714232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6" name="Shape 36"/>
          <p:cNvSpPr txBox="1"/>
          <p:nvPr/>
        </p:nvSpPr>
        <p:spPr>
          <a:xfrm>
            <a:off x="741114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0</a:t>
            </a:r>
            <a:endParaRPr lang="en-US" sz="975" dirty="0"/>
          </a:p>
        </p:txBody>
      </p:sp>
      <p:sp>
        <p:nvSpPr>
          <p:cNvPr id="37" name="Shape 37"/>
          <p:cNvSpPr txBox="1"/>
          <p:nvPr/>
        </p:nvSpPr>
        <p:spPr>
          <a:xfrm>
            <a:off x="767996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1</a:t>
            </a:r>
            <a:endParaRPr lang="en-US" sz="975" dirty="0"/>
          </a:p>
        </p:txBody>
      </p:sp>
      <p:sp>
        <p:nvSpPr>
          <p:cNvPr id="38" name="Shape 38"/>
          <p:cNvSpPr txBox="1"/>
          <p:nvPr/>
        </p:nvSpPr>
        <p:spPr>
          <a:xfrm>
            <a:off x="794877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2</a:t>
            </a:r>
            <a:endParaRPr lang="en-US" sz="975" dirty="0"/>
          </a:p>
        </p:txBody>
      </p:sp>
      <p:sp>
        <p:nvSpPr>
          <p:cNvPr id="39" name="Shape 39"/>
          <p:cNvSpPr txBox="1"/>
          <p:nvPr/>
        </p:nvSpPr>
        <p:spPr>
          <a:xfrm>
            <a:off x="8217594"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3</a:t>
            </a:r>
            <a:endParaRPr lang="en-US" sz="975" dirty="0"/>
          </a:p>
        </p:txBody>
      </p:sp>
      <p:sp>
        <p:nvSpPr>
          <p:cNvPr id="40" name="Shape 40"/>
          <p:cNvSpPr txBox="1"/>
          <p:nvPr/>
        </p:nvSpPr>
        <p:spPr>
          <a:xfrm>
            <a:off x="8486411"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4</a:t>
            </a:r>
            <a:endParaRPr lang="en-US" sz="975" dirty="0"/>
          </a:p>
        </p:txBody>
      </p:sp>
      <p:sp>
        <p:nvSpPr>
          <p:cNvPr id="41" name="Shape 41"/>
          <p:cNvSpPr txBox="1"/>
          <p:nvPr/>
        </p:nvSpPr>
        <p:spPr>
          <a:xfrm>
            <a:off x="8755228" y="4247388"/>
            <a:ext cx="548640" cy="182880"/>
          </a:xfrm>
          <a:prstGeom prst="rect">
            <a:avLst/>
          </a:prstGeom>
          <a:noFill/>
          <a:ln>
            <a:noFill/>
          </a:ln>
        </p:spPr>
        <p:txBody>
          <a:bodyPr wrap="square" lIns="0" tIns="0" rIns="0" bIns="0" anchor="t">
            <a:noAutofit/>
          </a:bodyPr>
          <a:lstStyle/>
          <a:p>
            <a:pPr algn="ctr">
              <a:lnSpc>
                <a:spcPct val="100000"/>
              </a:lnSpc>
            </a:pPr>
            <a:r>
              <a:rPr lang="en-US" sz="975" dirty="0">
                <a:solidFill>
                  <a:srgbClr val="5F6272"/>
                </a:solidFill>
                <a:latin typeface="Segoe UI"/>
                <a:cs typeface="Segoe UI"/>
              </a:rPr>
              <a:t xml:space="preserve">5</a:t>
            </a:r>
            <a:endParaRPr lang="en-US" sz="975" dirty="0"/>
          </a:p>
        </p:txBody>
      </p:sp>
      <p:sp>
        <p:nvSpPr>
          <p:cNvPr id="42" name="Shape 42"/>
          <p:cNvSpPr txBox="1"/>
          <p:nvPr/>
        </p:nvSpPr>
        <p:spPr>
          <a:xfrm>
            <a:off x="6043270" y="41368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−5</a:t>
            </a:r>
            <a:endParaRPr lang="en-US" sz="975" dirty="0"/>
          </a:p>
        </p:txBody>
      </p:sp>
      <p:sp>
        <p:nvSpPr>
          <p:cNvPr id="43" name="Shape 43"/>
          <p:cNvSpPr txBox="1"/>
          <p:nvPr/>
        </p:nvSpPr>
        <p:spPr>
          <a:xfrm>
            <a:off x="6043270" y="385961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sp>
        <p:nvSpPr>
          <p:cNvPr id="44" name="Shape 44"/>
          <p:cNvSpPr txBox="1"/>
          <p:nvPr/>
        </p:nvSpPr>
        <p:spPr>
          <a:xfrm>
            <a:off x="6043270" y="35823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45" name="Shape 45"/>
          <p:cNvSpPr txBox="1"/>
          <p:nvPr/>
        </p:nvSpPr>
        <p:spPr>
          <a:xfrm>
            <a:off x="6043270" y="33050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46" name="Shape 46"/>
          <p:cNvSpPr txBox="1"/>
          <p:nvPr/>
        </p:nvSpPr>
        <p:spPr>
          <a:xfrm>
            <a:off x="6043270" y="302776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7" name="Shape 47"/>
          <p:cNvSpPr txBox="1"/>
          <p:nvPr/>
        </p:nvSpPr>
        <p:spPr>
          <a:xfrm>
            <a:off x="6043270" y="275048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0</a:t>
            </a:r>
            <a:endParaRPr lang="en-US" sz="975" dirty="0"/>
          </a:p>
        </p:txBody>
      </p:sp>
      <p:sp>
        <p:nvSpPr>
          <p:cNvPr id="48" name="Shape 48"/>
          <p:cNvSpPr txBox="1"/>
          <p:nvPr/>
        </p:nvSpPr>
        <p:spPr>
          <a:xfrm>
            <a:off x="6043270" y="247319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1</a:t>
            </a:r>
            <a:endParaRPr lang="en-US" sz="975" dirty="0"/>
          </a:p>
        </p:txBody>
      </p:sp>
      <p:sp>
        <p:nvSpPr>
          <p:cNvPr id="49" name="Shape 49"/>
          <p:cNvSpPr txBox="1"/>
          <p:nvPr/>
        </p:nvSpPr>
        <p:spPr>
          <a:xfrm>
            <a:off x="6043270" y="2195915"/>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2</a:t>
            </a:r>
            <a:endParaRPr lang="en-US" sz="975" dirty="0"/>
          </a:p>
        </p:txBody>
      </p:sp>
      <p:sp>
        <p:nvSpPr>
          <p:cNvPr id="50" name="Shape 50"/>
          <p:cNvSpPr txBox="1"/>
          <p:nvPr/>
        </p:nvSpPr>
        <p:spPr>
          <a:xfrm>
            <a:off x="6043270" y="1918631"/>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3</a:t>
            </a:r>
            <a:endParaRPr lang="en-US" sz="975" dirty="0"/>
          </a:p>
        </p:txBody>
      </p:sp>
      <p:sp>
        <p:nvSpPr>
          <p:cNvPr id="51" name="Shape 51"/>
          <p:cNvSpPr txBox="1"/>
          <p:nvPr/>
        </p:nvSpPr>
        <p:spPr>
          <a:xfrm>
            <a:off x="6043270" y="1641348"/>
            <a:ext cx="512064" cy="182880"/>
          </a:xfrm>
          <a:prstGeom prst="rect">
            <a:avLst/>
          </a:prstGeom>
          <a:noFill/>
          <a:ln>
            <a:noFill/>
          </a:ln>
        </p:spPr>
        <p:txBody>
          <a:bodyPr wrap="square" lIns="0" tIns="0" rIns="0" bIns="0" anchor="ctr">
            <a:noAutofit/>
          </a:bodyPr>
          <a:lstStyle/>
          <a:p>
            <a:pPr algn="r">
              <a:lnSpc>
                <a:spcPct val="100000"/>
              </a:lnSpc>
            </a:pPr>
            <a:r>
              <a:rPr lang="en-US" sz="975" dirty="0">
                <a:solidFill>
                  <a:srgbClr val="5F6272"/>
                </a:solidFill>
                <a:latin typeface="Segoe UI"/>
                <a:cs typeface="Segoe UI"/>
              </a:rPr>
              <a:t xml:space="preserve">4</a:t>
            </a:r>
            <a:endParaRPr lang="en-US" sz="975" dirty="0"/>
          </a:p>
        </p:txBody>
      </p:sp>
      <p:cxnSp>
        <p:nvCxnSpPr>
          <p:cNvPr id="52" name="Line 52"/>
          <p:cNvCxnSpPr/>
          <p:nvPr/>
        </p:nvCxnSpPr>
        <p:spPr>
          <a:xfrm>
            <a:off x="6610198" y="3119205"/>
            <a:ext cx="2419350" cy="0"/>
          </a:xfrm>
          <a:prstGeom prst="line">
            <a:avLst/>
          </a:prstGeom>
          <a:ln w="38100" cap="rnd">
            <a:solidFill>
              <a:srgbClr val="16171D"/>
            </a:solidFill>
          </a:ln>
        </p:spPr>
      </p:cxnSp>
      <p:sp>
        <p:nvSpPr>
          <p:cNvPr id="53" name="Shape 53"/>
          <p:cNvSpPr txBox="1"/>
          <p:nvPr/>
        </p:nvSpPr>
        <p:spPr>
          <a:xfrm>
            <a:off x="6537808" y="3138255"/>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y = −1</a:t>
            </a:r>
            <a:endParaRPr lang="en-US" sz="1275" dirty="0"/>
          </a:p>
        </p:txBody>
      </p:sp>
      <p:cxnSp>
        <p:nvCxnSpPr>
          <p:cNvPr id="54" name="Line 54"/>
          <p:cNvCxnSpPr/>
          <p:nvPr/>
        </p:nvCxnSpPr>
        <p:spPr>
          <a:xfrm flipV="1">
            <a:off x="8223098" y="1732788"/>
            <a:ext cx="0" cy="2495550"/>
          </a:xfrm>
          <a:prstGeom prst="line">
            <a:avLst/>
          </a:prstGeom>
          <a:ln w="38100" cap="rnd">
            <a:solidFill>
              <a:srgbClr val="7A4FC4"/>
            </a:solidFill>
          </a:ln>
        </p:spPr>
      </p:cxnSp>
      <p:sp>
        <p:nvSpPr>
          <p:cNvPr id="55" name="Shape 55"/>
          <p:cNvSpPr txBox="1"/>
          <p:nvPr/>
        </p:nvSpPr>
        <p:spPr>
          <a:xfrm>
            <a:off x="5731358" y="1751838"/>
            <a:ext cx="2377440" cy="228600"/>
          </a:xfrm>
          <a:prstGeom prst="rect">
            <a:avLst/>
          </a:prstGeom>
          <a:noFill/>
          <a:ln>
            <a:noFill/>
          </a:ln>
        </p:spPr>
        <p:txBody>
          <a:bodyPr wrap="square" lIns="0" tIns="0" rIns="0" bIns="0" anchor="t">
            <a:noAutofit/>
          </a:bodyPr>
          <a:lstStyle/>
          <a:p>
            <a:pPr algn="r">
              <a:lnSpc>
                <a:spcPct val="100000"/>
              </a:lnSpc>
            </a:pPr>
            <a:r>
              <a:rPr lang="en-US" sz="1275" dirty="0" i="1">
                <a:solidFill>
                  <a:srgbClr val="16171D"/>
                </a:solidFill>
                <a:latin typeface="Cambria"/>
                <a:cs typeface="Cambria"/>
              </a:rPr>
              <a:t xml:space="preserve">x = 2</a:t>
            </a:r>
            <a:endParaRPr lang="en-US" sz="1275" dirty="0"/>
          </a:p>
        </p:txBody>
      </p:sp>
      <p:sp>
        <p:nvSpPr>
          <p:cNvPr id="56" name="Shape 56"/>
          <p:cNvSpPr/>
          <p:nvPr/>
        </p:nvSpPr>
        <p:spPr>
          <a:xfrm>
            <a:off x="8170710" y="3066817"/>
            <a:ext cx="104775" cy="104775"/>
          </a:xfrm>
          <a:prstGeom prst="ellipse">
            <a:avLst/>
          </a:prstGeom>
          <a:solidFill>
            <a:srgbClr val="3050B8"/>
          </a:solidFill>
          <a:ln>
            <a:noFill/>
          </a:ln>
        </p:spPr>
        <p:txBody>
          <a:bodyPr wrap="square" lIns="36576" tIns="27432" rIns="36576" bIns="27432" anchor="t">
            <a:noAutofit/>
          </a:bodyPr>
          <a:lstStyle/>
          <a:p>
            <a:pPr algn="l">
              <a:lnSpc>
                <a:spcPct val="100000"/>
              </a:lnSpc>
            </a:pPr>
            <a:endParaRPr lang="en-US" sz="1950" dirty="0"/>
          </a:p>
        </p:txBody>
      </p:sp>
      <p:sp>
        <p:nvSpPr>
          <p:cNvPr id="57" name="Shape 57"/>
          <p:cNvSpPr txBox="1"/>
          <p:nvPr/>
        </p:nvSpPr>
        <p:spPr>
          <a:xfrm>
            <a:off x="8308823" y="2871555"/>
            <a:ext cx="1280160" cy="201168"/>
          </a:xfrm>
          <a:prstGeom prst="rect">
            <a:avLst/>
          </a:prstGeom>
          <a:noFill/>
          <a:ln>
            <a:noFill/>
          </a:ln>
        </p:spPr>
        <p:txBody>
          <a:bodyPr wrap="square" lIns="0" tIns="0" rIns="0" bIns="0" anchor="t">
            <a:noAutofit/>
          </a:bodyPr>
          <a:lstStyle/>
          <a:p>
            <a:pPr algn="l">
              <a:lnSpc>
                <a:spcPct val="100000"/>
              </a:lnSpc>
            </a:pPr>
            <a:r>
              <a:rPr lang="en-US" sz="1125" dirty="0" b="1">
                <a:solidFill>
                  <a:srgbClr val="3050B8"/>
                </a:solidFill>
                <a:latin typeface="Segoe UI"/>
                <a:cs typeface="Segoe UI"/>
              </a:rPr>
              <a:t xml:space="preserve">(2, −1)</a:t>
            </a:r>
            <a:endParaRPr lang="en-US" sz="1125" dirty="0"/>
          </a:p>
        </p:txBody>
      </p:sp>
      <p:sp>
        <p:nvSpPr>
          <p:cNvPr id="58" name="Slide Number 58"/>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9</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3" fill="hold">
                      <p:stCondLst>
                        <p:cond delay="indefinite"/>
                      </p:stCondLst>
                      <p:childTnLst>
                        <p:par>
                          <p:cTn id="24" fill="hold">
                            <p:stCondLst>
                              <p:cond delay="0"/>
                            </p:stCondLst>
                            <p:childTnLst>
                              <p:par>
                                <p:cTn id="19" presetID="22" presetClass="entr" presetSubtype="8" fill="hold" nodeType="click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wipe(left)">
                                      <p:cBhvr>
                                        <p:cTn id="18" dur="700"/>
                                        <p:tgtEl>
                                          <p:spTgt spid="52"/>
                                        </p:tgtEl>
                                      </p:cBhvr>
                                    </p:animEffect>
                                  </p:childTnLst>
                                </p:cTn>
                              </p:par>
                              <p:par>
                                <p:cTn id="22" presetID="22" presetClass="entr" presetSubtype="8"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animEffect transition="in" filter="wipe(left)">
                                      <p:cBhvr>
                                        <p:cTn id="21" dur="700"/>
                                        <p:tgtEl>
                                          <p:spTgt spid="53"/>
                                        </p:tgtEl>
                                      </p:cBhvr>
                                    </p:animEffect>
                                  </p:childTnLst>
                                </p:cTn>
                              </p:par>
                            </p:childTnLst>
                          </p:cTn>
                        </p:par>
                      </p:childTnLst>
                    </p:cTn>
                  </p:par>
                  <p:par>
                    <p:cTn id="31" fill="hold">
                      <p:stCondLst>
                        <p:cond delay="indefinite"/>
                      </p:stCondLst>
                      <p:childTnLst>
                        <p:par>
                          <p:cTn id="32" fill="hold">
                            <p:stCondLst>
                              <p:cond delay="0"/>
                            </p:stCondLst>
                            <p:childTnLst>
                              <p:par>
                                <p:cTn id="27" presetID="22" presetClass="entr" presetSubtype="8" fill="hold" nodeType="clickEffect">
                                  <p:stCondLst>
                                    <p:cond delay="0"/>
                                  </p:stCondLst>
                                  <p:childTnLst>
                                    <p:set>
                                      <p:cBhvr>
                                        <p:cTn id="25" dur="1" fill="hold">
                                          <p:stCondLst>
                                            <p:cond delay="0"/>
                                          </p:stCondLst>
                                        </p:cTn>
                                        <p:tgtEl>
                                          <p:spTgt spid="54"/>
                                        </p:tgtEl>
                                        <p:attrNameLst>
                                          <p:attrName>style.visibility</p:attrName>
                                        </p:attrNameLst>
                                      </p:cBhvr>
                                      <p:to>
                                        <p:strVal val="visible"/>
                                      </p:to>
                                    </p:set>
                                    <p:animEffect transition="in" filter="wipe(left)">
                                      <p:cBhvr>
                                        <p:cTn id="26" dur="700"/>
                                        <p:tgtEl>
                                          <p:spTgt spid="54"/>
                                        </p:tgtEl>
                                      </p:cBhvr>
                                    </p:animEffect>
                                  </p:childTnLst>
                                </p:cTn>
                              </p:par>
                              <p:par>
                                <p:cTn id="30" presetID="22" presetClass="entr" presetSubtype="8" fill="hold" nodeType="with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wipe(left)">
                                      <p:cBhvr>
                                        <p:cTn id="29" dur="7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I do · Write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2</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+ 1, through (6, 2)</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1: given slope 2. Step 2: new slope:</a:t>
            </a:r>
            <a:endParaRPr lang="en-US" sz="1950" dirty="0"/>
          </a:p>
        </p:txBody>
      </p:sp>
      <p:sp>
        <p:nvSpPr>
          <p:cNvPr id="5" name="Shape 5"/>
          <p:cNvSpPr txBox="1"/>
          <p:nvPr/>
        </p:nvSpPr>
        <p:spPr>
          <a:xfrm>
            <a:off x="685800" y="214198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3: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− 2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a:solidFill>
                  <a:srgbClr val="16171D"/>
                </a:solidFill>
                <a:latin typeface="Segoe UI"/>
                <a:cs typeface="Segoe UI"/>
              </a:rPr>
              <a:t xml:space="preserve">(</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− 6)</a:t>
            </a:r>
            <a:endParaRPr lang="en-US" sz="1950" dirty="0"/>
          </a:p>
        </p:txBody>
      </p:sp>
      <p:sp>
        <p:nvSpPr>
          <p:cNvPr id="7" name="Shape 7"/>
          <p:cNvSpPr txBox="1"/>
          <p:nvPr/>
        </p:nvSpPr>
        <p:spPr>
          <a:xfrm>
            <a:off x="685800" y="335584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Step 4: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− 2 = −</a:t>
            </a:r>
            <a:r>
              <a:rPr lang="en-US" sz="1950" dirty="0">
                <a:solidFill>
                  <a:srgbClr val="16171D"/>
                </a:solidFill>
                <a:latin typeface="Segoe UI"/>
                <a:cs typeface="Segoe UI"/>
              </a:rPr>
              <a:t xml:space="preserve">1</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2</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8" name="Shape 8"/>
          <p:cNvSpPr txBox="1"/>
          <p:nvPr/>
        </p:nvSpPr>
        <p:spPr>
          <a:xfrm>
            <a:off x="685800" y="387934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2</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9" name="Slide Number 9"/>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10</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You do · Try it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through (3, 1)</a:t>
            </a:r>
            <a:endParaRPr lang="en-US" sz="3450" dirty="0"/>
          </a:p>
        </p:txBody>
      </p:sp>
      <p:sp>
        <p:nvSpPr>
          <p:cNvPr id="4" name="Shape 4"/>
          <p:cNvSpPr txBox="1"/>
          <p:nvPr/>
        </p:nvSpPr>
        <p:spPr>
          <a:xfrm>
            <a:off x="685800" y="1618488"/>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New slope: ____</a:t>
            </a:r>
            <a:endParaRPr lang="en-US" sz="1950" dirty="0"/>
          </a:p>
        </p:txBody>
      </p:sp>
      <p:sp>
        <p:nvSpPr>
          <p:cNvPr id="5" name="Shape 5"/>
          <p:cNvSpPr txBox="1"/>
          <p:nvPr/>
        </p:nvSpPr>
        <p:spPr>
          <a:xfrm>
            <a:off x="685800" y="214198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685800" y="2832354"/>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− 1 = ____(</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− 3)</a:t>
            </a:r>
            <a:endParaRPr lang="en-US" sz="1950" dirty="0"/>
          </a:p>
        </p:txBody>
      </p:sp>
      <p:sp>
        <p:nvSpPr>
          <p:cNvPr id="7" name="Shape 7"/>
          <p:cNvSpPr txBox="1"/>
          <p:nvPr/>
        </p:nvSpPr>
        <p:spPr>
          <a:xfrm>
            <a:off x="685800" y="3355848"/>
            <a:ext cx="506376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− 1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a:solidFill>
                  <a:srgbClr val="16171D"/>
                </a:solidFill>
                <a:latin typeface="Cambria"/>
                <a:cs typeface="Cambria"/>
              </a:rPr>
              <a:t xml:space="preserve">(</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8" name="Shape 8"/>
          <p:cNvSpPr txBox="1"/>
          <p:nvPr/>
        </p:nvSpPr>
        <p:spPr>
          <a:xfrm>
            <a:off x="685800" y="4046220"/>
            <a:ext cx="10820095" cy="352044"/>
          </a:xfrm>
          <a:prstGeom prst="rect">
            <a:avLst/>
          </a:prstGeom>
          <a:noFill/>
          <a:ln>
            <a:noFill/>
          </a:ln>
        </p:spPr>
        <p:txBody>
          <a:bodyPr wrap="square" lIns="36576" tIns="27432" rIns="36576" bIns="27432" anchor="t">
            <a:noAutofit/>
          </a:bodyPr>
          <a:lstStyle/>
          <a:p>
            <a:pPr algn="l">
              <a:lnSpc>
                <a:spcPct val="100000"/>
              </a:lnSpc>
            </a:pP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____</a:t>
            </a:r>
            <a:endParaRPr lang="en-US" sz="1950" dirty="0"/>
          </a:p>
        </p:txBody>
      </p:sp>
      <p:sp>
        <p:nvSpPr>
          <p:cNvPr id="9" name="Shape 9"/>
          <p:cNvSpPr txBox="1"/>
          <p:nvPr/>
        </p:nvSpPr>
        <p:spPr>
          <a:xfrm>
            <a:off x="685800" y="4569714"/>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0" name="Slide Number 10"/>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11</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anim calcmode="lin" valueType="num">
                                      <p:cBhvr>
                                        <p:cTn id="12" dur="500" fill="hold"/>
                                        <p:tgtEl>
                                          <p:spTgt spid="7"/>
                                        </p:tgtEl>
                                        <p:attrNameLst>
                                          <p:attrName>ppt_w</p:attrName>
                                        </p:attrNameLst>
                                      </p:cBhvr>
                                      <p:tavLst>
                                        <p:tav tm="0">
                                          <p:val>
                                            <p:fltVal val="0"/>
                                          </p:val>
                                        </p:tav>
                                        <p:tav tm="100000">
                                          <p:val>
                                            <p:strVal val="#ppt_w"/>
                                          </p:val>
                                        </p:tav>
                                      </p:tavLst>
                                    </p:anim>
                                    <p:anim calcmode="lin" valueType="num">
                                      <p:cBhvr>
                                        <p:cTn id="13" dur="500" fill="hold"/>
                                        <p:tgtEl>
                                          <p:spTgt spid="7"/>
                                        </p:tgtEl>
                                        <p:attrNameLst>
                                          <p:attrName>ppt_h</p:attrName>
                                        </p:attrNameLst>
                                      </p:cBhvr>
                                      <p:tavLst>
                                        <p:tav tm="0">
                                          <p:val>
                                            <p:fltVal val="0"/>
                                          </p:val>
                                        </p:tav>
                                        <p:tav tm="100000">
                                          <p:val>
                                            <p:strVal val="#ppt_h"/>
                                          </p:val>
                                        </p:tav>
                                      </p:tavLst>
                                    </p:anim>
                                  </p:childTnLst>
                                </p:cTn>
                              </p:par>
                            </p:childTnLst>
                          </p:cTn>
                        </p:par>
                      </p:childTnLst>
                    </p:cTn>
                  </p:par>
                  <p:par>
                    <p:cTn id="22" fill="hold">
                      <p:stCondLst>
                        <p:cond delay="indefinite"/>
                      </p:stCondLst>
                      <p:childTnLst>
                        <p:par>
                          <p:cTn id="23" fill="hold">
                            <p:stCondLst>
                              <p:cond delay="0"/>
                            </p:stCondLst>
                            <p:childTnLst>
                              <p:par>
                                <p:cTn id="21" presetID="53" presetClass="entr" presetSubtype="16" fill="hold" nodeType="click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500"/>
                                        <p:tgtEl>
                                          <p:spTgt spid="9"/>
                                        </p:tgtEl>
                                      </p:cBhvr>
                                    </p:animEffect>
                                    <p:anim calcmode="lin" valueType="num">
                                      <p:cBhvr>
                                        <p:cTn id="19" dur="500" fill="hold"/>
                                        <p:tgtEl>
                                          <p:spTgt spid="9"/>
                                        </p:tgtEl>
                                        <p:attrNameLst>
                                          <p:attrName>ppt_w</p:attrName>
                                        </p:attrNameLst>
                                      </p:cBhvr>
                                      <p:tavLst>
                                        <p:tav tm="0">
                                          <p:val>
                                            <p:fltVal val="0"/>
                                          </p:val>
                                        </p:tav>
                                        <p:tav tm="100000">
                                          <p:val>
                                            <p:strVal val="#ppt_w"/>
                                          </p:val>
                                        </p:tav>
                                      </p:tavLst>
                                    </p:anim>
                                    <p:anim calcmode="lin" valueType="num">
                                      <p:cBhvr>
                                        <p:cTn id="20" dur="500" fill="hold"/>
                                        <p:tgtEl>
                                          <p:spTgt spid="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Check it · Step by step</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 to </a:t>
            </a:r>
            <a:r>
              <a:rPr lang="en-US" sz="3450" dirty="0" b="1" i="1">
                <a:solidFill>
                  <a:srgbClr val="16171D"/>
                </a:solidFill>
                <a:latin typeface="Segoe UI"/>
                <a:cs typeface="Segoe UI"/>
              </a:rPr>
              <a:t xml:space="preserve">y</a:t>
            </a:r>
            <a:r>
              <a:rPr lang="en-US" sz="3450" dirty="0" b="1">
                <a:solidFill>
                  <a:srgbClr val="16171D"/>
                </a:solidFill>
                <a:latin typeface="Segoe UI"/>
                <a:cs typeface="Segoe UI"/>
              </a:rPr>
              <a:t xml:space="preserve"> = 3</a:t>
            </a:r>
            <a:r>
              <a:rPr lang="en-US" sz="3450" dirty="0" b="1" i="1">
                <a:solidFill>
                  <a:srgbClr val="16171D"/>
                </a:solidFill>
                <a:latin typeface="Segoe UI"/>
                <a:cs typeface="Segoe UI"/>
              </a:rPr>
              <a:t xml:space="preserve">x</a:t>
            </a:r>
            <a:r>
              <a:rPr lang="en-US" sz="3450" dirty="0" b="1">
                <a:solidFill>
                  <a:srgbClr val="16171D"/>
                </a:solidFill>
                <a:latin typeface="Segoe UI"/>
                <a:cs typeface="Segoe UI"/>
              </a:rPr>
              <a:t xml:space="preserve">, through (3, 1)</a:t>
            </a:r>
            <a:endParaRPr lang="en-US" sz="3450" dirty="0"/>
          </a:p>
        </p:txBody>
      </p:sp>
      <p:sp>
        <p:nvSpPr>
          <p:cNvPr id="11" name="Shape 11"/>
          <p:cNvSpPr txBox="1"/>
          <p:nvPr/>
        </p:nvSpPr>
        <p:spPr>
          <a:xfrm>
            <a:off x="685800" y="1618488"/>
            <a:ext cx="10820095" cy="3282696"/>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10400995" cy="374904"/>
          </a:xfrm>
          <a:prstGeom prst="rect">
            <a:avLst/>
          </a:prstGeom>
          <a:noFill/>
          <a:ln>
            <a:noFill/>
          </a:ln>
        </p:spPr>
        <p:txBody>
          <a:bodyPr wrap="square" lIns="36576" tIns="27432" rIns="36576" bIns="27432" anchor="t">
            <a:noAutofit/>
          </a:bodyPr>
          <a:lstStyle/>
          <a:p>
            <a:pPr algn="l">
              <a:lnSpc>
                <a:spcPct val="100000"/>
              </a:lnSpc>
            </a:pPr>
            <a:r>
              <a:rPr lang="en-US" sz="2100" dirty="0" b="1">
                <a:solidFill>
                  <a:srgbClr val="16171D"/>
                </a:solidFill>
                <a:latin typeface="Segoe UI"/>
                <a:cs typeface="Segoe UI"/>
              </a:rPr>
              <a:t xml:space="preserve">Write the perpendicular line</a:t>
            </a:r>
            <a:endParaRPr lang="en-US" sz="2100" dirty="0"/>
          </a:p>
        </p:txBody>
      </p:sp>
      <p:sp>
        <p:nvSpPr>
          <p:cNvPr id="5" name="Shape 5"/>
          <p:cNvSpPr txBox="1"/>
          <p:nvPr/>
        </p:nvSpPr>
        <p:spPr>
          <a:xfrm>
            <a:off x="895350" y="2260092"/>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1.</a:t>
            </a:r>
            <a:r>
              <a:rPr lang="en-US" sz="1575" dirty="0">
                <a:solidFill>
                  <a:srgbClr val="16171D"/>
                </a:solidFill>
                <a:latin typeface="Segoe UI"/>
                <a:cs typeface="Segoe UI"/>
              </a:rPr>
              <a:t xml:space="preserve"> The given slope is the number with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3.</a:t>
            </a:r>
            <a:endParaRPr lang="en-US" sz="1575" dirty="0"/>
          </a:p>
        </p:txBody>
      </p:sp>
      <p:sp>
        <p:nvSpPr>
          <p:cNvPr id="6" name="Shape 6"/>
          <p:cNvSpPr txBox="1"/>
          <p:nvPr/>
        </p:nvSpPr>
        <p:spPr>
          <a:xfrm>
            <a:off x="895350" y="2650236"/>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2.</a:t>
            </a:r>
            <a:r>
              <a:rPr lang="en-US" sz="1575" dirty="0">
                <a:solidFill>
                  <a:srgbClr val="16171D"/>
                </a:solidFill>
                <a:latin typeface="Segoe UI"/>
                <a:cs typeface="Segoe UI"/>
              </a:rPr>
              <a:t xml:space="preserve"> 3 = </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 Flip it to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then change the sign: the new slope is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endParaRPr lang="en-US" sz="1575" dirty="0"/>
          </a:p>
        </p:txBody>
      </p:sp>
      <p:sp>
        <p:nvSpPr>
          <p:cNvPr id="7" name="Shape 7"/>
          <p:cNvSpPr txBox="1"/>
          <p:nvPr/>
        </p:nvSpPr>
        <p:spPr>
          <a:xfrm>
            <a:off x="895350" y="3040380"/>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3.</a:t>
            </a:r>
            <a:r>
              <a:rPr lang="en-US" sz="1575" dirty="0">
                <a:solidFill>
                  <a:srgbClr val="16171D"/>
                </a:solidFill>
                <a:latin typeface="Segoe UI"/>
                <a:cs typeface="Segoe UI"/>
              </a:rPr>
              <a:t xml:space="preserve"> Put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3,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1 into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y</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m</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339" dirty="0" baseline="-25000">
                <a:solidFill>
                  <a:srgbClr val="16171D"/>
                </a:solidFill>
                <a:latin typeface="Segoe UI"/>
                <a:cs typeface="Segoe UI"/>
              </a:rPr>
              <a:t xml:space="preserve">1</a:t>
            </a:r>
            <a:r>
              <a:rPr lang="en-US" sz="1575" dirty="0">
                <a:solidFill>
                  <a:srgbClr val="16171D"/>
                </a:solidFill>
                <a:latin typeface="Segoe UI"/>
                <a:cs typeface="Segoe UI"/>
              </a:rPr>
              <a:t xml:space="preserve">):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− 1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− 3).</a:t>
            </a:r>
            <a:endParaRPr lang="en-US" sz="1575" dirty="0"/>
          </a:p>
        </p:txBody>
      </p:sp>
      <p:sp>
        <p:nvSpPr>
          <p:cNvPr id="8" name="Shape 8"/>
          <p:cNvSpPr txBox="1"/>
          <p:nvPr/>
        </p:nvSpPr>
        <p:spPr>
          <a:xfrm>
            <a:off x="895350" y="3430524"/>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4.</a:t>
            </a:r>
            <a:r>
              <a:rPr lang="en-US" sz="1575" dirty="0">
                <a:solidFill>
                  <a:srgbClr val="16171D"/>
                </a:solidFill>
                <a:latin typeface="Segoe UI"/>
                <a:cs typeface="Segoe UI"/>
              </a:rPr>
              <a:t xml:space="preserve"> Distribute: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 </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and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a:solidFill>
                  <a:srgbClr val="16171D"/>
                </a:solidFill>
                <a:latin typeface="Segoe UI"/>
                <a:cs typeface="Segoe UI"/>
              </a:rPr>
              <a:t xml:space="preserve"> · (−3) = +1. Now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− 1 = −</a:t>
            </a:r>
            <a:r>
              <a:rPr lang="en-US" sz="1575" dirty="0">
                <a:solidFill>
                  <a:srgbClr val="16171D"/>
                </a:solidFill>
                <a:latin typeface="Segoe UI"/>
                <a:cs typeface="Segoe UI"/>
              </a:rPr>
              <a:t xml:space="preserve">1</a:t>
            </a:r>
            <a:r>
              <a:rPr lang="en-US" sz="1575" dirty="0">
                <a:solidFill>
                  <a:srgbClr val="16171D"/>
                </a:solidFill>
                <a:latin typeface="Segoe UI"/>
                <a:cs typeface="Segoe UI"/>
              </a:rPr>
              <a:t xml:space="preserve">/</a:t>
            </a:r>
            <a:r>
              <a:rPr lang="en-US" sz="1575" dirty="0">
                <a:solidFill>
                  <a:srgbClr val="16171D"/>
                </a:solidFill>
                <a:latin typeface="Segoe UI"/>
                <a:cs typeface="Segoe UI"/>
              </a:rPr>
              <a:t xml:space="preserve">3</a:t>
            </a:r>
            <a:r>
              <a:rPr lang="en-US" sz="1575" dirty="0" i="1">
                <a:solidFill>
                  <a:srgbClr val="16171D"/>
                </a:solidFill>
                <a:latin typeface="Segoe UI"/>
                <a:cs typeface="Segoe UI"/>
              </a:rPr>
              <a:t xml:space="preserve">x</a:t>
            </a:r>
            <a:r>
              <a:rPr lang="en-US" sz="1575" dirty="0">
                <a:solidFill>
                  <a:srgbClr val="16171D"/>
                </a:solidFill>
                <a:latin typeface="Segoe UI"/>
                <a:cs typeface="Segoe UI"/>
              </a:rPr>
              <a:t xml:space="preserve"> + 1.</a:t>
            </a:r>
            <a:endParaRPr lang="en-US" sz="1575" dirty="0"/>
          </a:p>
        </p:txBody>
      </p:sp>
      <p:sp>
        <p:nvSpPr>
          <p:cNvPr id="9" name="Shape 9"/>
          <p:cNvSpPr txBox="1"/>
          <p:nvPr/>
        </p:nvSpPr>
        <p:spPr>
          <a:xfrm>
            <a:off x="895350" y="3820668"/>
            <a:ext cx="10400995"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Step 5.</a:t>
            </a:r>
            <a:r>
              <a:rPr lang="en-US" sz="1575" dirty="0">
                <a:solidFill>
                  <a:srgbClr val="16171D"/>
                </a:solidFill>
                <a:latin typeface="Segoe UI"/>
                <a:cs typeface="Segoe UI"/>
              </a:rPr>
              <a:t xml:space="preserve"> Add 1 to both sides to get </a:t>
            </a:r>
            <a:r>
              <a:rPr lang="en-US" sz="1575" dirty="0" i="1">
                <a:solidFill>
                  <a:srgbClr val="16171D"/>
                </a:solidFill>
                <a:latin typeface="Segoe UI"/>
                <a:cs typeface="Segoe UI"/>
              </a:rPr>
              <a:t xml:space="preserve">y</a:t>
            </a:r>
            <a:r>
              <a:rPr lang="en-US" sz="1575" dirty="0">
                <a:solidFill>
                  <a:srgbClr val="16171D"/>
                </a:solidFill>
                <a:latin typeface="Segoe UI"/>
                <a:cs typeface="Segoe UI"/>
              </a:rPr>
              <a:t xml:space="preserve"> alone: 1 + 1 = 2.</a:t>
            </a:r>
            <a:endParaRPr lang="en-US" sz="1575" dirty="0"/>
          </a:p>
        </p:txBody>
      </p:sp>
      <p:sp>
        <p:nvSpPr>
          <p:cNvPr id="10" name="Shape 10"/>
          <p:cNvSpPr txBox="1"/>
          <p:nvPr/>
        </p:nvSpPr>
        <p:spPr>
          <a:xfrm>
            <a:off x="895350" y="4210812"/>
            <a:ext cx="4068806"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a:solidFill>
                  <a:srgbClr val="16171D"/>
                </a:solidFill>
                <a:latin typeface="Cambria"/>
                <a:cs typeface="Cambria"/>
              </a:rPr>
              <a:t xml:space="preserve">1</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+ 2</a:t>
            </a:r>
            <a:endParaRPr lang="en-US" sz="2325" dirty="0"/>
          </a:p>
        </p:txBody>
      </p:sp>
      <p:sp>
        <p:nvSpPr>
          <p:cNvPr id="12" name="Slide Number 12"/>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12</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42" presetClass="entr" presetSubtype="0"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ppt_x</p:attrName>
                                        </p:attrNameLst>
                                      </p:cBhvr>
                                      <p:tavLst>
                                        <p:tav tm="0">
                                          <p:val>
                                            <p:strVal val="#ppt_x"/>
                                          </p:val>
                                        </p:tav>
                                        <p:tav tm="100000">
                                          <p:val>
                                            <p:strVal val="#ppt_x"/>
                                          </p:val>
                                        </p:tav>
                                      </p:tavLst>
                                    </p:anim>
                                    <p:anim calcmode="lin" valueType="num">
                                      <p:cBhvr>
                                        <p:cTn id="6" dur="5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42" presetClass="entr" presetSubtype="0"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anim calcmode="lin" valueType="num">
                                      <p:cBhvr>
                                        <p:cTn id="33" dur="500" fill="hold"/>
                                        <p:tgtEl>
                                          <p:spTgt spid="9"/>
                                        </p:tgtEl>
                                        <p:attrNameLst>
                                          <p:attrName>ppt_x</p:attrName>
                                        </p:attrNameLst>
                                      </p:cBhvr>
                                      <p:tavLst>
                                        <p:tav tm="0">
                                          <p:val>
                                            <p:strVal val="#ppt_x"/>
                                          </p:val>
                                        </p:tav>
                                        <p:tav tm="100000">
                                          <p:val>
                                            <p:strVal val="#ppt_x"/>
                                          </p:val>
                                        </p:tav>
                                      </p:tavLst>
                                    </p:anim>
                                    <p:anim calcmode="lin" valueType="num">
                                      <p:cBhvr>
                                        <p:cTn id="34" dur="5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2" presetID="53" presetClass="entr" presetSubtype="16"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500"/>
                                        <p:tgtEl>
                                          <p:spTgt spid="10"/>
                                        </p:tgtEl>
                                      </p:cBhvr>
                                    </p:animEffect>
                                    <p:anim calcmode="lin" valueType="num">
                                      <p:cBhvr>
                                        <p:cTn id="40" dur="500" fill="hold"/>
                                        <p:tgtEl>
                                          <p:spTgt spid="10"/>
                                        </p:tgtEl>
                                        <p:attrNameLst>
                                          <p:attrName>ppt_w</p:attrName>
                                        </p:attrNameLst>
                                      </p:cBhvr>
                                      <p:tavLst>
                                        <p:tav tm="0">
                                          <p:val>
                                            <p:fltVal val="0"/>
                                          </p:val>
                                        </p:tav>
                                        <p:tav tm="100000">
                                          <p:val>
                                            <p:strVal val="#ppt_w"/>
                                          </p:val>
                                        </p:tav>
                                      </p:tavLst>
                                    </p:anim>
                                    <p:anim calcmode="lin" valueType="num">
                                      <p:cBhvr>
                                        <p:cTn id="41"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Exit Ticket</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Show what you know</a:t>
            </a:r>
            <a:endParaRPr lang="en-US" sz="3450" dirty="0"/>
          </a:p>
        </p:txBody>
      </p:sp>
      <p:sp>
        <p:nvSpPr>
          <p:cNvPr id="9" name="Shape 9"/>
          <p:cNvSpPr txBox="1"/>
          <p:nvPr/>
        </p:nvSpPr>
        <p:spPr>
          <a:xfrm>
            <a:off x="685800" y="1618488"/>
            <a:ext cx="3479698" cy="277672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4" name="Shape 4"/>
          <p:cNvSpPr txBox="1"/>
          <p:nvPr/>
        </p:nvSpPr>
        <p:spPr>
          <a:xfrm>
            <a:off x="895350"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1. What slope is perpendicular to </a:t>
            </a:r>
            <a:r>
              <a:rPr lang="en-US" sz="1950" dirty="0">
                <a:solidFill>
                  <a:srgbClr val="16171D"/>
                </a:solidFill>
                <a:latin typeface="Segoe UI"/>
                <a:cs typeface="Segoe UI"/>
              </a:rPr>
              <a:t xml:space="preserve">3</a:t>
            </a:r>
            <a:r>
              <a:rPr lang="en-US" sz="1950" dirty="0">
                <a:solidFill>
                  <a:srgbClr val="16171D"/>
                </a:solidFill>
                <a:latin typeface="Segoe UI"/>
                <a:cs typeface="Segoe UI"/>
              </a:rPr>
              <a:t xml:space="preserve">/</a:t>
            </a:r>
            <a:r>
              <a:rPr lang="en-US" sz="1950" dirty="0">
                <a:solidFill>
                  <a:srgbClr val="16171D"/>
                </a:solidFill>
                <a:latin typeface="Segoe UI"/>
                <a:cs typeface="Segoe UI"/>
              </a:rPr>
              <a:t xml:space="preserve">4</a:t>
            </a:r>
            <a:r>
              <a:rPr lang="en-US" sz="1950" dirty="0">
                <a:solidFill>
                  <a:srgbClr val="16171D"/>
                </a:solidFill>
                <a:latin typeface="Segoe UI"/>
                <a:cs typeface="Segoe UI"/>
              </a:rPr>
              <a:t xml:space="preserve">?</a:t>
            </a:r>
            <a:endParaRPr lang="en-US" sz="1950" dirty="0"/>
          </a:p>
        </p:txBody>
      </p:sp>
      <p:sp>
        <p:nvSpPr>
          <p:cNvPr id="5" name="Shape 5"/>
          <p:cNvSpPr txBox="1"/>
          <p:nvPr/>
        </p:nvSpPr>
        <p:spPr>
          <a:xfrm>
            <a:off x="895350" y="2534412"/>
            <a:ext cx="2576368"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4</a:t>
            </a:r>
            <a:r>
              <a:rPr lang="en-US" sz="2325" dirty="0">
                <a:solidFill>
                  <a:srgbClr val="16171D"/>
                </a:solidFill>
                <a:latin typeface="Cambria"/>
                <a:cs typeface="Cambria"/>
              </a:rPr>
              <a:t xml:space="preserve">/</a:t>
            </a:r>
            <a:r>
              <a:rPr lang="en-US" sz="2325" dirty="0">
                <a:solidFill>
                  <a:srgbClr val="16171D"/>
                </a:solidFill>
                <a:latin typeface="Cambria"/>
                <a:cs typeface="Cambria"/>
              </a:rPr>
              <a:t xml:space="preserve">3</a:t>
            </a:r>
            <a:endParaRPr lang="en-US" sz="2325" dirty="0"/>
          </a:p>
        </p:txBody>
      </p:sp>
      <p:sp>
        <p:nvSpPr>
          <p:cNvPr id="6" name="Shape 6"/>
          <p:cNvSpPr txBox="1"/>
          <p:nvPr/>
        </p:nvSpPr>
        <p:spPr>
          <a:xfrm>
            <a:off x="895350" y="314858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Flip 3/4: 4/3.</a:t>
            </a:r>
            <a:endParaRPr lang="en-US" sz="1575" dirty="0"/>
          </a:p>
        </p:txBody>
      </p:sp>
      <p:sp>
        <p:nvSpPr>
          <p:cNvPr id="7" name="Shape 7"/>
          <p:cNvSpPr txBox="1"/>
          <p:nvPr/>
        </p:nvSpPr>
        <p:spPr>
          <a:xfrm>
            <a:off x="895350" y="3538728"/>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Change the sign: −4/3.</a:t>
            </a:r>
            <a:endParaRPr lang="en-US" sz="1575" dirty="0"/>
          </a:p>
        </p:txBody>
      </p:sp>
      <p:sp>
        <p:nvSpPr>
          <p:cNvPr id="8" name="Shape 8"/>
          <p:cNvSpPr txBox="1"/>
          <p:nvPr/>
        </p:nvSpPr>
        <p:spPr>
          <a:xfrm>
            <a:off x="895350" y="3928872"/>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Check: 3/4 · (−4/3) = −1.</a:t>
            </a:r>
            <a:endParaRPr lang="en-US" sz="1575" dirty="0"/>
          </a:p>
        </p:txBody>
      </p:sp>
      <p:sp>
        <p:nvSpPr>
          <p:cNvPr id="14" name="Shape 14"/>
          <p:cNvSpPr txBox="1"/>
          <p:nvPr/>
        </p:nvSpPr>
        <p:spPr>
          <a:xfrm>
            <a:off x="4355998" y="1618488"/>
            <a:ext cx="3479698" cy="2866644"/>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0" name="Shape 10"/>
          <p:cNvSpPr txBox="1"/>
          <p:nvPr/>
        </p:nvSpPr>
        <p:spPr>
          <a:xfrm>
            <a:off x="4565548"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2. Write the vertical line through (5, 6).</a:t>
            </a:r>
            <a:endParaRPr lang="en-US" sz="1950" dirty="0"/>
          </a:p>
        </p:txBody>
      </p:sp>
      <p:sp>
        <p:nvSpPr>
          <p:cNvPr id="11" name="Shape 11"/>
          <p:cNvSpPr txBox="1"/>
          <p:nvPr/>
        </p:nvSpPr>
        <p:spPr>
          <a:xfrm>
            <a:off x="4565548" y="2534412"/>
            <a:ext cx="2742194" cy="51892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5</a:t>
            </a:r>
            <a:endParaRPr lang="en-US" sz="2325" dirty="0"/>
          </a:p>
        </p:txBody>
      </p:sp>
      <p:sp>
        <p:nvSpPr>
          <p:cNvPr id="12" name="Shape 12"/>
          <p:cNvSpPr txBox="1"/>
          <p:nvPr/>
        </p:nvSpPr>
        <p:spPr>
          <a:xfrm>
            <a:off x="4565548" y="3148584"/>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On a vertical line, x never changes.</a:t>
            </a:r>
            <a:endParaRPr lang="en-US" sz="1575" dirty="0"/>
          </a:p>
        </p:txBody>
      </p:sp>
      <p:sp>
        <p:nvSpPr>
          <p:cNvPr id="13" name="Shape 13"/>
          <p:cNvSpPr txBox="1"/>
          <p:nvPr/>
        </p:nvSpPr>
        <p:spPr>
          <a:xfrm>
            <a:off x="4565548" y="37787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The point has x = 5, so the line is x = 5.</a:t>
            </a:r>
            <a:endParaRPr lang="en-US" sz="1575" dirty="0"/>
          </a:p>
        </p:txBody>
      </p:sp>
      <p:sp>
        <p:nvSpPr>
          <p:cNvPr id="20" name="Shape 20"/>
          <p:cNvSpPr txBox="1"/>
          <p:nvPr/>
        </p:nvSpPr>
        <p:spPr>
          <a:xfrm>
            <a:off x="8026197" y="1618488"/>
            <a:ext cx="3479698" cy="3611118"/>
          </a:xfrm>
          <a:prstGeom prst="roundRect">
            <a:avLst>
              <a:gd name="adj" fmla="val 8000"/>
            </a:avLst>
          </a:prstGeom>
          <a:solidFill>
            <a:srgbClr val="FFFFFF"/>
          </a:solidFill>
          <a:ln w="12700">
            <a:solidFill>
              <a:srgbClr val="E3E4EC"/>
            </a:solidFill>
          </a:ln>
        </p:spPr>
        <p:txBody>
          <a:bodyPr wrap="square" lIns="36576" tIns="27432" rIns="36576" bIns="27432" anchor="t">
            <a:noAutofit/>
          </a:bodyPr>
          <a:lstStyle/>
          <a:p>
            <a:pPr algn="l">
              <a:lnSpc>
                <a:spcPct val="100000"/>
              </a:lnSpc>
            </a:pPr>
            <a:endParaRPr lang="en-US" sz="1950" dirty="0"/>
          </a:p>
        </p:txBody>
      </p:sp>
      <p:sp>
        <p:nvSpPr>
          <p:cNvPr id="15" name="Shape 15"/>
          <p:cNvSpPr txBox="1"/>
          <p:nvPr/>
        </p:nvSpPr>
        <p:spPr>
          <a:xfrm>
            <a:off x="8235747" y="1789938"/>
            <a:ext cx="3060598" cy="649224"/>
          </a:xfrm>
          <a:prstGeom prst="rect">
            <a:avLst/>
          </a:prstGeom>
          <a:noFill/>
          <a:ln>
            <a:noFill/>
          </a:ln>
        </p:spPr>
        <p:txBody>
          <a:bodyPr wrap="square" lIns="36576" tIns="27432" rIns="36576" bIns="27432" anchor="t">
            <a:noAutofit/>
          </a:bodyPr>
          <a:lstStyle/>
          <a:p>
            <a:pPr algn="l">
              <a:lnSpc>
                <a:spcPct val="100000"/>
              </a:lnSpc>
            </a:pPr>
            <a:r>
              <a:rPr lang="en-US" sz="1950" dirty="0">
                <a:solidFill>
                  <a:srgbClr val="16171D"/>
                </a:solidFill>
                <a:latin typeface="Segoe UI"/>
                <a:cs typeface="Segoe UI"/>
              </a:rPr>
              <a:t xml:space="preserve">3. Write the line ⊥ to </a:t>
            </a:r>
            <a:r>
              <a:rPr lang="en-US" sz="1950" dirty="0" i="1">
                <a:solidFill>
                  <a:srgbClr val="16171D"/>
                </a:solidFill>
                <a:latin typeface="Segoe UI"/>
                <a:cs typeface="Segoe UI"/>
              </a:rPr>
              <a:t xml:space="preserve">y</a:t>
            </a:r>
            <a:r>
              <a:rPr lang="en-US" sz="1950" dirty="0">
                <a:solidFill>
                  <a:srgbClr val="16171D"/>
                </a:solidFill>
                <a:latin typeface="Segoe UI"/>
                <a:cs typeface="Segoe UI"/>
              </a:rPr>
              <a:t xml:space="preserve"> = −</a:t>
            </a:r>
            <a:r>
              <a:rPr lang="en-US" sz="1950" dirty="0" i="1">
                <a:solidFill>
                  <a:srgbClr val="16171D"/>
                </a:solidFill>
                <a:latin typeface="Segoe UI"/>
                <a:cs typeface="Segoe UI"/>
              </a:rPr>
              <a:t xml:space="preserve">x</a:t>
            </a:r>
            <a:r>
              <a:rPr lang="en-US" sz="1950" dirty="0">
                <a:solidFill>
                  <a:srgbClr val="16171D"/>
                </a:solidFill>
                <a:latin typeface="Segoe UI"/>
                <a:cs typeface="Segoe UI"/>
              </a:rPr>
              <a:t xml:space="preserve"> through (0, 3).</a:t>
            </a:r>
            <a:endParaRPr lang="en-US" sz="1950" dirty="0"/>
          </a:p>
        </p:txBody>
      </p:sp>
      <p:sp>
        <p:nvSpPr>
          <p:cNvPr id="16" name="Shape 16"/>
          <p:cNvSpPr txBox="1"/>
          <p:nvPr/>
        </p:nvSpPr>
        <p:spPr>
          <a:xfrm>
            <a:off x="8235747" y="2534412"/>
            <a:ext cx="3060598" cy="873252"/>
          </a:xfrm>
          <a:prstGeom prst="roundRect">
            <a:avLst>
              <a:gd name="adj" fmla="val 8000"/>
            </a:avLst>
          </a:prstGeom>
          <a:solidFill>
            <a:srgbClr val="EDF5E9"/>
          </a:solidFill>
          <a:ln>
            <a:noFill/>
          </a:ln>
        </p:spPr>
        <p:txBody>
          <a:bodyPr wrap="square" lIns="164592" tIns="64008" rIns="164592" bIns="64008" anchor="ctr">
            <a:noAutofit/>
          </a:bodyPr>
          <a:lstStyle/>
          <a:p>
            <a:pPr algn="l">
              <a:lnSpc>
                <a:spcPct val="100000"/>
              </a:lnSpc>
            </a:pPr>
            <a:r>
              <a:rPr lang="en-US" sz="1125" dirty="0" b="1" spc="100">
                <a:solidFill>
                  <a:srgbClr val="4F8A3C"/>
                </a:solidFill>
                <a:latin typeface="Segoe UI"/>
                <a:cs typeface="Segoe UI"/>
              </a:rPr>
              <a:t xml:space="preserve">ANSWER   </a:t>
            </a:r>
            <a:r>
              <a:rPr lang="en-US" sz="2325" dirty="0" i="1">
                <a:solidFill>
                  <a:srgbClr val="16171D"/>
                </a:solidFill>
                <a:latin typeface="Cambria"/>
                <a:cs typeface="Cambria"/>
              </a:rPr>
              <a:t xml:space="preserve">y</a:t>
            </a:r>
            <a:r>
              <a:rPr lang="en-US" sz="2325" dirty="0">
                <a:solidFill>
                  <a:srgbClr val="16171D"/>
                </a:solidFill>
                <a:latin typeface="Cambria"/>
                <a:cs typeface="Cambria"/>
              </a:rPr>
              <a:t xml:space="preserve"> = </a:t>
            </a:r>
            <a:r>
              <a:rPr lang="en-US" sz="2325" dirty="0" i="1">
                <a:solidFill>
                  <a:srgbClr val="16171D"/>
                </a:solidFill>
                <a:latin typeface="Cambria"/>
                <a:cs typeface="Cambria"/>
              </a:rPr>
              <a:t xml:space="preserve">x</a:t>
            </a:r>
            <a:r>
              <a:rPr lang="en-US" sz="2325" dirty="0">
                <a:solidFill>
                  <a:srgbClr val="16171D"/>
                </a:solidFill>
                <a:latin typeface="Cambria"/>
                <a:cs typeface="Cambria"/>
              </a:rPr>
              <a:t xml:space="preserve"> + 3</a:t>
            </a:r>
            <a:endParaRPr lang="en-US" sz="2325" dirty="0"/>
          </a:p>
        </p:txBody>
      </p:sp>
      <p:sp>
        <p:nvSpPr>
          <p:cNvPr id="17" name="Shape 17"/>
          <p:cNvSpPr txBox="1"/>
          <p:nvPr/>
        </p:nvSpPr>
        <p:spPr>
          <a:xfrm>
            <a:off x="8235747" y="3502914"/>
            <a:ext cx="3060598" cy="29489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1.</a:t>
            </a:r>
            <a:r>
              <a:rPr lang="en-US" sz="1575" dirty="0">
                <a:solidFill>
                  <a:srgbClr val="16171D"/>
                </a:solidFill>
                <a:latin typeface="Segoe UI"/>
                <a:cs typeface="Segoe UI"/>
              </a:rPr>
              <a:t xml:space="preserve"> The slope of y = −x is −1.</a:t>
            </a:r>
            <a:endParaRPr lang="en-US" sz="1575" dirty="0"/>
          </a:p>
        </p:txBody>
      </p:sp>
      <p:sp>
        <p:nvSpPr>
          <p:cNvPr id="18" name="Shape 18"/>
          <p:cNvSpPr txBox="1"/>
          <p:nvPr/>
        </p:nvSpPr>
        <p:spPr>
          <a:xfrm>
            <a:off x="8235747" y="3893058"/>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2.</a:t>
            </a:r>
            <a:r>
              <a:rPr lang="en-US" sz="1575" dirty="0">
                <a:solidFill>
                  <a:srgbClr val="16171D"/>
                </a:solidFill>
                <a:latin typeface="Segoe UI"/>
                <a:cs typeface="Segoe UI"/>
              </a:rPr>
              <a:t xml:space="preserve"> Flip and change the sign: −1 becomes 1.</a:t>
            </a:r>
            <a:endParaRPr lang="en-US" sz="1575" dirty="0"/>
          </a:p>
        </p:txBody>
      </p:sp>
      <p:sp>
        <p:nvSpPr>
          <p:cNvPr id="19" name="Shape 19"/>
          <p:cNvSpPr txBox="1"/>
          <p:nvPr/>
        </p:nvSpPr>
        <p:spPr>
          <a:xfrm>
            <a:off x="8235747" y="4523232"/>
            <a:ext cx="3060598" cy="534924"/>
          </a:xfrm>
          <a:prstGeom prst="rect">
            <a:avLst/>
          </a:prstGeom>
          <a:noFill/>
          <a:ln>
            <a:noFill/>
          </a:ln>
        </p:spPr>
        <p:txBody>
          <a:bodyPr wrap="square" lIns="36576" tIns="27432" rIns="36576" bIns="27432" anchor="t">
            <a:noAutofit/>
          </a:bodyPr>
          <a:lstStyle/>
          <a:p>
            <a:pPr algn="l">
              <a:lnSpc>
                <a:spcPct val="100000"/>
              </a:lnSpc>
            </a:pPr>
            <a:r>
              <a:rPr lang="en-US" sz="1575" dirty="0" b="1">
                <a:solidFill>
                  <a:srgbClr val="16171D"/>
                </a:solidFill>
                <a:latin typeface="Segoe UI"/>
                <a:cs typeface="Segoe UI"/>
              </a:rPr>
              <a:t xml:space="preserve">3.</a:t>
            </a:r>
            <a:r>
              <a:rPr lang="en-US" sz="1575" dirty="0">
                <a:solidFill>
                  <a:srgbClr val="16171D"/>
                </a:solidFill>
                <a:latin typeface="Segoe UI"/>
                <a:cs typeface="Segoe UI"/>
              </a:rPr>
              <a:t xml:space="preserve"> (0, 3) is on the y-axis, so b = 3: y = x + 3.</a:t>
            </a:r>
            <a:endParaRPr lang="en-US" sz="1575" dirty="0"/>
          </a:p>
        </p:txBody>
      </p:sp>
      <p:sp>
        <p:nvSpPr>
          <p:cNvPr id="21" name="Slide Number 21"/>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13</a:t>
            </a:fld>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8" fill="hold">
                      <p:stCondLst>
                        <p:cond delay="indefinite"/>
                      </p:stCondLst>
                      <p:childTnLst>
                        <p:par>
                          <p:cTn id="9" fill="hold">
                            <p:stCondLst>
                              <p:cond delay="0"/>
                            </p:stCondLst>
                            <p:childTnLst>
                              <p:par>
                                <p:cTn id="7" presetID="53" presetClass="entr" presetSubtype="16" fill="hold" nodeType="clickEffect">
                                  <p:stCondLst>
                                    <p:cond delay="0"/>
                                  </p:stCondLst>
                                  <p:childTnLst>
                                    <p:set>
                                      <p:cBhvr>
                                        <p:cTn id="3" dur="1" fill="hold">
                                          <p:stCondLst>
                                            <p:cond delay="0"/>
                                          </p:stCondLst>
                                        </p:cTn>
                                        <p:tgtEl>
                                          <p:spTgt spid="5"/>
                                        </p:tgtEl>
                                        <p:attrNameLst>
                                          <p:attrName>style.visibility</p:attrName>
                                        </p:attrNameLst>
                                      </p:cBhvr>
                                      <p:to>
                                        <p:strVal val="visible"/>
                                      </p:to>
                                    </p:set>
                                    <p:animEffect transition="in" filter="fade">
                                      <p:cBhvr>
                                        <p:cTn id="4" dur="500"/>
                                        <p:tgtEl>
                                          <p:spTgt spid="5"/>
                                        </p:tgtEl>
                                      </p:cBhvr>
                                    </p:animEffect>
                                    <p:anim calcmode="lin" valueType="num">
                                      <p:cBhvr>
                                        <p:cTn id="5" dur="500" fill="hold"/>
                                        <p:tgtEl>
                                          <p:spTgt spid="5"/>
                                        </p:tgtEl>
                                        <p:attrNameLst>
                                          <p:attrName>ppt_w</p:attrName>
                                        </p:attrNameLst>
                                      </p:cBhvr>
                                      <p:tavLst>
                                        <p:tav tm="0">
                                          <p:val>
                                            <p:fltVal val="0"/>
                                          </p:val>
                                        </p:tav>
                                        <p:tav tm="100000">
                                          <p:val>
                                            <p:strVal val="#ppt_w"/>
                                          </p:val>
                                        </p:tav>
                                      </p:tavLst>
                                    </p:anim>
                                    <p:anim calcmode="lin" valueType="num">
                                      <p:cBhvr>
                                        <p:cTn id="6" dur="500" fill="hold"/>
                                        <p:tgtEl>
                                          <p:spTgt spid="5"/>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4" presetID="42"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anim calcmode="lin" valueType="num">
                                      <p:cBhvr>
                                        <p:cTn id="12" dur="500" fill="hold"/>
                                        <p:tgtEl>
                                          <p:spTgt spid="6"/>
                                        </p:tgtEl>
                                        <p:attrNameLst>
                                          <p:attrName>ppt_x</p:attrName>
                                        </p:attrNameLst>
                                      </p:cBhvr>
                                      <p:tavLst>
                                        <p:tav tm="0">
                                          <p:val>
                                            <p:strVal val="#ppt_x"/>
                                          </p:val>
                                        </p:tav>
                                        <p:tav tm="100000">
                                          <p:val>
                                            <p:strVal val="#ppt_x"/>
                                          </p:val>
                                        </p:tav>
                                      </p:tavLst>
                                    </p:anim>
                                    <p:anim calcmode="lin" valueType="num">
                                      <p:cBhvr>
                                        <p:cTn id="13" dur="5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1" presetID="42"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500"/>
                                        <p:tgtEl>
                                          <p:spTgt spid="7"/>
                                        </p:tgtEl>
                                      </p:cBhvr>
                                    </p:animEffect>
                                    <p:anim calcmode="lin" valueType="num">
                                      <p:cBhvr>
                                        <p:cTn id="19" dur="500" fill="hold"/>
                                        <p:tgtEl>
                                          <p:spTgt spid="7"/>
                                        </p:tgtEl>
                                        <p:attrNameLst>
                                          <p:attrName>ppt_x</p:attrName>
                                        </p:attrNameLst>
                                      </p:cBhvr>
                                      <p:tavLst>
                                        <p:tav tm="0">
                                          <p:val>
                                            <p:strVal val="#ppt_x"/>
                                          </p:val>
                                        </p:tav>
                                        <p:tav tm="100000">
                                          <p:val>
                                            <p:strVal val="#ppt_x"/>
                                          </p:val>
                                        </p:tav>
                                      </p:tavLst>
                                    </p:anim>
                                    <p:anim calcmode="lin" valueType="num">
                                      <p:cBhvr>
                                        <p:cTn id="20" dur="5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28" presetID="42" presetClass="entr" presetSubtype="0"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anim calcmode="lin" valueType="num">
                                      <p:cBhvr>
                                        <p:cTn id="26" dur="500" fill="hold"/>
                                        <p:tgtEl>
                                          <p:spTgt spid="8"/>
                                        </p:tgtEl>
                                        <p:attrNameLst>
                                          <p:attrName>ppt_x</p:attrName>
                                        </p:attrNameLst>
                                      </p:cBhvr>
                                      <p:tavLst>
                                        <p:tav tm="0">
                                          <p:val>
                                            <p:strVal val="#ppt_x"/>
                                          </p:val>
                                        </p:tav>
                                        <p:tav tm="100000">
                                          <p:val>
                                            <p:strVal val="#ppt_x"/>
                                          </p:val>
                                        </p:tav>
                                      </p:tavLst>
                                    </p:anim>
                                    <p:anim calcmode="lin" valueType="num">
                                      <p:cBhvr>
                                        <p:cTn id="27" dur="5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500"/>
                                        <p:tgtEl>
                                          <p:spTgt spid="11"/>
                                        </p:tgtEl>
                                      </p:cBhvr>
                                    </p:animEffect>
                                    <p:anim calcmode="lin" valueType="num">
                                      <p:cBhvr>
                                        <p:cTn id="33" dur="500" fill="hold"/>
                                        <p:tgtEl>
                                          <p:spTgt spid="11"/>
                                        </p:tgtEl>
                                        <p:attrNameLst>
                                          <p:attrName>ppt_w</p:attrName>
                                        </p:attrNameLst>
                                      </p:cBhvr>
                                      <p:tavLst>
                                        <p:tav tm="0">
                                          <p:val>
                                            <p:fltVal val="0"/>
                                          </p:val>
                                        </p:tav>
                                        <p:tav tm="100000">
                                          <p:val>
                                            <p:strVal val="#ppt_w"/>
                                          </p:val>
                                        </p:tav>
                                      </p:tavLst>
                                    </p:anim>
                                    <p:anim calcmode="lin" valueType="num">
                                      <p:cBhvr>
                                        <p:cTn id="34" dur="500" fill="hold"/>
                                        <p:tgtEl>
                                          <p:spTgt spid="11"/>
                                        </p:tgtEl>
                                        <p:attrNameLst>
                                          <p:attrName>ppt_h</p:attrName>
                                        </p:attrNameLst>
                                      </p:cBhvr>
                                      <p:tavLst>
                                        <p:tav tm="0">
                                          <p:val>
                                            <p:fltVal val="0"/>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2" presetID="42" presetClass="entr" presetSubtype="0" fill="hold" nodeType="click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fade">
                                      <p:cBhvr>
                                        <p:cTn id="39" dur="500"/>
                                        <p:tgtEl>
                                          <p:spTgt spid="12"/>
                                        </p:tgtEl>
                                      </p:cBhvr>
                                    </p:animEffect>
                                    <p:anim calcmode="lin" valueType="num">
                                      <p:cBhvr>
                                        <p:cTn id="40" dur="500" fill="hold"/>
                                        <p:tgtEl>
                                          <p:spTgt spid="12"/>
                                        </p:tgtEl>
                                        <p:attrNameLst>
                                          <p:attrName>ppt_x</p:attrName>
                                        </p:attrNameLst>
                                      </p:cBhvr>
                                      <p:tavLst>
                                        <p:tav tm="0">
                                          <p:val>
                                            <p:strVal val="#ppt_x"/>
                                          </p:val>
                                        </p:tav>
                                        <p:tav tm="100000">
                                          <p:val>
                                            <p:strVal val="#ppt_x"/>
                                          </p:val>
                                        </p:tav>
                                      </p:tavLst>
                                    </p:anim>
                                    <p:anim calcmode="lin" valueType="num">
                                      <p:cBhvr>
                                        <p:cTn id="41" dur="5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49" presetID="42" presetClass="entr" presetSubtype="0" fill="hold" nodeType="click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500"/>
                                        <p:tgtEl>
                                          <p:spTgt spid="13"/>
                                        </p:tgtEl>
                                      </p:cBhvr>
                                    </p:animEffect>
                                    <p:anim calcmode="lin" valueType="num">
                                      <p:cBhvr>
                                        <p:cTn id="47" dur="500" fill="hold"/>
                                        <p:tgtEl>
                                          <p:spTgt spid="13"/>
                                        </p:tgtEl>
                                        <p:attrNameLst>
                                          <p:attrName>ppt_x</p:attrName>
                                        </p:attrNameLst>
                                      </p:cBhvr>
                                      <p:tavLst>
                                        <p:tav tm="0">
                                          <p:val>
                                            <p:strVal val="#ppt_x"/>
                                          </p:val>
                                        </p:tav>
                                        <p:tav tm="100000">
                                          <p:val>
                                            <p:strVal val="#ppt_x"/>
                                          </p:val>
                                        </p:tav>
                                      </p:tavLst>
                                    </p:anim>
                                    <p:anim calcmode="lin" valueType="num">
                                      <p:cBhvr>
                                        <p:cTn id="48" dur="5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fade">
                                      <p:cBhvr>
                                        <p:cTn id="53" dur="500"/>
                                        <p:tgtEl>
                                          <p:spTgt spid="16"/>
                                        </p:tgtEl>
                                      </p:cBhvr>
                                    </p:animEffect>
                                    <p:anim calcmode="lin" valueType="num">
                                      <p:cBhvr>
                                        <p:cTn id="54" dur="500" fill="hold"/>
                                        <p:tgtEl>
                                          <p:spTgt spid="16"/>
                                        </p:tgtEl>
                                        <p:attrNameLst>
                                          <p:attrName>ppt_w</p:attrName>
                                        </p:attrNameLst>
                                      </p:cBhvr>
                                      <p:tavLst>
                                        <p:tav tm="0">
                                          <p:val>
                                            <p:fltVal val="0"/>
                                          </p:val>
                                        </p:tav>
                                        <p:tav tm="100000">
                                          <p:val>
                                            <p:strVal val="#ppt_w"/>
                                          </p:val>
                                        </p:tav>
                                      </p:tavLst>
                                    </p:anim>
                                    <p:anim calcmode="lin" valueType="num">
                                      <p:cBhvr>
                                        <p:cTn id="55" dur="500" fill="hold"/>
                                        <p:tgtEl>
                                          <p:spTgt spid="16"/>
                                        </p:tgtEl>
                                        <p:attrNameLst>
                                          <p:attrName>ppt_h</p:attrName>
                                        </p:attrNameLst>
                                      </p:cBhvr>
                                      <p:tavLst>
                                        <p:tav tm="0">
                                          <p:val>
                                            <p:fltVal val="0"/>
                                          </p:val>
                                        </p:tav>
                                        <p:tav tm="100000">
                                          <p:val>
                                            <p:strVal val="#ppt_h"/>
                                          </p:val>
                                        </p:tav>
                                      </p:tavLst>
                                    </p:anim>
                                  </p:childTnLst>
                                </p:cTn>
                              </p:par>
                            </p:childTnLst>
                          </p:cTn>
                        </p:par>
                      </p:childTnLst>
                    </p:cTn>
                  </p:par>
                  <p:par>
                    <p:cTn id="64" fill="hold">
                      <p:stCondLst>
                        <p:cond delay="indefinite"/>
                      </p:stCondLst>
                      <p:childTnLst>
                        <p:par>
                          <p:cTn id="65" fill="hold">
                            <p:stCondLst>
                              <p:cond delay="0"/>
                            </p:stCondLst>
                            <p:childTnLst>
                              <p:par>
                                <p:cTn id="63" presetID="42" presetClass="entr" presetSubtype="0" fill="hold" nodeType="clickEffect">
                                  <p:stCondLst>
                                    <p:cond delay="0"/>
                                  </p:stCondLst>
                                  <p:childTnLst>
                                    <p:set>
                                      <p:cBhvr>
                                        <p:cTn id="59" dur="1" fill="hold">
                                          <p:stCondLst>
                                            <p:cond delay="0"/>
                                          </p:stCondLst>
                                        </p:cTn>
                                        <p:tgtEl>
                                          <p:spTgt spid="17"/>
                                        </p:tgtEl>
                                        <p:attrNameLst>
                                          <p:attrName>style.visibility</p:attrName>
                                        </p:attrNameLst>
                                      </p:cBhvr>
                                      <p:to>
                                        <p:strVal val="visible"/>
                                      </p:to>
                                    </p:set>
                                    <p:animEffect transition="in" filter="fade">
                                      <p:cBhvr>
                                        <p:cTn id="60" dur="500"/>
                                        <p:tgtEl>
                                          <p:spTgt spid="17"/>
                                        </p:tgtEl>
                                      </p:cBhvr>
                                    </p:animEffect>
                                    <p:anim calcmode="lin" valueType="num">
                                      <p:cBhvr>
                                        <p:cTn id="61" dur="500" fill="hold"/>
                                        <p:tgtEl>
                                          <p:spTgt spid="17"/>
                                        </p:tgtEl>
                                        <p:attrNameLst>
                                          <p:attrName>ppt_x</p:attrName>
                                        </p:attrNameLst>
                                      </p:cBhvr>
                                      <p:tavLst>
                                        <p:tav tm="0">
                                          <p:val>
                                            <p:strVal val="#ppt_x"/>
                                          </p:val>
                                        </p:tav>
                                        <p:tav tm="100000">
                                          <p:val>
                                            <p:strVal val="#ppt_x"/>
                                          </p:val>
                                        </p:tav>
                                      </p:tavLst>
                                    </p:anim>
                                    <p:anim calcmode="lin" valueType="num">
                                      <p:cBhvr>
                                        <p:cTn id="62"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0" presetID="42" presetClass="entr" presetSubtype="0" fill="hold" nodeType="clickEffect">
                                  <p:stCondLst>
                                    <p:cond delay="0"/>
                                  </p:stCondLst>
                                  <p:childTnLst>
                                    <p:set>
                                      <p:cBhvr>
                                        <p:cTn id="66" dur="1" fill="hold">
                                          <p:stCondLst>
                                            <p:cond delay="0"/>
                                          </p:stCondLst>
                                        </p:cTn>
                                        <p:tgtEl>
                                          <p:spTgt spid="18"/>
                                        </p:tgtEl>
                                        <p:attrNameLst>
                                          <p:attrName>style.visibility</p:attrName>
                                        </p:attrNameLst>
                                      </p:cBhvr>
                                      <p:to>
                                        <p:strVal val="visible"/>
                                      </p:to>
                                    </p:set>
                                    <p:animEffect transition="in" filter="fade">
                                      <p:cBhvr>
                                        <p:cTn id="67" dur="500"/>
                                        <p:tgtEl>
                                          <p:spTgt spid="18"/>
                                        </p:tgtEl>
                                      </p:cBhvr>
                                    </p:animEffect>
                                    <p:anim calcmode="lin" valueType="num">
                                      <p:cBhvr>
                                        <p:cTn id="68" dur="500" fill="hold"/>
                                        <p:tgtEl>
                                          <p:spTgt spid="18"/>
                                        </p:tgtEl>
                                        <p:attrNameLst>
                                          <p:attrName>ppt_x</p:attrName>
                                        </p:attrNameLst>
                                      </p:cBhvr>
                                      <p:tavLst>
                                        <p:tav tm="0">
                                          <p:val>
                                            <p:strVal val="#ppt_x"/>
                                          </p:val>
                                        </p:tav>
                                        <p:tav tm="100000">
                                          <p:val>
                                            <p:strVal val="#ppt_x"/>
                                          </p:val>
                                        </p:tav>
                                      </p:tavLst>
                                    </p:anim>
                                    <p:anim calcmode="lin" valueType="num">
                                      <p:cBhvr>
                                        <p:cTn id="69" dur="5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77" presetID="42" presetClass="entr" presetSubtype="0" fill="hold" nodeType="clickEffect">
                                  <p:stCondLst>
                                    <p:cond delay="0"/>
                                  </p:stCondLst>
                                  <p:childTnLst>
                                    <p:set>
                                      <p:cBhvr>
                                        <p:cTn id="73" dur="1" fill="hold">
                                          <p:stCondLst>
                                            <p:cond delay="0"/>
                                          </p:stCondLst>
                                        </p:cTn>
                                        <p:tgtEl>
                                          <p:spTgt spid="19"/>
                                        </p:tgtEl>
                                        <p:attrNameLst>
                                          <p:attrName>style.visibility</p:attrName>
                                        </p:attrNameLst>
                                      </p:cBhvr>
                                      <p:to>
                                        <p:strVal val="visible"/>
                                      </p:to>
                                    </p:set>
                                    <p:animEffect transition="in" filter="fade">
                                      <p:cBhvr>
                                        <p:cTn id="74" dur="500"/>
                                        <p:tgtEl>
                                          <p:spTgt spid="19"/>
                                        </p:tgtEl>
                                      </p:cBhvr>
                                    </p:animEffect>
                                    <p:anim calcmode="lin" valueType="num">
                                      <p:cBhvr>
                                        <p:cTn id="75" dur="500" fill="hold"/>
                                        <p:tgtEl>
                                          <p:spTgt spid="19"/>
                                        </p:tgtEl>
                                        <p:attrNameLst>
                                          <p:attrName>ppt_x</p:attrName>
                                        </p:attrNameLst>
                                      </p:cBhvr>
                                      <p:tavLst>
                                        <p:tav tm="0">
                                          <p:val>
                                            <p:strVal val="#ppt_x"/>
                                          </p:val>
                                        </p:tav>
                                        <p:tav tm="100000">
                                          <p:val>
                                            <p:strVal val="#ppt_x"/>
                                          </p:val>
                                        </p:tav>
                                      </p:tavLst>
                                    </p:anim>
                                    <p:anim calcmode="lin" valueType="num">
                                      <p:cBhvr>
                                        <p:cTn id="76" dur="500" fill="hold"/>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2"/>
          <p:cNvSpPr txBox="1"/>
          <p:nvPr/>
        </p:nvSpPr>
        <p:spPr>
          <a:xfrm>
            <a:off x="685800" y="457200"/>
            <a:ext cx="10820095" cy="237744"/>
          </a:xfrm>
          <a:prstGeom prst="rect">
            <a:avLst/>
          </a:prstGeom>
          <a:noFill/>
          <a:ln>
            <a:noFill/>
          </a:ln>
        </p:spPr>
        <p:txBody>
          <a:bodyPr wrap="square" lIns="36576" tIns="27432" rIns="36576" bIns="27432" anchor="t">
            <a:noAutofit/>
          </a:bodyPr>
          <a:lstStyle/>
          <a:p>
            <a:pPr algn="l">
              <a:lnSpc>
                <a:spcPct val="100000"/>
              </a:lnSpc>
            </a:pPr>
            <a:r>
              <a:rPr lang="en-US" sz="1200" dirty="0" b="1" spc="150" cap="all">
                <a:solidFill>
                  <a:srgbClr val="5F6272"/>
                </a:solidFill>
                <a:latin typeface="Segoe UI"/>
                <a:cs typeface="Segoe UI"/>
              </a:rPr>
              <a:t xml:space="preserve">Practice Online</a:t>
            </a:r>
            <a:endParaRPr lang="en-US" sz="1200" dirty="0"/>
          </a:p>
        </p:txBody>
      </p:sp>
      <p:sp>
        <p:nvSpPr>
          <p:cNvPr id="3" name="Shape 3"/>
          <p:cNvSpPr txBox="1"/>
          <p:nvPr/>
        </p:nvSpPr>
        <p:spPr>
          <a:xfrm>
            <a:off x="685800" y="866394"/>
            <a:ext cx="10820095" cy="580644"/>
          </a:xfrm>
          <a:prstGeom prst="rect">
            <a:avLst/>
          </a:prstGeom>
          <a:noFill/>
          <a:ln>
            <a:noFill/>
          </a:ln>
        </p:spPr>
        <p:txBody>
          <a:bodyPr wrap="square" lIns="36576" tIns="27432" rIns="36576" bIns="27432" anchor="t">
            <a:noAutofit/>
          </a:bodyPr>
          <a:lstStyle/>
          <a:p>
            <a:pPr algn="l">
              <a:lnSpc>
                <a:spcPct val="100000"/>
              </a:lnSpc>
            </a:pPr>
            <a:r>
              <a:rPr lang="en-US" sz="3450" dirty="0" b="1">
                <a:solidFill>
                  <a:srgbClr val="16171D"/>
                </a:solidFill>
                <a:latin typeface="Segoe UI"/>
                <a:cs typeface="Segoe UI"/>
              </a:rPr>
              <a:t xml:space="preserve">Bell work, homework and quiz</a:t>
            </a:r>
            <a:endParaRPr lang="en-US" sz="3450" dirty="0"/>
          </a:p>
        </p:txBody>
      </p:sp>
      <p:sp>
        <p:nvSpPr>
          <p:cNvPr id="4" name="Shape 4"/>
          <p:cNvSpPr txBox="1"/>
          <p:nvPr/>
        </p:nvSpPr>
        <p:spPr>
          <a:xfrm>
            <a:off x="685800" y="1675638"/>
            <a:ext cx="10820095" cy="329184"/>
          </a:xfrm>
          <a:prstGeom prst="rect">
            <a:avLst/>
          </a:prstGeom>
          <a:noFill/>
          <a:ln>
            <a:noFill/>
          </a:ln>
        </p:spPr>
        <p:txBody>
          <a:bodyPr wrap="square" lIns="36576" tIns="27432" rIns="36576" bIns="27432" anchor="t">
            <a:noAutofit/>
          </a:bodyPr>
          <a:lstStyle/>
          <a:p>
            <a:pPr algn="l">
              <a:lnSpc>
                <a:spcPct val="100000"/>
              </a:lnSpc>
            </a:pPr>
            <a:r>
              <a:rPr lang="en-US" sz="1800" dirty="0">
                <a:solidFill>
                  <a:srgbClr val="16171D"/>
                </a:solidFill>
                <a:latin typeface="Segoe UI"/>
                <a:cs typeface="Segoe UI"/>
              </a:rPr>
              <a:t xml:space="preserve">Bell work: </a:t>
            </a:r>
            <a:r>
              <a:rPr lang="en-US" sz="1800" dirty="0" b="1">
                <a:solidFill>
                  <a:srgbClr val="3050B8"/>
                </a:solidFill>
                <a:latin typeface="Segoe UI"/>
                <a:cs typeface="Segoe UI"/>
                <a:hlinkClick r:id="rId3"/>
              </a:rPr>
              <a:t xml:space="preserve">Day 1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4"/>
              </a:rPr>
              <a:t xml:space="preserve">Day 2 →</a:t>
            </a:r>
            <a:r>
              <a:rPr lang="en-US" sz="1800" dirty="0">
                <a:solidFill>
                  <a:srgbClr val="16171D"/>
                </a:solidFill>
                <a:latin typeface="Segoe UI"/>
                <a:cs typeface="Segoe UI"/>
              </a:rPr>
              <a:t xml:space="preserve"> | Practice: </a:t>
            </a:r>
            <a:r>
              <a:rPr lang="en-US" sz="1800" dirty="0" b="1">
                <a:solidFill>
                  <a:srgbClr val="3050B8"/>
                </a:solidFill>
                <a:latin typeface="Segoe UI"/>
                <a:cs typeface="Segoe UI"/>
                <a:hlinkClick r:id="rId5"/>
              </a:rPr>
              <a:t xml:space="preserve">Homework →</a:t>
            </a:r>
            <a:r>
              <a:rPr lang="en-US" sz="1800" dirty="0">
                <a:solidFill>
                  <a:srgbClr val="16171D"/>
                </a:solidFill>
                <a:latin typeface="Segoe UI"/>
                <a:cs typeface="Segoe UI"/>
              </a:rPr>
              <a:t xml:space="preserve"> · </a:t>
            </a:r>
            <a:r>
              <a:rPr lang="en-US" sz="1800" dirty="0" b="1">
                <a:solidFill>
                  <a:srgbClr val="3050B8"/>
                </a:solidFill>
                <a:latin typeface="Segoe UI"/>
                <a:cs typeface="Segoe UI"/>
                <a:hlinkClick r:id="rId6"/>
              </a:rPr>
              <a:t xml:space="preserve">Quiz →</a:t>
            </a:r>
            <a:endParaRPr lang="en-US" sz="1800" dirty="0"/>
          </a:p>
        </p:txBody>
      </p:sp>
      <p:sp>
        <p:nvSpPr>
          <p:cNvPr id="5" name="Shape 5"/>
          <p:cNvSpPr txBox="1"/>
          <p:nvPr/>
        </p:nvSpPr>
        <p:spPr>
          <a:xfrm>
            <a:off x="685800" y="2176272"/>
            <a:ext cx="10820095" cy="534924"/>
          </a:xfrm>
          <a:prstGeom prst="rect">
            <a:avLst/>
          </a:prstGeom>
          <a:noFill/>
          <a:ln>
            <a:noFill/>
          </a:ln>
        </p:spPr>
        <p:txBody>
          <a:bodyPr wrap="square" lIns="36576" tIns="27432" rIns="36576" bIns="27432" anchor="t">
            <a:noAutofit/>
          </a:bodyPr>
          <a:lstStyle/>
          <a:p>
            <a:pPr algn="l">
              <a:lnSpc>
                <a:spcPct val="100000"/>
              </a:lnSpc>
            </a:pPr>
            <a:r>
              <a:rPr lang="en-US" sz="1575" dirty="0">
                <a:solidFill>
                  <a:srgbClr val="16171D"/>
                </a:solidFill>
                <a:latin typeface="Segoe UI"/>
                <a:cs typeface="Segoe UI"/>
              </a:rPr>
              <a:t xml:space="preserve">The IEP pages have 3 answer choices, 6 homework and quiz questions, a reminder card and read-aloud. Allow notes and a calculator, and give extended time as the IEP lists.</a:t>
            </a:r>
            <a:endParaRPr lang="en-US" sz="1575" dirty="0"/>
          </a:p>
        </p:txBody>
      </p:sp>
      <p:sp>
        <p:nvSpPr>
          <p:cNvPr id="6" name="Slide Number 6"/>
          <p:cNvSpPr txBox="1"/>
          <p:nvPr/>
        </p:nvSpPr>
        <p:spPr>
          <a:xfrm>
            <a:off x="11277295" y="6611112"/>
            <a:ext cx="685800" cy="201168"/>
          </a:xfrm>
          <a:prstGeom prst="rect">
            <a:avLst/>
          </a:prstGeom>
          <a:noFill/>
        </p:spPr>
        <p:txBody>
          <a:bodyPr wrap="none" lIns="0" tIns="0" rIns="0" bIns="0" anchor="b">
            <a:noAutofit/>
          </a:bodyPr>
          <a:lstStyle/>
          <a:p>
            <a:pPr algn="r"/>
            <a:fld id="{5C1A6E0B-3B1F-4D5E-9C7A-2F4B8D6E1A90}" type="slidenum">
              <a:rPr lang="en-US" sz="1200" dirty="0">
                <a:solidFill>
                  <a:srgbClr val="5F6272"/>
                </a:solidFill>
              </a:rPr>
              <a:t>14</a:t>
            </a:fld>
          </a:p>
        </p:txBody>
      </p:sp>
    </p:spTree>
  </p:cSld>
  <p:clrMapOvr>
    <a:masterClrMapping/>
  </p:clrMapOvr>
  <p:transition spd="med">
    <p:fade/>
  </p:transition>
</p:sld>
</file>

<file path=ppt/theme/theme1.xml><?xml version="1.0" encoding="utf-8"?>
<a:theme xmlns:a="http://schemas.openxmlformats.org/drawingml/2006/main" name="Determining Slopes of Perpendicular Lin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Notes">
  <a:themeElements>
    <a:clrScheme name="Lesson">
      <a:dk1>
        <a:srgbClr val="16171D"/>
      </a:dk1>
      <a:lt1>
        <a:srgbClr val="FFFFFF"/>
      </a:lt1>
      <a:dk2>
        <a:srgbClr val="233D94"/>
      </a:dk2>
      <a:lt2>
        <a:srgbClr val="F7F7FB"/>
      </a:lt2>
      <a:accent1>
        <a:srgbClr val="C9561F"/>
      </a:accent1>
      <a:accent2>
        <a:srgbClr val="3050B8"/>
      </a:accent2>
      <a:accent3>
        <a:srgbClr val="4F8A3C"/>
      </a:accent3>
      <a:accent4>
        <a:srgbClr val="7A5AC8"/>
      </a:accent4>
      <a:accent5>
        <a:srgbClr val="C23B6B"/>
      </a:accent5>
      <a:accent6>
        <a:srgbClr val="4F8A3C"/>
      </a:accent6>
      <a:hlink>
        <a:srgbClr val="3050B8"/>
      </a:hlink>
      <a:folHlink>
        <a:srgbClr val="7A5AC8"/>
      </a:folHlink>
    </a:clrScheme>
    <a:fontScheme name="Lesson">
      <a:majorFont>
        <a:latin typeface="Segoe UI"/>
        <a:ea typeface=""/>
        <a:cs typeface=""/>
      </a:majorFont>
      <a:minorFont>
        <a:latin typeface="Segoe UI"/>
        <a:ea typeface=""/>
        <a:cs typeface=""/>
      </a:minorFont>
    </a:fontScheme>
    <a:fmtScheme name="Lesson">
      <a:fillStyleLst>
        <a:solidFill>
          <a:schemeClr val="phClr"/>
        </a:solidFill>
        <a:solidFill>
          <a:schemeClr val="phClr"/>
        </a:solidFill>
        <a:solidFill>
          <a:schemeClr val="phClr"/>
        </a:solidFill>
      </a:fillStyleLst>
      <a:lnStyleLst>
        <a:ln w="9525" cap="flat" cmpd="sng" algn="ctr">
          <a:solidFill>
            <a:schemeClr val="phClr"/>
          </a:solidFill>
          <a:prstDash val="solid"/>
        </a:ln>
        <a:ln w="9525" cap="flat" cmpd="sng" algn="ctr">
          <a:solidFill>
            <a:schemeClr val="phClr"/>
          </a:solidFill>
          <a:prstDash val="solid"/>
        </a:ln>
        <a:ln w="95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Microsoft Office PowerPoint</Application>
  <Slides>14</Slides>
  <Notes>14</Notes>
</Properties>
</file>

<file path=docProps/core.xml><?xml version="1.0" encoding="utf-8"?>
<cp:coreProperties xmlns:cp="http://schemas.openxmlformats.org/package/2006/metadata/core-properties" xmlns:dc="http://purl.org/dc/elements/1.1/">
  <dc:title>Determining Slopes of Perpendicular Lines</dc:title>
  <dc:subject>Bluebonnet Algebra I</dc:subject>
</cp:coreProperties>
</file>