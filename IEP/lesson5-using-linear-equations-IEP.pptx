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5: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each point as it appears. Negative slope: the line falls left to right.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the point instead of the y-intercept; everything else is the same.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x-term to find the y-intercept, and cover the y-term to find the x-intercept.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IEP/lesson5-bellwork-day1-IEP.html" TargetMode="External"/><Relationship Id="rId4" Type="http://schemas.openxmlformats.org/officeDocument/2006/relationships/hyperlink" Target="https://algebra1m2u1l4.vercel.app/IEP/lesson5-bellwork-day2-IEP.html" TargetMode="External"/><Relationship Id="rId5" Type="http://schemas.openxmlformats.org/officeDocument/2006/relationships/hyperlink" Target="https://algebra1m2u1l4.vercel.app/IEP/lesson5-bellwork-day3-IEP.html" TargetMode="External"/><Relationship Id="rId6" Type="http://schemas.openxmlformats.org/officeDocument/2006/relationships/hyperlink" Target="https://algebra1m2u1l4.vercel.app/IEP/lesson5-homework-IEP.html" TargetMode="External"/><Relationship Id="rId7" Type="http://schemas.openxmlformats.org/officeDocument/2006/relationships/hyperlink" Target="https://algebra1m2u1l4.vercel.app/lesson5/lesson5-quiz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algebra1m2u1l4.vercel.app/IEP/lesson5-bellwork-day1-IEP.html" TargetMode="External"/><Relationship Id="rId4" Type="http://schemas.openxmlformats.org/officeDocument/2006/relationships/hyperlink" Target="https://algebra1m2u1l4.vercel.app/IEP/lesson5-bellwork-day2-IEP.html" TargetMode="External"/><Relationship Id="rId5" Type="http://schemas.openxmlformats.org/officeDocument/2006/relationships/hyperlink" Target="https://algebra1m2u1l4.vercel.app/IEP/lesson5-bellwork-day3-IEP.html" TargetMode="External"/><Relationship Id="rId6" Type="http://schemas.openxmlformats.org/officeDocument/2006/relationships/hyperlink" Target="https://algebra1m2u1l4.vercel.app/IEP/lesson5-homework-IEP.html" TargetMode="External"/><Relationship Id="rId7" Type="http://schemas.openxmlformats.org/officeDocument/2006/relationships/hyperlink" Target="https://algebra1m2u1l4.vercel.app/lesson5/lesson5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5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Graphing Linear Equations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mx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graph a line from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using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the slope.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graph a line from point-slope form.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find the intercepts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graph the line.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82269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Where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-axis: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+ 5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(0, 5)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Rise over run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Rise: up (+) or down (−). Run: right.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: up 3, right 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Where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-axis: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0).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Put 0 in for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3829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50284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3829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526846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99669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16814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63829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and one point.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50284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to 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Plot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-intercept, (0,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Write the slope as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rise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run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From the point, count the rise (up or down), then the run (right). Plot a point.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 it again, so you have 3 points. Connect them with a ruler.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+ 10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10. Plot (0, 10).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−2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down 2, right 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89276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(1, 8) and (2, 6)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connect with a ruler.</a:t>
            </a:r>
            <a:endParaRPr lang="en-US" sz="19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70102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4102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8103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2103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6104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90104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7188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4474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759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904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3302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09010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818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5471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2757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0042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010248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7359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71359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5360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9360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3361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7361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43559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813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727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184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47" name="Shape 47"/>
          <p:cNvSpPr/>
          <p:nvPr/>
        </p:nvSpPr>
        <p:spPr>
          <a:xfrm>
            <a:off x="6957860" y="2223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8" name="Shape 48"/>
          <p:cNvSpPr txBox="1"/>
          <p:nvPr/>
        </p:nvSpPr>
        <p:spPr>
          <a:xfrm>
            <a:off x="7095973" y="2028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(0, 10)</a:t>
            </a:r>
            <a:endParaRPr lang="en-US" sz="1125" dirty="0"/>
          </a:p>
        </p:txBody>
      </p:sp>
      <p:sp>
        <p:nvSpPr>
          <p:cNvPr id="49" name="Shape 49"/>
          <p:cNvSpPr/>
          <p:nvPr/>
        </p:nvSpPr>
        <p:spPr>
          <a:xfrm>
            <a:off x="7357910" y="2766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7496023" y="25709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(1, 8)</a:t>
            </a:r>
            <a:endParaRPr lang="en-US" sz="1125" dirty="0"/>
          </a:p>
        </p:txBody>
      </p:sp>
      <p:sp>
        <p:nvSpPr>
          <p:cNvPr id="51" name="Shape 51"/>
          <p:cNvSpPr/>
          <p:nvPr/>
        </p:nvSpPr>
        <p:spPr>
          <a:xfrm>
            <a:off x="7757960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7896073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(2, 6)</a:t>
            </a:r>
            <a:endParaRPr lang="en-US" sz="1125" dirty="0"/>
          </a:p>
        </p:txBody>
      </p:sp>
      <p:cxnSp>
        <p:nvCxnSpPr>
          <p:cNvPr id="53" name="Line 53"/>
          <p:cNvCxnSpPr/>
          <p:nvPr/>
        </p:nvCxnSpPr>
        <p:spPr>
          <a:xfrm>
            <a:off x="6610198" y="1732788"/>
            <a:ext cx="24003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Plot (0, ____).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−1)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Rise ____, run ____.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up 3, right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Next points: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79214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(2, 2) and (4, 5)</a:t>
            </a:r>
            <a:endParaRPr lang="en-US" sz="2325" dirty="0"/>
          </a:p>
        </p:txBody>
      </p:sp>
      <p:sp>
        <p:nvSpPr>
          <p:cNvPr id="10" name="Shape 10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1" name="Line 11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6960241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10285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60329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60416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710460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60504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66458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33882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01307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6873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03580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71005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38429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0585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310285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1307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85921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35965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86009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86096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436140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86184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5731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2473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9216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5958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29443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6186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2928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19671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53" name="Shape 53"/>
          <p:cNvSpPr/>
          <p:nvPr/>
        </p:nvSpPr>
        <p:spPr>
          <a:xfrm>
            <a:off x="7257898" y="428644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4" name="Shape 54"/>
          <p:cNvSpPr txBox="1"/>
          <p:nvPr/>
        </p:nvSpPr>
        <p:spPr>
          <a:xfrm>
            <a:off x="7396010" y="409117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−1)</a:t>
            </a:r>
            <a:endParaRPr lang="en-US" sz="1125" dirty="0"/>
          </a:p>
        </p:txBody>
      </p:sp>
      <p:sp>
        <p:nvSpPr>
          <p:cNvPr id="55" name="Shape 55"/>
          <p:cNvSpPr/>
          <p:nvPr/>
        </p:nvSpPr>
        <p:spPr>
          <a:xfrm>
            <a:off x="7957985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6" name="Shape 56"/>
          <p:cNvSpPr txBox="1"/>
          <p:nvPr/>
        </p:nvSpPr>
        <p:spPr>
          <a:xfrm>
            <a:off x="8096098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(2, 2)</a:t>
            </a:r>
            <a:endParaRPr lang="en-US" sz="1125" dirty="0"/>
          </a:p>
        </p:txBody>
      </p:sp>
      <p:sp>
        <p:nvSpPr>
          <p:cNvPr id="57" name="Shape 57"/>
          <p:cNvSpPr/>
          <p:nvPr/>
        </p:nvSpPr>
        <p:spPr>
          <a:xfrm>
            <a:off x="8658073" y="233191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8" name="Shape 58"/>
          <p:cNvSpPr txBox="1"/>
          <p:nvPr/>
        </p:nvSpPr>
        <p:spPr>
          <a:xfrm>
            <a:off x="8796185" y="213664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(4, 5)</a:t>
            </a:r>
            <a:endParaRPr lang="en-US" sz="1125" dirty="0"/>
          </a:p>
        </p:txBody>
      </p:sp>
      <p:cxnSp>
        <p:nvCxnSpPr>
          <p:cNvPr id="59" name="Line 59"/>
          <p:cNvCxnSpPr/>
          <p:nvPr/>
        </p:nvCxnSpPr>
        <p:spPr>
          <a:xfrm flipV="1">
            <a:off x="6843560" y="1732788"/>
            <a:ext cx="2333625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____).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Down ____, right ____.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1, right 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Two more points: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79214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(3, 3) and (6, 2)</a:t>
            </a:r>
            <a:endParaRPr lang="en-US" sz="2325" dirty="0"/>
          </a:p>
        </p:txBody>
      </p:sp>
      <p:sp>
        <p:nvSpPr>
          <p:cNvPr id="10" name="Shape 10"/>
          <p:cNvSpPr/>
          <p:nvPr/>
        </p:nvSpPr>
        <p:spPr>
          <a:xfrm>
            <a:off x="6286348" y="1618488"/>
            <a:ext cx="32385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1" name="Line 11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3102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66032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6041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7104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60504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1299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1710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2691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2122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9" name="Shape 29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6685921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70359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738600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77360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808609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84361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8786184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91362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5" name="Shape 45"/>
          <p:cNvSpPr/>
          <p:nvPr/>
        </p:nvSpPr>
        <p:spPr>
          <a:xfrm>
            <a:off x="6907854" y="2639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6" name="Shape 46"/>
          <p:cNvSpPr txBox="1"/>
          <p:nvPr/>
        </p:nvSpPr>
        <p:spPr>
          <a:xfrm>
            <a:off x="7045966" y="24439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(0, 4)</a:t>
            </a:r>
            <a:endParaRPr lang="en-US" sz="1125" dirty="0"/>
          </a:p>
        </p:txBody>
      </p:sp>
      <p:sp>
        <p:nvSpPr>
          <p:cNvPr id="47" name="Shape 47"/>
          <p:cNvSpPr/>
          <p:nvPr/>
        </p:nvSpPr>
        <p:spPr>
          <a:xfrm>
            <a:off x="7957985" y="3118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8" name="Shape 48"/>
          <p:cNvSpPr txBox="1"/>
          <p:nvPr/>
        </p:nvSpPr>
        <p:spPr>
          <a:xfrm>
            <a:off x="8096098" y="2923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(3, 3)</a:t>
            </a:r>
            <a:endParaRPr lang="en-US" sz="1125" dirty="0"/>
          </a:p>
        </p:txBody>
      </p:sp>
      <p:sp>
        <p:nvSpPr>
          <p:cNvPr id="49" name="Shape 49"/>
          <p:cNvSpPr/>
          <p:nvPr/>
        </p:nvSpPr>
        <p:spPr>
          <a:xfrm>
            <a:off x="9008116" y="359810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9146229" y="340283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(6, 2)</a:t>
            </a:r>
            <a:endParaRPr lang="en-US" sz="1125" dirty="0"/>
          </a:p>
        </p:txBody>
      </p:sp>
      <p:cxnSp>
        <p:nvCxnSpPr>
          <p:cNvPr id="51" name="Line 51"/>
          <p:cNvCxnSpPr/>
          <p:nvPr/>
        </p:nvCxnSpPr>
        <p:spPr>
          <a:xfrm>
            <a:off x="6610198" y="2531830"/>
            <a:ext cx="2800350" cy="12784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Point-slope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+ 8 = 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+ 6)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find the point. The signs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flip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(−6, −8)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up 1, right 2.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52195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(−4, −7) and (−2, −6)</a:t>
            </a:r>
            <a:endParaRPr lang="en-US" sz="232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60241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3102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6032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0103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6041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7104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9060504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1299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650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1710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2691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22122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4105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93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7" name="Shape 27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6685921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−7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70359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738600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77360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808609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84361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8786184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91362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−7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3" name="Shape 43"/>
          <p:cNvSpPr/>
          <p:nvPr/>
        </p:nvSpPr>
        <p:spPr>
          <a:xfrm>
            <a:off x="7257898" y="359810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4" name="Shape 44"/>
          <p:cNvSpPr txBox="1"/>
          <p:nvPr/>
        </p:nvSpPr>
        <p:spPr>
          <a:xfrm>
            <a:off x="7396010" y="340283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(−6, −8)</a:t>
            </a:r>
            <a:endParaRPr lang="en-US" sz="1125" dirty="0"/>
          </a:p>
        </p:txBody>
      </p:sp>
      <p:sp>
        <p:nvSpPr>
          <p:cNvPr id="45" name="Shape 45"/>
          <p:cNvSpPr/>
          <p:nvPr/>
        </p:nvSpPr>
        <p:spPr>
          <a:xfrm>
            <a:off x="7957985" y="3118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6" name="Shape 46"/>
          <p:cNvSpPr/>
          <p:nvPr/>
        </p:nvSpPr>
        <p:spPr>
          <a:xfrm>
            <a:off x="8658073" y="26392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7" name="Line 47"/>
          <p:cNvCxnSpPr/>
          <p:nvPr/>
        </p:nvCxnSpPr>
        <p:spPr>
          <a:xfrm flipV="1">
            <a:off x="6610198" y="2212213"/>
            <a:ext cx="2800350" cy="19177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Standard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3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12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put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0.</a:t>
            </a:r>
            <a:b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12,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4.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(4, 0)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53334"/>
            <a:ext cx="52195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put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0.</a:t>
            </a:r>
            <a:b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12,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6.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83590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(0, 6)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48818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Connect the two points.</a:t>
            </a:r>
            <a:endParaRPr lang="en-US" sz="1950" dirty="0"/>
          </a:p>
        </p:txBody>
      </p:sp>
      <p:sp>
        <p:nvSpPr>
          <p:cNvPr id="9" name="Shape 9"/>
          <p:cNvSpPr/>
          <p:nvPr/>
        </p:nvSpPr>
        <p:spPr>
          <a:xfrm>
            <a:off x="6286348" y="1618488"/>
            <a:ext cx="304800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98303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355869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72870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10154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74376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847212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2200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28972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9701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650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3308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01125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26916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37202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052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983033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289721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670871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7081549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745438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782722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8200056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8572892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9457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6043270" y="419828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387866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2394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29198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28058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196096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8" name="Shape 48"/>
          <p:cNvSpPr/>
          <p:nvPr/>
        </p:nvSpPr>
        <p:spPr>
          <a:xfrm>
            <a:off x="8421989" y="42373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9" name="Shape 49"/>
          <p:cNvSpPr txBox="1"/>
          <p:nvPr/>
        </p:nvSpPr>
        <p:spPr>
          <a:xfrm>
            <a:off x="8560101" y="40420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(4, 0)</a:t>
            </a:r>
            <a:endParaRPr lang="en-US" sz="1125" dirty="0"/>
          </a:p>
        </p:txBody>
      </p:sp>
      <p:sp>
        <p:nvSpPr>
          <p:cNvPr id="50" name="Shape 50"/>
          <p:cNvSpPr/>
          <p:nvPr/>
        </p:nvSpPr>
        <p:spPr>
          <a:xfrm>
            <a:off x="6930646" y="2319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 txBox="1"/>
          <p:nvPr/>
        </p:nvSpPr>
        <p:spPr>
          <a:xfrm>
            <a:off x="7068758" y="2124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(0, 6)</a:t>
            </a:r>
            <a:endParaRPr lang="en-US" sz="1125" dirty="0"/>
          </a:p>
        </p:txBody>
      </p:sp>
      <p:cxnSp>
        <p:nvCxnSpPr>
          <p:cNvPr id="52" name="Line 52"/>
          <p:cNvCxnSpPr/>
          <p:nvPr/>
        </p:nvCxnSpPr>
        <p:spPr>
          <a:xfrm>
            <a:off x="6610198" y="1892596"/>
            <a:ext cx="2112736" cy="2716742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intercepts of 2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+ 5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20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0: 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20,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(10, 0)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0: 5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20, so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5 · Which form?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Where do I start?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(0,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 Count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Start at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 Count the slope.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Find both intercepts. Connect them.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+ 2. Name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and one more point.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804864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(0, 2), then down 3, right 4: (4, −1)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Find the intercepts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8.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(8, 0) and (0, 4)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Name the point and slope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− 1 = 2(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+ 3).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2164"/>
            <a:ext cx="556124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point (−3, 1), slope 2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the quiz are the same pages as the general lesson. Assign fewer items,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Using Linear Equa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12</Slides>
  <Notes>12</Notes>
</Properties>
</file>

<file path=docProps/core.xml><?xml version="1.0" encoding="utf-8"?>
<cp:coreProperties xmlns:cp="http://schemas.openxmlformats.org/package/2006/metadata/core-properties" xmlns:dc="http://purl.org/dc/elements/1.1/">
  <dc:title>Using Linear Equations</dc:title>
  <dc:subject>Bluebonnet Algebra I</dc:subject>
</cp:coreProperties>
</file>