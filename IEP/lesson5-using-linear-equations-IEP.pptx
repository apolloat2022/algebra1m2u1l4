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Lesson 5: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each point as it appears. Negative slope: the line falls left to right.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point instead of the y-intercept; everything else is the same.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the x-term to find the y-intercept, and cover the y-term to find the x-intercept.</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lesson5-bellwork-day1-IEP.html" TargetMode="External"/><Relationship Id="rId4" Type="http://schemas.openxmlformats.org/officeDocument/2006/relationships/hyperlink" Target="https://algebra1m2u1l4.vercel.app/IEP/lesson5-bellwork-day2-IEP.html" TargetMode="External"/><Relationship Id="rId5" Type="http://schemas.openxmlformats.org/officeDocument/2006/relationships/hyperlink" Target="https://algebra1m2u1l4.vercel.app/IEP/lesson5-bellwork-day3-IEP.html" TargetMode="External"/><Relationship Id="rId6" Type="http://schemas.openxmlformats.org/officeDocument/2006/relationships/hyperlink" Target="https://algebra1m2u1l4.vercel.app/IEP/lesson5-homework-IEP.html" TargetMode="External"/><Relationship Id="rId7" Type="http://schemas.openxmlformats.org/officeDocument/2006/relationships/hyperlink" Target="https://algebra1m2u1l4.vercel.app/IEP/lesson5-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algebra1m2u1l4.vercel.app/IEP/lesson5-bellwork-day1-IEP.html" TargetMode="External"/><Relationship Id="rId4" Type="http://schemas.openxmlformats.org/officeDocument/2006/relationships/hyperlink" Target="https://algebra1m2u1l4.vercel.app/IEP/lesson5-bellwork-day2-IEP.html" TargetMode="External"/><Relationship Id="rId5" Type="http://schemas.openxmlformats.org/officeDocument/2006/relationships/hyperlink" Target="https://algebra1m2u1l4.vercel.app/IEP/lesson5-bellwork-day3-IEP.html" TargetMode="External"/><Relationship Id="rId6" Type="http://schemas.openxmlformats.org/officeDocument/2006/relationships/hyperlink" Target="https://algebra1m2u1l4.vercel.app/IEP/lesson5-homework-IEP.html" TargetMode="External"/><Relationship Id="rId7" Type="http://schemas.openxmlformats.org/officeDocument/2006/relationships/hyperlink" Target="https://algebra1m2u1l4.vercel.app/IEP/lesson5-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Graphing Linear Equations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mx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Ax</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By</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C</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graph a line from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using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the slope.</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graph a line from point-slope form.</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intercepts of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and graph the line.</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1" name="Shape 11"/>
          <p:cNvSpPr txBox="1"/>
          <p:nvPr/>
        </p:nvSpPr>
        <p:spPr>
          <a:xfrm>
            <a:off x="4349648"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Rise over run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Rise: up (+) or down (−). Run: right.</a:t>
            </a:r>
            <a:endParaRPr lang="en-US" sz="1575" dirty="0"/>
          </a:p>
        </p:txBody>
      </p:sp>
      <p:sp>
        <p:nvSpPr>
          <p:cNvPr id="10" name="Shape 10"/>
          <p:cNvSpPr txBox="1"/>
          <p:nvPr/>
        </p:nvSpPr>
        <p:spPr>
          <a:xfrm>
            <a:off x="4559198" y="289026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up 3, right 2</a:t>
            </a:r>
            <a:endParaRPr lang="en-US" sz="2325" dirty="0"/>
          </a:p>
        </p:txBody>
      </p:sp>
      <p:sp>
        <p:nvSpPr>
          <p:cNvPr id="15" name="Shape 15"/>
          <p:cNvSpPr txBox="1"/>
          <p:nvPr/>
        </p:nvSpPr>
        <p:spPr>
          <a:xfrm>
            <a:off x="8013497" y="1618488"/>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-intercept</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0).</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Put 0 in for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Standard form</a:t>
            </a:r>
            <a:endParaRPr lang="en-US" sz="2100" dirty="0"/>
          </a:p>
        </p:txBody>
      </p:sp>
      <p:sp>
        <p:nvSpPr>
          <p:cNvPr id="17" name="Shape 17"/>
          <p:cNvSpPr txBox="1"/>
          <p:nvPr/>
        </p:nvSpPr>
        <p:spPr>
          <a:xfrm>
            <a:off x="895350"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C</a:t>
            </a:r>
            <a:endParaRPr lang="en-US" sz="1575" dirty="0"/>
          </a:p>
        </p:txBody>
      </p:sp>
      <p:sp>
        <p:nvSpPr>
          <p:cNvPr id="18" name="Shape 18"/>
          <p:cNvSpPr txBox="1"/>
          <p:nvPr/>
        </p:nvSpPr>
        <p:spPr>
          <a:xfrm>
            <a:off x="895350"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endParaRPr lang="en-US" sz="2325" dirty="0"/>
          </a:p>
        </p:txBody>
      </p:sp>
      <p:sp>
        <p:nvSpPr>
          <p:cNvPr id="23" name="Shape 23"/>
          <p:cNvSpPr txBox="1"/>
          <p:nvPr/>
        </p:nvSpPr>
        <p:spPr>
          <a:xfrm>
            <a:off x="4349648"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a:t>
            </a:r>
            <a:endParaRPr lang="en-US" sz="2100" dirty="0"/>
          </a:p>
        </p:txBody>
      </p:sp>
      <p:sp>
        <p:nvSpPr>
          <p:cNvPr id="21" name="Shape 21"/>
          <p:cNvSpPr txBox="1"/>
          <p:nvPr/>
        </p:nvSpPr>
        <p:spPr>
          <a:xfrm>
            <a:off x="4559198" y="46382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is the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is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22" name="Shape 22"/>
          <p:cNvSpPr txBox="1"/>
          <p:nvPr/>
        </p:nvSpPr>
        <p:spPr>
          <a:xfrm>
            <a:off x="4559198" y="52684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27" name="Shape 27"/>
          <p:cNvSpPr txBox="1"/>
          <p:nvPr/>
        </p:nvSpPr>
        <p:spPr>
          <a:xfrm>
            <a:off x="8013497" y="3996690"/>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681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25" name="Shape 25"/>
          <p:cNvSpPr txBox="1"/>
          <p:nvPr/>
        </p:nvSpPr>
        <p:spPr>
          <a:xfrm>
            <a:off x="8223047" y="463829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and one point.</a:t>
            </a:r>
            <a:endParaRPr lang="en-US" sz="1575" dirty="0"/>
          </a:p>
        </p:txBody>
      </p:sp>
      <p:sp>
        <p:nvSpPr>
          <p:cNvPr id="26" name="Shape 26"/>
          <p:cNvSpPr txBox="1"/>
          <p:nvPr/>
        </p:nvSpPr>
        <p:spPr>
          <a:xfrm>
            <a:off x="8223047" y="50284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mx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b</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Write the slope as </a:t>
            </a:r>
            <a:r>
              <a:rPr lang="en-US" sz="1950" dirty="0">
                <a:solidFill>
                  <a:srgbClr val="16171D"/>
                </a:solidFill>
                <a:latin typeface="Segoe UI"/>
                <a:cs typeface="Segoe UI"/>
              </a:rPr>
              <a:t xml:space="preserve">rise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run</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From the point, count the rise (up or down), then the run (right). Plot a point.</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Do it again, so you have 3 points. Connect them with a ruler.</a:t>
            </a:r>
            <a:endParaRPr lang="en-US" sz="19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+ 10</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 10. Plot (0, 10).</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 down 2, right 1.</a:t>
            </a:r>
            <a:endParaRPr lang="en-US" sz="1950" dirty="0"/>
          </a:p>
        </p:txBody>
      </p:sp>
      <p:sp>
        <p:nvSpPr>
          <p:cNvPr id="6" name="Shape 6"/>
          <p:cNvSpPr txBox="1"/>
          <p:nvPr/>
        </p:nvSpPr>
        <p:spPr>
          <a:xfrm>
            <a:off x="685800" y="2589276"/>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 8) and (2, 6)</a:t>
            </a:r>
            <a:endParaRPr lang="en-US" sz="2325" dirty="0"/>
          </a:p>
        </p:txBody>
      </p:sp>
      <p:sp>
        <p:nvSpPr>
          <p:cNvPr id="7" name="Shape 7"/>
          <p:cNvSpPr txBox="1"/>
          <p:nvPr/>
        </p:nvSpPr>
        <p:spPr>
          <a:xfrm>
            <a:off x="685800"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connect with a ruler.</a:t>
            </a:r>
            <a:endParaRPr lang="en-US" sz="1950" dirty="0"/>
          </a:p>
        </p:txBody>
      </p:sp>
      <p:sp>
        <p:nvSpPr>
          <p:cNvPr id="8" name="Shape 8"/>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257550"/>
          </a:xfrm>
          <a:prstGeom prst="line">
            <a:avLst/>
          </a:prstGeom>
          <a:ln w="9525" cap="flat">
            <a:solidFill>
              <a:srgbClr val="E6E8F2"/>
            </a:solidFill>
          </a:ln>
        </p:spPr>
      </p:cxnSp>
      <p:cxnSp>
        <p:nvCxnSpPr>
          <p:cNvPr id="10" name="Line 10"/>
          <p:cNvCxnSpPr/>
          <p:nvPr/>
        </p:nvCxnSpPr>
        <p:spPr>
          <a:xfrm>
            <a:off x="7010248" y="1732788"/>
            <a:ext cx="0" cy="3257550"/>
          </a:xfrm>
          <a:prstGeom prst="line">
            <a:avLst/>
          </a:prstGeom>
          <a:ln w="9525" cap="flat">
            <a:solidFill>
              <a:srgbClr val="E6E8F2"/>
            </a:solidFill>
          </a:ln>
        </p:spPr>
      </p:cxnSp>
      <p:cxnSp>
        <p:nvCxnSpPr>
          <p:cNvPr id="11" name="Line 11"/>
          <p:cNvCxnSpPr/>
          <p:nvPr/>
        </p:nvCxnSpPr>
        <p:spPr>
          <a:xfrm>
            <a:off x="7410298" y="1732788"/>
            <a:ext cx="0" cy="3257550"/>
          </a:xfrm>
          <a:prstGeom prst="line">
            <a:avLst/>
          </a:prstGeom>
          <a:ln w="9525" cap="flat">
            <a:solidFill>
              <a:srgbClr val="E6E8F2"/>
            </a:solidFill>
          </a:ln>
        </p:spPr>
      </p:cxnSp>
      <p:cxnSp>
        <p:nvCxnSpPr>
          <p:cNvPr id="12" name="Line 12"/>
          <p:cNvCxnSpPr/>
          <p:nvPr/>
        </p:nvCxnSpPr>
        <p:spPr>
          <a:xfrm>
            <a:off x="7810348" y="1732788"/>
            <a:ext cx="0" cy="3257550"/>
          </a:xfrm>
          <a:prstGeom prst="line">
            <a:avLst/>
          </a:prstGeom>
          <a:ln w="9525" cap="flat">
            <a:solidFill>
              <a:srgbClr val="E6E8F2"/>
            </a:solidFill>
          </a:ln>
        </p:spPr>
      </p:cxnSp>
      <p:cxnSp>
        <p:nvCxnSpPr>
          <p:cNvPr id="13" name="Line 13"/>
          <p:cNvCxnSpPr/>
          <p:nvPr/>
        </p:nvCxnSpPr>
        <p:spPr>
          <a:xfrm>
            <a:off x="8210398" y="1732788"/>
            <a:ext cx="0" cy="3257550"/>
          </a:xfrm>
          <a:prstGeom prst="line">
            <a:avLst/>
          </a:prstGeom>
          <a:ln w="9525" cap="flat">
            <a:solidFill>
              <a:srgbClr val="E6E8F2"/>
            </a:solidFill>
          </a:ln>
        </p:spPr>
      </p:cxnSp>
      <p:cxnSp>
        <p:nvCxnSpPr>
          <p:cNvPr id="14" name="Line 14"/>
          <p:cNvCxnSpPr/>
          <p:nvPr/>
        </p:nvCxnSpPr>
        <p:spPr>
          <a:xfrm>
            <a:off x="8610448" y="1732788"/>
            <a:ext cx="0" cy="3257550"/>
          </a:xfrm>
          <a:prstGeom prst="line">
            <a:avLst/>
          </a:prstGeom>
          <a:ln w="9525" cap="flat">
            <a:solidFill>
              <a:srgbClr val="E6E8F2"/>
            </a:solidFill>
          </a:ln>
        </p:spPr>
      </p:cxnSp>
      <p:cxnSp>
        <p:nvCxnSpPr>
          <p:cNvPr id="15" name="Line 15"/>
          <p:cNvCxnSpPr/>
          <p:nvPr/>
        </p:nvCxnSpPr>
        <p:spPr>
          <a:xfrm>
            <a:off x="9010498" y="1732788"/>
            <a:ext cx="0" cy="3257550"/>
          </a:xfrm>
          <a:prstGeom prst="line">
            <a:avLst/>
          </a:prstGeom>
          <a:ln w="9525" cap="flat">
            <a:solidFill>
              <a:srgbClr val="E6E8F2"/>
            </a:solidFill>
          </a:ln>
        </p:spPr>
      </p:cxnSp>
      <p:cxnSp>
        <p:nvCxnSpPr>
          <p:cNvPr id="16" name="Line 16"/>
          <p:cNvCxnSpPr/>
          <p:nvPr/>
        </p:nvCxnSpPr>
        <p:spPr>
          <a:xfrm>
            <a:off x="9410548" y="1732788"/>
            <a:ext cx="0" cy="3257550"/>
          </a:xfrm>
          <a:prstGeom prst="line">
            <a:avLst/>
          </a:prstGeom>
          <a:ln w="9525" cap="flat">
            <a:solidFill>
              <a:srgbClr val="E6E8F2"/>
            </a:solidFill>
          </a:ln>
        </p:spPr>
      </p:cxnSp>
      <p:cxnSp>
        <p:nvCxnSpPr>
          <p:cNvPr id="17" name="Line 17"/>
          <p:cNvCxnSpPr/>
          <p:nvPr/>
        </p:nvCxnSpPr>
        <p:spPr>
          <a:xfrm>
            <a:off x="6610198" y="4990338"/>
            <a:ext cx="2800350" cy="0"/>
          </a:xfrm>
          <a:prstGeom prst="line">
            <a:avLst/>
          </a:prstGeom>
          <a:ln w="9525" cap="flat">
            <a:solidFill>
              <a:srgbClr val="E6E8F2"/>
            </a:solidFill>
          </a:ln>
        </p:spPr>
      </p:cxnSp>
      <p:cxnSp>
        <p:nvCxnSpPr>
          <p:cNvPr id="18" name="Line 18"/>
          <p:cNvCxnSpPr/>
          <p:nvPr/>
        </p:nvCxnSpPr>
        <p:spPr>
          <a:xfrm>
            <a:off x="6610198" y="4718876"/>
            <a:ext cx="2800350" cy="0"/>
          </a:xfrm>
          <a:prstGeom prst="line">
            <a:avLst/>
          </a:prstGeom>
          <a:ln w="9525" cap="flat">
            <a:solidFill>
              <a:srgbClr val="E6E8F2"/>
            </a:solidFill>
          </a:ln>
        </p:spPr>
      </p:cxnSp>
      <p:cxnSp>
        <p:nvCxnSpPr>
          <p:cNvPr id="19" name="Line 19"/>
          <p:cNvCxnSpPr/>
          <p:nvPr/>
        </p:nvCxnSpPr>
        <p:spPr>
          <a:xfrm>
            <a:off x="6610198" y="4447413"/>
            <a:ext cx="2800350" cy="0"/>
          </a:xfrm>
          <a:prstGeom prst="line">
            <a:avLst/>
          </a:prstGeom>
          <a:ln w="9525" cap="flat">
            <a:solidFill>
              <a:srgbClr val="E6E8F2"/>
            </a:solidFill>
          </a:ln>
        </p:spPr>
      </p:cxnSp>
      <p:cxnSp>
        <p:nvCxnSpPr>
          <p:cNvPr id="20" name="Line 20"/>
          <p:cNvCxnSpPr/>
          <p:nvPr/>
        </p:nvCxnSpPr>
        <p:spPr>
          <a:xfrm>
            <a:off x="6610198" y="4175950"/>
            <a:ext cx="2800350" cy="0"/>
          </a:xfrm>
          <a:prstGeom prst="line">
            <a:avLst/>
          </a:prstGeom>
          <a:ln w="9525" cap="flat">
            <a:solidFill>
              <a:srgbClr val="E6E8F2"/>
            </a:solidFill>
          </a:ln>
        </p:spPr>
      </p:cxnSp>
      <p:cxnSp>
        <p:nvCxnSpPr>
          <p:cNvPr id="21" name="Line 21"/>
          <p:cNvCxnSpPr/>
          <p:nvPr/>
        </p:nvCxnSpPr>
        <p:spPr>
          <a:xfrm>
            <a:off x="6610198" y="3904488"/>
            <a:ext cx="2800350" cy="0"/>
          </a:xfrm>
          <a:prstGeom prst="line">
            <a:avLst/>
          </a:prstGeom>
          <a:ln w="9525" cap="flat">
            <a:solidFill>
              <a:srgbClr val="E6E8F2"/>
            </a:solidFill>
          </a:ln>
        </p:spPr>
      </p:cxnSp>
      <p:cxnSp>
        <p:nvCxnSpPr>
          <p:cNvPr id="22" name="Line 22"/>
          <p:cNvCxnSpPr/>
          <p:nvPr/>
        </p:nvCxnSpPr>
        <p:spPr>
          <a:xfrm>
            <a:off x="6610198" y="3633026"/>
            <a:ext cx="2800350" cy="0"/>
          </a:xfrm>
          <a:prstGeom prst="line">
            <a:avLst/>
          </a:prstGeom>
          <a:ln w="9525" cap="flat">
            <a:solidFill>
              <a:srgbClr val="E6E8F2"/>
            </a:solidFill>
          </a:ln>
        </p:spPr>
      </p:cxnSp>
      <p:cxnSp>
        <p:nvCxnSpPr>
          <p:cNvPr id="23" name="Line 23"/>
          <p:cNvCxnSpPr/>
          <p:nvPr/>
        </p:nvCxnSpPr>
        <p:spPr>
          <a:xfrm>
            <a:off x="6610198" y="3361563"/>
            <a:ext cx="2800350" cy="0"/>
          </a:xfrm>
          <a:prstGeom prst="line">
            <a:avLst/>
          </a:prstGeom>
          <a:ln w="9525" cap="flat">
            <a:solidFill>
              <a:srgbClr val="E6E8F2"/>
            </a:solidFill>
          </a:ln>
        </p:spPr>
      </p:cxnSp>
      <p:cxnSp>
        <p:nvCxnSpPr>
          <p:cNvPr id="24" name="Line 24"/>
          <p:cNvCxnSpPr/>
          <p:nvPr/>
        </p:nvCxnSpPr>
        <p:spPr>
          <a:xfrm>
            <a:off x="6610198" y="3090100"/>
            <a:ext cx="2800350" cy="0"/>
          </a:xfrm>
          <a:prstGeom prst="line">
            <a:avLst/>
          </a:prstGeom>
          <a:ln w="9525" cap="flat">
            <a:solidFill>
              <a:srgbClr val="E6E8F2"/>
            </a:solidFill>
          </a:ln>
        </p:spPr>
      </p:cxnSp>
      <p:cxnSp>
        <p:nvCxnSpPr>
          <p:cNvPr id="25" name="Line 25"/>
          <p:cNvCxnSpPr/>
          <p:nvPr/>
        </p:nvCxnSpPr>
        <p:spPr>
          <a:xfrm>
            <a:off x="6610198" y="2818638"/>
            <a:ext cx="2800350" cy="0"/>
          </a:xfrm>
          <a:prstGeom prst="line">
            <a:avLst/>
          </a:prstGeom>
          <a:ln w="9525" cap="flat">
            <a:solidFill>
              <a:srgbClr val="E6E8F2"/>
            </a:solidFill>
          </a:ln>
        </p:spPr>
      </p:cxnSp>
      <p:cxnSp>
        <p:nvCxnSpPr>
          <p:cNvPr id="26" name="Line 26"/>
          <p:cNvCxnSpPr/>
          <p:nvPr/>
        </p:nvCxnSpPr>
        <p:spPr>
          <a:xfrm>
            <a:off x="6610198" y="2547176"/>
            <a:ext cx="2800350" cy="0"/>
          </a:xfrm>
          <a:prstGeom prst="line">
            <a:avLst/>
          </a:prstGeom>
          <a:ln w="9525" cap="flat">
            <a:solidFill>
              <a:srgbClr val="E6E8F2"/>
            </a:solidFill>
          </a:ln>
        </p:spPr>
      </p:cxnSp>
      <p:cxnSp>
        <p:nvCxnSpPr>
          <p:cNvPr id="27" name="Line 27"/>
          <p:cNvCxnSpPr/>
          <p:nvPr/>
        </p:nvCxnSpPr>
        <p:spPr>
          <a:xfrm>
            <a:off x="6610198" y="2275713"/>
            <a:ext cx="2800350" cy="0"/>
          </a:xfrm>
          <a:prstGeom prst="line">
            <a:avLst/>
          </a:prstGeom>
          <a:ln w="9525" cap="flat">
            <a:solidFill>
              <a:srgbClr val="E6E8F2"/>
            </a:solidFill>
          </a:ln>
        </p:spPr>
      </p:cxnSp>
      <p:cxnSp>
        <p:nvCxnSpPr>
          <p:cNvPr id="28" name="Line 28"/>
          <p:cNvCxnSpPr/>
          <p:nvPr/>
        </p:nvCxnSpPr>
        <p:spPr>
          <a:xfrm>
            <a:off x="6610198" y="2004250"/>
            <a:ext cx="2800350" cy="0"/>
          </a:xfrm>
          <a:prstGeom prst="line">
            <a:avLst/>
          </a:prstGeom>
          <a:ln w="9525" cap="flat">
            <a:solidFill>
              <a:srgbClr val="E6E8F2"/>
            </a:solidFill>
          </a:ln>
        </p:spPr>
      </p:cxnSp>
      <p:cxnSp>
        <p:nvCxnSpPr>
          <p:cNvPr id="29" name="Line 29"/>
          <p:cNvCxnSpPr/>
          <p:nvPr/>
        </p:nvCxnSpPr>
        <p:spPr>
          <a:xfrm>
            <a:off x="6610198" y="1732788"/>
            <a:ext cx="2800350" cy="0"/>
          </a:xfrm>
          <a:prstGeom prst="line">
            <a:avLst/>
          </a:prstGeom>
          <a:ln w="9525" cap="flat">
            <a:solidFill>
              <a:srgbClr val="E6E8F2"/>
            </a:solidFill>
          </a:ln>
        </p:spPr>
      </p:cxnSp>
      <p:cxnSp>
        <p:nvCxnSpPr>
          <p:cNvPr id="30" name="Line 30"/>
          <p:cNvCxnSpPr/>
          <p:nvPr/>
        </p:nvCxnSpPr>
        <p:spPr>
          <a:xfrm>
            <a:off x="7010248" y="1732788"/>
            <a:ext cx="0" cy="3257550"/>
          </a:xfrm>
          <a:prstGeom prst="line">
            <a:avLst/>
          </a:prstGeom>
          <a:ln w="19050" cap="flat">
            <a:solidFill>
              <a:srgbClr val="5F6272"/>
            </a:solidFill>
          </a:ln>
        </p:spPr>
      </p:cxnSp>
      <p:cxnSp>
        <p:nvCxnSpPr>
          <p:cNvPr id="31" name="Line 31"/>
          <p:cNvCxnSpPr/>
          <p:nvPr/>
        </p:nvCxnSpPr>
        <p:spPr>
          <a:xfrm>
            <a:off x="6610198" y="4990338"/>
            <a:ext cx="2800350" cy="0"/>
          </a:xfrm>
          <a:prstGeom prst="line">
            <a:avLst/>
          </a:prstGeom>
          <a:ln w="19050" cap="flat">
            <a:solidFill>
              <a:srgbClr val="5F6272"/>
            </a:solidFill>
          </a:ln>
        </p:spPr>
      </p:cxnSp>
      <p:sp>
        <p:nvSpPr>
          <p:cNvPr id="32" name="Shape 3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6735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71359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536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7936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7" name="Shape 37"/>
          <p:cNvSpPr txBox="1"/>
          <p:nvPr/>
        </p:nvSpPr>
        <p:spPr>
          <a:xfrm>
            <a:off x="83361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8" name="Shape 38"/>
          <p:cNvSpPr txBox="1"/>
          <p:nvPr/>
        </p:nvSpPr>
        <p:spPr>
          <a:xfrm>
            <a:off x="8736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9" name="Shape 3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0" name="Shape 4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p:nvPr/>
        </p:nvSpPr>
        <p:spPr>
          <a:xfrm>
            <a:off x="6957860" y="22233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7095973" y="20280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49" name="Shape 49"/>
          <p:cNvSpPr/>
          <p:nvPr/>
        </p:nvSpPr>
        <p:spPr>
          <a:xfrm>
            <a:off x="7357910" y="2766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7496023" y="2570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1" name="Shape 51"/>
          <p:cNvSpPr/>
          <p:nvPr/>
        </p:nvSpPr>
        <p:spPr>
          <a:xfrm>
            <a:off x="775796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789607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cxnSp>
        <p:nvCxnSpPr>
          <p:cNvPr id="53" name="Line 53"/>
          <p:cNvCxnSpPr/>
          <p:nvPr/>
        </p:nvCxnSpPr>
        <p:spPr>
          <a:xfrm>
            <a:off x="6610198" y="1732788"/>
            <a:ext cx="2400300" cy="3257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47"/>
                                        </p:tgtEl>
                                        <p:attrNameLst>
                                          <p:attrName>style.visibility</p:attrName>
                                        </p:attrNameLst>
                                      </p:cBhvr>
                                      <p:to>
                                        <p:strVal val="visible"/>
                                      </p:to>
                                    </p:set>
                                    <p:animEffect transition="in" filter="fade">
                                      <p:cBhvr>
                                        <p:cTn id="11" dur="500"/>
                                        <p:tgtEl>
                                          <p:spTgt spid="47"/>
                                        </p:tgtEl>
                                      </p:cBhvr>
                                    </p:animEffect>
                                    <p:anim calcmode="lin" valueType="num">
                                      <p:cBhvr>
                                        <p:cTn id="12" dur="500" fill="hold"/>
                                        <p:tgtEl>
                                          <p:spTgt spid="47"/>
                                        </p:tgtEl>
                                        <p:attrNameLst>
                                          <p:attrName>ppt_w</p:attrName>
                                        </p:attrNameLst>
                                      </p:cBhvr>
                                      <p:tavLst>
                                        <p:tav tm="0">
                                          <p:val>
                                            <p:fltVal val="0"/>
                                          </p:val>
                                        </p:tav>
                                        <p:tav tm="100000">
                                          <p:val>
                                            <p:strVal val="#ppt_w"/>
                                          </p:val>
                                        </p:tav>
                                      </p:tavLst>
                                    </p:anim>
                                    <p:anim calcmode="lin" valueType="num">
                                      <p:cBhvr>
                                        <p:cTn id="13" dur="500" fill="hold"/>
                                        <p:tgtEl>
                                          <p:spTgt spid="47"/>
                                        </p:tgtEl>
                                        <p:attrNameLst>
                                          <p:attrName>ppt_h</p:attrName>
                                        </p:attrNameLst>
                                      </p:cBhvr>
                                      <p:tavLst>
                                        <p:tav tm="0">
                                          <p:val>
                                            <p:fltVal val="0"/>
                                          </p:val>
                                        </p:tav>
                                        <p:tav tm="100000">
                                          <p:val>
                                            <p:strVal val="#ppt_h"/>
                                          </p:val>
                                        </p:tav>
                                      </p:tavLst>
                                    </p:anim>
                                  </p:childTnLst>
                                </p:cTn>
                              </p:par>
                              <p:par>
                                <p:cTn id="19" presetID="53" presetClass="entr" presetSubtype="16" fill="hold" nodeType="withEffect">
                                  <p:stCondLst>
                                    <p:cond delay="0"/>
                                  </p:stCondLst>
                                  <p:childTnLst>
                                    <p:set>
                                      <p:cBhvr>
                                        <p:cTn id="15" dur="1" fill="hold">
                                          <p:stCondLst>
                                            <p:cond delay="0"/>
                                          </p:stCondLst>
                                        </p:cTn>
                                        <p:tgtEl>
                                          <p:spTgt spid="48"/>
                                        </p:tgtEl>
                                        <p:attrNameLst>
                                          <p:attrName>style.visibility</p:attrName>
                                        </p:attrNameLst>
                                      </p:cBhvr>
                                      <p:to>
                                        <p:strVal val="visible"/>
                                      </p:to>
                                    </p:set>
                                    <p:animEffect transition="in" filter="fade">
                                      <p:cBhvr>
                                        <p:cTn id="16" dur="500"/>
                                        <p:tgtEl>
                                          <p:spTgt spid="48"/>
                                        </p:tgtEl>
                                      </p:cBhvr>
                                    </p:animEffect>
                                    <p:anim calcmode="lin" valueType="num">
                                      <p:cBhvr>
                                        <p:cTn id="17" dur="500" fill="hold"/>
                                        <p:tgtEl>
                                          <p:spTgt spid="48"/>
                                        </p:tgtEl>
                                        <p:attrNameLst>
                                          <p:attrName>ppt_w</p:attrName>
                                        </p:attrNameLst>
                                      </p:cBhvr>
                                      <p:tavLst>
                                        <p:tav tm="0">
                                          <p:val>
                                            <p:fltVal val="0"/>
                                          </p:val>
                                        </p:tav>
                                        <p:tav tm="100000">
                                          <p:val>
                                            <p:strVal val="#ppt_w"/>
                                          </p:val>
                                        </p:tav>
                                      </p:tavLst>
                                    </p:anim>
                                    <p:anim calcmode="lin" valueType="num">
                                      <p:cBhvr>
                                        <p:cTn id="18"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par>
                                <p:cTn id="31" presetID="53" presetClass="entr" presetSubtype="16" fill="hold" nodeType="withEffect">
                                  <p:stCondLst>
                                    <p:cond delay="0"/>
                                  </p:stCondLst>
                                  <p:childTnLst>
                                    <p:set>
                                      <p:cBhvr>
                                        <p:cTn id="27" dur="1" fill="hold">
                                          <p:stCondLst>
                                            <p:cond delay="0"/>
                                          </p:stCondLst>
                                        </p:cTn>
                                        <p:tgtEl>
                                          <p:spTgt spid="50"/>
                                        </p:tgtEl>
                                        <p:attrNameLst>
                                          <p:attrName>style.visibility</p:attrName>
                                        </p:attrNameLst>
                                      </p:cBhvr>
                                      <p:to>
                                        <p:strVal val="visible"/>
                                      </p:to>
                                    </p:set>
                                    <p:animEffect transition="in" filter="fade">
                                      <p:cBhvr>
                                        <p:cTn id="28" dur="500"/>
                                        <p:tgtEl>
                                          <p:spTgt spid="50"/>
                                        </p:tgtEl>
                                      </p:cBhvr>
                                    </p:animEffect>
                                    <p:anim calcmode="lin" valueType="num">
                                      <p:cBhvr>
                                        <p:cTn id="29" dur="500" fill="hold"/>
                                        <p:tgtEl>
                                          <p:spTgt spid="50"/>
                                        </p:tgtEl>
                                        <p:attrNameLst>
                                          <p:attrName>ppt_w</p:attrName>
                                        </p:attrNameLst>
                                      </p:cBhvr>
                                      <p:tavLst>
                                        <p:tav tm="0">
                                          <p:val>
                                            <p:fltVal val="0"/>
                                          </p:val>
                                        </p:tav>
                                        <p:tav tm="100000">
                                          <p:val>
                                            <p:strVal val="#ppt_w"/>
                                          </p:val>
                                        </p:tav>
                                      </p:tavLst>
                                    </p:anim>
                                    <p:anim calcmode="lin" valueType="num">
                                      <p:cBhvr>
                                        <p:cTn id="30"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52"/>
                                        </p:tgtEl>
                                        <p:attrNameLst>
                                          <p:attrName>style.visibility</p:attrName>
                                        </p:attrNameLst>
                                      </p:cBhvr>
                                      <p:to>
                                        <p:strVal val="visible"/>
                                      </p:to>
                                    </p:set>
                                    <p:animEffect transition="in" filter="fade">
                                      <p:cBhvr>
                                        <p:cTn id="40" dur="500"/>
                                        <p:tgtEl>
                                          <p:spTgt spid="52"/>
                                        </p:tgtEl>
                                      </p:cBhvr>
                                    </p:animEffect>
                                    <p:anim calcmode="lin" valueType="num">
                                      <p:cBhvr>
                                        <p:cTn id="41" dur="500" fill="hold"/>
                                        <p:tgtEl>
                                          <p:spTgt spid="52"/>
                                        </p:tgtEl>
                                        <p:attrNameLst>
                                          <p:attrName>ppt_w</p:attrName>
                                        </p:attrNameLst>
                                      </p:cBhvr>
                                      <p:tavLst>
                                        <p:tav tm="0">
                                          <p:val>
                                            <p:fltVal val="0"/>
                                          </p:val>
                                        </p:tav>
                                        <p:tav tm="100000">
                                          <p:val>
                                            <p:strVal val="#ppt_w"/>
                                          </p:val>
                                        </p:tav>
                                      </p:tavLst>
                                    </p:anim>
                                    <p:anim calcmode="lin" valueType="num">
                                      <p:cBhvr>
                                        <p:cTn id="42" dur="500" fill="hold"/>
                                        <p:tgtEl>
                                          <p:spTgt spid="52"/>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8" presetID="22" presetClass="entr" presetSubtype="8"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wipe(left)">
                                      <p:cBhvr>
                                        <p:cTn id="47" dur="7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3</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(0, ____).</a:t>
            </a:r>
            <a:endParaRPr lang="en-US" sz="1950" dirty="0"/>
          </a:p>
        </p:txBody>
      </p:sp>
      <p:sp>
        <p:nvSpPr>
          <p:cNvPr id="5" name="Shape 5"/>
          <p:cNvSpPr txBox="1"/>
          <p:nvPr/>
        </p:nvSpPr>
        <p:spPr>
          <a:xfrm>
            <a:off x="685800" y="21038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Rise ____, run ____.</a:t>
            </a:r>
            <a:endParaRPr lang="en-US" sz="1950" dirty="0"/>
          </a:p>
        </p:txBody>
      </p:sp>
      <p:sp>
        <p:nvSpPr>
          <p:cNvPr id="7" name="Shape 7"/>
          <p:cNvSpPr txBox="1"/>
          <p:nvPr/>
        </p:nvSpPr>
        <p:spPr>
          <a:xfrm>
            <a:off x="685800" y="324154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3, right 2</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Next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 and (4, 5)</a:t>
            </a:r>
            <a:endParaRPr lang="en-US" sz="2325" dirty="0"/>
          </a:p>
        </p:txBody>
      </p:sp>
      <p:sp>
        <p:nvSpPr>
          <p:cNvPr id="10" name="Shape 10"/>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3257550"/>
          </a:xfrm>
          <a:prstGeom prst="line">
            <a:avLst/>
          </a:prstGeom>
          <a:ln w="9525" cap="flat">
            <a:solidFill>
              <a:srgbClr val="E6E8F2"/>
            </a:solidFill>
          </a:ln>
        </p:spPr>
      </p:cxnSp>
      <p:cxnSp>
        <p:nvCxnSpPr>
          <p:cNvPr id="12" name="Line 12"/>
          <p:cNvCxnSpPr/>
          <p:nvPr/>
        </p:nvCxnSpPr>
        <p:spPr>
          <a:xfrm>
            <a:off x="6960241" y="1732788"/>
            <a:ext cx="0" cy="3257550"/>
          </a:xfrm>
          <a:prstGeom prst="line">
            <a:avLst/>
          </a:prstGeom>
          <a:ln w="9525" cap="flat">
            <a:solidFill>
              <a:srgbClr val="E6E8F2"/>
            </a:solidFill>
          </a:ln>
        </p:spPr>
      </p:cxnSp>
      <p:cxnSp>
        <p:nvCxnSpPr>
          <p:cNvPr id="13" name="Line 13"/>
          <p:cNvCxnSpPr/>
          <p:nvPr/>
        </p:nvCxnSpPr>
        <p:spPr>
          <a:xfrm>
            <a:off x="7310285" y="1732788"/>
            <a:ext cx="0" cy="3257550"/>
          </a:xfrm>
          <a:prstGeom prst="line">
            <a:avLst/>
          </a:prstGeom>
          <a:ln w="9525" cap="flat">
            <a:solidFill>
              <a:srgbClr val="E6E8F2"/>
            </a:solidFill>
          </a:ln>
        </p:spPr>
      </p:cxnSp>
      <p:cxnSp>
        <p:nvCxnSpPr>
          <p:cNvPr id="14" name="Line 14"/>
          <p:cNvCxnSpPr/>
          <p:nvPr/>
        </p:nvCxnSpPr>
        <p:spPr>
          <a:xfrm>
            <a:off x="7660329" y="1732788"/>
            <a:ext cx="0" cy="3257550"/>
          </a:xfrm>
          <a:prstGeom prst="line">
            <a:avLst/>
          </a:prstGeom>
          <a:ln w="9525" cap="flat">
            <a:solidFill>
              <a:srgbClr val="E6E8F2"/>
            </a:solidFill>
          </a:ln>
        </p:spPr>
      </p:cxnSp>
      <p:cxnSp>
        <p:nvCxnSpPr>
          <p:cNvPr id="15" name="Line 15"/>
          <p:cNvCxnSpPr/>
          <p:nvPr/>
        </p:nvCxnSpPr>
        <p:spPr>
          <a:xfrm>
            <a:off x="8010373" y="1732788"/>
            <a:ext cx="0" cy="3257550"/>
          </a:xfrm>
          <a:prstGeom prst="line">
            <a:avLst/>
          </a:prstGeom>
          <a:ln w="9525" cap="flat">
            <a:solidFill>
              <a:srgbClr val="E6E8F2"/>
            </a:solidFill>
          </a:ln>
        </p:spPr>
      </p:cxnSp>
      <p:cxnSp>
        <p:nvCxnSpPr>
          <p:cNvPr id="16" name="Line 16"/>
          <p:cNvCxnSpPr/>
          <p:nvPr/>
        </p:nvCxnSpPr>
        <p:spPr>
          <a:xfrm>
            <a:off x="8360416" y="1732788"/>
            <a:ext cx="0" cy="3257550"/>
          </a:xfrm>
          <a:prstGeom prst="line">
            <a:avLst/>
          </a:prstGeom>
          <a:ln w="9525" cap="flat">
            <a:solidFill>
              <a:srgbClr val="E6E8F2"/>
            </a:solidFill>
          </a:ln>
        </p:spPr>
      </p:cxnSp>
      <p:cxnSp>
        <p:nvCxnSpPr>
          <p:cNvPr id="17" name="Line 17"/>
          <p:cNvCxnSpPr/>
          <p:nvPr/>
        </p:nvCxnSpPr>
        <p:spPr>
          <a:xfrm>
            <a:off x="8710460" y="1732788"/>
            <a:ext cx="0" cy="3257550"/>
          </a:xfrm>
          <a:prstGeom prst="line">
            <a:avLst/>
          </a:prstGeom>
          <a:ln w="9525" cap="flat">
            <a:solidFill>
              <a:srgbClr val="E6E8F2"/>
            </a:solidFill>
          </a:ln>
        </p:spPr>
      </p:cxnSp>
      <p:cxnSp>
        <p:nvCxnSpPr>
          <p:cNvPr id="18" name="Line 18"/>
          <p:cNvCxnSpPr/>
          <p:nvPr/>
        </p:nvCxnSpPr>
        <p:spPr>
          <a:xfrm>
            <a:off x="9060504" y="1732788"/>
            <a:ext cx="0" cy="3257550"/>
          </a:xfrm>
          <a:prstGeom prst="line">
            <a:avLst/>
          </a:prstGeom>
          <a:ln w="9525" cap="flat">
            <a:solidFill>
              <a:srgbClr val="E6E8F2"/>
            </a:solidFill>
          </a:ln>
        </p:spPr>
      </p:cxnSp>
      <p:cxnSp>
        <p:nvCxnSpPr>
          <p:cNvPr id="19" name="Line 19"/>
          <p:cNvCxnSpPr/>
          <p:nvPr/>
        </p:nvCxnSpPr>
        <p:spPr>
          <a:xfrm>
            <a:off x="9410548" y="1732788"/>
            <a:ext cx="0" cy="3257550"/>
          </a:xfrm>
          <a:prstGeom prst="line">
            <a:avLst/>
          </a:prstGeom>
          <a:ln w="9525" cap="flat">
            <a:solidFill>
              <a:srgbClr val="E6E8F2"/>
            </a:solidFill>
          </a:ln>
        </p:spPr>
      </p:cxnSp>
      <p:cxnSp>
        <p:nvCxnSpPr>
          <p:cNvPr id="20" name="Line 20"/>
          <p:cNvCxnSpPr/>
          <p:nvPr/>
        </p:nvCxnSpPr>
        <p:spPr>
          <a:xfrm>
            <a:off x="6610198" y="4990338"/>
            <a:ext cx="2800350" cy="0"/>
          </a:xfrm>
          <a:prstGeom prst="line">
            <a:avLst/>
          </a:prstGeom>
          <a:ln w="9525" cap="flat">
            <a:solidFill>
              <a:srgbClr val="E6E8F2"/>
            </a:solidFill>
          </a:ln>
        </p:spPr>
      </p:cxnSp>
      <p:cxnSp>
        <p:nvCxnSpPr>
          <p:cNvPr id="21" name="Line 21"/>
          <p:cNvCxnSpPr/>
          <p:nvPr/>
        </p:nvCxnSpPr>
        <p:spPr>
          <a:xfrm>
            <a:off x="6610198" y="4664583"/>
            <a:ext cx="2800350" cy="0"/>
          </a:xfrm>
          <a:prstGeom prst="line">
            <a:avLst/>
          </a:prstGeom>
          <a:ln w="9525" cap="flat">
            <a:solidFill>
              <a:srgbClr val="E6E8F2"/>
            </a:solidFill>
          </a:ln>
        </p:spPr>
      </p:cxnSp>
      <p:cxnSp>
        <p:nvCxnSpPr>
          <p:cNvPr id="22" name="Line 22"/>
          <p:cNvCxnSpPr/>
          <p:nvPr/>
        </p:nvCxnSpPr>
        <p:spPr>
          <a:xfrm>
            <a:off x="6610198" y="4338828"/>
            <a:ext cx="2800350" cy="0"/>
          </a:xfrm>
          <a:prstGeom prst="line">
            <a:avLst/>
          </a:prstGeom>
          <a:ln w="9525" cap="flat">
            <a:solidFill>
              <a:srgbClr val="E6E8F2"/>
            </a:solidFill>
          </a:ln>
        </p:spPr>
      </p:cxnSp>
      <p:cxnSp>
        <p:nvCxnSpPr>
          <p:cNvPr id="23" name="Line 23"/>
          <p:cNvCxnSpPr/>
          <p:nvPr/>
        </p:nvCxnSpPr>
        <p:spPr>
          <a:xfrm>
            <a:off x="6610198" y="4013073"/>
            <a:ext cx="2800350" cy="0"/>
          </a:xfrm>
          <a:prstGeom prst="line">
            <a:avLst/>
          </a:prstGeom>
          <a:ln w="9525" cap="flat">
            <a:solidFill>
              <a:srgbClr val="E6E8F2"/>
            </a:solidFill>
          </a:ln>
        </p:spPr>
      </p:cxnSp>
      <p:cxnSp>
        <p:nvCxnSpPr>
          <p:cNvPr id="24" name="Line 24"/>
          <p:cNvCxnSpPr/>
          <p:nvPr/>
        </p:nvCxnSpPr>
        <p:spPr>
          <a:xfrm>
            <a:off x="6610198" y="3687318"/>
            <a:ext cx="2800350" cy="0"/>
          </a:xfrm>
          <a:prstGeom prst="line">
            <a:avLst/>
          </a:prstGeom>
          <a:ln w="9525" cap="flat">
            <a:solidFill>
              <a:srgbClr val="E6E8F2"/>
            </a:solidFill>
          </a:ln>
        </p:spPr>
      </p:cxnSp>
      <p:cxnSp>
        <p:nvCxnSpPr>
          <p:cNvPr id="25" name="Line 25"/>
          <p:cNvCxnSpPr/>
          <p:nvPr/>
        </p:nvCxnSpPr>
        <p:spPr>
          <a:xfrm>
            <a:off x="6610198" y="3361563"/>
            <a:ext cx="2800350" cy="0"/>
          </a:xfrm>
          <a:prstGeom prst="line">
            <a:avLst/>
          </a:prstGeom>
          <a:ln w="9525" cap="flat">
            <a:solidFill>
              <a:srgbClr val="E6E8F2"/>
            </a:solidFill>
          </a:ln>
        </p:spPr>
      </p:cxnSp>
      <p:cxnSp>
        <p:nvCxnSpPr>
          <p:cNvPr id="26" name="Line 26"/>
          <p:cNvCxnSpPr/>
          <p:nvPr/>
        </p:nvCxnSpPr>
        <p:spPr>
          <a:xfrm>
            <a:off x="6610198" y="3035808"/>
            <a:ext cx="2800350" cy="0"/>
          </a:xfrm>
          <a:prstGeom prst="line">
            <a:avLst/>
          </a:prstGeom>
          <a:ln w="9525" cap="flat">
            <a:solidFill>
              <a:srgbClr val="E6E8F2"/>
            </a:solidFill>
          </a:ln>
        </p:spPr>
      </p:cxnSp>
      <p:cxnSp>
        <p:nvCxnSpPr>
          <p:cNvPr id="27" name="Line 27"/>
          <p:cNvCxnSpPr/>
          <p:nvPr/>
        </p:nvCxnSpPr>
        <p:spPr>
          <a:xfrm>
            <a:off x="6610198" y="2710053"/>
            <a:ext cx="2800350" cy="0"/>
          </a:xfrm>
          <a:prstGeom prst="line">
            <a:avLst/>
          </a:prstGeom>
          <a:ln w="9525" cap="flat">
            <a:solidFill>
              <a:srgbClr val="E6E8F2"/>
            </a:solidFill>
          </a:ln>
        </p:spPr>
      </p:cxnSp>
      <p:cxnSp>
        <p:nvCxnSpPr>
          <p:cNvPr id="28" name="Line 28"/>
          <p:cNvCxnSpPr/>
          <p:nvPr/>
        </p:nvCxnSpPr>
        <p:spPr>
          <a:xfrm>
            <a:off x="6610198" y="2384298"/>
            <a:ext cx="2800350" cy="0"/>
          </a:xfrm>
          <a:prstGeom prst="line">
            <a:avLst/>
          </a:prstGeom>
          <a:ln w="9525" cap="flat">
            <a:solidFill>
              <a:srgbClr val="E6E8F2"/>
            </a:solidFill>
          </a:ln>
        </p:spPr>
      </p:cxnSp>
      <p:cxnSp>
        <p:nvCxnSpPr>
          <p:cNvPr id="29" name="Line 29"/>
          <p:cNvCxnSpPr/>
          <p:nvPr/>
        </p:nvCxnSpPr>
        <p:spPr>
          <a:xfrm>
            <a:off x="6610198" y="2058543"/>
            <a:ext cx="2800350" cy="0"/>
          </a:xfrm>
          <a:prstGeom prst="line">
            <a:avLst/>
          </a:prstGeom>
          <a:ln w="9525" cap="flat">
            <a:solidFill>
              <a:srgbClr val="E6E8F2"/>
            </a:solidFill>
          </a:ln>
        </p:spPr>
      </p:cxnSp>
      <p:cxnSp>
        <p:nvCxnSpPr>
          <p:cNvPr id="30" name="Line 30"/>
          <p:cNvCxnSpPr/>
          <p:nvPr/>
        </p:nvCxnSpPr>
        <p:spPr>
          <a:xfrm>
            <a:off x="6610198" y="1732788"/>
            <a:ext cx="2800350" cy="0"/>
          </a:xfrm>
          <a:prstGeom prst="line">
            <a:avLst/>
          </a:prstGeom>
          <a:ln w="9525" cap="flat">
            <a:solidFill>
              <a:srgbClr val="E6E8F2"/>
            </a:solidFill>
          </a:ln>
        </p:spPr>
      </p:cxnSp>
      <p:cxnSp>
        <p:nvCxnSpPr>
          <p:cNvPr id="31" name="Line 31"/>
          <p:cNvCxnSpPr/>
          <p:nvPr/>
        </p:nvCxnSpPr>
        <p:spPr>
          <a:xfrm>
            <a:off x="7310285" y="1732788"/>
            <a:ext cx="0" cy="3257550"/>
          </a:xfrm>
          <a:prstGeom prst="line">
            <a:avLst/>
          </a:prstGeom>
          <a:ln w="19050" cap="flat">
            <a:solidFill>
              <a:srgbClr val="5F6272"/>
            </a:solidFill>
          </a:ln>
        </p:spPr>
      </p:cxnSp>
      <p:cxnSp>
        <p:nvCxnSpPr>
          <p:cNvPr id="32" name="Line 32"/>
          <p:cNvCxnSpPr/>
          <p:nvPr/>
        </p:nvCxnSpPr>
        <p:spPr>
          <a:xfrm>
            <a:off x="6610198" y="4013073"/>
            <a:ext cx="2800350" cy="0"/>
          </a:xfrm>
          <a:prstGeom prst="line">
            <a:avLst/>
          </a:prstGeom>
          <a:ln w="19050" cap="flat">
            <a:solidFill>
              <a:srgbClr val="5F6272"/>
            </a:solidFill>
          </a:ln>
        </p:spPr>
      </p:cxnSp>
      <p:sp>
        <p:nvSpPr>
          <p:cNvPr id="33" name="Shape 33"/>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6685921"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035965"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386009"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77360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086096"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436140"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8786184"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2" name="Shape 42"/>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45731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42473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39216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35958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9443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26186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22928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51" name="Shape 51"/>
          <p:cNvSpPr txBox="1"/>
          <p:nvPr/>
        </p:nvSpPr>
        <p:spPr>
          <a:xfrm>
            <a:off x="6043270" y="1967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53" name="Shape 53"/>
          <p:cNvSpPr/>
          <p:nvPr/>
        </p:nvSpPr>
        <p:spPr>
          <a:xfrm>
            <a:off x="7257898" y="42864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7396010" y="409117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55" name="Shape 55"/>
          <p:cNvSpPr/>
          <p:nvPr/>
        </p:nvSpPr>
        <p:spPr>
          <a:xfrm>
            <a:off x="7957985"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8096098"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57" name="Shape 57"/>
          <p:cNvSpPr/>
          <p:nvPr/>
        </p:nvSpPr>
        <p:spPr>
          <a:xfrm>
            <a:off x="8658073" y="233191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txBox="1"/>
          <p:nvPr/>
        </p:nvSpPr>
        <p:spPr>
          <a:xfrm>
            <a:off x="8796185" y="213664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(4, 5)</a:t>
            </a:r>
            <a:endParaRPr lang="en-US" sz="1125" dirty="0"/>
          </a:p>
        </p:txBody>
      </p:sp>
      <p:cxnSp>
        <p:nvCxnSpPr>
          <p:cNvPr id="59" name="Line 59"/>
          <p:cNvCxnSpPr/>
          <p:nvPr/>
        </p:nvCxnSpPr>
        <p:spPr>
          <a:xfrm flipV="1">
            <a:off x="6843560" y="1732788"/>
            <a:ext cx="2333625" cy="325755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500"/>
                                        <p:tgtEl>
                                          <p:spTgt spid="53"/>
                                        </p:tgtEl>
                                      </p:cBhvr>
                                    </p:animEffect>
                                    <p:anim calcmode="lin" valueType="num">
                                      <p:cBhvr>
                                        <p:cTn id="26" dur="500" fill="hold"/>
                                        <p:tgtEl>
                                          <p:spTgt spid="53"/>
                                        </p:tgtEl>
                                        <p:attrNameLst>
                                          <p:attrName>ppt_w</p:attrName>
                                        </p:attrNameLst>
                                      </p:cBhvr>
                                      <p:tavLst>
                                        <p:tav tm="0">
                                          <p:val>
                                            <p:fltVal val="0"/>
                                          </p:val>
                                        </p:tav>
                                        <p:tav tm="100000">
                                          <p:val>
                                            <p:strVal val="#ppt_w"/>
                                          </p:val>
                                        </p:tav>
                                      </p:tavLst>
                                    </p:anim>
                                    <p:anim calcmode="lin" valueType="num">
                                      <p:cBhvr>
                                        <p:cTn id="27" dur="500" fill="hold"/>
                                        <p:tgtEl>
                                          <p:spTgt spid="53"/>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54"/>
                                        </p:tgtEl>
                                        <p:attrNameLst>
                                          <p:attrName>style.visibility</p:attrName>
                                        </p:attrNameLst>
                                      </p:cBhvr>
                                      <p:to>
                                        <p:strVal val="visible"/>
                                      </p:to>
                                    </p:set>
                                    <p:animEffect transition="in" filter="fade">
                                      <p:cBhvr>
                                        <p:cTn id="30" dur="500"/>
                                        <p:tgtEl>
                                          <p:spTgt spid="54"/>
                                        </p:tgtEl>
                                      </p:cBhvr>
                                    </p:animEffect>
                                    <p:anim calcmode="lin" valueType="num">
                                      <p:cBhvr>
                                        <p:cTn id="31" dur="500" fill="hold"/>
                                        <p:tgtEl>
                                          <p:spTgt spid="54"/>
                                        </p:tgtEl>
                                        <p:attrNameLst>
                                          <p:attrName>ppt_w</p:attrName>
                                        </p:attrNameLst>
                                      </p:cBhvr>
                                      <p:tavLst>
                                        <p:tav tm="0">
                                          <p:val>
                                            <p:fltVal val="0"/>
                                          </p:val>
                                        </p:tav>
                                        <p:tav tm="100000">
                                          <p:val>
                                            <p:strVal val="#ppt_w"/>
                                          </p:val>
                                        </p:tav>
                                      </p:tavLst>
                                    </p:anim>
                                    <p:anim calcmode="lin" valueType="num">
                                      <p:cBhvr>
                                        <p:cTn id="32"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anim calcmode="lin" valueType="num">
                                      <p:cBhvr>
                                        <p:cTn id="38" dur="500" fill="hold"/>
                                        <p:tgtEl>
                                          <p:spTgt spid="55"/>
                                        </p:tgtEl>
                                        <p:attrNameLst>
                                          <p:attrName>ppt_w</p:attrName>
                                        </p:attrNameLst>
                                      </p:cBhvr>
                                      <p:tavLst>
                                        <p:tav tm="0">
                                          <p:val>
                                            <p:fltVal val="0"/>
                                          </p:val>
                                        </p:tav>
                                        <p:tav tm="100000">
                                          <p:val>
                                            <p:strVal val="#ppt_w"/>
                                          </p:val>
                                        </p:tav>
                                      </p:tavLst>
                                    </p:anim>
                                    <p:anim calcmode="lin" valueType="num">
                                      <p:cBhvr>
                                        <p:cTn id="39" dur="500" fill="hold"/>
                                        <p:tgtEl>
                                          <p:spTgt spid="55"/>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56"/>
                                        </p:tgtEl>
                                        <p:attrNameLst>
                                          <p:attrName>style.visibility</p:attrName>
                                        </p:attrNameLst>
                                      </p:cBhvr>
                                      <p:to>
                                        <p:strVal val="visible"/>
                                      </p:to>
                                    </p:set>
                                    <p:animEffect transition="in" filter="fade">
                                      <p:cBhvr>
                                        <p:cTn id="42" dur="500"/>
                                        <p:tgtEl>
                                          <p:spTgt spid="56"/>
                                        </p:tgtEl>
                                      </p:cBhvr>
                                    </p:animEffect>
                                    <p:anim calcmode="lin" valueType="num">
                                      <p:cBhvr>
                                        <p:cTn id="43" dur="500" fill="hold"/>
                                        <p:tgtEl>
                                          <p:spTgt spid="56"/>
                                        </p:tgtEl>
                                        <p:attrNameLst>
                                          <p:attrName>ppt_w</p:attrName>
                                        </p:attrNameLst>
                                      </p:cBhvr>
                                      <p:tavLst>
                                        <p:tav tm="0">
                                          <p:val>
                                            <p:fltVal val="0"/>
                                          </p:val>
                                        </p:tav>
                                        <p:tav tm="100000">
                                          <p:val>
                                            <p:strVal val="#ppt_w"/>
                                          </p:val>
                                        </p:tav>
                                      </p:tavLst>
                                    </p:anim>
                                    <p:anim calcmode="lin" valueType="num">
                                      <p:cBhvr>
                                        <p:cTn id="44"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57"/>
                                        </p:tgtEl>
                                        <p:attrNameLst>
                                          <p:attrName>style.visibility</p:attrName>
                                        </p:attrNameLst>
                                      </p:cBhvr>
                                      <p:to>
                                        <p:strVal val="visible"/>
                                      </p:to>
                                    </p:set>
                                    <p:animEffect transition="in" filter="fade">
                                      <p:cBhvr>
                                        <p:cTn id="49" dur="500"/>
                                        <p:tgtEl>
                                          <p:spTgt spid="57"/>
                                        </p:tgtEl>
                                      </p:cBhvr>
                                    </p:animEffect>
                                    <p:anim calcmode="lin" valueType="num">
                                      <p:cBhvr>
                                        <p:cTn id="50" dur="500" fill="hold"/>
                                        <p:tgtEl>
                                          <p:spTgt spid="57"/>
                                        </p:tgtEl>
                                        <p:attrNameLst>
                                          <p:attrName>ppt_w</p:attrName>
                                        </p:attrNameLst>
                                      </p:cBhvr>
                                      <p:tavLst>
                                        <p:tav tm="0">
                                          <p:val>
                                            <p:fltVal val="0"/>
                                          </p:val>
                                        </p:tav>
                                        <p:tav tm="100000">
                                          <p:val>
                                            <p:strVal val="#ppt_w"/>
                                          </p:val>
                                        </p:tav>
                                      </p:tavLst>
                                    </p:anim>
                                    <p:anim calcmode="lin" valueType="num">
                                      <p:cBhvr>
                                        <p:cTn id="51" dur="500" fill="hold"/>
                                        <p:tgtEl>
                                          <p:spTgt spid="57"/>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8"/>
                                        </p:tgtEl>
                                        <p:attrNameLst>
                                          <p:attrName>style.visibility</p:attrName>
                                        </p:attrNameLst>
                                      </p:cBhvr>
                                      <p:to>
                                        <p:strVal val="visible"/>
                                      </p:to>
                                    </p:set>
                                    <p:animEffect transition="in" filter="fade">
                                      <p:cBhvr>
                                        <p:cTn id="54" dur="500"/>
                                        <p:tgtEl>
                                          <p:spTgt spid="58"/>
                                        </p:tgtEl>
                                      </p:cBhvr>
                                    </p:animEffect>
                                    <p:anim calcmode="lin" valueType="num">
                                      <p:cBhvr>
                                        <p:cTn id="55" dur="500" fill="hold"/>
                                        <p:tgtEl>
                                          <p:spTgt spid="58"/>
                                        </p:tgtEl>
                                        <p:attrNameLst>
                                          <p:attrName>ppt_w</p:attrName>
                                        </p:attrNameLst>
                                      </p:cBhvr>
                                      <p:tavLst>
                                        <p:tav tm="0">
                                          <p:val>
                                            <p:fltVal val="0"/>
                                          </p:val>
                                        </p:tav>
                                        <p:tav tm="100000">
                                          <p:val>
                                            <p:strVal val="#ppt_w"/>
                                          </p:val>
                                        </p:tav>
                                      </p:tavLst>
                                    </p:anim>
                                    <p:anim calcmode="lin" valueType="num">
                                      <p:cBhvr>
                                        <p:cTn id="56"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9"/>
                                        </p:tgtEl>
                                        <p:attrNameLst>
                                          <p:attrName>style.visibility</p:attrName>
                                        </p:attrNameLst>
                                      </p:cBhvr>
                                      <p:to>
                                        <p:strVal val="visible"/>
                                      </p:to>
                                    </p:set>
                                    <p:animEffect transition="in" filter="wipe(left)">
                                      <p:cBhvr>
                                        <p:cTn id="61"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(0,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Down ____, right ____.</a:t>
            </a:r>
            <a:endParaRPr lang="en-US" sz="1950" dirty="0"/>
          </a:p>
        </p:txBody>
      </p:sp>
      <p:sp>
        <p:nvSpPr>
          <p:cNvPr id="7" name="Shape 7"/>
          <p:cNvSpPr txBox="1"/>
          <p:nvPr/>
        </p:nvSpPr>
        <p:spPr>
          <a:xfrm>
            <a:off x="685800" y="324154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down 1, right 3</a:t>
            </a:r>
            <a:endParaRPr lang="en-US" sz="2325" dirty="0"/>
          </a:p>
        </p:txBody>
      </p:sp>
      <p:sp>
        <p:nvSpPr>
          <p:cNvPr id="8" name="Shape 8"/>
          <p:cNvSpPr txBox="1"/>
          <p:nvPr/>
        </p:nvSpPr>
        <p:spPr>
          <a:xfrm>
            <a:off x="685800"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more points:</a:t>
            </a:r>
            <a:endParaRPr lang="en-US" sz="1950" dirty="0"/>
          </a:p>
        </p:txBody>
      </p:sp>
      <p:sp>
        <p:nvSpPr>
          <p:cNvPr id="9" name="Shape 9"/>
          <p:cNvSpPr txBox="1"/>
          <p:nvPr/>
        </p:nvSpPr>
        <p:spPr>
          <a:xfrm>
            <a:off x="685800" y="4379214"/>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3) and (6, 2)</a:t>
            </a:r>
            <a:endParaRPr lang="en-US" sz="2325" dirty="0"/>
          </a:p>
        </p:txBody>
      </p:sp>
      <p:sp>
        <p:nvSpPr>
          <p:cNvPr id="10" name="Shape 10"/>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6610198" y="1732788"/>
            <a:ext cx="0" cy="2876550"/>
          </a:xfrm>
          <a:prstGeom prst="line">
            <a:avLst/>
          </a:prstGeom>
          <a:ln w="9525" cap="flat">
            <a:solidFill>
              <a:srgbClr val="E6E8F2"/>
            </a:solidFill>
          </a:ln>
        </p:spPr>
      </p:cxnSp>
      <p:cxnSp>
        <p:nvCxnSpPr>
          <p:cNvPr id="12" name="Line 12"/>
          <p:cNvCxnSpPr/>
          <p:nvPr/>
        </p:nvCxnSpPr>
        <p:spPr>
          <a:xfrm>
            <a:off x="6960241" y="1732788"/>
            <a:ext cx="0" cy="2876550"/>
          </a:xfrm>
          <a:prstGeom prst="line">
            <a:avLst/>
          </a:prstGeom>
          <a:ln w="9525" cap="flat">
            <a:solidFill>
              <a:srgbClr val="E6E8F2"/>
            </a:solidFill>
          </a:ln>
        </p:spPr>
      </p:cxnSp>
      <p:cxnSp>
        <p:nvCxnSpPr>
          <p:cNvPr id="13" name="Line 13"/>
          <p:cNvCxnSpPr/>
          <p:nvPr/>
        </p:nvCxnSpPr>
        <p:spPr>
          <a:xfrm>
            <a:off x="7310285" y="1732788"/>
            <a:ext cx="0" cy="2876550"/>
          </a:xfrm>
          <a:prstGeom prst="line">
            <a:avLst/>
          </a:prstGeom>
          <a:ln w="9525" cap="flat">
            <a:solidFill>
              <a:srgbClr val="E6E8F2"/>
            </a:solidFill>
          </a:ln>
        </p:spPr>
      </p:cxnSp>
      <p:cxnSp>
        <p:nvCxnSpPr>
          <p:cNvPr id="14" name="Line 14"/>
          <p:cNvCxnSpPr/>
          <p:nvPr/>
        </p:nvCxnSpPr>
        <p:spPr>
          <a:xfrm>
            <a:off x="7660329" y="1732788"/>
            <a:ext cx="0" cy="2876550"/>
          </a:xfrm>
          <a:prstGeom prst="line">
            <a:avLst/>
          </a:prstGeom>
          <a:ln w="9525" cap="flat">
            <a:solidFill>
              <a:srgbClr val="E6E8F2"/>
            </a:solidFill>
          </a:ln>
        </p:spPr>
      </p:cxnSp>
      <p:cxnSp>
        <p:nvCxnSpPr>
          <p:cNvPr id="15" name="Line 15"/>
          <p:cNvCxnSpPr/>
          <p:nvPr/>
        </p:nvCxnSpPr>
        <p:spPr>
          <a:xfrm>
            <a:off x="8010373" y="1732788"/>
            <a:ext cx="0" cy="2876550"/>
          </a:xfrm>
          <a:prstGeom prst="line">
            <a:avLst/>
          </a:prstGeom>
          <a:ln w="9525" cap="flat">
            <a:solidFill>
              <a:srgbClr val="E6E8F2"/>
            </a:solidFill>
          </a:ln>
        </p:spPr>
      </p:cxnSp>
      <p:cxnSp>
        <p:nvCxnSpPr>
          <p:cNvPr id="16" name="Line 16"/>
          <p:cNvCxnSpPr/>
          <p:nvPr/>
        </p:nvCxnSpPr>
        <p:spPr>
          <a:xfrm>
            <a:off x="8360416" y="1732788"/>
            <a:ext cx="0" cy="2876550"/>
          </a:xfrm>
          <a:prstGeom prst="line">
            <a:avLst/>
          </a:prstGeom>
          <a:ln w="9525" cap="flat">
            <a:solidFill>
              <a:srgbClr val="E6E8F2"/>
            </a:solidFill>
          </a:ln>
        </p:spPr>
      </p:cxnSp>
      <p:cxnSp>
        <p:nvCxnSpPr>
          <p:cNvPr id="17" name="Line 17"/>
          <p:cNvCxnSpPr/>
          <p:nvPr/>
        </p:nvCxnSpPr>
        <p:spPr>
          <a:xfrm>
            <a:off x="8710460" y="1732788"/>
            <a:ext cx="0" cy="2876550"/>
          </a:xfrm>
          <a:prstGeom prst="line">
            <a:avLst/>
          </a:prstGeom>
          <a:ln w="9525" cap="flat">
            <a:solidFill>
              <a:srgbClr val="E6E8F2"/>
            </a:solidFill>
          </a:ln>
        </p:spPr>
      </p:cxnSp>
      <p:cxnSp>
        <p:nvCxnSpPr>
          <p:cNvPr id="18" name="Line 18"/>
          <p:cNvCxnSpPr/>
          <p:nvPr/>
        </p:nvCxnSpPr>
        <p:spPr>
          <a:xfrm>
            <a:off x="9060504" y="1732788"/>
            <a:ext cx="0" cy="2876550"/>
          </a:xfrm>
          <a:prstGeom prst="line">
            <a:avLst/>
          </a:prstGeom>
          <a:ln w="9525" cap="flat">
            <a:solidFill>
              <a:srgbClr val="E6E8F2"/>
            </a:solidFill>
          </a:ln>
        </p:spPr>
      </p:cxnSp>
      <p:cxnSp>
        <p:nvCxnSpPr>
          <p:cNvPr id="19" name="Line 19"/>
          <p:cNvCxnSpPr/>
          <p:nvPr/>
        </p:nvCxnSpPr>
        <p:spPr>
          <a:xfrm>
            <a:off x="9410548" y="1732788"/>
            <a:ext cx="0" cy="2876550"/>
          </a:xfrm>
          <a:prstGeom prst="line">
            <a:avLst/>
          </a:prstGeom>
          <a:ln w="9525" cap="flat">
            <a:solidFill>
              <a:srgbClr val="E6E8F2"/>
            </a:solidFill>
          </a:ln>
        </p:spPr>
      </p:cxnSp>
      <p:cxnSp>
        <p:nvCxnSpPr>
          <p:cNvPr id="20" name="Line 20"/>
          <p:cNvCxnSpPr/>
          <p:nvPr/>
        </p:nvCxnSpPr>
        <p:spPr>
          <a:xfrm>
            <a:off x="6610198" y="4609338"/>
            <a:ext cx="2800350" cy="0"/>
          </a:xfrm>
          <a:prstGeom prst="line">
            <a:avLst/>
          </a:prstGeom>
          <a:ln w="9525" cap="flat">
            <a:solidFill>
              <a:srgbClr val="E6E8F2"/>
            </a:solidFill>
          </a:ln>
        </p:spPr>
      </p:cxnSp>
      <p:cxnSp>
        <p:nvCxnSpPr>
          <p:cNvPr id="21" name="Line 21"/>
          <p:cNvCxnSpPr/>
          <p:nvPr/>
        </p:nvCxnSpPr>
        <p:spPr>
          <a:xfrm>
            <a:off x="6610198" y="4129913"/>
            <a:ext cx="2800350" cy="0"/>
          </a:xfrm>
          <a:prstGeom prst="line">
            <a:avLst/>
          </a:prstGeom>
          <a:ln w="9525" cap="flat">
            <a:solidFill>
              <a:srgbClr val="E6E8F2"/>
            </a:solidFill>
          </a:ln>
        </p:spPr>
      </p:cxnSp>
      <p:cxnSp>
        <p:nvCxnSpPr>
          <p:cNvPr id="22" name="Line 22"/>
          <p:cNvCxnSpPr/>
          <p:nvPr/>
        </p:nvCxnSpPr>
        <p:spPr>
          <a:xfrm>
            <a:off x="6610198" y="3650488"/>
            <a:ext cx="2800350" cy="0"/>
          </a:xfrm>
          <a:prstGeom prst="line">
            <a:avLst/>
          </a:prstGeom>
          <a:ln w="9525" cap="flat">
            <a:solidFill>
              <a:srgbClr val="E6E8F2"/>
            </a:solidFill>
          </a:ln>
        </p:spPr>
      </p:cxnSp>
      <p:cxnSp>
        <p:nvCxnSpPr>
          <p:cNvPr id="23" name="Line 23"/>
          <p:cNvCxnSpPr/>
          <p:nvPr/>
        </p:nvCxnSpPr>
        <p:spPr>
          <a:xfrm>
            <a:off x="6610198" y="3171063"/>
            <a:ext cx="2800350" cy="0"/>
          </a:xfrm>
          <a:prstGeom prst="line">
            <a:avLst/>
          </a:prstGeom>
          <a:ln w="9525" cap="flat">
            <a:solidFill>
              <a:srgbClr val="E6E8F2"/>
            </a:solidFill>
          </a:ln>
        </p:spPr>
      </p:cxnSp>
      <p:cxnSp>
        <p:nvCxnSpPr>
          <p:cNvPr id="24" name="Line 24"/>
          <p:cNvCxnSpPr/>
          <p:nvPr/>
        </p:nvCxnSpPr>
        <p:spPr>
          <a:xfrm>
            <a:off x="6610198" y="2691638"/>
            <a:ext cx="2800350" cy="0"/>
          </a:xfrm>
          <a:prstGeom prst="line">
            <a:avLst/>
          </a:prstGeom>
          <a:ln w="9525" cap="flat">
            <a:solidFill>
              <a:srgbClr val="E6E8F2"/>
            </a:solidFill>
          </a:ln>
        </p:spPr>
      </p:cxnSp>
      <p:cxnSp>
        <p:nvCxnSpPr>
          <p:cNvPr id="25" name="Line 25"/>
          <p:cNvCxnSpPr/>
          <p:nvPr/>
        </p:nvCxnSpPr>
        <p:spPr>
          <a:xfrm>
            <a:off x="6610198" y="2212213"/>
            <a:ext cx="2800350" cy="0"/>
          </a:xfrm>
          <a:prstGeom prst="line">
            <a:avLst/>
          </a:prstGeom>
          <a:ln w="9525" cap="flat">
            <a:solidFill>
              <a:srgbClr val="E6E8F2"/>
            </a:solidFill>
          </a:ln>
        </p:spPr>
      </p:cxnSp>
      <p:cxnSp>
        <p:nvCxnSpPr>
          <p:cNvPr id="26" name="Line 26"/>
          <p:cNvCxnSpPr/>
          <p:nvPr/>
        </p:nvCxnSpPr>
        <p:spPr>
          <a:xfrm>
            <a:off x="6610198" y="1732788"/>
            <a:ext cx="2800350" cy="0"/>
          </a:xfrm>
          <a:prstGeom prst="line">
            <a:avLst/>
          </a:prstGeom>
          <a:ln w="9525" cap="flat">
            <a:solidFill>
              <a:srgbClr val="E6E8F2"/>
            </a:solidFill>
          </a:ln>
        </p:spPr>
      </p:cxnSp>
      <p:cxnSp>
        <p:nvCxnSpPr>
          <p:cNvPr id="27" name="Line 27"/>
          <p:cNvCxnSpPr/>
          <p:nvPr/>
        </p:nvCxnSpPr>
        <p:spPr>
          <a:xfrm>
            <a:off x="6960241" y="1732788"/>
            <a:ext cx="0" cy="2876550"/>
          </a:xfrm>
          <a:prstGeom prst="line">
            <a:avLst/>
          </a:prstGeom>
          <a:ln w="19050" cap="flat">
            <a:solidFill>
              <a:srgbClr val="5F6272"/>
            </a:solidFill>
          </a:ln>
        </p:spPr>
      </p:cxnSp>
      <p:cxnSp>
        <p:nvCxnSpPr>
          <p:cNvPr id="28" name="Line 28"/>
          <p:cNvCxnSpPr/>
          <p:nvPr/>
        </p:nvCxnSpPr>
        <p:spPr>
          <a:xfrm>
            <a:off x="6610198" y="4609338"/>
            <a:ext cx="2800350" cy="0"/>
          </a:xfrm>
          <a:prstGeom prst="line">
            <a:avLst/>
          </a:prstGeom>
          <a:ln w="19050" cap="flat">
            <a:solidFill>
              <a:srgbClr val="5F6272"/>
            </a:solidFill>
          </a:ln>
        </p:spPr>
      </p:cxnSp>
      <p:sp>
        <p:nvSpPr>
          <p:cNvPr id="29" name="Shape 29"/>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0" name="Shape 30"/>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1" name="Shape 31"/>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5" name="Shape 35"/>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6" name="Shape 36"/>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7" name="Shape 37"/>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p:nvPr/>
        </p:nvSpPr>
        <p:spPr>
          <a:xfrm>
            <a:off x="6907854"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txBox="1"/>
          <p:nvPr/>
        </p:nvSpPr>
        <p:spPr>
          <a:xfrm>
            <a:off x="7045966" y="24439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a:t>
            </a:r>
            <a:endParaRPr lang="en-US" sz="1125" dirty="0"/>
          </a:p>
        </p:txBody>
      </p:sp>
      <p:sp>
        <p:nvSpPr>
          <p:cNvPr id="47" name="Shape 47"/>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8096098" y="29234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(3, 3)</a:t>
            </a:r>
            <a:endParaRPr lang="en-US" sz="1125" dirty="0"/>
          </a:p>
        </p:txBody>
      </p:sp>
      <p:sp>
        <p:nvSpPr>
          <p:cNvPr id="49" name="Shape 49"/>
          <p:cNvSpPr/>
          <p:nvPr/>
        </p:nvSpPr>
        <p:spPr>
          <a:xfrm>
            <a:off x="9008116"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9146229"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(6, 2)</a:t>
            </a:r>
            <a:endParaRPr lang="en-US" sz="1125" dirty="0"/>
          </a:p>
        </p:txBody>
      </p:sp>
      <p:cxnSp>
        <p:nvCxnSpPr>
          <p:cNvPr id="51" name="Line 51"/>
          <p:cNvCxnSpPr/>
          <p:nvPr/>
        </p:nvCxnSpPr>
        <p:spPr>
          <a:xfrm>
            <a:off x="6610198" y="2531830"/>
            <a:ext cx="2800350" cy="1278467"/>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5"/>
                                        </p:tgtEl>
                                        <p:attrNameLst>
                                          <p:attrName>style.visibility</p:attrName>
                                        </p:attrNameLst>
                                      </p:cBhvr>
                                      <p:to>
                                        <p:strVal val="visible"/>
                                      </p:to>
                                    </p:set>
                                    <p:animEffect transition="in" filter="fade">
                                      <p:cBhvr>
                                        <p:cTn id="25" dur="500"/>
                                        <p:tgtEl>
                                          <p:spTgt spid="45"/>
                                        </p:tgtEl>
                                      </p:cBhvr>
                                    </p:animEffect>
                                    <p:anim calcmode="lin" valueType="num">
                                      <p:cBhvr>
                                        <p:cTn id="26" dur="500" fill="hold"/>
                                        <p:tgtEl>
                                          <p:spTgt spid="45"/>
                                        </p:tgtEl>
                                        <p:attrNameLst>
                                          <p:attrName>ppt_w</p:attrName>
                                        </p:attrNameLst>
                                      </p:cBhvr>
                                      <p:tavLst>
                                        <p:tav tm="0">
                                          <p:val>
                                            <p:fltVal val="0"/>
                                          </p:val>
                                        </p:tav>
                                        <p:tav tm="100000">
                                          <p:val>
                                            <p:strVal val="#ppt_w"/>
                                          </p:val>
                                        </p:tav>
                                      </p:tavLst>
                                    </p:anim>
                                    <p:anim calcmode="lin" valueType="num">
                                      <p:cBhvr>
                                        <p:cTn id="27" dur="500" fill="hold"/>
                                        <p:tgtEl>
                                          <p:spTgt spid="45"/>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6"/>
                                        </p:tgtEl>
                                        <p:attrNameLst>
                                          <p:attrName>style.visibility</p:attrName>
                                        </p:attrNameLst>
                                      </p:cBhvr>
                                      <p:to>
                                        <p:strVal val="visible"/>
                                      </p:to>
                                    </p:set>
                                    <p:animEffect transition="in" filter="fade">
                                      <p:cBhvr>
                                        <p:cTn id="30" dur="500"/>
                                        <p:tgtEl>
                                          <p:spTgt spid="46"/>
                                        </p:tgtEl>
                                      </p:cBhvr>
                                    </p:animEffect>
                                    <p:anim calcmode="lin" valueType="num">
                                      <p:cBhvr>
                                        <p:cTn id="31" dur="500" fill="hold"/>
                                        <p:tgtEl>
                                          <p:spTgt spid="46"/>
                                        </p:tgtEl>
                                        <p:attrNameLst>
                                          <p:attrName>ppt_w</p:attrName>
                                        </p:attrNameLst>
                                      </p:cBhvr>
                                      <p:tavLst>
                                        <p:tav tm="0">
                                          <p:val>
                                            <p:fltVal val="0"/>
                                          </p:val>
                                        </p:tav>
                                        <p:tav tm="100000">
                                          <p:val>
                                            <p:strVal val="#ppt_w"/>
                                          </p:val>
                                        </p:tav>
                                      </p:tavLst>
                                    </p:anim>
                                    <p:anim calcmode="lin" valueType="num">
                                      <p:cBhvr>
                                        <p:cTn id="32"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500"/>
                                        <p:tgtEl>
                                          <p:spTgt spid="47"/>
                                        </p:tgtEl>
                                      </p:cBhvr>
                                    </p:animEffect>
                                    <p:anim calcmode="lin" valueType="num">
                                      <p:cBhvr>
                                        <p:cTn id="38" dur="500" fill="hold"/>
                                        <p:tgtEl>
                                          <p:spTgt spid="47"/>
                                        </p:tgtEl>
                                        <p:attrNameLst>
                                          <p:attrName>ppt_w</p:attrName>
                                        </p:attrNameLst>
                                      </p:cBhvr>
                                      <p:tavLst>
                                        <p:tav tm="0">
                                          <p:val>
                                            <p:fltVal val="0"/>
                                          </p:val>
                                        </p:tav>
                                        <p:tav tm="100000">
                                          <p:val>
                                            <p:strVal val="#ppt_w"/>
                                          </p:val>
                                        </p:tav>
                                      </p:tavLst>
                                    </p:anim>
                                    <p:anim calcmode="lin" valueType="num">
                                      <p:cBhvr>
                                        <p:cTn id="39" dur="500" fill="hold"/>
                                        <p:tgtEl>
                                          <p:spTgt spid="47"/>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8"/>
                                        </p:tgtEl>
                                        <p:attrNameLst>
                                          <p:attrName>style.visibility</p:attrName>
                                        </p:attrNameLst>
                                      </p:cBhvr>
                                      <p:to>
                                        <p:strVal val="visible"/>
                                      </p:to>
                                    </p:set>
                                    <p:animEffect transition="in" filter="fade">
                                      <p:cBhvr>
                                        <p:cTn id="42" dur="500"/>
                                        <p:tgtEl>
                                          <p:spTgt spid="48"/>
                                        </p:tgtEl>
                                      </p:cBhvr>
                                    </p:animEffect>
                                    <p:anim calcmode="lin" valueType="num">
                                      <p:cBhvr>
                                        <p:cTn id="43" dur="500" fill="hold"/>
                                        <p:tgtEl>
                                          <p:spTgt spid="48"/>
                                        </p:tgtEl>
                                        <p:attrNameLst>
                                          <p:attrName>ppt_w</p:attrName>
                                        </p:attrNameLst>
                                      </p:cBhvr>
                                      <p:tavLst>
                                        <p:tav tm="0">
                                          <p:val>
                                            <p:fltVal val="0"/>
                                          </p:val>
                                        </p:tav>
                                        <p:tav tm="100000">
                                          <p:val>
                                            <p:strVal val="#ppt_w"/>
                                          </p:val>
                                        </p:tav>
                                      </p:tavLst>
                                    </p:anim>
                                    <p:anim calcmode="lin" valueType="num">
                                      <p:cBhvr>
                                        <p:cTn id="44"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49"/>
                                        </p:tgtEl>
                                        <p:attrNameLst>
                                          <p:attrName>style.visibility</p:attrName>
                                        </p:attrNameLst>
                                      </p:cBhvr>
                                      <p:to>
                                        <p:strVal val="visible"/>
                                      </p:to>
                                    </p:set>
                                    <p:animEffect transition="in" filter="fade">
                                      <p:cBhvr>
                                        <p:cTn id="49" dur="500"/>
                                        <p:tgtEl>
                                          <p:spTgt spid="49"/>
                                        </p:tgtEl>
                                      </p:cBhvr>
                                    </p:animEffect>
                                    <p:anim calcmode="lin" valueType="num">
                                      <p:cBhvr>
                                        <p:cTn id="50" dur="500" fill="hold"/>
                                        <p:tgtEl>
                                          <p:spTgt spid="49"/>
                                        </p:tgtEl>
                                        <p:attrNameLst>
                                          <p:attrName>ppt_w</p:attrName>
                                        </p:attrNameLst>
                                      </p:cBhvr>
                                      <p:tavLst>
                                        <p:tav tm="0">
                                          <p:val>
                                            <p:fltVal val="0"/>
                                          </p:val>
                                        </p:tav>
                                        <p:tav tm="100000">
                                          <p:val>
                                            <p:strVal val="#ppt_w"/>
                                          </p:val>
                                        </p:tav>
                                      </p:tavLst>
                                    </p:anim>
                                    <p:anim calcmode="lin" valueType="num">
                                      <p:cBhvr>
                                        <p:cTn id="51" dur="500" fill="hold"/>
                                        <p:tgtEl>
                                          <p:spTgt spid="49"/>
                                        </p:tgtEl>
                                        <p:attrNameLst>
                                          <p:attrName>ppt_h</p:attrName>
                                        </p:attrNameLst>
                                      </p:cBhvr>
                                      <p:tavLst>
                                        <p:tav tm="0">
                                          <p:val>
                                            <p:fltVal val="0"/>
                                          </p:val>
                                        </p:tav>
                                        <p:tav tm="100000">
                                          <p:val>
                                            <p:strVal val="#ppt_h"/>
                                          </p:val>
                                        </p:tav>
                                      </p:tavLst>
                                    </p:anim>
                                  </p:childTnLst>
                                </p:cTn>
                              </p:par>
                              <p:par>
                                <p:cTn id="57" presetID="53" presetClass="entr" presetSubtype="16" fill="hold" nodeType="withEffect">
                                  <p:stCondLst>
                                    <p:cond delay="0"/>
                                  </p:stCondLst>
                                  <p:childTnLst>
                                    <p:set>
                                      <p:cBhvr>
                                        <p:cTn id="53" dur="1" fill="hold">
                                          <p:stCondLst>
                                            <p:cond delay="0"/>
                                          </p:stCondLst>
                                        </p:cTn>
                                        <p:tgtEl>
                                          <p:spTgt spid="50"/>
                                        </p:tgtEl>
                                        <p:attrNameLst>
                                          <p:attrName>style.visibility</p:attrName>
                                        </p:attrNameLst>
                                      </p:cBhvr>
                                      <p:to>
                                        <p:strVal val="visible"/>
                                      </p:to>
                                    </p:set>
                                    <p:animEffect transition="in" filter="fade">
                                      <p:cBhvr>
                                        <p:cTn id="54" dur="500"/>
                                        <p:tgtEl>
                                          <p:spTgt spid="50"/>
                                        </p:tgtEl>
                                      </p:cBhvr>
                                    </p:animEffect>
                                    <p:anim calcmode="lin" valueType="num">
                                      <p:cBhvr>
                                        <p:cTn id="55" dur="500" fill="hold"/>
                                        <p:tgtEl>
                                          <p:spTgt spid="50"/>
                                        </p:tgtEl>
                                        <p:attrNameLst>
                                          <p:attrName>ppt_w</p:attrName>
                                        </p:attrNameLst>
                                      </p:cBhvr>
                                      <p:tavLst>
                                        <p:tav tm="0">
                                          <p:val>
                                            <p:fltVal val="0"/>
                                          </p:val>
                                        </p:tav>
                                        <p:tav tm="100000">
                                          <p:val>
                                            <p:strVal val="#ppt_w"/>
                                          </p:val>
                                        </p:tav>
                                      </p:tavLst>
                                    </p:anim>
                                    <p:anim calcmode="lin" valueType="num">
                                      <p:cBhvr>
                                        <p:cTn id="56"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51"/>
                                        </p:tgtEl>
                                        <p:attrNameLst>
                                          <p:attrName>style.visibility</p:attrName>
                                        </p:attrNameLst>
                                      </p:cBhvr>
                                      <p:to>
                                        <p:strVal val="visible"/>
                                      </p:to>
                                    </p:set>
                                    <p:animEffect transition="in" filter="wipe(left)">
                                      <p:cBhvr>
                                        <p:cTn id="61" dur="7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Point-slope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+ 8 = </a:t>
            </a:r>
            <a:r>
              <a:rPr lang="en-US" sz="3450" dirty="0" b="1">
                <a:solidFill>
                  <a:srgbClr val="16171D"/>
                </a:solidFill>
                <a:latin typeface="Segoe UI"/>
                <a:cs typeface="Segoe UI"/>
              </a:rPr>
              <a:t xml:space="preserve">1</a:t>
            </a:r>
            <a:r>
              <a:rPr lang="en-US" sz="3450" dirty="0" b="1">
                <a:solidFill>
                  <a:srgbClr val="16171D"/>
                </a:solidFill>
                <a:latin typeface="Segoe UI"/>
                <a:cs typeface="Segoe UI"/>
              </a:rPr>
              <a:t xml:space="preserve">/</a:t>
            </a:r>
            <a:r>
              <a:rPr lang="en-US" sz="3450" dirty="0" b="1">
                <a:solidFill>
                  <a:srgbClr val="16171D"/>
                </a:solidFill>
                <a:latin typeface="Segoe UI"/>
                <a:cs typeface="Segoe UI"/>
              </a:rPr>
              <a:t xml:space="preserve">2</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+ 6)</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point. The signs </a:t>
            </a:r>
            <a:r>
              <a:rPr lang="en-US" sz="1950" dirty="0" b="1">
                <a:solidFill>
                  <a:srgbClr val="16171D"/>
                </a:solidFill>
                <a:latin typeface="Segoe UI"/>
                <a:cs typeface="Segoe UI"/>
              </a:rPr>
              <a:t xml:space="preserve">flip</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(−6, −8)</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up 1, right 2.</a:t>
            </a:r>
            <a:endParaRPr lang="en-US" sz="1950" dirty="0"/>
          </a:p>
        </p:txBody>
      </p:sp>
      <p:sp>
        <p:nvSpPr>
          <p:cNvPr id="7" name="Shape 7"/>
          <p:cNvSpPr txBox="1"/>
          <p:nvPr/>
        </p:nvSpPr>
        <p:spPr>
          <a:xfrm>
            <a:off x="685800" y="3241548"/>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−7) and (−2, −6)</a:t>
            </a:r>
            <a:endParaRPr lang="en-US" sz="2325" dirty="0"/>
          </a:p>
        </p:txBody>
      </p:sp>
      <p:sp>
        <p:nvSpPr>
          <p:cNvPr id="8" name="Shape 8"/>
          <p:cNvSpPr/>
          <p:nvPr/>
        </p:nvSpPr>
        <p:spPr>
          <a:xfrm>
            <a:off x="6286348" y="1618488"/>
            <a:ext cx="3238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876550"/>
          </a:xfrm>
          <a:prstGeom prst="line">
            <a:avLst/>
          </a:prstGeom>
          <a:ln w="9525" cap="flat">
            <a:solidFill>
              <a:srgbClr val="E6E8F2"/>
            </a:solidFill>
          </a:ln>
        </p:spPr>
      </p:cxnSp>
      <p:cxnSp>
        <p:nvCxnSpPr>
          <p:cNvPr id="10" name="Line 10"/>
          <p:cNvCxnSpPr/>
          <p:nvPr/>
        </p:nvCxnSpPr>
        <p:spPr>
          <a:xfrm>
            <a:off x="6960241" y="1732788"/>
            <a:ext cx="0" cy="2876550"/>
          </a:xfrm>
          <a:prstGeom prst="line">
            <a:avLst/>
          </a:prstGeom>
          <a:ln w="9525" cap="flat">
            <a:solidFill>
              <a:srgbClr val="E6E8F2"/>
            </a:solidFill>
          </a:ln>
        </p:spPr>
      </p:cxnSp>
      <p:cxnSp>
        <p:nvCxnSpPr>
          <p:cNvPr id="11" name="Line 11"/>
          <p:cNvCxnSpPr/>
          <p:nvPr/>
        </p:nvCxnSpPr>
        <p:spPr>
          <a:xfrm>
            <a:off x="7310285" y="1732788"/>
            <a:ext cx="0" cy="2876550"/>
          </a:xfrm>
          <a:prstGeom prst="line">
            <a:avLst/>
          </a:prstGeom>
          <a:ln w="9525" cap="flat">
            <a:solidFill>
              <a:srgbClr val="E6E8F2"/>
            </a:solidFill>
          </a:ln>
        </p:spPr>
      </p:cxnSp>
      <p:cxnSp>
        <p:nvCxnSpPr>
          <p:cNvPr id="12" name="Line 12"/>
          <p:cNvCxnSpPr/>
          <p:nvPr/>
        </p:nvCxnSpPr>
        <p:spPr>
          <a:xfrm>
            <a:off x="7660329" y="1732788"/>
            <a:ext cx="0" cy="2876550"/>
          </a:xfrm>
          <a:prstGeom prst="line">
            <a:avLst/>
          </a:prstGeom>
          <a:ln w="9525" cap="flat">
            <a:solidFill>
              <a:srgbClr val="E6E8F2"/>
            </a:solidFill>
          </a:ln>
        </p:spPr>
      </p:cxnSp>
      <p:cxnSp>
        <p:nvCxnSpPr>
          <p:cNvPr id="13" name="Line 13"/>
          <p:cNvCxnSpPr/>
          <p:nvPr/>
        </p:nvCxnSpPr>
        <p:spPr>
          <a:xfrm>
            <a:off x="8010373" y="1732788"/>
            <a:ext cx="0" cy="2876550"/>
          </a:xfrm>
          <a:prstGeom prst="line">
            <a:avLst/>
          </a:prstGeom>
          <a:ln w="9525" cap="flat">
            <a:solidFill>
              <a:srgbClr val="E6E8F2"/>
            </a:solidFill>
          </a:ln>
        </p:spPr>
      </p:cxnSp>
      <p:cxnSp>
        <p:nvCxnSpPr>
          <p:cNvPr id="14" name="Line 14"/>
          <p:cNvCxnSpPr/>
          <p:nvPr/>
        </p:nvCxnSpPr>
        <p:spPr>
          <a:xfrm>
            <a:off x="8360416" y="1732788"/>
            <a:ext cx="0" cy="2876550"/>
          </a:xfrm>
          <a:prstGeom prst="line">
            <a:avLst/>
          </a:prstGeom>
          <a:ln w="9525" cap="flat">
            <a:solidFill>
              <a:srgbClr val="E6E8F2"/>
            </a:solidFill>
          </a:ln>
        </p:spPr>
      </p:cxnSp>
      <p:cxnSp>
        <p:nvCxnSpPr>
          <p:cNvPr id="15" name="Line 15"/>
          <p:cNvCxnSpPr/>
          <p:nvPr/>
        </p:nvCxnSpPr>
        <p:spPr>
          <a:xfrm>
            <a:off x="8710460" y="1732788"/>
            <a:ext cx="0" cy="2876550"/>
          </a:xfrm>
          <a:prstGeom prst="line">
            <a:avLst/>
          </a:prstGeom>
          <a:ln w="9525" cap="flat">
            <a:solidFill>
              <a:srgbClr val="E6E8F2"/>
            </a:solidFill>
          </a:ln>
        </p:spPr>
      </p:cxnSp>
      <p:cxnSp>
        <p:nvCxnSpPr>
          <p:cNvPr id="16" name="Line 16"/>
          <p:cNvCxnSpPr/>
          <p:nvPr/>
        </p:nvCxnSpPr>
        <p:spPr>
          <a:xfrm>
            <a:off x="9060504" y="1732788"/>
            <a:ext cx="0" cy="2876550"/>
          </a:xfrm>
          <a:prstGeom prst="line">
            <a:avLst/>
          </a:prstGeom>
          <a:ln w="9525" cap="flat">
            <a:solidFill>
              <a:srgbClr val="E6E8F2"/>
            </a:solidFill>
          </a:ln>
        </p:spPr>
      </p:cxnSp>
      <p:cxnSp>
        <p:nvCxnSpPr>
          <p:cNvPr id="17" name="Line 17"/>
          <p:cNvCxnSpPr/>
          <p:nvPr/>
        </p:nvCxnSpPr>
        <p:spPr>
          <a:xfrm>
            <a:off x="9410548" y="1732788"/>
            <a:ext cx="0" cy="2876550"/>
          </a:xfrm>
          <a:prstGeom prst="line">
            <a:avLst/>
          </a:prstGeom>
          <a:ln w="9525" cap="flat">
            <a:solidFill>
              <a:srgbClr val="E6E8F2"/>
            </a:solidFill>
          </a:ln>
        </p:spPr>
      </p:cxnSp>
      <p:cxnSp>
        <p:nvCxnSpPr>
          <p:cNvPr id="18" name="Line 18"/>
          <p:cNvCxnSpPr/>
          <p:nvPr/>
        </p:nvCxnSpPr>
        <p:spPr>
          <a:xfrm>
            <a:off x="6610198" y="4609338"/>
            <a:ext cx="2800350" cy="0"/>
          </a:xfrm>
          <a:prstGeom prst="line">
            <a:avLst/>
          </a:prstGeom>
          <a:ln w="9525" cap="flat">
            <a:solidFill>
              <a:srgbClr val="E6E8F2"/>
            </a:solidFill>
          </a:ln>
        </p:spPr>
      </p:cxnSp>
      <p:cxnSp>
        <p:nvCxnSpPr>
          <p:cNvPr id="19" name="Line 19"/>
          <p:cNvCxnSpPr/>
          <p:nvPr/>
        </p:nvCxnSpPr>
        <p:spPr>
          <a:xfrm>
            <a:off x="6610198" y="4129913"/>
            <a:ext cx="2800350" cy="0"/>
          </a:xfrm>
          <a:prstGeom prst="line">
            <a:avLst/>
          </a:prstGeom>
          <a:ln w="9525" cap="flat">
            <a:solidFill>
              <a:srgbClr val="E6E8F2"/>
            </a:solidFill>
          </a:ln>
        </p:spPr>
      </p:cxnSp>
      <p:cxnSp>
        <p:nvCxnSpPr>
          <p:cNvPr id="20" name="Line 20"/>
          <p:cNvCxnSpPr/>
          <p:nvPr/>
        </p:nvCxnSpPr>
        <p:spPr>
          <a:xfrm>
            <a:off x="6610198" y="3650488"/>
            <a:ext cx="2800350" cy="0"/>
          </a:xfrm>
          <a:prstGeom prst="line">
            <a:avLst/>
          </a:prstGeom>
          <a:ln w="9525" cap="flat">
            <a:solidFill>
              <a:srgbClr val="E6E8F2"/>
            </a:solidFill>
          </a:ln>
        </p:spPr>
      </p:cxnSp>
      <p:cxnSp>
        <p:nvCxnSpPr>
          <p:cNvPr id="21" name="Line 21"/>
          <p:cNvCxnSpPr/>
          <p:nvPr/>
        </p:nvCxnSpPr>
        <p:spPr>
          <a:xfrm>
            <a:off x="6610198" y="3171063"/>
            <a:ext cx="2800350" cy="0"/>
          </a:xfrm>
          <a:prstGeom prst="line">
            <a:avLst/>
          </a:prstGeom>
          <a:ln w="9525" cap="flat">
            <a:solidFill>
              <a:srgbClr val="E6E8F2"/>
            </a:solidFill>
          </a:ln>
        </p:spPr>
      </p:cxnSp>
      <p:cxnSp>
        <p:nvCxnSpPr>
          <p:cNvPr id="22" name="Line 22"/>
          <p:cNvCxnSpPr/>
          <p:nvPr/>
        </p:nvCxnSpPr>
        <p:spPr>
          <a:xfrm>
            <a:off x="6610198" y="2691638"/>
            <a:ext cx="2800350" cy="0"/>
          </a:xfrm>
          <a:prstGeom prst="line">
            <a:avLst/>
          </a:prstGeom>
          <a:ln w="9525" cap="flat">
            <a:solidFill>
              <a:srgbClr val="E6E8F2"/>
            </a:solidFill>
          </a:ln>
        </p:spPr>
      </p:cxnSp>
      <p:cxnSp>
        <p:nvCxnSpPr>
          <p:cNvPr id="23" name="Line 23"/>
          <p:cNvCxnSpPr/>
          <p:nvPr/>
        </p:nvCxnSpPr>
        <p:spPr>
          <a:xfrm>
            <a:off x="6610198" y="2212213"/>
            <a:ext cx="2800350" cy="0"/>
          </a:xfrm>
          <a:prstGeom prst="line">
            <a:avLst/>
          </a:prstGeom>
          <a:ln w="9525" cap="flat">
            <a:solidFill>
              <a:srgbClr val="E6E8F2"/>
            </a:solidFill>
          </a:ln>
        </p:spPr>
      </p:cxnSp>
      <p:cxnSp>
        <p:nvCxnSpPr>
          <p:cNvPr id="24" name="Line 24"/>
          <p:cNvCxnSpPr/>
          <p:nvPr/>
        </p:nvCxnSpPr>
        <p:spPr>
          <a:xfrm>
            <a:off x="6610198" y="1732788"/>
            <a:ext cx="2800350" cy="0"/>
          </a:xfrm>
          <a:prstGeom prst="line">
            <a:avLst/>
          </a:prstGeom>
          <a:ln w="9525" cap="flat">
            <a:solidFill>
              <a:srgbClr val="E6E8F2"/>
            </a:solidFill>
          </a:ln>
        </p:spPr>
      </p:cxnSp>
      <p:cxnSp>
        <p:nvCxnSpPr>
          <p:cNvPr id="25" name="Line 25"/>
          <p:cNvCxnSpPr/>
          <p:nvPr/>
        </p:nvCxnSpPr>
        <p:spPr>
          <a:xfrm>
            <a:off x="9410548" y="1732788"/>
            <a:ext cx="0" cy="2876550"/>
          </a:xfrm>
          <a:prstGeom prst="line">
            <a:avLst/>
          </a:prstGeom>
          <a:ln w="19050" cap="flat">
            <a:solidFill>
              <a:srgbClr val="5F6272"/>
            </a:solidFill>
          </a:ln>
        </p:spPr>
      </p:cxnSp>
      <p:cxnSp>
        <p:nvCxnSpPr>
          <p:cNvPr id="26" name="Line 26"/>
          <p:cNvCxnSpPr/>
          <p:nvPr/>
        </p:nvCxnSpPr>
        <p:spPr>
          <a:xfrm>
            <a:off x="6610198" y="4609338"/>
            <a:ext cx="2800350" cy="0"/>
          </a:xfrm>
          <a:prstGeom prst="line">
            <a:avLst/>
          </a:prstGeom>
          <a:ln w="19050" cap="flat">
            <a:solidFill>
              <a:srgbClr val="5F6272"/>
            </a:solidFill>
          </a:ln>
        </p:spPr>
      </p:cxnSp>
      <p:sp>
        <p:nvSpPr>
          <p:cNvPr id="27" name="Shape 27"/>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28" name="Shape 28"/>
          <p:cNvSpPr txBox="1"/>
          <p:nvPr/>
        </p:nvSpPr>
        <p:spPr>
          <a:xfrm>
            <a:off x="6685921"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29" name="Shape 29"/>
          <p:cNvSpPr txBox="1"/>
          <p:nvPr/>
        </p:nvSpPr>
        <p:spPr>
          <a:xfrm>
            <a:off x="703596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0" name="Shape 30"/>
          <p:cNvSpPr txBox="1"/>
          <p:nvPr/>
        </p:nvSpPr>
        <p:spPr>
          <a:xfrm>
            <a:off x="738600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1" name="Shape 31"/>
          <p:cNvSpPr txBox="1"/>
          <p:nvPr/>
        </p:nvSpPr>
        <p:spPr>
          <a:xfrm>
            <a:off x="773605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808609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843614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8786184"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91362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043270" y="40384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a:t>
            </a:r>
            <a:endParaRPr lang="en-US" sz="975" dirty="0"/>
          </a:p>
        </p:txBody>
      </p:sp>
      <p:sp>
        <p:nvSpPr>
          <p:cNvPr id="38" name="Shape 38"/>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39" name="Shape 39"/>
          <p:cNvSpPr txBox="1"/>
          <p:nvPr/>
        </p:nvSpPr>
        <p:spPr>
          <a:xfrm>
            <a:off x="6043270" y="3079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6043270" y="21207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p:nvPr/>
        </p:nvSpPr>
        <p:spPr>
          <a:xfrm>
            <a:off x="7257898" y="359810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7396010" y="340283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45" name="Shape 45"/>
          <p:cNvSpPr/>
          <p:nvPr/>
        </p:nvSpPr>
        <p:spPr>
          <a:xfrm>
            <a:off x="7957985" y="31186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6" name="Shape 46"/>
          <p:cNvSpPr/>
          <p:nvPr/>
        </p:nvSpPr>
        <p:spPr>
          <a:xfrm>
            <a:off x="8658073" y="26392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47" name="Line 47"/>
          <p:cNvCxnSpPr/>
          <p:nvPr/>
        </p:nvCxnSpPr>
        <p:spPr>
          <a:xfrm flipV="1">
            <a:off x="6610198" y="2212213"/>
            <a:ext cx="2800350" cy="1917700"/>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3"/>
                                        </p:tgtEl>
                                        <p:attrNameLst>
                                          <p:attrName>style.visibility</p:attrName>
                                        </p:attrNameLst>
                                      </p:cBhvr>
                                      <p:to>
                                        <p:strVal val="visible"/>
                                      </p:to>
                                    </p:set>
                                    <p:animEffect transition="in" filter="fade">
                                      <p:cBhvr>
                                        <p:cTn id="18" dur="500"/>
                                        <p:tgtEl>
                                          <p:spTgt spid="43"/>
                                        </p:tgtEl>
                                      </p:cBhvr>
                                    </p:animEffect>
                                    <p:anim calcmode="lin" valueType="num">
                                      <p:cBhvr>
                                        <p:cTn id="19" dur="500" fill="hold"/>
                                        <p:tgtEl>
                                          <p:spTgt spid="43"/>
                                        </p:tgtEl>
                                        <p:attrNameLst>
                                          <p:attrName>ppt_w</p:attrName>
                                        </p:attrNameLst>
                                      </p:cBhvr>
                                      <p:tavLst>
                                        <p:tav tm="0">
                                          <p:val>
                                            <p:fltVal val="0"/>
                                          </p:val>
                                        </p:tav>
                                        <p:tav tm="100000">
                                          <p:val>
                                            <p:strVal val="#ppt_w"/>
                                          </p:val>
                                        </p:tav>
                                      </p:tavLst>
                                    </p:anim>
                                    <p:anim calcmode="lin" valueType="num">
                                      <p:cBhvr>
                                        <p:cTn id="20" dur="500" fill="hold"/>
                                        <p:tgtEl>
                                          <p:spTgt spid="43"/>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4"/>
                                        </p:tgtEl>
                                        <p:attrNameLst>
                                          <p:attrName>style.visibility</p:attrName>
                                        </p:attrNameLst>
                                      </p:cBhvr>
                                      <p:to>
                                        <p:strVal val="visible"/>
                                      </p:to>
                                    </p:set>
                                    <p:animEffect transition="in" filter="fade">
                                      <p:cBhvr>
                                        <p:cTn id="23" dur="500"/>
                                        <p:tgtEl>
                                          <p:spTgt spid="44"/>
                                        </p:tgtEl>
                                      </p:cBhvr>
                                    </p:animEffect>
                                    <p:anim calcmode="lin" valueType="num">
                                      <p:cBhvr>
                                        <p:cTn id="24" dur="500" fill="hold"/>
                                        <p:tgtEl>
                                          <p:spTgt spid="44"/>
                                        </p:tgtEl>
                                        <p:attrNameLst>
                                          <p:attrName>ppt_w</p:attrName>
                                        </p:attrNameLst>
                                      </p:cBhvr>
                                      <p:tavLst>
                                        <p:tav tm="0">
                                          <p:val>
                                            <p:fltVal val="0"/>
                                          </p:val>
                                        </p:tav>
                                        <p:tav tm="100000">
                                          <p:val>
                                            <p:strVal val="#ppt_w"/>
                                          </p:val>
                                        </p:tav>
                                      </p:tavLst>
                                    </p:anim>
                                    <p:anim calcmode="lin" valueType="num">
                                      <p:cBhvr>
                                        <p:cTn id="25"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fade">
                                      <p:cBhvr>
                                        <p:cTn id="30" dur="500"/>
                                        <p:tgtEl>
                                          <p:spTgt spid="45"/>
                                        </p:tgtEl>
                                      </p:cBhvr>
                                    </p:animEffect>
                                    <p:anim calcmode="lin" valueType="num">
                                      <p:cBhvr>
                                        <p:cTn id="31" dur="500" fill="hold"/>
                                        <p:tgtEl>
                                          <p:spTgt spid="45"/>
                                        </p:tgtEl>
                                        <p:attrNameLst>
                                          <p:attrName>ppt_w</p:attrName>
                                        </p:attrNameLst>
                                      </p:cBhvr>
                                      <p:tavLst>
                                        <p:tav tm="0">
                                          <p:val>
                                            <p:fltVal val="0"/>
                                          </p:val>
                                        </p:tav>
                                        <p:tav tm="100000">
                                          <p:val>
                                            <p:strVal val="#ppt_w"/>
                                          </p:val>
                                        </p:tav>
                                      </p:tavLst>
                                    </p:anim>
                                    <p:anim calcmode="lin" valueType="num">
                                      <p:cBhvr>
                                        <p:cTn id="32" dur="500" fill="hold"/>
                                        <p:tgtEl>
                                          <p:spTgt spid="45"/>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6"/>
                                        </p:tgtEl>
                                        <p:attrNameLst>
                                          <p:attrName>style.visibility</p:attrName>
                                        </p:attrNameLst>
                                      </p:cBhvr>
                                      <p:to>
                                        <p:strVal val="visible"/>
                                      </p:to>
                                    </p:set>
                                    <p:animEffect transition="in" filter="fade">
                                      <p:cBhvr>
                                        <p:cTn id="37" dur="500"/>
                                        <p:tgtEl>
                                          <p:spTgt spid="46"/>
                                        </p:tgtEl>
                                      </p:cBhvr>
                                    </p:animEffect>
                                    <p:anim calcmode="lin" valueType="num">
                                      <p:cBhvr>
                                        <p:cTn id="38" dur="500" fill="hold"/>
                                        <p:tgtEl>
                                          <p:spTgt spid="46"/>
                                        </p:tgtEl>
                                        <p:attrNameLst>
                                          <p:attrName>ppt_w</p:attrName>
                                        </p:attrNameLst>
                                      </p:cBhvr>
                                      <p:tavLst>
                                        <p:tav tm="0">
                                          <p:val>
                                            <p:fltVal val="0"/>
                                          </p:val>
                                        </p:tav>
                                        <p:tav tm="100000">
                                          <p:val>
                                            <p:strVal val="#ppt_w"/>
                                          </p:val>
                                        </p:tav>
                                      </p:tavLst>
                                    </p:anim>
                                    <p:anim calcmode="lin" valueType="num">
                                      <p:cBhvr>
                                        <p:cTn id="39" dur="500" fill="hold"/>
                                        <p:tgtEl>
                                          <p:spTgt spid="46"/>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5" presetID="22" presetClass="entr" presetSubtype="8" fill="hold" nodeType="click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wipe(left)">
                                      <p:cBhvr>
                                        <p:cTn id="44"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Standard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12</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5" name="Shape 5"/>
          <p:cNvSpPr txBox="1"/>
          <p:nvPr/>
        </p:nvSpPr>
        <p:spPr>
          <a:xfrm>
            <a:off x="685800" y="24010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a:t>
            </a:r>
            <a:endParaRPr lang="en-US" sz="2325" dirty="0"/>
          </a:p>
        </p:txBody>
      </p:sp>
      <p:sp>
        <p:nvSpPr>
          <p:cNvPr id="6" name="Shape 6"/>
          <p:cNvSpPr txBox="1"/>
          <p:nvPr/>
        </p:nvSpPr>
        <p:spPr>
          <a:xfrm>
            <a:off x="685800" y="3053334"/>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a:t>
            </a:r>
            <a:br>
              <a:rPr lang="en-US" sz="1950" dirty="0">
                <a:solidFill>
                  <a:srgbClr val="16171D"/>
                </a:solidFill>
                <a:latin typeface="Segoe UI"/>
                <a:cs typeface="Segoe UI"/>
              </a:rPr>
            </a:b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12,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8359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(0, 6)</a:t>
            </a:r>
            <a:endParaRPr lang="en-US" sz="2325" dirty="0"/>
          </a:p>
        </p:txBody>
      </p:sp>
      <p:sp>
        <p:nvSpPr>
          <p:cNvPr id="8" name="Shape 8"/>
          <p:cNvSpPr txBox="1"/>
          <p:nvPr/>
        </p:nvSpPr>
        <p:spPr>
          <a:xfrm>
            <a:off x="685800" y="448818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Connect the two points.</a:t>
            </a:r>
            <a:endParaRPr lang="en-US" sz="1950" dirty="0"/>
          </a:p>
        </p:txBody>
      </p:sp>
      <p:sp>
        <p:nvSpPr>
          <p:cNvPr id="9" name="Shape 9"/>
          <p:cNvSpPr/>
          <p:nvPr/>
        </p:nvSpPr>
        <p:spPr>
          <a:xfrm>
            <a:off x="6286348" y="1618488"/>
            <a:ext cx="30480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876550"/>
          </a:xfrm>
          <a:prstGeom prst="line">
            <a:avLst/>
          </a:prstGeom>
          <a:ln w="9525" cap="flat">
            <a:solidFill>
              <a:srgbClr val="E6E8F2"/>
            </a:solidFill>
          </a:ln>
        </p:spPr>
      </p:cxnSp>
      <p:cxnSp>
        <p:nvCxnSpPr>
          <p:cNvPr id="11" name="Line 11"/>
          <p:cNvCxnSpPr/>
          <p:nvPr/>
        </p:nvCxnSpPr>
        <p:spPr>
          <a:xfrm>
            <a:off x="6983033" y="1732788"/>
            <a:ext cx="0" cy="2876550"/>
          </a:xfrm>
          <a:prstGeom prst="line">
            <a:avLst/>
          </a:prstGeom>
          <a:ln w="9525" cap="flat">
            <a:solidFill>
              <a:srgbClr val="E6E8F2"/>
            </a:solidFill>
          </a:ln>
        </p:spPr>
      </p:cxnSp>
      <p:cxnSp>
        <p:nvCxnSpPr>
          <p:cNvPr id="12" name="Line 12"/>
          <p:cNvCxnSpPr/>
          <p:nvPr/>
        </p:nvCxnSpPr>
        <p:spPr>
          <a:xfrm>
            <a:off x="7355869" y="1732788"/>
            <a:ext cx="0" cy="2876550"/>
          </a:xfrm>
          <a:prstGeom prst="line">
            <a:avLst/>
          </a:prstGeom>
          <a:ln w="9525" cap="flat">
            <a:solidFill>
              <a:srgbClr val="E6E8F2"/>
            </a:solidFill>
          </a:ln>
        </p:spPr>
      </p:cxnSp>
      <p:cxnSp>
        <p:nvCxnSpPr>
          <p:cNvPr id="13" name="Line 13"/>
          <p:cNvCxnSpPr/>
          <p:nvPr/>
        </p:nvCxnSpPr>
        <p:spPr>
          <a:xfrm>
            <a:off x="7728705" y="1732788"/>
            <a:ext cx="0" cy="2876550"/>
          </a:xfrm>
          <a:prstGeom prst="line">
            <a:avLst/>
          </a:prstGeom>
          <a:ln w="9525" cap="flat">
            <a:solidFill>
              <a:srgbClr val="E6E8F2"/>
            </a:solidFill>
          </a:ln>
        </p:spPr>
      </p:cxnSp>
      <p:cxnSp>
        <p:nvCxnSpPr>
          <p:cNvPr id="14" name="Line 14"/>
          <p:cNvCxnSpPr/>
          <p:nvPr/>
        </p:nvCxnSpPr>
        <p:spPr>
          <a:xfrm>
            <a:off x="8101540" y="1732788"/>
            <a:ext cx="0" cy="2876550"/>
          </a:xfrm>
          <a:prstGeom prst="line">
            <a:avLst/>
          </a:prstGeom>
          <a:ln w="9525" cap="flat">
            <a:solidFill>
              <a:srgbClr val="E6E8F2"/>
            </a:solidFill>
          </a:ln>
        </p:spPr>
      </p:cxnSp>
      <p:cxnSp>
        <p:nvCxnSpPr>
          <p:cNvPr id="15" name="Line 15"/>
          <p:cNvCxnSpPr/>
          <p:nvPr/>
        </p:nvCxnSpPr>
        <p:spPr>
          <a:xfrm>
            <a:off x="8474376" y="1732788"/>
            <a:ext cx="0" cy="2876550"/>
          </a:xfrm>
          <a:prstGeom prst="line">
            <a:avLst/>
          </a:prstGeom>
          <a:ln w="9525" cap="flat">
            <a:solidFill>
              <a:srgbClr val="E6E8F2"/>
            </a:solidFill>
          </a:ln>
        </p:spPr>
      </p:cxnSp>
      <p:cxnSp>
        <p:nvCxnSpPr>
          <p:cNvPr id="16" name="Line 16"/>
          <p:cNvCxnSpPr/>
          <p:nvPr/>
        </p:nvCxnSpPr>
        <p:spPr>
          <a:xfrm>
            <a:off x="8847212" y="1732788"/>
            <a:ext cx="0" cy="2876550"/>
          </a:xfrm>
          <a:prstGeom prst="line">
            <a:avLst/>
          </a:prstGeom>
          <a:ln w="9525" cap="flat">
            <a:solidFill>
              <a:srgbClr val="E6E8F2"/>
            </a:solidFill>
          </a:ln>
        </p:spPr>
      </p:cxnSp>
      <p:cxnSp>
        <p:nvCxnSpPr>
          <p:cNvPr id="17" name="Line 17"/>
          <p:cNvCxnSpPr/>
          <p:nvPr/>
        </p:nvCxnSpPr>
        <p:spPr>
          <a:xfrm>
            <a:off x="9220048" y="1732788"/>
            <a:ext cx="0" cy="2876550"/>
          </a:xfrm>
          <a:prstGeom prst="line">
            <a:avLst/>
          </a:prstGeom>
          <a:ln w="9525" cap="flat">
            <a:solidFill>
              <a:srgbClr val="E6E8F2"/>
            </a:solidFill>
          </a:ln>
        </p:spPr>
      </p:cxnSp>
      <p:cxnSp>
        <p:nvCxnSpPr>
          <p:cNvPr id="18" name="Line 18"/>
          <p:cNvCxnSpPr/>
          <p:nvPr/>
        </p:nvCxnSpPr>
        <p:spPr>
          <a:xfrm>
            <a:off x="6610198" y="4609338"/>
            <a:ext cx="2609850" cy="0"/>
          </a:xfrm>
          <a:prstGeom prst="line">
            <a:avLst/>
          </a:prstGeom>
          <a:ln w="9525" cap="flat">
            <a:solidFill>
              <a:srgbClr val="E6E8F2"/>
            </a:solidFill>
          </a:ln>
        </p:spPr>
      </p:cxnSp>
      <p:cxnSp>
        <p:nvCxnSpPr>
          <p:cNvPr id="19" name="Line 19"/>
          <p:cNvCxnSpPr/>
          <p:nvPr/>
        </p:nvCxnSpPr>
        <p:spPr>
          <a:xfrm>
            <a:off x="6610198" y="4289721"/>
            <a:ext cx="2609850" cy="0"/>
          </a:xfrm>
          <a:prstGeom prst="line">
            <a:avLst/>
          </a:prstGeom>
          <a:ln w="9525" cap="flat">
            <a:solidFill>
              <a:srgbClr val="E6E8F2"/>
            </a:solidFill>
          </a:ln>
        </p:spPr>
      </p:cxnSp>
      <p:cxnSp>
        <p:nvCxnSpPr>
          <p:cNvPr id="20" name="Line 20"/>
          <p:cNvCxnSpPr/>
          <p:nvPr/>
        </p:nvCxnSpPr>
        <p:spPr>
          <a:xfrm>
            <a:off x="6610198" y="3970105"/>
            <a:ext cx="2609850" cy="0"/>
          </a:xfrm>
          <a:prstGeom prst="line">
            <a:avLst/>
          </a:prstGeom>
          <a:ln w="9525" cap="flat">
            <a:solidFill>
              <a:srgbClr val="E6E8F2"/>
            </a:solidFill>
          </a:ln>
        </p:spPr>
      </p:cxnSp>
      <p:cxnSp>
        <p:nvCxnSpPr>
          <p:cNvPr id="21" name="Line 21"/>
          <p:cNvCxnSpPr/>
          <p:nvPr/>
        </p:nvCxnSpPr>
        <p:spPr>
          <a:xfrm>
            <a:off x="6610198" y="3650488"/>
            <a:ext cx="2609850" cy="0"/>
          </a:xfrm>
          <a:prstGeom prst="line">
            <a:avLst/>
          </a:prstGeom>
          <a:ln w="9525" cap="flat">
            <a:solidFill>
              <a:srgbClr val="E6E8F2"/>
            </a:solidFill>
          </a:ln>
        </p:spPr>
      </p:cxnSp>
      <p:cxnSp>
        <p:nvCxnSpPr>
          <p:cNvPr id="22" name="Line 22"/>
          <p:cNvCxnSpPr/>
          <p:nvPr/>
        </p:nvCxnSpPr>
        <p:spPr>
          <a:xfrm>
            <a:off x="6610198" y="3330871"/>
            <a:ext cx="2609850" cy="0"/>
          </a:xfrm>
          <a:prstGeom prst="line">
            <a:avLst/>
          </a:prstGeom>
          <a:ln w="9525" cap="flat">
            <a:solidFill>
              <a:srgbClr val="E6E8F2"/>
            </a:solidFill>
          </a:ln>
        </p:spPr>
      </p:cxnSp>
      <p:cxnSp>
        <p:nvCxnSpPr>
          <p:cNvPr id="23" name="Line 23"/>
          <p:cNvCxnSpPr/>
          <p:nvPr/>
        </p:nvCxnSpPr>
        <p:spPr>
          <a:xfrm>
            <a:off x="6610198" y="3011255"/>
            <a:ext cx="2609850" cy="0"/>
          </a:xfrm>
          <a:prstGeom prst="line">
            <a:avLst/>
          </a:prstGeom>
          <a:ln w="9525" cap="flat">
            <a:solidFill>
              <a:srgbClr val="E6E8F2"/>
            </a:solidFill>
          </a:ln>
        </p:spPr>
      </p:cxnSp>
      <p:cxnSp>
        <p:nvCxnSpPr>
          <p:cNvPr id="24" name="Line 24"/>
          <p:cNvCxnSpPr/>
          <p:nvPr/>
        </p:nvCxnSpPr>
        <p:spPr>
          <a:xfrm>
            <a:off x="6610198" y="2691638"/>
            <a:ext cx="2609850" cy="0"/>
          </a:xfrm>
          <a:prstGeom prst="line">
            <a:avLst/>
          </a:prstGeom>
          <a:ln w="9525" cap="flat">
            <a:solidFill>
              <a:srgbClr val="E6E8F2"/>
            </a:solidFill>
          </a:ln>
        </p:spPr>
      </p:cxnSp>
      <p:cxnSp>
        <p:nvCxnSpPr>
          <p:cNvPr id="25" name="Line 25"/>
          <p:cNvCxnSpPr/>
          <p:nvPr/>
        </p:nvCxnSpPr>
        <p:spPr>
          <a:xfrm>
            <a:off x="6610198" y="2372021"/>
            <a:ext cx="2609850" cy="0"/>
          </a:xfrm>
          <a:prstGeom prst="line">
            <a:avLst/>
          </a:prstGeom>
          <a:ln w="9525" cap="flat">
            <a:solidFill>
              <a:srgbClr val="E6E8F2"/>
            </a:solidFill>
          </a:ln>
        </p:spPr>
      </p:cxnSp>
      <p:cxnSp>
        <p:nvCxnSpPr>
          <p:cNvPr id="26" name="Line 26"/>
          <p:cNvCxnSpPr/>
          <p:nvPr/>
        </p:nvCxnSpPr>
        <p:spPr>
          <a:xfrm>
            <a:off x="6610198" y="2052405"/>
            <a:ext cx="2609850" cy="0"/>
          </a:xfrm>
          <a:prstGeom prst="line">
            <a:avLst/>
          </a:prstGeom>
          <a:ln w="9525" cap="flat">
            <a:solidFill>
              <a:srgbClr val="E6E8F2"/>
            </a:solidFill>
          </a:ln>
        </p:spPr>
      </p:cxnSp>
      <p:cxnSp>
        <p:nvCxnSpPr>
          <p:cNvPr id="27" name="Line 27"/>
          <p:cNvCxnSpPr/>
          <p:nvPr/>
        </p:nvCxnSpPr>
        <p:spPr>
          <a:xfrm>
            <a:off x="6610198" y="1732788"/>
            <a:ext cx="2609850" cy="0"/>
          </a:xfrm>
          <a:prstGeom prst="line">
            <a:avLst/>
          </a:prstGeom>
          <a:ln w="9525" cap="flat">
            <a:solidFill>
              <a:srgbClr val="E6E8F2"/>
            </a:solidFill>
          </a:ln>
        </p:spPr>
      </p:cxnSp>
      <p:cxnSp>
        <p:nvCxnSpPr>
          <p:cNvPr id="28" name="Line 28"/>
          <p:cNvCxnSpPr/>
          <p:nvPr/>
        </p:nvCxnSpPr>
        <p:spPr>
          <a:xfrm>
            <a:off x="6983033" y="1732788"/>
            <a:ext cx="0" cy="2876550"/>
          </a:xfrm>
          <a:prstGeom prst="line">
            <a:avLst/>
          </a:prstGeom>
          <a:ln w="19050" cap="flat">
            <a:solidFill>
              <a:srgbClr val="5F6272"/>
            </a:solidFill>
          </a:ln>
        </p:spPr>
      </p:cxnSp>
      <p:cxnSp>
        <p:nvCxnSpPr>
          <p:cNvPr id="29" name="Line 29"/>
          <p:cNvCxnSpPr/>
          <p:nvPr/>
        </p:nvCxnSpPr>
        <p:spPr>
          <a:xfrm>
            <a:off x="6610198" y="4289721"/>
            <a:ext cx="2609850" cy="0"/>
          </a:xfrm>
          <a:prstGeom prst="line">
            <a:avLst/>
          </a:prstGeom>
          <a:ln w="19050" cap="flat">
            <a:solidFill>
              <a:srgbClr val="5F6272"/>
            </a:solidFill>
          </a:ln>
        </p:spPr>
      </p:cxnSp>
      <p:sp>
        <p:nvSpPr>
          <p:cNvPr id="30" name="Shape 30"/>
          <p:cNvSpPr txBox="1"/>
          <p:nvPr/>
        </p:nvSpPr>
        <p:spPr>
          <a:xfrm>
            <a:off x="633587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1" name="Shape 31"/>
          <p:cNvSpPr txBox="1"/>
          <p:nvPr/>
        </p:nvSpPr>
        <p:spPr>
          <a:xfrm>
            <a:off x="6708713"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7081549"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7454385"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827220"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8200056"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8572892"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8945728" y="4628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043270" y="4517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6043270" y="41982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6043270" y="38786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043270" y="3559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6043270" y="32394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29198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2600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5" name="Shape 45"/>
          <p:cNvSpPr txBox="1"/>
          <p:nvPr/>
        </p:nvSpPr>
        <p:spPr>
          <a:xfrm>
            <a:off x="6043270" y="22805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6" name="Shape 46"/>
          <p:cNvSpPr txBox="1"/>
          <p:nvPr/>
        </p:nvSpPr>
        <p:spPr>
          <a:xfrm>
            <a:off x="6043270" y="19609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a:t>
            </a:r>
            <a:endParaRPr lang="en-US" sz="975" dirty="0"/>
          </a:p>
        </p:txBody>
      </p:sp>
      <p:sp>
        <p:nvSpPr>
          <p:cNvPr id="47" name="Shape 4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p:nvPr/>
        </p:nvSpPr>
        <p:spPr>
          <a:xfrm>
            <a:off x="8421989" y="42373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9" name="Shape 49"/>
          <p:cNvSpPr txBox="1"/>
          <p:nvPr/>
        </p:nvSpPr>
        <p:spPr>
          <a:xfrm>
            <a:off x="8560101" y="40420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(4, 0)</a:t>
            </a:r>
            <a:endParaRPr lang="en-US" sz="1125" dirty="0"/>
          </a:p>
        </p:txBody>
      </p:sp>
      <p:sp>
        <p:nvSpPr>
          <p:cNvPr id="50" name="Shape 50"/>
          <p:cNvSpPr/>
          <p:nvPr/>
        </p:nvSpPr>
        <p:spPr>
          <a:xfrm>
            <a:off x="6930646" y="231963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1" name="Shape 51"/>
          <p:cNvSpPr txBox="1"/>
          <p:nvPr/>
        </p:nvSpPr>
        <p:spPr>
          <a:xfrm>
            <a:off x="7068758" y="212437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(0, 6)</a:t>
            </a:r>
            <a:endParaRPr lang="en-US" sz="1125" dirty="0"/>
          </a:p>
        </p:txBody>
      </p:sp>
      <p:cxnSp>
        <p:nvCxnSpPr>
          <p:cNvPr id="52" name="Line 52"/>
          <p:cNvCxnSpPr/>
          <p:nvPr/>
        </p:nvCxnSpPr>
        <p:spPr>
          <a:xfrm>
            <a:off x="6610198" y="1892596"/>
            <a:ext cx="2112736" cy="2716742"/>
          </a:xfrm>
          <a:prstGeom prst="line">
            <a:avLst/>
          </a:prstGeom>
          <a:ln w="38100" cap="rnd">
            <a:solidFill>
              <a:srgbClr val="16171D"/>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8"/>
                                        </p:tgtEl>
                                        <p:attrNameLst>
                                          <p:attrName>style.visibility</p:attrName>
                                        </p:attrNameLst>
                                      </p:cBhvr>
                                      <p:to>
                                        <p:strVal val="visible"/>
                                      </p:to>
                                    </p:set>
                                    <p:animEffect transition="in" filter="fade">
                                      <p:cBhvr>
                                        <p:cTn id="18" dur="500"/>
                                        <p:tgtEl>
                                          <p:spTgt spid="48"/>
                                        </p:tgtEl>
                                      </p:cBhvr>
                                    </p:animEffect>
                                    <p:anim calcmode="lin" valueType="num">
                                      <p:cBhvr>
                                        <p:cTn id="19" dur="500" fill="hold"/>
                                        <p:tgtEl>
                                          <p:spTgt spid="48"/>
                                        </p:tgtEl>
                                        <p:attrNameLst>
                                          <p:attrName>ppt_w</p:attrName>
                                        </p:attrNameLst>
                                      </p:cBhvr>
                                      <p:tavLst>
                                        <p:tav tm="0">
                                          <p:val>
                                            <p:fltVal val="0"/>
                                          </p:val>
                                        </p:tav>
                                        <p:tav tm="100000">
                                          <p:val>
                                            <p:strVal val="#ppt_w"/>
                                          </p:val>
                                        </p:tav>
                                      </p:tavLst>
                                    </p:anim>
                                    <p:anim calcmode="lin" valueType="num">
                                      <p:cBhvr>
                                        <p:cTn id="20" dur="500" fill="hold"/>
                                        <p:tgtEl>
                                          <p:spTgt spid="48"/>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9"/>
                                        </p:tgtEl>
                                        <p:attrNameLst>
                                          <p:attrName>style.visibility</p:attrName>
                                        </p:attrNameLst>
                                      </p:cBhvr>
                                      <p:to>
                                        <p:strVal val="visible"/>
                                      </p:to>
                                    </p:set>
                                    <p:animEffect transition="in" filter="fade">
                                      <p:cBhvr>
                                        <p:cTn id="23" dur="500"/>
                                        <p:tgtEl>
                                          <p:spTgt spid="49"/>
                                        </p:tgtEl>
                                      </p:cBhvr>
                                    </p:animEffect>
                                    <p:anim calcmode="lin" valueType="num">
                                      <p:cBhvr>
                                        <p:cTn id="24" dur="500" fill="hold"/>
                                        <p:tgtEl>
                                          <p:spTgt spid="49"/>
                                        </p:tgtEl>
                                        <p:attrNameLst>
                                          <p:attrName>ppt_w</p:attrName>
                                        </p:attrNameLst>
                                      </p:cBhvr>
                                      <p:tavLst>
                                        <p:tav tm="0">
                                          <p:val>
                                            <p:fltVal val="0"/>
                                          </p:val>
                                        </p:tav>
                                        <p:tav tm="100000">
                                          <p:val>
                                            <p:strVal val="#ppt_w"/>
                                          </p:val>
                                        </p:tav>
                                      </p:tavLst>
                                    </p:anim>
                                    <p:anim calcmode="lin" valueType="num">
                                      <p:cBhvr>
                                        <p:cTn id="25" dur="500" fill="hold"/>
                                        <p:tgtEl>
                                          <p:spTgt spid="49"/>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50"/>
                                        </p:tgtEl>
                                        <p:attrNameLst>
                                          <p:attrName>style.visibility</p:attrName>
                                        </p:attrNameLst>
                                      </p:cBhvr>
                                      <p:to>
                                        <p:strVal val="visible"/>
                                      </p:to>
                                    </p:set>
                                    <p:animEffect transition="in" filter="fade">
                                      <p:cBhvr>
                                        <p:cTn id="30" dur="500"/>
                                        <p:tgtEl>
                                          <p:spTgt spid="50"/>
                                        </p:tgtEl>
                                      </p:cBhvr>
                                    </p:animEffect>
                                    <p:anim calcmode="lin" valueType="num">
                                      <p:cBhvr>
                                        <p:cTn id="31" dur="500" fill="hold"/>
                                        <p:tgtEl>
                                          <p:spTgt spid="50"/>
                                        </p:tgtEl>
                                        <p:attrNameLst>
                                          <p:attrName>ppt_w</p:attrName>
                                        </p:attrNameLst>
                                      </p:cBhvr>
                                      <p:tavLst>
                                        <p:tav tm="0">
                                          <p:val>
                                            <p:fltVal val="0"/>
                                          </p:val>
                                        </p:tav>
                                        <p:tav tm="100000">
                                          <p:val>
                                            <p:strVal val="#ppt_w"/>
                                          </p:val>
                                        </p:tav>
                                      </p:tavLst>
                                    </p:anim>
                                    <p:anim calcmode="lin" valueType="num">
                                      <p:cBhvr>
                                        <p:cTn id="32" dur="500" fill="hold"/>
                                        <p:tgtEl>
                                          <p:spTgt spid="50"/>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1"/>
                                        </p:tgtEl>
                                        <p:attrNameLst>
                                          <p:attrName>style.visibility</p:attrName>
                                        </p:attrNameLst>
                                      </p:cBhvr>
                                      <p:to>
                                        <p:strVal val="visible"/>
                                      </p:to>
                                    </p:set>
                                    <p:animEffect transition="in" filter="fade">
                                      <p:cBhvr>
                                        <p:cTn id="35" dur="500"/>
                                        <p:tgtEl>
                                          <p:spTgt spid="51"/>
                                        </p:tgtEl>
                                      </p:cBhvr>
                                    </p:animEffect>
                                    <p:anim calcmode="lin" valueType="num">
                                      <p:cBhvr>
                                        <p:cTn id="36" dur="500" fill="hold"/>
                                        <p:tgtEl>
                                          <p:spTgt spid="51"/>
                                        </p:tgtEl>
                                        <p:attrNameLst>
                                          <p:attrName>ppt_w</p:attrName>
                                        </p:attrNameLst>
                                      </p:cBhvr>
                                      <p:tavLst>
                                        <p:tav tm="0">
                                          <p:val>
                                            <p:fltVal val="0"/>
                                          </p:val>
                                        </p:tav>
                                        <p:tav tm="100000">
                                          <p:val>
                                            <p:strVal val="#ppt_w"/>
                                          </p:val>
                                        </p:tav>
                                      </p:tavLst>
                                    </p:anim>
                                    <p:anim calcmode="lin" valueType="num">
                                      <p:cBhvr>
                                        <p:cTn id="37"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2"/>
                                        </p:tgtEl>
                                        <p:attrNameLst>
                                          <p:attrName>style.visibility</p:attrName>
                                        </p:attrNameLst>
                                      </p:cBhvr>
                                      <p:to>
                                        <p:strVal val="visible"/>
                                      </p:to>
                                    </p:set>
                                    <p:animEffect transition="in" filter="wipe(left)">
                                      <p:cBhvr>
                                        <p:cTn id="42" dur="7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intercepts of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+ 5</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20</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0: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4198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5</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20, so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35584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15</Slides>
  <Notes>15</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