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IEP version of Lesson 5: a modified lesson that keeps the core skills and cuts the number of items. Each skill follows I do (teacher models), We do (together, with sentence frames), You do (student tries, then reveal). Click to reveal each answer. Apply each student's IEP accommodations too: extended time, read-aloud, breaks, calculator, small group.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up, or give students a printed copy, while they work.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each point as it appears. Negative slope: the line falls left to right.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at the point instead of the y-intercept; everything else is the same.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x-term to find the y-intercept, and cover the y-term to find the x-intercept.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time to try all items before revealing. Students may use the steps slide and their notes.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lgebra1m2u1l4.vercel.app/IEP/lesson5-bellwork-day1-IEP.html" TargetMode="External"/><Relationship Id="rId4" Type="http://schemas.openxmlformats.org/officeDocument/2006/relationships/hyperlink" Target="https://algebra1m2u1l4.vercel.app/IEP/lesson5-bellwork-day2-IEP.html" TargetMode="External"/><Relationship Id="rId5" Type="http://schemas.openxmlformats.org/officeDocument/2006/relationships/hyperlink" Target="https://algebra1m2u1l4.vercel.app/IEP/lesson5-bellwork-day3-IEP.html" TargetMode="External"/><Relationship Id="rId6" Type="http://schemas.openxmlformats.org/officeDocument/2006/relationships/hyperlink" Target="https://algebra1m2u1l4.vercel.app/IEP/lesson5-homework-IEP.html" TargetMode="External"/><Relationship Id="rId7" Type="http://schemas.openxmlformats.org/officeDocument/2006/relationships/hyperlink" Target="https://algebra1m2u1l4.vercel.app/IEP/lesson5-quiz-IEP.html" TargetMode="Externa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algebra1m2u1l4.vercel.app/IEP/lesson5-bellwork-day1-IEP.html" TargetMode="External"/><Relationship Id="rId4" Type="http://schemas.openxmlformats.org/officeDocument/2006/relationships/hyperlink" Target="https://algebra1m2u1l4.vercel.app/IEP/lesson5-bellwork-day2-IEP.html" TargetMode="External"/><Relationship Id="rId5" Type="http://schemas.openxmlformats.org/officeDocument/2006/relationships/hyperlink" Target="https://algebra1m2u1l4.vercel.app/IEP/lesson5-bellwork-day3-IEP.html" TargetMode="External"/><Relationship Id="rId6" Type="http://schemas.openxmlformats.org/officeDocument/2006/relationships/hyperlink" Target="https://algebra1m2u1l4.vercel.app/IEP/lesson5-homework-IEP.html" TargetMode="External"/><Relationship Id="rId7" Type="http://schemas.openxmlformats.org/officeDocument/2006/relationships/hyperlink" Target="https://algebra1m2u1l4.vercel.app/IEP/lesson5-quiz-IEP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 · Module 2 · Topic 1 · Lesson 5 · IEP Version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961644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5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Graphing Linear Equations</a:t>
            </a:r>
            <a:endParaRPr lang="en-US" sz="45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911858"/>
            <a:ext cx="10820095" cy="4892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mx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2850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y</a:t>
            </a:r>
            <a:r>
              <a:rPr lang="en-US" sz="2422" dirty="0" b="1" baseline="-25000">
                <a:solidFill>
                  <a:srgbClr val="3050B8"/>
                </a:solidFill>
                <a:latin typeface="Cambria"/>
                <a:cs typeface="Cambria"/>
              </a:rPr>
              <a:t xml:space="preserve">1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850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m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2850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x</a:t>
            </a:r>
            <a:r>
              <a:rPr lang="en-US" sz="2422" dirty="0" b="1" baseline="-25000">
                <a:solidFill>
                  <a:srgbClr val="3050B8"/>
                </a:solidFill>
                <a:latin typeface="Cambria"/>
                <a:cs typeface="Cambria"/>
              </a:rPr>
              <a:t xml:space="preserve">1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) · 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Ax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By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endParaRPr lang="en-US" sz="28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48712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I can…</a:t>
            </a:r>
            <a:endParaRPr lang="en-US" sz="21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19506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✓ graph a line from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+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using the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and the slope.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71856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✓ graph a line from point-slope form.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424205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✓ find the intercepts of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Ax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+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By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graph the line.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822698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Bell work: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Day 3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| Practice: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6"/>
              </a:rPr>
              <a:t xml:space="preserve">Homework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7"/>
              </a:rPr>
              <a:t xml:space="preserve">Quiz →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618591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Based on Bluebonnet Learning Secondary Mathematics, Algebra I (©2024–2025 Texas Education Agency, portions ©2021 Carnegie Learning, Inc.), licensed CC BY-NC 4.0. A private site for Algebra I teachers.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5 · Vocabulary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Words we need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92398" cy="2206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-intercept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Where the line crosses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-axis: (0,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9026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 b="1">
                <a:solidFill>
                  <a:srgbClr val="3050B8"/>
                </a:solidFill>
                <a:latin typeface="Cambria"/>
                <a:cs typeface="Cambria"/>
              </a:rPr>
              <a:t xml:space="preserve">+ 5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→ (0, 5)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4349648" y="1618488"/>
            <a:ext cx="3492398" cy="2206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Rise over run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Rise: up (+) or down (−). Run: right.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2890266"/>
            <a:ext cx="3073298" cy="7635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: up 3, right 2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8013497" y="1618488"/>
            <a:ext cx="3492398" cy="2206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-intercept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23047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Where the line crosses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-axis: 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0).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8223047" y="289026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Put 0 in for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</a:t>
            </a:r>
            <a:endParaRPr lang="en-US" sz="2325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996690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895350" y="416814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Standard form</a:t>
            </a:r>
            <a:endParaRPr lang="en-US" sz="2100" dirty="0"/>
          </a:p>
        </p:txBody>
      </p:sp>
      <p:sp>
        <p:nvSpPr>
          <p:cNvPr id="17" name="Shape 17"/>
          <p:cNvSpPr txBox="1"/>
          <p:nvPr/>
        </p:nvSpPr>
        <p:spPr>
          <a:xfrm>
            <a:off x="895350" y="4638294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+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895350" y="502843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12</a:t>
            </a:r>
            <a:endParaRPr lang="en-US" sz="2325" dirty="0"/>
          </a:p>
        </p:txBody>
      </p:sp>
      <p:sp>
        <p:nvSpPr>
          <p:cNvPr id="23" name="Shape 23"/>
          <p:cNvSpPr txBox="1"/>
          <p:nvPr/>
        </p:nvSpPr>
        <p:spPr>
          <a:xfrm>
            <a:off x="4349648" y="3996690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0" name="Shape 20"/>
          <p:cNvSpPr txBox="1"/>
          <p:nvPr/>
        </p:nvSpPr>
        <p:spPr>
          <a:xfrm>
            <a:off x="4559198" y="416814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Slope-intercept form</a:t>
            </a:r>
            <a:endParaRPr lang="en-US" sz="2100" dirty="0"/>
          </a:p>
        </p:txBody>
      </p:sp>
      <p:sp>
        <p:nvSpPr>
          <p:cNvPr id="21" name="Shape 21"/>
          <p:cNvSpPr txBox="1"/>
          <p:nvPr/>
        </p:nvSpPr>
        <p:spPr>
          <a:xfrm>
            <a:off x="4559198" y="463829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is the slope,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is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-intercept.</a:t>
            </a:r>
            <a:endParaRPr lang="en-US" sz="1575" dirty="0"/>
          </a:p>
        </p:txBody>
      </p:sp>
      <p:sp>
        <p:nvSpPr>
          <p:cNvPr id="22" name="Shape 22"/>
          <p:cNvSpPr txBox="1"/>
          <p:nvPr/>
        </p:nvSpPr>
        <p:spPr>
          <a:xfrm>
            <a:off x="4559198" y="526846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2325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b</a:t>
            </a:r>
            <a:endParaRPr lang="en-US" sz="2325" dirty="0"/>
          </a:p>
        </p:txBody>
      </p:sp>
      <p:sp>
        <p:nvSpPr>
          <p:cNvPr id="27" name="Shape 27"/>
          <p:cNvSpPr txBox="1"/>
          <p:nvPr/>
        </p:nvSpPr>
        <p:spPr>
          <a:xfrm>
            <a:off x="8013497" y="3996690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4" name="Shape 24"/>
          <p:cNvSpPr txBox="1"/>
          <p:nvPr/>
        </p:nvSpPr>
        <p:spPr>
          <a:xfrm>
            <a:off x="8223047" y="416814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Point-slope form</a:t>
            </a:r>
            <a:endParaRPr lang="en-US" sz="2100" dirty="0"/>
          </a:p>
        </p:txBody>
      </p:sp>
      <p:sp>
        <p:nvSpPr>
          <p:cNvPr id="25" name="Shape 25"/>
          <p:cNvSpPr txBox="1"/>
          <p:nvPr/>
        </p:nvSpPr>
        <p:spPr>
          <a:xfrm>
            <a:off x="8223047" y="4638294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and one point.</a:t>
            </a:r>
            <a:endParaRPr lang="en-US" sz="1575" dirty="0"/>
          </a:p>
        </p:txBody>
      </p:sp>
      <p:sp>
        <p:nvSpPr>
          <p:cNvPr id="26" name="Shape 26"/>
          <p:cNvSpPr txBox="1"/>
          <p:nvPr/>
        </p:nvSpPr>
        <p:spPr>
          <a:xfrm>
            <a:off x="8223047" y="502843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2325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y</a:t>
            </a:r>
            <a:r>
              <a:rPr lang="en-US" sz="1976" dirty="0" b="1" baseline="-25000">
                <a:solidFill>
                  <a:srgbClr val="3050B8"/>
                </a:solidFill>
                <a:latin typeface="Cambria"/>
                <a:cs typeface="Cambria"/>
              </a:rPr>
              <a:t xml:space="preserve">1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2325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x</a:t>
            </a:r>
            <a:r>
              <a:rPr lang="en-US" sz="1976" dirty="0" b="1" baseline="-25000">
                <a:solidFill>
                  <a:srgbClr val="3050B8"/>
                </a:solidFill>
                <a:latin typeface="Cambria"/>
                <a:cs typeface="Cambria"/>
              </a:rPr>
              <a:t xml:space="preserve">1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5 · Steps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How to graph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mx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+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Plot the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-intercept, (0,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Write the slope as 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rise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run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From the point, count the rise (up or down), then the run (right). Plot a point.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Do it again, so you have 3 points. Connect them with a ruler.</a:t>
            </a:r>
            <a:endParaRPr lang="en-US" sz="195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I do · Watch me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Graph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= −2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+ 10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Step 1: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10. Plot (0, 10).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03882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Step 2: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−2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down 2, right 1.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89276"/>
            <a:ext cx="473211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(1, 8) and (2, 6)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4154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Step 3: connect with a ruler.</a:t>
            </a:r>
            <a:endParaRPr lang="en-US" sz="1950" dirty="0"/>
          </a:p>
        </p:txBody>
      </p:sp>
      <p:sp>
        <p:nvSpPr>
          <p:cNvPr id="8" name="Shape 8"/>
          <p:cNvSpPr/>
          <p:nvPr/>
        </p:nvSpPr>
        <p:spPr>
          <a:xfrm>
            <a:off x="6286348" y="1618488"/>
            <a:ext cx="3238500" cy="3619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9" name="Line 9"/>
          <p:cNvCxnSpPr/>
          <p:nvPr/>
        </p:nvCxnSpPr>
        <p:spPr>
          <a:xfrm>
            <a:off x="6610198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7010248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7410298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7810348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8210398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8610448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9010498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9410548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6610198" y="499033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6610198" y="4718876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6610198" y="4447413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6610198" y="4175950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6610198" y="390448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6610198" y="3633026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6610198" y="3361563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6610198" y="3090100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6610198" y="281863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6610198" y="2547176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6610198" y="2275713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6610198" y="2004250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610198" y="173278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7010248" y="1732788"/>
            <a:ext cx="0" cy="3257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610198" y="4990338"/>
            <a:ext cx="28003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32" name="Shape 32"/>
          <p:cNvSpPr txBox="1"/>
          <p:nvPr/>
        </p:nvSpPr>
        <p:spPr>
          <a:xfrm>
            <a:off x="6335878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6735928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7135978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7536028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7936078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8336128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8736178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9136228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6043270" y="48988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6043270" y="43559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6043270" y="38130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6043270" y="32701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6043270" y="27271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6043270" y="21842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6043270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12</a:t>
            </a:r>
            <a:endParaRPr lang="en-US" sz="975" dirty="0"/>
          </a:p>
        </p:txBody>
      </p:sp>
      <p:sp>
        <p:nvSpPr>
          <p:cNvPr id="47" name="Shape 47"/>
          <p:cNvSpPr/>
          <p:nvPr/>
        </p:nvSpPr>
        <p:spPr>
          <a:xfrm>
            <a:off x="6957860" y="22233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8" name="Shape 48"/>
          <p:cNvSpPr txBox="1"/>
          <p:nvPr/>
        </p:nvSpPr>
        <p:spPr>
          <a:xfrm>
            <a:off x="7095973" y="20280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(0, 10)</a:t>
            </a:r>
            <a:endParaRPr lang="en-US" sz="1125" dirty="0"/>
          </a:p>
        </p:txBody>
      </p:sp>
      <p:sp>
        <p:nvSpPr>
          <p:cNvPr id="49" name="Shape 49"/>
          <p:cNvSpPr/>
          <p:nvPr/>
        </p:nvSpPr>
        <p:spPr>
          <a:xfrm>
            <a:off x="7357910" y="2766250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0" name="Shape 50"/>
          <p:cNvSpPr txBox="1"/>
          <p:nvPr/>
        </p:nvSpPr>
        <p:spPr>
          <a:xfrm>
            <a:off x="7496023" y="257098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(1, 8)</a:t>
            </a:r>
            <a:endParaRPr lang="en-US" sz="1125" dirty="0"/>
          </a:p>
        </p:txBody>
      </p:sp>
      <p:sp>
        <p:nvSpPr>
          <p:cNvPr id="51" name="Shape 51"/>
          <p:cNvSpPr/>
          <p:nvPr/>
        </p:nvSpPr>
        <p:spPr>
          <a:xfrm>
            <a:off x="7757960" y="330917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2" name="Shape 52"/>
          <p:cNvSpPr txBox="1"/>
          <p:nvPr/>
        </p:nvSpPr>
        <p:spPr>
          <a:xfrm>
            <a:off x="7896073" y="311391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(2, 6)</a:t>
            </a:r>
            <a:endParaRPr lang="en-US" sz="1125" dirty="0"/>
          </a:p>
        </p:txBody>
      </p:sp>
      <p:cxnSp>
        <p:nvCxnSpPr>
          <p:cNvPr id="53" name="Line 53"/>
          <p:cNvCxnSpPr/>
          <p:nvPr/>
        </p:nvCxnSpPr>
        <p:spPr>
          <a:xfrm>
            <a:off x="6610198" y="1732788"/>
            <a:ext cx="2400300" cy="325755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We do · Together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Graph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− 1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Plot (0, ____).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03882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(0, −1)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56154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Rise ____, run ____.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41548"/>
            <a:ext cx="406880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up 3, right 2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893820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Next points: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379214"/>
            <a:ext cx="473211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(2, 2) and (4, 5)</a:t>
            </a:r>
            <a:endParaRPr lang="en-US" sz="2325" dirty="0"/>
          </a:p>
        </p:txBody>
      </p:sp>
      <p:sp>
        <p:nvSpPr>
          <p:cNvPr id="10" name="Shape 10"/>
          <p:cNvSpPr/>
          <p:nvPr/>
        </p:nvSpPr>
        <p:spPr>
          <a:xfrm>
            <a:off x="6286348" y="1618488"/>
            <a:ext cx="3238500" cy="3619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1" name="Line 11"/>
          <p:cNvCxnSpPr/>
          <p:nvPr/>
        </p:nvCxnSpPr>
        <p:spPr>
          <a:xfrm>
            <a:off x="6610198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6960241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7310285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7660329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8010373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8360416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8710460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9060504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9410548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6610198" y="499033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6610198" y="4664583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6610198" y="433882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6610198" y="4013073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6610198" y="368731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6610198" y="3361563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6610198" y="303580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6610198" y="2710053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6610198" y="238429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610198" y="2058543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6610198" y="173278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7310285" y="1732788"/>
            <a:ext cx="0" cy="3257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6610198" y="4013073"/>
            <a:ext cx="28003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33" name="Shape 33"/>
          <p:cNvSpPr txBox="1"/>
          <p:nvPr/>
        </p:nvSpPr>
        <p:spPr>
          <a:xfrm>
            <a:off x="6335878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6685921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7035965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7386009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7736053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8086096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8436140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8786184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9136228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6043270" y="48988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6043270" y="457314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6043270" y="424738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6043270" y="392163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6043270" y="359587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6043270" y="32701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6043270" y="294436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6043270" y="261861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6043270" y="229285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51" name="Shape 51"/>
          <p:cNvSpPr txBox="1"/>
          <p:nvPr/>
        </p:nvSpPr>
        <p:spPr>
          <a:xfrm>
            <a:off x="6043270" y="196710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52" name="Shape 52"/>
          <p:cNvSpPr txBox="1"/>
          <p:nvPr/>
        </p:nvSpPr>
        <p:spPr>
          <a:xfrm>
            <a:off x="6043270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7</a:t>
            </a:r>
            <a:endParaRPr lang="en-US" sz="975" dirty="0"/>
          </a:p>
        </p:txBody>
      </p:sp>
      <p:sp>
        <p:nvSpPr>
          <p:cNvPr id="53" name="Shape 53"/>
          <p:cNvSpPr/>
          <p:nvPr/>
        </p:nvSpPr>
        <p:spPr>
          <a:xfrm>
            <a:off x="7257898" y="4286440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4" name="Shape 54"/>
          <p:cNvSpPr txBox="1"/>
          <p:nvPr/>
        </p:nvSpPr>
        <p:spPr>
          <a:xfrm>
            <a:off x="7396010" y="409117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(0, −1)</a:t>
            </a:r>
            <a:endParaRPr lang="en-US" sz="1125" dirty="0"/>
          </a:p>
        </p:txBody>
      </p:sp>
      <p:sp>
        <p:nvSpPr>
          <p:cNvPr id="55" name="Shape 55"/>
          <p:cNvSpPr/>
          <p:nvPr/>
        </p:nvSpPr>
        <p:spPr>
          <a:xfrm>
            <a:off x="7957985" y="330917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6" name="Shape 56"/>
          <p:cNvSpPr txBox="1"/>
          <p:nvPr/>
        </p:nvSpPr>
        <p:spPr>
          <a:xfrm>
            <a:off x="8096098" y="311391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(2, 2)</a:t>
            </a:r>
            <a:endParaRPr lang="en-US" sz="1125" dirty="0"/>
          </a:p>
        </p:txBody>
      </p:sp>
      <p:sp>
        <p:nvSpPr>
          <p:cNvPr id="57" name="Shape 57"/>
          <p:cNvSpPr/>
          <p:nvPr/>
        </p:nvSpPr>
        <p:spPr>
          <a:xfrm>
            <a:off x="8658073" y="2331910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8" name="Shape 58"/>
          <p:cNvSpPr txBox="1"/>
          <p:nvPr/>
        </p:nvSpPr>
        <p:spPr>
          <a:xfrm>
            <a:off x="8796185" y="213664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(4, 5)</a:t>
            </a:r>
            <a:endParaRPr lang="en-US" sz="1125" dirty="0"/>
          </a:p>
        </p:txBody>
      </p:sp>
      <p:cxnSp>
        <p:nvCxnSpPr>
          <p:cNvPr id="59" name="Line 59"/>
          <p:cNvCxnSpPr/>
          <p:nvPr/>
        </p:nvCxnSpPr>
        <p:spPr>
          <a:xfrm flipV="1">
            <a:off x="6843560" y="1732788"/>
            <a:ext cx="2333625" cy="325755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7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You do · Try it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Graph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= −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+ 4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Start at (0, ____).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03882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(0, 4)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56154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Down ____, right ____.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41548"/>
            <a:ext cx="4400459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down 1, right 3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893820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Two more points: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379214"/>
            <a:ext cx="473211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(3, 3) and (6, 2)</a:t>
            </a:r>
            <a:endParaRPr lang="en-US" sz="2325" dirty="0"/>
          </a:p>
        </p:txBody>
      </p:sp>
      <p:sp>
        <p:nvSpPr>
          <p:cNvPr id="10" name="Shape 10"/>
          <p:cNvSpPr/>
          <p:nvPr/>
        </p:nvSpPr>
        <p:spPr>
          <a:xfrm>
            <a:off x="6286348" y="1618488"/>
            <a:ext cx="3238500" cy="323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1" name="Line 11"/>
          <p:cNvCxnSpPr/>
          <p:nvPr/>
        </p:nvCxnSpPr>
        <p:spPr>
          <a:xfrm>
            <a:off x="6610198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6960241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7310285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7660329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8010373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8360416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8710460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9060504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9410548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6610198" y="460933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6610198" y="4129913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6610198" y="365048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6610198" y="3171063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6610198" y="269163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6610198" y="2212213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6610198" y="173278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6960241" y="1732788"/>
            <a:ext cx="0" cy="2876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6610198" y="4609338"/>
            <a:ext cx="28003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29" name="Shape 29"/>
          <p:cNvSpPr txBox="1"/>
          <p:nvPr/>
        </p:nvSpPr>
        <p:spPr>
          <a:xfrm>
            <a:off x="6335878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30" name="Shape 30"/>
          <p:cNvSpPr txBox="1"/>
          <p:nvPr/>
        </p:nvSpPr>
        <p:spPr>
          <a:xfrm>
            <a:off x="6685921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1" name="Shape 31"/>
          <p:cNvSpPr txBox="1"/>
          <p:nvPr/>
        </p:nvSpPr>
        <p:spPr>
          <a:xfrm>
            <a:off x="7035965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32" name="Shape 32"/>
          <p:cNvSpPr txBox="1"/>
          <p:nvPr/>
        </p:nvSpPr>
        <p:spPr>
          <a:xfrm>
            <a:off x="7386009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7736053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8086096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8436140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8786184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9136228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7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6043270" y="45178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6043270" y="40384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6043270" y="35590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6043270" y="30796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6043270" y="26001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6043270" y="21207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6043270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45" name="Shape 45"/>
          <p:cNvSpPr/>
          <p:nvPr/>
        </p:nvSpPr>
        <p:spPr>
          <a:xfrm>
            <a:off x="6907854" y="2639250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6" name="Shape 46"/>
          <p:cNvSpPr txBox="1"/>
          <p:nvPr/>
        </p:nvSpPr>
        <p:spPr>
          <a:xfrm>
            <a:off x="7045966" y="244398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(0, 4)</a:t>
            </a:r>
            <a:endParaRPr lang="en-US" sz="1125" dirty="0"/>
          </a:p>
        </p:txBody>
      </p:sp>
      <p:sp>
        <p:nvSpPr>
          <p:cNvPr id="47" name="Shape 47"/>
          <p:cNvSpPr/>
          <p:nvPr/>
        </p:nvSpPr>
        <p:spPr>
          <a:xfrm>
            <a:off x="7957985" y="311867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8" name="Shape 48"/>
          <p:cNvSpPr txBox="1"/>
          <p:nvPr/>
        </p:nvSpPr>
        <p:spPr>
          <a:xfrm>
            <a:off x="8096098" y="292341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(3, 3)</a:t>
            </a:r>
            <a:endParaRPr lang="en-US" sz="1125" dirty="0"/>
          </a:p>
        </p:txBody>
      </p:sp>
      <p:sp>
        <p:nvSpPr>
          <p:cNvPr id="49" name="Shape 49"/>
          <p:cNvSpPr/>
          <p:nvPr/>
        </p:nvSpPr>
        <p:spPr>
          <a:xfrm>
            <a:off x="9008116" y="3598100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0" name="Shape 50"/>
          <p:cNvSpPr txBox="1"/>
          <p:nvPr/>
        </p:nvSpPr>
        <p:spPr>
          <a:xfrm>
            <a:off x="9146229" y="340283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(6, 2)</a:t>
            </a:r>
            <a:endParaRPr lang="en-US" sz="1125" dirty="0"/>
          </a:p>
        </p:txBody>
      </p:sp>
      <p:cxnSp>
        <p:nvCxnSpPr>
          <p:cNvPr id="51" name="Line 51"/>
          <p:cNvCxnSpPr/>
          <p:nvPr/>
        </p:nvCxnSpPr>
        <p:spPr>
          <a:xfrm>
            <a:off x="6610198" y="2531830"/>
            <a:ext cx="2800350" cy="1278467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I do · Point-slope form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Graph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+ 8 = 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+ 6)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Step 1: find the point. The signs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flip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03882"/>
            <a:ext cx="323967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(−6, −8)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56154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Step 2: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up 1, right 2.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41548"/>
            <a:ext cx="521954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(−4, −7) and (−2, −6)</a:t>
            </a:r>
            <a:endParaRPr lang="en-US" sz="2325" dirty="0"/>
          </a:p>
        </p:txBody>
      </p:sp>
      <p:sp>
        <p:nvSpPr>
          <p:cNvPr id="8" name="Shape 8"/>
          <p:cNvSpPr/>
          <p:nvPr/>
        </p:nvSpPr>
        <p:spPr>
          <a:xfrm>
            <a:off x="6286348" y="1618488"/>
            <a:ext cx="3238500" cy="323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9" name="Line 9"/>
          <p:cNvCxnSpPr/>
          <p:nvPr/>
        </p:nvCxnSpPr>
        <p:spPr>
          <a:xfrm>
            <a:off x="6610198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6960241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7310285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7660329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8010373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8360416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8710460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9060504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9410548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6610198" y="460933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6610198" y="4129913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6610198" y="365048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6610198" y="3171063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6610198" y="269163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6610198" y="2212213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6610198" y="173278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9410548" y="1732788"/>
            <a:ext cx="0" cy="2876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6610198" y="4609338"/>
            <a:ext cx="28003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27" name="Shape 27"/>
          <p:cNvSpPr txBox="1"/>
          <p:nvPr/>
        </p:nvSpPr>
        <p:spPr>
          <a:xfrm>
            <a:off x="6335878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28" name="Shape 28"/>
          <p:cNvSpPr txBox="1"/>
          <p:nvPr/>
        </p:nvSpPr>
        <p:spPr>
          <a:xfrm>
            <a:off x="6685921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−7</a:t>
            </a:r>
            <a:endParaRPr lang="en-US" sz="975" dirty="0"/>
          </a:p>
        </p:txBody>
      </p:sp>
      <p:sp>
        <p:nvSpPr>
          <p:cNvPr id="29" name="Shape 29"/>
          <p:cNvSpPr txBox="1"/>
          <p:nvPr/>
        </p:nvSpPr>
        <p:spPr>
          <a:xfrm>
            <a:off x="7035965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30" name="Shape 30"/>
          <p:cNvSpPr txBox="1"/>
          <p:nvPr/>
        </p:nvSpPr>
        <p:spPr>
          <a:xfrm>
            <a:off x="7386009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−5</a:t>
            </a:r>
            <a:endParaRPr lang="en-US" sz="975" dirty="0"/>
          </a:p>
        </p:txBody>
      </p:sp>
      <p:sp>
        <p:nvSpPr>
          <p:cNvPr id="31" name="Shape 31"/>
          <p:cNvSpPr txBox="1"/>
          <p:nvPr/>
        </p:nvSpPr>
        <p:spPr>
          <a:xfrm>
            <a:off x="7736053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32" name="Shape 32"/>
          <p:cNvSpPr txBox="1"/>
          <p:nvPr/>
        </p:nvSpPr>
        <p:spPr>
          <a:xfrm>
            <a:off x="8086096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8436140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8786184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9136228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6043270" y="45178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−10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6043270" y="40384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−9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6043270" y="35590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6043270" y="30796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−7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6043270" y="26001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6043270" y="21207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−5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6043270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3" name="Shape 43"/>
          <p:cNvSpPr/>
          <p:nvPr/>
        </p:nvSpPr>
        <p:spPr>
          <a:xfrm>
            <a:off x="7257898" y="3598100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4" name="Shape 44"/>
          <p:cNvSpPr txBox="1"/>
          <p:nvPr/>
        </p:nvSpPr>
        <p:spPr>
          <a:xfrm>
            <a:off x="7396010" y="340283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(−6, −8)</a:t>
            </a:r>
            <a:endParaRPr lang="en-US" sz="1125" dirty="0"/>
          </a:p>
        </p:txBody>
      </p:sp>
      <p:sp>
        <p:nvSpPr>
          <p:cNvPr id="45" name="Shape 45"/>
          <p:cNvSpPr/>
          <p:nvPr/>
        </p:nvSpPr>
        <p:spPr>
          <a:xfrm>
            <a:off x="7957985" y="311867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6" name="Shape 46"/>
          <p:cNvSpPr/>
          <p:nvPr/>
        </p:nvSpPr>
        <p:spPr>
          <a:xfrm>
            <a:off x="8658073" y="2639250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47" name="Line 47"/>
          <p:cNvCxnSpPr/>
          <p:nvPr/>
        </p:nvCxnSpPr>
        <p:spPr>
          <a:xfrm flipV="1">
            <a:off x="6610198" y="2212213"/>
            <a:ext cx="2800350" cy="191770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I do · Standard form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Graph 3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+ 2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= 12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-intercept: put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0.</a:t>
            </a:r>
            <a:b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12, so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4.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1062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(4, 0)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053334"/>
            <a:ext cx="52195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-intercept: put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0.</a:t>
            </a:r>
            <a:b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12, so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6.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835908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(0, 6)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4488180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Connect the two points.</a:t>
            </a:r>
            <a:endParaRPr lang="en-US" sz="1950" dirty="0"/>
          </a:p>
        </p:txBody>
      </p:sp>
      <p:sp>
        <p:nvSpPr>
          <p:cNvPr id="9" name="Shape 9"/>
          <p:cNvSpPr/>
          <p:nvPr/>
        </p:nvSpPr>
        <p:spPr>
          <a:xfrm>
            <a:off x="6286348" y="1618488"/>
            <a:ext cx="3048000" cy="323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0" name="Line 10"/>
          <p:cNvCxnSpPr/>
          <p:nvPr/>
        </p:nvCxnSpPr>
        <p:spPr>
          <a:xfrm>
            <a:off x="6610198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6983033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7355869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7728705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8101540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8474376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8847212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9220048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6610198" y="46093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6610198" y="4289721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6610198" y="3970105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6610198" y="36504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6610198" y="3330871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6610198" y="3011255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6610198" y="26916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6610198" y="2372021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6610198" y="2052405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6610198" y="17327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6983033" y="1732788"/>
            <a:ext cx="0" cy="2876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610198" y="4289721"/>
            <a:ext cx="2609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30" name="Shape 30"/>
          <p:cNvSpPr txBox="1"/>
          <p:nvPr/>
        </p:nvSpPr>
        <p:spPr>
          <a:xfrm>
            <a:off x="6335878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31" name="Shape 31"/>
          <p:cNvSpPr txBox="1"/>
          <p:nvPr/>
        </p:nvSpPr>
        <p:spPr>
          <a:xfrm>
            <a:off x="6708713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2" name="Shape 32"/>
          <p:cNvSpPr txBox="1"/>
          <p:nvPr/>
        </p:nvSpPr>
        <p:spPr>
          <a:xfrm>
            <a:off x="7081549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7454385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7827220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8200056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8572892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8945728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6043270" y="45178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6043270" y="4198281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6043270" y="3878665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6043270" y="35590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6043270" y="3239431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6043270" y="2919815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6043270" y="26001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6043270" y="2280581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6043270" y="1960965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7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6043270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48" name="Shape 48"/>
          <p:cNvSpPr/>
          <p:nvPr/>
        </p:nvSpPr>
        <p:spPr>
          <a:xfrm>
            <a:off x="8421989" y="423733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9" name="Shape 49"/>
          <p:cNvSpPr txBox="1"/>
          <p:nvPr/>
        </p:nvSpPr>
        <p:spPr>
          <a:xfrm>
            <a:off x="8560101" y="4042071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(4, 0)</a:t>
            </a:r>
            <a:endParaRPr lang="en-US" sz="1125" dirty="0"/>
          </a:p>
        </p:txBody>
      </p:sp>
      <p:sp>
        <p:nvSpPr>
          <p:cNvPr id="50" name="Shape 50"/>
          <p:cNvSpPr/>
          <p:nvPr/>
        </p:nvSpPr>
        <p:spPr>
          <a:xfrm>
            <a:off x="6930646" y="231963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1" name="Shape 51"/>
          <p:cNvSpPr txBox="1"/>
          <p:nvPr/>
        </p:nvSpPr>
        <p:spPr>
          <a:xfrm>
            <a:off x="7068758" y="2124371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(0, 6)</a:t>
            </a:r>
            <a:endParaRPr lang="en-US" sz="1125" dirty="0"/>
          </a:p>
        </p:txBody>
      </p:sp>
      <p:cxnSp>
        <p:nvCxnSpPr>
          <p:cNvPr id="52" name="Line 52"/>
          <p:cNvCxnSpPr/>
          <p:nvPr/>
        </p:nvCxnSpPr>
        <p:spPr>
          <a:xfrm>
            <a:off x="6610198" y="1892596"/>
            <a:ext cx="2112736" cy="2716742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You do · Try it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Find the intercepts of 2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+ 5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= 20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0: 2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20, so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____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(10, 0)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83235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0: 5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20, so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____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355848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(0, 4)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5 · Which form?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Where do I start?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49239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21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mx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+ </a:t>
            </a:r>
            <a:r>
              <a:rPr lang="en-US" sz="21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Start at (0,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). Count the slope.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4349648" y="1618488"/>
            <a:ext cx="349239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Point-slope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Start at 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339" dirty="0" baseline="-25000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339" dirty="0" baseline="-25000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). Count the slope.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8013497" y="1618488"/>
            <a:ext cx="349239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Ax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+ </a:t>
            </a:r>
            <a:r>
              <a:rPr lang="en-US" sz="21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By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21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endParaRPr lang="en-US" sz="2100" dirty="0"/>
          </a:p>
        </p:txBody>
      </p:sp>
      <p:sp>
        <p:nvSpPr>
          <p:cNvPr id="11" name="Shape 11"/>
          <p:cNvSpPr txBox="1"/>
          <p:nvPr/>
        </p:nvSpPr>
        <p:spPr>
          <a:xfrm>
            <a:off x="8223047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Find both intercepts. Connect them.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10820095" cy="13091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104009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−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+ 2. Name the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and one more point.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37232"/>
            <a:ext cx="8048640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(0, 2), then down 3, right 4: (4, −1)</a:t>
            </a:r>
            <a:endParaRPr lang="en-US" sz="2325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3060954"/>
            <a:ext cx="10820095" cy="13091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3232404"/>
            <a:ext cx="104009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Find the intercepts of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+ 2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8.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895350" y="3679698"/>
            <a:ext cx="473211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(8, 0) and (0, 4)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4503420"/>
            <a:ext cx="10820095" cy="13091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95350" y="4674870"/>
            <a:ext cx="104009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Name the point and slope of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− 1 = 2(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+ 3).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895350" y="5122164"/>
            <a:ext cx="556124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point (−3, 1), slope 2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Practice Online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Bell work, homework and quiz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Bell work: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Day 3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| Practice: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6"/>
              </a:rPr>
              <a:t xml:space="preserve">Homework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7"/>
              </a:rPr>
              <a:t xml:space="preserve">Quiz →</a:t>
            </a:r>
            <a:endParaRPr lang="en-US" sz="18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76272"/>
            <a:ext cx="10820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IEP pages have 3 answer choices, 6 homework and quiz questions, a reminder card and read-aloud. Allow notes and a calculator, and give extended time as the IEP lists.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Using Linear Equation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12</Slides>
  <Notes>12</Notes>
</Properties>
</file>

<file path=docProps/core.xml><?xml version="1.0" encoding="utf-8"?>
<cp:coreProperties xmlns:cp="http://schemas.openxmlformats.org/package/2006/metadata/core-properties" xmlns:dc="http://purl.org/dc/elements/1.1/">
  <dc:title>Using Linear Equations</dc:title>
  <dc:subject>Bluebonnet Algebra I</dc:subject>
</cp:coreProperties>
</file>