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November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November 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Tue, Nov 3 · Day 2: Wed, Nov 4</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November 3</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Tue, Nov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of the line through </a:t>
            </a:r>
            <a:r>
              <a:rPr lang="en-US" sz="1575" dirty="0">
                <a:solidFill>
                  <a:srgbClr val="16171D"/>
                </a:solidFill>
                <a:latin typeface="Cambria"/>
                <a:cs typeface="Cambria"/>
              </a:rPr>
              <a:t xml:space="preserve">(−2.5, −6)</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(0, 4)</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(−6) = 4 + 6 = 10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0 − (−2.5) = 2.5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10 ÷ 2.5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slope does a line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0" name="Shape 10"/>
          <p:cNvSpPr txBox="1"/>
          <p:nvPr/>
        </p:nvSpPr>
        <p:spPr>
          <a:xfrm>
            <a:off x="895350"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4,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 parallel line has the same slope: 4.</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slope does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14" name="Shape 14"/>
          <p:cNvSpPr txBox="1"/>
          <p:nvPr/>
        </p:nvSpPr>
        <p:spPr>
          <a:xfrm>
            <a:off x="6419698" y="2695956"/>
            <a:ext cx="281492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−¼</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4/1</a:t>
            </a:r>
            <a:r>
              <a:rPr lang="en-US" sz="1425" dirty="0">
                <a:solidFill>
                  <a:srgbClr val="16171D"/>
                </a:solidFill>
                <a:latin typeface="Segoe UI"/>
                <a:cs typeface="Segoe UI"/>
              </a:rPr>
              <a:t xml:space="preserve">. Flip it: </a:t>
            </a:r>
            <a:r>
              <a:rPr lang="en-US" sz="1425" dirty="0">
                <a:solidFill>
                  <a:srgbClr val="16171D"/>
                </a:solidFill>
                <a:latin typeface="Cambria"/>
                <a:cs typeface="Cambria"/>
              </a:rPr>
              <a:t xml:space="preserve">1/4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−¼</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4 · (−¼) = −1</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ratio of 9th-graders to 10th-graders is </a:t>
            </a:r>
            <a:r>
              <a:rPr lang="en-US" sz="1575" dirty="0">
                <a:solidFill>
                  <a:srgbClr val="16171D"/>
                </a:solidFill>
                <a:latin typeface="Cambria"/>
                <a:cs typeface="Cambria"/>
              </a:rPr>
              <a:t xml:space="preserve">1 : 1</a:t>
            </a:r>
            <a:r>
              <a:rPr lang="en-US" sz="1575" dirty="0">
                <a:solidFill>
                  <a:srgbClr val="16171D"/>
                </a:solidFill>
                <a:latin typeface="Segoe UI"/>
                <a:cs typeface="Segoe UI"/>
              </a:rPr>
              <a:t xml:space="preserve">. What is the slope of this relationship?</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change in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1</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a:t>
            </a:r>
            <a:r>
              <a:rPr lang="en-US" sz="1425" dirty="0">
                <a:solidFill>
                  <a:srgbClr val="16171D"/>
                </a:solidFill>
                <a:latin typeface="Segoe UI"/>
                <a:cs typeface="Segoe UI"/>
              </a:rPr>
              <a:t xml:space="preserve"> means 1 tenth-grader for every 1 ninth-grader.</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 = 1</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and the slope is 1.</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Nov 3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November 3</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November 4. Start at the next slide, “Start: Wednesday, November 4.”</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November 4</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Travis County pays $15 per ton of cardboard. How much is paid for 3 tons?</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total = rate × amount</a:t>
            </a:r>
            <a:endParaRPr lang="en-US" sz="1575" dirty="0"/>
          </a:p>
        </p:txBody>
      </p:sp>
      <p:sp>
        <p:nvSpPr>
          <p:cNvPr id="6" name="Shape 6"/>
          <p:cNvSpPr txBox="1"/>
          <p:nvPr/>
        </p:nvSpPr>
        <p:spPr>
          <a:xfrm>
            <a:off x="895350" y="269595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$45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Rate: $15 per ton. Amount: 3 tons.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15 · 3 = 45</a:t>
            </a:r>
            <a:r>
              <a:rPr lang="en-US" sz="1425" dirty="0">
                <a:solidFill>
                  <a:srgbClr val="16171D"/>
                </a:solidFill>
                <a:latin typeface="Segoe UI"/>
                <a:cs typeface="Segoe UI"/>
              </a:rPr>
              <a:t xml:space="preserve">, so $45.</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Hays County's graph passes through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(1, 20)</a:t>
            </a:r>
            <a:r>
              <a:rPr lang="en-US" sz="1575" dirty="0">
                <a:solidFill>
                  <a:srgbClr val="16171D"/>
                </a:solidFill>
                <a:latin typeface="Segoe UI"/>
                <a:cs typeface="Segoe UI"/>
              </a:rPr>
              <a:t xml:space="preserve">. What is the payout per ton?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0" name="Shape 10"/>
          <p:cNvSpPr txBox="1"/>
          <p:nvPr/>
        </p:nvSpPr>
        <p:spPr>
          <a:xfrm>
            <a:off x="895350" y="48943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20 − 0 = 20</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1 − 0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1 = 20</a:t>
            </a:r>
            <a:r>
              <a:rPr lang="en-US" sz="1425" dirty="0">
                <a:solidFill>
                  <a:srgbClr val="16171D"/>
                </a:solidFill>
                <a:latin typeface="Segoe UI"/>
                <a:cs typeface="Segoe UI"/>
              </a:rPr>
              <a:t xml:space="preserve">, so $20 per ton.</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9/5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converts °C to °F. What is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(10)</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J</a:t>
            </a:r>
            <a:r>
              <a:rPr lang="en-US" sz="1425" dirty="0">
                <a:solidFill>
                  <a:srgbClr val="16171D"/>
                </a:solidFill>
                <a:latin typeface="Cambria"/>
                <a:cs typeface="Cambria"/>
              </a:rPr>
              <a:t xml:space="preserve">(10) = 9/5 · 10 + 32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9/5 · 10 = 90 ÷ 5 = 18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18 + 32 = 50</a:t>
            </a:r>
            <a:r>
              <a:rPr lang="en-US" sz="1425" dirty="0">
                <a:solidFill>
                  <a:srgbClr val="16171D"/>
                </a:solidFill>
                <a:latin typeface="Segoe UI"/>
                <a:cs typeface="Segoe UI"/>
              </a:rPr>
              <a:t xml:space="preserve">. 10°C is 50°F.</a:t>
            </a:r>
            <a:endParaRPr lang="en-US" sz="1425" dirty="0"/>
          </a:p>
        </p:txBody>
      </p:sp>
      <p:sp>
        <p:nvSpPr>
          <p:cNvPr id="19" name="Shape 19"/>
          <p:cNvSpPr txBox="1"/>
          <p:nvPr/>
        </p:nvSpPr>
        <p:spPr>
          <a:xfrm>
            <a:off x="6210148" y="403402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Miguel started with $0 and had $80 after 4 months. How much did he save each month?</a:t>
            </a:r>
            <a:endParaRPr lang="en-US" sz="1575" dirty="0"/>
          </a:p>
        </p:txBody>
      </p:sp>
      <p:sp>
        <p:nvSpPr>
          <p:cNvPr id="17" name="Shape 17"/>
          <p:cNvSpPr txBox="1"/>
          <p:nvPr/>
        </p:nvSpPr>
        <p:spPr>
          <a:xfrm>
            <a:off x="6419698" y="47785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rate = change in amount ÷ change in time</a:t>
            </a:r>
            <a:endParaRPr lang="en-US" sz="1575" dirty="0"/>
          </a:p>
        </p:txBody>
      </p:sp>
      <p:sp>
        <p:nvSpPr>
          <p:cNvPr id="18" name="Shape 18"/>
          <p:cNvSpPr txBox="1"/>
          <p:nvPr/>
        </p:nvSpPr>
        <p:spPr>
          <a:xfrm>
            <a:off x="6419698" y="5351526"/>
            <a:ext cx="425150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money: </a:t>
            </a:r>
            <a:r>
              <a:rPr lang="en-US" sz="1425" dirty="0">
                <a:solidFill>
                  <a:srgbClr val="16171D"/>
                </a:solidFill>
                <a:latin typeface="Cambria"/>
                <a:cs typeface="Cambria"/>
              </a:rPr>
              <a:t xml:space="preserve">80 − 0 = 80</a:t>
            </a:r>
            <a:r>
              <a:rPr lang="en-US" sz="1425" dirty="0">
                <a:solidFill>
                  <a:srgbClr val="16171D"/>
                </a:solidFill>
                <a:latin typeface="Segoe UI"/>
                <a:cs typeface="Segoe UI"/>
              </a:rPr>
              <a:t xml:space="preserve"> dollars.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in time: 4 months.</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80 ÷ 4 = 20</a:t>
            </a:r>
            <a:r>
              <a:rPr lang="en-US" sz="1425" dirty="0">
                <a:solidFill>
                  <a:srgbClr val="16171D"/>
                </a:solidFill>
                <a:latin typeface="Segoe UI"/>
                <a:cs typeface="Segoe UI"/>
              </a:rPr>
              <a:t xml:space="preserve">, so $20 per month.</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 Lesson 3 and 4 quizzes go home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24</Slides>
  <Notes>24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