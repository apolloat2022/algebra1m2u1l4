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4: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November 3.</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slope from two rows of the table.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November 3.</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November 4.</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Units: dollars per month.</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November 4.</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Comparing Linear Functions</a:t>
            </a:r>
            <a:endParaRPr lang="en-US" sz="4500" dirty="0"/>
          </a:p>
        </p:txBody>
      </p:sp>
      <p:sp>
        <p:nvSpPr>
          <p:cNvPr id="4" name="Shape 4"/>
          <p:cNvSpPr txBox="1"/>
          <p:nvPr/>
        </p:nvSpPr>
        <p:spPr>
          <a:xfrm>
            <a:off x="685800" y="18737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Tue, Nov 3 · Day 2: Wed, Nov 4</a:t>
            </a:r>
            <a:endParaRPr lang="en-US" sz="1650" dirty="0"/>
          </a:p>
        </p:txBody>
      </p:sp>
      <p:sp>
        <p:nvSpPr>
          <p:cNvPr id="5" name="Shape 5"/>
          <p:cNvSpPr txBox="1"/>
          <p:nvPr/>
        </p:nvSpPr>
        <p:spPr>
          <a:xfrm>
            <a:off x="685800" y="24810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table · graph · equation · words</a:t>
            </a:r>
            <a:endParaRPr lang="en-US" sz="2850" dirty="0"/>
          </a:p>
        </p:txBody>
      </p:sp>
      <p:sp>
        <p:nvSpPr>
          <p:cNvPr id="6" name="Shape 6"/>
          <p:cNvSpPr txBox="1"/>
          <p:nvPr/>
        </p:nvSpPr>
        <p:spPr>
          <a:xfrm>
            <a:off x="685800" y="32179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37642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in a table, graph, equation or story.</a:t>
            </a:r>
            <a:endParaRPr lang="en-US" sz="1950" dirty="0"/>
          </a:p>
        </p:txBody>
      </p:sp>
      <p:sp>
        <p:nvSpPr>
          <p:cNvPr id="8" name="Shape 8"/>
          <p:cNvSpPr txBox="1"/>
          <p:nvPr/>
        </p:nvSpPr>
        <p:spPr>
          <a:xfrm>
            <a:off x="685800" y="42877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two lines are parallel, perpendicular or neither.</a:t>
            </a:r>
            <a:endParaRPr lang="en-US" sz="1950" dirty="0"/>
          </a:p>
        </p:txBody>
      </p:sp>
      <p:sp>
        <p:nvSpPr>
          <p:cNvPr id="9" name="Shape 9"/>
          <p:cNvSpPr txBox="1"/>
          <p:nvPr/>
        </p:nvSpPr>
        <p:spPr>
          <a:xfrm>
            <a:off x="685800" y="48112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explain what the slope and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10" name="Shape 10"/>
          <p:cNvSpPr txBox="1"/>
          <p:nvPr/>
        </p:nvSpPr>
        <p:spPr>
          <a:xfrm>
            <a:off x="685800" y="53919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November 3</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(General form and factored form) → Lesson 4,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Tue, Nov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slope of the line through </a:t>
            </a:r>
            <a:r>
              <a:rPr lang="en-US" sz="1575" dirty="0">
                <a:solidFill>
                  <a:srgbClr val="16171D"/>
                </a:solidFill>
                <a:latin typeface="Cambria"/>
                <a:cs typeface="Cambria"/>
              </a:rPr>
              <a:t xml:space="preserve">(−2.5, −6)</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(0, 4)</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4 − (−6) = 4 + 6 = 10</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0 − (−2.5) = 2.5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10 ÷ 2.5 = 4</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slope does a line 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have?</a:t>
            </a:r>
            <a:endParaRPr lang="en-US" sz="1575" dirty="0"/>
          </a:p>
        </p:txBody>
      </p:sp>
      <p:sp>
        <p:nvSpPr>
          <p:cNvPr id="9" name="Shape 9"/>
          <p:cNvSpPr txBox="1"/>
          <p:nvPr/>
        </p:nvSpPr>
        <p:spPr>
          <a:xfrm>
            <a:off x="895350"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parallel lines have the same slope</a:t>
            </a:r>
            <a:endParaRPr lang="en-US" sz="1575" dirty="0"/>
          </a:p>
        </p:txBody>
      </p:sp>
      <p:sp>
        <p:nvSpPr>
          <p:cNvPr id="10" name="Shape 10"/>
          <p:cNvSpPr txBox="1"/>
          <p:nvPr/>
        </p:nvSpPr>
        <p:spPr>
          <a:xfrm>
            <a:off x="895350" y="511149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slope of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4</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is 4,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 parallel line has the same slope: 4.</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slope does a line perpendicular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have?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a:t>
            </a:r>
            <a:endParaRPr lang="en-US" sz="1575" dirty="0"/>
          </a:p>
        </p:txBody>
      </p:sp>
      <p:sp>
        <p:nvSpPr>
          <p:cNvPr id="14" name="Shape 14"/>
          <p:cNvSpPr txBox="1"/>
          <p:nvPr/>
        </p:nvSpPr>
        <p:spPr>
          <a:xfrm>
            <a:off x="6419698" y="2695956"/>
            <a:ext cx="2814923"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−¼</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4 = 4/1</a:t>
            </a:r>
            <a:r>
              <a:rPr lang="en-US" sz="1425" dirty="0">
                <a:solidFill>
                  <a:srgbClr val="16171D"/>
                </a:solidFill>
                <a:latin typeface="Segoe UI"/>
                <a:cs typeface="Segoe UI"/>
              </a:rPr>
              <a:t xml:space="preserve">. Flip it: </a:t>
            </a:r>
            <a:r>
              <a:rPr lang="en-US" sz="1425" dirty="0">
                <a:solidFill>
                  <a:srgbClr val="16171D"/>
                </a:solidFill>
                <a:latin typeface="Cambria"/>
                <a:cs typeface="Cambria"/>
              </a:rPr>
              <a:t xml:space="preserve">1/4</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the sign: </a:t>
            </a:r>
            <a:r>
              <a:rPr lang="en-US" sz="1425" dirty="0">
                <a:solidFill>
                  <a:srgbClr val="16171D"/>
                </a:solidFill>
                <a:latin typeface="Cambria"/>
                <a:cs typeface="Cambria"/>
              </a:rPr>
              <a:t xml:space="preserve">−¼</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4 · (−¼) = −1</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The ratio of 9th-graders to 10th-graders is </a:t>
            </a:r>
            <a:r>
              <a:rPr lang="en-US" sz="1575" dirty="0">
                <a:solidFill>
                  <a:srgbClr val="16171D"/>
                </a:solidFill>
                <a:latin typeface="Cambria"/>
                <a:cs typeface="Cambria"/>
              </a:rPr>
              <a:t xml:space="preserve">1 : 1</a:t>
            </a:r>
            <a:r>
              <a:rPr lang="en-US" sz="1575" dirty="0">
                <a:solidFill>
                  <a:srgbClr val="16171D"/>
                </a:solidFill>
                <a:latin typeface="Segoe UI"/>
                <a:cs typeface="Segoe UI"/>
              </a:rPr>
              <a:t xml:space="preserve">. What is the slope of this relationship?</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slope = change in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Cambria"/>
                <a:cs typeface="Cambria"/>
              </a:rPr>
              <a:t xml:space="preserve">x</a:t>
            </a:r>
            <a:endParaRPr lang="en-US" sz="1575" dirty="0"/>
          </a:p>
        </p:txBody>
      </p:sp>
      <p:sp>
        <p:nvSpPr>
          <p:cNvPr id="18" name="Shape 18"/>
          <p:cNvSpPr txBox="1"/>
          <p:nvPr/>
        </p:nvSpPr>
        <p:spPr>
          <a:xfrm>
            <a:off x="6419698" y="511149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1</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1</a:t>
            </a:r>
            <a:r>
              <a:rPr lang="en-US" sz="1425" dirty="0">
                <a:solidFill>
                  <a:srgbClr val="16171D"/>
                </a:solidFill>
                <a:latin typeface="Segoe UI"/>
                <a:cs typeface="Segoe UI"/>
              </a:rPr>
              <a:t xml:space="preserve"> means 1 tenth-grader for every 1 ninth-grader.</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1 = 1</a:t>
            </a:r>
            <a:r>
              <a:rPr lang="en-US" sz="1425" dirty="0">
                <a:solidFill>
                  <a:srgbClr val="16171D"/>
                </a:solidFill>
                <a:latin typeface="Segoe UI"/>
                <a:cs typeface="Segoe UI"/>
              </a:rPr>
              <a:t xml:space="preserve">, so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and the slope is 1.</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Nov 3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General form and factored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functions in different forms; general and factored form are two more forms.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zero</a:t>
            </a:r>
            <a:endParaRPr lang="en-US" sz="3450" dirty="0"/>
          </a:p>
        </p:txBody>
      </p:sp>
      <p:sp>
        <p:nvSpPr>
          <p:cNvPr id="7" name="Shape 7"/>
          <p:cNvSpPr txBox="1"/>
          <p:nvPr/>
        </p:nvSpPr>
        <p:spPr>
          <a:xfrm>
            <a:off x="685800" y="1618488"/>
            <a:ext cx="5219548" cy="18135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zero ____</a:t>
            </a:r>
            <a:endParaRPr lang="en-US" sz="1950" dirty="0"/>
          </a:p>
        </p:txBody>
      </p:sp>
      <p:sp>
        <p:nvSpPr>
          <p:cNvPr id="6" name="Shape 6"/>
          <p:cNvSpPr txBox="1"/>
          <p:nvPr/>
        </p:nvSpPr>
        <p:spPr>
          <a:xfrm>
            <a:off x="895350" y="27416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zero 4</a:t>
            </a:r>
            <a:endParaRPr lang="en-US" sz="2325" dirty="0"/>
          </a:p>
        </p:txBody>
      </p:sp>
      <p:sp>
        <p:nvSpPr>
          <p:cNvPr id="13" name="Shape 13"/>
          <p:cNvSpPr txBox="1"/>
          <p:nvPr/>
        </p:nvSpPr>
        <p:spPr>
          <a:xfrm>
            <a:off x="6286348" y="1618488"/>
            <a:ext cx="5219548" cy="28178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495898" y="2294382"/>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zero ____</a:t>
            </a:r>
            <a:endParaRPr lang="en-US" sz="1950" dirty="0"/>
          </a:p>
        </p:txBody>
      </p:sp>
      <p:sp>
        <p:nvSpPr>
          <p:cNvPr id="10" name="Shape 10"/>
          <p:cNvSpPr txBox="1"/>
          <p:nvPr/>
        </p:nvSpPr>
        <p:spPr>
          <a:xfrm>
            <a:off x="6495898" y="27416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3, zero 7</a:t>
            </a:r>
            <a:endParaRPr lang="en-US" sz="2325" dirty="0"/>
          </a:p>
        </p:txBody>
      </p:sp>
      <p:sp>
        <p:nvSpPr>
          <p:cNvPr id="11" name="Shape 11"/>
          <p:cNvSpPr txBox="1"/>
          <p:nvPr/>
        </p:nvSpPr>
        <p:spPr>
          <a:xfrm>
            <a:off x="6495898" y="3355848"/>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General form: 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____</a:t>
            </a:r>
            <a:endParaRPr lang="en-US" sz="1575" dirty="0"/>
          </a:p>
        </p:txBody>
      </p:sp>
      <p:sp>
        <p:nvSpPr>
          <p:cNvPr id="12" name="Shape 12"/>
          <p:cNvSpPr txBox="1"/>
          <p:nvPr/>
        </p:nvSpPr>
        <p:spPr>
          <a:xfrm>
            <a:off x="6495898" y="374599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− 21</a:t>
            </a:r>
            <a:endParaRPr lang="en-US" sz="232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ppt_w</p:attrName>
                                        </p:attrNameLst>
                                      </p:cBhvr>
                                      <p:tavLst>
                                        <p:tav tm="0">
                                          <p:val>
                                            <p:fltVal val="0"/>
                                          </p:val>
                                        </p:tav>
                                        <p:tav tm="100000">
                                          <p:val>
                                            <p:strVal val="#ppt_w"/>
                                          </p:val>
                                        </p:tav>
                                      </p:tavLst>
                                    </p:anim>
                                    <p:anim calcmode="lin" valueType="num">
                                      <p:cBhvr>
                                        <p:cTn id="20" dur="500" fill="hold"/>
                                        <p:tgtEl>
                                          <p:spTgt spid="1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how much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changes for each 1 of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 per ton</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starting amount,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$25 to start</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Units</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What the numbers count.</a:t>
            </a:r>
            <a:endParaRPr lang="en-US" sz="1575" dirty="0"/>
          </a:p>
        </p:txBody>
      </p:sp>
      <p:sp>
        <p:nvSpPr>
          <p:cNvPr id="14" name="Shape 14"/>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dollars, months</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find the slope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Equation</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slope is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Table or graph:</a:t>
            </a:r>
            <a:r>
              <a:rPr lang="en-US" sz="1950" dirty="0">
                <a:solidFill>
                  <a:srgbClr val="16171D"/>
                </a:solidFill>
                <a:latin typeface="Segoe UI"/>
                <a:cs typeface="Segoe UI"/>
              </a:rPr>
              <a:t xml:space="preserve"> pick two points.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Story:</a:t>
            </a:r>
            <a:r>
              <a:rPr lang="en-US" sz="1950" dirty="0">
                <a:solidFill>
                  <a:srgbClr val="16171D"/>
                </a:solidFill>
                <a:latin typeface="Segoe UI"/>
                <a:cs typeface="Segoe UI"/>
              </a:rPr>
              <a:t xml:space="preserve"> look for "each" or "per".</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Compare: same slope → parallel. Product −1 → perpendicular.</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y</a:t>
            </a:r>
            <a:endParaRPr lang="en-US" sz="1800" dirty="0"/>
          </a:p>
        </p:txBody>
      </p:sp>
      <p:sp>
        <p:nvSpPr>
          <p:cNvPr id="6" name="Shape 6"/>
          <p:cNvSpPr txBox="1"/>
          <p:nvPr/>
        </p:nvSpPr>
        <p:spPr>
          <a:xfrm>
            <a:off x="685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7" name="Shape 7"/>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 name="Shape 8"/>
          <p:cNvSpPr txBox="1"/>
          <p:nvPr/>
        </p:nvSpPr>
        <p:spPr>
          <a:xfrm>
            <a:off x="685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0.5</a:t>
            </a:r>
            <a:endParaRPr lang="en-US" sz="1800" dirty="0"/>
          </a:p>
        </p:txBody>
      </p:sp>
      <p:sp>
        <p:nvSpPr>
          <p:cNvPr id="9" name="Shape 9"/>
          <p:cNvSpPr txBox="1"/>
          <p:nvPr/>
        </p:nvSpPr>
        <p:spPr>
          <a:xfrm>
            <a:off x="1828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10" name="Shape 10"/>
          <p:cNvSpPr txBox="1"/>
          <p:nvPr/>
        </p:nvSpPr>
        <p:spPr>
          <a:xfrm>
            <a:off x="685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11" name="Shape 11"/>
          <p:cNvSpPr txBox="1"/>
          <p:nvPr/>
        </p:nvSpPr>
        <p:spPr>
          <a:xfrm>
            <a:off x="1828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16</a:t>
            </a:r>
            <a:endParaRPr lang="en-US" sz="1800" dirty="0"/>
          </a:p>
        </p:txBody>
      </p:sp>
      <p:sp>
        <p:nvSpPr>
          <p:cNvPr id="12" name="Shape 12"/>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From (0, 4) to (0.5, 6):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0.5</a:t>
            </a:r>
            <a:r>
              <a:rPr lang="en-US" sz="1950" dirty="0">
                <a:solidFill>
                  <a:srgbClr val="16171D"/>
                </a:solidFill>
                <a:latin typeface="Segoe UI"/>
                <a:cs typeface="Segoe UI"/>
              </a:rPr>
              <a:t xml:space="preserve"> = 4.</a:t>
            </a:r>
            <a:endParaRPr lang="en-US" sz="1950" dirty="0"/>
          </a:p>
        </p:txBody>
      </p:sp>
      <p:sp>
        <p:nvSpPr>
          <p:cNvPr id="13" name="Shape 13"/>
          <p:cNvSpPr txBox="1"/>
          <p:nvPr/>
        </p:nvSpPr>
        <p:spPr>
          <a:xfrm>
            <a:off x="6286348" y="21038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4" name="Shape 14"/>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Same slope as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 different start.</a:t>
            </a:r>
            <a:endParaRPr lang="en-US" sz="1950"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6" name="Shape 6"/>
          <p:cNvSpPr txBox="1"/>
          <p:nvPr/>
        </p:nvSpPr>
        <p:spPr>
          <a:xfrm>
            <a:off x="685800" y="1618488"/>
            <a:ext cx="5219548"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Chiletso makes 4 dozen cookies per hour.</a:t>
            </a:r>
            <a:endParaRPr lang="en-US" sz="1950" dirty="0"/>
          </a:p>
        </p:txBody>
      </p:sp>
      <p:sp>
        <p:nvSpPr>
          <p:cNvPr id="5" name="Shape 5"/>
          <p:cNvSpPr txBox="1"/>
          <p:nvPr/>
        </p:nvSpPr>
        <p:spPr>
          <a:xfrm>
            <a:off x="895350" y="25344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9" name="Shape 9"/>
          <p:cNvSpPr txBox="1"/>
          <p:nvPr/>
        </p:nvSpPr>
        <p:spPr>
          <a:xfrm>
            <a:off x="6286348"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9" name="Shape 9"/>
          <p:cNvSpPr txBox="1"/>
          <p:nvPr/>
        </p:nvSpPr>
        <p:spPr>
          <a:xfrm>
            <a:off x="685800" y="1618488"/>
            <a:ext cx="5295748" cy="35425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Chiletso makes 4 dozen cookies per hour.</a:t>
            </a:r>
            <a:endParaRPr lang="en-US" sz="2100" dirty="0"/>
          </a:p>
        </p:txBody>
      </p:sp>
      <p:sp>
        <p:nvSpPr>
          <p:cNvPr id="5" name="Shape 5"/>
          <p:cNvSpPr txBox="1"/>
          <p:nvPr/>
        </p:nvSpPr>
        <p:spPr>
          <a:xfrm>
            <a:off x="895350" y="258013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Look for "per": 4 dozen </a:t>
            </a:r>
            <a:r>
              <a:rPr lang="en-US" sz="1575" dirty="0" b="1">
                <a:solidFill>
                  <a:srgbClr val="16171D"/>
                </a:solidFill>
                <a:latin typeface="Segoe UI"/>
                <a:cs typeface="Segoe UI"/>
              </a:rPr>
              <a:t xml:space="preserve">per</a:t>
            </a:r>
            <a:r>
              <a:rPr lang="en-US" sz="1575" dirty="0">
                <a:solidFill>
                  <a:srgbClr val="16171D"/>
                </a:solidFill>
                <a:latin typeface="Segoe UI"/>
                <a:cs typeface="Segoe UI"/>
              </a:rPr>
              <a:t xml:space="preserve"> hour. The slope is 4.</a:t>
            </a:r>
            <a:endParaRPr lang="en-US" sz="1575" dirty="0"/>
          </a:p>
        </p:txBody>
      </p:sp>
      <p:sp>
        <p:nvSpPr>
          <p:cNvPr id="6" name="Shape 6"/>
          <p:cNvSpPr txBox="1"/>
          <p:nvPr/>
        </p:nvSpPr>
        <p:spPr>
          <a:xfrm>
            <a:off x="895350" y="321030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slope of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4</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4.</a:t>
            </a:r>
            <a:endParaRPr lang="en-US" sz="1575" dirty="0"/>
          </a:p>
        </p:txBody>
      </p:sp>
      <p:sp>
        <p:nvSpPr>
          <p:cNvPr id="7" name="Shape 7"/>
          <p:cNvSpPr txBox="1"/>
          <p:nvPr/>
        </p:nvSpPr>
        <p:spPr>
          <a:xfrm>
            <a:off x="895350" y="384048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4 and 4 are the same slope, so the lines are parallel.</a:t>
            </a:r>
            <a:endParaRPr lang="en-US" sz="1575" dirty="0"/>
          </a:p>
        </p:txBody>
      </p:sp>
      <p:sp>
        <p:nvSpPr>
          <p:cNvPr id="8" name="Shape 8"/>
          <p:cNvSpPr txBox="1"/>
          <p:nvPr/>
        </p:nvSpPr>
        <p:spPr>
          <a:xfrm>
            <a:off x="895350" y="447065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5" name="Shape 15"/>
          <p:cNvSpPr txBox="1"/>
          <p:nvPr/>
        </p:nvSpPr>
        <p:spPr>
          <a:xfrm>
            <a:off x="6210148"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4</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6419698"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Is it the same as 4? No, so not parallel.</a:t>
            </a:r>
            <a:endParaRPr lang="en-US" sz="1575" dirty="0"/>
          </a:p>
        </p:txBody>
      </p:sp>
      <p:sp>
        <p:nvSpPr>
          <p:cNvPr id="13" name="Shape 13"/>
          <p:cNvSpPr txBox="1"/>
          <p:nvPr/>
        </p:nvSpPr>
        <p:spPr>
          <a:xfrm>
            <a:off x="6419698"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Multiply the slopes: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 product of −1 means perpendicular.</a:t>
            </a:r>
            <a:endParaRPr lang="en-US" sz="1575" dirty="0"/>
          </a:p>
        </p:txBody>
      </p:sp>
      <p:sp>
        <p:nvSpPr>
          <p:cNvPr id="14" name="Shape 14"/>
          <p:cNvSpPr txBox="1"/>
          <p:nvPr/>
        </p:nvSpPr>
        <p:spPr>
          <a:xfrm>
            <a:off x="6419698" y="391058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Table and graph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recycling center pays more?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Travis County</a:t>
            </a:r>
            <a:endParaRPr lang="en-US" sz="1950" dirty="0"/>
          </a:p>
        </p:txBody>
      </p:sp>
      <p:sp>
        <p:nvSpPr>
          <p:cNvPr id="5" name="Shape 5"/>
          <p:cNvSpPr txBox="1"/>
          <p:nvPr/>
        </p:nvSpPr>
        <p:spPr>
          <a:xfrm>
            <a:off x="685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tons</a:t>
            </a:r>
            <a:endParaRPr lang="en-US" sz="1800" dirty="0"/>
          </a:p>
        </p:txBody>
      </p:sp>
      <p:sp>
        <p:nvSpPr>
          <p:cNvPr id="6" name="Shape 6"/>
          <p:cNvSpPr txBox="1"/>
          <p:nvPr/>
        </p:nvSpPr>
        <p:spPr>
          <a:xfrm>
            <a:off x="1828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a:t>
            </a:r>
            <a:endParaRPr lang="en-US" sz="1800" dirty="0"/>
          </a:p>
        </p:txBody>
      </p:sp>
      <p:sp>
        <p:nvSpPr>
          <p:cNvPr id="7" name="Shape 7"/>
          <p:cNvSpPr txBox="1"/>
          <p:nvPr/>
        </p:nvSpPr>
        <p:spPr>
          <a:xfrm>
            <a:off x="685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8" name="Shape 8"/>
          <p:cNvSpPr txBox="1"/>
          <p:nvPr/>
        </p:nvSpPr>
        <p:spPr>
          <a:xfrm>
            <a:off x="1828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15</a:t>
            </a:r>
            <a:endParaRPr lang="en-US" sz="1800" dirty="0"/>
          </a:p>
        </p:txBody>
      </p:sp>
      <p:sp>
        <p:nvSpPr>
          <p:cNvPr id="9" name="Shape 9"/>
          <p:cNvSpPr txBox="1"/>
          <p:nvPr/>
        </p:nvSpPr>
        <p:spPr>
          <a:xfrm>
            <a:off x="685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10" name="Shape 10"/>
          <p:cNvSpPr txBox="1"/>
          <p:nvPr/>
        </p:nvSpPr>
        <p:spPr>
          <a:xfrm>
            <a:off x="1828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1" name="Shape 11"/>
          <p:cNvSpPr txBox="1"/>
          <p:nvPr/>
        </p:nvSpPr>
        <p:spPr>
          <a:xfrm>
            <a:off x="685800" y="349910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2" name="Shape 12"/>
          <p:cNvSpPr txBox="1"/>
          <p:nvPr/>
        </p:nvSpPr>
        <p:spPr>
          <a:xfrm>
            <a:off x="685800" y="398449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a:t>
            </a:r>
            <a:endParaRPr lang="en-US" sz="2325" dirty="0"/>
          </a:p>
        </p:txBody>
      </p:sp>
      <p:sp>
        <p:nvSpPr>
          <p:cNvPr id="13" name="Shape 13"/>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Hays County graph: through (1, 20)</a:t>
            </a:r>
            <a:endParaRPr lang="en-US" sz="1950" dirty="0"/>
          </a:p>
        </p:txBody>
      </p:sp>
      <p:sp>
        <p:nvSpPr>
          <p:cNvPr id="14" name="Shape 14"/>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5" name="Shape 15"/>
          <p:cNvSpPr txBox="1"/>
          <p:nvPr/>
        </p:nvSpPr>
        <p:spPr>
          <a:xfrm>
            <a:off x="6286348" y="258927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6" name="Shape 16"/>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Which pays more?</a:t>
            </a:r>
            <a:endParaRPr lang="en-US" sz="1950" dirty="0"/>
          </a:p>
        </p:txBody>
      </p:sp>
      <p:sp>
        <p:nvSpPr>
          <p:cNvPr id="17" name="Shape 17"/>
          <p:cNvSpPr txBox="1"/>
          <p:nvPr/>
        </p:nvSpPr>
        <p:spPr>
          <a:xfrm>
            <a:off x="6286348" y="372694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Hays County</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ppt_w</p:attrName>
                                        </p:attrNameLst>
                                      </p:cBhvr>
                                      <p:tavLst>
                                        <p:tav tm="0">
                                          <p:val>
                                            <p:fltVal val="0"/>
                                          </p:val>
                                        </p:tav>
                                        <p:tav tm="100000">
                                          <p:val>
                                            <p:strVal val="#ppt_w"/>
                                          </p:val>
                                        </p:tav>
                                      </p:tavLst>
                                    </p:anim>
                                    <p:anim calcmode="lin" valueType="num">
                                      <p:cBhvr>
                                        <p:cTn id="6"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ppt_w</p:attrName>
                                        </p:attrNameLst>
                                      </p:cBhvr>
                                      <p:tavLst>
                                        <p:tav tm="0">
                                          <p:val>
                                            <p:fltVal val="0"/>
                                          </p:val>
                                        </p:tav>
                                        <p:tav tm="100000">
                                          <p:val>
                                            <p:strVal val="#ppt_w"/>
                                          </p:val>
                                        </p:tav>
                                      </p:tavLst>
                                    </p:anim>
                                    <p:anim calcmode="lin" valueType="num">
                                      <p:cBhvr>
                                        <p:cTn id="13"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November 3</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November 4. Start at the next slide, “Start: Wednesday, November 4.”</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Wednesday, November 4</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(Three ways to write a function; four views) → Lesson 4,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 Wed, Nov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Travis County pays $15 per ton of cardboard. How much is paid for 3 tons?</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total = rate × amount</a:t>
            </a:r>
            <a:endParaRPr lang="en-US" sz="1575" dirty="0"/>
          </a:p>
        </p:txBody>
      </p:sp>
      <p:sp>
        <p:nvSpPr>
          <p:cNvPr id="6" name="Shape 6"/>
          <p:cNvSpPr txBox="1"/>
          <p:nvPr/>
        </p:nvSpPr>
        <p:spPr>
          <a:xfrm>
            <a:off x="895350" y="2695956"/>
            <a:ext cx="3964187"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$45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Rate: $15 per ton. Amount: 3 tons.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15 · 3 = 45</a:t>
            </a:r>
            <a:r>
              <a:rPr lang="en-US" sz="1425" dirty="0">
                <a:solidFill>
                  <a:srgbClr val="16171D"/>
                </a:solidFill>
                <a:latin typeface="Segoe UI"/>
                <a:cs typeface="Segoe UI"/>
              </a:rPr>
              <a:t xml:space="preserve">, so $45.</a:t>
            </a:r>
            <a:endParaRPr lang="en-US" sz="1425" dirty="0"/>
          </a:p>
        </p:txBody>
      </p:sp>
      <p:sp>
        <p:nvSpPr>
          <p:cNvPr id="11" name="Shape 11"/>
          <p:cNvSpPr txBox="1"/>
          <p:nvPr/>
        </p:nvSpPr>
        <p:spPr>
          <a:xfrm>
            <a:off x="685800" y="38168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Hays County's graph passes through </a:t>
            </a:r>
            <a:r>
              <a:rPr lang="en-US" sz="1575" dirty="0">
                <a:solidFill>
                  <a:srgbClr val="16171D"/>
                </a:solidFill>
                <a:latin typeface="Cambria"/>
                <a:cs typeface="Cambria"/>
              </a:rPr>
              <a:t xml:space="preserve">(0, 0)</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(1, 20)</a:t>
            </a:r>
            <a:r>
              <a:rPr lang="en-US" sz="1575" dirty="0">
                <a:solidFill>
                  <a:srgbClr val="16171D"/>
                </a:solidFill>
                <a:latin typeface="Segoe UI"/>
                <a:cs typeface="Segoe UI"/>
              </a:rPr>
              <a:t xml:space="preserve">. What is the payout per ton?</a:t>
            </a:r>
            <a:endParaRPr lang="en-US" sz="1575" dirty="0"/>
          </a:p>
        </p:txBody>
      </p:sp>
      <p:sp>
        <p:nvSpPr>
          <p:cNvPr id="9" name="Shape 9"/>
          <p:cNvSpPr txBox="1"/>
          <p:nvPr/>
        </p:nvSpPr>
        <p:spPr>
          <a:xfrm>
            <a:off x="895350" y="45613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0" name="Shape 10"/>
          <p:cNvSpPr txBox="1"/>
          <p:nvPr/>
        </p:nvSpPr>
        <p:spPr>
          <a:xfrm>
            <a:off x="895350" y="48943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$20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Change in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20 − 0 = 20</a:t>
            </a:r>
            <a:r>
              <a:rPr lang="en-US" sz="1425" dirty="0">
                <a:solidFill>
                  <a:srgbClr val="16171D"/>
                </a:solidFill>
                <a:latin typeface="Segoe UI"/>
                <a:cs typeface="Segoe UI"/>
              </a:rPr>
              <a:t xml:space="preserve">. Change in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1 − 0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20 ÷ 1 = 20</a:t>
            </a:r>
            <a:r>
              <a:rPr lang="en-US" sz="1425" dirty="0">
                <a:solidFill>
                  <a:srgbClr val="16171D"/>
                </a:solidFill>
                <a:latin typeface="Segoe UI"/>
                <a:cs typeface="Segoe UI"/>
              </a:rPr>
              <a:t xml:space="preserve">, so $20 per ton.</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9/5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a:t>
            </a:r>
            <a:r>
              <a:rPr lang="en-US" sz="1575" dirty="0">
                <a:solidFill>
                  <a:srgbClr val="16171D"/>
                </a:solidFill>
                <a:latin typeface="Segoe UI"/>
                <a:cs typeface="Segoe UI"/>
              </a:rPr>
              <a:t xml:space="preserve"> converts °C to °F. What is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(10)</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the number in for </a:t>
            </a:r>
            <a:r>
              <a:rPr lang="en-US" sz="1575" dirty="0" i="1">
                <a:solidFill>
                  <a:srgbClr val="16171D"/>
                </a:solidFill>
                <a:latin typeface="Cambria"/>
                <a:cs typeface="Cambria"/>
              </a:rPr>
              <a:t xml:space="preserve">x</a:t>
            </a:r>
            <a:endParaRPr lang="en-US" sz="1575" dirty="0"/>
          </a:p>
        </p:txBody>
      </p:sp>
      <p:sp>
        <p:nvSpPr>
          <p:cNvPr id="14" name="Shape 14"/>
          <p:cNvSpPr txBox="1"/>
          <p:nvPr/>
        </p:nvSpPr>
        <p:spPr>
          <a:xfrm>
            <a:off x="6419698" y="2695956"/>
            <a:ext cx="386841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J</a:t>
            </a:r>
            <a:r>
              <a:rPr lang="en-US" sz="1425" dirty="0">
                <a:solidFill>
                  <a:srgbClr val="16171D"/>
                </a:solidFill>
                <a:latin typeface="Cambria"/>
                <a:cs typeface="Cambria"/>
              </a:rPr>
              <a:t xml:space="preserve">(10) = 9/5 · 10 + 32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Multiply: </a:t>
            </a:r>
            <a:r>
              <a:rPr lang="en-US" sz="1425" dirty="0">
                <a:solidFill>
                  <a:srgbClr val="16171D"/>
                </a:solidFill>
                <a:latin typeface="Cambria"/>
                <a:cs typeface="Cambria"/>
              </a:rPr>
              <a:t xml:space="preserve">9/5 · 10 = 90 ÷ 5 = 18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Add: </a:t>
            </a:r>
            <a:r>
              <a:rPr lang="en-US" sz="1425" dirty="0">
                <a:solidFill>
                  <a:srgbClr val="16171D"/>
                </a:solidFill>
                <a:latin typeface="Cambria"/>
                <a:cs typeface="Cambria"/>
              </a:rPr>
              <a:t xml:space="preserve">18 + 32 = 50</a:t>
            </a:r>
            <a:r>
              <a:rPr lang="en-US" sz="1425" dirty="0">
                <a:solidFill>
                  <a:srgbClr val="16171D"/>
                </a:solidFill>
                <a:latin typeface="Segoe UI"/>
                <a:cs typeface="Segoe UI"/>
              </a:rPr>
              <a:t xml:space="preserve">. 10°C is 50°F.</a:t>
            </a:r>
            <a:endParaRPr lang="en-US" sz="1425" dirty="0"/>
          </a:p>
        </p:txBody>
      </p:sp>
      <p:sp>
        <p:nvSpPr>
          <p:cNvPr id="19" name="Shape 19"/>
          <p:cNvSpPr txBox="1"/>
          <p:nvPr/>
        </p:nvSpPr>
        <p:spPr>
          <a:xfrm>
            <a:off x="6210148" y="4034028"/>
            <a:ext cx="5295748" cy="25222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Miguel started with $0 and had $80 after 4 months. How much did he save each month?</a:t>
            </a:r>
            <a:endParaRPr lang="en-US" sz="1575" dirty="0"/>
          </a:p>
        </p:txBody>
      </p:sp>
      <p:sp>
        <p:nvSpPr>
          <p:cNvPr id="17" name="Shape 17"/>
          <p:cNvSpPr txBox="1"/>
          <p:nvPr/>
        </p:nvSpPr>
        <p:spPr>
          <a:xfrm>
            <a:off x="6419698" y="477850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rate = change in amount ÷ change in time</a:t>
            </a:r>
            <a:endParaRPr lang="en-US" sz="1575" dirty="0"/>
          </a:p>
        </p:txBody>
      </p:sp>
      <p:sp>
        <p:nvSpPr>
          <p:cNvPr id="18" name="Shape 18"/>
          <p:cNvSpPr txBox="1"/>
          <p:nvPr/>
        </p:nvSpPr>
        <p:spPr>
          <a:xfrm>
            <a:off x="6419698" y="5351526"/>
            <a:ext cx="4251503"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$20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Change in money: </a:t>
            </a:r>
            <a:r>
              <a:rPr lang="en-US" sz="1425" dirty="0">
                <a:solidFill>
                  <a:srgbClr val="16171D"/>
                </a:solidFill>
                <a:latin typeface="Cambria"/>
                <a:cs typeface="Cambria"/>
              </a:rPr>
              <a:t xml:space="preserve">80 − 0 = 80</a:t>
            </a:r>
            <a:r>
              <a:rPr lang="en-US" sz="1425" dirty="0">
                <a:solidFill>
                  <a:srgbClr val="16171D"/>
                </a:solidFill>
                <a:latin typeface="Segoe UI"/>
                <a:cs typeface="Segoe UI"/>
              </a:rPr>
              <a:t xml:space="preserve"> dollars.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in time: 4 months.</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80 ÷ 4 = 20</a:t>
            </a:r>
            <a:r>
              <a:rPr lang="en-US" sz="1425" dirty="0">
                <a:solidFill>
                  <a:srgbClr val="16171D"/>
                </a:solidFill>
                <a:latin typeface="Segoe UI"/>
                <a:cs typeface="Segoe UI"/>
              </a:rPr>
              <a:t xml:space="preserve">, so $20 per month.</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Nov 4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Three ways to write a function; four views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tables, graphs, equations and descriptions: the same four views.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Is the table linear?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1, 3, 7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4, 10, 22. If yes, write the function.</a:t>
            </a:r>
            <a:endParaRPr lang="en-US" sz="1950" dirty="0"/>
          </a:p>
        </p:txBody>
      </p:sp>
      <p:sp>
        <p:nvSpPr>
          <p:cNvPr id="5" name="Shape 5"/>
          <p:cNvSpPr txBox="1"/>
          <p:nvPr/>
        </p:nvSpPr>
        <p:spPr>
          <a:xfrm>
            <a:off x="895350" y="2237232"/>
            <a:ext cx="639037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slope 3: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zero of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8" name="Shape 8"/>
          <p:cNvSpPr txBox="1"/>
          <p:nvPr/>
        </p:nvSpPr>
        <p:spPr>
          <a:xfrm>
            <a:off x="895350" y="367969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2" name="Shape 12"/>
          <p:cNvSpPr txBox="1"/>
          <p:nvPr/>
        </p:nvSpPr>
        <p:spPr>
          <a:xfrm>
            <a:off x="685800" y="4503420"/>
            <a:ext cx="10820095"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Bracelets sell for $10 each. The booth costs $30: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− 30. What does the 10 mean?</a:t>
            </a:r>
            <a:endParaRPr lang="en-US" sz="1950" dirty="0"/>
          </a:p>
        </p:txBody>
      </p:sp>
      <p:sp>
        <p:nvSpPr>
          <p:cNvPr id="11" name="Shape 11"/>
          <p:cNvSpPr txBox="1"/>
          <p:nvPr/>
        </p:nvSpPr>
        <p:spPr>
          <a:xfrm>
            <a:off x="895350" y="5419344"/>
            <a:ext cx="854612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earned for each bracelet (the slope)</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Lauren starts with $25 and saves $25 each month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25</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25</a:t>
            </a:r>
            <a:r>
              <a:rPr lang="en-US" sz="1950" dirty="0">
                <a:solidFill>
                  <a:srgbClr val="16171D"/>
                </a:solidFill>
                <a:latin typeface="Segoe UI"/>
                <a:cs typeface="Segoe UI"/>
              </a:rPr>
              <a:t xml:space="preserve"> (slope): she saves $25 each month.</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3050B8"/>
                </a:solidFill>
                <a:latin typeface="Segoe UI"/>
                <a:cs typeface="Segoe UI"/>
              </a:rPr>
              <a:t xml:space="preserve">25</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she started with $25.</a:t>
            </a:r>
            <a:endParaRPr lang="en-US" sz="1950" dirty="0"/>
          </a:p>
        </p:txBody>
      </p:sp>
      <p:sp>
        <p:nvSpPr>
          <p:cNvPr id="7" name="Shape 7"/>
          <p:cNvSpPr txBox="1"/>
          <p:nvPr/>
        </p:nvSpPr>
        <p:spPr>
          <a:xfrm>
            <a:off x="685800" y="332613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Miguel saves $20 a month from $0. Who saves faster?</a:t>
            </a:r>
            <a:endParaRPr lang="en-US" sz="1950" dirty="0"/>
          </a:p>
        </p:txBody>
      </p:sp>
      <p:sp>
        <p:nvSpPr>
          <p:cNvPr id="8" name="Shape 8"/>
          <p:cNvSpPr txBox="1"/>
          <p:nvPr/>
        </p:nvSpPr>
        <p:spPr>
          <a:xfrm>
            <a:off x="685800" y="3849624"/>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Lauren ($25 &gt; $20)</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ppt_w</p:attrName>
                                        </p:attrNameLst>
                                      </p:cBhvr>
                                      <p:tavLst>
                                        <p:tav tm="0">
                                          <p:val>
                                            <p:fltVal val="0"/>
                                          </p:val>
                                        </p:tav>
                                        <p:tav tm="100000">
                                          <p:val>
                                            <p:strVal val="#ppt_w"/>
                                          </p:val>
                                        </p:tav>
                                      </p:tavLst>
                                    </p:anim>
                                    <p:anim calcmode="lin" valueType="num">
                                      <p:cBhvr>
                                        <p:cTn id="6"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(with units): ____</a:t>
            </a:r>
            <a:endParaRPr lang="en-US" sz="1950" dirty="0"/>
          </a:p>
        </p:txBody>
      </p:sp>
      <p:sp>
        <p:nvSpPr>
          <p:cNvPr id="5" name="Shape 5"/>
          <p:cNvSpPr txBox="1"/>
          <p:nvPr/>
        </p:nvSpPr>
        <p:spPr>
          <a:xfrm>
            <a:off x="685800" y="214198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meaning: ____</a:t>
            </a:r>
            <a:endParaRPr lang="en-US" sz="1950" dirty="0"/>
          </a:p>
        </p:txBody>
      </p:sp>
      <p:sp>
        <p:nvSpPr>
          <p:cNvPr id="7" name="Shape 7"/>
          <p:cNvSpPr txBox="1"/>
          <p:nvPr/>
        </p:nvSpPr>
        <p:spPr>
          <a:xfrm>
            <a:off x="685800" y="335584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Slope (with units)</a:t>
            </a:r>
            <a:endParaRPr lang="en-US" sz="2100" dirty="0"/>
          </a:p>
        </p:txBody>
      </p:sp>
      <p:sp>
        <p:nvSpPr>
          <p:cNvPr id="5" name="Shape 5"/>
          <p:cNvSpPr txBox="1"/>
          <p:nvPr/>
        </p:nvSpPr>
        <p:spPr>
          <a:xfrm>
            <a:off x="895350"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Look for "per": $2 </a:t>
            </a:r>
            <a:r>
              <a:rPr lang="en-US" sz="1575" dirty="0" b="1">
                <a:solidFill>
                  <a:srgbClr val="16171D"/>
                </a:solidFill>
                <a:latin typeface="Segoe UI"/>
                <a:cs typeface="Segoe UI"/>
              </a:rPr>
              <a:t xml:space="preserve">per</a:t>
            </a:r>
            <a:r>
              <a:rPr lang="en-US" sz="1575" dirty="0">
                <a:solidFill>
                  <a:srgbClr val="16171D"/>
                </a:solidFill>
                <a:latin typeface="Segoe UI"/>
                <a:cs typeface="Segoe UI"/>
              </a:rPr>
              <a:t xml:space="preserve"> mile.</a:t>
            </a:r>
            <a:endParaRPr lang="en-US" sz="1575" dirty="0"/>
          </a:p>
        </p:txBody>
      </p:sp>
      <p:sp>
        <p:nvSpPr>
          <p:cNvPr id="6" name="Shape 6"/>
          <p:cNvSpPr txBox="1"/>
          <p:nvPr/>
        </p:nvSpPr>
        <p:spPr>
          <a:xfrm>
            <a:off x="895350"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slope is how much the cost goes up for each 1 mile: $2.</a:t>
            </a:r>
            <a:endParaRPr lang="en-US" sz="1575" dirty="0"/>
          </a:p>
        </p:txBody>
      </p:sp>
      <p:sp>
        <p:nvSpPr>
          <p:cNvPr id="7" name="Shape 7"/>
          <p:cNvSpPr txBox="1"/>
          <p:nvPr/>
        </p:nvSpPr>
        <p:spPr>
          <a:xfrm>
            <a:off x="895350"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Units: output (dollars) per input (miles).</a:t>
            </a:r>
            <a:endParaRPr lang="en-US" sz="1575" dirty="0"/>
          </a:p>
        </p:txBody>
      </p:sp>
      <p:sp>
        <p:nvSpPr>
          <p:cNvPr id="8" name="Shape 8"/>
          <p:cNvSpPr txBox="1"/>
          <p:nvPr/>
        </p:nvSpPr>
        <p:spPr>
          <a:xfrm>
            <a:off x="895350" y="391058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15" name="Shape 15"/>
          <p:cNvSpPr txBox="1"/>
          <p:nvPr/>
        </p:nvSpPr>
        <p:spPr>
          <a:xfrm>
            <a:off x="6210148"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What the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 means</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is the cost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miles.</a:t>
            </a:r>
            <a:endParaRPr lang="en-US" sz="1575" dirty="0"/>
          </a:p>
        </p:txBody>
      </p:sp>
      <p:sp>
        <p:nvSpPr>
          <p:cNvPr id="12" name="Shape 12"/>
          <p:cNvSpPr txBox="1"/>
          <p:nvPr/>
        </p:nvSpPr>
        <p:spPr>
          <a:xfrm>
            <a:off x="6419698" y="2890266"/>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0 miles you still pay the $3.</a:t>
            </a:r>
            <a:endParaRPr lang="en-US" sz="1575" dirty="0"/>
          </a:p>
        </p:txBody>
      </p:sp>
      <p:sp>
        <p:nvSpPr>
          <p:cNvPr id="13" name="Shape 13"/>
          <p:cNvSpPr txBox="1"/>
          <p:nvPr/>
        </p:nvSpPr>
        <p:spPr>
          <a:xfrm>
            <a:off x="6419698"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So the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and 3 is the start.</a:t>
            </a:r>
            <a:endParaRPr lang="en-US" sz="1575" dirty="0"/>
          </a:p>
        </p:txBody>
      </p:sp>
      <p:sp>
        <p:nvSpPr>
          <p:cNvPr id="14" name="Shape 14"/>
          <p:cNvSpPr txBox="1"/>
          <p:nvPr/>
        </p:nvSpPr>
        <p:spPr>
          <a:xfrm>
            <a:off x="6419698" y="391058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9" name="Shape 9"/>
          <p:cNvSpPr txBox="1"/>
          <p:nvPr/>
        </p:nvSpPr>
        <p:spPr>
          <a:xfrm>
            <a:off x="685800" y="1618488"/>
            <a:ext cx="3479698" cy="30739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(0, 1) and (2, 9). What is its slope?</a:t>
            </a:r>
            <a:endParaRPr lang="en-US" sz="1950" dirty="0"/>
          </a:p>
        </p:txBody>
      </p:sp>
      <p:sp>
        <p:nvSpPr>
          <p:cNvPr id="5" name="Shape 5"/>
          <p:cNvSpPr txBox="1"/>
          <p:nvPr/>
        </p:nvSpPr>
        <p:spPr>
          <a:xfrm>
            <a:off x="895350" y="283159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895350" y="344576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Change in y: 9 − 1 = 8.</a:t>
            </a:r>
            <a:endParaRPr lang="en-US" sz="1575" dirty="0"/>
          </a:p>
        </p:txBody>
      </p:sp>
      <p:sp>
        <p:nvSpPr>
          <p:cNvPr id="7" name="Shape 7"/>
          <p:cNvSpPr txBox="1"/>
          <p:nvPr/>
        </p:nvSpPr>
        <p:spPr>
          <a:xfrm>
            <a:off x="895350" y="383590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Change in x: 2 − 0 = 2.</a:t>
            </a:r>
            <a:endParaRPr lang="en-US" sz="1575" dirty="0"/>
          </a:p>
        </p:txBody>
      </p:sp>
      <p:sp>
        <p:nvSpPr>
          <p:cNvPr id="8" name="Shape 8"/>
          <p:cNvSpPr txBox="1"/>
          <p:nvPr/>
        </p:nvSpPr>
        <p:spPr>
          <a:xfrm>
            <a:off x="895350" y="422605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Divide: 8 ÷ 2 = 4.</a:t>
            </a:r>
            <a:endParaRPr lang="en-US" sz="1575" dirty="0"/>
          </a:p>
        </p:txBody>
      </p:sp>
      <p:sp>
        <p:nvSpPr>
          <p:cNvPr id="14" name="Shape 14"/>
          <p:cNvSpPr txBox="1"/>
          <p:nvPr/>
        </p:nvSpPr>
        <p:spPr>
          <a:xfrm>
            <a:off x="4355998" y="1618488"/>
            <a:ext cx="3479698" cy="292379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4565548" y="1789938"/>
            <a:ext cx="306059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Is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 parallel or perpendicular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4565548" y="2831592"/>
            <a:ext cx="3060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a:t>
            </a:r>
            <a:endParaRPr lang="en-US" sz="2325" dirty="0"/>
          </a:p>
        </p:txBody>
      </p:sp>
      <p:sp>
        <p:nvSpPr>
          <p:cNvPr id="12" name="Shape 12"/>
          <p:cNvSpPr txBox="1"/>
          <p:nvPr/>
        </p:nvSpPr>
        <p:spPr>
          <a:xfrm>
            <a:off x="4565548" y="344576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slope is the number with x: both are 4.</a:t>
            </a:r>
            <a:endParaRPr lang="en-US" sz="1575" dirty="0"/>
          </a:p>
        </p:txBody>
      </p:sp>
      <p:sp>
        <p:nvSpPr>
          <p:cNvPr id="13" name="Shape 13"/>
          <p:cNvSpPr txBox="1"/>
          <p:nvPr/>
        </p:nvSpPr>
        <p:spPr>
          <a:xfrm>
            <a:off x="4565548" y="407593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Same slope means parallel.</a:t>
            </a:r>
            <a:endParaRPr lang="en-US" sz="1575" dirty="0"/>
          </a:p>
        </p:txBody>
      </p:sp>
      <p:sp>
        <p:nvSpPr>
          <p:cNvPr id="19" name="Shape 19"/>
          <p:cNvSpPr txBox="1"/>
          <p:nvPr/>
        </p:nvSpPr>
        <p:spPr>
          <a:xfrm>
            <a:off x="8026197" y="1618488"/>
            <a:ext cx="3479698" cy="34610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235747"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Savings: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+ 50. What does 50 mean?</a:t>
            </a:r>
            <a:endParaRPr lang="en-US" sz="1950" dirty="0"/>
          </a:p>
        </p:txBody>
      </p:sp>
      <p:sp>
        <p:nvSpPr>
          <p:cNvPr id="16" name="Shape 16"/>
          <p:cNvSpPr txBox="1"/>
          <p:nvPr/>
        </p:nvSpPr>
        <p:spPr>
          <a:xfrm>
            <a:off x="8235747" y="2534412"/>
            <a:ext cx="3060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 to start</a:t>
            </a:r>
            <a:endParaRPr lang="en-US" sz="2325" dirty="0"/>
          </a:p>
        </p:txBody>
      </p:sp>
      <p:sp>
        <p:nvSpPr>
          <p:cNvPr id="17" name="Shape 17"/>
          <p:cNvSpPr txBox="1"/>
          <p:nvPr/>
        </p:nvSpPr>
        <p:spPr>
          <a:xfrm>
            <a:off x="8235747" y="350291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In y = mx + b, 50 is b: the value when x = 0.</a:t>
            </a:r>
            <a:endParaRPr lang="en-US" sz="1575" dirty="0"/>
          </a:p>
        </p:txBody>
      </p:sp>
      <p:sp>
        <p:nvSpPr>
          <p:cNvPr id="18" name="Shape 18"/>
          <p:cNvSpPr txBox="1"/>
          <p:nvPr/>
        </p:nvSpPr>
        <p:spPr>
          <a:xfrm>
            <a:off x="8235747" y="4133088"/>
            <a:ext cx="3060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x = 0 months is the start, so 50 is the $50 saved at the start.</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ppt_w</p:attrName>
                                        </p:attrNameLst>
                                      </p:cBhvr>
                                      <p:tavLst>
                                        <p:tav tm="0">
                                          <p:val>
                                            <p:fltVal val="0"/>
                                          </p:val>
                                        </p:tav>
                                        <p:tav tm="100000">
                                          <p:val>
                                            <p:strVal val="#ppt_w"/>
                                          </p:val>
                                        </p:tav>
                                      </p:tavLst>
                                    </p:anim>
                                    <p:anim calcmode="lin" valueType="num">
                                      <p:cBhvr>
                                        <p:cTn id="55"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November 4</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November 5. End of Topic 1 Assessment. Lesson 3 and 4 quizzes go home as homework.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24</Slides>
  <Notes>24</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