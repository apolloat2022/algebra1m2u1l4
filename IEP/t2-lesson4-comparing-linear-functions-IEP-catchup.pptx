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4: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November 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(4 − (−6)) ÷ (0 − (−2.5)) = 10 ÷ 2.5 = 4. 2. Parallel lines have equal slopes. 3. The negative reciprocal of 4 is −¼. 4. Equal numbers of each grade: y = x, slope 1.</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slope from two rows of the table.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November 3.</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November 4.</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15 · 3 = 45. 2. Slope = 20 ÷ 1 = 20 dollars per ton. 3. 9/5 · 10 + 32 = 18 + 32 = 50, so 10°C is 50°F. 4. 80 ÷ 4 = 20 dollars per month.</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Units: dollars per month.</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November 4.</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Comparing Linear Functions</a:t>
            </a:r>
            <a:endParaRPr lang="en-US" sz="4500" dirty="0"/>
          </a:p>
        </p:txBody>
      </p:sp>
      <p:sp>
        <p:nvSpPr>
          <p:cNvPr id="4" name="Shape 4"/>
          <p:cNvSpPr txBox="1"/>
          <p:nvPr/>
        </p:nvSpPr>
        <p:spPr>
          <a:xfrm>
            <a:off x="685800" y="18737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Tue, Nov 3 · Day 2: Wed, Nov 4</a:t>
            </a:r>
            <a:endParaRPr lang="en-US" sz="1650" dirty="0"/>
          </a:p>
        </p:txBody>
      </p:sp>
      <p:sp>
        <p:nvSpPr>
          <p:cNvPr id="5" name="Shape 5"/>
          <p:cNvSpPr txBox="1"/>
          <p:nvPr/>
        </p:nvSpPr>
        <p:spPr>
          <a:xfrm>
            <a:off x="685800" y="24810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table · graph · equation · words</a:t>
            </a:r>
            <a:endParaRPr lang="en-US" sz="2850" dirty="0"/>
          </a:p>
        </p:txBody>
      </p:sp>
      <p:sp>
        <p:nvSpPr>
          <p:cNvPr id="6" name="Shape 6"/>
          <p:cNvSpPr txBox="1"/>
          <p:nvPr/>
        </p:nvSpPr>
        <p:spPr>
          <a:xfrm>
            <a:off x="685800" y="32179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37642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in a table, graph, equation or story.</a:t>
            </a:r>
            <a:endParaRPr lang="en-US" sz="1950" dirty="0"/>
          </a:p>
        </p:txBody>
      </p:sp>
      <p:sp>
        <p:nvSpPr>
          <p:cNvPr id="8" name="Shape 8"/>
          <p:cNvSpPr txBox="1"/>
          <p:nvPr/>
        </p:nvSpPr>
        <p:spPr>
          <a:xfrm>
            <a:off x="685800" y="42877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two lines are parallel, perpendicular or neither.</a:t>
            </a:r>
            <a:endParaRPr lang="en-US" sz="1950" dirty="0"/>
          </a:p>
        </p:txBody>
      </p:sp>
      <p:sp>
        <p:nvSpPr>
          <p:cNvPr id="9" name="Shape 9"/>
          <p:cNvSpPr txBox="1"/>
          <p:nvPr/>
        </p:nvSpPr>
        <p:spPr>
          <a:xfrm>
            <a:off x="685800" y="48112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explain what the slope and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10" name="Shape 10"/>
          <p:cNvSpPr txBox="1"/>
          <p:nvPr/>
        </p:nvSpPr>
        <p:spPr>
          <a:xfrm>
            <a:off x="685800" y="53919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November 3</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(General form and factored form) → Lesson 4, Day 1.</a:t>
            </a:r>
            <a:endParaRPr lang="en-US" sz="21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Tue, Nov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of the line through </a:t>
            </a:r>
            <a:r>
              <a:rPr lang="en-US" sz="1950" dirty="0">
                <a:solidFill>
                  <a:srgbClr val="16171D"/>
                </a:solidFill>
                <a:latin typeface="Cambria"/>
                <a:cs typeface="Cambria"/>
              </a:rPr>
              <a:t xml:space="preserve">(−2.5, −6)</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(0, 4)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321)</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slope does a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slope does a line perpendicular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−¼</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ratio of 9th-graders to 10th-graders is </a:t>
            </a:r>
            <a:r>
              <a:rPr lang="en-US" sz="1950" dirty="0">
                <a:solidFill>
                  <a:srgbClr val="16171D"/>
                </a:solidFill>
                <a:latin typeface="Cambria"/>
                <a:cs typeface="Cambria"/>
              </a:rPr>
              <a:t xml:space="preserve">1 : 1</a:t>
            </a:r>
            <a:r>
              <a:rPr lang="en-US" sz="1950" dirty="0">
                <a:solidFill>
                  <a:srgbClr val="16171D"/>
                </a:solidFill>
                <a:latin typeface="Segoe UI"/>
                <a:cs typeface="Segoe UI"/>
              </a:rPr>
              <a:t xml:space="preserve">. What is the slope of this relationship? </a:t>
            </a:r>
            <a:r>
              <a:rPr lang="en-US" sz="1575" dirty="0">
                <a:solidFill>
                  <a:srgbClr val="5F6272"/>
                </a:solidFill>
                <a:latin typeface="Segoe UI"/>
                <a:cs typeface="Segoe UI"/>
              </a:rPr>
              <a:t xml:space="preserve">(SE p. 320)</a:t>
            </a:r>
            <a:endParaRPr lang="en-US" sz="1950" dirty="0"/>
          </a:p>
        </p:txBody>
      </p:sp>
      <p:sp>
        <p:nvSpPr>
          <p:cNvPr id="11" name="Shape 11"/>
          <p:cNvSpPr txBox="1"/>
          <p:nvPr/>
        </p:nvSpPr>
        <p:spPr>
          <a:xfrm>
            <a:off x="6362548" y="432358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Nov 3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General form and factored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functions in different forms; general and factored form are two more forms.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zero</a:t>
            </a:r>
            <a:endParaRPr lang="en-US" sz="3450" dirty="0"/>
          </a:p>
        </p:txBody>
      </p:sp>
      <p:sp>
        <p:nvSpPr>
          <p:cNvPr id="7" name="Shape 7"/>
          <p:cNvSpPr txBox="1"/>
          <p:nvPr/>
        </p:nvSpPr>
        <p:spPr>
          <a:xfrm>
            <a:off x="685800" y="1618488"/>
            <a:ext cx="5219548" cy="18135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6" name="Shape 6"/>
          <p:cNvSpPr txBox="1"/>
          <p:nvPr/>
        </p:nvSpPr>
        <p:spPr>
          <a:xfrm>
            <a:off x="895350"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zero 4</a:t>
            </a:r>
            <a:endParaRPr lang="en-US" sz="2325" dirty="0"/>
          </a:p>
        </p:txBody>
      </p:sp>
      <p:sp>
        <p:nvSpPr>
          <p:cNvPr id="13" name="Shape 13"/>
          <p:cNvSpPr txBox="1"/>
          <p:nvPr/>
        </p:nvSpPr>
        <p:spPr>
          <a:xfrm>
            <a:off x="6286348" y="1618488"/>
            <a:ext cx="5219548" cy="28178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495898"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10" name="Shape 10"/>
          <p:cNvSpPr txBox="1"/>
          <p:nvPr/>
        </p:nvSpPr>
        <p:spPr>
          <a:xfrm>
            <a:off x="6495898"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3, zero 7</a:t>
            </a:r>
            <a:endParaRPr lang="en-US" sz="2325" dirty="0"/>
          </a:p>
        </p:txBody>
      </p:sp>
      <p:sp>
        <p:nvSpPr>
          <p:cNvPr id="11" name="Shape 11"/>
          <p:cNvSpPr txBox="1"/>
          <p:nvPr/>
        </p:nvSpPr>
        <p:spPr>
          <a:xfrm>
            <a:off x="6495898" y="3355848"/>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General form: 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____</a:t>
            </a:r>
            <a:endParaRPr lang="en-US" sz="1575" dirty="0"/>
          </a:p>
        </p:txBody>
      </p:sp>
      <p:sp>
        <p:nvSpPr>
          <p:cNvPr id="12" name="Shape 12"/>
          <p:cNvSpPr txBox="1"/>
          <p:nvPr/>
        </p:nvSpPr>
        <p:spPr>
          <a:xfrm>
            <a:off x="6495898" y="374599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− 21</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ppt_w</p:attrName>
                                        </p:attrNameLst>
                                      </p:cBhvr>
                                      <p:tavLst>
                                        <p:tav tm="0">
                                          <p:val>
                                            <p:fltVal val="0"/>
                                          </p:val>
                                        </p:tav>
                                        <p:tav tm="100000">
                                          <p:val>
                                            <p:strVal val="#ppt_w"/>
                                          </p:val>
                                        </p:tav>
                                      </p:tavLst>
                                    </p:anim>
                                    <p:anim calcmode="lin" valueType="num">
                                      <p:cBhvr>
                                        <p:cTn id="20" dur="500" fill="hold"/>
                                        <p:tgtEl>
                                          <p:spTgt spid="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how much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changes for each 1 of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amount,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What the numbers count.</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months</a:t>
            </a:r>
            <a:endParaRPr lang="en-US" sz="2325"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find the slope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Equation</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slope is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Table or graph:</a:t>
            </a:r>
            <a:r>
              <a:rPr lang="en-US" sz="1950" dirty="0">
                <a:solidFill>
                  <a:srgbClr val="16171D"/>
                </a:solidFill>
                <a:latin typeface="Segoe UI"/>
                <a:cs typeface="Segoe UI"/>
              </a:rPr>
              <a:t xml:space="preserve"> pick two points.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Story:</a:t>
            </a:r>
            <a:r>
              <a:rPr lang="en-US" sz="1950" dirty="0">
                <a:solidFill>
                  <a:srgbClr val="16171D"/>
                </a:solidFill>
                <a:latin typeface="Segoe UI"/>
                <a:cs typeface="Segoe UI"/>
              </a:rPr>
              <a:t xml:space="preserve"> look for "each" or "per".</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Compare: same slope → parallel. Product −1 → perpendicular.</a:t>
            </a:r>
            <a:endParaRPr lang="en-US" sz="19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y</a:t>
            </a:r>
            <a:endParaRPr lang="en-US" sz="1800" dirty="0"/>
          </a:p>
        </p:txBody>
      </p:sp>
      <p:sp>
        <p:nvSpPr>
          <p:cNvPr id="6" name="Shape 6"/>
          <p:cNvSpPr txBox="1"/>
          <p:nvPr/>
        </p:nvSpPr>
        <p:spPr>
          <a:xfrm>
            <a:off x="685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7" name="Shape 7"/>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 name="Shape 8"/>
          <p:cNvSpPr txBox="1"/>
          <p:nvPr/>
        </p:nvSpPr>
        <p:spPr>
          <a:xfrm>
            <a:off x="685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0.5</a:t>
            </a:r>
            <a:endParaRPr lang="en-US" sz="1800" dirty="0"/>
          </a:p>
        </p:txBody>
      </p:sp>
      <p:sp>
        <p:nvSpPr>
          <p:cNvPr id="9" name="Shape 9"/>
          <p:cNvSpPr txBox="1"/>
          <p:nvPr/>
        </p:nvSpPr>
        <p:spPr>
          <a:xfrm>
            <a:off x="1828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10" name="Shape 10"/>
          <p:cNvSpPr txBox="1"/>
          <p:nvPr/>
        </p:nvSpPr>
        <p:spPr>
          <a:xfrm>
            <a:off x="685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11" name="Shape 11"/>
          <p:cNvSpPr txBox="1"/>
          <p:nvPr/>
        </p:nvSpPr>
        <p:spPr>
          <a:xfrm>
            <a:off x="1828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16</a:t>
            </a:r>
            <a:endParaRPr lang="en-US" sz="1800" dirty="0"/>
          </a:p>
        </p:txBody>
      </p:sp>
      <p:sp>
        <p:nvSpPr>
          <p:cNvPr id="12" name="Shape 12"/>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From (0, 4) to (0.5, 6):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0.5</a:t>
            </a:r>
            <a:r>
              <a:rPr lang="en-US" sz="1950" dirty="0">
                <a:solidFill>
                  <a:srgbClr val="16171D"/>
                </a:solidFill>
                <a:latin typeface="Segoe UI"/>
                <a:cs typeface="Segoe UI"/>
              </a:rPr>
              <a:t xml:space="preserve"> = 4.</a:t>
            </a:r>
            <a:endParaRPr lang="en-US" sz="1950" dirty="0"/>
          </a:p>
        </p:txBody>
      </p:sp>
      <p:sp>
        <p:nvSpPr>
          <p:cNvPr id="13" name="Shape 13"/>
          <p:cNvSpPr txBox="1"/>
          <p:nvPr/>
        </p:nvSpPr>
        <p:spPr>
          <a:xfrm>
            <a:off x="6286348" y="21038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4" name="Shape 14"/>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Same slope as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 different start.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6" name="Shape 6"/>
          <p:cNvSpPr txBox="1"/>
          <p:nvPr/>
        </p:nvSpPr>
        <p:spPr>
          <a:xfrm>
            <a:off x="685800" y="1618488"/>
            <a:ext cx="5219548"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Chiletso makes 4 dozen cookies per hour.</a:t>
            </a:r>
            <a:endParaRPr lang="en-US" sz="1950" dirty="0"/>
          </a:p>
        </p:txBody>
      </p:sp>
      <p:sp>
        <p:nvSpPr>
          <p:cNvPr id="5" name="Shape 5"/>
          <p:cNvSpPr txBox="1"/>
          <p:nvPr/>
        </p:nvSpPr>
        <p:spPr>
          <a:xfrm>
            <a:off x="895350" y="25344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9" name="Shape 9"/>
          <p:cNvSpPr txBox="1"/>
          <p:nvPr/>
        </p:nvSpPr>
        <p:spPr>
          <a:xfrm>
            <a:off x="6286348"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Table and graph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recycling center pays more?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Travis County</a:t>
            </a:r>
            <a:endParaRPr lang="en-US" sz="1950" dirty="0"/>
          </a:p>
        </p:txBody>
      </p:sp>
      <p:sp>
        <p:nvSpPr>
          <p:cNvPr id="5" name="Shape 5"/>
          <p:cNvSpPr txBox="1"/>
          <p:nvPr/>
        </p:nvSpPr>
        <p:spPr>
          <a:xfrm>
            <a:off x="685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tons</a:t>
            </a:r>
            <a:endParaRPr lang="en-US" sz="1800" dirty="0"/>
          </a:p>
        </p:txBody>
      </p:sp>
      <p:sp>
        <p:nvSpPr>
          <p:cNvPr id="6" name="Shape 6"/>
          <p:cNvSpPr txBox="1"/>
          <p:nvPr/>
        </p:nvSpPr>
        <p:spPr>
          <a:xfrm>
            <a:off x="1828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a:t>
            </a:r>
            <a:endParaRPr lang="en-US" sz="1800" dirty="0"/>
          </a:p>
        </p:txBody>
      </p:sp>
      <p:sp>
        <p:nvSpPr>
          <p:cNvPr id="7" name="Shape 7"/>
          <p:cNvSpPr txBox="1"/>
          <p:nvPr/>
        </p:nvSpPr>
        <p:spPr>
          <a:xfrm>
            <a:off x="685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8" name="Shape 8"/>
          <p:cNvSpPr txBox="1"/>
          <p:nvPr/>
        </p:nvSpPr>
        <p:spPr>
          <a:xfrm>
            <a:off x="1828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15</a:t>
            </a:r>
            <a:endParaRPr lang="en-US" sz="1800" dirty="0"/>
          </a:p>
        </p:txBody>
      </p:sp>
      <p:sp>
        <p:nvSpPr>
          <p:cNvPr id="9" name="Shape 9"/>
          <p:cNvSpPr txBox="1"/>
          <p:nvPr/>
        </p:nvSpPr>
        <p:spPr>
          <a:xfrm>
            <a:off x="685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10" name="Shape 10"/>
          <p:cNvSpPr txBox="1"/>
          <p:nvPr/>
        </p:nvSpPr>
        <p:spPr>
          <a:xfrm>
            <a:off x="1828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1" name="Shape 11"/>
          <p:cNvSpPr txBox="1"/>
          <p:nvPr/>
        </p:nvSpPr>
        <p:spPr>
          <a:xfrm>
            <a:off x="685800" y="349910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2" name="Shape 12"/>
          <p:cNvSpPr txBox="1"/>
          <p:nvPr/>
        </p:nvSpPr>
        <p:spPr>
          <a:xfrm>
            <a:off x="685800" y="398449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a:t>
            </a:r>
            <a:endParaRPr lang="en-US" sz="2325" dirty="0"/>
          </a:p>
        </p:txBody>
      </p:sp>
      <p:sp>
        <p:nvSpPr>
          <p:cNvPr id="13" name="Shape 13"/>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Hays County graph: through (1, 20)</a:t>
            </a:r>
            <a:endParaRPr lang="en-US" sz="1950" dirty="0"/>
          </a:p>
        </p:txBody>
      </p:sp>
      <p:sp>
        <p:nvSpPr>
          <p:cNvPr id="14" name="Shape 14"/>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5" name="Shape 15"/>
          <p:cNvSpPr txBox="1"/>
          <p:nvPr/>
        </p:nvSpPr>
        <p:spPr>
          <a:xfrm>
            <a:off x="6286348" y="258927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6" name="Shape 16"/>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Which pays more?</a:t>
            </a:r>
            <a:endParaRPr lang="en-US" sz="1950" dirty="0"/>
          </a:p>
        </p:txBody>
      </p:sp>
      <p:sp>
        <p:nvSpPr>
          <p:cNvPr id="17" name="Shape 17"/>
          <p:cNvSpPr txBox="1"/>
          <p:nvPr/>
        </p:nvSpPr>
        <p:spPr>
          <a:xfrm>
            <a:off x="6286348" y="372694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Hays County</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ppt_w</p:attrName>
                                        </p:attrNameLst>
                                      </p:cBhvr>
                                      <p:tavLst>
                                        <p:tav tm="0">
                                          <p:val>
                                            <p:fltVal val="0"/>
                                          </p:val>
                                        </p:tav>
                                        <p:tav tm="100000">
                                          <p:val>
                                            <p:strVal val="#ppt_w"/>
                                          </p:val>
                                        </p:tav>
                                      </p:tavLst>
                                    </p:anim>
                                    <p:anim calcmode="lin" valueType="num">
                                      <p:cBhvr>
                                        <p:cTn id="6"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ppt_w</p:attrName>
                                        </p:attrNameLst>
                                      </p:cBhvr>
                                      <p:tavLst>
                                        <p:tav tm="0">
                                          <p:val>
                                            <p:fltVal val="0"/>
                                          </p:val>
                                        </p:tav>
                                        <p:tav tm="100000">
                                          <p:val>
                                            <p:strVal val="#ppt_w"/>
                                          </p:val>
                                        </p:tav>
                                      </p:tavLst>
                                    </p:anim>
                                    <p:anim calcmode="lin" valueType="num">
                                      <p:cBhvr>
                                        <p:cTn id="13"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November 3</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November 4. Start at the next slide, “Start: Wednesday, November 4.”</a:t>
            </a:r>
            <a:endParaRPr lang="en-US" sz="22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November 4</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(Three ways to write a function; four views) → Lesson 4, Day 2.</a:t>
            </a:r>
            <a:endParaRPr lang="en-US" sz="21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Wed, Nov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Travis County pays $15 per ton of cardboard. How much is paid for 3 tons? </a:t>
            </a:r>
            <a:r>
              <a:rPr lang="en-US" sz="1575" dirty="0">
                <a:solidFill>
                  <a:srgbClr val="5F6272"/>
                </a:solidFill>
                <a:latin typeface="Segoe UI"/>
                <a:cs typeface="Segoe UI"/>
              </a:rPr>
              <a:t xml:space="preserve">(SE p. 322)</a:t>
            </a:r>
            <a:endParaRPr lang="en-US" sz="1950" dirty="0"/>
          </a:p>
        </p:txBody>
      </p:sp>
      <p:sp>
        <p:nvSpPr>
          <p:cNvPr id="5" name="Shape 5"/>
          <p:cNvSpPr txBox="1"/>
          <p:nvPr/>
        </p:nvSpPr>
        <p:spPr>
          <a:xfrm>
            <a:off x="685800" y="275539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6" name="Shape 6"/>
          <p:cNvSpPr txBox="1"/>
          <p:nvPr/>
        </p:nvSpPr>
        <p:spPr>
          <a:xfrm>
            <a:off x="685800" y="354101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Hays County's graph passes through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(1, 20)</a:t>
            </a:r>
            <a:r>
              <a:rPr lang="en-US" sz="1950" dirty="0">
                <a:solidFill>
                  <a:srgbClr val="16171D"/>
                </a:solidFill>
                <a:latin typeface="Segoe UI"/>
                <a:cs typeface="Segoe UI"/>
              </a:rPr>
              <a:t xml:space="preserve">. What is the payout per ton? </a:t>
            </a:r>
            <a:r>
              <a:rPr lang="en-US" sz="1575" dirty="0">
                <a:solidFill>
                  <a:srgbClr val="5F6272"/>
                </a:solidFill>
                <a:latin typeface="Segoe UI"/>
                <a:cs typeface="Segoe UI"/>
              </a:rPr>
              <a:t xml:space="preserve">(SE p. 322)</a:t>
            </a:r>
            <a:endParaRPr lang="en-US" sz="1950" dirty="0"/>
          </a:p>
        </p:txBody>
      </p:sp>
      <p:sp>
        <p:nvSpPr>
          <p:cNvPr id="7" name="Shape 7"/>
          <p:cNvSpPr txBox="1"/>
          <p:nvPr/>
        </p:nvSpPr>
        <p:spPr>
          <a:xfrm>
            <a:off x="685800" y="462076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9/5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+ 32</a:t>
            </a:r>
            <a:r>
              <a:rPr lang="en-US" sz="1950" dirty="0">
                <a:solidFill>
                  <a:srgbClr val="16171D"/>
                </a:solidFill>
                <a:latin typeface="Segoe UI"/>
                <a:cs typeface="Segoe UI"/>
              </a:rPr>
              <a:t xml:space="preserve"> converts °C to °F. What is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(10)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323)</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Miguel started with $0 and had $80 after 4 months. How much did he save each month? </a:t>
            </a:r>
            <a:r>
              <a:rPr lang="en-US" sz="1575" dirty="0">
                <a:solidFill>
                  <a:srgbClr val="5F6272"/>
                </a:solidFill>
                <a:latin typeface="Segoe UI"/>
                <a:cs typeface="Segoe UI"/>
              </a:rPr>
              <a:t xml:space="preserve">(SE p. 324)</a:t>
            </a:r>
            <a:endParaRPr lang="en-US" sz="1950" dirty="0"/>
          </a:p>
        </p:txBody>
      </p:sp>
      <p:sp>
        <p:nvSpPr>
          <p:cNvPr id="11" name="Shape 11"/>
          <p:cNvSpPr txBox="1"/>
          <p:nvPr/>
        </p:nvSpPr>
        <p:spPr>
          <a:xfrm>
            <a:off x="6362548" y="432358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Nov 4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Three ways to write a function; four views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tables, graphs, equations and descriptions: the same four views.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Is the table linear?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1, 3, 7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4, 10, 22. If yes, write the function.</a:t>
            </a:r>
            <a:endParaRPr lang="en-US" sz="1950" dirty="0"/>
          </a:p>
        </p:txBody>
      </p:sp>
      <p:sp>
        <p:nvSpPr>
          <p:cNvPr id="5" name="Shape 5"/>
          <p:cNvSpPr txBox="1"/>
          <p:nvPr/>
        </p:nvSpPr>
        <p:spPr>
          <a:xfrm>
            <a:off x="895350" y="2237232"/>
            <a:ext cx="639037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slope 3: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8" name="Shape 8"/>
          <p:cNvSpPr txBox="1"/>
          <p:nvPr/>
        </p:nvSpPr>
        <p:spPr>
          <a:xfrm>
            <a:off x="895350" y="367969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2" name="Shape 12"/>
          <p:cNvSpPr txBox="1"/>
          <p:nvPr/>
        </p:nvSpPr>
        <p:spPr>
          <a:xfrm>
            <a:off x="685800" y="4503420"/>
            <a:ext cx="10820095"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Bracelets sell for $10 each. The booth costs $30: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− 30. What does the 10 mean?</a:t>
            </a:r>
            <a:endParaRPr lang="en-US" sz="1950" dirty="0"/>
          </a:p>
        </p:txBody>
      </p:sp>
      <p:sp>
        <p:nvSpPr>
          <p:cNvPr id="11" name="Shape 11"/>
          <p:cNvSpPr txBox="1"/>
          <p:nvPr/>
        </p:nvSpPr>
        <p:spPr>
          <a:xfrm>
            <a:off x="895350" y="5419344"/>
            <a:ext cx="854612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earned for each bracelet (the slope)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Lauren starts with $25 and saves $25 each month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25</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25</a:t>
            </a:r>
            <a:r>
              <a:rPr lang="en-US" sz="1950" dirty="0">
                <a:solidFill>
                  <a:srgbClr val="16171D"/>
                </a:solidFill>
                <a:latin typeface="Segoe UI"/>
                <a:cs typeface="Segoe UI"/>
              </a:rPr>
              <a:t xml:space="preserve"> (slope): she saves $25 each month.</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3050B8"/>
                </a:solidFill>
                <a:latin typeface="Segoe UI"/>
                <a:cs typeface="Segoe UI"/>
              </a:rPr>
              <a:t xml:space="preserve">25</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she started with $25.</a:t>
            </a:r>
            <a:endParaRPr lang="en-US" sz="1950" dirty="0"/>
          </a:p>
        </p:txBody>
      </p:sp>
      <p:sp>
        <p:nvSpPr>
          <p:cNvPr id="7" name="Shape 7"/>
          <p:cNvSpPr txBox="1"/>
          <p:nvPr/>
        </p:nvSpPr>
        <p:spPr>
          <a:xfrm>
            <a:off x="685800" y="332613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Miguel saves $20 a month from $0. Who saves faster?</a:t>
            </a:r>
            <a:endParaRPr lang="en-US" sz="1950" dirty="0"/>
          </a:p>
        </p:txBody>
      </p:sp>
      <p:sp>
        <p:nvSpPr>
          <p:cNvPr id="8" name="Shape 8"/>
          <p:cNvSpPr txBox="1"/>
          <p:nvPr/>
        </p:nvSpPr>
        <p:spPr>
          <a:xfrm>
            <a:off x="685800" y="3849624"/>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Lauren ($25 &gt; $20)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ppt_w</p:attrName>
                                        </p:attrNameLst>
                                      </p:cBhvr>
                                      <p:tavLst>
                                        <p:tav tm="0">
                                          <p:val>
                                            <p:fltVal val="0"/>
                                          </p:val>
                                        </p:tav>
                                        <p:tav tm="100000">
                                          <p:val>
                                            <p:strVal val="#ppt_w"/>
                                          </p:val>
                                        </p:tav>
                                      </p:tavLst>
                                    </p:anim>
                                    <p:anim calcmode="lin" valueType="num">
                                      <p:cBhvr>
                                        <p:cTn id="6"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(with units): ____</a:t>
            </a:r>
            <a:endParaRPr lang="en-US" sz="1950" dirty="0"/>
          </a:p>
        </p:txBody>
      </p:sp>
      <p:sp>
        <p:nvSpPr>
          <p:cNvPr id="5" name="Shape 5"/>
          <p:cNvSpPr txBox="1"/>
          <p:nvPr/>
        </p:nvSpPr>
        <p:spPr>
          <a:xfrm>
            <a:off x="685800" y="214198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meaning: ____</a:t>
            </a:r>
            <a:endParaRPr lang="en-US" sz="1950" dirty="0"/>
          </a:p>
        </p:txBody>
      </p:sp>
      <p:sp>
        <p:nvSpPr>
          <p:cNvPr id="7" name="Shape 7"/>
          <p:cNvSpPr txBox="1"/>
          <p:nvPr/>
        </p:nvSpPr>
        <p:spPr>
          <a:xfrm>
            <a:off x="685800" y="335584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(0, 1) and (2, 9). What is its slope?</a:t>
            </a:r>
            <a:endParaRPr lang="en-US" sz="1950" dirty="0"/>
          </a:p>
        </p:txBody>
      </p:sp>
      <p:sp>
        <p:nvSpPr>
          <p:cNvPr id="5" name="Shape 5"/>
          <p:cNvSpPr txBox="1"/>
          <p:nvPr/>
        </p:nvSpPr>
        <p:spPr>
          <a:xfrm>
            <a:off x="895350" y="223723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Is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 parallel or perpendicular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895350" y="367969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Savings: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+ 50. What does 50 mean?</a:t>
            </a:r>
            <a:endParaRPr lang="en-US" sz="1950" dirty="0"/>
          </a:p>
        </p:txBody>
      </p:sp>
      <p:sp>
        <p:nvSpPr>
          <p:cNvPr id="11" name="Shape 11"/>
          <p:cNvSpPr txBox="1"/>
          <p:nvPr/>
        </p:nvSpPr>
        <p:spPr>
          <a:xfrm>
            <a:off x="895350" y="5122164"/>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 to start</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November 4</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November 5. End of Topic 1 Assessment. Lesson 3 and 4 quizzes go home as homework.</a:t>
            </a:r>
            <a:endParaRPr lang="en-US" sz="225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22</Slides>
  <Notes>22</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