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4: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November 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1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slope from two rows of the table.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November 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Wednesday, November 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2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dollars per month.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 After each answer, click once per step and read it aloud so students can find where their work went wrong.</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Wednesday, November 4.</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4-bellwork-day1-IEP.html" TargetMode="External"/><Relationship Id="rId4" Type="http://schemas.openxmlformats.org/officeDocument/2006/relationships/hyperlink" Target="https://algebra1m2u1l4.vercel.app/IEP/t2-lesson4-bellwork-day2-IEP.html" TargetMode="External"/><Relationship Id="rId5" Type="http://schemas.openxmlformats.org/officeDocument/2006/relationships/hyperlink" Target="https://algebra1m2u1l4.vercel.app/IEP/t2-lesson4-homework-IEP.html" TargetMode="External"/><Relationship Id="rId6" Type="http://schemas.openxmlformats.org/officeDocument/2006/relationships/hyperlink" Target="https://algebra1m2u1l4.vercel.app/IEP/t2-lesson4-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IEP/lesson6-homework-IEP.html" TargetMode="External"/><Relationship Id="rId4" Type="http://schemas.openxmlformats.org/officeDocument/2006/relationships/hyperlink" Target="https://algebra1m2u1l4.vercel.app/IEP/lesson6-quiz-IEP.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algebra1m2u1l4.vercel.app/IEP/lesson6-homework-IEP.html" TargetMode="External"/><Relationship Id="rId4" Type="http://schemas.openxmlformats.org/officeDocument/2006/relationships/hyperlink" Target="https://algebra1m2u1l4.vercel.app/IEP/lesson6-quiz-IEP.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algebra1m2u1l4.vercel.app/IEP/t2-lesson4-bellwork-day1-IEP.html" TargetMode="External"/><Relationship Id="rId4" Type="http://schemas.openxmlformats.org/officeDocument/2006/relationships/hyperlink" Target="https://algebra1m2u1l4.vercel.app/IEP/t2-lesson4-bellwork-day2-IEP.html" TargetMode="External"/><Relationship Id="rId5" Type="http://schemas.openxmlformats.org/officeDocument/2006/relationships/hyperlink" Target="https://algebra1m2u1l4.vercel.app/IEP/t2-lesson4-homework-IEP.html" TargetMode="External"/><Relationship Id="rId6" Type="http://schemas.openxmlformats.org/officeDocument/2006/relationships/hyperlink" Target="https://algebra1m2u1l4.vercel.app/IEP/t2-lesson4-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4 · IEP Version</a:t>
            </a:r>
            <a:endParaRPr lang="en-US" sz="1200" dirty="0"/>
          </a:p>
        </p:txBody>
      </p:sp>
      <p:sp>
        <p:nvSpPr>
          <p:cNvPr id="3" name="Shape 3"/>
          <p:cNvSpPr txBox="1"/>
          <p:nvPr/>
        </p:nvSpPr>
        <p:spPr>
          <a:xfrm>
            <a:off x="685800" y="961644"/>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Comparing Linear Functions</a:t>
            </a:r>
            <a:endParaRPr lang="en-US" sz="4500" dirty="0"/>
          </a:p>
        </p:txBody>
      </p:sp>
      <p:sp>
        <p:nvSpPr>
          <p:cNvPr id="4" name="Shape 4"/>
          <p:cNvSpPr txBox="1"/>
          <p:nvPr/>
        </p:nvSpPr>
        <p:spPr>
          <a:xfrm>
            <a:off x="685800" y="1873758"/>
            <a:ext cx="108200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Tue, Nov 3 · Day 2: Wed, Nov 4</a:t>
            </a:r>
            <a:endParaRPr lang="en-US" sz="1650" dirty="0"/>
          </a:p>
        </p:txBody>
      </p:sp>
      <p:sp>
        <p:nvSpPr>
          <p:cNvPr id="5" name="Shape 5"/>
          <p:cNvSpPr txBox="1"/>
          <p:nvPr/>
        </p:nvSpPr>
        <p:spPr>
          <a:xfrm>
            <a:off x="685800" y="248107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table · graph · equation · words</a:t>
            </a:r>
            <a:endParaRPr lang="en-US" sz="2850" dirty="0"/>
          </a:p>
        </p:txBody>
      </p:sp>
      <p:sp>
        <p:nvSpPr>
          <p:cNvPr id="6" name="Shape 6"/>
          <p:cNvSpPr txBox="1"/>
          <p:nvPr/>
        </p:nvSpPr>
        <p:spPr>
          <a:xfrm>
            <a:off x="685800" y="3217926"/>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7" name="Shape 7"/>
          <p:cNvSpPr txBox="1"/>
          <p:nvPr/>
        </p:nvSpPr>
        <p:spPr>
          <a:xfrm>
            <a:off x="685800" y="37642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find the slope in a table, graph, equation or story.</a:t>
            </a:r>
            <a:endParaRPr lang="en-US" sz="1950" dirty="0"/>
          </a:p>
        </p:txBody>
      </p:sp>
      <p:sp>
        <p:nvSpPr>
          <p:cNvPr id="8" name="Shape 8"/>
          <p:cNvSpPr txBox="1"/>
          <p:nvPr/>
        </p:nvSpPr>
        <p:spPr>
          <a:xfrm>
            <a:off x="685800" y="428777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tell whether two lines are parallel, perpendicular or neither.</a:t>
            </a:r>
            <a:endParaRPr lang="en-US" sz="1950" dirty="0"/>
          </a:p>
        </p:txBody>
      </p:sp>
      <p:sp>
        <p:nvSpPr>
          <p:cNvPr id="9" name="Shape 9"/>
          <p:cNvSpPr txBox="1"/>
          <p:nvPr/>
        </p:nvSpPr>
        <p:spPr>
          <a:xfrm>
            <a:off x="685800" y="481126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explain what the slope and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mean.</a:t>
            </a:r>
            <a:endParaRPr lang="en-US" sz="1950" dirty="0"/>
          </a:p>
        </p:txBody>
      </p:sp>
      <p:sp>
        <p:nvSpPr>
          <p:cNvPr id="10" name="Shape 10"/>
          <p:cNvSpPr txBox="1"/>
          <p:nvPr/>
        </p:nvSpPr>
        <p:spPr>
          <a:xfrm>
            <a:off x="685800" y="539191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11" name="Shape 11"/>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Day 1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Tuesday, November 3</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(General form and factored form) → Lesson 4, Day 1.</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Tue, Nov 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What is the slope of the line through </a:t>
            </a:r>
            <a:r>
              <a:rPr lang="en-US" sz="1575" dirty="0">
                <a:solidFill>
                  <a:srgbClr val="16171D"/>
                </a:solidFill>
                <a:latin typeface="Cambria"/>
                <a:cs typeface="Cambria"/>
              </a:rPr>
              <a:t xml:space="preserve">(−2.5, −6)</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(0, 4)</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6" name="Shape 6"/>
          <p:cNvSpPr txBox="1"/>
          <p:nvPr/>
        </p:nvSpPr>
        <p:spPr>
          <a:xfrm>
            <a:off x="895350" y="269595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4</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4 − (−6) = 4 + 6 = 10</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0 − (−2.5) = 2.5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Divide: </a:t>
            </a:r>
            <a:r>
              <a:rPr lang="en-US" sz="1425" dirty="0">
                <a:solidFill>
                  <a:srgbClr val="16171D"/>
                </a:solidFill>
                <a:latin typeface="Cambria"/>
                <a:cs typeface="Cambria"/>
              </a:rPr>
              <a:t xml:space="preserve">10 ÷ 2.5 = 4</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403402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547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What slope does a line parallel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have?</a:t>
            </a:r>
            <a:endParaRPr lang="en-US" sz="1575" dirty="0"/>
          </a:p>
        </p:txBody>
      </p:sp>
      <p:sp>
        <p:nvSpPr>
          <p:cNvPr id="9" name="Shape 9"/>
          <p:cNvSpPr txBox="1"/>
          <p:nvPr/>
        </p:nvSpPr>
        <p:spPr>
          <a:xfrm>
            <a:off x="895350" y="477850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parallel lines have the same slope</a:t>
            </a:r>
            <a:endParaRPr lang="en-US" sz="1575" dirty="0"/>
          </a:p>
        </p:txBody>
      </p:sp>
      <p:sp>
        <p:nvSpPr>
          <p:cNvPr id="10" name="Shape 10"/>
          <p:cNvSpPr txBox="1"/>
          <p:nvPr/>
        </p:nvSpPr>
        <p:spPr>
          <a:xfrm>
            <a:off x="895350" y="511149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4</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The slope of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4</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 is 4, the number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 parallel line has the same slope: 4.</a:t>
            </a:r>
            <a:endParaRPr lang="en-US" sz="1425" dirty="0"/>
          </a:p>
        </p:txBody>
      </p:sp>
      <p:sp>
        <p:nvSpPr>
          <p:cNvPr id="15" name="Shape 15"/>
          <p:cNvSpPr txBox="1"/>
          <p:nvPr/>
        </p:nvSpPr>
        <p:spPr>
          <a:xfrm>
            <a:off x="6210148"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What slope does a line perpendicular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have?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perpendicular: flip and change the sign</a:t>
            </a:r>
            <a:endParaRPr lang="en-US" sz="1575" dirty="0"/>
          </a:p>
        </p:txBody>
      </p:sp>
      <p:sp>
        <p:nvSpPr>
          <p:cNvPr id="14" name="Shape 14"/>
          <p:cNvSpPr txBox="1"/>
          <p:nvPr/>
        </p:nvSpPr>
        <p:spPr>
          <a:xfrm>
            <a:off x="6419698" y="2695956"/>
            <a:ext cx="2814923"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−¼</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4 = 4/1</a:t>
            </a:r>
            <a:r>
              <a:rPr lang="en-US" sz="1425" dirty="0">
                <a:solidFill>
                  <a:srgbClr val="16171D"/>
                </a:solidFill>
                <a:latin typeface="Segoe UI"/>
                <a:cs typeface="Segoe UI"/>
              </a:rPr>
              <a:t xml:space="preserve">. Flip it: </a:t>
            </a:r>
            <a:r>
              <a:rPr lang="en-US" sz="1425" dirty="0">
                <a:solidFill>
                  <a:srgbClr val="16171D"/>
                </a:solidFill>
                <a:latin typeface="Cambria"/>
                <a:cs typeface="Cambria"/>
              </a:rPr>
              <a:t xml:space="preserve">1/4</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Change the sign: </a:t>
            </a:r>
            <a:r>
              <a:rPr lang="en-US" sz="1425" dirty="0">
                <a:solidFill>
                  <a:srgbClr val="16171D"/>
                </a:solidFill>
                <a:latin typeface="Cambria"/>
                <a:cs typeface="Cambria"/>
              </a:rPr>
              <a:t xml:space="preserve">−¼</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Check: </a:t>
            </a:r>
            <a:r>
              <a:rPr lang="en-US" sz="1425" dirty="0">
                <a:solidFill>
                  <a:srgbClr val="16171D"/>
                </a:solidFill>
                <a:latin typeface="Cambria"/>
                <a:cs typeface="Cambria"/>
              </a:rPr>
              <a:t xml:space="preserve">4 · (−¼) = −1</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4034028"/>
            <a:ext cx="5295748" cy="27393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205478"/>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Function </a:t>
            </a:r>
            <a:r>
              <a:rPr lang="en-US" sz="1575" dirty="0" i="1">
                <a:solidFill>
                  <a:srgbClr val="16171D"/>
                </a:solidFill>
                <a:latin typeface="Cambria"/>
                <a:cs typeface="Cambria"/>
              </a:rPr>
              <a:t xml:space="preserve">p</a:t>
            </a:r>
            <a:r>
              <a:rPr lang="en-US" sz="1575" dirty="0">
                <a:solidFill>
                  <a:srgbClr val="16171D"/>
                </a:solidFill>
                <a:latin typeface="Segoe UI"/>
                <a:cs typeface="Segoe UI"/>
              </a:rPr>
              <a:t xml:space="preserve"> passes through </a:t>
            </a:r>
            <a:r>
              <a:rPr lang="en-US" sz="1575" dirty="0">
                <a:solidFill>
                  <a:srgbClr val="16171D"/>
                </a:solidFill>
                <a:latin typeface="Cambria"/>
                <a:cs typeface="Cambria"/>
              </a:rPr>
              <a:t xml:space="preserve">(0, 1)</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(4, 4)</a:t>
            </a:r>
            <a:r>
              <a:rPr lang="en-US" sz="1575" dirty="0">
                <a:solidFill>
                  <a:srgbClr val="16171D"/>
                </a:solidFill>
                <a:latin typeface="Segoe UI"/>
                <a:cs typeface="Segoe UI"/>
              </a:rPr>
              <a:t xml:space="preserve">. Which function has a greater rate of change than function </a:t>
            </a:r>
            <a:r>
              <a:rPr lang="en-US" sz="1575" dirty="0" i="1">
                <a:solidFill>
                  <a:srgbClr val="16171D"/>
                </a:solidFill>
                <a:latin typeface="Cambria"/>
                <a:cs typeface="Cambria"/>
              </a:rPr>
              <a:t xml:space="preserve">p</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50185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18" name="Shape 18"/>
          <p:cNvSpPr txBox="1"/>
          <p:nvPr/>
        </p:nvSpPr>
        <p:spPr>
          <a:xfrm>
            <a:off x="6419698" y="535152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y</a:t>
            </a:r>
            <a:r>
              <a:rPr lang="en-US" sz="1425" dirty="0" b="1">
                <a:solidFill>
                  <a:srgbClr val="16171D"/>
                </a:solidFill>
                <a:latin typeface="Cambria"/>
                <a:cs typeface="Cambria"/>
              </a:rPr>
              <a:t xml:space="preserve"> = </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Slope of </a:t>
            </a:r>
            <a:r>
              <a:rPr lang="en-US" sz="1425" dirty="0" i="1">
                <a:solidFill>
                  <a:srgbClr val="16171D"/>
                </a:solidFill>
                <a:latin typeface="Cambria"/>
                <a:cs typeface="Cambria"/>
              </a:rPr>
              <a:t xml:space="preserve">p</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(4 − 1) ÷ (4 − 0) = 3/4 = 0.75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Compare each slope with 0.75: </a:t>
            </a:r>
            <a:r>
              <a:rPr lang="en-US" sz="1425" dirty="0">
                <a:solidFill>
                  <a:srgbClr val="16171D"/>
                </a:solidFill>
                <a:latin typeface="Cambria"/>
                <a:cs typeface="Cambria"/>
              </a:rPr>
              <a:t xml:space="preserve">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0.5</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0.75</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− 4</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8</a:t>
            </a:r>
            <a:r>
              <a:rPr lang="en-US" sz="1425" dirty="0">
                <a:solidFill>
                  <a:srgbClr val="16171D"/>
                </a:solidFill>
                <a:latin typeface="Segoe UI"/>
                <a:cs typeface="Segoe UI"/>
              </a:rPr>
              <a:t xml:space="preserve"> is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¾</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0.7</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Only 1 is greater: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Nov 3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General form and factored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4 compares functions in different forms; general and factored form are two more forms.</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zero</a:t>
            </a:r>
            <a:endParaRPr lang="en-US" sz="3450" dirty="0"/>
          </a:p>
        </p:txBody>
      </p:sp>
      <p:sp>
        <p:nvSpPr>
          <p:cNvPr id="7" name="Shape 7"/>
          <p:cNvSpPr txBox="1"/>
          <p:nvPr/>
        </p:nvSpPr>
        <p:spPr>
          <a:xfrm>
            <a:off x="685800" y="1618488"/>
            <a:ext cx="5219548" cy="18135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5" name="Shape 5"/>
          <p:cNvSpPr txBox="1"/>
          <p:nvPr/>
        </p:nvSpPr>
        <p:spPr>
          <a:xfrm>
            <a:off x="895350" y="2294382"/>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____ zero ____</a:t>
            </a:r>
            <a:endParaRPr lang="en-US" sz="1950" dirty="0"/>
          </a:p>
        </p:txBody>
      </p:sp>
      <p:sp>
        <p:nvSpPr>
          <p:cNvPr id="6" name="Shape 6"/>
          <p:cNvSpPr txBox="1"/>
          <p:nvPr/>
        </p:nvSpPr>
        <p:spPr>
          <a:xfrm>
            <a:off x="895350" y="274167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2, zero 4</a:t>
            </a:r>
            <a:endParaRPr lang="en-US" sz="2325" dirty="0"/>
          </a:p>
        </p:txBody>
      </p:sp>
      <p:sp>
        <p:nvSpPr>
          <p:cNvPr id="13" name="Shape 13"/>
          <p:cNvSpPr txBox="1"/>
          <p:nvPr/>
        </p:nvSpPr>
        <p:spPr>
          <a:xfrm>
            <a:off x="6286348" y="1618488"/>
            <a:ext cx="5219548" cy="28178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95898" y="1789938"/>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9" name="Shape 9"/>
          <p:cNvSpPr txBox="1"/>
          <p:nvPr/>
        </p:nvSpPr>
        <p:spPr>
          <a:xfrm>
            <a:off x="6495898" y="2294382"/>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____ zero ____</a:t>
            </a:r>
            <a:endParaRPr lang="en-US" sz="1950" dirty="0"/>
          </a:p>
        </p:txBody>
      </p:sp>
      <p:sp>
        <p:nvSpPr>
          <p:cNvPr id="10" name="Shape 10"/>
          <p:cNvSpPr txBox="1"/>
          <p:nvPr/>
        </p:nvSpPr>
        <p:spPr>
          <a:xfrm>
            <a:off x="6495898" y="274167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3, zero 7</a:t>
            </a:r>
            <a:endParaRPr lang="en-US" sz="2325" dirty="0"/>
          </a:p>
        </p:txBody>
      </p:sp>
      <p:sp>
        <p:nvSpPr>
          <p:cNvPr id="11" name="Shape 11"/>
          <p:cNvSpPr txBox="1"/>
          <p:nvPr/>
        </p:nvSpPr>
        <p:spPr>
          <a:xfrm>
            <a:off x="6495898" y="3355848"/>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General form: 3</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____</a:t>
            </a:r>
            <a:endParaRPr lang="en-US" sz="1575" dirty="0"/>
          </a:p>
        </p:txBody>
      </p:sp>
      <p:sp>
        <p:nvSpPr>
          <p:cNvPr id="12" name="Shape 12"/>
          <p:cNvSpPr txBox="1"/>
          <p:nvPr/>
        </p:nvSpPr>
        <p:spPr>
          <a:xfrm>
            <a:off x="6495898" y="374599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− 21</a:t>
            </a:r>
            <a:endParaRPr lang="en-US" sz="2325" dirty="0"/>
          </a:p>
        </p:txBody>
      </p:sp>
      <p:sp>
        <p:nvSpPr>
          <p:cNvPr id="14" name="Slide Number 1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4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rate: how much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changes for each 1 of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$15 per ton</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starting amount, when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$25 to start</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Units</a:t>
            </a:r>
            <a:endParaRPr lang="en-US" sz="2100" dirty="0"/>
          </a:p>
        </p:txBody>
      </p:sp>
      <p:sp>
        <p:nvSpPr>
          <p:cNvPr id="13" name="Shape 13"/>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What the numbers count.</a:t>
            </a:r>
            <a:endParaRPr lang="en-US" sz="1575" dirty="0"/>
          </a:p>
        </p:txBody>
      </p:sp>
      <p:sp>
        <p:nvSpPr>
          <p:cNvPr id="14" name="Shape 14"/>
          <p:cNvSpPr txBox="1"/>
          <p:nvPr/>
        </p:nvSpPr>
        <p:spPr>
          <a:xfrm>
            <a:off x="8223047"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dollars, months</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4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to find the slope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a:t>
            </a:r>
            <a:r>
              <a:rPr lang="en-US" sz="1950" dirty="0" b="1">
                <a:solidFill>
                  <a:srgbClr val="16171D"/>
                </a:solidFill>
                <a:latin typeface="Segoe UI"/>
                <a:cs typeface="Segoe UI"/>
              </a:rPr>
              <a:t xml:space="preserve">Equation</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mx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the slope is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a:t>
            </a:r>
            <a:r>
              <a:rPr lang="en-US" sz="1950" dirty="0" b="1">
                <a:solidFill>
                  <a:srgbClr val="16171D"/>
                </a:solidFill>
                <a:latin typeface="Segoe UI"/>
                <a:cs typeface="Segoe UI"/>
              </a:rPr>
              <a:t xml:space="preserve">Table or graph:</a:t>
            </a:r>
            <a:r>
              <a:rPr lang="en-US" sz="1950" dirty="0">
                <a:solidFill>
                  <a:srgbClr val="16171D"/>
                </a:solidFill>
                <a:latin typeface="Segoe UI"/>
                <a:cs typeface="Segoe UI"/>
              </a:rPr>
              <a:t xml:space="preserve"> pick two points. </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a:t>
            </a:r>
            <a:r>
              <a:rPr lang="en-US" sz="1950" dirty="0" b="1">
                <a:solidFill>
                  <a:srgbClr val="16171D"/>
                </a:solidFill>
                <a:latin typeface="Segoe UI"/>
                <a:cs typeface="Segoe UI"/>
              </a:rPr>
              <a:t xml:space="preserve">Story:</a:t>
            </a:r>
            <a:r>
              <a:rPr lang="en-US" sz="1950" dirty="0">
                <a:solidFill>
                  <a:srgbClr val="16171D"/>
                </a:solidFill>
                <a:latin typeface="Segoe UI"/>
                <a:cs typeface="Segoe UI"/>
              </a:rPr>
              <a:t xml:space="preserve"> look for "each" or "per".</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Compare: same slope → parallel. Product −1 → perpendicular.</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4</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− 3</a:t>
            </a:r>
            <a:endParaRPr lang="en-US" sz="3450" dirty="0"/>
          </a:p>
        </p:txBody>
      </p:sp>
      <p:sp>
        <p:nvSpPr>
          <p:cNvPr id="4" name="Shape 4"/>
          <p:cNvSpPr txBox="1"/>
          <p:nvPr/>
        </p:nvSpPr>
        <p:spPr>
          <a:xfrm>
            <a:off x="685800"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x</a:t>
            </a:r>
            <a:endParaRPr lang="en-US" sz="1800" dirty="0"/>
          </a:p>
        </p:txBody>
      </p:sp>
      <p:sp>
        <p:nvSpPr>
          <p:cNvPr id="5" name="Shape 5"/>
          <p:cNvSpPr txBox="1"/>
          <p:nvPr/>
        </p:nvSpPr>
        <p:spPr>
          <a:xfrm>
            <a:off x="1828800"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y</a:t>
            </a:r>
            <a:endParaRPr lang="en-US" sz="1800" dirty="0"/>
          </a:p>
        </p:txBody>
      </p:sp>
      <p:sp>
        <p:nvSpPr>
          <p:cNvPr id="6" name="Shape 6"/>
          <p:cNvSpPr txBox="1"/>
          <p:nvPr/>
        </p:nvSpPr>
        <p:spPr>
          <a:xfrm>
            <a:off x="685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7" name="Shape 7"/>
          <p:cNvSpPr txBox="1"/>
          <p:nvPr/>
        </p:nvSpPr>
        <p:spPr>
          <a:xfrm>
            <a:off x="1828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8" name="Shape 8"/>
          <p:cNvSpPr txBox="1"/>
          <p:nvPr/>
        </p:nvSpPr>
        <p:spPr>
          <a:xfrm>
            <a:off x="685800" y="245973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0.5</a:t>
            </a:r>
            <a:endParaRPr lang="en-US" sz="1800" dirty="0"/>
          </a:p>
        </p:txBody>
      </p:sp>
      <p:sp>
        <p:nvSpPr>
          <p:cNvPr id="9" name="Shape 9"/>
          <p:cNvSpPr txBox="1"/>
          <p:nvPr/>
        </p:nvSpPr>
        <p:spPr>
          <a:xfrm>
            <a:off x="1828800" y="245973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10" name="Shape 10"/>
          <p:cNvSpPr txBox="1"/>
          <p:nvPr/>
        </p:nvSpPr>
        <p:spPr>
          <a:xfrm>
            <a:off x="685800" y="288036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11" name="Shape 11"/>
          <p:cNvSpPr txBox="1"/>
          <p:nvPr/>
        </p:nvSpPr>
        <p:spPr>
          <a:xfrm>
            <a:off x="1828800" y="288036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16</a:t>
            </a:r>
            <a:endParaRPr lang="en-US" sz="1800" dirty="0"/>
          </a:p>
        </p:txBody>
      </p:sp>
      <p:sp>
        <p:nvSpPr>
          <p:cNvPr id="12" name="Shape 12"/>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From (0, 4) to (0.5, 6): </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0.5</a:t>
            </a:r>
            <a:r>
              <a:rPr lang="en-US" sz="1950" dirty="0">
                <a:solidFill>
                  <a:srgbClr val="16171D"/>
                </a:solidFill>
                <a:latin typeface="Segoe UI"/>
                <a:cs typeface="Segoe UI"/>
              </a:rPr>
              <a:t xml:space="preserve"> = 4.</a:t>
            </a:r>
            <a:endParaRPr lang="en-US" sz="1950" dirty="0"/>
          </a:p>
        </p:txBody>
      </p:sp>
      <p:sp>
        <p:nvSpPr>
          <p:cNvPr id="13" name="Shape 13"/>
          <p:cNvSpPr txBox="1"/>
          <p:nvPr/>
        </p:nvSpPr>
        <p:spPr>
          <a:xfrm>
            <a:off x="6286348" y="210388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4: parallel</a:t>
            </a:r>
            <a:endParaRPr lang="en-US" sz="2325" dirty="0"/>
          </a:p>
        </p:txBody>
      </p:sp>
      <p:sp>
        <p:nvSpPr>
          <p:cNvPr id="14" name="Shape 14"/>
          <p:cNvSpPr txBox="1"/>
          <p:nvPr/>
        </p:nvSpPr>
        <p:spPr>
          <a:xfrm>
            <a:off x="6286348"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Same slope as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 different start.</a:t>
            </a:r>
            <a:endParaRPr lang="en-US" sz="1950" dirty="0"/>
          </a:p>
        </p:txBody>
      </p:sp>
      <p:sp>
        <p:nvSpPr>
          <p:cNvPr id="15" name="Slide Number 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ppt_w</p:attrName>
                                        </p:attrNameLst>
                                      </p:cBhvr>
                                      <p:tavLst>
                                        <p:tav tm="0">
                                          <p:val>
                                            <p:fltVal val="0"/>
                                          </p:val>
                                        </p:tav>
                                        <p:tav tm="100000">
                                          <p:val>
                                            <p:strVal val="#ppt_w"/>
                                          </p:val>
                                        </p:tav>
                                      </p:tavLst>
                                    </p:anim>
                                    <p:anim calcmode="lin" valueType="num">
                                      <p:cBhvr>
                                        <p:cTn id="6"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4</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− 3</a:t>
            </a:r>
            <a:endParaRPr lang="en-US" sz="3450" dirty="0"/>
          </a:p>
        </p:txBody>
      </p:sp>
      <p:sp>
        <p:nvSpPr>
          <p:cNvPr id="6" name="Shape 6"/>
          <p:cNvSpPr txBox="1"/>
          <p:nvPr/>
        </p:nvSpPr>
        <p:spPr>
          <a:xfrm>
            <a:off x="685800" y="1618488"/>
            <a:ext cx="5219548" cy="160629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Chiletso makes 4 dozen cookies per hour.</a:t>
            </a:r>
            <a:endParaRPr lang="en-US" sz="1950" dirty="0"/>
          </a:p>
        </p:txBody>
      </p:sp>
      <p:sp>
        <p:nvSpPr>
          <p:cNvPr id="5" name="Shape 5"/>
          <p:cNvSpPr txBox="1"/>
          <p:nvPr/>
        </p:nvSpPr>
        <p:spPr>
          <a:xfrm>
            <a:off x="895350" y="253441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4: parallel</a:t>
            </a:r>
            <a:endParaRPr lang="en-US" sz="2325" dirty="0"/>
          </a:p>
        </p:txBody>
      </p:sp>
      <p:sp>
        <p:nvSpPr>
          <p:cNvPr id="9" name="Shape 9"/>
          <p:cNvSpPr txBox="1"/>
          <p:nvPr/>
        </p:nvSpPr>
        <p:spPr>
          <a:xfrm>
            <a:off x="6286348" y="1618488"/>
            <a:ext cx="521954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8" name="Shape 8"/>
          <p:cNvSpPr txBox="1"/>
          <p:nvPr/>
        </p:nvSpPr>
        <p:spPr>
          <a:xfrm>
            <a:off x="6495898" y="223723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perpendicular</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4</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− 3</a:t>
            </a:r>
            <a:endParaRPr lang="en-US" sz="3450" dirty="0"/>
          </a:p>
        </p:txBody>
      </p:sp>
      <p:sp>
        <p:nvSpPr>
          <p:cNvPr id="9" name="Shape 9"/>
          <p:cNvSpPr txBox="1"/>
          <p:nvPr/>
        </p:nvSpPr>
        <p:spPr>
          <a:xfrm>
            <a:off x="685800" y="1618488"/>
            <a:ext cx="5295748" cy="35425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Chiletso makes 4 dozen cookies per hour.</a:t>
            </a:r>
            <a:endParaRPr lang="en-US" sz="2100" dirty="0"/>
          </a:p>
        </p:txBody>
      </p:sp>
      <p:sp>
        <p:nvSpPr>
          <p:cNvPr id="5" name="Shape 5"/>
          <p:cNvSpPr txBox="1"/>
          <p:nvPr/>
        </p:nvSpPr>
        <p:spPr>
          <a:xfrm>
            <a:off x="895350" y="258013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Look for "per": 4 dozen </a:t>
            </a:r>
            <a:r>
              <a:rPr lang="en-US" sz="1575" dirty="0" b="1">
                <a:solidFill>
                  <a:srgbClr val="16171D"/>
                </a:solidFill>
                <a:latin typeface="Segoe UI"/>
                <a:cs typeface="Segoe UI"/>
              </a:rPr>
              <a:t xml:space="preserve">per</a:t>
            </a:r>
            <a:r>
              <a:rPr lang="en-US" sz="1575" dirty="0">
                <a:solidFill>
                  <a:srgbClr val="16171D"/>
                </a:solidFill>
                <a:latin typeface="Segoe UI"/>
                <a:cs typeface="Segoe UI"/>
              </a:rPr>
              <a:t xml:space="preserve"> hour. The slope is 4.</a:t>
            </a:r>
            <a:endParaRPr lang="en-US" sz="1575" dirty="0"/>
          </a:p>
        </p:txBody>
      </p:sp>
      <p:sp>
        <p:nvSpPr>
          <p:cNvPr id="6" name="Shape 6"/>
          <p:cNvSpPr txBox="1"/>
          <p:nvPr/>
        </p:nvSpPr>
        <p:spPr>
          <a:xfrm>
            <a:off x="895350" y="321030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The slope of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4</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 is the number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4.</a:t>
            </a:r>
            <a:endParaRPr lang="en-US" sz="1575" dirty="0"/>
          </a:p>
        </p:txBody>
      </p:sp>
      <p:sp>
        <p:nvSpPr>
          <p:cNvPr id="7" name="Shape 7"/>
          <p:cNvSpPr txBox="1"/>
          <p:nvPr/>
        </p:nvSpPr>
        <p:spPr>
          <a:xfrm>
            <a:off x="895350" y="384048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4 and 4 are the same slope, so the lines are parallel.</a:t>
            </a:r>
            <a:endParaRPr lang="en-US" sz="1575" dirty="0"/>
          </a:p>
        </p:txBody>
      </p:sp>
      <p:sp>
        <p:nvSpPr>
          <p:cNvPr id="8" name="Shape 8"/>
          <p:cNvSpPr txBox="1"/>
          <p:nvPr/>
        </p:nvSpPr>
        <p:spPr>
          <a:xfrm>
            <a:off x="895350" y="4470654"/>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4: parallel</a:t>
            </a:r>
            <a:endParaRPr lang="en-US" sz="2325" dirty="0"/>
          </a:p>
        </p:txBody>
      </p:sp>
      <p:sp>
        <p:nvSpPr>
          <p:cNvPr id="15" name="Shape 15"/>
          <p:cNvSpPr txBox="1"/>
          <p:nvPr/>
        </p:nvSpPr>
        <p:spPr>
          <a:xfrm>
            <a:off x="6210148" y="1618488"/>
            <a:ext cx="529574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 = −</a:t>
            </a:r>
            <a:r>
              <a:rPr lang="en-US" sz="2100" dirty="0" b="1">
                <a:solidFill>
                  <a:srgbClr val="16171D"/>
                </a:solidFill>
                <a:latin typeface="Segoe UI"/>
                <a:cs typeface="Segoe UI"/>
              </a:rPr>
              <a:t xml:space="preserve">1</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4</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+ 2</a:t>
            </a:r>
            <a:endParaRPr lang="en-US" sz="2100" dirty="0"/>
          </a:p>
        </p:txBody>
      </p:sp>
      <p:sp>
        <p:nvSpPr>
          <p:cNvPr id="11" name="Shape 11"/>
          <p:cNvSpPr txBox="1"/>
          <p:nvPr/>
        </p:nvSpPr>
        <p:spPr>
          <a:xfrm>
            <a:off x="6419698"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slope is the number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12" name="Shape 12"/>
          <p:cNvSpPr txBox="1"/>
          <p:nvPr/>
        </p:nvSpPr>
        <p:spPr>
          <a:xfrm>
            <a:off x="6419698"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Is it the same as 4? No, so not parallel.</a:t>
            </a:r>
            <a:endParaRPr lang="en-US" sz="1575" dirty="0"/>
          </a:p>
        </p:txBody>
      </p:sp>
      <p:sp>
        <p:nvSpPr>
          <p:cNvPr id="13" name="Shape 13"/>
          <p:cNvSpPr txBox="1"/>
          <p:nvPr/>
        </p:nvSpPr>
        <p:spPr>
          <a:xfrm>
            <a:off x="6419698" y="328041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Multiply the slopes: 4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 −1. A product of −1 means perpendicular.</a:t>
            </a:r>
            <a:endParaRPr lang="en-US" sz="1575" dirty="0"/>
          </a:p>
        </p:txBody>
      </p:sp>
      <p:sp>
        <p:nvSpPr>
          <p:cNvPr id="14" name="Shape 14"/>
          <p:cNvSpPr txBox="1"/>
          <p:nvPr/>
        </p:nvSpPr>
        <p:spPr>
          <a:xfrm>
            <a:off x="6419698" y="3910584"/>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perpendicular</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Table and graph</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recycling center pays more?</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Travis County</a:t>
            </a:r>
            <a:endParaRPr lang="en-US" sz="1950" dirty="0"/>
          </a:p>
        </p:txBody>
      </p:sp>
      <p:sp>
        <p:nvSpPr>
          <p:cNvPr id="5" name="Shape 5"/>
          <p:cNvSpPr txBox="1"/>
          <p:nvPr/>
        </p:nvSpPr>
        <p:spPr>
          <a:xfrm>
            <a:off x="685800"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tons</a:t>
            </a:r>
            <a:endParaRPr lang="en-US" sz="1800" dirty="0"/>
          </a:p>
        </p:txBody>
      </p:sp>
      <p:sp>
        <p:nvSpPr>
          <p:cNvPr id="6" name="Shape 6"/>
          <p:cNvSpPr txBox="1"/>
          <p:nvPr/>
        </p:nvSpPr>
        <p:spPr>
          <a:xfrm>
            <a:off x="1828800"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a:t>
            </a:r>
            <a:endParaRPr lang="en-US" sz="1800" dirty="0"/>
          </a:p>
        </p:txBody>
      </p:sp>
      <p:sp>
        <p:nvSpPr>
          <p:cNvPr id="7" name="Shape 7"/>
          <p:cNvSpPr txBox="1"/>
          <p:nvPr/>
        </p:nvSpPr>
        <p:spPr>
          <a:xfrm>
            <a:off x="685800" y="252450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8" name="Shape 8"/>
          <p:cNvSpPr txBox="1"/>
          <p:nvPr/>
        </p:nvSpPr>
        <p:spPr>
          <a:xfrm>
            <a:off x="1828800" y="252450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15</a:t>
            </a:r>
            <a:endParaRPr lang="en-US" sz="1800" dirty="0"/>
          </a:p>
        </p:txBody>
      </p:sp>
      <p:sp>
        <p:nvSpPr>
          <p:cNvPr id="9" name="Shape 9"/>
          <p:cNvSpPr txBox="1"/>
          <p:nvPr/>
        </p:nvSpPr>
        <p:spPr>
          <a:xfrm>
            <a:off x="685800" y="294513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10" name="Shape 10"/>
          <p:cNvSpPr txBox="1"/>
          <p:nvPr/>
        </p:nvSpPr>
        <p:spPr>
          <a:xfrm>
            <a:off x="1828800" y="294513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11" name="Shape 11"/>
          <p:cNvSpPr txBox="1"/>
          <p:nvPr/>
        </p:nvSpPr>
        <p:spPr>
          <a:xfrm>
            <a:off x="685800" y="349910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Rate: ____ per ton</a:t>
            </a:r>
            <a:endParaRPr lang="en-US" sz="1950" dirty="0"/>
          </a:p>
        </p:txBody>
      </p:sp>
      <p:sp>
        <p:nvSpPr>
          <p:cNvPr id="12" name="Shape 12"/>
          <p:cNvSpPr txBox="1"/>
          <p:nvPr/>
        </p:nvSpPr>
        <p:spPr>
          <a:xfrm>
            <a:off x="685800" y="398449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$15</a:t>
            </a:r>
            <a:endParaRPr lang="en-US" sz="2325" dirty="0"/>
          </a:p>
        </p:txBody>
      </p:sp>
      <p:sp>
        <p:nvSpPr>
          <p:cNvPr id="13" name="Shape 13"/>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Hays County graph: through (1, 20)</a:t>
            </a:r>
            <a:endParaRPr lang="en-US" sz="1950" dirty="0"/>
          </a:p>
        </p:txBody>
      </p:sp>
      <p:sp>
        <p:nvSpPr>
          <p:cNvPr id="14" name="Shape 14"/>
          <p:cNvSpPr txBox="1"/>
          <p:nvPr/>
        </p:nvSpPr>
        <p:spPr>
          <a:xfrm>
            <a:off x="6286348" y="210388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Rate: ____ per ton</a:t>
            </a:r>
            <a:endParaRPr lang="en-US" sz="1950" dirty="0"/>
          </a:p>
        </p:txBody>
      </p:sp>
      <p:sp>
        <p:nvSpPr>
          <p:cNvPr id="15" name="Shape 15"/>
          <p:cNvSpPr txBox="1"/>
          <p:nvPr/>
        </p:nvSpPr>
        <p:spPr>
          <a:xfrm>
            <a:off x="6286348" y="2589276"/>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
        <p:nvSpPr>
          <p:cNvPr id="16" name="Shape 16"/>
          <p:cNvSpPr txBox="1"/>
          <p:nvPr/>
        </p:nvSpPr>
        <p:spPr>
          <a:xfrm>
            <a:off x="6286348" y="324154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Which pays more?</a:t>
            </a:r>
            <a:endParaRPr lang="en-US" sz="1950" dirty="0"/>
          </a:p>
        </p:txBody>
      </p:sp>
      <p:sp>
        <p:nvSpPr>
          <p:cNvPr id="17" name="Shape 17"/>
          <p:cNvSpPr txBox="1"/>
          <p:nvPr/>
        </p:nvSpPr>
        <p:spPr>
          <a:xfrm>
            <a:off x="6286348" y="372694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Hays County</a:t>
            </a:r>
            <a:endParaRPr lang="en-US" sz="2325" dirty="0"/>
          </a:p>
        </p:txBody>
      </p:sp>
      <p:sp>
        <p:nvSpPr>
          <p:cNvPr id="18" name="Slide Number 1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ppt_w</p:attrName>
                                        </p:attrNameLst>
                                      </p:cBhvr>
                                      <p:tavLst>
                                        <p:tav tm="0">
                                          <p:val>
                                            <p:fltVal val="0"/>
                                          </p:val>
                                        </p:tav>
                                        <p:tav tm="100000">
                                          <p:val>
                                            <p:strVal val="#ppt_w"/>
                                          </p:val>
                                        </p:tav>
                                      </p:tavLst>
                                    </p:anim>
                                    <p:anim calcmode="lin" valueType="num">
                                      <p:cBhvr>
                                        <p:cTn id="6"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November 3</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November 4. Start at the next slide, “Start: Wednesday, November 4.”</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Day 2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Wednesday, November 4</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(Three ways to write a function; four views) → Lesson 4, Day 2.</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 Wed, Nov 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Travis County pays $15 per ton of cardboard. How much is paid for 3 tons?</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total = rate × amount</a:t>
            </a:r>
            <a:endParaRPr lang="en-US" sz="1575" dirty="0"/>
          </a:p>
        </p:txBody>
      </p:sp>
      <p:sp>
        <p:nvSpPr>
          <p:cNvPr id="6" name="Shape 6"/>
          <p:cNvSpPr txBox="1"/>
          <p:nvPr/>
        </p:nvSpPr>
        <p:spPr>
          <a:xfrm>
            <a:off x="895350" y="2695956"/>
            <a:ext cx="3964187"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$45</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Rate: $15 per ton. Amount: 3 tons.</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15 · 3 = 45</a:t>
            </a:r>
            <a:r>
              <a:rPr lang="en-US" sz="1425" dirty="0">
                <a:solidFill>
                  <a:srgbClr val="16171D"/>
                </a:solidFill>
                <a:latin typeface="Segoe UI"/>
                <a:cs typeface="Segoe UI"/>
              </a:rPr>
              <a:t xml:space="preserve">, so $45.</a:t>
            </a:r>
            <a:endParaRPr lang="en-US" sz="1425" dirty="0"/>
          </a:p>
        </p:txBody>
      </p:sp>
      <p:sp>
        <p:nvSpPr>
          <p:cNvPr id="11" name="Shape 11"/>
          <p:cNvSpPr txBox="1"/>
          <p:nvPr/>
        </p:nvSpPr>
        <p:spPr>
          <a:xfrm>
            <a:off x="685800" y="381685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98830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Hays County's graph passes through </a:t>
            </a:r>
            <a:r>
              <a:rPr lang="en-US" sz="1575" dirty="0">
                <a:solidFill>
                  <a:srgbClr val="16171D"/>
                </a:solidFill>
                <a:latin typeface="Cambria"/>
                <a:cs typeface="Cambria"/>
              </a:rPr>
              <a:t xml:space="preserve">(0, 0)</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(1, 20)</a:t>
            </a:r>
            <a:r>
              <a:rPr lang="en-US" sz="1575" dirty="0">
                <a:solidFill>
                  <a:srgbClr val="16171D"/>
                </a:solidFill>
                <a:latin typeface="Segoe UI"/>
                <a:cs typeface="Segoe UI"/>
              </a:rPr>
              <a:t xml:space="preserve">. What is the payout per ton?</a:t>
            </a:r>
            <a:endParaRPr lang="en-US" sz="1575" dirty="0"/>
          </a:p>
        </p:txBody>
      </p:sp>
      <p:sp>
        <p:nvSpPr>
          <p:cNvPr id="9" name="Shape 9"/>
          <p:cNvSpPr txBox="1"/>
          <p:nvPr/>
        </p:nvSpPr>
        <p:spPr>
          <a:xfrm>
            <a:off x="895350" y="45613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10" name="Shape 10"/>
          <p:cNvSpPr txBox="1"/>
          <p:nvPr/>
        </p:nvSpPr>
        <p:spPr>
          <a:xfrm>
            <a:off x="895350" y="489432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$20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Change in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20 − 0 = 20</a:t>
            </a:r>
            <a:r>
              <a:rPr lang="en-US" sz="1425" dirty="0">
                <a:solidFill>
                  <a:srgbClr val="16171D"/>
                </a:solidFill>
                <a:latin typeface="Segoe UI"/>
                <a:cs typeface="Segoe UI"/>
              </a:rPr>
              <a:t xml:space="preserve">. Change in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1 − 0 = 1</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20 ÷ 1 = 20</a:t>
            </a:r>
            <a:r>
              <a:rPr lang="en-US" sz="1425" dirty="0">
                <a:solidFill>
                  <a:srgbClr val="16171D"/>
                </a:solidFill>
                <a:latin typeface="Segoe UI"/>
                <a:cs typeface="Segoe UI"/>
              </a:rPr>
              <a:t xml:space="preserve">, so $20 per ton.</a:t>
            </a:r>
            <a:endParaRPr lang="en-US" sz="1425" dirty="0"/>
          </a:p>
        </p:txBody>
      </p:sp>
      <p:sp>
        <p:nvSpPr>
          <p:cNvPr id="15" name="Shape 15"/>
          <p:cNvSpPr txBox="1"/>
          <p:nvPr/>
        </p:nvSpPr>
        <p:spPr>
          <a:xfrm>
            <a:off x="6210148"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9/5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+ 32</a:t>
            </a:r>
            <a:r>
              <a:rPr lang="en-US" sz="1575" dirty="0">
                <a:solidFill>
                  <a:srgbClr val="16171D"/>
                </a:solidFill>
                <a:latin typeface="Segoe UI"/>
                <a:cs typeface="Segoe UI"/>
              </a:rPr>
              <a:t xml:space="preserve"> converts °C to °F. What is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(10)</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put the number in for </a:t>
            </a:r>
            <a:r>
              <a:rPr lang="en-US" sz="1575" dirty="0" i="1">
                <a:solidFill>
                  <a:srgbClr val="16171D"/>
                </a:solidFill>
                <a:latin typeface="Cambria"/>
                <a:cs typeface="Cambria"/>
              </a:rPr>
              <a:t xml:space="preserve">x</a:t>
            </a:r>
            <a:endParaRPr lang="en-US" sz="1575" dirty="0"/>
          </a:p>
        </p:txBody>
      </p:sp>
      <p:sp>
        <p:nvSpPr>
          <p:cNvPr id="14" name="Shape 14"/>
          <p:cNvSpPr txBox="1"/>
          <p:nvPr/>
        </p:nvSpPr>
        <p:spPr>
          <a:xfrm>
            <a:off x="6419698" y="2695956"/>
            <a:ext cx="3868415"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50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J</a:t>
            </a:r>
            <a:r>
              <a:rPr lang="en-US" sz="1425" dirty="0">
                <a:solidFill>
                  <a:srgbClr val="16171D"/>
                </a:solidFill>
                <a:latin typeface="Cambria"/>
                <a:cs typeface="Cambria"/>
              </a:rPr>
              <a:t xml:space="preserve">(10) = 9/5 · 10 + 32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Multiply: </a:t>
            </a:r>
            <a:r>
              <a:rPr lang="en-US" sz="1425" dirty="0">
                <a:solidFill>
                  <a:srgbClr val="16171D"/>
                </a:solidFill>
                <a:latin typeface="Cambria"/>
                <a:cs typeface="Cambria"/>
              </a:rPr>
              <a:t xml:space="preserve">9/5 · 10 = 90 ÷ 5 = 18</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Add: </a:t>
            </a:r>
            <a:r>
              <a:rPr lang="en-US" sz="1425" dirty="0">
                <a:solidFill>
                  <a:srgbClr val="16171D"/>
                </a:solidFill>
                <a:latin typeface="Cambria"/>
                <a:cs typeface="Cambria"/>
              </a:rPr>
              <a:t xml:space="preserve">18 + 32 = 50</a:t>
            </a:r>
            <a:r>
              <a:rPr lang="en-US" sz="1425" dirty="0">
                <a:solidFill>
                  <a:srgbClr val="16171D"/>
                </a:solidFill>
                <a:latin typeface="Segoe UI"/>
                <a:cs typeface="Segoe UI"/>
              </a:rPr>
              <a:t xml:space="preserve">. 10°C is 50°F.</a:t>
            </a:r>
            <a:endParaRPr lang="en-US" sz="1425" dirty="0"/>
          </a:p>
        </p:txBody>
      </p:sp>
      <p:sp>
        <p:nvSpPr>
          <p:cNvPr id="19" name="Shape 19"/>
          <p:cNvSpPr txBox="1"/>
          <p:nvPr/>
        </p:nvSpPr>
        <p:spPr>
          <a:xfrm>
            <a:off x="6210148" y="4034028"/>
            <a:ext cx="5295748" cy="27393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205478"/>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A 200-gallon tank drains 10 gallons each minute: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200 − 10</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What is the range of the function for this situation?</a:t>
            </a:r>
            <a:endParaRPr lang="en-US" sz="1575" dirty="0"/>
          </a:p>
        </p:txBody>
      </p:sp>
      <p:sp>
        <p:nvSpPr>
          <p:cNvPr id="17" name="Shape 17"/>
          <p:cNvSpPr txBox="1"/>
          <p:nvPr/>
        </p:nvSpPr>
        <p:spPr>
          <a:xfrm>
            <a:off x="6419698" y="50185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range = the outputs</a:t>
            </a:r>
            <a:endParaRPr lang="en-US" sz="1575" dirty="0"/>
          </a:p>
        </p:txBody>
      </p:sp>
      <p:sp>
        <p:nvSpPr>
          <p:cNvPr id="18" name="Shape 18"/>
          <p:cNvSpPr txBox="1"/>
          <p:nvPr/>
        </p:nvSpPr>
        <p:spPr>
          <a:xfrm>
            <a:off x="6419698" y="535152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0 ≤ </a:t>
            </a:r>
            <a:r>
              <a:rPr lang="en-US" sz="1425" dirty="0" b="1" i="1">
                <a:solidFill>
                  <a:srgbClr val="16171D"/>
                </a:solidFill>
                <a:latin typeface="Cambria"/>
                <a:cs typeface="Cambria"/>
              </a:rPr>
              <a:t xml:space="preserve">w</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t</a:t>
            </a:r>
            <a:r>
              <a:rPr lang="en-US" sz="1425" dirty="0" b="1">
                <a:solidFill>
                  <a:srgbClr val="16171D"/>
                </a:solidFill>
                <a:latin typeface="Cambria"/>
                <a:cs typeface="Cambria"/>
              </a:rPr>
              <a:t xml:space="preserve">) ≤ 200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The output is </a:t>
            </a:r>
            <a:r>
              <a:rPr lang="en-US" sz="1425" dirty="0" i="1">
                <a:solidFill>
                  <a:srgbClr val="16171D"/>
                </a:solidFill>
                <a:latin typeface="Cambria"/>
                <a:cs typeface="Cambria"/>
              </a:rPr>
              <a:t xml:space="preserve">w</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the gallons left.</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Most: 200 gallons at the start. Least: 0 gallons, when </a:t>
            </a:r>
            <a:r>
              <a:rPr lang="en-US" sz="1425" dirty="0">
                <a:solidFill>
                  <a:srgbClr val="16171D"/>
                </a:solidFill>
                <a:latin typeface="Cambria"/>
                <a:cs typeface="Cambria"/>
              </a:rPr>
              <a:t xml:space="preserve">200 − 10</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 = 0</a:t>
            </a:r>
            <a:r>
              <a:rPr lang="en-US" sz="1425" dirty="0">
                <a:solidFill>
                  <a:srgbClr val="16171D"/>
                </a:solidFill>
                <a:latin typeface="Segoe UI"/>
                <a:cs typeface="Segoe UI"/>
              </a:rPr>
              <a:t xml:space="preserve"> at </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 = 20</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Range: </a:t>
            </a:r>
            <a:r>
              <a:rPr lang="en-US" sz="1425" dirty="0">
                <a:solidFill>
                  <a:srgbClr val="16171D"/>
                </a:solidFill>
                <a:latin typeface="Cambria"/>
                <a:cs typeface="Cambria"/>
              </a:rPr>
              <a:t xml:space="preserve">0 ≤ </a:t>
            </a:r>
            <a:r>
              <a:rPr lang="en-US" sz="1425" dirty="0" i="1">
                <a:solidFill>
                  <a:srgbClr val="16171D"/>
                </a:solidFill>
                <a:latin typeface="Cambria"/>
                <a:cs typeface="Cambria"/>
              </a:rPr>
              <a:t xml:space="preserve">w</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 ≤ 200</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Wed, Nov 4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Three ways to write a function; four views</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4 compares tables, graphs, equations and descriptions: the same four views.</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6" name="Shape 6"/>
          <p:cNvSpPr txBox="1"/>
          <p:nvPr/>
        </p:nvSpPr>
        <p:spPr>
          <a:xfrm>
            <a:off x="685800" y="1618488"/>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Is the table linear?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1, 3, 7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4, 10, 22. If yes, write the function.</a:t>
            </a:r>
            <a:endParaRPr lang="en-US" sz="1950" dirty="0"/>
          </a:p>
        </p:txBody>
      </p:sp>
      <p:sp>
        <p:nvSpPr>
          <p:cNvPr id="5" name="Shape 5"/>
          <p:cNvSpPr txBox="1"/>
          <p:nvPr/>
        </p:nvSpPr>
        <p:spPr>
          <a:xfrm>
            <a:off x="895350" y="2237232"/>
            <a:ext cx="639037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slope 3: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9" name="Shape 9"/>
          <p:cNvSpPr txBox="1"/>
          <p:nvPr/>
        </p:nvSpPr>
        <p:spPr>
          <a:xfrm>
            <a:off x="685800" y="3060954"/>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3232404"/>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zero of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a:t>
            </a:r>
            <a:endParaRPr lang="en-US" sz="1950" dirty="0"/>
          </a:p>
        </p:txBody>
      </p:sp>
      <p:sp>
        <p:nvSpPr>
          <p:cNvPr id="8" name="Shape 8"/>
          <p:cNvSpPr txBox="1"/>
          <p:nvPr/>
        </p:nvSpPr>
        <p:spPr>
          <a:xfrm>
            <a:off x="895350" y="367969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12" name="Shape 12"/>
          <p:cNvSpPr txBox="1"/>
          <p:nvPr/>
        </p:nvSpPr>
        <p:spPr>
          <a:xfrm>
            <a:off x="685800" y="4503420"/>
            <a:ext cx="10820095" cy="160629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95350" y="4674870"/>
            <a:ext cx="104009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Bracelets sell for $10 each. The booth costs $30: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10</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− 30. What does the 10 mean?</a:t>
            </a:r>
            <a:endParaRPr lang="en-US" sz="1950" dirty="0"/>
          </a:p>
        </p:txBody>
      </p:sp>
      <p:sp>
        <p:nvSpPr>
          <p:cNvPr id="11" name="Shape 11"/>
          <p:cNvSpPr txBox="1"/>
          <p:nvPr/>
        </p:nvSpPr>
        <p:spPr>
          <a:xfrm>
            <a:off x="895350" y="5419344"/>
            <a:ext cx="854612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earned for each bracelet (the slope)</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Meaning in a story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Lauren starts with $25 and saves $25 each month</a:t>
            </a:r>
            <a:endParaRPr lang="en-US" sz="3450" dirty="0"/>
          </a:p>
        </p:txBody>
      </p:sp>
      <p:sp>
        <p:nvSpPr>
          <p:cNvPr id="4" name="Shape 4"/>
          <p:cNvSpPr txBox="1"/>
          <p:nvPr/>
        </p:nvSpPr>
        <p:spPr>
          <a:xfrm>
            <a:off x="685800" y="161848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25</a:t>
            </a:r>
            <a:endParaRPr lang="en-US" sz="2850" dirty="0"/>
          </a:p>
        </p:txBody>
      </p:sp>
      <p:sp>
        <p:nvSpPr>
          <p:cNvPr id="5" name="Shape 5"/>
          <p:cNvSpPr txBox="1"/>
          <p:nvPr/>
        </p:nvSpPr>
        <p:spPr>
          <a:xfrm>
            <a:off x="685800" y="227914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C9561F"/>
                </a:solidFill>
                <a:latin typeface="Segoe UI"/>
                <a:cs typeface="Segoe UI"/>
              </a:rPr>
              <a:t xml:space="preserve">25</a:t>
            </a:r>
            <a:r>
              <a:rPr lang="en-US" sz="1950" dirty="0">
                <a:solidFill>
                  <a:srgbClr val="16171D"/>
                </a:solidFill>
                <a:latin typeface="Segoe UI"/>
                <a:cs typeface="Segoe UI"/>
              </a:rPr>
              <a:t xml:space="preserve"> (slope): she saves $25 each month.</a:t>
            </a:r>
            <a:endParaRPr lang="en-US" sz="1950" dirty="0"/>
          </a:p>
        </p:txBody>
      </p:sp>
      <p:sp>
        <p:nvSpPr>
          <p:cNvPr id="6" name="Shape 6"/>
          <p:cNvSpPr txBox="1"/>
          <p:nvPr/>
        </p:nvSpPr>
        <p:spPr>
          <a:xfrm>
            <a:off x="685800" y="280263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3050B8"/>
                </a:solidFill>
                <a:latin typeface="Segoe UI"/>
                <a:cs typeface="Segoe UI"/>
              </a:rPr>
              <a:t xml:space="preserve">25</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she started with $25.</a:t>
            </a:r>
            <a:endParaRPr lang="en-US" sz="1950" dirty="0"/>
          </a:p>
        </p:txBody>
      </p:sp>
      <p:sp>
        <p:nvSpPr>
          <p:cNvPr id="7" name="Shape 7"/>
          <p:cNvSpPr txBox="1"/>
          <p:nvPr/>
        </p:nvSpPr>
        <p:spPr>
          <a:xfrm>
            <a:off x="685800" y="332613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Miguel saves $20 a month from $0. Who saves faster?</a:t>
            </a:r>
            <a:endParaRPr lang="en-US" sz="1950" dirty="0"/>
          </a:p>
        </p:txBody>
      </p:sp>
      <p:sp>
        <p:nvSpPr>
          <p:cNvPr id="8" name="Shape 8"/>
          <p:cNvSpPr txBox="1"/>
          <p:nvPr/>
        </p:nvSpPr>
        <p:spPr>
          <a:xfrm>
            <a:off x="685800" y="3849624"/>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Lauren ($25 &gt; $20)</a:t>
            </a:r>
            <a:endParaRPr lang="en-US" sz="2325"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taxi charges $3 plus $2 per mile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(with units): ____</a:t>
            </a:r>
            <a:endParaRPr lang="en-US" sz="1950" dirty="0"/>
          </a:p>
        </p:txBody>
      </p:sp>
      <p:sp>
        <p:nvSpPr>
          <p:cNvPr id="5" name="Shape 5"/>
          <p:cNvSpPr txBox="1"/>
          <p:nvPr/>
        </p:nvSpPr>
        <p:spPr>
          <a:xfrm>
            <a:off x="685800" y="214198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per mile</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meaning: ____</a:t>
            </a:r>
            <a:endParaRPr lang="en-US" sz="1950" dirty="0"/>
          </a:p>
        </p:txBody>
      </p:sp>
      <p:sp>
        <p:nvSpPr>
          <p:cNvPr id="7" name="Shape 7"/>
          <p:cNvSpPr txBox="1"/>
          <p:nvPr/>
        </p:nvSpPr>
        <p:spPr>
          <a:xfrm>
            <a:off x="685800" y="3355848"/>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before driving</a:t>
            </a:r>
            <a:endParaRPr lang="en-US" sz="2325"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taxi charges $3 plus $2 per mile</a:t>
            </a:r>
            <a:endParaRPr lang="en-US" sz="3450" dirty="0"/>
          </a:p>
        </p:txBody>
      </p:sp>
      <p:sp>
        <p:nvSpPr>
          <p:cNvPr id="9" name="Shape 9"/>
          <p:cNvSpPr txBox="1"/>
          <p:nvPr/>
        </p:nvSpPr>
        <p:spPr>
          <a:xfrm>
            <a:off x="685800" y="1618488"/>
            <a:ext cx="529574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Slope (with units)</a:t>
            </a:r>
            <a:endParaRPr lang="en-US" sz="2100" dirty="0"/>
          </a:p>
        </p:txBody>
      </p:sp>
      <p:sp>
        <p:nvSpPr>
          <p:cNvPr id="5" name="Shape 5"/>
          <p:cNvSpPr txBox="1"/>
          <p:nvPr/>
        </p:nvSpPr>
        <p:spPr>
          <a:xfrm>
            <a:off x="895350"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Look for "per": $2 </a:t>
            </a:r>
            <a:r>
              <a:rPr lang="en-US" sz="1575" dirty="0" b="1">
                <a:solidFill>
                  <a:srgbClr val="16171D"/>
                </a:solidFill>
                <a:latin typeface="Segoe UI"/>
                <a:cs typeface="Segoe UI"/>
              </a:rPr>
              <a:t xml:space="preserve">per</a:t>
            </a:r>
            <a:r>
              <a:rPr lang="en-US" sz="1575" dirty="0">
                <a:solidFill>
                  <a:srgbClr val="16171D"/>
                </a:solidFill>
                <a:latin typeface="Segoe UI"/>
                <a:cs typeface="Segoe UI"/>
              </a:rPr>
              <a:t xml:space="preserve"> mile.</a:t>
            </a:r>
            <a:endParaRPr lang="en-US" sz="1575" dirty="0"/>
          </a:p>
        </p:txBody>
      </p:sp>
      <p:sp>
        <p:nvSpPr>
          <p:cNvPr id="6" name="Shape 6"/>
          <p:cNvSpPr txBox="1"/>
          <p:nvPr/>
        </p:nvSpPr>
        <p:spPr>
          <a:xfrm>
            <a:off x="895350"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The slope is how much the cost goes up for each 1 mile: $2.</a:t>
            </a:r>
            <a:endParaRPr lang="en-US" sz="1575" dirty="0"/>
          </a:p>
        </p:txBody>
      </p:sp>
      <p:sp>
        <p:nvSpPr>
          <p:cNvPr id="7" name="Shape 7"/>
          <p:cNvSpPr txBox="1"/>
          <p:nvPr/>
        </p:nvSpPr>
        <p:spPr>
          <a:xfrm>
            <a:off x="895350" y="328041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Units: output (dollars) per input (miles).</a:t>
            </a:r>
            <a:endParaRPr lang="en-US" sz="1575" dirty="0"/>
          </a:p>
        </p:txBody>
      </p:sp>
      <p:sp>
        <p:nvSpPr>
          <p:cNvPr id="8" name="Shape 8"/>
          <p:cNvSpPr txBox="1"/>
          <p:nvPr/>
        </p:nvSpPr>
        <p:spPr>
          <a:xfrm>
            <a:off x="895350" y="3910584"/>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per mile</a:t>
            </a:r>
            <a:endParaRPr lang="en-US" sz="2325" dirty="0"/>
          </a:p>
        </p:txBody>
      </p:sp>
      <p:sp>
        <p:nvSpPr>
          <p:cNvPr id="15" name="Shape 15"/>
          <p:cNvSpPr txBox="1"/>
          <p:nvPr/>
        </p:nvSpPr>
        <p:spPr>
          <a:xfrm>
            <a:off x="6210148" y="1618488"/>
            <a:ext cx="529574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What the </a:t>
            </a: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 means</a:t>
            </a:r>
            <a:endParaRPr lang="en-US" sz="2100" dirty="0"/>
          </a:p>
        </p:txBody>
      </p:sp>
      <p:sp>
        <p:nvSpPr>
          <p:cNvPr id="11" name="Shape 11"/>
          <p:cNvSpPr txBox="1"/>
          <p:nvPr/>
        </p:nvSpPr>
        <p:spPr>
          <a:xfrm>
            <a:off x="6419698"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is the cost when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miles.</a:t>
            </a:r>
            <a:endParaRPr lang="en-US" sz="1575" dirty="0"/>
          </a:p>
        </p:txBody>
      </p:sp>
      <p:sp>
        <p:nvSpPr>
          <p:cNvPr id="12" name="Shape 12"/>
          <p:cNvSpPr txBox="1"/>
          <p:nvPr/>
        </p:nvSpPr>
        <p:spPr>
          <a:xfrm>
            <a:off x="6419698" y="2890266"/>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At 0 miles you still pay the $3.</a:t>
            </a:r>
            <a:endParaRPr lang="en-US" sz="1575" dirty="0"/>
          </a:p>
        </p:txBody>
      </p:sp>
      <p:sp>
        <p:nvSpPr>
          <p:cNvPr id="13" name="Shape 13"/>
          <p:cNvSpPr txBox="1"/>
          <p:nvPr/>
        </p:nvSpPr>
        <p:spPr>
          <a:xfrm>
            <a:off x="6419698" y="328041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So the equation is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 and 3 is the start.</a:t>
            </a:r>
            <a:endParaRPr lang="en-US" sz="1575" dirty="0"/>
          </a:p>
        </p:txBody>
      </p:sp>
      <p:sp>
        <p:nvSpPr>
          <p:cNvPr id="14" name="Shape 14"/>
          <p:cNvSpPr txBox="1"/>
          <p:nvPr/>
        </p:nvSpPr>
        <p:spPr>
          <a:xfrm>
            <a:off x="6419698" y="3910584"/>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before driving</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9" name="Shape 9"/>
          <p:cNvSpPr txBox="1"/>
          <p:nvPr/>
        </p:nvSpPr>
        <p:spPr>
          <a:xfrm>
            <a:off x="685800" y="1618488"/>
            <a:ext cx="3479698" cy="30739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6059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 table has (0, 1) and (2, 9). What is its slope?</a:t>
            </a:r>
            <a:endParaRPr lang="en-US" sz="1950" dirty="0"/>
          </a:p>
        </p:txBody>
      </p:sp>
      <p:sp>
        <p:nvSpPr>
          <p:cNvPr id="5" name="Shape 5"/>
          <p:cNvSpPr txBox="1"/>
          <p:nvPr/>
        </p:nvSpPr>
        <p:spPr>
          <a:xfrm>
            <a:off x="895350" y="283159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endParaRPr lang="en-US" sz="2325" dirty="0"/>
          </a:p>
        </p:txBody>
      </p:sp>
      <p:sp>
        <p:nvSpPr>
          <p:cNvPr id="6" name="Shape 6"/>
          <p:cNvSpPr txBox="1"/>
          <p:nvPr/>
        </p:nvSpPr>
        <p:spPr>
          <a:xfrm>
            <a:off x="895350" y="3445764"/>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Change in y: 9 − 1 = 8.</a:t>
            </a:r>
            <a:endParaRPr lang="en-US" sz="1575" dirty="0"/>
          </a:p>
        </p:txBody>
      </p:sp>
      <p:sp>
        <p:nvSpPr>
          <p:cNvPr id="7" name="Shape 7"/>
          <p:cNvSpPr txBox="1"/>
          <p:nvPr/>
        </p:nvSpPr>
        <p:spPr>
          <a:xfrm>
            <a:off x="895350" y="3835908"/>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Change in x: 2 − 0 = 2.</a:t>
            </a:r>
            <a:endParaRPr lang="en-US" sz="1575" dirty="0"/>
          </a:p>
        </p:txBody>
      </p:sp>
      <p:sp>
        <p:nvSpPr>
          <p:cNvPr id="8" name="Shape 8"/>
          <p:cNvSpPr txBox="1"/>
          <p:nvPr/>
        </p:nvSpPr>
        <p:spPr>
          <a:xfrm>
            <a:off x="895350" y="422605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Divide: 8 ÷ 2 = 4.</a:t>
            </a:r>
            <a:endParaRPr lang="en-US" sz="1575" dirty="0"/>
          </a:p>
        </p:txBody>
      </p:sp>
      <p:sp>
        <p:nvSpPr>
          <p:cNvPr id="14" name="Shape 14"/>
          <p:cNvSpPr txBox="1"/>
          <p:nvPr/>
        </p:nvSpPr>
        <p:spPr>
          <a:xfrm>
            <a:off x="4355998" y="1618488"/>
            <a:ext cx="3479698" cy="292379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4565548" y="1789938"/>
            <a:ext cx="306059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Is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+ 7 parallel or perpendicular to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11" name="Shape 11"/>
          <p:cNvSpPr txBox="1"/>
          <p:nvPr/>
        </p:nvSpPr>
        <p:spPr>
          <a:xfrm>
            <a:off x="4565548" y="2831592"/>
            <a:ext cx="30605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parallel</a:t>
            </a:r>
            <a:endParaRPr lang="en-US" sz="2325" dirty="0"/>
          </a:p>
        </p:txBody>
      </p:sp>
      <p:sp>
        <p:nvSpPr>
          <p:cNvPr id="12" name="Shape 12"/>
          <p:cNvSpPr txBox="1"/>
          <p:nvPr/>
        </p:nvSpPr>
        <p:spPr>
          <a:xfrm>
            <a:off x="4565548" y="344576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The slope is the number with x: both are 4.</a:t>
            </a:r>
            <a:endParaRPr lang="en-US" sz="1575" dirty="0"/>
          </a:p>
        </p:txBody>
      </p:sp>
      <p:sp>
        <p:nvSpPr>
          <p:cNvPr id="13" name="Shape 13"/>
          <p:cNvSpPr txBox="1"/>
          <p:nvPr/>
        </p:nvSpPr>
        <p:spPr>
          <a:xfrm>
            <a:off x="4565548" y="4075938"/>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Same slope means parallel.</a:t>
            </a:r>
            <a:endParaRPr lang="en-US" sz="1575" dirty="0"/>
          </a:p>
        </p:txBody>
      </p:sp>
      <p:sp>
        <p:nvSpPr>
          <p:cNvPr id="19" name="Shape 19"/>
          <p:cNvSpPr txBox="1"/>
          <p:nvPr/>
        </p:nvSpPr>
        <p:spPr>
          <a:xfrm>
            <a:off x="8026197" y="1618488"/>
            <a:ext cx="3479698" cy="34610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235747"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Savings: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10</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+ 50. What does 50 mean?</a:t>
            </a:r>
            <a:endParaRPr lang="en-US" sz="1950" dirty="0"/>
          </a:p>
        </p:txBody>
      </p:sp>
      <p:sp>
        <p:nvSpPr>
          <p:cNvPr id="16" name="Shape 16"/>
          <p:cNvSpPr txBox="1"/>
          <p:nvPr/>
        </p:nvSpPr>
        <p:spPr>
          <a:xfrm>
            <a:off x="8235747" y="2534412"/>
            <a:ext cx="30605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$50 to start</a:t>
            </a:r>
            <a:endParaRPr lang="en-US" sz="2325" dirty="0"/>
          </a:p>
        </p:txBody>
      </p:sp>
      <p:sp>
        <p:nvSpPr>
          <p:cNvPr id="17" name="Shape 17"/>
          <p:cNvSpPr txBox="1"/>
          <p:nvPr/>
        </p:nvSpPr>
        <p:spPr>
          <a:xfrm>
            <a:off x="8235747" y="350291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In y = mx + b, 50 is b: the value when x = 0.</a:t>
            </a:r>
            <a:endParaRPr lang="en-US" sz="1575" dirty="0"/>
          </a:p>
        </p:txBody>
      </p:sp>
      <p:sp>
        <p:nvSpPr>
          <p:cNvPr id="18" name="Shape 18"/>
          <p:cNvSpPr txBox="1"/>
          <p:nvPr/>
        </p:nvSpPr>
        <p:spPr>
          <a:xfrm>
            <a:off x="8235747" y="4133088"/>
            <a:ext cx="3060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x = 0 months is the start, so 50 is the $50 saved at the start.</a:t>
            </a:r>
            <a:endParaRPr lang="en-US" sz="157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ppt_w</p:attrName>
                                        </p:attrNameLst>
                                      </p:cBhvr>
                                      <p:tavLst>
                                        <p:tav tm="0">
                                          <p:val>
                                            <p:fltVal val="0"/>
                                          </p:val>
                                        </p:tav>
                                        <p:tav tm="100000">
                                          <p:val>
                                            <p:strVal val="#ppt_w"/>
                                          </p:val>
                                        </p:tav>
                                      </p:tavLst>
                                    </p:anim>
                                    <p:anim calcmode="lin" valueType="num">
                                      <p:cBhvr>
                                        <p:cTn id="55"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p:cTn id="61" dur="500" fill="hold"/>
                                        <p:tgtEl>
                                          <p:spTgt spid="17"/>
                                        </p:tgtEl>
                                        <p:attrNameLst>
                                          <p:attrName>ppt_x</p:attrName>
                                        </p:attrNameLst>
                                      </p:cBhvr>
                                      <p:tavLst>
                                        <p:tav tm="0">
                                          <p:val>
                                            <p:strVal val="#ppt_x"/>
                                          </p:val>
                                        </p:tav>
                                        <p:tav tm="100000">
                                          <p:val>
                                            <p:strVal val="#ppt_x"/>
                                          </p:val>
                                        </p:tav>
                                      </p:tavLst>
                                    </p:anim>
                                    <p:anim calcmode="lin" valueType="num">
                                      <p:cBhvr>
                                        <p:cTn id="62"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p:cTn id="68" dur="500" fill="hold"/>
                                        <p:tgtEl>
                                          <p:spTgt spid="18"/>
                                        </p:tgtEl>
                                        <p:attrNameLst>
                                          <p:attrName>ppt_x</p:attrName>
                                        </p:attrNameLst>
                                      </p:cBhvr>
                                      <p:tavLst>
                                        <p:tav tm="0">
                                          <p:val>
                                            <p:strVal val="#ppt_x"/>
                                          </p:val>
                                        </p:tav>
                                        <p:tav tm="100000">
                                          <p:val>
                                            <p:strVal val="#ppt_x"/>
                                          </p:val>
                                        </p:tav>
                                      </p:tavLst>
                                    </p:anim>
                                    <p:anim calcmode="lin" valueType="num">
                                      <p:cBhvr>
                                        <p:cTn id="6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Wednesday, November 4</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Thursday, November 5. End of Topic 1 Assessment. Lesson 3 and 4 quizzes go home as homework.</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sld>
</file>

<file path=ppt/theme/theme1.xml><?xml version="1.0" encoding="utf-8"?>
<a:theme xmlns:a="http://schemas.openxmlformats.org/drawingml/2006/main" name="Comparing Linear Functions in Different Form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24</Slides>
  <Notes>24</Notes>
</Properties>
</file>

<file path=docProps/core.xml><?xml version="1.0" encoding="utf-8"?>
<cp:coreProperties xmlns:cp="http://schemas.openxmlformats.org/package/2006/metadata/core-properties" xmlns:dc="http://purl.org/dc/elements/1.1/">
  <dc:title>Comparing Linear Functions in Different Forms</dc:title>
  <dc:subject>Bluebonnet Algebra I</dc:subject>
</cp:coreProperties>
</file>