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Nov 2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of the line through </a:t>
            </a:r>
            <a:r>
              <a:rPr lang="en-US" sz="1575" dirty="0">
                <a:solidFill>
                  <a:srgbClr val="16171D"/>
                </a:solidFill>
                <a:latin typeface="Cambria"/>
                <a:cs typeface="Cambria"/>
              </a:rPr>
              <a:t xml:space="preserve">(−2.5, −6)</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(0, 4)</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(−6) = 4 + 6 = 10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0 − (−2.5) = 2.5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10 ÷ 2.5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slope does a line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0" name="Shape 10"/>
          <p:cNvSpPr txBox="1"/>
          <p:nvPr/>
        </p:nvSpPr>
        <p:spPr>
          <a:xfrm>
            <a:off x="895350"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4,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 parallel line has the same slope: 4.</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slope does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14" name="Shape 14"/>
          <p:cNvSpPr txBox="1"/>
          <p:nvPr/>
        </p:nvSpPr>
        <p:spPr>
          <a:xfrm>
            <a:off x="6419698" y="2695956"/>
            <a:ext cx="281492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−¼</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4/1</a:t>
            </a:r>
            <a:r>
              <a:rPr lang="en-US" sz="1425" dirty="0">
                <a:solidFill>
                  <a:srgbClr val="16171D"/>
                </a:solidFill>
                <a:latin typeface="Segoe UI"/>
                <a:cs typeface="Segoe UI"/>
              </a:rPr>
              <a:t xml:space="preserve">. Flip it: </a:t>
            </a:r>
            <a:r>
              <a:rPr lang="en-US" sz="1425" dirty="0">
                <a:solidFill>
                  <a:srgbClr val="16171D"/>
                </a:solidFill>
                <a:latin typeface="Cambria"/>
                <a:cs typeface="Cambria"/>
              </a:rPr>
              <a:t xml:space="preserve">1/4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−¼</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4 · (−¼) = −1</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393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Function </a:t>
            </a:r>
            <a:r>
              <a:rPr lang="en-US" sz="1575" dirty="0" i="1">
                <a:solidFill>
                  <a:srgbClr val="16171D"/>
                </a:solidFill>
                <a:latin typeface="Cambria"/>
                <a:cs typeface="Cambria"/>
              </a:rPr>
              <a:t xml:space="preserve">p</a:t>
            </a:r>
            <a:r>
              <a:rPr lang="en-US" sz="1575" dirty="0">
                <a:solidFill>
                  <a:srgbClr val="16171D"/>
                </a:solidFill>
                <a:latin typeface="Segoe UI"/>
                <a:cs typeface="Segoe UI"/>
              </a:rPr>
              <a:t xml:space="preserve"> passes through </a:t>
            </a:r>
            <a:r>
              <a:rPr lang="en-US" sz="1575" dirty="0">
                <a:solidFill>
                  <a:srgbClr val="16171D"/>
                </a:solidFill>
                <a:latin typeface="Cambria"/>
                <a:cs typeface="Cambria"/>
              </a:rPr>
              <a:t xml:space="preserve">(0, 1)</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(4, 4)</a:t>
            </a:r>
            <a:r>
              <a:rPr lang="en-US" sz="1575" dirty="0">
                <a:solidFill>
                  <a:srgbClr val="16171D"/>
                </a:solidFill>
                <a:latin typeface="Segoe UI"/>
                <a:cs typeface="Segoe UI"/>
              </a:rPr>
              <a:t xml:space="preserve">. Which function has a greater rate of change than function </a:t>
            </a:r>
            <a:r>
              <a:rPr lang="en-US" sz="1575" dirty="0" i="1">
                <a:solidFill>
                  <a:srgbClr val="16171D"/>
                </a:solidFill>
                <a:latin typeface="Cambria"/>
                <a:cs typeface="Cambria"/>
              </a:rPr>
              <a:t xml:space="preserve">p</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p</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(4 − 1) ÷ (4 − 0) = 3/4 = 0.75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Compare each slope with 0.75: </a:t>
            </a:r>
            <a:r>
              <a:rPr lang="en-US" sz="1425" dirty="0">
                <a:solidFill>
                  <a:srgbClr val="16171D"/>
                </a:solidFill>
                <a:latin typeface="Cambria"/>
                <a:cs typeface="Cambria"/>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0.75</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is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¾</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0.7</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Only 1 is greater: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End of Topic 2 Assessment. Tonight: finish the Topic 2 Review practice test.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Travis County pays $15 per ton of cardboard. How much is paid for 3 tons?</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total = rate × amount</a:t>
            </a:r>
            <a:endParaRPr lang="en-US" sz="1575" dirty="0"/>
          </a:p>
        </p:txBody>
      </p:sp>
      <p:sp>
        <p:nvSpPr>
          <p:cNvPr id="6" name="Shape 6"/>
          <p:cNvSpPr txBox="1"/>
          <p:nvPr/>
        </p:nvSpPr>
        <p:spPr>
          <a:xfrm>
            <a:off x="895350" y="269595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$45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Rate: $15 per ton. Amount: 3 tons.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15 · 3 = 45</a:t>
            </a:r>
            <a:r>
              <a:rPr lang="en-US" sz="1425" dirty="0">
                <a:solidFill>
                  <a:srgbClr val="16171D"/>
                </a:solidFill>
                <a:latin typeface="Segoe UI"/>
                <a:cs typeface="Segoe UI"/>
              </a:rPr>
              <a:t xml:space="preserve">, so $45.</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Hays County's graph passes through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(1, 20)</a:t>
            </a:r>
            <a:r>
              <a:rPr lang="en-US" sz="1575" dirty="0">
                <a:solidFill>
                  <a:srgbClr val="16171D"/>
                </a:solidFill>
                <a:latin typeface="Segoe UI"/>
                <a:cs typeface="Segoe UI"/>
              </a:rPr>
              <a:t xml:space="preserve">. What is the payout per ton?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0" name="Shape 10"/>
          <p:cNvSpPr txBox="1"/>
          <p:nvPr/>
        </p:nvSpPr>
        <p:spPr>
          <a:xfrm>
            <a:off x="895350" y="48943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20 − 0 = 20</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1 − 0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1 = 20</a:t>
            </a:r>
            <a:r>
              <a:rPr lang="en-US" sz="1425" dirty="0">
                <a:solidFill>
                  <a:srgbClr val="16171D"/>
                </a:solidFill>
                <a:latin typeface="Segoe UI"/>
                <a:cs typeface="Segoe UI"/>
              </a:rPr>
              <a:t xml:space="preserve">, so $20 per ton.</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9/5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converts °C to °F. What is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(10)</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J</a:t>
            </a:r>
            <a:r>
              <a:rPr lang="en-US" sz="1425" dirty="0">
                <a:solidFill>
                  <a:srgbClr val="16171D"/>
                </a:solidFill>
                <a:latin typeface="Cambria"/>
                <a:cs typeface="Cambria"/>
              </a:rPr>
              <a:t xml:space="preserve">(10) = 9/5 · 10 + 32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9/5 · 10 = 90 ÷ 5 = 18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18 + 32 = 50</a:t>
            </a:r>
            <a:r>
              <a:rPr lang="en-US" sz="1425" dirty="0">
                <a:solidFill>
                  <a:srgbClr val="16171D"/>
                </a:solidFill>
                <a:latin typeface="Segoe UI"/>
                <a:cs typeface="Segoe UI"/>
              </a:rPr>
              <a:t xml:space="preserve">. 10°C is 50°F.</a:t>
            </a:r>
            <a:endParaRPr lang="en-US" sz="1425" dirty="0"/>
          </a:p>
        </p:txBody>
      </p:sp>
      <p:sp>
        <p:nvSpPr>
          <p:cNvPr id="19" name="Shape 19"/>
          <p:cNvSpPr txBox="1"/>
          <p:nvPr/>
        </p:nvSpPr>
        <p:spPr>
          <a:xfrm>
            <a:off x="6210148" y="4034028"/>
            <a:ext cx="5295748" cy="27393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200-gallon tank drains 10 gallons each minute: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200 − 10</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What is the range of the function for this situation?</a:t>
            </a:r>
            <a:endParaRPr lang="en-US" sz="1575" dirty="0"/>
          </a:p>
        </p:txBody>
      </p:sp>
      <p:sp>
        <p:nvSpPr>
          <p:cNvPr id="17" name="Shape 17"/>
          <p:cNvSpPr txBox="1"/>
          <p:nvPr/>
        </p:nvSpPr>
        <p:spPr>
          <a:xfrm>
            <a:off x="6419698" y="50185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range = the outputs</a:t>
            </a:r>
            <a:endParaRPr lang="en-US" sz="1575" dirty="0"/>
          </a:p>
        </p:txBody>
      </p:sp>
      <p:sp>
        <p:nvSpPr>
          <p:cNvPr id="18" name="Shape 18"/>
          <p:cNvSpPr txBox="1"/>
          <p:nvPr/>
        </p:nvSpPr>
        <p:spPr>
          <a:xfrm>
            <a:off x="6419698" y="53515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 ≤ </a:t>
            </a:r>
            <a:r>
              <a:rPr lang="en-US" sz="1425" dirty="0" b="1" i="1">
                <a:solidFill>
                  <a:srgbClr val="16171D"/>
                </a:solidFill>
                <a:latin typeface="Cambria"/>
                <a:cs typeface="Cambria"/>
              </a:rPr>
              <a:t xml:space="preserve">w</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t</a:t>
            </a:r>
            <a:r>
              <a:rPr lang="en-US" sz="1425" dirty="0" b="1">
                <a:solidFill>
                  <a:srgbClr val="16171D"/>
                </a:solidFill>
                <a:latin typeface="Cambria"/>
                <a:cs typeface="Cambria"/>
              </a:rPr>
              <a:t xml:space="preserve">) ≤ 200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output is </a:t>
            </a:r>
            <a:r>
              <a:rPr lang="en-US" sz="1425" dirty="0" i="1">
                <a:solidFill>
                  <a:srgbClr val="16171D"/>
                </a:solidFill>
                <a:latin typeface="Cambria"/>
                <a:cs typeface="Cambria"/>
              </a:rPr>
              <a:t xml:space="preserve">w</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the gallons left.</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Most: 200 gallons at the start. Least: 0 gallons, when </a:t>
            </a:r>
            <a:r>
              <a:rPr lang="en-US" sz="1425" dirty="0">
                <a:solidFill>
                  <a:srgbClr val="16171D"/>
                </a:solidFill>
                <a:latin typeface="Cambria"/>
                <a:cs typeface="Cambria"/>
              </a:rPr>
              <a:t xml:space="preserve">200 − 10</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at </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 = 20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Range: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w</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t</a:t>
            </a:r>
            <a:r>
              <a:rPr lang="en-US" sz="1425" dirty="0">
                <a:solidFill>
                  <a:srgbClr val="16171D"/>
                </a:solidFill>
                <a:latin typeface="Cambria"/>
                <a:cs typeface="Cambria"/>
              </a:rPr>
              <a:t xml:space="preserve">) ≤ 200</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30739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83159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895350" y="344576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Change in y: 9 − 1 = 8.</a:t>
            </a:r>
            <a:endParaRPr lang="en-US" sz="1575" dirty="0"/>
          </a:p>
        </p:txBody>
      </p:sp>
      <p:sp>
        <p:nvSpPr>
          <p:cNvPr id="7" name="Shape 7"/>
          <p:cNvSpPr txBox="1"/>
          <p:nvPr/>
        </p:nvSpPr>
        <p:spPr>
          <a:xfrm>
            <a:off x="895350" y="383590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in x: 2 − 0 = 2.</a:t>
            </a:r>
            <a:endParaRPr lang="en-US" sz="1575" dirty="0"/>
          </a:p>
        </p:txBody>
      </p:sp>
      <p:sp>
        <p:nvSpPr>
          <p:cNvPr id="8" name="Shape 8"/>
          <p:cNvSpPr txBox="1"/>
          <p:nvPr/>
        </p:nvSpPr>
        <p:spPr>
          <a:xfrm>
            <a:off x="895350" y="422605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Divide: 8 ÷ 2 = 4.</a:t>
            </a:r>
            <a:endParaRPr lang="en-US" sz="1575" dirty="0"/>
          </a:p>
        </p:txBody>
      </p:sp>
      <p:sp>
        <p:nvSpPr>
          <p:cNvPr id="14" name="Shape 14"/>
          <p:cNvSpPr txBox="1"/>
          <p:nvPr/>
        </p:nvSpPr>
        <p:spPr>
          <a:xfrm>
            <a:off x="4355998" y="1618488"/>
            <a:ext cx="3479698" cy="292379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4565548" y="283159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4565548" y="344576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is the number with x: both are 4.</a:t>
            </a:r>
            <a:endParaRPr lang="en-US" sz="1575" dirty="0"/>
          </a:p>
        </p:txBody>
      </p:sp>
      <p:sp>
        <p:nvSpPr>
          <p:cNvPr id="13" name="Shape 13"/>
          <p:cNvSpPr txBox="1"/>
          <p:nvPr/>
        </p:nvSpPr>
        <p:spPr>
          <a:xfrm>
            <a:off x="4565548" y="407593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Same slope means parallel.</a:t>
            </a:r>
            <a:endParaRPr lang="en-US" sz="1575" dirty="0"/>
          </a:p>
        </p:txBody>
      </p:sp>
      <p:sp>
        <p:nvSpPr>
          <p:cNvPr id="19" name="Shape 19"/>
          <p:cNvSpPr txBox="1"/>
          <p:nvPr/>
        </p:nvSpPr>
        <p:spPr>
          <a:xfrm>
            <a:off x="8026197" y="1618488"/>
            <a:ext cx="3479698" cy="34610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7" name="Shape 17"/>
          <p:cNvSpPr txBox="1"/>
          <p:nvPr/>
        </p:nvSpPr>
        <p:spPr>
          <a:xfrm>
            <a:off x="8235747" y="350291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In y = mx + b, 50 is b: the value when x = 0.</a:t>
            </a:r>
            <a:endParaRPr lang="en-US" sz="1575" dirty="0"/>
          </a:p>
        </p:txBody>
      </p:sp>
      <p:sp>
        <p:nvSpPr>
          <p:cNvPr id="18" name="Shape 18"/>
          <p:cNvSpPr txBox="1"/>
          <p:nvPr/>
        </p:nvSpPr>
        <p:spPr>
          <a:xfrm>
            <a:off x="8235747" y="4133088"/>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x = 0 months is the start, so 50 is the $50 saved at the start.</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24</Slides>
  <Notes>24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