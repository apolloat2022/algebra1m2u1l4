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"/>
  </p:notesMasterIdLst>
  <p:sldIdLst>
    <p:sldId id="256" r:id="rId11"/>
    <p:sldId id="257" r:id="rId12"/>
    <p:sldId id="258" r:id="rId13"/>
    <p:sldId id="259" r:id="rId14"/>
  </p:sldIdLst>
  <p:sldSz cx="12192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Relationship Id="rId11" Type="http://schemas.openxmlformats.org/officeDocument/2006/relationships/slide" Target="slides/slide1.xml"/><Relationship Id="rId12" Type="http://schemas.openxmlformats.org/officeDocument/2006/relationships/slide" Target="slides/slide2.xml"/><Relationship Id="rId13" Type="http://schemas.openxmlformats.org/officeDocument/2006/relationships/slide" Target="slides/slide3.xml"/><Relationship Id="rId14" Type="http://schemas.openxmlformats.org/officeDocument/2006/relationships/slide" Target="slides/slide4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Notes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pattFill prst="lgGrid">
          <a:fgClr>
            <a:srgbClr val="E6E8F2"/>
          </a:fgClr>
          <a:bgClr>
            <a:srgbClr val="F7F7FB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Brand 101"/>
          <p:cNvSpPr/>
          <p:nvPr userDrawn="1"/>
        </p:nvSpPr>
        <p:spPr>
          <a:xfrm>
            <a:off x="9631375" y="128016"/>
            <a:ext cx="274320" cy="274320"/>
          </a:xfrm>
          <a:prstGeom prst="roundRect">
            <a:avLst>
              <a:gd name="adj" fmla="val 25000"/>
            </a:avLst>
          </a:prstGeom>
          <a:solidFill>
            <a:srgbClr val="3050B8"/>
          </a:solidFill>
          <a:ln>
            <a:noFill/>
          </a:ln>
        </p:spPr>
      </p:sp>
      <p:sp>
        <p:nvSpPr>
          <p:cNvPr id="102" name="Brand 102"/>
          <p:cNvSpPr/>
          <p:nvPr userDrawn="1"/>
        </p:nvSpPr>
        <p:spPr>
          <a:xfrm>
            <a:off x="9748818" y="172593"/>
            <a:ext cx="39434" cy="39434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3" name="Brand 103"/>
          <p:cNvSpPr/>
          <p:nvPr userDrawn="1"/>
        </p:nvSpPr>
        <p:spPr>
          <a:xfrm>
            <a:off x="9719672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4" name="Brand 104"/>
          <p:cNvSpPr/>
          <p:nvPr userDrawn="1"/>
        </p:nvSpPr>
        <p:spPr>
          <a:xfrm>
            <a:off x="9774536" y="207740"/>
            <a:ext cx="42862" cy="42862"/>
          </a:xfrm>
          <a:prstGeom prst="ellipse">
            <a:avLst/>
          </a:prstGeom>
          <a:solidFill>
            <a:srgbClr val="FFFFFF">
              <a:alpha val="92000"/>
            </a:srgbClr>
          </a:solidFill>
          <a:ln>
            <a:noFill/>
          </a:ln>
        </p:spPr>
      </p:sp>
      <p:sp>
        <p:nvSpPr>
          <p:cNvPr id="105" name="Brand 105"/>
          <p:cNvSpPr/>
          <p:nvPr userDrawn="1"/>
        </p:nvSpPr>
        <p:spPr>
          <a:xfrm>
            <a:off x="9746247" y="230886"/>
            <a:ext cx="44577" cy="44577"/>
          </a:xfrm>
          <a:prstGeom prst="ellipse">
            <a:avLst/>
          </a:prstGeom>
          <a:solidFill>
            <a:srgbClr val="FFFFFF"/>
          </a:solidFill>
          <a:ln>
            <a:noFill/>
          </a:ln>
        </p:spPr>
      </p:sp>
      <p:sp>
        <p:nvSpPr>
          <p:cNvPr id="106" name="Brand 106"/>
          <p:cNvSpPr/>
          <p:nvPr userDrawn="1"/>
        </p:nvSpPr>
        <p:spPr>
          <a:xfrm>
            <a:off x="9709385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7" name="Brand 107"/>
          <p:cNvSpPr/>
          <p:nvPr userDrawn="1"/>
        </p:nvSpPr>
        <p:spPr>
          <a:xfrm>
            <a:off x="9781394" y="255746"/>
            <a:ext cx="46292" cy="46292"/>
          </a:xfrm>
          <a:prstGeom prst="ellipse">
            <a:avLst/>
          </a:prstGeom>
          <a:solidFill>
            <a:srgbClr val="FFFFFF">
              <a:alpha val="82000"/>
            </a:srgbClr>
          </a:solidFill>
          <a:ln>
            <a:noFill/>
          </a:ln>
        </p:spPr>
      </p:sp>
      <p:sp>
        <p:nvSpPr>
          <p:cNvPr id="108" name="Brand 108"/>
          <p:cNvSpPr/>
          <p:nvPr userDrawn="1"/>
        </p:nvSpPr>
        <p:spPr>
          <a:xfrm>
            <a:off x="9761677" y="303752"/>
            <a:ext cx="13716" cy="55721"/>
          </a:xfrm>
          <a:prstGeom prst="roundRect">
            <a:avLst>
              <a:gd name="adj" fmla="val 50000"/>
            </a:avLst>
          </a:prstGeom>
          <a:solidFill>
            <a:srgbClr val="9FD18B"/>
          </a:solidFill>
          <a:ln>
            <a:noFill/>
          </a:ln>
        </p:spPr>
      </p:sp>
      <p:sp>
        <p:nvSpPr>
          <p:cNvPr id="109" name="Shape 109"/>
          <p:cNvSpPr txBox="1"/>
          <p:nvPr/>
        </p:nvSpPr>
        <p:spPr>
          <a:xfrm>
            <a:off x="9960559" y="109728"/>
            <a:ext cx="1737360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16171D"/>
                </a:solidFill>
                <a:latin typeface="Segoe UI"/>
                <a:cs typeface="Segoe UI"/>
              </a:rPr>
              <a:t xml:space="preserve">Bluebonnet </a:t>
            </a:r>
            <a:r>
              <a:rPr lang="en-US" sz="1125" dirty="0" b="1">
                <a:solidFill>
                  <a:srgbClr val="3050B8"/>
                </a:solidFill>
                <a:latin typeface="Segoe UI"/>
                <a:cs typeface="Segoe UI"/>
              </a:rPr>
              <a:t xml:space="preserve">Algebra I</a:t>
            </a:r>
            <a:endParaRPr lang="en-US" sz="1125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9235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57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Key</a:t>
            </a:r>
            <a:endParaRPr lang="en-US" sz="570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552194"/>
            <a:ext cx="10820095" cy="37490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21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Topic 2 Lesson 2 Homework · IEP Version</a:t>
            </a:r>
            <a:endParaRPr lang="en-US" sz="2100" dirty="0"/>
          </a:p>
        </p:txBody>
      </p:sp>
      <p:sp>
        <p:nvSpPr>
          <p:cNvPr id="4" name="Shape 4"/>
          <p:cNvSpPr txBox="1"/>
          <p:nvPr/>
        </p:nvSpPr>
        <p:spPr>
          <a:xfrm>
            <a:off x="685800" y="2098548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6 questions, 1 point each. The answer choices are shuffled for each student, so match the answer text, not the letter.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685800" y="2919222"/>
            <a:ext cx="10820095" cy="64922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>
                <a:solidFill>
                  <a:srgbClr val="16171D"/>
                </a:solidFill>
                <a:latin typeface="Segoe UI"/>
                <a:cs typeface="Segoe UI"/>
              </a:rPr>
              <a:t xml:space="preserve">Each IEP question has 3 choices; "was" gives the question number on the general homework.</a:t>
            </a:r>
            <a:endParaRPr lang="en-US" sz="1950" dirty="0"/>
          </a:p>
        </p:txBody>
      </p:sp>
      <p:sp>
        <p:nvSpPr>
          <p:cNvPr id="6" name="Shape 6"/>
          <p:cNvSpPr txBox="1"/>
          <p:nvPr/>
        </p:nvSpPr>
        <p:spPr>
          <a:xfrm>
            <a:off x="685800" y="3739896"/>
            <a:ext cx="4967272" cy="397764"/>
          </a:xfrm>
          <a:prstGeom prst="roundRect">
            <a:avLst>
              <a:gd name="adj" fmla="val 8000"/>
            </a:avLst>
          </a:prstGeom>
          <a:solidFill>
            <a:srgbClr val="FDF3E7"/>
          </a:solidFill>
          <a:ln>
            <a:noFill/>
          </a:ln>
        </p:spPr>
        <p:txBody>
          <a:bodyPr wrap="square" lIns="164592" tIns="73152" rIns="164592" bIns="73152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650" dirty="0">
                <a:solidFill>
                  <a:srgbClr val="16171D"/>
                </a:solidFill>
                <a:latin typeface="Segoe UI"/>
                <a:cs typeface="Segoe UI"/>
              </a:rPr>
              <a:t xml:space="preserve">Teacher copy. Do not share with students.</a:t>
            </a:r>
            <a:endParaRPr lang="en-US" sz="1650" dirty="0"/>
          </a:p>
        </p:txBody>
      </p:sp>
      <p:sp>
        <p:nvSpPr>
          <p:cNvPr id="7" name="Shape 7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1–2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1) · SE p. 289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is translated left 3 units to make t(x). Which is t(x)?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t(x) = f(x + 3) = x + 3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Left 3 adds 3 to the input: f(x + 3).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2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3) · SE p. 291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For f(x) = x, translating right n units gives the same graph as which translation?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Down n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 − n) = x − n = f(x) − n.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3–4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3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4) · SE p. 293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j(x) = 2x − 1 and b(x) = j(x − 2). Simplify b(x).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74980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b(x) = 2x − 5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2(x − 2) − 1 = 2x − 4 − 1 = 2x − 5.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45745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45745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4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7) · SE p. 300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f(x) = x and g(x) = f(x + 5). Describe the transformation.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45745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Translated left 5 units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Adding 5 to the input moves the graph left 5.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48157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2"/>
          <p:cNvSpPr txBox="1"/>
          <p:nvPr/>
        </p:nvSpPr>
        <p:spPr>
          <a:xfrm>
            <a:off x="685800" y="457200"/>
            <a:ext cx="10820095" cy="58064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34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Questions 5–6</a:t>
            </a:r>
            <a:endParaRPr lang="en-US" sz="3450" dirty="0"/>
          </a:p>
        </p:txBody>
      </p:sp>
      <p:sp>
        <p:nvSpPr>
          <p:cNvPr id="3" name="Shape 3"/>
          <p:cNvSpPr txBox="1"/>
          <p:nvPr/>
        </p:nvSpPr>
        <p:spPr>
          <a:xfrm>
            <a:off x="685800" y="1209294"/>
            <a:ext cx="2164019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#</a:t>
            </a:r>
            <a:endParaRPr lang="en-US" sz="1950" dirty="0"/>
          </a:p>
        </p:txBody>
      </p:sp>
      <p:sp>
        <p:nvSpPr>
          <p:cNvPr id="4" name="Shape 4"/>
          <p:cNvSpPr txBox="1"/>
          <p:nvPr/>
        </p:nvSpPr>
        <p:spPr>
          <a:xfrm>
            <a:off x="2849819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Question</a:t>
            </a:r>
            <a:endParaRPr lang="en-US" sz="1950" dirty="0"/>
          </a:p>
        </p:txBody>
      </p:sp>
      <p:sp>
        <p:nvSpPr>
          <p:cNvPr id="5" name="Shape 5"/>
          <p:cNvSpPr txBox="1"/>
          <p:nvPr/>
        </p:nvSpPr>
        <p:spPr>
          <a:xfrm>
            <a:off x="7177857" y="1209294"/>
            <a:ext cx="4328038" cy="49834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950" dirty="0" b="1">
                <a:solidFill>
                  <a:srgbClr val="16171D"/>
                </a:solidFill>
                <a:latin typeface="Segoe UI"/>
                <a:cs typeface="Segoe UI"/>
              </a:rPr>
              <a:t xml:space="preserve">Answer and why</a:t>
            </a:r>
            <a:endParaRPr lang="en-US" sz="1950" dirty="0"/>
          </a:p>
        </p:txBody>
      </p:sp>
      <p:cxnSp>
        <p:nvCxnSpPr>
          <p:cNvPr id="6" name="Line 6"/>
          <p:cNvCxnSpPr/>
          <p:nvPr/>
        </p:nvCxnSpPr>
        <p:spPr>
          <a:xfrm>
            <a:off x="685800" y="1707642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7" name="Shape 7"/>
          <p:cNvSpPr txBox="1"/>
          <p:nvPr/>
        </p:nvSpPr>
        <p:spPr>
          <a:xfrm>
            <a:off x="685800" y="1707642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5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9) · SE p. 303</a:t>
            </a:r>
            <a:endParaRPr lang="en-US" sz="1800" dirty="0"/>
          </a:p>
        </p:txBody>
      </p:sp>
      <p:sp>
        <p:nvSpPr>
          <p:cNvPr id="8" name="Shape 8"/>
          <p:cNvSpPr txBox="1"/>
          <p:nvPr/>
        </p:nvSpPr>
        <p:spPr>
          <a:xfrm>
            <a:off x="2849819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Ricardo burns w(x) = 4x calories in x minutes of walking. Which domain fits the situation?</a:t>
            </a:r>
            <a:endParaRPr lang="en-US" sz="1800" dirty="0"/>
          </a:p>
        </p:txBody>
      </p:sp>
      <p:sp>
        <p:nvSpPr>
          <p:cNvPr id="9" name="Shape 9"/>
          <p:cNvSpPr txBox="1"/>
          <p:nvPr/>
        </p:nvSpPr>
        <p:spPr>
          <a:xfrm>
            <a:off x="7177857" y="1707642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x ≥ 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He can't walk a negative number of minutes.</a:t>
            </a:r>
            <a:endParaRPr lang="en-US" sz="1800" dirty="0"/>
          </a:p>
        </p:txBody>
      </p:sp>
      <p:cxnSp>
        <p:nvCxnSpPr>
          <p:cNvPr id="10" name="Line 10"/>
          <p:cNvCxnSpPr/>
          <p:nvPr/>
        </p:nvCxnSpPr>
        <p:spPr>
          <a:xfrm>
            <a:off x="685800" y="2731770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1" name="Shape 11"/>
          <p:cNvSpPr txBox="1"/>
          <p:nvPr/>
        </p:nvSpPr>
        <p:spPr>
          <a:xfrm>
            <a:off x="685800" y="2731770"/>
            <a:ext cx="2164019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6</a:t>
            </a: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 (was 10) · SE p. 303</a:t>
            </a:r>
            <a:endParaRPr lang="en-US" sz="1800" dirty="0"/>
          </a:p>
        </p:txBody>
      </p:sp>
      <p:sp>
        <p:nvSpPr>
          <p:cNvPr id="12" name="Shape 12"/>
          <p:cNvSpPr txBox="1"/>
          <p:nvPr/>
        </p:nvSpPr>
        <p:spPr>
          <a:xfrm>
            <a:off x="2849819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Ricardo burns w(x) = 4x calories in x minutes. How many calories does he burn in 45 minutes?</a:t>
            </a:r>
            <a:endParaRPr lang="en-US" sz="1800" dirty="0"/>
          </a:p>
        </p:txBody>
      </p:sp>
      <p:sp>
        <p:nvSpPr>
          <p:cNvPr id="13" name="Shape 13"/>
          <p:cNvSpPr txBox="1"/>
          <p:nvPr/>
        </p:nvSpPr>
        <p:spPr>
          <a:xfrm>
            <a:off x="7177857" y="2731770"/>
            <a:ext cx="4328038" cy="1024128"/>
          </a:xfrm>
          <a:prstGeom prst="rect">
            <a:avLst/>
          </a:prstGeom>
          <a:noFill/>
          <a:ln>
            <a:noFill/>
          </a:ln>
        </p:spPr>
        <p:txBody>
          <a:bodyPr wrap="square" lIns="109728" tIns="45720" rIns="109728" bIns="45720" anchor="ctr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800" dirty="0" b="1">
                <a:solidFill>
                  <a:srgbClr val="16171D"/>
                </a:solidFill>
                <a:latin typeface="Segoe UI"/>
                <a:cs typeface="Segoe UI"/>
              </a:rPr>
              <a:t xml:space="preserve">180</a:t>
            </a:r>
            <a:b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</a:br>
            <a:r>
              <a:rPr lang="en-US" sz="1800" dirty="0">
                <a:solidFill>
                  <a:srgbClr val="16171D"/>
                </a:solidFill>
                <a:latin typeface="Segoe UI"/>
                <a:cs typeface="Segoe UI"/>
              </a:rPr>
              <a:t xml:space="preserve">4 · 45 = 180.</a:t>
            </a:r>
            <a:endParaRPr lang="en-US" sz="1800" dirty="0"/>
          </a:p>
        </p:txBody>
      </p:sp>
      <p:cxnSp>
        <p:nvCxnSpPr>
          <p:cNvPr id="14" name="Line 14"/>
          <p:cNvCxnSpPr/>
          <p:nvPr/>
        </p:nvCxnSpPr>
        <p:spPr>
          <a:xfrm>
            <a:off x="685800" y="3755898"/>
            <a:ext cx="10820095" cy="0"/>
          </a:xfrm>
          <a:prstGeom prst="line">
            <a:avLst/>
          </a:prstGeom>
          <a:ln w="9525" cap="flat">
            <a:solidFill>
              <a:srgbClr val="E3E4EC"/>
            </a:solidFill>
          </a:ln>
        </p:spPr>
      </p:cxnSp>
      <p:sp>
        <p:nvSpPr>
          <p:cNvPr id="15" name="Shape 15"/>
          <p:cNvSpPr txBox="1"/>
          <p:nvPr/>
        </p:nvSpPr>
        <p:spPr>
          <a:xfrm>
            <a:off x="685800" y="6357366"/>
            <a:ext cx="10820095" cy="226314"/>
          </a:xfrm>
          <a:prstGeom prst="rect">
            <a:avLst/>
          </a:prstGeom>
          <a:noFill/>
          <a:ln>
            <a:noFill/>
          </a:ln>
        </p:spPr>
        <p:txBody>
          <a:bodyPr wrap="square" lIns="36576" tIns="27432" rIns="36576" bIns="27432" anchor="t">
            <a:noAutofit/>
          </a:bodyPr>
          <a:lstStyle/>
          <a:p>
            <a:pPr algn="l">
              <a:lnSpc>
                <a:spcPct val="100000"/>
              </a:lnSpc>
            </a:pPr>
            <a:r>
              <a:rPr lang="en-US" sz="1125" dirty="0">
                <a:solidFill>
                  <a:srgbClr val="5F6272"/>
                </a:solidFill>
                <a:latin typeface="Segoe UI"/>
                <a:cs typeface="Segoe UI"/>
              </a:rPr>
              <a:t xml:space="preserve">Topic 2 Lesson 2 Homework · IEP Version · Answer Key (teacher copy)</a:t>
            </a:r>
            <a:endParaRPr lang="en-US" sz="1125" dirty="0"/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Topic 2 Lesson 2 Homework Answer Key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Notes">
  <a:themeElements>
    <a:clrScheme name="Lesson">
      <a:dk1>
        <a:srgbClr val="16171D"/>
      </a:dk1>
      <a:lt1>
        <a:srgbClr val="FFFFFF"/>
      </a:lt1>
      <a:dk2>
        <a:srgbClr val="233D94"/>
      </a:dk2>
      <a:lt2>
        <a:srgbClr val="F7F7FB"/>
      </a:lt2>
      <a:accent1>
        <a:srgbClr val="C9561F"/>
      </a:accent1>
      <a:accent2>
        <a:srgbClr val="3050B8"/>
      </a:accent2>
      <a:accent3>
        <a:srgbClr val="4F8A3C"/>
      </a:accent3>
      <a:accent4>
        <a:srgbClr val="7A5AC8"/>
      </a:accent4>
      <a:accent5>
        <a:srgbClr val="C23B6B"/>
      </a:accent5>
      <a:accent6>
        <a:srgbClr val="4F8A3C"/>
      </a:accent6>
      <a:hlink>
        <a:srgbClr val="3050B8"/>
      </a:hlink>
      <a:folHlink>
        <a:srgbClr val="7A5AC8"/>
      </a:folHlink>
    </a:clrScheme>
    <a:fontScheme name="Lesson">
      <a:majorFont>
        <a:latin typeface="Segoe UI"/>
        <a:ea typeface=""/>
        <a:cs typeface=""/>
      </a:majorFont>
      <a:minorFont>
        <a:latin typeface="Segoe UI"/>
        <a:ea typeface=""/>
        <a:cs typeface=""/>
      </a:minorFont>
    </a:fontScheme>
    <a:fmtScheme name="Lesson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  <a:ln w="95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4</Slides>
  <Notes>4</Notes>
</Properties>
</file>

<file path=docProps/core.xml><?xml version="1.0" encoding="utf-8"?>
<cp:coreProperties xmlns:cp="http://schemas.openxmlformats.org/package/2006/metadata/core-properties" xmlns:dc="http://purl.org/dc/elements/1.1/">
  <dc:title>Topic 2 Lesson 2 Homework Answer Key</dc:title>
  <dc:subject>Bluebonnet Algebra I</dc:subject>
</cp:coreProperties>
</file>