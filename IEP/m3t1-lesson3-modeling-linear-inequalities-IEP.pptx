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version of Lesson 3: a modified lesson that keeps the core skills (the starred activities) and cuts the number of items. Each skill follows I do, We do (sentence frames), You do. Apply each student's IEP accommodations too: extended time, read-aloud, breaks, calculator, small group.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key terms. Leave up or print as a reference card.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4 questions as the online IEP Day 1 bell work (3 answer choices there). Click to reveal one answer at a time; read each step aloud.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chart: students keep this out for every problem.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exit ticket: the first 3 items of the printed exit ticket (EXIT TICKET/T1-Exit-Ticket-Wed-11-11-IEP.pdf), with a tip, 3 answer choices on multiple choice, and step frames. Students may use the steps chart and notes.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printed copy of the notes.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4 questions as the online IEP Day 2 bell work (3 answer choices there). Click to reveal one answer at a time; read each step aloud.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chart: students keep this out for every problem.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exit ticket: the first 3 items of the printed exit ticket (EXIT TICKET/T1-Exit-Ticket-Thu-11-12-IEP.pdf), with a tip, 3 answer choices on multiple choice, and step frames. Students may use the steps chart and notes.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printed copy of the notes.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4 questions as the online IEP Day 3 bell work (3 answer choices there). Click to reveal one answer at a time; read each step aloud.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chart: students keep this out for every problem.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exit ticket: the first 3 items of the printed exit ticket (EXIT TICKET/T1-Exit-Ticket-Mon-11-16-IEP.pdf), with a tip, 3 answer choices on multiple choice, and step frames. Students may use the steps chart and notes.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printed copy of the notes.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IEP/m3t1-lesson3-bellwork-day1-IEP.html" TargetMode="External"/><Relationship Id="rId4" Type="http://schemas.openxmlformats.org/officeDocument/2006/relationships/hyperlink" Target="https://algebra1m2u1l4.vercel.app/IEP/m3t1-lesson3-bellwork-day2-IEP.html" TargetMode="External"/><Relationship Id="rId5" Type="http://schemas.openxmlformats.org/officeDocument/2006/relationships/hyperlink" Target="https://algebra1m2u1l4.vercel.app/IEP/m3t1-lesson3-bellwork-day3-IEP.html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3 · Topic 1 · Lesson 3 · IEP Version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6164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5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Modeling Linear Inequalities</a:t>
            </a:r>
            <a:endParaRPr lang="en-US" sz="45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49958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 can…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9631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write an inequality from words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198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solve an inequality and flip the sign when I divide by a negative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4330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graph the answer on a number line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123944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Day 3 →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18591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Based on Bluebonnet Learning Secondary Mathematics, Algebra I (©2024–2025 Texas Education Agency, portions ©2021 Carnegie Learning, Inc.), licensed CC BY-NC 4.0. A private site for Algebra I teachers.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932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Linear inequality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comparison with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≤, &gt;, or ≥ instead of =.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3.75b + 25 ≥ 1100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932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At least / no less than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58013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This much or more: ≥.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97027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least 5 → x ≥ 5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1932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At most / no more than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This much or less: ≤.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65023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most 5 → x ≤ 5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72237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89382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Open circle ○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36397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number is NOT included: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or &gt;.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99414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&gt; 2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72237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89382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Closed circle ●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36397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number IS included: ≤ or ≥.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99414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≥ 2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72237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89382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Flip the sign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36397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or divide by a negative → reverse the sign.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499414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−2x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6 → x &gt; −3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2522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Elijah starts with a $25 credit and earns $3.75 for each box he sells. Which equation gives his total sales,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after selling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boxes?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6029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rate,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start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935986"/>
            <a:ext cx="2623379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= 3.75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+ 25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Start: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25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Rate: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3.75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3.75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+ 25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4235958"/>
            <a:ext cx="5295748" cy="2042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440740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Which symbol means "at least"?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74040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at least = this much or more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5073396"/>
            <a:ext cx="3293783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≥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"At least 5" allows 5.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It also allows more than 5.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Greater than or equal: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≥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2042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178993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Which symbol means "no more than"?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212293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no more than = this much or less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2455926"/>
            <a:ext cx="3293783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≤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"No more than 5" allows 5.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It also allows less than 5.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Less than or equal: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≤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9" name="Shape 19"/>
          <p:cNvSpPr txBox="1"/>
          <p:nvPr/>
        </p:nvSpPr>
        <p:spPr>
          <a:xfrm>
            <a:off x="6210148" y="3755898"/>
            <a:ext cx="5295748" cy="20650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6419698" y="392734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value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+ 25 = 400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419698" y="4260342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the start, then divide by the rate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6419698" y="4833366"/>
            <a:ext cx="3102239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25: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375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3.75: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100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Steps Chart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Steps to follow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Write the inequality (match the words to the symbol).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 if there are parentheses.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 x-terms to one side.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Undo + or −.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Undo × or ÷. Negative number? FLIP the sign.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Graph: ○ or ●, then shade.</a:t>
            </a:r>
            <a:endParaRPr lang="en-US" sz="1950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I do · ★ Essential · Words to inequalities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Sales of at least $1100: 3.75b + 25 ___ 1100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At least = this much or more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776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Symbol ≥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91256"/>
            <a:ext cx="5705673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3.75b + 25 ≥ 1100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We do · Words to inequalities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Sales of at most $700: 3.75b + 25 ___ 700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At most = this much or 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776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Symbol 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91256"/>
            <a:ext cx="5502402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3.75b + 25 ≤ 700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You do · Words to inequalities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More than $500: 3.75b + 25 ___ 500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5502402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3.75b + 25 &gt; 500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I do · ★ Essential · Graph on a number 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x ≥ 4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≥ includes 4: closed ●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Greater: shade right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6112215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● at 4, shade right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We do · Graph on a number 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x 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does not include 2: ___ circle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Less: shade 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5908944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○ at 2, shade left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You do · Graph on a number 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x ≤ −1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6112215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● at −1, shade left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3492398" cy="41125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1540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Maya has $40 and earns $12 per hour. Which equation gives the total,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she has after working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hours?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342595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Rate goes with x. The start is b.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4056126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40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+ 40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4686300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+ 40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4349648" y="1618488"/>
            <a:ext cx="3492398" cy="36682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1789938"/>
            <a:ext cx="307329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4 notebooks at $1.75, pens at $0.90. Equation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pens?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8315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Find the fixed cost first: 4 notebooks × $1.75.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559198" y="346176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Fixed cost: 4 × 1.75 = ______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559198" y="385191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 = ______x + ______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4559198" y="4242054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0.90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21" name="Shape 21"/>
          <p:cNvSpPr txBox="1"/>
          <p:nvPr/>
        </p:nvSpPr>
        <p:spPr>
          <a:xfrm>
            <a:off x="8013497" y="1618488"/>
            <a:ext cx="3492398" cy="4355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223047" y="1789938"/>
            <a:ext cx="307329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Sales of at most $1150: inequality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223047" y="253441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At most → ≤. ≤ gets a closed circle.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316458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3.75b + 25 ______ 1150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223047" y="355473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 ______ ______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8223047" y="394487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Circle: open / closed. Shade: left / right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8223047" y="4575048"/>
            <a:ext cx="3073298" cy="122758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300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closed circle at 300, shaded left</a:t>
            </a:r>
            <a:endParaRPr lang="en-US" sz="2325" dirty="0"/>
          </a:p>
        </p:txBody>
      </p:sp>
      <p:sp>
        <p:nvSpPr>
          <p:cNvPr id="22" name="Slide Number 2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Words → symbols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at least ≥ · at most ≤ · more than &gt; · fewer than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Circles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○ for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&gt;.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● for ≤ and ≥.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Shade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 &gt; or x ≥: shade right.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or x ≤: shade left.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1824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value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+ 5 = 17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12293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undo + with −, undo × with ÷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455926"/>
            <a:ext cx="2623379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5: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2: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6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538728"/>
            <a:ext cx="5295748" cy="2305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710178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Which describes the graph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on a number line?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283202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≥ or ≤: closed circle · &gt; or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open circle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4856226"/>
            <a:ext cx="4347275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closed circle at 2, shaded right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≥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includes 2: closed circle.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Greater than: shade right.</a:t>
            </a:r>
            <a:endParaRPr lang="en-US" sz="142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1824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178993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 solution of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212293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put the number in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2455926"/>
            <a:ext cx="3006467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Yes, because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5 &gt; 4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−(−5) = 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5 &gt; 4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is true, so yes.</a:t>
            </a:r>
            <a:endParaRPr lang="en-US" sz="1425" dirty="0"/>
          </a:p>
        </p:txBody>
      </p:sp>
      <p:sp>
        <p:nvSpPr>
          <p:cNvPr id="19" name="Shape 19"/>
          <p:cNvSpPr txBox="1"/>
          <p:nvPr/>
        </p:nvSpPr>
        <p:spPr>
          <a:xfrm>
            <a:off x="6210148" y="3538728"/>
            <a:ext cx="5295748" cy="2522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6419698" y="3710178"/>
            <a:ext cx="48766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Chloe buys 2 muffins for $1.50 each and some juices for $2.25 each. Which equation gives the total cost,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juices?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419698" y="452323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rate × amount + fixed cost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6419698" y="4856226"/>
            <a:ext cx="3102239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= 2.25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Fixed cost: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2 · 1.50 = 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Rate: $2.25 per juice.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2.25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Steps Chart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Steps to follow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Write the inequality (match the words to the symbol).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 if there are parentheses.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 x-terms to one side.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Undo + or −.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Undo × or ÷. Negative number? FLIP the sign.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Graph: ○ or ●, then shade.</a:t>
            </a:r>
            <a:endParaRPr lang="en-US" sz="1950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I do · ★ Essential · Solve two-step inequalities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2x + 5 &gt; 11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5: 2x &gt; 6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2 (positive: no flip)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&gt; 3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We do · Solve two-step inequalities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3x − 4 ≤ 8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Add 4: 3x ≤ 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Divide by 3: x ≤ 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≤ 4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You do · Solve two-step inequalities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4x + 1 ≥ 9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≥ 2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I do · ★ Essential · Flip when dividing by a negative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−2x 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6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−2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Negative: FLIP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&gt;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3469691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&gt; −3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We do · Flip when dividing by a negative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−3x ≥ 12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Divide by 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Flip ≥ to ___: x ___ −4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3469691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≤ −4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You do · Flip when dividing by a negative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5 − x &gt; 7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469691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−2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3492398" cy="26266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solution set for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 ≥ 19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53441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Dividing by a negative flips the sign.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16458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≤ −5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−5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≤ 5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554730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−5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4349648" y="1618488"/>
            <a:ext cx="3492398" cy="3965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1789938"/>
            <a:ext cx="307329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Solve and graph: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5 − 2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11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53441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Subtract 5, then divide by −2 and flip.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559198" y="316458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 5: −2x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______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559198" y="3554730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Divide by −2 and flip: x ______ ______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4559198" y="4184904"/>
            <a:ext cx="3073298" cy="122758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&gt; −3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open circle at −3, shaded right</a:t>
            </a:r>
            <a:endParaRPr lang="en-US" sz="2325" dirty="0"/>
          </a:p>
        </p:txBody>
      </p:sp>
      <p:sp>
        <p:nvSpPr>
          <p:cNvPr id="21" name="Shape 21"/>
          <p:cNvSpPr txBox="1"/>
          <p:nvPr/>
        </p:nvSpPr>
        <p:spPr>
          <a:xfrm>
            <a:off x="8013497" y="1618488"/>
            <a:ext cx="3492398" cy="40584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223047" y="1789938"/>
            <a:ext cx="307329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Tire: 26 psi, −0.1 psi/min, stay ≥ 22. Solve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223047" y="28315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At or above → ≥. Divide by −0.1 and flip.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346176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26 − 0.1t ______ 22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223047" y="385191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−0.1t ≥ ______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8223047" y="424205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 ______ ______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8223047" y="4632198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40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minutes</a:t>
            </a:r>
            <a:endParaRPr lang="en-US" sz="2325" dirty="0"/>
          </a:p>
        </p:txBody>
      </p:sp>
      <p:sp>
        <p:nvSpPr>
          <p:cNvPr id="22" name="Slide Number 2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2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like an equation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Undo + and −, then × and ÷.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Flip!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or divide by a negative → reverse the sign.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Round in context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At least → round up. At most → round down.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22</a:t>
            </a:fld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2042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is the solution set of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12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12293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÷ by a negative → flip the sign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455926"/>
            <a:ext cx="3581099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−3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12 ÷ −4 = −3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Negative divisor: flip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&gt;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−3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755898"/>
            <a:ext cx="5295748" cy="1824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92734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is the solution set of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 ≤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26034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get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on one side, like an equation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4593336"/>
            <a:ext cx="2910695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≤ −4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+ 3 ≤ −1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3: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≤ −4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20650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178993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Which inequality means the same as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−6 ≤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2122932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switch sides → the sign points the other way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2695956"/>
            <a:ext cx="4876648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≥ −6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−6 ≤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−6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is less than or equal to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So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is greater than or equal to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−6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≥ −6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9" name="Shape 19"/>
          <p:cNvSpPr txBox="1"/>
          <p:nvPr/>
        </p:nvSpPr>
        <p:spPr>
          <a:xfrm>
            <a:off x="6210148" y="3778758"/>
            <a:ext cx="5295748" cy="2042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6419698" y="395020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value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− 2) = 9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419698" y="428320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distribute, then undo + and ×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6419698" y="4616196"/>
            <a:ext cx="2910695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− 6 = 9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Add 6: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3: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Steps Chart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Steps to follow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Write the inequality (match the words to the symbol).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 if there are parentheses.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 x-terms to one side.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Undo + or −.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Undo × or ÷. Negative number? FLIP the sign.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Graph: ○ or ●, then shade.</a:t>
            </a:r>
            <a:endParaRPr lang="en-US" sz="1950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24</a:t>
            </a:fld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I do · ★ Essential · Variables on both sides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5x + 2 ≥ 3x − 10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3x: 2x + 2 ≥ −10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2: 2x ≥ −12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2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3469691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≥ −6</a:t>
            </a:r>
            <a:endParaRPr lang="en-US" sz="28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We do · Variables on both sides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4x − 1 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2x + 7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 2x: ___ − 1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7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Add 1: 2x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Divide by 2: x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___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4</a:t>
            </a:r>
            <a:endParaRPr lang="en-US" sz="28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You do · Variables on both sides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6x + 3 ≤ 4x + 9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≤ 3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I do · ★ Essential · Distribute first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−2(x + 1) ≥ 8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Distribute: −2x − 2 ≥ 8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Add 2: −2x ≥ 10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−2: FLIP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3469691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≤ −5</a:t>
            </a:r>
            <a:endParaRPr lang="en-US" sz="28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We do · Distribute first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3(x − 2) 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9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___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9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Add 6: 3x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Divide by 3: x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___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5</a:t>
            </a:r>
            <a:endParaRPr lang="en-US" sz="28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You do · Distribute first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−4(x − 6) 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22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&gt; ½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3492398" cy="3163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solution set for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3(4 −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&gt; −2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8315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Distribute, move the x-terms, and flip if you divide by a negative.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70179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≤ −2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4091940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2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4349648" y="1618488"/>
            <a:ext cx="3492398" cy="4355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1789938"/>
            <a:ext cx="307329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Solve and graph: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1.5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 ≥ −2(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− 9)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53441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Distribute the −2 to both terms.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559198" y="316458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1.5m + 4 ≥ ______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559198" y="3554730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2m, subtract 4: ______ ≥ ______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4559198" y="418490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 ______ ______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4559198" y="4575048"/>
            <a:ext cx="3073298" cy="122758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4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closed circle at 4, shaded right</a:t>
            </a:r>
            <a:endParaRPr lang="en-US" sz="2325" dirty="0"/>
          </a:p>
        </p:txBody>
      </p:sp>
      <p:sp>
        <p:nvSpPr>
          <p:cNvPr id="22" name="Shape 22"/>
          <p:cNvSpPr txBox="1"/>
          <p:nvPr/>
        </p:nvSpPr>
        <p:spPr>
          <a:xfrm>
            <a:off x="8013497" y="1618488"/>
            <a:ext cx="3492398" cy="3349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223047" y="1789938"/>
            <a:ext cx="307329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Solve: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+ 1) ≥ 8</a:t>
            </a: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223723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Divide by −2 at the end: flip.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223047" y="286740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______ ≥ 8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8223047" y="325755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2: −2x ≥ ______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8223047" y="364769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Divide by −2 and flip: x ______ ______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8223047" y="427786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−5</a:t>
            </a:r>
            <a:endParaRPr lang="en-US" sz="2325" dirty="0"/>
          </a:p>
        </p:txBody>
      </p:sp>
      <p:sp>
        <p:nvSpPr>
          <p:cNvPr id="23" name="Slide Number 2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3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Both sides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 x to the side with the bigger number in front: no flip needed.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Distribute first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−2(x + 1) = −2x − 2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Read it from x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−6 ≤ x is the same as x ≥ −6.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3779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32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Modeling Linear Inequaliti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32</Slides>
  <Notes>32</Notes>
</Properties>
</file>

<file path=docProps/core.xml><?xml version="1.0" encoding="utf-8"?>
<cp:coreProperties xmlns:cp="http://schemas.openxmlformats.org/package/2006/metadata/core-properties" xmlns:dc="http://purl.org/dc/elements/1.1/">
  <dc:title>Modeling Linear Inequalities</dc:title>
  <dc:subject>Bluebonnet Algebra I</dc:subject>
</cp:coreProperties>
</file>