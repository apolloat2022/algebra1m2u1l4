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version: the modified Form M. Multiple choice has 3 choices; open items are chunked into steps with blanks and sentence frames; tips define vocabulary; x-rows are added to the tables in Q1 and Q5; two points are marked on the Gracie graph. Grade with the Form M answer key (assessment/Topic1-Assessment-FormM-ANSWER-KEY.pdf). Apply the student's IEP accommodations as well: extended time, breaks, read-aloud, small-group setting.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1: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End of Topic Assessment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553462"/>
            <a:ext cx="10820095" cy="22623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2491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 and the reference sheet.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Use the steps and tips. Fill in each blank.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903726"/>
            <a:ext cx="104009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One question is on each slide. Take your time. Ask your teacher if you need a break or a question read aloud.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Reference Sheet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171194"/>
            <a:ext cx="3517798" cy="14493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" name="Shape 3"/>
          <p:cNvSpPr txBox="1"/>
          <p:nvPr/>
        </p:nvSpPr>
        <p:spPr>
          <a:xfrm>
            <a:off x="895350" y="1342644"/>
            <a:ext cx="3098698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/ rate of change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change in 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change in 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y₂ − y₁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x₂ − x₁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725" dirty="0"/>
          </a:p>
        </p:txBody>
      </p:sp>
      <p:sp>
        <p:nvSpPr>
          <p:cNvPr id="6" name="Shape 6"/>
          <p:cNvSpPr txBox="1"/>
          <p:nvPr/>
        </p:nvSpPr>
        <p:spPr>
          <a:xfrm>
            <a:off x="4336948" y="1171194"/>
            <a:ext cx="3517798" cy="14493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4546498" y="1342644"/>
            <a:ext cx="3098698" cy="84353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slope,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725" dirty="0"/>
          </a:p>
        </p:txBody>
      </p:sp>
      <p:sp>
        <p:nvSpPr>
          <p:cNvPr id="8" name="Shape 8"/>
          <p:cNvSpPr txBox="1"/>
          <p:nvPr/>
        </p:nvSpPr>
        <p:spPr>
          <a:xfrm>
            <a:off x="7988097" y="1171194"/>
            <a:ext cx="3517798" cy="14493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197647" y="1342644"/>
            <a:ext cx="3098698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₁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₁)</a:t>
            </a:r>
            <a:endParaRPr lang="en-US" sz="17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753868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2925318"/>
            <a:ext cx="3098698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Solve for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to find the slope.</a:t>
            </a:r>
            <a:endParaRPr lang="en-US" sz="1725" dirty="0"/>
          </a:p>
        </p:txBody>
      </p:sp>
      <p:sp>
        <p:nvSpPr>
          <p:cNvPr id="12" name="Shape 12"/>
          <p:cNvSpPr txBox="1"/>
          <p:nvPr/>
        </p:nvSpPr>
        <p:spPr>
          <a:xfrm>
            <a:off x="4336948" y="2753868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46498" y="2925318"/>
            <a:ext cx="3098698" cy="84353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Intercepts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0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0</a:t>
            </a:r>
            <a:endParaRPr lang="en-US" sz="1725" dirty="0"/>
          </a:p>
        </p:txBody>
      </p:sp>
      <p:sp>
        <p:nvSpPr>
          <p:cNvPr id="14" name="Shape 14"/>
          <p:cNvSpPr txBox="1"/>
          <p:nvPr/>
        </p:nvSpPr>
        <p:spPr>
          <a:xfrm>
            <a:off x="7988097" y="2753868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197647" y="2925318"/>
            <a:ext cx="3098698" cy="1369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Correlation </a:t>
            </a:r>
            <a:r>
              <a:rPr lang="en-US" sz="172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r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Near 1 or −1: strong. Near 0: weak.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r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&gt; 0 positive,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r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negative</a:t>
            </a:r>
            <a:endParaRPr lang="en-US" sz="17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599432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4770882"/>
            <a:ext cx="3098698" cy="1369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Calculator: line of best fit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STAT → EDIT: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in L1,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in L2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STAT → CALC → LinReg(ax+b)</a:t>
            </a:r>
            <a:endParaRPr lang="en-US" sz="1725" dirty="0"/>
          </a:p>
        </p:txBody>
      </p:sp>
      <p:sp>
        <p:nvSpPr>
          <p:cNvPr id="18" name="Shape 18"/>
          <p:cNvSpPr txBox="1"/>
          <p:nvPr/>
        </p:nvSpPr>
        <p:spPr>
          <a:xfrm>
            <a:off x="4336948" y="4599432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46498" y="4770882"/>
            <a:ext cx="3098698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(inputs)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(outputs)</a:t>
            </a:r>
            <a:endParaRPr lang="en-US" sz="1725" dirty="0"/>
          </a:p>
        </p:txBody>
      </p:sp>
      <p:sp>
        <p:nvSpPr>
          <p:cNvPr id="20" name="Shape 20"/>
          <p:cNvSpPr txBox="1"/>
          <p:nvPr/>
        </p:nvSpPr>
        <p:spPr>
          <a:xfrm>
            <a:off x="7988097" y="4599432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8197647" y="4770882"/>
            <a:ext cx="3098698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Causation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: one event </a:t>
            </a: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makes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the other event happen.</a:t>
            </a:r>
            <a:endParaRPr lang="en-US" sz="1725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 shows Lucia's salary. 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the number of years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since 2000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83642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Year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2522220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2000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3843528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2001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5164836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2002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86144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2003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1978152"/>
            <a:ext cx="183642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2522220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3843528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5164836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6486144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2421636"/>
            <a:ext cx="183642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Salary ($)</a:t>
            </a: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2522220" y="2421636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40,000</a:t>
            </a: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3843528" y="2421636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42,000</a:t>
            </a: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5164836" y="2421636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46,000</a:t>
            </a:r>
            <a:endParaRPr lang="en-US" sz="1950" dirty="0"/>
          </a:p>
        </p:txBody>
      </p:sp>
      <p:sp>
        <p:nvSpPr>
          <p:cNvPr id="18" name="Shape 18"/>
          <p:cNvSpPr txBox="1"/>
          <p:nvPr/>
        </p:nvSpPr>
        <p:spPr>
          <a:xfrm>
            <a:off x="6486144" y="2421636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44,500</a:t>
            </a: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299847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linear function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best models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 data?</a:t>
            </a:r>
            <a:endParaRPr lang="en-US" sz="22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29584"/>
            <a:ext cx="7185149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Tip: Use LinReg on your calculator (see the reference sheet).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406069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4375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+ 39,625</a:t>
            </a:r>
            <a:endParaRPr lang="en-US" sz="2250" dirty="0"/>
          </a:p>
        </p:txBody>
      </p:sp>
      <p:sp>
        <p:nvSpPr>
          <p:cNvPr id="22" name="Shape 22"/>
          <p:cNvSpPr txBox="1"/>
          <p:nvPr/>
        </p:nvSpPr>
        <p:spPr>
          <a:xfrm>
            <a:off x="685800" y="459181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1750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+ 40,500</a:t>
            </a:r>
            <a:endParaRPr lang="en-US" sz="22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512292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40,500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+ 1750</a:t>
            </a:r>
            <a:endParaRPr lang="en-US" sz="22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situation shows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causation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6519786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Causation means one event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makes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the other event happen.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you study for a test, your classmate studies too.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you carry an umbrella to school, it rains.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you don't brush your teeth, you get cavities.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2093976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Cookies Sold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779776" y="1003554"/>
            <a:ext cx="2609088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Profit (dollars)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47038"/>
            <a:ext cx="209397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2779776" y="1447038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−1.50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90522"/>
            <a:ext cx="209397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2779776" y="1890522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1.25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334006"/>
            <a:ext cx="209397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2779776" y="2334006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4.00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777490"/>
            <a:ext cx="209397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2779776" y="2777490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6.75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5769864" y="1003554"/>
            <a:ext cx="5736031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Nia sells cookies at a constant price. The table shows her profit. 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14" name="Shape 14"/>
          <p:cNvSpPr txBox="1"/>
          <p:nvPr/>
        </p:nvSpPr>
        <p:spPr>
          <a:xfrm>
            <a:off x="5769864" y="2220468"/>
            <a:ext cx="5736031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Change in profit (4 to 5 cookies) = ________ dollars</a:t>
            </a:r>
            <a:endParaRPr lang="en-US" sz="2250" dirty="0"/>
          </a:p>
        </p:txBody>
      </p:sp>
      <p:sp>
        <p:nvSpPr>
          <p:cNvPr id="15" name="Shape 15"/>
          <p:cNvSpPr txBox="1"/>
          <p:nvPr/>
        </p:nvSpPr>
        <p:spPr>
          <a:xfrm>
            <a:off x="5769864" y="3094482"/>
            <a:ext cx="5736031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Change in cookies = ________ cookie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5769864" y="3968496"/>
            <a:ext cx="5736031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Rate of change = ________ dollars per cookie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tables show the monthly high temperature in Austin, Texas.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2304288" y="15346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3447288" y="15346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4590288" y="15346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5733288" y="15346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76288" y="15346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8019288" y="15346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1955292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Temp (°F)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304288" y="19552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3447288" y="19552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99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4590288" y="19552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98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5733288" y="19552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99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6876288" y="19552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104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8019288" y="19552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108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2509266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2304288" y="25092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3447288" y="25092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4590288" y="25092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endParaRPr lang="en-US" sz="1800" dirty="0"/>
          </a:p>
        </p:txBody>
      </p:sp>
      <p:sp>
        <p:nvSpPr>
          <p:cNvPr id="22" name="Shape 22"/>
          <p:cNvSpPr txBox="1"/>
          <p:nvPr/>
        </p:nvSpPr>
        <p:spPr>
          <a:xfrm>
            <a:off x="5733288" y="25092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800" dirty="0"/>
          </a:p>
        </p:txBody>
      </p:sp>
      <p:sp>
        <p:nvSpPr>
          <p:cNvPr id="23" name="Shape 23"/>
          <p:cNvSpPr txBox="1"/>
          <p:nvPr/>
        </p:nvSpPr>
        <p:spPr>
          <a:xfrm>
            <a:off x="6876288" y="25092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</a:t>
            </a:r>
            <a:endParaRPr lang="en-US" sz="1800" dirty="0"/>
          </a:p>
        </p:txBody>
      </p:sp>
      <p:sp>
        <p:nvSpPr>
          <p:cNvPr id="24" name="Shape 24"/>
          <p:cNvSpPr txBox="1"/>
          <p:nvPr/>
        </p:nvSpPr>
        <p:spPr>
          <a:xfrm>
            <a:off x="8019288" y="25092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</a:t>
            </a:r>
            <a:endParaRPr lang="en-US" sz="1800" dirty="0"/>
          </a:p>
        </p:txBody>
      </p:sp>
      <p:sp>
        <p:nvSpPr>
          <p:cNvPr id="25" name="Shape 25"/>
          <p:cNvSpPr txBox="1"/>
          <p:nvPr/>
        </p:nvSpPr>
        <p:spPr>
          <a:xfrm>
            <a:off x="685800" y="2929890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Temp (°F)</a:t>
            </a:r>
            <a:endParaRPr lang="en-US" sz="1800" dirty="0"/>
          </a:p>
        </p:txBody>
      </p:sp>
      <p:sp>
        <p:nvSpPr>
          <p:cNvPr id="26" name="Shape 26"/>
          <p:cNvSpPr txBox="1"/>
          <p:nvPr/>
        </p:nvSpPr>
        <p:spPr>
          <a:xfrm>
            <a:off x="2304288" y="29298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109</a:t>
            </a:r>
            <a:endParaRPr lang="en-US" sz="1800" dirty="0"/>
          </a:p>
        </p:txBody>
      </p:sp>
      <p:sp>
        <p:nvSpPr>
          <p:cNvPr id="27" name="Shape 27"/>
          <p:cNvSpPr txBox="1"/>
          <p:nvPr/>
        </p:nvSpPr>
        <p:spPr>
          <a:xfrm>
            <a:off x="3447288" y="29298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110</a:t>
            </a:r>
            <a:endParaRPr lang="en-US" sz="1800" dirty="0"/>
          </a:p>
        </p:txBody>
      </p:sp>
      <p:sp>
        <p:nvSpPr>
          <p:cNvPr id="28" name="Shape 28"/>
          <p:cNvSpPr txBox="1"/>
          <p:nvPr/>
        </p:nvSpPr>
        <p:spPr>
          <a:xfrm>
            <a:off x="4590288" y="29298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112</a:t>
            </a:r>
            <a:endParaRPr lang="en-US" sz="1800" dirty="0"/>
          </a:p>
        </p:txBody>
      </p:sp>
      <p:sp>
        <p:nvSpPr>
          <p:cNvPr id="29" name="Shape 29"/>
          <p:cNvSpPr txBox="1"/>
          <p:nvPr/>
        </p:nvSpPr>
        <p:spPr>
          <a:xfrm>
            <a:off x="5733288" y="29298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30" name="Shape 30"/>
          <p:cNvSpPr txBox="1"/>
          <p:nvPr/>
        </p:nvSpPr>
        <p:spPr>
          <a:xfrm>
            <a:off x="6876288" y="29298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91</a:t>
            </a:r>
            <a:endParaRPr lang="en-US" sz="1800" dirty="0"/>
          </a:p>
        </p:txBody>
      </p:sp>
      <p:sp>
        <p:nvSpPr>
          <p:cNvPr id="31" name="Shape 31"/>
          <p:cNvSpPr txBox="1"/>
          <p:nvPr/>
        </p:nvSpPr>
        <p:spPr>
          <a:xfrm>
            <a:off x="8019288" y="29298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32" name="Shape 32"/>
          <p:cNvSpPr txBox="1"/>
          <p:nvPr/>
        </p:nvSpPr>
        <p:spPr>
          <a:xfrm>
            <a:off x="685800" y="348386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does the correlation coefficient say about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strength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linear association?</a:t>
            </a:r>
            <a:endParaRPr lang="en-US" sz="2250" dirty="0"/>
          </a:p>
        </p:txBody>
      </p:sp>
      <p:sp>
        <p:nvSpPr>
          <p:cNvPr id="33" name="Shape 33"/>
          <p:cNvSpPr txBox="1"/>
          <p:nvPr/>
        </p:nvSpPr>
        <p:spPr>
          <a:xfrm>
            <a:off x="685800" y="4357878"/>
            <a:ext cx="8626770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Find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r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with your calculator. Close to 0 = weak. Close to 1 or −1 = strong.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685800" y="488899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Weak negative correlation</a:t>
            </a:r>
            <a:endParaRPr lang="en-US" sz="2250" dirty="0"/>
          </a:p>
        </p:txBody>
      </p:sp>
      <p:sp>
        <p:nvSpPr>
          <p:cNvPr id="35" name="Shape 35"/>
          <p:cNvSpPr txBox="1"/>
          <p:nvPr/>
        </p:nvSpPr>
        <p:spPr>
          <a:xfrm>
            <a:off x="685800" y="542010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Weak positive correlation</a:t>
            </a:r>
            <a:endParaRPr lang="en-US" sz="2250" dirty="0"/>
          </a:p>
        </p:txBody>
      </p:sp>
      <p:sp>
        <p:nvSpPr>
          <p:cNvPr id="36" name="Shape 36"/>
          <p:cNvSpPr txBox="1"/>
          <p:nvPr/>
        </p:nvSpPr>
        <p:spPr>
          <a:xfrm>
            <a:off x="685800" y="595122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Strong positive correlation</a:t>
            </a:r>
            <a:endParaRPr lang="en-US" sz="2250" dirty="0"/>
          </a:p>
        </p:txBody>
      </p:sp>
      <p:sp>
        <p:nvSpPr>
          <p:cNvPr id="37" name="Shape 3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 shows the pounds of chicken feed in a barn. 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months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since March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73736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2423160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Mar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3566160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Apr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4709160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May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5852160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Jun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995160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Jul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8138160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Aug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9281160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Sep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298192"/>
            <a:ext cx="173736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2423160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3566160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709160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5852160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6995160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8138160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9281160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2718816"/>
            <a:ext cx="173736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Pounds (y)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2423160" y="271881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950</a:t>
            </a:r>
            <a:endParaRPr lang="en-US" sz="1800" dirty="0"/>
          </a:p>
        </p:txBody>
      </p:sp>
      <p:sp>
        <p:nvSpPr>
          <p:cNvPr id="22" name="Shape 22"/>
          <p:cNvSpPr txBox="1"/>
          <p:nvPr/>
        </p:nvSpPr>
        <p:spPr>
          <a:xfrm>
            <a:off x="3566160" y="271881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873</a:t>
            </a:r>
            <a:endParaRPr lang="en-US" sz="1800" dirty="0"/>
          </a:p>
        </p:txBody>
      </p:sp>
      <p:sp>
        <p:nvSpPr>
          <p:cNvPr id="23" name="Shape 23"/>
          <p:cNvSpPr txBox="1"/>
          <p:nvPr/>
        </p:nvSpPr>
        <p:spPr>
          <a:xfrm>
            <a:off x="4709160" y="271881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796</a:t>
            </a:r>
            <a:endParaRPr lang="en-US" sz="1800" dirty="0"/>
          </a:p>
        </p:txBody>
      </p:sp>
      <p:sp>
        <p:nvSpPr>
          <p:cNvPr id="24" name="Shape 24"/>
          <p:cNvSpPr txBox="1"/>
          <p:nvPr/>
        </p:nvSpPr>
        <p:spPr>
          <a:xfrm>
            <a:off x="5852160" y="271881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719</a:t>
            </a:r>
            <a:endParaRPr lang="en-US" sz="1800" dirty="0"/>
          </a:p>
        </p:txBody>
      </p:sp>
      <p:sp>
        <p:nvSpPr>
          <p:cNvPr id="25" name="Shape 25"/>
          <p:cNvSpPr txBox="1"/>
          <p:nvPr/>
        </p:nvSpPr>
        <p:spPr>
          <a:xfrm>
            <a:off x="6995160" y="271881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642</a:t>
            </a:r>
            <a:endParaRPr lang="en-US" sz="1800" dirty="0"/>
          </a:p>
        </p:txBody>
      </p:sp>
      <p:sp>
        <p:nvSpPr>
          <p:cNvPr id="26" name="Shape 26"/>
          <p:cNvSpPr txBox="1"/>
          <p:nvPr/>
        </p:nvSpPr>
        <p:spPr>
          <a:xfrm>
            <a:off x="8138160" y="271881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565</a:t>
            </a:r>
            <a:endParaRPr lang="en-US" sz="1800" dirty="0"/>
          </a:p>
        </p:txBody>
      </p:sp>
      <p:sp>
        <p:nvSpPr>
          <p:cNvPr id="27" name="Shape 27"/>
          <p:cNvSpPr txBox="1"/>
          <p:nvPr/>
        </p:nvSpPr>
        <p:spPr>
          <a:xfrm>
            <a:off x="9281160" y="271881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488</a:t>
            </a:r>
            <a:endParaRPr lang="en-US" sz="1800" dirty="0"/>
          </a:p>
        </p:txBody>
      </p:sp>
      <p:sp>
        <p:nvSpPr>
          <p:cNvPr id="28" name="Shape 28"/>
          <p:cNvSpPr txBox="1"/>
          <p:nvPr/>
        </p:nvSpPr>
        <p:spPr>
          <a:xfrm>
            <a:off x="685800" y="327279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a linear function for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pounds of chicken feed.</a:t>
            </a:r>
            <a:endParaRPr lang="en-US" sz="2250" dirty="0"/>
          </a:p>
        </p:txBody>
      </p:sp>
      <p:sp>
        <p:nvSpPr>
          <p:cNvPr id="29" name="Shape 29"/>
          <p:cNvSpPr txBox="1"/>
          <p:nvPr/>
        </p:nvSpPr>
        <p:spPr>
          <a:xfrm>
            <a:off x="685800" y="380390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Starting amount when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endParaRPr lang="en-US" sz="2250" dirty="0"/>
          </a:p>
        </p:txBody>
      </p:sp>
      <p:sp>
        <p:nvSpPr>
          <p:cNvPr id="30" name="Shape 30"/>
          <p:cNvSpPr txBox="1"/>
          <p:nvPr/>
        </p:nvSpPr>
        <p:spPr>
          <a:xfrm>
            <a:off x="685800" y="433501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Change each month: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endParaRPr lang="en-US" sz="2250" dirty="0"/>
          </a:p>
        </p:txBody>
      </p:sp>
      <p:sp>
        <p:nvSpPr>
          <p:cNvPr id="31" name="Shape 31"/>
          <p:cNvSpPr txBox="1"/>
          <p:nvPr/>
        </p:nvSpPr>
        <p:spPr>
          <a:xfrm>
            <a:off x="685800" y="486613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________</a:t>
            </a:r>
            <a:endParaRPr lang="en-US" sz="2250" dirty="0"/>
          </a:p>
        </p:txBody>
      </p:sp>
      <p:sp>
        <p:nvSpPr>
          <p:cNvPr id="32" name="Shape 32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529334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Hours (x)</a:t>
            </a:r>
            <a:endParaRPr lang="en-US" sz="1650" dirty="0"/>
          </a:p>
        </p:txBody>
      </p:sp>
      <p:sp>
        <p:nvSpPr>
          <p:cNvPr id="4" name="Shape 4"/>
          <p:cNvSpPr txBox="1"/>
          <p:nvPr/>
        </p:nvSpPr>
        <p:spPr>
          <a:xfrm>
            <a:off x="2215134" y="1003554"/>
            <a:ext cx="185623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Money, $ (y)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01318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215134" y="1401318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799082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2215134" y="1799082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16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196846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215134" y="2196846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35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594610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2215134" y="2594610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47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2992374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215134" y="2992374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390138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2215134" y="3390138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69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3787902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2215134" y="3787902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4185666"/>
            <a:ext cx="1529334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2215134" y="4185666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103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4452366" y="1003554"/>
            <a:ext cx="7053529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 shows how much Omar earns for the hours he works.</a:t>
            </a:r>
            <a:endParaRPr lang="en-US" sz="2250" dirty="0"/>
          </a:p>
        </p:txBody>
      </p:sp>
      <p:sp>
        <p:nvSpPr>
          <p:cNvPr id="22" name="Shape 22"/>
          <p:cNvSpPr txBox="1"/>
          <p:nvPr/>
        </p:nvSpPr>
        <p:spPr>
          <a:xfrm>
            <a:off x="4452366" y="1877568"/>
            <a:ext cx="7053529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best prediction of what Omar earns for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 hours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23" name="Shape 23"/>
          <p:cNvSpPr txBox="1"/>
          <p:nvPr/>
        </p:nvSpPr>
        <p:spPr>
          <a:xfrm>
            <a:off x="4452366" y="2751582"/>
            <a:ext cx="5743529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Use LinReg to find the line of best fit.</a:t>
            </a:r>
            <a:b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Put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9 into the equation.</a:t>
            </a: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4452366" y="3534156"/>
            <a:ext cx="7053529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$128.00</a:t>
            </a:r>
            <a:endParaRPr lang="en-US" sz="2250" dirty="0"/>
          </a:p>
        </p:txBody>
      </p:sp>
      <p:sp>
        <p:nvSpPr>
          <p:cNvPr id="25" name="Shape 25"/>
          <p:cNvSpPr txBox="1"/>
          <p:nvPr/>
        </p:nvSpPr>
        <p:spPr>
          <a:xfrm>
            <a:off x="4452366" y="4065270"/>
            <a:ext cx="7053529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$131.46</a:t>
            </a:r>
            <a:endParaRPr lang="en-US" sz="2250" dirty="0"/>
          </a:p>
        </p:txBody>
      </p:sp>
      <p:sp>
        <p:nvSpPr>
          <p:cNvPr id="26" name="Shape 26"/>
          <p:cNvSpPr txBox="1"/>
          <p:nvPr/>
        </p:nvSpPr>
        <p:spPr>
          <a:xfrm>
            <a:off x="4452366" y="4596384"/>
            <a:ext cx="7053529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$189.00</a:t>
            </a:r>
            <a:endParaRPr lang="en-US" sz="22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 15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45?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3747440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Solve for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to get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Subtract 15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from both sides: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________________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Divide every term by 3: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 with slope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the point (−1, −2).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8072300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Point-slope form: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₁ =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₁). Here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1/3,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₁ = −1,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₁ = −2.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Fill in: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(________) = ________(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(________))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Simplify: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 =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+ 1)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Distribute, then subtract 2: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________________________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2222754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Time, min (x)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908554" y="1003554"/>
            <a:ext cx="2737866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Water left, L (y)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47038"/>
            <a:ext cx="2222754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2908554" y="1447038"/>
            <a:ext cx="273786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360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90522"/>
            <a:ext cx="2222754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2908554" y="1890522"/>
            <a:ext cx="273786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240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334006"/>
            <a:ext cx="2222754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3.5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2908554" y="2334006"/>
            <a:ext cx="273786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777490"/>
            <a:ext cx="2222754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2908554" y="2777490"/>
            <a:ext cx="273786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6027420" y="1003554"/>
            <a:ext cx="547847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water in a tub drains at a constant rate.</a:t>
            </a:r>
            <a:endParaRPr lang="en-US" sz="2250" dirty="0"/>
          </a:p>
        </p:txBody>
      </p:sp>
      <p:sp>
        <p:nvSpPr>
          <p:cNvPr id="14" name="Shape 14"/>
          <p:cNvSpPr txBox="1"/>
          <p:nvPr/>
        </p:nvSpPr>
        <p:spPr>
          <a:xfrm>
            <a:off x="6027420" y="1877568"/>
            <a:ext cx="54784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Use (0, 360) and (2, 240).</a:t>
            </a:r>
            <a:b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Rate =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240 − 360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2 − 0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 liters per minute</a:t>
            </a:r>
            <a:endParaRPr lang="en-US" sz="2250" dirty="0"/>
          </a:p>
        </p:txBody>
      </p:sp>
      <p:sp>
        <p:nvSpPr>
          <p:cNvPr id="15" name="Shape 15"/>
          <p:cNvSpPr txBox="1"/>
          <p:nvPr/>
        </p:nvSpPr>
        <p:spPr>
          <a:xfrm>
            <a:off x="6027420" y="3094482"/>
            <a:ext cx="54784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The water level goes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 / down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by ________ liters every minute.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5048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2657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5218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778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0341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902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5463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8024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0585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3147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5708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8269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0830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43391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5952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48514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51075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53636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56197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0145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38441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36737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5033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3329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1625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299216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2177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65137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48098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31059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1402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19698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7994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6290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009650" y="14586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12882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009650" y="11178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12475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17597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2720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27842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2964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25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38087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3209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35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8331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53454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45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3071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048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>
            <a:off x="1009650" y="1458637"/>
            <a:ext cx="4097867" cy="27262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/>
          <p:nvPr/>
        </p:nvSpPr>
        <p:spPr>
          <a:xfrm>
            <a:off x="1981729" y="20878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0" name="Shape 60"/>
          <p:cNvSpPr txBox="1"/>
          <p:nvPr/>
        </p:nvSpPr>
        <p:spPr>
          <a:xfrm>
            <a:off x="2119842" y="189255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(10, 2)</a:t>
            </a:r>
            <a:endParaRPr lang="en-US" sz="1125" dirty="0"/>
          </a:p>
        </p:txBody>
      </p:sp>
      <p:sp>
        <p:nvSpPr>
          <p:cNvPr id="61" name="Shape 61"/>
          <p:cNvSpPr/>
          <p:nvPr/>
        </p:nvSpPr>
        <p:spPr>
          <a:xfrm>
            <a:off x="3518429" y="311016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2" name="Shape 62"/>
          <p:cNvSpPr txBox="1"/>
          <p:nvPr/>
        </p:nvSpPr>
        <p:spPr>
          <a:xfrm>
            <a:off x="3656542" y="291490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(25, 1)</a:t>
            </a:r>
            <a:endParaRPr lang="en-US" sz="1125" dirty="0"/>
          </a:p>
        </p:txBody>
      </p:sp>
      <p:sp>
        <p:nvSpPr>
          <p:cNvPr id="63" name="Shape 63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Gracie's Walk Home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. Across: Time (minutes). Up: Distance from Home (miles).</a:t>
            </a:r>
            <a:endParaRPr lang="en-US" sz="1575" dirty="0"/>
          </a:p>
        </p:txBody>
      </p:sp>
      <p:sp>
        <p:nvSpPr>
          <p:cNvPr id="64" name="Shape 64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graph of Gracie's walk home from school.</a:t>
            </a:r>
            <a:endParaRPr lang="en-US" sz="2250" dirty="0"/>
          </a:p>
        </p:txBody>
      </p:sp>
      <p:sp>
        <p:nvSpPr>
          <p:cNvPr id="65" name="Shape 65"/>
          <p:cNvSpPr txBox="1"/>
          <p:nvPr/>
        </p:nvSpPr>
        <p:spPr>
          <a:xfrm>
            <a:off x="6286348" y="1877568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What does it mean?</a:t>
            </a:r>
            <a:endParaRPr lang="en-US" sz="2250" dirty="0"/>
          </a:p>
        </p:txBody>
      </p:sp>
      <p:sp>
        <p:nvSpPr>
          <p:cNvPr id="66" name="Shape 66"/>
          <p:cNvSpPr txBox="1"/>
          <p:nvPr/>
        </p:nvSpPr>
        <p:spPr>
          <a:xfrm>
            <a:off x="6286348" y="2751582"/>
            <a:ext cx="5219548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Each box across is 2.5 minutes. Each box up is 1/6 of a mile.</a:t>
            </a:r>
            <a:endParaRPr lang="en-US" sz="1650" dirty="0"/>
          </a:p>
        </p:txBody>
      </p:sp>
      <p:sp>
        <p:nvSpPr>
          <p:cNvPr id="67" name="Shape 67"/>
          <p:cNvSpPr txBox="1"/>
          <p:nvPr/>
        </p:nvSpPr>
        <p:spPr>
          <a:xfrm>
            <a:off x="6286348" y="353415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= (________, 0)</a:t>
            </a:r>
            <a:endParaRPr lang="en-US" sz="2250" dirty="0"/>
          </a:p>
        </p:txBody>
      </p:sp>
      <p:sp>
        <p:nvSpPr>
          <p:cNvPr id="68" name="Shape 68"/>
          <p:cNvSpPr txBox="1"/>
          <p:nvPr/>
        </p:nvSpPr>
        <p:spPr>
          <a:xfrm>
            <a:off x="6286348" y="4065270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After ________ minutes, Gracie is ________ miles from home. (She is ________.)</a:t>
            </a:r>
            <a:endParaRPr lang="en-US" sz="2250" dirty="0"/>
          </a:p>
        </p:txBody>
      </p:sp>
      <p:sp>
        <p:nvSpPr>
          <p:cNvPr id="69" name="Shape 6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5048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2657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5218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778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0341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902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5463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8024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0585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3147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5708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8269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0830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43391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5952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48514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51075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53636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56197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0145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38441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36737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5033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3329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1625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299216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2177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65137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48098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31059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1402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19698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7994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6290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009650" y="14586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12882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009650" y="11178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12475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17597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2720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27842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2964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25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38087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3209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35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8331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53454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45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3071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048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>
            <a:off x="1009650" y="1458637"/>
            <a:ext cx="4097867" cy="27262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/>
          <p:nvPr/>
        </p:nvSpPr>
        <p:spPr>
          <a:xfrm>
            <a:off x="1981729" y="20878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0" name="Shape 60"/>
          <p:cNvSpPr txBox="1"/>
          <p:nvPr/>
        </p:nvSpPr>
        <p:spPr>
          <a:xfrm>
            <a:off x="2119842" y="189255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(10, 2)</a:t>
            </a:r>
            <a:endParaRPr lang="en-US" sz="1125" dirty="0"/>
          </a:p>
        </p:txBody>
      </p:sp>
      <p:sp>
        <p:nvSpPr>
          <p:cNvPr id="61" name="Shape 61"/>
          <p:cNvSpPr/>
          <p:nvPr/>
        </p:nvSpPr>
        <p:spPr>
          <a:xfrm>
            <a:off x="3518429" y="311016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2" name="Shape 62"/>
          <p:cNvSpPr txBox="1"/>
          <p:nvPr/>
        </p:nvSpPr>
        <p:spPr>
          <a:xfrm>
            <a:off x="3656542" y="291490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(25, 1)</a:t>
            </a:r>
            <a:endParaRPr lang="en-US" sz="1125" dirty="0"/>
          </a:p>
        </p:txBody>
      </p:sp>
      <p:sp>
        <p:nvSpPr>
          <p:cNvPr id="63" name="Shape 63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Gracie's Walk Home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. Across: Time (minutes). Up: Distance from Home (miles).</a:t>
            </a:r>
            <a:endParaRPr lang="en-US" sz="1575" dirty="0"/>
          </a:p>
        </p:txBody>
      </p:sp>
      <p:sp>
        <p:nvSpPr>
          <p:cNvPr id="64" name="Shape 64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graph of Gracie's walk home from school.</a:t>
            </a:r>
            <a:endParaRPr lang="en-US" sz="2250" dirty="0"/>
          </a:p>
        </p:txBody>
      </p:sp>
      <p:sp>
        <p:nvSpPr>
          <p:cNvPr id="65" name="Shape 65"/>
          <p:cNvSpPr txBox="1"/>
          <p:nvPr/>
        </p:nvSpPr>
        <p:spPr>
          <a:xfrm>
            <a:off x="6286348" y="1877568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What does it mean?</a:t>
            </a:r>
            <a:endParaRPr lang="en-US" sz="2250" dirty="0"/>
          </a:p>
        </p:txBody>
      </p:sp>
      <p:sp>
        <p:nvSpPr>
          <p:cNvPr id="66" name="Shape 66"/>
          <p:cNvSpPr txBox="1"/>
          <p:nvPr/>
        </p:nvSpPr>
        <p:spPr>
          <a:xfrm>
            <a:off x="6286348" y="2751582"/>
            <a:ext cx="3636546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Each box up is 1/6 of a mile.</a:t>
            </a:r>
            <a:endParaRPr lang="en-US" sz="1650" dirty="0"/>
          </a:p>
        </p:txBody>
      </p:sp>
      <p:sp>
        <p:nvSpPr>
          <p:cNvPr id="67" name="Shape 67"/>
          <p:cNvSpPr txBox="1"/>
          <p:nvPr/>
        </p:nvSpPr>
        <p:spPr>
          <a:xfrm>
            <a:off x="6286348" y="328269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= (0, ________)</a:t>
            </a:r>
            <a:endParaRPr lang="en-US" sz="2250" dirty="0"/>
          </a:p>
        </p:txBody>
      </p:sp>
      <p:sp>
        <p:nvSpPr>
          <p:cNvPr id="68" name="Shape 68"/>
          <p:cNvSpPr txBox="1"/>
          <p:nvPr/>
        </p:nvSpPr>
        <p:spPr>
          <a:xfrm>
            <a:off x="6286348" y="3813810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At 0 minutes (when she leaves school), Gracie is ________ miles from home.</a:t>
            </a:r>
            <a:endParaRPr lang="en-US" sz="2250" dirty="0"/>
          </a:p>
        </p:txBody>
      </p:sp>
      <p:sp>
        <p:nvSpPr>
          <p:cNvPr id="69" name="Shape 6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5048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2657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5218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778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0341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902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5463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8024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0585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3147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5708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8269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0830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43391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5952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48514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51075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53636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56197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0145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38441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36737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5033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3329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1625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299216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2177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65137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48098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31059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1402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19698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7994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6290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009650" y="14586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12882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009650" y="11178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12475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17597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2720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27842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2964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25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38087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3209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35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8331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53454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45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3071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048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>
            <a:off x="1009650" y="1458637"/>
            <a:ext cx="4097867" cy="27262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/>
          <p:nvPr/>
        </p:nvSpPr>
        <p:spPr>
          <a:xfrm>
            <a:off x="1981729" y="20878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0" name="Shape 60"/>
          <p:cNvSpPr txBox="1"/>
          <p:nvPr/>
        </p:nvSpPr>
        <p:spPr>
          <a:xfrm>
            <a:off x="2119842" y="189255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(10, 2)</a:t>
            </a:r>
            <a:endParaRPr lang="en-US" sz="1125" dirty="0"/>
          </a:p>
        </p:txBody>
      </p:sp>
      <p:sp>
        <p:nvSpPr>
          <p:cNvPr id="61" name="Shape 61"/>
          <p:cNvSpPr/>
          <p:nvPr/>
        </p:nvSpPr>
        <p:spPr>
          <a:xfrm>
            <a:off x="3518429" y="311016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2" name="Shape 62"/>
          <p:cNvSpPr txBox="1"/>
          <p:nvPr/>
        </p:nvSpPr>
        <p:spPr>
          <a:xfrm>
            <a:off x="3656542" y="291490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(25, 1)</a:t>
            </a:r>
            <a:endParaRPr lang="en-US" sz="1125" dirty="0"/>
          </a:p>
        </p:txBody>
      </p:sp>
      <p:sp>
        <p:nvSpPr>
          <p:cNvPr id="63" name="Shape 63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Gracie's Walk Home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. Across: Time (minutes). Up: Distance from Home (miles).</a:t>
            </a:r>
            <a:endParaRPr lang="en-US" sz="1575" dirty="0"/>
          </a:p>
        </p:txBody>
      </p:sp>
      <p:sp>
        <p:nvSpPr>
          <p:cNvPr id="64" name="Shape 64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graph of Gracie's walk home from school.</a:t>
            </a:r>
            <a:endParaRPr lang="en-US" sz="2250" dirty="0"/>
          </a:p>
        </p:txBody>
      </p:sp>
      <p:sp>
        <p:nvSpPr>
          <p:cNvPr id="65" name="Shape 65"/>
          <p:cNvSpPr txBox="1"/>
          <p:nvPr/>
        </p:nvSpPr>
        <p:spPr>
          <a:xfrm>
            <a:off x="6286348" y="18775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Find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does it mean?</a:t>
            </a:r>
            <a:endParaRPr lang="en-US" sz="2250" dirty="0"/>
          </a:p>
        </p:txBody>
      </p:sp>
      <p:sp>
        <p:nvSpPr>
          <p:cNvPr id="66" name="Shape 66"/>
          <p:cNvSpPr txBox="1"/>
          <p:nvPr/>
        </p:nvSpPr>
        <p:spPr>
          <a:xfrm>
            <a:off x="6286348" y="2408682"/>
            <a:ext cx="5219548" cy="1426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marked points (10, 2) and (25, 1):</a:t>
            </a:r>
            <a:b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1 − 2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25 − 10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 mile per minute</a:t>
            </a:r>
            <a:endParaRPr lang="en-US" sz="2250" dirty="0"/>
          </a:p>
        </p:txBody>
      </p:sp>
      <p:sp>
        <p:nvSpPr>
          <p:cNvPr id="67" name="Shape 67"/>
          <p:cNvSpPr txBox="1"/>
          <p:nvPr/>
        </p:nvSpPr>
        <p:spPr>
          <a:xfrm>
            <a:off x="6286348" y="3968496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Gracie gets ________ mile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closer to / farther from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home every minute.</a:t>
            </a:r>
            <a:endParaRPr lang="en-US" sz="2250" dirty="0"/>
          </a:p>
        </p:txBody>
      </p:sp>
      <p:sp>
        <p:nvSpPr>
          <p:cNvPr id="68" name="Shape 6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value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23.2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+ 2.5 when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−4.2?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8626770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Replace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with −4.2: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(−4.2) = 23.2(−4.2) + 2.5. You may use a calculator.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−99.94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−94.94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21.5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7625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4208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87452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30695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73939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17182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60426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03669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46913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490156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5334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418490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387819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357149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326478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295808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265137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234467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203796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173126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142455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111785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4184904"/>
            <a:ext cx="4324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8" name="Shape 28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116776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160020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203263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246507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289750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332994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376237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7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19481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62724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505968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78675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48005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317334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86664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25599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225323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442722" y="19465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14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442722" y="163982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442722" y="133311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18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50" name="Shape 50"/>
          <p:cNvSpPr/>
          <p:nvPr/>
        </p:nvSpPr>
        <p:spPr>
          <a:xfrm>
            <a:off x="957262" y="106546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/>
          <p:nvPr/>
        </p:nvSpPr>
        <p:spPr>
          <a:xfrm>
            <a:off x="1389698" y="137217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2" name="Shape 52"/>
          <p:cNvSpPr/>
          <p:nvPr/>
        </p:nvSpPr>
        <p:spPr>
          <a:xfrm>
            <a:off x="1822132" y="16788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3" name="Shape 53"/>
          <p:cNvSpPr/>
          <p:nvPr/>
        </p:nvSpPr>
        <p:spPr>
          <a:xfrm>
            <a:off x="2254567" y="198558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4" name="Shape 54"/>
          <p:cNvSpPr/>
          <p:nvPr/>
        </p:nvSpPr>
        <p:spPr>
          <a:xfrm>
            <a:off x="2687003" y="229228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5" name="Shape 55"/>
          <p:cNvSpPr/>
          <p:nvPr/>
        </p:nvSpPr>
        <p:spPr>
          <a:xfrm>
            <a:off x="3119438" y="259899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6" name="Shape 56"/>
          <p:cNvSpPr/>
          <p:nvPr/>
        </p:nvSpPr>
        <p:spPr>
          <a:xfrm>
            <a:off x="3551872" y="290569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7" name="Shape 57"/>
          <p:cNvSpPr/>
          <p:nvPr/>
        </p:nvSpPr>
        <p:spPr>
          <a:xfrm>
            <a:off x="3984307" y="321240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8" name="Shape 58"/>
          <p:cNvSpPr/>
          <p:nvPr/>
        </p:nvSpPr>
        <p:spPr>
          <a:xfrm>
            <a:off x="4416742" y="351910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9" name="Shape 59"/>
          <p:cNvSpPr/>
          <p:nvPr/>
        </p:nvSpPr>
        <p:spPr>
          <a:xfrm>
            <a:off x="4849178" y="382581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0" name="Shape 60"/>
          <p:cNvSpPr/>
          <p:nvPr/>
        </p:nvSpPr>
        <p:spPr>
          <a:xfrm>
            <a:off x="5281612" y="41325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1" name="Shape 61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Across: Batches of Muffins (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). Up: Number of Eggs Remaining (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).</a:t>
            </a:r>
            <a:endParaRPr lang="en-US" sz="1575" dirty="0"/>
          </a:p>
        </p:txBody>
      </p:sp>
      <p:sp>
        <p:nvSpPr>
          <p:cNvPr id="62" name="Shape 62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Miguel has 20 eggs. Each batch of muffins uses 2 eggs.</a:t>
            </a:r>
            <a:endParaRPr lang="en-US" sz="2250" dirty="0"/>
          </a:p>
        </p:txBody>
      </p:sp>
      <p:sp>
        <p:nvSpPr>
          <p:cNvPr id="63" name="Shape 63"/>
          <p:cNvSpPr txBox="1"/>
          <p:nvPr/>
        </p:nvSpPr>
        <p:spPr>
          <a:xfrm>
            <a:off x="6286348" y="18775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function?</a:t>
            </a:r>
            <a:endParaRPr lang="en-US" sz="2250" dirty="0"/>
          </a:p>
        </p:txBody>
      </p:sp>
      <p:sp>
        <p:nvSpPr>
          <p:cNvPr id="64" name="Shape 64"/>
          <p:cNvSpPr txBox="1"/>
          <p:nvPr/>
        </p:nvSpPr>
        <p:spPr>
          <a:xfrm>
            <a:off x="6286348" y="2408682"/>
            <a:ext cx="5219548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Domain = the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-values. He can only bake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whole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batches.</a:t>
            </a:r>
            <a:endParaRPr lang="en-US" sz="1650" dirty="0"/>
          </a:p>
        </p:txBody>
      </p:sp>
      <p:sp>
        <p:nvSpPr>
          <p:cNvPr id="65" name="Shape 65"/>
          <p:cNvSpPr txBox="1"/>
          <p:nvPr/>
        </p:nvSpPr>
        <p:spPr>
          <a:xfrm>
            <a:off x="6286348" y="319125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10</a:t>
            </a:r>
            <a:endParaRPr lang="en-US" sz="2250" dirty="0"/>
          </a:p>
        </p:txBody>
      </p:sp>
      <p:sp>
        <p:nvSpPr>
          <p:cNvPr id="66" name="Shape 66"/>
          <p:cNvSpPr txBox="1"/>
          <p:nvPr/>
        </p:nvSpPr>
        <p:spPr>
          <a:xfrm>
            <a:off x="6286348" y="3722370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{0, 1, 2, 3, 4, 5, 6, 7, 8, 9, 10}</a:t>
            </a:r>
            <a:endParaRPr lang="en-US" sz="2250" dirty="0"/>
          </a:p>
        </p:txBody>
      </p:sp>
      <p:sp>
        <p:nvSpPr>
          <p:cNvPr id="67" name="Shape 67"/>
          <p:cNvSpPr txBox="1"/>
          <p:nvPr/>
        </p:nvSpPr>
        <p:spPr>
          <a:xfrm>
            <a:off x="6286348" y="4596384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{0, 2, 4, 6, 8, 10, …, 20}</a:t>
            </a:r>
            <a:endParaRPr lang="en-US" sz="2250" dirty="0"/>
          </a:p>
        </p:txBody>
      </p:sp>
      <p:sp>
        <p:nvSpPr>
          <p:cNvPr id="68" name="Shape 6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1 Assessment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17</Slides>
  <Notes>17</Notes>
</Properties>
</file>

<file path=docProps/core.xml><?xml version="1.0" encoding="utf-8"?>
<cp:coreProperties xmlns:cp="http://schemas.openxmlformats.org/package/2006/metadata/core-properties" xmlns:dc="http://purl.org/dc/elements/1.1/">
  <dc:title>Topic 1 Assessment</dc:title>
  <dc:subject>Bluebonnet Algebra I</dc:subject>
</cp:coreProperties>
</file>