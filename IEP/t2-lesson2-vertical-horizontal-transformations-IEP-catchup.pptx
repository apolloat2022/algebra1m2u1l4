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 id="270" r:id="rId25"/>
    <p:sldId id="271" r:id="rId26"/>
    <p:sldId id="272" r:id="rId27"/>
    <p:sldId id="273" r:id="rId28"/>
    <p:sldId id="274" r:id="rId29"/>
    <p:sldId id="275" r:id="rId30"/>
    <p:sldId id="276" r:id="rId31"/>
    <p:sldId id="277" r:id="rId32"/>
    <p:sldId id="278" r:id="rId33"/>
    <p:sldId id="279" r:id="rId34"/>
    <p:sldId id="280" r:id="rId35"/>
    <p:sldId id="281" r:id="rId36"/>
    <p:sldId id="282" r:id="rId37"/>
    <p:sldId id="283" r:id="rId38"/>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6.xml"/><Relationship Id="rId37" Type="http://schemas.openxmlformats.org/officeDocument/2006/relationships/slide" Target="slides/slide27.xml"/><Relationship Id="rId38"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Notes</a:t>
            </a: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4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IEP version of Topic 2 Lesson 2: a modified lesson that keeps the core skills and cuts the number of items. Each skill follows I do (teacher models), We do (together, with sentence frames), You do (student tries, then reveal). Click to reveal each answer. The bell work for every day follows this slide (the same questions as the online bell work); skip to the current day. Apply each student's IEP accommodations too: extended time, read-aloud, breaks, calculator, small group.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starts here on Monday, October 26.</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 same 4 questions are on the online Day 1 bell work. Reveal the answers one at a time. Answer key: 1. Subtracting from the output is a vertical translation down 3. 2. In y = mx + b, m is the slope. 3. Set g(x) = 0: 3x − 8 = 0, so x = 8/3. 4. The slope −⅔ is negative, so the line falls from left to right.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Catch-up from Topic 1 Lesson 5 so the class is ready for the End of Topic 1 Assessment (Lessons 1–6). Keep it to about 15 minutes, then go back to the Topic 2 lesson.</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time to try all items before revealing. Students may use the steps slide and their notes.</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Topic 1 Catch-Up. Continue with the Topic 2 lesson.</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slide up, or give students a printed copy, while they work.</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Think aloud about inside versus outside before naming the direction.</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teacher or assistant: click once for each step. Read the step aloud, and before each click ask the student what to do next. Students check their own paper and fix any mistake in a different color.</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Compare with j(x) + 4 = 2x + 3: left 4 and up 4 are not the same for this line.</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teacher or assistant: click once for each step. Read the step aloud, and before each click ask the student what to do next. Students check their own paper and fix any mistake in a different color.</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ends here on Monday, October 26.</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starts here on Tuesday, October 27.</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 same 4 questions are on the online Day 2 bell work. Reveal the answers one at a time. Answer key: 1. A horizontal translation right 5 subtracts 5 from the input: f(x − 5). 2. f(x − 5) = x − 5 = f(x) − 5, a vertical translation down 5. 3. 2(x + 4) − 1 = 2x + 8 − 1 = 2x + 7. 4. f(2x) = 2x and 2f(x) = 2x. For the parent function they match.</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Catch-up from Topic 1 Lesson 6 so the class is ready for the End of Topic 1 Assessment (Lessons 1–6). Keep it to about 15 minutes, then go back to the Topic 2 lesson.</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slide up, or give students a printed copy, while they work.</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the division for every pair, not just the first one.</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Topic 1 Catch-Up. Continue with the Topic 2 lesson.</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time to try all items before revealing. Students may use the steps slide and their notes.</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ends here on Tuesday, October 27.</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lgGrid">
          <a:fgClr>
            <a:srgbClr val="E6E8F2"/>
          </a:fgClr>
          <a:bgClr>
            <a:srgbClr val="F7F7FB"/>
          </a:bgClr>
        </a:pattFill>
        <a:effectLst/>
      </p:bgPr>
    </p:bg>
    <p:spTree>
      <p:nvGrpSpPr>
        <p:cNvPr id="1" name=""/>
        <p:cNvGrpSpPr/>
        <p:nvPr/>
      </p:nvGrpSpPr>
      <p:grpSpPr>
        <a:xfrm>
          <a:off x="0" y="0"/>
          <a:ext cx="0" cy="0"/>
          <a:chOff x="0" y="0"/>
          <a:chExt cx="0" cy="0"/>
        </a:xfrm>
      </p:grpSpPr>
      <p:sp>
        <p:nvSpPr>
          <p:cNvPr id="101" name="Brand 101"/>
          <p:cNvSpPr/>
          <p:nvPr userDrawn="1"/>
        </p:nvSpPr>
        <p:spPr>
          <a:xfrm>
            <a:off x="9631375" y="128016"/>
            <a:ext cx="274320" cy="274320"/>
          </a:xfrm>
          <a:prstGeom prst="roundRect">
            <a:avLst>
              <a:gd name="adj" fmla="val 25000"/>
            </a:avLst>
          </a:prstGeom>
          <a:solidFill>
            <a:srgbClr val="3050B8"/>
          </a:solidFill>
          <a:ln>
            <a:noFill/>
          </a:ln>
        </p:spPr>
      </p:sp>
      <p:sp>
        <p:nvSpPr>
          <p:cNvPr id="102" name="Brand 102"/>
          <p:cNvSpPr/>
          <p:nvPr userDrawn="1"/>
        </p:nvSpPr>
        <p:spPr>
          <a:xfrm>
            <a:off x="9748818" y="172593"/>
            <a:ext cx="39434" cy="39434"/>
          </a:xfrm>
          <a:prstGeom prst="ellipse">
            <a:avLst/>
          </a:prstGeom>
          <a:solidFill>
            <a:srgbClr val="FFFFFF"/>
          </a:solidFill>
          <a:ln>
            <a:noFill/>
          </a:ln>
        </p:spPr>
      </p:sp>
      <p:sp>
        <p:nvSpPr>
          <p:cNvPr id="103" name="Brand 103"/>
          <p:cNvSpPr/>
          <p:nvPr userDrawn="1"/>
        </p:nvSpPr>
        <p:spPr>
          <a:xfrm>
            <a:off x="9719672" y="207740"/>
            <a:ext cx="42862" cy="42862"/>
          </a:xfrm>
          <a:prstGeom prst="ellipse">
            <a:avLst/>
          </a:prstGeom>
          <a:solidFill>
            <a:srgbClr val="FFFFFF">
              <a:alpha val="92000"/>
            </a:srgbClr>
          </a:solidFill>
          <a:ln>
            <a:noFill/>
          </a:ln>
        </p:spPr>
      </p:sp>
      <p:sp>
        <p:nvSpPr>
          <p:cNvPr id="104" name="Brand 104"/>
          <p:cNvSpPr/>
          <p:nvPr userDrawn="1"/>
        </p:nvSpPr>
        <p:spPr>
          <a:xfrm>
            <a:off x="9774536" y="207740"/>
            <a:ext cx="42862" cy="42862"/>
          </a:xfrm>
          <a:prstGeom prst="ellipse">
            <a:avLst/>
          </a:prstGeom>
          <a:solidFill>
            <a:srgbClr val="FFFFFF">
              <a:alpha val="92000"/>
            </a:srgbClr>
          </a:solidFill>
          <a:ln>
            <a:noFill/>
          </a:ln>
        </p:spPr>
      </p:sp>
      <p:sp>
        <p:nvSpPr>
          <p:cNvPr id="105" name="Brand 105"/>
          <p:cNvSpPr/>
          <p:nvPr userDrawn="1"/>
        </p:nvSpPr>
        <p:spPr>
          <a:xfrm>
            <a:off x="9746247" y="230886"/>
            <a:ext cx="44577" cy="44577"/>
          </a:xfrm>
          <a:prstGeom prst="ellipse">
            <a:avLst/>
          </a:prstGeom>
          <a:solidFill>
            <a:srgbClr val="FFFFFF"/>
          </a:solidFill>
          <a:ln>
            <a:noFill/>
          </a:ln>
        </p:spPr>
      </p:sp>
      <p:sp>
        <p:nvSpPr>
          <p:cNvPr id="106" name="Brand 106"/>
          <p:cNvSpPr/>
          <p:nvPr userDrawn="1"/>
        </p:nvSpPr>
        <p:spPr>
          <a:xfrm>
            <a:off x="9709385" y="255746"/>
            <a:ext cx="46292" cy="46292"/>
          </a:xfrm>
          <a:prstGeom prst="ellipse">
            <a:avLst/>
          </a:prstGeom>
          <a:solidFill>
            <a:srgbClr val="FFFFFF">
              <a:alpha val="82000"/>
            </a:srgbClr>
          </a:solidFill>
          <a:ln>
            <a:noFill/>
          </a:ln>
        </p:spPr>
      </p:sp>
      <p:sp>
        <p:nvSpPr>
          <p:cNvPr id="107" name="Brand 107"/>
          <p:cNvSpPr/>
          <p:nvPr userDrawn="1"/>
        </p:nvSpPr>
        <p:spPr>
          <a:xfrm>
            <a:off x="9781394" y="255746"/>
            <a:ext cx="46292" cy="46292"/>
          </a:xfrm>
          <a:prstGeom prst="ellipse">
            <a:avLst/>
          </a:prstGeom>
          <a:solidFill>
            <a:srgbClr val="FFFFFF">
              <a:alpha val="82000"/>
            </a:srgbClr>
          </a:solidFill>
          <a:ln>
            <a:noFill/>
          </a:ln>
        </p:spPr>
      </p:sp>
      <p:sp>
        <p:nvSpPr>
          <p:cNvPr id="108" name="Brand 108"/>
          <p:cNvSpPr/>
          <p:nvPr userDrawn="1"/>
        </p:nvSpPr>
        <p:spPr>
          <a:xfrm>
            <a:off x="9761677" y="303752"/>
            <a:ext cx="13716" cy="55721"/>
          </a:xfrm>
          <a:prstGeom prst="roundRect">
            <a:avLst>
              <a:gd name="adj" fmla="val 50000"/>
            </a:avLst>
          </a:prstGeom>
          <a:solidFill>
            <a:srgbClr val="9FD18B"/>
          </a:solidFill>
          <a:ln>
            <a:noFill/>
          </a:ln>
        </p:spPr>
      </p:sp>
      <p:sp>
        <p:nvSpPr>
          <p:cNvPr id="109" name="Shape 109"/>
          <p:cNvSpPr txBox="1"/>
          <p:nvPr/>
        </p:nvSpPr>
        <p:spPr>
          <a:xfrm>
            <a:off x="9960559" y="109728"/>
            <a:ext cx="1737360" cy="310896"/>
          </a:xfrm>
          <a:prstGeom prst="rect">
            <a:avLst/>
          </a:prstGeom>
          <a:noFill/>
          <a:ln>
            <a:noFill/>
          </a:ln>
        </p:spPr>
        <p:txBody>
          <a:bodyPr wrap="square" lIns="18288" tIns="0" rIns="18288" bIns="0" anchor="ctr">
            <a:noAutofit/>
          </a:bodyPr>
          <a:lstStyle/>
          <a:p>
            <a:pPr algn="l">
              <a:lnSpc>
                <a:spcPct val="100000"/>
              </a:lnSpc>
            </a:pPr>
            <a:r>
              <a:rPr lang="en-US" sz="1125" dirty="0">
                <a:solidFill>
                  <a:srgbClr val="16171D"/>
                </a:solidFill>
                <a:latin typeface="Segoe UI"/>
                <a:cs typeface="Segoe UI"/>
              </a:rPr>
              <a:t xml:space="preserve">Bluebonnet </a:t>
            </a:r>
            <a:r>
              <a:rPr lang="en-US" sz="1125" dirty="0" b="1">
                <a:solidFill>
                  <a:srgbClr val="3050B8"/>
                </a:solidFill>
                <a:latin typeface="Segoe UI"/>
                <a:cs typeface="Segoe UI"/>
              </a:rPr>
              <a:t xml:space="preserve">Algebra I</a:t>
            </a:r>
            <a:endParaRPr lang="en-US" sz="1125" dirty="0"/>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algebra1m2u1l4.vercel.app/IEP/t2-lesson2-bellwork-day1-IEP.html" TargetMode="External"/><Relationship Id="rId4" Type="http://schemas.openxmlformats.org/officeDocument/2006/relationships/hyperlink" Target="https://algebra1m2u1l4.vercel.app/IEP/t2-lesson2-bellwork-day2-IEP.html" TargetMode="External"/><Relationship Id="rId5" Type="http://schemas.openxmlformats.org/officeDocument/2006/relationships/hyperlink" Target="https://algebra1m2u1l4.vercel.app/IEP/t2-lesson2-homework-IEP.html" TargetMode="External"/><Relationship Id="rId6" Type="http://schemas.openxmlformats.org/officeDocument/2006/relationships/hyperlink" Target="https://algebra1m2u1l4.vercel.app/IEP/t2-lesson2-quiz-IEP.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hyperlink" Target="https://algebra1m2u1l4.vercel.app/IEP/lesson5-homework-IEP.html" TargetMode="External"/><Relationship Id="rId4" Type="http://schemas.openxmlformats.org/officeDocument/2006/relationships/hyperlink" Target="https://algebra1m2u1l4.vercel.app/IEP/lesson5-quiz-IEP.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hyperlink" Target="https://algebra1m2u1l4.vercel.app/IEP/lesson6-homework-IEP.html" TargetMode="External"/><Relationship Id="rId4" Type="http://schemas.openxmlformats.org/officeDocument/2006/relationships/hyperlink" Target="https://algebra1m2u1l4.vercel.app/IEP/lesson6-quiz-IEP.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hyperlink" Target="https://algebra1m2u1l4.vercel.app/IEP/t2-lesson2-bellwork-day1-IEP.html" TargetMode="External"/><Relationship Id="rId4" Type="http://schemas.openxmlformats.org/officeDocument/2006/relationships/hyperlink" Target="https://algebra1m2u1l4.vercel.app/IEP/t2-lesson2-bellwork-day2-IEP.html" TargetMode="External"/><Relationship Id="rId5" Type="http://schemas.openxmlformats.org/officeDocument/2006/relationships/hyperlink" Target="https://algebra1m2u1l4.vercel.app/IEP/t2-lesson2-homework-IEP.html" TargetMode="External"/><Relationship Id="rId6" Type="http://schemas.openxmlformats.org/officeDocument/2006/relationships/hyperlink" Target="https://algebra1m2u1l4.vercel.app/IEP/t2-lesson2-quiz-IEP.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Bluebonnet Algebra I · Module 2 · Topic 2 · Lesson 2 · IEP Version</a:t>
            </a:r>
            <a:endParaRPr lang="en-US" sz="1200" dirty="0"/>
          </a:p>
        </p:txBody>
      </p:sp>
      <p:sp>
        <p:nvSpPr>
          <p:cNvPr id="3" name="Shape 3"/>
          <p:cNvSpPr txBox="1"/>
          <p:nvPr/>
        </p:nvSpPr>
        <p:spPr>
          <a:xfrm>
            <a:off x="685800" y="961644"/>
            <a:ext cx="10820095" cy="1426464"/>
          </a:xfrm>
          <a:prstGeom prst="rect">
            <a:avLst/>
          </a:prstGeom>
          <a:noFill/>
          <a:ln>
            <a:noFill/>
          </a:ln>
        </p:spPr>
        <p:txBody>
          <a:bodyPr wrap="square" lIns="36576" tIns="27432" rIns="36576" bIns="27432" anchor="t">
            <a:noAutofit/>
          </a:bodyPr>
          <a:lstStyle/>
          <a:p>
            <a:pPr algn="l">
              <a:lnSpc>
                <a:spcPct val="100000"/>
              </a:lnSpc>
            </a:pPr>
            <a:r>
              <a:rPr lang="en-US" sz="4500" dirty="0" b="1">
                <a:solidFill>
                  <a:srgbClr val="16171D"/>
                </a:solidFill>
                <a:latin typeface="Segoe UI"/>
                <a:cs typeface="Segoe UI"/>
              </a:rPr>
              <a:t xml:space="preserve">Horizontal and Vertical Transformations</a:t>
            </a:r>
            <a:endParaRPr lang="en-US" sz="4500" dirty="0"/>
          </a:p>
        </p:txBody>
      </p:sp>
      <p:sp>
        <p:nvSpPr>
          <p:cNvPr id="4" name="Shape 4"/>
          <p:cNvSpPr txBox="1"/>
          <p:nvPr/>
        </p:nvSpPr>
        <p:spPr>
          <a:xfrm>
            <a:off x="685800" y="2559558"/>
            <a:ext cx="10820095"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Adds a 15-minute Topic 1 Catch-Up (Lessons 5–6) each day · Day 1: Mon, Oct 26 · Day 2: Tue, Oct 27</a:t>
            </a:r>
            <a:endParaRPr lang="en-US" sz="1650" dirty="0"/>
          </a:p>
        </p:txBody>
      </p:sp>
      <p:sp>
        <p:nvSpPr>
          <p:cNvPr id="5" name="Shape 5"/>
          <p:cNvSpPr txBox="1"/>
          <p:nvPr/>
        </p:nvSpPr>
        <p:spPr>
          <a:xfrm>
            <a:off x="685800" y="3166872"/>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f</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c</a:t>
            </a:r>
            <a:r>
              <a:rPr lang="en-US" sz="2850" dirty="0">
                <a:solidFill>
                  <a:srgbClr val="16171D"/>
                </a:solidFill>
                <a:latin typeface="Cambria"/>
                <a:cs typeface="Cambria"/>
              </a:rPr>
              <a:t xml:space="preserve">) · </a:t>
            </a:r>
            <a:r>
              <a:rPr lang="en-US" sz="2850" dirty="0" i="1">
                <a:solidFill>
                  <a:srgbClr val="16171D"/>
                </a:solidFill>
                <a:latin typeface="Cambria"/>
                <a:cs typeface="Cambria"/>
              </a:rPr>
              <a:t xml:space="preserve">f</a:t>
            </a:r>
            <a:r>
              <a:rPr lang="en-US" sz="2850" dirty="0">
                <a:solidFill>
                  <a:srgbClr val="16171D"/>
                </a:solidFill>
                <a:latin typeface="Cambria"/>
                <a:cs typeface="Cambria"/>
              </a:rPr>
              <a:t xml:space="preserve">(</a:t>
            </a:r>
            <a:r>
              <a:rPr lang="en-US" sz="2850" dirty="0" b="1" i="1">
                <a:solidFill>
                  <a:srgbClr val="C9561F"/>
                </a:solidFill>
                <a:latin typeface="Cambria"/>
                <a:cs typeface="Cambria"/>
              </a:rPr>
              <a:t xml:space="preserve">b</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a:t>
            </a:r>
            <a:endParaRPr lang="en-US" sz="2850" dirty="0"/>
          </a:p>
        </p:txBody>
      </p:sp>
      <p:sp>
        <p:nvSpPr>
          <p:cNvPr id="6" name="Shape 6"/>
          <p:cNvSpPr txBox="1"/>
          <p:nvPr/>
        </p:nvSpPr>
        <p:spPr>
          <a:xfrm>
            <a:off x="685800" y="3903726"/>
            <a:ext cx="10820095"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I can…</a:t>
            </a:r>
            <a:endParaRPr lang="en-US" sz="2100" dirty="0"/>
          </a:p>
        </p:txBody>
      </p:sp>
      <p:sp>
        <p:nvSpPr>
          <p:cNvPr id="7" name="Shape 7"/>
          <p:cNvSpPr txBox="1"/>
          <p:nvPr/>
        </p:nvSpPr>
        <p:spPr>
          <a:xfrm>
            <a:off x="685800" y="445008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tell whether a change moves the graph left/right or up/down.</a:t>
            </a:r>
            <a:endParaRPr lang="en-US" sz="1950" dirty="0"/>
          </a:p>
        </p:txBody>
      </p:sp>
      <p:sp>
        <p:nvSpPr>
          <p:cNvPr id="8" name="Shape 8"/>
          <p:cNvSpPr txBox="1"/>
          <p:nvPr/>
        </p:nvSpPr>
        <p:spPr>
          <a:xfrm>
            <a:off x="685800" y="497357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write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c</a:t>
            </a:r>
            <a:r>
              <a:rPr lang="en-US" sz="1950" dirty="0">
                <a:solidFill>
                  <a:srgbClr val="16171D"/>
                </a:solidFill>
                <a:latin typeface="Segoe UI"/>
                <a:cs typeface="Segoe UI"/>
              </a:rPr>
              <a:t xml:space="preserve">) for a move right or left.</a:t>
            </a:r>
            <a:endParaRPr lang="en-US" sz="1950" dirty="0"/>
          </a:p>
        </p:txBody>
      </p:sp>
      <p:sp>
        <p:nvSpPr>
          <p:cNvPr id="9" name="Shape 9"/>
          <p:cNvSpPr txBox="1"/>
          <p:nvPr/>
        </p:nvSpPr>
        <p:spPr>
          <a:xfrm>
            <a:off x="685800" y="549706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simplify a transformed function like </a:t>
            </a:r>
            <a:r>
              <a:rPr lang="en-US" sz="1950" dirty="0" i="1">
                <a:solidFill>
                  <a:srgbClr val="16171D"/>
                </a:solidFill>
                <a:latin typeface="Segoe UI"/>
                <a:cs typeface="Segoe UI"/>
              </a:rPr>
              <a:t xml:space="preserve">j</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+ 4).</a:t>
            </a:r>
            <a:endParaRPr lang="en-US" sz="1950" dirty="0"/>
          </a:p>
        </p:txBody>
      </p:sp>
      <p:sp>
        <p:nvSpPr>
          <p:cNvPr id="10" name="Shape 10"/>
          <p:cNvSpPr txBox="1"/>
          <p:nvPr/>
        </p:nvSpPr>
        <p:spPr>
          <a:xfrm>
            <a:off x="685800" y="607771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5"/>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6"/>
              </a:rPr>
              <a:t xml:space="preserve">Quiz →</a:t>
            </a:r>
            <a:endParaRPr lang="en-US" sz="1800" dirty="0"/>
          </a:p>
        </p:txBody>
      </p:sp>
      <p:sp>
        <p:nvSpPr>
          <p:cNvPr id="11" name="Shape 11"/>
          <p:cNvSpPr txBox="1"/>
          <p:nvPr/>
        </p:nvSpPr>
        <p:spPr>
          <a:xfrm>
            <a:off x="685800" y="6185916"/>
            <a:ext cx="10820095" cy="397764"/>
          </a:xfrm>
          <a:prstGeom prst="rect">
            <a:avLst/>
          </a:prstGeom>
          <a:noFill/>
          <a:ln>
            <a:noFill/>
          </a:ln>
        </p:spPr>
        <p:txBody>
          <a:bodyPr wrap="square" lIns="36576" tIns="27432" rIns="36576" bIns="27432" anchor="t">
            <a:noAutofit/>
          </a:bodyPr>
          <a:lstStyle/>
          <a:p>
            <a:pPr algn="l">
              <a:lnSpc>
                <a:spcPct val="100000"/>
              </a:lnSpc>
            </a:pPr>
            <a:r>
              <a:rPr lang="en-US" sz="1125" dirty="0">
                <a:solidFill>
                  <a:srgbClr val="5F6272"/>
                </a:solidFill>
                <a:latin typeface="Segoe UI"/>
                <a:cs typeface="Segoe UI"/>
              </a:rPr>
              <a:t xml:space="preserve">Based on Bluebonnet Learning Secondary Mathematics, Algebra I (©2024–2025 Texas Education Agency, portions ©2021 Carnegie Learning, Inc.), licensed CC BY-NC 4.0. A private site for Algebra I teachers.</a:t>
            </a:r>
            <a:endParaRPr lang="en-US" sz="11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a:t>
            </a:fld>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2 · Day 1 of 2 · Start here</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Start: Monday, October 26</a:t>
            </a:r>
            <a:endParaRPr lang="en-US" sz="8250" dirty="0"/>
          </a:p>
        </p:txBody>
      </p:sp>
      <p:sp>
        <p:nvSpPr>
          <p:cNvPr id="4" name="Shape 4"/>
          <p:cNvSpPr txBox="1"/>
          <p:nvPr/>
        </p:nvSpPr>
        <p:spPr>
          <a:xfrm>
            <a:off x="685800" y="5253228"/>
            <a:ext cx="10820095" cy="694944"/>
          </a:xfrm>
          <a:prstGeom prst="rect">
            <a:avLst/>
          </a:prstGeom>
          <a:noFill/>
          <a:ln>
            <a:noFill/>
          </a:ln>
        </p:spPr>
        <p:txBody>
          <a:bodyPr wrap="square" lIns="36576" tIns="27432" rIns="36576" bIns="27432" anchor="t">
            <a:noAutofit/>
          </a:bodyPr>
          <a:lstStyle/>
          <a:p>
            <a:pPr algn="l">
              <a:lnSpc>
                <a:spcPct val="100000"/>
              </a:lnSpc>
            </a:pPr>
            <a:r>
              <a:rPr lang="en-US" sz="2100" dirty="0">
                <a:solidFill>
                  <a:srgbClr val="16171D"/>
                </a:solidFill>
                <a:latin typeface="Segoe UI"/>
                <a:cs typeface="Segoe UI"/>
              </a:rPr>
              <a:t xml:space="preserve">Today: bell work → Topic 1 catch-up (Slope and y-intercept from any form) → Lesson 2, Day 1.</a:t>
            </a:r>
            <a:endParaRPr lang="en-US" sz="210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a:t>
            </a:fld>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Bell Work · Review · Mon, Oct 26</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and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a:solidFill>
                  <a:srgbClr val="16171D"/>
                </a:solidFill>
                <a:latin typeface="Segoe UI"/>
                <a:cs typeface="Segoe UI"/>
              </a:rPr>
              <a:t xml:space="preserve">. How does the graph move?</a:t>
            </a:r>
            <a:endParaRPr lang="en-US" sz="1950" dirty="0"/>
          </a:p>
        </p:txBody>
      </p:sp>
      <p:sp>
        <p:nvSpPr>
          <p:cNvPr id="5" name="Shape 5"/>
          <p:cNvSpPr txBox="1"/>
          <p:nvPr/>
        </p:nvSpPr>
        <p:spPr>
          <a:xfrm>
            <a:off x="685800" y="2458212"/>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Down 3 units</a:t>
            </a:r>
            <a:endParaRPr lang="en-US" sz="2325" dirty="0"/>
          </a:p>
        </p:txBody>
      </p:sp>
      <p:sp>
        <p:nvSpPr>
          <p:cNvPr id="6" name="Shape 6"/>
          <p:cNvSpPr txBox="1"/>
          <p:nvPr/>
        </p:nvSpPr>
        <p:spPr>
          <a:xfrm>
            <a:off x="685800" y="324383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What is the slope of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− 8</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288)</a:t>
            </a:r>
            <a:endParaRPr lang="en-US" sz="1950" dirty="0"/>
          </a:p>
        </p:txBody>
      </p:sp>
      <p:sp>
        <p:nvSpPr>
          <p:cNvPr id="7" name="Shape 7"/>
          <p:cNvSpPr txBox="1"/>
          <p:nvPr/>
        </p:nvSpPr>
        <p:spPr>
          <a:xfrm>
            <a:off x="685800" y="4026408"/>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What is the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-intercept of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− 8</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288)</a:t>
            </a:r>
            <a:endParaRPr lang="en-US" sz="1950" dirty="0"/>
          </a:p>
        </p:txBody>
      </p:sp>
      <p:sp>
        <p:nvSpPr>
          <p:cNvPr id="9" name="Shape 9"/>
          <p:cNvSpPr txBox="1"/>
          <p:nvPr/>
        </p:nvSpPr>
        <p:spPr>
          <a:xfrm>
            <a:off x="6362548" y="2458212"/>
            <a:ext cx="323967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(8/3, 0)</a:t>
            </a:r>
            <a:endParaRPr lang="en-US" sz="2325" dirty="0"/>
          </a:p>
        </p:txBody>
      </p:sp>
      <p:sp>
        <p:nvSpPr>
          <p:cNvPr id="10" name="Shape 10"/>
          <p:cNvSpPr txBox="1"/>
          <p:nvPr/>
        </p:nvSpPr>
        <p:spPr>
          <a:xfrm>
            <a:off x="6362548" y="324383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Is </a:t>
            </a:r>
            <a:r>
              <a:rPr lang="en-US" sz="1950" dirty="0" i="1">
                <a:solidFill>
                  <a:srgbClr val="16171D"/>
                </a:solidFill>
                <a:latin typeface="Cambria"/>
                <a:cs typeface="Cambria"/>
              </a:rPr>
              <a:t xml:space="preserve">h</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−⅔</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+ 5</a:t>
            </a:r>
            <a:r>
              <a:rPr lang="en-US" sz="1950" dirty="0">
                <a:solidFill>
                  <a:srgbClr val="16171D"/>
                </a:solidFill>
                <a:latin typeface="Segoe UI"/>
                <a:cs typeface="Segoe UI"/>
              </a:rPr>
              <a:t xml:space="preserve"> increasing or decreasing? </a:t>
            </a:r>
            <a:r>
              <a:rPr lang="en-US" sz="1575" dirty="0">
                <a:solidFill>
                  <a:srgbClr val="5F6272"/>
                </a:solidFill>
                <a:latin typeface="Segoe UI"/>
                <a:cs typeface="Segoe UI"/>
              </a:rPr>
              <a:t xml:space="preserve">(SE p. 288)</a:t>
            </a:r>
            <a:endParaRPr lang="en-US" sz="1950" dirty="0"/>
          </a:p>
        </p:txBody>
      </p:sp>
      <p:sp>
        <p:nvSpPr>
          <p:cNvPr id="11" name="Shape 11"/>
          <p:cNvSpPr txBox="1"/>
          <p:nvPr/>
        </p:nvSpPr>
        <p:spPr>
          <a:xfrm>
            <a:off x="6362548" y="4026408"/>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Decreasing</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Mon, Oct 26 · about 15 minutes</a:t>
            </a:r>
            <a:endParaRPr lang="en-US" sz="1200" dirty="0"/>
          </a:p>
        </p:txBody>
      </p:sp>
      <p:sp>
        <p:nvSpPr>
          <p:cNvPr id="3" name="Shape 3"/>
          <p:cNvSpPr txBox="1"/>
          <p:nvPr/>
        </p:nvSpPr>
        <p:spPr>
          <a:xfrm>
            <a:off x="685800" y="132359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Topic 1 Lesson 5: Slope and y-intercept from any form</a:t>
            </a:r>
            <a:endParaRPr lang="en-US" sz="5700" dirty="0"/>
          </a:p>
        </p:txBody>
      </p:sp>
      <p:sp>
        <p:nvSpPr>
          <p:cNvPr id="4" name="Shape 4"/>
          <p:cNvSpPr txBox="1"/>
          <p:nvPr/>
        </p:nvSpPr>
        <p:spPr>
          <a:xfrm>
            <a:off x="685800" y="328726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Lesson 2 rewrites f(x − c) in slope-intercept form, so you must read the slope and intercept from any form.</a:t>
            </a:r>
            <a:endParaRPr lang="en-US" sz="2250" dirty="0"/>
          </a:p>
        </p:txBody>
      </p:sp>
      <p:sp>
        <p:nvSpPr>
          <p:cNvPr id="5" name="Shape 5"/>
          <p:cNvSpPr txBox="1"/>
          <p:nvPr/>
        </p:nvSpPr>
        <p:spPr>
          <a:xfrm>
            <a:off x="685800" y="41993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Topic 1 Lesson 5 practice: </a:t>
            </a:r>
            <a:r>
              <a:rPr lang="en-US" sz="1800" dirty="0">
                <a:solidFill>
                  <a:srgbClr val="3050B8"/>
                </a:solidFill>
                <a:latin typeface="Segoe UI"/>
                <a:cs typeface="Segoe UI"/>
                <a:hlinkClick r:id="rId3"/>
              </a:rPr>
              <a:t xml:space="preserve">Homework →</a:t>
            </a:r>
            <a:r>
              <a:rPr lang="en-US" sz="1800" dirty="0">
                <a:solidFill>
                  <a:srgbClr val="16171D"/>
                </a:solidFill>
                <a:latin typeface="Segoe UI"/>
                <a:cs typeface="Segoe UI"/>
              </a:rPr>
              <a:t xml:space="preserve"> · </a:t>
            </a:r>
            <a:r>
              <a:rPr lang="en-US" sz="1800" dirty="0">
                <a:solidFill>
                  <a:srgbClr val="3050B8"/>
                </a:solidFill>
                <a:latin typeface="Segoe UI"/>
                <a:cs typeface="Segoe UI"/>
                <a:hlinkClick r:id="rId4"/>
              </a:rPr>
              <a:t xml:space="preserve">Quiz →</a:t>
            </a:r>
            <a:endParaRPr lang="en-US" sz="18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a:t>
            </a:fld>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Which form?</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Where do I start?</a:t>
            </a:r>
            <a:endParaRPr lang="en-US" sz="3450" dirty="0"/>
          </a:p>
        </p:txBody>
      </p:sp>
      <p:sp>
        <p:nvSpPr>
          <p:cNvPr id="6" name="Shape 6"/>
          <p:cNvSpPr txBox="1"/>
          <p:nvPr/>
        </p:nvSpPr>
        <p:spPr>
          <a:xfrm>
            <a:off x="685800" y="1618488"/>
            <a:ext cx="3492398" cy="13479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Segoe UI"/>
                <a:cs typeface="Segoe UI"/>
              </a:rPr>
              <a:t xml:space="preserve">y</a:t>
            </a:r>
            <a:r>
              <a:rPr lang="en-US" sz="2100" dirty="0" b="1">
                <a:solidFill>
                  <a:srgbClr val="16171D"/>
                </a:solidFill>
                <a:latin typeface="Segoe UI"/>
                <a:cs typeface="Segoe UI"/>
              </a:rPr>
              <a:t xml:space="preserve"> = </a:t>
            </a:r>
            <a:r>
              <a:rPr lang="en-US" sz="2100" dirty="0" b="1" i="1">
                <a:solidFill>
                  <a:srgbClr val="16171D"/>
                </a:solidFill>
                <a:latin typeface="Segoe UI"/>
                <a:cs typeface="Segoe UI"/>
              </a:rPr>
              <a:t xml:space="preserve">mx</a:t>
            </a:r>
            <a:r>
              <a:rPr lang="en-US" sz="2100" dirty="0" b="1">
                <a:solidFill>
                  <a:srgbClr val="16171D"/>
                </a:solidFill>
                <a:latin typeface="Segoe UI"/>
                <a:cs typeface="Segoe UI"/>
              </a:rPr>
              <a:t xml:space="preserve"> + </a:t>
            </a:r>
            <a:r>
              <a:rPr lang="en-US" sz="2100" dirty="0" b="1" i="1">
                <a:solidFill>
                  <a:srgbClr val="16171D"/>
                </a:solidFill>
                <a:latin typeface="Segoe UI"/>
                <a:cs typeface="Segoe UI"/>
              </a:rPr>
              <a:t xml:space="preserve">b</a:t>
            </a:r>
            <a:endParaRPr lang="en-US" sz="2100" dirty="0"/>
          </a:p>
        </p:txBody>
      </p:sp>
      <p:sp>
        <p:nvSpPr>
          <p:cNvPr id="5" name="Shape 5"/>
          <p:cNvSpPr txBox="1"/>
          <p:nvPr/>
        </p:nvSpPr>
        <p:spPr>
          <a:xfrm>
            <a:off x="895350"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Start at (0,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Count the slope.</a:t>
            </a:r>
            <a:endParaRPr lang="en-US" sz="1575" dirty="0"/>
          </a:p>
        </p:txBody>
      </p:sp>
      <p:sp>
        <p:nvSpPr>
          <p:cNvPr id="9" name="Shape 9"/>
          <p:cNvSpPr txBox="1"/>
          <p:nvPr/>
        </p:nvSpPr>
        <p:spPr>
          <a:xfrm>
            <a:off x="4349648" y="1618488"/>
            <a:ext cx="3492398" cy="13479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Point-slope</a:t>
            </a:r>
            <a:endParaRPr lang="en-US" sz="2100" dirty="0"/>
          </a:p>
        </p:txBody>
      </p:sp>
      <p:sp>
        <p:nvSpPr>
          <p:cNvPr id="8" name="Shape 8"/>
          <p:cNvSpPr txBox="1"/>
          <p:nvPr/>
        </p:nvSpPr>
        <p:spPr>
          <a:xfrm>
            <a:off x="4559198"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Start at (</a:t>
            </a:r>
            <a:r>
              <a:rPr lang="en-US" sz="1575" dirty="0" i="1">
                <a:solidFill>
                  <a:srgbClr val="16171D"/>
                </a:solidFill>
                <a:latin typeface="Segoe UI"/>
                <a:cs typeface="Segoe UI"/>
              </a:rPr>
              <a:t xml:space="preserve">x</a:t>
            </a:r>
            <a:r>
              <a:rPr lang="en-US" sz="1339" dirty="0" baseline="-25000">
                <a:solidFill>
                  <a:srgbClr val="16171D"/>
                </a:solidFill>
                <a:latin typeface="Segoe UI"/>
                <a:cs typeface="Segoe UI"/>
              </a:rPr>
              <a:t xml:space="preserve">1</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339" dirty="0" baseline="-25000">
                <a:solidFill>
                  <a:srgbClr val="16171D"/>
                </a:solidFill>
                <a:latin typeface="Segoe UI"/>
                <a:cs typeface="Segoe UI"/>
              </a:rPr>
              <a:t xml:space="preserve">1</a:t>
            </a:r>
            <a:r>
              <a:rPr lang="en-US" sz="1575" dirty="0">
                <a:solidFill>
                  <a:srgbClr val="16171D"/>
                </a:solidFill>
                <a:latin typeface="Segoe UI"/>
                <a:cs typeface="Segoe UI"/>
              </a:rPr>
              <a:t xml:space="preserve">). Count the slope.</a:t>
            </a:r>
            <a:endParaRPr lang="en-US" sz="1575" dirty="0"/>
          </a:p>
        </p:txBody>
      </p:sp>
      <p:sp>
        <p:nvSpPr>
          <p:cNvPr id="12" name="Shape 12"/>
          <p:cNvSpPr txBox="1"/>
          <p:nvPr/>
        </p:nvSpPr>
        <p:spPr>
          <a:xfrm>
            <a:off x="8013497" y="1618488"/>
            <a:ext cx="3492398" cy="13479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Segoe UI"/>
                <a:cs typeface="Segoe UI"/>
              </a:rPr>
              <a:t xml:space="preserve">Ax</a:t>
            </a:r>
            <a:r>
              <a:rPr lang="en-US" sz="2100" dirty="0" b="1">
                <a:solidFill>
                  <a:srgbClr val="16171D"/>
                </a:solidFill>
                <a:latin typeface="Segoe UI"/>
                <a:cs typeface="Segoe UI"/>
              </a:rPr>
              <a:t xml:space="preserve"> + </a:t>
            </a:r>
            <a:r>
              <a:rPr lang="en-US" sz="2100" dirty="0" b="1" i="1">
                <a:solidFill>
                  <a:srgbClr val="16171D"/>
                </a:solidFill>
                <a:latin typeface="Segoe UI"/>
                <a:cs typeface="Segoe UI"/>
              </a:rPr>
              <a:t xml:space="preserve">By</a:t>
            </a:r>
            <a:r>
              <a:rPr lang="en-US" sz="2100" dirty="0" b="1">
                <a:solidFill>
                  <a:srgbClr val="16171D"/>
                </a:solidFill>
                <a:latin typeface="Segoe UI"/>
                <a:cs typeface="Segoe UI"/>
              </a:rPr>
              <a:t xml:space="preserve"> = </a:t>
            </a:r>
            <a:r>
              <a:rPr lang="en-US" sz="2100" dirty="0" b="1" i="1">
                <a:solidFill>
                  <a:srgbClr val="16171D"/>
                </a:solidFill>
                <a:latin typeface="Segoe UI"/>
                <a:cs typeface="Segoe UI"/>
              </a:rPr>
              <a:t xml:space="preserve">C</a:t>
            </a:r>
            <a:endParaRPr lang="en-US" sz="2100" dirty="0"/>
          </a:p>
        </p:txBody>
      </p:sp>
      <p:sp>
        <p:nvSpPr>
          <p:cNvPr id="11" name="Shape 11"/>
          <p:cNvSpPr txBox="1"/>
          <p:nvPr/>
        </p:nvSpPr>
        <p:spPr>
          <a:xfrm>
            <a:off x="8223047"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Find both intercepts. Connect them.</a:t>
            </a:r>
            <a:endParaRPr lang="en-US" sz="1575" dirty="0"/>
          </a:p>
        </p:txBody>
      </p:sp>
      <p:sp>
        <p:nvSpPr>
          <p:cNvPr id="13" name="Slide Number 1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a:t>
            </a:fld>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6" name="Shape 6"/>
          <p:cNvSpPr txBox="1"/>
          <p:nvPr/>
        </p:nvSpPr>
        <p:spPr>
          <a:xfrm>
            <a:off x="685800" y="1618488"/>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a:t>
            </a:r>
            <a:r>
              <a:rPr lang="en-US" sz="1950" dirty="0">
                <a:solidFill>
                  <a:srgbClr val="16171D"/>
                </a:solidFill>
                <a:latin typeface="Segoe UI"/>
                <a:cs typeface="Segoe UI"/>
              </a:rPr>
              <a:t xml:space="preserve">3</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4</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+ 2. Name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and one more point.</a:t>
            </a:r>
            <a:endParaRPr lang="en-US" sz="1950" dirty="0"/>
          </a:p>
        </p:txBody>
      </p:sp>
      <p:sp>
        <p:nvSpPr>
          <p:cNvPr id="5" name="Shape 5"/>
          <p:cNvSpPr txBox="1"/>
          <p:nvPr/>
        </p:nvSpPr>
        <p:spPr>
          <a:xfrm>
            <a:off x="895350" y="2237232"/>
            <a:ext cx="804864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(0, 2), then down 3, right 4: (4, −1)</a:t>
            </a:r>
            <a:endParaRPr lang="en-US" sz="2325" dirty="0"/>
          </a:p>
        </p:txBody>
      </p:sp>
      <p:sp>
        <p:nvSpPr>
          <p:cNvPr id="9" name="Shape 9"/>
          <p:cNvSpPr txBox="1"/>
          <p:nvPr/>
        </p:nvSpPr>
        <p:spPr>
          <a:xfrm>
            <a:off x="685800" y="3060954"/>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895350" y="3232404"/>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Find the intercepts of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+ 2</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8.</a:t>
            </a:r>
            <a:endParaRPr lang="en-US" sz="1950" dirty="0"/>
          </a:p>
        </p:txBody>
      </p:sp>
      <p:sp>
        <p:nvSpPr>
          <p:cNvPr id="8" name="Shape 8"/>
          <p:cNvSpPr txBox="1"/>
          <p:nvPr/>
        </p:nvSpPr>
        <p:spPr>
          <a:xfrm>
            <a:off x="895350" y="3679698"/>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(8, 0) and (0, 4)</a:t>
            </a:r>
            <a:endParaRPr lang="en-US" sz="2325" dirty="0"/>
          </a:p>
        </p:txBody>
      </p:sp>
      <p:sp>
        <p:nvSpPr>
          <p:cNvPr id="12" name="Shape 12"/>
          <p:cNvSpPr txBox="1"/>
          <p:nvPr/>
        </p:nvSpPr>
        <p:spPr>
          <a:xfrm>
            <a:off x="685800" y="4503420"/>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95350" y="4674870"/>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Name the point and slope of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− 1 = 2(</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+ 3).</a:t>
            </a:r>
            <a:endParaRPr lang="en-US" sz="1950" dirty="0"/>
          </a:p>
        </p:txBody>
      </p:sp>
      <p:sp>
        <p:nvSpPr>
          <p:cNvPr id="11" name="Shape 11"/>
          <p:cNvSpPr txBox="1"/>
          <p:nvPr/>
        </p:nvSpPr>
        <p:spPr>
          <a:xfrm>
            <a:off x="895350" y="5122164"/>
            <a:ext cx="556124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point (−3, 1), slope 2</a:t>
            </a:r>
            <a:endParaRPr lang="en-US" sz="2325" dirty="0"/>
          </a:p>
        </p:txBody>
      </p:sp>
      <p:sp>
        <p:nvSpPr>
          <p:cNvPr id="13" name="Slide Number 1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ppt_w</p:attrName>
                                        </p:attrNameLst>
                                      </p:cBhvr>
                                      <p:tavLst>
                                        <p:tav tm="0">
                                          <p:val>
                                            <p:fltVal val="0"/>
                                          </p:val>
                                        </p:tav>
                                        <p:tav tm="100000">
                                          <p:val>
                                            <p:strVal val="#ppt_w"/>
                                          </p:val>
                                        </p:tav>
                                      </p:tavLst>
                                    </p:anim>
                                    <p:anim calcmode="lin" valueType="num">
                                      <p:cBhvr>
                                        <p:cTn id="20"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2</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Back to Topic 2</a:t>
            </a:r>
            <a:endParaRPr lang="en-US" sz="8250" dirty="0"/>
          </a:p>
        </p:txBody>
      </p:sp>
      <p:sp>
        <p:nvSpPr>
          <p:cNvPr id="4" name="Shape 4"/>
          <p:cNvSpPr txBox="1"/>
          <p:nvPr/>
        </p:nvSpPr>
        <p:spPr>
          <a:xfrm>
            <a:off x="685800" y="39959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Catch-up done. Now today's Topic 2 lesson.</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a:t>
            </a:fld>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Lesson 2 · Vocabulary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Words we need</a:t>
            </a:r>
            <a:endParaRPr lang="en-US" sz="3450" dirty="0"/>
          </a:p>
        </p:txBody>
      </p:sp>
      <p:sp>
        <p:nvSpPr>
          <p:cNvPr id="7" name="Shape 7"/>
          <p:cNvSpPr txBox="1"/>
          <p:nvPr/>
        </p:nvSpPr>
        <p:spPr>
          <a:xfrm>
            <a:off x="685800"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Inside</a:t>
            </a:r>
            <a:endParaRPr lang="en-US" sz="2100" dirty="0"/>
          </a:p>
        </p:txBody>
      </p:sp>
      <p:sp>
        <p:nvSpPr>
          <p:cNvPr id="5" name="Shape 5"/>
          <p:cNvSpPr txBox="1"/>
          <p:nvPr/>
        </p:nvSpPr>
        <p:spPr>
          <a:xfrm>
            <a:off x="895350"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Changes the input: left or right.</a:t>
            </a:r>
            <a:endParaRPr lang="en-US" sz="1575" dirty="0"/>
          </a:p>
        </p:txBody>
      </p:sp>
      <p:sp>
        <p:nvSpPr>
          <p:cNvPr id="6" name="Shape 6"/>
          <p:cNvSpPr txBox="1"/>
          <p:nvPr/>
        </p:nvSpPr>
        <p:spPr>
          <a:xfrm>
            <a:off x="895350"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a:t>
            </a:r>
            <a:r>
              <a:rPr lang="en-US" sz="2325" dirty="0" b="1">
                <a:solidFill>
                  <a:srgbClr val="3050B8"/>
                </a:solidFill>
                <a:latin typeface="Cambria"/>
                <a:cs typeface="Cambria"/>
              </a:rPr>
              <a:t xml:space="preserve">− 3</a:t>
            </a:r>
            <a:r>
              <a:rPr lang="en-US" sz="2325" dirty="0">
                <a:solidFill>
                  <a:srgbClr val="16171D"/>
                </a:solidFill>
                <a:latin typeface="Cambria"/>
                <a:cs typeface="Cambria"/>
              </a:rPr>
              <a:t xml:space="preserve">)</a:t>
            </a:r>
            <a:endParaRPr lang="en-US" sz="2325" dirty="0"/>
          </a:p>
        </p:txBody>
      </p:sp>
      <p:sp>
        <p:nvSpPr>
          <p:cNvPr id="11" name="Shape 11"/>
          <p:cNvSpPr txBox="1"/>
          <p:nvPr/>
        </p:nvSpPr>
        <p:spPr>
          <a:xfrm>
            <a:off x="4349648"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Outside</a:t>
            </a:r>
            <a:endParaRPr lang="en-US" sz="2100" dirty="0"/>
          </a:p>
        </p:txBody>
      </p:sp>
      <p:sp>
        <p:nvSpPr>
          <p:cNvPr id="9" name="Shape 9"/>
          <p:cNvSpPr txBox="1"/>
          <p:nvPr/>
        </p:nvSpPr>
        <p:spPr>
          <a:xfrm>
            <a:off x="4559198"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Changes the output: up or down.</a:t>
            </a:r>
            <a:endParaRPr lang="en-US" sz="1575" dirty="0"/>
          </a:p>
        </p:txBody>
      </p:sp>
      <p:sp>
        <p:nvSpPr>
          <p:cNvPr id="10" name="Shape 10"/>
          <p:cNvSpPr txBox="1"/>
          <p:nvPr/>
        </p:nvSpPr>
        <p:spPr>
          <a:xfrm>
            <a:off x="4559198"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a:t>
            </a:r>
            <a:r>
              <a:rPr lang="en-US" sz="2325" dirty="0" b="1">
                <a:solidFill>
                  <a:srgbClr val="3050B8"/>
                </a:solidFill>
                <a:latin typeface="Cambria"/>
                <a:cs typeface="Cambria"/>
              </a:rPr>
              <a:t xml:space="preserve">− 3</a:t>
            </a:r>
            <a:endParaRPr lang="en-US" sz="2325" dirty="0"/>
          </a:p>
        </p:txBody>
      </p:sp>
      <p:sp>
        <p:nvSpPr>
          <p:cNvPr id="15" name="Shape 15"/>
          <p:cNvSpPr txBox="1"/>
          <p:nvPr/>
        </p:nvSpPr>
        <p:spPr>
          <a:xfrm>
            <a:off x="8013497"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Sign flip</a:t>
            </a:r>
            <a:endParaRPr lang="en-US" sz="2100" dirty="0"/>
          </a:p>
        </p:txBody>
      </p:sp>
      <p:sp>
        <p:nvSpPr>
          <p:cNvPr id="13" name="Shape 13"/>
          <p:cNvSpPr txBox="1"/>
          <p:nvPr/>
        </p:nvSpPr>
        <p:spPr>
          <a:xfrm>
            <a:off x="8223047"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Inside, minus moves </a:t>
            </a:r>
            <a:r>
              <a:rPr lang="en-US" sz="1575" dirty="0" b="1">
                <a:solidFill>
                  <a:srgbClr val="16171D"/>
                </a:solidFill>
                <a:latin typeface="Segoe UI"/>
                <a:cs typeface="Segoe UI"/>
              </a:rPr>
              <a:t xml:space="preserve">right</a:t>
            </a:r>
            <a:r>
              <a:rPr lang="en-US" sz="1575" dirty="0">
                <a:solidFill>
                  <a:srgbClr val="16171D"/>
                </a:solidFill>
                <a:latin typeface="Segoe UI"/>
                <a:cs typeface="Segoe UI"/>
              </a:rPr>
              <a:t xml:space="preserve"> and plus moves </a:t>
            </a:r>
            <a:r>
              <a:rPr lang="en-US" sz="1575" dirty="0" b="1">
                <a:solidFill>
                  <a:srgbClr val="16171D"/>
                </a:solidFill>
                <a:latin typeface="Segoe UI"/>
                <a:cs typeface="Segoe UI"/>
              </a:rPr>
              <a:t xml:space="preserve">left</a:t>
            </a:r>
            <a:r>
              <a:rPr lang="en-US" sz="1575" dirty="0">
                <a:solidFill>
                  <a:srgbClr val="16171D"/>
                </a:solidFill>
                <a:latin typeface="Segoe UI"/>
                <a:cs typeface="Segoe UI"/>
              </a:rPr>
              <a:t xml:space="preserve">.</a:t>
            </a:r>
            <a:endParaRPr lang="en-US" sz="1575" dirty="0"/>
          </a:p>
        </p:txBody>
      </p:sp>
      <p:sp>
        <p:nvSpPr>
          <p:cNvPr id="14" name="Shape 14"/>
          <p:cNvSpPr txBox="1"/>
          <p:nvPr/>
        </p:nvSpPr>
        <p:spPr>
          <a:xfrm>
            <a:off x="8223047"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 left 5</a:t>
            </a:r>
            <a:endParaRPr lang="en-US" sz="2325" dirty="0"/>
          </a:p>
        </p:txBody>
      </p:sp>
      <p:sp>
        <p:nvSpPr>
          <p:cNvPr id="16" name="Slide Number 1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8</a:t>
            </a:fld>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Lesson 2 · Steps</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Which way does it move?</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1.</a:t>
            </a:r>
            <a:r>
              <a:rPr lang="en-US" sz="1950" dirty="0">
                <a:solidFill>
                  <a:srgbClr val="16171D"/>
                </a:solidFill>
                <a:latin typeface="Segoe UI"/>
                <a:cs typeface="Segoe UI"/>
              </a:rPr>
              <a:t xml:space="preserve"> Look for the number. Is it </a:t>
            </a:r>
            <a:r>
              <a:rPr lang="en-US" sz="1950" dirty="0" b="1">
                <a:solidFill>
                  <a:srgbClr val="16171D"/>
                </a:solidFill>
                <a:latin typeface="Segoe UI"/>
                <a:cs typeface="Segoe UI"/>
              </a:rPr>
              <a:t xml:space="preserve">inside</a:t>
            </a:r>
            <a:r>
              <a:rPr lang="en-US" sz="1950" dirty="0">
                <a:solidFill>
                  <a:srgbClr val="16171D"/>
                </a:solidFill>
                <a:latin typeface="Segoe UI"/>
                <a:cs typeface="Segoe UI"/>
              </a:rPr>
              <a:t xml:space="preserve"> the parentheses with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or </a:t>
            </a:r>
            <a:r>
              <a:rPr lang="en-US" sz="1950" dirty="0" b="1">
                <a:solidFill>
                  <a:srgbClr val="16171D"/>
                </a:solidFill>
                <a:latin typeface="Segoe UI"/>
                <a:cs typeface="Segoe UI"/>
              </a:rPr>
              <a:t xml:space="preserve">outside</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2.</a:t>
            </a:r>
            <a:r>
              <a:rPr lang="en-US" sz="1950" dirty="0">
                <a:solidFill>
                  <a:srgbClr val="16171D"/>
                </a:solidFill>
                <a:latin typeface="Segoe UI"/>
                <a:cs typeface="Segoe UI"/>
              </a:rPr>
              <a:t xml:space="preserve"> Outside: + is up, − is down.</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3.</a:t>
            </a:r>
            <a:r>
              <a:rPr lang="en-US" sz="1950" dirty="0">
                <a:solidFill>
                  <a:srgbClr val="16171D"/>
                </a:solidFill>
                <a:latin typeface="Segoe UI"/>
                <a:cs typeface="Segoe UI"/>
              </a:rPr>
              <a:t xml:space="preserve"> Inside: − is right, + is left (the sign flips).</a:t>
            </a:r>
            <a:endParaRPr lang="en-US" sz="1950" dirty="0"/>
          </a:p>
        </p:txBody>
      </p:sp>
      <p:sp>
        <p:nvSpPr>
          <p:cNvPr id="7" name="Shape 7"/>
          <p:cNvSpPr txBox="1"/>
          <p:nvPr/>
        </p:nvSpPr>
        <p:spPr>
          <a:xfrm>
            <a:off x="685800" y="318897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4.</a:t>
            </a:r>
            <a:r>
              <a:rPr lang="en-US" sz="1950" dirty="0">
                <a:solidFill>
                  <a:srgbClr val="16171D"/>
                </a:solidFill>
                <a:latin typeface="Segoe UI"/>
                <a:cs typeface="Segoe UI"/>
              </a:rPr>
              <a:t xml:space="preserve"> To simplify, put the inside into the rule and distribute.</a:t>
            </a:r>
            <a:endParaRPr lang="en-US" sz="1950" dirty="0"/>
          </a:p>
        </p:txBody>
      </p:sp>
      <p:sp>
        <p:nvSpPr>
          <p:cNvPr id="8" name="Slide Number 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9</a:t>
            </a:fld>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I do · Watch me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i="1">
                <a:solidFill>
                  <a:srgbClr val="16171D"/>
                </a:solidFill>
                <a:latin typeface="Segoe UI"/>
                <a:cs typeface="Segoe UI"/>
              </a:rPr>
              <a:t xml:space="preserve">f</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− 7) and </a:t>
            </a:r>
            <a:r>
              <a:rPr lang="en-US" sz="3450" dirty="0" b="1" i="1">
                <a:solidFill>
                  <a:srgbClr val="16171D"/>
                </a:solidFill>
                <a:latin typeface="Segoe UI"/>
                <a:cs typeface="Segoe UI"/>
              </a:rPr>
              <a:t xml:space="preserve">f</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− 4</a:t>
            </a:r>
            <a:endParaRPr lang="en-US" sz="3450" dirty="0"/>
          </a:p>
        </p:txBody>
      </p:sp>
      <p:sp>
        <p:nvSpPr>
          <p:cNvPr id="7" name="Shape 7"/>
          <p:cNvSpPr txBox="1"/>
          <p:nvPr/>
        </p:nvSpPr>
        <p:spPr>
          <a:xfrm>
            <a:off x="685800" y="1618488"/>
            <a:ext cx="5219548" cy="17221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Segoe UI"/>
                <a:cs typeface="Segoe UI"/>
              </a:rPr>
              <a:t xml:space="preserve">f</a:t>
            </a:r>
            <a:r>
              <a:rPr lang="en-US" sz="2100" dirty="0" b="1">
                <a:solidFill>
                  <a:srgbClr val="16171D"/>
                </a:solidFill>
                <a:latin typeface="Segoe UI"/>
                <a:cs typeface="Segoe UI"/>
              </a:rPr>
              <a:t xml:space="preserve">(</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− 7)</a:t>
            </a:r>
            <a:endParaRPr lang="en-US" sz="2100" dirty="0"/>
          </a:p>
        </p:txBody>
      </p:sp>
      <p:sp>
        <p:nvSpPr>
          <p:cNvPr id="5" name="Shape 5"/>
          <p:cNvSpPr txBox="1"/>
          <p:nvPr/>
        </p:nvSpPr>
        <p:spPr>
          <a:xfrm>
            <a:off x="895350" y="2260092"/>
            <a:ext cx="48004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Inside, minus → </a:t>
            </a:r>
            <a:r>
              <a:rPr lang="en-US" sz="1575" dirty="0" b="1">
                <a:solidFill>
                  <a:srgbClr val="16171D"/>
                </a:solidFill>
                <a:latin typeface="Segoe UI"/>
                <a:cs typeface="Segoe UI"/>
              </a:rPr>
              <a:t xml:space="preserve">right 7</a:t>
            </a:r>
            <a:r>
              <a:rPr lang="en-US" sz="1575" dirty="0">
                <a:solidFill>
                  <a:srgbClr val="16171D"/>
                </a:solidFill>
                <a:latin typeface="Segoe UI"/>
                <a:cs typeface="Segoe UI"/>
              </a:rPr>
              <a:t xml:space="preserve">.</a:t>
            </a:r>
            <a:endParaRPr lang="en-US" sz="1575" dirty="0"/>
          </a:p>
        </p:txBody>
      </p:sp>
      <p:sp>
        <p:nvSpPr>
          <p:cNvPr id="6" name="Shape 6"/>
          <p:cNvSpPr txBox="1"/>
          <p:nvPr/>
        </p:nvSpPr>
        <p:spPr>
          <a:xfrm>
            <a:off x="895350" y="2650236"/>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11" name="Shape 11"/>
          <p:cNvSpPr txBox="1"/>
          <p:nvPr/>
        </p:nvSpPr>
        <p:spPr>
          <a:xfrm>
            <a:off x="6286348" y="1618488"/>
            <a:ext cx="5219548" cy="17221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6495898" y="1789938"/>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Segoe UI"/>
                <a:cs typeface="Segoe UI"/>
              </a:rPr>
              <a:t xml:space="preserve">f</a:t>
            </a:r>
            <a:r>
              <a:rPr lang="en-US" sz="2100" dirty="0" b="1">
                <a:solidFill>
                  <a:srgbClr val="16171D"/>
                </a:solidFill>
                <a:latin typeface="Segoe UI"/>
                <a:cs typeface="Segoe UI"/>
              </a:rPr>
              <a:t xml:space="preserve">(</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− 4</a:t>
            </a:r>
            <a:endParaRPr lang="en-US" sz="2100" dirty="0"/>
          </a:p>
        </p:txBody>
      </p:sp>
      <p:sp>
        <p:nvSpPr>
          <p:cNvPr id="9" name="Shape 9"/>
          <p:cNvSpPr txBox="1"/>
          <p:nvPr/>
        </p:nvSpPr>
        <p:spPr>
          <a:xfrm>
            <a:off x="6495898" y="2260092"/>
            <a:ext cx="48004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Outside, minus → </a:t>
            </a:r>
            <a:r>
              <a:rPr lang="en-US" sz="1575" dirty="0" b="1">
                <a:solidFill>
                  <a:srgbClr val="16171D"/>
                </a:solidFill>
                <a:latin typeface="Segoe UI"/>
                <a:cs typeface="Segoe UI"/>
              </a:rPr>
              <a:t xml:space="preserve">down 4</a:t>
            </a:r>
            <a:r>
              <a:rPr lang="en-US" sz="1575" dirty="0">
                <a:solidFill>
                  <a:srgbClr val="16171D"/>
                </a:solidFill>
                <a:latin typeface="Segoe UI"/>
                <a:cs typeface="Segoe UI"/>
              </a:rPr>
              <a:t xml:space="preserve">.</a:t>
            </a:r>
            <a:endParaRPr lang="en-US" sz="1575" dirty="0"/>
          </a:p>
        </p:txBody>
      </p:sp>
      <p:sp>
        <p:nvSpPr>
          <p:cNvPr id="10" name="Shape 10"/>
          <p:cNvSpPr txBox="1"/>
          <p:nvPr/>
        </p:nvSpPr>
        <p:spPr>
          <a:xfrm>
            <a:off x="6495898" y="2650236"/>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ppt_w</p:attrName>
                                        </p:attrNameLst>
                                      </p:cBhvr>
                                      <p:tavLst>
                                        <p:tav tm="0">
                                          <p:val>
                                            <p:fltVal val="0"/>
                                          </p:val>
                                        </p:tav>
                                        <p:tav tm="100000">
                                          <p:val>
                                            <p:strVal val="#ppt_w"/>
                                          </p:val>
                                        </p:tav>
                                      </p:tavLst>
                                    </p:anim>
                                    <p:anim calcmode="lin" valueType="num">
                                      <p:cBhvr>
                                        <p:cTn id="13" dur="500" fill="hold"/>
                                        <p:tgtEl>
                                          <p:spTgt spid="10"/>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Which way, and how far?</a:t>
            </a:r>
            <a:endParaRPr lang="en-US" sz="3450" dirty="0"/>
          </a:p>
        </p:txBody>
      </p:sp>
      <p:sp>
        <p:nvSpPr>
          <p:cNvPr id="6" name="Shape 6"/>
          <p:cNvSpPr txBox="1"/>
          <p:nvPr/>
        </p:nvSpPr>
        <p:spPr>
          <a:xfrm>
            <a:off x="685800" y="1618488"/>
            <a:ext cx="3352698"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29335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+ 5)</a:t>
            </a:r>
            <a:endParaRPr lang="en-US" sz="1950" dirty="0"/>
          </a:p>
        </p:txBody>
      </p:sp>
      <p:sp>
        <p:nvSpPr>
          <p:cNvPr id="5" name="Shape 5"/>
          <p:cNvSpPr txBox="1"/>
          <p:nvPr/>
        </p:nvSpPr>
        <p:spPr>
          <a:xfrm>
            <a:off x="895350" y="223723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left 5</a:t>
            </a:r>
            <a:endParaRPr lang="en-US" sz="2325" dirty="0"/>
          </a:p>
        </p:txBody>
      </p:sp>
      <p:sp>
        <p:nvSpPr>
          <p:cNvPr id="9" name="Shape 9"/>
          <p:cNvSpPr txBox="1"/>
          <p:nvPr/>
        </p:nvSpPr>
        <p:spPr>
          <a:xfrm>
            <a:off x="4419498" y="1618488"/>
            <a:ext cx="3352698"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629048" y="1789938"/>
            <a:ext cx="29335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+ 2</a:t>
            </a:r>
            <a:endParaRPr lang="en-US" sz="1950" dirty="0"/>
          </a:p>
        </p:txBody>
      </p:sp>
      <p:sp>
        <p:nvSpPr>
          <p:cNvPr id="8" name="Shape 8"/>
          <p:cNvSpPr txBox="1"/>
          <p:nvPr/>
        </p:nvSpPr>
        <p:spPr>
          <a:xfrm>
            <a:off x="4629048" y="2237232"/>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up 2</a:t>
            </a:r>
            <a:endParaRPr lang="en-US" sz="2325" dirty="0"/>
          </a:p>
        </p:txBody>
      </p:sp>
      <p:sp>
        <p:nvSpPr>
          <p:cNvPr id="12" name="Shape 12"/>
          <p:cNvSpPr txBox="1"/>
          <p:nvPr/>
        </p:nvSpPr>
        <p:spPr>
          <a:xfrm>
            <a:off x="8153197" y="1618488"/>
            <a:ext cx="3352698"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362747" y="1789938"/>
            <a:ext cx="29335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− 3)</a:t>
            </a:r>
            <a:endParaRPr lang="en-US" sz="1950" dirty="0"/>
          </a:p>
        </p:txBody>
      </p:sp>
      <p:sp>
        <p:nvSpPr>
          <p:cNvPr id="11" name="Shape 11"/>
          <p:cNvSpPr txBox="1"/>
          <p:nvPr/>
        </p:nvSpPr>
        <p:spPr>
          <a:xfrm>
            <a:off x="8362747" y="2237232"/>
            <a:ext cx="293359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right 3</a:t>
            </a:r>
            <a:endParaRPr lang="en-US" sz="2325" dirty="0"/>
          </a:p>
        </p:txBody>
      </p:sp>
      <p:sp>
        <p:nvSpPr>
          <p:cNvPr id="13" name="Slide Number 1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11</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ppt_w</p:attrName>
                                        </p:attrNameLst>
                                      </p:cBhvr>
                                      <p:tavLst>
                                        <p:tav tm="0">
                                          <p:val>
                                            <p:fltVal val="0"/>
                                          </p:val>
                                        </p:tav>
                                        <p:tav tm="100000">
                                          <p:val>
                                            <p:strVal val="#ppt_w"/>
                                          </p:val>
                                        </p:tav>
                                      </p:tavLst>
                                    </p:anim>
                                    <p:anim calcmode="lin" valueType="num">
                                      <p:cBhvr>
                                        <p:cTn id="20"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Check it · Step by step</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Which way, and how far?</a:t>
            </a:r>
            <a:endParaRPr lang="en-US" sz="3450" dirty="0"/>
          </a:p>
        </p:txBody>
      </p:sp>
      <p:sp>
        <p:nvSpPr>
          <p:cNvPr id="8" name="Shape 8"/>
          <p:cNvSpPr txBox="1"/>
          <p:nvPr/>
        </p:nvSpPr>
        <p:spPr>
          <a:xfrm>
            <a:off x="685800" y="1618488"/>
            <a:ext cx="3454298" cy="283235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351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1. </a:t>
            </a:r>
            <a:r>
              <a:rPr lang="en-US" sz="2100" dirty="0" b="1" i="1">
                <a:solidFill>
                  <a:srgbClr val="16171D"/>
                </a:solidFill>
                <a:latin typeface="Segoe UI"/>
                <a:cs typeface="Segoe UI"/>
              </a:rPr>
              <a:t xml:space="preserve">f</a:t>
            </a:r>
            <a:r>
              <a:rPr lang="en-US" sz="2100" dirty="0" b="1">
                <a:solidFill>
                  <a:srgbClr val="16171D"/>
                </a:solidFill>
                <a:latin typeface="Segoe UI"/>
                <a:cs typeface="Segoe UI"/>
              </a:rPr>
              <a:t xml:space="preserve">(</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+ 5)</a:t>
            </a:r>
            <a:endParaRPr lang="en-US" sz="2100" dirty="0"/>
          </a:p>
        </p:txBody>
      </p:sp>
      <p:sp>
        <p:nvSpPr>
          <p:cNvPr id="5" name="Shape 5"/>
          <p:cNvSpPr txBox="1"/>
          <p:nvPr/>
        </p:nvSpPr>
        <p:spPr>
          <a:xfrm>
            <a:off x="895350" y="2260092"/>
            <a:ext cx="3035198"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The 5 is </a:t>
            </a:r>
            <a:r>
              <a:rPr lang="en-US" sz="1575" dirty="0" b="1">
                <a:solidFill>
                  <a:srgbClr val="16171D"/>
                </a:solidFill>
                <a:latin typeface="Segoe UI"/>
                <a:cs typeface="Segoe UI"/>
              </a:rPr>
              <a:t xml:space="preserve">inside</a:t>
            </a:r>
            <a:r>
              <a:rPr lang="en-US" sz="1575" dirty="0">
                <a:solidFill>
                  <a:srgbClr val="16171D"/>
                </a:solidFill>
                <a:latin typeface="Segoe UI"/>
                <a:cs typeface="Segoe UI"/>
              </a:rPr>
              <a:t xml:space="preserve"> the parentheses with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so the graph moves left or right.</a:t>
            </a:r>
            <a:endParaRPr lang="en-US" sz="1575" dirty="0"/>
          </a:p>
        </p:txBody>
      </p:sp>
      <p:sp>
        <p:nvSpPr>
          <p:cNvPr id="6" name="Shape 6"/>
          <p:cNvSpPr txBox="1"/>
          <p:nvPr/>
        </p:nvSpPr>
        <p:spPr>
          <a:xfrm>
            <a:off x="895350" y="3130296"/>
            <a:ext cx="30351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Inside, the sign flips: </a:t>
            </a:r>
            <a:r>
              <a:rPr lang="en-US" sz="1575" dirty="0" b="1">
                <a:solidFill>
                  <a:srgbClr val="16171D"/>
                </a:solidFill>
                <a:latin typeface="Segoe UI"/>
                <a:cs typeface="Segoe UI"/>
              </a:rPr>
              <a:t xml:space="preserve">plus</a:t>
            </a:r>
            <a:r>
              <a:rPr lang="en-US" sz="1575" dirty="0">
                <a:solidFill>
                  <a:srgbClr val="16171D"/>
                </a:solidFill>
                <a:latin typeface="Segoe UI"/>
                <a:cs typeface="Segoe UI"/>
              </a:rPr>
              <a:t xml:space="preserve"> means </a:t>
            </a:r>
            <a:r>
              <a:rPr lang="en-US" sz="1575" dirty="0" b="1">
                <a:solidFill>
                  <a:srgbClr val="16171D"/>
                </a:solidFill>
                <a:latin typeface="Segoe UI"/>
                <a:cs typeface="Segoe UI"/>
              </a:rPr>
              <a:t xml:space="preserve">left</a:t>
            </a:r>
            <a:r>
              <a:rPr lang="en-US" sz="1575" dirty="0">
                <a:solidFill>
                  <a:srgbClr val="16171D"/>
                </a:solidFill>
                <a:latin typeface="Segoe UI"/>
                <a:cs typeface="Segoe UI"/>
              </a:rPr>
              <a:t xml:space="preserve">.</a:t>
            </a:r>
            <a:endParaRPr lang="en-US" sz="1575" dirty="0"/>
          </a:p>
        </p:txBody>
      </p:sp>
      <p:sp>
        <p:nvSpPr>
          <p:cNvPr id="7" name="Shape 7"/>
          <p:cNvSpPr txBox="1"/>
          <p:nvPr/>
        </p:nvSpPr>
        <p:spPr>
          <a:xfrm>
            <a:off x="895350" y="3760470"/>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left 5</a:t>
            </a:r>
            <a:endParaRPr lang="en-US" sz="2325" dirty="0"/>
          </a:p>
        </p:txBody>
      </p:sp>
      <p:sp>
        <p:nvSpPr>
          <p:cNvPr id="13" name="Shape 13"/>
          <p:cNvSpPr txBox="1"/>
          <p:nvPr/>
        </p:nvSpPr>
        <p:spPr>
          <a:xfrm>
            <a:off x="4368698" y="1618488"/>
            <a:ext cx="3454298" cy="283235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9" name="Shape 9"/>
          <p:cNvSpPr txBox="1"/>
          <p:nvPr/>
        </p:nvSpPr>
        <p:spPr>
          <a:xfrm>
            <a:off x="4578248" y="1789938"/>
            <a:ext cx="30351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 </a:t>
            </a:r>
            <a:r>
              <a:rPr lang="en-US" sz="2100" dirty="0" b="1" i="1">
                <a:solidFill>
                  <a:srgbClr val="16171D"/>
                </a:solidFill>
                <a:latin typeface="Segoe UI"/>
                <a:cs typeface="Segoe UI"/>
              </a:rPr>
              <a:t xml:space="preserve">f</a:t>
            </a:r>
            <a:r>
              <a:rPr lang="en-US" sz="2100" dirty="0" b="1">
                <a:solidFill>
                  <a:srgbClr val="16171D"/>
                </a:solidFill>
                <a:latin typeface="Segoe UI"/>
                <a:cs typeface="Segoe UI"/>
              </a:rPr>
              <a:t xml:space="preserve">(</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+ 2</a:t>
            </a:r>
            <a:endParaRPr lang="en-US" sz="2100" dirty="0"/>
          </a:p>
        </p:txBody>
      </p:sp>
      <p:sp>
        <p:nvSpPr>
          <p:cNvPr id="10" name="Shape 10"/>
          <p:cNvSpPr txBox="1"/>
          <p:nvPr/>
        </p:nvSpPr>
        <p:spPr>
          <a:xfrm>
            <a:off x="4578248" y="2260092"/>
            <a:ext cx="3035198"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The 2 is </a:t>
            </a:r>
            <a:r>
              <a:rPr lang="en-US" sz="1575" dirty="0" b="1">
                <a:solidFill>
                  <a:srgbClr val="16171D"/>
                </a:solidFill>
                <a:latin typeface="Segoe UI"/>
                <a:cs typeface="Segoe UI"/>
              </a:rPr>
              <a:t xml:space="preserve">outside</a:t>
            </a:r>
            <a:r>
              <a:rPr lang="en-US" sz="1575" dirty="0">
                <a:solidFill>
                  <a:srgbClr val="16171D"/>
                </a:solidFill>
                <a:latin typeface="Segoe UI"/>
                <a:cs typeface="Segoe UI"/>
              </a:rPr>
              <a:t xml:space="preserve"> the parentheses, so the graph moves up or down.</a:t>
            </a:r>
            <a:endParaRPr lang="en-US" sz="1575" dirty="0"/>
          </a:p>
        </p:txBody>
      </p:sp>
      <p:sp>
        <p:nvSpPr>
          <p:cNvPr id="11" name="Shape 11"/>
          <p:cNvSpPr txBox="1"/>
          <p:nvPr/>
        </p:nvSpPr>
        <p:spPr>
          <a:xfrm>
            <a:off x="4578248" y="3130296"/>
            <a:ext cx="30351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Outside, no flip: </a:t>
            </a:r>
            <a:r>
              <a:rPr lang="en-US" sz="1575" dirty="0" b="1">
                <a:solidFill>
                  <a:srgbClr val="16171D"/>
                </a:solidFill>
                <a:latin typeface="Segoe UI"/>
                <a:cs typeface="Segoe UI"/>
              </a:rPr>
              <a:t xml:space="preserve">plus</a:t>
            </a:r>
            <a:r>
              <a:rPr lang="en-US" sz="1575" dirty="0">
                <a:solidFill>
                  <a:srgbClr val="16171D"/>
                </a:solidFill>
                <a:latin typeface="Segoe UI"/>
                <a:cs typeface="Segoe UI"/>
              </a:rPr>
              <a:t xml:space="preserve"> means </a:t>
            </a:r>
            <a:r>
              <a:rPr lang="en-US" sz="1575" dirty="0" b="1">
                <a:solidFill>
                  <a:srgbClr val="16171D"/>
                </a:solidFill>
                <a:latin typeface="Segoe UI"/>
                <a:cs typeface="Segoe UI"/>
              </a:rPr>
              <a:t xml:space="preserve">up</a:t>
            </a:r>
            <a:r>
              <a:rPr lang="en-US" sz="1575" dirty="0">
                <a:solidFill>
                  <a:srgbClr val="16171D"/>
                </a:solidFill>
                <a:latin typeface="Segoe UI"/>
                <a:cs typeface="Segoe UI"/>
              </a:rPr>
              <a:t xml:space="preserve">.</a:t>
            </a:r>
            <a:endParaRPr lang="en-US" sz="1575" dirty="0"/>
          </a:p>
        </p:txBody>
      </p:sp>
      <p:sp>
        <p:nvSpPr>
          <p:cNvPr id="12" name="Shape 12"/>
          <p:cNvSpPr txBox="1"/>
          <p:nvPr/>
        </p:nvSpPr>
        <p:spPr>
          <a:xfrm>
            <a:off x="4578248" y="3760470"/>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up 2</a:t>
            </a:r>
            <a:endParaRPr lang="en-US" sz="2325" dirty="0"/>
          </a:p>
        </p:txBody>
      </p:sp>
      <p:sp>
        <p:nvSpPr>
          <p:cNvPr id="18" name="Shape 18"/>
          <p:cNvSpPr txBox="1"/>
          <p:nvPr/>
        </p:nvSpPr>
        <p:spPr>
          <a:xfrm>
            <a:off x="8051597" y="1618488"/>
            <a:ext cx="3454298" cy="259232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4" name="Shape 14"/>
          <p:cNvSpPr txBox="1"/>
          <p:nvPr/>
        </p:nvSpPr>
        <p:spPr>
          <a:xfrm>
            <a:off x="8261147" y="1789938"/>
            <a:ext cx="30351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3. </a:t>
            </a:r>
            <a:r>
              <a:rPr lang="en-US" sz="2100" dirty="0" b="1" i="1">
                <a:solidFill>
                  <a:srgbClr val="16171D"/>
                </a:solidFill>
                <a:latin typeface="Segoe UI"/>
                <a:cs typeface="Segoe UI"/>
              </a:rPr>
              <a:t xml:space="preserve">f</a:t>
            </a:r>
            <a:r>
              <a:rPr lang="en-US" sz="2100" dirty="0" b="1">
                <a:solidFill>
                  <a:srgbClr val="16171D"/>
                </a:solidFill>
                <a:latin typeface="Segoe UI"/>
                <a:cs typeface="Segoe UI"/>
              </a:rPr>
              <a:t xml:space="preserve">(</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− 3)</a:t>
            </a:r>
            <a:endParaRPr lang="en-US" sz="2100" dirty="0"/>
          </a:p>
        </p:txBody>
      </p:sp>
      <p:sp>
        <p:nvSpPr>
          <p:cNvPr id="15" name="Shape 15"/>
          <p:cNvSpPr txBox="1"/>
          <p:nvPr/>
        </p:nvSpPr>
        <p:spPr>
          <a:xfrm>
            <a:off x="8261147" y="2260092"/>
            <a:ext cx="30351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The 3 is </a:t>
            </a:r>
            <a:r>
              <a:rPr lang="en-US" sz="1575" dirty="0" b="1">
                <a:solidFill>
                  <a:srgbClr val="16171D"/>
                </a:solidFill>
                <a:latin typeface="Segoe UI"/>
                <a:cs typeface="Segoe UI"/>
              </a:rPr>
              <a:t xml:space="preserve">inside</a:t>
            </a:r>
            <a:r>
              <a:rPr lang="en-US" sz="1575" dirty="0">
                <a:solidFill>
                  <a:srgbClr val="16171D"/>
                </a:solidFill>
                <a:latin typeface="Segoe UI"/>
                <a:cs typeface="Segoe UI"/>
              </a:rPr>
              <a:t xml:space="preserve">, so left or right.</a:t>
            </a:r>
            <a:endParaRPr lang="en-US" sz="1575" dirty="0"/>
          </a:p>
        </p:txBody>
      </p:sp>
      <p:sp>
        <p:nvSpPr>
          <p:cNvPr id="16" name="Shape 16"/>
          <p:cNvSpPr txBox="1"/>
          <p:nvPr/>
        </p:nvSpPr>
        <p:spPr>
          <a:xfrm>
            <a:off x="8261147" y="2890266"/>
            <a:ext cx="30351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Inside, the sign flips: </a:t>
            </a:r>
            <a:r>
              <a:rPr lang="en-US" sz="1575" dirty="0" b="1">
                <a:solidFill>
                  <a:srgbClr val="16171D"/>
                </a:solidFill>
                <a:latin typeface="Segoe UI"/>
                <a:cs typeface="Segoe UI"/>
              </a:rPr>
              <a:t xml:space="preserve">minus</a:t>
            </a:r>
            <a:r>
              <a:rPr lang="en-US" sz="1575" dirty="0">
                <a:solidFill>
                  <a:srgbClr val="16171D"/>
                </a:solidFill>
                <a:latin typeface="Segoe UI"/>
                <a:cs typeface="Segoe UI"/>
              </a:rPr>
              <a:t xml:space="preserve"> means </a:t>
            </a:r>
            <a:r>
              <a:rPr lang="en-US" sz="1575" dirty="0" b="1">
                <a:solidFill>
                  <a:srgbClr val="16171D"/>
                </a:solidFill>
                <a:latin typeface="Segoe UI"/>
                <a:cs typeface="Segoe UI"/>
              </a:rPr>
              <a:t xml:space="preserve">right</a:t>
            </a:r>
            <a:r>
              <a:rPr lang="en-US" sz="1575" dirty="0">
                <a:solidFill>
                  <a:srgbClr val="16171D"/>
                </a:solidFill>
                <a:latin typeface="Segoe UI"/>
                <a:cs typeface="Segoe UI"/>
              </a:rPr>
              <a:t xml:space="preserve">.</a:t>
            </a:r>
            <a:endParaRPr lang="en-US" sz="1575" dirty="0"/>
          </a:p>
        </p:txBody>
      </p:sp>
      <p:sp>
        <p:nvSpPr>
          <p:cNvPr id="17" name="Shape 17"/>
          <p:cNvSpPr txBox="1"/>
          <p:nvPr/>
        </p:nvSpPr>
        <p:spPr>
          <a:xfrm>
            <a:off x="8261147" y="3520440"/>
            <a:ext cx="303519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right 3</a:t>
            </a:r>
            <a:endParaRPr lang="en-US" sz="2325" dirty="0"/>
          </a:p>
        </p:txBody>
      </p:sp>
      <p:sp>
        <p:nvSpPr>
          <p:cNvPr id="19" name="Slide Number 1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ppt_w</p:attrName>
                                        </p:attrNameLst>
                                      </p:cBhvr>
                                      <p:tavLst>
                                        <p:tav tm="0">
                                          <p:val>
                                            <p:fltVal val="0"/>
                                          </p:val>
                                        </p:tav>
                                        <p:tav tm="100000">
                                          <p:val>
                                            <p:strVal val="#ppt_w"/>
                                          </p:val>
                                        </p:tav>
                                      </p:tavLst>
                                    </p:anim>
                                    <p:anim calcmode="lin" valueType="num">
                                      <p:cBhvr>
                                        <p:cTn id="20"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anim calcmode="lin" valueType="num">
                                      <p:cBhvr>
                                        <p:cTn id="26" dur="500" fill="hold"/>
                                        <p:tgtEl>
                                          <p:spTgt spid="10"/>
                                        </p:tgtEl>
                                        <p:attrNameLst>
                                          <p:attrName>ppt_x</p:attrName>
                                        </p:attrNameLst>
                                      </p:cBhvr>
                                      <p:tavLst>
                                        <p:tav tm="0">
                                          <p:val>
                                            <p:strVal val="#ppt_x"/>
                                          </p:val>
                                        </p:tav>
                                        <p:tav tm="100000">
                                          <p:val>
                                            <p:strVal val="#ppt_x"/>
                                          </p:val>
                                        </p:tav>
                                      </p:tavLst>
                                    </p:anim>
                                    <p:anim calcmode="lin" valueType="num">
                                      <p:cBhvr>
                                        <p:cTn id="27"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anim calcmode="lin" valueType="num">
                                      <p:cBhvr>
                                        <p:cTn id="33" dur="500" fill="hold"/>
                                        <p:tgtEl>
                                          <p:spTgt spid="11"/>
                                        </p:tgtEl>
                                        <p:attrNameLst>
                                          <p:attrName>ppt_x</p:attrName>
                                        </p:attrNameLst>
                                      </p:cBhvr>
                                      <p:tavLst>
                                        <p:tav tm="0">
                                          <p:val>
                                            <p:strVal val="#ppt_x"/>
                                          </p:val>
                                        </p:tav>
                                        <p:tav tm="100000">
                                          <p:val>
                                            <p:strVal val="#ppt_x"/>
                                          </p:val>
                                        </p:tav>
                                      </p:tavLst>
                                    </p:anim>
                                    <p:anim calcmode="lin" valueType="num">
                                      <p:cBhvr>
                                        <p:cTn id="34"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53" presetClass="entr" presetSubtype="16" fill="hold" nodeType="click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500"/>
                                        <p:tgtEl>
                                          <p:spTgt spid="12"/>
                                        </p:tgtEl>
                                      </p:cBhvr>
                                    </p:animEffect>
                                    <p:anim calcmode="lin" valueType="num">
                                      <p:cBhvr>
                                        <p:cTn id="40" dur="500" fill="hold"/>
                                        <p:tgtEl>
                                          <p:spTgt spid="12"/>
                                        </p:tgtEl>
                                        <p:attrNameLst>
                                          <p:attrName>ppt_w</p:attrName>
                                        </p:attrNameLst>
                                      </p:cBhvr>
                                      <p:tavLst>
                                        <p:tav tm="0">
                                          <p:val>
                                            <p:fltVal val="0"/>
                                          </p:val>
                                        </p:tav>
                                        <p:tav tm="100000">
                                          <p:val>
                                            <p:strVal val="#ppt_w"/>
                                          </p:val>
                                        </p:tav>
                                      </p:tavLst>
                                    </p:anim>
                                    <p:anim calcmode="lin" valueType="num">
                                      <p:cBhvr>
                                        <p:cTn id="41" dur="500" fill="hold"/>
                                        <p:tgtEl>
                                          <p:spTgt spid="12"/>
                                        </p:tgtEl>
                                        <p:attrNameLst>
                                          <p:attrName>ppt_h</p:attrName>
                                        </p:attrNameLst>
                                      </p:cBhvr>
                                      <p:tavLst>
                                        <p:tav tm="0">
                                          <p:val>
                                            <p:fltVal val="0"/>
                                          </p:val>
                                        </p:tav>
                                        <p:tav tm="100000">
                                          <p:val>
                                            <p:strVal val="#ppt_h"/>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00"/>
                                        <p:tgtEl>
                                          <p:spTgt spid="15"/>
                                        </p:tgtEl>
                                      </p:cBhvr>
                                    </p:animEffect>
                                    <p:anim calcmode="lin" valueType="num">
                                      <p:cBhvr>
                                        <p:cTn id="47" dur="500" fill="hold"/>
                                        <p:tgtEl>
                                          <p:spTgt spid="15"/>
                                        </p:tgtEl>
                                        <p:attrNameLst>
                                          <p:attrName>ppt_x</p:attrName>
                                        </p:attrNameLst>
                                      </p:cBhvr>
                                      <p:tavLst>
                                        <p:tav tm="0">
                                          <p:val>
                                            <p:strVal val="#ppt_x"/>
                                          </p:val>
                                        </p:tav>
                                        <p:tav tm="100000">
                                          <p:val>
                                            <p:strVal val="#ppt_x"/>
                                          </p:val>
                                        </p:tav>
                                      </p:tavLst>
                                    </p:anim>
                                    <p:anim calcmode="lin" valueType="num">
                                      <p:cBhvr>
                                        <p:cTn id="48"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42" presetClass="entr" presetSubtype="0" fill="hold" nodeType="clickEffect">
                                  <p:stCondLst>
                                    <p:cond delay="0"/>
                                  </p:stCondLst>
                                  <p:childTnLst>
                                    <p:set>
                                      <p:cBhvr>
                                        <p:cTn id="52" dur="1" fill="hold">
                                          <p:stCondLst>
                                            <p:cond delay="0"/>
                                          </p:stCondLst>
                                        </p:cTn>
                                        <p:tgtEl>
                                          <p:spTgt spid="16"/>
                                        </p:tgtEl>
                                        <p:attrNameLst>
                                          <p:attrName>style.visibility</p:attrName>
                                        </p:attrNameLst>
                                      </p:cBhvr>
                                      <p:to>
                                        <p:strVal val="visible"/>
                                      </p:to>
                                    </p:set>
                                    <p:animEffect transition="in" filter="fade">
                                      <p:cBhvr>
                                        <p:cTn id="53" dur="500"/>
                                        <p:tgtEl>
                                          <p:spTgt spid="16"/>
                                        </p:tgtEl>
                                      </p:cBhvr>
                                    </p:animEffect>
                                    <p:anim calcmode="lin" valueType="num">
                                      <p:cBhvr>
                                        <p:cTn id="54" dur="500" fill="hold"/>
                                        <p:tgtEl>
                                          <p:spTgt spid="16"/>
                                        </p:tgtEl>
                                        <p:attrNameLst>
                                          <p:attrName>ppt_x</p:attrName>
                                        </p:attrNameLst>
                                      </p:cBhvr>
                                      <p:tavLst>
                                        <p:tav tm="0">
                                          <p:val>
                                            <p:strVal val="#ppt_x"/>
                                          </p:val>
                                        </p:tav>
                                        <p:tav tm="100000">
                                          <p:val>
                                            <p:strVal val="#ppt_x"/>
                                          </p:val>
                                        </p:tav>
                                      </p:tavLst>
                                    </p:anim>
                                    <p:anim calcmode="lin" valueType="num">
                                      <p:cBhvr>
                                        <p:cTn id="55"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64" fill="hold">
                      <p:stCondLst>
                        <p:cond delay="indefinite"/>
                      </p:stCondLst>
                      <p:childTnLst>
                        <p:par>
                          <p:cTn id="65" fill="hold">
                            <p:stCondLst>
                              <p:cond delay="0"/>
                            </p:stCondLst>
                            <p:childTnLst>
                              <p:par>
                                <p:cTn id="63" presetID="53" presetClass="entr" presetSubtype="16" fill="hold" nodeType="clickEffect">
                                  <p:stCondLst>
                                    <p:cond delay="0"/>
                                  </p:stCondLst>
                                  <p:childTnLst>
                                    <p:set>
                                      <p:cBhvr>
                                        <p:cTn id="59" dur="1" fill="hold">
                                          <p:stCondLst>
                                            <p:cond delay="0"/>
                                          </p:stCondLst>
                                        </p:cTn>
                                        <p:tgtEl>
                                          <p:spTgt spid="17"/>
                                        </p:tgtEl>
                                        <p:attrNameLst>
                                          <p:attrName>style.visibility</p:attrName>
                                        </p:attrNameLst>
                                      </p:cBhvr>
                                      <p:to>
                                        <p:strVal val="visible"/>
                                      </p:to>
                                    </p:set>
                                    <p:animEffect transition="in" filter="fade">
                                      <p:cBhvr>
                                        <p:cTn id="60" dur="500"/>
                                        <p:tgtEl>
                                          <p:spTgt spid="17"/>
                                        </p:tgtEl>
                                      </p:cBhvr>
                                    </p:animEffect>
                                    <p:anim calcmode="lin" valueType="num">
                                      <p:cBhvr>
                                        <p:cTn id="61" dur="500" fill="hold"/>
                                        <p:tgtEl>
                                          <p:spTgt spid="17"/>
                                        </p:tgtEl>
                                        <p:attrNameLst>
                                          <p:attrName>ppt_w</p:attrName>
                                        </p:attrNameLst>
                                      </p:cBhvr>
                                      <p:tavLst>
                                        <p:tav tm="0">
                                          <p:val>
                                            <p:fltVal val="0"/>
                                          </p:val>
                                        </p:tav>
                                        <p:tav tm="100000">
                                          <p:val>
                                            <p:strVal val="#ppt_w"/>
                                          </p:val>
                                        </p:tav>
                                      </p:tavLst>
                                    </p:anim>
                                    <p:anim calcmode="lin" valueType="num">
                                      <p:cBhvr>
                                        <p:cTn id="62" dur="500" fill="hold"/>
                                        <p:tgtEl>
                                          <p:spTgt spid="17"/>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We do · Simplify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i="1">
                <a:solidFill>
                  <a:srgbClr val="16171D"/>
                </a:solidFill>
                <a:latin typeface="Segoe UI"/>
                <a:cs typeface="Segoe UI"/>
              </a:rPr>
              <a:t xml:space="preserve">j</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2</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− 1. Simplify </a:t>
            </a:r>
            <a:r>
              <a:rPr lang="en-US" sz="3450" dirty="0" b="1" i="1">
                <a:solidFill>
                  <a:srgbClr val="16171D"/>
                </a:solidFill>
                <a:latin typeface="Segoe UI"/>
                <a:cs typeface="Segoe UI"/>
              </a:rPr>
              <a:t xml:space="preserve">j</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+ 4).</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Put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+ 4) in for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2(____) − 1</a:t>
            </a:r>
            <a:endParaRPr lang="en-US" sz="1950" dirty="0"/>
          </a:p>
        </p:txBody>
      </p:sp>
      <p:sp>
        <p:nvSpPr>
          <p:cNvPr id="5" name="Shape 5"/>
          <p:cNvSpPr txBox="1"/>
          <p:nvPr/>
        </p:nvSpPr>
        <p:spPr>
          <a:xfrm>
            <a:off x="685800" y="2141982"/>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 − 1</a:t>
            </a:r>
            <a:endParaRPr lang="en-US" sz="2325" dirty="0"/>
          </a:p>
        </p:txBody>
      </p:sp>
      <p:sp>
        <p:nvSpPr>
          <p:cNvPr id="6" name="Shape 6"/>
          <p:cNvSpPr txBox="1"/>
          <p:nvPr/>
        </p:nvSpPr>
        <p:spPr>
          <a:xfrm>
            <a:off x="685800" y="283235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Distribute: ____ − 1</a:t>
            </a:r>
            <a:endParaRPr lang="en-US" sz="1950" dirty="0"/>
          </a:p>
        </p:txBody>
      </p:sp>
      <p:sp>
        <p:nvSpPr>
          <p:cNvPr id="7" name="Shape 7"/>
          <p:cNvSpPr txBox="1"/>
          <p:nvPr/>
        </p:nvSpPr>
        <p:spPr>
          <a:xfrm>
            <a:off x="685800" y="3355848"/>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+ 8 − 1</a:t>
            </a:r>
            <a:endParaRPr lang="en-US" sz="2325" dirty="0"/>
          </a:p>
        </p:txBody>
      </p:sp>
      <p:sp>
        <p:nvSpPr>
          <p:cNvPr id="8" name="Shape 8"/>
          <p:cNvSpPr txBox="1"/>
          <p:nvPr/>
        </p:nvSpPr>
        <p:spPr>
          <a:xfrm>
            <a:off x="685800" y="404622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Combine:</a:t>
            </a:r>
            <a:endParaRPr lang="en-US" sz="1950" dirty="0"/>
          </a:p>
        </p:txBody>
      </p:sp>
      <p:sp>
        <p:nvSpPr>
          <p:cNvPr id="9" name="Shape 9"/>
          <p:cNvSpPr txBox="1"/>
          <p:nvPr/>
        </p:nvSpPr>
        <p:spPr>
          <a:xfrm>
            <a:off x="685800" y="4569714"/>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10" name="Slide Number 1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i="1">
                <a:solidFill>
                  <a:srgbClr val="16171D"/>
                </a:solidFill>
                <a:latin typeface="Segoe UI"/>
                <a:cs typeface="Segoe UI"/>
              </a:rPr>
              <a:t xml:space="preserve">j</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2</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− 1</a:t>
            </a:r>
            <a:endParaRPr lang="en-US" sz="3450" dirty="0"/>
          </a:p>
        </p:txBody>
      </p:sp>
      <p:sp>
        <p:nvSpPr>
          <p:cNvPr id="6" name="Shape 6"/>
          <p:cNvSpPr txBox="1"/>
          <p:nvPr/>
        </p:nvSpPr>
        <p:spPr>
          <a:xfrm>
            <a:off x="685800" y="1618488"/>
            <a:ext cx="5219548"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Simplify </a:t>
            </a:r>
            <a:r>
              <a:rPr lang="en-US" sz="1950" dirty="0" i="1">
                <a:solidFill>
                  <a:srgbClr val="16171D"/>
                </a:solidFill>
                <a:latin typeface="Segoe UI"/>
                <a:cs typeface="Segoe UI"/>
              </a:rPr>
              <a:t xml:space="preserve">j</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− 2).</a:t>
            </a:r>
            <a:endParaRPr lang="en-US" sz="1950" dirty="0"/>
          </a:p>
        </p:txBody>
      </p:sp>
      <p:sp>
        <p:nvSpPr>
          <p:cNvPr id="5" name="Shape 5"/>
          <p:cNvSpPr txBox="1"/>
          <p:nvPr/>
        </p:nvSpPr>
        <p:spPr>
          <a:xfrm>
            <a:off x="895350" y="223723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11" name="Shape 11"/>
          <p:cNvSpPr txBox="1"/>
          <p:nvPr/>
        </p:nvSpPr>
        <p:spPr>
          <a:xfrm>
            <a:off x="6286348" y="1618488"/>
            <a:ext cx="5219548" cy="231343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6495898" y="1789938"/>
            <a:ext cx="48004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Simplify </a:t>
            </a:r>
            <a:r>
              <a:rPr lang="en-US" sz="1950" dirty="0" i="1">
                <a:solidFill>
                  <a:srgbClr val="16171D"/>
                </a:solidFill>
                <a:latin typeface="Segoe UI"/>
                <a:cs typeface="Segoe UI"/>
              </a:rPr>
              <a:t xml:space="preserve">j</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− 2.</a:t>
            </a:r>
            <a:endParaRPr lang="en-US" sz="1950" dirty="0"/>
          </a:p>
        </p:txBody>
      </p:sp>
      <p:sp>
        <p:nvSpPr>
          <p:cNvPr id="8" name="Shape 8"/>
          <p:cNvSpPr txBox="1"/>
          <p:nvPr/>
        </p:nvSpPr>
        <p:spPr>
          <a:xfrm>
            <a:off x="6495898" y="223723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9" name="Shape 9"/>
          <p:cNvSpPr txBox="1"/>
          <p:nvPr/>
        </p:nvSpPr>
        <p:spPr>
          <a:xfrm>
            <a:off x="6495898" y="2851404"/>
            <a:ext cx="48004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Same graph as #1? ____</a:t>
            </a:r>
            <a:endParaRPr lang="en-US" sz="1575" dirty="0"/>
          </a:p>
        </p:txBody>
      </p:sp>
      <p:sp>
        <p:nvSpPr>
          <p:cNvPr id="10" name="Shape 10"/>
          <p:cNvSpPr txBox="1"/>
          <p:nvPr/>
        </p:nvSpPr>
        <p:spPr>
          <a:xfrm>
            <a:off x="6495898" y="3241548"/>
            <a:ext cx="224471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No</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14</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500"/>
                                        <p:tgtEl>
                                          <p:spTgt spid="10"/>
                                        </p:tgtEl>
                                      </p:cBhvr>
                                    </p:animEffect>
                                    <p:anim calcmode="lin" valueType="num">
                                      <p:cBhvr>
                                        <p:cTn id="19" dur="500" fill="hold"/>
                                        <p:tgtEl>
                                          <p:spTgt spid="10"/>
                                        </p:tgtEl>
                                        <p:attrNameLst>
                                          <p:attrName>ppt_w</p:attrName>
                                        </p:attrNameLst>
                                      </p:cBhvr>
                                      <p:tavLst>
                                        <p:tav tm="0">
                                          <p:val>
                                            <p:fltVal val="0"/>
                                          </p:val>
                                        </p:tav>
                                        <p:tav tm="100000">
                                          <p:val>
                                            <p:strVal val="#ppt_w"/>
                                          </p:val>
                                        </p:tav>
                                      </p:tavLst>
                                    </p:anim>
                                    <p:anim calcmode="lin" valueType="num">
                                      <p:cBhvr>
                                        <p:cTn id="20" dur="500" fill="hold"/>
                                        <p:tgtEl>
                                          <p:spTgt spid="10"/>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Check it · Step by step</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i="1">
                <a:solidFill>
                  <a:srgbClr val="16171D"/>
                </a:solidFill>
                <a:latin typeface="Segoe UI"/>
                <a:cs typeface="Segoe UI"/>
              </a:rPr>
              <a:t xml:space="preserve">j</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2</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− 1</a:t>
            </a:r>
            <a:endParaRPr lang="en-US" sz="3450" dirty="0"/>
          </a:p>
        </p:txBody>
      </p:sp>
      <p:sp>
        <p:nvSpPr>
          <p:cNvPr id="9" name="Shape 9"/>
          <p:cNvSpPr txBox="1"/>
          <p:nvPr/>
        </p:nvSpPr>
        <p:spPr>
          <a:xfrm>
            <a:off x="685800" y="1618488"/>
            <a:ext cx="5295748" cy="29824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766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1. Simplify </a:t>
            </a:r>
            <a:r>
              <a:rPr lang="en-US" sz="2100" dirty="0" b="1" i="1">
                <a:solidFill>
                  <a:srgbClr val="16171D"/>
                </a:solidFill>
                <a:latin typeface="Segoe UI"/>
                <a:cs typeface="Segoe UI"/>
              </a:rPr>
              <a:t xml:space="preserve">j</a:t>
            </a:r>
            <a:r>
              <a:rPr lang="en-US" sz="2100" dirty="0" b="1">
                <a:solidFill>
                  <a:srgbClr val="16171D"/>
                </a:solidFill>
                <a:latin typeface="Segoe UI"/>
                <a:cs typeface="Segoe UI"/>
              </a:rPr>
              <a:t xml:space="preserve">(</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− 2)</a:t>
            </a:r>
            <a:endParaRPr lang="en-US" sz="2100" dirty="0"/>
          </a:p>
        </p:txBody>
      </p:sp>
      <p:sp>
        <p:nvSpPr>
          <p:cNvPr id="5" name="Shape 5"/>
          <p:cNvSpPr txBox="1"/>
          <p:nvPr/>
        </p:nvSpPr>
        <p:spPr>
          <a:xfrm>
            <a:off x="895350" y="2260092"/>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The change is inside, so put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− 2) where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was: 2(</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− 2) − 1.</a:t>
            </a:r>
            <a:endParaRPr lang="en-US" sz="1575" dirty="0"/>
          </a:p>
        </p:txBody>
      </p:sp>
      <p:sp>
        <p:nvSpPr>
          <p:cNvPr id="6" name="Shape 6"/>
          <p:cNvSpPr txBox="1"/>
          <p:nvPr/>
        </p:nvSpPr>
        <p:spPr>
          <a:xfrm>
            <a:off x="895350" y="2890266"/>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Distribute the 2: 2 ·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2</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and 2 · (−2) = −4. Now it is 2</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− 4 − 1.</a:t>
            </a:r>
            <a:endParaRPr lang="en-US" sz="1575" dirty="0"/>
          </a:p>
        </p:txBody>
      </p:sp>
      <p:sp>
        <p:nvSpPr>
          <p:cNvPr id="7" name="Shape 7"/>
          <p:cNvSpPr txBox="1"/>
          <p:nvPr/>
        </p:nvSpPr>
        <p:spPr>
          <a:xfrm>
            <a:off x="895350" y="3520440"/>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Combine the numbers: −4 − 1 = −5.</a:t>
            </a:r>
            <a:endParaRPr lang="en-US" sz="1575" dirty="0"/>
          </a:p>
        </p:txBody>
      </p:sp>
      <p:sp>
        <p:nvSpPr>
          <p:cNvPr id="8" name="Shape 8"/>
          <p:cNvSpPr txBox="1"/>
          <p:nvPr/>
        </p:nvSpPr>
        <p:spPr>
          <a:xfrm>
            <a:off x="895350" y="3910584"/>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15" name="Shape 15"/>
          <p:cNvSpPr txBox="1"/>
          <p:nvPr/>
        </p:nvSpPr>
        <p:spPr>
          <a:xfrm>
            <a:off x="6210148" y="1618488"/>
            <a:ext cx="5295748" cy="357682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6419698" y="1789938"/>
            <a:ext cx="48766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 Simplify </a:t>
            </a:r>
            <a:r>
              <a:rPr lang="en-US" sz="2100" dirty="0" b="1" i="1">
                <a:solidFill>
                  <a:srgbClr val="16171D"/>
                </a:solidFill>
                <a:latin typeface="Segoe UI"/>
                <a:cs typeface="Segoe UI"/>
              </a:rPr>
              <a:t xml:space="preserve">j</a:t>
            </a:r>
            <a:r>
              <a:rPr lang="en-US" sz="2100" dirty="0" b="1">
                <a:solidFill>
                  <a:srgbClr val="16171D"/>
                </a:solidFill>
                <a:latin typeface="Segoe UI"/>
                <a:cs typeface="Segoe UI"/>
              </a:rPr>
              <a:t xml:space="preserve">(</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− 2</a:t>
            </a:r>
            <a:endParaRPr lang="en-US" sz="2100" dirty="0"/>
          </a:p>
        </p:txBody>
      </p:sp>
      <p:sp>
        <p:nvSpPr>
          <p:cNvPr id="11" name="Shape 11"/>
          <p:cNvSpPr txBox="1"/>
          <p:nvPr/>
        </p:nvSpPr>
        <p:spPr>
          <a:xfrm>
            <a:off x="6419698" y="2260092"/>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The change is outside, so write the whole rule, then subtract 2: 2</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− 1 − 2.</a:t>
            </a:r>
            <a:endParaRPr lang="en-US" sz="1575" dirty="0"/>
          </a:p>
        </p:txBody>
      </p:sp>
      <p:sp>
        <p:nvSpPr>
          <p:cNvPr id="12" name="Shape 12"/>
          <p:cNvSpPr txBox="1"/>
          <p:nvPr/>
        </p:nvSpPr>
        <p:spPr>
          <a:xfrm>
            <a:off x="6419698" y="2890266"/>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Combine the numbers: −1 − 2 = −3. That gives 2</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− 3.</a:t>
            </a:r>
            <a:endParaRPr lang="en-US" sz="1575" dirty="0"/>
          </a:p>
        </p:txBody>
      </p:sp>
      <p:sp>
        <p:nvSpPr>
          <p:cNvPr id="13" name="Shape 13"/>
          <p:cNvSpPr txBox="1"/>
          <p:nvPr/>
        </p:nvSpPr>
        <p:spPr>
          <a:xfrm>
            <a:off x="6419698" y="3520440"/>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Compare with #1: 2</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− 5 and 2</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− 3 cross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-axis at different places.</a:t>
            </a:r>
            <a:endParaRPr lang="en-US" sz="1575" dirty="0"/>
          </a:p>
        </p:txBody>
      </p:sp>
      <p:sp>
        <p:nvSpPr>
          <p:cNvPr id="14" name="Shape 14"/>
          <p:cNvSpPr txBox="1"/>
          <p:nvPr/>
        </p:nvSpPr>
        <p:spPr>
          <a:xfrm>
            <a:off x="6419698" y="4150614"/>
            <a:ext cx="48766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 · not the same graph as #1</a:t>
            </a:r>
            <a:endParaRPr lang="en-US" sz="2325" dirty="0"/>
          </a:p>
        </p:txBody>
      </p:sp>
      <p:sp>
        <p:nvSpPr>
          <p:cNvPr id="16" name="Slide Number 1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15</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ppt_w</p:attrName>
                                        </p:attrNameLst>
                                      </p:cBhvr>
                                      <p:tavLst>
                                        <p:tav tm="0">
                                          <p:val>
                                            <p:fltVal val="0"/>
                                          </p:val>
                                        </p:tav>
                                        <p:tav tm="100000">
                                          <p:val>
                                            <p:strVal val="#ppt_w"/>
                                          </p:val>
                                        </p:tav>
                                      </p:tavLst>
                                    </p:anim>
                                    <p:anim calcmode="lin" valueType="num">
                                      <p:cBhvr>
                                        <p:cTn id="27"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anim calcmode="lin" valueType="num">
                                      <p:cBhvr>
                                        <p:cTn id="33" dur="500" fill="hold"/>
                                        <p:tgtEl>
                                          <p:spTgt spid="11"/>
                                        </p:tgtEl>
                                        <p:attrNameLst>
                                          <p:attrName>ppt_x</p:attrName>
                                        </p:attrNameLst>
                                      </p:cBhvr>
                                      <p:tavLst>
                                        <p:tav tm="0">
                                          <p:val>
                                            <p:strVal val="#ppt_x"/>
                                          </p:val>
                                        </p:tav>
                                        <p:tav tm="100000">
                                          <p:val>
                                            <p:strVal val="#ppt_x"/>
                                          </p:val>
                                        </p:tav>
                                      </p:tavLst>
                                    </p:anim>
                                    <p:anim calcmode="lin" valueType="num">
                                      <p:cBhvr>
                                        <p:cTn id="34"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500"/>
                                        <p:tgtEl>
                                          <p:spTgt spid="12"/>
                                        </p:tgtEl>
                                      </p:cBhvr>
                                    </p:animEffect>
                                    <p:anim calcmode="lin" valueType="num">
                                      <p:cBhvr>
                                        <p:cTn id="40" dur="500" fill="hold"/>
                                        <p:tgtEl>
                                          <p:spTgt spid="12"/>
                                        </p:tgtEl>
                                        <p:attrNameLst>
                                          <p:attrName>ppt_x</p:attrName>
                                        </p:attrNameLst>
                                      </p:cBhvr>
                                      <p:tavLst>
                                        <p:tav tm="0">
                                          <p:val>
                                            <p:strVal val="#ppt_x"/>
                                          </p:val>
                                        </p:tav>
                                        <p:tav tm="100000">
                                          <p:val>
                                            <p:strVal val="#ppt_x"/>
                                          </p:val>
                                        </p:tav>
                                      </p:tavLst>
                                    </p:anim>
                                    <p:anim calcmode="lin" valueType="num">
                                      <p:cBhvr>
                                        <p:cTn id="41"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00"/>
                                        <p:tgtEl>
                                          <p:spTgt spid="13"/>
                                        </p:tgtEl>
                                      </p:cBhvr>
                                    </p:animEffect>
                                    <p:anim calcmode="lin" valueType="num">
                                      <p:cBhvr>
                                        <p:cTn id="47" dur="500" fill="hold"/>
                                        <p:tgtEl>
                                          <p:spTgt spid="13"/>
                                        </p:tgtEl>
                                        <p:attrNameLst>
                                          <p:attrName>ppt_x</p:attrName>
                                        </p:attrNameLst>
                                      </p:cBhvr>
                                      <p:tavLst>
                                        <p:tav tm="0">
                                          <p:val>
                                            <p:strVal val="#ppt_x"/>
                                          </p:val>
                                        </p:tav>
                                        <p:tav tm="100000">
                                          <p:val>
                                            <p:strVal val="#ppt_x"/>
                                          </p:val>
                                        </p:tav>
                                      </p:tavLst>
                                    </p:anim>
                                    <p:anim calcmode="lin" valueType="num">
                                      <p:cBhvr>
                                        <p:cTn id="48"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53" presetClass="entr" presetSubtype="16" fill="hold" nodeType="clickEffect">
                                  <p:stCondLst>
                                    <p:cond delay="0"/>
                                  </p:stCondLst>
                                  <p:childTnLst>
                                    <p:set>
                                      <p:cBhvr>
                                        <p:cTn id="52" dur="1" fill="hold">
                                          <p:stCondLst>
                                            <p:cond delay="0"/>
                                          </p:stCondLst>
                                        </p:cTn>
                                        <p:tgtEl>
                                          <p:spTgt spid="14"/>
                                        </p:tgtEl>
                                        <p:attrNameLst>
                                          <p:attrName>style.visibility</p:attrName>
                                        </p:attrNameLst>
                                      </p:cBhvr>
                                      <p:to>
                                        <p:strVal val="visible"/>
                                      </p:to>
                                    </p:set>
                                    <p:animEffect transition="in" filter="fade">
                                      <p:cBhvr>
                                        <p:cTn id="53" dur="500"/>
                                        <p:tgtEl>
                                          <p:spTgt spid="14"/>
                                        </p:tgtEl>
                                      </p:cBhvr>
                                    </p:animEffect>
                                    <p:anim calcmode="lin" valueType="num">
                                      <p:cBhvr>
                                        <p:cTn id="54" dur="500" fill="hold"/>
                                        <p:tgtEl>
                                          <p:spTgt spid="14"/>
                                        </p:tgtEl>
                                        <p:attrNameLst>
                                          <p:attrName>ppt_w</p:attrName>
                                        </p:attrNameLst>
                                      </p:cBhvr>
                                      <p:tavLst>
                                        <p:tav tm="0">
                                          <p:val>
                                            <p:fltVal val="0"/>
                                          </p:val>
                                        </p:tav>
                                        <p:tav tm="100000">
                                          <p:val>
                                            <p:strVal val="#ppt_w"/>
                                          </p:val>
                                        </p:tav>
                                      </p:tavLst>
                                    </p:anim>
                                    <p:anim calcmode="lin" valueType="num">
                                      <p:cBhvr>
                                        <p:cTn id="55" dur="500" fill="hold"/>
                                        <p:tgtEl>
                                          <p:spTgt spid="14"/>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2 · End of Day 1</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Stop here: Monday, October 26</a:t>
            </a:r>
            <a:endParaRPr lang="en-US" sz="8250" dirty="0"/>
          </a:p>
        </p:txBody>
      </p:sp>
      <p:sp>
        <p:nvSpPr>
          <p:cNvPr id="4" name="Shape 4"/>
          <p:cNvSpPr txBox="1"/>
          <p:nvPr/>
        </p:nvSpPr>
        <p:spPr>
          <a:xfrm>
            <a:off x="685800" y="525322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Next class: Tuesday, October 27. Start at the next slide, “Start: Tuesday, October 27.”</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16</a:t>
            </a:fld>
          </a:p>
        </p:txBody>
      </p:sp>
    </p:spTree>
  </p:cSld>
  <p:clrMapOvr>
    <a:masterClrMapping/>
  </p:clrMapOvr>
  <p:transition spd="med">
    <p:fade/>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2 · Day 2 of 2 · Start here</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Start: Tuesday, October 27</a:t>
            </a:r>
            <a:endParaRPr lang="en-US" sz="8250" dirty="0"/>
          </a:p>
        </p:txBody>
      </p:sp>
      <p:sp>
        <p:nvSpPr>
          <p:cNvPr id="4" name="Shape 4"/>
          <p:cNvSpPr txBox="1"/>
          <p:nvPr/>
        </p:nvSpPr>
        <p:spPr>
          <a:xfrm>
            <a:off x="685800" y="5253228"/>
            <a:ext cx="10820095" cy="374904"/>
          </a:xfrm>
          <a:prstGeom prst="rect">
            <a:avLst/>
          </a:prstGeom>
          <a:noFill/>
          <a:ln>
            <a:noFill/>
          </a:ln>
        </p:spPr>
        <p:txBody>
          <a:bodyPr wrap="square" lIns="36576" tIns="27432" rIns="36576" bIns="27432" anchor="t">
            <a:noAutofit/>
          </a:bodyPr>
          <a:lstStyle/>
          <a:p>
            <a:pPr algn="l">
              <a:lnSpc>
                <a:spcPct val="100000"/>
              </a:lnSpc>
            </a:pPr>
            <a:r>
              <a:rPr lang="en-US" sz="2100" dirty="0">
                <a:solidFill>
                  <a:srgbClr val="16171D"/>
                </a:solidFill>
                <a:latin typeface="Segoe UI"/>
                <a:cs typeface="Segoe UI"/>
              </a:rPr>
              <a:t xml:space="preserve">Today: bell work → Topic 1 catch-up (Linear or nonlinear?) → Lesson 2, Day 2.</a:t>
            </a:r>
            <a:endParaRPr lang="en-US" sz="210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17</a:t>
            </a:fld>
          </a:p>
        </p:txBody>
      </p:sp>
    </p:spTree>
  </p:cSld>
  <p:clrMapOvr>
    <a:masterClrMapping/>
  </p:clrMapOvr>
  <p:transition spd="med">
    <p:fade/>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Bell Work · Review of Day 1 · Tue, Oct 27</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is translated right 5 units. Which equation is the new function? </a:t>
            </a:r>
            <a:r>
              <a:rPr lang="en-US" sz="1575" dirty="0">
                <a:solidFill>
                  <a:srgbClr val="5F6272"/>
                </a:solidFill>
                <a:latin typeface="Segoe UI"/>
                <a:cs typeface="Segoe UI"/>
              </a:rPr>
              <a:t xml:space="preserve">(SE p. 289)</a:t>
            </a:r>
            <a:endParaRPr lang="en-US" sz="1950" dirty="0"/>
          </a:p>
        </p:txBody>
      </p:sp>
      <p:sp>
        <p:nvSpPr>
          <p:cNvPr id="5" name="Shape 5"/>
          <p:cNvSpPr txBox="1"/>
          <p:nvPr/>
        </p:nvSpPr>
        <p:spPr>
          <a:xfrm>
            <a:off x="685800" y="2755392"/>
            <a:ext cx="51433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6" name="Shape 6"/>
          <p:cNvSpPr txBox="1"/>
          <p:nvPr/>
        </p:nvSpPr>
        <p:spPr>
          <a:xfrm>
            <a:off x="685800" y="3895344"/>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For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a translation right 5 gives the same graph as which other translation? </a:t>
            </a:r>
            <a:r>
              <a:rPr lang="en-US" sz="1575" dirty="0">
                <a:solidFill>
                  <a:srgbClr val="5F6272"/>
                </a:solidFill>
                <a:latin typeface="Segoe UI"/>
                <a:cs typeface="Segoe UI"/>
              </a:rPr>
              <a:t xml:space="preserve">(SE p. 291)</a:t>
            </a:r>
            <a:endParaRPr lang="en-US" sz="1950" dirty="0"/>
          </a:p>
        </p:txBody>
      </p:sp>
      <p:sp>
        <p:nvSpPr>
          <p:cNvPr id="7" name="Shape 7"/>
          <p:cNvSpPr txBox="1"/>
          <p:nvPr/>
        </p:nvSpPr>
        <p:spPr>
          <a:xfrm>
            <a:off x="685800" y="4975098"/>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Down 5 units</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a:t>
            </a:r>
            <a:r>
              <a:rPr lang="en-US" sz="1950" dirty="0" i="1">
                <a:solidFill>
                  <a:srgbClr val="16171D"/>
                </a:solidFill>
                <a:latin typeface="Cambria"/>
                <a:cs typeface="Cambria"/>
              </a:rPr>
              <a:t xml:space="preserve">j</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a:t>
            </a:r>
            <a:r>
              <a:rPr lang="en-US" sz="1950" dirty="0">
                <a:solidFill>
                  <a:srgbClr val="16171D"/>
                </a:solidFill>
                <a:latin typeface="Segoe UI"/>
                <a:cs typeface="Segoe UI"/>
              </a:rPr>
              <a:t xml:space="preserve"> and </a:t>
            </a:r>
            <a:r>
              <a:rPr lang="en-US" sz="1950" dirty="0" i="1">
                <a:solidFill>
                  <a:srgbClr val="16171D"/>
                </a:solidFill>
                <a:latin typeface="Cambria"/>
                <a:cs typeface="Cambria"/>
              </a:rPr>
              <a:t xml:space="preserve">r</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j</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+ 4)</a:t>
            </a:r>
            <a:r>
              <a:rPr lang="en-US" sz="1950" dirty="0">
                <a:solidFill>
                  <a:srgbClr val="16171D"/>
                </a:solidFill>
                <a:latin typeface="Segoe UI"/>
                <a:cs typeface="Segoe UI"/>
              </a:rPr>
              <a:t xml:space="preserve">. Simplify </a:t>
            </a:r>
            <a:r>
              <a:rPr lang="en-US" sz="1950" dirty="0" i="1">
                <a:solidFill>
                  <a:srgbClr val="16171D"/>
                </a:solidFill>
                <a:latin typeface="Cambria"/>
                <a:cs typeface="Cambria"/>
              </a:rPr>
              <a:t xml:space="preserve">r</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292)</a:t>
            </a:r>
            <a:endParaRPr lang="en-US" sz="1950" dirty="0"/>
          </a:p>
        </p:txBody>
      </p:sp>
      <p:sp>
        <p:nvSpPr>
          <p:cNvPr id="9" name="Shape 9"/>
          <p:cNvSpPr txBox="1"/>
          <p:nvPr/>
        </p:nvSpPr>
        <p:spPr>
          <a:xfrm>
            <a:off x="6362548" y="2458212"/>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r</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10" name="Shape 10"/>
          <p:cNvSpPr txBox="1"/>
          <p:nvPr/>
        </p:nvSpPr>
        <p:spPr>
          <a:xfrm>
            <a:off x="6362548" y="324383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For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is the graph of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the same as the graph of </a:t>
            </a:r>
            <a:r>
              <a:rPr lang="en-US" sz="1950" dirty="0">
                <a:solidFill>
                  <a:srgbClr val="16171D"/>
                </a:solidFill>
                <a:latin typeface="Cambria"/>
                <a:cs typeface="Cambria"/>
              </a:rPr>
              <a:t xml:space="preserve">2</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295)</a:t>
            </a:r>
            <a:endParaRPr lang="en-US" sz="1950" dirty="0"/>
          </a:p>
        </p:txBody>
      </p:sp>
      <p:sp>
        <p:nvSpPr>
          <p:cNvPr id="11" name="Shape 11"/>
          <p:cNvSpPr txBox="1"/>
          <p:nvPr/>
        </p:nvSpPr>
        <p:spPr>
          <a:xfrm>
            <a:off x="6362548" y="4026408"/>
            <a:ext cx="514334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Yes, both are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18</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Tue, Oct 27 · about 15 minutes</a:t>
            </a:r>
            <a:endParaRPr lang="en-US" sz="1200" dirty="0"/>
          </a:p>
        </p:txBody>
      </p:sp>
      <p:sp>
        <p:nvSpPr>
          <p:cNvPr id="3" name="Shape 3"/>
          <p:cNvSpPr txBox="1"/>
          <p:nvPr/>
        </p:nvSpPr>
        <p:spPr>
          <a:xfrm>
            <a:off x="685800" y="132359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Topic 1 Lesson 6: Linear or nonlinear?</a:t>
            </a:r>
            <a:endParaRPr lang="en-US" sz="5700" dirty="0"/>
          </a:p>
        </p:txBody>
      </p:sp>
      <p:sp>
        <p:nvSpPr>
          <p:cNvPr id="4" name="Shape 4"/>
          <p:cNvSpPr txBox="1"/>
          <p:nvPr/>
        </p:nvSpPr>
        <p:spPr>
          <a:xfrm>
            <a:off x="685800" y="328726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A transformation of a linear function is still linear: the rate of change stays constant.</a:t>
            </a:r>
            <a:endParaRPr lang="en-US" sz="2250" dirty="0"/>
          </a:p>
        </p:txBody>
      </p:sp>
      <p:sp>
        <p:nvSpPr>
          <p:cNvPr id="5" name="Shape 5"/>
          <p:cNvSpPr txBox="1"/>
          <p:nvPr/>
        </p:nvSpPr>
        <p:spPr>
          <a:xfrm>
            <a:off x="685800" y="41993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Topic 1 Lesson 6 practice: </a:t>
            </a:r>
            <a:r>
              <a:rPr lang="en-US" sz="1800" dirty="0">
                <a:solidFill>
                  <a:srgbClr val="3050B8"/>
                </a:solidFill>
                <a:latin typeface="Segoe UI"/>
                <a:cs typeface="Segoe UI"/>
                <a:hlinkClick r:id="rId3"/>
              </a:rPr>
              <a:t xml:space="preserve">Homework →</a:t>
            </a:r>
            <a:r>
              <a:rPr lang="en-US" sz="1800" dirty="0">
                <a:solidFill>
                  <a:srgbClr val="16171D"/>
                </a:solidFill>
                <a:latin typeface="Segoe UI"/>
                <a:cs typeface="Segoe UI"/>
              </a:rPr>
              <a:t xml:space="preserve"> · </a:t>
            </a:r>
            <a:r>
              <a:rPr lang="en-US" sz="1800" dirty="0">
                <a:solidFill>
                  <a:srgbClr val="3050B8"/>
                </a:solidFill>
                <a:latin typeface="Segoe UI"/>
                <a:cs typeface="Segoe UI"/>
                <a:hlinkClick r:id="rId4"/>
              </a:rPr>
              <a:t xml:space="preserve">Quiz →</a:t>
            </a:r>
            <a:endParaRPr lang="en-US" sz="18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19</a:t>
            </a:fld>
          </a:p>
        </p:txBody>
      </p:sp>
    </p:spTree>
  </p:cSld>
  <p:clrMapOvr>
    <a:masterClrMapping/>
  </p:clrMapOvr>
  <p:transition spd="med">
    <p:fade/>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Vocabulary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Words we need</a:t>
            </a:r>
            <a:endParaRPr lang="en-US" sz="3450" dirty="0"/>
          </a:p>
        </p:txBody>
      </p:sp>
      <p:sp>
        <p:nvSpPr>
          <p:cNvPr id="6" name="Shape 6"/>
          <p:cNvSpPr txBox="1"/>
          <p:nvPr/>
        </p:nvSpPr>
        <p:spPr>
          <a:xfrm>
            <a:off x="685800"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Linear function</a:t>
            </a:r>
            <a:endParaRPr lang="en-US" sz="2100" dirty="0"/>
          </a:p>
        </p:txBody>
      </p:sp>
      <p:sp>
        <p:nvSpPr>
          <p:cNvPr id="5" name="Shape 5"/>
          <p:cNvSpPr txBox="1"/>
          <p:nvPr/>
        </p:nvSpPr>
        <p:spPr>
          <a:xfrm>
            <a:off x="895350" y="2260092"/>
            <a:ext cx="30732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rate of change is always the same. The graph is a straight line.</a:t>
            </a:r>
            <a:endParaRPr lang="en-US" sz="1575" dirty="0"/>
          </a:p>
        </p:txBody>
      </p:sp>
      <p:sp>
        <p:nvSpPr>
          <p:cNvPr id="10" name="Shape 10"/>
          <p:cNvSpPr txBox="1"/>
          <p:nvPr/>
        </p:nvSpPr>
        <p:spPr>
          <a:xfrm>
            <a:off x="4349648"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Rate of change</a:t>
            </a:r>
            <a:endParaRPr lang="en-US" sz="2100" dirty="0"/>
          </a:p>
        </p:txBody>
      </p:sp>
      <p:sp>
        <p:nvSpPr>
          <p:cNvPr id="8" name="Shape 8"/>
          <p:cNvSpPr txBox="1"/>
          <p:nvPr/>
        </p:nvSpPr>
        <p:spPr>
          <a:xfrm>
            <a:off x="4559198"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Change in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change in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It is the slope.</a:t>
            </a:r>
            <a:endParaRPr lang="en-US" sz="1575" dirty="0"/>
          </a:p>
        </p:txBody>
      </p:sp>
      <p:sp>
        <p:nvSpPr>
          <p:cNvPr id="9" name="Shape 9"/>
          <p:cNvSpPr txBox="1"/>
          <p:nvPr/>
        </p:nvSpPr>
        <p:spPr>
          <a:xfrm>
            <a:off x="4559198"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8</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 = 4</a:t>
            </a:r>
            <a:endParaRPr lang="en-US" sz="2325" dirty="0"/>
          </a:p>
        </p:txBody>
      </p:sp>
      <p:sp>
        <p:nvSpPr>
          <p:cNvPr id="14" name="Shape 14"/>
          <p:cNvSpPr txBox="1"/>
          <p:nvPr/>
        </p:nvSpPr>
        <p:spPr>
          <a:xfrm>
            <a:off x="8013497"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1" name="Shape 11"/>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General form</a:t>
            </a:r>
            <a:endParaRPr lang="en-US" sz="2100" dirty="0"/>
          </a:p>
        </p:txBody>
      </p:sp>
      <p:sp>
        <p:nvSpPr>
          <p:cNvPr id="12" name="Shape 12"/>
          <p:cNvSpPr txBox="1"/>
          <p:nvPr/>
        </p:nvSpPr>
        <p:spPr>
          <a:xfrm>
            <a:off x="8223047" y="226009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 = slope,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a:t>
            </a:r>
            <a:endParaRPr lang="en-US" sz="1575" dirty="0"/>
          </a:p>
        </p:txBody>
      </p:sp>
      <p:sp>
        <p:nvSpPr>
          <p:cNvPr id="13" name="Shape 13"/>
          <p:cNvSpPr txBox="1"/>
          <p:nvPr/>
        </p:nvSpPr>
        <p:spPr>
          <a:xfrm>
            <a:off x="8223047" y="265023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i="1">
                <a:solidFill>
                  <a:srgbClr val="C9561F"/>
                </a:solidFill>
                <a:latin typeface="Cambria"/>
                <a:cs typeface="Cambria"/>
              </a:rPr>
              <a:t xml:space="preserve">a</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i="1">
                <a:solidFill>
                  <a:srgbClr val="3050B8"/>
                </a:solidFill>
                <a:latin typeface="Cambria"/>
                <a:cs typeface="Cambria"/>
              </a:rPr>
              <a:t xml:space="preserve">b</a:t>
            </a:r>
            <a:endParaRPr lang="en-US" sz="2325" dirty="0"/>
          </a:p>
        </p:txBody>
      </p:sp>
      <p:sp>
        <p:nvSpPr>
          <p:cNvPr id="18" name="Shape 18"/>
          <p:cNvSpPr txBox="1"/>
          <p:nvPr/>
        </p:nvSpPr>
        <p:spPr>
          <a:xfrm>
            <a:off x="685800" y="3642360"/>
            <a:ext cx="3492398" cy="161239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5" name="Shape 15"/>
          <p:cNvSpPr txBox="1"/>
          <p:nvPr/>
        </p:nvSpPr>
        <p:spPr>
          <a:xfrm>
            <a:off x="895350" y="381381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Factored form</a:t>
            </a:r>
            <a:endParaRPr lang="en-US" sz="2100" dirty="0"/>
          </a:p>
        </p:txBody>
      </p:sp>
      <p:sp>
        <p:nvSpPr>
          <p:cNvPr id="16" name="Shape 16"/>
          <p:cNvSpPr txBox="1"/>
          <p:nvPr/>
        </p:nvSpPr>
        <p:spPr>
          <a:xfrm>
            <a:off x="895350" y="4283964"/>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 = slope, </a:t>
            </a:r>
            <a:r>
              <a:rPr lang="en-US" sz="1575" dirty="0" i="1">
                <a:solidFill>
                  <a:srgbClr val="16171D"/>
                </a:solidFill>
                <a:latin typeface="Segoe UI"/>
                <a:cs typeface="Segoe UI"/>
              </a:rPr>
              <a:t xml:space="preserve">c</a:t>
            </a:r>
            <a:r>
              <a:rPr lang="en-US" sz="1575" dirty="0">
                <a:solidFill>
                  <a:srgbClr val="16171D"/>
                </a:solidFill>
                <a:latin typeface="Segoe UI"/>
                <a:cs typeface="Segoe UI"/>
              </a:rPr>
              <a:t xml:space="preserve"> = zero</a:t>
            </a:r>
            <a:endParaRPr lang="en-US" sz="1575" dirty="0"/>
          </a:p>
        </p:txBody>
      </p:sp>
      <p:sp>
        <p:nvSpPr>
          <p:cNvPr id="17" name="Shape 17"/>
          <p:cNvSpPr txBox="1"/>
          <p:nvPr/>
        </p:nvSpPr>
        <p:spPr>
          <a:xfrm>
            <a:off x="895350" y="467410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i="1">
                <a:solidFill>
                  <a:srgbClr val="C9561F"/>
                </a:solidFill>
                <a:latin typeface="Cambria"/>
                <a:cs typeface="Cambria"/>
              </a:rPr>
              <a:t xml:space="preserve">a</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i="1">
                <a:solidFill>
                  <a:srgbClr val="3050B8"/>
                </a:solidFill>
                <a:latin typeface="Cambria"/>
                <a:cs typeface="Cambria"/>
              </a:rPr>
              <a:t xml:space="preserve">c</a:t>
            </a:r>
            <a:r>
              <a:rPr lang="en-US" sz="2325" dirty="0">
                <a:solidFill>
                  <a:srgbClr val="16171D"/>
                </a:solidFill>
                <a:latin typeface="Cambria"/>
                <a:cs typeface="Cambria"/>
              </a:rPr>
              <a:t xml:space="preserve">)</a:t>
            </a:r>
            <a:endParaRPr lang="en-US" sz="2325" dirty="0"/>
          </a:p>
        </p:txBody>
      </p:sp>
      <p:sp>
        <p:nvSpPr>
          <p:cNvPr id="21" name="Shape 21"/>
          <p:cNvSpPr txBox="1"/>
          <p:nvPr/>
        </p:nvSpPr>
        <p:spPr>
          <a:xfrm>
            <a:off x="4349648" y="3642360"/>
            <a:ext cx="3492398" cy="161239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9" name="Shape 19"/>
          <p:cNvSpPr txBox="1"/>
          <p:nvPr/>
        </p:nvSpPr>
        <p:spPr>
          <a:xfrm>
            <a:off x="4559198" y="381381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Zero</a:t>
            </a:r>
            <a:endParaRPr lang="en-US" sz="2100" dirty="0"/>
          </a:p>
        </p:txBody>
      </p:sp>
      <p:sp>
        <p:nvSpPr>
          <p:cNvPr id="20" name="Shape 20"/>
          <p:cNvSpPr txBox="1"/>
          <p:nvPr/>
        </p:nvSpPr>
        <p:spPr>
          <a:xfrm>
            <a:off x="4559198" y="4283964"/>
            <a:ext cx="30732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that makes </a:t>
            </a:r>
            <a:r>
              <a:rPr lang="en-US" sz="1575" dirty="0" i="1">
                <a:solidFill>
                  <a:srgbClr val="16171D"/>
                </a:solidFill>
                <a:latin typeface="Segoe UI"/>
                <a:cs typeface="Segoe UI"/>
              </a:rPr>
              <a:t xml:space="preserve">f</a:t>
            </a: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0. The line crosses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-axis there.</a:t>
            </a:r>
            <a:endParaRPr lang="en-US" sz="1575" dirty="0"/>
          </a:p>
        </p:txBody>
      </p:sp>
      <p:sp>
        <p:nvSpPr>
          <p:cNvPr id="25" name="Shape 25"/>
          <p:cNvSpPr txBox="1"/>
          <p:nvPr/>
        </p:nvSpPr>
        <p:spPr>
          <a:xfrm>
            <a:off x="8013497" y="3642360"/>
            <a:ext cx="3492398" cy="161239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2" name="Shape 22"/>
          <p:cNvSpPr txBox="1"/>
          <p:nvPr/>
        </p:nvSpPr>
        <p:spPr>
          <a:xfrm>
            <a:off x="8223047" y="381381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Direct variation</a:t>
            </a:r>
            <a:endParaRPr lang="en-US" sz="2100" dirty="0"/>
          </a:p>
        </p:txBody>
      </p:sp>
      <p:sp>
        <p:nvSpPr>
          <p:cNvPr id="23" name="Shape 23"/>
          <p:cNvSpPr txBox="1"/>
          <p:nvPr/>
        </p:nvSpPr>
        <p:spPr>
          <a:xfrm>
            <a:off x="8223047" y="4283964"/>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 line through (0, 0).</a:t>
            </a:r>
            <a:endParaRPr lang="en-US" sz="1575" dirty="0"/>
          </a:p>
        </p:txBody>
      </p:sp>
      <p:sp>
        <p:nvSpPr>
          <p:cNvPr id="24" name="Shape 24"/>
          <p:cNvSpPr txBox="1"/>
          <p:nvPr/>
        </p:nvSpPr>
        <p:spPr>
          <a:xfrm>
            <a:off x="8223047" y="467410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kx</a:t>
            </a:r>
            <a:endParaRPr lang="en-US" sz="2325" dirty="0"/>
          </a:p>
        </p:txBody>
      </p:sp>
      <p:sp>
        <p:nvSpPr>
          <p:cNvPr id="26" name="Slide Number 2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20</a:t>
            </a:fld>
          </a:p>
        </p:txBody>
      </p:sp>
    </p:spTree>
  </p:cSld>
  <p:clrMapOvr>
    <a:masterClrMapping/>
  </p:clrMapOvr>
  <p:transition spd="med">
    <p:fade/>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Steps</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Is the table linear?</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1.</a:t>
            </a:r>
            <a:r>
              <a:rPr lang="en-US" sz="1950" dirty="0">
                <a:solidFill>
                  <a:srgbClr val="16171D"/>
                </a:solidFill>
                <a:latin typeface="Segoe UI"/>
                <a:cs typeface="Segoe UI"/>
              </a:rPr>
              <a:t xml:space="preserve"> Find the change in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and the change in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between each pair of rows.</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2.</a:t>
            </a:r>
            <a:r>
              <a:rPr lang="en-US" sz="1950" dirty="0">
                <a:solidFill>
                  <a:srgbClr val="16171D"/>
                </a:solidFill>
                <a:latin typeface="Segoe UI"/>
                <a:cs typeface="Segoe UI"/>
              </a:rPr>
              <a:t xml:space="preserve"> Divide: </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change in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change in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3.</a:t>
            </a:r>
            <a:r>
              <a:rPr lang="en-US" sz="1950" dirty="0">
                <a:solidFill>
                  <a:srgbClr val="16171D"/>
                </a:solidFill>
                <a:latin typeface="Segoe UI"/>
                <a:cs typeface="Segoe UI"/>
              </a:rPr>
              <a:t xml:space="preserve"> Always the same number → </a:t>
            </a:r>
            <a:r>
              <a:rPr lang="en-US" sz="1950" dirty="0" b="1">
                <a:solidFill>
                  <a:srgbClr val="16171D"/>
                </a:solidFill>
                <a:latin typeface="Segoe UI"/>
                <a:cs typeface="Segoe UI"/>
              </a:rPr>
              <a:t xml:space="preserve">linear</a:t>
            </a:r>
            <a:r>
              <a:rPr lang="en-US" sz="1950" dirty="0">
                <a:solidFill>
                  <a:srgbClr val="16171D"/>
                </a:solidFill>
                <a:latin typeface="Segoe UI"/>
                <a:cs typeface="Segoe UI"/>
              </a:rPr>
              <a:t xml:space="preserve">. Different → </a:t>
            </a:r>
            <a:r>
              <a:rPr lang="en-US" sz="1950" dirty="0" b="1">
                <a:solidFill>
                  <a:srgbClr val="16171D"/>
                </a:solidFill>
                <a:latin typeface="Segoe UI"/>
                <a:cs typeface="Segoe UI"/>
              </a:rPr>
              <a:t xml:space="preserve">not linear</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18897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4.</a:t>
            </a:r>
            <a:r>
              <a:rPr lang="en-US" sz="1950" dirty="0">
                <a:solidFill>
                  <a:srgbClr val="16171D"/>
                </a:solidFill>
                <a:latin typeface="Segoe UI"/>
                <a:cs typeface="Segoe UI"/>
              </a:rPr>
              <a:t xml:space="preserve"> If linear, find </a:t>
            </a:r>
            <a:r>
              <a:rPr lang="en-US" sz="1950" dirty="0" i="1">
                <a:solidFill>
                  <a:srgbClr val="16171D"/>
                </a:solidFill>
                <a:latin typeface="Segoe UI"/>
                <a:cs typeface="Segoe UI"/>
              </a:rPr>
              <a:t xml:space="preserve">b</a:t>
            </a:r>
            <a:r>
              <a:rPr lang="en-US" sz="1950" dirty="0">
                <a:solidFill>
                  <a:srgbClr val="16171D"/>
                </a:solidFill>
                <a:latin typeface="Segoe UI"/>
                <a:cs typeface="Segoe UI"/>
              </a:rPr>
              <a:t xml:space="preserve">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-value when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0) and write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ax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b</a:t>
            </a:r>
            <a:r>
              <a:rPr lang="en-US" sz="1950" dirty="0">
                <a:solidFill>
                  <a:srgbClr val="16171D"/>
                </a:solidFill>
                <a:latin typeface="Segoe UI"/>
                <a:cs typeface="Segoe UI"/>
              </a:rPr>
              <a:t xml:space="preserve">.</a:t>
            </a:r>
            <a:endParaRPr lang="en-US" sz="1950" dirty="0"/>
          </a:p>
        </p:txBody>
      </p:sp>
      <p:sp>
        <p:nvSpPr>
          <p:cNvPr id="8" name="Slide Number 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21</a:t>
            </a:fld>
          </a:p>
        </p:txBody>
      </p:sp>
    </p:spTree>
  </p:cSld>
  <p:clrMapOvr>
    <a:masterClrMapping/>
  </p:clrMapOvr>
  <p:transition spd="med">
    <p:fade/>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I do · Watch me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Is this table linear?</a:t>
            </a:r>
            <a:endParaRPr lang="en-US" sz="3450" dirty="0"/>
          </a:p>
        </p:txBody>
      </p:sp>
      <p:sp>
        <p:nvSpPr>
          <p:cNvPr id="4" name="Shape 4"/>
          <p:cNvSpPr txBox="1"/>
          <p:nvPr/>
        </p:nvSpPr>
        <p:spPr>
          <a:xfrm>
            <a:off x="685800" y="1618488"/>
            <a:ext cx="1143000"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x</a:t>
            </a:r>
            <a:endParaRPr lang="en-US" sz="1950" dirty="0"/>
          </a:p>
        </p:txBody>
      </p:sp>
      <p:sp>
        <p:nvSpPr>
          <p:cNvPr id="5" name="Shape 5"/>
          <p:cNvSpPr txBox="1"/>
          <p:nvPr/>
        </p:nvSpPr>
        <p:spPr>
          <a:xfrm>
            <a:off x="1828800" y="1618488"/>
            <a:ext cx="1143000"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y</a:t>
            </a:r>
            <a:endParaRPr lang="en-US" sz="1950" dirty="0"/>
          </a:p>
        </p:txBody>
      </p:sp>
      <p:sp>
        <p:nvSpPr>
          <p:cNvPr id="6" name="Shape 6"/>
          <p:cNvSpPr txBox="1"/>
          <p:nvPr/>
        </p:nvSpPr>
        <p:spPr>
          <a:xfrm>
            <a:off x="685800" y="2061972"/>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0</a:t>
            </a:r>
            <a:endParaRPr lang="en-US" sz="1950" dirty="0"/>
          </a:p>
        </p:txBody>
      </p:sp>
      <p:sp>
        <p:nvSpPr>
          <p:cNvPr id="7" name="Shape 7"/>
          <p:cNvSpPr txBox="1"/>
          <p:nvPr/>
        </p:nvSpPr>
        <p:spPr>
          <a:xfrm>
            <a:off x="1828800" y="2061972"/>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5</a:t>
            </a:r>
            <a:endParaRPr lang="en-US" sz="1950" dirty="0"/>
          </a:p>
        </p:txBody>
      </p:sp>
      <p:sp>
        <p:nvSpPr>
          <p:cNvPr id="8" name="Shape 8"/>
          <p:cNvSpPr txBox="1"/>
          <p:nvPr/>
        </p:nvSpPr>
        <p:spPr>
          <a:xfrm>
            <a:off x="685800" y="2505456"/>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2</a:t>
            </a:r>
            <a:endParaRPr lang="en-US" sz="1950" dirty="0"/>
          </a:p>
        </p:txBody>
      </p:sp>
      <p:sp>
        <p:nvSpPr>
          <p:cNvPr id="9" name="Shape 9"/>
          <p:cNvSpPr txBox="1"/>
          <p:nvPr/>
        </p:nvSpPr>
        <p:spPr>
          <a:xfrm>
            <a:off x="1828800" y="2505456"/>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9</a:t>
            </a:r>
            <a:endParaRPr lang="en-US" sz="1950" dirty="0"/>
          </a:p>
        </p:txBody>
      </p:sp>
      <p:sp>
        <p:nvSpPr>
          <p:cNvPr id="10" name="Shape 10"/>
          <p:cNvSpPr txBox="1"/>
          <p:nvPr/>
        </p:nvSpPr>
        <p:spPr>
          <a:xfrm>
            <a:off x="685800" y="2948940"/>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4</a:t>
            </a:r>
            <a:endParaRPr lang="en-US" sz="1950" dirty="0"/>
          </a:p>
        </p:txBody>
      </p:sp>
      <p:sp>
        <p:nvSpPr>
          <p:cNvPr id="11" name="Shape 11"/>
          <p:cNvSpPr txBox="1"/>
          <p:nvPr/>
        </p:nvSpPr>
        <p:spPr>
          <a:xfrm>
            <a:off x="1828800" y="2948940"/>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13</a:t>
            </a:r>
            <a:endParaRPr lang="en-US" sz="1950" dirty="0"/>
          </a:p>
        </p:txBody>
      </p:sp>
      <p:sp>
        <p:nvSpPr>
          <p:cNvPr id="12" name="Shape 12"/>
          <p:cNvSpPr txBox="1"/>
          <p:nvPr/>
        </p:nvSpPr>
        <p:spPr>
          <a:xfrm>
            <a:off x="685800" y="3392424"/>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6</a:t>
            </a:r>
            <a:endParaRPr lang="en-US" sz="1950" dirty="0"/>
          </a:p>
        </p:txBody>
      </p:sp>
      <p:sp>
        <p:nvSpPr>
          <p:cNvPr id="13" name="Shape 13"/>
          <p:cNvSpPr txBox="1"/>
          <p:nvPr/>
        </p:nvSpPr>
        <p:spPr>
          <a:xfrm>
            <a:off x="1828800" y="3392424"/>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17</a:t>
            </a:r>
            <a:endParaRPr lang="en-US" sz="1950" dirty="0"/>
          </a:p>
        </p:txBody>
      </p:sp>
      <p:sp>
        <p:nvSpPr>
          <p:cNvPr id="14" name="Shape 14"/>
          <p:cNvSpPr txBox="1"/>
          <p:nvPr/>
        </p:nvSpPr>
        <p:spPr>
          <a:xfrm>
            <a:off x="6286348"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Each row: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goes up 2,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goes up 4.</a:t>
            </a:r>
            <a:endParaRPr lang="en-US" sz="1950" dirty="0"/>
          </a:p>
        </p:txBody>
      </p:sp>
      <p:sp>
        <p:nvSpPr>
          <p:cNvPr id="15" name="Shape 15"/>
          <p:cNvSpPr txBox="1"/>
          <p:nvPr/>
        </p:nvSpPr>
        <p:spPr>
          <a:xfrm>
            <a:off x="6286348" y="2103882"/>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2</a:t>
            </a:r>
            <a:r>
              <a:rPr lang="en-US" sz="1950" dirty="0">
                <a:solidFill>
                  <a:srgbClr val="16171D"/>
                </a:solidFill>
                <a:latin typeface="Segoe UI"/>
                <a:cs typeface="Segoe UI"/>
              </a:rPr>
              <a:t xml:space="preserve"> = 2 every time.</a:t>
            </a:r>
            <a:endParaRPr lang="en-US" sz="1950" dirty="0"/>
          </a:p>
        </p:txBody>
      </p:sp>
      <p:sp>
        <p:nvSpPr>
          <p:cNvPr id="16" name="Shape 16"/>
          <p:cNvSpPr txBox="1"/>
          <p:nvPr/>
        </p:nvSpPr>
        <p:spPr>
          <a:xfrm>
            <a:off x="6286348" y="2589276"/>
            <a:ext cx="440045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Linear, slope 2</a:t>
            </a:r>
            <a:endParaRPr lang="en-US" sz="2325" dirty="0"/>
          </a:p>
        </p:txBody>
      </p:sp>
      <p:sp>
        <p:nvSpPr>
          <p:cNvPr id="17" name="Shape 17"/>
          <p:cNvSpPr txBox="1"/>
          <p:nvPr/>
        </p:nvSpPr>
        <p:spPr>
          <a:xfrm>
            <a:off x="6286348" y="324154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At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0,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5.</a:t>
            </a:r>
            <a:endParaRPr lang="en-US" sz="1950" dirty="0"/>
          </a:p>
        </p:txBody>
      </p:sp>
      <p:sp>
        <p:nvSpPr>
          <p:cNvPr id="18" name="Shape 18"/>
          <p:cNvSpPr txBox="1"/>
          <p:nvPr/>
        </p:nvSpPr>
        <p:spPr>
          <a:xfrm>
            <a:off x="6286348" y="3726942"/>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19" name="Slide Number 1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16"/>
                                        </p:tgtEl>
                                        <p:attrNameLst>
                                          <p:attrName>style.visibility</p:attrName>
                                        </p:attrNameLst>
                                      </p:cBhvr>
                                      <p:to>
                                        <p:strVal val="visible"/>
                                      </p:to>
                                    </p:set>
                                    <p:animEffect transition="in" filter="fade">
                                      <p:cBhvr>
                                        <p:cTn id="4" dur="500"/>
                                        <p:tgtEl>
                                          <p:spTgt spid="16"/>
                                        </p:tgtEl>
                                      </p:cBhvr>
                                    </p:animEffect>
                                    <p:anim calcmode="lin" valueType="num">
                                      <p:cBhvr>
                                        <p:cTn id="5" dur="500" fill="hold"/>
                                        <p:tgtEl>
                                          <p:spTgt spid="16"/>
                                        </p:tgtEl>
                                        <p:attrNameLst>
                                          <p:attrName>ppt_w</p:attrName>
                                        </p:attrNameLst>
                                      </p:cBhvr>
                                      <p:tavLst>
                                        <p:tav tm="0">
                                          <p:val>
                                            <p:fltVal val="0"/>
                                          </p:val>
                                        </p:tav>
                                        <p:tav tm="100000">
                                          <p:val>
                                            <p:strVal val="#ppt_w"/>
                                          </p:val>
                                        </p:tav>
                                      </p:tavLst>
                                    </p:anim>
                                    <p:anim calcmode="lin" valueType="num">
                                      <p:cBhvr>
                                        <p:cTn id="6" dur="500" fill="hold"/>
                                        <p:tgtEl>
                                          <p:spTgt spid="1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8"/>
                                        </p:tgtEl>
                                        <p:attrNameLst>
                                          <p:attrName>style.visibility</p:attrName>
                                        </p:attrNameLst>
                                      </p:cBhvr>
                                      <p:to>
                                        <p:strVal val="visible"/>
                                      </p:to>
                                    </p:set>
                                    <p:animEffect transition="in" filter="fade">
                                      <p:cBhvr>
                                        <p:cTn id="11" dur="500"/>
                                        <p:tgtEl>
                                          <p:spTgt spid="18"/>
                                        </p:tgtEl>
                                      </p:cBhvr>
                                    </p:animEffect>
                                    <p:anim calcmode="lin" valueType="num">
                                      <p:cBhvr>
                                        <p:cTn id="12" dur="500" fill="hold"/>
                                        <p:tgtEl>
                                          <p:spTgt spid="18"/>
                                        </p:tgtEl>
                                        <p:attrNameLst>
                                          <p:attrName>ppt_w</p:attrName>
                                        </p:attrNameLst>
                                      </p:cBhvr>
                                      <p:tavLst>
                                        <p:tav tm="0">
                                          <p:val>
                                            <p:fltVal val="0"/>
                                          </p:val>
                                        </p:tav>
                                        <p:tav tm="100000">
                                          <p:val>
                                            <p:strVal val="#ppt_w"/>
                                          </p:val>
                                        </p:tav>
                                      </p:tavLst>
                                    </p:anim>
                                    <p:anim calcmode="lin" valueType="num">
                                      <p:cBhvr>
                                        <p:cTn id="13" dur="500" fill="hold"/>
                                        <p:tgtEl>
                                          <p:spTgt spid="1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We do · Together</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Is this table linear?</a:t>
            </a:r>
            <a:endParaRPr lang="en-US" sz="3450" dirty="0"/>
          </a:p>
        </p:txBody>
      </p:sp>
      <p:sp>
        <p:nvSpPr>
          <p:cNvPr id="4" name="Shape 4"/>
          <p:cNvSpPr txBox="1"/>
          <p:nvPr/>
        </p:nvSpPr>
        <p:spPr>
          <a:xfrm>
            <a:off x="685800" y="1618488"/>
            <a:ext cx="1143000"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x</a:t>
            </a:r>
            <a:endParaRPr lang="en-US" sz="1950" dirty="0"/>
          </a:p>
        </p:txBody>
      </p:sp>
      <p:sp>
        <p:nvSpPr>
          <p:cNvPr id="5" name="Shape 5"/>
          <p:cNvSpPr txBox="1"/>
          <p:nvPr/>
        </p:nvSpPr>
        <p:spPr>
          <a:xfrm>
            <a:off x="1828800" y="1618488"/>
            <a:ext cx="1143000"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y</a:t>
            </a:r>
            <a:endParaRPr lang="en-US" sz="1950" dirty="0"/>
          </a:p>
        </p:txBody>
      </p:sp>
      <p:sp>
        <p:nvSpPr>
          <p:cNvPr id="6" name="Shape 6"/>
          <p:cNvSpPr txBox="1"/>
          <p:nvPr/>
        </p:nvSpPr>
        <p:spPr>
          <a:xfrm>
            <a:off x="685800" y="2061972"/>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a:t>
            </a:r>
            <a:endParaRPr lang="en-US" sz="1950" dirty="0"/>
          </a:p>
        </p:txBody>
      </p:sp>
      <p:sp>
        <p:nvSpPr>
          <p:cNvPr id="7" name="Shape 7"/>
          <p:cNvSpPr txBox="1"/>
          <p:nvPr/>
        </p:nvSpPr>
        <p:spPr>
          <a:xfrm>
            <a:off x="1828800" y="2061972"/>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3</a:t>
            </a:r>
            <a:endParaRPr lang="en-US" sz="1950" dirty="0"/>
          </a:p>
        </p:txBody>
      </p:sp>
      <p:sp>
        <p:nvSpPr>
          <p:cNvPr id="8" name="Shape 8"/>
          <p:cNvSpPr txBox="1"/>
          <p:nvPr/>
        </p:nvSpPr>
        <p:spPr>
          <a:xfrm>
            <a:off x="685800" y="2505456"/>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2</a:t>
            </a:r>
            <a:endParaRPr lang="en-US" sz="1950" dirty="0"/>
          </a:p>
        </p:txBody>
      </p:sp>
      <p:sp>
        <p:nvSpPr>
          <p:cNvPr id="9" name="Shape 9"/>
          <p:cNvSpPr txBox="1"/>
          <p:nvPr/>
        </p:nvSpPr>
        <p:spPr>
          <a:xfrm>
            <a:off x="1828800" y="2505456"/>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6</a:t>
            </a:r>
            <a:endParaRPr lang="en-US" sz="1950" dirty="0"/>
          </a:p>
        </p:txBody>
      </p:sp>
      <p:sp>
        <p:nvSpPr>
          <p:cNvPr id="10" name="Shape 10"/>
          <p:cNvSpPr txBox="1"/>
          <p:nvPr/>
        </p:nvSpPr>
        <p:spPr>
          <a:xfrm>
            <a:off x="685800" y="2948940"/>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3</a:t>
            </a:r>
            <a:endParaRPr lang="en-US" sz="1950" dirty="0"/>
          </a:p>
        </p:txBody>
      </p:sp>
      <p:sp>
        <p:nvSpPr>
          <p:cNvPr id="11" name="Shape 11"/>
          <p:cNvSpPr txBox="1"/>
          <p:nvPr/>
        </p:nvSpPr>
        <p:spPr>
          <a:xfrm>
            <a:off x="1828800" y="2948940"/>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12</a:t>
            </a:r>
            <a:endParaRPr lang="en-US" sz="1950" dirty="0"/>
          </a:p>
        </p:txBody>
      </p:sp>
      <p:sp>
        <p:nvSpPr>
          <p:cNvPr id="12" name="Shape 12"/>
          <p:cNvSpPr txBox="1"/>
          <p:nvPr/>
        </p:nvSpPr>
        <p:spPr>
          <a:xfrm>
            <a:off x="685800" y="3392424"/>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4</a:t>
            </a:r>
            <a:endParaRPr lang="en-US" sz="1950" dirty="0"/>
          </a:p>
        </p:txBody>
      </p:sp>
      <p:sp>
        <p:nvSpPr>
          <p:cNvPr id="13" name="Shape 13"/>
          <p:cNvSpPr txBox="1"/>
          <p:nvPr/>
        </p:nvSpPr>
        <p:spPr>
          <a:xfrm>
            <a:off x="1828800" y="3392424"/>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24</a:t>
            </a:r>
            <a:endParaRPr lang="en-US" sz="1950" dirty="0"/>
          </a:p>
        </p:txBody>
      </p:sp>
      <p:sp>
        <p:nvSpPr>
          <p:cNvPr id="14" name="Shape 14"/>
          <p:cNvSpPr txBox="1"/>
          <p:nvPr/>
        </p:nvSpPr>
        <p:spPr>
          <a:xfrm>
            <a:off x="6286348"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Change in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3, ____, ____</a:t>
            </a:r>
            <a:endParaRPr lang="en-US" sz="1950" dirty="0"/>
          </a:p>
        </p:txBody>
      </p:sp>
      <p:sp>
        <p:nvSpPr>
          <p:cNvPr id="15" name="Shape 15"/>
          <p:cNvSpPr txBox="1"/>
          <p:nvPr/>
        </p:nvSpPr>
        <p:spPr>
          <a:xfrm>
            <a:off x="6286348" y="2103882"/>
            <a:ext cx="323967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3, 6, 12</a:t>
            </a:r>
            <a:endParaRPr lang="en-US" sz="2325" dirty="0"/>
          </a:p>
        </p:txBody>
      </p:sp>
      <p:sp>
        <p:nvSpPr>
          <p:cNvPr id="16" name="Shape 16"/>
          <p:cNvSpPr txBox="1"/>
          <p:nvPr/>
        </p:nvSpPr>
        <p:spPr>
          <a:xfrm>
            <a:off x="6286348" y="2756154"/>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Is it the same every time?</a:t>
            </a:r>
            <a:endParaRPr lang="en-US" sz="1950" dirty="0"/>
          </a:p>
        </p:txBody>
      </p:sp>
      <p:sp>
        <p:nvSpPr>
          <p:cNvPr id="17" name="Shape 17"/>
          <p:cNvSpPr txBox="1"/>
          <p:nvPr/>
        </p:nvSpPr>
        <p:spPr>
          <a:xfrm>
            <a:off x="6286348" y="3241548"/>
            <a:ext cx="52195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No, so it is not linear.</a:t>
            </a:r>
            <a:endParaRPr lang="en-US" sz="2325" dirty="0"/>
          </a:p>
        </p:txBody>
      </p:sp>
      <p:sp>
        <p:nvSpPr>
          <p:cNvPr id="18" name="Slide Number 1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fade">
                                      <p:cBhvr>
                                        <p:cTn id="4" dur="500"/>
                                        <p:tgtEl>
                                          <p:spTgt spid="15"/>
                                        </p:tgtEl>
                                      </p:cBhvr>
                                    </p:animEffect>
                                    <p:anim calcmode="lin" valueType="num">
                                      <p:cBhvr>
                                        <p:cTn id="5" dur="500" fill="hold"/>
                                        <p:tgtEl>
                                          <p:spTgt spid="15"/>
                                        </p:tgtEl>
                                        <p:attrNameLst>
                                          <p:attrName>ppt_w</p:attrName>
                                        </p:attrNameLst>
                                      </p:cBhvr>
                                      <p:tavLst>
                                        <p:tav tm="0">
                                          <p:val>
                                            <p:fltVal val="0"/>
                                          </p:val>
                                        </p:tav>
                                        <p:tav tm="100000">
                                          <p:val>
                                            <p:strVal val="#ppt_w"/>
                                          </p:val>
                                        </p:tav>
                                      </p:tavLst>
                                    </p:anim>
                                    <p:anim calcmode="lin" valueType="num">
                                      <p:cBhvr>
                                        <p:cTn id="6" dur="500" fill="hold"/>
                                        <p:tgtEl>
                                          <p:spTgt spid="1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animEffect transition="in" filter="fade">
                                      <p:cBhvr>
                                        <p:cTn id="11" dur="500"/>
                                        <p:tgtEl>
                                          <p:spTgt spid="17"/>
                                        </p:tgtEl>
                                      </p:cBhvr>
                                    </p:animEffect>
                                    <p:anim calcmode="lin" valueType="num">
                                      <p:cBhvr>
                                        <p:cTn id="12" dur="500" fill="hold"/>
                                        <p:tgtEl>
                                          <p:spTgt spid="17"/>
                                        </p:tgtEl>
                                        <p:attrNameLst>
                                          <p:attrName>ppt_w</p:attrName>
                                        </p:attrNameLst>
                                      </p:cBhvr>
                                      <p:tavLst>
                                        <p:tav tm="0">
                                          <p:val>
                                            <p:fltVal val="0"/>
                                          </p:val>
                                        </p:tav>
                                        <p:tav tm="100000">
                                          <p:val>
                                            <p:strVal val="#ppt_w"/>
                                          </p:val>
                                        </p:tav>
                                      </p:tavLst>
                                    </p:anim>
                                    <p:anim calcmode="lin" valueType="num">
                                      <p:cBhvr>
                                        <p:cTn id="13" dur="500" fill="hold"/>
                                        <p:tgtEl>
                                          <p:spTgt spid="17"/>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2</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Back to Topic 2</a:t>
            </a:r>
            <a:endParaRPr lang="en-US" sz="8250" dirty="0"/>
          </a:p>
        </p:txBody>
      </p:sp>
      <p:sp>
        <p:nvSpPr>
          <p:cNvPr id="4" name="Shape 4"/>
          <p:cNvSpPr txBox="1"/>
          <p:nvPr/>
        </p:nvSpPr>
        <p:spPr>
          <a:xfrm>
            <a:off x="685800" y="39959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Catch-up done. Now today's Topic 2 lesson.</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24</a:t>
            </a:fld>
          </a:p>
        </p:txBody>
      </p:sp>
    </p:spTree>
  </p:cSld>
  <p:clrMapOvr>
    <a:masterClrMapping/>
  </p:clrMapOvr>
  <p:transition spd="med">
    <p:fade/>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I do · Stretch inside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For </a:t>
            </a:r>
            <a:r>
              <a:rPr lang="en-US" sz="3450" dirty="0" b="1" i="1">
                <a:solidFill>
                  <a:srgbClr val="16171D"/>
                </a:solidFill>
                <a:latin typeface="Segoe UI"/>
                <a:cs typeface="Segoe UI"/>
              </a:rPr>
              <a:t xml:space="preserve">f</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a:t>
            </a:r>
            <a:r>
              <a:rPr lang="en-US" sz="3450" dirty="0" b="1" i="1">
                <a:solidFill>
                  <a:srgbClr val="16171D"/>
                </a:solidFill>
                <a:latin typeface="Segoe UI"/>
                <a:cs typeface="Segoe UI"/>
              </a:rPr>
              <a:t xml:space="preserve">f</a:t>
            </a:r>
            <a:r>
              <a:rPr lang="en-US" sz="3450" dirty="0" b="1">
                <a:solidFill>
                  <a:srgbClr val="16171D"/>
                </a:solidFill>
                <a:latin typeface="Segoe UI"/>
                <a:cs typeface="Segoe UI"/>
              </a:rPr>
              <a:t xml:space="preserve">(2</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and 2</a:t>
            </a:r>
            <a:r>
              <a:rPr lang="en-US" sz="3450" dirty="0" b="1" i="1">
                <a:solidFill>
                  <a:srgbClr val="16171D"/>
                </a:solidFill>
                <a:latin typeface="Segoe UI"/>
                <a:cs typeface="Segoe UI"/>
              </a:rPr>
              <a:t xml:space="preserve">f</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a:t>
            </a:r>
            <a:endParaRPr lang="en-US" sz="3450" dirty="0"/>
          </a:p>
        </p:txBody>
      </p:sp>
      <p:sp>
        <p:nvSpPr>
          <p:cNvPr id="4" name="Shape 4"/>
          <p:cNvSpPr txBox="1"/>
          <p:nvPr/>
        </p:nvSpPr>
        <p:spPr>
          <a:xfrm>
            <a:off x="685800"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(2</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2</a:t>
            </a:r>
            <a:r>
              <a:rPr lang="en-US" sz="1950" dirty="0" i="1">
                <a:solidFill>
                  <a:srgbClr val="16171D"/>
                </a:solidFill>
                <a:latin typeface="Segoe UI"/>
                <a:cs typeface="Segoe UI"/>
              </a:rPr>
              <a:t xml:space="preserve">x</a:t>
            </a:r>
            <a:endParaRPr lang="en-US" sz="1950" dirty="0"/>
          </a:p>
        </p:txBody>
      </p:sp>
      <p:sp>
        <p:nvSpPr>
          <p:cNvPr id="5" name="Shape 5"/>
          <p:cNvSpPr txBox="1"/>
          <p:nvPr/>
        </p:nvSpPr>
        <p:spPr>
          <a:xfrm>
            <a:off x="685800" y="2103882"/>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2</a:t>
            </a:r>
            <a:r>
              <a:rPr lang="en-US" sz="1950" dirty="0" i="1">
                <a:solidFill>
                  <a:srgbClr val="16171D"/>
                </a:solidFill>
                <a:latin typeface="Segoe UI"/>
                <a:cs typeface="Segoe UI"/>
              </a:rPr>
              <a:t xml:space="preserve">x</a:t>
            </a:r>
            <a:endParaRPr lang="en-US" sz="1950" dirty="0"/>
          </a:p>
        </p:txBody>
      </p:sp>
      <p:sp>
        <p:nvSpPr>
          <p:cNvPr id="6" name="Shape 6"/>
          <p:cNvSpPr txBox="1"/>
          <p:nvPr/>
        </p:nvSpPr>
        <p:spPr>
          <a:xfrm>
            <a:off x="685800" y="2589276"/>
            <a:ext cx="521954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The same line: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endParaRPr lang="en-US" sz="2325" dirty="0"/>
          </a:p>
        </p:txBody>
      </p:sp>
      <p:sp>
        <p:nvSpPr>
          <p:cNvPr id="7" name="Shape 7"/>
          <p:cNvSpPr txBox="1"/>
          <p:nvPr/>
        </p:nvSpPr>
        <p:spPr>
          <a:xfrm>
            <a:off x="685800" y="3241548"/>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This only works for </a:t>
            </a:r>
            <a:r>
              <a:rPr lang="en-US" sz="1575" dirty="0" i="1">
                <a:solidFill>
                  <a:srgbClr val="16171D"/>
                </a:solidFill>
                <a:latin typeface="Segoe UI"/>
                <a:cs typeface="Segoe UI"/>
              </a:rPr>
              <a:t xml:space="preserve">f</a:t>
            </a: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t>
            </a:r>
            <a:endParaRPr lang="en-US" sz="1575" dirty="0"/>
          </a:p>
        </p:txBody>
      </p:sp>
      <p:sp>
        <p:nvSpPr>
          <p:cNvPr id="8" name="Shape 8"/>
          <p:cNvSpPr/>
          <p:nvPr/>
        </p:nvSpPr>
        <p:spPr>
          <a:xfrm>
            <a:off x="6286348" y="1618488"/>
            <a:ext cx="3048000" cy="3048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9" name="Line 9"/>
          <p:cNvCxnSpPr/>
          <p:nvPr/>
        </p:nvCxnSpPr>
        <p:spPr>
          <a:xfrm>
            <a:off x="6610198" y="1732788"/>
            <a:ext cx="0" cy="2686050"/>
          </a:xfrm>
          <a:prstGeom prst="line">
            <a:avLst/>
          </a:prstGeom>
          <a:ln w="9525" cap="flat">
            <a:solidFill>
              <a:srgbClr val="E6E8F2"/>
            </a:solidFill>
          </a:ln>
        </p:spPr>
      </p:cxnSp>
      <p:cxnSp>
        <p:nvCxnSpPr>
          <p:cNvPr id="10" name="Line 10"/>
          <p:cNvCxnSpPr/>
          <p:nvPr/>
        </p:nvCxnSpPr>
        <p:spPr>
          <a:xfrm>
            <a:off x="6936429" y="1732788"/>
            <a:ext cx="0" cy="2686050"/>
          </a:xfrm>
          <a:prstGeom prst="line">
            <a:avLst/>
          </a:prstGeom>
          <a:ln w="9525" cap="flat">
            <a:solidFill>
              <a:srgbClr val="E6E8F2"/>
            </a:solidFill>
          </a:ln>
        </p:spPr>
      </p:cxnSp>
      <p:cxnSp>
        <p:nvCxnSpPr>
          <p:cNvPr id="11" name="Line 11"/>
          <p:cNvCxnSpPr/>
          <p:nvPr/>
        </p:nvCxnSpPr>
        <p:spPr>
          <a:xfrm>
            <a:off x="7262660" y="1732788"/>
            <a:ext cx="0" cy="2686050"/>
          </a:xfrm>
          <a:prstGeom prst="line">
            <a:avLst/>
          </a:prstGeom>
          <a:ln w="9525" cap="flat">
            <a:solidFill>
              <a:srgbClr val="E6E8F2"/>
            </a:solidFill>
          </a:ln>
        </p:spPr>
      </p:cxnSp>
      <p:cxnSp>
        <p:nvCxnSpPr>
          <p:cNvPr id="12" name="Line 12"/>
          <p:cNvCxnSpPr/>
          <p:nvPr/>
        </p:nvCxnSpPr>
        <p:spPr>
          <a:xfrm>
            <a:off x="7588891" y="1732788"/>
            <a:ext cx="0" cy="2686050"/>
          </a:xfrm>
          <a:prstGeom prst="line">
            <a:avLst/>
          </a:prstGeom>
          <a:ln w="9525" cap="flat">
            <a:solidFill>
              <a:srgbClr val="E6E8F2"/>
            </a:solidFill>
          </a:ln>
        </p:spPr>
      </p:cxnSp>
      <p:cxnSp>
        <p:nvCxnSpPr>
          <p:cNvPr id="13" name="Line 13"/>
          <p:cNvCxnSpPr/>
          <p:nvPr/>
        </p:nvCxnSpPr>
        <p:spPr>
          <a:xfrm>
            <a:off x="7915123" y="1732788"/>
            <a:ext cx="0" cy="2686050"/>
          </a:xfrm>
          <a:prstGeom prst="line">
            <a:avLst/>
          </a:prstGeom>
          <a:ln w="9525" cap="flat">
            <a:solidFill>
              <a:srgbClr val="E6E8F2"/>
            </a:solidFill>
          </a:ln>
        </p:spPr>
      </p:cxnSp>
      <p:cxnSp>
        <p:nvCxnSpPr>
          <p:cNvPr id="14" name="Line 14"/>
          <p:cNvCxnSpPr/>
          <p:nvPr/>
        </p:nvCxnSpPr>
        <p:spPr>
          <a:xfrm>
            <a:off x="8241354" y="1732788"/>
            <a:ext cx="0" cy="2686050"/>
          </a:xfrm>
          <a:prstGeom prst="line">
            <a:avLst/>
          </a:prstGeom>
          <a:ln w="9525" cap="flat">
            <a:solidFill>
              <a:srgbClr val="E6E8F2"/>
            </a:solidFill>
          </a:ln>
        </p:spPr>
      </p:cxnSp>
      <p:cxnSp>
        <p:nvCxnSpPr>
          <p:cNvPr id="15" name="Line 15"/>
          <p:cNvCxnSpPr/>
          <p:nvPr/>
        </p:nvCxnSpPr>
        <p:spPr>
          <a:xfrm>
            <a:off x="8567585" y="1732788"/>
            <a:ext cx="0" cy="2686050"/>
          </a:xfrm>
          <a:prstGeom prst="line">
            <a:avLst/>
          </a:prstGeom>
          <a:ln w="9525" cap="flat">
            <a:solidFill>
              <a:srgbClr val="E6E8F2"/>
            </a:solidFill>
          </a:ln>
        </p:spPr>
      </p:cxnSp>
      <p:cxnSp>
        <p:nvCxnSpPr>
          <p:cNvPr id="16" name="Line 16"/>
          <p:cNvCxnSpPr/>
          <p:nvPr/>
        </p:nvCxnSpPr>
        <p:spPr>
          <a:xfrm>
            <a:off x="8893816" y="1732788"/>
            <a:ext cx="0" cy="2686050"/>
          </a:xfrm>
          <a:prstGeom prst="line">
            <a:avLst/>
          </a:prstGeom>
          <a:ln w="9525" cap="flat">
            <a:solidFill>
              <a:srgbClr val="E6E8F2"/>
            </a:solidFill>
          </a:ln>
        </p:spPr>
      </p:cxnSp>
      <p:cxnSp>
        <p:nvCxnSpPr>
          <p:cNvPr id="17" name="Line 17"/>
          <p:cNvCxnSpPr/>
          <p:nvPr/>
        </p:nvCxnSpPr>
        <p:spPr>
          <a:xfrm>
            <a:off x="9220048" y="1732788"/>
            <a:ext cx="0" cy="2686050"/>
          </a:xfrm>
          <a:prstGeom prst="line">
            <a:avLst/>
          </a:prstGeom>
          <a:ln w="9525" cap="flat">
            <a:solidFill>
              <a:srgbClr val="E6E8F2"/>
            </a:solidFill>
          </a:ln>
        </p:spPr>
      </p:cxnSp>
      <p:cxnSp>
        <p:nvCxnSpPr>
          <p:cNvPr id="18" name="Line 18"/>
          <p:cNvCxnSpPr/>
          <p:nvPr/>
        </p:nvCxnSpPr>
        <p:spPr>
          <a:xfrm>
            <a:off x="6610198" y="4418838"/>
            <a:ext cx="2609850" cy="0"/>
          </a:xfrm>
          <a:prstGeom prst="line">
            <a:avLst/>
          </a:prstGeom>
          <a:ln w="9525" cap="flat">
            <a:solidFill>
              <a:srgbClr val="E6E8F2"/>
            </a:solidFill>
          </a:ln>
        </p:spPr>
      </p:cxnSp>
      <p:cxnSp>
        <p:nvCxnSpPr>
          <p:cNvPr id="19" name="Line 19"/>
          <p:cNvCxnSpPr/>
          <p:nvPr/>
        </p:nvCxnSpPr>
        <p:spPr>
          <a:xfrm>
            <a:off x="6610198" y="4150233"/>
            <a:ext cx="2609850" cy="0"/>
          </a:xfrm>
          <a:prstGeom prst="line">
            <a:avLst/>
          </a:prstGeom>
          <a:ln w="9525" cap="flat">
            <a:solidFill>
              <a:srgbClr val="E6E8F2"/>
            </a:solidFill>
          </a:ln>
        </p:spPr>
      </p:cxnSp>
      <p:cxnSp>
        <p:nvCxnSpPr>
          <p:cNvPr id="20" name="Line 20"/>
          <p:cNvCxnSpPr/>
          <p:nvPr/>
        </p:nvCxnSpPr>
        <p:spPr>
          <a:xfrm>
            <a:off x="6610198" y="3881628"/>
            <a:ext cx="2609850" cy="0"/>
          </a:xfrm>
          <a:prstGeom prst="line">
            <a:avLst/>
          </a:prstGeom>
          <a:ln w="9525" cap="flat">
            <a:solidFill>
              <a:srgbClr val="E6E8F2"/>
            </a:solidFill>
          </a:ln>
        </p:spPr>
      </p:cxnSp>
      <p:cxnSp>
        <p:nvCxnSpPr>
          <p:cNvPr id="21" name="Line 21"/>
          <p:cNvCxnSpPr/>
          <p:nvPr/>
        </p:nvCxnSpPr>
        <p:spPr>
          <a:xfrm>
            <a:off x="6610198" y="3613023"/>
            <a:ext cx="2609850" cy="0"/>
          </a:xfrm>
          <a:prstGeom prst="line">
            <a:avLst/>
          </a:prstGeom>
          <a:ln w="9525" cap="flat">
            <a:solidFill>
              <a:srgbClr val="E6E8F2"/>
            </a:solidFill>
          </a:ln>
        </p:spPr>
      </p:cxnSp>
      <p:cxnSp>
        <p:nvCxnSpPr>
          <p:cNvPr id="22" name="Line 22"/>
          <p:cNvCxnSpPr/>
          <p:nvPr/>
        </p:nvCxnSpPr>
        <p:spPr>
          <a:xfrm>
            <a:off x="6610198" y="3344418"/>
            <a:ext cx="2609850" cy="0"/>
          </a:xfrm>
          <a:prstGeom prst="line">
            <a:avLst/>
          </a:prstGeom>
          <a:ln w="9525" cap="flat">
            <a:solidFill>
              <a:srgbClr val="E6E8F2"/>
            </a:solidFill>
          </a:ln>
        </p:spPr>
      </p:cxnSp>
      <p:cxnSp>
        <p:nvCxnSpPr>
          <p:cNvPr id="23" name="Line 23"/>
          <p:cNvCxnSpPr/>
          <p:nvPr/>
        </p:nvCxnSpPr>
        <p:spPr>
          <a:xfrm>
            <a:off x="6610198" y="3075813"/>
            <a:ext cx="2609850" cy="0"/>
          </a:xfrm>
          <a:prstGeom prst="line">
            <a:avLst/>
          </a:prstGeom>
          <a:ln w="9525" cap="flat">
            <a:solidFill>
              <a:srgbClr val="E6E8F2"/>
            </a:solidFill>
          </a:ln>
        </p:spPr>
      </p:cxnSp>
      <p:cxnSp>
        <p:nvCxnSpPr>
          <p:cNvPr id="24" name="Line 24"/>
          <p:cNvCxnSpPr/>
          <p:nvPr/>
        </p:nvCxnSpPr>
        <p:spPr>
          <a:xfrm>
            <a:off x="6610198" y="2807208"/>
            <a:ext cx="2609850" cy="0"/>
          </a:xfrm>
          <a:prstGeom prst="line">
            <a:avLst/>
          </a:prstGeom>
          <a:ln w="9525" cap="flat">
            <a:solidFill>
              <a:srgbClr val="E6E8F2"/>
            </a:solidFill>
          </a:ln>
        </p:spPr>
      </p:cxnSp>
      <p:cxnSp>
        <p:nvCxnSpPr>
          <p:cNvPr id="25" name="Line 25"/>
          <p:cNvCxnSpPr/>
          <p:nvPr/>
        </p:nvCxnSpPr>
        <p:spPr>
          <a:xfrm>
            <a:off x="6610198" y="2538603"/>
            <a:ext cx="2609850" cy="0"/>
          </a:xfrm>
          <a:prstGeom prst="line">
            <a:avLst/>
          </a:prstGeom>
          <a:ln w="9525" cap="flat">
            <a:solidFill>
              <a:srgbClr val="E6E8F2"/>
            </a:solidFill>
          </a:ln>
        </p:spPr>
      </p:cxnSp>
      <p:cxnSp>
        <p:nvCxnSpPr>
          <p:cNvPr id="26" name="Line 26"/>
          <p:cNvCxnSpPr/>
          <p:nvPr/>
        </p:nvCxnSpPr>
        <p:spPr>
          <a:xfrm>
            <a:off x="6610198" y="2269998"/>
            <a:ext cx="2609850" cy="0"/>
          </a:xfrm>
          <a:prstGeom prst="line">
            <a:avLst/>
          </a:prstGeom>
          <a:ln w="9525" cap="flat">
            <a:solidFill>
              <a:srgbClr val="E6E8F2"/>
            </a:solidFill>
          </a:ln>
        </p:spPr>
      </p:cxnSp>
      <p:cxnSp>
        <p:nvCxnSpPr>
          <p:cNvPr id="27" name="Line 27"/>
          <p:cNvCxnSpPr/>
          <p:nvPr/>
        </p:nvCxnSpPr>
        <p:spPr>
          <a:xfrm>
            <a:off x="6610198" y="2001393"/>
            <a:ext cx="2609850" cy="0"/>
          </a:xfrm>
          <a:prstGeom prst="line">
            <a:avLst/>
          </a:prstGeom>
          <a:ln w="9525" cap="flat">
            <a:solidFill>
              <a:srgbClr val="E6E8F2"/>
            </a:solidFill>
          </a:ln>
        </p:spPr>
      </p:cxnSp>
      <p:cxnSp>
        <p:nvCxnSpPr>
          <p:cNvPr id="28" name="Line 28"/>
          <p:cNvCxnSpPr/>
          <p:nvPr/>
        </p:nvCxnSpPr>
        <p:spPr>
          <a:xfrm>
            <a:off x="6610198" y="1732788"/>
            <a:ext cx="2609850" cy="0"/>
          </a:xfrm>
          <a:prstGeom prst="line">
            <a:avLst/>
          </a:prstGeom>
          <a:ln w="9525" cap="flat">
            <a:solidFill>
              <a:srgbClr val="E6E8F2"/>
            </a:solidFill>
          </a:ln>
        </p:spPr>
      </p:cxnSp>
      <p:cxnSp>
        <p:nvCxnSpPr>
          <p:cNvPr id="29" name="Line 29"/>
          <p:cNvCxnSpPr/>
          <p:nvPr/>
        </p:nvCxnSpPr>
        <p:spPr>
          <a:xfrm>
            <a:off x="7915123" y="1732788"/>
            <a:ext cx="0" cy="2686050"/>
          </a:xfrm>
          <a:prstGeom prst="line">
            <a:avLst/>
          </a:prstGeom>
          <a:ln w="19050" cap="flat">
            <a:solidFill>
              <a:srgbClr val="5F6272"/>
            </a:solidFill>
          </a:ln>
        </p:spPr>
      </p:cxnSp>
      <p:cxnSp>
        <p:nvCxnSpPr>
          <p:cNvPr id="30" name="Line 30"/>
          <p:cNvCxnSpPr/>
          <p:nvPr/>
        </p:nvCxnSpPr>
        <p:spPr>
          <a:xfrm>
            <a:off x="6610198" y="3075813"/>
            <a:ext cx="2609850" cy="0"/>
          </a:xfrm>
          <a:prstGeom prst="line">
            <a:avLst/>
          </a:prstGeom>
          <a:ln w="19050" cap="flat">
            <a:solidFill>
              <a:srgbClr val="5F6272"/>
            </a:solidFill>
          </a:ln>
        </p:spPr>
      </p:cxnSp>
      <p:sp>
        <p:nvSpPr>
          <p:cNvPr id="31" name="Shape 31"/>
          <p:cNvSpPr txBox="1"/>
          <p:nvPr/>
        </p:nvSpPr>
        <p:spPr>
          <a:xfrm>
            <a:off x="6335878"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2" name="Shape 32"/>
          <p:cNvSpPr txBox="1"/>
          <p:nvPr/>
        </p:nvSpPr>
        <p:spPr>
          <a:xfrm>
            <a:off x="6662109"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3" name="Shape 33"/>
          <p:cNvSpPr txBox="1"/>
          <p:nvPr/>
        </p:nvSpPr>
        <p:spPr>
          <a:xfrm>
            <a:off x="6988340"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4" name="Shape 34"/>
          <p:cNvSpPr txBox="1"/>
          <p:nvPr/>
        </p:nvSpPr>
        <p:spPr>
          <a:xfrm>
            <a:off x="7314571"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5" name="Shape 35"/>
          <p:cNvSpPr txBox="1"/>
          <p:nvPr/>
        </p:nvSpPr>
        <p:spPr>
          <a:xfrm>
            <a:off x="7640803"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6" name="Shape 36"/>
          <p:cNvSpPr txBox="1"/>
          <p:nvPr/>
        </p:nvSpPr>
        <p:spPr>
          <a:xfrm>
            <a:off x="7967034"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7" name="Shape 37"/>
          <p:cNvSpPr txBox="1"/>
          <p:nvPr/>
        </p:nvSpPr>
        <p:spPr>
          <a:xfrm>
            <a:off x="829326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8" name="Shape 38"/>
          <p:cNvSpPr txBox="1"/>
          <p:nvPr/>
        </p:nvSpPr>
        <p:spPr>
          <a:xfrm>
            <a:off x="8619496"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9" name="Shape 39"/>
          <p:cNvSpPr txBox="1"/>
          <p:nvPr/>
        </p:nvSpPr>
        <p:spPr>
          <a:xfrm>
            <a:off x="8945728"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0" name="Shape 40"/>
          <p:cNvSpPr txBox="1"/>
          <p:nvPr/>
        </p:nvSpPr>
        <p:spPr>
          <a:xfrm>
            <a:off x="6043270" y="4327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sp>
        <p:nvSpPr>
          <p:cNvPr id="41" name="Shape 41"/>
          <p:cNvSpPr txBox="1"/>
          <p:nvPr/>
        </p:nvSpPr>
        <p:spPr>
          <a:xfrm>
            <a:off x="6043270" y="405879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2" name="Shape 42"/>
          <p:cNvSpPr txBox="1"/>
          <p:nvPr/>
        </p:nvSpPr>
        <p:spPr>
          <a:xfrm>
            <a:off x="6043270" y="379018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43" name="Shape 43"/>
          <p:cNvSpPr txBox="1"/>
          <p:nvPr/>
        </p:nvSpPr>
        <p:spPr>
          <a:xfrm>
            <a:off x="6043270" y="352158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4" name="Shape 44"/>
          <p:cNvSpPr txBox="1"/>
          <p:nvPr/>
        </p:nvSpPr>
        <p:spPr>
          <a:xfrm>
            <a:off x="6043270" y="32529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45" name="Shape 45"/>
          <p:cNvSpPr txBox="1"/>
          <p:nvPr/>
        </p:nvSpPr>
        <p:spPr>
          <a:xfrm>
            <a:off x="6043270" y="29843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6" name="Shape 46"/>
          <p:cNvSpPr txBox="1"/>
          <p:nvPr/>
        </p:nvSpPr>
        <p:spPr>
          <a:xfrm>
            <a:off x="6043270" y="271576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47" name="Shape 47"/>
          <p:cNvSpPr txBox="1"/>
          <p:nvPr/>
        </p:nvSpPr>
        <p:spPr>
          <a:xfrm>
            <a:off x="6043270" y="244716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8" name="Shape 48"/>
          <p:cNvSpPr txBox="1"/>
          <p:nvPr/>
        </p:nvSpPr>
        <p:spPr>
          <a:xfrm>
            <a:off x="6043270" y="217855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49" name="Shape 49"/>
          <p:cNvSpPr txBox="1"/>
          <p:nvPr/>
        </p:nvSpPr>
        <p:spPr>
          <a:xfrm>
            <a:off x="6043270" y="190995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0" name="Shape 50"/>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cxnSp>
        <p:nvCxnSpPr>
          <p:cNvPr id="51" name="Line 51"/>
          <p:cNvCxnSpPr/>
          <p:nvPr/>
        </p:nvCxnSpPr>
        <p:spPr>
          <a:xfrm flipV="1">
            <a:off x="6610198" y="2001393"/>
            <a:ext cx="2609850" cy="2148840"/>
          </a:xfrm>
          <a:prstGeom prst="line">
            <a:avLst/>
          </a:prstGeom>
          <a:ln w="38100" cap="rnd">
            <a:solidFill>
              <a:srgbClr val="16171D"/>
            </a:solidFill>
          </a:ln>
        </p:spPr>
      </p:cxnSp>
      <p:sp>
        <p:nvSpPr>
          <p:cNvPr id="52" name="Shape 52"/>
          <p:cNvSpPr txBox="1"/>
          <p:nvPr/>
        </p:nvSpPr>
        <p:spPr>
          <a:xfrm>
            <a:off x="6728308" y="2020443"/>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f(x)</a:t>
            </a:r>
            <a:endParaRPr lang="en-US" sz="1275" dirty="0"/>
          </a:p>
        </p:txBody>
      </p:sp>
      <p:cxnSp>
        <p:nvCxnSpPr>
          <p:cNvPr id="53" name="Line 53"/>
          <p:cNvCxnSpPr/>
          <p:nvPr/>
        </p:nvCxnSpPr>
        <p:spPr>
          <a:xfrm flipV="1">
            <a:off x="7099544" y="1732788"/>
            <a:ext cx="1631156" cy="2686050"/>
          </a:xfrm>
          <a:prstGeom prst="line">
            <a:avLst/>
          </a:prstGeom>
          <a:ln w="38100" cap="rnd">
            <a:solidFill>
              <a:srgbClr val="16171D"/>
            </a:solidFill>
          </a:ln>
        </p:spPr>
      </p:cxnSp>
      <p:sp>
        <p:nvSpPr>
          <p:cNvPr id="54" name="Shape 54"/>
          <p:cNvSpPr txBox="1"/>
          <p:nvPr/>
        </p:nvSpPr>
        <p:spPr>
          <a:xfrm>
            <a:off x="6238961"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y = 2x</a:t>
            </a:r>
            <a:endParaRPr lang="en-US" sz="1275" dirty="0"/>
          </a:p>
        </p:txBody>
      </p:sp>
      <p:sp>
        <p:nvSpPr>
          <p:cNvPr id="55" name="Slide Number 5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25</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6" fill="hold">
                      <p:stCondLst>
                        <p:cond delay="indefinite"/>
                      </p:stCondLst>
                      <p:childTnLst>
                        <p:par>
                          <p:cTn id="17" fill="hold">
                            <p:stCondLst>
                              <p:cond delay="0"/>
                            </p:stCondLst>
                            <p:childTnLst>
                              <p:par>
                                <p:cTn id="12" presetID="22" presetClass="entr" presetSubtype="8" fill="hold" nodeType="clickEffect">
                                  <p:stCondLst>
                                    <p:cond delay="0"/>
                                  </p:stCondLst>
                                  <p:childTnLst>
                                    <p:set>
                                      <p:cBhvr>
                                        <p:cTn id="10" dur="1" fill="hold">
                                          <p:stCondLst>
                                            <p:cond delay="0"/>
                                          </p:stCondLst>
                                        </p:cTn>
                                        <p:tgtEl>
                                          <p:spTgt spid="53"/>
                                        </p:tgtEl>
                                        <p:attrNameLst>
                                          <p:attrName>style.visibility</p:attrName>
                                        </p:attrNameLst>
                                      </p:cBhvr>
                                      <p:to>
                                        <p:strVal val="visible"/>
                                      </p:to>
                                    </p:set>
                                    <p:animEffect transition="in" filter="wipe(left)">
                                      <p:cBhvr>
                                        <p:cTn id="11" dur="700"/>
                                        <p:tgtEl>
                                          <p:spTgt spid="53"/>
                                        </p:tgtEl>
                                      </p:cBhvr>
                                    </p:animEffect>
                                  </p:childTnLst>
                                </p:cTn>
                              </p:par>
                              <p:par>
                                <p:cTn id="15" presetID="22" presetClass="entr" presetSubtype="8" fill="hold" nodeType="withEffect">
                                  <p:stCondLst>
                                    <p:cond delay="0"/>
                                  </p:stCondLst>
                                  <p:childTnLst>
                                    <p:set>
                                      <p:cBhvr>
                                        <p:cTn id="13" dur="1" fill="hold">
                                          <p:stCondLst>
                                            <p:cond delay="0"/>
                                          </p:stCondLst>
                                        </p:cTn>
                                        <p:tgtEl>
                                          <p:spTgt spid="54"/>
                                        </p:tgtEl>
                                        <p:attrNameLst>
                                          <p:attrName>style.visibility</p:attrName>
                                        </p:attrNameLst>
                                      </p:cBhvr>
                                      <p:to>
                                        <p:strVal val="visible"/>
                                      </p:to>
                                    </p:set>
                                    <p:animEffect transition="in" filter="wipe(left)">
                                      <p:cBhvr>
                                        <p:cTn id="14" dur="700"/>
                                        <p:tgtEl>
                                          <p:spTgt spid="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6" name="Shape 6"/>
          <p:cNvSpPr txBox="1"/>
          <p:nvPr/>
        </p:nvSpPr>
        <p:spPr>
          <a:xfrm>
            <a:off x="685800" y="1618488"/>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Segoe UI"/>
                <a:cs typeface="Segoe UI"/>
              </a:rPr>
              <a:t xml:space="preserve">g</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− 6). Which way, and how far?</a:t>
            </a:r>
            <a:endParaRPr lang="en-US" sz="1950" dirty="0"/>
          </a:p>
        </p:txBody>
      </p:sp>
      <p:sp>
        <p:nvSpPr>
          <p:cNvPr id="5" name="Shape 5"/>
          <p:cNvSpPr txBox="1"/>
          <p:nvPr/>
        </p:nvSpPr>
        <p:spPr>
          <a:xfrm>
            <a:off x="895350" y="2237232"/>
            <a:ext cx="3073847"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right 6</a:t>
            </a:r>
            <a:endParaRPr lang="en-US" sz="2325" dirty="0"/>
          </a:p>
        </p:txBody>
      </p:sp>
      <p:sp>
        <p:nvSpPr>
          <p:cNvPr id="9" name="Shape 9"/>
          <p:cNvSpPr txBox="1"/>
          <p:nvPr/>
        </p:nvSpPr>
        <p:spPr>
          <a:xfrm>
            <a:off x="685800" y="3060954"/>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895350" y="3232404"/>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a:t>
            </a:r>
            <a:r>
              <a:rPr lang="en-US" sz="1950" dirty="0" i="1">
                <a:solidFill>
                  <a:srgbClr val="16171D"/>
                </a:solidFill>
                <a:latin typeface="Segoe UI"/>
                <a:cs typeface="Segoe UI"/>
              </a:rPr>
              <a:t xml:space="preserve">g</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+ 1. Which way, and how far?</a:t>
            </a:r>
            <a:endParaRPr lang="en-US" sz="1950" dirty="0"/>
          </a:p>
        </p:txBody>
      </p:sp>
      <p:sp>
        <p:nvSpPr>
          <p:cNvPr id="8" name="Shape 8"/>
          <p:cNvSpPr txBox="1"/>
          <p:nvPr/>
        </p:nvSpPr>
        <p:spPr>
          <a:xfrm>
            <a:off x="895350" y="3679698"/>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up 1</a:t>
            </a:r>
            <a:endParaRPr lang="en-US" sz="2325" dirty="0"/>
          </a:p>
        </p:txBody>
      </p:sp>
      <p:sp>
        <p:nvSpPr>
          <p:cNvPr id="12" name="Shape 12"/>
          <p:cNvSpPr txBox="1"/>
          <p:nvPr/>
        </p:nvSpPr>
        <p:spPr>
          <a:xfrm>
            <a:off x="685800" y="4503420"/>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95350" y="4674870"/>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a:t>
            </a:r>
            <a:r>
              <a:rPr lang="en-US" sz="1950" dirty="0" i="1">
                <a:solidFill>
                  <a:srgbClr val="16171D"/>
                </a:solidFill>
                <a:latin typeface="Segoe UI"/>
                <a:cs typeface="Segoe UI"/>
              </a:rPr>
              <a:t xml:space="preserve">j</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3</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Simplify </a:t>
            </a:r>
            <a:r>
              <a:rPr lang="en-US" sz="1950" dirty="0" i="1">
                <a:solidFill>
                  <a:srgbClr val="16171D"/>
                </a:solidFill>
                <a:latin typeface="Segoe UI"/>
                <a:cs typeface="Segoe UI"/>
              </a:rPr>
              <a:t xml:space="preserve">j</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+ 1).</a:t>
            </a:r>
            <a:endParaRPr lang="en-US" sz="1950" dirty="0"/>
          </a:p>
        </p:txBody>
      </p:sp>
      <p:sp>
        <p:nvSpPr>
          <p:cNvPr id="11" name="Shape 11"/>
          <p:cNvSpPr txBox="1"/>
          <p:nvPr/>
        </p:nvSpPr>
        <p:spPr>
          <a:xfrm>
            <a:off x="895350" y="5122164"/>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13" name="Slide Number 1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26</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ppt_w</p:attrName>
                                        </p:attrNameLst>
                                      </p:cBhvr>
                                      <p:tavLst>
                                        <p:tav tm="0">
                                          <p:val>
                                            <p:fltVal val="0"/>
                                          </p:val>
                                        </p:tav>
                                        <p:tav tm="100000">
                                          <p:val>
                                            <p:strVal val="#ppt_w"/>
                                          </p:val>
                                        </p:tav>
                                      </p:tavLst>
                                    </p:anim>
                                    <p:anim calcmode="lin" valueType="num">
                                      <p:cBhvr>
                                        <p:cTn id="20"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2 · End of Day 2</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Stop here: Tuesday, October 27</a:t>
            </a:r>
            <a:endParaRPr lang="en-US" sz="8250" dirty="0"/>
          </a:p>
        </p:txBody>
      </p:sp>
      <p:sp>
        <p:nvSpPr>
          <p:cNvPr id="4" name="Shape 4"/>
          <p:cNvSpPr txBox="1"/>
          <p:nvPr/>
        </p:nvSpPr>
        <p:spPr>
          <a:xfrm>
            <a:off x="685800" y="525322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Next class: Wednesday, October 28. Skills Practice day: Lesson 2 quiz and Topic 1 Lesson 5 quiz. Then Lesson 3 starts Thursday, October 29.</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27</a:t>
            </a:fld>
          </a:p>
        </p:txBody>
      </p:sp>
    </p:spTree>
  </p:cSld>
  <p:clrMapOvr>
    <a:masterClrMapping/>
  </p:clrMapOvr>
  <p:transition spd="med">
    <p:fade/>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Practice Online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Bell work, homework and quiz</a:t>
            </a:r>
            <a:endParaRPr lang="en-US" sz="3450" dirty="0"/>
          </a:p>
        </p:txBody>
      </p:sp>
      <p:sp>
        <p:nvSpPr>
          <p:cNvPr id="4" name="Shape 4"/>
          <p:cNvSpPr txBox="1"/>
          <p:nvPr/>
        </p:nvSpPr>
        <p:spPr>
          <a:xfrm>
            <a:off x="685800" y="1675638"/>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5"/>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6"/>
              </a:rPr>
              <a:t xml:space="preserve">Quiz →</a:t>
            </a:r>
            <a:endParaRPr lang="en-US" sz="1800" dirty="0"/>
          </a:p>
        </p:txBody>
      </p:sp>
      <p:sp>
        <p:nvSpPr>
          <p:cNvPr id="5" name="Shape 5"/>
          <p:cNvSpPr txBox="1"/>
          <p:nvPr/>
        </p:nvSpPr>
        <p:spPr>
          <a:xfrm>
            <a:off x="685800" y="2176272"/>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IEP pages have 3 answer choices, 6 homework and quiz questions, a reminder card and read-aloud. Allow notes and a calculator, and give extended time as the IEP lists.</a:t>
            </a:r>
            <a:endParaRPr lang="en-US" sz="1575"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28</a:t>
            </a:fld>
          </a:p>
        </p:txBody>
      </p:sp>
    </p:spTree>
  </p:cSld>
  <p:clrMapOvr>
    <a:masterClrMapping/>
  </p:clrMapOvr>
  <p:transition spd="med">
    <p:fade/>
  </p:transition>
</p:sld>
</file>

<file path=ppt/theme/theme1.xml><?xml version="1.0" encoding="utf-8"?>
<a:theme xmlns:a="http://schemas.openxmlformats.org/drawingml/2006/main" name="Vertical and Horizontal Transformations of Linear Function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Microsoft Office PowerPoint</Application>
  <Slides>28</Slides>
  <Notes>28</Notes>
</Properties>
</file>

<file path=docProps/core.xml><?xml version="1.0" encoding="utf-8"?>
<cp:coreProperties xmlns:cp="http://schemas.openxmlformats.org/package/2006/metadata/core-properties" xmlns:dc="http://purl.org/dc/elements/1.1/">
  <dc:title>Vertical and Horizontal Transformations of Linear Functions</dc:title>
  <dc:subject>Bluebonnet Algebra I</dc:subject>
</cp:coreProperties>
</file>