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2: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Monday, October 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5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Think aloud about inside versus outside before naming the direction. Each click moves one point: right 7 on the left graph, down 4 on the right. For f(x) = x both give a line parallel to f(x).</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Compare with j(x) + 4 = 2x + 3: left 4 and up 4 are not the same for this line.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Monday, October 26.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Tuesday, October 27.</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the division for every pair, not just the first one.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Tuesday, October 27.</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5-homework-IEP.html" TargetMode="External"/><Relationship Id="rId4" Type="http://schemas.openxmlformats.org/officeDocument/2006/relationships/hyperlink" Target="https://algebra1m2u1l4.vercel.app/IEP/lesson5-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hyperlink" Target="https://algebra1m2u1l4.vercel.app/IEP/t2-lesson2-bellwork-day1-IEP.html" TargetMode="External"/><Relationship Id="rId4" Type="http://schemas.openxmlformats.org/officeDocument/2006/relationships/hyperlink" Target="https://algebra1m2u1l4.vercel.app/IEP/t2-lesson2-bellwork-day2-IEP.html" TargetMode="External"/><Relationship Id="rId5" Type="http://schemas.openxmlformats.org/officeDocument/2006/relationships/hyperlink" Target="https://algebra1m2u1l4.vercel.app/IEP/t2-lesson2-homework-IEP.html" TargetMode="External"/><Relationship Id="rId6" Type="http://schemas.openxmlformats.org/officeDocument/2006/relationships/hyperlink" Target="https://algebra1m2u1l4.vercel.app/IEP/t2-lesson2-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2 · IEP Version</a:t>
            </a:r>
            <a:endParaRPr lang="en-US" sz="1200" dirty="0"/>
          </a:p>
        </p:txBody>
      </p:sp>
      <p:sp>
        <p:nvSpPr>
          <p:cNvPr id="3" name="Shape 3"/>
          <p:cNvSpPr txBox="1"/>
          <p:nvPr/>
        </p:nvSpPr>
        <p:spPr>
          <a:xfrm>
            <a:off x="685800" y="961644"/>
            <a:ext cx="10820095" cy="14264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Horizontal and Vertical Transformations</a:t>
            </a:r>
            <a:endParaRPr lang="en-US" sz="4500" dirty="0"/>
          </a:p>
        </p:txBody>
      </p:sp>
      <p:sp>
        <p:nvSpPr>
          <p:cNvPr id="4" name="Shape 4"/>
          <p:cNvSpPr txBox="1"/>
          <p:nvPr/>
        </p:nvSpPr>
        <p:spPr>
          <a:xfrm>
            <a:off x="685800" y="25595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Mon, Oct 26 · Day 2: Tue, Oct 27</a:t>
            </a:r>
            <a:endParaRPr lang="en-US" sz="1650" dirty="0"/>
          </a:p>
        </p:txBody>
      </p:sp>
      <p:sp>
        <p:nvSpPr>
          <p:cNvPr id="5" name="Shape 5"/>
          <p:cNvSpPr txBox="1"/>
          <p:nvPr/>
        </p:nvSpPr>
        <p:spPr>
          <a:xfrm>
            <a:off x="685800" y="31668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c</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f</a:t>
            </a:r>
            <a:r>
              <a:rPr lang="en-US" sz="2850" dirty="0">
                <a:solidFill>
                  <a:srgbClr val="16171D"/>
                </a:solidFill>
                <a:latin typeface="Cambria"/>
                <a:cs typeface="Cambria"/>
              </a:rPr>
              <a:t xml:space="preserve">(</a:t>
            </a:r>
            <a:r>
              <a:rPr lang="en-US" sz="2850" dirty="0" b="1" i="1">
                <a:solidFill>
                  <a:srgbClr val="C9561F"/>
                </a:solidFill>
                <a:latin typeface="Cambria"/>
                <a:cs typeface="Cambria"/>
              </a:rPr>
              <a:t xml:space="preserve">b</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9037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44500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tell whether a change moves the graph left/right or up/down.</a:t>
            </a:r>
            <a:endParaRPr lang="en-US" sz="1950" dirty="0"/>
          </a:p>
        </p:txBody>
      </p:sp>
      <p:sp>
        <p:nvSpPr>
          <p:cNvPr id="8" name="Shape 8"/>
          <p:cNvSpPr txBox="1"/>
          <p:nvPr/>
        </p:nvSpPr>
        <p:spPr>
          <a:xfrm>
            <a:off x="685800" y="49735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c</a:t>
            </a:r>
            <a:r>
              <a:rPr lang="en-US" sz="1950" dirty="0">
                <a:solidFill>
                  <a:srgbClr val="16171D"/>
                </a:solidFill>
                <a:latin typeface="Segoe UI"/>
                <a:cs typeface="Segoe UI"/>
              </a:rPr>
              <a:t xml:space="preserve">) for a move right or left.</a:t>
            </a:r>
            <a:endParaRPr lang="en-US" sz="1950" dirty="0"/>
          </a:p>
        </p:txBody>
      </p:sp>
      <p:sp>
        <p:nvSpPr>
          <p:cNvPr id="9" name="Shape 9"/>
          <p:cNvSpPr txBox="1"/>
          <p:nvPr/>
        </p:nvSpPr>
        <p:spPr>
          <a:xfrm>
            <a:off x="685800" y="54970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simplify a transformed function like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a:t>
            </a:r>
            <a:endParaRPr lang="en-US" sz="1950" dirty="0"/>
          </a:p>
        </p:txBody>
      </p:sp>
      <p:sp>
        <p:nvSpPr>
          <p:cNvPr id="10" name="Shape 10"/>
          <p:cNvSpPr txBox="1"/>
          <p:nvPr/>
        </p:nvSpPr>
        <p:spPr>
          <a:xfrm>
            <a:off x="685800" y="60777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Monday, October 26</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(Slope and y-intercept from any form) → Lesson 2,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Mon, Oct 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How does the graph move?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outside: + moves up, − moves down</a:t>
            </a:r>
            <a:endParaRPr lang="en-US" sz="1575" dirty="0"/>
          </a:p>
        </p:txBody>
      </p:sp>
      <p:sp>
        <p:nvSpPr>
          <p:cNvPr id="6" name="Shape 6"/>
          <p:cNvSpPr txBox="1"/>
          <p:nvPr/>
        </p:nvSpPr>
        <p:spPr>
          <a:xfrm>
            <a:off x="895350" y="269595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3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The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is outside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so the graph moves up or down.</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Minus means down: down 3 units.</a:t>
            </a:r>
            <a:endParaRPr lang="en-US" sz="1425" dirty="0"/>
          </a:p>
        </p:txBody>
      </p:sp>
      <p:sp>
        <p:nvSpPr>
          <p:cNvPr id="11" name="Shape 11"/>
          <p:cNvSpPr txBox="1"/>
          <p:nvPr/>
        </p:nvSpPr>
        <p:spPr>
          <a:xfrm>
            <a:off x="685800" y="4034028"/>
            <a:ext cx="5295748" cy="18249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r>
              <a:rPr lang="en-US" sz="1575" dirty="0">
                <a:solidFill>
                  <a:srgbClr val="16171D"/>
                </a:solidFill>
                <a:latin typeface="Segoe UI"/>
                <a:cs typeface="Segoe UI"/>
              </a:rPr>
              <a:t xml:space="preserve">, slope </a:t>
            </a:r>
            <a:r>
              <a:rPr lang="en-US" sz="1575" dirty="0" i="1">
                <a:solidFill>
                  <a:srgbClr val="16171D"/>
                </a:solidFill>
                <a:latin typeface="Cambria"/>
                <a:cs typeface="Cambria"/>
              </a:rPr>
              <a:t xml:space="preserve">m</a:t>
            </a:r>
            <a:endParaRPr lang="en-US" sz="1575" dirty="0"/>
          </a:p>
        </p:txBody>
      </p:sp>
      <p:sp>
        <p:nvSpPr>
          <p:cNvPr id="10" name="Shape 10"/>
          <p:cNvSpPr txBox="1"/>
          <p:nvPr/>
        </p:nvSpPr>
        <p:spPr>
          <a:xfrm>
            <a:off x="895350" y="4871466"/>
            <a:ext cx="3964187"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Match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to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m</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m</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so the slope is 3.</a:t>
            </a:r>
            <a:endParaRPr lang="en-US" sz="1425" dirty="0"/>
          </a:p>
        </p:txBody>
      </p:sp>
      <p:sp>
        <p:nvSpPr>
          <p:cNvPr id="15" name="Shape 15"/>
          <p:cNvSpPr txBox="1"/>
          <p:nvPr/>
        </p:nvSpPr>
        <p:spPr>
          <a:xfrm>
            <a:off x="6210148" y="1618488"/>
            <a:ext cx="5295748" cy="22593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of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-intercept: set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and solve</a:t>
            </a:r>
            <a:endParaRPr lang="en-US" sz="1575" dirty="0"/>
          </a:p>
        </p:txBody>
      </p:sp>
      <p:sp>
        <p:nvSpPr>
          <p:cNvPr id="14" name="Shape 14"/>
          <p:cNvSpPr txBox="1"/>
          <p:nvPr/>
        </p:nvSpPr>
        <p:spPr>
          <a:xfrm>
            <a:off x="6419698" y="245592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(8/3, 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0</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Add 8 to both sides: </a:t>
            </a:r>
            <a:r>
              <a:rPr lang="en-US" sz="1425" dirty="0">
                <a:solidFill>
                  <a:srgbClr val="16171D"/>
                </a:solidFill>
                <a:latin typeface="Cambria"/>
                <a:cs typeface="Cambria"/>
              </a:rPr>
              <a:t xml:space="preserve">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both sides by 3: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8/3</a:t>
            </a:r>
            <a:r>
              <a:rPr lang="en-US" sz="1425" dirty="0">
                <a:solidFill>
                  <a:srgbClr val="16171D"/>
                </a:solidFill>
                <a:latin typeface="Segoe UI"/>
                <a:cs typeface="Segoe UI"/>
              </a:rPr>
              <a:t xml:space="preserve">. The point is </a:t>
            </a:r>
            <a:r>
              <a:rPr lang="en-US" sz="1425" dirty="0">
                <a:solidFill>
                  <a:srgbClr val="16171D"/>
                </a:solidFill>
                <a:latin typeface="Cambria"/>
                <a:cs typeface="Cambria"/>
              </a:rPr>
              <a:t xml:space="preserve">(8/3, 0)</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11168"/>
            <a:ext cx="5295748" cy="24993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18261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Which is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in slope-intercept form?</a:t>
            </a:r>
            <a:endParaRPr lang="en-US" sz="1575" dirty="0"/>
          </a:p>
        </p:txBody>
      </p:sp>
      <p:sp>
        <p:nvSpPr>
          <p:cNvPr id="17" name="Shape 17"/>
          <p:cNvSpPr txBox="1"/>
          <p:nvPr/>
        </p:nvSpPr>
        <p:spPr>
          <a:xfrm>
            <a:off x="6419698" y="475564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replace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with </a:t>
            </a:r>
            <a:r>
              <a:rPr lang="en-US" sz="1575" dirty="0" i="1">
                <a:solidFill>
                  <a:srgbClr val="16171D"/>
                </a:solidFill>
                <a:latin typeface="Cambria"/>
                <a:cs typeface="Cambria"/>
              </a:rPr>
              <a:t xml:space="preserve">x</a:t>
            </a:r>
            <a:endParaRPr lang="en-US" sz="1575" dirty="0"/>
          </a:p>
        </p:txBody>
      </p:sp>
      <p:sp>
        <p:nvSpPr>
          <p:cNvPr id="18" name="Shape 18"/>
          <p:cNvSpPr txBox="1"/>
          <p:nvPr/>
        </p:nvSpPr>
        <p:spPr>
          <a:xfrm>
            <a:off x="6419698" y="508863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Slope 2 (dilation by 2),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-intercept </a:t>
            </a:r>
            <a:r>
              <a:rPr lang="en-US" sz="1425" dirty="0">
                <a:solidFill>
                  <a:srgbClr val="16171D"/>
                </a:solidFill>
                <a:latin typeface="Cambria"/>
                <a:cs typeface="Cambria"/>
              </a:rPr>
              <a:t xml:space="preserve">−3</a:t>
            </a:r>
            <a:r>
              <a:rPr lang="en-US" sz="1425" dirty="0">
                <a:solidFill>
                  <a:srgbClr val="16171D"/>
                </a:solidFill>
                <a:latin typeface="Segoe UI"/>
                <a:cs typeface="Segoe UI"/>
              </a:rPr>
              <a:t xml:space="preserve"> (down 3).</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Mon, Oct 26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5: Slope and y-intercept from any form</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2 rewrites f(x − c) in slope-intercept form, so you must read the slope and intercept from any form.</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5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Which form?</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 I start?</a:t>
            </a:r>
            <a:endParaRPr lang="en-US" sz="3450" dirty="0"/>
          </a:p>
        </p:txBody>
      </p:sp>
      <p:sp>
        <p:nvSpPr>
          <p:cNvPr id="6" name="Shape 6"/>
          <p:cNvSpPr txBox="1"/>
          <p:nvPr/>
        </p:nvSpPr>
        <p:spPr>
          <a:xfrm>
            <a:off x="685800"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Count the slope.</a:t>
            </a:r>
            <a:endParaRPr lang="en-US" sz="1575" dirty="0"/>
          </a:p>
        </p:txBody>
      </p:sp>
      <p:sp>
        <p:nvSpPr>
          <p:cNvPr id="9" name="Shape 9"/>
          <p:cNvSpPr txBox="1"/>
          <p:nvPr/>
        </p:nvSpPr>
        <p:spPr>
          <a:xfrm>
            <a:off x="4349648"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Count the slope.</a:t>
            </a:r>
            <a:endParaRPr lang="en-US" sz="1575" dirty="0"/>
          </a:p>
        </p:txBody>
      </p:sp>
      <p:sp>
        <p:nvSpPr>
          <p:cNvPr id="12" name="Shape 12"/>
          <p:cNvSpPr txBox="1"/>
          <p:nvPr/>
        </p:nvSpPr>
        <p:spPr>
          <a:xfrm>
            <a:off x="8013497" y="1618488"/>
            <a:ext cx="34923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Ax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C</a:t>
            </a:r>
            <a:endParaRPr lang="en-US" sz="2100" dirty="0"/>
          </a:p>
        </p:txBody>
      </p:sp>
      <p:sp>
        <p:nvSpPr>
          <p:cNvPr id="11" name="Shape 11"/>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Find both intercepts. Connect them.</a:t>
            </a:r>
            <a:endParaRPr lang="en-US" sz="157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5 · 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6" name="Shape 6"/>
          <p:cNvSpPr txBox="1"/>
          <p:nvPr/>
        </p:nvSpPr>
        <p:spPr>
          <a:xfrm>
            <a:off x="685800" y="1618488"/>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a:t>
            </a:r>
            <a:endParaRPr lang="en-US" sz="1950" dirty="0"/>
          </a:p>
        </p:txBody>
      </p:sp>
      <p:sp>
        <p:nvSpPr>
          <p:cNvPr id="5" name="Shape 5"/>
          <p:cNvSpPr txBox="1"/>
          <p:nvPr/>
        </p:nvSpPr>
        <p:spPr>
          <a:xfrm>
            <a:off x="895350" y="223723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9" name="Shape 9"/>
          <p:cNvSpPr txBox="1"/>
          <p:nvPr/>
        </p:nvSpPr>
        <p:spPr>
          <a:xfrm>
            <a:off x="685800" y="3060954"/>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3232404"/>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8.</a:t>
            </a:r>
            <a:endParaRPr lang="en-US" sz="1950" dirty="0"/>
          </a:p>
        </p:txBody>
      </p:sp>
      <p:sp>
        <p:nvSpPr>
          <p:cNvPr id="8" name="Shape 8"/>
          <p:cNvSpPr txBox="1"/>
          <p:nvPr/>
        </p:nvSpPr>
        <p:spPr>
          <a:xfrm>
            <a:off x="895350" y="367969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(8, 0) and (0, 4)</a:t>
            </a:r>
            <a:endParaRPr lang="en-US" sz="2325" dirty="0"/>
          </a:p>
        </p:txBody>
      </p:sp>
      <p:sp>
        <p:nvSpPr>
          <p:cNvPr id="12" name="Shape 12"/>
          <p:cNvSpPr txBox="1"/>
          <p:nvPr/>
        </p:nvSpPr>
        <p:spPr>
          <a:xfrm>
            <a:off x="685800" y="4503420"/>
            <a:ext cx="10820095"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95350" y="4674870"/>
            <a:ext cx="104009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Name the point and slope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95350" y="5122164"/>
            <a:ext cx="556124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point (−3, 1), slope 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Inside</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input: left or right.</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Outside</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Changes the output: up or down.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Sign flip</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moves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 and plus moves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 left 5</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2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does it move?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Look for the number. Is it </a:t>
            </a:r>
            <a:r>
              <a:rPr lang="en-US" sz="1950" dirty="0" b="1">
                <a:solidFill>
                  <a:srgbClr val="16171D"/>
                </a:solidFill>
                <a:latin typeface="Segoe UI"/>
                <a:cs typeface="Segoe UI"/>
              </a:rPr>
              <a:t xml:space="preserve">inside</a:t>
            </a:r>
            <a:r>
              <a:rPr lang="en-US" sz="1950" dirty="0">
                <a:solidFill>
                  <a:srgbClr val="16171D"/>
                </a:solidFill>
                <a:latin typeface="Segoe UI"/>
                <a:cs typeface="Segoe UI"/>
              </a:rPr>
              <a:t xml:space="preserve"> the parentheses with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or </a:t>
            </a:r>
            <a:r>
              <a:rPr lang="en-US" sz="1950" dirty="0" b="1">
                <a:solidFill>
                  <a:srgbClr val="16171D"/>
                </a:solidFill>
                <a:latin typeface="Segoe UI"/>
                <a:cs typeface="Segoe UI"/>
              </a:rPr>
              <a:t xml:space="preserve">outside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Outside: + is up, − is down.</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Inside: − is right, + is left (the sign flips).</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To simplify, put the inside into the rule and distribute.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− 7) and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58" name="Shape 58"/>
          <p:cNvSpPr txBox="1"/>
          <p:nvPr/>
        </p:nvSpPr>
        <p:spPr>
          <a:xfrm>
            <a:off x="685800"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− 7)</a:t>
            </a:r>
            <a:endParaRPr lang="en-US" sz="2100" dirty="0"/>
          </a:p>
        </p:txBody>
      </p:sp>
      <p:sp>
        <p:nvSpPr>
          <p:cNvPr id="5" name="Shape 5"/>
          <p:cNvSpPr txBox="1"/>
          <p:nvPr/>
        </p:nvSpPr>
        <p:spPr>
          <a:xfrm>
            <a:off x="895350"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Inside, minus → </a:t>
            </a:r>
            <a:r>
              <a:rPr lang="en-US" sz="1575" dirty="0" b="1">
                <a:solidFill>
                  <a:srgbClr val="16171D"/>
                </a:solidFill>
                <a:latin typeface="Segoe UI"/>
                <a:cs typeface="Segoe UI"/>
              </a:rPr>
              <a:t xml:space="preserve">right 7</a:t>
            </a:r>
            <a:r>
              <a:rPr lang="en-US" sz="1575" dirty="0">
                <a:solidFill>
                  <a:srgbClr val="16171D"/>
                </a:solidFill>
                <a:latin typeface="Segoe UI"/>
                <a:cs typeface="Segoe UI"/>
              </a:rPr>
              <a:t xml:space="preserve">: each point moves 7 to the right.</a:t>
            </a:r>
            <a:endParaRPr lang="en-US" sz="1575" dirty="0"/>
          </a:p>
        </p:txBody>
      </p:sp>
      <p:sp>
        <p:nvSpPr>
          <p:cNvPr id="6" name="Shape 6"/>
          <p:cNvSpPr/>
          <p:nvPr/>
        </p:nvSpPr>
        <p:spPr>
          <a:xfrm>
            <a:off x="895350"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219200" y="3004566"/>
            <a:ext cx="0" cy="2019300"/>
          </a:xfrm>
          <a:prstGeom prst="line">
            <a:avLst/>
          </a:prstGeom>
          <a:ln w="9525" cap="flat">
            <a:solidFill>
              <a:srgbClr val="E6E8F2"/>
            </a:solidFill>
          </a:ln>
        </p:spPr>
      </p:cxnSp>
      <p:cxnSp>
        <p:nvCxnSpPr>
          <p:cNvPr id="8" name="Line 8"/>
          <p:cNvCxnSpPr/>
          <p:nvPr/>
        </p:nvCxnSpPr>
        <p:spPr>
          <a:xfrm>
            <a:off x="1444625" y="3004566"/>
            <a:ext cx="0" cy="2019300"/>
          </a:xfrm>
          <a:prstGeom prst="line">
            <a:avLst/>
          </a:prstGeom>
          <a:ln w="9525" cap="flat">
            <a:solidFill>
              <a:srgbClr val="E6E8F2"/>
            </a:solidFill>
          </a:ln>
        </p:spPr>
      </p:cxnSp>
      <p:cxnSp>
        <p:nvCxnSpPr>
          <p:cNvPr id="9" name="Line 9"/>
          <p:cNvCxnSpPr/>
          <p:nvPr/>
        </p:nvCxnSpPr>
        <p:spPr>
          <a:xfrm>
            <a:off x="1670050" y="3004566"/>
            <a:ext cx="0" cy="2019300"/>
          </a:xfrm>
          <a:prstGeom prst="line">
            <a:avLst/>
          </a:prstGeom>
          <a:ln w="9525" cap="flat">
            <a:solidFill>
              <a:srgbClr val="E6E8F2"/>
            </a:solidFill>
          </a:ln>
        </p:spPr>
      </p:cxnSp>
      <p:cxnSp>
        <p:nvCxnSpPr>
          <p:cNvPr id="10" name="Line 10"/>
          <p:cNvCxnSpPr/>
          <p:nvPr/>
        </p:nvCxnSpPr>
        <p:spPr>
          <a:xfrm>
            <a:off x="1895475" y="3004566"/>
            <a:ext cx="0" cy="2019300"/>
          </a:xfrm>
          <a:prstGeom prst="line">
            <a:avLst/>
          </a:prstGeom>
          <a:ln w="9525" cap="flat">
            <a:solidFill>
              <a:srgbClr val="E6E8F2"/>
            </a:solidFill>
          </a:ln>
        </p:spPr>
      </p:cxnSp>
      <p:cxnSp>
        <p:nvCxnSpPr>
          <p:cNvPr id="11" name="Line 11"/>
          <p:cNvCxnSpPr/>
          <p:nvPr/>
        </p:nvCxnSpPr>
        <p:spPr>
          <a:xfrm>
            <a:off x="2120900" y="3004566"/>
            <a:ext cx="0" cy="2019300"/>
          </a:xfrm>
          <a:prstGeom prst="line">
            <a:avLst/>
          </a:prstGeom>
          <a:ln w="9525" cap="flat">
            <a:solidFill>
              <a:srgbClr val="E6E8F2"/>
            </a:solidFill>
          </a:ln>
        </p:spPr>
      </p:cxnSp>
      <p:cxnSp>
        <p:nvCxnSpPr>
          <p:cNvPr id="12" name="Line 12"/>
          <p:cNvCxnSpPr/>
          <p:nvPr/>
        </p:nvCxnSpPr>
        <p:spPr>
          <a:xfrm>
            <a:off x="2346325" y="3004566"/>
            <a:ext cx="0" cy="2019300"/>
          </a:xfrm>
          <a:prstGeom prst="line">
            <a:avLst/>
          </a:prstGeom>
          <a:ln w="9525" cap="flat">
            <a:solidFill>
              <a:srgbClr val="E6E8F2"/>
            </a:solidFill>
          </a:ln>
        </p:spPr>
      </p:cxnSp>
      <p:cxnSp>
        <p:nvCxnSpPr>
          <p:cNvPr id="13" name="Line 13"/>
          <p:cNvCxnSpPr/>
          <p:nvPr/>
        </p:nvCxnSpPr>
        <p:spPr>
          <a:xfrm>
            <a:off x="2571750" y="3004566"/>
            <a:ext cx="0" cy="2019300"/>
          </a:xfrm>
          <a:prstGeom prst="line">
            <a:avLst/>
          </a:prstGeom>
          <a:ln w="9525" cap="flat">
            <a:solidFill>
              <a:srgbClr val="E6E8F2"/>
            </a:solidFill>
          </a:ln>
        </p:spPr>
      </p:cxnSp>
      <p:cxnSp>
        <p:nvCxnSpPr>
          <p:cNvPr id="14" name="Line 14"/>
          <p:cNvCxnSpPr/>
          <p:nvPr/>
        </p:nvCxnSpPr>
        <p:spPr>
          <a:xfrm>
            <a:off x="2797175" y="3004566"/>
            <a:ext cx="0" cy="2019300"/>
          </a:xfrm>
          <a:prstGeom prst="line">
            <a:avLst/>
          </a:prstGeom>
          <a:ln w="9525" cap="flat">
            <a:solidFill>
              <a:srgbClr val="E6E8F2"/>
            </a:solidFill>
          </a:ln>
        </p:spPr>
      </p:cxnSp>
      <p:cxnSp>
        <p:nvCxnSpPr>
          <p:cNvPr id="15" name="Line 15"/>
          <p:cNvCxnSpPr/>
          <p:nvPr/>
        </p:nvCxnSpPr>
        <p:spPr>
          <a:xfrm>
            <a:off x="3022600" y="3004566"/>
            <a:ext cx="0" cy="2019300"/>
          </a:xfrm>
          <a:prstGeom prst="line">
            <a:avLst/>
          </a:prstGeom>
          <a:ln w="9525" cap="flat">
            <a:solidFill>
              <a:srgbClr val="E6E8F2"/>
            </a:solidFill>
          </a:ln>
        </p:spPr>
      </p:cxnSp>
      <p:cxnSp>
        <p:nvCxnSpPr>
          <p:cNvPr id="16" name="Line 16"/>
          <p:cNvCxnSpPr/>
          <p:nvPr/>
        </p:nvCxnSpPr>
        <p:spPr>
          <a:xfrm>
            <a:off x="3248025" y="3004566"/>
            <a:ext cx="0" cy="2019300"/>
          </a:xfrm>
          <a:prstGeom prst="line">
            <a:avLst/>
          </a:prstGeom>
          <a:ln w="9525" cap="flat">
            <a:solidFill>
              <a:srgbClr val="E6E8F2"/>
            </a:solidFill>
          </a:ln>
        </p:spPr>
      </p:cxnSp>
      <p:cxnSp>
        <p:nvCxnSpPr>
          <p:cNvPr id="17" name="Line 17"/>
          <p:cNvCxnSpPr/>
          <p:nvPr/>
        </p:nvCxnSpPr>
        <p:spPr>
          <a:xfrm>
            <a:off x="3473450" y="3004566"/>
            <a:ext cx="0" cy="2019300"/>
          </a:xfrm>
          <a:prstGeom prst="line">
            <a:avLst/>
          </a:prstGeom>
          <a:ln w="9525" cap="flat">
            <a:solidFill>
              <a:srgbClr val="E6E8F2"/>
            </a:solidFill>
          </a:ln>
        </p:spPr>
      </p:cxnSp>
      <p:cxnSp>
        <p:nvCxnSpPr>
          <p:cNvPr id="18" name="Line 18"/>
          <p:cNvCxnSpPr/>
          <p:nvPr/>
        </p:nvCxnSpPr>
        <p:spPr>
          <a:xfrm>
            <a:off x="3698875" y="3004566"/>
            <a:ext cx="0" cy="2019300"/>
          </a:xfrm>
          <a:prstGeom prst="line">
            <a:avLst/>
          </a:prstGeom>
          <a:ln w="9525" cap="flat">
            <a:solidFill>
              <a:srgbClr val="E6E8F2"/>
            </a:solidFill>
          </a:ln>
        </p:spPr>
      </p:cxnSp>
      <p:cxnSp>
        <p:nvCxnSpPr>
          <p:cNvPr id="19" name="Line 19"/>
          <p:cNvCxnSpPr/>
          <p:nvPr/>
        </p:nvCxnSpPr>
        <p:spPr>
          <a:xfrm>
            <a:off x="3924300" y="3004566"/>
            <a:ext cx="0" cy="2019300"/>
          </a:xfrm>
          <a:prstGeom prst="line">
            <a:avLst/>
          </a:prstGeom>
          <a:ln w="9525" cap="flat">
            <a:solidFill>
              <a:srgbClr val="E6E8F2"/>
            </a:solidFill>
          </a:ln>
        </p:spPr>
      </p:cxnSp>
      <p:cxnSp>
        <p:nvCxnSpPr>
          <p:cNvPr id="20" name="Line 20"/>
          <p:cNvCxnSpPr/>
          <p:nvPr/>
        </p:nvCxnSpPr>
        <p:spPr>
          <a:xfrm>
            <a:off x="1219200" y="5023866"/>
            <a:ext cx="2705100" cy="0"/>
          </a:xfrm>
          <a:prstGeom prst="line">
            <a:avLst/>
          </a:prstGeom>
          <a:ln w="9525" cap="flat">
            <a:solidFill>
              <a:srgbClr val="E6E8F2"/>
            </a:solidFill>
          </a:ln>
        </p:spPr>
      </p:cxnSp>
      <p:cxnSp>
        <p:nvCxnSpPr>
          <p:cNvPr id="21" name="Line 21"/>
          <p:cNvCxnSpPr/>
          <p:nvPr/>
        </p:nvCxnSpPr>
        <p:spPr>
          <a:xfrm>
            <a:off x="1219200" y="4735395"/>
            <a:ext cx="2705100" cy="0"/>
          </a:xfrm>
          <a:prstGeom prst="line">
            <a:avLst/>
          </a:prstGeom>
          <a:ln w="9525" cap="flat">
            <a:solidFill>
              <a:srgbClr val="E6E8F2"/>
            </a:solidFill>
          </a:ln>
        </p:spPr>
      </p:cxnSp>
      <p:cxnSp>
        <p:nvCxnSpPr>
          <p:cNvPr id="22" name="Line 22"/>
          <p:cNvCxnSpPr/>
          <p:nvPr/>
        </p:nvCxnSpPr>
        <p:spPr>
          <a:xfrm>
            <a:off x="1219200" y="4446923"/>
            <a:ext cx="2705100" cy="0"/>
          </a:xfrm>
          <a:prstGeom prst="line">
            <a:avLst/>
          </a:prstGeom>
          <a:ln w="9525" cap="flat">
            <a:solidFill>
              <a:srgbClr val="E6E8F2"/>
            </a:solidFill>
          </a:ln>
        </p:spPr>
      </p:cxnSp>
      <p:cxnSp>
        <p:nvCxnSpPr>
          <p:cNvPr id="23" name="Line 23"/>
          <p:cNvCxnSpPr/>
          <p:nvPr/>
        </p:nvCxnSpPr>
        <p:spPr>
          <a:xfrm>
            <a:off x="1219200" y="4158452"/>
            <a:ext cx="2705100" cy="0"/>
          </a:xfrm>
          <a:prstGeom prst="line">
            <a:avLst/>
          </a:prstGeom>
          <a:ln w="9525" cap="flat">
            <a:solidFill>
              <a:srgbClr val="E6E8F2"/>
            </a:solidFill>
          </a:ln>
        </p:spPr>
      </p:cxnSp>
      <p:cxnSp>
        <p:nvCxnSpPr>
          <p:cNvPr id="24" name="Line 24"/>
          <p:cNvCxnSpPr/>
          <p:nvPr/>
        </p:nvCxnSpPr>
        <p:spPr>
          <a:xfrm>
            <a:off x="1219200" y="3869980"/>
            <a:ext cx="2705100" cy="0"/>
          </a:xfrm>
          <a:prstGeom prst="line">
            <a:avLst/>
          </a:prstGeom>
          <a:ln w="9525" cap="flat">
            <a:solidFill>
              <a:srgbClr val="E6E8F2"/>
            </a:solidFill>
          </a:ln>
        </p:spPr>
      </p:cxnSp>
      <p:cxnSp>
        <p:nvCxnSpPr>
          <p:cNvPr id="25" name="Line 25"/>
          <p:cNvCxnSpPr/>
          <p:nvPr/>
        </p:nvCxnSpPr>
        <p:spPr>
          <a:xfrm>
            <a:off x="1219200" y="3581509"/>
            <a:ext cx="2705100" cy="0"/>
          </a:xfrm>
          <a:prstGeom prst="line">
            <a:avLst/>
          </a:prstGeom>
          <a:ln w="9525" cap="flat">
            <a:solidFill>
              <a:srgbClr val="E6E8F2"/>
            </a:solidFill>
          </a:ln>
        </p:spPr>
      </p:cxnSp>
      <p:cxnSp>
        <p:nvCxnSpPr>
          <p:cNvPr id="26" name="Line 26"/>
          <p:cNvCxnSpPr/>
          <p:nvPr/>
        </p:nvCxnSpPr>
        <p:spPr>
          <a:xfrm>
            <a:off x="1219200" y="3293037"/>
            <a:ext cx="2705100" cy="0"/>
          </a:xfrm>
          <a:prstGeom prst="line">
            <a:avLst/>
          </a:prstGeom>
          <a:ln w="9525" cap="flat">
            <a:solidFill>
              <a:srgbClr val="E6E8F2"/>
            </a:solidFill>
          </a:ln>
        </p:spPr>
      </p:cxnSp>
      <p:cxnSp>
        <p:nvCxnSpPr>
          <p:cNvPr id="27" name="Line 27"/>
          <p:cNvCxnSpPr/>
          <p:nvPr/>
        </p:nvCxnSpPr>
        <p:spPr>
          <a:xfrm>
            <a:off x="1219200" y="3004566"/>
            <a:ext cx="2705100" cy="0"/>
          </a:xfrm>
          <a:prstGeom prst="line">
            <a:avLst/>
          </a:prstGeom>
          <a:ln w="9525" cap="flat">
            <a:solidFill>
              <a:srgbClr val="E6E8F2"/>
            </a:solidFill>
          </a:ln>
        </p:spPr>
      </p:cxnSp>
      <p:cxnSp>
        <p:nvCxnSpPr>
          <p:cNvPr id="28" name="Line 28"/>
          <p:cNvCxnSpPr/>
          <p:nvPr/>
        </p:nvCxnSpPr>
        <p:spPr>
          <a:xfrm>
            <a:off x="1670050" y="3004566"/>
            <a:ext cx="0" cy="2019300"/>
          </a:xfrm>
          <a:prstGeom prst="line">
            <a:avLst/>
          </a:prstGeom>
          <a:ln w="19050" cap="flat">
            <a:solidFill>
              <a:srgbClr val="5F6272"/>
            </a:solidFill>
          </a:ln>
        </p:spPr>
      </p:cxnSp>
      <p:cxnSp>
        <p:nvCxnSpPr>
          <p:cNvPr id="29" name="Line 29"/>
          <p:cNvCxnSpPr/>
          <p:nvPr/>
        </p:nvCxnSpPr>
        <p:spPr>
          <a:xfrm>
            <a:off x="1219200" y="4158452"/>
            <a:ext cx="2705100" cy="0"/>
          </a:xfrm>
          <a:prstGeom prst="line">
            <a:avLst/>
          </a:prstGeom>
          <a:ln w="19050" cap="flat">
            <a:solidFill>
              <a:srgbClr val="5F6272"/>
            </a:solidFill>
          </a:ln>
        </p:spPr>
      </p:cxnSp>
      <p:sp>
        <p:nvSpPr>
          <p:cNvPr id="30" name="Shape 30"/>
          <p:cNvSpPr txBox="1"/>
          <p:nvPr/>
        </p:nvSpPr>
        <p:spPr>
          <a:xfrm>
            <a:off x="9448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3957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8465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3" name="Shape 33"/>
          <p:cNvSpPr txBox="1"/>
          <p:nvPr/>
        </p:nvSpPr>
        <p:spPr>
          <a:xfrm>
            <a:off x="22974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4" name="Shape 34"/>
          <p:cNvSpPr txBox="1"/>
          <p:nvPr/>
        </p:nvSpPr>
        <p:spPr>
          <a:xfrm>
            <a:off x="27482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5" name="Shape 35"/>
          <p:cNvSpPr txBox="1"/>
          <p:nvPr/>
        </p:nvSpPr>
        <p:spPr>
          <a:xfrm>
            <a:off x="319913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6" name="Shape 36"/>
          <p:cNvSpPr txBox="1"/>
          <p:nvPr/>
        </p:nvSpPr>
        <p:spPr>
          <a:xfrm>
            <a:off x="3649980"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37" name="Shape 37"/>
          <p:cNvSpPr txBox="1"/>
          <p:nvPr/>
        </p:nvSpPr>
        <p:spPr>
          <a:xfrm>
            <a:off x="652272" y="49324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38" name="Shape 38"/>
          <p:cNvSpPr txBox="1"/>
          <p:nvPr/>
        </p:nvSpPr>
        <p:spPr>
          <a:xfrm>
            <a:off x="652272" y="464395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652272" y="43554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652272" y="406701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652272" y="377854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2" name="Shape 42"/>
          <p:cNvSpPr txBox="1"/>
          <p:nvPr/>
        </p:nvSpPr>
        <p:spPr>
          <a:xfrm>
            <a:off x="652272" y="3490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652272" y="32015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4" name="Shape 44"/>
          <p:cNvSpPr txBox="1"/>
          <p:nvPr/>
        </p:nvSpPr>
        <p:spPr>
          <a:xfrm>
            <a:off x="652272"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45" name="Line 45"/>
          <p:cNvCxnSpPr/>
          <p:nvPr/>
        </p:nvCxnSpPr>
        <p:spPr>
          <a:xfrm flipV="1">
            <a:off x="1219200" y="3004566"/>
            <a:ext cx="1352550" cy="1730829"/>
          </a:xfrm>
          <a:prstGeom prst="line">
            <a:avLst/>
          </a:prstGeom>
          <a:ln w="38100" cap="rnd">
            <a:solidFill>
              <a:srgbClr val="16171D"/>
            </a:solidFill>
          </a:ln>
        </p:spPr>
      </p:cxnSp>
      <p:sp>
        <p:nvSpPr>
          <p:cNvPr id="46" name="Shape 46"/>
          <p:cNvSpPr txBox="1"/>
          <p:nvPr/>
        </p:nvSpPr>
        <p:spPr>
          <a:xfrm>
            <a:off x="80010"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47" name="Line 47"/>
          <p:cNvCxnSpPr/>
          <p:nvPr/>
        </p:nvCxnSpPr>
        <p:spPr>
          <a:xfrm>
            <a:off x="1670050" y="4158452"/>
            <a:ext cx="1577975" cy="0"/>
          </a:xfrm>
          <a:prstGeom prst="line">
            <a:avLst/>
          </a:prstGeom>
          <a:ln w="38100" cap="rnd">
            <a:solidFill>
              <a:srgbClr val="7A4FC4"/>
            </a:solidFill>
            <a:prstDash val="dash"/>
          </a:ln>
        </p:spPr>
      </p:cxnSp>
      <p:sp>
        <p:nvSpPr>
          <p:cNvPr id="48" name="Shape 48"/>
          <p:cNvSpPr txBox="1"/>
          <p:nvPr/>
        </p:nvSpPr>
        <p:spPr>
          <a:xfrm>
            <a:off x="756285" y="4177502"/>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49" name="Shape 49"/>
          <p:cNvSpPr/>
          <p:nvPr/>
        </p:nvSpPr>
        <p:spPr>
          <a:xfrm>
            <a:off x="3195638"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0" name="Line 50"/>
          <p:cNvCxnSpPr/>
          <p:nvPr/>
        </p:nvCxnSpPr>
        <p:spPr>
          <a:xfrm>
            <a:off x="2120900" y="3581509"/>
            <a:ext cx="1577975" cy="0"/>
          </a:xfrm>
          <a:prstGeom prst="line">
            <a:avLst/>
          </a:prstGeom>
          <a:ln w="38100" cap="rnd">
            <a:solidFill>
              <a:srgbClr val="7A4FC4"/>
            </a:solidFill>
            <a:prstDash val="dash"/>
          </a:ln>
        </p:spPr>
      </p:cxnSp>
      <p:sp>
        <p:nvSpPr>
          <p:cNvPr id="51" name="Shape 51"/>
          <p:cNvSpPr txBox="1"/>
          <p:nvPr/>
        </p:nvSpPr>
        <p:spPr>
          <a:xfrm>
            <a:off x="1207135" y="3600559"/>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+7 →</a:t>
            </a:r>
            <a:endParaRPr lang="en-US" sz="1275" dirty="0"/>
          </a:p>
        </p:txBody>
      </p:sp>
      <p:sp>
        <p:nvSpPr>
          <p:cNvPr id="52" name="Shape 52"/>
          <p:cNvSpPr/>
          <p:nvPr/>
        </p:nvSpPr>
        <p:spPr>
          <a:xfrm>
            <a:off x="3646487"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3" name="Line 53"/>
          <p:cNvCxnSpPr/>
          <p:nvPr/>
        </p:nvCxnSpPr>
        <p:spPr>
          <a:xfrm flipV="1">
            <a:off x="2571750" y="3293037"/>
            <a:ext cx="1352550" cy="1730829"/>
          </a:xfrm>
          <a:prstGeom prst="line">
            <a:avLst/>
          </a:prstGeom>
          <a:ln w="38100" cap="rnd">
            <a:solidFill>
              <a:srgbClr val="7A4FC4"/>
            </a:solidFill>
          </a:ln>
        </p:spPr>
      </p:cxnSp>
      <p:sp>
        <p:nvSpPr>
          <p:cNvPr id="54" name="Shape 54"/>
          <p:cNvSpPr txBox="1"/>
          <p:nvPr/>
        </p:nvSpPr>
        <p:spPr>
          <a:xfrm>
            <a:off x="1432560" y="331208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55" name="Shape 55"/>
          <p:cNvSpPr/>
          <p:nvPr/>
        </p:nvSpPr>
        <p:spPr>
          <a:xfrm>
            <a:off x="1617662" y="41060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p:nvPr/>
        </p:nvSpPr>
        <p:spPr>
          <a:xfrm>
            <a:off x="2068512" y="35291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95350"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13" name="Shape 113"/>
          <p:cNvSpPr txBox="1"/>
          <p:nvPr/>
        </p:nvSpPr>
        <p:spPr>
          <a:xfrm>
            <a:off x="6286348" y="1618488"/>
            <a:ext cx="5219548" cy="44386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− 4</a:t>
            </a:r>
            <a:endParaRPr lang="en-US" sz="2100" dirty="0"/>
          </a:p>
        </p:txBody>
      </p:sp>
      <p:sp>
        <p:nvSpPr>
          <p:cNvPr id="60" name="Shape 60"/>
          <p:cNvSpPr txBox="1"/>
          <p:nvPr/>
        </p:nvSpPr>
        <p:spPr>
          <a:xfrm>
            <a:off x="6495898" y="2260092"/>
            <a:ext cx="48004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Outside, minus → </a:t>
            </a:r>
            <a:r>
              <a:rPr lang="en-US" sz="1575" dirty="0" b="1">
                <a:solidFill>
                  <a:srgbClr val="16171D"/>
                </a:solidFill>
                <a:latin typeface="Segoe UI"/>
                <a:cs typeface="Segoe UI"/>
              </a:rPr>
              <a:t xml:space="preserve">down 4</a:t>
            </a:r>
            <a:r>
              <a:rPr lang="en-US" sz="1575" dirty="0">
                <a:solidFill>
                  <a:srgbClr val="16171D"/>
                </a:solidFill>
                <a:latin typeface="Segoe UI"/>
                <a:cs typeface="Segoe UI"/>
              </a:rPr>
              <a:t xml:space="preserve">: each point moves 4 down.</a:t>
            </a:r>
            <a:endParaRPr lang="en-US" sz="1575" dirty="0"/>
          </a:p>
        </p:txBody>
      </p:sp>
      <p:sp>
        <p:nvSpPr>
          <p:cNvPr id="61" name="Shape 61"/>
          <p:cNvSpPr/>
          <p:nvPr/>
        </p:nvSpPr>
        <p:spPr>
          <a:xfrm>
            <a:off x="6495898" y="2890266"/>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2" name="Line 62"/>
          <p:cNvCxnSpPr/>
          <p:nvPr/>
        </p:nvCxnSpPr>
        <p:spPr>
          <a:xfrm>
            <a:off x="6819748" y="3004566"/>
            <a:ext cx="0" cy="2019300"/>
          </a:xfrm>
          <a:prstGeom prst="line">
            <a:avLst/>
          </a:prstGeom>
          <a:ln w="9525" cap="flat">
            <a:solidFill>
              <a:srgbClr val="E6E8F2"/>
            </a:solidFill>
          </a:ln>
        </p:spPr>
      </p:cxnSp>
      <p:cxnSp>
        <p:nvCxnSpPr>
          <p:cNvPr id="63" name="Line 63"/>
          <p:cNvCxnSpPr/>
          <p:nvPr/>
        </p:nvCxnSpPr>
        <p:spPr>
          <a:xfrm>
            <a:off x="7157885" y="3004566"/>
            <a:ext cx="0" cy="2019300"/>
          </a:xfrm>
          <a:prstGeom prst="line">
            <a:avLst/>
          </a:prstGeom>
          <a:ln w="9525" cap="flat">
            <a:solidFill>
              <a:srgbClr val="E6E8F2"/>
            </a:solidFill>
          </a:ln>
        </p:spPr>
      </p:cxnSp>
      <p:cxnSp>
        <p:nvCxnSpPr>
          <p:cNvPr id="64" name="Line 64"/>
          <p:cNvCxnSpPr/>
          <p:nvPr/>
        </p:nvCxnSpPr>
        <p:spPr>
          <a:xfrm>
            <a:off x="7496023" y="3004566"/>
            <a:ext cx="0" cy="2019300"/>
          </a:xfrm>
          <a:prstGeom prst="line">
            <a:avLst/>
          </a:prstGeom>
          <a:ln w="9525" cap="flat">
            <a:solidFill>
              <a:srgbClr val="E6E8F2"/>
            </a:solidFill>
          </a:ln>
        </p:spPr>
      </p:cxnSp>
      <p:cxnSp>
        <p:nvCxnSpPr>
          <p:cNvPr id="65" name="Line 65"/>
          <p:cNvCxnSpPr/>
          <p:nvPr/>
        </p:nvCxnSpPr>
        <p:spPr>
          <a:xfrm>
            <a:off x="7834160" y="3004566"/>
            <a:ext cx="0" cy="2019300"/>
          </a:xfrm>
          <a:prstGeom prst="line">
            <a:avLst/>
          </a:prstGeom>
          <a:ln w="9525" cap="flat">
            <a:solidFill>
              <a:srgbClr val="E6E8F2"/>
            </a:solidFill>
          </a:ln>
        </p:spPr>
      </p:cxnSp>
      <p:cxnSp>
        <p:nvCxnSpPr>
          <p:cNvPr id="66" name="Line 66"/>
          <p:cNvCxnSpPr/>
          <p:nvPr/>
        </p:nvCxnSpPr>
        <p:spPr>
          <a:xfrm>
            <a:off x="8172298" y="3004566"/>
            <a:ext cx="0" cy="2019300"/>
          </a:xfrm>
          <a:prstGeom prst="line">
            <a:avLst/>
          </a:prstGeom>
          <a:ln w="9525" cap="flat">
            <a:solidFill>
              <a:srgbClr val="E6E8F2"/>
            </a:solidFill>
          </a:ln>
        </p:spPr>
      </p:cxnSp>
      <p:cxnSp>
        <p:nvCxnSpPr>
          <p:cNvPr id="67" name="Line 67"/>
          <p:cNvCxnSpPr/>
          <p:nvPr/>
        </p:nvCxnSpPr>
        <p:spPr>
          <a:xfrm>
            <a:off x="8510435" y="3004566"/>
            <a:ext cx="0" cy="2019300"/>
          </a:xfrm>
          <a:prstGeom prst="line">
            <a:avLst/>
          </a:prstGeom>
          <a:ln w="9525" cap="flat">
            <a:solidFill>
              <a:srgbClr val="E6E8F2"/>
            </a:solidFill>
          </a:ln>
        </p:spPr>
      </p:cxnSp>
      <p:cxnSp>
        <p:nvCxnSpPr>
          <p:cNvPr id="68" name="Line 68"/>
          <p:cNvCxnSpPr/>
          <p:nvPr/>
        </p:nvCxnSpPr>
        <p:spPr>
          <a:xfrm>
            <a:off x="8848573" y="3004566"/>
            <a:ext cx="0" cy="2019300"/>
          </a:xfrm>
          <a:prstGeom prst="line">
            <a:avLst/>
          </a:prstGeom>
          <a:ln w="9525" cap="flat">
            <a:solidFill>
              <a:srgbClr val="E6E8F2"/>
            </a:solidFill>
          </a:ln>
        </p:spPr>
      </p:cxnSp>
      <p:cxnSp>
        <p:nvCxnSpPr>
          <p:cNvPr id="69" name="Line 69"/>
          <p:cNvCxnSpPr/>
          <p:nvPr/>
        </p:nvCxnSpPr>
        <p:spPr>
          <a:xfrm>
            <a:off x="9186710" y="3004566"/>
            <a:ext cx="0" cy="2019300"/>
          </a:xfrm>
          <a:prstGeom prst="line">
            <a:avLst/>
          </a:prstGeom>
          <a:ln w="9525" cap="flat">
            <a:solidFill>
              <a:srgbClr val="E6E8F2"/>
            </a:solidFill>
          </a:ln>
        </p:spPr>
      </p:cxnSp>
      <p:cxnSp>
        <p:nvCxnSpPr>
          <p:cNvPr id="70" name="Line 70"/>
          <p:cNvCxnSpPr/>
          <p:nvPr/>
        </p:nvCxnSpPr>
        <p:spPr>
          <a:xfrm>
            <a:off x="9524848" y="3004566"/>
            <a:ext cx="0" cy="2019300"/>
          </a:xfrm>
          <a:prstGeom prst="line">
            <a:avLst/>
          </a:prstGeom>
          <a:ln w="9525" cap="flat">
            <a:solidFill>
              <a:srgbClr val="E6E8F2"/>
            </a:solidFill>
          </a:ln>
        </p:spPr>
      </p:cxnSp>
      <p:cxnSp>
        <p:nvCxnSpPr>
          <p:cNvPr id="71" name="Line 71"/>
          <p:cNvCxnSpPr/>
          <p:nvPr/>
        </p:nvCxnSpPr>
        <p:spPr>
          <a:xfrm>
            <a:off x="6819748" y="5023866"/>
            <a:ext cx="2705100" cy="0"/>
          </a:xfrm>
          <a:prstGeom prst="line">
            <a:avLst/>
          </a:prstGeom>
          <a:ln w="9525" cap="flat">
            <a:solidFill>
              <a:srgbClr val="E6E8F2"/>
            </a:solidFill>
          </a:ln>
        </p:spPr>
      </p:cxnSp>
      <p:cxnSp>
        <p:nvCxnSpPr>
          <p:cNvPr id="72" name="Line 72"/>
          <p:cNvCxnSpPr/>
          <p:nvPr/>
        </p:nvCxnSpPr>
        <p:spPr>
          <a:xfrm>
            <a:off x="6819748" y="4840293"/>
            <a:ext cx="2705100" cy="0"/>
          </a:xfrm>
          <a:prstGeom prst="line">
            <a:avLst/>
          </a:prstGeom>
          <a:ln w="9525" cap="flat">
            <a:solidFill>
              <a:srgbClr val="E6E8F2"/>
            </a:solidFill>
          </a:ln>
        </p:spPr>
      </p:cxnSp>
      <p:cxnSp>
        <p:nvCxnSpPr>
          <p:cNvPr id="73" name="Line 73"/>
          <p:cNvCxnSpPr/>
          <p:nvPr/>
        </p:nvCxnSpPr>
        <p:spPr>
          <a:xfrm>
            <a:off x="6819748" y="4656721"/>
            <a:ext cx="2705100" cy="0"/>
          </a:xfrm>
          <a:prstGeom prst="line">
            <a:avLst/>
          </a:prstGeom>
          <a:ln w="9525" cap="flat">
            <a:solidFill>
              <a:srgbClr val="E6E8F2"/>
            </a:solidFill>
          </a:ln>
        </p:spPr>
      </p:cxnSp>
      <p:cxnSp>
        <p:nvCxnSpPr>
          <p:cNvPr id="74" name="Line 74"/>
          <p:cNvCxnSpPr/>
          <p:nvPr/>
        </p:nvCxnSpPr>
        <p:spPr>
          <a:xfrm>
            <a:off x="6819748" y="4473148"/>
            <a:ext cx="2705100" cy="0"/>
          </a:xfrm>
          <a:prstGeom prst="line">
            <a:avLst/>
          </a:prstGeom>
          <a:ln w="9525" cap="flat">
            <a:solidFill>
              <a:srgbClr val="E6E8F2"/>
            </a:solidFill>
          </a:ln>
        </p:spPr>
      </p:cxnSp>
      <p:cxnSp>
        <p:nvCxnSpPr>
          <p:cNvPr id="75" name="Line 75"/>
          <p:cNvCxnSpPr/>
          <p:nvPr/>
        </p:nvCxnSpPr>
        <p:spPr>
          <a:xfrm>
            <a:off x="6819748" y="4289575"/>
            <a:ext cx="2705100" cy="0"/>
          </a:xfrm>
          <a:prstGeom prst="line">
            <a:avLst/>
          </a:prstGeom>
          <a:ln w="9525" cap="flat">
            <a:solidFill>
              <a:srgbClr val="E6E8F2"/>
            </a:solidFill>
          </a:ln>
        </p:spPr>
      </p:cxnSp>
      <p:cxnSp>
        <p:nvCxnSpPr>
          <p:cNvPr id="76" name="Line 76"/>
          <p:cNvCxnSpPr/>
          <p:nvPr/>
        </p:nvCxnSpPr>
        <p:spPr>
          <a:xfrm>
            <a:off x="6819748" y="4106002"/>
            <a:ext cx="2705100" cy="0"/>
          </a:xfrm>
          <a:prstGeom prst="line">
            <a:avLst/>
          </a:prstGeom>
          <a:ln w="9525" cap="flat">
            <a:solidFill>
              <a:srgbClr val="E6E8F2"/>
            </a:solidFill>
          </a:ln>
        </p:spPr>
      </p:cxnSp>
      <p:cxnSp>
        <p:nvCxnSpPr>
          <p:cNvPr id="77" name="Line 77"/>
          <p:cNvCxnSpPr/>
          <p:nvPr/>
        </p:nvCxnSpPr>
        <p:spPr>
          <a:xfrm>
            <a:off x="6819748" y="3922430"/>
            <a:ext cx="2705100" cy="0"/>
          </a:xfrm>
          <a:prstGeom prst="line">
            <a:avLst/>
          </a:prstGeom>
          <a:ln w="9525" cap="flat">
            <a:solidFill>
              <a:srgbClr val="E6E8F2"/>
            </a:solidFill>
          </a:ln>
        </p:spPr>
      </p:cxnSp>
      <p:cxnSp>
        <p:nvCxnSpPr>
          <p:cNvPr id="78" name="Line 78"/>
          <p:cNvCxnSpPr/>
          <p:nvPr/>
        </p:nvCxnSpPr>
        <p:spPr>
          <a:xfrm>
            <a:off x="6819748" y="3738857"/>
            <a:ext cx="2705100" cy="0"/>
          </a:xfrm>
          <a:prstGeom prst="line">
            <a:avLst/>
          </a:prstGeom>
          <a:ln w="9525" cap="flat">
            <a:solidFill>
              <a:srgbClr val="E6E8F2"/>
            </a:solidFill>
          </a:ln>
        </p:spPr>
      </p:cxnSp>
      <p:cxnSp>
        <p:nvCxnSpPr>
          <p:cNvPr id="79" name="Line 79"/>
          <p:cNvCxnSpPr/>
          <p:nvPr/>
        </p:nvCxnSpPr>
        <p:spPr>
          <a:xfrm>
            <a:off x="6819748" y="3555284"/>
            <a:ext cx="2705100" cy="0"/>
          </a:xfrm>
          <a:prstGeom prst="line">
            <a:avLst/>
          </a:prstGeom>
          <a:ln w="9525" cap="flat">
            <a:solidFill>
              <a:srgbClr val="E6E8F2"/>
            </a:solidFill>
          </a:ln>
        </p:spPr>
      </p:cxnSp>
      <p:cxnSp>
        <p:nvCxnSpPr>
          <p:cNvPr id="80" name="Line 80"/>
          <p:cNvCxnSpPr/>
          <p:nvPr/>
        </p:nvCxnSpPr>
        <p:spPr>
          <a:xfrm>
            <a:off x="6819748" y="3371711"/>
            <a:ext cx="2705100" cy="0"/>
          </a:xfrm>
          <a:prstGeom prst="line">
            <a:avLst/>
          </a:prstGeom>
          <a:ln w="9525" cap="flat">
            <a:solidFill>
              <a:srgbClr val="E6E8F2"/>
            </a:solidFill>
          </a:ln>
        </p:spPr>
      </p:cxnSp>
      <p:cxnSp>
        <p:nvCxnSpPr>
          <p:cNvPr id="81" name="Line 81"/>
          <p:cNvCxnSpPr/>
          <p:nvPr/>
        </p:nvCxnSpPr>
        <p:spPr>
          <a:xfrm>
            <a:off x="6819748" y="3188139"/>
            <a:ext cx="2705100" cy="0"/>
          </a:xfrm>
          <a:prstGeom prst="line">
            <a:avLst/>
          </a:prstGeom>
          <a:ln w="9525" cap="flat">
            <a:solidFill>
              <a:srgbClr val="E6E8F2"/>
            </a:solidFill>
          </a:ln>
        </p:spPr>
      </p:cxnSp>
      <p:cxnSp>
        <p:nvCxnSpPr>
          <p:cNvPr id="82" name="Line 82"/>
          <p:cNvCxnSpPr/>
          <p:nvPr/>
        </p:nvCxnSpPr>
        <p:spPr>
          <a:xfrm>
            <a:off x="6819748" y="3004566"/>
            <a:ext cx="2705100" cy="0"/>
          </a:xfrm>
          <a:prstGeom prst="line">
            <a:avLst/>
          </a:prstGeom>
          <a:ln w="9525" cap="flat">
            <a:solidFill>
              <a:srgbClr val="E6E8F2"/>
            </a:solidFill>
          </a:ln>
        </p:spPr>
      </p:cxnSp>
      <p:cxnSp>
        <p:nvCxnSpPr>
          <p:cNvPr id="83" name="Line 83"/>
          <p:cNvCxnSpPr/>
          <p:nvPr/>
        </p:nvCxnSpPr>
        <p:spPr>
          <a:xfrm>
            <a:off x="8172298" y="3004566"/>
            <a:ext cx="0" cy="2019300"/>
          </a:xfrm>
          <a:prstGeom prst="line">
            <a:avLst/>
          </a:prstGeom>
          <a:ln w="19050" cap="flat">
            <a:solidFill>
              <a:srgbClr val="5F6272"/>
            </a:solidFill>
          </a:ln>
        </p:spPr>
      </p:cxnSp>
      <p:cxnSp>
        <p:nvCxnSpPr>
          <p:cNvPr id="84" name="Line 84"/>
          <p:cNvCxnSpPr/>
          <p:nvPr/>
        </p:nvCxnSpPr>
        <p:spPr>
          <a:xfrm>
            <a:off x="6819748" y="3738857"/>
            <a:ext cx="2705100" cy="0"/>
          </a:xfrm>
          <a:prstGeom prst="line">
            <a:avLst/>
          </a:prstGeom>
          <a:ln w="19050" cap="flat">
            <a:solidFill>
              <a:srgbClr val="5F6272"/>
            </a:solidFill>
          </a:ln>
        </p:spPr>
      </p:cxnSp>
      <p:sp>
        <p:nvSpPr>
          <p:cNvPr id="85" name="Shape 85"/>
          <p:cNvSpPr txBox="1"/>
          <p:nvPr/>
        </p:nvSpPr>
        <p:spPr>
          <a:xfrm>
            <a:off x="65454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86" name="Shape 86"/>
          <p:cNvSpPr txBox="1"/>
          <p:nvPr/>
        </p:nvSpPr>
        <p:spPr>
          <a:xfrm>
            <a:off x="722170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7" name="Shape 87"/>
          <p:cNvSpPr txBox="1"/>
          <p:nvPr/>
        </p:nvSpPr>
        <p:spPr>
          <a:xfrm>
            <a:off x="789797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8" name="Shape 88"/>
          <p:cNvSpPr txBox="1"/>
          <p:nvPr/>
        </p:nvSpPr>
        <p:spPr>
          <a:xfrm>
            <a:off x="8574253"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89" name="Shape 89"/>
          <p:cNvSpPr txBox="1"/>
          <p:nvPr/>
        </p:nvSpPr>
        <p:spPr>
          <a:xfrm>
            <a:off x="9250528" y="504291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90" name="Shape 90"/>
          <p:cNvSpPr txBox="1"/>
          <p:nvPr/>
        </p:nvSpPr>
        <p:spPr>
          <a:xfrm>
            <a:off x="6252820" y="47488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91" name="Shape 91"/>
          <p:cNvSpPr txBox="1"/>
          <p:nvPr/>
        </p:nvSpPr>
        <p:spPr>
          <a:xfrm>
            <a:off x="6252820" y="43817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92" name="Shape 92"/>
          <p:cNvSpPr txBox="1"/>
          <p:nvPr/>
        </p:nvSpPr>
        <p:spPr>
          <a:xfrm>
            <a:off x="6252820" y="4014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3" name="Shape 93"/>
          <p:cNvSpPr txBox="1"/>
          <p:nvPr/>
        </p:nvSpPr>
        <p:spPr>
          <a:xfrm>
            <a:off x="6252820" y="36474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4" name="Shape 94"/>
          <p:cNvSpPr txBox="1"/>
          <p:nvPr/>
        </p:nvSpPr>
        <p:spPr>
          <a:xfrm>
            <a:off x="6252820" y="328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95" name="Shape 95"/>
          <p:cNvSpPr txBox="1"/>
          <p:nvPr/>
        </p:nvSpPr>
        <p:spPr>
          <a:xfrm>
            <a:off x="6252820" y="29131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96" name="Line 96"/>
          <p:cNvCxnSpPr/>
          <p:nvPr/>
        </p:nvCxnSpPr>
        <p:spPr>
          <a:xfrm flipV="1">
            <a:off x="6819748" y="3004566"/>
            <a:ext cx="2705100" cy="1468582"/>
          </a:xfrm>
          <a:prstGeom prst="line">
            <a:avLst/>
          </a:prstGeom>
          <a:ln w="38100" cap="rnd">
            <a:solidFill>
              <a:srgbClr val="16171D"/>
            </a:solidFill>
          </a:ln>
        </p:spPr>
      </p:cxnSp>
      <p:sp>
        <p:nvSpPr>
          <p:cNvPr id="97" name="Shape 97"/>
          <p:cNvSpPr txBox="1"/>
          <p:nvPr/>
        </p:nvSpPr>
        <p:spPr>
          <a:xfrm>
            <a:off x="7033108" y="3023616"/>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98" name="Line 98"/>
          <p:cNvCxnSpPr/>
          <p:nvPr/>
        </p:nvCxnSpPr>
        <p:spPr>
          <a:xfrm>
            <a:off x="7496023" y="4106002"/>
            <a:ext cx="0" cy="734291"/>
          </a:xfrm>
          <a:prstGeom prst="line">
            <a:avLst/>
          </a:prstGeom>
          <a:ln w="38100" cap="rnd">
            <a:solidFill>
              <a:srgbClr val="7A4FC4"/>
            </a:solidFill>
            <a:prstDash val="dash"/>
          </a:ln>
        </p:spPr>
      </p:cxnSp>
      <p:sp>
        <p:nvSpPr>
          <p:cNvPr id="99" name="Shape 99"/>
          <p:cNvSpPr txBox="1"/>
          <p:nvPr/>
        </p:nvSpPr>
        <p:spPr>
          <a:xfrm>
            <a:off x="7572223" y="4125052"/>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−4 ↓</a:t>
            </a:r>
            <a:endParaRPr lang="en-US" sz="1275" dirty="0"/>
          </a:p>
        </p:txBody>
      </p:sp>
      <p:sp>
        <p:nvSpPr>
          <p:cNvPr id="100" name="Shape 100"/>
          <p:cNvSpPr/>
          <p:nvPr/>
        </p:nvSpPr>
        <p:spPr>
          <a:xfrm>
            <a:off x="7443635" y="478790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1" name="Line 101"/>
          <p:cNvCxnSpPr/>
          <p:nvPr/>
        </p:nvCxnSpPr>
        <p:spPr>
          <a:xfrm>
            <a:off x="8172298" y="3738857"/>
            <a:ext cx="0" cy="734291"/>
          </a:xfrm>
          <a:prstGeom prst="line">
            <a:avLst/>
          </a:prstGeom>
          <a:ln w="38100" cap="rnd">
            <a:solidFill>
              <a:srgbClr val="7A4FC4"/>
            </a:solidFill>
            <a:prstDash val="dash"/>
          </a:ln>
        </p:spPr>
      </p:cxnSp>
      <p:sp>
        <p:nvSpPr>
          <p:cNvPr id="102" name="Shape 102"/>
          <p:cNvSpPr txBox="1"/>
          <p:nvPr/>
        </p:nvSpPr>
        <p:spPr>
          <a:xfrm>
            <a:off x="568055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3" name="Shape 103"/>
          <p:cNvSpPr/>
          <p:nvPr/>
        </p:nvSpPr>
        <p:spPr>
          <a:xfrm>
            <a:off x="8119910" y="442076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4" name="Line 104"/>
          <p:cNvCxnSpPr/>
          <p:nvPr/>
        </p:nvCxnSpPr>
        <p:spPr>
          <a:xfrm>
            <a:off x="8848573" y="3371711"/>
            <a:ext cx="0" cy="734291"/>
          </a:xfrm>
          <a:prstGeom prst="line">
            <a:avLst/>
          </a:prstGeom>
          <a:ln w="38100" cap="rnd">
            <a:solidFill>
              <a:srgbClr val="7A4FC4"/>
            </a:solidFill>
            <a:prstDash val="dash"/>
          </a:ln>
        </p:spPr>
      </p:cxnSp>
      <p:sp>
        <p:nvSpPr>
          <p:cNvPr id="105" name="Shape 105"/>
          <p:cNvSpPr txBox="1"/>
          <p:nvPr/>
        </p:nvSpPr>
        <p:spPr>
          <a:xfrm>
            <a:off x="6356833" y="3390761"/>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−4 ↓</a:t>
            </a:r>
            <a:endParaRPr lang="en-US" sz="1275" dirty="0"/>
          </a:p>
        </p:txBody>
      </p:sp>
      <p:sp>
        <p:nvSpPr>
          <p:cNvPr id="106" name="Shape 106"/>
          <p:cNvSpPr/>
          <p:nvPr/>
        </p:nvSpPr>
        <p:spPr>
          <a:xfrm>
            <a:off x="879618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07" name="Line 107"/>
          <p:cNvCxnSpPr/>
          <p:nvPr/>
        </p:nvCxnSpPr>
        <p:spPr>
          <a:xfrm flipV="1">
            <a:off x="7157885" y="3738857"/>
            <a:ext cx="2366963" cy="1285009"/>
          </a:xfrm>
          <a:prstGeom prst="line">
            <a:avLst/>
          </a:prstGeom>
          <a:ln w="38100" cap="rnd">
            <a:solidFill>
              <a:srgbClr val="7A4FC4"/>
            </a:solidFill>
          </a:ln>
        </p:spPr>
      </p:cxnSp>
      <p:sp>
        <p:nvSpPr>
          <p:cNvPr id="108" name="Shape 108"/>
          <p:cNvSpPr txBox="1"/>
          <p:nvPr/>
        </p:nvSpPr>
        <p:spPr>
          <a:xfrm>
            <a:off x="7033108" y="3757907"/>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g(x)</a:t>
            </a:r>
            <a:endParaRPr lang="en-US" sz="1275" dirty="0"/>
          </a:p>
        </p:txBody>
      </p:sp>
      <p:sp>
        <p:nvSpPr>
          <p:cNvPr id="109" name="Shape 109"/>
          <p:cNvSpPr/>
          <p:nvPr/>
        </p:nvSpPr>
        <p:spPr>
          <a:xfrm>
            <a:off x="7443635" y="405361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0" name="Shape 110"/>
          <p:cNvSpPr/>
          <p:nvPr/>
        </p:nvSpPr>
        <p:spPr>
          <a:xfrm>
            <a:off x="8119910" y="368646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1" name="Shape 111"/>
          <p:cNvSpPr/>
          <p:nvPr/>
        </p:nvSpPr>
        <p:spPr>
          <a:xfrm>
            <a:off x="8796185" y="3319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12" name="Shape 112"/>
          <p:cNvSpPr txBox="1"/>
          <p:nvPr/>
        </p:nvSpPr>
        <p:spPr>
          <a:xfrm>
            <a:off x="6495898" y="5366766"/>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14" name="Slide Number 1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2" fill="hold">
                      <p:stCondLst>
                        <p:cond delay="indefinite"/>
                      </p:stCondLst>
                      <p:childTnLst>
                        <p:par>
                          <p:cTn id="13"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7"/>
                                        </p:tgtEl>
                                        <p:attrNameLst>
                                          <p:attrName>style.visibility</p:attrName>
                                        </p:attrNameLst>
                                      </p:cBhvr>
                                      <p:to>
                                        <p:strVal val="visible"/>
                                      </p:to>
                                    </p:set>
                                    <p:animEffect transition="in" filter="wipe(left)">
                                      <p:cBhvr>
                                        <p:cTn id="4" dur="700"/>
                                        <p:tgtEl>
                                          <p:spTgt spid="47"/>
                                        </p:tgtEl>
                                      </p:cBhvr>
                                    </p:animEffect>
                                  </p:childTnLst>
                                </p:cTn>
                              </p:par>
                              <p:par>
                                <p:cTn id="8" presetID="22" presetClass="entr" presetSubtype="8" fill="hold" nodeType="withEffect">
                                  <p:stCondLst>
                                    <p:cond delay="0"/>
                                  </p:stCondLst>
                                  <p:childTnLst>
                                    <p:set>
                                      <p:cBhvr>
                                        <p:cTn id="6" dur="1" fill="hold">
                                          <p:stCondLst>
                                            <p:cond delay="0"/>
                                          </p:stCondLst>
                                        </p:cTn>
                                        <p:tgtEl>
                                          <p:spTgt spid="48"/>
                                        </p:tgtEl>
                                        <p:attrNameLst>
                                          <p:attrName>style.visibility</p:attrName>
                                        </p:attrNameLst>
                                      </p:cBhvr>
                                      <p:to>
                                        <p:strVal val="visible"/>
                                      </p:to>
                                    </p:set>
                                    <p:animEffect transition="in" filter="wipe(left)">
                                      <p:cBhvr>
                                        <p:cTn id="7" dur="700"/>
                                        <p:tgtEl>
                                          <p:spTgt spid="48"/>
                                        </p:tgtEl>
                                      </p:cBhvr>
                                    </p:animEffect>
                                  </p:childTnLst>
                                </p:cTn>
                              </p:par>
                              <p:par>
                                <p:cTn id="11" presetID="22" presetClass="entr" presetSubtype="8" fill="hold" nodeType="withEffect">
                                  <p:stCondLst>
                                    <p:cond delay="0"/>
                                  </p:stCondLst>
                                  <p:childTnLst>
                                    <p:set>
                                      <p:cBhvr>
                                        <p:cTn id="9" dur="1" fill="hold">
                                          <p:stCondLst>
                                            <p:cond delay="0"/>
                                          </p:stCondLst>
                                        </p:cTn>
                                        <p:tgtEl>
                                          <p:spTgt spid="49"/>
                                        </p:tgtEl>
                                        <p:attrNameLst>
                                          <p:attrName>style.visibility</p:attrName>
                                        </p:attrNameLst>
                                      </p:cBhvr>
                                      <p:to>
                                        <p:strVal val="visible"/>
                                      </p:to>
                                    </p:set>
                                    <p:animEffect transition="in" filter="wipe(left)">
                                      <p:cBhvr>
                                        <p:cTn id="10" dur="700"/>
                                        <p:tgtEl>
                                          <p:spTgt spid="49"/>
                                        </p:tgtEl>
                                      </p:cBhvr>
                                    </p:animEffect>
                                  </p:childTnLst>
                                </p:cTn>
                              </p:par>
                            </p:childTnLst>
                          </p:cTn>
                        </p:par>
                      </p:childTnLst>
                    </p:cTn>
                  </p:par>
                  <p:par>
                    <p:cTn id="23" fill="hold">
                      <p:stCondLst>
                        <p:cond delay="indefinite"/>
                      </p:stCondLst>
                      <p:childTnLst>
                        <p:par>
                          <p:cTn id="24" fill="hold">
                            <p:stCondLst>
                              <p:cond delay="0"/>
                            </p:stCondLst>
                            <p:childTnLst>
                              <p:par>
                                <p:cTn id="16" presetID="22" presetClass="entr" presetSubtype="8" fill="hold" nodeType="clickEffect">
                                  <p:stCondLst>
                                    <p:cond delay="0"/>
                                  </p:stCondLst>
                                  <p:childTnLst>
                                    <p:set>
                                      <p:cBhvr>
                                        <p:cTn id="14" dur="1" fill="hold">
                                          <p:stCondLst>
                                            <p:cond delay="0"/>
                                          </p:stCondLst>
                                        </p:cTn>
                                        <p:tgtEl>
                                          <p:spTgt spid="50"/>
                                        </p:tgtEl>
                                        <p:attrNameLst>
                                          <p:attrName>style.visibility</p:attrName>
                                        </p:attrNameLst>
                                      </p:cBhvr>
                                      <p:to>
                                        <p:strVal val="visible"/>
                                      </p:to>
                                    </p:set>
                                    <p:animEffect transition="in" filter="wipe(left)">
                                      <p:cBhvr>
                                        <p:cTn id="15" dur="700"/>
                                        <p:tgtEl>
                                          <p:spTgt spid="50"/>
                                        </p:tgtEl>
                                      </p:cBhvr>
                                    </p:animEffect>
                                  </p:childTnLst>
                                </p:cTn>
                              </p:par>
                              <p:par>
                                <p:cTn id="19" presetID="22" presetClass="entr" presetSubtype="8" fill="hold" nodeType="withEffect">
                                  <p:stCondLst>
                                    <p:cond delay="0"/>
                                  </p:stCondLst>
                                  <p:childTnLst>
                                    <p:set>
                                      <p:cBhvr>
                                        <p:cTn id="17" dur="1" fill="hold">
                                          <p:stCondLst>
                                            <p:cond delay="0"/>
                                          </p:stCondLst>
                                        </p:cTn>
                                        <p:tgtEl>
                                          <p:spTgt spid="51"/>
                                        </p:tgtEl>
                                        <p:attrNameLst>
                                          <p:attrName>style.visibility</p:attrName>
                                        </p:attrNameLst>
                                      </p:cBhvr>
                                      <p:to>
                                        <p:strVal val="visible"/>
                                      </p:to>
                                    </p:set>
                                    <p:animEffect transition="in" filter="wipe(left)">
                                      <p:cBhvr>
                                        <p:cTn id="18" dur="700"/>
                                        <p:tgtEl>
                                          <p:spTgt spid="51"/>
                                        </p:tgtEl>
                                      </p:cBhvr>
                                    </p:animEffect>
                                  </p:childTnLst>
                                </p:cTn>
                              </p:par>
                              <p:par>
                                <p:cTn id="22" presetID="22" presetClass="entr" presetSubtype="8" fill="hold" nodeType="withEffect">
                                  <p:stCondLst>
                                    <p:cond delay="0"/>
                                  </p:stCondLst>
                                  <p:childTnLst>
                                    <p:set>
                                      <p:cBhvr>
                                        <p:cTn id="20" dur="1" fill="hold">
                                          <p:stCondLst>
                                            <p:cond delay="0"/>
                                          </p:stCondLst>
                                        </p:cTn>
                                        <p:tgtEl>
                                          <p:spTgt spid="52"/>
                                        </p:tgtEl>
                                        <p:attrNameLst>
                                          <p:attrName>style.visibility</p:attrName>
                                        </p:attrNameLst>
                                      </p:cBhvr>
                                      <p:to>
                                        <p:strVal val="visible"/>
                                      </p:to>
                                    </p:set>
                                    <p:animEffect transition="in" filter="wipe(left)">
                                      <p:cBhvr>
                                        <p:cTn id="21" dur="700"/>
                                        <p:tgtEl>
                                          <p:spTgt spid="52"/>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3"/>
                                        </p:tgtEl>
                                        <p:attrNameLst>
                                          <p:attrName>style.visibility</p:attrName>
                                        </p:attrNameLst>
                                      </p:cBhvr>
                                      <p:to>
                                        <p:strVal val="visible"/>
                                      </p:to>
                                    </p:set>
                                    <p:animEffect transition="in" filter="wipe(left)">
                                      <p:cBhvr>
                                        <p:cTn id="26" dur="700"/>
                                        <p:tgtEl>
                                          <p:spTgt spid="53"/>
                                        </p:tgtEl>
                                      </p:cBhvr>
                                    </p:animEffect>
                                  </p:childTnLst>
                                </p:cTn>
                              </p:par>
                              <p:par>
                                <p:cTn id="30" presetID="22" presetClass="entr" presetSubtype="8" fill="hold" nodeType="withEffect">
                                  <p:stCondLst>
                                    <p:cond delay="0"/>
                                  </p:stCondLst>
                                  <p:childTnLst>
                                    <p:set>
                                      <p:cBhvr>
                                        <p:cTn id="28" dur="1" fill="hold">
                                          <p:stCondLst>
                                            <p:cond delay="0"/>
                                          </p:stCondLst>
                                        </p:cTn>
                                        <p:tgtEl>
                                          <p:spTgt spid="54"/>
                                        </p:tgtEl>
                                        <p:attrNameLst>
                                          <p:attrName>style.visibility</p:attrName>
                                        </p:attrNameLst>
                                      </p:cBhvr>
                                      <p:to>
                                        <p:strVal val="visible"/>
                                      </p:to>
                                    </p:set>
                                    <p:animEffect transition="in" filter="wipe(left)">
                                      <p:cBhvr>
                                        <p:cTn id="29" dur="700"/>
                                        <p:tgtEl>
                                          <p:spTgt spid="54"/>
                                        </p:tgtEl>
                                      </p:cBhvr>
                                    </p:animEffect>
                                  </p:childTnLst>
                                </p:cTn>
                              </p:par>
                            </p:childTnLst>
                          </p:cTn>
                        </p:par>
                      </p:childTnLst>
                    </p:cTn>
                  </p:par>
                  <p:par>
                    <p:cTn id="38" fill="hold">
                      <p:stCondLst>
                        <p:cond delay="indefinite"/>
                      </p:stCondLst>
                      <p:childTnLst>
                        <p:par>
                          <p:cTn id="39" fill="hold">
                            <p:stCondLst>
                              <p:cond delay="0"/>
                            </p:stCondLst>
                            <p:childTnLst>
                              <p:par>
                                <p:cTn id="37" presetID="53" presetClass="entr" presetSubtype="16" fill="hold" nodeType="clickEffect">
                                  <p:stCondLst>
                                    <p:cond delay="0"/>
                                  </p:stCondLst>
                                  <p:childTnLst>
                                    <p:set>
                                      <p:cBhvr>
                                        <p:cTn id="33" dur="1" fill="hold">
                                          <p:stCondLst>
                                            <p:cond delay="0"/>
                                          </p:stCondLst>
                                        </p:cTn>
                                        <p:tgtEl>
                                          <p:spTgt spid="57"/>
                                        </p:tgtEl>
                                        <p:attrNameLst>
                                          <p:attrName>style.visibility</p:attrName>
                                        </p:attrNameLst>
                                      </p:cBhvr>
                                      <p:to>
                                        <p:strVal val="visible"/>
                                      </p:to>
                                    </p:set>
                                    <p:animEffect transition="in" filter="fade">
                                      <p:cBhvr>
                                        <p:cTn id="34" dur="500"/>
                                        <p:tgtEl>
                                          <p:spTgt spid="57"/>
                                        </p:tgtEl>
                                      </p:cBhvr>
                                    </p:animEffect>
                                    <p:anim calcmode="lin" valueType="num">
                                      <p:cBhvr>
                                        <p:cTn id="35" dur="500" fill="hold"/>
                                        <p:tgtEl>
                                          <p:spTgt spid="57"/>
                                        </p:tgtEl>
                                        <p:attrNameLst>
                                          <p:attrName>ppt_w</p:attrName>
                                        </p:attrNameLst>
                                      </p:cBhvr>
                                      <p:tavLst>
                                        <p:tav tm="0">
                                          <p:val>
                                            <p:fltVal val="0"/>
                                          </p:val>
                                        </p:tav>
                                        <p:tav tm="100000">
                                          <p:val>
                                            <p:strVal val="#ppt_w"/>
                                          </p:val>
                                        </p:tav>
                                      </p:tavLst>
                                    </p:anim>
                                    <p:anim calcmode="lin" valueType="num">
                                      <p:cBhvr>
                                        <p:cTn id="3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42" presetID="22" presetClass="entr" presetSubtype="8" fill="hold" nodeType="clickEffect">
                                  <p:stCondLst>
                                    <p:cond delay="0"/>
                                  </p:stCondLst>
                                  <p:childTnLst>
                                    <p:set>
                                      <p:cBhvr>
                                        <p:cTn id="40" dur="1" fill="hold">
                                          <p:stCondLst>
                                            <p:cond delay="0"/>
                                          </p:stCondLst>
                                        </p:cTn>
                                        <p:tgtEl>
                                          <p:spTgt spid="98"/>
                                        </p:tgtEl>
                                        <p:attrNameLst>
                                          <p:attrName>style.visibility</p:attrName>
                                        </p:attrNameLst>
                                      </p:cBhvr>
                                      <p:to>
                                        <p:strVal val="visible"/>
                                      </p:to>
                                    </p:set>
                                    <p:animEffect transition="in" filter="wipe(left)">
                                      <p:cBhvr>
                                        <p:cTn id="41" dur="700"/>
                                        <p:tgtEl>
                                          <p:spTgt spid="98"/>
                                        </p:tgtEl>
                                      </p:cBhvr>
                                    </p:animEffect>
                                  </p:childTnLst>
                                </p:cTn>
                              </p:par>
                              <p:par>
                                <p:cTn id="45" presetID="22" presetClass="entr" presetSubtype="8" fill="hold" nodeType="withEffect">
                                  <p:stCondLst>
                                    <p:cond delay="0"/>
                                  </p:stCondLst>
                                  <p:childTnLst>
                                    <p:set>
                                      <p:cBhvr>
                                        <p:cTn id="43" dur="1" fill="hold">
                                          <p:stCondLst>
                                            <p:cond delay="0"/>
                                          </p:stCondLst>
                                        </p:cTn>
                                        <p:tgtEl>
                                          <p:spTgt spid="99"/>
                                        </p:tgtEl>
                                        <p:attrNameLst>
                                          <p:attrName>style.visibility</p:attrName>
                                        </p:attrNameLst>
                                      </p:cBhvr>
                                      <p:to>
                                        <p:strVal val="visible"/>
                                      </p:to>
                                    </p:set>
                                    <p:animEffect transition="in" filter="wipe(left)">
                                      <p:cBhvr>
                                        <p:cTn id="44" dur="700"/>
                                        <p:tgtEl>
                                          <p:spTgt spid="99"/>
                                        </p:tgtEl>
                                      </p:cBhvr>
                                    </p:animEffect>
                                  </p:childTnLst>
                                </p:cTn>
                              </p:par>
                              <p:par>
                                <p:cTn id="48" presetID="22" presetClass="entr" presetSubtype="8" fill="hold" nodeType="withEffect">
                                  <p:stCondLst>
                                    <p:cond delay="0"/>
                                  </p:stCondLst>
                                  <p:childTnLst>
                                    <p:set>
                                      <p:cBhvr>
                                        <p:cTn id="46" dur="1" fill="hold">
                                          <p:stCondLst>
                                            <p:cond delay="0"/>
                                          </p:stCondLst>
                                        </p:cTn>
                                        <p:tgtEl>
                                          <p:spTgt spid="100"/>
                                        </p:tgtEl>
                                        <p:attrNameLst>
                                          <p:attrName>style.visibility</p:attrName>
                                        </p:attrNameLst>
                                      </p:cBhvr>
                                      <p:to>
                                        <p:strVal val="visible"/>
                                      </p:to>
                                    </p:set>
                                    <p:animEffect transition="in" filter="wipe(left)">
                                      <p:cBhvr>
                                        <p:cTn id="47" dur="700"/>
                                        <p:tgtEl>
                                          <p:spTgt spid="100"/>
                                        </p:tgtEl>
                                      </p:cBhvr>
                                    </p:animEffect>
                                  </p:childTnLst>
                                </p:cTn>
                              </p:par>
                            </p:childTnLst>
                          </p:cTn>
                        </p:par>
                      </p:childTnLst>
                    </p:cTn>
                  </p:par>
                  <p:par>
                    <p:cTn id="60" fill="hold">
                      <p:stCondLst>
                        <p:cond delay="indefinite"/>
                      </p:stCondLst>
                      <p:childTnLst>
                        <p:par>
                          <p:cTn id="61" fill="hold">
                            <p:stCondLst>
                              <p:cond delay="0"/>
                            </p:stCondLst>
                            <p:childTnLst>
                              <p:par>
                                <p:cTn id="53" presetID="22" presetClass="entr" presetSubtype="8" fill="hold" nodeType="clickEffect">
                                  <p:stCondLst>
                                    <p:cond delay="0"/>
                                  </p:stCondLst>
                                  <p:childTnLst>
                                    <p:set>
                                      <p:cBhvr>
                                        <p:cTn id="51" dur="1" fill="hold">
                                          <p:stCondLst>
                                            <p:cond delay="0"/>
                                          </p:stCondLst>
                                        </p:cTn>
                                        <p:tgtEl>
                                          <p:spTgt spid="101"/>
                                        </p:tgtEl>
                                        <p:attrNameLst>
                                          <p:attrName>style.visibility</p:attrName>
                                        </p:attrNameLst>
                                      </p:cBhvr>
                                      <p:to>
                                        <p:strVal val="visible"/>
                                      </p:to>
                                    </p:set>
                                    <p:animEffect transition="in" filter="wipe(left)">
                                      <p:cBhvr>
                                        <p:cTn id="52" dur="700"/>
                                        <p:tgtEl>
                                          <p:spTgt spid="101"/>
                                        </p:tgtEl>
                                      </p:cBhvr>
                                    </p:animEffect>
                                  </p:childTnLst>
                                </p:cTn>
                              </p:par>
                              <p:par>
                                <p:cTn id="56" presetID="22" presetClass="entr" presetSubtype="8" fill="hold" nodeType="withEffect">
                                  <p:stCondLst>
                                    <p:cond delay="0"/>
                                  </p:stCondLst>
                                  <p:childTnLst>
                                    <p:set>
                                      <p:cBhvr>
                                        <p:cTn id="54" dur="1" fill="hold">
                                          <p:stCondLst>
                                            <p:cond delay="0"/>
                                          </p:stCondLst>
                                        </p:cTn>
                                        <p:tgtEl>
                                          <p:spTgt spid="102"/>
                                        </p:tgtEl>
                                        <p:attrNameLst>
                                          <p:attrName>style.visibility</p:attrName>
                                        </p:attrNameLst>
                                      </p:cBhvr>
                                      <p:to>
                                        <p:strVal val="visible"/>
                                      </p:to>
                                    </p:set>
                                    <p:animEffect transition="in" filter="wipe(left)">
                                      <p:cBhvr>
                                        <p:cTn id="55" dur="700"/>
                                        <p:tgtEl>
                                          <p:spTgt spid="102"/>
                                        </p:tgtEl>
                                      </p:cBhvr>
                                    </p:animEffect>
                                  </p:childTnLst>
                                </p:cTn>
                              </p:par>
                              <p:par>
                                <p:cTn id="59" presetID="22" presetClass="entr" presetSubtype="8" fill="hold" nodeType="withEffect">
                                  <p:stCondLst>
                                    <p:cond delay="0"/>
                                  </p:stCondLst>
                                  <p:childTnLst>
                                    <p:set>
                                      <p:cBhvr>
                                        <p:cTn id="57" dur="1" fill="hold">
                                          <p:stCondLst>
                                            <p:cond delay="0"/>
                                          </p:stCondLst>
                                        </p:cTn>
                                        <p:tgtEl>
                                          <p:spTgt spid="103"/>
                                        </p:tgtEl>
                                        <p:attrNameLst>
                                          <p:attrName>style.visibility</p:attrName>
                                        </p:attrNameLst>
                                      </p:cBhvr>
                                      <p:to>
                                        <p:strVal val="visible"/>
                                      </p:to>
                                    </p:set>
                                    <p:animEffect transition="in" filter="wipe(left)">
                                      <p:cBhvr>
                                        <p:cTn id="58" dur="700"/>
                                        <p:tgtEl>
                                          <p:spTgt spid="103"/>
                                        </p:tgtEl>
                                      </p:cBhvr>
                                    </p:animEffect>
                                  </p:childTnLst>
                                </p:cTn>
                              </p:par>
                            </p:childTnLst>
                          </p:cTn>
                        </p:par>
                      </p:childTnLst>
                    </p:cTn>
                  </p:par>
                  <p:par>
                    <p:cTn id="71" fill="hold">
                      <p:stCondLst>
                        <p:cond delay="indefinite"/>
                      </p:stCondLst>
                      <p:childTnLst>
                        <p:par>
                          <p:cTn id="72"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104"/>
                                        </p:tgtEl>
                                        <p:attrNameLst>
                                          <p:attrName>style.visibility</p:attrName>
                                        </p:attrNameLst>
                                      </p:cBhvr>
                                      <p:to>
                                        <p:strVal val="visible"/>
                                      </p:to>
                                    </p:set>
                                    <p:animEffect transition="in" filter="wipe(left)">
                                      <p:cBhvr>
                                        <p:cTn id="63" dur="700"/>
                                        <p:tgtEl>
                                          <p:spTgt spid="104"/>
                                        </p:tgtEl>
                                      </p:cBhvr>
                                    </p:animEffect>
                                  </p:childTnLst>
                                </p:cTn>
                              </p:par>
                              <p:par>
                                <p:cTn id="67" presetID="22" presetClass="entr" presetSubtype="8" fill="hold" nodeType="withEffect">
                                  <p:stCondLst>
                                    <p:cond delay="0"/>
                                  </p:stCondLst>
                                  <p:childTnLst>
                                    <p:set>
                                      <p:cBhvr>
                                        <p:cTn id="65" dur="1" fill="hold">
                                          <p:stCondLst>
                                            <p:cond delay="0"/>
                                          </p:stCondLst>
                                        </p:cTn>
                                        <p:tgtEl>
                                          <p:spTgt spid="105"/>
                                        </p:tgtEl>
                                        <p:attrNameLst>
                                          <p:attrName>style.visibility</p:attrName>
                                        </p:attrNameLst>
                                      </p:cBhvr>
                                      <p:to>
                                        <p:strVal val="visible"/>
                                      </p:to>
                                    </p:set>
                                    <p:animEffect transition="in" filter="wipe(left)">
                                      <p:cBhvr>
                                        <p:cTn id="66" dur="700"/>
                                        <p:tgtEl>
                                          <p:spTgt spid="105"/>
                                        </p:tgtEl>
                                      </p:cBhvr>
                                    </p:animEffect>
                                  </p:childTnLst>
                                </p:cTn>
                              </p:par>
                              <p:par>
                                <p:cTn id="70" presetID="22" presetClass="entr" presetSubtype="8" fill="hold" nodeType="withEffect">
                                  <p:stCondLst>
                                    <p:cond delay="0"/>
                                  </p:stCondLst>
                                  <p:childTnLst>
                                    <p:set>
                                      <p:cBhvr>
                                        <p:cTn id="68" dur="1" fill="hold">
                                          <p:stCondLst>
                                            <p:cond delay="0"/>
                                          </p:stCondLst>
                                        </p:cTn>
                                        <p:tgtEl>
                                          <p:spTgt spid="106"/>
                                        </p:tgtEl>
                                        <p:attrNameLst>
                                          <p:attrName>style.visibility</p:attrName>
                                        </p:attrNameLst>
                                      </p:cBhvr>
                                      <p:to>
                                        <p:strVal val="visible"/>
                                      </p:to>
                                    </p:set>
                                    <p:animEffect transition="in" filter="wipe(left)">
                                      <p:cBhvr>
                                        <p:cTn id="69" dur="700"/>
                                        <p:tgtEl>
                                          <p:spTgt spid="106"/>
                                        </p:tgtEl>
                                      </p:cBhvr>
                                    </p:animEffect>
                                  </p:childTnLst>
                                </p:cTn>
                              </p:par>
                            </p:childTnLst>
                          </p:cTn>
                        </p:par>
                      </p:childTnLst>
                    </p:cTn>
                  </p:par>
                  <p:par>
                    <p:cTn id="79" fill="hold">
                      <p:stCondLst>
                        <p:cond delay="indefinite"/>
                      </p:stCondLst>
                      <p:childTnLst>
                        <p:par>
                          <p:cTn id="80" fill="hold">
                            <p:stCondLst>
                              <p:cond delay="0"/>
                            </p:stCondLst>
                            <p:childTnLst>
                              <p:par>
                                <p:cTn id="75" presetID="22" presetClass="entr" presetSubtype="8" fill="hold" nodeType="clickEffect">
                                  <p:stCondLst>
                                    <p:cond delay="0"/>
                                  </p:stCondLst>
                                  <p:childTnLst>
                                    <p:set>
                                      <p:cBhvr>
                                        <p:cTn id="73" dur="1" fill="hold">
                                          <p:stCondLst>
                                            <p:cond delay="0"/>
                                          </p:stCondLst>
                                        </p:cTn>
                                        <p:tgtEl>
                                          <p:spTgt spid="107"/>
                                        </p:tgtEl>
                                        <p:attrNameLst>
                                          <p:attrName>style.visibility</p:attrName>
                                        </p:attrNameLst>
                                      </p:cBhvr>
                                      <p:to>
                                        <p:strVal val="visible"/>
                                      </p:to>
                                    </p:set>
                                    <p:animEffect transition="in" filter="wipe(left)">
                                      <p:cBhvr>
                                        <p:cTn id="74" dur="700"/>
                                        <p:tgtEl>
                                          <p:spTgt spid="107"/>
                                        </p:tgtEl>
                                      </p:cBhvr>
                                    </p:animEffect>
                                  </p:childTnLst>
                                </p:cTn>
                              </p:par>
                              <p:par>
                                <p:cTn id="78" presetID="22" presetClass="entr" presetSubtype="8" fill="hold" nodeType="withEffect">
                                  <p:stCondLst>
                                    <p:cond delay="0"/>
                                  </p:stCondLst>
                                  <p:childTnLst>
                                    <p:set>
                                      <p:cBhvr>
                                        <p:cTn id="76" dur="1" fill="hold">
                                          <p:stCondLst>
                                            <p:cond delay="0"/>
                                          </p:stCondLst>
                                        </p:cTn>
                                        <p:tgtEl>
                                          <p:spTgt spid="108"/>
                                        </p:tgtEl>
                                        <p:attrNameLst>
                                          <p:attrName>style.visibility</p:attrName>
                                        </p:attrNameLst>
                                      </p:cBhvr>
                                      <p:to>
                                        <p:strVal val="visible"/>
                                      </p:to>
                                    </p:set>
                                    <p:animEffect transition="in" filter="wipe(left)">
                                      <p:cBhvr>
                                        <p:cTn id="77" dur="700"/>
                                        <p:tgtEl>
                                          <p:spTgt spid="108"/>
                                        </p:tgtEl>
                                      </p:cBhvr>
                                    </p:animEffect>
                                  </p:childTnLst>
                                </p:cTn>
                              </p:par>
                            </p:childTnLst>
                          </p:cTn>
                        </p:par>
                      </p:childTnLst>
                    </p:cTn>
                  </p:par>
                  <p:par>
                    <p:cTn id="86" fill="hold">
                      <p:stCondLst>
                        <p:cond delay="indefinite"/>
                      </p:stCondLst>
                      <p:childTnLst>
                        <p:par>
                          <p:cTn id="87" fill="hold">
                            <p:stCondLst>
                              <p:cond delay="0"/>
                            </p:stCondLst>
                            <p:childTnLst>
                              <p:par>
                                <p:cTn id="85" presetID="53" presetClass="entr" presetSubtype="16" fill="hold" nodeType="clickEffect">
                                  <p:stCondLst>
                                    <p:cond delay="0"/>
                                  </p:stCondLst>
                                  <p:childTnLst>
                                    <p:set>
                                      <p:cBhvr>
                                        <p:cTn id="81" dur="1" fill="hold">
                                          <p:stCondLst>
                                            <p:cond delay="0"/>
                                          </p:stCondLst>
                                        </p:cTn>
                                        <p:tgtEl>
                                          <p:spTgt spid="112"/>
                                        </p:tgtEl>
                                        <p:attrNameLst>
                                          <p:attrName>style.visibility</p:attrName>
                                        </p:attrNameLst>
                                      </p:cBhvr>
                                      <p:to>
                                        <p:strVal val="visible"/>
                                      </p:to>
                                    </p:set>
                                    <p:animEffect transition="in" filter="fade">
                                      <p:cBhvr>
                                        <p:cTn id="82" dur="500"/>
                                        <p:tgtEl>
                                          <p:spTgt spid="112"/>
                                        </p:tgtEl>
                                      </p:cBhvr>
                                    </p:animEffect>
                                    <p:anim calcmode="lin" valueType="num">
                                      <p:cBhvr>
                                        <p:cTn id="83" dur="500" fill="hold"/>
                                        <p:tgtEl>
                                          <p:spTgt spid="112"/>
                                        </p:tgtEl>
                                        <p:attrNameLst>
                                          <p:attrName>ppt_w</p:attrName>
                                        </p:attrNameLst>
                                      </p:cBhvr>
                                      <p:tavLst>
                                        <p:tav tm="0">
                                          <p:val>
                                            <p:fltVal val="0"/>
                                          </p:val>
                                        </p:tav>
                                        <p:tav tm="100000">
                                          <p:val>
                                            <p:strVal val="#ppt_w"/>
                                          </p:val>
                                        </p:tav>
                                      </p:tavLst>
                                    </p:anim>
                                    <p:anim calcmode="lin" valueType="num">
                                      <p:cBhvr>
                                        <p:cTn id="84" dur="500" fill="hold"/>
                                        <p:tgtEl>
                                          <p:spTgt spid="112"/>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4629048"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8362747" y="2237232"/>
            <a:ext cx="2933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way, and how far?</a:t>
            </a:r>
            <a:endParaRPr lang="en-US" sz="3450" dirty="0"/>
          </a:p>
        </p:txBody>
      </p:sp>
      <p:sp>
        <p:nvSpPr>
          <p:cNvPr id="8" name="Shape 8"/>
          <p:cNvSpPr txBox="1"/>
          <p:nvPr/>
        </p:nvSpPr>
        <p:spPr>
          <a:xfrm>
            <a:off x="685800"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+ 5)</a:t>
            </a:r>
            <a:endParaRPr lang="en-US" sz="2100" dirty="0"/>
          </a:p>
        </p:txBody>
      </p:sp>
      <p:sp>
        <p:nvSpPr>
          <p:cNvPr id="5" name="Shape 5"/>
          <p:cNvSpPr txBox="1"/>
          <p:nvPr/>
        </p:nvSpPr>
        <p:spPr>
          <a:xfrm>
            <a:off x="895350"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5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the parentheses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so the graph moves left or right.</a:t>
            </a:r>
            <a:endParaRPr lang="en-US" sz="1575" dirty="0"/>
          </a:p>
        </p:txBody>
      </p:sp>
      <p:sp>
        <p:nvSpPr>
          <p:cNvPr id="6" name="Shape 6"/>
          <p:cNvSpPr txBox="1"/>
          <p:nvPr/>
        </p:nvSpPr>
        <p:spPr>
          <a:xfrm>
            <a:off x="895350"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left</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760470"/>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left 5</a:t>
            </a:r>
            <a:endParaRPr lang="en-US" sz="2325" dirty="0"/>
          </a:p>
        </p:txBody>
      </p:sp>
      <p:sp>
        <p:nvSpPr>
          <p:cNvPr id="13" name="Shape 13"/>
          <p:cNvSpPr txBox="1"/>
          <p:nvPr/>
        </p:nvSpPr>
        <p:spPr>
          <a:xfrm>
            <a:off x="4368698" y="1618488"/>
            <a:ext cx="3454298" cy="283235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0" name="Shape 10"/>
          <p:cNvSpPr txBox="1"/>
          <p:nvPr/>
        </p:nvSpPr>
        <p:spPr>
          <a:xfrm>
            <a:off x="4578248" y="2260092"/>
            <a:ext cx="30351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2 is </a:t>
            </a:r>
            <a:r>
              <a:rPr lang="en-US" sz="1575" dirty="0" b="1">
                <a:solidFill>
                  <a:srgbClr val="16171D"/>
                </a:solidFill>
                <a:latin typeface="Segoe UI"/>
                <a:cs typeface="Segoe UI"/>
              </a:rPr>
              <a:t xml:space="preserve">outside</a:t>
            </a:r>
            <a:r>
              <a:rPr lang="en-US" sz="1575" dirty="0">
                <a:solidFill>
                  <a:srgbClr val="16171D"/>
                </a:solidFill>
                <a:latin typeface="Segoe UI"/>
                <a:cs typeface="Segoe UI"/>
              </a:rPr>
              <a:t xml:space="preserve"> the parentheses, so the graph moves up or down.</a:t>
            </a:r>
            <a:endParaRPr lang="en-US" sz="1575" dirty="0"/>
          </a:p>
        </p:txBody>
      </p:sp>
      <p:sp>
        <p:nvSpPr>
          <p:cNvPr id="11" name="Shape 11"/>
          <p:cNvSpPr txBox="1"/>
          <p:nvPr/>
        </p:nvSpPr>
        <p:spPr>
          <a:xfrm>
            <a:off x="4578248" y="313029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Outside, no flip: </a:t>
            </a:r>
            <a:r>
              <a:rPr lang="en-US" sz="1575" dirty="0" b="1">
                <a:solidFill>
                  <a:srgbClr val="16171D"/>
                </a:solidFill>
                <a:latin typeface="Segoe UI"/>
                <a:cs typeface="Segoe UI"/>
              </a:rPr>
              <a:t xml:space="preserve">plus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up</a:t>
            </a:r>
            <a:r>
              <a:rPr lang="en-US" sz="1575" dirty="0">
                <a:solidFill>
                  <a:srgbClr val="16171D"/>
                </a:solidFill>
                <a:latin typeface="Segoe UI"/>
                <a:cs typeface="Segoe UI"/>
              </a:rPr>
              <a:t xml:space="preserve">.</a:t>
            </a:r>
            <a:endParaRPr lang="en-US" sz="1575" dirty="0"/>
          </a:p>
        </p:txBody>
      </p:sp>
      <p:sp>
        <p:nvSpPr>
          <p:cNvPr id="12" name="Shape 12"/>
          <p:cNvSpPr txBox="1"/>
          <p:nvPr/>
        </p:nvSpPr>
        <p:spPr>
          <a:xfrm>
            <a:off x="4578248" y="3760470"/>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2</a:t>
            </a:r>
            <a:endParaRPr lang="en-US" sz="2325" dirty="0"/>
          </a:p>
        </p:txBody>
      </p:sp>
      <p:sp>
        <p:nvSpPr>
          <p:cNvPr id="18" name="Shape 18"/>
          <p:cNvSpPr txBox="1"/>
          <p:nvPr/>
        </p:nvSpPr>
        <p:spPr>
          <a:xfrm>
            <a:off x="8051597" y="1618488"/>
            <a:ext cx="3454298" cy="259232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i="1">
                <a:solidFill>
                  <a:srgbClr val="16171D"/>
                </a:solidFill>
                <a:latin typeface="Segoe UI"/>
                <a:cs typeface="Segoe UI"/>
              </a:rPr>
              <a:t xml:space="preserve">f</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− 3)</a:t>
            </a:r>
            <a:endParaRPr lang="en-US" sz="2100" dirty="0"/>
          </a:p>
        </p:txBody>
      </p:sp>
      <p:sp>
        <p:nvSpPr>
          <p:cNvPr id="15" name="Shape 15"/>
          <p:cNvSpPr txBox="1"/>
          <p:nvPr/>
        </p:nvSpPr>
        <p:spPr>
          <a:xfrm>
            <a:off x="8261147"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3 is </a:t>
            </a:r>
            <a:r>
              <a:rPr lang="en-US" sz="1575" dirty="0" b="1">
                <a:solidFill>
                  <a:srgbClr val="16171D"/>
                </a:solidFill>
                <a:latin typeface="Segoe UI"/>
                <a:cs typeface="Segoe UI"/>
              </a:rPr>
              <a:t xml:space="preserve">inside</a:t>
            </a:r>
            <a:r>
              <a:rPr lang="en-US" sz="1575" dirty="0">
                <a:solidFill>
                  <a:srgbClr val="16171D"/>
                </a:solidFill>
                <a:latin typeface="Segoe UI"/>
                <a:cs typeface="Segoe UI"/>
              </a:rPr>
              <a:t xml:space="preserve">, so left or right.</a:t>
            </a:r>
            <a:endParaRPr lang="en-US" sz="1575" dirty="0"/>
          </a:p>
        </p:txBody>
      </p:sp>
      <p:sp>
        <p:nvSpPr>
          <p:cNvPr id="16" name="Shape 16"/>
          <p:cNvSpPr txBox="1"/>
          <p:nvPr/>
        </p:nvSpPr>
        <p:spPr>
          <a:xfrm>
            <a:off x="8261147" y="289026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Inside, the sign flips: </a:t>
            </a:r>
            <a:r>
              <a:rPr lang="en-US" sz="1575" dirty="0" b="1">
                <a:solidFill>
                  <a:srgbClr val="16171D"/>
                </a:solidFill>
                <a:latin typeface="Segoe UI"/>
                <a:cs typeface="Segoe UI"/>
              </a:rPr>
              <a:t xml:space="preserve">minus</a:t>
            </a:r>
            <a:r>
              <a:rPr lang="en-US" sz="1575" dirty="0">
                <a:solidFill>
                  <a:srgbClr val="16171D"/>
                </a:solidFill>
                <a:latin typeface="Segoe UI"/>
                <a:cs typeface="Segoe UI"/>
              </a:rPr>
              <a:t xml:space="preserve"> means </a:t>
            </a:r>
            <a:r>
              <a:rPr lang="en-US" sz="1575" dirty="0" b="1">
                <a:solidFill>
                  <a:srgbClr val="16171D"/>
                </a:solidFill>
                <a:latin typeface="Segoe UI"/>
                <a:cs typeface="Segoe UI"/>
              </a:rPr>
              <a:t xml:space="preserve">right</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8261147" y="3520440"/>
            <a:ext cx="30351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3</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ppt_w</p:attrName>
                                        </p:attrNameLst>
                                      </p:cBhvr>
                                      <p:tavLst>
                                        <p:tav tm="0">
                                          <p:val>
                                            <p:fltVal val="0"/>
                                          </p:val>
                                        </p:tav>
                                        <p:tav tm="100000">
                                          <p:val>
                                            <p:strVal val="#ppt_w"/>
                                          </p:val>
                                        </p:tav>
                                      </p:tavLst>
                                    </p:anim>
                                    <p:anim calcmode="lin" valueType="num">
                                      <p:cBhvr>
                                        <p:cTn id="41"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ppt_x</p:attrName>
                                        </p:attrNameLst>
                                      </p:cBhvr>
                                      <p:tavLst>
                                        <p:tav tm="0">
                                          <p:val>
                                            <p:strVal val="#ppt_x"/>
                                          </p:val>
                                        </p:tav>
                                        <p:tav tm="100000">
                                          <p:val>
                                            <p:strVal val="#ppt_x"/>
                                          </p:val>
                                        </p:tav>
                                      </p:tavLst>
                                    </p:anim>
                                    <p:anim calcmode="lin" valueType="num">
                                      <p:cBhvr>
                                        <p:cTn id="48"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ppt_w</p:attrName>
                                        </p:attrNameLst>
                                      </p:cBhvr>
                                      <p:tavLst>
                                        <p:tav tm="0">
                                          <p:val>
                                            <p:fltVal val="0"/>
                                          </p:val>
                                        </p:tav>
                                        <p:tav tm="100000">
                                          <p:val>
                                            <p:strVal val="#ppt_w"/>
                                          </p:val>
                                        </p:tav>
                                      </p:tavLst>
                                    </p:anim>
                                    <p:anim calcmode="lin" valueType="num">
                                      <p:cBhvr>
                                        <p:cTn id="62"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Simplify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Simplify </a:t>
            </a: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+ 4).</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Put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+ 4) in for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2(____) − 1</a:t>
            </a:r>
            <a:endParaRPr lang="en-US" sz="1950" dirty="0"/>
          </a:p>
        </p:txBody>
      </p:sp>
      <p:sp>
        <p:nvSpPr>
          <p:cNvPr id="5" name="Shape 5"/>
          <p:cNvSpPr txBox="1"/>
          <p:nvPr/>
        </p:nvSpPr>
        <p:spPr>
          <a:xfrm>
            <a:off x="685800" y="2141982"/>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− 1</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Distribute: ____ − 1</a:t>
            </a:r>
            <a:endParaRPr lang="en-US" sz="1950" dirty="0"/>
          </a:p>
        </p:txBody>
      </p:sp>
      <p:sp>
        <p:nvSpPr>
          <p:cNvPr id="7" name="Shape 7"/>
          <p:cNvSpPr txBox="1"/>
          <p:nvPr/>
        </p:nvSpPr>
        <p:spPr>
          <a:xfrm>
            <a:off x="685800" y="335584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+ 8 − 1</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Combine:</a:t>
            </a:r>
            <a:endParaRPr lang="en-US" sz="1950" dirty="0"/>
          </a:p>
        </p:txBody>
      </p:sp>
      <p:sp>
        <p:nvSpPr>
          <p:cNvPr id="9" name="Shape 9"/>
          <p:cNvSpPr txBox="1"/>
          <p:nvPr/>
        </p:nvSpPr>
        <p:spPr>
          <a:xfrm>
            <a:off x="685800" y="456971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6" name="Shape 6"/>
          <p:cNvSpPr txBox="1"/>
          <p:nvPr/>
        </p:nvSpPr>
        <p:spPr>
          <a:xfrm>
            <a:off x="685800" y="1618488"/>
            <a:ext cx="521954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5" name="Shape 5"/>
          <p:cNvSpPr txBox="1"/>
          <p:nvPr/>
        </p:nvSpPr>
        <p:spPr>
          <a:xfrm>
            <a:off x="895350"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1" name="Shape 11"/>
          <p:cNvSpPr txBox="1"/>
          <p:nvPr/>
        </p:nvSpPr>
        <p:spPr>
          <a:xfrm>
            <a:off x="6286348" y="1618488"/>
            <a:ext cx="5219548" cy="2313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95898" y="1789938"/>
            <a:ext cx="48004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endParaRPr lang="en-US" sz="1950" dirty="0"/>
          </a:p>
        </p:txBody>
      </p:sp>
      <p:sp>
        <p:nvSpPr>
          <p:cNvPr id="8" name="Shape 8"/>
          <p:cNvSpPr txBox="1"/>
          <p:nvPr/>
        </p:nvSpPr>
        <p:spPr>
          <a:xfrm>
            <a:off x="6495898" y="223723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9" name="Shape 9"/>
          <p:cNvSpPr txBox="1"/>
          <p:nvPr/>
        </p:nvSpPr>
        <p:spPr>
          <a:xfrm>
            <a:off x="6495898" y="2851404"/>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Same graph as #1? ____</a:t>
            </a:r>
            <a:endParaRPr lang="en-US" sz="1575" dirty="0"/>
          </a:p>
        </p:txBody>
      </p:sp>
      <p:sp>
        <p:nvSpPr>
          <p:cNvPr id="10" name="Shape 10"/>
          <p:cNvSpPr txBox="1"/>
          <p:nvPr/>
        </p:nvSpPr>
        <p:spPr>
          <a:xfrm>
            <a:off x="6495898" y="3241548"/>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0"/>
                                        </p:tgtEl>
                                        <p:attrNameLst>
                                          <p:attrName>style.visibility</p:attrName>
                                        </p:attrNameLst>
                                      </p:cBhvr>
                                      <p:to>
                                        <p:strVal val="visible"/>
                                      </p:to>
                                    </p:set>
                                    <p:animEffect transition="in" filter="fade">
                                      <p:cBhvr>
                                        <p:cTn id="18" dur="500"/>
                                        <p:tgtEl>
                                          <p:spTgt spid="10"/>
                                        </p:tgtEl>
                                      </p:cBhvr>
                                    </p:animEffect>
                                    <p:anim calcmode="lin" valueType="num">
                                      <p:cBhvr>
                                        <p:cTn id="19" dur="500" fill="hold"/>
                                        <p:tgtEl>
                                          <p:spTgt spid="10"/>
                                        </p:tgtEl>
                                        <p:attrNameLst>
                                          <p:attrName>ppt_w</p:attrName>
                                        </p:attrNameLst>
                                      </p:cBhvr>
                                      <p:tavLst>
                                        <p:tav tm="0">
                                          <p:val>
                                            <p:fltVal val="0"/>
                                          </p:val>
                                        </p:tav>
                                        <p:tav tm="100000">
                                          <p:val>
                                            <p:strVal val="#ppt_w"/>
                                          </p:val>
                                        </p:tav>
                                      </p:tavLst>
                                    </p:anim>
                                    <p:anim calcmode="lin" valueType="num">
                                      <p:cBhvr>
                                        <p:cTn id="20"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i="1">
                <a:solidFill>
                  <a:srgbClr val="16171D"/>
                </a:solidFill>
                <a:latin typeface="Segoe UI"/>
                <a:cs typeface="Segoe UI"/>
              </a:rPr>
              <a:t xml:space="preserve">j</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a:t>
            </a:r>
            <a:endParaRPr lang="en-US" sz="3450" dirty="0"/>
          </a:p>
        </p:txBody>
      </p:sp>
      <p:sp>
        <p:nvSpPr>
          <p:cNvPr id="9" name="Shape 9"/>
          <p:cNvSpPr txBox="1"/>
          <p:nvPr/>
        </p:nvSpPr>
        <p:spPr>
          <a:xfrm>
            <a:off x="685800" y="1618488"/>
            <a:ext cx="529574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5" name="Shape 5"/>
          <p:cNvSpPr txBox="1"/>
          <p:nvPr/>
        </p:nvSpPr>
        <p:spPr>
          <a:xfrm>
            <a:off x="895350"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inside, so put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where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was: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− 1.</a:t>
            </a:r>
            <a:endParaRPr lang="en-US" sz="1575" dirty="0"/>
          </a:p>
        </p:txBody>
      </p:sp>
      <p:sp>
        <p:nvSpPr>
          <p:cNvPr id="6" name="Shape 6"/>
          <p:cNvSpPr txBox="1"/>
          <p:nvPr/>
        </p:nvSpPr>
        <p:spPr>
          <a:xfrm>
            <a:off x="895350"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Distribute the 2: 2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2 · (−2) = −4. Now it is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− 4 − 1.</a:t>
            </a:r>
            <a:endParaRPr lang="en-US" sz="1575" dirty="0"/>
          </a:p>
        </p:txBody>
      </p:sp>
      <p:sp>
        <p:nvSpPr>
          <p:cNvPr id="7" name="Shape 7"/>
          <p:cNvSpPr txBox="1"/>
          <p:nvPr/>
        </p:nvSpPr>
        <p:spPr>
          <a:xfrm>
            <a:off x="895350" y="3520440"/>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Combine the numbers: −4 − 1 = −5.</a:t>
            </a:r>
            <a:endParaRPr lang="en-US" sz="1575" dirty="0"/>
          </a:p>
        </p:txBody>
      </p:sp>
      <p:sp>
        <p:nvSpPr>
          <p:cNvPr id="8" name="Shape 8"/>
          <p:cNvSpPr txBox="1"/>
          <p:nvPr/>
        </p:nvSpPr>
        <p:spPr>
          <a:xfrm>
            <a:off x="895350" y="3910584"/>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5" name="Shape 15"/>
          <p:cNvSpPr txBox="1"/>
          <p:nvPr/>
        </p:nvSpPr>
        <p:spPr>
          <a:xfrm>
            <a:off x="6210148" y="1618488"/>
            <a:ext cx="5295748" cy="35768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19698" y="178993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Simplify </a:t>
            </a:r>
            <a:r>
              <a:rPr lang="en-US" sz="2100" dirty="0" b="1" i="1">
                <a:solidFill>
                  <a:srgbClr val="16171D"/>
                </a:solidFill>
                <a:latin typeface="Segoe UI"/>
                <a:cs typeface="Segoe UI"/>
              </a:rPr>
              <a:t xml:space="preserve">j</a:t>
            </a:r>
            <a:r>
              <a:rPr lang="en-US" sz="2100" dirty="0" b="1">
                <a:solidFill>
                  <a:srgbClr val="16171D"/>
                </a:solidFill>
                <a:latin typeface="Segoe UI"/>
                <a:cs typeface="Segoe UI"/>
              </a:rPr>
              <a:t xml:space="preserve">(</a:t>
            </a:r>
            <a:r>
              <a:rPr lang="en-US" sz="2100" dirty="0" b="1" i="1">
                <a:solidFill>
                  <a:srgbClr val="16171D"/>
                </a:solidFill>
                <a:latin typeface="Segoe UI"/>
                <a:cs typeface="Segoe UI"/>
              </a:rPr>
              <a:t xml:space="preserve">x</a:t>
            </a:r>
            <a:r>
              <a:rPr lang="en-US" sz="2100" dirty="0" b="1">
                <a:solidFill>
                  <a:srgbClr val="16171D"/>
                </a:solidFill>
                <a:latin typeface="Segoe UI"/>
                <a:cs typeface="Segoe UI"/>
              </a:rPr>
              <a:t xml:space="preserve">) − 2</a:t>
            </a:r>
            <a:endParaRPr lang="en-US" sz="2100" dirty="0"/>
          </a:p>
        </p:txBody>
      </p:sp>
      <p:sp>
        <p:nvSpPr>
          <p:cNvPr id="11" name="Shape 11"/>
          <p:cNvSpPr txBox="1"/>
          <p:nvPr/>
        </p:nvSpPr>
        <p:spPr>
          <a:xfrm>
            <a:off x="6419698" y="226009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change is outside, so write the whole rule, then subtract 2: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− 1 − 2.</a:t>
            </a:r>
            <a:endParaRPr lang="en-US" sz="1575" dirty="0"/>
          </a:p>
        </p:txBody>
      </p:sp>
      <p:sp>
        <p:nvSpPr>
          <p:cNvPr id="12" name="Shape 12"/>
          <p:cNvSpPr txBox="1"/>
          <p:nvPr/>
        </p:nvSpPr>
        <p:spPr>
          <a:xfrm>
            <a:off x="6419698" y="2890266"/>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Combine the numbers: −1 − 2 = −3. That gives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13" name="Shape 13"/>
          <p:cNvSpPr txBox="1"/>
          <p:nvPr/>
        </p:nvSpPr>
        <p:spPr>
          <a:xfrm>
            <a:off x="6419698" y="3520440"/>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Compare with #1: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 and 2</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 cross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at different places.</a:t>
            </a:r>
            <a:endParaRPr lang="en-US" sz="1575" dirty="0"/>
          </a:p>
        </p:txBody>
      </p:sp>
      <p:sp>
        <p:nvSpPr>
          <p:cNvPr id="14" name="Shape 14"/>
          <p:cNvSpPr txBox="1"/>
          <p:nvPr/>
        </p:nvSpPr>
        <p:spPr>
          <a:xfrm>
            <a:off x="6419698" y="4150614"/>
            <a:ext cx="48766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 · not the same graph as #1</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ppt_w</p:attrName>
                                        </p:attrNameLst>
                                      </p:cBhvr>
                                      <p:tavLst>
                                        <p:tav tm="0">
                                          <p:val>
                                            <p:fltVal val="0"/>
                                          </p:val>
                                        </p:tav>
                                        <p:tav tm="100000">
                                          <p:val>
                                            <p:strVal val="#ppt_w"/>
                                          </p:val>
                                        </p:tav>
                                      </p:tavLst>
                                    </p:anim>
                                    <p:anim calcmode="lin" valueType="num">
                                      <p:cBhvr>
                                        <p:cTn id="27"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ppt_w</p:attrName>
                                        </p:attrNameLst>
                                      </p:cBhvr>
                                      <p:tavLst>
                                        <p:tav tm="0">
                                          <p:val>
                                            <p:fltVal val="0"/>
                                          </p:val>
                                        </p:tav>
                                        <p:tav tm="100000">
                                          <p:val>
                                            <p:strVal val="#ppt_w"/>
                                          </p:val>
                                        </p:tav>
                                      </p:tavLst>
                                    </p:anim>
                                    <p:anim calcmode="lin" valueType="num">
                                      <p:cBhvr>
                                        <p:cTn id="55" dur="500" fill="hold"/>
                                        <p:tgtEl>
                                          <p:spTgt spid="14"/>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Monday, October 26</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Tuesday, October 27. Start at the next slide, “Start: Tuesday, October 27.”</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Tuesday, October 27</a:t>
            </a:r>
            <a:endParaRPr lang="en-US" sz="8250" dirty="0"/>
          </a:p>
        </p:txBody>
      </p:sp>
      <p:sp>
        <p:nvSpPr>
          <p:cNvPr id="4" name="Shape 4"/>
          <p:cNvSpPr txBox="1"/>
          <p:nvPr/>
        </p:nvSpPr>
        <p:spPr>
          <a:xfrm>
            <a:off x="685800" y="5253228"/>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(Linear or nonlinear?) → Lesson 2,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Tue, Oct 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5 units. Which equation is the new function?</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g</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endParaRPr lang="en-US" sz="1575" dirty="0"/>
          </a:p>
        </p:txBody>
      </p:sp>
      <p:sp>
        <p:nvSpPr>
          <p:cNvPr id="6" name="Shape 6"/>
          <p:cNvSpPr txBox="1"/>
          <p:nvPr/>
        </p:nvSpPr>
        <p:spPr>
          <a:xfrm>
            <a:off x="895350"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a:t>
            </a:r>
            <a:r>
              <a:rPr lang="en-US" sz="1425" dirty="0" b="1" i="1">
                <a:solidFill>
                  <a:srgbClr val="16171D"/>
                </a:solidFill>
                <a:latin typeface="Cambria"/>
                <a:cs typeface="Cambria"/>
              </a:rPr>
              <a:t xml:space="preserve">f</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 =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− 5</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means subtract 5 inside: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For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81685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8830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a translation right 5 gives the same graph as which other translation?</a:t>
            </a:r>
            <a:endParaRPr lang="en-US" sz="1575" dirty="0"/>
          </a:p>
        </p:txBody>
      </p:sp>
      <p:sp>
        <p:nvSpPr>
          <p:cNvPr id="9" name="Shape 9"/>
          <p:cNvSpPr txBox="1"/>
          <p:nvPr/>
        </p:nvSpPr>
        <p:spPr>
          <a:xfrm>
            <a:off x="895350" y="45613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for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only: right </a:t>
            </a:r>
            <a:r>
              <a:rPr lang="en-US" sz="1575" dirty="0" i="1">
                <a:solidFill>
                  <a:srgbClr val="16171D"/>
                </a:solidFill>
                <a:latin typeface="Cambria"/>
                <a:cs typeface="Cambria"/>
              </a:rPr>
              <a:t xml:space="preserve">n</a:t>
            </a:r>
            <a:r>
              <a:rPr lang="en-US" sz="1575" dirty="0">
                <a:solidFill>
                  <a:srgbClr val="16171D"/>
                </a:solidFill>
                <a:latin typeface="Segoe UI"/>
                <a:cs typeface="Segoe UI"/>
              </a:rPr>
              <a:t xml:space="preserve"> = down </a:t>
            </a:r>
            <a:r>
              <a:rPr lang="en-US" sz="1575" dirty="0" i="1">
                <a:solidFill>
                  <a:srgbClr val="16171D"/>
                </a:solidFill>
                <a:latin typeface="Cambria"/>
                <a:cs typeface="Cambria"/>
              </a:rPr>
              <a:t xml:space="preserve">n</a:t>
            </a:r>
            <a:endParaRPr lang="en-US" sz="1575" dirty="0"/>
          </a:p>
        </p:txBody>
      </p:sp>
      <p:sp>
        <p:nvSpPr>
          <p:cNvPr id="10" name="Shape 10"/>
          <p:cNvSpPr txBox="1"/>
          <p:nvPr/>
        </p:nvSpPr>
        <p:spPr>
          <a:xfrm>
            <a:off x="895350" y="4894326"/>
            <a:ext cx="463459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Segoe UI"/>
                <a:cs typeface="Segoe UI"/>
              </a:rPr>
              <a:t xml:space="preserve">Down 5 units</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Down 5: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Same equation, so the same graph: down 5.</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r>
              <a:rPr lang="en-US" sz="1575" dirty="0">
                <a:solidFill>
                  <a:srgbClr val="16171D"/>
                </a:solidFill>
                <a:latin typeface="Segoe UI"/>
                <a:cs typeface="Segoe UI"/>
              </a:rPr>
              <a:t xml:space="preserve"> and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j</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Simplify </a:t>
            </a:r>
            <a:r>
              <a:rPr lang="en-US" sz="1575" dirty="0" i="1">
                <a:solidFill>
                  <a:srgbClr val="16171D"/>
                </a:solidFill>
                <a:latin typeface="Cambria"/>
                <a:cs typeface="Cambria"/>
              </a:rPr>
              <a:t xml:space="preserve">r</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put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r>
              <a:rPr lang="en-US" sz="1575" dirty="0">
                <a:solidFill>
                  <a:srgbClr val="16171D"/>
                </a:solidFill>
                <a:latin typeface="Segoe UI"/>
                <a:cs typeface="Segoe UI"/>
              </a:rPr>
              <a:t xml:space="preserve"> in for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then distribute</a:t>
            </a:r>
            <a:endParaRPr lang="en-US" sz="1575" dirty="0"/>
          </a:p>
        </p:txBody>
      </p:sp>
      <p:sp>
        <p:nvSpPr>
          <p:cNvPr id="14" name="Shape 14"/>
          <p:cNvSpPr txBox="1"/>
          <p:nvPr/>
        </p:nvSpPr>
        <p:spPr>
          <a:xfrm>
            <a:off x="6419698" y="2695956"/>
            <a:ext cx="4059959"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r</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+ 7</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r</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+ 4) − 1</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2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4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Combine: </a:t>
            </a:r>
            <a:r>
              <a:rPr lang="en-US" sz="1425" dirty="0">
                <a:solidFill>
                  <a:srgbClr val="16171D"/>
                </a:solidFill>
                <a:latin typeface="Cambria"/>
                <a:cs typeface="Cambria"/>
              </a:rPr>
              <a:t xml:space="preserve">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+ 8 − 1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+ 7</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The graph of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is translated right 2 units. Which function represents the new graph?</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right </a:t>
            </a:r>
            <a:r>
              <a:rPr lang="en-US" sz="1575" dirty="0" i="1">
                <a:solidFill>
                  <a:srgbClr val="16171D"/>
                </a:solidFill>
                <a:latin typeface="Cambria"/>
                <a:cs typeface="Cambria"/>
              </a:rPr>
              <a:t xml:space="preserve">c</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f</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c</a:t>
            </a:r>
            <a:r>
              <a:rPr lang="en-US" sz="1575" dirty="0">
                <a:solidFill>
                  <a:srgbClr val="16171D"/>
                </a:solidFill>
                <a:latin typeface="Cambria"/>
                <a:cs typeface="Cambria"/>
              </a:rPr>
              <a:t xml:space="preserve">)</a:t>
            </a:r>
            <a:r>
              <a:rPr lang="en-US" sz="1575" dirty="0">
                <a:solidFill>
                  <a:srgbClr val="16171D"/>
                </a:solidFill>
                <a:latin typeface="Segoe UI"/>
                <a:cs typeface="Segoe UI"/>
              </a:rPr>
              <a:t xml:space="preserve">, then distribute</a:t>
            </a:r>
            <a:endParaRPr lang="en-US" sz="1575" dirty="0"/>
          </a:p>
        </p:txBody>
      </p:sp>
      <p:sp>
        <p:nvSpPr>
          <p:cNvPr id="18" name="Shape 18"/>
          <p:cNvSpPr txBox="1"/>
          <p:nvPr/>
        </p:nvSpPr>
        <p:spPr>
          <a:xfrm>
            <a:off x="6419698" y="5111496"/>
            <a:ext cx="4155731"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g</a:t>
            </a:r>
            <a:r>
              <a:rPr lang="en-US" sz="1425" dirty="0" b="1">
                <a:solidFill>
                  <a:srgbClr val="16171D"/>
                </a:solidFill>
                <a:latin typeface="Cambria"/>
                <a:cs typeface="Cambria"/>
              </a:rPr>
              <a:t xml:space="preserve">(</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− 6</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Right 2: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a:t>
            </a:r>
            <a:r>
              <a:rPr lang="en-US" sz="1425" dirty="0" i="1">
                <a:solidFill>
                  <a:srgbClr val="16171D"/>
                </a:solidFill>
                <a:latin typeface="Cambria"/>
                <a:cs typeface="Cambria"/>
              </a:rPr>
              <a:t xml:space="preserve">f</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Distribute: </a:t>
            </a:r>
            <a:r>
              <a:rPr lang="en-US" sz="1425" dirty="0">
                <a:solidFill>
                  <a:srgbClr val="16171D"/>
                </a:solidFill>
                <a:latin typeface="Cambria"/>
                <a:cs typeface="Cambria"/>
              </a:rPr>
              <a:t xml:space="preserve">3 ·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 · 2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g</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− 6</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Tue, Oct 27 · about 15 minutes</a:t>
            </a:r>
            <a:endParaRPr lang="en-US" sz="1200" dirty="0"/>
          </a:p>
        </p:txBody>
      </p:sp>
      <p:sp>
        <p:nvSpPr>
          <p:cNvPr id="3" name="Shape 3"/>
          <p:cNvSpPr txBox="1"/>
          <p:nvPr/>
        </p:nvSpPr>
        <p:spPr>
          <a:xfrm>
            <a:off x="685800" y="132359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Linear or nonlinear?</a:t>
            </a:r>
            <a:endParaRPr lang="en-US" sz="5700" dirty="0"/>
          </a:p>
        </p:txBody>
      </p:sp>
      <p:sp>
        <p:nvSpPr>
          <p:cNvPr id="4" name="Shape 4"/>
          <p:cNvSpPr txBox="1"/>
          <p:nvPr/>
        </p:nvSpPr>
        <p:spPr>
          <a:xfrm>
            <a:off x="685800" y="328726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A transformation of a linear function is still linear: the rate of change stays constant.</a:t>
            </a:r>
            <a:endParaRPr lang="en-US" sz="2250" dirty="0"/>
          </a:p>
        </p:txBody>
      </p:sp>
      <p:sp>
        <p:nvSpPr>
          <p:cNvPr id="5" name="Shape 5"/>
          <p:cNvSpPr txBox="1"/>
          <p:nvPr/>
        </p:nvSpPr>
        <p:spPr>
          <a:xfrm>
            <a:off x="685800" y="41993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6" name="Shape 6"/>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Linear function</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rate of change is always the same. The graph is a straight line.</a:t>
            </a:r>
            <a:endParaRPr lang="en-US" sz="1575" dirty="0"/>
          </a:p>
        </p:txBody>
      </p:sp>
      <p:sp>
        <p:nvSpPr>
          <p:cNvPr id="10" name="Shape 10"/>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Rate of change</a:t>
            </a:r>
            <a:endParaRPr lang="en-US" sz="2100" dirty="0"/>
          </a:p>
        </p:txBody>
      </p:sp>
      <p:sp>
        <p:nvSpPr>
          <p:cNvPr id="8" name="Shape 8"/>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It is the slope.</a:t>
            </a:r>
            <a:endParaRPr lang="en-US" sz="1575" dirty="0"/>
          </a:p>
        </p:txBody>
      </p:sp>
      <p:sp>
        <p:nvSpPr>
          <p:cNvPr id="9" name="Shape 9"/>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a:t>
            </a:r>
            <a:endParaRPr lang="en-US" sz="2325" dirty="0"/>
          </a:p>
        </p:txBody>
      </p:sp>
      <p:sp>
        <p:nvSpPr>
          <p:cNvPr id="14" name="Shape 14"/>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12" name="Shape 12"/>
          <p:cNvSpPr txBox="1"/>
          <p:nvPr/>
        </p:nvSpPr>
        <p:spPr>
          <a:xfrm>
            <a:off x="8223047" y="226009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3" name="Shape 13"/>
          <p:cNvSpPr txBox="1"/>
          <p:nvPr/>
        </p:nvSpPr>
        <p:spPr>
          <a:xfrm>
            <a:off x="8223047" y="265023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b</a:t>
            </a:r>
            <a:endParaRPr lang="en-US" sz="2325" dirty="0"/>
          </a:p>
        </p:txBody>
      </p:sp>
      <p:sp>
        <p:nvSpPr>
          <p:cNvPr id="18" name="Shape 18"/>
          <p:cNvSpPr txBox="1"/>
          <p:nvPr/>
        </p:nvSpPr>
        <p:spPr>
          <a:xfrm>
            <a:off x="685800"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95350"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6" name="Shape 16"/>
          <p:cNvSpPr txBox="1"/>
          <p:nvPr/>
        </p:nvSpPr>
        <p:spPr>
          <a:xfrm>
            <a:off x="895350"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 slope,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 zero</a:t>
            </a:r>
            <a:endParaRPr lang="en-US" sz="1575" dirty="0"/>
          </a:p>
        </p:txBody>
      </p:sp>
      <p:sp>
        <p:nvSpPr>
          <p:cNvPr id="17" name="Shape 17"/>
          <p:cNvSpPr txBox="1"/>
          <p:nvPr/>
        </p:nvSpPr>
        <p:spPr>
          <a:xfrm>
            <a:off x="895350"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a</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c</a:t>
            </a:r>
            <a:r>
              <a:rPr lang="en-US" sz="2325" dirty="0">
                <a:solidFill>
                  <a:srgbClr val="16171D"/>
                </a:solidFill>
                <a:latin typeface="Cambria"/>
                <a:cs typeface="Cambria"/>
              </a:rPr>
              <a:t xml:space="preserve">)</a:t>
            </a:r>
            <a:endParaRPr lang="en-US" sz="2325" dirty="0"/>
          </a:p>
        </p:txBody>
      </p:sp>
      <p:sp>
        <p:nvSpPr>
          <p:cNvPr id="21" name="Shape 21"/>
          <p:cNvSpPr txBox="1"/>
          <p:nvPr/>
        </p:nvSpPr>
        <p:spPr>
          <a:xfrm>
            <a:off x="4349648"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4559198"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Zero</a:t>
            </a:r>
            <a:endParaRPr lang="en-US" sz="2100" dirty="0"/>
          </a:p>
        </p:txBody>
      </p:sp>
      <p:sp>
        <p:nvSpPr>
          <p:cNvPr id="20" name="Shape 20"/>
          <p:cNvSpPr txBox="1"/>
          <p:nvPr/>
        </p:nvSpPr>
        <p:spPr>
          <a:xfrm>
            <a:off x="4559198" y="428396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that makes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0. The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there.</a:t>
            </a:r>
            <a:endParaRPr lang="en-US" sz="1575" dirty="0"/>
          </a:p>
        </p:txBody>
      </p:sp>
      <p:sp>
        <p:nvSpPr>
          <p:cNvPr id="25" name="Shape 25"/>
          <p:cNvSpPr txBox="1"/>
          <p:nvPr/>
        </p:nvSpPr>
        <p:spPr>
          <a:xfrm>
            <a:off x="8013497" y="3642360"/>
            <a:ext cx="3492398" cy="161239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2" name="Shape 22"/>
          <p:cNvSpPr txBox="1"/>
          <p:nvPr/>
        </p:nvSpPr>
        <p:spPr>
          <a:xfrm>
            <a:off x="8223047" y="381381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Direct variation</a:t>
            </a:r>
            <a:endParaRPr lang="en-US" sz="2100" dirty="0"/>
          </a:p>
        </p:txBody>
      </p:sp>
      <p:sp>
        <p:nvSpPr>
          <p:cNvPr id="23" name="Shape 23"/>
          <p:cNvSpPr txBox="1"/>
          <p:nvPr/>
        </p:nvSpPr>
        <p:spPr>
          <a:xfrm>
            <a:off x="8223047" y="4283964"/>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line through (0, 0).</a:t>
            </a:r>
            <a:endParaRPr lang="en-US" sz="1575" dirty="0"/>
          </a:p>
        </p:txBody>
      </p:sp>
      <p:sp>
        <p:nvSpPr>
          <p:cNvPr id="24" name="Shape 24"/>
          <p:cNvSpPr txBox="1"/>
          <p:nvPr/>
        </p:nvSpPr>
        <p:spPr>
          <a:xfrm>
            <a:off x="8223047" y="467410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kx</a:t>
            </a:r>
            <a:endParaRPr lang="en-US" sz="2325" dirty="0"/>
          </a:p>
        </p:txBody>
      </p:sp>
      <p:sp>
        <p:nvSpPr>
          <p:cNvPr id="26" name="Slide Number 2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the table linear?</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and the 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between each pair of rows.</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Divide: </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Always the same number → </a:t>
            </a:r>
            <a:r>
              <a:rPr lang="en-US" sz="1950" dirty="0" b="1">
                <a:solidFill>
                  <a:srgbClr val="16171D"/>
                </a:solidFill>
                <a:latin typeface="Segoe UI"/>
                <a:cs typeface="Segoe UI"/>
              </a:rPr>
              <a:t xml:space="preserve">linear</a:t>
            </a:r>
            <a:r>
              <a:rPr lang="en-US" sz="1950" dirty="0">
                <a:solidFill>
                  <a:srgbClr val="16171D"/>
                </a:solidFill>
                <a:latin typeface="Segoe UI"/>
                <a:cs typeface="Segoe UI"/>
              </a:rPr>
              <a:t xml:space="preserve">. Different → </a:t>
            </a:r>
            <a:r>
              <a:rPr lang="en-US" sz="1950" dirty="0" b="1">
                <a:solidFill>
                  <a:srgbClr val="16171D"/>
                </a:solidFill>
                <a:latin typeface="Segoe UI"/>
                <a:cs typeface="Segoe UI"/>
              </a:rPr>
              <a:t xml:space="preserve">not linear</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If linear, find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and write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ax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b</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Watch me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9</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13</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17</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Each row: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goes up 2,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goes up 4.</a:t>
            </a:r>
            <a:endParaRPr lang="en-US" sz="1950" dirty="0"/>
          </a:p>
        </p:txBody>
      </p:sp>
      <p:sp>
        <p:nvSpPr>
          <p:cNvPr id="15" name="Shape 15"/>
          <p:cNvSpPr txBox="1"/>
          <p:nvPr/>
        </p:nvSpPr>
        <p:spPr>
          <a:xfrm>
            <a:off x="6286348"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2 every time.</a:t>
            </a:r>
            <a:endParaRPr lang="en-US" sz="1950" dirty="0"/>
          </a:p>
        </p:txBody>
      </p:sp>
      <p:sp>
        <p:nvSpPr>
          <p:cNvPr id="16" name="Shape 16"/>
          <p:cNvSpPr txBox="1"/>
          <p:nvPr/>
        </p:nvSpPr>
        <p:spPr>
          <a:xfrm>
            <a:off x="6286348" y="258927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Linear, slope 2</a:t>
            </a:r>
            <a:endParaRPr lang="en-US" sz="2325" dirty="0"/>
          </a:p>
        </p:txBody>
      </p:sp>
      <p:sp>
        <p:nvSpPr>
          <p:cNvPr id="17" name="Shape 17"/>
          <p:cNvSpPr txBox="1"/>
          <p:nvPr/>
        </p:nvSpPr>
        <p:spPr>
          <a:xfrm>
            <a:off x="6286348" y="324154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At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5.</a:t>
            </a:r>
            <a:endParaRPr lang="en-US" sz="1950" dirty="0"/>
          </a:p>
        </p:txBody>
      </p:sp>
      <p:sp>
        <p:nvSpPr>
          <p:cNvPr id="18" name="Shape 18"/>
          <p:cNvSpPr txBox="1"/>
          <p:nvPr/>
        </p:nvSpPr>
        <p:spPr>
          <a:xfrm>
            <a:off x="6286348" y="37269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f</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fade">
                                      <p:cBhvr>
                                        <p:cTn id="4" dur="500"/>
                                        <p:tgtEl>
                                          <p:spTgt spid="16"/>
                                        </p:tgtEl>
                                      </p:cBhvr>
                                    </p:animEffect>
                                    <p:anim calcmode="lin" valueType="num">
                                      <p:cBhvr>
                                        <p:cTn id="5" dur="500" fill="hold"/>
                                        <p:tgtEl>
                                          <p:spTgt spid="16"/>
                                        </p:tgtEl>
                                        <p:attrNameLst>
                                          <p:attrName>ppt_w</p:attrName>
                                        </p:attrNameLst>
                                      </p:cBhvr>
                                      <p:tavLst>
                                        <p:tav tm="0">
                                          <p:val>
                                            <p:fltVal val="0"/>
                                          </p:val>
                                        </p:tav>
                                        <p:tav tm="100000">
                                          <p:val>
                                            <p:strVal val="#ppt_w"/>
                                          </p:val>
                                        </p:tav>
                                      </p:tavLst>
                                    </p:anim>
                                    <p:anim calcmode="lin" valueType="num">
                                      <p:cBhvr>
                                        <p:cTn id="6"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animEffect transition="in" filter="fade">
                                      <p:cBhvr>
                                        <p:cTn id="11" dur="500"/>
                                        <p:tgtEl>
                                          <p:spTgt spid="18"/>
                                        </p:tgtEl>
                                      </p:cBhvr>
                                    </p:animEffect>
                                    <p:anim calcmode="lin" valueType="num">
                                      <p:cBhvr>
                                        <p:cTn id="12" dur="500" fill="hold"/>
                                        <p:tgtEl>
                                          <p:spTgt spid="18"/>
                                        </p:tgtEl>
                                        <p:attrNameLst>
                                          <p:attrName>ppt_w</p:attrName>
                                        </p:attrNameLst>
                                      </p:cBhvr>
                                      <p:tavLst>
                                        <p:tav tm="0">
                                          <p:val>
                                            <p:fltVal val="0"/>
                                          </p:val>
                                        </p:tav>
                                        <p:tav tm="100000">
                                          <p:val>
                                            <p:strVal val="#ppt_w"/>
                                          </p:val>
                                        </p:tav>
                                      </p:tavLst>
                                    </p:anim>
                                    <p:anim calcmode="lin" valueType="num">
                                      <p:cBhvr>
                                        <p:cTn id="13"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Together</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Is this table linear?</a:t>
            </a:r>
            <a:endParaRPr lang="en-US" sz="3450" dirty="0"/>
          </a:p>
        </p:txBody>
      </p:sp>
      <p:sp>
        <p:nvSpPr>
          <p:cNvPr id="4" name="Shape 4"/>
          <p:cNvSpPr txBox="1"/>
          <p:nvPr/>
        </p:nvSpPr>
        <p:spPr>
          <a:xfrm>
            <a:off x="685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endParaRPr lang="en-US" sz="1950" dirty="0"/>
          </a:p>
        </p:txBody>
      </p:sp>
      <p:sp>
        <p:nvSpPr>
          <p:cNvPr id="5" name="Shape 5"/>
          <p:cNvSpPr txBox="1"/>
          <p:nvPr/>
        </p:nvSpPr>
        <p:spPr>
          <a:xfrm>
            <a:off x="1828800" y="1618488"/>
            <a:ext cx="114300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endParaRPr lang="en-US" sz="1950" dirty="0"/>
          </a:p>
        </p:txBody>
      </p:sp>
      <p:sp>
        <p:nvSpPr>
          <p:cNvPr id="6" name="Shape 6"/>
          <p:cNvSpPr txBox="1"/>
          <p:nvPr/>
        </p:nvSpPr>
        <p:spPr>
          <a:xfrm>
            <a:off x="685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a:t>
            </a:r>
            <a:endParaRPr lang="en-US" sz="1950" dirty="0"/>
          </a:p>
        </p:txBody>
      </p:sp>
      <p:sp>
        <p:nvSpPr>
          <p:cNvPr id="7" name="Shape 7"/>
          <p:cNvSpPr txBox="1"/>
          <p:nvPr/>
        </p:nvSpPr>
        <p:spPr>
          <a:xfrm>
            <a:off x="1828800" y="2061972"/>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8" name="Shape 8"/>
          <p:cNvSpPr txBox="1"/>
          <p:nvPr/>
        </p:nvSpPr>
        <p:spPr>
          <a:xfrm>
            <a:off x="685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1828800" y="2505456"/>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0" name="Shape 10"/>
          <p:cNvSpPr txBox="1"/>
          <p:nvPr/>
        </p:nvSpPr>
        <p:spPr>
          <a:xfrm>
            <a:off x="685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endParaRPr lang="en-US" sz="1950" dirty="0"/>
          </a:p>
        </p:txBody>
      </p:sp>
      <p:sp>
        <p:nvSpPr>
          <p:cNvPr id="11" name="Shape 11"/>
          <p:cNvSpPr txBox="1"/>
          <p:nvPr/>
        </p:nvSpPr>
        <p:spPr>
          <a:xfrm>
            <a:off x="1828800" y="2948940"/>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12</a:t>
            </a:r>
            <a:endParaRPr lang="en-US" sz="1950" dirty="0"/>
          </a:p>
        </p:txBody>
      </p:sp>
      <p:sp>
        <p:nvSpPr>
          <p:cNvPr id="12" name="Shape 12"/>
          <p:cNvSpPr txBox="1"/>
          <p:nvPr/>
        </p:nvSpPr>
        <p:spPr>
          <a:xfrm>
            <a:off x="685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3" name="Shape 13"/>
          <p:cNvSpPr txBox="1"/>
          <p:nvPr/>
        </p:nvSpPr>
        <p:spPr>
          <a:xfrm>
            <a:off x="1828800" y="3392424"/>
            <a:ext cx="114300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24</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Change in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3, ____, ____</a:t>
            </a:r>
            <a:endParaRPr lang="en-US" sz="1950" dirty="0"/>
          </a:p>
        </p:txBody>
      </p:sp>
      <p:sp>
        <p:nvSpPr>
          <p:cNvPr id="15" name="Shape 15"/>
          <p:cNvSpPr txBox="1"/>
          <p:nvPr/>
        </p:nvSpPr>
        <p:spPr>
          <a:xfrm>
            <a:off x="6286348" y="2103882"/>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3, 6, 12</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Is it the same every time?</a:t>
            </a:r>
            <a:endParaRPr lang="en-US" sz="1950" dirty="0"/>
          </a:p>
        </p:txBody>
      </p:sp>
      <p:sp>
        <p:nvSpPr>
          <p:cNvPr id="17" name="Shape 17"/>
          <p:cNvSpPr txBox="1"/>
          <p:nvPr/>
        </p:nvSpPr>
        <p:spPr>
          <a:xfrm>
            <a:off x="6286348" y="3241548"/>
            <a:ext cx="52195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No, so it is not linear.</a:t>
            </a:r>
            <a:endParaRPr lang="en-US" sz="2325"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Stretch inside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For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and 2</a:t>
            </a:r>
            <a:r>
              <a:rPr lang="en-US" sz="3450" dirty="0" b="1" i="1">
                <a:solidFill>
                  <a:srgbClr val="16171D"/>
                </a:solidFill>
                <a:latin typeface="Segoe UI"/>
                <a:cs typeface="Segoe UI"/>
              </a:rPr>
              <a:t xml:space="preserve">f</a:t>
            </a:r>
            <a:r>
              <a:rPr lang="en-US" sz="3450" dirty="0" b="1">
                <a:solidFill>
                  <a:srgbClr val="16171D"/>
                </a:solidFill>
                <a:latin typeface="Segoe UI"/>
                <a:cs typeface="Segoe UI"/>
              </a:rPr>
              <a:t xml:space="preserve">(</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5" name="Shape 5"/>
          <p:cNvSpPr txBox="1"/>
          <p:nvPr/>
        </p:nvSpPr>
        <p:spPr>
          <a:xfrm>
            <a:off x="685800" y="2103882"/>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2</a:t>
            </a:r>
            <a:r>
              <a:rPr lang="en-US" sz="1950" dirty="0" i="1">
                <a:solidFill>
                  <a:srgbClr val="16171D"/>
                </a:solidFill>
                <a:latin typeface="Segoe UI"/>
                <a:cs typeface="Segoe UI"/>
              </a:rPr>
              <a:t xml:space="preserve">x</a:t>
            </a:r>
            <a:endParaRPr lang="en-US" sz="1950" dirty="0"/>
          </a:p>
        </p:txBody>
      </p:sp>
      <p:sp>
        <p:nvSpPr>
          <p:cNvPr id="6" name="Shape 6"/>
          <p:cNvSpPr txBox="1"/>
          <p:nvPr/>
        </p:nvSpPr>
        <p:spPr>
          <a:xfrm>
            <a:off x="685800" y="2589276"/>
            <a:ext cx="521954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The same line: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endParaRPr lang="en-US" sz="2325" dirty="0"/>
          </a:p>
        </p:txBody>
      </p:sp>
      <p:sp>
        <p:nvSpPr>
          <p:cNvPr id="7" name="Shape 7"/>
          <p:cNvSpPr txBox="1"/>
          <p:nvPr/>
        </p:nvSpPr>
        <p:spPr>
          <a:xfrm>
            <a:off x="685800" y="3241548"/>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This only works for </a:t>
            </a:r>
            <a:r>
              <a:rPr lang="en-US" sz="1575" dirty="0" i="1">
                <a:solidFill>
                  <a:srgbClr val="16171D"/>
                </a:solidFill>
                <a:latin typeface="Segoe UI"/>
                <a:cs typeface="Segoe UI"/>
              </a:rPr>
              <a:t xml:space="preserve">f</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8" name="Shape 8"/>
          <p:cNvSpPr/>
          <p:nvPr/>
        </p:nvSpPr>
        <p:spPr>
          <a:xfrm>
            <a:off x="6286348" y="1618488"/>
            <a:ext cx="30480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6610198" y="1732788"/>
            <a:ext cx="0" cy="2686050"/>
          </a:xfrm>
          <a:prstGeom prst="line">
            <a:avLst/>
          </a:prstGeom>
          <a:ln w="9525" cap="flat">
            <a:solidFill>
              <a:srgbClr val="E6E8F2"/>
            </a:solidFill>
          </a:ln>
        </p:spPr>
      </p:cxnSp>
      <p:cxnSp>
        <p:nvCxnSpPr>
          <p:cNvPr id="10" name="Line 10"/>
          <p:cNvCxnSpPr/>
          <p:nvPr/>
        </p:nvCxnSpPr>
        <p:spPr>
          <a:xfrm>
            <a:off x="6936429" y="1732788"/>
            <a:ext cx="0" cy="2686050"/>
          </a:xfrm>
          <a:prstGeom prst="line">
            <a:avLst/>
          </a:prstGeom>
          <a:ln w="9525" cap="flat">
            <a:solidFill>
              <a:srgbClr val="E6E8F2"/>
            </a:solidFill>
          </a:ln>
        </p:spPr>
      </p:cxnSp>
      <p:cxnSp>
        <p:nvCxnSpPr>
          <p:cNvPr id="11" name="Line 11"/>
          <p:cNvCxnSpPr/>
          <p:nvPr/>
        </p:nvCxnSpPr>
        <p:spPr>
          <a:xfrm>
            <a:off x="7262660" y="1732788"/>
            <a:ext cx="0" cy="2686050"/>
          </a:xfrm>
          <a:prstGeom prst="line">
            <a:avLst/>
          </a:prstGeom>
          <a:ln w="9525" cap="flat">
            <a:solidFill>
              <a:srgbClr val="E6E8F2"/>
            </a:solidFill>
          </a:ln>
        </p:spPr>
      </p:cxnSp>
      <p:cxnSp>
        <p:nvCxnSpPr>
          <p:cNvPr id="12" name="Line 12"/>
          <p:cNvCxnSpPr/>
          <p:nvPr/>
        </p:nvCxnSpPr>
        <p:spPr>
          <a:xfrm>
            <a:off x="7588891" y="1732788"/>
            <a:ext cx="0" cy="2686050"/>
          </a:xfrm>
          <a:prstGeom prst="line">
            <a:avLst/>
          </a:prstGeom>
          <a:ln w="9525" cap="flat">
            <a:solidFill>
              <a:srgbClr val="E6E8F2"/>
            </a:solidFill>
          </a:ln>
        </p:spPr>
      </p:cxnSp>
      <p:cxnSp>
        <p:nvCxnSpPr>
          <p:cNvPr id="13" name="Line 13"/>
          <p:cNvCxnSpPr/>
          <p:nvPr/>
        </p:nvCxnSpPr>
        <p:spPr>
          <a:xfrm>
            <a:off x="7915123" y="1732788"/>
            <a:ext cx="0" cy="2686050"/>
          </a:xfrm>
          <a:prstGeom prst="line">
            <a:avLst/>
          </a:prstGeom>
          <a:ln w="9525" cap="flat">
            <a:solidFill>
              <a:srgbClr val="E6E8F2"/>
            </a:solidFill>
          </a:ln>
        </p:spPr>
      </p:cxnSp>
      <p:cxnSp>
        <p:nvCxnSpPr>
          <p:cNvPr id="14" name="Line 14"/>
          <p:cNvCxnSpPr/>
          <p:nvPr/>
        </p:nvCxnSpPr>
        <p:spPr>
          <a:xfrm>
            <a:off x="8241354" y="1732788"/>
            <a:ext cx="0" cy="2686050"/>
          </a:xfrm>
          <a:prstGeom prst="line">
            <a:avLst/>
          </a:prstGeom>
          <a:ln w="9525" cap="flat">
            <a:solidFill>
              <a:srgbClr val="E6E8F2"/>
            </a:solidFill>
          </a:ln>
        </p:spPr>
      </p:cxnSp>
      <p:cxnSp>
        <p:nvCxnSpPr>
          <p:cNvPr id="15" name="Line 15"/>
          <p:cNvCxnSpPr/>
          <p:nvPr/>
        </p:nvCxnSpPr>
        <p:spPr>
          <a:xfrm>
            <a:off x="8567585" y="1732788"/>
            <a:ext cx="0" cy="2686050"/>
          </a:xfrm>
          <a:prstGeom prst="line">
            <a:avLst/>
          </a:prstGeom>
          <a:ln w="9525" cap="flat">
            <a:solidFill>
              <a:srgbClr val="E6E8F2"/>
            </a:solidFill>
          </a:ln>
        </p:spPr>
      </p:cxnSp>
      <p:cxnSp>
        <p:nvCxnSpPr>
          <p:cNvPr id="16" name="Line 16"/>
          <p:cNvCxnSpPr/>
          <p:nvPr/>
        </p:nvCxnSpPr>
        <p:spPr>
          <a:xfrm>
            <a:off x="8893816" y="1732788"/>
            <a:ext cx="0" cy="2686050"/>
          </a:xfrm>
          <a:prstGeom prst="line">
            <a:avLst/>
          </a:prstGeom>
          <a:ln w="9525" cap="flat">
            <a:solidFill>
              <a:srgbClr val="E6E8F2"/>
            </a:solidFill>
          </a:ln>
        </p:spPr>
      </p:cxnSp>
      <p:cxnSp>
        <p:nvCxnSpPr>
          <p:cNvPr id="17" name="Line 17"/>
          <p:cNvCxnSpPr/>
          <p:nvPr/>
        </p:nvCxnSpPr>
        <p:spPr>
          <a:xfrm>
            <a:off x="9220048" y="1732788"/>
            <a:ext cx="0" cy="2686050"/>
          </a:xfrm>
          <a:prstGeom prst="line">
            <a:avLst/>
          </a:prstGeom>
          <a:ln w="9525" cap="flat">
            <a:solidFill>
              <a:srgbClr val="E6E8F2"/>
            </a:solidFill>
          </a:ln>
        </p:spPr>
      </p:cxnSp>
      <p:cxnSp>
        <p:nvCxnSpPr>
          <p:cNvPr id="18" name="Line 18"/>
          <p:cNvCxnSpPr/>
          <p:nvPr/>
        </p:nvCxnSpPr>
        <p:spPr>
          <a:xfrm>
            <a:off x="6610198" y="4418838"/>
            <a:ext cx="2609850" cy="0"/>
          </a:xfrm>
          <a:prstGeom prst="line">
            <a:avLst/>
          </a:prstGeom>
          <a:ln w="9525" cap="flat">
            <a:solidFill>
              <a:srgbClr val="E6E8F2"/>
            </a:solidFill>
          </a:ln>
        </p:spPr>
      </p:cxnSp>
      <p:cxnSp>
        <p:nvCxnSpPr>
          <p:cNvPr id="19" name="Line 19"/>
          <p:cNvCxnSpPr/>
          <p:nvPr/>
        </p:nvCxnSpPr>
        <p:spPr>
          <a:xfrm>
            <a:off x="6610198" y="4150233"/>
            <a:ext cx="2609850" cy="0"/>
          </a:xfrm>
          <a:prstGeom prst="line">
            <a:avLst/>
          </a:prstGeom>
          <a:ln w="9525" cap="flat">
            <a:solidFill>
              <a:srgbClr val="E6E8F2"/>
            </a:solidFill>
          </a:ln>
        </p:spPr>
      </p:cxnSp>
      <p:cxnSp>
        <p:nvCxnSpPr>
          <p:cNvPr id="20" name="Line 20"/>
          <p:cNvCxnSpPr/>
          <p:nvPr/>
        </p:nvCxnSpPr>
        <p:spPr>
          <a:xfrm>
            <a:off x="6610198" y="3881628"/>
            <a:ext cx="2609850" cy="0"/>
          </a:xfrm>
          <a:prstGeom prst="line">
            <a:avLst/>
          </a:prstGeom>
          <a:ln w="9525" cap="flat">
            <a:solidFill>
              <a:srgbClr val="E6E8F2"/>
            </a:solidFill>
          </a:ln>
        </p:spPr>
      </p:cxnSp>
      <p:cxnSp>
        <p:nvCxnSpPr>
          <p:cNvPr id="21" name="Line 21"/>
          <p:cNvCxnSpPr/>
          <p:nvPr/>
        </p:nvCxnSpPr>
        <p:spPr>
          <a:xfrm>
            <a:off x="6610198" y="3613023"/>
            <a:ext cx="2609850" cy="0"/>
          </a:xfrm>
          <a:prstGeom prst="line">
            <a:avLst/>
          </a:prstGeom>
          <a:ln w="9525" cap="flat">
            <a:solidFill>
              <a:srgbClr val="E6E8F2"/>
            </a:solidFill>
          </a:ln>
        </p:spPr>
      </p:cxnSp>
      <p:cxnSp>
        <p:nvCxnSpPr>
          <p:cNvPr id="22" name="Line 22"/>
          <p:cNvCxnSpPr/>
          <p:nvPr/>
        </p:nvCxnSpPr>
        <p:spPr>
          <a:xfrm>
            <a:off x="6610198" y="3344418"/>
            <a:ext cx="2609850" cy="0"/>
          </a:xfrm>
          <a:prstGeom prst="line">
            <a:avLst/>
          </a:prstGeom>
          <a:ln w="9525" cap="flat">
            <a:solidFill>
              <a:srgbClr val="E6E8F2"/>
            </a:solidFill>
          </a:ln>
        </p:spPr>
      </p:cxnSp>
      <p:cxnSp>
        <p:nvCxnSpPr>
          <p:cNvPr id="23" name="Line 23"/>
          <p:cNvCxnSpPr/>
          <p:nvPr/>
        </p:nvCxnSpPr>
        <p:spPr>
          <a:xfrm>
            <a:off x="6610198" y="3075813"/>
            <a:ext cx="2609850" cy="0"/>
          </a:xfrm>
          <a:prstGeom prst="line">
            <a:avLst/>
          </a:prstGeom>
          <a:ln w="9525" cap="flat">
            <a:solidFill>
              <a:srgbClr val="E6E8F2"/>
            </a:solidFill>
          </a:ln>
        </p:spPr>
      </p:cxnSp>
      <p:cxnSp>
        <p:nvCxnSpPr>
          <p:cNvPr id="24" name="Line 24"/>
          <p:cNvCxnSpPr/>
          <p:nvPr/>
        </p:nvCxnSpPr>
        <p:spPr>
          <a:xfrm>
            <a:off x="6610198" y="2807208"/>
            <a:ext cx="2609850" cy="0"/>
          </a:xfrm>
          <a:prstGeom prst="line">
            <a:avLst/>
          </a:prstGeom>
          <a:ln w="9525" cap="flat">
            <a:solidFill>
              <a:srgbClr val="E6E8F2"/>
            </a:solidFill>
          </a:ln>
        </p:spPr>
      </p:cxnSp>
      <p:cxnSp>
        <p:nvCxnSpPr>
          <p:cNvPr id="25" name="Line 25"/>
          <p:cNvCxnSpPr/>
          <p:nvPr/>
        </p:nvCxnSpPr>
        <p:spPr>
          <a:xfrm>
            <a:off x="6610198" y="2538603"/>
            <a:ext cx="2609850" cy="0"/>
          </a:xfrm>
          <a:prstGeom prst="line">
            <a:avLst/>
          </a:prstGeom>
          <a:ln w="9525" cap="flat">
            <a:solidFill>
              <a:srgbClr val="E6E8F2"/>
            </a:solidFill>
          </a:ln>
        </p:spPr>
      </p:cxnSp>
      <p:cxnSp>
        <p:nvCxnSpPr>
          <p:cNvPr id="26" name="Line 26"/>
          <p:cNvCxnSpPr/>
          <p:nvPr/>
        </p:nvCxnSpPr>
        <p:spPr>
          <a:xfrm>
            <a:off x="6610198" y="2269998"/>
            <a:ext cx="2609850" cy="0"/>
          </a:xfrm>
          <a:prstGeom prst="line">
            <a:avLst/>
          </a:prstGeom>
          <a:ln w="9525" cap="flat">
            <a:solidFill>
              <a:srgbClr val="E6E8F2"/>
            </a:solidFill>
          </a:ln>
        </p:spPr>
      </p:cxnSp>
      <p:cxnSp>
        <p:nvCxnSpPr>
          <p:cNvPr id="27" name="Line 27"/>
          <p:cNvCxnSpPr/>
          <p:nvPr/>
        </p:nvCxnSpPr>
        <p:spPr>
          <a:xfrm>
            <a:off x="6610198" y="2001393"/>
            <a:ext cx="2609850" cy="0"/>
          </a:xfrm>
          <a:prstGeom prst="line">
            <a:avLst/>
          </a:prstGeom>
          <a:ln w="9525" cap="flat">
            <a:solidFill>
              <a:srgbClr val="E6E8F2"/>
            </a:solidFill>
          </a:ln>
        </p:spPr>
      </p:cxnSp>
      <p:cxnSp>
        <p:nvCxnSpPr>
          <p:cNvPr id="28" name="Line 28"/>
          <p:cNvCxnSpPr/>
          <p:nvPr/>
        </p:nvCxnSpPr>
        <p:spPr>
          <a:xfrm>
            <a:off x="6610198" y="1732788"/>
            <a:ext cx="2609850" cy="0"/>
          </a:xfrm>
          <a:prstGeom prst="line">
            <a:avLst/>
          </a:prstGeom>
          <a:ln w="9525" cap="flat">
            <a:solidFill>
              <a:srgbClr val="E6E8F2"/>
            </a:solidFill>
          </a:ln>
        </p:spPr>
      </p:cxnSp>
      <p:cxnSp>
        <p:nvCxnSpPr>
          <p:cNvPr id="29" name="Line 29"/>
          <p:cNvCxnSpPr/>
          <p:nvPr/>
        </p:nvCxnSpPr>
        <p:spPr>
          <a:xfrm>
            <a:off x="7915123" y="1732788"/>
            <a:ext cx="0" cy="2686050"/>
          </a:xfrm>
          <a:prstGeom prst="line">
            <a:avLst/>
          </a:prstGeom>
          <a:ln w="19050" cap="flat">
            <a:solidFill>
              <a:srgbClr val="5F6272"/>
            </a:solidFill>
          </a:ln>
        </p:spPr>
      </p:cxnSp>
      <p:cxnSp>
        <p:nvCxnSpPr>
          <p:cNvPr id="30" name="Line 30"/>
          <p:cNvCxnSpPr/>
          <p:nvPr/>
        </p:nvCxnSpPr>
        <p:spPr>
          <a:xfrm>
            <a:off x="6610198" y="3075813"/>
            <a:ext cx="2609850" cy="0"/>
          </a:xfrm>
          <a:prstGeom prst="line">
            <a:avLst/>
          </a:prstGeom>
          <a:ln w="19050" cap="flat">
            <a:solidFill>
              <a:srgbClr val="5F6272"/>
            </a:solidFill>
          </a:ln>
        </p:spPr>
      </p:cxnSp>
      <p:sp>
        <p:nvSpPr>
          <p:cNvPr id="31" name="Shape 31"/>
          <p:cNvSpPr txBox="1"/>
          <p:nvPr/>
        </p:nvSpPr>
        <p:spPr>
          <a:xfrm>
            <a:off x="633587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2" name="Shape 32"/>
          <p:cNvSpPr txBox="1"/>
          <p:nvPr/>
        </p:nvSpPr>
        <p:spPr>
          <a:xfrm>
            <a:off x="6662109"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3" name="Shape 33"/>
          <p:cNvSpPr txBox="1"/>
          <p:nvPr/>
        </p:nvSpPr>
        <p:spPr>
          <a:xfrm>
            <a:off x="6988340"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7314571"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5" name="Shape 35"/>
          <p:cNvSpPr txBox="1"/>
          <p:nvPr/>
        </p:nvSpPr>
        <p:spPr>
          <a:xfrm>
            <a:off x="7640803"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6" name="Shape 36"/>
          <p:cNvSpPr txBox="1"/>
          <p:nvPr/>
        </p:nvSpPr>
        <p:spPr>
          <a:xfrm>
            <a:off x="7967034"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82932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8" name="Shape 38"/>
          <p:cNvSpPr txBox="1"/>
          <p:nvPr/>
        </p:nvSpPr>
        <p:spPr>
          <a:xfrm>
            <a:off x="8619496"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9" name="Shape 39"/>
          <p:cNvSpPr txBox="1"/>
          <p:nvPr/>
        </p:nvSpPr>
        <p:spPr>
          <a:xfrm>
            <a:off x="8945728"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6043270"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1" name="Shape 41"/>
          <p:cNvSpPr txBox="1"/>
          <p:nvPr/>
        </p:nvSpPr>
        <p:spPr>
          <a:xfrm>
            <a:off x="6043270" y="405879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6043270"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3" name="Shape 43"/>
          <p:cNvSpPr txBox="1"/>
          <p:nvPr/>
        </p:nvSpPr>
        <p:spPr>
          <a:xfrm>
            <a:off x="6043270" y="352158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6043270"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5" name="Shape 45"/>
          <p:cNvSpPr txBox="1"/>
          <p:nvPr/>
        </p:nvSpPr>
        <p:spPr>
          <a:xfrm>
            <a:off x="6043270" y="29843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6043270"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447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8" name="Shape 48"/>
          <p:cNvSpPr txBox="1"/>
          <p:nvPr/>
        </p:nvSpPr>
        <p:spPr>
          <a:xfrm>
            <a:off x="6043270"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9" name="Shape 49"/>
          <p:cNvSpPr txBox="1"/>
          <p:nvPr/>
        </p:nvSpPr>
        <p:spPr>
          <a:xfrm>
            <a:off x="6043270" y="19099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cxnSp>
        <p:nvCxnSpPr>
          <p:cNvPr id="51" name="Line 51"/>
          <p:cNvCxnSpPr/>
          <p:nvPr/>
        </p:nvCxnSpPr>
        <p:spPr>
          <a:xfrm flipV="1">
            <a:off x="6610198" y="2001393"/>
            <a:ext cx="2609850" cy="2148840"/>
          </a:xfrm>
          <a:prstGeom prst="line">
            <a:avLst/>
          </a:prstGeom>
          <a:ln w="38100" cap="rnd">
            <a:solidFill>
              <a:srgbClr val="16171D"/>
            </a:solidFill>
          </a:ln>
        </p:spPr>
      </p:cxnSp>
      <p:sp>
        <p:nvSpPr>
          <p:cNvPr id="52" name="Shape 52"/>
          <p:cNvSpPr txBox="1"/>
          <p:nvPr/>
        </p:nvSpPr>
        <p:spPr>
          <a:xfrm>
            <a:off x="6728308" y="202044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f(x)</a:t>
            </a:r>
            <a:endParaRPr lang="en-US" sz="1275" dirty="0"/>
          </a:p>
        </p:txBody>
      </p:sp>
      <p:cxnSp>
        <p:nvCxnSpPr>
          <p:cNvPr id="53" name="Line 53"/>
          <p:cNvCxnSpPr/>
          <p:nvPr/>
        </p:nvCxnSpPr>
        <p:spPr>
          <a:xfrm flipV="1">
            <a:off x="7099544" y="1732788"/>
            <a:ext cx="1631156" cy="2686050"/>
          </a:xfrm>
          <a:prstGeom prst="line">
            <a:avLst/>
          </a:prstGeom>
          <a:ln w="38100" cap="rnd">
            <a:solidFill>
              <a:srgbClr val="16171D"/>
            </a:solidFill>
          </a:ln>
        </p:spPr>
      </p:cxnSp>
      <p:sp>
        <p:nvSpPr>
          <p:cNvPr id="54" name="Shape 54"/>
          <p:cNvSpPr txBox="1"/>
          <p:nvPr/>
        </p:nvSpPr>
        <p:spPr>
          <a:xfrm>
            <a:off x="6238961"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2x</a:t>
            </a:r>
            <a:endParaRPr lang="en-US" sz="1275" dirty="0"/>
          </a:p>
        </p:txBody>
      </p:sp>
      <p:sp>
        <p:nvSpPr>
          <p:cNvPr id="55" name="Slide Number 5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6" fill="hold">
                      <p:stCondLst>
                        <p:cond delay="indefinite"/>
                      </p:stCondLst>
                      <p:childTnLst>
                        <p:par>
                          <p:cTn id="17"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3"/>
                                        </p:tgtEl>
                                        <p:attrNameLst>
                                          <p:attrName>style.visibility</p:attrName>
                                        </p:attrNameLst>
                                      </p:cBhvr>
                                      <p:to>
                                        <p:strVal val="visible"/>
                                      </p:to>
                                    </p:set>
                                    <p:animEffect transition="in" filter="wipe(left)">
                                      <p:cBhvr>
                                        <p:cTn id="11" dur="700"/>
                                        <p:tgtEl>
                                          <p:spTgt spid="53"/>
                                        </p:tgtEl>
                                      </p:cBhvr>
                                    </p:animEffect>
                                  </p:childTnLst>
                                </p:cTn>
                              </p:par>
                              <p:par>
                                <p:cTn id="15" presetID="22" presetClass="entr" presetSubtype="8" fill="hold" nodeType="withEffect">
                                  <p:stCondLst>
                                    <p:cond delay="0"/>
                                  </p:stCondLst>
                                  <p:childTnLst>
                                    <p:set>
                                      <p:cBhvr>
                                        <p:cTn id="13" dur="1" fill="hold">
                                          <p:stCondLst>
                                            <p:cond delay="0"/>
                                          </p:stCondLst>
                                        </p:cTn>
                                        <p:tgtEl>
                                          <p:spTgt spid="54"/>
                                        </p:tgtEl>
                                        <p:attrNameLst>
                                          <p:attrName>style.visibility</p:attrName>
                                        </p:attrNameLst>
                                      </p:cBhvr>
                                      <p:to>
                                        <p:strVal val="visible"/>
                                      </p:to>
                                    </p:set>
                                    <p:animEffect transition="in" filter="wipe(left)">
                                      <p:cBhvr>
                                        <p:cTn id="14" dur="700"/>
                                        <p:tgtEl>
                                          <p:spTgt spid="5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8" name="Shape 8"/>
          <p:cNvSpPr txBox="1"/>
          <p:nvPr/>
        </p:nvSpPr>
        <p:spPr>
          <a:xfrm>
            <a:off x="685800" y="1618488"/>
            <a:ext cx="3479698" cy="310667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 Which way, and how far?</a:t>
            </a:r>
            <a:endParaRPr lang="en-US" sz="1950" dirty="0"/>
          </a:p>
        </p:txBody>
      </p:sp>
      <p:sp>
        <p:nvSpPr>
          <p:cNvPr id="5" name="Shape 5"/>
          <p:cNvSpPr txBox="1"/>
          <p:nvPr/>
        </p:nvSpPr>
        <p:spPr>
          <a:xfrm>
            <a:off x="895350" y="2534412"/>
            <a:ext cx="306059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right 6</a:t>
            </a:r>
            <a:endParaRPr lang="en-US" sz="2325" dirty="0"/>
          </a:p>
        </p:txBody>
      </p:sp>
      <p:sp>
        <p:nvSpPr>
          <p:cNvPr id="6" name="Shape 6"/>
          <p:cNvSpPr txBox="1"/>
          <p:nvPr/>
        </p:nvSpPr>
        <p:spPr>
          <a:xfrm>
            <a:off x="895350" y="3148584"/>
            <a:ext cx="3060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6 is inside the parentheses, so the graph moves left or right.</a:t>
            </a:r>
            <a:endParaRPr lang="en-US" sz="1575" dirty="0"/>
          </a:p>
        </p:txBody>
      </p:sp>
      <p:sp>
        <p:nvSpPr>
          <p:cNvPr id="7" name="Shape 7"/>
          <p:cNvSpPr txBox="1"/>
          <p:nvPr/>
        </p:nvSpPr>
        <p:spPr>
          <a:xfrm>
            <a:off x="895350" y="401878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Inside, the sign flips: minus means right. Right 6.</a:t>
            </a:r>
            <a:endParaRPr lang="en-US" sz="1575" dirty="0"/>
          </a:p>
        </p:txBody>
      </p:sp>
      <p:sp>
        <p:nvSpPr>
          <p:cNvPr id="13" name="Shape 13"/>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i="1">
                <a:solidFill>
                  <a:srgbClr val="16171D"/>
                </a:solidFill>
                <a:latin typeface="Segoe UI"/>
                <a:cs typeface="Segoe UI"/>
              </a:rPr>
              <a:t xml:space="preserve">g</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f</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 Which way, and how far?</a:t>
            </a:r>
            <a:endParaRPr lang="en-US" sz="1950" dirty="0"/>
          </a:p>
        </p:txBody>
      </p:sp>
      <p:sp>
        <p:nvSpPr>
          <p:cNvPr id="10" name="Shape 10"/>
          <p:cNvSpPr txBox="1"/>
          <p:nvPr/>
        </p:nvSpPr>
        <p:spPr>
          <a:xfrm>
            <a:off x="4565548"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up 1</a:t>
            </a:r>
            <a:endParaRPr lang="en-US" sz="2325" dirty="0"/>
          </a:p>
        </p:txBody>
      </p:sp>
      <p:sp>
        <p:nvSpPr>
          <p:cNvPr id="11" name="Shape 11"/>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1 is outside, so the graph moves up or down.</a:t>
            </a:r>
            <a:endParaRPr lang="en-US" sz="1575" dirty="0"/>
          </a:p>
        </p:txBody>
      </p:sp>
      <p:sp>
        <p:nvSpPr>
          <p:cNvPr id="12" name="Shape 12"/>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Outside, no flip: plus means up. Up 1.</a:t>
            </a:r>
            <a:endParaRPr lang="en-US" sz="1575" dirty="0"/>
          </a:p>
        </p:txBody>
      </p:sp>
      <p:sp>
        <p:nvSpPr>
          <p:cNvPr id="18" name="Shape 18"/>
          <p:cNvSpPr txBox="1"/>
          <p:nvPr/>
        </p:nvSpPr>
        <p:spPr>
          <a:xfrm>
            <a:off x="8026197"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Simplify </a:t>
            </a:r>
            <a:r>
              <a:rPr lang="en-US" sz="1950" dirty="0" i="1">
                <a:solidFill>
                  <a:srgbClr val="16171D"/>
                </a:solidFill>
                <a:latin typeface="Segoe UI"/>
                <a:cs typeface="Segoe UI"/>
              </a:rPr>
              <a:t xml:space="preserve">j</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+ 1).</a:t>
            </a:r>
            <a:endParaRPr lang="en-US" sz="1950" dirty="0"/>
          </a:p>
        </p:txBody>
      </p:sp>
      <p:sp>
        <p:nvSpPr>
          <p:cNvPr id="15" name="Shape 15"/>
          <p:cNvSpPr txBox="1"/>
          <p:nvPr/>
        </p:nvSpPr>
        <p:spPr>
          <a:xfrm>
            <a:off x="8235747" y="253441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6" name="Shape 16"/>
          <p:cNvSpPr txBox="1"/>
          <p:nvPr/>
        </p:nvSpPr>
        <p:spPr>
          <a:xfrm>
            <a:off x="8235747"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Put (x + 1) in for x: j(x + 1) = 3(x + 1).</a:t>
            </a:r>
            <a:endParaRPr lang="en-US" sz="1575" dirty="0"/>
          </a:p>
        </p:txBody>
      </p:sp>
      <p:sp>
        <p:nvSpPr>
          <p:cNvPr id="17" name="Shape 17"/>
          <p:cNvSpPr txBox="1"/>
          <p:nvPr/>
        </p:nvSpPr>
        <p:spPr>
          <a:xfrm>
            <a:off x="8235747"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Distribute: 3 · x + 3 · 1 = 3x + 3.</a:t>
            </a:r>
            <a:endParaRPr lang="en-US" sz="157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ppt_x</p:attrName>
                                        </p:attrNameLst>
                                      </p:cBhvr>
                                      <p:tavLst>
                                        <p:tav tm="0">
                                          <p:val>
                                            <p:strVal val="#ppt_x"/>
                                          </p:val>
                                        </p:tav>
                                        <p:tav tm="100000">
                                          <p:val>
                                            <p:strVal val="#ppt_x"/>
                                          </p:val>
                                        </p:tav>
                                      </p:tavLst>
                                    </p:anim>
                                    <p:anim calcmode="lin" valueType="num">
                                      <p:cBhvr>
                                        <p:cTn id="34"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ppt_x</p:attrName>
                                        </p:attrNameLst>
                                      </p:cBhvr>
                                      <p:tavLst>
                                        <p:tav tm="0">
                                          <p:val>
                                            <p:strVal val="#ppt_x"/>
                                          </p:val>
                                        </p:tav>
                                        <p:tav tm="100000">
                                          <p:val>
                                            <p:strVal val="#ppt_x"/>
                                          </p:val>
                                        </p:tav>
                                      </p:tavLst>
                                    </p:anim>
                                    <p:anim calcmode="lin" valueType="num">
                                      <p:cBhvr>
                                        <p:cTn id="55"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2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Tuesday, October 27</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Wednesday, October 28. Skills Practice day: Lesson 2 quiz and Topic 1 Lesson 5 quiz. Then Lesson 3 starts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theme/theme1.xml><?xml version="1.0" encoding="utf-8"?>
<a:theme xmlns:a="http://schemas.openxmlformats.org/drawingml/2006/main" name="Vertical and Horizontal Transformations of Linear Func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28</Slides>
  <Notes>28</Notes>
</Properties>
</file>

<file path=docProps/core.xml><?xml version="1.0" encoding="utf-8"?>
<cp:coreProperties xmlns:cp="http://schemas.openxmlformats.org/package/2006/metadata/core-properties" xmlns:dc="http://purl.org/dc/elements/1.1/">
  <dc:title>Vertical and Horizontal Transformations of Linear Functions</dc:title>
  <dc:subject>Bluebonnet Algebra I</dc:subject>
</cp:coreProperties>
</file>