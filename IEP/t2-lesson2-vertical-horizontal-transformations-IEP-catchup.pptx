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IEP version of Topic 2 Lesson 2: a modified lesson that keeps the core skills and cuts the number of items. Each skill follows I do (teacher models), We do (together, with sentence frames), You do (student tries, then reveal). Click to reveal each answer. The bell work for every day follows this slide (the same questions as the online bell work); skip to the current day. Apply each student's IEP accommodations too: extended time, read-aloud, breaks, calculator, small group.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Monday, October 26.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1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about inside versus outside before naming the direction. Each click moves one point: right 7 on the left graph, down 4 on the right. For f(x) = x both give a line parallel to f(x).</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j(x) + 4 = 2x + 3: left 4 and up 4 are not the same for this line.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Monday, October 26.</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Tuesday, October 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2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division for every pair, not just the first one.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 After each answer, click once per step and read it aloud so students can find where their work went wrong.</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Tuesday, October 27.</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IEP/t2-lesson2-bellwork-day1-IEP.html" TargetMode="External"/><Relationship Id="rId4" Type="http://schemas.openxmlformats.org/officeDocument/2006/relationships/hyperlink" Target="https://algebra1m2u1l4.vercel.app/IEP/t2-lesson2-bellwork-day2-IEP.html" TargetMode="External"/><Relationship Id="rId5" Type="http://schemas.openxmlformats.org/officeDocument/2006/relationships/hyperlink" Target="https://algebra1m2u1l4.vercel.app/IEP/t2-lesson2-homework-IEP.html" TargetMode="External"/><Relationship Id="rId6" Type="http://schemas.openxmlformats.org/officeDocument/2006/relationships/hyperlink" Target="https://algebra1m2u1l4.vercel.app/IEP/t2-lesson2-quiz-IEP.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lgebra1m2u1l4.vercel.app/IEP/lesson5-homework-IEP.html" TargetMode="External"/><Relationship Id="rId4" Type="http://schemas.openxmlformats.org/officeDocument/2006/relationships/hyperlink" Target="https://algebra1m2u1l4.vercel.app/IEP/lesson5-quiz-IEP.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algebra1m2u1l4.vercel.app/IEP/lesson6-homework-IEP.html" TargetMode="External"/><Relationship Id="rId4" Type="http://schemas.openxmlformats.org/officeDocument/2006/relationships/hyperlink" Target="https://algebra1m2u1l4.vercel.app/IEP/lesson6-quiz-IEP.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algebra1m2u1l4.vercel.app/IEP/t2-lesson2-bellwork-day1-IEP.html" TargetMode="External"/><Relationship Id="rId4" Type="http://schemas.openxmlformats.org/officeDocument/2006/relationships/hyperlink" Target="https://algebra1m2u1l4.vercel.app/IEP/t2-lesson2-bellwork-day2-IEP.html" TargetMode="External"/><Relationship Id="rId5" Type="http://schemas.openxmlformats.org/officeDocument/2006/relationships/hyperlink" Target="https://algebra1m2u1l4.vercel.app/IEP/t2-lesson2-homework-IEP.html" TargetMode="External"/><Relationship Id="rId6" Type="http://schemas.openxmlformats.org/officeDocument/2006/relationships/hyperlink" Target="https://algebra1m2u1l4.vercel.app/IEP/t2-lesson2-quiz-IE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2 · IEP Version</a:t>
            </a:r>
            <a:endParaRPr lang="en-US" sz="1200" dirty="0"/>
          </a:p>
        </p:txBody>
      </p:sp>
      <p:sp>
        <p:nvSpPr>
          <p:cNvPr id="3" name="Shape 3"/>
          <p:cNvSpPr txBox="1"/>
          <p:nvPr/>
        </p:nvSpPr>
        <p:spPr>
          <a:xfrm>
            <a:off x="685800" y="961644"/>
            <a:ext cx="10820095" cy="1426464"/>
          </a:xfrm>
          <a:prstGeom prst="rect">
            <a:avLst/>
          </a:prstGeom>
          <a:noFill/>
          <a:ln>
            <a:noFill/>
          </a:ln>
        </p:spPr>
        <p:txBody>
          <a:bodyPr wrap="square" lIns="36576" tIns="27432" rIns="36576" bIns="27432" anchor="t">
            <a:noAutofit/>
          </a:bodyPr>
          <a:lstStyle/>
          <a:p>
            <a:pPr algn="l">
              <a:lnSpc>
                <a:spcPct val="100000"/>
              </a:lnSpc>
            </a:pPr>
            <a:r>
              <a:rPr lang="en-US" sz="4500" dirty="0" b="1">
                <a:solidFill>
                  <a:srgbClr val="16171D"/>
                </a:solidFill>
                <a:latin typeface="Segoe UI"/>
                <a:cs typeface="Segoe UI"/>
              </a:rPr>
              <a:t xml:space="preserve">Horizontal and Vertical Transformations</a:t>
            </a:r>
            <a:endParaRPr lang="en-US" sz="4500" dirty="0"/>
          </a:p>
        </p:txBody>
      </p:sp>
      <p:sp>
        <p:nvSpPr>
          <p:cNvPr id="4" name="Shape 4"/>
          <p:cNvSpPr txBox="1"/>
          <p:nvPr/>
        </p:nvSpPr>
        <p:spPr>
          <a:xfrm>
            <a:off x="685800" y="2559558"/>
            <a:ext cx="1082009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Adds a 15-minute Topic 1 Catch-Up (Lessons 5–6) each day · Day 1: Mon, Oct 26 · Day 2: Tue, Oct 27</a:t>
            </a:r>
            <a:endParaRPr lang="en-US" sz="1650" dirty="0"/>
          </a:p>
        </p:txBody>
      </p:sp>
      <p:sp>
        <p:nvSpPr>
          <p:cNvPr id="5" name="Shape 5"/>
          <p:cNvSpPr txBox="1"/>
          <p:nvPr/>
        </p:nvSpPr>
        <p:spPr>
          <a:xfrm>
            <a:off x="685800" y="316687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f</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c</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f</a:t>
            </a:r>
            <a:r>
              <a:rPr lang="en-US" sz="2850" dirty="0">
                <a:solidFill>
                  <a:srgbClr val="16171D"/>
                </a:solidFill>
                <a:latin typeface="Cambria"/>
                <a:cs typeface="Cambria"/>
              </a:rPr>
              <a:t xml:space="preserve">(</a:t>
            </a:r>
            <a:r>
              <a:rPr lang="en-US" sz="2850" dirty="0" b="1" i="1">
                <a:solidFill>
                  <a:srgbClr val="C9561F"/>
                </a:solidFill>
                <a:latin typeface="Cambria"/>
                <a:cs typeface="Cambria"/>
              </a:rPr>
              <a:t xml:space="preserve">b</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a:t>
            </a:r>
            <a:endParaRPr lang="en-US" sz="2850" dirty="0"/>
          </a:p>
        </p:txBody>
      </p:sp>
      <p:sp>
        <p:nvSpPr>
          <p:cNvPr id="6" name="Shape 6"/>
          <p:cNvSpPr txBox="1"/>
          <p:nvPr/>
        </p:nvSpPr>
        <p:spPr>
          <a:xfrm>
            <a:off x="685800" y="3903726"/>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 can…</a:t>
            </a:r>
            <a:endParaRPr lang="en-US" sz="2100" dirty="0"/>
          </a:p>
        </p:txBody>
      </p:sp>
      <p:sp>
        <p:nvSpPr>
          <p:cNvPr id="7" name="Shape 7"/>
          <p:cNvSpPr txBox="1"/>
          <p:nvPr/>
        </p:nvSpPr>
        <p:spPr>
          <a:xfrm>
            <a:off x="685800" y="445008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tell whether a change moves the graph left/right or up/down.</a:t>
            </a:r>
            <a:endParaRPr lang="en-US" sz="1950" dirty="0"/>
          </a:p>
        </p:txBody>
      </p:sp>
      <p:sp>
        <p:nvSpPr>
          <p:cNvPr id="8" name="Shape 8"/>
          <p:cNvSpPr txBox="1"/>
          <p:nvPr/>
        </p:nvSpPr>
        <p:spPr>
          <a:xfrm>
            <a:off x="685800" y="497357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write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c</a:t>
            </a:r>
            <a:r>
              <a:rPr lang="en-US" sz="1950" dirty="0">
                <a:solidFill>
                  <a:srgbClr val="16171D"/>
                </a:solidFill>
                <a:latin typeface="Segoe UI"/>
                <a:cs typeface="Segoe UI"/>
              </a:rPr>
              <a:t xml:space="preserve">) for a move right or left.</a:t>
            </a:r>
            <a:endParaRPr lang="en-US" sz="1950" dirty="0"/>
          </a:p>
        </p:txBody>
      </p:sp>
      <p:sp>
        <p:nvSpPr>
          <p:cNvPr id="9" name="Shape 9"/>
          <p:cNvSpPr txBox="1"/>
          <p:nvPr/>
        </p:nvSpPr>
        <p:spPr>
          <a:xfrm>
            <a:off x="685800" y="549706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simplify a transformed function like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+ 4).</a:t>
            </a:r>
            <a:endParaRPr lang="en-US" sz="1950" dirty="0"/>
          </a:p>
        </p:txBody>
      </p:sp>
      <p:sp>
        <p:nvSpPr>
          <p:cNvPr id="10" name="Shape 10"/>
          <p:cNvSpPr txBox="1"/>
          <p:nvPr/>
        </p:nvSpPr>
        <p:spPr>
          <a:xfrm>
            <a:off x="685800" y="607771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11" name="Shape 11"/>
          <p:cNvSpPr txBox="1"/>
          <p:nvPr/>
        </p:nvSpPr>
        <p:spPr>
          <a:xfrm>
            <a:off x="685800" y="6185916"/>
            <a:ext cx="10820095" cy="397764"/>
          </a:xfrm>
          <a:prstGeom prst="rect">
            <a:avLst/>
          </a:prstGeom>
          <a:noFill/>
          <a:ln>
            <a:noFill/>
          </a:ln>
        </p:spPr>
        <p:txBody>
          <a:bodyPr wrap="square" lIns="36576" tIns="27432" rIns="36576" bIns="27432" anchor="t">
            <a:noAutofit/>
          </a:bodyPr>
          <a:lstStyle/>
          <a:p>
            <a:pPr algn="l">
              <a:lnSpc>
                <a:spcPct val="100000"/>
              </a:lnSpc>
            </a:pPr>
            <a:r>
              <a:rPr lang="en-US" sz="1125" dirty="0">
                <a:solidFill>
                  <a:srgbClr val="5F6272"/>
                </a:solidFill>
                <a:latin typeface="Segoe UI"/>
                <a:cs typeface="Segoe UI"/>
              </a:rPr>
              <a:t xml:space="preserve">Based on Bluebonnet Learning Secondary Mathematics, Algebra I (©2024–2025 Texas Education Agency, portions ©2021 Carnegie Learning, Inc.), licensed CC BY-NC 4.0. A private site for Algebra I teachers.</a:t>
            </a:r>
            <a:endParaRPr lang="en-US" sz="11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Day 1 of 2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Monday, October 26</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(Slope and y-intercept from any form) → Lesson 2, Day 1.</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 · Mon, Oct 26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How does the graph move?</a:t>
            </a:r>
            <a:endParaRPr lang="en-US" sz="1575" dirty="0"/>
          </a:p>
        </p:txBody>
      </p:sp>
      <p:sp>
        <p:nvSpPr>
          <p:cNvPr id="5" name="Shape 5"/>
          <p:cNvSpPr txBox="1"/>
          <p:nvPr/>
        </p:nvSpPr>
        <p:spPr>
          <a:xfrm>
            <a:off x="895350"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outside: + moves up, − moves down</a:t>
            </a:r>
            <a:endParaRPr lang="en-US" sz="1575" dirty="0"/>
          </a:p>
        </p:txBody>
      </p:sp>
      <p:sp>
        <p:nvSpPr>
          <p:cNvPr id="6" name="Shape 6"/>
          <p:cNvSpPr txBox="1"/>
          <p:nvPr/>
        </p:nvSpPr>
        <p:spPr>
          <a:xfrm>
            <a:off x="895350" y="269595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Segoe UI"/>
                <a:cs typeface="Segoe UI"/>
              </a:rPr>
              <a:t xml:space="preserve">Down 3 units</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The </a:t>
            </a:r>
            <a:r>
              <a:rPr lang="en-US" sz="1425" dirty="0">
                <a:solidFill>
                  <a:srgbClr val="16171D"/>
                </a:solidFill>
                <a:latin typeface="Cambria"/>
                <a:cs typeface="Cambria"/>
              </a:rPr>
              <a:t xml:space="preserve">−3</a:t>
            </a:r>
            <a:r>
              <a:rPr lang="en-US" sz="1425" dirty="0">
                <a:solidFill>
                  <a:srgbClr val="16171D"/>
                </a:solidFill>
                <a:latin typeface="Segoe UI"/>
                <a:cs typeface="Segoe UI"/>
              </a:rPr>
              <a:t xml:space="preserve"> is outside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a:t>
            </a:r>
            <a:r>
              <a:rPr lang="en-US" sz="1425" dirty="0">
                <a:solidFill>
                  <a:srgbClr val="16171D"/>
                </a:solidFill>
                <a:latin typeface="Segoe UI"/>
                <a:cs typeface="Segoe UI"/>
              </a:rPr>
              <a:t xml:space="preserve">, so the graph moves up or down.</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Minus means down: down 3 units.</a:t>
            </a:r>
            <a:endParaRPr lang="en-US" sz="1425" dirty="0"/>
          </a:p>
        </p:txBody>
      </p:sp>
      <p:sp>
        <p:nvSpPr>
          <p:cNvPr id="11" name="Shape 11"/>
          <p:cNvSpPr txBox="1"/>
          <p:nvPr/>
        </p:nvSpPr>
        <p:spPr>
          <a:xfrm>
            <a:off x="685800" y="4034028"/>
            <a:ext cx="5295748" cy="18249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420547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What is the slope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− 8</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895350" y="453847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m</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slope </a:t>
            </a:r>
            <a:r>
              <a:rPr lang="en-US" sz="1575" dirty="0" i="1">
                <a:solidFill>
                  <a:srgbClr val="16171D"/>
                </a:solidFill>
                <a:latin typeface="Cambria"/>
                <a:cs typeface="Cambria"/>
              </a:rPr>
              <a:t xml:space="preserve">m</a:t>
            </a:r>
            <a:endParaRPr lang="en-US" sz="1575" dirty="0"/>
          </a:p>
        </p:txBody>
      </p:sp>
      <p:sp>
        <p:nvSpPr>
          <p:cNvPr id="10" name="Shape 10"/>
          <p:cNvSpPr txBox="1"/>
          <p:nvPr/>
        </p:nvSpPr>
        <p:spPr>
          <a:xfrm>
            <a:off x="895350" y="4871466"/>
            <a:ext cx="3964187"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3</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Match </a:t>
            </a:r>
            <a:r>
              <a:rPr lang="en-US" sz="1425" dirty="0" i="1">
                <a:solidFill>
                  <a:srgbClr val="16171D"/>
                </a:solidFill>
                <a:latin typeface="Cambria"/>
                <a:cs typeface="Cambria"/>
              </a:rPr>
              <a:t xml:space="preserve">g</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3</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− 8</a:t>
            </a:r>
            <a:r>
              <a:rPr lang="en-US" sz="1425" dirty="0">
                <a:solidFill>
                  <a:srgbClr val="16171D"/>
                </a:solidFill>
                <a:latin typeface="Segoe UI"/>
                <a:cs typeface="Segoe UI"/>
              </a:rPr>
              <a:t xml:space="preserve"> to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m</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b</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m</a:t>
            </a:r>
            <a:r>
              <a:rPr lang="en-US" sz="1425" dirty="0">
                <a:solidFill>
                  <a:srgbClr val="16171D"/>
                </a:solidFill>
                <a:latin typeface="Cambria"/>
                <a:cs typeface="Cambria"/>
              </a:rPr>
              <a:t xml:space="preserve"> = 3</a:t>
            </a:r>
            <a:r>
              <a:rPr lang="en-US" sz="1425" dirty="0">
                <a:solidFill>
                  <a:srgbClr val="16171D"/>
                </a:solidFill>
                <a:latin typeface="Segoe UI"/>
                <a:cs typeface="Segoe UI"/>
              </a:rPr>
              <a:t xml:space="preserve">, so the slope is 3.</a:t>
            </a:r>
            <a:endParaRPr lang="en-US" sz="1425" dirty="0"/>
          </a:p>
        </p:txBody>
      </p:sp>
      <p:sp>
        <p:nvSpPr>
          <p:cNvPr id="15" name="Shape 15"/>
          <p:cNvSpPr txBox="1"/>
          <p:nvPr/>
        </p:nvSpPr>
        <p:spPr>
          <a:xfrm>
            <a:off x="6210148" y="1618488"/>
            <a:ext cx="5295748" cy="225933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What is the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-intercept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− 8</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1229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-intercept: set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and solve</a:t>
            </a:r>
            <a:endParaRPr lang="en-US" sz="1575" dirty="0"/>
          </a:p>
        </p:txBody>
      </p:sp>
      <p:sp>
        <p:nvSpPr>
          <p:cNvPr id="14" name="Shape 14"/>
          <p:cNvSpPr txBox="1"/>
          <p:nvPr/>
        </p:nvSpPr>
        <p:spPr>
          <a:xfrm>
            <a:off x="6419698" y="2455926"/>
            <a:ext cx="4876648" cy="125044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(8/3, 0)</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3</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− 8 = 0</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Add 8 to both sides: </a:t>
            </a:r>
            <a:r>
              <a:rPr lang="en-US" sz="1425" dirty="0">
                <a:solidFill>
                  <a:srgbClr val="16171D"/>
                </a:solidFill>
                <a:latin typeface="Cambria"/>
                <a:cs typeface="Cambria"/>
              </a:rPr>
              <a:t xml:space="preserve">3</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8</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Divide both sides by 3: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8/3</a:t>
            </a:r>
            <a:r>
              <a:rPr lang="en-US" sz="1425" dirty="0">
                <a:solidFill>
                  <a:srgbClr val="16171D"/>
                </a:solidFill>
                <a:latin typeface="Segoe UI"/>
                <a:cs typeface="Segoe UI"/>
              </a:rPr>
              <a:t xml:space="preserve">. The point is </a:t>
            </a:r>
            <a:r>
              <a:rPr lang="en-US" sz="1425" dirty="0">
                <a:solidFill>
                  <a:srgbClr val="16171D"/>
                </a:solidFill>
                <a:latin typeface="Cambria"/>
                <a:cs typeface="Cambria"/>
              </a:rPr>
              <a:t xml:space="preserve">(8/3, 0)</a:t>
            </a:r>
            <a:r>
              <a:rPr lang="en-US" sz="1425" dirty="0">
                <a:solidFill>
                  <a:srgbClr val="16171D"/>
                </a:solidFill>
                <a:latin typeface="Segoe UI"/>
                <a:cs typeface="Segoe UI"/>
              </a:rPr>
              <a:t xml:space="preserve">.</a:t>
            </a:r>
            <a:endParaRPr lang="en-US" sz="1425" dirty="0"/>
          </a:p>
        </p:txBody>
      </p:sp>
      <p:sp>
        <p:nvSpPr>
          <p:cNvPr id="19" name="Shape 19"/>
          <p:cNvSpPr txBox="1"/>
          <p:nvPr/>
        </p:nvSpPr>
        <p:spPr>
          <a:xfrm>
            <a:off x="6210148" y="4011168"/>
            <a:ext cx="5295748" cy="20421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418261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Is </a:t>
            </a:r>
            <a:r>
              <a:rPr lang="en-US" sz="1575" dirty="0" i="1">
                <a:solidFill>
                  <a:srgbClr val="16171D"/>
                </a:solidFill>
                <a:latin typeface="Cambria"/>
                <a:cs typeface="Cambria"/>
              </a:rPr>
              <a:t xml:space="preserve">h</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−⅔</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+ 5</a:t>
            </a:r>
            <a:r>
              <a:rPr lang="en-US" sz="1575" dirty="0">
                <a:solidFill>
                  <a:srgbClr val="16171D"/>
                </a:solidFill>
                <a:latin typeface="Segoe UI"/>
                <a:cs typeface="Segoe UI"/>
              </a:rPr>
              <a:t xml:space="preserve"> increasing or decreasing?</a:t>
            </a:r>
            <a:endParaRPr lang="en-US" sz="1575" dirty="0"/>
          </a:p>
        </p:txBody>
      </p:sp>
      <p:sp>
        <p:nvSpPr>
          <p:cNvPr id="17" name="Shape 17"/>
          <p:cNvSpPr txBox="1"/>
          <p:nvPr/>
        </p:nvSpPr>
        <p:spPr>
          <a:xfrm>
            <a:off x="6419698" y="451561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slope + rises, slope − falls</a:t>
            </a:r>
            <a:endParaRPr lang="en-US" sz="1575" dirty="0"/>
          </a:p>
        </p:txBody>
      </p:sp>
      <p:sp>
        <p:nvSpPr>
          <p:cNvPr id="18" name="Shape 18"/>
          <p:cNvSpPr txBox="1"/>
          <p:nvPr/>
        </p:nvSpPr>
        <p:spPr>
          <a:xfrm>
            <a:off x="6419698" y="484860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Segoe UI"/>
                <a:cs typeface="Segoe UI"/>
              </a:rPr>
              <a:t xml:space="preserve">Decreasing</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The slope is </a:t>
            </a:r>
            <a:r>
              <a:rPr lang="en-US" sz="1425" dirty="0">
                <a:solidFill>
                  <a:srgbClr val="16171D"/>
                </a:solidFill>
                <a:latin typeface="Cambria"/>
                <a:cs typeface="Cambria"/>
              </a:rPr>
              <a:t xml:space="preserve">−⅔</a:t>
            </a:r>
            <a:r>
              <a:rPr lang="en-US" sz="1425" dirty="0">
                <a:solidFill>
                  <a:srgbClr val="16171D"/>
                </a:solidFill>
                <a:latin typeface="Segoe UI"/>
                <a:cs typeface="Segoe UI"/>
              </a:rPr>
              <a:t xml:space="preserve">, the number with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It is negative, so the line falls from left to right: decreasing.</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Mon, Oct 26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Slope and y-intercept from any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Lesson 2 rewrites f(x − c) in slope-intercept form, so you must read the slope and intercept from any form.</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Which form?</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Where do I start?</a:t>
            </a:r>
            <a:endParaRPr lang="en-US" sz="3450" dirty="0"/>
          </a:p>
        </p:txBody>
      </p:sp>
      <p:sp>
        <p:nvSpPr>
          <p:cNvPr id="6" name="Shape 6"/>
          <p:cNvSpPr txBox="1"/>
          <p:nvPr/>
        </p:nvSpPr>
        <p:spPr>
          <a:xfrm>
            <a:off x="685800" y="1618488"/>
            <a:ext cx="349239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mx</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b</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(0,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Count the slope.</a:t>
            </a:r>
            <a:endParaRPr lang="en-US" sz="1575" dirty="0"/>
          </a:p>
        </p:txBody>
      </p:sp>
      <p:sp>
        <p:nvSpPr>
          <p:cNvPr id="9" name="Shape 9"/>
          <p:cNvSpPr txBox="1"/>
          <p:nvPr/>
        </p:nvSpPr>
        <p:spPr>
          <a:xfrm>
            <a:off x="4349648" y="1618488"/>
            <a:ext cx="349239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Point-slope</a:t>
            </a:r>
            <a:endParaRPr lang="en-US" sz="2100" dirty="0"/>
          </a:p>
        </p:txBody>
      </p:sp>
      <p:sp>
        <p:nvSpPr>
          <p:cNvPr id="8" name="Shape 8"/>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i="1">
                <a:solidFill>
                  <a:srgbClr val="16171D"/>
                </a:solidFill>
                <a:latin typeface="Segoe UI"/>
                <a:cs typeface="Segoe UI"/>
              </a:rPr>
              <a:t xml:space="preserve">x</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Count the slope.</a:t>
            </a:r>
            <a:endParaRPr lang="en-US" sz="1575" dirty="0"/>
          </a:p>
        </p:txBody>
      </p:sp>
      <p:sp>
        <p:nvSpPr>
          <p:cNvPr id="12" name="Shape 12"/>
          <p:cNvSpPr txBox="1"/>
          <p:nvPr/>
        </p:nvSpPr>
        <p:spPr>
          <a:xfrm>
            <a:off x="8013497" y="1618488"/>
            <a:ext cx="349239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Ax</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By</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C</a:t>
            </a:r>
            <a:endParaRPr lang="en-US" sz="2100" dirty="0"/>
          </a:p>
        </p:txBody>
      </p:sp>
      <p:sp>
        <p:nvSpPr>
          <p:cNvPr id="11" name="Shape 11"/>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Find both intercepts. Connect them.</a:t>
            </a:r>
            <a:endParaRPr lang="en-US" sz="1575" dirty="0"/>
          </a:p>
        </p:txBody>
      </p:sp>
      <p:sp>
        <p:nvSpPr>
          <p:cNvPr id="13" name="Slide Number 1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6" name="Shape 6"/>
          <p:cNvSpPr txBox="1"/>
          <p:nvPr/>
        </p:nvSpPr>
        <p:spPr>
          <a:xfrm>
            <a:off x="685800" y="1618488"/>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a:t>
            </a:r>
            <a:r>
              <a:rPr lang="en-US" sz="1950" dirty="0">
                <a:solidFill>
                  <a:srgbClr val="16171D"/>
                </a:solidFill>
                <a:latin typeface="Segoe UI"/>
                <a:cs typeface="Segoe UI"/>
              </a:rPr>
              <a:t xml:space="preserve">3</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 Name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and one more point.</a:t>
            </a:r>
            <a:endParaRPr lang="en-US" sz="1950" dirty="0"/>
          </a:p>
        </p:txBody>
      </p:sp>
      <p:sp>
        <p:nvSpPr>
          <p:cNvPr id="5" name="Shape 5"/>
          <p:cNvSpPr txBox="1"/>
          <p:nvPr/>
        </p:nvSpPr>
        <p:spPr>
          <a:xfrm>
            <a:off x="895350" y="2237232"/>
            <a:ext cx="804864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2), then down 3, right 4: (4, −1)</a:t>
            </a:r>
            <a:endParaRPr lang="en-US" sz="2325" dirty="0"/>
          </a:p>
        </p:txBody>
      </p:sp>
      <p:sp>
        <p:nvSpPr>
          <p:cNvPr id="9" name="Shape 9"/>
          <p:cNvSpPr txBox="1"/>
          <p:nvPr/>
        </p:nvSpPr>
        <p:spPr>
          <a:xfrm>
            <a:off x="685800" y="3060954"/>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895350" y="3232404"/>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Find the intercepts of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8.</a:t>
            </a:r>
            <a:endParaRPr lang="en-US" sz="1950" dirty="0"/>
          </a:p>
        </p:txBody>
      </p:sp>
      <p:sp>
        <p:nvSpPr>
          <p:cNvPr id="8" name="Shape 8"/>
          <p:cNvSpPr txBox="1"/>
          <p:nvPr/>
        </p:nvSpPr>
        <p:spPr>
          <a:xfrm>
            <a:off x="895350" y="3679698"/>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(8, 0) and (0, 4)</a:t>
            </a:r>
            <a:endParaRPr lang="en-US" sz="2325" dirty="0"/>
          </a:p>
        </p:txBody>
      </p:sp>
      <p:sp>
        <p:nvSpPr>
          <p:cNvPr id="12" name="Shape 12"/>
          <p:cNvSpPr txBox="1"/>
          <p:nvPr/>
        </p:nvSpPr>
        <p:spPr>
          <a:xfrm>
            <a:off x="685800" y="4503420"/>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95350" y="4674870"/>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Name the point and slope of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− 1 = 2(</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11" name="Shape 11"/>
          <p:cNvSpPr txBox="1"/>
          <p:nvPr/>
        </p:nvSpPr>
        <p:spPr>
          <a:xfrm>
            <a:off x="895350" y="5122164"/>
            <a:ext cx="556124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point (−3, 1), slope 2</a:t>
            </a:r>
            <a:endParaRPr lang="en-US" sz="2325" dirty="0"/>
          </a:p>
        </p:txBody>
      </p:sp>
      <p:sp>
        <p:nvSpPr>
          <p:cNvPr id="13" name="Slide Number 1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2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Inside</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Changes the input: left or right.</a:t>
            </a:r>
            <a:endParaRPr lang="en-US" sz="1575" dirty="0"/>
          </a:p>
        </p:txBody>
      </p:sp>
      <p:sp>
        <p:nvSpPr>
          <p:cNvPr id="6" name="Shape 6"/>
          <p:cNvSpPr txBox="1"/>
          <p:nvPr/>
        </p:nvSpPr>
        <p:spPr>
          <a:xfrm>
            <a:off x="895350"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− 3</a:t>
            </a: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Outside</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Changes the output: up or down.</a:t>
            </a:r>
            <a:endParaRPr lang="en-US" sz="1575" dirty="0"/>
          </a:p>
        </p:txBody>
      </p:sp>
      <p:sp>
        <p:nvSpPr>
          <p:cNvPr id="10" name="Shape 10"/>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− 3</a:t>
            </a:r>
            <a:endParaRPr lang="en-US" sz="2325" dirty="0"/>
          </a:p>
        </p:txBody>
      </p:sp>
      <p:sp>
        <p:nvSpPr>
          <p:cNvPr id="15" name="Shape 15"/>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Sign flip</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Inside, minus moves </a:t>
            </a:r>
            <a:r>
              <a:rPr lang="en-US" sz="1575" dirty="0" b="1">
                <a:solidFill>
                  <a:srgbClr val="16171D"/>
                </a:solidFill>
                <a:latin typeface="Segoe UI"/>
                <a:cs typeface="Segoe UI"/>
              </a:rPr>
              <a:t xml:space="preserve">right</a:t>
            </a:r>
            <a:r>
              <a:rPr lang="en-US" sz="1575" dirty="0">
                <a:solidFill>
                  <a:srgbClr val="16171D"/>
                </a:solidFill>
                <a:latin typeface="Segoe UI"/>
                <a:cs typeface="Segoe UI"/>
              </a:rPr>
              <a:t xml:space="preserve"> and plus moves </a:t>
            </a:r>
            <a:r>
              <a:rPr lang="en-US" sz="1575" dirty="0" b="1">
                <a:solidFill>
                  <a:srgbClr val="16171D"/>
                </a:solidFill>
                <a:latin typeface="Segoe UI"/>
                <a:cs typeface="Segoe UI"/>
              </a:rPr>
              <a:t xml:space="preserve">left</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8223047"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 left 5</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2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way does it move?</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Look for the number. Is it </a:t>
            </a:r>
            <a:r>
              <a:rPr lang="en-US" sz="1950" dirty="0" b="1">
                <a:solidFill>
                  <a:srgbClr val="16171D"/>
                </a:solidFill>
                <a:latin typeface="Segoe UI"/>
                <a:cs typeface="Segoe UI"/>
              </a:rPr>
              <a:t xml:space="preserve">inside</a:t>
            </a:r>
            <a:r>
              <a:rPr lang="en-US" sz="1950" dirty="0">
                <a:solidFill>
                  <a:srgbClr val="16171D"/>
                </a:solidFill>
                <a:latin typeface="Segoe UI"/>
                <a:cs typeface="Segoe UI"/>
              </a:rPr>
              <a:t xml:space="preserve"> the parentheses with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or </a:t>
            </a:r>
            <a:r>
              <a:rPr lang="en-US" sz="1950" dirty="0" b="1">
                <a:solidFill>
                  <a:srgbClr val="16171D"/>
                </a:solidFill>
                <a:latin typeface="Segoe UI"/>
                <a:cs typeface="Segoe UI"/>
              </a:rPr>
              <a:t xml:space="preserve">outside</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Outside: + is up, − is down.</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Inside: − is right, + is left (the sign flips).</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To simplify, put the inside into the rule and distribute.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− 7) and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− 4</a:t>
            </a:r>
            <a:endParaRPr lang="en-US" sz="3450" dirty="0"/>
          </a:p>
        </p:txBody>
      </p:sp>
      <p:sp>
        <p:nvSpPr>
          <p:cNvPr id="58" name="Shape 58"/>
          <p:cNvSpPr txBox="1"/>
          <p:nvPr/>
        </p:nvSpPr>
        <p:spPr>
          <a:xfrm>
            <a:off x="685800" y="1618488"/>
            <a:ext cx="5219548" cy="44386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− 7)</a:t>
            </a:r>
            <a:endParaRPr lang="en-US" sz="2100" dirty="0"/>
          </a:p>
        </p:txBody>
      </p:sp>
      <p:sp>
        <p:nvSpPr>
          <p:cNvPr id="5" name="Shape 5"/>
          <p:cNvSpPr txBox="1"/>
          <p:nvPr/>
        </p:nvSpPr>
        <p:spPr>
          <a:xfrm>
            <a:off x="895350"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Inside, minus → </a:t>
            </a:r>
            <a:r>
              <a:rPr lang="en-US" sz="1575" dirty="0" b="1">
                <a:solidFill>
                  <a:srgbClr val="16171D"/>
                </a:solidFill>
                <a:latin typeface="Segoe UI"/>
                <a:cs typeface="Segoe UI"/>
              </a:rPr>
              <a:t xml:space="preserve">right 7</a:t>
            </a:r>
            <a:r>
              <a:rPr lang="en-US" sz="1575" dirty="0">
                <a:solidFill>
                  <a:srgbClr val="16171D"/>
                </a:solidFill>
                <a:latin typeface="Segoe UI"/>
                <a:cs typeface="Segoe UI"/>
              </a:rPr>
              <a:t xml:space="preserve">: each point moves 7 to the right.</a:t>
            </a:r>
            <a:endParaRPr lang="en-US" sz="1575" dirty="0"/>
          </a:p>
        </p:txBody>
      </p:sp>
      <p:sp>
        <p:nvSpPr>
          <p:cNvPr id="6" name="Shape 6"/>
          <p:cNvSpPr/>
          <p:nvPr/>
        </p:nvSpPr>
        <p:spPr>
          <a:xfrm>
            <a:off x="895350" y="2890266"/>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219200" y="3004566"/>
            <a:ext cx="0" cy="2019300"/>
          </a:xfrm>
          <a:prstGeom prst="line">
            <a:avLst/>
          </a:prstGeom>
          <a:ln w="9525" cap="flat">
            <a:solidFill>
              <a:srgbClr val="E6E8F2"/>
            </a:solidFill>
          </a:ln>
        </p:spPr>
      </p:cxnSp>
      <p:cxnSp>
        <p:nvCxnSpPr>
          <p:cNvPr id="8" name="Line 8"/>
          <p:cNvCxnSpPr/>
          <p:nvPr/>
        </p:nvCxnSpPr>
        <p:spPr>
          <a:xfrm>
            <a:off x="1444625" y="3004566"/>
            <a:ext cx="0" cy="2019300"/>
          </a:xfrm>
          <a:prstGeom prst="line">
            <a:avLst/>
          </a:prstGeom>
          <a:ln w="9525" cap="flat">
            <a:solidFill>
              <a:srgbClr val="E6E8F2"/>
            </a:solidFill>
          </a:ln>
        </p:spPr>
      </p:cxnSp>
      <p:cxnSp>
        <p:nvCxnSpPr>
          <p:cNvPr id="9" name="Line 9"/>
          <p:cNvCxnSpPr/>
          <p:nvPr/>
        </p:nvCxnSpPr>
        <p:spPr>
          <a:xfrm>
            <a:off x="1670050" y="3004566"/>
            <a:ext cx="0" cy="2019300"/>
          </a:xfrm>
          <a:prstGeom prst="line">
            <a:avLst/>
          </a:prstGeom>
          <a:ln w="9525" cap="flat">
            <a:solidFill>
              <a:srgbClr val="E6E8F2"/>
            </a:solidFill>
          </a:ln>
        </p:spPr>
      </p:cxnSp>
      <p:cxnSp>
        <p:nvCxnSpPr>
          <p:cNvPr id="10" name="Line 10"/>
          <p:cNvCxnSpPr/>
          <p:nvPr/>
        </p:nvCxnSpPr>
        <p:spPr>
          <a:xfrm>
            <a:off x="1895475" y="3004566"/>
            <a:ext cx="0" cy="2019300"/>
          </a:xfrm>
          <a:prstGeom prst="line">
            <a:avLst/>
          </a:prstGeom>
          <a:ln w="9525" cap="flat">
            <a:solidFill>
              <a:srgbClr val="E6E8F2"/>
            </a:solidFill>
          </a:ln>
        </p:spPr>
      </p:cxnSp>
      <p:cxnSp>
        <p:nvCxnSpPr>
          <p:cNvPr id="11" name="Line 11"/>
          <p:cNvCxnSpPr/>
          <p:nvPr/>
        </p:nvCxnSpPr>
        <p:spPr>
          <a:xfrm>
            <a:off x="2120900" y="3004566"/>
            <a:ext cx="0" cy="2019300"/>
          </a:xfrm>
          <a:prstGeom prst="line">
            <a:avLst/>
          </a:prstGeom>
          <a:ln w="9525" cap="flat">
            <a:solidFill>
              <a:srgbClr val="E6E8F2"/>
            </a:solidFill>
          </a:ln>
        </p:spPr>
      </p:cxnSp>
      <p:cxnSp>
        <p:nvCxnSpPr>
          <p:cNvPr id="12" name="Line 12"/>
          <p:cNvCxnSpPr/>
          <p:nvPr/>
        </p:nvCxnSpPr>
        <p:spPr>
          <a:xfrm>
            <a:off x="2346325" y="3004566"/>
            <a:ext cx="0" cy="2019300"/>
          </a:xfrm>
          <a:prstGeom prst="line">
            <a:avLst/>
          </a:prstGeom>
          <a:ln w="9525" cap="flat">
            <a:solidFill>
              <a:srgbClr val="E6E8F2"/>
            </a:solidFill>
          </a:ln>
        </p:spPr>
      </p:cxnSp>
      <p:cxnSp>
        <p:nvCxnSpPr>
          <p:cNvPr id="13" name="Line 13"/>
          <p:cNvCxnSpPr/>
          <p:nvPr/>
        </p:nvCxnSpPr>
        <p:spPr>
          <a:xfrm>
            <a:off x="2571750" y="3004566"/>
            <a:ext cx="0" cy="2019300"/>
          </a:xfrm>
          <a:prstGeom prst="line">
            <a:avLst/>
          </a:prstGeom>
          <a:ln w="9525" cap="flat">
            <a:solidFill>
              <a:srgbClr val="E6E8F2"/>
            </a:solidFill>
          </a:ln>
        </p:spPr>
      </p:cxnSp>
      <p:cxnSp>
        <p:nvCxnSpPr>
          <p:cNvPr id="14" name="Line 14"/>
          <p:cNvCxnSpPr/>
          <p:nvPr/>
        </p:nvCxnSpPr>
        <p:spPr>
          <a:xfrm>
            <a:off x="2797175" y="3004566"/>
            <a:ext cx="0" cy="2019300"/>
          </a:xfrm>
          <a:prstGeom prst="line">
            <a:avLst/>
          </a:prstGeom>
          <a:ln w="9525" cap="flat">
            <a:solidFill>
              <a:srgbClr val="E6E8F2"/>
            </a:solidFill>
          </a:ln>
        </p:spPr>
      </p:cxnSp>
      <p:cxnSp>
        <p:nvCxnSpPr>
          <p:cNvPr id="15" name="Line 15"/>
          <p:cNvCxnSpPr/>
          <p:nvPr/>
        </p:nvCxnSpPr>
        <p:spPr>
          <a:xfrm>
            <a:off x="3022600" y="3004566"/>
            <a:ext cx="0" cy="2019300"/>
          </a:xfrm>
          <a:prstGeom prst="line">
            <a:avLst/>
          </a:prstGeom>
          <a:ln w="9525" cap="flat">
            <a:solidFill>
              <a:srgbClr val="E6E8F2"/>
            </a:solidFill>
          </a:ln>
        </p:spPr>
      </p:cxnSp>
      <p:cxnSp>
        <p:nvCxnSpPr>
          <p:cNvPr id="16" name="Line 16"/>
          <p:cNvCxnSpPr/>
          <p:nvPr/>
        </p:nvCxnSpPr>
        <p:spPr>
          <a:xfrm>
            <a:off x="3248025" y="3004566"/>
            <a:ext cx="0" cy="2019300"/>
          </a:xfrm>
          <a:prstGeom prst="line">
            <a:avLst/>
          </a:prstGeom>
          <a:ln w="9525" cap="flat">
            <a:solidFill>
              <a:srgbClr val="E6E8F2"/>
            </a:solidFill>
          </a:ln>
        </p:spPr>
      </p:cxnSp>
      <p:cxnSp>
        <p:nvCxnSpPr>
          <p:cNvPr id="17" name="Line 17"/>
          <p:cNvCxnSpPr/>
          <p:nvPr/>
        </p:nvCxnSpPr>
        <p:spPr>
          <a:xfrm>
            <a:off x="3473450" y="3004566"/>
            <a:ext cx="0" cy="2019300"/>
          </a:xfrm>
          <a:prstGeom prst="line">
            <a:avLst/>
          </a:prstGeom>
          <a:ln w="9525" cap="flat">
            <a:solidFill>
              <a:srgbClr val="E6E8F2"/>
            </a:solidFill>
          </a:ln>
        </p:spPr>
      </p:cxnSp>
      <p:cxnSp>
        <p:nvCxnSpPr>
          <p:cNvPr id="18" name="Line 18"/>
          <p:cNvCxnSpPr/>
          <p:nvPr/>
        </p:nvCxnSpPr>
        <p:spPr>
          <a:xfrm>
            <a:off x="3698875" y="3004566"/>
            <a:ext cx="0" cy="2019300"/>
          </a:xfrm>
          <a:prstGeom prst="line">
            <a:avLst/>
          </a:prstGeom>
          <a:ln w="9525" cap="flat">
            <a:solidFill>
              <a:srgbClr val="E6E8F2"/>
            </a:solidFill>
          </a:ln>
        </p:spPr>
      </p:cxnSp>
      <p:cxnSp>
        <p:nvCxnSpPr>
          <p:cNvPr id="19" name="Line 19"/>
          <p:cNvCxnSpPr/>
          <p:nvPr/>
        </p:nvCxnSpPr>
        <p:spPr>
          <a:xfrm>
            <a:off x="3924300" y="3004566"/>
            <a:ext cx="0" cy="2019300"/>
          </a:xfrm>
          <a:prstGeom prst="line">
            <a:avLst/>
          </a:prstGeom>
          <a:ln w="9525" cap="flat">
            <a:solidFill>
              <a:srgbClr val="E6E8F2"/>
            </a:solidFill>
          </a:ln>
        </p:spPr>
      </p:cxnSp>
      <p:cxnSp>
        <p:nvCxnSpPr>
          <p:cNvPr id="20" name="Line 20"/>
          <p:cNvCxnSpPr/>
          <p:nvPr/>
        </p:nvCxnSpPr>
        <p:spPr>
          <a:xfrm>
            <a:off x="1219200" y="5023866"/>
            <a:ext cx="2705100" cy="0"/>
          </a:xfrm>
          <a:prstGeom prst="line">
            <a:avLst/>
          </a:prstGeom>
          <a:ln w="9525" cap="flat">
            <a:solidFill>
              <a:srgbClr val="E6E8F2"/>
            </a:solidFill>
          </a:ln>
        </p:spPr>
      </p:cxnSp>
      <p:cxnSp>
        <p:nvCxnSpPr>
          <p:cNvPr id="21" name="Line 21"/>
          <p:cNvCxnSpPr/>
          <p:nvPr/>
        </p:nvCxnSpPr>
        <p:spPr>
          <a:xfrm>
            <a:off x="1219200" y="4735395"/>
            <a:ext cx="2705100" cy="0"/>
          </a:xfrm>
          <a:prstGeom prst="line">
            <a:avLst/>
          </a:prstGeom>
          <a:ln w="9525" cap="flat">
            <a:solidFill>
              <a:srgbClr val="E6E8F2"/>
            </a:solidFill>
          </a:ln>
        </p:spPr>
      </p:cxnSp>
      <p:cxnSp>
        <p:nvCxnSpPr>
          <p:cNvPr id="22" name="Line 22"/>
          <p:cNvCxnSpPr/>
          <p:nvPr/>
        </p:nvCxnSpPr>
        <p:spPr>
          <a:xfrm>
            <a:off x="1219200" y="4446923"/>
            <a:ext cx="2705100" cy="0"/>
          </a:xfrm>
          <a:prstGeom prst="line">
            <a:avLst/>
          </a:prstGeom>
          <a:ln w="9525" cap="flat">
            <a:solidFill>
              <a:srgbClr val="E6E8F2"/>
            </a:solidFill>
          </a:ln>
        </p:spPr>
      </p:cxnSp>
      <p:cxnSp>
        <p:nvCxnSpPr>
          <p:cNvPr id="23" name="Line 23"/>
          <p:cNvCxnSpPr/>
          <p:nvPr/>
        </p:nvCxnSpPr>
        <p:spPr>
          <a:xfrm>
            <a:off x="1219200" y="4158452"/>
            <a:ext cx="2705100" cy="0"/>
          </a:xfrm>
          <a:prstGeom prst="line">
            <a:avLst/>
          </a:prstGeom>
          <a:ln w="9525" cap="flat">
            <a:solidFill>
              <a:srgbClr val="E6E8F2"/>
            </a:solidFill>
          </a:ln>
        </p:spPr>
      </p:cxnSp>
      <p:cxnSp>
        <p:nvCxnSpPr>
          <p:cNvPr id="24" name="Line 24"/>
          <p:cNvCxnSpPr/>
          <p:nvPr/>
        </p:nvCxnSpPr>
        <p:spPr>
          <a:xfrm>
            <a:off x="1219200" y="3869980"/>
            <a:ext cx="2705100" cy="0"/>
          </a:xfrm>
          <a:prstGeom prst="line">
            <a:avLst/>
          </a:prstGeom>
          <a:ln w="9525" cap="flat">
            <a:solidFill>
              <a:srgbClr val="E6E8F2"/>
            </a:solidFill>
          </a:ln>
        </p:spPr>
      </p:cxnSp>
      <p:cxnSp>
        <p:nvCxnSpPr>
          <p:cNvPr id="25" name="Line 25"/>
          <p:cNvCxnSpPr/>
          <p:nvPr/>
        </p:nvCxnSpPr>
        <p:spPr>
          <a:xfrm>
            <a:off x="1219200" y="3581509"/>
            <a:ext cx="2705100" cy="0"/>
          </a:xfrm>
          <a:prstGeom prst="line">
            <a:avLst/>
          </a:prstGeom>
          <a:ln w="9525" cap="flat">
            <a:solidFill>
              <a:srgbClr val="E6E8F2"/>
            </a:solidFill>
          </a:ln>
        </p:spPr>
      </p:cxnSp>
      <p:cxnSp>
        <p:nvCxnSpPr>
          <p:cNvPr id="26" name="Line 26"/>
          <p:cNvCxnSpPr/>
          <p:nvPr/>
        </p:nvCxnSpPr>
        <p:spPr>
          <a:xfrm>
            <a:off x="1219200" y="3293037"/>
            <a:ext cx="2705100" cy="0"/>
          </a:xfrm>
          <a:prstGeom prst="line">
            <a:avLst/>
          </a:prstGeom>
          <a:ln w="9525" cap="flat">
            <a:solidFill>
              <a:srgbClr val="E6E8F2"/>
            </a:solidFill>
          </a:ln>
        </p:spPr>
      </p:cxnSp>
      <p:cxnSp>
        <p:nvCxnSpPr>
          <p:cNvPr id="27" name="Line 27"/>
          <p:cNvCxnSpPr/>
          <p:nvPr/>
        </p:nvCxnSpPr>
        <p:spPr>
          <a:xfrm>
            <a:off x="1219200" y="3004566"/>
            <a:ext cx="2705100" cy="0"/>
          </a:xfrm>
          <a:prstGeom prst="line">
            <a:avLst/>
          </a:prstGeom>
          <a:ln w="9525" cap="flat">
            <a:solidFill>
              <a:srgbClr val="E6E8F2"/>
            </a:solidFill>
          </a:ln>
        </p:spPr>
      </p:cxnSp>
      <p:cxnSp>
        <p:nvCxnSpPr>
          <p:cNvPr id="28" name="Line 28"/>
          <p:cNvCxnSpPr/>
          <p:nvPr/>
        </p:nvCxnSpPr>
        <p:spPr>
          <a:xfrm>
            <a:off x="1670050" y="3004566"/>
            <a:ext cx="0" cy="2019300"/>
          </a:xfrm>
          <a:prstGeom prst="line">
            <a:avLst/>
          </a:prstGeom>
          <a:ln w="19050" cap="flat">
            <a:solidFill>
              <a:srgbClr val="5F6272"/>
            </a:solidFill>
          </a:ln>
        </p:spPr>
      </p:cxnSp>
      <p:cxnSp>
        <p:nvCxnSpPr>
          <p:cNvPr id="29" name="Line 29"/>
          <p:cNvCxnSpPr/>
          <p:nvPr/>
        </p:nvCxnSpPr>
        <p:spPr>
          <a:xfrm>
            <a:off x="1219200" y="4158452"/>
            <a:ext cx="2705100" cy="0"/>
          </a:xfrm>
          <a:prstGeom prst="line">
            <a:avLst/>
          </a:prstGeom>
          <a:ln w="19050" cap="flat">
            <a:solidFill>
              <a:srgbClr val="5F6272"/>
            </a:solidFill>
          </a:ln>
        </p:spPr>
      </p:cxnSp>
      <p:sp>
        <p:nvSpPr>
          <p:cNvPr id="30" name="Shape 30"/>
          <p:cNvSpPr txBox="1"/>
          <p:nvPr/>
        </p:nvSpPr>
        <p:spPr>
          <a:xfrm>
            <a:off x="944880"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1" name="Shape 31"/>
          <p:cNvSpPr txBox="1"/>
          <p:nvPr/>
        </p:nvSpPr>
        <p:spPr>
          <a:xfrm>
            <a:off x="1395730"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1846580"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3" name="Shape 33"/>
          <p:cNvSpPr txBox="1"/>
          <p:nvPr/>
        </p:nvSpPr>
        <p:spPr>
          <a:xfrm>
            <a:off x="2297430"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4" name="Shape 34"/>
          <p:cNvSpPr txBox="1"/>
          <p:nvPr/>
        </p:nvSpPr>
        <p:spPr>
          <a:xfrm>
            <a:off x="2748280"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5" name="Shape 35"/>
          <p:cNvSpPr txBox="1"/>
          <p:nvPr/>
        </p:nvSpPr>
        <p:spPr>
          <a:xfrm>
            <a:off x="3199130"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36" name="Shape 36"/>
          <p:cNvSpPr txBox="1"/>
          <p:nvPr/>
        </p:nvSpPr>
        <p:spPr>
          <a:xfrm>
            <a:off x="3649980"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37" name="Shape 37"/>
          <p:cNvSpPr txBox="1"/>
          <p:nvPr/>
        </p:nvSpPr>
        <p:spPr>
          <a:xfrm>
            <a:off x="652272" y="493242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38" name="Shape 38"/>
          <p:cNvSpPr txBox="1"/>
          <p:nvPr/>
        </p:nvSpPr>
        <p:spPr>
          <a:xfrm>
            <a:off x="652272" y="464395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652272" y="435548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0" name="Shape 40"/>
          <p:cNvSpPr txBox="1"/>
          <p:nvPr/>
        </p:nvSpPr>
        <p:spPr>
          <a:xfrm>
            <a:off x="652272" y="406701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1" name="Shape 41"/>
          <p:cNvSpPr txBox="1"/>
          <p:nvPr/>
        </p:nvSpPr>
        <p:spPr>
          <a:xfrm>
            <a:off x="652272" y="377854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2" name="Shape 42"/>
          <p:cNvSpPr txBox="1"/>
          <p:nvPr/>
        </p:nvSpPr>
        <p:spPr>
          <a:xfrm>
            <a:off x="652272" y="3490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3" name="Shape 43"/>
          <p:cNvSpPr txBox="1"/>
          <p:nvPr/>
        </p:nvSpPr>
        <p:spPr>
          <a:xfrm>
            <a:off x="652272" y="320159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4" name="Shape 44"/>
          <p:cNvSpPr txBox="1"/>
          <p:nvPr/>
        </p:nvSpPr>
        <p:spPr>
          <a:xfrm>
            <a:off x="652272" y="291312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cxnSp>
        <p:nvCxnSpPr>
          <p:cNvPr id="45" name="Line 45"/>
          <p:cNvCxnSpPr/>
          <p:nvPr/>
        </p:nvCxnSpPr>
        <p:spPr>
          <a:xfrm flipV="1">
            <a:off x="1219200" y="3004566"/>
            <a:ext cx="1352550" cy="1730829"/>
          </a:xfrm>
          <a:prstGeom prst="line">
            <a:avLst/>
          </a:prstGeom>
          <a:ln w="38100" cap="rnd">
            <a:solidFill>
              <a:srgbClr val="16171D"/>
            </a:solidFill>
          </a:ln>
        </p:spPr>
      </p:cxnSp>
      <p:sp>
        <p:nvSpPr>
          <p:cNvPr id="46" name="Shape 46"/>
          <p:cNvSpPr txBox="1"/>
          <p:nvPr/>
        </p:nvSpPr>
        <p:spPr>
          <a:xfrm>
            <a:off x="80010" y="3023616"/>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47" name="Line 47"/>
          <p:cNvCxnSpPr/>
          <p:nvPr/>
        </p:nvCxnSpPr>
        <p:spPr>
          <a:xfrm>
            <a:off x="1670050" y="4158452"/>
            <a:ext cx="1577975" cy="0"/>
          </a:xfrm>
          <a:prstGeom prst="line">
            <a:avLst/>
          </a:prstGeom>
          <a:ln w="38100" cap="rnd">
            <a:solidFill>
              <a:srgbClr val="7A4FC4"/>
            </a:solidFill>
            <a:prstDash val="dash"/>
          </a:ln>
        </p:spPr>
      </p:cxnSp>
      <p:sp>
        <p:nvSpPr>
          <p:cNvPr id="48" name="Shape 48"/>
          <p:cNvSpPr txBox="1"/>
          <p:nvPr/>
        </p:nvSpPr>
        <p:spPr>
          <a:xfrm>
            <a:off x="756285" y="4177502"/>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+7 →</a:t>
            </a:r>
            <a:endParaRPr lang="en-US" sz="1275" dirty="0"/>
          </a:p>
        </p:txBody>
      </p:sp>
      <p:sp>
        <p:nvSpPr>
          <p:cNvPr id="49" name="Shape 49"/>
          <p:cNvSpPr/>
          <p:nvPr/>
        </p:nvSpPr>
        <p:spPr>
          <a:xfrm>
            <a:off x="3195638" y="410606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0" name="Line 50"/>
          <p:cNvCxnSpPr/>
          <p:nvPr/>
        </p:nvCxnSpPr>
        <p:spPr>
          <a:xfrm>
            <a:off x="2120900" y="3581509"/>
            <a:ext cx="1577975" cy="0"/>
          </a:xfrm>
          <a:prstGeom prst="line">
            <a:avLst/>
          </a:prstGeom>
          <a:ln w="38100" cap="rnd">
            <a:solidFill>
              <a:srgbClr val="7A4FC4"/>
            </a:solidFill>
            <a:prstDash val="dash"/>
          </a:ln>
        </p:spPr>
      </p:cxnSp>
      <p:sp>
        <p:nvSpPr>
          <p:cNvPr id="51" name="Shape 51"/>
          <p:cNvSpPr txBox="1"/>
          <p:nvPr/>
        </p:nvSpPr>
        <p:spPr>
          <a:xfrm>
            <a:off x="1207135" y="3600559"/>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+7 →</a:t>
            </a:r>
            <a:endParaRPr lang="en-US" sz="1275" dirty="0"/>
          </a:p>
        </p:txBody>
      </p:sp>
      <p:sp>
        <p:nvSpPr>
          <p:cNvPr id="52" name="Shape 52"/>
          <p:cNvSpPr/>
          <p:nvPr/>
        </p:nvSpPr>
        <p:spPr>
          <a:xfrm>
            <a:off x="3646487" y="352912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3" name="Line 53"/>
          <p:cNvCxnSpPr/>
          <p:nvPr/>
        </p:nvCxnSpPr>
        <p:spPr>
          <a:xfrm flipV="1">
            <a:off x="2571750" y="3293037"/>
            <a:ext cx="1352550" cy="1730829"/>
          </a:xfrm>
          <a:prstGeom prst="line">
            <a:avLst/>
          </a:prstGeom>
          <a:ln w="38100" cap="rnd">
            <a:solidFill>
              <a:srgbClr val="7A4FC4"/>
            </a:solidFill>
          </a:ln>
        </p:spPr>
      </p:cxnSp>
      <p:sp>
        <p:nvSpPr>
          <p:cNvPr id="54" name="Shape 54"/>
          <p:cNvSpPr txBox="1"/>
          <p:nvPr/>
        </p:nvSpPr>
        <p:spPr>
          <a:xfrm>
            <a:off x="1432560" y="3312087"/>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g(x)</a:t>
            </a:r>
            <a:endParaRPr lang="en-US" sz="1275" dirty="0"/>
          </a:p>
        </p:txBody>
      </p:sp>
      <p:sp>
        <p:nvSpPr>
          <p:cNvPr id="55" name="Shape 55"/>
          <p:cNvSpPr/>
          <p:nvPr/>
        </p:nvSpPr>
        <p:spPr>
          <a:xfrm>
            <a:off x="1617662" y="410606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6" name="Shape 56"/>
          <p:cNvSpPr/>
          <p:nvPr/>
        </p:nvSpPr>
        <p:spPr>
          <a:xfrm>
            <a:off x="2068512" y="352912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95350" y="5366766"/>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13" name="Shape 113"/>
          <p:cNvSpPr txBox="1"/>
          <p:nvPr/>
        </p:nvSpPr>
        <p:spPr>
          <a:xfrm>
            <a:off x="6286348" y="1618488"/>
            <a:ext cx="5219548" cy="44386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9" name="Shape 59"/>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− 4</a:t>
            </a:r>
            <a:endParaRPr lang="en-US" sz="2100" dirty="0"/>
          </a:p>
        </p:txBody>
      </p:sp>
      <p:sp>
        <p:nvSpPr>
          <p:cNvPr id="60" name="Shape 60"/>
          <p:cNvSpPr txBox="1"/>
          <p:nvPr/>
        </p:nvSpPr>
        <p:spPr>
          <a:xfrm>
            <a:off x="6495898"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Outside, minus → </a:t>
            </a:r>
            <a:r>
              <a:rPr lang="en-US" sz="1575" dirty="0" b="1">
                <a:solidFill>
                  <a:srgbClr val="16171D"/>
                </a:solidFill>
                <a:latin typeface="Segoe UI"/>
                <a:cs typeface="Segoe UI"/>
              </a:rPr>
              <a:t xml:space="preserve">down 4</a:t>
            </a:r>
            <a:r>
              <a:rPr lang="en-US" sz="1575" dirty="0">
                <a:solidFill>
                  <a:srgbClr val="16171D"/>
                </a:solidFill>
                <a:latin typeface="Segoe UI"/>
                <a:cs typeface="Segoe UI"/>
              </a:rPr>
              <a:t xml:space="preserve">: each point moves 4 down.</a:t>
            </a:r>
            <a:endParaRPr lang="en-US" sz="1575" dirty="0"/>
          </a:p>
        </p:txBody>
      </p:sp>
      <p:sp>
        <p:nvSpPr>
          <p:cNvPr id="61" name="Shape 61"/>
          <p:cNvSpPr/>
          <p:nvPr/>
        </p:nvSpPr>
        <p:spPr>
          <a:xfrm>
            <a:off x="6495898" y="2890266"/>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2" name="Line 62"/>
          <p:cNvCxnSpPr/>
          <p:nvPr/>
        </p:nvCxnSpPr>
        <p:spPr>
          <a:xfrm>
            <a:off x="6819748" y="3004566"/>
            <a:ext cx="0" cy="2019300"/>
          </a:xfrm>
          <a:prstGeom prst="line">
            <a:avLst/>
          </a:prstGeom>
          <a:ln w="9525" cap="flat">
            <a:solidFill>
              <a:srgbClr val="E6E8F2"/>
            </a:solidFill>
          </a:ln>
        </p:spPr>
      </p:cxnSp>
      <p:cxnSp>
        <p:nvCxnSpPr>
          <p:cNvPr id="63" name="Line 63"/>
          <p:cNvCxnSpPr/>
          <p:nvPr/>
        </p:nvCxnSpPr>
        <p:spPr>
          <a:xfrm>
            <a:off x="7157885" y="3004566"/>
            <a:ext cx="0" cy="2019300"/>
          </a:xfrm>
          <a:prstGeom prst="line">
            <a:avLst/>
          </a:prstGeom>
          <a:ln w="9525" cap="flat">
            <a:solidFill>
              <a:srgbClr val="E6E8F2"/>
            </a:solidFill>
          </a:ln>
        </p:spPr>
      </p:cxnSp>
      <p:cxnSp>
        <p:nvCxnSpPr>
          <p:cNvPr id="64" name="Line 64"/>
          <p:cNvCxnSpPr/>
          <p:nvPr/>
        </p:nvCxnSpPr>
        <p:spPr>
          <a:xfrm>
            <a:off x="7496023" y="3004566"/>
            <a:ext cx="0" cy="2019300"/>
          </a:xfrm>
          <a:prstGeom prst="line">
            <a:avLst/>
          </a:prstGeom>
          <a:ln w="9525" cap="flat">
            <a:solidFill>
              <a:srgbClr val="E6E8F2"/>
            </a:solidFill>
          </a:ln>
        </p:spPr>
      </p:cxnSp>
      <p:cxnSp>
        <p:nvCxnSpPr>
          <p:cNvPr id="65" name="Line 65"/>
          <p:cNvCxnSpPr/>
          <p:nvPr/>
        </p:nvCxnSpPr>
        <p:spPr>
          <a:xfrm>
            <a:off x="7834160" y="3004566"/>
            <a:ext cx="0" cy="2019300"/>
          </a:xfrm>
          <a:prstGeom prst="line">
            <a:avLst/>
          </a:prstGeom>
          <a:ln w="9525" cap="flat">
            <a:solidFill>
              <a:srgbClr val="E6E8F2"/>
            </a:solidFill>
          </a:ln>
        </p:spPr>
      </p:cxnSp>
      <p:cxnSp>
        <p:nvCxnSpPr>
          <p:cNvPr id="66" name="Line 66"/>
          <p:cNvCxnSpPr/>
          <p:nvPr/>
        </p:nvCxnSpPr>
        <p:spPr>
          <a:xfrm>
            <a:off x="8172298" y="3004566"/>
            <a:ext cx="0" cy="2019300"/>
          </a:xfrm>
          <a:prstGeom prst="line">
            <a:avLst/>
          </a:prstGeom>
          <a:ln w="9525" cap="flat">
            <a:solidFill>
              <a:srgbClr val="E6E8F2"/>
            </a:solidFill>
          </a:ln>
        </p:spPr>
      </p:cxnSp>
      <p:cxnSp>
        <p:nvCxnSpPr>
          <p:cNvPr id="67" name="Line 67"/>
          <p:cNvCxnSpPr/>
          <p:nvPr/>
        </p:nvCxnSpPr>
        <p:spPr>
          <a:xfrm>
            <a:off x="8510435" y="3004566"/>
            <a:ext cx="0" cy="2019300"/>
          </a:xfrm>
          <a:prstGeom prst="line">
            <a:avLst/>
          </a:prstGeom>
          <a:ln w="9525" cap="flat">
            <a:solidFill>
              <a:srgbClr val="E6E8F2"/>
            </a:solidFill>
          </a:ln>
        </p:spPr>
      </p:cxnSp>
      <p:cxnSp>
        <p:nvCxnSpPr>
          <p:cNvPr id="68" name="Line 68"/>
          <p:cNvCxnSpPr/>
          <p:nvPr/>
        </p:nvCxnSpPr>
        <p:spPr>
          <a:xfrm>
            <a:off x="8848573" y="3004566"/>
            <a:ext cx="0" cy="2019300"/>
          </a:xfrm>
          <a:prstGeom prst="line">
            <a:avLst/>
          </a:prstGeom>
          <a:ln w="9525" cap="flat">
            <a:solidFill>
              <a:srgbClr val="E6E8F2"/>
            </a:solidFill>
          </a:ln>
        </p:spPr>
      </p:cxnSp>
      <p:cxnSp>
        <p:nvCxnSpPr>
          <p:cNvPr id="69" name="Line 69"/>
          <p:cNvCxnSpPr/>
          <p:nvPr/>
        </p:nvCxnSpPr>
        <p:spPr>
          <a:xfrm>
            <a:off x="9186710" y="3004566"/>
            <a:ext cx="0" cy="2019300"/>
          </a:xfrm>
          <a:prstGeom prst="line">
            <a:avLst/>
          </a:prstGeom>
          <a:ln w="9525" cap="flat">
            <a:solidFill>
              <a:srgbClr val="E6E8F2"/>
            </a:solidFill>
          </a:ln>
        </p:spPr>
      </p:cxnSp>
      <p:cxnSp>
        <p:nvCxnSpPr>
          <p:cNvPr id="70" name="Line 70"/>
          <p:cNvCxnSpPr/>
          <p:nvPr/>
        </p:nvCxnSpPr>
        <p:spPr>
          <a:xfrm>
            <a:off x="9524848" y="3004566"/>
            <a:ext cx="0" cy="2019300"/>
          </a:xfrm>
          <a:prstGeom prst="line">
            <a:avLst/>
          </a:prstGeom>
          <a:ln w="9525" cap="flat">
            <a:solidFill>
              <a:srgbClr val="E6E8F2"/>
            </a:solidFill>
          </a:ln>
        </p:spPr>
      </p:cxnSp>
      <p:cxnSp>
        <p:nvCxnSpPr>
          <p:cNvPr id="71" name="Line 71"/>
          <p:cNvCxnSpPr/>
          <p:nvPr/>
        </p:nvCxnSpPr>
        <p:spPr>
          <a:xfrm>
            <a:off x="6819748" y="5023866"/>
            <a:ext cx="2705100" cy="0"/>
          </a:xfrm>
          <a:prstGeom prst="line">
            <a:avLst/>
          </a:prstGeom>
          <a:ln w="9525" cap="flat">
            <a:solidFill>
              <a:srgbClr val="E6E8F2"/>
            </a:solidFill>
          </a:ln>
        </p:spPr>
      </p:cxnSp>
      <p:cxnSp>
        <p:nvCxnSpPr>
          <p:cNvPr id="72" name="Line 72"/>
          <p:cNvCxnSpPr/>
          <p:nvPr/>
        </p:nvCxnSpPr>
        <p:spPr>
          <a:xfrm>
            <a:off x="6819748" y="4840293"/>
            <a:ext cx="2705100" cy="0"/>
          </a:xfrm>
          <a:prstGeom prst="line">
            <a:avLst/>
          </a:prstGeom>
          <a:ln w="9525" cap="flat">
            <a:solidFill>
              <a:srgbClr val="E6E8F2"/>
            </a:solidFill>
          </a:ln>
        </p:spPr>
      </p:cxnSp>
      <p:cxnSp>
        <p:nvCxnSpPr>
          <p:cNvPr id="73" name="Line 73"/>
          <p:cNvCxnSpPr/>
          <p:nvPr/>
        </p:nvCxnSpPr>
        <p:spPr>
          <a:xfrm>
            <a:off x="6819748" y="4656721"/>
            <a:ext cx="2705100" cy="0"/>
          </a:xfrm>
          <a:prstGeom prst="line">
            <a:avLst/>
          </a:prstGeom>
          <a:ln w="9525" cap="flat">
            <a:solidFill>
              <a:srgbClr val="E6E8F2"/>
            </a:solidFill>
          </a:ln>
        </p:spPr>
      </p:cxnSp>
      <p:cxnSp>
        <p:nvCxnSpPr>
          <p:cNvPr id="74" name="Line 74"/>
          <p:cNvCxnSpPr/>
          <p:nvPr/>
        </p:nvCxnSpPr>
        <p:spPr>
          <a:xfrm>
            <a:off x="6819748" y="4473148"/>
            <a:ext cx="2705100" cy="0"/>
          </a:xfrm>
          <a:prstGeom prst="line">
            <a:avLst/>
          </a:prstGeom>
          <a:ln w="9525" cap="flat">
            <a:solidFill>
              <a:srgbClr val="E6E8F2"/>
            </a:solidFill>
          </a:ln>
        </p:spPr>
      </p:cxnSp>
      <p:cxnSp>
        <p:nvCxnSpPr>
          <p:cNvPr id="75" name="Line 75"/>
          <p:cNvCxnSpPr/>
          <p:nvPr/>
        </p:nvCxnSpPr>
        <p:spPr>
          <a:xfrm>
            <a:off x="6819748" y="4289575"/>
            <a:ext cx="2705100" cy="0"/>
          </a:xfrm>
          <a:prstGeom prst="line">
            <a:avLst/>
          </a:prstGeom>
          <a:ln w="9525" cap="flat">
            <a:solidFill>
              <a:srgbClr val="E6E8F2"/>
            </a:solidFill>
          </a:ln>
        </p:spPr>
      </p:cxnSp>
      <p:cxnSp>
        <p:nvCxnSpPr>
          <p:cNvPr id="76" name="Line 76"/>
          <p:cNvCxnSpPr/>
          <p:nvPr/>
        </p:nvCxnSpPr>
        <p:spPr>
          <a:xfrm>
            <a:off x="6819748" y="4106002"/>
            <a:ext cx="2705100" cy="0"/>
          </a:xfrm>
          <a:prstGeom prst="line">
            <a:avLst/>
          </a:prstGeom>
          <a:ln w="9525" cap="flat">
            <a:solidFill>
              <a:srgbClr val="E6E8F2"/>
            </a:solidFill>
          </a:ln>
        </p:spPr>
      </p:cxnSp>
      <p:cxnSp>
        <p:nvCxnSpPr>
          <p:cNvPr id="77" name="Line 77"/>
          <p:cNvCxnSpPr/>
          <p:nvPr/>
        </p:nvCxnSpPr>
        <p:spPr>
          <a:xfrm>
            <a:off x="6819748" y="3922430"/>
            <a:ext cx="2705100" cy="0"/>
          </a:xfrm>
          <a:prstGeom prst="line">
            <a:avLst/>
          </a:prstGeom>
          <a:ln w="9525" cap="flat">
            <a:solidFill>
              <a:srgbClr val="E6E8F2"/>
            </a:solidFill>
          </a:ln>
        </p:spPr>
      </p:cxnSp>
      <p:cxnSp>
        <p:nvCxnSpPr>
          <p:cNvPr id="78" name="Line 78"/>
          <p:cNvCxnSpPr/>
          <p:nvPr/>
        </p:nvCxnSpPr>
        <p:spPr>
          <a:xfrm>
            <a:off x="6819748" y="3738857"/>
            <a:ext cx="2705100" cy="0"/>
          </a:xfrm>
          <a:prstGeom prst="line">
            <a:avLst/>
          </a:prstGeom>
          <a:ln w="9525" cap="flat">
            <a:solidFill>
              <a:srgbClr val="E6E8F2"/>
            </a:solidFill>
          </a:ln>
        </p:spPr>
      </p:cxnSp>
      <p:cxnSp>
        <p:nvCxnSpPr>
          <p:cNvPr id="79" name="Line 79"/>
          <p:cNvCxnSpPr/>
          <p:nvPr/>
        </p:nvCxnSpPr>
        <p:spPr>
          <a:xfrm>
            <a:off x="6819748" y="3555284"/>
            <a:ext cx="2705100" cy="0"/>
          </a:xfrm>
          <a:prstGeom prst="line">
            <a:avLst/>
          </a:prstGeom>
          <a:ln w="9525" cap="flat">
            <a:solidFill>
              <a:srgbClr val="E6E8F2"/>
            </a:solidFill>
          </a:ln>
        </p:spPr>
      </p:cxnSp>
      <p:cxnSp>
        <p:nvCxnSpPr>
          <p:cNvPr id="80" name="Line 80"/>
          <p:cNvCxnSpPr/>
          <p:nvPr/>
        </p:nvCxnSpPr>
        <p:spPr>
          <a:xfrm>
            <a:off x="6819748" y="3371711"/>
            <a:ext cx="2705100" cy="0"/>
          </a:xfrm>
          <a:prstGeom prst="line">
            <a:avLst/>
          </a:prstGeom>
          <a:ln w="9525" cap="flat">
            <a:solidFill>
              <a:srgbClr val="E6E8F2"/>
            </a:solidFill>
          </a:ln>
        </p:spPr>
      </p:cxnSp>
      <p:cxnSp>
        <p:nvCxnSpPr>
          <p:cNvPr id="81" name="Line 81"/>
          <p:cNvCxnSpPr/>
          <p:nvPr/>
        </p:nvCxnSpPr>
        <p:spPr>
          <a:xfrm>
            <a:off x="6819748" y="3188139"/>
            <a:ext cx="2705100" cy="0"/>
          </a:xfrm>
          <a:prstGeom prst="line">
            <a:avLst/>
          </a:prstGeom>
          <a:ln w="9525" cap="flat">
            <a:solidFill>
              <a:srgbClr val="E6E8F2"/>
            </a:solidFill>
          </a:ln>
        </p:spPr>
      </p:cxnSp>
      <p:cxnSp>
        <p:nvCxnSpPr>
          <p:cNvPr id="82" name="Line 82"/>
          <p:cNvCxnSpPr/>
          <p:nvPr/>
        </p:nvCxnSpPr>
        <p:spPr>
          <a:xfrm>
            <a:off x="6819748" y="3004566"/>
            <a:ext cx="2705100" cy="0"/>
          </a:xfrm>
          <a:prstGeom prst="line">
            <a:avLst/>
          </a:prstGeom>
          <a:ln w="9525" cap="flat">
            <a:solidFill>
              <a:srgbClr val="E6E8F2"/>
            </a:solidFill>
          </a:ln>
        </p:spPr>
      </p:cxnSp>
      <p:cxnSp>
        <p:nvCxnSpPr>
          <p:cNvPr id="83" name="Line 83"/>
          <p:cNvCxnSpPr/>
          <p:nvPr/>
        </p:nvCxnSpPr>
        <p:spPr>
          <a:xfrm>
            <a:off x="8172298" y="3004566"/>
            <a:ext cx="0" cy="2019300"/>
          </a:xfrm>
          <a:prstGeom prst="line">
            <a:avLst/>
          </a:prstGeom>
          <a:ln w="19050" cap="flat">
            <a:solidFill>
              <a:srgbClr val="5F6272"/>
            </a:solidFill>
          </a:ln>
        </p:spPr>
      </p:cxnSp>
      <p:cxnSp>
        <p:nvCxnSpPr>
          <p:cNvPr id="84" name="Line 84"/>
          <p:cNvCxnSpPr/>
          <p:nvPr/>
        </p:nvCxnSpPr>
        <p:spPr>
          <a:xfrm>
            <a:off x="6819748" y="3738857"/>
            <a:ext cx="2705100" cy="0"/>
          </a:xfrm>
          <a:prstGeom prst="line">
            <a:avLst/>
          </a:prstGeom>
          <a:ln w="19050" cap="flat">
            <a:solidFill>
              <a:srgbClr val="5F6272"/>
            </a:solidFill>
          </a:ln>
        </p:spPr>
      </p:cxnSp>
      <p:sp>
        <p:nvSpPr>
          <p:cNvPr id="85" name="Shape 85"/>
          <p:cNvSpPr txBox="1"/>
          <p:nvPr/>
        </p:nvSpPr>
        <p:spPr>
          <a:xfrm>
            <a:off x="6545428"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6" name="Shape 86"/>
          <p:cNvSpPr txBox="1"/>
          <p:nvPr/>
        </p:nvSpPr>
        <p:spPr>
          <a:xfrm>
            <a:off x="7221703"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7" name="Shape 87"/>
          <p:cNvSpPr txBox="1"/>
          <p:nvPr/>
        </p:nvSpPr>
        <p:spPr>
          <a:xfrm>
            <a:off x="7897978"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88" name="Shape 88"/>
          <p:cNvSpPr txBox="1"/>
          <p:nvPr/>
        </p:nvSpPr>
        <p:spPr>
          <a:xfrm>
            <a:off x="8574253"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9" name="Shape 89"/>
          <p:cNvSpPr txBox="1"/>
          <p:nvPr/>
        </p:nvSpPr>
        <p:spPr>
          <a:xfrm>
            <a:off x="9250528" y="504291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90" name="Shape 90"/>
          <p:cNvSpPr txBox="1"/>
          <p:nvPr/>
        </p:nvSpPr>
        <p:spPr>
          <a:xfrm>
            <a:off x="6252820" y="47488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91" name="Shape 91"/>
          <p:cNvSpPr txBox="1"/>
          <p:nvPr/>
        </p:nvSpPr>
        <p:spPr>
          <a:xfrm>
            <a:off x="6252820" y="438170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2" name="Shape 92"/>
          <p:cNvSpPr txBox="1"/>
          <p:nvPr/>
        </p:nvSpPr>
        <p:spPr>
          <a:xfrm>
            <a:off x="6252820" y="40145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3" name="Shape 93"/>
          <p:cNvSpPr txBox="1"/>
          <p:nvPr/>
        </p:nvSpPr>
        <p:spPr>
          <a:xfrm>
            <a:off x="6252820" y="36474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94" name="Shape 94"/>
          <p:cNvSpPr txBox="1"/>
          <p:nvPr/>
        </p:nvSpPr>
        <p:spPr>
          <a:xfrm>
            <a:off x="6252820" y="328027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5" name="Shape 95"/>
          <p:cNvSpPr txBox="1"/>
          <p:nvPr/>
        </p:nvSpPr>
        <p:spPr>
          <a:xfrm>
            <a:off x="6252820" y="291312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cxnSp>
        <p:nvCxnSpPr>
          <p:cNvPr id="96" name="Line 96"/>
          <p:cNvCxnSpPr/>
          <p:nvPr/>
        </p:nvCxnSpPr>
        <p:spPr>
          <a:xfrm flipV="1">
            <a:off x="6819748" y="3004566"/>
            <a:ext cx="2705100" cy="1468582"/>
          </a:xfrm>
          <a:prstGeom prst="line">
            <a:avLst/>
          </a:prstGeom>
          <a:ln w="38100" cap="rnd">
            <a:solidFill>
              <a:srgbClr val="16171D"/>
            </a:solidFill>
          </a:ln>
        </p:spPr>
      </p:cxnSp>
      <p:sp>
        <p:nvSpPr>
          <p:cNvPr id="97" name="Shape 97"/>
          <p:cNvSpPr txBox="1"/>
          <p:nvPr/>
        </p:nvSpPr>
        <p:spPr>
          <a:xfrm>
            <a:off x="7033108" y="3023616"/>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98" name="Line 98"/>
          <p:cNvCxnSpPr/>
          <p:nvPr/>
        </p:nvCxnSpPr>
        <p:spPr>
          <a:xfrm>
            <a:off x="7496023" y="4106002"/>
            <a:ext cx="0" cy="734291"/>
          </a:xfrm>
          <a:prstGeom prst="line">
            <a:avLst/>
          </a:prstGeom>
          <a:ln w="38100" cap="rnd">
            <a:solidFill>
              <a:srgbClr val="7A4FC4"/>
            </a:solidFill>
            <a:prstDash val="dash"/>
          </a:ln>
        </p:spPr>
      </p:cxnSp>
      <p:sp>
        <p:nvSpPr>
          <p:cNvPr id="99" name="Shape 99"/>
          <p:cNvSpPr txBox="1"/>
          <p:nvPr/>
        </p:nvSpPr>
        <p:spPr>
          <a:xfrm>
            <a:off x="7572223" y="4125052"/>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−4 ↓</a:t>
            </a:r>
            <a:endParaRPr lang="en-US" sz="1275" dirty="0"/>
          </a:p>
        </p:txBody>
      </p:sp>
      <p:sp>
        <p:nvSpPr>
          <p:cNvPr id="100" name="Shape 100"/>
          <p:cNvSpPr/>
          <p:nvPr/>
        </p:nvSpPr>
        <p:spPr>
          <a:xfrm>
            <a:off x="7443635" y="478790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101" name="Line 101"/>
          <p:cNvCxnSpPr/>
          <p:nvPr/>
        </p:nvCxnSpPr>
        <p:spPr>
          <a:xfrm>
            <a:off x="8172298" y="3738857"/>
            <a:ext cx="0" cy="734291"/>
          </a:xfrm>
          <a:prstGeom prst="line">
            <a:avLst/>
          </a:prstGeom>
          <a:ln w="38100" cap="rnd">
            <a:solidFill>
              <a:srgbClr val="7A4FC4"/>
            </a:solidFill>
            <a:prstDash val="dash"/>
          </a:ln>
        </p:spPr>
      </p:cxnSp>
      <p:sp>
        <p:nvSpPr>
          <p:cNvPr id="102" name="Shape 102"/>
          <p:cNvSpPr txBox="1"/>
          <p:nvPr/>
        </p:nvSpPr>
        <p:spPr>
          <a:xfrm>
            <a:off x="5680558" y="3757907"/>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−4 ↓</a:t>
            </a:r>
            <a:endParaRPr lang="en-US" sz="1275" dirty="0"/>
          </a:p>
        </p:txBody>
      </p:sp>
      <p:sp>
        <p:nvSpPr>
          <p:cNvPr id="103" name="Shape 103"/>
          <p:cNvSpPr/>
          <p:nvPr/>
        </p:nvSpPr>
        <p:spPr>
          <a:xfrm>
            <a:off x="8119910" y="442076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104" name="Line 104"/>
          <p:cNvCxnSpPr/>
          <p:nvPr/>
        </p:nvCxnSpPr>
        <p:spPr>
          <a:xfrm>
            <a:off x="8848573" y="3371711"/>
            <a:ext cx="0" cy="734291"/>
          </a:xfrm>
          <a:prstGeom prst="line">
            <a:avLst/>
          </a:prstGeom>
          <a:ln w="38100" cap="rnd">
            <a:solidFill>
              <a:srgbClr val="7A4FC4"/>
            </a:solidFill>
            <a:prstDash val="dash"/>
          </a:ln>
        </p:spPr>
      </p:cxnSp>
      <p:sp>
        <p:nvSpPr>
          <p:cNvPr id="105" name="Shape 105"/>
          <p:cNvSpPr txBox="1"/>
          <p:nvPr/>
        </p:nvSpPr>
        <p:spPr>
          <a:xfrm>
            <a:off x="6356833" y="3390761"/>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−4 ↓</a:t>
            </a:r>
            <a:endParaRPr lang="en-US" sz="1275" dirty="0"/>
          </a:p>
        </p:txBody>
      </p:sp>
      <p:sp>
        <p:nvSpPr>
          <p:cNvPr id="106" name="Shape 106"/>
          <p:cNvSpPr/>
          <p:nvPr/>
        </p:nvSpPr>
        <p:spPr>
          <a:xfrm>
            <a:off x="8796185" y="405361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107" name="Line 107"/>
          <p:cNvCxnSpPr/>
          <p:nvPr/>
        </p:nvCxnSpPr>
        <p:spPr>
          <a:xfrm flipV="1">
            <a:off x="7157885" y="3738857"/>
            <a:ext cx="2366963" cy="1285009"/>
          </a:xfrm>
          <a:prstGeom prst="line">
            <a:avLst/>
          </a:prstGeom>
          <a:ln w="38100" cap="rnd">
            <a:solidFill>
              <a:srgbClr val="7A4FC4"/>
            </a:solidFill>
          </a:ln>
        </p:spPr>
      </p:cxnSp>
      <p:sp>
        <p:nvSpPr>
          <p:cNvPr id="108" name="Shape 108"/>
          <p:cNvSpPr txBox="1"/>
          <p:nvPr/>
        </p:nvSpPr>
        <p:spPr>
          <a:xfrm>
            <a:off x="7033108" y="3757907"/>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g(x)</a:t>
            </a:r>
            <a:endParaRPr lang="en-US" sz="1275" dirty="0"/>
          </a:p>
        </p:txBody>
      </p:sp>
      <p:sp>
        <p:nvSpPr>
          <p:cNvPr id="109" name="Shape 109"/>
          <p:cNvSpPr/>
          <p:nvPr/>
        </p:nvSpPr>
        <p:spPr>
          <a:xfrm>
            <a:off x="7443635" y="405361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10" name="Shape 110"/>
          <p:cNvSpPr/>
          <p:nvPr/>
        </p:nvSpPr>
        <p:spPr>
          <a:xfrm>
            <a:off x="8119910" y="368646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11" name="Shape 111"/>
          <p:cNvSpPr/>
          <p:nvPr/>
        </p:nvSpPr>
        <p:spPr>
          <a:xfrm>
            <a:off x="8796185" y="33193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12" name="Shape 112"/>
          <p:cNvSpPr txBox="1"/>
          <p:nvPr/>
        </p:nvSpPr>
        <p:spPr>
          <a:xfrm>
            <a:off x="6495898" y="5366766"/>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14" name="Slide Number 11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47"/>
                                        </p:tgtEl>
                                        <p:attrNameLst>
                                          <p:attrName>style.visibility</p:attrName>
                                        </p:attrNameLst>
                                      </p:cBhvr>
                                      <p:to>
                                        <p:strVal val="visible"/>
                                      </p:to>
                                    </p:set>
                                    <p:animEffect transition="in" filter="wipe(left)">
                                      <p:cBhvr>
                                        <p:cTn id="4" dur="700"/>
                                        <p:tgtEl>
                                          <p:spTgt spid="47"/>
                                        </p:tgtEl>
                                      </p:cBhvr>
                                    </p:animEffect>
                                  </p:childTnLst>
                                </p:cTn>
                              </p:par>
                              <p:par>
                                <p:cTn id="8" presetID="22" presetClass="entr" presetSubtype="8"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700"/>
                                        <p:tgtEl>
                                          <p:spTgt spid="48"/>
                                        </p:tgtEl>
                                      </p:cBhvr>
                                    </p:animEffect>
                                  </p:childTnLst>
                                </p:cTn>
                              </p:par>
                              <p:par>
                                <p:cTn id="11"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700"/>
                                        <p:tgtEl>
                                          <p:spTgt spid="49"/>
                                        </p:tgtEl>
                                      </p:cBhvr>
                                    </p:animEffect>
                                  </p:childTnLst>
                                </p:cTn>
                              </p:par>
                            </p:childTnLst>
                          </p:cTn>
                        </p:par>
                      </p:childTnLst>
                    </p:cTn>
                  </p:par>
                  <p:par>
                    <p:cTn id="23" fill="hold">
                      <p:stCondLst>
                        <p:cond delay="indefinite"/>
                      </p:stCondLst>
                      <p:childTnLst>
                        <p:par>
                          <p:cTn id="24" fill="hold">
                            <p:stCondLst>
                              <p:cond delay="0"/>
                            </p:stCondLst>
                            <p:childTnLst>
                              <p:par>
                                <p:cTn id="16" presetID="22" presetClass="entr" presetSubtype="8"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wipe(left)">
                                      <p:cBhvr>
                                        <p:cTn id="15" dur="700"/>
                                        <p:tgtEl>
                                          <p:spTgt spid="50"/>
                                        </p:tgtEl>
                                      </p:cBhvr>
                                    </p:animEffect>
                                  </p:childTnLst>
                                </p:cTn>
                              </p:par>
                              <p:par>
                                <p:cTn id="19" presetID="22" presetClass="entr" presetSubtype="8" fill="hold" nodeType="with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wipe(left)">
                                      <p:cBhvr>
                                        <p:cTn id="18" dur="700"/>
                                        <p:tgtEl>
                                          <p:spTgt spid="51"/>
                                        </p:tgtEl>
                                      </p:cBhvr>
                                    </p:animEffect>
                                  </p:childTnLst>
                                </p:cTn>
                              </p:par>
                              <p:par>
                                <p:cTn id="22" presetID="22" presetClass="entr" presetSubtype="8" fill="hold" nodeType="with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wipe(left)">
                                      <p:cBhvr>
                                        <p:cTn id="21" dur="700"/>
                                        <p:tgtEl>
                                          <p:spTgt spid="52"/>
                                        </p:tgtEl>
                                      </p:cBhvr>
                                    </p:animEffect>
                                  </p:childTnLst>
                                </p:cTn>
                              </p:par>
                            </p:childTnLst>
                          </p:cTn>
                        </p:par>
                      </p:childTnLst>
                    </p:cTn>
                  </p:par>
                  <p:par>
                    <p:cTn id="31" fill="hold">
                      <p:stCondLst>
                        <p:cond delay="indefinite"/>
                      </p:stCondLst>
                      <p:childTnLst>
                        <p:par>
                          <p:cTn id="32" fill="hold">
                            <p:stCondLst>
                              <p:cond delay="0"/>
                            </p:stCondLst>
                            <p:childTnLst>
                              <p:par>
                                <p:cTn id="27" presetID="22" presetClass="entr" presetSubtype="8" fill="hold" nodeType="click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wipe(left)">
                                      <p:cBhvr>
                                        <p:cTn id="26" dur="700"/>
                                        <p:tgtEl>
                                          <p:spTgt spid="53"/>
                                        </p:tgtEl>
                                      </p:cBhvr>
                                    </p:animEffect>
                                  </p:childTnLst>
                                </p:cTn>
                              </p:par>
                              <p:par>
                                <p:cTn id="30" presetID="22" presetClass="entr" presetSubtype="8" fill="hold" nodeType="with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wipe(left)">
                                      <p:cBhvr>
                                        <p:cTn id="29" dur="700"/>
                                        <p:tgtEl>
                                          <p:spTgt spid="54"/>
                                        </p:tgtEl>
                                      </p:cBhvr>
                                    </p:animEffect>
                                  </p:childTnLst>
                                </p:cTn>
                              </p:par>
                            </p:childTnLst>
                          </p:cTn>
                        </p:par>
                      </p:childTnLst>
                    </p:cTn>
                  </p:par>
                  <p:par>
                    <p:cTn id="38" fill="hold">
                      <p:stCondLst>
                        <p:cond delay="indefinite"/>
                      </p:stCondLst>
                      <p:childTnLst>
                        <p:par>
                          <p:cTn id="39" fill="hold">
                            <p:stCondLst>
                              <p:cond delay="0"/>
                            </p:stCondLst>
                            <p:childTnLst>
                              <p:par>
                                <p:cTn id="37" presetID="53" presetClass="entr" presetSubtype="16" fill="hold" nodeType="click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fade">
                                      <p:cBhvr>
                                        <p:cTn id="34" dur="500"/>
                                        <p:tgtEl>
                                          <p:spTgt spid="57"/>
                                        </p:tgtEl>
                                      </p:cBhvr>
                                    </p:animEffect>
                                    <p:anim calcmode="lin" valueType="num">
                                      <p:cBhvr>
                                        <p:cTn id="35" dur="500" fill="hold"/>
                                        <p:tgtEl>
                                          <p:spTgt spid="57"/>
                                        </p:tgtEl>
                                        <p:attrNameLst>
                                          <p:attrName>ppt_w</p:attrName>
                                        </p:attrNameLst>
                                      </p:cBhvr>
                                      <p:tavLst>
                                        <p:tav tm="0">
                                          <p:val>
                                            <p:fltVal val="0"/>
                                          </p:val>
                                        </p:tav>
                                        <p:tav tm="100000">
                                          <p:val>
                                            <p:strVal val="#ppt_w"/>
                                          </p:val>
                                        </p:tav>
                                      </p:tavLst>
                                    </p:anim>
                                    <p:anim calcmode="lin" valueType="num">
                                      <p:cBhvr>
                                        <p:cTn id="36"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42" presetID="22" presetClass="entr" presetSubtype="8" fill="hold" nodeType="clickEffect">
                                  <p:stCondLst>
                                    <p:cond delay="0"/>
                                  </p:stCondLst>
                                  <p:childTnLst>
                                    <p:set>
                                      <p:cBhvr>
                                        <p:cTn id="40" dur="1" fill="hold">
                                          <p:stCondLst>
                                            <p:cond delay="0"/>
                                          </p:stCondLst>
                                        </p:cTn>
                                        <p:tgtEl>
                                          <p:spTgt spid="98"/>
                                        </p:tgtEl>
                                        <p:attrNameLst>
                                          <p:attrName>style.visibility</p:attrName>
                                        </p:attrNameLst>
                                      </p:cBhvr>
                                      <p:to>
                                        <p:strVal val="visible"/>
                                      </p:to>
                                    </p:set>
                                    <p:animEffect transition="in" filter="wipe(left)">
                                      <p:cBhvr>
                                        <p:cTn id="41" dur="700"/>
                                        <p:tgtEl>
                                          <p:spTgt spid="98"/>
                                        </p:tgtEl>
                                      </p:cBhvr>
                                    </p:animEffect>
                                  </p:childTnLst>
                                </p:cTn>
                              </p:par>
                              <p:par>
                                <p:cTn id="45" presetID="22" presetClass="entr" presetSubtype="8" fill="hold" nodeType="withEffect">
                                  <p:stCondLst>
                                    <p:cond delay="0"/>
                                  </p:stCondLst>
                                  <p:childTnLst>
                                    <p:set>
                                      <p:cBhvr>
                                        <p:cTn id="43" dur="1" fill="hold">
                                          <p:stCondLst>
                                            <p:cond delay="0"/>
                                          </p:stCondLst>
                                        </p:cTn>
                                        <p:tgtEl>
                                          <p:spTgt spid="99"/>
                                        </p:tgtEl>
                                        <p:attrNameLst>
                                          <p:attrName>style.visibility</p:attrName>
                                        </p:attrNameLst>
                                      </p:cBhvr>
                                      <p:to>
                                        <p:strVal val="visible"/>
                                      </p:to>
                                    </p:set>
                                    <p:animEffect transition="in" filter="wipe(left)">
                                      <p:cBhvr>
                                        <p:cTn id="44" dur="700"/>
                                        <p:tgtEl>
                                          <p:spTgt spid="99"/>
                                        </p:tgtEl>
                                      </p:cBhvr>
                                    </p:animEffect>
                                  </p:childTnLst>
                                </p:cTn>
                              </p:par>
                              <p:par>
                                <p:cTn id="48" presetID="22" presetClass="entr" presetSubtype="8" fill="hold" nodeType="withEffect">
                                  <p:stCondLst>
                                    <p:cond delay="0"/>
                                  </p:stCondLst>
                                  <p:childTnLst>
                                    <p:set>
                                      <p:cBhvr>
                                        <p:cTn id="46" dur="1" fill="hold">
                                          <p:stCondLst>
                                            <p:cond delay="0"/>
                                          </p:stCondLst>
                                        </p:cTn>
                                        <p:tgtEl>
                                          <p:spTgt spid="100"/>
                                        </p:tgtEl>
                                        <p:attrNameLst>
                                          <p:attrName>style.visibility</p:attrName>
                                        </p:attrNameLst>
                                      </p:cBhvr>
                                      <p:to>
                                        <p:strVal val="visible"/>
                                      </p:to>
                                    </p:set>
                                    <p:animEffect transition="in" filter="wipe(left)">
                                      <p:cBhvr>
                                        <p:cTn id="47" dur="700"/>
                                        <p:tgtEl>
                                          <p:spTgt spid="100"/>
                                        </p:tgtEl>
                                      </p:cBhvr>
                                    </p:animEffect>
                                  </p:childTnLst>
                                </p:cTn>
                              </p:par>
                            </p:childTnLst>
                          </p:cTn>
                        </p:par>
                      </p:childTnLst>
                    </p:cTn>
                  </p:par>
                  <p:par>
                    <p:cTn id="60" fill="hold">
                      <p:stCondLst>
                        <p:cond delay="indefinite"/>
                      </p:stCondLst>
                      <p:childTnLst>
                        <p:par>
                          <p:cTn id="61" fill="hold">
                            <p:stCondLst>
                              <p:cond delay="0"/>
                            </p:stCondLst>
                            <p:childTnLst>
                              <p:par>
                                <p:cTn id="53" presetID="22" presetClass="entr" presetSubtype="8" fill="hold" nodeType="clickEffect">
                                  <p:stCondLst>
                                    <p:cond delay="0"/>
                                  </p:stCondLst>
                                  <p:childTnLst>
                                    <p:set>
                                      <p:cBhvr>
                                        <p:cTn id="51" dur="1" fill="hold">
                                          <p:stCondLst>
                                            <p:cond delay="0"/>
                                          </p:stCondLst>
                                        </p:cTn>
                                        <p:tgtEl>
                                          <p:spTgt spid="101"/>
                                        </p:tgtEl>
                                        <p:attrNameLst>
                                          <p:attrName>style.visibility</p:attrName>
                                        </p:attrNameLst>
                                      </p:cBhvr>
                                      <p:to>
                                        <p:strVal val="visible"/>
                                      </p:to>
                                    </p:set>
                                    <p:animEffect transition="in" filter="wipe(left)">
                                      <p:cBhvr>
                                        <p:cTn id="52" dur="700"/>
                                        <p:tgtEl>
                                          <p:spTgt spid="101"/>
                                        </p:tgtEl>
                                      </p:cBhvr>
                                    </p:animEffect>
                                  </p:childTnLst>
                                </p:cTn>
                              </p:par>
                              <p:par>
                                <p:cTn id="56" presetID="22" presetClass="entr" presetSubtype="8" fill="hold" nodeType="withEffect">
                                  <p:stCondLst>
                                    <p:cond delay="0"/>
                                  </p:stCondLst>
                                  <p:childTnLst>
                                    <p:set>
                                      <p:cBhvr>
                                        <p:cTn id="54" dur="1" fill="hold">
                                          <p:stCondLst>
                                            <p:cond delay="0"/>
                                          </p:stCondLst>
                                        </p:cTn>
                                        <p:tgtEl>
                                          <p:spTgt spid="102"/>
                                        </p:tgtEl>
                                        <p:attrNameLst>
                                          <p:attrName>style.visibility</p:attrName>
                                        </p:attrNameLst>
                                      </p:cBhvr>
                                      <p:to>
                                        <p:strVal val="visible"/>
                                      </p:to>
                                    </p:set>
                                    <p:animEffect transition="in" filter="wipe(left)">
                                      <p:cBhvr>
                                        <p:cTn id="55" dur="700"/>
                                        <p:tgtEl>
                                          <p:spTgt spid="102"/>
                                        </p:tgtEl>
                                      </p:cBhvr>
                                    </p:animEffect>
                                  </p:childTnLst>
                                </p:cTn>
                              </p:par>
                              <p:par>
                                <p:cTn id="59" presetID="22" presetClass="entr" presetSubtype="8" fill="hold" nodeType="withEffect">
                                  <p:stCondLst>
                                    <p:cond delay="0"/>
                                  </p:stCondLst>
                                  <p:childTnLst>
                                    <p:set>
                                      <p:cBhvr>
                                        <p:cTn id="57" dur="1" fill="hold">
                                          <p:stCondLst>
                                            <p:cond delay="0"/>
                                          </p:stCondLst>
                                        </p:cTn>
                                        <p:tgtEl>
                                          <p:spTgt spid="103"/>
                                        </p:tgtEl>
                                        <p:attrNameLst>
                                          <p:attrName>style.visibility</p:attrName>
                                        </p:attrNameLst>
                                      </p:cBhvr>
                                      <p:to>
                                        <p:strVal val="visible"/>
                                      </p:to>
                                    </p:set>
                                    <p:animEffect transition="in" filter="wipe(left)">
                                      <p:cBhvr>
                                        <p:cTn id="58" dur="700"/>
                                        <p:tgtEl>
                                          <p:spTgt spid="103"/>
                                        </p:tgtEl>
                                      </p:cBhvr>
                                    </p:animEffect>
                                  </p:childTnLst>
                                </p:cTn>
                              </p:par>
                            </p:childTnLst>
                          </p:cTn>
                        </p:par>
                      </p:childTnLst>
                    </p:cTn>
                  </p:par>
                  <p:par>
                    <p:cTn id="71" fill="hold">
                      <p:stCondLst>
                        <p:cond delay="indefinite"/>
                      </p:stCondLst>
                      <p:childTnLst>
                        <p:par>
                          <p:cTn id="72" fill="hold">
                            <p:stCondLst>
                              <p:cond delay="0"/>
                            </p:stCondLst>
                            <p:childTnLst>
                              <p:par>
                                <p:cTn id="64" presetID="22" presetClass="entr" presetSubtype="8" fill="hold" nodeType="clickEffect">
                                  <p:stCondLst>
                                    <p:cond delay="0"/>
                                  </p:stCondLst>
                                  <p:childTnLst>
                                    <p:set>
                                      <p:cBhvr>
                                        <p:cTn id="62" dur="1" fill="hold">
                                          <p:stCondLst>
                                            <p:cond delay="0"/>
                                          </p:stCondLst>
                                        </p:cTn>
                                        <p:tgtEl>
                                          <p:spTgt spid="104"/>
                                        </p:tgtEl>
                                        <p:attrNameLst>
                                          <p:attrName>style.visibility</p:attrName>
                                        </p:attrNameLst>
                                      </p:cBhvr>
                                      <p:to>
                                        <p:strVal val="visible"/>
                                      </p:to>
                                    </p:set>
                                    <p:animEffect transition="in" filter="wipe(left)">
                                      <p:cBhvr>
                                        <p:cTn id="63" dur="700"/>
                                        <p:tgtEl>
                                          <p:spTgt spid="104"/>
                                        </p:tgtEl>
                                      </p:cBhvr>
                                    </p:animEffect>
                                  </p:childTnLst>
                                </p:cTn>
                              </p:par>
                              <p:par>
                                <p:cTn id="67" presetID="22" presetClass="entr" presetSubtype="8" fill="hold" nodeType="withEffect">
                                  <p:stCondLst>
                                    <p:cond delay="0"/>
                                  </p:stCondLst>
                                  <p:childTnLst>
                                    <p:set>
                                      <p:cBhvr>
                                        <p:cTn id="65" dur="1" fill="hold">
                                          <p:stCondLst>
                                            <p:cond delay="0"/>
                                          </p:stCondLst>
                                        </p:cTn>
                                        <p:tgtEl>
                                          <p:spTgt spid="105"/>
                                        </p:tgtEl>
                                        <p:attrNameLst>
                                          <p:attrName>style.visibility</p:attrName>
                                        </p:attrNameLst>
                                      </p:cBhvr>
                                      <p:to>
                                        <p:strVal val="visible"/>
                                      </p:to>
                                    </p:set>
                                    <p:animEffect transition="in" filter="wipe(left)">
                                      <p:cBhvr>
                                        <p:cTn id="66" dur="700"/>
                                        <p:tgtEl>
                                          <p:spTgt spid="105"/>
                                        </p:tgtEl>
                                      </p:cBhvr>
                                    </p:animEffect>
                                  </p:childTnLst>
                                </p:cTn>
                              </p:par>
                              <p:par>
                                <p:cTn id="70" presetID="22" presetClass="entr" presetSubtype="8" fill="hold" nodeType="withEffect">
                                  <p:stCondLst>
                                    <p:cond delay="0"/>
                                  </p:stCondLst>
                                  <p:childTnLst>
                                    <p:set>
                                      <p:cBhvr>
                                        <p:cTn id="68" dur="1" fill="hold">
                                          <p:stCondLst>
                                            <p:cond delay="0"/>
                                          </p:stCondLst>
                                        </p:cTn>
                                        <p:tgtEl>
                                          <p:spTgt spid="106"/>
                                        </p:tgtEl>
                                        <p:attrNameLst>
                                          <p:attrName>style.visibility</p:attrName>
                                        </p:attrNameLst>
                                      </p:cBhvr>
                                      <p:to>
                                        <p:strVal val="visible"/>
                                      </p:to>
                                    </p:set>
                                    <p:animEffect transition="in" filter="wipe(left)">
                                      <p:cBhvr>
                                        <p:cTn id="69" dur="700"/>
                                        <p:tgtEl>
                                          <p:spTgt spid="106"/>
                                        </p:tgtEl>
                                      </p:cBhvr>
                                    </p:animEffect>
                                  </p:childTnLst>
                                </p:cTn>
                              </p:par>
                            </p:childTnLst>
                          </p:cTn>
                        </p:par>
                      </p:childTnLst>
                    </p:cTn>
                  </p:par>
                  <p:par>
                    <p:cTn id="79" fill="hold">
                      <p:stCondLst>
                        <p:cond delay="indefinite"/>
                      </p:stCondLst>
                      <p:childTnLst>
                        <p:par>
                          <p:cTn id="80" fill="hold">
                            <p:stCondLst>
                              <p:cond delay="0"/>
                            </p:stCondLst>
                            <p:childTnLst>
                              <p:par>
                                <p:cTn id="75" presetID="22" presetClass="entr" presetSubtype="8" fill="hold" nodeType="clickEffect">
                                  <p:stCondLst>
                                    <p:cond delay="0"/>
                                  </p:stCondLst>
                                  <p:childTnLst>
                                    <p:set>
                                      <p:cBhvr>
                                        <p:cTn id="73" dur="1" fill="hold">
                                          <p:stCondLst>
                                            <p:cond delay="0"/>
                                          </p:stCondLst>
                                        </p:cTn>
                                        <p:tgtEl>
                                          <p:spTgt spid="107"/>
                                        </p:tgtEl>
                                        <p:attrNameLst>
                                          <p:attrName>style.visibility</p:attrName>
                                        </p:attrNameLst>
                                      </p:cBhvr>
                                      <p:to>
                                        <p:strVal val="visible"/>
                                      </p:to>
                                    </p:set>
                                    <p:animEffect transition="in" filter="wipe(left)">
                                      <p:cBhvr>
                                        <p:cTn id="74" dur="700"/>
                                        <p:tgtEl>
                                          <p:spTgt spid="107"/>
                                        </p:tgtEl>
                                      </p:cBhvr>
                                    </p:animEffect>
                                  </p:childTnLst>
                                </p:cTn>
                              </p:par>
                              <p:par>
                                <p:cTn id="78" presetID="22" presetClass="entr" presetSubtype="8" fill="hold" nodeType="withEffect">
                                  <p:stCondLst>
                                    <p:cond delay="0"/>
                                  </p:stCondLst>
                                  <p:childTnLst>
                                    <p:set>
                                      <p:cBhvr>
                                        <p:cTn id="76" dur="1" fill="hold">
                                          <p:stCondLst>
                                            <p:cond delay="0"/>
                                          </p:stCondLst>
                                        </p:cTn>
                                        <p:tgtEl>
                                          <p:spTgt spid="108"/>
                                        </p:tgtEl>
                                        <p:attrNameLst>
                                          <p:attrName>style.visibility</p:attrName>
                                        </p:attrNameLst>
                                      </p:cBhvr>
                                      <p:to>
                                        <p:strVal val="visible"/>
                                      </p:to>
                                    </p:set>
                                    <p:animEffect transition="in" filter="wipe(left)">
                                      <p:cBhvr>
                                        <p:cTn id="77" dur="700"/>
                                        <p:tgtEl>
                                          <p:spTgt spid="108"/>
                                        </p:tgtEl>
                                      </p:cBhvr>
                                    </p:animEffect>
                                  </p:childTnLst>
                                </p:cTn>
                              </p:par>
                            </p:childTnLst>
                          </p:cTn>
                        </p:par>
                      </p:childTnLst>
                    </p:cTn>
                  </p:par>
                  <p:par>
                    <p:cTn id="86" fill="hold">
                      <p:stCondLst>
                        <p:cond delay="indefinite"/>
                      </p:stCondLst>
                      <p:childTnLst>
                        <p:par>
                          <p:cTn id="87" fill="hold">
                            <p:stCondLst>
                              <p:cond delay="0"/>
                            </p:stCondLst>
                            <p:childTnLst>
                              <p:par>
                                <p:cTn id="85" presetID="53" presetClass="entr" presetSubtype="16" fill="hold" nodeType="clickEffect">
                                  <p:stCondLst>
                                    <p:cond delay="0"/>
                                  </p:stCondLst>
                                  <p:childTnLst>
                                    <p:set>
                                      <p:cBhvr>
                                        <p:cTn id="81" dur="1" fill="hold">
                                          <p:stCondLst>
                                            <p:cond delay="0"/>
                                          </p:stCondLst>
                                        </p:cTn>
                                        <p:tgtEl>
                                          <p:spTgt spid="112"/>
                                        </p:tgtEl>
                                        <p:attrNameLst>
                                          <p:attrName>style.visibility</p:attrName>
                                        </p:attrNameLst>
                                      </p:cBhvr>
                                      <p:to>
                                        <p:strVal val="visible"/>
                                      </p:to>
                                    </p:set>
                                    <p:animEffect transition="in" filter="fade">
                                      <p:cBhvr>
                                        <p:cTn id="82" dur="500"/>
                                        <p:tgtEl>
                                          <p:spTgt spid="112"/>
                                        </p:tgtEl>
                                      </p:cBhvr>
                                    </p:animEffect>
                                    <p:anim calcmode="lin" valueType="num">
                                      <p:cBhvr>
                                        <p:cTn id="83" dur="500" fill="hold"/>
                                        <p:tgtEl>
                                          <p:spTgt spid="112"/>
                                        </p:tgtEl>
                                        <p:attrNameLst>
                                          <p:attrName>ppt_w</p:attrName>
                                        </p:attrNameLst>
                                      </p:cBhvr>
                                      <p:tavLst>
                                        <p:tav tm="0">
                                          <p:val>
                                            <p:fltVal val="0"/>
                                          </p:val>
                                        </p:tav>
                                        <p:tav tm="100000">
                                          <p:val>
                                            <p:strVal val="#ppt_w"/>
                                          </p:val>
                                        </p:tav>
                                      </p:tavLst>
                                    </p:anim>
                                    <p:anim calcmode="lin" valueType="num">
                                      <p:cBhvr>
                                        <p:cTn id="84" dur="500" fill="hold"/>
                                        <p:tgtEl>
                                          <p:spTgt spid="1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way, and how far?</a:t>
            </a:r>
            <a:endParaRPr lang="en-US" sz="3450" dirty="0"/>
          </a:p>
        </p:txBody>
      </p:sp>
      <p:sp>
        <p:nvSpPr>
          <p:cNvPr id="6" name="Shape 6"/>
          <p:cNvSpPr txBox="1"/>
          <p:nvPr/>
        </p:nvSpPr>
        <p:spPr>
          <a:xfrm>
            <a:off x="685800"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+ 5)</a:t>
            </a:r>
            <a:endParaRPr lang="en-US" sz="1950" dirty="0"/>
          </a:p>
        </p:txBody>
      </p:sp>
      <p:sp>
        <p:nvSpPr>
          <p:cNvPr id="5" name="Shape 5"/>
          <p:cNvSpPr txBox="1"/>
          <p:nvPr/>
        </p:nvSpPr>
        <p:spPr>
          <a:xfrm>
            <a:off x="895350" y="223723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left 5</a:t>
            </a:r>
            <a:endParaRPr lang="en-US" sz="2325" dirty="0"/>
          </a:p>
        </p:txBody>
      </p:sp>
      <p:sp>
        <p:nvSpPr>
          <p:cNvPr id="9" name="Shape 9"/>
          <p:cNvSpPr txBox="1"/>
          <p:nvPr/>
        </p:nvSpPr>
        <p:spPr>
          <a:xfrm>
            <a:off x="4419498"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629048"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endParaRPr lang="en-US" sz="1950" dirty="0"/>
          </a:p>
        </p:txBody>
      </p:sp>
      <p:sp>
        <p:nvSpPr>
          <p:cNvPr id="8" name="Shape 8"/>
          <p:cNvSpPr txBox="1"/>
          <p:nvPr/>
        </p:nvSpPr>
        <p:spPr>
          <a:xfrm>
            <a:off x="4629048" y="223723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up 2</a:t>
            </a:r>
            <a:endParaRPr lang="en-US" sz="2325" dirty="0"/>
          </a:p>
        </p:txBody>
      </p:sp>
      <p:sp>
        <p:nvSpPr>
          <p:cNvPr id="12" name="Shape 12"/>
          <p:cNvSpPr txBox="1"/>
          <p:nvPr/>
        </p:nvSpPr>
        <p:spPr>
          <a:xfrm>
            <a:off x="8153197"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362747"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11" name="Shape 11"/>
          <p:cNvSpPr txBox="1"/>
          <p:nvPr/>
        </p:nvSpPr>
        <p:spPr>
          <a:xfrm>
            <a:off x="8362747" y="2237232"/>
            <a:ext cx="29335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right 3</a:t>
            </a:r>
            <a:endParaRPr lang="en-US" sz="2325" dirty="0"/>
          </a:p>
        </p:txBody>
      </p:sp>
      <p:sp>
        <p:nvSpPr>
          <p:cNvPr id="13" name="Slide Number 1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way, and how far?</a:t>
            </a:r>
            <a:endParaRPr lang="en-US" sz="3450" dirty="0"/>
          </a:p>
        </p:txBody>
      </p:sp>
      <p:sp>
        <p:nvSpPr>
          <p:cNvPr id="8" name="Shape 8"/>
          <p:cNvSpPr txBox="1"/>
          <p:nvPr/>
        </p:nvSpPr>
        <p:spPr>
          <a:xfrm>
            <a:off x="685800" y="1618488"/>
            <a:ext cx="3454298" cy="283235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351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a:t>
            </a: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+ 5)</a:t>
            </a:r>
            <a:endParaRPr lang="en-US" sz="2100" dirty="0"/>
          </a:p>
        </p:txBody>
      </p:sp>
      <p:sp>
        <p:nvSpPr>
          <p:cNvPr id="5" name="Shape 5"/>
          <p:cNvSpPr txBox="1"/>
          <p:nvPr/>
        </p:nvSpPr>
        <p:spPr>
          <a:xfrm>
            <a:off x="895350" y="2260092"/>
            <a:ext cx="30351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5 is </a:t>
            </a:r>
            <a:r>
              <a:rPr lang="en-US" sz="1575" dirty="0" b="1">
                <a:solidFill>
                  <a:srgbClr val="16171D"/>
                </a:solidFill>
                <a:latin typeface="Segoe UI"/>
                <a:cs typeface="Segoe UI"/>
              </a:rPr>
              <a:t xml:space="preserve">inside</a:t>
            </a:r>
            <a:r>
              <a:rPr lang="en-US" sz="1575" dirty="0">
                <a:solidFill>
                  <a:srgbClr val="16171D"/>
                </a:solidFill>
                <a:latin typeface="Segoe UI"/>
                <a:cs typeface="Segoe UI"/>
              </a:rPr>
              <a:t xml:space="preserve"> the parentheses with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so the graph moves left or right.</a:t>
            </a:r>
            <a:endParaRPr lang="en-US" sz="1575" dirty="0"/>
          </a:p>
        </p:txBody>
      </p:sp>
      <p:sp>
        <p:nvSpPr>
          <p:cNvPr id="6" name="Shape 6"/>
          <p:cNvSpPr txBox="1"/>
          <p:nvPr/>
        </p:nvSpPr>
        <p:spPr>
          <a:xfrm>
            <a:off x="895350" y="3130296"/>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Inside, the sign flips: </a:t>
            </a:r>
            <a:r>
              <a:rPr lang="en-US" sz="1575" dirty="0" b="1">
                <a:solidFill>
                  <a:srgbClr val="16171D"/>
                </a:solidFill>
                <a:latin typeface="Segoe UI"/>
                <a:cs typeface="Segoe UI"/>
              </a:rPr>
              <a:t xml:space="preserve">plus</a:t>
            </a:r>
            <a:r>
              <a:rPr lang="en-US" sz="1575" dirty="0">
                <a:solidFill>
                  <a:srgbClr val="16171D"/>
                </a:solidFill>
                <a:latin typeface="Segoe UI"/>
                <a:cs typeface="Segoe UI"/>
              </a:rPr>
              <a:t xml:space="preserve"> means </a:t>
            </a:r>
            <a:r>
              <a:rPr lang="en-US" sz="1575" dirty="0" b="1">
                <a:solidFill>
                  <a:srgbClr val="16171D"/>
                </a:solidFill>
                <a:latin typeface="Segoe UI"/>
                <a:cs typeface="Segoe UI"/>
              </a:rPr>
              <a:t xml:space="preserve">left</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895350" y="3760470"/>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left 5</a:t>
            </a:r>
            <a:endParaRPr lang="en-US" sz="2325" dirty="0"/>
          </a:p>
        </p:txBody>
      </p:sp>
      <p:sp>
        <p:nvSpPr>
          <p:cNvPr id="13" name="Shape 13"/>
          <p:cNvSpPr txBox="1"/>
          <p:nvPr/>
        </p:nvSpPr>
        <p:spPr>
          <a:xfrm>
            <a:off x="4368698" y="1618488"/>
            <a:ext cx="3454298" cy="283235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9" name="Shape 9"/>
          <p:cNvSpPr txBox="1"/>
          <p:nvPr/>
        </p:nvSpPr>
        <p:spPr>
          <a:xfrm>
            <a:off x="4578248" y="1789938"/>
            <a:ext cx="30351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a:t>
            </a: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+ 2</a:t>
            </a:r>
            <a:endParaRPr lang="en-US" sz="2100" dirty="0"/>
          </a:p>
        </p:txBody>
      </p:sp>
      <p:sp>
        <p:nvSpPr>
          <p:cNvPr id="10" name="Shape 10"/>
          <p:cNvSpPr txBox="1"/>
          <p:nvPr/>
        </p:nvSpPr>
        <p:spPr>
          <a:xfrm>
            <a:off x="4578248" y="2260092"/>
            <a:ext cx="30351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2 is </a:t>
            </a:r>
            <a:r>
              <a:rPr lang="en-US" sz="1575" dirty="0" b="1">
                <a:solidFill>
                  <a:srgbClr val="16171D"/>
                </a:solidFill>
                <a:latin typeface="Segoe UI"/>
                <a:cs typeface="Segoe UI"/>
              </a:rPr>
              <a:t xml:space="preserve">outside</a:t>
            </a:r>
            <a:r>
              <a:rPr lang="en-US" sz="1575" dirty="0">
                <a:solidFill>
                  <a:srgbClr val="16171D"/>
                </a:solidFill>
                <a:latin typeface="Segoe UI"/>
                <a:cs typeface="Segoe UI"/>
              </a:rPr>
              <a:t xml:space="preserve"> the parentheses, so the graph moves up or down.</a:t>
            </a:r>
            <a:endParaRPr lang="en-US" sz="1575" dirty="0"/>
          </a:p>
        </p:txBody>
      </p:sp>
      <p:sp>
        <p:nvSpPr>
          <p:cNvPr id="11" name="Shape 11"/>
          <p:cNvSpPr txBox="1"/>
          <p:nvPr/>
        </p:nvSpPr>
        <p:spPr>
          <a:xfrm>
            <a:off x="4578248" y="3130296"/>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Outside, no flip: </a:t>
            </a:r>
            <a:r>
              <a:rPr lang="en-US" sz="1575" dirty="0" b="1">
                <a:solidFill>
                  <a:srgbClr val="16171D"/>
                </a:solidFill>
                <a:latin typeface="Segoe UI"/>
                <a:cs typeface="Segoe UI"/>
              </a:rPr>
              <a:t xml:space="preserve">plus</a:t>
            </a:r>
            <a:r>
              <a:rPr lang="en-US" sz="1575" dirty="0">
                <a:solidFill>
                  <a:srgbClr val="16171D"/>
                </a:solidFill>
                <a:latin typeface="Segoe UI"/>
                <a:cs typeface="Segoe UI"/>
              </a:rPr>
              <a:t xml:space="preserve"> means </a:t>
            </a:r>
            <a:r>
              <a:rPr lang="en-US" sz="1575" dirty="0" b="1">
                <a:solidFill>
                  <a:srgbClr val="16171D"/>
                </a:solidFill>
                <a:latin typeface="Segoe UI"/>
                <a:cs typeface="Segoe UI"/>
              </a:rPr>
              <a:t xml:space="preserve">up</a:t>
            </a:r>
            <a:r>
              <a:rPr lang="en-US" sz="1575" dirty="0">
                <a:solidFill>
                  <a:srgbClr val="16171D"/>
                </a:solidFill>
                <a:latin typeface="Segoe UI"/>
                <a:cs typeface="Segoe UI"/>
              </a:rPr>
              <a:t xml:space="preserve">.</a:t>
            </a:r>
            <a:endParaRPr lang="en-US" sz="1575" dirty="0"/>
          </a:p>
        </p:txBody>
      </p:sp>
      <p:sp>
        <p:nvSpPr>
          <p:cNvPr id="12" name="Shape 12"/>
          <p:cNvSpPr txBox="1"/>
          <p:nvPr/>
        </p:nvSpPr>
        <p:spPr>
          <a:xfrm>
            <a:off x="4578248" y="3760470"/>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up 2</a:t>
            </a:r>
            <a:endParaRPr lang="en-US" sz="2325" dirty="0"/>
          </a:p>
        </p:txBody>
      </p:sp>
      <p:sp>
        <p:nvSpPr>
          <p:cNvPr id="18" name="Shape 18"/>
          <p:cNvSpPr txBox="1"/>
          <p:nvPr/>
        </p:nvSpPr>
        <p:spPr>
          <a:xfrm>
            <a:off x="8051597" y="1618488"/>
            <a:ext cx="3454298" cy="259232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8261147" y="1789938"/>
            <a:ext cx="30351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3. </a:t>
            </a: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− 3)</a:t>
            </a:r>
            <a:endParaRPr lang="en-US" sz="2100" dirty="0"/>
          </a:p>
        </p:txBody>
      </p:sp>
      <p:sp>
        <p:nvSpPr>
          <p:cNvPr id="15" name="Shape 15"/>
          <p:cNvSpPr txBox="1"/>
          <p:nvPr/>
        </p:nvSpPr>
        <p:spPr>
          <a:xfrm>
            <a:off x="8261147" y="2260092"/>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3 is </a:t>
            </a:r>
            <a:r>
              <a:rPr lang="en-US" sz="1575" dirty="0" b="1">
                <a:solidFill>
                  <a:srgbClr val="16171D"/>
                </a:solidFill>
                <a:latin typeface="Segoe UI"/>
                <a:cs typeface="Segoe UI"/>
              </a:rPr>
              <a:t xml:space="preserve">inside</a:t>
            </a:r>
            <a:r>
              <a:rPr lang="en-US" sz="1575" dirty="0">
                <a:solidFill>
                  <a:srgbClr val="16171D"/>
                </a:solidFill>
                <a:latin typeface="Segoe UI"/>
                <a:cs typeface="Segoe UI"/>
              </a:rPr>
              <a:t xml:space="preserve">, so left or right.</a:t>
            </a:r>
            <a:endParaRPr lang="en-US" sz="1575" dirty="0"/>
          </a:p>
        </p:txBody>
      </p:sp>
      <p:sp>
        <p:nvSpPr>
          <p:cNvPr id="16" name="Shape 16"/>
          <p:cNvSpPr txBox="1"/>
          <p:nvPr/>
        </p:nvSpPr>
        <p:spPr>
          <a:xfrm>
            <a:off x="8261147" y="2890266"/>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Inside, the sign flips: </a:t>
            </a:r>
            <a:r>
              <a:rPr lang="en-US" sz="1575" dirty="0" b="1">
                <a:solidFill>
                  <a:srgbClr val="16171D"/>
                </a:solidFill>
                <a:latin typeface="Segoe UI"/>
                <a:cs typeface="Segoe UI"/>
              </a:rPr>
              <a:t xml:space="preserve">minus</a:t>
            </a:r>
            <a:r>
              <a:rPr lang="en-US" sz="1575" dirty="0">
                <a:solidFill>
                  <a:srgbClr val="16171D"/>
                </a:solidFill>
                <a:latin typeface="Segoe UI"/>
                <a:cs typeface="Segoe UI"/>
              </a:rPr>
              <a:t xml:space="preserve"> means </a:t>
            </a:r>
            <a:r>
              <a:rPr lang="en-US" sz="1575" dirty="0" b="1">
                <a:solidFill>
                  <a:srgbClr val="16171D"/>
                </a:solidFill>
                <a:latin typeface="Segoe UI"/>
                <a:cs typeface="Segoe UI"/>
              </a:rPr>
              <a:t xml:space="preserve">right</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8261147" y="3520440"/>
            <a:ext cx="30351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right 3</a:t>
            </a:r>
            <a:endParaRPr lang="en-US" sz="2325" dirty="0"/>
          </a:p>
        </p:txBody>
      </p:sp>
      <p:sp>
        <p:nvSpPr>
          <p:cNvPr id="19" name="Slide Number 1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ppt_w</p:attrName>
                                        </p:attrNameLst>
                                      </p:cBhvr>
                                      <p:tavLst>
                                        <p:tav tm="0">
                                          <p:val>
                                            <p:fltVal val="0"/>
                                          </p:val>
                                        </p:tav>
                                        <p:tav tm="100000">
                                          <p:val>
                                            <p:strVal val="#ppt_w"/>
                                          </p:val>
                                        </p:tav>
                                      </p:tavLst>
                                    </p:anim>
                                    <p:anim calcmode="lin" valueType="num">
                                      <p:cBhvr>
                                        <p:cTn id="41"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anim calcmode="lin" valueType="num">
                                      <p:cBhvr>
                                        <p:cTn id="47" dur="500" fill="hold"/>
                                        <p:tgtEl>
                                          <p:spTgt spid="15"/>
                                        </p:tgtEl>
                                        <p:attrNameLst>
                                          <p:attrName>ppt_x</p:attrName>
                                        </p:attrNameLst>
                                      </p:cBhvr>
                                      <p:tavLst>
                                        <p:tav tm="0">
                                          <p:val>
                                            <p:strVal val="#ppt_x"/>
                                          </p:val>
                                        </p:tav>
                                        <p:tav tm="100000">
                                          <p:val>
                                            <p:strVal val="#ppt_x"/>
                                          </p:val>
                                        </p:tav>
                                      </p:tavLst>
                                    </p:anim>
                                    <p:anim calcmode="lin" valueType="num">
                                      <p:cBhvr>
                                        <p:cTn id="48"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anim calcmode="lin" valueType="num">
                                      <p:cBhvr>
                                        <p:cTn id="54" dur="500" fill="hold"/>
                                        <p:tgtEl>
                                          <p:spTgt spid="16"/>
                                        </p:tgtEl>
                                        <p:attrNameLst>
                                          <p:attrName>ppt_x</p:attrName>
                                        </p:attrNameLst>
                                      </p:cBhvr>
                                      <p:tavLst>
                                        <p:tav tm="0">
                                          <p:val>
                                            <p:strVal val="#ppt_x"/>
                                          </p:val>
                                        </p:tav>
                                        <p:tav tm="100000">
                                          <p:val>
                                            <p:strVal val="#ppt_x"/>
                                          </p:val>
                                        </p:tav>
                                      </p:tavLst>
                                    </p:anim>
                                    <p:anim calcmode="lin" valueType="num">
                                      <p:cBhvr>
                                        <p:cTn id="55"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53" presetClass="entr" presetSubtype="16"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anim calcmode="lin" valueType="num">
                                      <p:cBhvr>
                                        <p:cTn id="61" dur="500" fill="hold"/>
                                        <p:tgtEl>
                                          <p:spTgt spid="17"/>
                                        </p:tgtEl>
                                        <p:attrNameLst>
                                          <p:attrName>ppt_w</p:attrName>
                                        </p:attrNameLst>
                                      </p:cBhvr>
                                      <p:tavLst>
                                        <p:tav tm="0">
                                          <p:val>
                                            <p:fltVal val="0"/>
                                          </p:val>
                                        </p:tav>
                                        <p:tav tm="100000">
                                          <p:val>
                                            <p:strVal val="#ppt_w"/>
                                          </p:val>
                                        </p:tav>
                                      </p:tavLst>
                                    </p:anim>
                                    <p:anim calcmode="lin" valueType="num">
                                      <p:cBhvr>
                                        <p:cTn id="62" dur="5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Simplify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i="1">
                <a:solidFill>
                  <a:srgbClr val="16171D"/>
                </a:solidFill>
                <a:latin typeface="Segoe UI"/>
                <a:cs typeface="Segoe UI"/>
              </a:rPr>
              <a:t xml:space="preserve">j</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 Simplify </a:t>
            </a:r>
            <a:r>
              <a:rPr lang="en-US" sz="3450" dirty="0" b="1" i="1">
                <a:solidFill>
                  <a:srgbClr val="16171D"/>
                </a:solidFill>
                <a:latin typeface="Segoe UI"/>
                <a:cs typeface="Segoe UI"/>
              </a:rPr>
              <a:t xml:space="preserve">j</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+ 4).</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Put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+ 4) in for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2(____) − 1</a:t>
            </a:r>
            <a:endParaRPr lang="en-US" sz="1950" dirty="0"/>
          </a:p>
        </p:txBody>
      </p:sp>
      <p:sp>
        <p:nvSpPr>
          <p:cNvPr id="5" name="Shape 5"/>
          <p:cNvSpPr txBox="1"/>
          <p:nvPr/>
        </p:nvSpPr>
        <p:spPr>
          <a:xfrm>
            <a:off x="685800" y="214198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− 1</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Distribute: ____ − 1</a:t>
            </a:r>
            <a:endParaRPr lang="en-US" sz="1950" dirty="0"/>
          </a:p>
        </p:txBody>
      </p:sp>
      <p:sp>
        <p:nvSpPr>
          <p:cNvPr id="7" name="Shape 7"/>
          <p:cNvSpPr txBox="1"/>
          <p:nvPr/>
        </p:nvSpPr>
        <p:spPr>
          <a:xfrm>
            <a:off x="685800" y="335584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+ 8 − 1</a:t>
            </a:r>
            <a:endParaRPr lang="en-US" sz="2325" dirty="0"/>
          </a:p>
        </p:txBody>
      </p:sp>
      <p:sp>
        <p:nvSpPr>
          <p:cNvPr id="8" name="Shape 8"/>
          <p:cNvSpPr txBox="1"/>
          <p:nvPr/>
        </p:nvSpPr>
        <p:spPr>
          <a:xfrm>
            <a:off x="685800" y="404622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Combine:</a:t>
            </a:r>
            <a:endParaRPr lang="en-US" sz="1950" dirty="0"/>
          </a:p>
        </p:txBody>
      </p:sp>
      <p:sp>
        <p:nvSpPr>
          <p:cNvPr id="9" name="Shape 9"/>
          <p:cNvSpPr txBox="1"/>
          <p:nvPr/>
        </p:nvSpPr>
        <p:spPr>
          <a:xfrm>
            <a:off x="685800" y="4569714"/>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i="1">
                <a:solidFill>
                  <a:srgbClr val="16171D"/>
                </a:solidFill>
                <a:latin typeface="Segoe UI"/>
                <a:cs typeface="Segoe UI"/>
              </a:rPr>
              <a:t xml:space="preserve">j</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a:t>
            </a:r>
            <a:endParaRPr lang="en-US" sz="3450" dirty="0"/>
          </a:p>
        </p:txBody>
      </p:sp>
      <p:sp>
        <p:nvSpPr>
          <p:cNvPr id="6" name="Shape 6"/>
          <p:cNvSpPr txBox="1"/>
          <p:nvPr/>
        </p:nvSpPr>
        <p:spPr>
          <a:xfrm>
            <a:off x="685800" y="1618488"/>
            <a:ext cx="521954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Simplify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endParaRPr lang="en-US" sz="1950" dirty="0"/>
          </a:p>
        </p:txBody>
      </p:sp>
      <p:sp>
        <p:nvSpPr>
          <p:cNvPr id="5" name="Shape 5"/>
          <p:cNvSpPr txBox="1"/>
          <p:nvPr/>
        </p:nvSpPr>
        <p:spPr>
          <a:xfrm>
            <a:off x="895350" y="223723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1" name="Shape 11"/>
          <p:cNvSpPr txBox="1"/>
          <p:nvPr/>
        </p:nvSpPr>
        <p:spPr>
          <a:xfrm>
            <a:off x="6286348" y="1618488"/>
            <a:ext cx="5219548" cy="231343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Simplify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endParaRPr lang="en-US" sz="1950" dirty="0"/>
          </a:p>
        </p:txBody>
      </p:sp>
      <p:sp>
        <p:nvSpPr>
          <p:cNvPr id="8" name="Shape 8"/>
          <p:cNvSpPr txBox="1"/>
          <p:nvPr/>
        </p:nvSpPr>
        <p:spPr>
          <a:xfrm>
            <a:off x="6495898" y="223723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9" name="Shape 9"/>
          <p:cNvSpPr txBox="1"/>
          <p:nvPr/>
        </p:nvSpPr>
        <p:spPr>
          <a:xfrm>
            <a:off x="6495898" y="2851404"/>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Same graph as #1? ____</a:t>
            </a:r>
            <a:endParaRPr lang="en-US" sz="1575" dirty="0"/>
          </a:p>
        </p:txBody>
      </p:sp>
      <p:sp>
        <p:nvSpPr>
          <p:cNvPr id="10" name="Shape 10"/>
          <p:cNvSpPr txBox="1"/>
          <p:nvPr/>
        </p:nvSpPr>
        <p:spPr>
          <a:xfrm>
            <a:off x="6495898" y="3241548"/>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i="1">
                <a:solidFill>
                  <a:srgbClr val="16171D"/>
                </a:solidFill>
                <a:latin typeface="Segoe UI"/>
                <a:cs typeface="Segoe UI"/>
              </a:rPr>
              <a:t xml:space="preserve">j</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a:t>
            </a:r>
            <a:endParaRPr lang="en-US" sz="3450" dirty="0"/>
          </a:p>
        </p:txBody>
      </p:sp>
      <p:sp>
        <p:nvSpPr>
          <p:cNvPr id="9" name="Shape 9"/>
          <p:cNvSpPr txBox="1"/>
          <p:nvPr/>
        </p:nvSpPr>
        <p:spPr>
          <a:xfrm>
            <a:off x="685800" y="1618488"/>
            <a:ext cx="5295748" cy="29824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Simplify </a:t>
            </a:r>
            <a:r>
              <a:rPr lang="en-US" sz="2100" dirty="0" b="1" i="1">
                <a:solidFill>
                  <a:srgbClr val="16171D"/>
                </a:solidFill>
                <a:latin typeface="Segoe UI"/>
                <a:cs typeface="Segoe UI"/>
              </a:rPr>
              <a:t xml:space="preserve">j</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− 2)</a:t>
            </a:r>
            <a:endParaRPr lang="en-US" sz="2100" dirty="0"/>
          </a:p>
        </p:txBody>
      </p:sp>
      <p:sp>
        <p:nvSpPr>
          <p:cNvPr id="5" name="Shape 5"/>
          <p:cNvSpPr txBox="1"/>
          <p:nvPr/>
        </p:nvSpPr>
        <p:spPr>
          <a:xfrm>
            <a:off x="895350" y="226009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change is inside, so put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 where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was: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 − 1.</a:t>
            </a:r>
            <a:endParaRPr lang="en-US" sz="1575" dirty="0"/>
          </a:p>
        </p:txBody>
      </p:sp>
      <p:sp>
        <p:nvSpPr>
          <p:cNvPr id="6" name="Shape 6"/>
          <p:cNvSpPr txBox="1"/>
          <p:nvPr/>
        </p:nvSpPr>
        <p:spPr>
          <a:xfrm>
            <a:off x="895350" y="289026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Distribute the 2: 2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and 2 · (−2) = −4. Now it is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− 4 − 1.</a:t>
            </a:r>
            <a:endParaRPr lang="en-US" sz="1575" dirty="0"/>
          </a:p>
        </p:txBody>
      </p:sp>
      <p:sp>
        <p:nvSpPr>
          <p:cNvPr id="7" name="Shape 7"/>
          <p:cNvSpPr txBox="1"/>
          <p:nvPr/>
        </p:nvSpPr>
        <p:spPr>
          <a:xfrm>
            <a:off x="895350" y="3520440"/>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Combine the numbers: −4 − 1 = −5.</a:t>
            </a:r>
            <a:endParaRPr lang="en-US" sz="1575" dirty="0"/>
          </a:p>
        </p:txBody>
      </p:sp>
      <p:sp>
        <p:nvSpPr>
          <p:cNvPr id="8" name="Shape 8"/>
          <p:cNvSpPr txBox="1"/>
          <p:nvPr/>
        </p:nvSpPr>
        <p:spPr>
          <a:xfrm>
            <a:off x="895350" y="3910584"/>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5" name="Shape 15"/>
          <p:cNvSpPr txBox="1"/>
          <p:nvPr/>
        </p:nvSpPr>
        <p:spPr>
          <a:xfrm>
            <a:off x="6210148" y="1618488"/>
            <a:ext cx="5295748" cy="357682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19698"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Simplify </a:t>
            </a:r>
            <a:r>
              <a:rPr lang="en-US" sz="2100" dirty="0" b="1" i="1">
                <a:solidFill>
                  <a:srgbClr val="16171D"/>
                </a:solidFill>
                <a:latin typeface="Segoe UI"/>
                <a:cs typeface="Segoe UI"/>
              </a:rPr>
              <a:t xml:space="preserve">j</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− 2</a:t>
            </a:r>
            <a:endParaRPr lang="en-US" sz="2100" dirty="0"/>
          </a:p>
        </p:txBody>
      </p:sp>
      <p:sp>
        <p:nvSpPr>
          <p:cNvPr id="11" name="Shape 11"/>
          <p:cNvSpPr txBox="1"/>
          <p:nvPr/>
        </p:nvSpPr>
        <p:spPr>
          <a:xfrm>
            <a:off x="6419698" y="226009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change is outside, so write the whole rule, then subtract 2: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− 1 − 2.</a:t>
            </a:r>
            <a:endParaRPr lang="en-US" sz="1575" dirty="0"/>
          </a:p>
        </p:txBody>
      </p:sp>
      <p:sp>
        <p:nvSpPr>
          <p:cNvPr id="12" name="Shape 12"/>
          <p:cNvSpPr txBox="1"/>
          <p:nvPr/>
        </p:nvSpPr>
        <p:spPr>
          <a:xfrm>
            <a:off x="6419698" y="289026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Combine the numbers: −1 − 2 = −3. That gives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a:t>
            </a:r>
            <a:endParaRPr lang="en-US" sz="1575" dirty="0"/>
          </a:p>
        </p:txBody>
      </p:sp>
      <p:sp>
        <p:nvSpPr>
          <p:cNvPr id="13" name="Shape 13"/>
          <p:cNvSpPr txBox="1"/>
          <p:nvPr/>
        </p:nvSpPr>
        <p:spPr>
          <a:xfrm>
            <a:off x="6419698" y="352044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Compare with #1: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− 5 and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 cross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 at different places.</a:t>
            </a:r>
            <a:endParaRPr lang="en-US" sz="1575" dirty="0"/>
          </a:p>
        </p:txBody>
      </p:sp>
      <p:sp>
        <p:nvSpPr>
          <p:cNvPr id="14" name="Shape 14"/>
          <p:cNvSpPr txBox="1"/>
          <p:nvPr/>
        </p:nvSpPr>
        <p:spPr>
          <a:xfrm>
            <a:off x="6419698" y="4150614"/>
            <a:ext cx="48766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 · not the same graph as #1</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End of Day 1</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Monday, October 26</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Tuesday, October 27. Start at the next slide, “Start: Tuesday, October 27.”</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Day 2 of 2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Tuesday, October 27</a:t>
            </a:r>
            <a:endParaRPr lang="en-US" sz="8250" dirty="0"/>
          </a:p>
        </p:txBody>
      </p:sp>
      <p:sp>
        <p:nvSpPr>
          <p:cNvPr id="4" name="Shape 4"/>
          <p:cNvSpPr txBox="1"/>
          <p:nvPr/>
        </p:nvSpPr>
        <p:spPr>
          <a:xfrm>
            <a:off x="685800" y="5253228"/>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(Linear or nonlinear?) → Lesson 2, Day 2.</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 Tue, Oct 27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0650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is translated right 5 units. Which equation is the new function?</a:t>
            </a:r>
            <a:endParaRPr lang="en-US" sz="1575" dirty="0"/>
          </a:p>
        </p:txBody>
      </p:sp>
      <p:sp>
        <p:nvSpPr>
          <p:cNvPr id="5" name="Shape 5"/>
          <p:cNvSpPr txBox="1"/>
          <p:nvPr/>
        </p:nvSpPr>
        <p:spPr>
          <a:xfrm>
            <a:off x="895350"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right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a:t>
            </a:r>
            <a:endParaRPr lang="en-US" sz="1575" dirty="0"/>
          </a:p>
        </p:txBody>
      </p:sp>
      <p:sp>
        <p:nvSpPr>
          <p:cNvPr id="6" name="Shape 6"/>
          <p:cNvSpPr txBox="1"/>
          <p:nvPr/>
        </p:nvSpPr>
        <p:spPr>
          <a:xfrm>
            <a:off x="895350" y="2695956"/>
            <a:ext cx="4730363"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i="1">
                <a:solidFill>
                  <a:srgbClr val="16171D"/>
                </a:solidFill>
                <a:latin typeface="Cambria"/>
                <a:cs typeface="Cambria"/>
              </a:rPr>
              <a:t xml:space="preserve">g</a:t>
            </a:r>
            <a:r>
              <a:rPr lang="en-US" sz="1425" dirty="0" b="1">
                <a:solidFill>
                  <a:srgbClr val="16171D"/>
                </a:solidFill>
                <a:latin typeface="Cambria"/>
                <a:cs typeface="Cambria"/>
              </a:rPr>
              <a:t xml:space="preserve">(</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a:t>
            </a:r>
            <a:r>
              <a:rPr lang="en-US" sz="1425" dirty="0" b="1" i="1">
                <a:solidFill>
                  <a:srgbClr val="16171D"/>
                </a:solidFill>
                <a:latin typeface="Cambria"/>
                <a:cs typeface="Cambria"/>
              </a:rPr>
              <a:t xml:space="preserve">f</a:t>
            </a:r>
            <a:r>
              <a:rPr lang="en-US" sz="1425" dirty="0" b="1">
                <a:solidFill>
                  <a:srgbClr val="16171D"/>
                </a:solidFill>
                <a:latin typeface="Cambria"/>
                <a:cs typeface="Cambria"/>
              </a:rPr>
              <a:t xml:space="preserve">(</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− 5) = </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− 5</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Right 5 means subtract 5 inside: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For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 =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endParaRPr lang="en-US" sz="1425" dirty="0"/>
          </a:p>
        </p:txBody>
      </p:sp>
      <p:sp>
        <p:nvSpPr>
          <p:cNvPr id="11" name="Shape 11"/>
          <p:cNvSpPr txBox="1"/>
          <p:nvPr/>
        </p:nvSpPr>
        <p:spPr>
          <a:xfrm>
            <a:off x="685800" y="381685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98830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a translation right 5 gives the same graph as which other translation?</a:t>
            </a:r>
            <a:endParaRPr lang="en-US" sz="1575" dirty="0"/>
          </a:p>
        </p:txBody>
      </p:sp>
      <p:sp>
        <p:nvSpPr>
          <p:cNvPr id="9" name="Shape 9"/>
          <p:cNvSpPr txBox="1"/>
          <p:nvPr/>
        </p:nvSpPr>
        <p:spPr>
          <a:xfrm>
            <a:off x="895350" y="45613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only: right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 = down </a:t>
            </a:r>
            <a:r>
              <a:rPr lang="en-US" sz="1575" dirty="0" i="1">
                <a:solidFill>
                  <a:srgbClr val="16171D"/>
                </a:solidFill>
                <a:latin typeface="Cambria"/>
                <a:cs typeface="Cambria"/>
              </a:rPr>
              <a:t xml:space="preserve">n</a:t>
            </a:r>
            <a:endParaRPr lang="en-US" sz="1575" dirty="0"/>
          </a:p>
        </p:txBody>
      </p:sp>
      <p:sp>
        <p:nvSpPr>
          <p:cNvPr id="10" name="Shape 10"/>
          <p:cNvSpPr txBox="1"/>
          <p:nvPr/>
        </p:nvSpPr>
        <p:spPr>
          <a:xfrm>
            <a:off x="895350" y="4894326"/>
            <a:ext cx="4634591"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Segoe UI"/>
                <a:cs typeface="Segoe UI"/>
              </a:rPr>
              <a:t xml:space="preserve">Down 5 units</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Right 5: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 =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Down 5: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 =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Same equation, so the same graph: down 5.</a:t>
            </a:r>
            <a:endParaRPr lang="en-US" sz="1425" dirty="0"/>
          </a:p>
        </p:txBody>
      </p:sp>
      <p:sp>
        <p:nvSpPr>
          <p:cNvPr id="15" name="Shape 15"/>
          <p:cNvSpPr txBox="1"/>
          <p:nvPr/>
        </p:nvSpPr>
        <p:spPr>
          <a:xfrm>
            <a:off x="6210148"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r</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Simplify </a:t>
            </a:r>
            <a:r>
              <a:rPr lang="en-US" sz="1575" dirty="0" i="1">
                <a:solidFill>
                  <a:srgbClr val="16171D"/>
                </a:solidFill>
                <a:latin typeface="Cambria"/>
                <a:cs typeface="Cambria"/>
              </a:rPr>
              <a:t xml:space="preserve">r</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put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in for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then distribute</a:t>
            </a:r>
            <a:endParaRPr lang="en-US" sz="1575" dirty="0"/>
          </a:p>
        </p:txBody>
      </p:sp>
      <p:sp>
        <p:nvSpPr>
          <p:cNvPr id="14" name="Shape 14"/>
          <p:cNvSpPr txBox="1"/>
          <p:nvPr/>
        </p:nvSpPr>
        <p:spPr>
          <a:xfrm>
            <a:off x="6419698" y="2695956"/>
            <a:ext cx="4059959"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i="1">
                <a:solidFill>
                  <a:srgbClr val="16171D"/>
                </a:solidFill>
                <a:latin typeface="Cambria"/>
                <a:cs typeface="Cambria"/>
              </a:rPr>
              <a:t xml:space="preserve">r</a:t>
            </a:r>
            <a:r>
              <a:rPr lang="en-US" sz="1425" dirty="0" b="1">
                <a:solidFill>
                  <a:srgbClr val="16171D"/>
                </a:solidFill>
                <a:latin typeface="Cambria"/>
                <a:cs typeface="Cambria"/>
              </a:rPr>
              <a:t xml:space="preserve">(</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2</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+ 7</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r</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+ 4) − 1</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Distribute: </a:t>
            </a:r>
            <a:r>
              <a:rPr lang="en-US" sz="1425" dirty="0">
                <a:solidFill>
                  <a:srgbClr val="16171D"/>
                </a:solidFill>
                <a:latin typeface="Cambria"/>
                <a:cs typeface="Cambria"/>
              </a:rPr>
              <a:t xml:space="preserve">2 ·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 · 4 = 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+ 8</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Combine: </a:t>
            </a:r>
            <a:r>
              <a:rPr lang="en-US" sz="1425" dirty="0">
                <a:solidFill>
                  <a:srgbClr val="16171D"/>
                </a:solidFill>
                <a:latin typeface="Cambria"/>
                <a:cs typeface="Cambria"/>
              </a:rPr>
              <a:t xml:space="preserve">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+ 8 − 1 = 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+ 7</a:t>
            </a:r>
            <a:r>
              <a:rPr lang="en-US" sz="1425" dirty="0">
                <a:solidFill>
                  <a:srgbClr val="16171D"/>
                </a:solidFill>
                <a:latin typeface="Segoe UI"/>
                <a:cs typeface="Segoe UI"/>
              </a:rPr>
              <a:t xml:space="preserve">.</a:t>
            </a:r>
            <a:endParaRPr lang="en-US" sz="1425" dirty="0"/>
          </a:p>
        </p:txBody>
      </p:sp>
      <p:sp>
        <p:nvSpPr>
          <p:cNvPr id="19" name="Shape 19"/>
          <p:cNvSpPr txBox="1"/>
          <p:nvPr/>
        </p:nvSpPr>
        <p:spPr>
          <a:xfrm>
            <a:off x="6210148" y="403402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420547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is the graph of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the same as the graph of </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419698" y="477850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inside: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 outside: </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18" name="Shape 18"/>
          <p:cNvSpPr txBox="1"/>
          <p:nvPr/>
        </p:nvSpPr>
        <p:spPr>
          <a:xfrm>
            <a:off x="6419698" y="5111496"/>
            <a:ext cx="4251503"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Segoe UI"/>
                <a:cs typeface="Segoe UI"/>
              </a:rPr>
              <a:t xml:space="preserve">Yes, both are </a:t>
            </a:r>
            <a:r>
              <a:rPr lang="en-US" sz="1425" dirty="0" b="1" i="1">
                <a:solidFill>
                  <a:srgbClr val="16171D"/>
                </a:solidFill>
                <a:latin typeface="Cambria"/>
                <a:cs typeface="Cambria"/>
              </a:rPr>
              <a:t xml:space="preserve">y</a:t>
            </a:r>
            <a:r>
              <a:rPr lang="en-US" sz="1425" dirty="0" b="1">
                <a:solidFill>
                  <a:srgbClr val="16171D"/>
                </a:solidFill>
                <a:latin typeface="Cambria"/>
                <a:cs typeface="Cambria"/>
              </a:rPr>
              <a:t xml:space="preserve"> = 2</a:t>
            </a:r>
            <a:r>
              <a:rPr lang="en-US" sz="1425" dirty="0" b="1" i="1">
                <a:solidFill>
                  <a:srgbClr val="16171D"/>
                </a:solidFill>
                <a:latin typeface="Cambria"/>
                <a:cs typeface="Cambria"/>
              </a:rPr>
              <a:t xml:space="preserve">x</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a:t>
            </a:r>
            <a:r>
              <a:rPr lang="en-US" sz="1425" dirty="0">
                <a:solidFill>
                  <a:srgbClr val="16171D"/>
                </a:solidFill>
                <a:latin typeface="Segoe UI"/>
                <a:cs typeface="Segoe UI"/>
              </a:rPr>
              <a:t xml:space="preserve">: put </a:t>
            </a:r>
            <a:r>
              <a:rPr lang="en-US" sz="1425" dirty="0">
                <a:solidFill>
                  <a:srgbClr val="16171D"/>
                </a:solidFill>
                <a:latin typeface="Cambria"/>
                <a:cs typeface="Cambria"/>
              </a:rPr>
              <a:t xml:space="preserve">2</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in for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so </a:t>
            </a:r>
            <a:r>
              <a:rPr lang="en-US" sz="1425" dirty="0">
                <a:solidFill>
                  <a:srgbClr val="16171D"/>
                </a:solidFill>
                <a:latin typeface="Cambria"/>
                <a:cs typeface="Cambria"/>
              </a:rPr>
              <a:t xml:space="preserve">2</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2</a:t>
            </a:r>
            <a:r>
              <a:rPr lang="en-US" sz="1425" dirty="0" i="1">
                <a:solidFill>
                  <a:srgbClr val="16171D"/>
                </a:solidFill>
                <a:latin typeface="Cambria"/>
                <a:cs typeface="Cambria"/>
              </a:rPr>
              <a:t xml:space="preserve">f</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a:t>
            </a:r>
            <a:r>
              <a:rPr lang="en-US" sz="1425" dirty="0">
                <a:solidFill>
                  <a:srgbClr val="16171D"/>
                </a:solidFill>
                <a:latin typeface="Segoe UI"/>
                <a:cs typeface="Segoe UI"/>
              </a:rPr>
              <a:t xml:space="preserve">: multiply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by 2, so </a:t>
            </a:r>
            <a:r>
              <a:rPr lang="en-US" sz="1425" dirty="0">
                <a:solidFill>
                  <a:srgbClr val="16171D"/>
                </a:solidFill>
                <a:latin typeface="Cambria"/>
                <a:cs typeface="Cambria"/>
              </a:rPr>
              <a:t xml:space="preserve">2</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Both are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2</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yes, the same graph.</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Tue, Oct 27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Linear or nonlinear?</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A transformation of a linear function is still linear: the rate of change stays constant.</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6" name="Shape 6"/>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Linear function</a:t>
            </a:r>
            <a:endParaRPr lang="en-US" sz="2100" dirty="0"/>
          </a:p>
        </p:txBody>
      </p:sp>
      <p:sp>
        <p:nvSpPr>
          <p:cNvPr id="5" name="Shape 5"/>
          <p:cNvSpPr txBox="1"/>
          <p:nvPr/>
        </p:nvSpPr>
        <p:spPr>
          <a:xfrm>
            <a:off x="895350"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rate of change is always the same. The graph is a straight line.</a:t>
            </a:r>
            <a:endParaRPr lang="en-US" sz="1575" dirty="0"/>
          </a:p>
        </p:txBody>
      </p:sp>
      <p:sp>
        <p:nvSpPr>
          <p:cNvPr id="10" name="Shape 10"/>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Rate of change</a:t>
            </a:r>
            <a:endParaRPr lang="en-US" sz="2100" dirty="0"/>
          </a:p>
        </p:txBody>
      </p:sp>
      <p:sp>
        <p:nvSpPr>
          <p:cNvPr id="8" name="Shape 8"/>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 in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change in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It is the slope.</a:t>
            </a:r>
            <a:endParaRPr lang="en-US" sz="1575" dirty="0"/>
          </a:p>
        </p:txBody>
      </p:sp>
      <p:sp>
        <p:nvSpPr>
          <p:cNvPr id="9" name="Shape 9"/>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8</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 4</a:t>
            </a:r>
            <a:endParaRPr lang="en-US" sz="2325" dirty="0"/>
          </a:p>
        </p:txBody>
      </p:sp>
      <p:sp>
        <p:nvSpPr>
          <p:cNvPr id="14" name="Shape 14"/>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12" name="Shape 12"/>
          <p:cNvSpPr txBox="1"/>
          <p:nvPr/>
        </p:nvSpPr>
        <p:spPr>
          <a:xfrm>
            <a:off x="8223047"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slope,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13" name="Shape 13"/>
          <p:cNvSpPr txBox="1"/>
          <p:nvPr/>
        </p:nvSpPr>
        <p:spPr>
          <a:xfrm>
            <a:off x="8223047" y="265023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a</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b</a:t>
            </a:r>
            <a:endParaRPr lang="en-US" sz="2325" dirty="0"/>
          </a:p>
        </p:txBody>
      </p:sp>
      <p:sp>
        <p:nvSpPr>
          <p:cNvPr id="18" name="Shape 18"/>
          <p:cNvSpPr txBox="1"/>
          <p:nvPr/>
        </p:nvSpPr>
        <p:spPr>
          <a:xfrm>
            <a:off x="685800" y="3642360"/>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5" name="Shape 15"/>
          <p:cNvSpPr txBox="1"/>
          <p:nvPr/>
        </p:nvSpPr>
        <p:spPr>
          <a:xfrm>
            <a:off x="895350"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16" name="Shape 16"/>
          <p:cNvSpPr txBox="1"/>
          <p:nvPr/>
        </p:nvSpPr>
        <p:spPr>
          <a:xfrm>
            <a:off x="895350" y="428396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slope,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 zero</a:t>
            </a:r>
            <a:endParaRPr lang="en-US" sz="1575" dirty="0"/>
          </a:p>
        </p:txBody>
      </p:sp>
      <p:sp>
        <p:nvSpPr>
          <p:cNvPr id="17" name="Shape 17"/>
          <p:cNvSpPr txBox="1"/>
          <p:nvPr/>
        </p:nvSpPr>
        <p:spPr>
          <a:xfrm>
            <a:off x="895350" y="467410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a</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c</a:t>
            </a:r>
            <a:r>
              <a:rPr lang="en-US" sz="2325" dirty="0">
                <a:solidFill>
                  <a:srgbClr val="16171D"/>
                </a:solidFill>
                <a:latin typeface="Cambria"/>
                <a:cs typeface="Cambria"/>
              </a:rPr>
              <a:t xml:space="preserve">)</a:t>
            </a:r>
            <a:endParaRPr lang="en-US" sz="2325" dirty="0"/>
          </a:p>
        </p:txBody>
      </p:sp>
      <p:sp>
        <p:nvSpPr>
          <p:cNvPr id="21" name="Shape 21"/>
          <p:cNvSpPr txBox="1"/>
          <p:nvPr/>
        </p:nvSpPr>
        <p:spPr>
          <a:xfrm>
            <a:off x="4349648" y="3642360"/>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9" name="Shape 19"/>
          <p:cNvSpPr txBox="1"/>
          <p:nvPr/>
        </p:nvSpPr>
        <p:spPr>
          <a:xfrm>
            <a:off x="4559198"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Zero</a:t>
            </a:r>
            <a:endParaRPr lang="en-US" sz="2100" dirty="0"/>
          </a:p>
        </p:txBody>
      </p:sp>
      <p:sp>
        <p:nvSpPr>
          <p:cNvPr id="20" name="Shape 20"/>
          <p:cNvSpPr txBox="1"/>
          <p:nvPr/>
        </p:nvSpPr>
        <p:spPr>
          <a:xfrm>
            <a:off x="4559198" y="4283964"/>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that makes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 The line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there.</a:t>
            </a:r>
            <a:endParaRPr lang="en-US" sz="1575" dirty="0"/>
          </a:p>
        </p:txBody>
      </p:sp>
      <p:sp>
        <p:nvSpPr>
          <p:cNvPr id="25" name="Shape 25"/>
          <p:cNvSpPr txBox="1"/>
          <p:nvPr/>
        </p:nvSpPr>
        <p:spPr>
          <a:xfrm>
            <a:off x="8013497" y="3642360"/>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2" name="Shape 22"/>
          <p:cNvSpPr txBox="1"/>
          <p:nvPr/>
        </p:nvSpPr>
        <p:spPr>
          <a:xfrm>
            <a:off x="8223047"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Direct variation</a:t>
            </a:r>
            <a:endParaRPr lang="en-US" sz="2100" dirty="0"/>
          </a:p>
        </p:txBody>
      </p:sp>
      <p:sp>
        <p:nvSpPr>
          <p:cNvPr id="23" name="Shape 23"/>
          <p:cNvSpPr txBox="1"/>
          <p:nvPr/>
        </p:nvSpPr>
        <p:spPr>
          <a:xfrm>
            <a:off x="8223047" y="428396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line through (0, 0).</a:t>
            </a:r>
            <a:endParaRPr lang="en-US" sz="1575" dirty="0"/>
          </a:p>
        </p:txBody>
      </p:sp>
      <p:sp>
        <p:nvSpPr>
          <p:cNvPr id="24" name="Shape 24"/>
          <p:cNvSpPr txBox="1"/>
          <p:nvPr/>
        </p:nvSpPr>
        <p:spPr>
          <a:xfrm>
            <a:off x="8223047" y="467410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kx</a:t>
            </a:r>
            <a:endParaRPr lang="en-US" sz="2325" dirty="0"/>
          </a:p>
        </p:txBody>
      </p:sp>
      <p:sp>
        <p:nvSpPr>
          <p:cNvPr id="26" name="Slide Number 2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the table linear?</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Find the change in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and the change in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between each pair of rows.</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Divide: </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change in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change in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Always the same number → </a:t>
            </a:r>
            <a:r>
              <a:rPr lang="en-US" sz="1950" dirty="0" b="1">
                <a:solidFill>
                  <a:srgbClr val="16171D"/>
                </a:solidFill>
                <a:latin typeface="Segoe UI"/>
                <a:cs typeface="Segoe UI"/>
              </a:rPr>
              <a:t xml:space="preserve">linear</a:t>
            </a:r>
            <a:r>
              <a:rPr lang="en-US" sz="1950" dirty="0">
                <a:solidFill>
                  <a:srgbClr val="16171D"/>
                </a:solidFill>
                <a:latin typeface="Segoe UI"/>
                <a:cs typeface="Segoe UI"/>
              </a:rPr>
              <a:t xml:space="preserve">. Different → </a:t>
            </a:r>
            <a:r>
              <a:rPr lang="en-US" sz="1950" dirty="0" b="1">
                <a:solidFill>
                  <a:srgbClr val="16171D"/>
                </a:solidFill>
                <a:latin typeface="Segoe UI"/>
                <a:cs typeface="Segoe UI"/>
              </a:rPr>
              <a:t xml:space="preserve">not linear</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If linear, find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-value when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0) and write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ax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this table linear?</a:t>
            </a:r>
            <a:endParaRPr lang="en-US" sz="3450" dirty="0"/>
          </a:p>
        </p:txBody>
      </p:sp>
      <p:sp>
        <p:nvSpPr>
          <p:cNvPr id="4" name="Shape 4"/>
          <p:cNvSpPr txBox="1"/>
          <p:nvPr/>
        </p:nvSpPr>
        <p:spPr>
          <a:xfrm>
            <a:off x="685800" y="1618488"/>
            <a:ext cx="114300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x</a:t>
            </a:r>
            <a:endParaRPr lang="en-US" sz="1950" dirty="0"/>
          </a:p>
        </p:txBody>
      </p:sp>
      <p:sp>
        <p:nvSpPr>
          <p:cNvPr id="5" name="Shape 5"/>
          <p:cNvSpPr txBox="1"/>
          <p:nvPr/>
        </p:nvSpPr>
        <p:spPr>
          <a:xfrm>
            <a:off x="1828800" y="1618488"/>
            <a:ext cx="114300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y</a:t>
            </a:r>
            <a:endParaRPr lang="en-US" sz="1950" dirty="0"/>
          </a:p>
        </p:txBody>
      </p:sp>
      <p:sp>
        <p:nvSpPr>
          <p:cNvPr id="6" name="Shape 6"/>
          <p:cNvSpPr txBox="1"/>
          <p:nvPr/>
        </p:nvSpPr>
        <p:spPr>
          <a:xfrm>
            <a:off x="685800" y="2061972"/>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7" name="Shape 7"/>
          <p:cNvSpPr txBox="1"/>
          <p:nvPr/>
        </p:nvSpPr>
        <p:spPr>
          <a:xfrm>
            <a:off x="1828800" y="2061972"/>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endParaRPr lang="en-US" sz="1950" dirty="0"/>
          </a:p>
        </p:txBody>
      </p:sp>
      <p:sp>
        <p:nvSpPr>
          <p:cNvPr id="8" name="Shape 8"/>
          <p:cNvSpPr txBox="1"/>
          <p:nvPr/>
        </p:nvSpPr>
        <p:spPr>
          <a:xfrm>
            <a:off x="685800" y="2505456"/>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9" name="Shape 9"/>
          <p:cNvSpPr txBox="1"/>
          <p:nvPr/>
        </p:nvSpPr>
        <p:spPr>
          <a:xfrm>
            <a:off x="1828800" y="2505456"/>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9</a:t>
            </a:r>
            <a:endParaRPr lang="en-US" sz="1950" dirty="0"/>
          </a:p>
        </p:txBody>
      </p:sp>
      <p:sp>
        <p:nvSpPr>
          <p:cNvPr id="10" name="Shape 10"/>
          <p:cNvSpPr txBox="1"/>
          <p:nvPr/>
        </p:nvSpPr>
        <p:spPr>
          <a:xfrm>
            <a:off x="685800" y="2948940"/>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a:t>
            </a:r>
            <a:endParaRPr lang="en-US" sz="1950" dirty="0"/>
          </a:p>
        </p:txBody>
      </p:sp>
      <p:sp>
        <p:nvSpPr>
          <p:cNvPr id="11" name="Shape 11"/>
          <p:cNvSpPr txBox="1"/>
          <p:nvPr/>
        </p:nvSpPr>
        <p:spPr>
          <a:xfrm>
            <a:off x="1828800" y="2948940"/>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13</a:t>
            </a:r>
            <a:endParaRPr lang="en-US" sz="1950" dirty="0"/>
          </a:p>
        </p:txBody>
      </p:sp>
      <p:sp>
        <p:nvSpPr>
          <p:cNvPr id="12" name="Shape 12"/>
          <p:cNvSpPr txBox="1"/>
          <p:nvPr/>
        </p:nvSpPr>
        <p:spPr>
          <a:xfrm>
            <a:off x="685800" y="3392424"/>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6</a:t>
            </a:r>
            <a:endParaRPr lang="en-US" sz="1950" dirty="0"/>
          </a:p>
        </p:txBody>
      </p:sp>
      <p:sp>
        <p:nvSpPr>
          <p:cNvPr id="13" name="Shape 13"/>
          <p:cNvSpPr txBox="1"/>
          <p:nvPr/>
        </p:nvSpPr>
        <p:spPr>
          <a:xfrm>
            <a:off x="1828800" y="3392424"/>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17</a:t>
            </a:r>
            <a:endParaRPr lang="en-US" sz="1950" dirty="0"/>
          </a:p>
        </p:txBody>
      </p:sp>
      <p:sp>
        <p:nvSpPr>
          <p:cNvPr id="14" name="Shape 14"/>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Each row: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goes up 2,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goes up 4.</a:t>
            </a:r>
            <a:endParaRPr lang="en-US" sz="1950" dirty="0"/>
          </a:p>
        </p:txBody>
      </p:sp>
      <p:sp>
        <p:nvSpPr>
          <p:cNvPr id="15" name="Shape 15"/>
          <p:cNvSpPr txBox="1"/>
          <p:nvPr/>
        </p:nvSpPr>
        <p:spPr>
          <a:xfrm>
            <a:off x="6286348" y="2103882"/>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 = 2 every time.</a:t>
            </a:r>
            <a:endParaRPr lang="en-US" sz="1950" dirty="0"/>
          </a:p>
        </p:txBody>
      </p:sp>
      <p:sp>
        <p:nvSpPr>
          <p:cNvPr id="16" name="Shape 16"/>
          <p:cNvSpPr txBox="1"/>
          <p:nvPr/>
        </p:nvSpPr>
        <p:spPr>
          <a:xfrm>
            <a:off x="6286348" y="258927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Linear, slope 2</a:t>
            </a:r>
            <a:endParaRPr lang="en-US" sz="2325" dirty="0"/>
          </a:p>
        </p:txBody>
      </p:sp>
      <p:sp>
        <p:nvSpPr>
          <p:cNvPr id="17" name="Shape 17"/>
          <p:cNvSpPr txBox="1"/>
          <p:nvPr/>
        </p:nvSpPr>
        <p:spPr>
          <a:xfrm>
            <a:off x="6286348" y="324154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At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0,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5.</a:t>
            </a:r>
            <a:endParaRPr lang="en-US" sz="1950" dirty="0"/>
          </a:p>
        </p:txBody>
      </p:sp>
      <p:sp>
        <p:nvSpPr>
          <p:cNvPr id="18" name="Shape 18"/>
          <p:cNvSpPr txBox="1"/>
          <p:nvPr/>
        </p:nvSpPr>
        <p:spPr>
          <a:xfrm>
            <a:off x="6286348" y="372694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9" name="Slide Number 1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500"/>
                                        <p:tgtEl>
                                          <p:spTgt spid="16"/>
                                        </p:tgtEl>
                                      </p:cBhvr>
                                    </p:animEffect>
                                    <p:anim calcmode="lin" valueType="num">
                                      <p:cBhvr>
                                        <p:cTn id="5" dur="500" fill="hold"/>
                                        <p:tgtEl>
                                          <p:spTgt spid="16"/>
                                        </p:tgtEl>
                                        <p:attrNameLst>
                                          <p:attrName>ppt_w</p:attrName>
                                        </p:attrNameLst>
                                      </p:cBhvr>
                                      <p:tavLst>
                                        <p:tav tm="0">
                                          <p:val>
                                            <p:fltVal val="0"/>
                                          </p:val>
                                        </p:tav>
                                        <p:tav tm="100000">
                                          <p:val>
                                            <p:strVal val="#ppt_w"/>
                                          </p:val>
                                        </p:tav>
                                      </p:tavLst>
                                    </p:anim>
                                    <p:anim calcmode="lin" valueType="num">
                                      <p:cBhvr>
                                        <p:cTn id="6"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We do · Together</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this table linear?</a:t>
            </a:r>
            <a:endParaRPr lang="en-US" sz="3450" dirty="0"/>
          </a:p>
        </p:txBody>
      </p:sp>
      <p:sp>
        <p:nvSpPr>
          <p:cNvPr id="4" name="Shape 4"/>
          <p:cNvSpPr txBox="1"/>
          <p:nvPr/>
        </p:nvSpPr>
        <p:spPr>
          <a:xfrm>
            <a:off x="685800" y="1618488"/>
            <a:ext cx="114300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x</a:t>
            </a:r>
            <a:endParaRPr lang="en-US" sz="1950" dirty="0"/>
          </a:p>
        </p:txBody>
      </p:sp>
      <p:sp>
        <p:nvSpPr>
          <p:cNvPr id="5" name="Shape 5"/>
          <p:cNvSpPr txBox="1"/>
          <p:nvPr/>
        </p:nvSpPr>
        <p:spPr>
          <a:xfrm>
            <a:off x="1828800" y="1618488"/>
            <a:ext cx="114300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y</a:t>
            </a:r>
            <a:endParaRPr lang="en-US" sz="1950" dirty="0"/>
          </a:p>
        </p:txBody>
      </p:sp>
      <p:sp>
        <p:nvSpPr>
          <p:cNvPr id="6" name="Shape 6"/>
          <p:cNvSpPr txBox="1"/>
          <p:nvPr/>
        </p:nvSpPr>
        <p:spPr>
          <a:xfrm>
            <a:off x="685800" y="2061972"/>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endParaRPr lang="en-US" sz="1950" dirty="0"/>
          </a:p>
        </p:txBody>
      </p:sp>
      <p:sp>
        <p:nvSpPr>
          <p:cNvPr id="7" name="Shape 7"/>
          <p:cNvSpPr txBox="1"/>
          <p:nvPr/>
        </p:nvSpPr>
        <p:spPr>
          <a:xfrm>
            <a:off x="1828800" y="2061972"/>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endParaRPr lang="en-US" sz="1950" dirty="0"/>
          </a:p>
        </p:txBody>
      </p:sp>
      <p:sp>
        <p:nvSpPr>
          <p:cNvPr id="8" name="Shape 8"/>
          <p:cNvSpPr txBox="1"/>
          <p:nvPr/>
        </p:nvSpPr>
        <p:spPr>
          <a:xfrm>
            <a:off x="685800" y="2505456"/>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9" name="Shape 9"/>
          <p:cNvSpPr txBox="1"/>
          <p:nvPr/>
        </p:nvSpPr>
        <p:spPr>
          <a:xfrm>
            <a:off x="1828800" y="2505456"/>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6</a:t>
            </a:r>
            <a:endParaRPr lang="en-US" sz="1950" dirty="0"/>
          </a:p>
        </p:txBody>
      </p:sp>
      <p:sp>
        <p:nvSpPr>
          <p:cNvPr id="10" name="Shape 10"/>
          <p:cNvSpPr txBox="1"/>
          <p:nvPr/>
        </p:nvSpPr>
        <p:spPr>
          <a:xfrm>
            <a:off x="685800" y="2948940"/>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endParaRPr lang="en-US" sz="1950" dirty="0"/>
          </a:p>
        </p:txBody>
      </p:sp>
      <p:sp>
        <p:nvSpPr>
          <p:cNvPr id="11" name="Shape 11"/>
          <p:cNvSpPr txBox="1"/>
          <p:nvPr/>
        </p:nvSpPr>
        <p:spPr>
          <a:xfrm>
            <a:off x="1828800" y="2948940"/>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12</a:t>
            </a:r>
            <a:endParaRPr lang="en-US" sz="1950" dirty="0"/>
          </a:p>
        </p:txBody>
      </p:sp>
      <p:sp>
        <p:nvSpPr>
          <p:cNvPr id="12" name="Shape 12"/>
          <p:cNvSpPr txBox="1"/>
          <p:nvPr/>
        </p:nvSpPr>
        <p:spPr>
          <a:xfrm>
            <a:off x="685800" y="3392424"/>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a:t>
            </a:r>
            <a:endParaRPr lang="en-US" sz="1950" dirty="0"/>
          </a:p>
        </p:txBody>
      </p:sp>
      <p:sp>
        <p:nvSpPr>
          <p:cNvPr id="13" name="Shape 13"/>
          <p:cNvSpPr txBox="1"/>
          <p:nvPr/>
        </p:nvSpPr>
        <p:spPr>
          <a:xfrm>
            <a:off x="1828800" y="3392424"/>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24</a:t>
            </a:r>
            <a:endParaRPr lang="en-US" sz="1950" dirty="0"/>
          </a:p>
        </p:txBody>
      </p:sp>
      <p:sp>
        <p:nvSpPr>
          <p:cNvPr id="14" name="Shape 14"/>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Change in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3, ____, ____</a:t>
            </a:r>
            <a:endParaRPr lang="en-US" sz="1950" dirty="0"/>
          </a:p>
        </p:txBody>
      </p:sp>
      <p:sp>
        <p:nvSpPr>
          <p:cNvPr id="15" name="Shape 15"/>
          <p:cNvSpPr txBox="1"/>
          <p:nvPr/>
        </p:nvSpPr>
        <p:spPr>
          <a:xfrm>
            <a:off x="6286348" y="2103882"/>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3, 6, 12</a:t>
            </a:r>
            <a:endParaRPr lang="en-US" sz="2325" dirty="0"/>
          </a:p>
        </p:txBody>
      </p:sp>
      <p:sp>
        <p:nvSpPr>
          <p:cNvPr id="16" name="Shape 16"/>
          <p:cNvSpPr txBox="1"/>
          <p:nvPr/>
        </p:nvSpPr>
        <p:spPr>
          <a:xfrm>
            <a:off x="6286348"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Is it the same every time?</a:t>
            </a:r>
            <a:endParaRPr lang="en-US" sz="1950" dirty="0"/>
          </a:p>
        </p:txBody>
      </p:sp>
      <p:sp>
        <p:nvSpPr>
          <p:cNvPr id="17" name="Shape 17"/>
          <p:cNvSpPr txBox="1"/>
          <p:nvPr/>
        </p:nvSpPr>
        <p:spPr>
          <a:xfrm>
            <a:off x="6286348" y="3241548"/>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 so it is not linear.</a:t>
            </a:r>
            <a:endParaRPr lang="en-US" sz="2325" dirty="0"/>
          </a:p>
        </p:txBody>
      </p:sp>
      <p:sp>
        <p:nvSpPr>
          <p:cNvPr id="18" name="Slide Number 1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ppt_w</p:attrName>
                                        </p:attrNameLst>
                                      </p:cBhvr>
                                      <p:tavLst>
                                        <p:tav tm="0">
                                          <p:val>
                                            <p:fltVal val="0"/>
                                          </p:val>
                                        </p:tav>
                                        <p:tav tm="100000">
                                          <p:val>
                                            <p:strVal val="#ppt_w"/>
                                          </p:val>
                                        </p:tav>
                                      </p:tavLst>
                                    </p:anim>
                                    <p:anim calcmode="lin" valueType="num">
                                      <p:cBhvr>
                                        <p:cTn id="6"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Stretch inside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For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and 2</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(2</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r>
              <a:rPr lang="en-US" sz="1950" dirty="0" i="1">
                <a:solidFill>
                  <a:srgbClr val="16171D"/>
                </a:solidFill>
                <a:latin typeface="Segoe UI"/>
                <a:cs typeface="Segoe UI"/>
              </a:rPr>
              <a:t xml:space="preserve">x</a:t>
            </a:r>
            <a:endParaRPr lang="en-US" sz="1950" dirty="0"/>
          </a:p>
        </p:txBody>
      </p:sp>
      <p:sp>
        <p:nvSpPr>
          <p:cNvPr id="5" name="Shape 5"/>
          <p:cNvSpPr txBox="1"/>
          <p:nvPr/>
        </p:nvSpPr>
        <p:spPr>
          <a:xfrm>
            <a:off x="685800" y="2103882"/>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r>
              <a:rPr lang="en-US" sz="1950" dirty="0" i="1">
                <a:solidFill>
                  <a:srgbClr val="16171D"/>
                </a:solidFill>
                <a:latin typeface="Segoe UI"/>
                <a:cs typeface="Segoe UI"/>
              </a:rPr>
              <a:t xml:space="preserve">x</a:t>
            </a:r>
            <a:endParaRPr lang="en-US" sz="1950" dirty="0"/>
          </a:p>
        </p:txBody>
      </p:sp>
      <p:sp>
        <p:nvSpPr>
          <p:cNvPr id="6" name="Shape 6"/>
          <p:cNvSpPr txBox="1"/>
          <p:nvPr/>
        </p:nvSpPr>
        <p:spPr>
          <a:xfrm>
            <a:off x="685800" y="2589276"/>
            <a:ext cx="521954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The same line: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endParaRPr lang="en-US" sz="2325" dirty="0"/>
          </a:p>
        </p:txBody>
      </p:sp>
      <p:sp>
        <p:nvSpPr>
          <p:cNvPr id="7" name="Shape 7"/>
          <p:cNvSpPr txBox="1"/>
          <p:nvPr/>
        </p:nvSpPr>
        <p:spPr>
          <a:xfrm>
            <a:off x="685800" y="324154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This only works for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t>
            </a:r>
            <a:endParaRPr lang="en-US" sz="1575" dirty="0"/>
          </a:p>
        </p:txBody>
      </p:sp>
      <p:sp>
        <p:nvSpPr>
          <p:cNvPr id="8" name="Shape 8"/>
          <p:cNvSpPr/>
          <p:nvPr/>
        </p:nvSpPr>
        <p:spPr>
          <a:xfrm>
            <a:off x="6286348" y="1618488"/>
            <a:ext cx="3048000" cy="3048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2686050"/>
          </a:xfrm>
          <a:prstGeom prst="line">
            <a:avLst/>
          </a:prstGeom>
          <a:ln w="9525" cap="flat">
            <a:solidFill>
              <a:srgbClr val="E6E8F2"/>
            </a:solidFill>
          </a:ln>
        </p:spPr>
      </p:cxnSp>
      <p:cxnSp>
        <p:nvCxnSpPr>
          <p:cNvPr id="10" name="Line 10"/>
          <p:cNvCxnSpPr/>
          <p:nvPr/>
        </p:nvCxnSpPr>
        <p:spPr>
          <a:xfrm>
            <a:off x="6936429" y="1732788"/>
            <a:ext cx="0" cy="2686050"/>
          </a:xfrm>
          <a:prstGeom prst="line">
            <a:avLst/>
          </a:prstGeom>
          <a:ln w="9525" cap="flat">
            <a:solidFill>
              <a:srgbClr val="E6E8F2"/>
            </a:solidFill>
          </a:ln>
        </p:spPr>
      </p:cxnSp>
      <p:cxnSp>
        <p:nvCxnSpPr>
          <p:cNvPr id="11" name="Line 11"/>
          <p:cNvCxnSpPr/>
          <p:nvPr/>
        </p:nvCxnSpPr>
        <p:spPr>
          <a:xfrm>
            <a:off x="7262660" y="1732788"/>
            <a:ext cx="0" cy="2686050"/>
          </a:xfrm>
          <a:prstGeom prst="line">
            <a:avLst/>
          </a:prstGeom>
          <a:ln w="9525" cap="flat">
            <a:solidFill>
              <a:srgbClr val="E6E8F2"/>
            </a:solidFill>
          </a:ln>
        </p:spPr>
      </p:cxnSp>
      <p:cxnSp>
        <p:nvCxnSpPr>
          <p:cNvPr id="12" name="Line 12"/>
          <p:cNvCxnSpPr/>
          <p:nvPr/>
        </p:nvCxnSpPr>
        <p:spPr>
          <a:xfrm>
            <a:off x="7588891" y="1732788"/>
            <a:ext cx="0" cy="2686050"/>
          </a:xfrm>
          <a:prstGeom prst="line">
            <a:avLst/>
          </a:prstGeom>
          <a:ln w="9525" cap="flat">
            <a:solidFill>
              <a:srgbClr val="E6E8F2"/>
            </a:solidFill>
          </a:ln>
        </p:spPr>
      </p:cxnSp>
      <p:cxnSp>
        <p:nvCxnSpPr>
          <p:cNvPr id="13" name="Line 13"/>
          <p:cNvCxnSpPr/>
          <p:nvPr/>
        </p:nvCxnSpPr>
        <p:spPr>
          <a:xfrm>
            <a:off x="7915123" y="1732788"/>
            <a:ext cx="0" cy="2686050"/>
          </a:xfrm>
          <a:prstGeom prst="line">
            <a:avLst/>
          </a:prstGeom>
          <a:ln w="9525" cap="flat">
            <a:solidFill>
              <a:srgbClr val="E6E8F2"/>
            </a:solidFill>
          </a:ln>
        </p:spPr>
      </p:cxnSp>
      <p:cxnSp>
        <p:nvCxnSpPr>
          <p:cNvPr id="14" name="Line 14"/>
          <p:cNvCxnSpPr/>
          <p:nvPr/>
        </p:nvCxnSpPr>
        <p:spPr>
          <a:xfrm>
            <a:off x="8241354" y="1732788"/>
            <a:ext cx="0" cy="2686050"/>
          </a:xfrm>
          <a:prstGeom prst="line">
            <a:avLst/>
          </a:prstGeom>
          <a:ln w="9525" cap="flat">
            <a:solidFill>
              <a:srgbClr val="E6E8F2"/>
            </a:solidFill>
          </a:ln>
        </p:spPr>
      </p:cxnSp>
      <p:cxnSp>
        <p:nvCxnSpPr>
          <p:cNvPr id="15" name="Line 15"/>
          <p:cNvCxnSpPr/>
          <p:nvPr/>
        </p:nvCxnSpPr>
        <p:spPr>
          <a:xfrm>
            <a:off x="8567585" y="1732788"/>
            <a:ext cx="0" cy="2686050"/>
          </a:xfrm>
          <a:prstGeom prst="line">
            <a:avLst/>
          </a:prstGeom>
          <a:ln w="9525" cap="flat">
            <a:solidFill>
              <a:srgbClr val="E6E8F2"/>
            </a:solidFill>
          </a:ln>
        </p:spPr>
      </p:cxnSp>
      <p:cxnSp>
        <p:nvCxnSpPr>
          <p:cNvPr id="16" name="Line 16"/>
          <p:cNvCxnSpPr/>
          <p:nvPr/>
        </p:nvCxnSpPr>
        <p:spPr>
          <a:xfrm>
            <a:off x="8893816" y="1732788"/>
            <a:ext cx="0" cy="2686050"/>
          </a:xfrm>
          <a:prstGeom prst="line">
            <a:avLst/>
          </a:prstGeom>
          <a:ln w="9525" cap="flat">
            <a:solidFill>
              <a:srgbClr val="E6E8F2"/>
            </a:solidFill>
          </a:ln>
        </p:spPr>
      </p:cxnSp>
      <p:cxnSp>
        <p:nvCxnSpPr>
          <p:cNvPr id="17" name="Line 17"/>
          <p:cNvCxnSpPr/>
          <p:nvPr/>
        </p:nvCxnSpPr>
        <p:spPr>
          <a:xfrm>
            <a:off x="9220048" y="1732788"/>
            <a:ext cx="0" cy="2686050"/>
          </a:xfrm>
          <a:prstGeom prst="line">
            <a:avLst/>
          </a:prstGeom>
          <a:ln w="9525" cap="flat">
            <a:solidFill>
              <a:srgbClr val="E6E8F2"/>
            </a:solidFill>
          </a:ln>
        </p:spPr>
      </p:cxnSp>
      <p:cxnSp>
        <p:nvCxnSpPr>
          <p:cNvPr id="18" name="Line 18"/>
          <p:cNvCxnSpPr/>
          <p:nvPr/>
        </p:nvCxnSpPr>
        <p:spPr>
          <a:xfrm>
            <a:off x="6610198" y="4418838"/>
            <a:ext cx="2609850" cy="0"/>
          </a:xfrm>
          <a:prstGeom prst="line">
            <a:avLst/>
          </a:prstGeom>
          <a:ln w="9525" cap="flat">
            <a:solidFill>
              <a:srgbClr val="E6E8F2"/>
            </a:solidFill>
          </a:ln>
        </p:spPr>
      </p:cxnSp>
      <p:cxnSp>
        <p:nvCxnSpPr>
          <p:cNvPr id="19" name="Line 19"/>
          <p:cNvCxnSpPr/>
          <p:nvPr/>
        </p:nvCxnSpPr>
        <p:spPr>
          <a:xfrm>
            <a:off x="6610198" y="4150233"/>
            <a:ext cx="2609850" cy="0"/>
          </a:xfrm>
          <a:prstGeom prst="line">
            <a:avLst/>
          </a:prstGeom>
          <a:ln w="9525" cap="flat">
            <a:solidFill>
              <a:srgbClr val="E6E8F2"/>
            </a:solidFill>
          </a:ln>
        </p:spPr>
      </p:cxnSp>
      <p:cxnSp>
        <p:nvCxnSpPr>
          <p:cNvPr id="20" name="Line 20"/>
          <p:cNvCxnSpPr/>
          <p:nvPr/>
        </p:nvCxnSpPr>
        <p:spPr>
          <a:xfrm>
            <a:off x="6610198" y="3881628"/>
            <a:ext cx="2609850" cy="0"/>
          </a:xfrm>
          <a:prstGeom prst="line">
            <a:avLst/>
          </a:prstGeom>
          <a:ln w="9525" cap="flat">
            <a:solidFill>
              <a:srgbClr val="E6E8F2"/>
            </a:solidFill>
          </a:ln>
        </p:spPr>
      </p:cxnSp>
      <p:cxnSp>
        <p:nvCxnSpPr>
          <p:cNvPr id="21" name="Line 21"/>
          <p:cNvCxnSpPr/>
          <p:nvPr/>
        </p:nvCxnSpPr>
        <p:spPr>
          <a:xfrm>
            <a:off x="6610198" y="3613023"/>
            <a:ext cx="2609850" cy="0"/>
          </a:xfrm>
          <a:prstGeom prst="line">
            <a:avLst/>
          </a:prstGeom>
          <a:ln w="9525" cap="flat">
            <a:solidFill>
              <a:srgbClr val="E6E8F2"/>
            </a:solidFill>
          </a:ln>
        </p:spPr>
      </p:cxnSp>
      <p:cxnSp>
        <p:nvCxnSpPr>
          <p:cNvPr id="22" name="Line 22"/>
          <p:cNvCxnSpPr/>
          <p:nvPr/>
        </p:nvCxnSpPr>
        <p:spPr>
          <a:xfrm>
            <a:off x="6610198" y="3344418"/>
            <a:ext cx="2609850" cy="0"/>
          </a:xfrm>
          <a:prstGeom prst="line">
            <a:avLst/>
          </a:prstGeom>
          <a:ln w="9525" cap="flat">
            <a:solidFill>
              <a:srgbClr val="E6E8F2"/>
            </a:solidFill>
          </a:ln>
        </p:spPr>
      </p:cxnSp>
      <p:cxnSp>
        <p:nvCxnSpPr>
          <p:cNvPr id="23" name="Line 23"/>
          <p:cNvCxnSpPr/>
          <p:nvPr/>
        </p:nvCxnSpPr>
        <p:spPr>
          <a:xfrm>
            <a:off x="6610198" y="3075813"/>
            <a:ext cx="2609850" cy="0"/>
          </a:xfrm>
          <a:prstGeom prst="line">
            <a:avLst/>
          </a:prstGeom>
          <a:ln w="9525" cap="flat">
            <a:solidFill>
              <a:srgbClr val="E6E8F2"/>
            </a:solidFill>
          </a:ln>
        </p:spPr>
      </p:cxnSp>
      <p:cxnSp>
        <p:nvCxnSpPr>
          <p:cNvPr id="24" name="Line 24"/>
          <p:cNvCxnSpPr/>
          <p:nvPr/>
        </p:nvCxnSpPr>
        <p:spPr>
          <a:xfrm>
            <a:off x="6610198" y="2807208"/>
            <a:ext cx="2609850" cy="0"/>
          </a:xfrm>
          <a:prstGeom prst="line">
            <a:avLst/>
          </a:prstGeom>
          <a:ln w="9525" cap="flat">
            <a:solidFill>
              <a:srgbClr val="E6E8F2"/>
            </a:solidFill>
          </a:ln>
        </p:spPr>
      </p:cxnSp>
      <p:cxnSp>
        <p:nvCxnSpPr>
          <p:cNvPr id="25" name="Line 25"/>
          <p:cNvCxnSpPr/>
          <p:nvPr/>
        </p:nvCxnSpPr>
        <p:spPr>
          <a:xfrm>
            <a:off x="6610198" y="2538603"/>
            <a:ext cx="2609850" cy="0"/>
          </a:xfrm>
          <a:prstGeom prst="line">
            <a:avLst/>
          </a:prstGeom>
          <a:ln w="9525" cap="flat">
            <a:solidFill>
              <a:srgbClr val="E6E8F2"/>
            </a:solidFill>
          </a:ln>
        </p:spPr>
      </p:cxnSp>
      <p:cxnSp>
        <p:nvCxnSpPr>
          <p:cNvPr id="26" name="Line 26"/>
          <p:cNvCxnSpPr/>
          <p:nvPr/>
        </p:nvCxnSpPr>
        <p:spPr>
          <a:xfrm>
            <a:off x="6610198" y="2269998"/>
            <a:ext cx="2609850" cy="0"/>
          </a:xfrm>
          <a:prstGeom prst="line">
            <a:avLst/>
          </a:prstGeom>
          <a:ln w="9525" cap="flat">
            <a:solidFill>
              <a:srgbClr val="E6E8F2"/>
            </a:solidFill>
          </a:ln>
        </p:spPr>
      </p:cxnSp>
      <p:cxnSp>
        <p:nvCxnSpPr>
          <p:cNvPr id="27" name="Line 27"/>
          <p:cNvCxnSpPr/>
          <p:nvPr/>
        </p:nvCxnSpPr>
        <p:spPr>
          <a:xfrm>
            <a:off x="6610198" y="2001393"/>
            <a:ext cx="2609850" cy="0"/>
          </a:xfrm>
          <a:prstGeom prst="line">
            <a:avLst/>
          </a:prstGeom>
          <a:ln w="9525" cap="flat">
            <a:solidFill>
              <a:srgbClr val="E6E8F2"/>
            </a:solidFill>
          </a:ln>
        </p:spPr>
      </p:cxnSp>
      <p:cxnSp>
        <p:nvCxnSpPr>
          <p:cNvPr id="28" name="Line 28"/>
          <p:cNvCxnSpPr/>
          <p:nvPr/>
        </p:nvCxnSpPr>
        <p:spPr>
          <a:xfrm>
            <a:off x="6610198" y="1732788"/>
            <a:ext cx="2609850" cy="0"/>
          </a:xfrm>
          <a:prstGeom prst="line">
            <a:avLst/>
          </a:prstGeom>
          <a:ln w="9525" cap="flat">
            <a:solidFill>
              <a:srgbClr val="E6E8F2"/>
            </a:solidFill>
          </a:ln>
        </p:spPr>
      </p:cxnSp>
      <p:cxnSp>
        <p:nvCxnSpPr>
          <p:cNvPr id="29" name="Line 29"/>
          <p:cNvCxnSpPr/>
          <p:nvPr/>
        </p:nvCxnSpPr>
        <p:spPr>
          <a:xfrm>
            <a:off x="7915123" y="1732788"/>
            <a:ext cx="0" cy="2686050"/>
          </a:xfrm>
          <a:prstGeom prst="line">
            <a:avLst/>
          </a:prstGeom>
          <a:ln w="19050" cap="flat">
            <a:solidFill>
              <a:srgbClr val="5F6272"/>
            </a:solidFill>
          </a:ln>
        </p:spPr>
      </p:cxnSp>
      <p:cxnSp>
        <p:nvCxnSpPr>
          <p:cNvPr id="30" name="Line 30"/>
          <p:cNvCxnSpPr/>
          <p:nvPr/>
        </p:nvCxnSpPr>
        <p:spPr>
          <a:xfrm>
            <a:off x="6610198" y="3075813"/>
            <a:ext cx="2609850" cy="0"/>
          </a:xfrm>
          <a:prstGeom prst="line">
            <a:avLst/>
          </a:prstGeom>
          <a:ln w="19050" cap="flat">
            <a:solidFill>
              <a:srgbClr val="5F6272"/>
            </a:solidFill>
          </a:ln>
        </p:spPr>
      </p:cxnSp>
      <p:sp>
        <p:nvSpPr>
          <p:cNvPr id="31" name="Shape 31"/>
          <p:cNvSpPr txBox="1"/>
          <p:nvPr/>
        </p:nvSpPr>
        <p:spPr>
          <a:xfrm>
            <a:off x="6335878"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2" name="Shape 32"/>
          <p:cNvSpPr txBox="1"/>
          <p:nvPr/>
        </p:nvSpPr>
        <p:spPr>
          <a:xfrm>
            <a:off x="6662109"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3" name="Shape 33"/>
          <p:cNvSpPr txBox="1"/>
          <p:nvPr/>
        </p:nvSpPr>
        <p:spPr>
          <a:xfrm>
            <a:off x="6988340"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4" name="Shape 34"/>
          <p:cNvSpPr txBox="1"/>
          <p:nvPr/>
        </p:nvSpPr>
        <p:spPr>
          <a:xfrm>
            <a:off x="7314571"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5" name="Shape 35"/>
          <p:cNvSpPr txBox="1"/>
          <p:nvPr/>
        </p:nvSpPr>
        <p:spPr>
          <a:xfrm>
            <a:off x="7640803"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6" name="Shape 36"/>
          <p:cNvSpPr txBox="1"/>
          <p:nvPr/>
        </p:nvSpPr>
        <p:spPr>
          <a:xfrm>
            <a:off x="7967034"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7" name="Shape 37"/>
          <p:cNvSpPr txBox="1"/>
          <p:nvPr/>
        </p:nvSpPr>
        <p:spPr>
          <a:xfrm>
            <a:off x="829326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8" name="Shape 38"/>
          <p:cNvSpPr txBox="1"/>
          <p:nvPr/>
        </p:nvSpPr>
        <p:spPr>
          <a:xfrm>
            <a:off x="8619496"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9" name="Shape 39"/>
          <p:cNvSpPr txBox="1"/>
          <p:nvPr/>
        </p:nvSpPr>
        <p:spPr>
          <a:xfrm>
            <a:off x="8945728"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6043270" y="4327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41" name="Shape 41"/>
          <p:cNvSpPr txBox="1"/>
          <p:nvPr/>
        </p:nvSpPr>
        <p:spPr>
          <a:xfrm>
            <a:off x="6043270" y="405879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6043270" y="3790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3" name="Shape 43"/>
          <p:cNvSpPr txBox="1"/>
          <p:nvPr/>
        </p:nvSpPr>
        <p:spPr>
          <a:xfrm>
            <a:off x="6043270" y="352158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6043270" y="32529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5" name="Shape 45"/>
          <p:cNvSpPr txBox="1"/>
          <p:nvPr/>
        </p:nvSpPr>
        <p:spPr>
          <a:xfrm>
            <a:off x="6043270" y="29843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6043270" y="2715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7" name="Shape 47"/>
          <p:cNvSpPr txBox="1"/>
          <p:nvPr/>
        </p:nvSpPr>
        <p:spPr>
          <a:xfrm>
            <a:off x="6043270" y="244716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8" name="Shape 48"/>
          <p:cNvSpPr txBox="1"/>
          <p:nvPr/>
        </p:nvSpPr>
        <p:spPr>
          <a:xfrm>
            <a:off x="6043270" y="21785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9" name="Shape 49"/>
          <p:cNvSpPr txBox="1"/>
          <p:nvPr/>
        </p:nvSpPr>
        <p:spPr>
          <a:xfrm>
            <a:off x="6043270" y="19099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51" name="Line 51"/>
          <p:cNvCxnSpPr/>
          <p:nvPr/>
        </p:nvCxnSpPr>
        <p:spPr>
          <a:xfrm flipV="1">
            <a:off x="6610198" y="2001393"/>
            <a:ext cx="2609850" cy="2148840"/>
          </a:xfrm>
          <a:prstGeom prst="line">
            <a:avLst/>
          </a:prstGeom>
          <a:ln w="38100" cap="rnd">
            <a:solidFill>
              <a:srgbClr val="16171D"/>
            </a:solidFill>
          </a:ln>
        </p:spPr>
      </p:cxnSp>
      <p:sp>
        <p:nvSpPr>
          <p:cNvPr id="52" name="Shape 52"/>
          <p:cNvSpPr txBox="1"/>
          <p:nvPr/>
        </p:nvSpPr>
        <p:spPr>
          <a:xfrm>
            <a:off x="6728308" y="2020443"/>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53" name="Line 53"/>
          <p:cNvCxnSpPr/>
          <p:nvPr/>
        </p:nvCxnSpPr>
        <p:spPr>
          <a:xfrm flipV="1">
            <a:off x="7099544" y="1732788"/>
            <a:ext cx="1631156" cy="2686050"/>
          </a:xfrm>
          <a:prstGeom prst="line">
            <a:avLst/>
          </a:prstGeom>
          <a:ln w="38100" cap="rnd">
            <a:solidFill>
              <a:srgbClr val="16171D"/>
            </a:solidFill>
          </a:ln>
        </p:spPr>
      </p:cxnSp>
      <p:sp>
        <p:nvSpPr>
          <p:cNvPr id="54" name="Shape 54"/>
          <p:cNvSpPr txBox="1"/>
          <p:nvPr/>
        </p:nvSpPr>
        <p:spPr>
          <a:xfrm>
            <a:off x="6238961"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2x</a:t>
            </a:r>
            <a:endParaRPr lang="en-US" sz="1275" dirty="0"/>
          </a:p>
        </p:txBody>
      </p:sp>
      <p:sp>
        <p:nvSpPr>
          <p:cNvPr id="55" name="Slide Number 5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ipe(left)">
                                      <p:cBhvr>
                                        <p:cTn id="11" dur="700"/>
                                        <p:tgtEl>
                                          <p:spTgt spid="53"/>
                                        </p:tgtEl>
                                      </p:cBhvr>
                                    </p:animEffect>
                                  </p:childTnLst>
                                </p:cTn>
                              </p:par>
                              <p:par>
                                <p:cTn id="15" presetID="22" presetClass="entr" presetSubtype="8" fill="hold" nodeType="with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wipe(left)">
                                      <p:cBhvr>
                                        <p:cTn id="14" dur="7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8" name="Shape 8"/>
          <p:cNvSpPr txBox="1"/>
          <p:nvPr/>
        </p:nvSpPr>
        <p:spPr>
          <a:xfrm>
            <a:off x="685800" y="1618488"/>
            <a:ext cx="3479698" cy="310667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− 6). Which way, and how far?</a:t>
            </a:r>
            <a:endParaRPr lang="en-US" sz="1950" dirty="0"/>
          </a:p>
        </p:txBody>
      </p:sp>
      <p:sp>
        <p:nvSpPr>
          <p:cNvPr id="5" name="Shape 5"/>
          <p:cNvSpPr txBox="1"/>
          <p:nvPr/>
        </p:nvSpPr>
        <p:spPr>
          <a:xfrm>
            <a:off x="895350" y="2534412"/>
            <a:ext cx="30605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right 6</a:t>
            </a:r>
            <a:endParaRPr lang="en-US" sz="2325" dirty="0"/>
          </a:p>
        </p:txBody>
      </p:sp>
      <p:sp>
        <p:nvSpPr>
          <p:cNvPr id="6" name="Shape 6"/>
          <p:cNvSpPr txBox="1"/>
          <p:nvPr/>
        </p:nvSpPr>
        <p:spPr>
          <a:xfrm>
            <a:off x="895350" y="3148584"/>
            <a:ext cx="3060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The 6 is inside the parentheses, so the graph moves left or right.</a:t>
            </a:r>
            <a:endParaRPr lang="en-US" sz="1575" dirty="0"/>
          </a:p>
        </p:txBody>
      </p:sp>
      <p:sp>
        <p:nvSpPr>
          <p:cNvPr id="7" name="Shape 7"/>
          <p:cNvSpPr txBox="1"/>
          <p:nvPr/>
        </p:nvSpPr>
        <p:spPr>
          <a:xfrm>
            <a:off x="895350" y="4018788"/>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Inside, the sign flips: minus means right. Right 6.</a:t>
            </a:r>
            <a:endParaRPr lang="en-US" sz="1575" dirty="0"/>
          </a:p>
        </p:txBody>
      </p:sp>
      <p:sp>
        <p:nvSpPr>
          <p:cNvPr id="13" name="Shape 13"/>
          <p:cNvSpPr txBox="1"/>
          <p:nvPr/>
        </p:nvSpPr>
        <p:spPr>
          <a:xfrm>
            <a:off x="4355998" y="1618488"/>
            <a:ext cx="3479698" cy="286664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9" name="Shape 9"/>
          <p:cNvSpPr txBox="1"/>
          <p:nvPr/>
        </p:nvSpPr>
        <p:spPr>
          <a:xfrm>
            <a:off x="4565548"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 Which way, and how far?</a:t>
            </a:r>
            <a:endParaRPr lang="en-US" sz="1950" dirty="0"/>
          </a:p>
        </p:txBody>
      </p:sp>
      <p:sp>
        <p:nvSpPr>
          <p:cNvPr id="10" name="Shape 10"/>
          <p:cNvSpPr txBox="1"/>
          <p:nvPr/>
        </p:nvSpPr>
        <p:spPr>
          <a:xfrm>
            <a:off x="4565548" y="253441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up 1</a:t>
            </a:r>
            <a:endParaRPr lang="en-US" sz="2325" dirty="0"/>
          </a:p>
        </p:txBody>
      </p:sp>
      <p:sp>
        <p:nvSpPr>
          <p:cNvPr id="11" name="Shape 11"/>
          <p:cNvSpPr txBox="1"/>
          <p:nvPr/>
        </p:nvSpPr>
        <p:spPr>
          <a:xfrm>
            <a:off x="4565548" y="3148584"/>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The 1 is outside, so the graph moves up or down.</a:t>
            </a:r>
            <a:endParaRPr lang="en-US" sz="1575" dirty="0"/>
          </a:p>
        </p:txBody>
      </p:sp>
      <p:sp>
        <p:nvSpPr>
          <p:cNvPr id="12" name="Shape 12"/>
          <p:cNvSpPr txBox="1"/>
          <p:nvPr/>
        </p:nvSpPr>
        <p:spPr>
          <a:xfrm>
            <a:off x="4565548" y="3778758"/>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Outside, no flip: plus means up. Up 1.</a:t>
            </a:r>
            <a:endParaRPr lang="en-US" sz="1575" dirty="0"/>
          </a:p>
        </p:txBody>
      </p:sp>
      <p:sp>
        <p:nvSpPr>
          <p:cNvPr id="18" name="Shape 18"/>
          <p:cNvSpPr txBox="1"/>
          <p:nvPr/>
        </p:nvSpPr>
        <p:spPr>
          <a:xfrm>
            <a:off x="8026197" y="1618488"/>
            <a:ext cx="3479698" cy="286664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8235747"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Simplify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a:t>
            </a:r>
            <a:endParaRPr lang="en-US" sz="1950" dirty="0"/>
          </a:p>
        </p:txBody>
      </p:sp>
      <p:sp>
        <p:nvSpPr>
          <p:cNvPr id="15" name="Shape 15"/>
          <p:cNvSpPr txBox="1"/>
          <p:nvPr/>
        </p:nvSpPr>
        <p:spPr>
          <a:xfrm>
            <a:off x="8235747" y="253441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6" name="Shape 16"/>
          <p:cNvSpPr txBox="1"/>
          <p:nvPr/>
        </p:nvSpPr>
        <p:spPr>
          <a:xfrm>
            <a:off x="8235747" y="3148584"/>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Put (x + 1) in for x: j(x + 1) = 3(x + 1).</a:t>
            </a:r>
            <a:endParaRPr lang="en-US" sz="1575" dirty="0"/>
          </a:p>
        </p:txBody>
      </p:sp>
      <p:sp>
        <p:nvSpPr>
          <p:cNvPr id="17" name="Shape 17"/>
          <p:cNvSpPr txBox="1"/>
          <p:nvPr/>
        </p:nvSpPr>
        <p:spPr>
          <a:xfrm>
            <a:off x="8235747" y="3778758"/>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Distribute: 3 · x + 3 · 1 = 3x + 3.</a:t>
            </a:r>
            <a:endParaRPr lang="en-US" sz="1575" dirty="0"/>
          </a:p>
        </p:txBody>
      </p:sp>
      <p:sp>
        <p:nvSpPr>
          <p:cNvPr id="19" name="Slide Number 1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53" presetClass="entr" presetSubtype="16"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anim calcmode="lin" valueType="num">
                                      <p:cBhvr>
                                        <p:cTn id="47" dur="500" fill="hold"/>
                                        <p:tgtEl>
                                          <p:spTgt spid="15"/>
                                        </p:tgtEl>
                                        <p:attrNameLst>
                                          <p:attrName>ppt_w</p:attrName>
                                        </p:attrNameLst>
                                      </p:cBhvr>
                                      <p:tavLst>
                                        <p:tav tm="0">
                                          <p:val>
                                            <p:fltVal val="0"/>
                                          </p:val>
                                        </p:tav>
                                        <p:tav tm="100000">
                                          <p:val>
                                            <p:strVal val="#ppt_w"/>
                                          </p:val>
                                        </p:tav>
                                      </p:tavLst>
                                    </p:anim>
                                    <p:anim calcmode="lin" valueType="num">
                                      <p:cBhvr>
                                        <p:cTn id="48"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anim calcmode="lin" valueType="num">
                                      <p:cBhvr>
                                        <p:cTn id="54" dur="500" fill="hold"/>
                                        <p:tgtEl>
                                          <p:spTgt spid="16"/>
                                        </p:tgtEl>
                                        <p:attrNameLst>
                                          <p:attrName>ppt_x</p:attrName>
                                        </p:attrNameLst>
                                      </p:cBhvr>
                                      <p:tavLst>
                                        <p:tav tm="0">
                                          <p:val>
                                            <p:strVal val="#ppt_x"/>
                                          </p:val>
                                        </p:tav>
                                        <p:tav tm="100000">
                                          <p:val>
                                            <p:strVal val="#ppt_x"/>
                                          </p:val>
                                        </p:tav>
                                      </p:tavLst>
                                    </p:anim>
                                    <p:anim calcmode="lin" valueType="num">
                                      <p:cBhvr>
                                        <p:cTn id="55"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anim calcmode="lin" valueType="num">
                                      <p:cBhvr>
                                        <p:cTn id="61" dur="500" fill="hold"/>
                                        <p:tgtEl>
                                          <p:spTgt spid="17"/>
                                        </p:tgtEl>
                                        <p:attrNameLst>
                                          <p:attrName>ppt_x</p:attrName>
                                        </p:attrNameLst>
                                      </p:cBhvr>
                                      <p:tavLst>
                                        <p:tav tm="0">
                                          <p:val>
                                            <p:strVal val="#ppt_x"/>
                                          </p:val>
                                        </p:tav>
                                        <p:tav tm="100000">
                                          <p:val>
                                            <p:strVal val="#ppt_x"/>
                                          </p:val>
                                        </p:tav>
                                      </p:tavLst>
                                    </p:anim>
                                    <p:anim calcmode="lin" valueType="num">
                                      <p:cBhvr>
                                        <p:cTn id="62"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End of Day 2</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Tuesday, October 27</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Wednesday, October 28. Skills Practice day: Lesson 2 quiz and Topic 1 Lesson 5 quiz. Then Lesson 3 starts Thursday, October 29.</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4" name="Shape 4"/>
          <p:cNvSpPr txBox="1"/>
          <p:nvPr/>
        </p:nvSpPr>
        <p:spPr>
          <a:xfrm>
            <a:off x="685800" y="167563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5" name="Shape 5"/>
          <p:cNvSpPr txBox="1"/>
          <p:nvPr/>
        </p:nvSpPr>
        <p:spPr>
          <a:xfrm>
            <a:off x="685800" y="2176272"/>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IEP pages have 3 answer choices, 6 homework and quiz questions, a reminder card and read-aloud. Allow notes and a calculator, and give extended time as the IEP lists.</a:t>
            </a:r>
            <a:endParaRPr lang="en-US" sz="1575"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Tree>
  </p:cSld>
  <p:clrMapOvr>
    <a:masterClrMapping/>
  </p:clrMapOvr>
  <p:transition spd="med">
    <p:fade/>
  </p:transition>
</p:sld>
</file>

<file path=ppt/theme/theme1.xml><?xml version="1.0" encoding="utf-8"?>
<a:theme xmlns:a="http://schemas.openxmlformats.org/drawingml/2006/main" name="Vertical and Horizontal Transformations of Linear Func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28</Slides>
  <Notes>28</Notes>
</Properties>
</file>

<file path=docProps/core.xml><?xml version="1.0" encoding="utf-8"?>
<cp:coreProperties xmlns:cp="http://schemas.openxmlformats.org/package/2006/metadata/core-properties" xmlns:dc="http://purl.org/dc/elements/1.1/">
  <dc:title>Vertical and Horizontal Transformations of Linear Functions</dc:title>
  <dc:subject>Bluebonnet Algebra I</dc:subject>
</cp:coreProperties>
</file>