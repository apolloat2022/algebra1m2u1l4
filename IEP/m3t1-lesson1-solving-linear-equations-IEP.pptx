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version of Lesson 1: a modified lesson that keeps the core skills (the starred activities) and cuts the number of items. Each skill follows I do, We do (sentence frames), You do. Apply each student's IEP accommodations too: extended time, read-aloud, breaks, calculator, small group.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the key terms. Leave up or print as a reference card.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Same 4 questions as the online IEP Day 1 bell work (3 answer choices there). Click to reveal one answer at a time; read each step aloud.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Anchor chart: students keep this out for every problem.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 do: model every step aloud. Students copy the steps into their notes.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do: students fill in each blank on whiteboards before you click. Use the sentence frames.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 do: give 2–3 minutes, then reveal. Students fix mistakes in a different color.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IEP exit ticket: the first 3 items of the printed exit ticket (EXIT TICKET/T1-Exit-Ticket-Thu-11-05-IEP.pdf), with a tip, 3 answer choices on multiple choice, and step frames. Students may use the steps chart and notes.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a printed copy of the notes.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algebra1m2u1l4.vercel.app/IEP/m3t1-lesson1-bellwork-day1-IEP.html" TargetMode="Externa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Bluebonnet Algebra I · Module 3 · Topic 1 · Lesson 1 · IEP Version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96164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45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Solving Linear Equations</a:t>
            </a:r>
            <a:endParaRPr lang="en-US" sz="45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949958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 can…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49631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solve an equation and name the property for each step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01980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✓ tell if an equation has one, no, or infinite solutions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600450"/>
            <a:ext cx="10820095" cy="3291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Bell work: </a:t>
            </a:r>
            <a:r>
              <a:rPr lang="en-US" sz="1800" dirty="0" b="1">
                <a:solidFill>
                  <a:srgbClr val="3050B8"/>
                </a:solidFill>
                <a:latin typeface="Segoe UI"/>
                <a:cs typeface="Segoe UI"/>
                <a:hlinkClick r:id="rId3"/>
              </a:rPr>
              <a:t xml:space="preserve">Day 1 →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18591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Based on Bluebonnet Learning Secondary Mathematics, Algebra I (©2024–2025 Texas Education Agency, portions ©2021 Carnegie Learning, Inc.), licensed CC BY-NC 4.0. A private site for Algebra I teachers.</a:t>
            </a:r>
            <a:endParaRPr lang="en-US" sz="1125" dirty="0"/>
          </a:p>
        </p:txBody>
      </p:sp>
      <p:sp>
        <p:nvSpPr>
          <p:cNvPr id="9" name="Slide Number 9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</a:t>
            </a:fld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1 · Key Vocabulary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Key vocabulary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3492398" cy="2446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Solution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 value for the variable that makes the equation true.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x = 2 in x + 3 = 5</a:t>
            </a:r>
            <a:endParaRPr lang="en-US" sz="2325" dirty="0"/>
          </a:p>
        </p:txBody>
      </p:sp>
      <p:sp>
        <p:nvSpPr>
          <p:cNvPr id="11" name="Shape 11"/>
          <p:cNvSpPr txBox="1"/>
          <p:nvPr/>
        </p:nvSpPr>
        <p:spPr>
          <a:xfrm>
            <a:off x="4349648" y="1618488"/>
            <a:ext cx="3492398" cy="2446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Properties of equality</a:t>
            </a:r>
            <a:endParaRPr lang="en-US" sz="210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22600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Do the same thing to both sides and the equation stays balanced.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3130296"/>
            <a:ext cx="3073298" cy="7635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add, subtract, multiply, divide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8013497" y="1618488"/>
            <a:ext cx="3492398" cy="24467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Distributive property</a:t>
            </a:r>
            <a:endParaRPr lang="en-US" sz="2100" dirty="0"/>
          </a:p>
        </p:txBody>
      </p:sp>
      <p:sp>
        <p:nvSpPr>
          <p:cNvPr id="13" name="Shape 13"/>
          <p:cNvSpPr txBox="1"/>
          <p:nvPr/>
        </p:nvSpPr>
        <p:spPr>
          <a:xfrm>
            <a:off x="8223047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Multiply the number outside by every term inside.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8223047" y="2890266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3(x − 2) = 3x − 6</a:t>
            </a:r>
            <a:endParaRPr lang="en-US" sz="2325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423672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95350" y="440817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 solution</a:t>
            </a:r>
            <a:endParaRPr lang="en-US" sz="2100" dirty="0"/>
          </a:p>
        </p:txBody>
      </p:sp>
      <p:sp>
        <p:nvSpPr>
          <p:cNvPr id="17" name="Shape 17"/>
          <p:cNvSpPr txBox="1"/>
          <p:nvPr/>
        </p:nvSpPr>
        <p:spPr>
          <a:xfrm>
            <a:off x="895350" y="487832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No value works. The sides simplify to a false statement.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95350" y="550849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3 = 4</a:t>
            </a:r>
            <a:endParaRPr lang="en-US" sz="2325" dirty="0"/>
          </a:p>
        </p:txBody>
      </p:sp>
      <p:sp>
        <p:nvSpPr>
          <p:cNvPr id="23" name="Shape 23"/>
          <p:cNvSpPr txBox="1"/>
          <p:nvPr/>
        </p:nvSpPr>
        <p:spPr>
          <a:xfrm>
            <a:off x="4349648" y="423672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0" name="Shape 20"/>
          <p:cNvSpPr txBox="1"/>
          <p:nvPr/>
        </p:nvSpPr>
        <p:spPr>
          <a:xfrm>
            <a:off x="4559198" y="440817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Infinite solutions</a:t>
            </a:r>
            <a:endParaRPr lang="en-US" sz="2100" dirty="0"/>
          </a:p>
        </p:txBody>
      </p:sp>
      <p:sp>
        <p:nvSpPr>
          <p:cNvPr id="21" name="Shape 21"/>
          <p:cNvSpPr txBox="1"/>
          <p:nvPr/>
        </p:nvSpPr>
        <p:spPr>
          <a:xfrm>
            <a:off x="4559198" y="487832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Every value works. Both sides are the same.</a:t>
            </a:r>
            <a:endParaRPr lang="en-US" sz="1575" dirty="0"/>
          </a:p>
        </p:txBody>
      </p:sp>
      <p:sp>
        <p:nvSpPr>
          <p:cNvPr id="22" name="Shape 22"/>
          <p:cNvSpPr txBox="1"/>
          <p:nvPr/>
        </p:nvSpPr>
        <p:spPr>
          <a:xfrm>
            <a:off x="4559198" y="550849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2x + 5 = 2x + 5</a:t>
            </a:r>
            <a:endParaRPr lang="en-US" sz="2325" dirty="0"/>
          </a:p>
        </p:txBody>
      </p:sp>
      <p:sp>
        <p:nvSpPr>
          <p:cNvPr id="27" name="Shape 27"/>
          <p:cNvSpPr txBox="1"/>
          <p:nvPr/>
        </p:nvSpPr>
        <p:spPr>
          <a:xfrm>
            <a:off x="8013497" y="4236720"/>
            <a:ext cx="3492398" cy="185242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24" name="Shape 24"/>
          <p:cNvSpPr txBox="1"/>
          <p:nvPr/>
        </p:nvSpPr>
        <p:spPr>
          <a:xfrm>
            <a:off x="8223047" y="4408170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Coefficient</a:t>
            </a:r>
            <a:endParaRPr lang="en-US" sz="2100" dirty="0"/>
          </a:p>
        </p:txBody>
      </p:sp>
      <p:sp>
        <p:nvSpPr>
          <p:cNvPr id="25" name="Shape 25"/>
          <p:cNvSpPr txBox="1"/>
          <p:nvPr/>
        </p:nvSpPr>
        <p:spPr>
          <a:xfrm>
            <a:off x="8223047" y="487832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The number in front of a variable.</a:t>
            </a:r>
            <a:endParaRPr lang="en-US" sz="1575" dirty="0"/>
          </a:p>
        </p:txBody>
      </p:sp>
      <p:sp>
        <p:nvSpPr>
          <p:cNvPr id="26" name="Shape 26"/>
          <p:cNvSpPr txBox="1"/>
          <p:nvPr/>
        </p:nvSpPr>
        <p:spPr>
          <a:xfrm>
            <a:off x="8223047" y="5508498"/>
            <a:ext cx="3073298" cy="4091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the 4 in 4x</a:t>
            </a:r>
            <a:endParaRPr lang="en-US" sz="2325" dirty="0"/>
          </a:p>
        </p:txBody>
      </p:sp>
      <p:sp>
        <p:nvSpPr>
          <p:cNvPr id="28" name="Slide Number 2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2</a:t>
            </a:fld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Bell Work · Review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Warm up: work these on your own</a:t>
            </a:r>
            <a:endParaRPr lang="en-US" sz="34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618488"/>
            <a:ext cx="5295748" cy="25222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487664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Marcus has $35 and saves $15 per week. Which equation gives the amount he has saved,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, after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weeks?</a:t>
            </a:r>
            <a:endParaRPr lang="en-US" sz="1575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60299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rate,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= start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2935986"/>
            <a:ext cx="4155731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+ 35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The start is $35, so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b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35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The rate is $15 per week, so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m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15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+ 35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4235958"/>
            <a:ext cx="5295748" cy="2042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895350" y="440740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What value of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makes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3(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− 2) = 12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true?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474040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distribute, then undo + and ×</a:t>
            </a:r>
            <a:endParaRPr lang="en-US" sz="1575" dirty="0"/>
          </a:p>
        </p:txBody>
      </p:sp>
      <p:sp>
        <p:nvSpPr>
          <p:cNvPr id="10" name="Shape 10"/>
          <p:cNvSpPr txBox="1"/>
          <p:nvPr/>
        </p:nvSpPr>
        <p:spPr>
          <a:xfrm>
            <a:off x="895350" y="5073396"/>
            <a:ext cx="3006467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− 6 = 12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Add 6: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18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3: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6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15" name="Shape 15"/>
          <p:cNvSpPr txBox="1"/>
          <p:nvPr/>
        </p:nvSpPr>
        <p:spPr>
          <a:xfrm>
            <a:off x="6210148" y="1618488"/>
            <a:ext cx="5295748" cy="20421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6419698" y="1789938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Is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a solution of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− 1 = 9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419698" y="212293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put the number in for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6419698" y="2455926"/>
            <a:ext cx="3006467" cy="103327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Yes, because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9 = 9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5(2) − 1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10 − 1 = 9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9 = 9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is true, so yes.</a:t>
            </a:r>
            <a:endParaRPr lang="en-US" sz="1425" dirty="0"/>
          </a:p>
        </p:txBody>
      </p:sp>
      <p:sp>
        <p:nvSpPr>
          <p:cNvPr id="19" name="Shape 19"/>
          <p:cNvSpPr txBox="1"/>
          <p:nvPr/>
        </p:nvSpPr>
        <p:spPr>
          <a:xfrm>
            <a:off x="6210148" y="3755898"/>
            <a:ext cx="5295748" cy="20650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6419698" y="3927348"/>
            <a:ext cx="48766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Which expression is equivalent to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4(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 + 2) − </a:t>
            </a:r>
            <a:r>
              <a:rPr lang="en-US" sz="157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1575" dirty="0"/>
          </a:p>
        </p:txBody>
      </p:sp>
      <p:sp>
        <p:nvSpPr>
          <p:cNvPr id="17" name="Shape 17"/>
          <p:cNvSpPr txBox="1"/>
          <p:nvPr/>
        </p:nvSpPr>
        <p:spPr>
          <a:xfrm>
            <a:off x="6419698" y="4500372"/>
            <a:ext cx="487664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16171D"/>
                </a:solidFill>
                <a:latin typeface="Segoe UI"/>
                <a:cs typeface="Segoe UI"/>
              </a:rPr>
              <a:t xml:space="preserve">Formula: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distribute, then combine like terms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6419698" y="4833366"/>
            <a:ext cx="3389555" cy="81610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425" dirty="0" b="1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 b="1">
                <a:solidFill>
                  <a:srgbClr val="16171D"/>
                </a:solidFill>
                <a:latin typeface="Cambria"/>
                <a:cs typeface="Cambria"/>
              </a:rPr>
              <a:t xml:space="preserve"> + 8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+ 8 −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b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4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 Combine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− 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= 3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: 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r>
              <a:rPr lang="en-US" sz="14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425" dirty="0">
                <a:solidFill>
                  <a:srgbClr val="16171D"/>
                </a:solidFill>
                <a:latin typeface="Cambria"/>
                <a:cs typeface="Cambria"/>
              </a:rPr>
              <a:t xml:space="preserve"> + 8</a:t>
            </a:r>
            <a:r>
              <a:rPr lang="en-US" sz="1425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1425" dirty="0"/>
          </a:p>
        </p:txBody>
      </p:sp>
      <p:sp>
        <p:nvSpPr>
          <p:cNvPr id="20" name="Slide Number 2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3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Lesson 1 · Steps Chart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Steps to follow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Combine like terms on each side.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Move the x-terms to one side.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Undo + or −.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12464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Undo × or ÷.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423595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Check by substituting.</a:t>
            </a:r>
            <a:endParaRPr lang="en-US" sz="1950" dirty="0"/>
          </a:p>
        </p:txBody>
      </p:sp>
      <p:sp>
        <p:nvSpPr>
          <p:cNvPr id="10" name="Slide Number 10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4</a:t>
            </a:fld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I do · ★ Essential · Solve and justify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Solve 3(x + 2) = 18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Distribute: 3x + 6 = 18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Subtract 6: 3x = 12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Divide by 3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= 4</a:t>
            </a:r>
            <a:endParaRPr lang="en-US" sz="2850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5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We do · Solve and justify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2(x − 1) = x + 5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2x − 2 = ___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Subtract x: ___ − 2 = 5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Add 2: x = ___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88970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= 7</a:t>
            </a:r>
            <a:endParaRPr lang="en-US" sz="2850" dirty="0"/>
          </a:p>
        </p:txBody>
      </p:sp>
      <p:sp>
        <p:nvSpPr>
          <p:cNvPr id="8" name="Slide Number 8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6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You do · Solve and justify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4(x + 1) = 2x + 10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3266420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x = 3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7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I do · ★ Essential · One, none, or infinite?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Watch: 2x + 4 = 2(x + 2)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Simplify the right: 2x + 4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2.</a:t>
            </a: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 Same x-term, same number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3876233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infinite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8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We do · One, none, or infinite?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Together: 3x + 1 = 3x + 7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Both sides have ___x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The numbers 1 and 7 are ___ (same / different)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65476"/>
            <a:ext cx="4486046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no solution</a:t>
            </a:r>
            <a:endParaRPr lang="en-US" sz="2850" dirty="0"/>
          </a:p>
        </p:txBody>
      </p:sp>
      <p:sp>
        <p:nvSpPr>
          <p:cNvPr id="7" name="Slide Number 7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9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You do · One, none, or infinite?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Your turn: 5x − 2 = 5x − 2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618488"/>
            <a:ext cx="10820095" cy="3520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5F6272"/>
                </a:solidFill>
                <a:latin typeface="Segoe UI"/>
                <a:cs typeface="Segoe UI"/>
              </a:rPr>
              <a:t xml:space="preserve">Use the steps chart. Then check.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41982"/>
            <a:ext cx="3876233" cy="59893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infinite</a:t>
            </a:r>
            <a:endParaRPr lang="en-US" sz="2850" dirty="0"/>
          </a:p>
        </p:txBody>
      </p:sp>
      <p:sp>
        <p:nvSpPr>
          <p:cNvPr id="6" name="Slide Number 6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10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Exit Ticket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Show what you know</a:t>
            </a:r>
            <a:endParaRPr lang="en-US" sz="34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1618488"/>
            <a:ext cx="3492398" cy="28666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1. Solve: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7 − 3(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+ 2) = 10 − (2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p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+ 5)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53441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Distribute on both sides first. −( ) changes every sign inside.</a:t>
            </a:r>
            <a:endParaRPr lang="en-US" sz="1575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40461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 · </a:t>
            </a:r>
            <a:r>
              <a:rPr lang="en-US" sz="1575" dirty="0">
                <a:solidFill>
                  <a:srgbClr val="16171D"/>
                </a:solidFill>
                <a:latin typeface="Cambria"/>
                <a:cs typeface="Cambria"/>
              </a:rPr>
              <a:t xml:space="preserve">−6</a:t>
            </a:r>
            <a:endParaRPr lang="en-US" sz="1575" dirty="0"/>
          </a:p>
        </p:txBody>
      </p:sp>
      <p:sp>
        <p:nvSpPr>
          <p:cNvPr id="7" name="Shape 7"/>
          <p:cNvSpPr txBox="1"/>
          <p:nvPr/>
        </p:nvSpPr>
        <p:spPr>
          <a:xfrm>
            <a:off x="895350" y="3794760"/>
            <a:ext cx="2244715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−4</a:t>
            </a:r>
            <a:endParaRPr lang="en-US" sz="2325" dirty="0"/>
          </a:p>
        </p:txBody>
      </p:sp>
      <p:sp>
        <p:nvSpPr>
          <p:cNvPr id="15" name="Shape 15"/>
          <p:cNvSpPr txBox="1"/>
          <p:nvPr/>
        </p:nvSpPr>
        <p:spPr>
          <a:xfrm>
            <a:off x="4349648" y="1618488"/>
            <a:ext cx="3492398" cy="340690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4559198" y="1789938"/>
            <a:ext cx="3073298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2. Solve: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0.5(4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− 6) = −1.5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+ 4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4559198" y="253441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Distribute the 0.5 to both terms.</a:t>
            </a:r>
            <a:endParaRPr lang="en-US" sz="1575" dirty="0"/>
          </a:p>
        </p:txBody>
      </p:sp>
      <p:sp>
        <p:nvSpPr>
          <p:cNvPr id="11" name="Shape 11"/>
          <p:cNvSpPr txBox="1"/>
          <p:nvPr/>
        </p:nvSpPr>
        <p:spPr>
          <a:xfrm>
            <a:off x="4559198" y="3164586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Distribute: ______ = −1.5x + 4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4559198" y="3554730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Add 1.5x to both sides: ______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4559198" y="3944874"/>
            <a:ext cx="3073298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Add 3 to both sides: ______</a:t>
            </a:r>
            <a:endParaRPr lang="en-US" sz="1575" dirty="0"/>
          </a:p>
        </p:txBody>
      </p:sp>
      <p:sp>
        <p:nvSpPr>
          <p:cNvPr id="14" name="Shape 14"/>
          <p:cNvSpPr txBox="1"/>
          <p:nvPr/>
        </p:nvSpPr>
        <p:spPr>
          <a:xfrm>
            <a:off x="4559198" y="4335018"/>
            <a:ext cx="2742194" cy="51892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 = 2</a:t>
            </a:r>
            <a:endParaRPr lang="en-US" sz="2325" dirty="0"/>
          </a:p>
        </p:txBody>
      </p:sp>
      <p:sp>
        <p:nvSpPr>
          <p:cNvPr id="22" name="Shape 22"/>
          <p:cNvSpPr txBox="1"/>
          <p:nvPr/>
        </p:nvSpPr>
        <p:spPr>
          <a:xfrm>
            <a:off x="8013497" y="1618488"/>
            <a:ext cx="3492398" cy="50185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6" name="Shape 16"/>
          <p:cNvSpPr txBox="1"/>
          <p:nvPr/>
        </p:nvSpPr>
        <p:spPr>
          <a:xfrm>
            <a:off x="8223047" y="1789938"/>
            <a:ext cx="3073298" cy="9464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3. One, none, or infinite? 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½(8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+ 6) = 2(2</a:t>
            </a:r>
            <a:r>
              <a:rPr lang="en-US" sz="19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 + 1) + 2</a:t>
            </a: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8223047" y="2831592"/>
            <a:ext cx="3073298" cy="77495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Tip: Simplify each side, then compare the x-terms and numbers.</a:t>
            </a:r>
            <a:endParaRPr lang="en-US" sz="1575" dirty="0"/>
          </a:p>
        </p:txBody>
      </p:sp>
      <p:sp>
        <p:nvSpPr>
          <p:cNvPr id="18" name="Shape 18"/>
          <p:cNvSpPr txBox="1"/>
          <p:nvPr/>
        </p:nvSpPr>
        <p:spPr>
          <a:xfrm>
            <a:off x="8223047" y="3701796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Left side simplifies to: ______</a:t>
            </a:r>
            <a:endParaRPr lang="en-US" sz="1575" dirty="0"/>
          </a:p>
        </p:txBody>
      </p:sp>
      <p:sp>
        <p:nvSpPr>
          <p:cNvPr id="19" name="Shape 19"/>
          <p:cNvSpPr txBox="1"/>
          <p:nvPr/>
        </p:nvSpPr>
        <p:spPr>
          <a:xfrm>
            <a:off x="8223047" y="4331970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Right side simplifies to: ______</a:t>
            </a:r>
            <a:endParaRPr lang="en-US" sz="1575" dirty="0"/>
          </a:p>
        </p:txBody>
      </p:sp>
      <p:sp>
        <p:nvSpPr>
          <p:cNvPr id="20" name="Shape 20"/>
          <p:cNvSpPr txBox="1"/>
          <p:nvPr/>
        </p:nvSpPr>
        <p:spPr>
          <a:xfrm>
            <a:off x="8223047" y="4962144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Circle: one solution · no solution · infinite</a:t>
            </a:r>
            <a:endParaRPr lang="en-US" sz="1575" dirty="0"/>
          </a:p>
        </p:txBody>
      </p:sp>
      <p:sp>
        <p:nvSpPr>
          <p:cNvPr id="21" name="Shape 21"/>
          <p:cNvSpPr txBox="1"/>
          <p:nvPr/>
        </p:nvSpPr>
        <p:spPr>
          <a:xfrm>
            <a:off x="8223047" y="5592318"/>
            <a:ext cx="3073298" cy="873252"/>
          </a:xfrm>
          <a:prstGeom prst="roundRect">
            <a:avLst>
              <a:gd name="adj" fmla="val 8000"/>
            </a:avLst>
          </a:prstGeom>
          <a:solidFill>
            <a:srgbClr val="EDF5E9"/>
          </a:solidFill>
          <a:ln>
            <a:noFill/>
          </a:ln>
        </p:spPr>
        <p:txBody>
          <a:bodyPr wrap="square" lIns="164592" tIns="64008" rIns="164592" bIns="6400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 b="1" spc="100">
                <a:solidFill>
                  <a:srgbClr val="4F8A3C"/>
                </a:solidFill>
                <a:latin typeface="Segoe UI"/>
                <a:cs typeface="Segoe UI"/>
              </a:rPr>
              <a:t xml:space="preserve">ANSWER   </a:t>
            </a:r>
            <a:r>
              <a:rPr lang="en-US" sz="2325" dirty="0">
                <a:solidFill>
                  <a:srgbClr val="16171D"/>
                </a:solidFill>
                <a:latin typeface="Cambria"/>
                <a:cs typeface="Cambria"/>
              </a:rPr>
              <a:t xml:space="preserve">No solution</a:t>
            </a:r>
            <a:endParaRPr lang="en-US" sz="2325" dirty="0"/>
          </a:p>
        </p:txBody>
      </p:sp>
      <p:sp>
        <p:nvSpPr>
          <p:cNvPr id="23" name="Slide Number 23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11</a:t>
            </a:fld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2377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200" dirty="0" b="1" spc="150" cap="all">
                <a:solidFill>
                  <a:srgbClr val="5F6272"/>
                </a:solidFill>
                <a:latin typeface="Segoe UI"/>
                <a:cs typeface="Segoe UI"/>
              </a:rPr>
              <a:t xml:space="preserve">Day 1 · Notes to Keep</a:t>
            </a:r>
            <a:endParaRPr lang="en-US" sz="12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866394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Notes to keep: Day 1</a:t>
            </a:r>
            <a:endParaRPr lang="en-US" sz="34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1618488"/>
            <a:ext cx="3492398" cy="20680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895350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Solve</a:t>
            </a:r>
            <a:endParaRPr lang="en-US" sz="210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260092"/>
            <a:ext cx="3073298" cy="101498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1. Distribute.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2. Combine like terms.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3. Get x-terms on one side.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4. Undo + and −, then × and ÷.</a:t>
            </a:r>
            <a:endParaRPr lang="en-US" sz="1575" dirty="0"/>
          </a:p>
        </p:txBody>
      </p:sp>
      <p:sp>
        <p:nvSpPr>
          <p:cNvPr id="9" name="Shape 9"/>
          <p:cNvSpPr txBox="1"/>
          <p:nvPr/>
        </p:nvSpPr>
        <p:spPr>
          <a:xfrm>
            <a:off x="4349648" y="1618488"/>
            <a:ext cx="3492398" cy="20680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4559198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Check</a:t>
            </a:r>
            <a:endParaRPr lang="en-US" sz="2100" dirty="0"/>
          </a:p>
        </p:txBody>
      </p:sp>
      <p:sp>
        <p:nvSpPr>
          <p:cNvPr id="8" name="Shape 8"/>
          <p:cNvSpPr txBox="1"/>
          <p:nvPr/>
        </p:nvSpPr>
        <p:spPr>
          <a:xfrm>
            <a:off x="4559198" y="2260092"/>
            <a:ext cx="307329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Put your answer back in. Both sides equal → correct.</a:t>
            </a:r>
            <a:endParaRPr lang="en-US" sz="1575" dirty="0"/>
          </a:p>
        </p:txBody>
      </p:sp>
      <p:sp>
        <p:nvSpPr>
          <p:cNvPr id="12" name="Shape 12"/>
          <p:cNvSpPr txBox="1"/>
          <p:nvPr/>
        </p:nvSpPr>
        <p:spPr>
          <a:xfrm>
            <a:off x="8013497" y="1618488"/>
            <a:ext cx="3492398" cy="206806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8223047" y="1789938"/>
            <a:ext cx="3073298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How many solutions?</a:t>
            </a:r>
            <a:endParaRPr lang="en-US" sz="2100" dirty="0"/>
          </a:p>
        </p:txBody>
      </p:sp>
      <p:sp>
        <p:nvSpPr>
          <p:cNvPr id="11" name="Shape 11"/>
          <p:cNvSpPr txBox="1"/>
          <p:nvPr/>
        </p:nvSpPr>
        <p:spPr>
          <a:xfrm>
            <a:off x="8223047" y="2260092"/>
            <a:ext cx="3073298" cy="12550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x-term, same number: infinite.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Same x-term, different number: none.</a:t>
            </a:r>
            <a:b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575" dirty="0">
                <a:solidFill>
                  <a:srgbClr val="16171D"/>
                </a:solidFill>
                <a:latin typeface="Segoe UI"/>
                <a:cs typeface="Segoe UI"/>
              </a:rPr>
              <a:t xml:space="preserve">Different x-terms: one.</a:t>
            </a:r>
            <a:endParaRPr lang="en-US" sz="1575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3858006"/>
            <a:ext cx="10820095" cy="29489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Copy these into your notes, or ask your teacher for a printed copy.</a:t>
            </a:r>
            <a:endParaRPr lang="en-US" sz="1575" dirty="0"/>
          </a:p>
        </p:txBody>
      </p:sp>
      <p:sp>
        <p:nvSpPr>
          <p:cNvPr id="14" name="Slide Number 14"/>
          <p:cNvSpPr txBox="1"/>
          <p:nvPr/>
        </p:nvSpPr>
        <p:spPr>
          <a:xfrm>
            <a:off x="11277295" y="6611112"/>
            <a:ext cx="685800" cy="201168"/>
          </a:xfrm>
          <a:prstGeom prst="rect">
            <a:avLst/>
          </a:prstGeom>
          <a:noFill/>
        </p:spPr>
        <p:txBody>
          <a:bodyPr wrap="none" lIns="0" tIns="0" rIns="0" bIns="0" anchor="b">
            <a:noAutofit/>
          </a:bodyPr>
          <a:lstStyle/>
          <a:p>
            <a:pPr algn="r"/>
            <a:fld id="{5C1A6E0B-3B1F-4D5E-9C7A-2F4B8D6E1A90}" type="slidenum">
              <a:rPr lang="en-US" sz="1200" dirty="0">
                <a:solidFill>
                  <a:srgbClr val="5F6272"/>
                </a:solidFill>
              </a:rPr>
              <a:t>12</a:t>
            </a:fld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Solving Linear Equation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12</Slides>
  <Notes>12</Notes>
</Properties>
</file>

<file path=docProps/core.xml><?xml version="1.0" encoding="utf-8"?>
<cp:coreProperties xmlns:cp="http://schemas.openxmlformats.org/package/2006/metadata/core-properties" xmlns:dc="http://purl.org/dc/elements/1.1/">
  <dc:title>Solving Linear Equations</dc:title>
  <dc:subject>Bluebonnet Algebra I</dc:subject>
</cp:coreProperties>
</file>