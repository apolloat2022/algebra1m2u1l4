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Topic 2 Lesson 2: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1 bell work. Reveal the answers one at a time. Answer key: 1. Subtracting from the output is a vertical translation down 3. 2. In y = mx + b, m is the slope. 3. Set g(x) = 0: 3x − 8 = 0, so x = 8/3. 4. The slope −⅔ is negative, so the line falls from left to right.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2 bell work. Reveal the answers one at a time. Answer key: 1. A horizontal translation right 5 subtracts 5 from the input: f(x − 5). 2. f(x − 5) = x − 5 = f(x) − 5, a vertical translation down 5. 3. 2(x + 4) − 1 = 2x + 8 − 1 = 2x + 7. 4. f(2x) = 2x and 2f(x) = 2x. For the parent function they match.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about inside versus outside before naming the direction.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j(x) + 4 = 2x + 3: left 4 and up 4 are not the same for this line.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t2-lesson2-bellwork-day1-IEP.html" TargetMode="External"/><Relationship Id="rId4" Type="http://schemas.openxmlformats.org/officeDocument/2006/relationships/hyperlink" Target="https://algebra1m2u1l4.vercel.app/IEP/t2-lesson2-bellwork-day2-IEP.html" TargetMode="External"/><Relationship Id="rId5" Type="http://schemas.openxmlformats.org/officeDocument/2006/relationships/hyperlink" Target="https://algebra1m2u1l4.vercel.app/IEP/t2-lesson2-homework-IEP.html" TargetMode="External"/><Relationship Id="rId6" Type="http://schemas.openxmlformats.org/officeDocument/2006/relationships/hyperlink" Target="https://algebra1m2u1l4.vercel.app/IEP/t2-lesson2-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algebra1m2u1l4.vercel.app/IEP/t2-lesson2-bellwork-day1-IEP.html" TargetMode="External"/><Relationship Id="rId4" Type="http://schemas.openxmlformats.org/officeDocument/2006/relationships/hyperlink" Target="https://algebra1m2u1l4.vercel.app/IEP/t2-lesson2-bellwork-day2-IEP.html" TargetMode="External"/><Relationship Id="rId5" Type="http://schemas.openxmlformats.org/officeDocument/2006/relationships/hyperlink" Target="https://algebra1m2u1l4.vercel.app/IEP/t2-lesson2-homework-IEP.html" TargetMode="External"/><Relationship Id="rId6" Type="http://schemas.openxmlformats.org/officeDocument/2006/relationships/hyperlink" Target="https://algebra1m2u1l4.vercel.app/IEP/t2-lesson2-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2 · IEP Version</a:t>
            </a:r>
            <a:endParaRPr lang="en-US" sz="1200" dirty="0"/>
          </a:p>
        </p:txBody>
      </p:sp>
      <p:sp>
        <p:nvSpPr>
          <p:cNvPr id="3" name="Shape 3"/>
          <p:cNvSpPr txBox="1"/>
          <p:nvPr/>
        </p:nvSpPr>
        <p:spPr>
          <a:xfrm>
            <a:off x="685800" y="961644"/>
            <a:ext cx="10820095" cy="14264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Horizontal and Vertical Transformations</a:t>
            </a:r>
            <a:endParaRPr lang="en-US" sz="4500" dirty="0"/>
          </a:p>
        </p:txBody>
      </p:sp>
      <p:sp>
        <p:nvSpPr>
          <p:cNvPr id="4" name="Shape 4"/>
          <p:cNvSpPr txBox="1"/>
          <p:nvPr/>
        </p:nvSpPr>
        <p:spPr>
          <a:xfrm>
            <a:off x="685800" y="259765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f</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c</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f</a:t>
            </a:r>
            <a:r>
              <a:rPr lang="en-US" sz="2850" dirty="0">
                <a:solidFill>
                  <a:srgbClr val="16171D"/>
                </a:solidFill>
                <a:latin typeface="Cambria"/>
                <a:cs typeface="Cambria"/>
              </a:rPr>
              <a:t xml:space="preserve">(</a:t>
            </a:r>
            <a:r>
              <a:rPr lang="en-US" sz="2850" dirty="0" b="1" i="1">
                <a:solidFill>
                  <a:srgbClr val="C9561F"/>
                </a:solidFill>
                <a:latin typeface="Cambria"/>
                <a:cs typeface="Cambria"/>
              </a:rPr>
              <a:t xml:space="preserve">b</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a:t>
            </a:r>
            <a:endParaRPr lang="en-US" sz="2850" dirty="0"/>
          </a:p>
        </p:txBody>
      </p:sp>
      <p:sp>
        <p:nvSpPr>
          <p:cNvPr id="5" name="Shape 5"/>
          <p:cNvSpPr txBox="1"/>
          <p:nvPr/>
        </p:nvSpPr>
        <p:spPr>
          <a:xfrm>
            <a:off x="685800" y="3334512"/>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6" name="Shape 6"/>
          <p:cNvSpPr txBox="1"/>
          <p:nvPr/>
        </p:nvSpPr>
        <p:spPr>
          <a:xfrm>
            <a:off x="685800" y="388086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tell whether a change moves the graph left/right or up/down.</a:t>
            </a:r>
            <a:endParaRPr lang="en-US" sz="1950" dirty="0"/>
          </a:p>
        </p:txBody>
      </p:sp>
      <p:sp>
        <p:nvSpPr>
          <p:cNvPr id="7" name="Shape 7"/>
          <p:cNvSpPr txBox="1"/>
          <p:nvPr/>
        </p:nvSpPr>
        <p:spPr>
          <a:xfrm>
            <a:off x="685800" y="440436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c</a:t>
            </a:r>
            <a:r>
              <a:rPr lang="en-US" sz="1950" dirty="0">
                <a:solidFill>
                  <a:srgbClr val="16171D"/>
                </a:solidFill>
                <a:latin typeface="Segoe UI"/>
                <a:cs typeface="Segoe UI"/>
              </a:rPr>
              <a:t xml:space="preserve">) for a move right or left.</a:t>
            </a:r>
            <a:endParaRPr lang="en-US" sz="1950" dirty="0"/>
          </a:p>
        </p:txBody>
      </p:sp>
      <p:sp>
        <p:nvSpPr>
          <p:cNvPr id="8" name="Shape 8"/>
          <p:cNvSpPr txBox="1"/>
          <p:nvPr/>
        </p:nvSpPr>
        <p:spPr>
          <a:xfrm>
            <a:off x="685800" y="49278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simplify a transformed function like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+ 4).</a:t>
            </a:r>
            <a:endParaRPr lang="en-US" sz="1950" dirty="0"/>
          </a:p>
        </p:txBody>
      </p:sp>
      <p:sp>
        <p:nvSpPr>
          <p:cNvPr id="9" name="Shape 9"/>
          <p:cNvSpPr txBox="1"/>
          <p:nvPr/>
        </p:nvSpPr>
        <p:spPr>
          <a:xfrm>
            <a:off x="685800" y="550849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10" name="Shape 10"/>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How does the graph move?</a:t>
            </a:r>
            <a:endParaRPr lang="en-US" sz="1950" dirty="0"/>
          </a:p>
        </p:txBody>
      </p:sp>
      <p:sp>
        <p:nvSpPr>
          <p:cNvPr id="5" name="Shape 5"/>
          <p:cNvSpPr txBox="1"/>
          <p:nvPr/>
        </p:nvSpPr>
        <p:spPr>
          <a:xfrm>
            <a:off x="685800" y="245821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Down 3 units</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− 8</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288)</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What is the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− 8</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288)</a:t>
            </a:r>
            <a:endParaRPr lang="en-US" sz="1950" dirty="0"/>
          </a:p>
        </p:txBody>
      </p:sp>
      <p:sp>
        <p:nvSpPr>
          <p:cNvPr id="9" name="Shape 9"/>
          <p:cNvSpPr txBox="1"/>
          <p:nvPr/>
        </p:nvSpPr>
        <p:spPr>
          <a:xfrm>
            <a:off x="6362548" y="2458212"/>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(8/3, 0)</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Is </a:t>
            </a:r>
            <a:r>
              <a:rPr lang="en-US" sz="1950" dirty="0" i="1">
                <a:solidFill>
                  <a:srgbClr val="16171D"/>
                </a:solidFill>
                <a:latin typeface="Cambria"/>
                <a:cs typeface="Cambria"/>
              </a:rPr>
              <a:t xml:space="preserve">h</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−⅔</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increasing or decreasing? </a:t>
            </a:r>
            <a:r>
              <a:rPr lang="en-US" sz="1575" dirty="0">
                <a:solidFill>
                  <a:srgbClr val="5F6272"/>
                </a:solidFill>
                <a:latin typeface="Segoe UI"/>
                <a:cs typeface="Segoe UI"/>
              </a:rPr>
              <a:t xml:space="preserve">(SE p. 288)</a:t>
            </a:r>
            <a:endParaRPr lang="en-US" sz="1950" dirty="0"/>
          </a:p>
        </p:txBody>
      </p:sp>
      <p:sp>
        <p:nvSpPr>
          <p:cNvPr id="11" name="Shape 11"/>
          <p:cNvSpPr txBox="1"/>
          <p:nvPr/>
        </p:nvSpPr>
        <p:spPr>
          <a:xfrm>
            <a:off x="6362548" y="402640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Decreasing</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translated right 5 units. Which equation is the new function? </a:t>
            </a:r>
            <a:r>
              <a:rPr lang="en-US" sz="1575" dirty="0">
                <a:solidFill>
                  <a:srgbClr val="5F6272"/>
                </a:solidFill>
                <a:latin typeface="Segoe UI"/>
                <a:cs typeface="Segoe UI"/>
              </a:rPr>
              <a:t xml:space="preserve">(SE p. 289)</a:t>
            </a:r>
            <a:endParaRPr lang="en-US" sz="1950" dirty="0"/>
          </a:p>
        </p:txBody>
      </p:sp>
      <p:sp>
        <p:nvSpPr>
          <p:cNvPr id="5" name="Shape 5"/>
          <p:cNvSpPr txBox="1"/>
          <p:nvPr/>
        </p:nvSpPr>
        <p:spPr>
          <a:xfrm>
            <a:off x="685800" y="275539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6" name="Shape 6"/>
          <p:cNvSpPr txBox="1"/>
          <p:nvPr/>
        </p:nvSpPr>
        <p:spPr>
          <a:xfrm>
            <a:off x="685800" y="389534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 translation right 5 gives the same graph as which other translation? </a:t>
            </a:r>
            <a:r>
              <a:rPr lang="en-US" sz="1575" dirty="0">
                <a:solidFill>
                  <a:srgbClr val="5F6272"/>
                </a:solidFill>
                <a:latin typeface="Segoe UI"/>
                <a:cs typeface="Segoe UI"/>
              </a:rPr>
              <a:t xml:space="preserve">(SE p. 291)</a:t>
            </a:r>
            <a:endParaRPr lang="en-US" sz="1950" dirty="0"/>
          </a:p>
        </p:txBody>
      </p:sp>
      <p:sp>
        <p:nvSpPr>
          <p:cNvPr id="7" name="Shape 7"/>
          <p:cNvSpPr txBox="1"/>
          <p:nvPr/>
        </p:nvSpPr>
        <p:spPr>
          <a:xfrm>
            <a:off x="685800" y="497509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Down 5 units</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r</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a:solidFill>
                  <a:srgbClr val="16171D"/>
                </a:solidFill>
                <a:latin typeface="Segoe UI"/>
                <a:cs typeface="Segoe UI"/>
              </a:rPr>
              <a:t xml:space="preserve">. Simplify </a:t>
            </a:r>
            <a:r>
              <a:rPr lang="en-US" sz="1950" dirty="0" i="1">
                <a:solidFill>
                  <a:srgbClr val="16171D"/>
                </a:solidFill>
                <a:latin typeface="Cambria"/>
                <a:cs typeface="Cambria"/>
              </a:rPr>
              <a:t xml:space="preserve">r</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292)</a:t>
            </a:r>
            <a:endParaRPr lang="en-US" sz="1950" dirty="0"/>
          </a:p>
        </p:txBody>
      </p:sp>
      <p:sp>
        <p:nvSpPr>
          <p:cNvPr id="9" name="Shape 9"/>
          <p:cNvSpPr txBox="1"/>
          <p:nvPr/>
        </p:nvSpPr>
        <p:spPr>
          <a:xfrm>
            <a:off x="6362548" y="245821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the graph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the same as the graph of </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295)</a:t>
            </a:r>
            <a:endParaRPr lang="en-US" sz="1950" dirty="0"/>
          </a:p>
        </p:txBody>
      </p:sp>
      <p:sp>
        <p:nvSpPr>
          <p:cNvPr id="11" name="Shape 11"/>
          <p:cNvSpPr txBox="1"/>
          <p:nvPr/>
        </p:nvSpPr>
        <p:spPr>
          <a:xfrm>
            <a:off x="6362548" y="4026408"/>
            <a:ext cx="514334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both are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2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Inside</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input: left or right.</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Outside</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output: up or down.</a:t>
            </a:r>
            <a:endParaRPr lang="en-US" sz="1575" dirty="0"/>
          </a:p>
        </p:txBody>
      </p:sp>
      <p:sp>
        <p:nvSpPr>
          <p:cNvPr id="10" name="Shape 10"/>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− 3</a:t>
            </a:r>
            <a:endParaRPr lang="en-US" sz="2325" dirty="0"/>
          </a:p>
        </p:txBody>
      </p:sp>
      <p:sp>
        <p:nvSpPr>
          <p:cNvPr id="15" name="Shape 15"/>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Sign flip</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Inside, minus moves </a:t>
            </a:r>
            <a:r>
              <a:rPr lang="en-US" sz="1575" dirty="0" b="1">
                <a:solidFill>
                  <a:srgbClr val="16171D"/>
                </a:solidFill>
                <a:latin typeface="Segoe UI"/>
                <a:cs typeface="Segoe UI"/>
              </a:rPr>
              <a:t xml:space="preserve">right</a:t>
            </a:r>
            <a:r>
              <a:rPr lang="en-US" sz="1575" dirty="0">
                <a:solidFill>
                  <a:srgbClr val="16171D"/>
                </a:solidFill>
                <a:latin typeface="Segoe UI"/>
                <a:cs typeface="Segoe UI"/>
              </a:rPr>
              <a:t xml:space="preserve"> and plus moves </a:t>
            </a:r>
            <a:r>
              <a:rPr lang="en-US" sz="1575" dirty="0" b="1">
                <a:solidFill>
                  <a:srgbClr val="16171D"/>
                </a:solidFill>
                <a:latin typeface="Segoe UI"/>
                <a:cs typeface="Segoe UI"/>
              </a:rPr>
              <a:t xml:space="preserve">left</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 left 5</a:t>
            </a:r>
            <a:endParaRPr lang="en-US" sz="2325"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2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way does it move?</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Look for the number. Is it </a:t>
            </a:r>
            <a:r>
              <a:rPr lang="en-US" sz="1950" dirty="0" b="1">
                <a:solidFill>
                  <a:srgbClr val="16171D"/>
                </a:solidFill>
                <a:latin typeface="Segoe UI"/>
                <a:cs typeface="Segoe UI"/>
              </a:rPr>
              <a:t xml:space="preserve">inside</a:t>
            </a:r>
            <a:r>
              <a:rPr lang="en-US" sz="1950" dirty="0">
                <a:solidFill>
                  <a:srgbClr val="16171D"/>
                </a:solidFill>
                <a:latin typeface="Segoe UI"/>
                <a:cs typeface="Segoe UI"/>
              </a:rPr>
              <a:t xml:space="preserve"> the parentheses with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or </a:t>
            </a:r>
            <a:r>
              <a:rPr lang="en-US" sz="1950" dirty="0" b="1">
                <a:solidFill>
                  <a:srgbClr val="16171D"/>
                </a:solidFill>
                <a:latin typeface="Segoe UI"/>
                <a:cs typeface="Segoe UI"/>
              </a:rPr>
              <a:t xml:space="preserve">outside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Outside: + is up, − is down.</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Inside: − is right, + is left (the sign flips).</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To simplify, put the inside into the rule and distribute.</a:t>
            </a:r>
            <a:endParaRPr lang="en-US" sz="19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− 7) and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− 4</a:t>
            </a:r>
            <a:endParaRPr lang="en-US" sz="3450" dirty="0"/>
          </a:p>
        </p:txBody>
      </p:sp>
      <p:sp>
        <p:nvSpPr>
          <p:cNvPr id="7" name="Shape 7"/>
          <p:cNvSpPr txBox="1"/>
          <p:nvPr/>
        </p:nvSpPr>
        <p:spPr>
          <a:xfrm>
            <a:off x="685800" y="1618488"/>
            <a:ext cx="521954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− 7)</a:t>
            </a:r>
            <a:endParaRPr lang="en-US" sz="2100" dirty="0"/>
          </a:p>
        </p:txBody>
      </p:sp>
      <p:sp>
        <p:nvSpPr>
          <p:cNvPr id="5" name="Shape 5"/>
          <p:cNvSpPr txBox="1"/>
          <p:nvPr/>
        </p:nvSpPr>
        <p:spPr>
          <a:xfrm>
            <a:off x="895350" y="226009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Inside, minus → </a:t>
            </a:r>
            <a:r>
              <a:rPr lang="en-US" sz="1575" dirty="0" b="1">
                <a:solidFill>
                  <a:srgbClr val="16171D"/>
                </a:solidFill>
                <a:latin typeface="Segoe UI"/>
                <a:cs typeface="Segoe UI"/>
              </a:rPr>
              <a:t xml:space="preserve">right 7</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2650236"/>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1" name="Shape 11"/>
          <p:cNvSpPr txBox="1"/>
          <p:nvPr/>
        </p:nvSpPr>
        <p:spPr>
          <a:xfrm>
            <a:off x="6286348" y="1618488"/>
            <a:ext cx="521954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− 4</a:t>
            </a:r>
            <a:endParaRPr lang="en-US" sz="2100" dirty="0"/>
          </a:p>
        </p:txBody>
      </p:sp>
      <p:sp>
        <p:nvSpPr>
          <p:cNvPr id="9" name="Shape 9"/>
          <p:cNvSpPr txBox="1"/>
          <p:nvPr/>
        </p:nvSpPr>
        <p:spPr>
          <a:xfrm>
            <a:off x="6495898" y="226009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Outside, minus → </a:t>
            </a:r>
            <a:r>
              <a:rPr lang="en-US" sz="1575" dirty="0" b="1">
                <a:solidFill>
                  <a:srgbClr val="16171D"/>
                </a:solidFill>
                <a:latin typeface="Segoe UI"/>
                <a:cs typeface="Segoe UI"/>
              </a:rPr>
              <a:t xml:space="preserve">down 4</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495898" y="2650236"/>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way, and how far?</a:t>
            </a:r>
            <a:endParaRPr lang="en-US" sz="3450" dirty="0"/>
          </a:p>
        </p:txBody>
      </p:sp>
      <p:sp>
        <p:nvSpPr>
          <p:cNvPr id="6" name="Shape 6"/>
          <p:cNvSpPr txBox="1"/>
          <p:nvPr/>
        </p:nvSpPr>
        <p:spPr>
          <a:xfrm>
            <a:off x="685800"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a:t>
            </a:r>
            <a:endParaRPr lang="en-US" sz="1950" dirty="0"/>
          </a:p>
        </p:txBody>
      </p:sp>
      <p:sp>
        <p:nvSpPr>
          <p:cNvPr id="5" name="Shape 5"/>
          <p:cNvSpPr txBox="1"/>
          <p:nvPr/>
        </p:nvSpPr>
        <p:spPr>
          <a:xfrm>
            <a:off x="895350" y="223723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left 5</a:t>
            </a:r>
            <a:endParaRPr lang="en-US" sz="2325" dirty="0"/>
          </a:p>
        </p:txBody>
      </p:sp>
      <p:sp>
        <p:nvSpPr>
          <p:cNvPr id="9" name="Shape 9"/>
          <p:cNvSpPr txBox="1"/>
          <p:nvPr/>
        </p:nvSpPr>
        <p:spPr>
          <a:xfrm>
            <a:off x="4419498"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629048"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endParaRPr lang="en-US" sz="1950" dirty="0"/>
          </a:p>
        </p:txBody>
      </p:sp>
      <p:sp>
        <p:nvSpPr>
          <p:cNvPr id="8" name="Shape 8"/>
          <p:cNvSpPr txBox="1"/>
          <p:nvPr/>
        </p:nvSpPr>
        <p:spPr>
          <a:xfrm>
            <a:off x="4629048" y="223723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up 2</a:t>
            </a:r>
            <a:endParaRPr lang="en-US" sz="2325" dirty="0"/>
          </a:p>
        </p:txBody>
      </p:sp>
      <p:sp>
        <p:nvSpPr>
          <p:cNvPr id="12" name="Shape 12"/>
          <p:cNvSpPr txBox="1"/>
          <p:nvPr/>
        </p:nvSpPr>
        <p:spPr>
          <a:xfrm>
            <a:off x="8153197"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362747"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11" name="Shape 11"/>
          <p:cNvSpPr txBox="1"/>
          <p:nvPr/>
        </p:nvSpPr>
        <p:spPr>
          <a:xfrm>
            <a:off x="8362747" y="2237232"/>
            <a:ext cx="29335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right 3</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Simplify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 Simplify </a:t>
            </a: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+ 4).</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Put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+ 4) in for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2(____) − 1</a:t>
            </a:r>
            <a:endParaRPr lang="en-US" sz="1950" dirty="0"/>
          </a:p>
        </p:txBody>
      </p:sp>
      <p:sp>
        <p:nvSpPr>
          <p:cNvPr id="5" name="Shape 5"/>
          <p:cNvSpPr txBox="1"/>
          <p:nvPr/>
        </p:nvSpPr>
        <p:spPr>
          <a:xfrm>
            <a:off x="685800" y="214198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− 1</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Distribute: ____ − 1</a:t>
            </a:r>
            <a:endParaRPr lang="en-US" sz="1950" dirty="0"/>
          </a:p>
        </p:txBody>
      </p:sp>
      <p:sp>
        <p:nvSpPr>
          <p:cNvPr id="7" name="Shape 7"/>
          <p:cNvSpPr txBox="1"/>
          <p:nvPr/>
        </p:nvSpPr>
        <p:spPr>
          <a:xfrm>
            <a:off x="685800" y="335584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+ 8 − 1</a:t>
            </a:r>
            <a:endParaRPr lang="en-US" sz="2325" dirty="0"/>
          </a:p>
        </p:txBody>
      </p:sp>
      <p:sp>
        <p:nvSpPr>
          <p:cNvPr id="8" name="Shape 8"/>
          <p:cNvSpPr txBox="1"/>
          <p:nvPr/>
        </p:nvSpPr>
        <p:spPr>
          <a:xfrm>
            <a:off x="685800" y="404622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Combine:</a:t>
            </a:r>
            <a:endParaRPr lang="en-US" sz="1950" dirty="0"/>
          </a:p>
        </p:txBody>
      </p:sp>
      <p:sp>
        <p:nvSpPr>
          <p:cNvPr id="9" name="Shape 9"/>
          <p:cNvSpPr txBox="1"/>
          <p:nvPr/>
        </p:nvSpPr>
        <p:spPr>
          <a:xfrm>
            <a:off x="685800" y="4569714"/>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a:t>
            </a:r>
            <a:endParaRPr lang="en-US" sz="3450" dirty="0"/>
          </a:p>
        </p:txBody>
      </p:sp>
      <p:sp>
        <p:nvSpPr>
          <p:cNvPr id="6" name="Shape 6"/>
          <p:cNvSpPr txBox="1"/>
          <p:nvPr/>
        </p:nvSpPr>
        <p:spPr>
          <a:xfrm>
            <a:off x="685800" y="1618488"/>
            <a:ext cx="521954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Simplify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endParaRPr lang="en-US" sz="1950" dirty="0"/>
          </a:p>
        </p:txBody>
      </p:sp>
      <p:sp>
        <p:nvSpPr>
          <p:cNvPr id="5" name="Shape 5"/>
          <p:cNvSpPr txBox="1"/>
          <p:nvPr/>
        </p:nvSpPr>
        <p:spPr>
          <a:xfrm>
            <a:off x="895350" y="223723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1" name="Shape 11"/>
          <p:cNvSpPr txBox="1"/>
          <p:nvPr/>
        </p:nvSpPr>
        <p:spPr>
          <a:xfrm>
            <a:off x="6286348" y="1618488"/>
            <a:ext cx="5219548" cy="231343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Simplify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endParaRPr lang="en-US" sz="1950" dirty="0"/>
          </a:p>
        </p:txBody>
      </p:sp>
      <p:sp>
        <p:nvSpPr>
          <p:cNvPr id="8" name="Shape 8"/>
          <p:cNvSpPr txBox="1"/>
          <p:nvPr/>
        </p:nvSpPr>
        <p:spPr>
          <a:xfrm>
            <a:off x="6495898" y="223723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9" name="Shape 9"/>
          <p:cNvSpPr txBox="1"/>
          <p:nvPr/>
        </p:nvSpPr>
        <p:spPr>
          <a:xfrm>
            <a:off x="6495898" y="2851404"/>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Same graph as #1? ____</a:t>
            </a:r>
            <a:endParaRPr lang="en-US" sz="1575" dirty="0"/>
          </a:p>
        </p:txBody>
      </p:sp>
      <p:sp>
        <p:nvSpPr>
          <p:cNvPr id="10" name="Shape 10"/>
          <p:cNvSpPr txBox="1"/>
          <p:nvPr/>
        </p:nvSpPr>
        <p:spPr>
          <a:xfrm>
            <a:off x="6495898" y="324154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Stretch inside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For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and 2</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r>
              <a:rPr lang="en-US" sz="1950" dirty="0" i="1">
                <a:solidFill>
                  <a:srgbClr val="16171D"/>
                </a:solidFill>
                <a:latin typeface="Segoe UI"/>
                <a:cs typeface="Segoe UI"/>
              </a:rPr>
              <a:t xml:space="preserve">x</a:t>
            </a:r>
            <a:endParaRPr lang="en-US" sz="1950" dirty="0"/>
          </a:p>
        </p:txBody>
      </p:sp>
      <p:sp>
        <p:nvSpPr>
          <p:cNvPr id="5" name="Shape 5"/>
          <p:cNvSpPr txBox="1"/>
          <p:nvPr/>
        </p:nvSpPr>
        <p:spPr>
          <a:xfrm>
            <a:off x="685800" y="2103882"/>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r>
              <a:rPr lang="en-US" sz="1950" dirty="0" i="1">
                <a:solidFill>
                  <a:srgbClr val="16171D"/>
                </a:solidFill>
                <a:latin typeface="Segoe UI"/>
                <a:cs typeface="Segoe UI"/>
              </a:rPr>
              <a:t xml:space="preserve">x</a:t>
            </a:r>
            <a:endParaRPr lang="en-US" sz="1950" dirty="0"/>
          </a:p>
        </p:txBody>
      </p:sp>
      <p:sp>
        <p:nvSpPr>
          <p:cNvPr id="6" name="Shape 6"/>
          <p:cNvSpPr txBox="1"/>
          <p:nvPr/>
        </p:nvSpPr>
        <p:spPr>
          <a:xfrm>
            <a:off x="685800" y="2589276"/>
            <a:ext cx="521954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The same line: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endParaRPr lang="en-US" sz="2325" dirty="0"/>
          </a:p>
        </p:txBody>
      </p:sp>
      <p:sp>
        <p:nvSpPr>
          <p:cNvPr id="7" name="Shape 7"/>
          <p:cNvSpPr txBox="1"/>
          <p:nvPr/>
        </p:nvSpPr>
        <p:spPr>
          <a:xfrm>
            <a:off x="685800" y="324154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This only works for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t>
            </a:r>
            <a:endParaRPr lang="en-US" sz="1575" dirty="0"/>
          </a:p>
        </p:txBody>
      </p:sp>
      <p:sp>
        <p:nvSpPr>
          <p:cNvPr id="8" name="Shape 8"/>
          <p:cNvSpPr/>
          <p:nvPr/>
        </p:nvSpPr>
        <p:spPr>
          <a:xfrm>
            <a:off x="6286348" y="1618488"/>
            <a:ext cx="30480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2686050"/>
          </a:xfrm>
          <a:prstGeom prst="line">
            <a:avLst/>
          </a:prstGeom>
          <a:ln w="9525" cap="flat">
            <a:solidFill>
              <a:srgbClr val="E6E8F2"/>
            </a:solidFill>
          </a:ln>
        </p:spPr>
      </p:cxnSp>
      <p:cxnSp>
        <p:nvCxnSpPr>
          <p:cNvPr id="10" name="Line 10"/>
          <p:cNvCxnSpPr/>
          <p:nvPr/>
        </p:nvCxnSpPr>
        <p:spPr>
          <a:xfrm>
            <a:off x="6936429" y="1732788"/>
            <a:ext cx="0" cy="2686050"/>
          </a:xfrm>
          <a:prstGeom prst="line">
            <a:avLst/>
          </a:prstGeom>
          <a:ln w="9525" cap="flat">
            <a:solidFill>
              <a:srgbClr val="E6E8F2"/>
            </a:solidFill>
          </a:ln>
        </p:spPr>
      </p:cxnSp>
      <p:cxnSp>
        <p:nvCxnSpPr>
          <p:cNvPr id="11" name="Line 11"/>
          <p:cNvCxnSpPr/>
          <p:nvPr/>
        </p:nvCxnSpPr>
        <p:spPr>
          <a:xfrm>
            <a:off x="7262660" y="1732788"/>
            <a:ext cx="0" cy="2686050"/>
          </a:xfrm>
          <a:prstGeom prst="line">
            <a:avLst/>
          </a:prstGeom>
          <a:ln w="9525" cap="flat">
            <a:solidFill>
              <a:srgbClr val="E6E8F2"/>
            </a:solidFill>
          </a:ln>
        </p:spPr>
      </p:cxnSp>
      <p:cxnSp>
        <p:nvCxnSpPr>
          <p:cNvPr id="12" name="Line 12"/>
          <p:cNvCxnSpPr/>
          <p:nvPr/>
        </p:nvCxnSpPr>
        <p:spPr>
          <a:xfrm>
            <a:off x="7588891" y="1732788"/>
            <a:ext cx="0" cy="2686050"/>
          </a:xfrm>
          <a:prstGeom prst="line">
            <a:avLst/>
          </a:prstGeom>
          <a:ln w="9525" cap="flat">
            <a:solidFill>
              <a:srgbClr val="E6E8F2"/>
            </a:solidFill>
          </a:ln>
        </p:spPr>
      </p:cxnSp>
      <p:cxnSp>
        <p:nvCxnSpPr>
          <p:cNvPr id="13" name="Line 13"/>
          <p:cNvCxnSpPr/>
          <p:nvPr/>
        </p:nvCxnSpPr>
        <p:spPr>
          <a:xfrm>
            <a:off x="7915123" y="1732788"/>
            <a:ext cx="0" cy="2686050"/>
          </a:xfrm>
          <a:prstGeom prst="line">
            <a:avLst/>
          </a:prstGeom>
          <a:ln w="9525" cap="flat">
            <a:solidFill>
              <a:srgbClr val="E6E8F2"/>
            </a:solidFill>
          </a:ln>
        </p:spPr>
      </p:cxnSp>
      <p:cxnSp>
        <p:nvCxnSpPr>
          <p:cNvPr id="14" name="Line 14"/>
          <p:cNvCxnSpPr/>
          <p:nvPr/>
        </p:nvCxnSpPr>
        <p:spPr>
          <a:xfrm>
            <a:off x="8241354" y="1732788"/>
            <a:ext cx="0" cy="2686050"/>
          </a:xfrm>
          <a:prstGeom prst="line">
            <a:avLst/>
          </a:prstGeom>
          <a:ln w="9525" cap="flat">
            <a:solidFill>
              <a:srgbClr val="E6E8F2"/>
            </a:solidFill>
          </a:ln>
        </p:spPr>
      </p:cxnSp>
      <p:cxnSp>
        <p:nvCxnSpPr>
          <p:cNvPr id="15" name="Line 15"/>
          <p:cNvCxnSpPr/>
          <p:nvPr/>
        </p:nvCxnSpPr>
        <p:spPr>
          <a:xfrm>
            <a:off x="8567585" y="1732788"/>
            <a:ext cx="0" cy="2686050"/>
          </a:xfrm>
          <a:prstGeom prst="line">
            <a:avLst/>
          </a:prstGeom>
          <a:ln w="9525" cap="flat">
            <a:solidFill>
              <a:srgbClr val="E6E8F2"/>
            </a:solidFill>
          </a:ln>
        </p:spPr>
      </p:cxnSp>
      <p:cxnSp>
        <p:nvCxnSpPr>
          <p:cNvPr id="16" name="Line 16"/>
          <p:cNvCxnSpPr/>
          <p:nvPr/>
        </p:nvCxnSpPr>
        <p:spPr>
          <a:xfrm>
            <a:off x="8893816" y="1732788"/>
            <a:ext cx="0" cy="2686050"/>
          </a:xfrm>
          <a:prstGeom prst="line">
            <a:avLst/>
          </a:prstGeom>
          <a:ln w="9525" cap="flat">
            <a:solidFill>
              <a:srgbClr val="E6E8F2"/>
            </a:solidFill>
          </a:ln>
        </p:spPr>
      </p:cxnSp>
      <p:cxnSp>
        <p:nvCxnSpPr>
          <p:cNvPr id="17" name="Line 17"/>
          <p:cNvCxnSpPr/>
          <p:nvPr/>
        </p:nvCxnSpPr>
        <p:spPr>
          <a:xfrm>
            <a:off x="9220048" y="1732788"/>
            <a:ext cx="0" cy="2686050"/>
          </a:xfrm>
          <a:prstGeom prst="line">
            <a:avLst/>
          </a:prstGeom>
          <a:ln w="9525" cap="flat">
            <a:solidFill>
              <a:srgbClr val="E6E8F2"/>
            </a:solidFill>
          </a:ln>
        </p:spPr>
      </p:cxnSp>
      <p:cxnSp>
        <p:nvCxnSpPr>
          <p:cNvPr id="18" name="Line 18"/>
          <p:cNvCxnSpPr/>
          <p:nvPr/>
        </p:nvCxnSpPr>
        <p:spPr>
          <a:xfrm>
            <a:off x="6610198" y="4418838"/>
            <a:ext cx="2609850" cy="0"/>
          </a:xfrm>
          <a:prstGeom prst="line">
            <a:avLst/>
          </a:prstGeom>
          <a:ln w="9525" cap="flat">
            <a:solidFill>
              <a:srgbClr val="E6E8F2"/>
            </a:solidFill>
          </a:ln>
        </p:spPr>
      </p:cxnSp>
      <p:cxnSp>
        <p:nvCxnSpPr>
          <p:cNvPr id="19" name="Line 19"/>
          <p:cNvCxnSpPr/>
          <p:nvPr/>
        </p:nvCxnSpPr>
        <p:spPr>
          <a:xfrm>
            <a:off x="6610198" y="4150233"/>
            <a:ext cx="2609850" cy="0"/>
          </a:xfrm>
          <a:prstGeom prst="line">
            <a:avLst/>
          </a:prstGeom>
          <a:ln w="9525" cap="flat">
            <a:solidFill>
              <a:srgbClr val="E6E8F2"/>
            </a:solidFill>
          </a:ln>
        </p:spPr>
      </p:cxnSp>
      <p:cxnSp>
        <p:nvCxnSpPr>
          <p:cNvPr id="20" name="Line 20"/>
          <p:cNvCxnSpPr/>
          <p:nvPr/>
        </p:nvCxnSpPr>
        <p:spPr>
          <a:xfrm>
            <a:off x="6610198" y="3881628"/>
            <a:ext cx="2609850" cy="0"/>
          </a:xfrm>
          <a:prstGeom prst="line">
            <a:avLst/>
          </a:prstGeom>
          <a:ln w="9525" cap="flat">
            <a:solidFill>
              <a:srgbClr val="E6E8F2"/>
            </a:solidFill>
          </a:ln>
        </p:spPr>
      </p:cxnSp>
      <p:cxnSp>
        <p:nvCxnSpPr>
          <p:cNvPr id="21" name="Line 21"/>
          <p:cNvCxnSpPr/>
          <p:nvPr/>
        </p:nvCxnSpPr>
        <p:spPr>
          <a:xfrm>
            <a:off x="6610198" y="3613023"/>
            <a:ext cx="2609850" cy="0"/>
          </a:xfrm>
          <a:prstGeom prst="line">
            <a:avLst/>
          </a:prstGeom>
          <a:ln w="9525" cap="flat">
            <a:solidFill>
              <a:srgbClr val="E6E8F2"/>
            </a:solidFill>
          </a:ln>
        </p:spPr>
      </p:cxnSp>
      <p:cxnSp>
        <p:nvCxnSpPr>
          <p:cNvPr id="22" name="Line 22"/>
          <p:cNvCxnSpPr/>
          <p:nvPr/>
        </p:nvCxnSpPr>
        <p:spPr>
          <a:xfrm>
            <a:off x="6610198" y="3344418"/>
            <a:ext cx="2609850" cy="0"/>
          </a:xfrm>
          <a:prstGeom prst="line">
            <a:avLst/>
          </a:prstGeom>
          <a:ln w="9525" cap="flat">
            <a:solidFill>
              <a:srgbClr val="E6E8F2"/>
            </a:solidFill>
          </a:ln>
        </p:spPr>
      </p:cxnSp>
      <p:cxnSp>
        <p:nvCxnSpPr>
          <p:cNvPr id="23" name="Line 23"/>
          <p:cNvCxnSpPr/>
          <p:nvPr/>
        </p:nvCxnSpPr>
        <p:spPr>
          <a:xfrm>
            <a:off x="6610198" y="3075813"/>
            <a:ext cx="2609850" cy="0"/>
          </a:xfrm>
          <a:prstGeom prst="line">
            <a:avLst/>
          </a:prstGeom>
          <a:ln w="9525" cap="flat">
            <a:solidFill>
              <a:srgbClr val="E6E8F2"/>
            </a:solidFill>
          </a:ln>
        </p:spPr>
      </p:cxnSp>
      <p:cxnSp>
        <p:nvCxnSpPr>
          <p:cNvPr id="24" name="Line 24"/>
          <p:cNvCxnSpPr/>
          <p:nvPr/>
        </p:nvCxnSpPr>
        <p:spPr>
          <a:xfrm>
            <a:off x="6610198" y="2807208"/>
            <a:ext cx="2609850" cy="0"/>
          </a:xfrm>
          <a:prstGeom prst="line">
            <a:avLst/>
          </a:prstGeom>
          <a:ln w="9525" cap="flat">
            <a:solidFill>
              <a:srgbClr val="E6E8F2"/>
            </a:solidFill>
          </a:ln>
        </p:spPr>
      </p:cxnSp>
      <p:cxnSp>
        <p:nvCxnSpPr>
          <p:cNvPr id="25" name="Line 25"/>
          <p:cNvCxnSpPr/>
          <p:nvPr/>
        </p:nvCxnSpPr>
        <p:spPr>
          <a:xfrm>
            <a:off x="6610198" y="2538603"/>
            <a:ext cx="2609850" cy="0"/>
          </a:xfrm>
          <a:prstGeom prst="line">
            <a:avLst/>
          </a:prstGeom>
          <a:ln w="9525" cap="flat">
            <a:solidFill>
              <a:srgbClr val="E6E8F2"/>
            </a:solidFill>
          </a:ln>
        </p:spPr>
      </p:cxnSp>
      <p:cxnSp>
        <p:nvCxnSpPr>
          <p:cNvPr id="26" name="Line 26"/>
          <p:cNvCxnSpPr/>
          <p:nvPr/>
        </p:nvCxnSpPr>
        <p:spPr>
          <a:xfrm>
            <a:off x="6610198" y="2269998"/>
            <a:ext cx="2609850" cy="0"/>
          </a:xfrm>
          <a:prstGeom prst="line">
            <a:avLst/>
          </a:prstGeom>
          <a:ln w="9525" cap="flat">
            <a:solidFill>
              <a:srgbClr val="E6E8F2"/>
            </a:solidFill>
          </a:ln>
        </p:spPr>
      </p:cxnSp>
      <p:cxnSp>
        <p:nvCxnSpPr>
          <p:cNvPr id="27" name="Line 27"/>
          <p:cNvCxnSpPr/>
          <p:nvPr/>
        </p:nvCxnSpPr>
        <p:spPr>
          <a:xfrm>
            <a:off x="6610198" y="2001393"/>
            <a:ext cx="2609850" cy="0"/>
          </a:xfrm>
          <a:prstGeom prst="line">
            <a:avLst/>
          </a:prstGeom>
          <a:ln w="9525" cap="flat">
            <a:solidFill>
              <a:srgbClr val="E6E8F2"/>
            </a:solidFill>
          </a:ln>
        </p:spPr>
      </p:cxnSp>
      <p:cxnSp>
        <p:nvCxnSpPr>
          <p:cNvPr id="28" name="Line 28"/>
          <p:cNvCxnSpPr/>
          <p:nvPr/>
        </p:nvCxnSpPr>
        <p:spPr>
          <a:xfrm>
            <a:off x="6610198" y="1732788"/>
            <a:ext cx="2609850" cy="0"/>
          </a:xfrm>
          <a:prstGeom prst="line">
            <a:avLst/>
          </a:prstGeom>
          <a:ln w="9525" cap="flat">
            <a:solidFill>
              <a:srgbClr val="E6E8F2"/>
            </a:solidFill>
          </a:ln>
        </p:spPr>
      </p:cxnSp>
      <p:cxnSp>
        <p:nvCxnSpPr>
          <p:cNvPr id="29" name="Line 29"/>
          <p:cNvCxnSpPr/>
          <p:nvPr/>
        </p:nvCxnSpPr>
        <p:spPr>
          <a:xfrm>
            <a:off x="7915123" y="1732788"/>
            <a:ext cx="0" cy="2686050"/>
          </a:xfrm>
          <a:prstGeom prst="line">
            <a:avLst/>
          </a:prstGeom>
          <a:ln w="19050" cap="flat">
            <a:solidFill>
              <a:srgbClr val="5F6272"/>
            </a:solidFill>
          </a:ln>
        </p:spPr>
      </p:cxnSp>
      <p:cxnSp>
        <p:nvCxnSpPr>
          <p:cNvPr id="30" name="Line 30"/>
          <p:cNvCxnSpPr/>
          <p:nvPr/>
        </p:nvCxnSpPr>
        <p:spPr>
          <a:xfrm>
            <a:off x="6610198" y="3075813"/>
            <a:ext cx="2609850" cy="0"/>
          </a:xfrm>
          <a:prstGeom prst="line">
            <a:avLst/>
          </a:prstGeom>
          <a:ln w="19050" cap="flat">
            <a:solidFill>
              <a:srgbClr val="5F6272"/>
            </a:solidFill>
          </a:ln>
        </p:spPr>
      </p:cxnSp>
      <p:sp>
        <p:nvSpPr>
          <p:cNvPr id="31" name="Shape 31"/>
          <p:cNvSpPr txBox="1"/>
          <p:nvPr/>
        </p:nvSpPr>
        <p:spPr>
          <a:xfrm>
            <a:off x="6335878"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2" name="Shape 32"/>
          <p:cNvSpPr txBox="1"/>
          <p:nvPr/>
        </p:nvSpPr>
        <p:spPr>
          <a:xfrm>
            <a:off x="6662109"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3" name="Shape 33"/>
          <p:cNvSpPr txBox="1"/>
          <p:nvPr/>
        </p:nvSpPr>
        <p:spPr>
          <a:xfrm>
            <a:off x="6988340"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4" name="Shape 34"/>
          <p:cNvSpPr txBox="1"/>
          <p:nvPr/>
        </p:nvSpPr>
        <p:spPr>
          <a:xfrm>
            <a:off x="7314571"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5" name="Shape 35"/>
          <p:cNvSpPr txBox="1"/>
          <p:nvPr/>
        </p:nvSpPr>
        <p:spPr>
          <a:xfrm>
            <a:off x="7640803"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6" name="Shape 36"/>
          <p:cNvSpPr txBox="1"/>
          <p:nvPr/>
        </p:nvSpPr>
        <p:spPr>
          <a:xfrm>
            <a:off x="7967034"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829326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8" name="Shape 38"/>
          <p:cNvSpPr txBox="1"/>
          <p:nvPr/>
        </p:nvSpPr>
        <p:spPr>
          <a:xfrm>
            <a:off x="8619496"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9" name="Shape 39"/>
          <p:cNvSpPr txBox="1"/>
          <p:nvPr/>
        </p:nvSpPr>
        <p:spPr>
          <a:xfrm>
            <a:off x="8945728"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6043270" y="4327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41" name="Shape 41"/>
          <p:cNvSpPr txBox="1"/>
          <p:nvPr/>
        </p:nvSpPr>
        <p:spPr>
          <a:xfrm>
            <a:off x="6043270" y="405879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6043270" y="3790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3" name="Shape 43"/>
          <p:cNvSpPr txBox="1"/>
          <p:nvPr/>
        </p:nvSpPr>
        <p:spPr>
          <a:xfrm>
            <a:off x="6043270" y="352158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6043270" y="32529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5" name="Shape 45"/>
          <p:cNvSpPr txBox="1"/>
          <p:nvPr/>
        </p:nvSpPr>
        <p:spPr>
          <a:xfrm>
            <a:off x="6043270" y="29843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6043270" y="2715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7" name="Shape 47"/>
          <p:cNvSpPr txBox="1"/>
          <p:nvPr/>
        </p:nvSpPr>
        <p:spPr>
          <a:xfrm>
            <a:off x="6043270" y="244716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8" name="Shape 48"/>
          <p:cNvSpPr txBox="1"/>
          <p:nvPr/>
        </p:nvSpPr>
        <p:spPr>
          <a:xfrm>
            <a:off x="6043270" y="21785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9" name="Shape 49"/>
          <p:cNvSpPr txBox="1"/>
          <p:nvPr/>
        </p:nvSpPr>
        <p:spPr>
          <a:xfrm>
            <a:off x="6043270" y="19099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51" name="Line 51"/>
          <p:cNvCxnSpPr/>
          <p:nvPr/>
        </p:nvCxnSpPr>
        <p:spPr>
          <a:xfrm flipV="1">
            <a:off x="6610198" y="2001393"/>
            <a:ext cx="2609850" cy="2148840"/>
          </a:xfrm>
          <a:prstGeom prst="line">
            <a:avLst/>
          </a:prstGeom>
          <a:ln w="38100" cap="rnd">
            <a:solidFill>
              <a:srgbClr val="16171D"/>
            </a:solidFill>
          </a:ln>
        </p:spPr>
      </p:cxnSp>
      <p:sp>
        <p:nvSpPr>
          <p:cNvPr id="52" name="Shape 52"/>
          <p:cNvSpPr txBox="1"/>
          <p:nvPr/>
        </p:nvSpPr>
        <p:spPr>
          <a:xfrm>
            <a:off x="6728308" y="2020443"/>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53" name="Line 53"/>
          <p:cNvCxnSpPr/>
          <p:nvPr/>
        </p:nvCxnSpPr>
        <p:spPr>
          <a:xfrm flipV="1">
            <a:off x="7099544" y="1732788"/>
            <a:ext cx="1631156" cy="2686050"/>
          </a:xfrm>
          <a:prstGeom prst="line">
            <a:avLst/>
          </a:prstGeom>
          <a:ln w="38100" cap="rnd">
            <a:solidFill>
              <a:srgbClr val="16171D"/>
            </a:solidFill>
          </a:ln>
        </p:spPr>
      </p:cxnSp>
      <p:sp>
        <p:nvSpPr>
          <p:cNvPr id="54" name="Shape 54"/>
          <p:cNvSpPr txBox="1"/>
          <p:nvPr/>
        </p:nvSpPr>
        <p:spPr>
          <a:xfrm>
            <a:off x="6238961"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2x</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left)">
                                      <p:cBhvr>
                                        <p:cTn id="11" dur="700"/>
                                        <p:tgtEl>
                                          <p:spTgt spid="53"/>
                                        </p:tgtEl>
                                      </p:cBhvr>
                                    </p:animEffect>
                                  </p:childTnLst>
                                </p:cTn>
                              </p:par>
                              <p:par>
                                <p:cTn id="15" presetID="22" presetClass="entr" presetSubtype="8" fill="hold" nodeType="with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wipe(left)">
                                      <p:cBhvr>
                                        <p:cTn id="14" dur="7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6" name="Shape 6"/>
          <p:cNvSpPr txBox="1"/>
          <p:nvPr/>
        </p:nvSpPr>
        <p:spPr>
          <a:xfrm>
            <a:off x="685800" y="1618488"/>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− 6). Which way, and how far?</a:t>
            </a:r>
            <a:endParaRPr lang="en-US" sz="1950" dirty="0"/>
          </a:p>
        </p:txBody>
      </p:sp>
      <p:sp>
        <p:nvSpPr>
          <p:cNvPr id="5" name="Shape 5"/>
          <p:cNvSpPr txBox="1"/>
          <p:nvPr/>
        </p:nvSpPr>
        <p:spPr>
          <a:xfrm>
            <a:off x="895350" y="223723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right 6</a:t>
            </a:r>
            <a:endParaRPr lang="en-US" sz="2325" dirty="0"/>
          </a:p>
        </p:txBody>
      </p:sp>
      <p:sp>
        <p:nvSpPr>
          <p:cNvPr id="9" name="Shape 9"/>
          <p:cNvSpPr txBox="1"/>
          <p:nvPr/>
        </p:nvSpPr>
        <p:spPr>
          <a:xfrm>
            <a:off x="685800" y="3060954"/>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3232404"/>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 Which way, and how far?</a:t>
            </a:r>
            <a:endParaRPr lang="en-US" sz="1950" dirty="0"/>
          </a:p>
        </p:txBody>
      </p:sp>
      <p:sp>
        <p:nvSpPr>
          <p:cNvPr id="8" name="Shape 8"/>
          <p:cNvSpPr txBox="1"/>
          <p:nvPr/>
        </p:nvSpPr>
        <p:spPr>
          <a:xfrm>
            <a:off x="895350" y="3679698"/>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up 1</a:t>
            </a:r>
            <a:endParaRPr lang="en-US" sz="2325" dirty="0"/>
          </a:p>
        </p:txBody>
      </p:sp>
      <p:sp>
        <p:nvSpPr>
          <p:cNvPr id="12" name="Shape 12"/>
          <p:cNvSpPr txBox="1"/>
          <p:nvPr/>
        </p:nvSpPr>
        <p:spPr>
          <a:xfrm>
            <a:off x="685800" y="4503420"/>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95350" y="4674870"/>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Simplify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a:t>
            </a:r>
            <a:endParaRPr lang="en-US" sz="1950" dirty="0"/>
          </a:p>
        </p:txBody>
      </p:sp>
      <p:sp>
        <p:nvSpPr>
          <p:cNvPr id="11" name="Shape 11"/>
          <p:cNvSpPr txBox="1"/>
          <p:nvPr/>
        </p:nvSpPr>
        <p:spPr>
          <a:xfrm>
            <a:off x="895350" y="5122164"/>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Tree>
  </p:cSld>
  <p:clrMapOvr>
    <a:masterClrMapping/>
  </p:clrMapOvr>
  <p:transition spd="med">
    <p:fade/>
  </p:transition>
</p:sld>
</file>

<file path=ppt/theme/theme1.xml><?xml version="1.0" encoding="utf-8"?>
<a:theme xmlns:a="http://schemas.openxmlformats.org/drawingml/2006/main" name="Vertical and Horizontal Transformations of Linear Func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12</Slides>
  <Notes>12</Notes>
</Properties>
</file>

<file path=docProps/core.xml><?xml version="1.0" encoding="utf-8"?>
<cp:coreProperties xmlns:cp="http://schemas.openxmlformats.org/package/2006/metadata/core-properties" xmlns:dc="http://purl.org/dc/elements/1.1/">
  <dc:title>Vertical and Horizontal Transformations of Linear Functions</dc:title>
  <dc:subject>Bluebonnet Algebra I</dc:subject>
</cp:coreProperties>
</file>