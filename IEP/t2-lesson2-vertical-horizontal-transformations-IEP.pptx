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 Each click moves one point: right 7 on the left graph, down 4 on the right. For f(x) = x both give a line parallel to f(x).</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976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5" name="Shape 5"/>
          <p:cNvSpPr txBox="1"/>
          <p:nvPr/>
        </p:nvSpPr>
        <p:spPr>
          <a:xfrm>
            <a:off x="685800" y="33345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8808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7" name="Shape 7"/>
          <p:cNvSpPr txBox="1"/>
          <p:nvPr/>
        </p:nvSpPr>
        <p:spPr>
          <a:xfrm>
            <a:off x="685800" y="44043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8" name="Shape 8"/>
          <p:cNvSpPr txBox="1"/>
          <p:nvPr/>
        </p:nvSpPr>
        <p:spPr>
          <a:xfrm>
            <a:off x="685800" y="49278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9" name="Shape 9"/>
          <p:cNvSpPr txBox="1"/>
          <p:nvPr/>
        </p:nvSpPr>
        <p:spPr>
          <a:xfrm>
            <a:off x="685800" y="55084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How does the graph move?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3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so the graph moves up or down.</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down 3 units.</a:t>
            </a:r>
            <a:endParaRPr lang="en-US" sz="1425" dirty="0"/>
          </a:p>
        </p:txBody>
      </p:sp>
      <p:sp>
        <p:nvSpPr>
          <p:cNvPr id="11" name="Shape 11"/>
          <p:cNvSpPr txBox="1"/>
          <p:nvPr/>
        </p:nvSpPr>
        <p:spPr>
          <a:xfrm>
            <a:off x="685800" y="4034028"/>
            <a:ext cx="5295748" cy="18249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0" name="Shape 10"/>
          <p:cNvSpPr txBox="1"/>
          <p:nvPr/>
        </p:nvSpPr>
        <p:spPr>
          <a:xfrm>
            <a:off x="895350" y="487146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so the slope is 3.</a:t>
            </a:r>
            <a:endParaRPr lang="en-US" sz="1425" dirty="0"/>
          </a:p>
        </p:txBody>
      </p:sp>
      <p:sp>
        <p:nvSpPr>
          <p:cNvPr id="15" name="Shape 15"/>
          <p:cNvSpPr txBox="1"/>
          <p:nvPr/>
        </p:nvSpPr>
        <p:spPr>
          <a:xfrm>
            <a:off x="6210148" y="1618488"/>
            <a:ext cx="5295748" cy="22593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set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and solve</a:t>
            </a:r>
            <a:endParaRPr lang="en-US" sz="1575" dirty="0"/>
          </a:p>
        </p:txBody>
      </p:sp>
      <p:sp>
        <p:nvSpPr>
          <p:cNvPr id="14" name="Shape 14"/>
          <p:cNvSpPr txBox="1"/>
          <p:nvPr/>
        </p:nvSpPr>
        <p:spPr>
          <a:xfrm>
            <a:off x="6419698" y="24559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(8/3, 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Add 8 to both sides: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both sides by 3: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8/3</a:t>
            </a:r>
            <a:r>
              <a:rPr lang="en-US" sz="1425" dirty="0">
                <a:solidFill>
                  <a:srgbClr val="16171D"/>
                </a:solidFill>
                <a:latin typeface="Segoe UI"/>
                <a:cs typeface="Segoe UI"/>
              </a:rPr>
              <a:t xml:space="preserve">. The point is </a:t>
            </a:r>
            <a:r>
              <a:rPr lang="en-US" sz="1425" dirty="0">
                <a:solidFill>
                  <a:srgbClr val="16171D"/>
                </a:solidFill>
                <a:latin typeface="Cambria"/>
                <a:cs typeface="Cambria"/>
              </a:rPr>
              <a:t xml:space="preserve">(8/3, 0)</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1116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18261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Is </a:t>
            </a:r>
            <a:r>
              <a:rPr lang="en-US" sz="1575" dirty="0" i="1">
                <a:solidFill>
                  <a:srgbClr val="16171D"/>
                </a:solidFill>
                <a:latin typeface="Cambria"/>
                <a:cs typeface="Cambria"/>
              </a:rPr>
              <a:t xml:space="preserve">h</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−⅔</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+ 5</a:t>
            </a:r>
            <a:r>
              <a:rPr lang="en-US" sz="1575" dirty="0">
                <a:solidFill>
                  <a:srgbClr val="16171D"/>
                </a:solidFill>
                <a:latin typeface="Segoe UI"/>
                <a:cs typeface="Segoe UI"/>
              </a:rPr>
              <a:t xml:space="preserve"> increasing or decreasing?</a:t>
            </a:r>
            <a:endParaRPr lang="en-US" sz="1575" dirty="0"/>
          </a:p>
        </p:txBody>
      </p:sp>
      <p:sp>
        <p:nvSpPr>
          <p:cNvPr id="17" name="Shape 17"/>
          <p:cNvSpPr txBox="1"/>
          <p:nvPr/>
        </p:nvSpPr>
        <p:spPr>
          <a:xfrm>
            <a:off x="6419698" y="451561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rises, slope − falls</a:t>
            </a:r>
            <a:endParaRPr lang="en-US" sz="1575" dirty="0"/>
          </a:p>
        </p:txBody>
      </p:sp>
      <p:sp>
        <p:nvSpPr>
          <p:cNvPr id="18" name="Shape 18"/>
          <p:cNvSpPr txBox="1"/>
          <p:nvPr/>
        </p:nvSpPr>
        <p:spPr>
          <a:xfrm>
            <a:off x="6419698" y="484860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Decreasing</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is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It is negative, so the line falls from left to right: decreasing.</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5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means subtract 5 inside: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translation right 5 gives the same graph as which other translation?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only: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endParaRPr lang="en-US" sz="1575" dirty="0"/>
          </a:p>
        </p:txBody>
      </p:sp>
      <p:sp>
        <p:nvSpPr>
          <p:cNvPr id="10" name="Shape 10"/>
          <p:cNvSpPr txBox="1"/>
          <p:nvPr/>
        </p:nvSpPr>
        <p:spPr>
          <a:xfrm>
            <a:off x="895350" y="4894326"/>
            <a:ext cx="463459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5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Same equation, so the same graph: down 5.</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Simplify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in for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then distribute</a:t>
            </a:r>
            <a:endParaRPr lang="en-US" sz="1575" dirty="0"/>
          </a:p>
        </p:txBody>
      </p:sp>
      <p:sp>
        <p:nvSpPr>
          <p:cNvPr id="14" name="Shape 14"/>
          <p:cNvSpPr txBox="1"/>
          <p:nvPr/>
        </p:nvSpPr>
        <p:spPr>
          <a:xfrm>
            <a:off x="6419698" y="2695956"/>
            <a:ext cx="405995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r</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r</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2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4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+ 8 − 1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the same as the graph of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inside: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 outside: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8" name="Shape 18"/>
          <p:cNvSpPr txBox="1"/>
          <p:nvPr/>
        </p:nvSpPr>
        <p:spPr>
          <a:xfrm>
            <a:off x="6419698" y="5111496"/>
            <a:ext cx="425150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Yes, both are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put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in for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so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multiply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by 2, so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Both are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yes, the same graph.</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58" name="Shape 58"/>
          <p:cNvSpPr txBox="1"/>
          <p:nvPr/>
        </p:nvSpPr>
        <p:spPr>
          <a:xfrm>
            <a:off x="685800"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 each point moves 7 to the right.</a:t>
            </a:r>
            <a:endParaRPr lang="en-US" sz="1575" dirty="0"/>
          </a:p>
        </p:txBody>
      </p:sp>
      <p:sp>
        <p:nvSpPr>
          <p:cNvPr id="6" name="Shape 6"/>
          <p:cNvSpPr/>
          <p:nvPr/>
        </p:nvSpPr>
        <p:spPr>
          <a:xfrm>
            <a:off x="895350"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219200" y="3004566"/>
            <a:ext cx="0" cy="2019300"/>
          </a:xfrm>
          <a:prstGeom prst="line">
            <a:avLst/>
          </a:prstGeom>
          <a:ln w="9525" cap="flat">
            <a:solidFill>
              <a:srgbClr val="E6E8F2"/>
            </a:solidFill>
          </a:ln>
        </p:spPr>
      </p:cxnSp>
      <p:cxnSp>
        <p:nvCxnSpPr>
          <p:cNvPr id="8" name="Line 8"/>
          <p:cNvCxnSpPr/>
          <p:nvPr/>
        </p:nvCxnSpPr>
        <p:spPr>
          <a:xfrm>
            <a:off x="1444625" y="3004566"/>
            <a:ext cx="0" cy="2019300"/>
          </a:xfrm>
          <a:prstGeom prst="line">
            <a:avLst/>
          </a:prstGeom>
          <a:ln w="9525" cap="flat">
            <a:solidFill>
              <a:srgbClr val="E6E8F2"/>
            </a:solidFill>
          </a:ln>
        </p:spPr>
      </p:cxnSp>
      <p:cxnSp>
        <p:nvCxnSpPr>
          <p:cNvPr id="9" name="Line 9"/>
          <p:cNvCxnSpPr/>
          <p:nvPr/>
        </p:nvCxnSpPr>
        <p:spPr>
          <a:xfrm>
            <a:off x="1670050" y="3004566"/>
            <a:ext cx="0" cy="2019300"/>
          </a:xfrm>
          <a:prstGeom prst="line">
            <a:avLst/>
          </a:prstGeom>
          <a:ln w="9525" cap="flat">
            <a:solidFill>
              <a:srgbClr val="E6E8F2"/>
            </a:solidFill>
          </a:ln>
        </p:spPr>
      </p:cxnSp>
      <p:cxnSp>
        <p:nvCxnSpPr>
          <p:cNvPr id="10" name="Line 10"/>
          <p:cNvCxnSpPr/>
          <p:nvPr/>
        </p:nvCxnSpPr>
        <p:spPr>
          <a:xfrm>
            <a:off x="1895475" y="3004566"/>
            <a:ext cx="0" cy="2019300"/>
          </a:xfrm>
          <a:prstGeom prst="line">
            <a:avLst/>
          </a:prstGeom>
          <a:ln w="9525" cap="flat">
            <a:solidFill>
              <a:srgbClr val="E6E8F2"/>
            </a:solidFill>
          </a:ln>
        </p:spPr>
      </p:cxnSp>
      <p:cxnSp>
        <p:nvCxnSpPr>
          <p:cNvPr id="11" name="Line 11"/>
          <p:cNvCxnSpPr/>
          <p:nvPr/>
        </p:nvCxnSpPr>
        <p:spPr>
          <a:xfrm>
            <a:off x="2120900" y="3004566"/>
            <a:ext cx="0" cy="2019300"/>
          </a:xfrm>
          <a:prstGeom prst="line">
            <a:avLst/>
          </a:prstGeom>
          <a:ln w="9525" cap="flat">
            <a:solidFill>
              <a:srgbClr val="E6E8F2"/>
            </a:solidFill>
          </a:ln>
        </p:spPr>
      </p:cxnSp>
      <p:cxnSp>
        <p:nvCxnSpPr>
          <p:cNvPr id="12" name="Line 12"/>
          <p:cNvCxnSpPr/>
          <p:nvPr/>
        </p:nvCxnSpPr>
        <p:spPr>
          <a:xfrm>
            <a:off x="2346325" y="3004566"/>
            <a:ext cx="0" cy="2019300"/>
          </a:xfrm>
          <a:prstGeom prst="line">
            <a:avLst/>
          </a:prstGeom>
          <a:ln w="9525" cap="flat">
            <a:solidFill>
              <a:srgbClr val="E6E8F2"/>
            </a:solidFill>
          </a:ln>
        </p:spPr>
      </p:cxnSp>
      <p:cxnSp>
        <p:nvCxnSpPr>
          <p:cNvPr id="13" name="Line 13"/>
          <p:cNvCxnSpPr/>
          <p:nvPr/>
        </p:nvCxnSpPr>
        <p:spPr>
          <a:xfrm>
            <a:off x="2571750" y="3004566"/>
            <a:ext cx="0" cy="2019300"/>
          </a:xfrm>
          <a:prstGeom prst="line">
            <a:avLst/>
          </a:prstGeom>
          <a:ln w="9525" cap="flat">
            <a:solidFill>
              <a:srgbClr val="E6E8F2"/>
            </a:solidFill>
          </a:ln>
        </p:spPr>
      </p:cxnSp>
      <p:cxnSp>
        <p:nvCxnSpPr>
          <p:cNvPr id="14" name="Line 14"/>
          <p:cNvCxnSpPr/>
          <p:nvPr/>
        </p:nvCxnSpPr>
        <p:spPr>
          <a:xfrm>
            <a:off x="2797175" y="3004566"/>
            <a:ext cx="0" cy="2019300"/>
          </a:xfrm>
          <a:prstGeom prst="line">
            <a:avLst/>
          </a:prstGeom>
          <a:ln w="9525" cap="flat">
            <a:solidFill>
              <a:srgbClr val="E6E8F2"/>
            </a:solidFill>
          </a:ln>
        </p:spPr>
      </p:cxnSp>
      <p:cxnSp>
        <p:nvCxnSpPr>
          <p:cNvPr id="15" name="Line 15"/>
          <p:cNvCxnSpPr/>
          <p:nvPr/>
        </p:nvCxnSpPr>
        <p:spPr>
          <a:xfrm>
            <a:off x="3022600" y="3004566"/>
            <a:ext cx="0" cy="2019300"/>
          </a:xfrm>
          <a:prstGeom prst="line">
            <a:avLst/>
          </a:prstGeom>
          <a:ln w="9525" cap="flat">
            <a:solidFill>
              <a:srgbClr val="E6E8F2"/>
            </a:solidFill>
          </a:ln>
        </p:spPr>
      </p:cxnSp>
      <p:cxnSp>
        <p:nvCxnSpPr>
          <p:cNvPr id="16" name="Line 16"/>
          <p:cNvCxnSpPr/>
          <p:nvPr/>
        </p:nvCxnSpPr>
        <p:spPr>
          <a:xfrm>
            <a:off x="3248025" y="3004566"/>
            <a:ext cx="0" cy="2019300"/>
          </a:xfrm>
          <a:prstGeom prst="line">
            <a:avLst/>
          </a:prstGeom>
          <a:ln w="9525" cap="flat">
            <a:solidFill>
              <a:srgbClr val="E6E8F2"/>
            </a:solidFill>
          </a:ln>
        </p:spPr>
      </p:cxnSp>
      <p:cxnSp>
        <p:nvCxnSpPr>
          <p:cNvPr id="17" name="Line 17"/>
          <p:cNvCxnSpPr/>
          <p:nvPr/>
        </p:nvCxnSpPr>
        <p:spPr>
          <a:xfrm>
            <a:off x="3473450" y="3004566"/>
            <a:ext cx="0" cy="2019300"/>
          </a:xfrm>
          <a:prstGeom prst="line">
            <a:avLst/>
          </a:prstGeom>
          <a:ln w="9525" cap="flat">
            <a:solidFill>
              <a:srgbClr val="E6E8F2"/>
            </a:solidFill>
          </a:ln>
        </p:spPr>
      </p:cxnSp>
      <p:cxnSp>
        <p:nvCxnSpPr>
          <p:cNvPr id="18" name="Line 18"/>
          <p:cNvCxnSpPr/>
          <p:nvPr/>
        </p:nvCxnSpPr>
        <p:spPr>
          <a:xfrm>
            <a:off x="3698875" y="3004566"/>
            <a:ext cx="0" cy="2019300"/>
          </a:xfrm>
          <a:prstGeom prst="line">
            <a:avLst/>
          </a:prstGeom>
          <a:ln w="9525" cap="flat">
            <a:solidFill>
              <a:srgbClr val="E6E8F2"/>
            </a:solidFill>
          </a:ln>
        </p:spPr>
      </p:cxnSp>
      <p:cxnSp>
        <p:nvCxnSpPr>
          <p:cNvPr id="19" name="Line 19"/>
          <p:cNvCxnSpPr/>
          <p:nvPr/>
        </p:nvCxnSpPr>
        <p:spPr>
          <a:xfrm>
            <a:off x="3924300" y="3004566"/>
            <a:ext cx="0" cy="2019300"/>
          </a:xfrm>
          <a:prstGeom prst="line">
            <a:avLst/>
          </a:prstGeom>
          <a:ln w="9525" cap="flat">
            <a:solidFill>
              <a:srgbClr val="E6E8F2"/>
            </a:solidFill>
          </a:ln>
        </p:spPr>
      </p:cxnSp>
      <p:cxnSp>
        <p:nvCxnSpPr>
          <p:cNvPr id="20" name="Line 20"/>
          <p:cNvCxnSpPr/>
          <p:nvPr/>
        </p:nvCxnSpPr>
        <p:spPr>
          <a:xfrm>
            <a:off x="1219200" y="5023866"/>
            <a:ext cx="2705100" cy="0"/>
          </a:xfrm>
          <a:prstGeom prst="line">
            <a:avLst/>
          </a:prstGeom>
          <a:ln w="9525" cap="flat">
            <a:solidFill>
              <a:srgbClr val="E6E8F2"/>
            </a:solidFill>
          </a:ln>
        </p:spPr>
      </p:cxnSp>
      <p:cxnSp>
        <p:nvCxnSpPr>
          <p:cNvPr id="21" name="Line 21"/>
          <p:cNvCxnSpPr/>
          <p:nvPr/>
        </p:nvCxnSpPr>
        <p:spPr>
          <a:xfrm>
            <a:off x="1219200" y="4735395"/>
            <a:ext cx="2705100" cy="0"/>
          </a:xfrm>
          <a:prstGeom prst="line">
            <a:avLst/>
          </a:prstGeom>
          <a:ln w="9525" cap="flat">
            <a:solidFill>
              <a:srgbClr val="E6E8F2"/>
            </a:solidFill>
          </a:ln>
        </p:spPr>
      </p:cxnSp>
      <p:cxnSp>
        <p:nvCxnSpPr>
          <p:cNvPr id="22" name="Line 22"/>
          <p:cNvCxnSpPr/>
          <p:nvPr/>
        </p:nvCxnSpPr>
        <p:spPr>
          <a:xfrm>
            <a:off x="1219200" y="4446923"/>
            <a:ext cx="2705100" cy="0"/>
          </a:xfrm>
          <a:prstGeom prst="line">
            <a:avLst/>
          </a:prstGeom>
          <a:ln w="9525" cap="flat">
            <a:solidFill>
              <a:srgbClr val="E6E8F2"/>
            </a:solidFill>
          </a:ln>
        </p:spPr>
      </p:cxnSp>
      <p:cxnSp>
        <p:nvCxnSpPr>
          <p:cNvPr id="23" name="Line 23"/>
          <p:cNvCxnSpPr/>
          <p:nvPr/>
        </p:nvCxnSpPr>
        <p:spPr>
          <a:xfrm>
            <a:off x="1219200" y="4158452"/>
            <a:ext cx="2705100" cy="0"/>
          </a:xfrm>
          <a:prstGeom prst="line">
            <a:avLst/>
          </a:prstGeom>
          <a:ln w="9525" cap="flat">
            <a:solidFill>
              <a:srgbClr val="E6E8F2"/>
            </a:solidFill>
          </a:ln>
        </p:spPr>
      </p:cxnSp>
      <p:cxnSp>
        <p:nvCxnSpPr>
          <p:cNvPr id="24" name="Line 24"/>
          <p:cNvCxnSpPr/>
          <p:nvPr/>
        </p:nvCxnSpPr>
        <p:spPr>
          <a:xfrm>
            <a:off x="1219200" y="3869980"/>
            <a:ext cx="2705100" cy="0"/>
          </a:xfrm>
          <a:prstGeom prst="line">
            <a:avLst/>
          </a:prstGeom>
          <a:ln w="9525" cap="flat">
            <a:solidFill>
              <a:srgbClr val="E6E8F2"/>
            </a:solidFill>
          </a:ln>
        </p:spPr>
      </p:cxnSp>
      <p:cxnSp>
        <p:nvCxnSpPr>
          <p:cNvPr id="25" name="Line 25"/>
          <p:cNvCxnSpPr/>
          <p:nvPr/>
        </p:nvCxnSpPr>
        <p:spPr>
          <a:xfrm>
            <a:off x="1219200" y="3581509"/>
            <a:ext cx="2705100" cy="0"/>
          </a:xfrm>
          <a:prstGeom prst="line">
            <a:avLst/>
          </a:prstGeom>
          <a:ln w="9525" cap="flat">
            <a:solidFill>
              <a:srgbClr val="E6E8F2"/>
            </a:solidFill>
          </a:ln>
        </p:spPr>
      </p:cxnSp>
      <p:cxnSp>
        <p:nvCxnSpPr>
          <p:cNvPr id="26" name="Line 26"/>
          <p:cNvCxnSpPr/>
          <p:nvPr/>
        </p:nvCxnSpPr>
        <p:spPr>
          <a:xfrm>
            <a:off x="1219200" y="3293037"/>
            <a:ext cx="2705100" cy="0"/>
          </a:xfrm>
          <a:prstGeom prst="line">
            <a:avLst/>
          </a:prstGeom>
          <a:ln w="9525" cap="flat">
            <a:solidFill>
              <a:srgbClr val="E6E8F2"/>
            </a:solidFill>
          </a:ln>
        </p:spPr>
      </p:cxnSp>
      <p:cxnSp>
        <p:nvCxnSpPr>
          <p:cNvPr id="27" name="Line 27"/>
          <p:cNvCxnSpPr/>
          <p:nvPr/>
        </p:nvCxnSpPr>
        <p:spPr>
          <a:xfrm>
            <a:off x="1219200" y="3004566"/>
            <a:ext cx="2705100" cy="0"/>
          </a:xfrm>
          <a:prstGeom prst="line">
            <a:avLst/>
          </a:prstGeom>
          <a:ln w="9525" cap="flat">
            <a:solidFill>
              <a:srgbClr val="E6E8F2"/>
            </a:solidFill>
          </a:ln>
        </p:spPr>
      </p:cxnSp>
      <p:cxnSp>
        <p:nvCxnSpPr>
          <p:cNvPr id="28" name="Line 28"/>
          <p:cNvCxnSpPr/>
          <p:nvPr/>
        </p:nvCxnSpPr>
        <p:spPr>
          <a:xfrm>
            <a:off x="1670050" y="3004566"/>
            <a:ext cx="0" cy="2019300"/>
          </a:xfrm>
          <a:prstGeom prst="line">
            <a:avLst/>
          </a:prstGeom>
          <a:ln w="19050" cap="flat">
            <a:solidFill>
              <a:srgbClr val="5F6272"/>
            </a:solidFill>
          </a:ln>
        </p:spPr>
      </p:cxnSp>
      <p:cxnSp>
        <p:nvCxnSpPr>
          <p:cNvPr id="29" name="Line 29"/>
          <p:cNvCxnSpPr/>
          <p:nvPr/>
        </p:nvCxnSpPr>
        <p:spPr>
          <a:xfrm>
            <a:off x="1219200" y="4158452"/>
            <a:ext cx="2705100" cy="0"/>
          </a:xfrm>
          <a:prstGeom prst="line">
            <a:avLst/>
          </a:prstGeom>
          <a:ln w="19050" cap="flat">
            <a:solidFill>
              <a:srgbClr val="5F6272"/>
            </a:solidFill>
          </a:ln>
        </p:spPr>
      </p:cxnSp>
      <p:sp>
        <p:nvSpPr>
          <p:cNvPr id="30" name="Shape 30"/>
          <p:cNvSpPr txBox="1"/>
          <p:nvPr/>
        </p:nvSpPr>
        <p:spPr>
          <a:xfrm>
            <a:off x="9448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3957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8465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22974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27482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5" name="Shape 35"/>
          <p:cNvSpPr txBox="1"/>
          <p:nvPr/>
        </p:nvSpPr>
        <p:spPr>
          <a:xfrm>
            <a:off x="31991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6" name="Shape 36"/>
          <p:cNvSpPr txBox="1"/>
          <p:nvPr/>
        </p:nvSpPr>
        <p:spPr>
          <a:xfrm>
            <a:off x="36499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52272" y="49324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38" name="Shape 38"/>
          <p:cNvSpPr txBox="1"/>
          <p:nvPr/>
        </p:nvSpPr>
        <p:spPr>
          <a:xfrm>
            <a:off x="652272" y="46439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652272" y="43554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52272" y="40670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52272" y="377854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652272" y="3490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652272" y="32015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4" name="Shape 44"/>
          <p:cNvSpPr txBox="1"/>
          <p:nvPr/>
        </p:nvSpPr>
        <p:spPr>
          <a:xfrm>
            <a:off x="652272"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5" name="Line 45"/>
          <p:cNvCxnSpPr/>
          <p:nvPr/>
        </p:nvCxnSpPr>
        <p:spPr>
          <a:xfrm flipV="1">
            <a:off x="1219200" y="3004566"/>
            <a:ext cx="1352550" cy="1730829"/>
          </a:xfrm>
          <a:prstGeom prst="line">
            <a:avLst/>
          </a:prstGeom>
          <a:ln w="38100" cap="rnd">
            <a:solidFill>
              <a:srgbClr val="16171D"/>
            </a:solidFill>
          </a:ln>
        </p:spPr>
      </p:cxnSp>
      <p:sp>
        <p:nvSpPr>
          <p:cNvPr id="46" name="Shape 46"/>
          <p:cNvSpPr txBox="1"/>
          <p:nvPr/>
        </p:nvSpPr>
        <p:spPr>
          <a:xfrm>
            <a:off x="80010"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47" name="Line 47"/>
          <p:cNvCxnSpPr/>
          <p:nvPr/>
        </p:nvCxnSpPr>
        <p:spPr>
          <a:xfrm>
            <a:off x="1670050" y="4158452"/>
            <a:ext cx="1577975" cy="0"/>
          </a:xfrm>
          <a:prstGeom prst="line">
            <a:avLst/>
          </a:prstGeom>
          <a:ln w="38100" cap="rnd">
            <a:solidFill>
              <a:srgbClr val="7A4FC4"/>
            </a:solidFill>
            <a:prstDash val="dash"/>
          </a:ln>
        </p:spPr>
      </p:cxnSp>
      <p:sp>
        <p:nvSpPr>
          <p:cNvPr id="48" name="Shape 48"/>
          <p:cNvSpPr txBox="1"/>
          <p:nvPr/>
        </p:nvSpPr>
        <p:spPr>
          <a:xfrm>
            <a:off x="756285" y="4177502"/>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49" name="Shape 49"/>
          <p:cNvSpPr/>
          <p:nvPr/>
        </p:nvSpPr>
        <p:spPr>
          <a:xfrm>
            <a:off x="3195638"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0" name="Line 50"/>
          <p:cNvCxnSpPr/>
          <p:nvPr/>
        </p:nvCxnSpPr>
        <p:spPr>
          <a:xfrm>
            <a:off x="2120900" y="3581509"/>
            <a:ext cx="1577975" cy="0"/>
          </a:xfrm>
          <a:prstGeom prst="line">
            <a:avLst/>
          </a:prstGeom>
          <a:ln w="38100" cap="rnd">
            <a:solidFill>
              <a:srgbClr val="7A4FC4"/>
            </a:solidFill>
            <a:prstDash val="dash"/>
          </a:ln>
        </p:spPr>
      </p:cxnSp>
      <p:sp>
        <p:nvSpPr>
          <p:cNvPr id="51" name="Shape 51"/>
          <p:cNvSpPr txBox="1"/>
          <p:nvPr/>
        </p:nvSpPr>
        <p:spPr>
          <a:xfrm>
            <a:off x="1207135" y="3600559"/>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52" name="Shape 52"/>
          <p:cNvSpPr/>
          <p:nvPr/>
        </p:nvSpPr>
        <p:spPr>
          <a:xfrm>
            <a:off x="3646487"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flipV="1">
            <a:off x="2571750" y="3293037"/>
            <a:ext cx="1352550" cy="1730829"/>
          </a:xfrm>
          <a:prstGeom prst="line">
            <a:avLst/>
          </a:prstGeom>
          <a:ln w="38100" cap="rnd">
            <a:solidFill>
              <a:srgbClr val="7A4FC4"/>
            </a:solidFill>
          </a:ln>
        </p:spPr>
      </p:cxnSp>
      <p:sp>
        <p:nvSpPr>
          <p:cNvPr id="54" name="Shape 54"/>
          <p:cNvSpPr txBox="1"/>
          <p:nvPr/>
        </p:nvSpPr>
        <p:spPr>
          <a:xfrm>
            <a:off x="1432560" y="331208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55" name="Shape 55"/>
          <p:cNvSpPr/>
          <p:nvPr/>
        </p:nvSpPr>
        <p:spPr>
          <a:xfrm>
            <a:off x="1617662"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p:nvPr/>
        </p:nvSpPr>
        <p:spPr>
          <a:xfrm>
            <a:off x="2068512"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95350"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3" name="Shape 113"/>
          <p:cNvSpPr txBox="1"/>
          <p:nvPr/>
        </p:nvSpPr>
        <p:spPr>
          <a:xfrm>
            <a:off x="6286348"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60" name="Shape 60"/>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 each point moves 4 down.</a:t>
            </a:r>
            <a:endParaRPr lang="en-US" sz="1575" dirty="0"/>
          </a:p>
        </p:txBody>
      </p:sp>
      <p:sp>
        <p:nvSpPr>
          <p:cNvPr id="61" name="Shape 61"/>
          <p:cNvSpPr/>
          <p:nvPr/>
        </p:nvSpPr>
        <p:spPr>
          <a:xfrm>
            <a:off x="6495898"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a:off x="6819748" y="3004566"/>
            <a:ext cx="0" cy="2019300"/>
          </a:xfrm>
          <a:prstGeom prst="line">
            <a:avLst/>
          </a:prstGeom>
          <a:ln w="9525" cap="flat">
            <a:solidFill>
              <a:srgbClr val="E6E8F2"/>
            </a:solidFill>
          </a:ln>
        </p:spPr>
      </p:cxnSp>
      <p:cxnSp>
        <p:nvCxnSpPr>
          <p:cNvPr id="63" name="Line 63"/>
          <p:cNvCxnSpPr/>
          <p:nvPr/>
        </p:nvCxnSpPr>
        <p:spPr>
          <a:xfrm>
            <a:off x="7157885" y="3004566"/>
            <a:ext cx="0" cy="2019300"/>
          </a:xfrm>
          <a:prstGeom prst="line">
            <a:avLst/>
          </a:prstGeom>
          <a:ln w="9525" cap="flat">
            <a:solidFill>
              <a:srgbClr val="E6E8F2"/>
            </a:solidFill>
          </a:ln>
        </p:spPr>
      </p:cxnSp>
      <p:cxnSp>
        <p:nvCxnSpPr>
          <p:cNvPr id="64" name="Line 64"/>
          <p:cNvCxnSpPr/>
          <p:nvPr/>
        </p:nvCxnSpPr>
        <p:spPr>
          <a:xfrm>
            <a:off x="7496023" y="3004566"/>
            <a:ext cx="0" cy="2019300"/>
          </a:xfrm>
          <a:prstGeom prst="line">
            <a:avLst/>
          </a:prstGeom>
          <a:ln w="9525" cap="flat">
            <a:solidFill>
              <a:srgbClr val="E6E8F2"/>
            </a:solidFill>
          </a:ln>
        </p:spPr>
      </p:cxnSp>
      <p:cxnSp>
        <p:nvCxnSpPr>
          <p:cNvPr id="65" name="Line 65"/>
          <p:cNvCxnSpPr/>
          <p:nvPr/>
        </p:nvCxnSpPr>
        <p:spPr>
          <a:xfrm>
            <a:off x="7834160" y="3004566"/>
            <a:ext cx="0" cy="2019300"/>
          </a:xfrm>
          <a:prstGeom prst="line">
            <a:avLst/>
          </a:prstGeom>
          <a:ln w="9525" cap="flat">
            <a:solidFill>
              <a:srgbClr val="E6E8F2"/>
            </a:solidFill>
          </a:ln>
        </p:spPr>
      </p:cxnSp>
      <p:cxnSp>
        <p:nvCxnSpPr>
          <p:cNvPr id="66" name="Line 66"/>
          <p:cNvCxnSpPr/>
          <p:nvPr/>
        </p:nvCxnSpPr>
        <p:spPr>
          <a:xfrm>
            <a:off x="8172298" y="3004566"/>
            <a:ext cx="0" cy="2019300"/>
          </a:xfrm>
          <a:prstGeom prst="line">
            <a:avLst/>
          </a:prstGeom>
          <a:ln w="9525" cap="flat">
            <a:solidFill>
              <a:srgbClr val="E6E8F2"/>
            </a:solidFill>
          </a:ln>
        </p:spPr>
      </p:cxnSp>
      <p:cxnSp>
        <p:nvCxnSpPr>
          <p:cNvPr id="67" name="Line 67"/>
          <p:cNvCxnSpPr/>
          <p:nvPr/>
        </p:nvCxnSpPr>
        <p:spPr>
          <a:xfrm>
            <a:off x="8510435" y="3004566"/>
            <a:ext cx="0" cy="2019300"/>
          </a:xfrm>
          <a:prstGeom prst="line">
            <a:avLst/>
          </a:prstGeom>
          <a:ln w="9525" cap="flat">
            <a:solidFill>
              <a:srgbClr val="E6E8F2"/>
            </a:solidFill>
          </a:ln>
        </p:spPr>
      </p:cxnSp>
      <p:cxnSp>
        <p:nvCxnSpPr>
          <p:cNvPr id="68" name="Line 68"/>
          <p:cNvCxnSpPr/>
          <p:nvPr/>
        </p:nvCxnSpPr>
        <p:spPr>
          <a:xfrm>
            <a:off x="8848573" y="3004566"/>
            <a:ext cx="0" cy="2019300"/>
          </a:xfrm>
          <a:prstGeom prst="line">
            <a:avLst/>
          </a:prstGeom>
          <a:ln w="9525" cap="flat">
            <a:solidFill>
              <a:srgbClr val="E6E8F2"/>
            </a:solidFill>
          </a:ln>
        </p:spPr>
      </p:cxnSp>
      <p:cxnSp>
        <p:nvCxnSpPr>
          <p:cNvPr id="69" name="Line 69"/>
          <p:cNvCxnSpPr/>
          <p:nvPr/>
        </p:nvCxnSpPr>
        <p:spPr>
          <a:xfrm>
            <a:off x="9186710" y="3004566"/>
            <a:ext cx="0" cy="2019300"/>
          </a:xfrm>
          <a:prstGeom prst="line">
            <a:avLst/>
          </a:prstGeom>
          <a:ln w="9525" cap="flat">
            <a:solidFill>
              <a:srgbClr val="E6E8F2"/>
            </a:solidFill>
          </a:ln>
        </p:spPr>
      </p:cxnSp>
      <p:cxnSp>
        <p:nvCxnSpPr>
          <p:cNvPr id="70" name="Line 70"/>
          <p:cNvCxnSpPr/>
          <p:nvPr/>
        </p:nvCxnSpPr>
        <p:spPr>
          <a:xfrm>
            <a:off x="9524848" y="3004566"/>
            <a:ext cx="0" cy="2019300"/>
          </a:xfrm>
          <a:prstGeom prst="line">
            <a:avLst/>
          </a:prstGeom>
          <a:ln w="9525" cap="flat">
            <a:solidFill>
              <a:srgbClr val="E6E8F2"/>
            </a:solidFill>
          </a:ln>
        </p:spPr>
      </p:cxnSp>
      <p:cxnSp>
        <p:nvCxnSpPr>
          <p:cNvPr id="71" name="Line 71"/>
          <p:cNvCxnSpPr/>
          <p:nvPr/>
        </p:nvCxnSpPr>
        <p:spPr>
          <a:xfrm>
            <a:off x="6819748" y="5023866"/>
            <a:ext cx="2705100" cy="0"/>
          </a:xfrm>
          <a:prstGeom prst="line">
            <a:avLst/>
          </a:prstGeom>
          <a:ln w="9525" cap="flat">
            <a:solidFill>
              <a:srgbClr val="E6E8F2"/>
            </a:solidFill>
          </a:ln>
        </p:spPr>
      </p:cxnSp>
      <p:cxnSp>
        <p:nvCxnSpPr>
          <p:cNvPr id="72" name="Line 72"/>
          <p:cNvCxnSpPr/>
          <p:nvPr/>
        </p:nvCxnSpPr>
        <p:spPr>
          <a:xfrm>
            <a:off x="6819748" y="4840293"/>
            <a:ext cx="2705100" cy="0"/>
          </a:xfrm>
          <a:prstGeom prst="line">
            <a:avLst/>
          </a:prstGeom>
          <a:ln w="9525" cap="flat">
            <a:solidFill>
              <a:srgbClr val="E6E8F2"/>
            </a:solidFill>
          </a:ln>
        </p:spPr>
      </p:cxnSp>
      <p:cxnSp>
        <p:nvCxnSpPr>
          <p:cNvPr id="73" name="Line 73"/>
          <p:cNvCxnSpPr/>
          <p:nvPr/>
        </p:nvCxnSpPr>
        <p:spPr>
          <a:xfrm>
            <a:off x="6819748" y="4656721"/>
            <a:ext cx="2705100" cy="0"/>
          </a:xfrm>
          <a:prstGeom prst="line">
            <a:avLst/>
          </a:prstGeom>
          <a:ln w="9525" cap="flat">
            <a:solidFill>
              <a:srgbClr val="E6E8F2"/>
            </a:solidFill>
          </a:ln>
        </p:spPr>
      </p:cxnSp>
      <p:cxnSp>
        <p:nvCxnSpPr>
          <p:cNvPr id="74" name="Line 74"/>
          <p:cNvCxnSpPr/>
          <p:nvPr/>
        </p:nvCxnSpPr>
        <p:spPr>
          <a:xfrm>
            <a:off x="6819748" y="4473148"/>
            <a:ext cx="2705100" cy="0"/>
          </a:xfrm>
          <a:prstGeom prst="line">
            <a:avLst/>
          </a:prstGeom>
          <a:ln w="9525" cap="flat">
            <a:solidFill>
              <a:srgbClr val="E6E8F2"/>
            </a:solidFill>
          </a:ln>
        </p:spPr>
      </p:cxnSp>
      <p:cxnSp>
        <p:nvCxnSpPr>
          <p:cNvPr id="75" name="Line 75"/>
          <p:cNvCxnSpPr/>
          <p:nvPr/>
        </p:nvCxnSpPr>
        <p:spPr>
          <a:xfrm>
            <a:off x="6819748" y="4289575"/>
            <a:ext cx="2705100" cy="0"/>
          </a:xfrm>
          <a:prstGeom prst="line">
            <a:avLst/>
          </a:prstGeom>
          <a:ln w="9525" cap="flat">
            <a:solidFill>
              <a:srgbClr val="E6E8F2"/>
            </a:solidFill>
          </a:ln>
        </p:spPr>
      </p:cxnSp>
      <p:cxnSp>
        <p:nvCxnSpPr>
          <p:cNvPr id="76" name="Line 76"/>
          <p:cNvCxnSpPr/>
          <p:nvPr/>
        </p:nvCxnSpPr>
        <p:spPr>
          <a:xfrm>
            <a:off x="6819748" y="4106002"/>
            <a:ext cx="2705100" cy="0"/>
          </a:xfrm>
          <a:prstGeom prst="line">
            <a:avLst/>
          </a:prstGeom>
          <a:ln w="9525" cap="flat">
            <a:solidFill>
              <a:srgbClr val="E6E8F2"/>
            </a:solidFill>
          </a:ln>
        </p:spPr>
      </p:cxnSp>
      <p:cxnSp>
        <p:nvCxnSpPr>
          <p:cNvPr id="77" name="Line 77"/>
          <p:cNvCxnSpPr/>
          <p:nvPr/>
        </p:nvCxnSpPr>
        <p:spPr>
          <a:xfrm>
            <a:off x="6819748" y="3922430"/>
            <a:ext cx="2705100" cy="0"/>
          </a:xfrm>
          <a:prstGeom prst="line">
            <a:avLst/>
          </a:prstGeom>
          <a:ln w="9525" cap="flat">
            <a:solidFill>
              <a:srgbClr val="E6E8F2"/>
            </a:solidFill>
          </a:ln>
        </p:spPr>
      </p:cxnSp>
      <p:cxnSp>
        <p:nvCxnSpPr>
          <p:cNvPr id="78" name="Line 78"/>
          <p:cNvCxnSpPr/>
          <p:nvPr/>
        </p:nvCxnSpPr>
        <p:spPr>
          <a:xfrm>
            <a:off x="6819748" y="3738857"/>
            <a:ext cx="2705100" cy="0"/>
          </a:xfrm>
          <a:prstGeom prst="line">
            <a:avLst/>
          </a:prstGeom>
          <a:ln w="9525" cap="flat">
            <a:solidFill>
              <a:srgbClr val="E6E8F2"/>
            </a:solidFill>
          </a:ln>
        </p:spPr>
      </p:cxnSp>
      <p:cxnSp>
        <p:nvCxnSpPr>
          <p:cNvPr id="79" name="Line 79"/>
          <p:cNvCxnSpPr/>
          <p:nvPr/>
        </p:nvCxnSpPr>
        <p:spPr>
          <a:xfrm>
            <a:off x="6819748" y="3555284"/>
            <a:ext cx="2705100" cy="0"/>
          </a:xfrm>
          <a:prstGeom prst="line">
            <a:avLst/>
          </a:prstGeom>
          <a:ln w="9525" cap="flat">
            <a:solidFill>
              <a:srgbClr val="E6E8F2"/>
            </a:solidFill>
          </a:ln>
        </p:spPr>
      </p:cxnSp>
      <p:cxnSp>
        <p:nvCxnSpPr>
          <p:cNvPr id="80" name="Line 80"/>
          <p:cNvCxnSpPr/>
          <p:nvPr/>
        </p:nvCxnSpPr>
        <p:spPr>
          <a:xfrm>
            <a:off x="6819748" y="3371711"/>
            <a:ext cx="2705100" cy="0"/>
          </a:xfrm>
          <a:prstGeom prst="line">
            <a:avLst/>
          </a:prstGeom>
          <a:ln w="9525" cap="flat">
            <a:solidFill>
              <a:srgbClr val="E6E8F2"/>
            </a:solidFill>
          </a:ln>
        </p:spPr>
      </p:cxnSp>
      <p:cxnSp>
        <p:nvCxnSpPr>
          <p:cNvPr id="81" name="Line 81"/>
          <p:cNvCxnSpPr/>
          <p:nvPr/>
        </p:nvCxnSpPr>
        <p:spPr>
          <a:xfrm>
            <a:off x="6819748" y="3188139"/>
            <a:ext cx="2705100" cy="0"/>
          </a:xfrm>
          <a:prstGeom prst="line">
            <a:avLst/>
          </a:prstGeom>
          <a:ln w="9525" cap="flat">
            <a:solidFill>
              <a:srgbClr val="E6E8F2"/>
            </a:solidFill>
          </a:ln>
        </p:spPr>
      </p:cxnSp>
      <p:cxnSp>
        <p:nvCxnSpPr>
          <p:cNvPr id="82" name="Line 82"/>
          <p:cNvCxnSpPr/>
          <p:nvPr/>
        </p:nvCxnSpPr>
        <p:spPr>
          <a:xfrm>
            <a:off x="6819748" y="3004566"/>
            <a:ext cx="2705100" cy="0"/>
          </a:xfrm>
          <a:prstGeom prst="line">
            <a:avLst/>
          </a:prstGeom>
          <a:ln w="9525" cap="flat">
            <a:solidFill>
              <a:srgbClr val="E6E8F2"/>
            </a:solidFill>
          </a:ln>
        </p:spPr>
      </p:cxnSp>
      <p:cxnSp>
        <p:nvCxnSpPr>
          <p:cNvPr id="83" name="Line 83"/>
          <p:cNvCxnSpPr/>
          <p:nvPr/>
        </p:nvCxnSpPr>
        <p:spPr>
          <a:xfrm>
            <a:off x="8172298" y="3004566"/>
            <a:ext cx="0" cy="2019300"/>
          </a:xfrm>
          <a:prstGeom prst="line">
            <a:avLst/>
          </a:prstGeom>
          <a:ln w="19050" cap="flat">
            <a:solidFill>
              <a:srgbClr val="5F6272"/>
            </a:solidFill>
          </a:ln>
        </p:spPr>
      </p:cxnSp>
      <p:cxnSp>
        <p:nvCxnSpPr>
          <p:cNvPr id="84" name="Line 84"/>
          <p:cNvCxnSpPr/>
          <p:nvPr/>
        </p:nvCxnSpPr>
        <p:spPr>
          <a:xfrm>
            <a:off x="6819748" y="3738857"/>
            <a:ext cx="2705100" cy="0"/>
          </a:xfrm>
          <a:prstGeom prst="line">
            <a:avLst/>
          </a:prstGeom>
          <a:ln w="19050" cap="flat">
            <a:solidFill>
              <a:srgbClr val="5F6272"/>
            </a:solidFill>
          </a:ln>
        </p:spPr>
      </p:cxnSp>
      <p:sp>
        <p:nvSpPr>
          <p:cNvPr id="85" name="Shape 85"/>
          <p:cNvSpPr txBox="1"/>
          <p:nvPr/>
        </p:nvSpPr>
        <p:spPr>
          <a:xfrm>
            <a:off x="65454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22170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7" name="Shape 87"/>
          <p:cNvSpPr txBox="1"/>
          <p:nvPr/>
        </p:nvSpPr>
        <p:spPr>
          <a:xfrm>
            <a:off x="789797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857425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9" name="Shape 89"/>
          <p:cNvSpPr txBox="1"/>
          <p:nvPr/>
        </p:nvSpPr>
        <p:spPr>
          <a:xfrm>
            <a:off x="92505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6252820" y="47488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6252820" y="43817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6252820" y="4014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6252820" y="36474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6252820" y="328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6252820"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96" name="Line 96"/>
          <p:cNvCxnSpPr/>
          <p:nvPr/>
        </p:nvCxnSpPr>
        <p:spPr>
          <a:xfrm flipV="1">
            <a:off x="6819748" y="3004566"/>
            <a:ext cx="2705100" cy="1468582"/>
          </a:xfrm>
          <a:prstGeom prst="line">
            <a:avLst/>
          </a:prstGeom>
          <a:ln w="38100" cap="rnd">
            <a:solidFill>
              <a:srgbClr val="16171D"/>
            </a:solidFill>
          </a:ln>
        </p:spPr>
      </p:cxnSp>
      <p:sp>
        <p:nvSpPr>
          <p:cNvPr id="97" name="Shape 97"/>
          <p:cNvSpPr txBox="1"/>
          <p:nvPr/>
        </p:nvSpPr>
        <p:spPr>
          <a:xfrm>
            <a:off x="7033108"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8" name="Line 98"/>
          <p:cNvCxnSpPr/>
          <p:nvPr/>
        </p:nvCxnSpPr>
        <p:spPr>
          <a:xfrm>
            <a:off x="7496023" y="4106002"/>
            <a:ext cx="0" cy="734291"/>
          </a:xfrm>
          <a:prstGeom prst="line">
            <a:avLst/>
          </a:prstGeom>
          <a:ln w="38100" cap="rnd">
            <a:solidFill>
              <a:srgbClr val="7A4FC4"/>
            </a:solidFill>
            <a:prstDash val="dash"/>
          </a:ln>
        </p:spPr>
      </p:cxnSp>
      <p:sp>
        <p:nvSpPr>
          <p:cNvPr id="99" name="Shape 99"/>
          <p:cNvSpPr txBox="1"/>
          <p:nvPr/>
        </p:nvSpPr>
        <p:spPr>
          <a:xfrm>
            <a:off x="7572223" y="41250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100" name="Shape 100"/>
          <p:cNvSpPr/>
          <p:nvPr/>
        </p:nvSpPr>
        <p:spPr>
          <a:xfrm>
            <a:off x="7443635" y="478790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1" name="Line 101"/>
          <p:cNvCxnSpPr/>
          <p:nvPr/>
        </p:nvCxnSpPr>
        <p:spPr>
          <a:xfrm>
            <a:off x="8172298" y="3738857"/>
            <a:ext cx="0" cy="734291"/>
          </a:xfrm>
          <a:prstGeom prst="line">
            <a:avLst/>
          </a:prstGeom>
          <a:ln w="38100" cap="rnd">
            <a:solidFill>
              <a:srgbClr val="7A4FC4"/>
            </a:solidFill>
            <a:prstDash val="dash"/>
          </a:ln>
        </p:spPr>
      </p:cxnSp>
      <p:sp>
        <p:nvSpPr>
          <p:cNvPr id="102" name="Shape 102"/>
          <p:cNvSpPr txBox="1"/>
          <p:nvPr/>
        </p:nvSpPr>
        <p:spPr>
          <a:xfrm>
            <a:off x="568055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3" name="Shape 103"/>
          <p:cNvSpPr/>
          <p:nvPr/>
        </p:nvSpPr>
        <p:spPr>
          <a:xfrm>
            <a:off x="8119910" y="442076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4" name="Line 104"/>
          <p:cNvCxnSpPr/>
          <p:nvPr/>
        </p:nvCxnSpPr>
        <p:spPr>
          <a:xfrm>
            <a:off x="8848573" y="3371711"/>
            <a:ext cx="0" cy="734291"/>
          </a:xfrm>
          <a:prstGeom prst="line">
            <a:avLst/>
          </a:prstGeom>
          <a:ln w="38100" cap="rnd">
            <a:solidFill>
              <a:srgbClr val="7A4FC4"/>
            </a:solidFill>
            <a:prstDash val="dash"/>
          </a:ln>
        </p:spPr>
      </p:cxnSp>
      <p:sp>
        <p:nvSpPr>
          <p:cNvPr id="105" name="Shape 105"/>
          <p:cNvSpPr txBox="1"/>
          <p:nvPr/>
        </p:nvSpPr>
        <p:spPr>
          <a:xfrm>
            <a:off x="6356833" y="339076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6" name="Shape 106"/>
          <p:cNvSpPr/>
          <p:nvPr/>
        </p:nvSpPr>
        <p:spPr>
          <a:xfrm>
            <a:off x="879618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7" name="Line 107"/>
          <p:cNvCxnSpPr/>
          <p:nvPr/>
        </p:nvCxnSpPr>
        <p:spPr>
          <a:xfrm flipV="1">
            <a:off x="7157885" y="3738857"/>
            <a:ext cx="2366963" cy="1285009"/>
          </a:xfrm>
          <a:prstGeom prst="line">
            <a:avLst/>
          </a:prstGeom>
          <a:ln w="38100" cap="rnd">
            <a:solidFill>
              <a:srgbClr val="7A4FC4"/>
            </a:solidFill>
          </a:ln>
        </p:spPr>
      </p:cxnSp>
      <p:sp>
        <p:nvSpPr>
          <p:cNvPr id="108" name="Shape 108"/>
          <p:cNvSpPr txBox="1"/>
          <p:nvPr/>
        </p:nvSpPr>
        <p:spPr>
          <a:xfrm>
            <a:off x="703310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109" name="Shape 109"/>
          <p:cNvSpPr/>
          <p:nvPr/>
        </p:nvSpPr>
        <p:spPr>
          <a:xfrm>
            <a:off x="744363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0" name="Shape 110"/>
          <p:cNvSpPr/>
          <p:nvPr/>
        </p:nvSpPr>
        <p:spPr>
          <a:xfrm>
            <a:off x="8119910" y="36864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1" name="Shape 111"/>
          <p:cNvSpPr/>
          <p:nvPr/>
        </p:nvSpPr>
        <p:spPr>
          <a:xfrm>
            <a:off x="8796185" y="3319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2" name="Shape 112"/>
          <p:cNvSpPr txBox="1"/>
          <p:nvPr/>
        </p:nvSpPr>
        <p:spPr>
          <a:xfrm>
            <a:off x="6495898"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7"/>
                                        </p:tgtEl>
                                        <p:attrNameLst>
                                          <p:attrName>style.visibility</p:attrName>
                                        </p:attrNameLst>
                                      </p:cBhvr>
                                      <p:to>
                                        <p:strVal val="visible"/>
                                      </p:to>
                                    </p:set>
                                    <p:animEffect transition="in" filter="wipe(left)">
                                      <p:cBhvr>
                                        <p:cTn id="4" dur="700"/>
                                        <p:tgtEl>
                                          <p:spTgt spid="47"/>
                                        </p:tgtEl>
                                      </p:cBhvr>
                                    </p:animEffect>
                                  </p:childTnLst>
                                </p:cTn>
                              </p:par>
                              <p:par>
                                <p:cTn id="8" presetID="22" presetClass="entr" presetSubtype="8" fill="hold" nodeType="with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700"/>
                                        <p:tgtEl>
                                          <p:spTgt spid="48"/>
                                        </p:tgtEl>
                                      </p:cBhvr>
                                    </p:animEffect>
                                  </p:childTnLst>
                                </p:cTn>
                              </p:par>
                              <p:par>
                                <p:cTn id="11" presetID="22" presetClass="entr" presetSubtype="8" fill="hold"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wipe(left)">
                                      <p:cBhvr>
                                        <p:cTn id="10" dur="700"/>
                                        <p:tgtEl>
                                          <p:spTgt spid="49"/>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0"/>
                                        </p:tgtEl>
                                        <p:attrNameLst>
                                          <p:attrName>style.visibility</p:attrName>
                                        </p:attrNameLst>
                                      </p:cBhvr>
                                      <p:to>
                                        <p:strVal val="visible"/>
                                      </p:to>
                                    </p:set>
                                    <p:animEffect transition="in" filter="wipe(left)">
                                      <p:cBhvr>
                                        <p:cTn id="15" dur="700"/>
                                        <p:tgtEl>
                                          <p:spTgt spid="50"/>
                                        </p:tgtEl>
                                      </p:cBhvr>
                                    </p:animEffect>
                                  </p:childTnLst>
                                </p:cTn>
                              </p:par>
                              <p:par>
                                <p:cTn id="19" presetID="22" presetClass="entr" presetSubtype="8" fill="hold" nodeType="withEffect">
                                  <p:stCondLst>
                                    <p:cond delay="0"/>
                                  </p:stCondLst>
                                  <p:childTnLst>
                                    <p:set>
                                      <p:cBhvr>
                                        <p:cTn id="17" dur="1" fill="hold">
                                          <p:stCondLst>
                                            <p:cond delay="0"/>
                                          </p:stCondLst>
                                        </p:cTn>
                                        <p:tgtEl>
                                          <p:spTgt spid="51"/>
                                        </p:tgtEl>
                                        <p:attrNameLst>
                                          <p:attrName>style.visibility</p:attrName>
                                        </p:attrNameLst>
                                      </p:cBhvr>
                                      <p:to>
                                        <p:strVal val="visible"/>
                                      </p:to>
                                    </p:set>
                                    <p:animEffect transition="in" filter="wipe(left)">
                                      <p:cBhvr>
                                        <p:cTn id="18" dur="700"/>
                                        <p:tgtEl>
                                          <p:spTgt spid="51"/>
                                        </p:tgtEl>
                                      </p:cBhvr>
                                    </p:animEffect>
                                  </p:childTnLst>
                                </p:cTn>
                              </p:par>
                              <p:par>
                                <p:cTn id="22" presetID="22" presetClass="entr" presetSubtype="8"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left)">
                                      <p:cBhvr>
                                        <p:cTn id="21" dur="700"/>
                                        <p:tgtEl>
                                          <p:spTgt spid="52"/>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3"/>
                                        </p:tgtEl>
                                        <p:attrNameLst>
                                          <p:attrName>style.visibility</p:attrName>
                                        </p:attrNameLst>
                                      </p:cBhvr>
                                      <p:to>
                                        <p:strVal val="visible"/>
                                      </p:to>
                                    </p:set>
                                    <p:animEffect transition="in" filter="wipe(left)">
                                      <p:cBhvr>
                                        <p:cTn id="26" dur="700"/>
                                        <p:tgtEl>
                                          <p:spTgt spid="53"/>
                                        </p:tgtEl>
                                      </p:cBhvr>
                                    </p:animEffect>
                                  </p:childTnLst>
                                </p:cTn>
                              </p:par>
                              <p:par>
                                <p:cTn id="30" presetID="22" presetClass="entr" presetSubtype="8" fill="hold" nodeType="withEffect">
                                  <p:stCondLst>
                                    <p:cond delay="0"/>
                                  </p:stCondLst>
                                  <p:childTnLst>
                                    <p:set>
                                      <p:cBhvr>
                                        <p:cTn id="28" dur="1" fill="hold">
                                          <p:stCondLst>
                                            <p:cond delay="0"/>
                                          </p:stCondLst>
                                        </p:cTn>
                                        <p:tgtEl>
                                          <p:spTgt spid="54"/>
                                        </p:tgtEl>
                                        <p:attrNameLst>
                                          <p:attrName>style.visibility</p:attrName>
                                        </p:attrNameLst>
                                      </p:cBhvr>
                                      <p:to>
                                        <p:strVal val="visible"/>
                                      </p:to>
                                    </p:set>
                                    <p:animEffect transition="in" filter="wipe(left)">
                                      <p:cBhvr>
                                        <p:cTn id="29" dur="700"/>
                                        <p:tgtEl>
                                          <p:spTgt spid="54"/>
                                        </p:tgtEl>
                                      </p:cBhvr>
                                    </p:animEffect>
                                  </p:childTnLst>
                                </p:cTn>
                              </p:par>
                            </p:childTnLst>
                          </p:cTn>
                        </p:par>
                      </p:childTnLst>
                    </p:cTn>
                  </p:par>
                  <p:par>
                    <p:cTn id="38" fill="hold">
                      <p:stCondLst>
                        <p:cond delay="indefinite"/>
                      </p:stCondLst>
                      <p:childTnLst>
                        <p:par>
                          <p:cTn id="39" fill="hold">
                            <p:stCondLst>
                              <p:cond delay="0"/>
                            </p:stCondLst>
                            <p:childTnLst>
                              <p:par>
                                <p:cTn id="37" presetID="53" presetClass="entr" presetSubtype="16" fill="hold" nodeType="clickEffect">
                                  <p:stCondLst>
                                    <p:cond delay="0"/>
                                  </p:stCondLst>
                                  <p:childTnLst>
                                    <p:set>
                                      <p:cBhvr>
                                        <p:cTn id="33" dur="1" fill="hold">
                                          <p:stCondLst>
                                            <p:cond delay="0"/>
                                          </p:stCondLst>
                                        </p:cTn>
                                        <p:tgtEl>
                                          <p:spTgt spid="57"/>
                                        </p:tgtEl>
                                        <p:attrNameLst>
                                          <p:attrName>style.visibility</p:attrName>
                                        </p:attrNameLst>
                                      </p:cBhvr>
                                      <p:to>
                                        <p:strVal val="visible"/>
                                      </p:to>
                                    </p:set>
                                    <p:animEffect transition="in" filter="fade">
                                      <p:cBhvr>
                                        <p:cTn id="34" dur="500"/>
                                        <p:tgtEl>
                                          <p:spTgt spid="57"/>
                                        </p:tgtEl>
                                      </p:cBhvr>
                                    </p:animEffect>
                                    <p:anim calcmode="lin" valueType="num">
                                      <p:cBhvr>
                                        <p:cTn id="35" dur="500" fill="hold"/>
                                        <p:tgtEl>
                                          <p:spTgt spid="57"/>
                                        </p:tgtEl>
                                        <p:attrNameLst>
                                          <p:attrName>ppt_w</p:attrName>
                                        </p:attrNameLst>
                                      </p:cBhvr>
                                      <p:tavLst>
                                        <p:tav tm="0">
                                          <p:val>
                                            <p:fltVal val="0"/>
                                          </p:val>
                                        </p:tav>
                                        <p:tav tm="100000">
                                          <p:val>
                                            <p:strVal val="#ppt_w"/>
                                          </p:val>
                                        </p:tav>
                                      </p:tavLst>
                                    </p:anim>
                                    <p:anim calcmode="lin" valueType="num">
                                      <p:cBhvr>
                                        <p:cTn id="3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2" presetID="22" presetClass="entr" presetSubtype="8" fill="hold" nodeType="clickEffect">
                                  <p:stCondLst>
                                    <p:cond delay="0"/>
                                  </p:stCondLst>
                                  <p:childTnLst>
                                    <p:set>
                                      <p:cBhvr>
                                        <p:cTn id="40" dur="1" fill="hold">
                                          <p:stCondLst>
                                            <p:cond delay="0"/>
                                          </p:stCondLst>
                                        </p:cTn>
                                        <p:tgtEl>
                                          <p:spTgt spid="98"/>
                                        </p:tgtEl>
                                        <p:attrNameLst>
                                          <p:attrName>style.visibility</p:attrName>
                                        </p:attrNameLst>
                                      </p:cBhvr>
                                      <p:to>
                                        <p:strVal val="visible"/>
                                      </p:to>
                                    </p:set>
                                    <p:animEffect transition="in" filter="wipe(left)">
                                      <p:cBhvr>
                                        <p:cTn id="41" dur="700"/>
                                        <p:tgtEl>
                                          <p:spTgt spid="98"/>
                                        </p:tgtEl>
                                      </p:cBhvr>
                                    </p:animEffect>
                                  </p:childTnLst>
                                </p:cTn>
                              </p:par>
                              <p:par>
                                <p:cTn id="45" presetID="22" presetClass="entr" presetSubtype="8" fill="hold" nodeType="withEffect">
                                  <p:stCondLst>
                                    <p:cond delay="0"/>
                                  </p:stCondLst>
                                  <p:childTnLst>
                                    <p:set>
                                      <p:cBhvr>
                                        <p:cTn id="43" dur="1" fill="hold">
                                          <p:stCondLst>
                                            <p:cond delay="0"/>
                                          </p:stCondLst>
                                        </p:cTn>
                                        <p:tgtEl>
                                          <p:spTgt spid="99"/>
                                        </p:tgtEl>
                                        <p:attrNameLst>
                                          <p:attrName>style.visibility</p:attrName>
                                        </p:attrNameLst>
                                      </p:cBhvr>
                                      <p:to>
                                        <p:strVal val="visible"/>
                                      </p:to>
                                    </p:set>
                                    <p:animEffect transition="in" filter="wipe(left)">
                                      <p:cBhvr>
                                        <p:cTn id="44" dur="700"/>
                                        <p:tgtEl>
                                          <p:spTgt spid="99"/>
                                        </p:tgtEl>
                                      </p:cBhvr>
                                    </p:animEffect>
                                  </p:childTnLst>
                                </p:cTn>
                              </p:par>
                              <p:par>
                                <p:cTn id="48" presetID="22" presetClass="entr" presetSubtype="8" fill="hold" nodeType="withEffect">
                                  <p:stCondLst>
                                    <p:cond delay="0"/>
                                  </p:stCondLst>
                                  <p:childTnLst>
                                    <p:set>
                                      <p:cBhvr>
                                        <p:cTn id="46" dur="1" fill="hold">
                                          <p:stCondLst>
                                            <p:cond delay="0"/>
                                          </p:stCondLst>
                                        </p:cTn>
                                        <p:tgtEl>
                                          <p:spTgt spid="100"/>
                                        </p:tgtEl>
                                        <p:attrNameLst>
                                          <p:attrName>style.visibility</p:attrName>
                                        </p:attrNameLst>
                                      </p:cBhvr>
                                      <p:to>
                                        <p:strVal val="visible"/>
                                      </p:to>
                                    </p:set>
                                    <p:animEffect transition="in" filter="wipe(left)">
                                      <p:cBhvr>
                                        <p:cTn id="47" dur="700"/>
                                        <p:tgtEl>
                                          <p:spTgt spid="100"/>
                                        </p:tgtEl>
                                      </p:cBhvr>
                                    </p:animEffect>
                                  </p:childTnLst>
                                </p:cTn>
                              </p:par>
                            </p:childTnLst>
                          </p:cTn>
                        </p:par>
                      </p:childTnLst>
                    </p:cTn>
                  </p:par>
                  <p:par>
                    <p:cTn id="60" fill="hold">
                      <p:stCondLst>
                        <p:cond delay="indefinite"/>
                      </p:stCondLst>
                      <p:childTnLst>
                        <p:par>
                          <p:cTn id="61" fill="hold">
                            <p:stCondLst>
                              <p:cond delay="0"/>
                            </p:stCondLst>
                            <p:childTnLst>
                              <p:par>
                                <p:cTn id="53" presetID="22" presetClass="entr" presetSubtype="8" fill="hold" nodeType="clickEffect">
                                  <p:stCondLst>
                                    <p:cond delay="0"/>
                                  </p:stCondLst>
                                  <p:childTnLst>
                                    <p:set>
                                      <p:cBhvr>
                                        <p:cTn id="51" dur="1" fill="hold">
                                          <p:stCondLst>
                                            <p:cond delay="0"/>
                                          </p:stCondLst>
                                        </p:cTn>
                                        <p:tgtEl>
                                          <p:spTgt spid="101"/>
                                        </p:tgtEl>
                                        <p:attrNameLst>
                                          <p:attrName>style.visibility</p:attrName>
                                        </p:attrNameLst>
                                      </p:cBhvr>
                                      <p:to>
                                        <p:strVal val="visible"/>
                                      </p:to>
                                    </p:set>
                                    <p:animEffect transition="in" filter="wipe(left)">
                                      <p:cBhvr>
                                        <p:cTn id="52" dur="700"/>
                                        <p:tgtEl>
                                          <p:spTgt spid="101"/>
                                        </p:tgtEl>
                                      </p:cBhvr>
                                    </p:animEffect>
                                  </p:childTnLst>
                                </p:cTn>
                              </p:par>
                              <p:par>
                                <p:cTn id="56" presetID="22" presetClass="entr" presetSubtype="8" fill="hold" nodeType="withEffect">
                                  <p:stCondLst>
                                    <p:cond delay="0"/>
                                  </p:stCondLst>
                                  <p:childTnLst>
                                    <p:set>
                                      <p:cBhvr>
                                        <p:cTn id="54" dur="1" fill="hold">
                                          <p:stCondLst>
                                            <p:cond delay="0"/>
                                          </p:stCondLst>
                                        </p:cTn>
                                        <p:tgtEl>
                                          <p:spTgt spid="102"/>
                                        </p:tgtEl>
                                        <p:attrNameLst>
                                          <p:attrName>style.visibility</p:attrName>
                                        </p:attrNameLst>
                                      </p:cBhvr>
                                      <p:to>
                                        <p:strVal val="visible"/>
                                      </p:to>
                                    </p:set>
                                    <p:animEffect transition="in" filter="wipe(left)">
                                      <p:cBhvr>
                                        <p:cTn id="55" dur="700"/>
                                        <p:tgtEl>
                                          <p:spTgt spid="102"/>
                                        </p:tgtEl>
                                      </p:cBhvr>
                                    </p:animEffect>
                                  </p:childTnLst>
                                </p:cTn>
                              </p:par>
                              <p:par>
                                <p:cTn id="59" presetID="22" presetClass="entr" presetSubtype="8" fill="hold" nodeType="withEffect">
                                  <p:stCondLst>
                                    <p:cond delay="0"/>
                                  </p:stCondLst>
                                  <p:childTnLst>
                                    <p:set>
                                      <p:cBhvr>
                                        <p:cTn id="57" dur="1" fill="hold">
                                          <p:stCondLst>
                                            <p:cond delay="0"/>
                                          </p:stCondLst>
                                        </p:cTn>
                                        <p:tgtEl>
                                          <p:spTgt spid="103"/>
                                        </p:tgtEl>
                                        <p:attrNameLst>
                                          <p:attrName>style.visibility</p:attrName>
                                        </p:attrNameLst>
                                      </p:cBhvr>
                                      <p:to>
                                        <p:strVal val="visible"/>
                                      </p:to>
                                    </p:set>
                                    <p:animEffect transition="in" filter="wipe(left)">
                                      <p:cBhvr>
                                        <p:cTn id="58" dur="700"/>
                                        <p:tgtEl>
                                          <p:spTgt spid="103"/>
                                        </p:tgtEl>
                                      </p:cBhvr>
                                    </p:animEffect>
                                  </p:childTnLst>
                                </p:cTn>
                              </p:par>
                            </p:childTnLst>
                          </p:cTn>
                        </p:par>
                      </p:childTnLst>
                    </p:cTn>
                  </p:par>
                  <p:par>
                    <p:cTn id="71" fill="hold">
                      <p:stCondLst>
                        <p:cond delay="indefinite"/>
                      </p:stCondLst>
                      <p:childTnLst>
                        <p:par>
                          <p:cTn id="72"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104"/>
                                        </p:tgtEl>
                                        <p:attrNameLst>
                                          <p:attrName>style.visibility</p:attrName>
                                        </p:attrNameLst>
                                      </p:cBhvr>
                                      <p:to>
                                        <p:strVal val="visible"/>
                                      </p:to>
                                    </p:set>
                                    <p:animEffect transition="in" filter="wipe(left)">
                                      <p:cBhvr>
                                        <p:cTn id="63" dur="700"/>
                                        <p:tgtEl>
                                          <p:spTgt spid="104"/>
                                        </p:tgtEl>
                                      </p:cBhvr>
                                    </p:animEffect>
                                  </p:childTnLst>
                                </p:cTn>
                              </p:par>
                              <p:par>
                                <p:cTn id="67" presetID="22" presetClass="entr" presetSubtype="8" fill="hold" nodeType="withEffect">
                                  <p:stCondLst>
                                    <p:cond delay="0"/>
                                  </p:stCondLst>
                                  <p:childTnLst>
                                    <p:set>
                                      <p:cBhvr>
                                        <p:cTn id="65" dur="1" fill="hold">
                                          <p:stCondLst>
                                            <p:cond delay="0"/>
                                          </p:stCondLst>
                                        </p:cTn>
                                        <p:tgtEl>
                                          <p:spTgt spid="105"/>
                                        </p:tgtEl>
                                        <p:attrNameLst>
                                          <p:attrName>style.visibility</p:attrName>
                                        </p:attrNameLst>
                                      </p:cBhvr>
                                      <p:to>
                                        <p:strVal val="visible"/>
                                      </p:to>
                                    </p:set>
                                    <p:animEffect transition="in" filter="wipe(left)">
                                      <p:cBhvr>
                                        <p:cTn id="66" dur="700"/>
                                        <p:tgtEl>
                                          <p:spTgt spid="105"/>
                                        </p:tgtEl>
                                      </p:cBhvr>
                                    </p:animEffect>
                                  </p:childTnLst>
                                </p:cTn>
                              </p:par>
                              <p:par>
                                <p:cTn id="70" presetID="22" presetClass="entr" presetSubtype="8" fill="hold" nodeType="withEffect">
                                  <p:stCondLst>
                                    <p:cond delay="0"/>
                                  </p:stCondLst>
                                  <p:childTnLst>
                                    <p:set>
                                      <p:cBhvr>
                                        <p:cTn id="68" dur="1" fill="hold">
                                          <p:stCondLst>
                                            <p:cond delay="0"/>
                                          </p:stCondLst>
                                        </p:cTn>
                                        <p:tgtEl>
                                          <p:spTgt spid="106"/>
                                        </p:tgtEl>
                                        <p:attrNameLst>
                                          <p:attrName>style.visibility</p:attrName>
                                        </p:attrNameLst>
                                      </p:cBhvr>
                                      <p:to>
                                        <p:strVal val="visible"/>
                                      </p:to>
                                    </p:set>
                                    <p:animEffect transition="in" filter="wipe(left)">
                                      <p:cBhvr>
                                        <p:cTn id="69" dur="700"/>
                                        <p:tgtEl>
                                          <p:spTgt spid="106"/>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nodeType="clickEffect">
                                  <p:stCondLst>
                                    <p:cond delay="0"/>
                                  </p:stCondLst>
                                  <p:childTnLst>
                                    <p:set>
                                      <p:cBhvr>
                                        <p:cTn id="73" dur="1" fill="hold">
                                          <p:stCondLst>
                                            <p:cond delay="0"/>
                                          </p:stCondLst>
                                        </p:cTn>
                                        <p:tgtEl>
                                          <p:spTgt spid="107"/>
                                        </p:tgtEl>
                                        <p:attrNameLst>
                                          <p:attrName>style.visibility</p:attrName>
                                        </p:attrNameLst>
                                      </p:cBhvr>
                                      <p:to>
                                        <p:strVal val="visible"/>
                                      </p:to>
                                    </p:set>
                                    <p:animEffect transition="in" filter="wipe(left)">
                                      <p:cBhvr>
                                        <p:cTn id="74" dur="700"/>
                                        <p:tgtEl>
                                          <p:spTgt spid="107"/>
                                        </p:tgtEl>
                                      </p:cBhvr>
                                    </p:animEffect>
                                  </p:childTnLst>
                                </p:cTn>
                              </p:par>
                              <p:par>
                                <p:cTn id="78" presetID="22" presetClass="entr" presetSubtype="8" fill="hold" nodeType="withEffect">
                                  <p:stCondLst>
                                    <p:cond delay="0"/>
                                  </p:stCondLst>
                                  <p:childTnLst>
                                    <p:set>
                                      <p:cBhvr>
                                        <p:cTn id="76" dur="1" fill="hold">
                                          <p:stCondLst>
                                            <p:cond delay="0"/>
                                          </p:stCondLst>
                                        </p:cTn>
                                        <p:tgtEl>
                                          <p:spTgt spid="108"/>
                                        </p:tgtEl>
                                        <p:attrNameLst>
                                          <p:attrName>style.visibility</p:attrName>
                                        </p:attrNameLst>
                                      </p:cBhvr>
                                      <p:to>
                                        <p:strVal val="visible"/>
                                      </p:to>
                                    </p:set>
                                    <p:animEffect transition="in" filter="wipe(left)">
                                      <p:cBhvr>
                                        <p:cTn id="77" dur="700"/>
                                        <p:tgtEl>
                                          <p:spTgt spid="108"/>
                                        </p:tgtEl>
                                      </p:cBhvr>
                                    </p:animEffect>
                                  </p:childTnLst>
                                </p:cTn>
                              </p:par>
                            </p:childTnLst>
                          </p:cTn>
                        </p:par>
                      </p:childTnLst>
                    </p:cTn>
                  </p:par>
                  <p:par>
                    <p:cTn id="86" fill="hold">
                      <p:stCondLst>
                        <p:cond delay="indefinite"/>
                      </p:stCondLst>
                      <p:childTnLst>
                        <p:par>
                          <p:cTn id="87" fill="hold">
                            <p:stCondLst>
                              <p:cond delay="0"/>
                            </p:stCondLst>
                            <p:childTnLst>
                              <p:par>
                                <p:cTn id="85" presetID="53" presetClass="entr" presetSubtype="16" fill="hold" nodeType="clickEffect">
                                  <p:stCondLst>
                                    <p:cond delay="0"/>
                                  </p:stCondLst>
                                  <p:childTnLst>
                                    <p:set>
                                      <p:cBhvr>
                                        <p:cTn id="81" dur="1" fill="hold">
                                          <p:stCondLst>
                                            <p:cond delay="0"/>
                                          </p:stCondLst>
                                        </p:cTn>
                                        <p:tgtEl>
                                          <p:spTgt spid="112"/>
                                        </p:tgtEl>
                                        <p:attrNameLst>
                                          <p:attrName>style.visibility</p:attrName>
                                        </p:attrNameLst>
                                      </p:cBhvr>
                                      <p:to>
                                        <p:strVal val="visible"/>
                                      </p:to>
                                    </p:set>
                                    <p:animEffect transition="in" filter="fade">
                                      <p:cBhvr>
                                        <p:cTn id="82" dur="500"/>
                                        <p:tgtEl>
                                          <p:spTgt spid="112"/>
                                        </p:tgtEl>
                                      </p:cBhvr>
                                    </p:animEffect>
                                    <p:anim calcmode="lin" valueType="num">
                                      <p:cBhvr>
                                        <p:cTn id="83" dur="500" fill="hold"/>
                                        <p:tgtEl>
                                          <p:spTgt spid="112"/>
                                        </p:tgtEl>
                                        <p:attrNameLst>
                                          <p:attrName>ppt_w</p:attrName>
                                        </p:attrNameLst>
                                      </p:cBhvr>
                                      <p:tavLst>
                                        <p:tav tm="0">
                                          <p:val>
                                            <p:fltVal val="0"/>
                                          </p:val>
                                        </p:tav>
                                        <p:tav tm="100000">
                                          <p:val>
                                            <p:strVal val="#ppt_w"/>
                                          </p:val>
                                        </p:tav>
                                      </p:tavLst>
                                    </p:anim>
                                    <p:anim calcmode="lin" valueType="num">
                                      <p:cBhvr>
                                        <p:cTn id="84" dur="500" fill="hold"/>
                                        <p:tgtEl>
                                          <p:spTgt spid="1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8" name="Shape 8"/>
          <p:cNvSpPr txBox="1"/>
          <p:nvPr/>
        </p:nvSpPr>
        <p:spPr>
          <a:xfrm>
            <a:off x="685800"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+ 5)</a:t>
            </a:r>
            <a:endParaRPr lang="en-US" sz="2100" dirty="0"/>
          </a:p>
        </p:txBody>
      </p:sp>
      <p:sp>
        <p:nvSpPr>
          <p:cNvPr id="5" name="Shape 5"/>
          <p:cNvSpPr txBox="1"/>
          <p:nvPr/>
        </p:nvSpPr>
        <p:spPr>
          <a:xfrm>
            <a:off x="895350"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5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the parentheses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the graph moves left or right.</a:t>
            </a:r>
            <a:endParaRPr lang="en-US" sz="1575" dirty="0"/>
          </a:p>
        </p:txBody>
      </p:sp>
      <p:sp>
        <p:nvSpPr>
          <p:cNvPr id="6" name="Shape 6"/>
          <p:cNvSpPr txBox="1"/>
          <p:nvPr/>
        </p:nvSpPr>
        <p:spPr>
          <a:xfrm>
            <a:off x="895350"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760470"/>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13" name="Shape 13"/>
          <p:cNvSpPr txBox="1"/>
          <p:nvPr/>
        </p:nvSpPr>
        <p:spPr>
          <a:xfrm>
            <a:off x="4368698"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0" name="Shape 10"/>
          <p:cNvSpPr txBox="1"/>
          <p:nvPr/>
        </p:nvSpPr>
        <p:spPr>
          <a:xfrm>
            <a:off x="4578248"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2 is </a:t>
            </a:r>
            <a:r>
              <a:rPr lang="en-US" sz="1575" dirty="0" b="1">
                <a:solidFill>
                  <a:srgbClr val="16171D"/>
                </a:solidFill>
                <a:latin typeface="Segoe UI"/>
                <a:cs typeface="Segoe UI"/>
              </a:rPr>
              <a:t xml:space="preserve">outside</a:t>
            </a:r>
            <a:r>
              <a:rPr lang="en-US" sz="1575" dirty="0">
                <a:solidFill>
                  <a:srgbClr val="16171D"/>
                </a:solidFill>
                <a:latin typeface="Segoe UI"/>
                <a:cs typeface="Segoe UI"/>
              </a:rPr>
              <a:t xml:space="preserve"> the parentheses, so the graph moves up or down.</a:t>
            </a:r>
            <a:endParaRPr lang="en-US" sz="1575" dirty="0"/>
          </a:p>
        </p:txBody>
      </p:sp>
      <p:sp>
        <p:nvSpPr>
          <p:cNvPr id="11" name="Shape 11"/>
          <p:cNvSpPr txBox="1"/>
          <p:nvPr/>
        </p:nvSpPr>
        <p:spPr>
          <a:xfrm>
            <a:off x="4578248"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Outside, no flip: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4578248" y="3760470"/>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8" name="Shape 18"/>
          <p:cNvSpPr txBox="1"/>
          <p:nvPr/>
        </p:nvSpPr>
        <p:spPr>
          <a:xfrm>
            <a:off x="8051597" y="1618488"/>
            <a:ext cx="3454298" cy="259232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5" name="Shape 15"/>
          <p:cNvSpPr txBox="1"/>
          <p:nvPr/>
        </p:nvSpPr>
        <p:spPr>
          <a:xfrm>
            <a:off x="8261147"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3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so left or right.</a:t>
            </a:r>
            <a:endParaRPr lang="en-US" sz="1575" dirty="0"/>
          </a:p>
        </p:txBody>
      </p:sp>
      <p:sp>
        <p:nvSpPr>
          <p:cNvPr id="16" name="Shape 16"/>
          <p:cNvSpPr txBox="1"/>
          <p:nvPr/>
        </p:nvSpPr>
        <p:spPr>
          <a:xfrm>
            <a:off x="8261147" y="289026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minus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8261147" y="3520440"/>
            <a:ext cx="30351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ppt_x</p:attrName>
                                        </p:attrNameLst>
                                      </p:cBhvr>
                                      <p:tavLst>
                                        <p:tav tm="0">
                                          <p:val>
                                            <p:strVal val="#ppt_x"/>
                                          </p:val>
                                        </p:tav>
                                        <p:tav tm="100000">
                                          <p:val>
                                            <p:strVal val="#ppt_x"/>
                                          </p:val>
                                        </p:tav>
                                      </p:tavLst>
                                    </p:anim>
                                    <p:anim calcmode="lin" valueType="num">
                                      <p:cBhvr>
                                        <p:cTn id="4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inside, so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where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was: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− 1.</a:t>
            </a:r>
            <a:endParaRPr lang="en-US" sz="1575" dirty="0"/>
          </a:p>
        </p:txBody>
      </p:sp>
      <p:sp>
        <p:nvSpPr>
          <p:cNvPr id="6" name="Shape 6"/>
          <p:cNvSpPr txBox="1"/>
          <p:nvPr/>
        </p:nvSpPr>
        <p:spPr>
          <a:xfrm>
            <a:off x="895350"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Distribute the 2: 2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2 · (−2) = −4. Now it is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− 4 − 1.</a:t>
            </a:r>
            <a:endParaRPr lang="en-US" sz="1575" dirty="0"/>
          </a:p>
        </p:txBody>
      </p:sp>
      <p:sp>
        <p:nvSpPr>
          <p:cNvPr id="7" name="Shape 7"/>
          <p:cNvSpPr txBox="1"/>
          <p:nvPr/>
        </p:nvSpPr>
        <p:spPr>
          <a:xfrm>
            <a:off x="895350" y="352044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Combine the numbers: −4 − 1 = −5.</a:t>
            </a:r>
            <a:endParaRPr lang="en-US" sz="1575" dirty="0"/>
          </a:p>
        </p:txBody>
      </p:sp>
      <p:sp>
        <p:nvSpPr>
          <p:cNvPr id="8" name="Shape 8"/>
          <p:cNvSpPr txBox="1"/>
          <p:nvPr/>
        </p:nvSpPr>
        <p:spPr>
          <a:xfrm>
            <a:off x="895350" y="391058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outside, so write the whole rule, then subtract 2: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− 1 − 2.</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Combine the numbers: −1 − 2 = −3. That gives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Compare with #1: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 and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different places.</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 not the same graph as #1</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310667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534412"/>
            <a:ext cx="3060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6" name="Shape 6"/>
          <p:cNvSpPr txBox="1"/>
          <p:nvPr/>
        </p:nvSpPr>
        <p:spPr>
          <a:xfrm>
            <a:off x="895350" y="3148584"/>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6 is inside the parentheses, so the graph moves left or right.</a:t>
            </a:r>
            <a:endParaRPr lang="en-US" sz="1575" dirty="0"/>
          </a:p>
        </p:txBody>
      </p:sp>
      <p:sp>
        <p:nvSpPr>
          <p:cNvPr id="7" name="Shape 7"/>
          <p:cNvSpPr txBox="1"/>
          <p:nvPr/>
        </p:nvSpPr>
        <p:spPr>
          <a:xfrm>
            <a:off x="895350" y="401878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Inside, the sign flips: minus means right. Right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10" name="Shape 10"/>
          <p:cNvSpPr txBox="1"/>
          <p:nvPr/>
        </p:nvSpPr>
        <p:spPr>
          <a:xfrm>
            <a:off x="4565548"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1 is outside, so the graph moves up or down.</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Outside, no flip: plus means up. Up 1.</a:t>
            </a:r>
            <a:endParaRPr lang="en-US" sz="1575" dirty="0"/>
          </a:p>
        </p:txBody>
      </p:sp>
      <p:sp>
        <p:nvSpPr>
          <p:cNvPr id="18" name="Shape 18"/>
          <p:cNvSpPr txBox="1"/>
          <p:nvPr/>
        </p:nvSpPr>
        <p:spPr>
          <a:xfrm>
            <a:off x="8026197"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5" name="Shape 15"/>
          <p:cNvSpPr txBox="1"/>
          <p:nvPr/>
        </p:nvSpPr>
        <p:spPr>
          <a:xfrm>
            <a:off x="8235747" y="253441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hape 16"/>
          <p:cNvSpPr txBox="1"/>
          <p:nvPr/>
        </p:nvSpPr>
        <p:spPr>
          <a:xfrm>
            <a:off x="8235747"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Put (x + 1) in for x: j(x + 1) = 3(x + 1).</a:t>
            </a:r>
            <a:endParaRPr lang="en-US" sz="1575" dirty="0"/>
          </a:p>
        </p:txBody>
      </p:sp>
      <p:sp>
        <p:nvSpPr>
          <p:cNvPr id="17" name="Shape 17"/>
          <p:cNvSpPr txBox="1"/>
          <p:nvPr/>
        </p:nvSpPr>
        <p:spPr>
          <a:xfrm>
            <a:off x="8235747"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Distribute: 3 · x + 3 · 1 = 3x + 3.</a:t>
            </a:r>
            <a:endParaRPr lang="en-US" sz="157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