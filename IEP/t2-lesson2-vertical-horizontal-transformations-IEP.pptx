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The slope −⅔ is negative, so the line falls from left to right.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f(2x) = 2x and 2f(x) = 2x. For the parent function they match.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976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5" name="Shape 5"/>
          <p:cNvSpPr txBox="1"/>
          <p:nvPr/>
        </p:nvSpPr>
        <p:spPr>
          <a:xfrm>
            <a:off x="685800" y="33345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8808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7" name="Shape 7"/>
          <p:cNvSpPr txBox="1"/>
          <p:nvPr/>
        </p:nvSpPr>
        <p:spPr>
          <a:xfrm>
            <a:off x="685800" y="44043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8" name="Shape 8"/>
          <p:cNvSpPr txBox="1"/>
          <p:nvPr/>
        </p:nvSpPr>
        <p:spPr>
          <a:xfrm>
            <a:off x="685800" y="49278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9" name="Shape 9"/>
          <p:cNvSpPr txBox="1"/>
          <p:nvPr/>
        </p:nvSpPr>
        <p:spPr>
          <a:xfrm>
            <a:off x="685800" y="55084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Is </a:t>
            </a:r>
            <a:r>
              <a:rPr lang="en-US" sz="1950" dirty="0" i="1">
                <a:solidFill>
                  <a:srgbClr val="16171D"/>
                </a:solidFill>
                <a:latin typeface="Cambria"/>
                <a:cs typeface="Cambria"/>
              </a:rPr>
              <a:t xml:space="preserve">h</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−⅔</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increasing or decreasing? </a:t>
            </a:r>
            <a:r>
              <a:rPr lang="en-US" sz="1575" dirty="0">
                <a:solidFill>
                  <a:srgbClr val="5F6272"/>
                </a:solidFill>
                <a:latin typeface="Segoe UI"/>
                <a:cs typeface="Segoe UI"/>
              </a:rPr>
              <a:t xml:space="preserve">(SE p. 288)</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Decreasing</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the same as the graph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295)</a:t>
            </a:r>
            <a:endParaRPr lang="en-US" sz="1950" dirty="0"/>
          </a:p>
        </p:txBody>
      </p:sp>
      <p:sp>
        <p:nvSpPr>
          <p:cNvPr id="11" name="Shape 11"/>
          <p:cNvSpPr txBox="1"/>
          <p:nvPr/>
        </p:nvSpPr>
        <p:spPr>
          <a:xfrm>
            <a:off x="6362548" y="4026408"/>
            <a:ext cx="51433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both are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495898" y="265023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2372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8" name="Shape 8"/>
          <p:cNvSpPr txBox="1"/>
          <p:nvPr/>
        </p:nvSpPr>
        <p:spPr>
          <a:xfrm>
            <a:off x="895350" y="367969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1" name="Shape 11"/>
          <p:cNvSpPr txBox="1"/>
          <p:nvPr/>
        </p:nvSpPr>
        <p:spPr>
          <a:xfrm>
            <a:off x="895350" y="512216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12</Slides>
  <Notes>12</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