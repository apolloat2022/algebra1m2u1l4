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Lesson 6: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slope between two points (the Lesson 5 Prepare page), evaluating a function, solving a two-step equation, and direct variation. Reveal the answers one at a time. Answer key: 1. (15 − 7)/(6 − 2) = 8/4 = 2. 2. f(5) = 4(5) − 3 = 17. 3. 3x = 18, so x = 6. 4. y = 3x is a direct variation: it passes through (0, 0), so y is always 3 times x. y = 3x + 2 starts at (0, 2), so it is not.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Watch #1: the inputs jump from 2 to 6, so students must divide by 4, not 2. Answer key: 1. (7 − 3)/(2 − 0) = 2 and (15 − 7)/(6 − 2) = 2. Same slope, so linear, and (0, 3) is the y-intercept: y = 2x + 3. 2. (5 − 1)/2 = 2 but (13 − 5)/2 = 4. Different slopes, so not one line. 3. y = 3x; yes, it passes through (0, 0), since 0 pretzels cost $0. 4. 0.75x = 9, so x = 12.</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zero is the number 7, not the point (7, 0) and not −7. Answer key: 1. Distribute: 4x − 20. 2. x − 7 = 0 when x = 7. 3. The greatest exponent is 3, and the number in front of x³ is 5. 4. E(4) = 15(4) = 60: selling 4 T-shirts earns $60.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division for every pair, not just the first one.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lesson6-bellwork-day1-IEP.html" TargetMode="External"/><Relationship Id="rId4" Type="http://schemas.openxmlformats.org/officeDocument/2006/relationships/hyperlink" Target="https://algebra1m2u1l4.vercel.app/IEP/lesson6-bellwork-day2-IEP.html" TargetMode="External"/><Relationship Id="rId5" Type="http://schemas.openxmlformats.org/officeDocument/2006/relationships/hyperlink" Target="https://algebra1m2u1l4.vercel.app/IEP/lesson6-bellwork-day3-IEP.html" TargetMode="External"/><Relationship Id="rId6" Type="http://schemas.openxmlformats.org/officeDocument/2006/relationships/hyperlink" Target="https://algebra1m2u1l4.vercel.app/IEP/lesson6-homework-IEP.html" TargetMode="External"/><Relationship Id="rId7" Type="http://schemas.openxmlformats.org/officeDocument/2006/relationships/hyperlink" Target="https://algebra1m2u1l4.vercel.app/IEP/lesson6-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lesson6-bellwork-day1-IEP.html" TargetMode="External"/><Relationship Id="rId4" Type="http://schemas.openxmlformats.org/officeDocument/2006/relationships/hyperlink" Target="https://algebra1m2u1l4.vercel.app/IEP/lesson6-bellwork-day2-IEP.html" TargetMode="External"/><Relationship Id="rId5" Type="http://schemas.openxmlformats.org/officeDocument/2006/relationships/hyperlink" Target="https://algebra1m2u1l4.vercel.app/IEP/lesson6-bellwork-day3-IEP.html" TargetMode="External"/><Relationship Id="rId6" Type="http://schemas.openxmlformats.org/officeDocument/2006/relationships/hyperlink" Target="https://algebra1m2u1l4.vercel.app/IEP/lesson6-homework-IEP.html" TargetMode="External"/><Relationship Id="rId7" Type="http://schemas.openxmlformats.org/officeDocument/2006/relationships/hyperlink" Target="https://algebra1m2u1l4.vercel.app/IEP/lesson6-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6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Making Sense of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ax</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a</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c</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table is linear.</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 linear function from a table.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intercepts mean in a story.</a:t>
            </a:r>
            <a:endParaRPr lang="en-US" sz="1950" dirty="0"/>
          </a:p>
        </p:txBody>
      </p:sp>
      <p:sp>
        <p:nvSpPr>
          <p:cNvPr id="9" name="Shape 9"/>
          <p:cNvSpPr txBox="1"/>
          <p:nvPr/>
        </p:nvSpPr>
        <p:spPr>
          <a:xfrm>
            <a:off x="685800" y="47655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zero from factored form.</a:t>
            </a:r>
            <a:endParaRPr lang="en-US" sz="1950" dirty="0"/>
          </a:p>
        </p:txBody>
      </p:sp>
      <p:sp>
        <p:nvSpPr>
          <p:cNvPr id="10" name="Shape 10"/>
          <p:cNvSpPr txBox="1"/>
          <p:nvPr/>
        </p:nvSpPr>
        <p:spPr>
          <a:xfrm>
            <a:off x="685800" y="534619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between </a:t>
            </a:r>
            <a:r>
              <a:rPr lang="en-US" sz="1950" dirty="0">
                <a:solidFill>
                  <a:srgbClr val="16171D"/>
                </a:solidFill>
                <a:latin typeface="Cambria"/>
                <a:cs typeface="Cambria"/>
              </a:rPr>
              <a:t xml:space="preserve">(2, 7)</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(6, 15)</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94665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43204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(5) = 17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12</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is a direct variation: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or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Do </a:t>
            </a:r>
            <a:r>
              <a:rPr lang="en-US" sz="1950" dirty="0">
                <a:solidFill>
                  <a:srgbClr val="16171D"/>
                </a:solidFill>
                <a:latin typeface="Cambria"/>
                <a:cs typeface="Cambria"/>
              </a:rPr>
              <a:t xml:space="preserve">(0, 3), (2, 7), (6, 15)</a:t>
            </a:r>
            <a:r>
              <a:rPr lang="en-US" sz="1950" dirty="0">
                <a:solidFill>
                  <a:srgbClr val="16171D"/>
                </a:solidFill>
                <a:latin typeface="Segoe UI"/>
                <a:cs typeface="Segoe UI"/>
              </a:rPr>
              <a:t xml:space="preserve"> lie on one line? If so, write the equation. </a:t>
            </a:r>
            <a:r>
              <a:rPr lang="en-US" sz="1575" dirty="0">
                <a:solidFill>
                  <a:srgbClr val="5F6272"/>
                </a:solidFill>
                <a:latin typeface="Segoe UI"/>
                <a:cs typeface="Segoe UI"/>
              </a:rPr>
              <a:t xml:space="preserve">(SE p. 241)</a:t>
            </a:r>
            <a:endParaRPr lang="en-US" sz="1950" dirty="0"/>
          </a:p>
        </p:txBody>
      </p:sp>
      <p:sp>
        <p:nvSpPr>
          <p:cNvPr id="5" name="Shape 5"/>
          <p:cNvSpPr txBox="1"/>
          <p:nvPr/>
        </p:nvSpPr>
        <p:spPr>
          <a:xfrm>
            <a:off x="685800" y="2755392"/>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Do </a:t>
            </a:r>
            <a:r>
              <a:rPr lang="en-US" sz="1950" dirty="0">
                <a:solidFill>
                  <a:srgbClr val="16171D"/>
                </a:solidFill>
                <a:latin typeface="Cambria"/>
                <a:cs typeface="Cambria"/>
              </a:rPr>
              <a:t xml:space="preserve">(0, 1), (2, 5), (4, 13)</a:t>
            </a:r>
            <a:r>
              <a:rPr lang="en-US" sz="1950" dirty="0">
                <a:solidFill>
                  <a:srgbClr val="16171D"/>
                </a:solidFill>
                <a:latin typeface="Segoe UI"/>
                <a:cs typeface="Segoe UI"/>
              </a:rPr>
              <a:t xml:space="preserve"> lie on one line? </a:t>
            </a:r>
            <a:r>
              <a:rPr lang="en-US" sz="1575" dirty="0">
                <a:solidFill>
                  <a:srgbClr val="5F6272"/>
                </a:solidFill>
                <a:latin typeface="Segoe UI"/>
                <a:cs typeface="Segoe UI"/>
              </a:rPr>
              <a:t xml:space="preserve">(SE p. 241)</a:t>
            </a:r>
            <a:endParaRPr lang="en-US" sz="1950" dirty="0"/>
          </a:p>
        </p:txBody>
      </p:sp>
      <p:sp>
        <p:nvSpPr>
          <p:cNvPr id="7" name="Shape 7"/>
          <p:cNvSpPr txBox="1"/>
          <p:nvPr/>
        </p:nvSpPr>
        <p:spPr>
          <a:xfrm>
            <a:off x="685800"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8" name="Shape 8"/>
          <p:cNvSpPr txBox="1"/>
          <p:nvPr/>
        </p:nvSpPr>
        <p:spPr>
          <a:xfrm>
            <a:off x="6362548"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Pretzels cost $3 each. Write the equation. Is it a direct variation? </a:t>
            </a:r>
            <a:r>
              <a:rPr lang="en-US" sz="1575" dirty="0">
                <a:solidFill>
                  <a:srgbClr val="5F6272"/>
                </a:solidFill>
                <a:latin typeface="Segoe UI"/>
                <a:cs typeface="Segoe UI"/>
              </a:rPr>
              <a:t xml:space="preserve">(SE p. 241)</a:t>
            </a:r>
            <a:endParaRPr lang="en-US" sz="1950" dirty="0"/>
          </a:p>
        </p:txBody>
      </p:sp>
      <p:sp>
        <p:nvSpPr>
          <p:cNvPr id="9" name="Shape 9"/>
          <p:cNvSpPr txBox="1"/>
          <p:nvPr/>
        </p:nvSpPr>
        <p:spPr>
          <a:xfrm>
            <a:off x="6362548" y="275539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yes</a:t>
            </a:r>
            <a:endParaRPr lang="en-US" sz="2325" dirty="0"/>
          </a:p>
        </p:txBody>
      </p:sp>
      <p:sp>
        <p:nvSpPr>
          <p:cNvPr id="10" name="Shape 10"/>
          <p:cNvSpPr txBox="1"/>
          <p:nvPr/>
        </p:nvSpPr>
        <p:spPr>
          <a:xfrm>
            <a:off x="6362548" y="354101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Solve </a:t>
            </a:r>
            <a:r>
              <a:rPr lang="en-US" sz="1950" dirty="0">
                <a:solidFill>
                  <a:srgbClr val="16171D"/>
                </a:solidFill>
                <a:latin typeface="Cambria"/>
                <a:cs typeface="Cambria"/>
              </a:rPr>
              <a:t xml:space="preserve">0.75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 = 15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242)</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 in general form. </a:t>
            </a:r>
            <a:r>
              <a:rPr lang="en-US" sz="1575" dirty="0">
                <a:solidFill>
                  <a:srgbClr val="5F6272"/>
                </a:solidFill>
                <a:latin typeface="Segoe UI"/>
                <a:cs typeface="Segoe UI"/>
              </a:rPr>
              <a:t xml:space="preserve">(SE p. 248)</a:t>
            </a:r>
            <a:endParaRPr lang="en-US" sz="1950" dirty="0"/>
          </a:p>
        </p:txBody>
      </p:sp>
      <p:sp>
        <p:nvSpPr>
          <p:cNvPr id="5" name="Shape 5"/>
          <p:cNvSpPr txBox="1"/>
          <p:nvPr/>
        </p:nvSpPr>
        <p:spPr>
          <a:xfrm>
            <a:off x="685800"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− 20</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249)</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Degree and leading coefficient of </a:t>
            </a:r>
            <a:r>
              <a:rPr lang="en-US" sz="1950" dirty="0" i="1">
                <a:solidFill>
                  <a:srgbClr val="16171D"/>
                </a:solidFill>
                <a:latin typeface="Cambria"/>
                <a:cs typeface="Cambria"/>
              </a:rPr>
              <a:t xml:space="preserve">P</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248)</a:t>
            </a:r>
            <a:endParaRPr lang="en-US" sz="1950" dirty="0"/>
          </a:p>
        </p:txBody>
      </p:sp>
      <p:sp>
        <p:nvSpPr>
          <p:cNvPr id="9" name="Shape 9"/>
          <p:cNvSpPr txBox="1"/>
          <p:nvPr/>
        </p:nvSpPr>
        <p:spPr>
          <a:xfrm>
            <a:off x="6362548"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degree 3, leading coefficient 5</a:t>
            </a:r>
            <a:endParaRPr lang="en-US" sz="2325" dirty="0"/>
          </a:p>
        </p:txBody>
      </p:sp>
      <p:sp>
        <p:nvSpPr>
          <p:cNvPr id="10" name="Shape 10"/>
          <p:cNvSpPr txBox="1"/>
          <p:nvPr/>
        </p:nvSpPr>
        <p:spPr>
          <a:xfrm>
            <a:off x="6362548" y="359816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t</a:t>
            </a:r>
            <a:r>
              <a:rPr lang="en-US" sz="1950" dirty="0">
                <a:solidFill>
                  <a:srgbClr val="16171D"/>
                </a:solidFill>
                <a:latin typeface="Cambria"/>
                <a:cs typeface="Cambria"/>
              </a:rPr>
              <a:t xml:space="preserve">) = 15</a:t>
            </a:r>
            <a:r>
              <a:rPr lang="en-US" sz="1950" dirty="0" i="1">
                <a:solidFill>
                  <a:srgbClr val="16171D"/>
                </a:solidFill>
                <a:latin typeface="Cambria"/>
                <a:cs typeface="Cambria"/>
              </a:rPr>
              <a:t xml:space="preserve">t</a:t>
            </a:r>
            <a:r>
              <a:rPr lang="en-US" sz="1950" dirty="0">
                <a:solidFill>
                  <a:srgbClr val="16171D"/>
                </a:solidFill>
                <a:latin typeface="Segoe UI"/>
                <a:cs typeface="Segoe UI"/>
              </a:rPr>
              <a:t xml:space="preserve">. Find </a:t>
            </a:r>
            <a:r>
              <a:rPr lang="en-US" sz="1950" dirty="0" i="1">
                <a:solidFill>
                  <a:srgbClr val="16171D"/>
                </a:solidFill>
                <a:latin typeface="Cambria"/>
                <a:cs typeface="Cambria"/>
              </a:rPr>
              <a:t xml:space="preserve">E</a:t>
            </a:r>
            <a:r>
              <a:rPr lang="en-US" sz="1950" dirty="0">
                <a:solidFill>
                  <a:srgbClr val="16171D"/>
                </a:solidFill>
                <a:latin typeface="Cambria"/>
                <a:cs typeface="Cambria"/>
              </a:rPr>
              <a:t xml:space="preserve">(4)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244)</a:t>
            </a:r>
            <a:endParaRPr lang="en-US" sz="1950" dirty="0"/>
          </a:p>
        </p:txBody>
      </p:sp>
      <p:sp>
        <p:nvSpPr>
          <p:cNvPr id="11" name="Shape 11"/>
          <p:cNvSpPr txBox="1"/>
          <p:nvPr/>
        </p:nvSpPr>
        <p:spPr>
          <a:xfrm>
            <a:off x="6362548" y="4083558"/>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E</a:t>
            </a:r>
            <a:r>
              <a:rPr lang="en-US" sz="2325" dirty="0">
                <a:solidFill>
                  <a:srgbClr val="16171D"/>
                </a:solidFill>
                <a:latin typeface="Cambria"/>
                <a:cs typeface="Cambria"/>
              </a:rPr>
              <a:t xml:space="preserve">(4) = 60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of change is always the same. The graph is a straight line.</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It is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2" name="Shape 12"/>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3" name="Shape 13"/>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8" name="Shape 18"/>
          <p:cNvSpPr txBox="1"/>
          <p:nvPr/>
        </p:nvSpPr>
        <p:spPr>
          <a:xfrm>
            <a:off x="685800"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21" name="Shape 21"/>
          <p:cNvSpPr txBox="1"/>
          <p:nvPr/>
        </p:nvSpPr>
        <p:spPr>
          <a:xfrm>
            <a:off x="4349648"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0" name="Shape 20"/>
          <p:cNvSpPr txBox="1"/>
          <p:nvPr/>
        </p:nvSpPr>
        <p:spPr>
          <a:xfrm>
            <a:off x="4559198" y="428396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5" name="Shape 25"/>
          <p:cNvSpPr txBox="1"/>
          <p:nvPr/>
        </p:nvSpPr>
        <p:spPr>
          <a:xfrm>
            <a:off x="8013497"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2" name="Shape 22"/>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23" name="Shape 23"/>
          <p:cNvSpPr txBox="1"/>
          <p:nvPr/>
        </p:nvSpPr>
        <p:spPr>
          <a:xfrm>
            <a:off x="8223047"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a:t>
            </a:r>
            <a:endParaRPr lang="en-US" sz="1575" dirty="0"/>
          </a:p>
        </p:txBody>
      </p:sp>
      <p:sp>
        <p:nvSpPr>
          <p:cNvPr id="24" name="Shape 24"/>
          <p:cNvSpPr txBox="1"/>
          <p:nvPr/>
        </p:nvSpPr>
        <p:spPr>
          <a:xfrm>
            <a:off x="8223047"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kx</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6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and the 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between each pair of rows.</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Divide: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Always the same number →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Different → </a:t>
            </a:r>
            <a:r>
              <a:rPr lang="en-US" sz="1950" dirty="0" b="1">
                <a:solidFill>
                  <a:srgbClr val="16171D"/>
                </a:solidFill>
                <a:latin typeface="Segoe UI"/>
                <a:cs typeface="Segoe UI"/>
              </a:rPr>
              <a:t xml:space="preserve">not linear</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If linear, find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and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13</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17</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Each row: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goes up 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goes up 4.</a:t>
            </a:r>
            <a:endParaRPr lang="en-US" sz="1950" dirty="0"/>
          </a:p>
        </p:txBody>
      </p:sp>
      <p:sp>
        <p:nvSpPr>
          <p:cNvPr id="15" name="Shape 15"/>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2 every time.</a:t>
            </a:r>
            <a:endParaRPr lang="en-US" sz="1950" dirty="0"/>
          </a:p>
        </p:txBody>
      </p:sp>
      <p:sp>
        <p:nvSpPr>
          <p:cNvPr id="16" name="Shape 16"/>
          <p:cNvSpPr txBox="1"/>
          <p:nvPr/>
        </p:nvSpPr>
        <p:spPr>
          <a:xfrm>
            <a:off x="6286348" y="25892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Linear, slope 2</a:t>
            </a:r>
            <a:endParaRPr lang="en-US" sz="2325" dirty="0"/>
          </a:p>
        </p:txBody>
      </p:sp>
      <p:sp>
        <p:nvSpPr>
          <p:cNvPr id="17" name="Shape 17"/>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5.</a:t>
            </a:r>
            <a:endParaRPr lang="en-US" sz="1950" dirty="0"/>
          </a:p>
        </p:txBody>
      </p:sp>
      <p:sp>
        <p:nvSpPr>
          <p:cNvPr id="18" name="Shape 18"/>
          <p:cNvSpPr txBox="1"/>
          <p:nvPr/>
        </p:nvSpPr>
        <p:spPr>
          <a:xfrm>
            <a:off x="6286348" y="37269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12</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24</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3, ____, ____</a:t>
            </a:r>
            <a:endParaRPr lang="en-US" sz="1950" dirty="0"/>
          </a:p>
        </p:txBody>
      </p:sp>
      <p:sp>
        <p:nvSpPr>
          <p:cNvPr id="15" name="Shape 15"/>
          <p:cNvSpPr txBox="1"/>
          <p:nvPr/>
        </p:nvSpPr>
        <p:spPr>
          <a:xfrm>
            <a:off x="6286348"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3, 6, 12</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Is it the same every time?</a:t>
            </a:r>
            <a:endParaRPr lang="en-US" sz="1950" dirty="0"/>
          </a:p>
        </p:txBody>
      </p:sp>
      <p:sp>
        <p:nvSpPr>
          <p:cNvPr id="17" name="Shape 17"/>
          <p:cNvSpPr txBox="1"/>
          <p:nvPr/>
        </p:nvSpPr>
        <p:spPr>
          <a:xfrm>
            <a:off x="6286348" y="324154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so it is not linear.</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zero</a:t>
            </a:r>
            <a:endParaRPr lang="en-US" sz="3450" dirty="0"/>
          </a:p>
        </p:txBody>
      </p:sp>
      <p:sp>
        <p:nvSpPr>
          <p:cNvPr id="7" name="Shape 7"/>
          <p:cNvSpPr txBox="1"/>
          <p:nvPr/>
        </p:nvSpPr>
        <p:spPr>
          <a:xfrm>
            <a:off x="685800" y="1618488"/>
            <a:ext cx="5219548" cy="18135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6" name="Shape 6"/>
          <p:cNvSpPr txBox="1"/>
          <p:nvPr/>
        </p:nvSpPr>
        <p:spPr>
          <a:xfrm>
            <a:off x="895350"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2, zero 4</a:t>
            </a:r>
            <a:endParaRPr lang="en-US" sz="2325" dirty="0"/>
          </a:p>
        </p:txBody>
      </p:sp>
      <p:sp>
        <p:nvSpPr>
          <p:cNvPr id="13" name="Shape 13"/>
          <p:cNvSpPr txBox="1"/>
          <p:nvPr/>
        </p:nvSpPr>
        <p:spPr>
          <a:xfrm>
            <a:off x="6286348" y="1618488"/>
            <a:ext cx="5219548" cy="28178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9" name="Shape 9"/>
          <p:cNvSpPr txBox="1"/>
          <p:nvPr/>
        </p:nvSpPr>
        <p:spPr>
          <a:xfrm>
            <a:off x="6495898" y="2294382"/>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____ zero ____</a:t>
            </a:r>
            <a:endParaRPr lang="en-US" sz="1950" dirty="0"/>
          </a:p>
        </p:txBody>
      </p:sp>
      <p:sp>
        <p:nvSpPr>
          <p:cNvPr id="10" name="Shape 10"/>
          <p:cNvSpPr txBox="1"/>
          <p:nvPr/>
        </p:nvSpPr>
        <p:spPr>
          <a:xfrm>
            <a:off x="6495898" y="27416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3, zero 7</a:t>
            </a:r>
            <a:endParaRPr lang="en-US" sz="2325" dirty="0"/>
          </a:p>
        </p:txBody>
      </p:sp>
      <p:sp>
        <p:nvSpPr>
          <p:cNvPr id="11" name="Shape 11"/>
          <p:cNvSpPr txBox="1"/>
          <p:nvPr/>
        </p:nvSpPr>
        <p:spPr>
          <a:xfrm>
            <a:off x="6495898" y="33558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General form: 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2" name="Shape 12"/>
          <p:cNvSpPr txBox="1"/>
          <p:nvPr/>
        </p:nvSpPr>
        <p:spPr>
          <a:xfrm>
            <a:off x="6495898" y="374599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− 21</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ppt_w</p:attrName>
                                        </p:attrNameLst>
                                      </p:cBhvr>
                                      <p:tavLst>
                                        <p:tav tm="0">
                                          <p:val>
                                            <p:fltVal val="0"/>
                                          </p:val>
                                        </p:tav>
                                        <p:tav tm="100000">
                                          <p:val>
                                            <p:strVal val="#ppt_w"/>
                                          </p:val>
                                        </p:tav>
                                      </p:tavLst>
                                    </p:anim>
                                    <p:anim calcmode="lin" valueType="num">
                                      <p:cBhvr>
                                        <p:cTn id="20" dur="500" fill="hold"/>
                                        <p:tgtEl>
                                          <p:spTgt spid="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Is the table linear?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1, 3, 7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4, 10, 22. If yes, write the function.</a:t>
            </a:r>
            <a:endParaRPr lang="en-US" sz="1950" dirty="0"/>
          </a:p>
        </p:txBody>
      </p:sp>
      <p:sp>
        <p:nvSpPr>
          <p:cNvPr id="5" name="Shape 5"/>
          <p:cNvSpPr txBox="1"/>
          <p:nvPr/>
        </p:nvSpPr>
        <p:spPr>
          <a:xfrm>
            <a:off x="895350" y="2237232"/>
            <a:ext cx="639037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Yes, slope 3: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zero of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8" name="Shape 8"/>
          <p:cNvSpPr txBox="1"/>
          <p:nvPr/>
        </p:nvSpPr>
        <p:spPr>
          <a:xfrm>
            <a:off x="895350" y="367969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2" name="Shape 12"/>
          <p:cNvSpPr txBox="1"/>
          <p:nvPr/>
        </p:nvSpPr>
        <p:spPr>
          <a:xfrm>
            <a:off x="685800" y="4503420"/>
            <a:ext cx="10820095"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Bracelets sell for $10 each. The booth costs $30: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− 30. What does the 10 mean?</a:t>
            </a:r>
            <a:endParaRPr lang="en-US" sz="1950" dirty="0"/>
          </a:p>
        </p:txBody>
      </p:sp>
      <p:sp>
        <p:nvSpPr>
          <p:cNvPr id="11" name="Shape 11"/>
          <p:cNvSpPr txBox="1"/>
          <p:nvPr/>
        </p:nvSpPr>
        <p:spPr>
          <a:xfrm>
            <a:off x="895350" y="5419344"/>
            <a:ext cx="854612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earned for each bracelet (the slope)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Making Sense of Different Representations of a Linear Function">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Making Sense of Different Representations of a Linear Function</dc:title>
  <dc:subject>Bluebonnet Algebra I</dc:subject>
</cp:coreProperties>
</file>