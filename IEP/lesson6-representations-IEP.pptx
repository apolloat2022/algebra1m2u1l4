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IEP version of Lesson 6: a modified lesson that keeps the core skills and cuts the number of items. Each skill follows I do (teacher models), We do (together, with sentence frames), You do (student tries, then reveal). Click to reveal each answer. The bell work for every day follows this slide (the same questions as the online bell work); skip to the current day. Apply each student's IEP accommodations too: extended time, read-aloud, breaks, calculator, small group.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These review what today builds on: slope between two points (the Lesson 5 Prepare page), evaluating a function, solving a two-step equation, and direct variation. Reveal the answers one at a time. Answer key: 1. (15 − 7)/(6 − 2) = 8/4 = 2. 2. f(5) = 4(5) − 3 = 17. 3. 3x = 18, so x = 6. 4. y = 3x is a direct variation: it passes through (0, 0), so y is always 3 times x. y = 3x + 2 starts at (0, 2), so it is not.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1. Watch #1: the inputs jump from 2 to 6, so students must divide by 4, not 2. Answer key: 1. (7 − 3)/(2 − 0) = 2 and (15 − 7)/(6 − 2) = 2. Same slope, so linear, and (0, 3) is the y-intercept: y = 2x + 3. 2. (5 − 1)/2 = 2 but (13 − 5)/2 = 4. Different slopes, so not one line. 3. y = 3x; yes, it passes through (0, 0), since 0 pretzels cost $0. 4. 0.75x = 9, so x = 12.</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Added for this deck; not from the textbook. Have this up as students walk in; they work silently while you take attendance (about 5 minutes). It reviews Day 2. Watch #2: the zero is the number 7, not the point (7, 0) and not −7. Answer key: 1. Distribute: 4x − 20. 2. x − 7 = 0 when x = 7. 3. The greatest exponent is 3, and the number in front of x³ is 5. 4. E(4) = 15(4) = 60: selling 4 T-shirts earns $60.</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or give students a printed copy, while they work.</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the division for every pair, not just the first one.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up: 6 shirts only earns $90.</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that both forms are the same: distribute 15(t − 3) = 15t − 45. The zero, 3, means she must sell 3 shirts just to break even.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try all items before revealing. Students may use the steps slide and their notes.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IEP/lesson6-bellwork-day1-IEP.html" TargetMode="External"/><Relationship Id="rId4" Type="http://schemas.openxmlformats.org/officeDocument/2006/relationships/hyperlink" Target="https://algebra1m2u1l4.vercel.app/IEP/lesson6-bellwork-day2-IEP.html" TargetMode="External"/><Relationship Id="rId5" Type="http://schemas.openxmlformats.org/officeDocument/2006/relationships/hyperlink" Target="https://algebra1m2u1l4.vercel.app/IEP/lesson6-bellwork-day3-IEP.html" TargetMode="External"/><Relationship Id="rId6" Type="http://schemas.openxmlformats.org/officeDocument/2006/relationships/hyperlink" Target="https://algebra1m2u1l4.vercel.app/IEP/lesson6-homework-IEP.html" TargetMode="External"/><Relationship Id="rId7" Type="http://schemas.openxmlformats.org/officeDocument/2006/relationships/hyperlink" Target="https://algebra1m2u1l4.vercel.app/IEP/lesson6-quiz-IEP.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algebra1m2u1l4.vercel.app/IEP/lesson6-bellwork-day1-IEP.html" TargetMode="External"/><Relationship Id="rId4" Type="http://schemas.openxmlformats.org/officeDocument/2006/relationships/hyperlink" Target="https://algebra1m2u1l4.vercel.app/IEP/lesson6-bellwork-day2-IEP.html" TargetMode="External"/><Relationship Id="rId5" Type="http://schemas.openxmlformats.org/officeDocument/2006/relationships/hyperlink" Target="https://algebra1m2u1l4.vercel.app/IEP/lesson6-bellwork-day3-IEP.html" TargetMode="External"/><Relationship Id="rId6" Type="http://schemas.openxmlformats.org/officeDocument/2006/relationships/hyperlink" Target="https://algebra1m2u1l4.vercel.app/IEP/lesson6-homework-IEP.html" TargetMode="External"/><Relationship Id="rId7" Type="http://schemas.openxmlformats.org/officeDocument/2006/relationships/hyperlink" Target="https://algebra1m2u1l4.vercel.app/IEP/lesson6-quiz-IEP.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1 · Lesson 6 · IEP Version</a:t>
            </a:r>
            <a:endParaRPr lang="en-US" sz="1200" dirty="0"/>
          </a:p>
        </p:txBody>
      </p:sp>
      <p:sp>
        <p:nvSpPr>
          <p:cNvPr id="3" name="Shape 3"/>
          <p:cNvSpPr txBox="1"/>
          <p:nvPr/>
        </p:nvSpPr>
        <p:spPr>
          <a:xfrm>
            <a:off x="685800" y="961644"/>
            <a:ext cx="10820095" cy="740664"/>
          </a:xfrm>
          <a:prstGeom prst="rect">
            <a:avLst/>
          </a:prstGeom>
          <a:noFill/>
          <a:ln>
            <a:noFill/>
          </a:ln>
        </p:spPr>
        <p:txBody>
          <a:bodyPr wrap="square" lIns="36576" tIns="27432" rIns="36576" bIns="27432" anchor="t">
            <a:noAutofit/>
          </a:bodyPr>
          <a:lstStyle/>
          <a:p>
            <a:pPr algn="l">
              <a:lnSpc>
                <a:spcPct val="100000"/>
              </a:lnSpc>
            </a:pPr>
            <a:r>
              <a:rPr lang="en-US" sz="4500" dirty="0" b="1">
                <a:solidFill>
                  <a:srgbClr val="16171D"/>
                </a:solidFill>
                <a:latin typeface="Segoe UI"/>
                <a:cs typeface="Segoe UI"/>
              </a:rPr>
              <a:t xml:space="preserve">Making Sense of Linear Functions</a:t>
            </a:r>
            <a:endParaRPr lang="en-US" sz="4500" dirty="0"/>
          </a:p>
        </p:txBody>
      </p:sp>
      <p:sp>
        <p:nvSpPr>
          <p:cNvPr id="4" name="Shape 4"/>
          <p:cNvSpPr txBox="1"/>
          <p:nvPr/>
        </p:nvSpPr>
        <p:spPr>
          <a:xfrm>
            <a:off x="685800" y="1911858"/>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f</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ax</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b</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f</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a</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x</a:t>
            </a:r>
            <a:r>
              <a:rPr lang="en-US" sz="2850" dirty="0">
                <a:solidFill>
                  <a:srgbClr val="16171D"/>
                </a:solidFill>
                <a:latin typeface="Cambria"/>
                <a:cs typeface="Cambria"/>
              </a:rPr>
              <a:t xml:space="preserve"> − </a:t>
            </a:r>
            <a:r>
              <a:rPr lang="en-US" sz="2850" dirty="0" i="1">
                <a:solidFill>
                  <a:srgbClr val="16171D"/>
                </a:solidFill>
                <a:latin typeface="Cambria"/>
                <a:cs typeface="Cambria"/>
              </a:rPr>
              <a:t xml:space="preserve">c</a:t>
            </a:r>
            <a:r>
              <a:rPr lang="en-US" sz="2850" dirty="0">
                <a:solidFill>
                  <a:srgbClr val="16171D"/>
                </a:solidFill>
                <a:latin typeface="Cambria"/>
                <a:cs typeface="Cambria"/>
              </a:rPr>
              <a:t xml:space="preserve">)</a:t>
            </a:r>
            <a:endParaRPr lang="en-US" sz="2850" dirty="0"/>
          </a:p>
        </p:txBody>
      </p:sp>
      <p:sp>
        <p:nvSpPr>
          <p:cNvPr id="5" name="Shape 5"/>
          <p:cNvSpPr txBox="1"/>
          <p:nvPr/>
        </p:nvSpPr>
        <p:spPr>
          <a:xfrm>
            <a:off x="685800" y="2648712"/>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 can…</a:t>
            </a:r>
            <a:endParaRPr lang="en-US" sz="2100" dirty="0"/>
          </a:p>
        </p:txBody>
      </p:sp>
      <p:sp>
        <p:nvSpPr>
          <p:cNvPr id="6" name="Shape 6"/>
          <p:cNvSpPr txBox="1"/>
          <p:nvPr/>
        </p:nvSpPr>
        <p:spPr>
          <a:xfrm>
            <a:off x="685800" y="319506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tell whether a table is linear.</a:t>
            </a:r>
            <a:endParaRPr lang="en-US" sz="1950" dirty="0"/>
          </a:p>
        </p:txBody>
      </p:sp>
      <p:sp>
        <p:nvSpPr>
          <p:cNvPr id="7" name="Shape 7"/>
          <p:cNvSpPr txBox="1"/>
          <p:nvPr/>
        </p:nvSpPr>
        <p:spPr>
          <a:xfrm>
            <a:off x="685800" y="371856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write a linear function from a table.</a:t>
            </a:r>
            <a:endParaRPr lang="en-US" sz="1950" dirty="0"/>
          </a:p>
        </p:txBody>
      </p:sp>
      <p:sp>
        <p:nvSpPr>
          <p:cNvPr id="8" name="Shape 8"/>
          <p:cNvSpPr txBox="1"/>
          <p:nvPr/>
        </p:nvSpPr>
        <p:spPr>
          <a:xfrm>
            <a:off x="685800" y="42420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explain what the slope and the intercepts mean in a story.</a:t>
            </a:r>
            <a:endParaRPr lang="en-US" sz="1950" dirty="0"/>
          </a:p>
        </p:txBody>
      </p:sp>
      <p:sp>
        <p:nvSpPr>
          <p:cNvPr id="9" name="Shape 9"/>
          <p:cNvSpPr txBox="1"/>
          <p:nvPr/>
        </p:nvSpPr>
        <p:spPr>
          <a:xfrm>
            <a:off x="685800" y="476554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find the zero from factored form.</a:t>
            </a:r>
            <a:endParaRPr lang="en-US" sz="1950" dirty="0"/>
          </a:p>
        </p:txBody>
      </p:sp>
      <p:sp>
        <p:nvSpPr>
          <p:cNvPr id="10" name="Shape 10"/>
          <p:cNvSpPr txBox="1"/>
          <p:nvPr/>
        </p:nvSpPr>
        <p:spPr>
          <a:xfrm>
            <a:off x="685800" y="5346192"/>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5"/>
              </a:rPr>
              <a:t xml:space="preserve">Day 3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6"/>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7"/>
              </a:rPr>
              <a:t xml:space="preserve">Quiz →</a:t>
            </a:r>
            <a:endParaRPr lang="en-US" sz="1800" dirty="0"/>
          </a:p>
        </p:txBody>
      </p:sp>
      <p:sp>
        <p:nvSpPr>
          <p:cNvPr id="11" name="Shape 11"/>
          <p:cNvSpPr txBox="1"/>
          <p:nvPr/>
        </p:nvSpPr>
        <p:spPr>
          <a:xfrm>
            <a:off x="685800" y="6185916"/>
            <a:ext cx="10820095" cy="397764"/>
          </a:xfrm>
          <a:prstGeom prst="rect">
            <a:avLst/>
          </a:prstGeom>
          <a:noFill/>
          <a:ln>
            <a:noFill/>
          </a:ln>
        </p:spPr>
        <p:txBody>
          <a:bodyPr wrap="square" lIns="36576" tIns="27432" rIns="36576" bIns="27432" anchor="t">
            <a:noAutofit/>
          </a:bodyPr>
          <a:lstStyle/>
          <a:p>
            <a:pPr algn="l">
              <a:lnSpc>
                <a:spcPct val="100000"/>
              </a:lnSpc>
            </a:pPr>
            <a:r>
              <a:rPr lang="en-US" sz="1125" dirty="0">
                <a:solidFill>
                  <a:srgbClr val="5F6272"/>
                </a:solidFill>
                <a:latin typeface="Segoe UI"/>
                <a:cs typeface="Segoe UI"/>
              </a:rPr>
              <a:t xml:space="preserve">Based on Bluebonnet Learning Secondary Mathematics, Algebra I (©2024–2025 Texas Education Agency, portions ©2021 Carnegie Learning, Inc.), licensed CC BY-NC 4.0. A private site for Algebra I teachers.</a:t>
            </a:r>
            <a:endParaRPr lang="en-US" sz="11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Slope between </a:t>
            </a:r>
            <a:r>
              <a:rPr lang="en-US" sz="1950" dirty="0">
                <a:solidFill>
                  <a:srgbClr val="16171D"/>
                </a:solidFill>
                <a:latin typeface="Cambria"/>
                <a:cs typeface="Cambria"/>
              </a:rPr>
              <a:t xml:space="preserve">(2, 7)</a:t>
            </a:r>
            <a:r>
              <a:rPr lang="en-US" sz="1950" dirty="0">
                <a:solidFill>
                  <a:srgbClr val="16171D"/>
                </a:solidFill>
                <a:latin typeface="Segoe UI"/>
                <a:cs typeface="Segoe UI"/>
              </a:rPr>
              <a:t xml:space="preserve"> and </a:t>
            </a:r>
            <a:r>
              <a:rPr lang="en-US" sz="1950" dirty="0">
                <a:solidFill>
                  <a:srgbClr val="16171D"/>
                </a:solidFill>
                <a:latin typeface="Cambria"/>
                <a:cs typeface="Cambria"/>
              </a:rPr>
              <a:t xml:space="preserve">(6, 15)</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685800" y="216103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m</a:t>
            </a:r>
            <a:r>
              <a:rPr lang="en-US" sz="2325" dirty="0">
                <a:solidFill>
                  <a:srgbClr val="16171D"/>
                </a:solidFill>
                <a:latin typeface="Cambria"/>
                <a:cs typeface="Cambria"/>
              </a:rPr>
              <a:t xml:space="preserve"> = 2</a:t>
            </a:r>
            <a:endParaRPr lang="en-US" sz="2325" dirty="0"/>
          </a:p>
        </p:txBody>
      </p:sp>
      <p:sp>
        <p:nvSpPr>
          <p:cNvPr id="6" name="Shape 6"/>
          <p:cNvSpPr txBox="1"/>
          <p:nvPr/>
        </p:nvSpPr>
        <p:spPr>
          <a:xfrm>
            <a:off x="685800" y="294665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a:solidFill>
                  <a:srgbClr val="16171D"/>
                </a:solidFill>
                <a:latin typeface="Segoe UI"/>
                <a:cs typeface="Segoe UI"/>
              </a:rPr>
              <a:t xml:space="preserve">. Find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(5)</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432048"/>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(5) = 17</a:t>
            </a:r>
            <a:endParaRPr lang="en-US" sz="2325" dirty="0"/>
          </a:p>
        </p:txBody>
      </p:sp>
      <p:sp>
        <p:nvSpPr>
          <p:cNvPr id="8" name="Shape 8"/>
          <p:cNvSpPr txBox="1"/>
          <p:nvPr/>
        </p:nvSpPr>
        <p:spPr>
          <a:xfrm>
            <a:off x="6362548" y="1675638"/>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Solve </a:t>
            </a:r>
            <a:r>
              <a:rPr lang="en-US" sz="1950" dirty="0">
                <a:solidFill>
                  <a:srgbClr val="16171D"/>
                </a:solidFill>
                <a:latin typeface="Cambria"/>
                <a:cs typeface="Cambria"/>
              </a:rPr>
              <a:t xml:space="preserve">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 = 12</a:t>
            </a:r>
            <a:r>
              <a:rPr lang="en-US" sz="1950" dirty="0">
                <a:solidFill>
                  <a:srgbClr val="16171D"/>
                </a:solidFill>
                <a:latin typeface="Segoe UI"/>
                <a:cs typeface="Segoe UI"/>
              </a:rPr>
              <a:t xml:space="preserve">.</a:t>
            </a:r>
            <a:endParaRPr lang="en-US" sz="1950" dirty="0"/>
          </a:p>
        </p:txBody>
      </p:sp>
      <p:sp>
        <p:nvSpPr>
          <p:cNvPr id="9" name="Shape 9"/>
          <p:cNvSpPr txBox="1"/>
          <p:nvPr/>
        </p:nvSpPr>
        <p:spPr>
          <a:xfrm>
            <a:off x="6362548" y="216103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6</a:t>
            </a:r>
            <a:endParaRPr lang="en-US" sz="2325" dirty="0"/>
          </a:p>
        </p:txBody>
      </p:sp>
      <p:sp>
        <p:nvSpPr>
          <p:cNvPr id="10" name="Shape 10"/>
          <p:cNvSpPr txBox="1"/>
          <p:nvPr/>
        </p:nvSpPr>
        <p:spPr>
          <a:xfrm>
            <a:off x="6362548" y="294665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Which is a direct variation: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Segoe UI"/>
                <a:cs typeface="Segoe UI"/>
              </a:rPr>
              <a:t xml:space="preserve"> or </a:t>
            </a:r>
            <a:r>
              <a:rPr lang="en-US" sz="1950" dirty="0" i="1">
                <a:solidFill>
                  <a:srgbClr val="16171D"/>
                </a:solidFill>
                <a:latin typeface="Cambria"/>
                <a:cs typeface="Cambria"/>
              </a:rPr>
              <a:t xml:space="preserve">y</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+ 2</a:t>
            </a:r>
            <a:r>
              <a:rPr lang="en-US" sz="1950" dirty="0">
                <a:solidFill>
                  <a:srgbClr val="16171D"/>
                </a:solidFill>
                <a:latin typeface="Segoe UI"/>
                <a:cs typeface="Segoe UI"/>
              </a:rPr>
              <a:t xml:space="preserve">?</a:t>
            </a:r>
            <a:endParaRPr lang="en-US" sz="1950" dirty="0"/>
          </a:p>
        </p:txBody>
      </p:sp>
      <p:sp>
        <p:nvSpPr>
          <p:cNvPr id="11" name="Shape 11"/>
          <p:cNvSpPr txBox="1"/>
          <p:nvPr/>
        </p:nvSpPr>
        <p:spPr>
          <a:xfrm>
            <a:off x="6362548" y="372922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 of Day 1</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Do </a:t>
            </a:r>
            <a:r>
              <a:rPr lang="en-US" sz="1950" dirty="0">
                <a:solidFill>
                  <a:srgbClr val="16171D"/>
                </a:solidFill>
                <a:latin typeface="Cambria"/>
                <a:cs typeface="Cambria"/>
              </a:rPr>
              <a:t xml:space="preserve">(0, 3), (2, 7), (6, 15)</a:t>
            </a:r>
            <a:r>
              <a:rPr lang="en-US" sz="1950" dirty="0">
                <a:solidFill>
                  <a:srgbClr val="16171D"/>
                </a:solidFill>
                <a:latin typeface="Segoe UI"/>
                <a:cs typeface="Segoe UI"/>
              </a:rPr>
              <a:t xml:space="preserve"> lie on one line? If so, write the equation. </a:t>
            </a:r>
            <a:r>
              <a:rPr lang="en-US" sz="1575" dirty="0">
                <a:solidFill>
                  <a:srgbClr val="5F6272"/>
                </a:solidFill>
                <a:latin typeface="Segoe UI"/>
                <a:cs typeface="Segoe UI"/>
              </a:rPr>
              <a:t xml:space="preserve">(SE p. 241)</a:t>
            </a:r>
            <a:endParaRPr lang="en-US" sz="1950" dirty="0"/>
          </a:p>
        </p:txBody>
      </p:sp>
      <p:sp>
        <p:nvSpPr>
          <p:cNvPr id="5" name="Shape 5"/>
          <p:cNvSpPr txBox="1"/>
          <p:nvPr/>
        </p:nvSpPr>
        <p:spPr>
          <a:xfrm>
            <a:off x="685800" y="2755392"/>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Yes: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6" name="Shape 6"/>
          <p:cNvSpPr txBox="1"/>
          <p:nvPr/>
        </p:nvSpPr>
        <p:spPr>
          <a:xfrm>
            <a:off x="685800" y="354101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Do </a:t>
            </a:r>
            <a:r>
              <a:rPr lang="en-US" sz="1950" dirty="0">
                <a:solidFill>
                  <a:srgbClr val="16171D"/>
                </a:solidFill>
                <a:latin typeface="Cambria"/>
                <a:cs typeface="Cambria"/>
              </a:rPr>
              <a:t xml:space="preserve">(0, 1), (2, 5), (4, 13)</a:t>
            </a:r>
            <a:r>
              <a:rPr lang="en-US" sz="1950" dirty="0">
                <a:solidFill>
                  <a:srgbClr val="16171D"/>
                </a:solidFill>
                <a:latin typeface="Segoe UI"/>
                <a:cs typeface="Segoe UI"/>
              </a:rPr>
              <a:t xml:space="preserve"> lie on one line? </a:t>
            </a:r>
            <a:r>
              <a:rPr lang="en-US" sz="1575" dirty="0">
                <a:solidFill>
                  <a:srgbClr val="5F6272"/>
                </a:solidFill>
                <a:latin typeface="Segoe UI"/>
                <a:cs typeface="Segoe UI"/>
              </a:rPr>
              <a:t xml:space="preserve">(SE p. 241)</a:t>
            </a:r>
            <a:endParaRPr lang="en-US" sz="1950" dirty="0"/>
          </a:p>
        </p:txBody>
      </p:sp>
      <p:sp>
        <p:nvSpPr>
          <p:cNvPr id="7" name="Shape 7"/>
          <p:cNvSpPr txBox="1"/>
          <p:nvPr/>
        </p:nvSpPr>
        <p:spPr>
          <a:xfrm>
            <a:off x="685800" y="4323588"/>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a:t>
            </a:r>
            <a:endParaRPr lang="en-US" sz="2325" dirty="0"/>
          </a:p>
        </p:txBody>
      </p:sp>
      <p:sp>
        <p:nvSpPr>
          <p:cNvPr id="8" name="Shape 8"/>
          <p:cNvSpPr txBox="1"/>
          <p:nvPr/>
        </p:nvSpPr>
        <p:spPr>
          <a:xfrm>
            <a:off x="6362548" y="1675638"/>
            <a:ext cx="5143348" cy="94640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Pretzels cost $3 each. Write the equation. Is it a direct variation? </a:t>
            </a:r>
            <a:r>
              <a:rPr lang="en-US" sz="1575" dirty="0">
                <a:solidFill>
                  <a:srgbClr val="5F6272"/>
                </a:solidFill>
                <a:latin typeface="Segoe UI"/>
                <a:cs typeface="Segoe UI"/>
              </a:rPr>
              <a:t xml:space="preserve">(SE p. 241)</a:t>
            </a:r>
            <a:endParaRPr lang="en-US" sz="1950" dirty="0"/>
          </a:p>
        </p:txBody>
      </p:sp>
      <p:sp>
        <p:nvSpPr>
          <p:cNvPr id="9" name="Shape 9"/>
          <p:cNvSpPr txBox="1"/>
          <p:nvPr/>
        </p:nvSpPr>
        <p:spPr>
          <a:xfrm>
            <a:off x="6362548" y="2755392"/>
            <a:ext cx="373715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yes</a:t>
            </a:r>
            <a:endParaRPr lang="en-US" sz="2325" dirty="0"/>
          </a:p>
        </p:txBody>
      </p:sp>
      <p:sp>
        <p:nvSpPr>
          <p:cNvPr id="10" name="Shape 10"/>
          <p:cNvSpPr txBox="1"/>
          <p:nvPr/>
        </p:nvSpPr>
        <p:spPr>
          <a:xfrm>
            <a:off x="6362548" y="354101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Solve </a:t>
            </a:r>
            <a:r>
              <a:rPr lang="en-US" sz="1950" dirty="0">
                <a:solidFill>
                  <a:srgbClr val="16171D"/>
                </a:solidFill>
                <a:latin typeface="Cambria"/>
                <a:cs typeface="Cambria"/>
              </a:rPr>
              <a:t xml:space="preserve">0.75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+ 6 = 15</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242)</a:t>
            </a:r>
            <a:endParaRPr lang="en-US" sz="1950" dirty="0"/>
          </a:p>
        </p:txBody>
      </p:sp>
      <p:sp>
        <p:nvSpPr>
          <p:cNvPr id="11" name="Shape 11"/>
          <p:cNvSpPr txBox="1"/>
          <p:nvPr/>
        </p:nvSpPr>
        <p:spPr>
          <a:xfrm>
            <a:off x="6362548" y="4026408"/>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12</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3 · Bell Work · Review of Day 2</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4" name="Shape 4"/>
          <p:cNvSpPr txBox="1"/>
          <p:nvPr/>
        </p:nvSpPr>
        <p:spPr>
          <a:xfrm>
            <a:off x="685800"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Write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4(</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a:solidFill>
                  <a:srgbClr val="16171D"/>
                </a:solidFill>
                <a:latin typeface="Segoe UI"/>
                <a:cs typeface="Segoe UI"/>
              </a:rPr>
              <a:t xml:space="preserve"> in general form. </a:t>
            </a:r>
            <a:r>
              <a:rPr lang="en-US" sz="1575" dirty="0">
                <a:solidFill>
                  <a:srgbClr val="5F6272"/>
                </a:solidFill>
                <a:latin typeface="Segoe UI"/>
                <a:cs typeface="Segoe UI"/>
              </a:rPr>
              <a:t xml:space="preserve">(SE p. 248)</a:t>
            </a:r>
            <a:endParaRPr lang="en-US" sz="1950" dirty="0"/>
          </a:p>
        </p:txBody>
      </p:sp>
      <p:sp>
        <p:nvSpPr>
          <p:cNvPr id="5" name="Shape 5"/>
          <p:cNvSpPr txBox="1"/>
          <p:nvPr/>
        </p:nvSpPr>
        <p:spPr>
          <a:xfrm>
            <a:off x="685800" y="2458212"/>
            <a:ext cx="4234632"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− 20</a:t>
            </a:r>
            <a:endParaRPr lang="en-US" sz="2325" dirty="0"/>
          </a:p>
        </p:txBody>
      </p:sp>
      <p:sp>
        <p:nvSpPr>
          <p:cNvPr id="6" name="Shape 6"/>
          <p:cNvSpPr txBox="1"/>
          <p:nvPr/>
        </p:nvSpPr>
        <p:spPr>
          <a:xfrm>
            <a:off x="685800" y="3243834"/>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zero of </a:t>
            </a:r>
            <a:r>
              <a:rPr lang="en-US" sz="1950" dirty="0" i="1">
                <a:solidFill>
                  <a:srgbClr val="16171D"/>
                </a:solidFill>
                <a:latin typeface="Cambria"/>
                <a:cs typeface="Cambria"/>
              </a:rPr>
              <a:t xml:space="preserve">f</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3(</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− 7)</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249)</a:t>
            </a:r>
            <a:endParaRPr lang="en-US" sz="1950" dirty="0"/>
          </a:p>
        </p:txBody>
      </p:sp>
      <p:sp>
        <p:nvSpPr>
          <p:cNvPr id="7" name="Shape 7"/>
          <p:cNvSpPr txBox="1"/>
          <p:nvPr/>
        </p:nvSpPr>
        <p:spPr>
          <a:xfrm>
            <a:off x="685800" y="402640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7</a:t>
            </a:r>
            <a:endParaRPr lang="en-US" sz="2325" dirty="0"/>
          </a:p>
        </p:txBody>
      </p:sp>
      <p:sp>
        <p:nvSpPr>
          <p:cNvPr id="8" name="Shape 8"/>
          <p:cNvSpPr txBox="1"/>
          <p:nvPr/>
        </p:nvSpPr>
        <p:spPr>
          <a:xfrm>
            <a:off x="6362548" y="1675638"/>
            <a:ext cx="514334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Degree and leading coefficient of </a:t>
            </a:r>
            <a:r>
              <a:rPr lang="en-US" sz="1950" dirty="0" i="1">
                <a:solidFill>
                  <a:srgbClr val="16171D"/>
                </a:solidFill>
                <a:latin typeface="Cambria"/>
                <a:cs typeface="Cambria"/>
              </a:rPr>
              <a:t xml:space="preserve">P</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5</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3</a:t>
            </a:r>
            <a:r>
              <a:rPr lang="en-US" sz="1950" dirty="0">
                <a:solidFill>
                  <a:srgbClr val="16171D"/>
                </a:solidFill>
                <a:latin typeface="Cambria"/>
                <a:cs typeface="Cambria"/>
              </a:rPr>
              <a:t xml:space="preserve"> − 2</a:t>
            </a:r>
            <a:r>
              <a:rPr lang="en-US" sz="1950" dirty="0" i="1">
                <a:solidFill>
                  <a:srgbClr val="16171D"/>
                </a:solidFill>
                <a:latin typeface="Cambria"/>
                <a:cs typeface="Cambria"/>
              </a:rPr>
              <a:t xml:space="preserve">x</a:t>
            </a:r>
            <a:r>
              <a:rPr lang="en-US" sz="1950" dirty="0">
                <a:solidFill>
                  <a:srgbClr val="16171D"/>
                </a:solidFill>
                <a:latin typeface="Cambria"/>
                <a:cs typeface="Cambria"/>
              </a:rPr>
              <a:t xml:space="preserve"> + 1</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248)</a:t>
            </a:r>
            <a:endParaRPr lang="en-US" sz="1950" dirty="0"/>
          </a:p>
        </p:txBody>
      </p:sp>
      <p:sp>
        <p:nvSpPr>
          <p:cNvPr id="9" name="Shape 9"/>
          <p:cNvSpPr txBox="1"/>
          <p:nvPr/>
        </p:nvSpPr>
        <p:spPr>
          <a:xfrm>
            <a:off x="6362548" y="2458212"/>
            <a:ext cx="51433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degree 3, leading coefficient 5</a:t>
            </a:r>
            <a:endParaRPr lang="en-US" sz="2325" dirty="0"/>
          </a:p>
        </p:txBody>
      </p:sp>
      <p:sp>
        <p:nvSpPr>
          <p:cNvPr id="10" name="Shape 10"/>
          <p:cNvSpPr txBox="1"/>
          <p:nvPr/>
        </p:nvSpPr>
        <p:spPr>
          <a:xfrm>
            <a:off x="6362548" y="3598164"/>
            <a:ext cx="51433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 </a:t>
            </a:r>
            <a:r>
              <a:rPr lang="en-US" sz="1950" dirty="0" i="1">
                <a:solidFill>
                  <a:srgbClr val="16171D"/>
                </a:solidFill>
                <a:latin typeface="Cambria"/>
                <a:cs typeface="Cambria"/>
              </a:rPr>
              <a:t xml:space="preserve">E</a:t>
            </a:r>
            <a:r>
              <a:rPr lang="en-US" sz="1950" dirty="0">
                <a:solidFill>
                  <a:srgbClr val="16171D"/>
                </a:solidFill>
                <a:latin typeface="Cambria"/>
                <a:cs typeface="Cambria"/>
              </a:rPr>
              <a:t xml:space="preserve">(</a:t>
            </a:r>
            <a:r>
              <a:rPr lang="en-US" sz="1950" dirty="0" i="1">
                <a:solidFill>
                  <a:srgbClr val="16171D"/>
                </a:solidFill>
                <a:latin typeface="Cambria"/>
                <a:cs typeface="Cambria"/>
              </a:rPr>
              <a:t xml:space="preserve">t</a:t>
            </a:r>
            <a:r>
              <a:rPr lang="en-US" sz="1950" dirty="0">
                <a:solidFill>
                  <a:srgbClr val="16171D"/>
                </a:solidFill>
                <a:latin typeface="Cambria"/>
                <a:cs typeface="Cambria"/>
              </a:rPr>
              <a:t xml:space="preserve">) = 15</a:t>
            </a:r>
            <a:r>
              <a:rPr lang="en-US" sz="1950" dirty="0" i="1">
                <a:solidFill>
                  <a:srgbClr val="16171D"/>
                </a:solidFill>
                <a:latin typeface="Cambria"/>
                <a:cs typeface="Cambria"/>
              </a:rPr>
              <a:t xml:space="preserve">t</a:t>
            </a:r>
            <a:r>
              <a:rPr lang="en-US" sz="1950" dirty="0">
                <a:solidFill>
                  <a:srgbClr val="16171D"/>
                </a:solidFill>
                <a:latin typeface="Segoe UI"/>
                <a:cs typeface="Segoe UI"/>
              </a:rPr>
              <a:t xml:space="preserve">. Find </a:t>
            </a:r>
            <a:r>
              <a:rPr lang="en-US" sz="1950" dirty="0" i="1">
                <a:solidFill>
                  <a:srgbClr val="16171D"/>
                </a:solidFill>
                <a:latin typeface="Cambria"/>
                <a:cs typeface="Cambria"/>
              </a:rPr>
              <a:t xml:space="preserve">E</a:t>
            </a:r>
            <a:r>
              <a:rPr lang="en-US" sz="1950" dirty="0">
                <a:solidFill>
                  <a:srgbClr val="16171D"/>
                </a:solidFill>
                <a:latin typeface="Cambria"/>
                <a:cs typeface="Cambria"/>
              </a:rPr>
              <a:t xml:space="preserve">(4)</a:t>
            </a:r>
            <a:r>
              <a:rPr lang="en-US" sz="1950" dirty="0">
                <a:solidFill>
                  <a:srgbClr val="16171D"/>
                </a:solidFill>
                <a:latin typeface="Segoe UI"/>
                <a:cs typeface="Segoe UI"/>
              </a:rPr>
              <a:t xml:space="preserve">. </a:t>
            </a:r>
            <a:r>
              <a:rPr lang="en-US" sz="1575" dirty="0">
                <a:solidFill>
                  <a:srgbClr val="5F6272"/>
                </a:solidFill>
                <a:latin typeface="Segoe UI"/>
                <a:cs typeface="Segoe UI"/>
              </a:rPr>
              <a:t xml:space="preserve">(SE p. 244)</a:t>
            </a:r>
            <a:endParaRPr lang="en-US" sz="1950" dirty="0"/>
          </a:p>
        </p:txBody>
      </p:sp>
      <p:sp>
        <p:nvSpPr>
          <p:cNvPr id="11" name="Shape 11"/>
          <p:cNvSpPr txBox="1"/>
          <p:nvPr/>
        </p:nvSpPr>
        <p:spPr>
          <a:xfrm>
            <a:off x="6362548" y="4083558"/>
            <a:ext cx="340550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E</a:t>
            </a:r>
            <a:r>
              <a:rPr lang="en-US" sz="2325" dirty="0">
                <a:solidFill>
                  <a:srgbClr val="16171D"/>
                </a:solidFill>
                <a:latin typeface="Cambria"/>
                <a:cs typeface="Cambria"/>
              </a:rPr>
              <a:t xml:space="preserve">(4) = 60</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anim calcmode="lin" valueType="num">
                                      <p:cBhvr>
                                        <p:cTn id="26" dur="500" fill="hold"/>
                                        <p:tgtEl>
                                          <p:spTgt spid="11"/>
                                        </p:tgtEl>
                                        <p:attrNameLst>
                                          <p:attrName>ppt_w</p:attrName>
                                        </p:attrNameLst>
                                      </p:cBhvr>
                                      <p:tavLst>
                                        <p:tav tm="0">
                                          <p:val>
                                            <p:fltVal val="0"/>
                                          </p:val>
                                        </p:tav>
                                        <p:tav tm="100000">
                                          <p:val>
                                            <p:strVal val="#ppt_w"/>
                                          </p:val>
                                        </p:tav>
                                      </p:tavLst>
                                    </p:anim>
                                    <p:anim calcmode="lin" valueType="num">
                                      <p:cBhvr>
                                        <p:cTn id="2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6 ·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Words we need</a:t>
            </a:r>
            <a:endParaRPr lang="en-US" sz="3450" dirty="0"/>
          </a:p>
        </p:txBody>
      </p:sp>
      <p:sp>
        <p:nvSpPr>
          <p:cNvPr id="6" name="Shape 6"/>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Linear function</a:t>
            </a:r>
            <a:endParaRPr lang="en-US" sz="2100" dirty="0"/>
          </a:p>
        </p:txBody>
      </p:sp>
      <p:sp>
        <p:nvSpPr>
          <p:cNvPr id="5" name="Shape 5"/>
          <p:cNvSpPr txBox="1"/>
          <p:nvPr/>
        </p:nvSpPr>
        <p:spPr>
          <a:xfrm>
            <a:off x="895350" y="2260092"/>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rate of change is always the same. The graph is a straight line.</a:t>
            </a:r>
            <a:endParaRPr lang="en-US" sz="1575" dirty="0"/>
          </a:p>
        </p:txBody>
      </p:sp>
      <p:sp>
        <p:nvSpPr>
          <p:cNvPr id="10" name="Shape 10"/>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Rate of change</a:t>
            </a:r>
            <a:endParaRPr lang="en-US" sz="2100" dirty="0"/>
          </a:p>
        </p:txBody>
      </p:sp>
      <p:sp>
        <p:nvSpPr>
          <p:cNvPr id="8" name="Shape 8"/>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Change in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change in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It is the slope.</a:t>
            </a:r>
            <a:endParaRPr lang="en-US" sz="1575" dirty="0"/>
          </a:p>
        </p:txBody>
      </p:sp>
      <p:sp>
        <p:nvSpPr>
          <p:cNvPr id="9" name="Shape 9"/>
          <p:cNvSpPr txBox="1"/>
          <p:nvPr/>
        </p:nvSpPr>
        <p:spPr>
          <a:xfrm>
            <a:off x="4559198"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8</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 = 4</a:t>
            </a:r>
            <a:endParaRPr lang="en-US" sz="2325" dirty="0"/>
          </a:p>
        </p:txBody>
      </p:sp>
      <p:sp>
        <p:nvSpPr>
          <p:cNvPr id="14" name="Shape 14"/>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General form</a:t>
            </a:r>
            <a:endParaRPr lang="en-US" sz="2100" dirty="0"/>
          </a:p>
        </p:txBody>
      </p:sp>
      <p:sp>
        <p:nvSpPr>
          <p:cNvPr id="12" name="Shape 12"/>
          <p:cNvSpPr txBox="1"/>
          <p:nvPr/>
        </p:nvSpPr>
        <p:spPr>
          <a:xfrm>
            <a:off x="8223047" y="2260092"/>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 slope, </a:t>
            </a:r>
            <a:r>
              <a:rPr lang="en-US" sz="1575" dirty="0" i="1">
                <a:solidFill>
                  <a:srgbClr val="16171D"/>
                </a:solidFill>
                <a:latin typeface="Segoe UI"/>
                <a:cs typeface="Segoe UI"/>
              </a:rPr>
              <a:t xml:space="preserve">b</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a:t>
            </a:r>
            <a:endParaRPr lang="en-US" sz="1575" dirty="0"/>
          </a:p>
        </p:txBody>
      </p:sp>
      <p:sp>
        <p:nvSpPr>
          <p:cNvPr id="13" name="Shape 13"/>
          <p:cNvSpPr txBox="1"/>
          <p:nvPr/>
        </p:nvSpPr>
        <p:spPr>
          <a:xfrm>
            <a:off x="8223047" y="265023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C9561F"/>
                </a:solidFill>
                <a:latin typeface="Cambria"/>
                <a:cs typeface="Cambria"/>
              </a:rPr>
              <a:t xml:space="preserve">a</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b</a:t>
            </a:r>
            <a:endParaRPr lang="en-US" sz="2325" dirty="0"/>
          </a:p>
        </p:txBody>
      </p:sp>
      <p:sp>
        <p:nvSpPr>
          <p:cNvPr id="18" name="Shape 18"/>
          <p:cNvSpPr txBox="1"/>
          <p:nvPr/>
        </p:nvSpPr>
        <p:spPr>
          <a:xfrm>
            <a:off x="685800" y="3642360"/>
            <a:ext cx="34923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5" name="Shape 15"/>
          <p:cNvSpPr txBox="1"/>
          <p:nvPr/>
        </p:nvSpPr>
        <p:spPr>
          <a:xfrm>
            <a:off x="895350" y="381381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Factored form</a:t>
            </a:r>
            <a:endParaRPr lang="en-US" sz="2100" dirty="0"/>
          </a:p>
        </p:txBody>
      </p:sp>
      <p:sp>
        <p:nvSpPr>
          <p:cNvPr id="16" name="Shape 16"/>
          <p:cNvSpPr txBox="1"/>
          <p:nvPr/>
        </p:nvSpPr>
        <p:spPr>
          <a:xfrm>
            <a:off x="895350" y="4283964"/>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a</a:t>
            </a:r>
            <a:r>
              <a:rPr lang="en-US" sz="1575" dirty="0">
                <a:solidFill>
                  <a:srgbClr val="16171D"/>
                </a:solidFill>
                <a:latin typeface="Segoe UI"/>
                <a:cs typeface="Segoe UI"/>
              </a:rPr>
              <a:t xml:space="preserve"> = slope, </a:t>
            </a:r>
            <a:r>
              <a:rPr lang="en-US" sz="1575" dirty="0" i="1">
                <a:solidFill>
                  <a:srgbClr val="16171D"/>
                </a:solidFill>
                <a:latin typeface="Segoe UI"/>
                <a:cs typeface="Segoe UI"/>
              </a:rPr>
              <a:t xml:space="preserve">c</a:t>
            </a:r>
            <a:r>
              <a:rPr lang="en-US" sz="1575" dirty="0">
                <a:solidFill>
                  <a:srgbClr val="16171D"/>
                </a:solidFill>
                <a:latin typeface="Segoe UI"/>
                <a:cs typeface="Segoe UI"/>
              </a:rPr>
              <a:t xml:space="preserve"> = zero</a:t>
            </a:r>
            <a:endParaRPr lang="en-US" sz="1575" dirty="0"/>
          </a:p>
        </p:txBody>
      </p:sp>
      <p:sp>
        <p:nvSpPr>
          <p:cNvPr id="17" name="Shape 17"/>
          <p:cNvSpPr txBox="1"/>
          <p:nvPr/>
        </p:nvSpPr>
        <p:spPr>
          <a:xfrm>
            <a:off x="895350" y="467410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C9561F"/>
                </a:solidFill>
                <a:latin typeface="Cambria"/>
                <a:cs typeface="Cambria"/>
              </a:rPr>
              <a:t xml:space="preserve">a</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a:t>
            </a:r>
            <a:r>
              <a:rPr lang="en-US" sz="2325" dirty="0" b="1" i="1">
                <a:solidFill>
                  <a:srgbClr val="3050B8"/>
                </a:solidFill>
                <a:latin typeface="Cambria"/>
                <a:cs typeface="Cambria"/>
              </a:rPr>
              <a:t xml:space="preserve">c</a:t>
            </a:r>
            <a:r>
              <a:rPr lang="en-US" sz="2325" dirty="0">
                <a:solidFill>
                  <a:srgbClr val="16171D"/>
                </a:solidFill>
                <a:latin typeface="Cambria"/>
                <a:cs typeface="Cambria"/>
              </a:rPr>
              <a:t xml:space="preserve">)</a:t>
            </a:r>
            <a:endParaRPr lang="en-US" sz="2325" dirty="0"/>
          </a:p>
        </p:txBody>
      </p:sp>
      <p:sp>
        <p:nvSpPr>
          <p:cNvPr id="21" name="Shape 21"/>
          <p:cNvSpPr txBox="1"/>
          <p:nvPr/>
        </p:nvSpPr>
        <p:spPr>
          <a:xfrm>
            <a:off x="4349648" y="3642360"/>
            <a:ext cx="34923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9" name="Shape 19"/>
          <p:cNvSpPr txBox="1"/>
          <p:nvPr/>
        </p:nvSpPr>
        <p:spPr>
          <a:xfrm>
            <a:off x="4559198" y="381381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Zero</a:t>
            </a:r>
            <a:endParaRPr lang="en-US" sz="2100" dirty="0"/>
          </a:p>
        </p:txBody>
      </p:sp>
      <p:sp>
        <p:nvSpPr>
          <p:cNvPr id="20" name="Shape 20"/>
          <p:cNvSpPr txBox="1"/>
          <p:nvPr/>
        </p:nvSpPr>
        <p:spPr>
          <a:xfrm>
            <a:off x="4559198" y="4283964"/>
            <a:ext cx="3073298" cy="77495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that makes </a:t>
            </a:r>
            <a:r>
              <a:rPr lang="en-US" sz="1575" dirty="0" i="1">
                <a:solidFill>
                  <a:srgbClr val="16171D"/>
                </a:solidFill>
                <a:latin typeface="Segoe UI"/>
                <a:cs typeface="Segoe UI"/>
              </a:rPr>
              <a:t xml:space="preserve">f</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0. The line crosses the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-axis there.</a:t>
            </a:r>
            <a:endParaRPr lang="en-US" sz="1575" dirty="0"/>
          </a:p>
        </p:txBody>
      </p:sp>
      <p:sp>
        <p:nvSpPr>
          <p:cNvPr id="25" name="Shape 25"/>
          <p:cNvSpPr txBox="1"/>
          <p:nvPr/>
        </p:nvSpPr>
        <p:spPr>
          <a:xfrm>
            <a:off x="8013497" y="3642360"/>
            <a:ext cx="3492398" cy="161239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22" name="Shape 22"/>
          <p:cNvSpPr txBox="1"/>
          <p:nvPr/>
        </p:nvSpPr>
        <p:spPr>
          <a:xfrm>
            <a:off x="8223047" y="3813810"/>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Direct variation</a:t>
            </a:r>
            <a:endParaRPr lang="en-US" sz="2100" dirty="0"/>
          </a:p>
        </p:txBody>
      </p:sp>
      <p:sp>
        <p:nvSpPr>
          <p:cNvPr id="23" name="Shape 23"/>
          <p:cNvSpPr txBox="1"/>
          <p:nvPr/>
        </p:nvSpPr>
        <p:spPr>
          <a:xfrm>
            <a:off x="8223047" y="4283964"/>
            <a:ext cx="307329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line through (0, 0).</a:t>
            </a:r>
            <a:endParaRPr lang="en-US" sz="1575" dirty="0"/>
          </a:p>
        </p:txBody>
      </p:sp>
      <p:sp>
        <p:nvSpPr>
          <p:cNvPr id="24" name="Shape 24"/>
          <p:cNvSpPr txBox="1"/>
          <p:nvPr/>
        </p:nvSpPr>
        <p:spPr>
          <a:xfrm>
            <a:off x="8223047" y="4674108"/>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kx</a:t>
            </a:r>
            <a:endParaRPr lang="en-US" sz="2325" dirty="0"/>
          </a:p>
        </p:txBody>
      </p:sp>
      <p:sp>
        <p:nvSpPr>
          <p:cNvPr id="26" name="Slide Number 2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Lesson 6 · Steps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Is the table linear?</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Find the change in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and the change in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between each pair of rows.</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Divide: </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change in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change in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Always the same number → </a:t>
            </a:r>
            <a:r>
              <a:rPr lang="en-US" sz="1950" dirty="0" b="1">
                <a:solidFill>
                  <a:srgbClr val="16171D"/>
                </a:solidFill>
                <a:latin typeface="Segoe UI"/>
                <a:cs typeface="Segoe UI"/>
              </a:rPr>
              <a:t xml:space="preserve">linear</a:t>
            </a:r>
            <a:r>
              <a:rPr lang="en-US" sz="1950" dirty="0">
                <a:solidFill>
                  <a:srgbClr val="16171D"/>
                </a:solidFill>
                <a:latin typeface="Segoe UI"/>
                <a:cs typeface="Segoe UI"/>
              </a:rPr>
              <a:t xml:space="preserve">. Different → </a:t>
            </a:r>
            <a:r>
              <a:rPr lang="en-US" sz="1950" dirty="0" b="1">
                <a:solidFill>
                  <a:srgbClr val="16171D"/>
                </a:solidFill>
                <a:latin typeface="Segoe UI"/>
                <a:cs typeface="Segoe UI"/>
              </a:rPr>
              <a:t xml:space="preserve">not linear</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If linear, find </a:t>
            </a:r>
            <a:r>
              <a:rPr lang="en-US" sz="1950" dirty="0" i="1">
                <a:solidFill>
                  <a:srgbClr val="16171D"/>
                </a:solidFill>
                <a:latin typeface="Segoe UI"/>
                <a:cs typeface="Segoe UI"/>
              </a:rPr>
              <a:t xml:space="preserve">b</a:t>
            </a:r>
            <a:r>
              <a:rPr lang="en-US" sz="1950" dirty="0">
                <a:solidFill>
                  <a:srgbClr val="16171D"/>
                </a:solidFill>
                <a:latin typeface="Segoe UI"/>
                <a:cs typeface="Segoe UI"/>
              </a:rPr>
              <a:t xml:space="preserve"> (the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-value when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0) and write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ax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b</a:t>
            </a:r>
            <a:r>
              <a:rPr lang="en-US" sz="1950" dirty="0">
                <a:solidFill>
                  <a:srgbClr val="16171D"/>
                </a:solidFill>
                <a:latin typeface="Segoe UI"/>
                <a:cs typeface="Segoe UI"/>
              </a:rPr>
              <a:t xml:space="preserve">.</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Watch me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Is this table linear?</a:t>
            </a:r>
            <a:endParaRPr lang="en-US" sz="3450" dirty="0"/>
          </a:p>
        </p:txBody>
      </p:sp>
      <p:sp>
        <p:nvSpPr>
          <p:cNvPr id="4" name="Shape 4"/>
          <p:cNvSpPr txBox="1"/>
          <p:nvPr/>
        </p:nvSpPr>
        <p:spPr>
          <a:xfrm>
            <a:off x="685800" y="1618488"/>
            <a:ext cx="114300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x</a:t>
            </a:r>
            <a:endParaRPr lang="en-US" sz="1950" dirty="0"/>
          </a:p>
        </p:txBody>
      </p:sp>
      <p:sp>
        <p:nvSpPr>
          <p:cNvPr id="5" name="Shape 5"/>
          <p:cNvSpPr txBox="1"/>
          <p:nvPr/>
        </p:nvSpPr>
        <p:spPr>
          <a:xfrm>
            <a:off x="1828800" y="1618488"/>
            <a:ext cx="114300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y</a:t>
            </a:r>
            <a:endParaRPr lang="en-US" sz="1950" dirty="0"/>
          </a:p>
        </p:txBody>
      </p:sp>
      <p:sp>
        <p:nvSpPr>
          <p:cNvPr id="6" name="Shape 6"/>
          <p:cNvSpPr txBox="1"/>
          <p:nvPr/>
        </p:nvSpPr>
        <p:spPr>
          <a:xfrm>
            <a:off x="685800" y="2061972"/>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a:t>
            </a:r>
            <a:endParaRPr lang="en-US" sz="1950" dirty="0"/>
          </a:p>
        </p:txBody>
      </p:sp>
      <p:sp>
        <p:nvSpPr>
          <p:cNvPr id="7" name="Shape 7"/>
          <p:cNvSpPr txBox="1"/>
          <p:nvPr/>
        </p:nvSpPr>
        <p:spPr>
          <a:xfrm>
            <a:off x="1828800" y="2061972"/>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endParaRPr lang="en-US" sz="1950" dirty="0"/>
          </a:p>
        </p:txBody>
      </p:sp>
      <p:sp>
        <p:nvSpPr>
          <p:cNvPr id="8" name="Shape 8"/>
          <p:cNvSpPr txBox="1"/>
          <p:nvPr/>
        </p:nvSpPr>
        <p:spPr>
          <a:xfrm>
            <a:off x="685800" y="2505456"/>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9" name="Shape 9"/>
          <p:cNvSpPr txBox="1"/>
          <p:nvPr/>
        </p:nvSpPr>
        <p:spPr>
          <a:xfrm>
            <a:off x="1828800" y="2505456"/>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9</a:t>
            </a:r>
            <a:endParaRPr lang="en-US" sz="1950" dirty="0"/>
          </a:p>
        </p:txBody>
      </p:sp>
      <p:sp>
        <p:nvSpPr>
          <p:cNvPr id="10" name="Shape 10"/>
          <p:cNvSpPr txBox="1"/>
          <p:nvPr/>
        </p:nvSpPr>
        <p:spPr>
          <a:xfrm>
            <a:off x="685800" y="2948940"/>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4</a:t>
            </a:r>
            <a:endParaRPr lang="en-US" sz="1950" dirty="0"/>
          </a:p>
        </p:txBody>
      </p:sp>
      <p:sp>
        <p:nvSpPr>
          <p:cNvPr id="11" name="Shape 11"/>
          <p:cNvSpPr txBox="1"/>
          <p:nvPr/>
        </p:nvSpPr>
        <p:spPr>
          <a:xfrm>
            <a:off x="1828800" y="2948940"/>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13</a:t>
            </a:r>
            <a:endParaRPr lang="en-US" sz="1950" dirty="0"/>
          </a:p>
        </p:txBody>
      </p:sp>
      <p:sp>
        <p:nvSpPr>
          <p:cNvPr id="12" name="Shape 12"/>
          <p:cNvSpPr txBox="1"/>
          <p:nvPr/>
        </p:nvSpPr>
        <p:spPr>
          <a:xfrm>
            <a:off x="685800" y="3392424"/>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6</a:t>
            </a:r>
            <a:endParaRPr lang="en-US" sz="1950" dirty="0"/>
          </a:p>
        </p:txBody>
      </p:sp>
      <p:sp>
        <p:nvSpPr>
          <p:cNvPr id="13" name="Shape 13"/>
          <p:cNvSpPr txBox="1"/>
          <p:nvPr/>
        </p:nvSpPr>
        <p:spPr>
          <a:xfrm>
            <a:off x="1828800" y="3392424"/>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17</a:t>
            </a:r>
            <a:endParaRPr lang="en-US" sz="1950" dirty="0"/>
          </a:p>
        </p:txBody>
      </p:sp>
      <p:sp>
        <p:nvSpPr>
          <p:cNvPr id="14" name="Shape 14"/>
          <p:cNvSpPr txBox="1"/>
          <p:nvPr/>
        </p:nvSpPr>
        <p:spPr>
          <a:xfrm>
            <a:off x="6286348"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Each row: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goes up 2,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goes up 4.</a:t>
            </a:r>
            <a:endParaRPr lang="en-US" sz="1950" dirty="0"/>
          </a:p>
        </p:txBody>
      </p:sp>
      <p:sp>
        <p:nvSpPr>
          <p:cNvPr id="15" name="Shape 15"/>
          <p:cNvSpPr txBox="1"/>
          <p:nvPr/>
        </p:nvSpPr>
        <p:spPr>
          <a:xfrm>
            <a:off x="6286348" y="2103882"/>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4</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r>
              <a:rPr lang="en-US" sz="1950" dirty="0">
                <a:solidFill>
                  <a:srgbClr val="16171D"/>
                </a:solidFill>
                <a:latin typeface="Segoe UI"/>
                <a:cs typeface="Segoe UI"/>
              </a:rPr>
              <a:t xml:space="preserve"> = 2 every time.</a:t>
            </a:r>
            <a:endParaRPr lang="en-US" sz="1950" dirty="0"/>
          </a:p>
        </p:txBody>
      </p:sp>
      <p:sp>
        <p:nvSpPr>
          <p:cNvPr id="16" name="Shape 16"/>
          <p:cNvSpPr txBox="1"/>
          <p:nvPr/>
        </p:nvSpPr>
        <p:spPr>
          <a:xfrm>
            <a:off x="6286348" y="258927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Linear, slope 2</a:t>
            </a:r>
            <a:endParaRPr lang="en-US" sz="2325" dirty="0"/>
          </a:p>
        </p:txBody>
      </p:sp>
      <p:sp>
        <p:nvSpPr>
          <p:cNvPr id="17" name="Shape 17"/>
          <p:cNvSpPr txBox="1"/>
          <p:nvPr/>
        </p:nvSpPr>
        <p:spPr>
          <a:xfrm>
            <a:off x="6286348" y="324154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At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0,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5.</a:t>
            </a:r>
            <a:endParaRPr lang="en-US" sz="1950" dirty="0"/>
          </a:p>
        </p:txBody>
      </p:sp>
      <p:sp>
        <p:nvSpPr>
          <p:cNvPr id="18" name="Shape 18"/>
          <p:cNvSpPr txBox="1"/>
          <p:nvPr/>
        </p:nvSpPr>
        <p:spPr>
          <a:xfrm>
            <a:off x="6286348" y="372694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9" name="Slide Number 1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500"/>
                                        <p:tgtEl>
                                          <p:spTgt spid="16"/>
                                        </p:tgtEl>
                                      </p:cBhvr>
                                    </p:animEffect>
                                    <p:anim calcmode="lin" valueType="num">
                                      <p:cBhvr>
                                        <p:cTn id="5" dur="500" fill="hold"/>
                                        <p:tgtEl>
                                          <p:spTgt spid="16"/>
                                        </p:tgtEl>
                                        <p:attrNameLst>
                                          <p:attrName>ppt_w</p:attrName>
                                        </p:attrNameLst>
                                      </p:cBhvr>
                                      <p:tavLst>
                                        <p:tav tm="0">
                                          <p:val>
                                            <p:fltVal val="0"/>
                                          </p:val>
                                        </p:tav>
                                        <p:tav tm="100000">
                                          <p:val>
                                            <p:strVal val="#ppt_w"/>
                                          </p:val>
                                        </p:tav>
                                      </p:tavLst>
                                    </p:anim>
                                    <p:anim calcmode="lin" valueType="num">
                                      <p:cBhvr>
                                        <p:cTn id="6"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anim calcmode="lin" valueType="num">
                                      <p:cBhvr>
                                        <p:cTn id="12" dur="500" fill="hold"/>
                                        <p:tgtEl>
                                          <p:spTgt spid="18"/>
                                        </p:tgtEl>
                                        <p:attrNameLst>
                                          <p:attrName>ppt_w</p:attrName>
                                        </p:attrNameLst>
                                      </p:cBhvr>
                                      <p:tavLst>
                                        <p:tav tm="0">
                                          <p:val>
                                            <p:fltVal val="0"/>
                                          </p:val>
                                        </p:tav>
                                        <p:tav tm="100000">
                                          <p:val>
                                            <p:strVal val="#ppt_w"/>
                                          </p:val>
                                        </p:tav>
                                      </p:tavLst>
                                    </p:anim>
                                    <p:anim calcmode="lin" valueType="num">
                                      <p:cBhvr>
                                        <p:cTn id="13"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We do · Together</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Is this table linear?</a:t>
            </a:r>
            <a:endParaRPr lang="en-US" sz="3450" dirty="0"/>
          </a:p>
        </p:txBody>
      </p:sp>
      <p:sp>
        <p:nvSpPr>
          <p:cNvPr id="4" name="Shape 4"/>
          <p:cNvSpPr txBox="1"/>
          <p:nvPr/>
        </p:nvSpPr>
        <p:spPr>
          <a:xfrm>
            <a:off x="685800" y="1618488"/>
            <a:ext cx="114300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x</a:t>
            </a:r>
            <a:endParaRPr lang="en-US" sz="1950" dirty="0"/>
          </a:p>
        </p:txBody>
      </p:sp>
      <p:sp>
        <p:nvSpPr>
          <p:cNvPr id="5" name="Shape 5"/>
          <p:cNvSpPr txBox="1"/>
          <p:nvPr/>
        </p:nvSpPr>
        <p:spPr>
          <a:xfrm>
            <a:off x="1828800" y="1618488"/>
            <a:ext cx="1143000"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i="1">
                <a:solidFill>
                  <a:srgbClr val="16171D"/>
                </a:solidFill>
                <a:latin typeface="Cambria"/>
                <a:cs typeface="Cambria"/>
              </a:rPr>
              <a:t xml:space="preserve">y</a:t>
            </a:r>
            <a:endParaRPr lang="en-US" sz="1950" dirty="0"/>
          </a:p>
        </p:txBody>
      </p:sp>
      <p:sp>
        <p:nvSpPr>
          <p:cNvPr id="6" name="Shape 6"/>
          <p:cNvSpPr txBox="1"/>
          <p:nvPr/>
        </p:nvSpPr>
        <p:spPr>
          <a:xfrm>
            <a:off x="685800" y="2061972"/>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a:t>
            </a:r>
            <a:endParaRPr lang="en-US" sz="1950" dirty="0"/>
          </a:p>
        </p:txBody>
      </p:sp>
      <p:sp>
        <p:nvSpPr>
          <p:cNvPr id="7" name="Shape 7"/>
          <p:cNvSpPr txBox="1"/>
          <p:nvPr/>
        </p:nvSpPr>
        <p:spPr>
          <a:xfrm>
            <a:off x="1828800" y="2061972"/>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endParaRPr lang="en-US" sz="1950" dirty="0"/>
          </a:p>
        </p:txBody>
      </p:sp>
      <p:sp>
        <p:nvSpPr>
          <p:cNvPr id="8" name="Shape 8"/>
          <p:cNvSpPr txBox="1"/>
          <p:nvPr/>
        </p:nvSpPr>
        <p:spPr>
          <a:xfrm>
            <a:off x="685800" y="2505456"/>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9" name="Shape 9"/>
          <p:cNvSpPr txBox="1"/>
          <p:nvPr/>
        </p:nvSpPr>
        <p:spPr>
          <a:xfrm>
            <a:off x="1828800" y="2505456"/>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6</a:t>
            </a:r>
            <a:endParaRPr lang="en-US" sz="1950" dirty="0"/>
          </a:p>
        </p:txBody>
      </p:sp>
      <p:sp>
        <p:nvSpPr>
          <p:cNvPr id="10" name="Shape 10"/>
          <p:cNvSpPr txBox="1"/>
          <p:nvPr/>
        </p:nvSpPr>
        <p:spPr>
          <a:xfrm>
            <a:off x="685800" y="2948940"/>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3</a:t>
            </a:r>
            <a:endParaRPr lang="en-US" sz="1950" dirty="0"/>
          </a:p>
        </p:txBody>
      </p:sp>
      <p:sp>
        <p:nvSpPr>
          <p:cNvPr id="11" name="Shape 11"/>
          <p:cNvSpPr txBox="1"/>
          <p:nvPr/>
        </p:nvSpPr>
        <p:spPr>
          <a:xfrm>
            <a:off x="1828800" y="2948940"/>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12</a:t>
            </a:r>
            <a:endParaRPr lang="en-US" sz="1950" dirty="0"/>
          </a:p>
        </p:txBody>
      </p:sp>
      <p:sp>
        <p:nvSpPr>
          <p:cNvPr id="12" name="Shape 12"/>
          <p:cNvSpPr txBox="1"/>
          <p:nvPr/>
        </p:nvSpPr>
        <p:spPr>
          <a:xfrm>
            <a:off x="685800" y="3392424"/>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4</a:t>
            </a:r>
            <a:endParaRPr lang="en-US" sz="1950" dirty="0"/>
          </a:p>
        </p:txBody>
      </p:sp>
      <p:sp>
        <p:nvSpPr>
          <p:cNvPr id="13" name="Shape 13"/>
          <p:cNvSpPr txBox="1"/>
          <p:nvPr/>
        </p:nvSpPr>
        <p:spPr>
          <a:xfrm>
            <a:off x="1828800" y="3392424"/>
            <a:ext cx="1143000"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24</a:t>
            </a:r>
            <a:endParaRPr lang="en-US" sz="1950" dirty="0"/>
          </a:p>
        </p:txBody>
      </p:sp>
      <p:sp>
        <p:nvSpPr>
          <p:cNvPr id="14" name="Shape 14"/>
          <p:cNvSpPr txBox="1"/>
          <p:nvPr/>
        </p:nvSpPr>
        <p:spPr>
          <a:xfrm>
            <a:off x="6286348"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Change in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3, ____, ____</a:t>
            </a:r>
            <a:endParaRPr lang="en-US" sz="1950" dirty="0"/>
          </a:p>
        </p:txBody>
      </p:sp>
      <p:sp>
        <p:nvSpPr>
          <p:cNvPr id="15" name="Shape 15"/>
          <p:cNvSpPr txBox="1"/>
          <p:nvPr/>
        </p:nvSpPr>
        <p:spPr>
          <a:xfrm>
            <a:off x="6286348" y="2103882"/>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3, 6, 12</a:t>
            </a:r>
            <a:endParaRPr lang="en-US" sz="2325" dirty="0"/>
          </a:p>
        </p:txBody>
      </p:sp>
      <p:sp>
        <p:nvSpPr>
          <p:cNvPr id="16" name="Shape 16"/>
          <p:cNvSpPr txBox="1"/>
          <p:nvPr/>
        </p:nvSpPr>
        <p:spPr>
          <a:xfrm>
            <a:off x="6286348"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Is it the same every time?</a:t>
            </a:r>
            <a:endParaRPr lang="en-US" sz="1950" dirty="0"/>
          </a:p>
        </p:txBody>
      </p:sp>
      <p:sp>
        <p:nvSpPr>
          <p:cNvPr id="17" name="Shape 17"/>
          <p:cNvSpPr txBox="1"/>
          <p:nvPr/>
        </p:nvSpPr>
        <p:spPr>
          <a:xfrm>
            <a:off x="6286348" y="3241548"/>
            <a:ext cx="521954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No, so it is not linear.</a:t>
            </a:r>
            <a:endParaRPr lang="en-US" sz="2325" dirty="0"/>
          </a:p>
        </p:txBody>
      </p:sp>
      <p:sp>
        <p:nvSpPr>
          <p:cNvPr id="18" name="Slide Number 1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ppt_w</p:attrName>
                                        </p:attrNameLst>
                                      </p:cBhvr>
                                      <p:tavLst>
                                        <p:tav tm="0">
                                          <p:val>
                                            <p:fltVal val="0"/>
                                          </p:val>
                                        </p:tav>
                                        <p:tav tm="100000">
                                          <p:val>
                                            <p:strVal val="#ppt_w"/>
                                          </p:val>
                                        </p:tav>
                                      </p:tavLst>
                                    </p:anim>
                                    <p:anim calcmode="lin" valueType="num">
                                      <p:cBhvr>
                                        <p:cTn id="6"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Nakota sells pretzels</a:t>
            </a:r>
            <a:endParaRPr lang="en-US" sz="3450" dirty="0"/>
          </a:p>
        </p:txBody>
      </p:sp>
      <p:sp>
        <p:nvSpPr>
          <p:cNvPr id="4" name="Shape 4"/>
          <p:cNvSpPr txBox="1"/>
          <p:nvPr/>
        </p:nvSpPr>
        <p:spPr>
          <a:xfrm>
            <a:off x="685800" y="1618488"/>
            <a:ext cx="1578864"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Pretzels</a:t>
            </a:r>
            <a:endParaRPr lang="en-US" sz="1950" dirty="0"/>
          </a:p>
        </p:txBody>
      </p:sp>
      <p:sp>
        <p:nvSpPr>
          <p:cNvPr id="5" name="Shape 5"/>
          <p:cNvSpPr txBox="1"/>
          <p:nvPr/>
        </p:nvSpPr>
        <p:spPr>
          <a:xfrm>
            <a:off x="2264664" y="1618488"/>
            <a:ext cx="1707642" cy="443484"/>
          </a:xfrm>
          <a:prstGeom prst="rect">
            <a:avLst/>
          </a:prstGeom>
          <a:solidFill>
            <a:srgbClr val="E6E8F2"/>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Money ($)</a:t>
            </a:r>
            <a:endParaRPr lang="en-US" sz="1950" dirty="0"/>
          </a:p>
        </p:txBody>
      </p:sp>
      <p:sp>
        <p:nvSpPr>
          <p:cNvPr id="6" name="Shape 6"/>
          <p:cNvSpPr txBox="1"/>
          <p:nvPr/>
        </p:nvSpPr>
        <p:spPr>
          <a:xfrm>
            <a:off x="685800" y="2061972"/>
            <a:ext cx="157886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a:t>
            </a:r>
            <a:endParaRPr lang="en-US" sz="1950" dirty="0"/>
          </a:p>
        </p:txBody>
      </p:sp>
      <p:sp>
        <p:nvSpPr>
          <p:cNvPr id="7" name="Shape 7"/>
          <p:cNvSpPr txBox="1"/>
          <p:nvPr/>
        </p:nvSpPr>
        <p:spPr>
          <a:xfrm>
            <a:off x="2264664" y="2061972"/>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0</a:t>
            </a:r>
            <a:endParaRPr lang="en-US" sz="1950" dirty="0"/>
          </a:p>
        </p:txBody>
      </p:sp>
      <p:sp>
        <p:nvSpPr>
          <p:cNvPr id="8" name="Shape 8"/>
          <p:cNvSpPr txBox="1"/>
          <p:nvPr/>
        </p:nvSpPr>
        <p:spPr>
          <a:xfrm>
            <a:off x="685800" y="2505456"/>
            <a:ext cx="157886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2</a:t>
            </a:r>
            <a:endParaRPr lang="en-US" sz="1950" dirty="0"/>
          </a:p>
        </p:txBody>
      </p:sp>
      <p:sp>
        <p:nvSpPr>
          <p:cNvPr id="9" name="Shape 9"/>
          <p:cNvSpPr txBox="1"/>
          <p:nvPr/>
        </p:nvSpPr>
        <p:spPr>
          <a:xfrm>
            <a:off x="2264664" y="2505456"/>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5</a:t>
            </a:r>
            <a:endParaRPr lang="en-US" sz="1950" dirty="0"/>
          </a:p>
        </p:txBody>
      </p:sp>
      <p:sp>
        <p:nvSpPr>
          <p:cNvPr id="10" name="Shape 10"/>
          <p:cNvSpPr txBox="1"/>
          <p:nvPr/>
        </p:nvSpPr>
        <p:spPr>
          <a:xfrm>
            <a:off x="685800" y="2948940"/>
            <a:ext cx="157886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4</a:t>
            </a:r>
            <a:endParaRPr lang="en-US" sz="1950" dirty="0"/>
          </a:p>
        </p:txBody>
      </p:sp>
      <p:sp>
        <p:nvSpPr>
          <p:cNvPr id="11" name="Shape 11"/>
          <p:cNvSpPr txBox="1"/>
          <p:nvPr/>
        </p:nvSpPr>
        <p:spPr>
          <a:xfrm>
            <a:off x="2264664" y="2948940"/>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10</a:t>
            </a:r>
            <a:endParaRPr lang="en-US" sz="1950" dirty="0"/>
          </a:p>
        </p:txBody>
      </p:sp>
      <p:sp>
        <p:nvSpPr>
          <p:cNvPr id="12" name="Shape 12"/>
          <p:cNvSpPr txBox="1"/>
          <p:nvPr/>
        </p:nvSpPr>
        <p:spPr>
          <a:xfrm>
            <a:off x="685800" y="3392424"/>
            <a:ext cx="1578864"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6</a:t>
            </a:r>
            <a:endParaRPr lang="en-US" sz="1950" dirty="0"/>
          </a:p>
        </p:txBody>
      </p:sp>
      <p:sp>
        <p:nvSpPr>
          <p:cNvPr id="13" name="Shape 13"/>
          <p:cNvSpPr txBox="1"/>
          <p:nvPr/>
        </p:nvSpPr>
        <p:spPr>
          <a:xfrm>
            <a:off x="2264664" y="3392424"/>
            <a:ext cx="1707642" cy="443484"/>
          </a:xfrm>
          <a:prstGeom prst="rect">
            <a:avLst/>
          </a:prstGeom>
          <a:solidFill>
            <a:srgbClr val="FFFFFF"/>
          </a:solidFill>
          <a:ln w="12700">
            <a:solidFill>
              <a:srgbClr val="E3E4EC"/>
            </a:solidFill>
          </a:ln>
        </p:spPr>
        <p:txBody>
          <a:bodyPr wrap="square" lIns="109728" tIns="45720" rIns="109728" bIns="45720" anchor="ctr">
            <a:noAutofit/>
          </a:bodyPr>
          <a:lstStyle/>
          <a:p>
            <a:pPr algn="ctr">
              <a:lnSpc>
                <a:spcPct val="100000"/>
              </a:lnSpc>
            </a:pPr>
            <a:r>
              <a:rPr lang="en-US" sz="1950" dirty="0">
                <a:solidFill>
                  <a:srgbClr val="16171D"/>
                </a:solidFill>
                <a:latin typeface="Cambria"/>
                <a:cs typeface="Cambria"/>
              </a:rPr>
              <a:t xml:space="preserve">15</a:t>
            </a:r>
            <a:endParaRPr lang="en-US" sz="1950" dirty="0"/>
          </a:p>
        </p:txBody>
      </p:sp>
      <p:sp>
        <p:nvSpPr>
          <p:cNvPr id="14" name="Shape 14"/>
          <p:cNvSpPr txBox="1"/>
          <p:nvPr/>
        </p:nvSpPr>
        <p:spPr>
          <a:xfrm>
            <a:off x="6286348"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Rate: </a:t>
            </a:r>
            <a:r>
              <a:rPr lang="en-US" sz="1950" dirty="0">
                <a:solidFill>
                  <a:srgbClr val="16171D"/>
                </a:solidFill>
                <a:latin typeface="Segoe UI"/>
                <a:cs typeface="Segoe UI"/>
              </a:rPr>
              <a:t xml:space="preserve">5</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r>
              <a:rPr lang="en-US" sz="1950" dirty="0">
                <a:solidFill>
                  <a:srgbClr val="16171D"/>
                </a:solidFill>
                <a:latin typeface="Segoe UI"/>
                <a:cs typeface="Segoe UI"/>
              </a:rPr>
              <a:t xml:space="preserve"> = ____ dollars per pretzel</a:t>
            </a:r>
            <a:endParaRPr lang="en-US" sz="1950" dirty="0"/>
          </a:p>
        </p:txBody>
      </p:sp>
      <p:sp>
        <p:nvSpPr>
          <p:cNvPr id="15" name="Shape 15"/>
          <p:cNvSpPr txBox="1"/>
          <p:nvPr/>
        </p:nvSpPr>
        <p:spPr>
          <a:xfrm>
            <a:off x="6286348" y="2103882"/>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2.5</a:t>
            </a:r>
            <a:endParaRPr lang="en-US" sz="2325" dirty="0"/>
          </a:p>
        </p:txBody>
      </p:sp>
      <p:sp>
        <p:nvSpPr>
          <p:cNvPr id="16" name="Shape 16"/>
          <p:cNvSpPr txBox="1"/>
          <p:nvPr/>
        </p:nvSpPr>
        <p:spPr>
          <a:xfrm>
            <a:off x="6286348"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the function: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____</a:t>
            </a:r>
            <a:r>
              <a:rPr lang="en-US" sz="1950" dirty="0" i="1">
                <a:solidFill>
                  <a:srgbClr val="16171D"/>
                </a:solidFill>
                <a:latin typeface="Segoe UI"/>
                <a:cs typeface="Segoe UI"/>
              </a:rPr>
              <a:t xml:space="preserve">x</a:t>
            </a:r>
            <a:endParaRPr lang="en-US" sz="1950" dirty="0"/>
          </a:p>
        </p:txBody>
      </p:sp>
      <p:sp>
        <p:nvSpPr>
          <p:cNvPr id="17" name="Shape 17"/>
          <p:cNvSpPr txBox="1"/>
          <p:nvPr/>
        </p:nvSpPr>
        <p:spPr>
          <a:xfrm>
            <a:off x="6286348" y="3241548"/>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2.5</a:t>
            </a:r>
            <a:r>
              <a:rPr lang="en-US" sz="2325" dirty="0" i="1">
                <a:solidFill>
                  <a:srgbClr val="16171D"/>
                </a:solidFill>
                <a:latin typeface="Cambria"/>
                <a:cs typeface="Cambria"/>
              </a:rPr>
              <a:t xml:space="preserve">x</a:t>
            </a:r>
            <a:endParaRPr lang="en-US" sz="2325" dirty="0"/>
          </a:p>
        </p:txBody>
      </p:sp>
      <p:sp>
        <p:nvSpPr>
          <p:cNvPr id="18" name="Shape 18"/>
          <p:cNvSpPr txBox="1"/>
          <p:nvPr/>
        </p:nvSpPr>
        <p:spPr>
          <a:xfrm>
            <a:off x="6286348" y="3893820"/>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Money for 10 pretzels: ____</a:t>
            </a:r>
            <a:endParaRPr lang="en-US" sz="1950" dirty="0"/>
          </a:p>
        </p:txBody>
      </p:sp>
      <p:sp>
        <p:nvSpPr>
          <p:cNvPr id="19" name="Shape 19"/>
          <p:cNvSpPr txBox="1"/>
          <p:nvPr/>
        </p:nvSpPr>
        <p:spPr>
          <a:xfrm>
            <a:off x="6286348" y="4379214"/>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$25</a:t>
            </a:r>
            <a:endParaRPr lang="en-US" sz="23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500"/>
                                        <p:tgtEl>
                                          <p:spTgt spid="15"/>
                                        </p:tgtEl>
                                      </p:cBhvr>
                                    </p:animEffect>
                                    <p:anim calcmode="lin" valueType="num">
                                      <p:cBhvr>
                                        <p:cTn id="5" dur="500" fill="hold"/>
                                        <p:tgtEl>
                                          <p:spTgt spid="15"/>
                                        </p:tgtEl>
                                        <p:attrNameLst>
                                          <p:attrName>ppt_w</p:attrName>
                                        </p:attrNameLst>
                                      </p:cBhvr>
                                      <p:tavLst>
                                        <p:tav tm="0">
                                          <p:val>
                                            <p:fltVal val="0"/>
                                          </p:val>
                                        </p:tav>
                                        <p:tav tm="100000">
                                          <p:val>
                                            <p:strVal val="#ppt_w"/>
                                          </p:val>
                                        </p:tav>
                                      </p:tavLst>
                                    </p:anim>
                                    <p:anim calcmode="lin" valueType="num">
                                      <p:cBhvr>
                                        <p:cTn id="6"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500"/>
                                        <p:tgtEl>
                                          <p:spTgt spid="19"/>
                                        </p:tgtEl>
                                      </p:cBhvr>
                                    </p:animEffec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Meaning in a story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Gracie sells T-shirts for $15 each</a:t>
            </a:r>
            <a:endParaRPr lang="en-US" sz="3450" dirty="0"/>
          </a:p>
        </p:txBody>
      </p:sp>
      <p:sp>
        <p:nvSpPr>
          <p:cNvPr id="4" name="Shape 4"/>
          <p:cNvSpPr txBox="1"/>
          <p:nvPr/>
        </p:nvSpPr>
        <p:spPr>
          <a:xfrm>
            <a:off x="685800" y="1618488"/>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i="1">
                <a:solidFill>
                  <a:srgbClr val="16171D"/>
                </a:solidFill>
                <a:latin typeface="Cambria"/>
                <a:cs typeface="Cambria"/>
              </a:rPr>
              <a:t xml:space="preserve">E</a:t>
            </a:r>
            <a:r>
              <a:rPr lang="en-US" sz="2850" dirty="0">
                <a:solidFill>
                  <a:srgbClr val="16171D"/>
                </a:solidFill>
                <a:latin typeface="Cambria"/>
                <a:cs typeface="Cambria"/>
              </a:rPr>
              <a:t xml:space="preserve">(</a:t>
            </a:r>
            <a:r>
              <a:rPr lang="en-US" sz="2850" dirty="0" i="1">
                <a:solidFill>
                  <a:srgbClr val="16171D"/>
                </a:solidFill>
                <a:latin typeface="Cambria"/>
                <a:cs typeface="Cambria"/>
              </a:rPr>
              <a:t xml:space="preserve">t</a:t>
            </a:r>
            <a:r>
              <a:rPr lang="en-US" sz="2850" dirty="0">
                <a:solidFill>
                  <a:srgbClr val="16171D"/>
                </a:solidFill>
                <a:latin typeface="Cambria"/>
                <a:cs typeface="Cambria"/>
              </a:rPr>
              <a:t xml:space="preserve">) = 15</a:t>
            </a:r>
            <a:r>
              <a:rPr lang="en-US" sz="2850" dirty="0" i="1">
                <a:solidFill>
                  <a:srgbClr val="16171D"/>
                </a:solidFill>
                <a:latin typeface="Cambria"/>
                <a:cs typeface="Cambria"/>
              </a:rPr>
              <a:t xml:space="preserve">t</a:t>
            </a:r>
            <a:endParaRPr lang="en-US" sz="2850" dirty="0"/>
          </a:p>
        </p:txBody>
      </p:sp>
      <p:sp>
        <p:nvSpPr>
          <p:cNvPr id="5" name="Shape 5"/>
          <p:cNvSpPr txBox="1"/>
          <p:nvPr/>
        </p:nvSpPr>
        <p:spPr>
          <a:xfrm>
            <a:off x="685800" y="227914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C9561F"/>
                </a:solidFill>
                <a:latin typeface="Segoe UI"/>
                <a:cs typeface="Segoe UI"/>
              </a:rPr>
              <a:t xml:space="preserve">15</a:t>
            </a:r>
            <a:r>
              <a:rPr lang="en-US" sz="1950" dirty="0">
                <a:solidFill>
                  <a:srgbClr val="16171D"/>
                </a:solidFill>
                <a:latin typeface="Segoe UI"/>
                <a:cs typeface="Segoe UI"/>
              </a:rPr>
              <a:t xml:space="preserve"> means: she earns $15 for each shirt (the slope).</a:t>
            </a:r>
            <a:endParaRPr lang="en-US" sz="1950" dirty="0"/>
          </a:p>
        </p:txBody>
      </p:sp>
      <p:sp>
        <p:nvSpPr>
          <p:cNvPr id="6" name="Shape 6"/>
          <p:cNvSpPr txBox="1"/>
          <p:nvPr/>
        </p:nvSpPr>
        <p:spPr>
          <a:xfrm>
            <a:off x="685800" y="280263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How many shirts to earn $100? 100 = 15</a:t>
            </a:r>
            <a:r>
              <a:rPr lang="en-US" sz="1950" dirty="0" i="1">
                <a:solidFill>
                  <a:srgbClr val="16171D"/>
                </a:solidFill>
                <a:latin typeface="Segoe UI"/>
                <a:cs typeface="Segoe UI"/>
              </a:rPr>
              <a:t xml:space="preserve">t</a:t>
            </a:r>
            <a:endParaRPr lang="en-US" sz="1950" dirty="0"/>
          </a:p>
        </p:txBody>
      </p:sp>
      <p:sp>
        <p:nvSpPr>
          <p:cNvPr id="7" name="Shape 7"/>
          <p:cNvSpPr txBox="1"/>
          <p:nvPr/>
        </p:nvSpPr>
        <p:spPr>
          <a:xfrm>
            <a:off x="685800" y="3326130"/>
            <a:ext cx="473211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100</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15</a:t>
            </a:r>
            <a:r>
              <a:rPr lang="en-US" sz="2325" dirty="0">
                <a:solidFill>
                  <a:srgbClr val="16171D"/>
                </a:solidFill>
                <a:latin typeface="Cambria"/>
                <a:cs typeface="Cambria"/>
              </a:rPr>
              <a:t xml:space="preserve"> ≈ 6.67</a:t>
            </a:r>
            <a:endParaRPr lang="en-US" sz="2325" dirty="0"/>
          </a:p>
        </p:txBody>
      </p:sp>
      <p:sp>
        <p:nvSpPr>
          <p:cNvPr id="8" name="Shape 8"/>
          <p:cNvSpPr txBox="1"/>
          <p:nvPr/>
        </p:nvSpPr>
        <p:spPr>
          <a:xfrm>
            <a:off x="685800" y="401650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She can't sell part of a shirt, so she must sell ____ shirts.</a:t>
            </a:r>
            <a:endParaRPr lang="en-US" sz="1950" dirty="0"/>
          </a:p>
        </p:txBody>
      </p:sp>
      <p:sp>
        <p:nvSpPr>
          <p:cNvPr id="9" name="Shape 9"/>
          <p:cNvSpPr txBox="1"/>
          <p:nvPr/>
        </p:nvSpPr>
        <p:spPr>
          <a:xfrm>
            <a:off x="685800" y="4539996"/>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7 shirts</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ppt_w</p:attrName>
                                        </p:attrNameLst>
                                      </p:cBhvr>
                                      <p:tavLst>
                                        <p:tav tm="0">
                                          <p:val>
                                            <p:fltVal val="0"/>
                                          </p:val>
                                        </p:tav>
                                        <p:tav tm="100000">
                                          <p:val>
                                            <p:strVal val="#ppt_w"/>
                                          </p:val>
                                        </p:tav>
                                      </p:tavLst>
                                    </p:anim>
                                    <p:anim calcmode="lin" valueType="num">
                                      <p:cBhvr>
                                        <p:cTn id="6"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500"/>
                                        <p:tgtEl>
                                          <p:spTgt spid="9"/>
                                        </p:tgtEl>
                                      </p:cBhvr>
                                    </p:animEffec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We do · Two forms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Gracie gives away 3 shirts</a:t>
            </a:r>
            <a:endParaRPr lang="en-US" sz="3450" dirty="0"/>
          </a:p>
        </p:txBody>
      </p:sp>
      <p:sp>
        <p:nvSpPr>
          <p:cNvPr id="8" name="Shape 8"/>
          <p:cNvSpPr txBox="1"/>
          <p:nvPr/>
        </p:nvSpPr>
        <p:spPr>
          <a:xfrm>
            <a:off x="685800" y="1618488"/>
            <a:ext cx="5219548" cy="22265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General form</a:t>
            </a:r>
            <a:endParaRPr lang="en-US" sz="2100" dirty="0"/>
          </a:p>
        </p:txBody>
      </p:sp>
      <p:sp>
        <p:nvSpPr>
          <p:cNvPr id="5" name="Shape 5"/>
          <p:cNvSpPr txBox="1"/>
          <p:nvPr/>
        </p:nvSpPr>
        <p:spPr>
          <a:xfrm>
            <a:off x="895350" y="2260092"/>
            <a:ext cx="48004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− 45</a:t>
            </a:r>
            <a:endParaRPr lang="en-US" sz="2325" dirty="0"/>
          </a:p>
        </p:txBody>
      </p:sp>
      <p:sp>
        <p:nvSpPr>
          <p:cNvPr id="6" name="Shape 6"/>
          <p:cNvSpPr txBox="1"/>
          <p:nvPr/>
        </p:nvSpPr>
        <p:spPr>
          <a:xfrm>
            <a:off x="895350" y="2764536"/>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____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-intercept: ____</a:t>
            </a:r>
            <a:endParaRPr lang="en-US" sz="1575" dirty="0"/>
          </a:p>
        </p:txBody>
      </p:sp>
      <p:sp>
        <p:nvSpPr>
          <p:cNvPr id="7" name="Shape 7"/>
          <p:cNvSpPr txBox="1"/>
          <p:nvPr/>
        </p:nvSpPr>
        <p:spPr>
          <a:xfrm>
            <a:off x="895350" y="3154680"/>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15 and (0, −45)</a:t>
            </a:r>
            <a:endParaRPr lang="en-US" sz="2325" dirty="0"/>
          </a:p>
        </p:txBody>
      </p:sp>
      <p:sp>
        <p:nvSpPr>
          <p:cNvPr id="13" name="Shape 13"/>
          <p:cNvSpPr txBox="1"/>
          <p:nvPr/>
        </p:nvSpPr>
        <p:spPr>
          <a:xfrm>
            <a:off x="685800" y="3978402"/>
            <a:ext cx="5219548" cy="222656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9" name="Shape 9"/>
          <p:cNvSpPr txBox="1"/>
          <p:nvPr/>
        </p:nvSpPr>
        <p:spPr>
          <a:xfrm>
            <a:off x="895350" y="4149852"/>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Factored form</a:t>
            </a:r>
            <a:endParaRPr lang="en-US" sz="2100" dirty="0"/>
          </a:p>
        </p:txBody>
      </p:sp>
      <p:sp>
        <p:nvSpPr>
          <p:cNvPr id="10" name="Shape 10"/>
          <p:cNvSpPr txBox="1"/>
          <p:nvPr/>
        </p:nvSpPr>
        <p:spPr>
          <a:xfrm>
            <a:off x="895350" y="4620006"/>
            <a:ext cx="48004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G</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 </a:t>
            </a:r>
            <a:r>
              <a:rPr lang="en-US" sz="2325" dirty="0" b="1">
                <a:solidFill>
                  <a:srgbClr val="C9561F"/>
                </a:solidFill>
                <a:latin typeface="Cambria"/>
                <a:cs typeface="Cambria"/>
              </a:rPr>
              <a:t xml:space="preserve">15</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t</a:t>
            </a:r>
            <a:r>
              <a:rPr lang="en-US" sz="2325" dirty="0">
                <a:solidFill>
                  <a:srgbClr val="16171D"/>
                </a:solidFill>
                <a:latin typeface="Cambria"/>
                <a:cs typeface="Cambria"/>
              </a:rPr>
              <a:t xml:space="preserve"> </a:t>
            </a:r>
            <a:r>
              <a:rPr lang="en-US" sz="2325" dirty="0" b="1">
                <a:solidFill>
                  <a:srgbClr val="3050B8"/>
                </a:solidFill>
                <a:latin typeface="Cambria"/>
                <a:cs typeface="Cambria"/>
              </a:rPr>
              <a:t xml:space="preserve">− 3</a:t>
            </a:r>
            <a:r>
              <a:rPr lang="en-US" sz="2325" dirty="0">
                <a:solidFill>
                  <a:srgbClr val="16171D"/>
                </a:solidFill>
                <a:latin typeface="Cambria"/>
                <a:cs typeface="Cambria"/>
              </a:rPr>
              <a:t xml:space="preserve">)</a:t>
            </a:r>
            <a:endParaRPr lang="en-US" sz="2325" dirty="0"/>
          </a:p>
        </p:txBody>
      </p:sp>
      <p:sp>
        <p:nvSpPr>
          <p:cNvPr id="11" name="Shape 11"/>
          <p:cNvSpPr txBox="1"/>
          <p:nvPr/>
        </p:nvSpPr>
        <p:spPr>
          <a:xfrm>
            <a:off x="895350" y="5124450"/>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slope: ____ zero: ____</a:t>
            </a:r>
            <a:endParaRPr lang="en-US" sz="1575" dirty="0"/>
          </a:p>
        </p:txBody>
      </p:sp>
      <p:sp>
        <p:nvSpPr>
          <p:cNvPr id="12" name="Shape 12"/>
          <p:cNvSpPr txBox="1"/>
          <p:nvPr/>
        </p:nvSpPr>
        <p:spPr>
          <a:xfrm>
            <a:off x="895350" y="5514594"/>
            <a:ext cx="3239673"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15 and 3</a:t>
            </a:r>
            <a:endParaRPr lang="en-US" sz="2325" dirty="0"/>
          </a:p>
        </p:txBody>
      </p:sp>
      <p:sp>
        <p:nvSpPr>
          <p:cNvPr id="14" name="Shape 14"/>
          <p:cNvSpPr/>
          <p:nvPr/>
        </p:nvSpPr>
        <p:spPr>
          <a:xfrm>
            <a:off x="6286348" y="1618488"/>
            <a:ext cx="3238500" cy="3619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5" name="Line 15"/>
          <p:cNvCxnSpPr/>
          <p:nvPr/>
        </p:nvCxnSpPr>
        <p:spPr>
          <a:xfrm>
            <a:off x="6610198" y="1732788"/>
            <a:ext cx="0" cy="3257550"/>
          </a:xfrm>
          <a:prstGeom prst="line">
            <a:avLst/>
          </a:prstGeom>
          <a:ln w="9525" cap="flat">
            <a:solidFill>
              <a:srgbClr val="E6E8F2"/>
            </a:solidFill>
          </a:ln>
        </p:spPr>
      </p:cxnSp>
      <p:cxnSp>
        <p:nvCxnSpPr>
          <p:cNvPr id="16" name="Line 16"/>
          <p:cNvCxnSpPr/>
          <p:nvPr/>
        </p:nvCxnSpPr>
        <p:spPr>
          <a:xfrm>
            <a:off x="6921348" y="1732788"/>
            <a:ext cx="0" cy="3257550"/>
          </a:xfrm>
          <a:prstGeom prst="line">
            <a:avLst/>
          </a:prstGeom>
          <a:ln w="9525" cap="flat">
            <a:solidFill>
              <a:srgbClr val="E6E8F2"/>
            </a:solidFill>
          </a:ln>
        </p:spPr>
      </p:cxnSp>
      <p:cxnSp>
        <p:nvCxnSpPr>
          <p:cNvPr id="17" name="Line 17"/>
          <p:cNvCxnSpPr/>
          <p:nvPr/>
        </p:nvCxnSpPr>
        <p:spPr>
          <a:xfrm>
            <a:off x="7232498" y="1732788"/>
            <a:ext cx="0" cy="3257550"/>
          </a:xfrm>
          <a:prstGeom prst="line">
            <a:avLst/>
          </a:prstGeom>
          <a:ln w="9525" cap="flat">
            <a:solidFill>
              <a:srgbClr val="E6E8F2"/>
            </a:solidFill>
          </a:ln>
        </p:spPr>
      </p:cxnSp>
      <p:cxnSp>
        <p:nvCxnSpPr>
          <p:cNvPr id="18" name="Line 18"/>
          <p:cNvCxnSpPr/>
          <p:nvPr/>
        </p:nvCxnSpPr>
        <p:spPr>
          <a:xfrm>
            <a:off x="7543648" y="1732788"/>
            <a:ext cx="0" cy="3257550"/>
          </a:xfrm>
          <a:prstGeom prst="line">
            <a:avLst/>
          </a:prstGeom>
          <a:ln w="9525" cap="flat">
            <a:solidFill>
              <a:srgbClr val="E6E8F2"/>
            </a:solidFill>
          </a:ln>
        </p:spPr>
      </p:cxnSp>
      <p:cxnSp>
        <p:nvCxnSpPr>
          <p:cNvPr id="19" name="Line 19"/>
          <p:cNvCxnSpPr/>
          <p:nvPr/>
        </p:nvCxnSpPr>
        <p:spPr>
          <a:xfrm>
            <a:off x="7854798" y="1732788"/>
            <a:ext cx="0" cy="3257550"/>
          </a:xfrm>
          <a:prstGeom prst="line">
            <a:avLst/>
          </a:prstGeom>
          <a:ln w="9525" cap="flat">
            <a:solidFill>
              <a:srgbClr val="E6E8F2"/>
            </a:solidFill>
          </a:ln>
        </p:spPr>
      </p:cxnSp>
      <p:cxnSp>
        <p:nvCxnSpPr>
          <p:cNvPr id="20" name="Line 20"/>
          <p:cNvCxnSpPr/>
          <p:nvPr/>
        </p:nvCxnSpPr>
        <p:spPr>
          <a:xfrm>
            <a:off x="8165948" y="1732788"/>
            <a:ext cx="0" cy="3257550"/>
          </a:xfrm>
          <a:prstGeom prst="line">
            <a:avLst/>
          </a:prstGeom>
          <a:ln w="9525" cap="flat">
            <a:solidFill>
              <a:srgbClr val="E6E8F2"/>
            </a:solidFill>
          </a:ln>
        </p:spPr>
      </p:cxnSp>
      <p:cxnSp>
        <p:nvCxnSpPr>
          <p:cNvPr id="21" name="Line 21"/>
          <p:cNvCxnSpPr/>
          <p:nvPr/>
        </p:nvCxnSpPr>
        <p:spPr>
          <a:xfrm>
            <a:off x="8477098" y="1732788"/>
            <a:ext cx="0" cy="3257550"/>
          </a:xfrm>
          <a:prstGeom prst="line">
            <a:avLst/>
          </a:prstGeom>
          <a:ln w="9525" cap="flat">
            <a:solidFill>
              <a:srgbClr val="E6E8F2"/>
            </a:solidFill>
          </a:ln>
        </p:spPr>
      </p:cxnSp>
      <p:cxnSp>
        <p:nvCxnSpPr>
          <p:cNvPr id="22" name="Line 22"/>
          <p:cNvCxnSpPr/>
          <p:nvPr/>
        </p:nvCxnSpPr>
        <p:spPr>
          <a:xfrm>
            <a:off x="8788248" y="1732788"/>
            <a:ext cx="0" cy="3257550"/>
          </a:xfrm>
          <a:prstGeom prst="line">
            <a:avLst/>
          </a:prstGeom>
          <a:ln w="9525" cap="flat">
            <a:solidFill>
              <a:srgbClr val="E6E8F2"/>
            </a:solidFill>
          </a:ln>
        </p:spPr>
      </p:cxnSp>
      <p:cxnSp>
        <p:nvCxnSpPr>
          <p:cNvPr id="23" name="Line 23"/>
          <p:cNvCxnSpPr/>
          <p:nvPr/>
        </p:nvCxnSpPr>
        <p:spPr>
          <a:xfrm>
            <a:off x="9099398" y="1732788"/>
            <a:ext cx="0" cy="3257550"/>
          </a:xfrm>
          <a:prstGeom prst="line">
            <a:avLst/>
          </a:prstGeom>
          <a:ln w="9525" cap="flat">
            <a:solidFill>
              <a:srgbClr val="E6E8F2"/>
            </a:solidFill>
          </a:ln>
        </p:spPr>
      </p:cxnSp>
      <p:cxnSp>
        <p:nvCxnSpPr>
          <p:cNvPr id="24" name="Line 24"/>
          <p:cNvCxnSpPr/>
          <p:nvPr/>
        </p:nvCxnSpPr>
        <p:spPr>
          <a:xfrm>
            <a:off x="9410548" y="1732788"/>
            <a:ext cx="0" cy="3257550"/>
          </a:xfrm>
          <a:prstGeom prst="line">
            <a:avLst/>
          </a:prstGeom>
          <a:ln w="9525" cap="flat">
            <a:solidFill>
              <a:srgbClr val="E6E8F2"/>
            </a:solidFill>
          </a:ln>
        </p:spPr>
      </p:cxnSp>
      <p:cxnSp>
        <p:nvCxnSpPr>
          <p:cNvPr id="25" name="Line 25"/>
          <p:cNvCxnSpPr/>
          <p:nvPr/>
        </p:nvCxnSpPr>
        <p:spPr>
          <a:xfrm>
            <a:off x="6610198" y="4990338"/>
            <a:ext cx="2800350" cy="0"/>
          </a:xfrm>
          <a:prstGeom prst="line">
            <a:avLst/>
          </a:prstGeom>
          <a:ln w="9525" cap="flat">
            <a:solidFill>
              <a:srgbClr val="E6E8F2"/>
            </a:solidFill>
          </a:ln>
        </p:spPr>
      </p:cxnSp>
      <p:cxnSp>
        <p:nvCxnSpPr>
          <p:cNvPr id="26" name="Line 26"/>
          <p:cNvCxnSpPr/>
          <p:nvPr/>
        </p:nvCxnSpPr>
        <p:spPr>
          <a:xfrm>
            <a:off x="6610198" y="4718876"/>
            <a:ext cx="2800350" cy="0"/>
          </a:xfrm>
          <a:prstGeom prst="line">
            <a:avLst/>
          </a:prstGeom>
          <a:ln w="9525" cap="flat">
            <a:solidFill>
              <a:srgbClr val="E6E8F2"/>
            </a:solidFill>
          </a:ln>
        </p:spPr>
      </p:cxnSp>
      <p:cxnSp>
        <p:nvCxnSpPr>
          <p:cNvPr id="27" name="Line 27"/>
          <p:cNvCxnSpPr/>
          <p:nvPr/>
        </p:nvCxnSpPr>
        <p:spPr>
          <a:xfrm>
            <a:off x="6610198" y="4447413"/>
            <a:ext cx="2800350" cy="0"/>
          </a:xfrm>
          <a:prstGeom prst="line">
            <a:avLst/>
          </a:prstGeom>
          <a:ln w="9525" cap="flat">
            <a:solidFill>
              <a:srgbClr val="E6E8F2"/>
            </a:solidFill>
          </a:ln>
        </p:spPr>
      </p:cxnSp>
      <p:cxnSp>
        <p:nvCxnSpPr>
          <p:cNvPr id="28" name="Line 28"/>
          <p:cNvCxnSpPr/>
          <p:nvPr/>
        </p:nvCxnSpPr>
        <p:spPr>
          <a:xfrm>
            <a:off x="6610198" y="4175950"/>
            <a:ext cx="2800350" cy="0"/>
          </a:xfrm>
          <a:prstGeom prst="line">
            <a:avLst/>
          </a:prstGeom>
          <a:ln w="9525" cap="flat">
            <a:solidFill>
              <a:srgbClr val="E6E8F2"/>
            </a:solidFill>
          </a:ln>
        </p:spPr>
      </p:cxnSp>
      <p:cxnSp>
        <p:nvCxnSpPr>
          <p:cNvPr id="29" name="Line 29"/>
          <p:cNvCxnSpPr/>
          <p:nvPr/>
        </p:nvCxnSpPr>
        <p:spPr>
          <a:xfrm>
            <a:off x="6610198" y="3904488"/>
            <a:ext cx="2800350" cy="0"/>
          </a:xfrm>
          <a:prstGeom prst="line">
            <a:avLst/>
          </a:prstGeom>
          <a:ln w="9525" cap="flat">
            <a:solidFill>
              <a:srgbClr val="E6E8F2"/>
            </a:solidFill>
          </a:ln>
        </p:spPr>
      </p:cxnSp>
      <p:cxnSp>
        <p:nvCxnSpPr>
          <p:cNvPr id="30" name="Line 30"/>
          <p:cNvCxnSpPr/>
          <p:nvPr/>
        </p:nvCxnSpPr>
        <p:spPr>
          <a:xfrm>
            <a:off x="6610198" y="3633026"/>
            <a:ext cx="2800350" cy="0"/>
          </a:xfrm>
          <a:prstGeom prst="line">
            <a:avLst/>
          </a:prstGeom>
          <a:ln w="9525" cap="flat">
            <a:solidFill>
              <a:srgbClr val="E6E8F2"/>
            </a:solidFill>
          </a:ln>
        </p:spPr>
      </p:cxnSp>
      <p:cxnSp>
        <p:nvCxnSpPr>
          <p:cNvPr id="31" name="Line 31"/>
          <p:cNvCxnSpPr/>
          <p:nvPr/>
        </p:nvCxnSpPr>
        <p:spPr>
          <a:xfrm>
            <a:off x="6610198" y="3361563"/>
            <a:ext cx="2800350" cy="0"/>
          </a:xfrm>
          <a:prstGeom prst="line">
            <a:avLst/>
          </a:prstGeom>
          <a:ln w="9525" cap="flat">
            <a:solidFill>
              <a:srgbClr val="E6E8F2"/>
            </a:solidFill>
          </a:ln>
        </p:spPr>
      </p:cxnSp>
      <p:cxnSp>
        <p:nvCxnSpPr>
          <p:cNvPr id="32" name="Line 32"/>
          <p:cNvCxnSpPr/>
          <p:nvPr/>
        </p:nvCxnSpPr>
        <p:spPr>
          <a:xfrm>
            <a:off x="6610198" y="3090100"/>
            <a:ext cx="2800350" cy="0"/>
          </a:xfrm>
          <a:prstGeom prst="line">
            <a:avLst/>
          </a:prstGeom>
          <a:ln w="9525" cap="flat">
            <a:solidFill>
              <a:srgbClr val="E6E8F2"/>
            </a:solidFill>
          </a:ln>
        </p:spPr>
      </p:cxnSp>
      <p:cxnSp>
        <p:nvCxnSpPr>
          <p:cNvPr id="33" name="Line 33"/>
          <p:cNvCxnSpPr/>
          <p:nvPr/>
        </p:nvCxnSpPr>
        <p:spPr>
          <a:xfrm>
            <a:off x="6610198" y="2818638"/>
            <a:ext cx="2800350" cy="0"/>
          </a:xfrm>
          <a:prstGeom prst="line">
            <a:avLst/>
          </a:prstGeom>
          <a:ln w="9525" cap="flat">
            <a:solidFill>
              <a:srgbClr val="E6E8F2"/>
            </a:solidFill>
          </a:ln>
        </p:spPr>
      </p:cxnSp>
      <p:cxnSp>
        <p:nvCxnSpPr>
          <p:cNvPr id="34" name="Line 34"/>
          <p:cNvCxnSpPr/>
          <p:nvPr/>
        </p:nvCxnSpPr>
        <p:spPr>
          <a:xfrm>
            <a:off x="6610198" y="2547176"/>
            <a:ext cx="2800350" cy="0"/>
          </a:xfrm>
          <a:prstGeom prst="line">
            <a:avLst/>
          </a:prstGeom>
          <a:ln w="9525" cap="flat">
            <a:solidFill>
              <a:srgbClr val="E6E8F2"/>
            </a:solidFill>
          </a:ln>
        </p:spPr>
      </p:cxnSp>
      <p:cxnSp>
        <p:nvCxnSpPr>
          <p:cNvPr id="35" name="Line 35"/>
          <p:cNvCxnSpPr/>
          <p:nvPr/>
        </p:nvCxnSpPr>
        <p:spPr>
          <a:xfrm>
            <a:off x="6610198" y="2275713"/>
            <a:ext cx="2800350" cy="0"/>
          </a:xfrm>
          <a:prstGeom prst="line">
            <a:avLst/>
          </a:prstGeom>
          <a:ln w="9525" cap="flat">
            <a:solidFill>
              <a:srgbClr val="E6E8F2"/>
            </a:solidFill>
          </a:ln>
        </p:spPr>
      </p:cxnSp>
      <p:cxnSp>
        <p:nvCxnSpPr>
          <p:cNvPr id="36" name="Line 36"/>
          <p:cNvCxnSpPr/>
          <p:nvPr/>
        </p:nvCxnSpPr>
        <p:spPr>
          <a:xfrm>
            <a:off x="6610198" y="2004250"/>
            <a:ext cx="2800350" cy="0"/>
          </a:xfrm>
          <a:prstGeom prst="line">
            <a:avLst/>
          </a:prstGeom>
          <a:ln w="9525" cap="flat">
            <a:solidFill>
              <a:srgbClr val="E6E8F2"/>
            </a:solidFill>
          </a:ln>
        </p:spPr>
      </p:cxnSp>
      <p:cxnSp>
        <p:nvCxnSpPr>
          <p:cNvPr id="37" name="Line 37"/>
          <p:cNvCxnSpPr/>
          <p:nvPr/>
        </p:nvCxnSpPr>
        <p:spPr>
          <a:xfrm>
            <a:off x="6610198" y="1732788"/>
            <a:ext cx="2800350" cy="0"/>
          </a:xfrm>
          <a:prstGeom prst="line">
            <a:avLst/>
          </a:prstGeom>
          <a:ln w="9525" cap="flat">
            <a:solidFill>
              <a:srgbClr val="E6E8F2"/>
            </a:solidFill>
          </a:ln>
        </p:spPr>
      </p:cxnSp>
      <p:cxnSp>
        <p:nvCxnSpPr>
          <p:cNvPr id="38" name="Line 38"/>
          <p:cNvCxnSpPr/>
          <p:nvPr/>
        </p:nvCxnSpPr>
        <p:spPr>
          <a:xfrm>
            <a:off x="6921348" y="1732788"/>
            <a:ext cx="0" cy="3257550"/>
          </a:xfrm>
          <a:prstGeom prst="line">
            <a:avLst/>
          </a:prstGeom>
          <a:ln w="19050" cap="flat">
            <a:solidFill>
              <a:srgbClr val="5F6272"/>
            </a:solidFill>
          </a:ln>
        </p:spPr>
      </p:cxnSp>
      <p:cxnSp>
        <p:nvCxnSpPr>
          <p:cNvPr id="39" name="Line 39"/>
          <p:cNvCxnSpPr/>
          <p:nvPr/>
        </p:nvCxnSpPr>
        <p:spPr>
          <a:xfrm>
            <a:off x="6610198" y="3361563"/>
            <a:ext cx="2800350" cy="0"/>
          </a:xfrm>
          <a:prstGeom prst="line">
            <a:avLst/>
          </a:prstGeom>
          <a:ln w="19050" cap="flat">
            <a:solidFill>
              <a:srgbClr val="5F6272"/>
            </a:solidFill>
          </a:ln>
        </p:spPr>
      </p:cxnSp>
      <p:sp>
        <p:nvSpPr>
          <p:cNvPr id="40" name="Shape 40"/>
          <p:cNvSpPr txBox="1"/>
          <p:nvPr/>
        </p:nvSpPr>
        <p:spPr>
          <a:xfrm>
            <a:off x="63358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1" name="Shape 41"/>
          <p:cNvSpPr txBox="1"/>
          <p:nvPr/>
        </p:nvSpPr>
        <p:spPr>
          <a:xfrm>
            <a:off x="66470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42" name="Shape 42"/>
          <p:cNvSpPr txBox="1"/>
          <p:nvPr/>
        </p:nvSpPr>
        <p:spPr>
          <a:xfrm>
            <a:off x="69581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43" name="Shape 43"/>
          <p:cNvSpPr txBox="1"/>
          <p:nvPr/>
        </p:nvSpPr>
        <p:spPr>
          <a:xfrm>
            <a:off x="72693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44" name="Shape 44"/>
          <p:cNvSpPr txBox="1"/>
          <p:nvPr/>
        </p:nvSpPr>
        <p:spPr>
          <a:xfrm>
            <a:off x="75804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5" name="Shape 45"/>
          <p:cNvSpPr txBox="1"/>
          <p:nvPr/>
        </p:nvSpPr>
        <p:spPr>
          <a:xfrm>
            <a:off x="78916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6" name="Shape 46"/>
          <p:cNvSpPr txBox="1"/>
          <p:nvPr/>
        </p:nvSpPr>
        <p:spPr>
          <a:xfrm>
            <a:off x="82027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7" name="Shape 47"/>
          <p:cNvSpPr txBox="1"/>
          <p:nvPr/>
        </p:nvSpPr>
        <p:spPr>
          <a:xfrm>
            <a:off x="85139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6</a:t>
            </a:r>
            <a:endParaRPr lang="en-US" sz="975" dirty="0"/>
          </a:p>
        </p:txBody>
      </p:sp>
      <p:sp>
        <p:nvSpPr>
          <p:cNvPr id="48" name="Shape 48"/>
          <p:cNvSpPr txBox="1"/>
          <p:nvPr/>
        </p:nvSpPr>
        <p:spPr>
          <a:xfrm>
            <a:off x="882507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7</a:t>
            </a:r>
            <a:endParaRPr lang="en-US" sz="975" dirty="0"/>
          </a:p>
        </p:txBody>
      </p:sp>
      <p:sp>
        <p:nvSpPr>
          <p:cNvPr id="49" name="Shape 49"/>
          <p:cNvSpPr txBox="1"/>
          <p:nvPr/>
        </p:nvSpPr>
        <p:spPr>
          <a:xfrm>
            <a:off x="9136228" y="5009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8</a:t>
            </a:r>
            <a:endParaRPr lang="en-US" sz="975" dirty="0"/>
          </a:p>
        </p:txBody>
      </p:sp>
      <p:sp>
        <p:nvSpPr>
          <p:cNvPr id="50" name="Shape 50"/>
          <p:cNvSpPr txBox="1"/>
          <p:nvPr/>
        </p:nvSpPr>
        <p:spPr>
          <a:xfrm>
            <a:off x="6043270" y="4898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sp>
        <p:nvSpPr>
          <p:cNvPr id="51" name="Shape 51"/>
          <p:cNvSpPr txBox="1"/>
          <p:nvPr/>
        </p:nvSpPr>
        <p:spPr>
          <a:xfrm>
            <a:off x="6043270" y="43559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2" name="Shape 52"/>
          <p:cNvSpPr txBox="1"/>
          <p:nvPr/>
        </p:nvSpPr>
        <p:spPr>
          <a:xfrm>
            <a:off x="6043270" y="3813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3" name="Shape 53"/>
          <p:cNvSpPr txBox="1"/>
          <p:nvPr/>
        </p:nvSpPr>
        <p:spPr>
          <a:xfrm>
            <a:off x="6043270" y="327012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54" name="Shape 54"/>
          <p:cNvSpPr txBox="1"/>
          <p:nvPr/>
        </p:nvSpPr>
        <p:spPr>
          <a:xfrm>
            <a:off x="6043270" y="27271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20</a:t>
            </a:r>
            <a:endParaRPr lang="en-US" sz="975" dirty="0"/>
          </a:p>
        </p:txBody>
      </p:sp>
      <p:sp>
        <p:nvSpPr>
          <p:cNvPr id="55" name="Shape 55"/>
          <p:cNvSpPr txBox="1"/>
          <p:nvPr/>
        </p:nvSpPr>
        <p:spPr>
          <a:xfrm>
            <a:off x="6043270" y="2184273"/>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40</a:t>
            </a:r>
            <a:endParaRPr lang="en-US" sz="975" dirty="0"/>
          </a:p>
        </p:txBody>
      </p:sp>
      <p:sp>
        <p:nvSpPr>
          <p:cNvPr id="56" name="Shape 56"/>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60</a:t>
            </a:r>
            <a:endParaRPr lang="en-US" sz="975" dirty="0"/>
          </a:p>
        </p:txBody>
      </p:sp>
      <p:cxnSp>
        <p:nvCxnSpPr>
          <p:cNvPr id="57" name="Line 57"/>
          <p:cNvCxnSpPr/>
          <p:nvPr/>
        </p:nvCxnSpPr>
        <p:spPr>
          <a:xfrm flipV="1">
            <a:off x="6610198" y="1732788"/>
            <a:ext cx="2489200" cy="3257550"/>
          </a:xfrm>
          <a:prstGeom prst="line">
            <a:avLst/>
          </a:prstGeom>
          <a:ln w="38100" cap="rnd">
            <a:solidFill>
              <a:srgbClr val="16171D"/>
            </a:solidFill>
          </a:ln>
        </p:spPr>
      </p:cxnSp>
      <p:sp>
        <p:nvSpPr>
          <p:cNvPr id="58" name="Shape 58"/>
          <p:cNvSpPr/>
          <p:nvPr/>
        </p:nvSpPr>
        <p:spPr>
          <a:xfrm>
            <a:off x="6868960" y="453075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9" name="Shape 59"/>
          <p:cNvSpPr txBox="1"/>
          <p:nvPr/>
        </p:nvSpPr>
        <p:spPr>
          <a:xfrm>
            <a:off x="7007073" y="4335494"/>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(0, −45)</a:t>
            </a:r>
            <a:endParaRPr lang="en-US" sz="1125" dirty="0"/>
          </a:p>
        </p:txBody>
      </p:sp>
      <p:sp>
        <p:nvSpPr>
          <p:cNvPr id="60" name="Shape 60"/>
          <p:cNvSpPr/>
          <p:nvPr/>
        </p:nvSpPr>
        <p:spPr>
          <a:xfrm>
            <a:off x="7802410" y="3309176"/>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61" name="Shape 61"/>
          <p:cNvSpPr txBox="1"/>
          <p:nvPr/>
        </p:nvSpPr>
        <p:spPr>
          <a:xfrm>
            <a:off x="7940523" y="3113913"/>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(3, 0)</a:t>
            </a:r>
            <a:endParaRPr lang="en-US" sz="1125" dirty="0"/>
          </a:p>
        </p:txBody>
      </p:sp>
      <p:sp>
        <p:nvSpPr>
          <p:cNvPr id="62" name="Slide Number 6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7"/>
                                        </p:tgtEl>
                                        <p:attrNameLst>
                                          <p:attrName>style.visibility</p:attrName>
                                        </p:attrNameLst>
                                      </p:cBhvr>
                                      <p:to>
                                        <p:strVal val="visible"/>
                                      </p:to>
                                    </p:set>
                                    <p:animEffect transition="in" filter="fade">
                                      <p:cBhvr>
                                        <p:cTn id="4" dur="500"/>
                                        <p:tgtEl>
                                          <p:spTgt spid="7"/>
                                        </p:tgtEl>
                                      </p:cBhvr>
                                    </p:animEffect>
                                    <p:anim calcmode="lin" valueType="num">
                                      <p:cBhvr>
                                        <p:cTn id="5" dur="500" fill="hold"/>
                                        <p:tgtEl>
                                          <p:spTgt spid="7"/>
                                        </p:tgtEl>
                                        <p:attrNameLst>
                                          <p:attrName>ppt_w</p:attrName>
                                        </p:attrNameLst>
                                      </p:cBhvr>
                                      <p:tavLst>
                                        <p:tav tm="0">
                                          <p:val>
                                            <p:fltVal val="0"/>
                                          </p:val>
                                        </p:tav>
                                        <p:tav tm="100000">
                                          <p:val>
                                            <p:strVal val="#ppt_w"/>
                                          </p:val>
                                        </p:tav>
                                      </p:tavLst>
                                    </p:anim>
                                    <p:anim calcmode="lin" valueType="num">
                                      <p:cBhvr>
                                        <p:cTn id="6"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500"/>
                                        <p:tgtEl>
                                          <p:spTgt spid="12"/>
                                        </p:tgtEl>
                                      </p:cBhvr>
                                    </p:animEffec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19" presetID="22" presetClass="entr" presetSubtype="8" fill="hold" nodeType="click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wipe(left)">
                                      <p:cBhvr>
                                        <p:cTn id="18" dur="7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slope and the zero</a:t>
            </a:r>
            <a:endParaRPr lang="en-US" sz="3450" dirty="0"/>
          </a:p>
        </p:txBody>
      </p:sp>
      <p:sp>
        <p:nvSpPr>
          <p:cNvPr id="7" name="Shape 7"/>
          <p:cNvSpPr txBox="1"/>
          <p:nvPr/>
        </p:nvSpPr>
        <p:spPr>
          <a:xfrm>
            <a:off x="685800" y="1618488"/>
            <a:ext cx="5219548" cy="18135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− 4)</a:t>
            </a:r>
            <a:endParaRPr lang="en-US" sz="2325" dirty="0"/>
          </a:p>
        </p:txBody>
      </p:sp>
      <p:sp>
        <p:nvSpPr>
          <p:cNvPr id="5" name="Shape 5"/>
          <p:cNvSpPr txBox="1"/>
          <p:nvPr/>
        </p:nvSpPr>
        <p:spPr>
          <a:xfrm>
            <a:off x="895350" y="2294382"/>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slope ____ zero ____</a:t>
            </a:r>
            <a:endParaRPr lang="en-US" sz="1950" dirty="0"/>
          </a:p>
        </p:txBody>
      </p:sp>
      <p:sp>
        <p:nvSpPr>
          <p:cNvPr id="6" name="Shape 6"/>
          <p:cNvSpPr txBox="1"/>
          <p:nvPr/>
        </p:nvSpPr>
        <p:spPr>
          <a:xfrm>
            <a:off x="895350" y="274167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slope 2, zero 4</a:t>
            </a:r>
            <a:endParaRPr lang="en-US" sz="2325" dirty="0"/>
          </a:p>
        </p:txBody>
      </p:sp>
      <p:sp>
        <p:nvSpPr>
          <p:cNvPr id="13" name="Shape 13"/>
          <p:cNvSpPr txBox="1"/>
          <p:nvPr/>
        </p:nvSpPr>
        <p:spPr>
          <a:xfrm>
            <a:off x="6286348" y="1618488"/>
            <a:ext cx="5219548" cy="281787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6495898" y="1789938"/>
            <a:ext cx="480044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− 7)</a:t>
            </a:r>
            <a:endParaRPr lang="en-US" sz="2325" dirty="0"/>
          </a:p>
        </p:txBody>
      </p:sp>
      <p:sp>
        <p:nvSpPr>
          <p:cNvPr id="9" name="Shape 9"/>
          <p:cNvSpPr txBox="1"/>
          <p:nvPr/>
        </p:nvSpPr>
        <p:spPr>
          <a:xfrm>
            <a:off x="6495898" y="2294382"/>
            <a:ext cx="48004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slope ____ zero ____</a:t>
            </a:r>
            <a:endParaRPr lang="en-US" sz="1950" dirty="0"/>
          </a:p>
        </p:txBody>
      </p:sp>
      <p:sp>
        <p:nvSpPr>
          <p:cNvPr id="10" name="Shape 10"/>
          <p:cNvSpPr txBox="1"/>
          <p:nvPr/>
        </p:nvSpPr>
        <p:spPr>
          <a:xfrm>
            <a:off x="6495898" y="2741676"/>
            <a:ext cx="4400459"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slope 3, zero 7</a:t>
            </a:r>
            <a:endParaRPr lang="en-US" sz="2325" dirty="0"/>
          </a:p>
        </p:txBody>
      </p:sp>
      <p:sp>
        <p:nvSpPr>
          <p:cNvPr id="11" name="Shape 11"/>
          <p:cNvSpPr txBox="1"/>
          <p:nvPr/>
        </p:nvSpPr>
        <p:spPr>
          <a:xfrm>
            <a:off x="6495898" y="3355848"/>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General form: 3</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____</a:t>
            </a:r>
            <a:endParaRPr lang="en-US" sz="1575" dirty="0"/>
          </a:p>
        </p:txBody>
      </p:sp>
      <p:sp>
        <p:nvSpPr>
          <p:cNvPr id="12" name="Shape 12"/>
          <p:cNvSpPr txBox="1"/>
          <p:nvPr/>
        </p:nvSpPr>
        <p:spPr>
          <a:xfrm>
            <a:off x="6495898" y="3745992"/>
            <a:ext cx="3073847"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− 21</a:t>
            </a:r>
            <a:endParaRPr lang="en-US" sz="2325" dirty="0"/>
          </a:p>
        </p:txBody>
      </p:sp>
      <p:sp>
        <p:nvSpPr>
          <p:cNvPr id="14" name="Slide Number 14"/>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6" name="Shape 6"/>
          <p:cNvSpPr txBox="1"/>
          <p:nvPr/>
        </p:nvSpPr>
        <p:spPr>
          <a:xfrm>
            <a:off x="685800" y="1618488"/>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Is the table linear?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1, 3, 7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4, 10, 22. If yes, write the function.</a:t>
            </a:r>
            <a:endParaRPr lang="en-US" sz="1950" dirty="0"/>
          </a:p>
        </p:txBody>
      </p:sp>
      <p:sp>
        <p:nvSpPr>
          <p:cNvPr id="5" name="Shape 5"/>
          <p:cNvSpPr txBox="1"/>
          <p:nvPr/>
        </p:nvSpPr>
        <p:spPr>
          <a:xfrm>
            <a:off x="895350" y="2237232"/>
            <a:ext cx="639037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Yes, slope 3: </a:t>
            </a:r>
            <a:r>
              <a:rPr lang="en-US" sz="2325" dirty="0" i="1">
                <a:solidFill>
                  <a:srgbClr val="16171D"/>
                </a:solidFill>
                <a:latin typeface="Cambria"/>
                <a:cs typeface="Cambria"/>
              </a:rPr>
              <a:t xml:space="preserve">f</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+ 1</a:t>
            </a:r>
            <a:endParaRPr lang="en-US" sz="2325" dirty="0"/>
          </a:p>
        </p:txBody>
      </p:sp>
      <p:sp>
        <p:nvSpPr>
          <p:cNvPr id="9" name="Shape 9"/>
          <p:cNvSpPr txBox="1"/>
          <p:nvPr/>
        </p:nvSpPr>
        <p:spPr>
          <a:xfrm>
            <a:off x="685800" y="3060954"/>
            <a:ext cx="10820095"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895350" y="3232404"/>
            <a:ext cx="104009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What is the zero of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4(</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− 5)?</a:t>
            </a:r>
            <a:endParaRPr lang="en-US" sz="1950" dirty="0"/>
          </a:p>
        </p:txBody>
      </p:sp>
      <p:sp>
        <p:nvSpPr>
          <p:cNvPr id="8" name="Shape 8"/>
          <p:cNvSpPr txBox="1"/>
          <p:nvPr/>
        </p:nvSpPr>
        <p:spPr>
          <a:xfrm>
            <a:off x="895350" y="3679698"/>
            <a:ext cx="207888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endParaRPr lang="en-US" sz="2325" dirty="0"/>
          </a:p>
        </p:txBody>
      </p:sp>
      <p:sp>
        <p:nvSpPr>
          <p:cNvPr id="12" name="Shape 12"/>
          <p:cNvSpPr txBox="1"/>
          <p:nvPr/>
        </p:nvSpPr>
        <p:spPr>
          <a:xfrm>
            <a:off x="685800" y="4503420"/>
            <a:ext cx="10820095" cy="160629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95350" y="4674870"/>
            <a:ext cx="10400995"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Bracelets sell for $10 each. The booth costs $30: </a:t>
            </a:r>
            <a:r>
              <a:rPr lang="en-US" sz="1950" dirty="0" i="1">
                <a:solidFill>
                  <a:srgbClr val="16171D"/>
                </a:solidFill>
                <a:latin typeface="Segoe UI"/>
                <a:cs typeface="Segoe UI"/>
              </a:rPr>
              <a:t xml:space="preserve">f</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10</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− 30. What does the 10 mean?</a:t>
            </a:r>
            <a:endParaRPr lang="en-US" sz="1950" dirty="0"/>
          </a:p>
        </p:txBody>
      </p:sp>
      <p:sp>
        <p:nvSpPr>
          <p:cNvPr id="11" name="Shape 11"/>
          <p:cNvSpPr txBox="1"/>
          <p:nvPr/>
        </p:nvSpPr>
        <p:spPr>
          <a:xfrm>
            <a:off x="895350" y="5419344"/>
            <a:ext cx="8546120"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$10 earned for each bracelet (the slope)</a:t>
            </a:r>
            <a:endParaRPr lang="en-US" sz="2325" dirty="0"/>
          </a:p>
        </p:txBody>
      </p:sp>
      <p:sp>
        <p:nvSpPr>
          <p:cNvPr id="13" name="Slide Number 1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4" name="Shape 4"/>
          <p:cNvSpPr txBox="1"/>
          <p:nvPr/>
        </p:nvSpPr>
        <p:spPr>
          <a:xfrm>
            <a:off x="685800" y="167563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5"/>
              </a:rPr>
              <a:t xml:space="preserve">Day 3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6"/>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7"/>
              </a:rPr>
              <a:t xml:space="preserve">Quiz →</a:t>
            </a:r>
            <a:endParaRPr lang="en-US" sz="1800" dirty="0"/>
          </a:p>
        </p:txBody>
      </p:sp>
      <p:sp>
        <p:nvSpPr>
          <p:cNvPr id="5" name="Shape 5"/>
          <p:cNvSpPr txBox="1"/>
          <p:nvPr/>
        </p:nvSpPr>
        <p:spPr>
          <a:xfrm>
            <a:off x="685800" y="2176272"/>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IEP pages have 3 answer choices, 6 homework and quiz questions, a reminder card and read-aloud. Allow notes and a calculator, and give extended time as the IEP lists.</a:t>
            </a:r>
            <a:endParaRPr lang="en-US" sz="1575"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sld>
</file>

<file path=ppt/theme/theme1.xml><?xml version="1.0" encoding="utf-8"?>
<a:theme xmlns:a="http://schemas.openxmlformats.org/drawingml/2006/main" name="Making Sense of Different Representations of a Linear Function">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14</Slides>
  <Notes>14</Notes>
</Properties>
</file>

<file path=docProps/core.xml><?xml version="1.0" encoding="utf-8"?>
<cp:coreProperties xmlns:cp="http://schemas.openxmlformats.org/package/2006/metadata/core-properties" xmlns:dc="http://purl.org/dc/elements/1.1/">
  <dc:title>Making Sense of Different Representations of a Linear Function</dc:title>
  <dc:subject>Bluebonnet Algebra I</dc:subject>
</cp:coreProperties>
</file>