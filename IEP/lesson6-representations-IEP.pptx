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IEP version of Lesson 6: a modified lesson that keeps the core skills and cuts the number of items. Each skill follows I do (teacher models), We do (together, with sentence frames), You do (student tries, then reveal). Click to reveal each answer. Apply each student's IEP accommodations too: extended time, read-aloud, breaks, calculator, small group.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slide up, or give students a printed copy, while they work.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the division for every pair, not just the first one.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Round up: 6 shirts only earns $90.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that both forms are the same: distribute 15(t − 3) = 15t − 45. The zero, 3, means she must sell 3 shirts just to break even.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try all items before revealing. Students may use the steps slide and their notes.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algebra1m2u1l4.vercel.app/lesson6/lesson6-bellwork-day1.html" TargetMode="External"/><Relationship Id="rId4" Type="http://schemas.openxmlformats.org/officeDocument/2006/relationships/hyperlink" Target="https://algebra1m2u1l4.vercel.app/lesson6/lesson6-bellwork-day2.html" TargetMode="External"/><Relationship Id="rId5" Type="http://schemas.openxmlformats.org/officeDocument/2006/relationships/hyperlink" Target="https://algebra1m2u1l4.vercel.app/lesson6/lesson6-bellwork-day3.html" TargetMode="External"/><Relationship Id="rId6" Type="http://schemas.openxmlformats.org/officeDocument/2006/relationships/hyperlink" Target="https://algebra1m2u1l4.vercel.app/lesson6/lesson6-homework.html" TargetMode="External"/><Relationship Id="rId7" Type="http://schemas.openxmlformats.org/officeDocument/2006/relationships/hyperlink" Target="https://algebra1m2u1l4.vercel.app/lesson6/lesson6-quiz.html" TargetMode="Externa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algebra1m2u1l4.vercel.app/lesson6/lesson6-bellwork-day1.html" TargetMode="External"/><Relationship Id="rId4" Type="http://schemas.openxmlformats.org/officeDocument/2006/relationships/hyperlink" Target="https://algebra1m2u1l4.vercel.app/lesson6/lesson6-bellwork-day2.html" TargetMode="External"/><Relationship Id="rId5" Type="http://schemas.openxmlformats.org/officeDocument/2006/relationships/hyperlink" Target="https://algebra1m2u1l4.vercel.app/lesson6/lesson6-bellwork-day3.html" TargetMode="External"/><Relationship Id="rId6" Type="http://schemas.openxmlformats.org/officeDocument/2006/relationships/hyperlink" Target="https://algebra1m2u1l4.vercel.app/lesson6/lesson6-homework.html" TargetMode="External"/><Relationship Id="rId7" Type="http://schemas.openxmlformats.org/officeDocument/2006/relationships/hyperlink" Target="https://algebra1m2u1l4.vercel.app/lesson6/lesson6-quiz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 · Module 2 · Topic 1 · Lesson 6 · IEP Version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961644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5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Making Sense of Linear Functions</a:t>
            </a:r>
            <a:endParaRPr lang="en-US" sz="45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911858"/>
            <a:ext cx="10820095" cy="4892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ax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+ 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b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· 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a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8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48712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I can…</a:t>
            </a:r>
            <a:endParaRPr lang="en-US" sz="21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19506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✓ tell whether a table is linear.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71856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✓ write a linear function from a table.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24205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✓ explain what the slope and the intercepts mean in a story.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76554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✓ find the zero from factored form.</a:t>
            </a: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5346192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Day 3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| Practice: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7"/>
              </a:rPr>
              <a:t xml:space="preserve">Quiz →</a:t>
            </a:r>
            <a:endParaRPr lang="en-US" sz="180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6185916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Based on Bluebonnet Learning Secondary Mathematics, Algebra I (©2024–2025 Texas Education Agency, portions ©2021 Carnegie Learning, Inc.), licensed CC BY-NC 4.0. A private site for Algebra I teachers.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6 · Vocabulary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Words we need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Linear function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rate of change is always the same. The graph is a straight line.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349648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Rate of change</a:t>
            </a:r>
            <a:endParaRPr lang="en-US" sz="210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Change in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÷ change in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It is the slope.</a:t>
            </a:r>
            <a:endParaRPr lang="en-US" sz="1575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8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endParaRPr lang="en-US" sz="2325" dirty="0"/>
          </a:p>
        </p:txBody>
      </p:sp>
      <p:sp>
        <p:nvSpPr>
          <p:cNvPr id="14" name="Shape 14"/>
          <p:cNvSpPr txBox="1"/>
          <p:nvPr/>
        </p:nvSpPr>
        <p:spPr>
          <a:xfrm>
            <a:off x="8013497" y="1618488"/>
            <a:ext cx="34923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General form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22600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slope,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223047" y="265023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</a:t>
            </a:r>
            <a:r>
              <a:rPr lang="en-US" sz="2325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b</a:t>
            </a:r>
            <a:endParaRPr lang="en-US" sz="2325" dirty="0"/>
          </a:p>
        </p:txBody>
      </p:sp>
      <p:sp>
        <p:nvSpPr>
          <p:cNvPr id="18" name="Shape 18"/>
          <p:cNvSpPr txBox="1"/>
          <p:nvPr/>
        </p:nvSpPr>
        <p:spPr>
          <a:xfrm>
            <a:off x="685800" y="3642360"/>
            <a:ext cx="3492398" cy="1612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5" name="Shape 15"/>
          <p:cNvSpPr txBox="1"/>
          <p:nvPr/>
        </p:nvSpPr>
        <p:spPr>
          <a:xfrm>
            <a:off x="895350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Factored form</a:t>
            </a:r>
            <a:endParaRPr lang="en-US" sz="2100" dirty="0"/>
          </a:p>
        </p:txBody>
      </p:sp>
      <p:sp>
        <p:nvSpPr>
          <p:cNvPr id="16" name="Shape 16"/>
          <p:cNvSpPr txBox="1"/>
          <p:nvPr/>
        </p:nvSpPr>
        <p:spPr>
          <a:xfrm>
            <a:off x="895350" y="4283964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slope,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zero</a:t>
            </a:r>
            <a:endParaRPr lang="en-US" sz="1575" dirty="0"/>
          </a:p>
        </p:txBody>
      </p:sp>
      <p:sp>
        <p:nvSpPr>
          <p:cNvPr id="17" name="Shape 17"/>
          <p:cNvSpPr txBox="1"/>
          <p:nvPr/>
        </p:nvSpPr>
        <p:spPr>
          <a:xfrm>
            <a:off x="895350" y="4674108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a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2325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c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21" name="Shape 21"/>
          <p:cNvSpPr txBox="1"/>
          <p:nvPr/>
        </p:nvSpPr>
        <p:spPr>
          <a:xfrm>
            <a:off x="4349648" y="3642360"/>
            <a:ext cx="3492398" cy="1612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9" name="Shape 19"/>
          <p:cNvSpPr txBox="1"/>
          <p:nvPr/>
        </p:nvSpPr>
        <p:spPr>
          <a:xfrm>
            <a:off x="4559198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Zero</a:t>
            </a:r>
            <a:endParaRPr lang="en-US" sz="2100" dirty="0"/>
          </a:p>
        </p:txBody>
      </p:sp>
      <p:sp>
        <p:nvSpPr>
          <p:cNvPr id="20" name="Shape 20"/>
          <p:cNvSpPr txBox="1"/>
          <p:nvPr/>
        </p:nvSpPr>
        <p:spPr>
          <a:xfrm>
            <a:off x="4559198" y="4283964"/>
            <a:ext cx="30732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that makes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) = 0. The line crosses the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-axis there.</a:t>
            </a:r>
            <a:endParaRPr lang="en-US" sz="1575" dirty="0"/>
          </a:p>
        </p:txBody>
      </p:sp>
      <p:sp>
        <p:nvSpPr>
          <p:cNvPr id="25" name="Shape 25"/>
          <p:cNvSpPr txBox="1"/>
          <p:nvPr/>
        </p:nvSpPr>
        <p:spPr>
          <a:xfrm>
            <a:off x="8013497" y="3642360"/>
            <a:ext cx="3492398" cy="1612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2" name="Shape 22"/>
          <p:cNvSpPr txBox="1"/>
          <p:nvPr/>
        </p:nvSpPr>
        <p:spPr>
          <a:xfrm>
            <a:off x="8223047" y="3813810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Direct variation</a:t>
            </a:r>
            <a:endParaRPr lang="en-US" sz="2100" dirty="0"/>
          </a:p>
        </p:txBody>
      </p:sp>
      <p:sp>
        <p:nvSpPr>
          <p:cNvPr id="23" name="Shape 23"/>
          <p:cNvSpPr txBox="1"/>
          <p:nvPr/>
        </p:nvSpPr>
        <p:spPr>
          <a:xfrm>
            <a:off x="8223047" y="4283964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 line through (0, 0).</a:t>
            </a:r>
            <a:endParaRPr lang="en-US" sz="1575" dirty="0"/>
          </a:p>
        </p:txBody>
      </p:sp>
      <p:sp>
        <p:nvSpPr>
          <p:cNvPr id="24" name="Shape 24"/>
          <p:cNvSpPr txBox="1"/>
          <p:nvPr/>
        </p:nvSpPr>
        <p:spPr>
          <a:xfrm>
            <a:off x="8223047" y="4674108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kx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6 · Steps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Is the table linear?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1.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Find the change in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the change in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between each pair of rows.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2.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Divide: 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change in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change in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6547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3.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Always the same number →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linear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Different →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not linear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889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4.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If linear, find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(the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-value when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0) and write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=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ax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+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I do · Watch me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Is this table linear?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143000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1828800" y="1618488"/>
            <a:ext cx="1143000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061972"/>
            <a:ext cx="114300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1828800" y="2061972"/>
            <a:ext cx="114300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2505456"/>
            <a:ext cx="114300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1828800" y="2505456"/>
            <a:ext cx="114300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9</a:t>
            </a: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2948940"/>
            <a:ext cx="114300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1828800" y="2948940"/>
            <a:ext cx="114300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13</a:t>
            </a: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3392424"/>
            <a:ext cx="114300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6</a:t>
            </a:r>
            <a:endParaRPr lang="en-US" sz="1950" dirty="0"/>
          </a:p>
        </p:txBody>
      </p:sp>
      <p:sp>
        <p:nvSpPr>
          <p:cNvPr id="13" name="Shape 13"/>
          <p:cNvSpPr txBox="1"/>
          <p:nvPr/>
        </p:nvSpPr>
        <p:spPr>
          <a:xfrm>
            <a:off x="1828800" y="3392424"/>
            <a:ext cx="114300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17</a:t>
            </a:r>
            <a:endParaRPr lang="en-US" sz="1950" dirty="0"/>
          </a:p>
        </p:txBody>
      </p:sp>
      <p:sp>
        <p:nvSpPr>
          <p:cNvPr id="14" name="Shape 14"/>
          <p:cNvSpPr txBox="1"/>
          <p:nvPr/>
        </p:nvSpPr>
        <p:spPr>
          <a:xfrm>
            <a:off x="6286348" y="1618488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Each row: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goes up 2,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goes up 4.</a:t>
            </a:r>
            <a:endParaRPr lang="en-US" sz="1950" dirty="0"/>
          </a:p>
        </p:txBody>
      </p:sp>
      <p:sp>
        <p:nvSpPr>
          <p:cNvPr id="15" name="Shape 15"/>
          <p:cNvSpPr txBox="1"/>
          <p:nvPr/>
        </p:nvSpPr>
        <p:spPr>
          <a:xfrm>
            <a:off x="6286348" y="2103882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2 every time.</a:t>
            </a:r>
            <a:endParaRPr lang="en-US" sz="1950" dirty="0"/>
          </a:p>
        </p:txBody>
      </p:sp>
      <p:sp>
        <p:nvSpPr>
          <p:cNvPr id="16" name="Shape 16"/>
          <p:cNvSpPr txBox="1"/>
          <p:nvPr/>
        </p:nvSpPr>
        <p:spPr>
          <a:xfrm>
            <a:off x="6286348" y="2589276"/>
            <a:ext cx="4400459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Linear, slope 2</a:t>
            </a:r>
            <a:endParaRPr lang="en-US" sz="2325" dirty="0"/>
          </a:p>
        </p:txBody>
      </p:sp>
      <p:sp>
        <p:nvSpPr>
          <p:cNvPr id="17" name="Shape 17"/>
          <p:cNvSpPr txBox="1"/>
          <p:nvPr/>
        </p:nvSpPr>
        <p:spPr>
          <a:xfrm>
            <a:off x="6286348" y="3241548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At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0,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5.</a:t>
            </a:r>
            <a:endParaRPr lang="en-US" sz="1950" dirty="0"/>
          </a:p>
        </p:txBody>
      </p:sp>
      <p:sp>
        <p:nvSpPr>
          <p:cNvPr id="18" name="Shape 18"/>
          <p:cNvSpPr txBox="1"/>
          <p:nvPr/>
        </p:nvSpPr>
        <p:spPr>
          <a:xfrm>
            <a:off x="6286348" y="3726942"/>
            <a:ext cx="406880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We do · Together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Is this table linear?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143000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1828800" y="1618488"/>
            <a:ext cx="1143000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061972"/>
            <a:ext cx="114300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1828800" y="2061972"/>
            <a:ext cx="114300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2505456"/>
            <a:ext cx="114300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1828800" y="2505456"/>
            <a:ext cx="114300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6</a:t>
            </a: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2948940"/>
            <a:ext cx="114300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1828800" y="2948940"/>
            <a:ext cx="114300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12</a:t>
            </a: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3392424"/>
            <a:ext cx="114300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950" dirty="0"/>
          </a:p>
        </p:txBody>
      </p:sp>
      <p:sp>
        <p:nvSpPr>
          <p:cNvPr id="13" name="Shape 13"/>
          <p:cNvSpPr txBox="1"/>
          <p:nvPr/>
        </p:nvSpPr>
        <p:spPr>
          <a:xfrm>
            <a:off x="1828800" y="3392424"/>
            <a:ext cx="114300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24</a:t>
            </a:r>
            <a:endParaRPr lang="en-US" sz="1950" dirty="0"/>
          </a:p>
        </p:txBody>
      </p:sp>
      <p:sp>
        <p:nvSpPr>
          <p:cNvPr id="14" name="Shape 14"/>
          <p:cNvSpPr txBox="1"/>
          <p:nvPr/>
        </p:nvSpPr>
        <p:spPr>
          <a:xfrm>
            <a:off x="6286348" y="1618488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Change in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3, ____, ____</a:t>
            </a:r>
            <a:endParaRPr lang="en-US" sz="1950" dirty="0"/>
          </a:p>
        </p:txBody>
      </p:sp>
      <p:sp>
        <p:nvSpPr>
          <p:cNvPr id="15" name="Shape 15"/>
          <p:cNvSpPr txBox="1"/>
          <p:nvPr/>
        </p:nvSpPr>
        <p:spPr>
          <a:xfrm>
            <a:off x="6286348" y="2103882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3, 6, 12</a:t>
            </a:r>
            <a:endParaRPr lang="en-US" sz="2325" dirty="0"/>
          </a:p>
        </p:txBody>
      </p:sp>
      <p:sp>
        <p:nvSpPr>
          <p:cNvPr id="16" name="Shape 16"/>
          <p:cNvSpPr txBox="1"/>
          <p:nvPr/>
        </p:nvSpPr>
        <p:spPr>
          <a:xfrm>
            <a:off x="6286348" y="2756154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Is it the same every time?</a:t>
            </a:r>
            <a:endParaRPr lang="en-US" sz="1950" dirty="0"/>
          </a:p>
        </p:txBody>
      </p:sp>
      <p:sp>
        <p:nvSpPr>
          <p:cNvPr id="17" name="Shape 17"/>
          <p:cNvSpPr txBox="1"/>
          <p:nvPr/>
        </p:nvSpPr>
        <p:spPr>
          <a:xfrm>
            <a:off x="6286348" y="3241548"/>
            <a:ext cx="5219548" cy="87325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No, so it is not linear.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You do · Try it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Nakota sells pretzels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578864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Pretzels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2264664" y="1618488"/>
            <a:ext cx="1707642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Money ($)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061972"/>
            <a:ext cx="1578864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2264664" y="2061972"/>
            <a:ext cx="1707642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2505456"/>
            <a:ext cx="1578864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2264664" y="2505456"/>
            <a:ext cx="1707642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2948940"/>
            <a:ext cx="1578864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2264664" y="2948940"/>
            <a:ext cx="1707642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10</a:t>
            </a: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3392424"/>
            <a:ext cx="1578864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6</a:t>
            </a:r>
            <a:endParaRPr lang="en-US" sz="1950" dirty="0"/>
          </a:p>
        </p:txBody>
      </p:sp>
      <p:sp>
        <p:nvSpPr>
          <p:cNvPr id="13" name="Shape 13"/>
          <p:cNvSpPr txBox="1"/>
          <p:nvPr/>
        </p:nvSpPr>
        <p:spPr>
          <a:xfrm>
            <a:off x="2264664" y="3392424"/>
            <a:ext cx="1707642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15</a:t>
            </a:r>
            <a:endParaRPr lang="en-US" sz="1950" dirty="0"/>
          </a:p>
        </p:txBody>
      </p:sp>
      <p:sp>
        <p:nvSpPr>
          <p:cNvPr id="14" name="Shape 14"/>
          <p:cNvSpPr txBox="1"/>
          <p:nvPr/>
        </p:nvSpPr>
        <p:spPr>
          <a:xfrm>
            <a:off x="6286348" y="1618488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Rate: 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____ dollars per pretzel</a:t>
            </a:r>
            <a:endParaRPr lang="en-US" sz="1950" dirty="0"/>
          </a:p>
        </p:txBody>
      </p:sp>
      <p:sp>
        <p:nvSpPr>
          <p:cNvPr id="15" name="Shape 15"/>
          <p:cNvSpPr txBox="1"/>
          <p:nvPr/>
        </p:nvSpPr>
        <p:spPr>
          <a:xfrm>
            <a:off x="6286348" y="210388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2.5</a:t>
            </a:r>
            <a:endParaRPr lang="en-US" sz="2325" dirty="0"/>
          </a:p>
        </p:txBody>
      </p:sp>
      <p:sp>
        <p:nvSpPr>
          <p:cNvPr id="16" name="Shape 16"/>
          <p:cNvSpPr txBox="1"/>
          <p:nvPr/>
        </p:nvSpPr>
        <p:spPr>
          <a:xfrm>
            <a:off x="6286348" y="2756154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Write the function: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____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endParaRPr lang="en-US" sz="1950" dirty="0"/>
          </a:p>
        </p:txBody>
      </p:sp>
      <p:sp>
        <p:nvSpPr>
          <p:cNvPr id="17" name="Shape 17"/>
          <p:cNvSpPr txBox="1"/>
          <p:nvPr/>
        </p:nvSpPr>
        <p:spPr>
          <a:xfrm>
            <a:off x="6286348" y="3241548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2.5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18" name="Shape 18"/>
          <p:cNvSpPr txBox="1"/>
          <p:nvPr/>
        </p:nvSpPr>
        <p:spPr>
          <a:xfrm>
            <a:off x="6286348" y="3893820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Money for 10 pretzels: ____</a:t>
            </a:r>
            <a:endParaRPr lang="en-US" sz="1950" dirty="0"/>
          </a:p>
        </p:txBody>
      </p:sp>
      <p:sp>
        <p:nvSpPr>
          <p:cNvPr id="19" name="Shape 19"/>
          <p:cNvSpPr txBox="1"/>
          <p:nvPr/>
        </p:nvSpPr>
        <p:spPr>
          <a:xfrm>
            <a:off x="6286348" y="4379214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$25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I do · Meaning in a story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Gracie sells T-shirts for $15 each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4892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E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) = 15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endParaRPr lang="en-US" sz="28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7914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C9561F"/>
                </a:solidFill>
                <a:latin typeface="Segoe UI"/>
                <a:cs typeface="Segoe UI"/>
              </a:rPr>
              <a:t xml:space="preserve">15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means: she earns $15 for each shirt (the slope).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80263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How many shirts to earn $100? 100 = 15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t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326130"/>
            <a:ext cx="473211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100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15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≈ 6.67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01650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She can't sell part of a shirt, so she must sell ____ shirts.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539996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7 shirts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We do · Two forms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Gracie gives away 3 shirts</a:t>
            </a:r>
            <a:endParaRPr lang="en-US" sz="34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1618488"/>
            <a:ext cx="5219548" cy="22265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General form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48004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b="1">
                <a:solidFill>
                  <a:srgbClr val="C9561F"/>
                </a:solidFill>
                <a:latin typeface="Cambria"/>
                <a:cs typeface="Cambria"/>
              </a:rPr>
              <a:t xml:space="preserve">15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2325" dirty="0" b="1">
                <a:solidFill>
                  <a:srgbClr val="3050B8"/>
                </a:solidFill>
                <a:latin typeface="Cambria"/>
                <a:cs typeface="Cambria"/>
              </a:rPr>
              <a:t xml:space="preserve">− 45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764536"/>
            <a:ext cx="48004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slope: ____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-intercept: ____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895350" y="3154680"/>
            <a:ext cx="4400459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15 and (0, −45)</a:t>
            </a:r>
            <a:endParaRPr lang="en-US" sz="2325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3978402"/>
            <a:ext cx="5219548" cy="222656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895350" y="4149852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Factored form</a:t>
            </a:r>
            <a:endParaRPr lang="en-US" sz="2100" dirty="0"/>
          </a:p>
        </p:txBody>
      </p:sp>
      <p:sp>
        <p:nvSpPr>
          <p:cNvPr id="10" name="Shape 10"/>
          <p:cNvSpPr txBox="1"/>
          <p:nvPr/>
        </p:nvSpPr>
        <p:spPr>
          <a:xfrm>
            <a:off x="895350" y="4620006"/>
            <a:ext cx="48004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2325" dirty="0" b="1">
                <a:solidFill>
                  <a:srgbClr val="C9561F"/>
                </a:solidFill>
                <a:latin typeface="Cambria"/>
                <a:cs typeface="Cambria"/>
              </a:rPr>
              <a:t xml:space="preserve">15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2325" dirty="0" b="1">
                <a:solidFill>
                  <a:srgbClr val="3050B8"/>
                </a:solidFill>
                <a:latin typeface="Cambria"/>
                <a:cs typeface="Cambria"/>
              </a:rPr>
              <a:t xml:space="preserve">− 3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895350" y="5124450"/>
            <a:ext cx="48004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slope: ____ zero: ____</a:t>
            </a:r>
            <a:endParaRPr lang="en-US" sz="1575" dirty="0"/>
          </a:p>
        </p:txBody>
      </p:sp>
      <p:sp>
        <p:nvSpPr>
          <p:cNvPr id="12" name="Shape 12"/>
          <p:cNvSpPr txBox="1"/>
          <p:nvPr/>
        </p:nvSpPr>
        <p:spPr>
          <a:xfrm>
            <a:off x="895350" y="5514594"/>
            <a:ext cx="323967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15 and 3</a:t>
            </a:r>
            <a:endParaRPr lang="en-US" sz="2325" dirty="0"/>
          </a:p>
        </p:txBody>
      </p:sp>
      <p:sp>
        <p:nvSpPr>
          <p:cNvPr id="14" name="Shape 14"/>
          <p:cNvSpPr/>
          <p:nvPr/>
        </p:nvSpPr>
        <p:spPr>
          <a:xfrm>
            <a:off x="6286348" y="1618488"/>
            <a:ext cx="3238500" cy="3619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5" name="Line 15"/>
          <p:cNvCxnSpPr/>
          <p:nvPr/>
        </p:nvCxnSpPr>
        <p:spPr>
          <a:xfrm>
            <a:off x="661019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692134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723249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754364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785479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816594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847709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878824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909939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9410548" y="1732788"/>
            <a:ext cx="0" cy="3257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499033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4718876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444741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4175950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390448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3633026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336156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3090100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281863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2547176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227571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2004250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173278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921348" y="1732788"/>
            <a:ext cx="0" cy="3257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6610198" y="3361563"/>
            <a:ext cx="2800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0" name="Shape 40"/>
          <p:cNvSpPr txBox="1"/>
          <p:nvPr/>
        </p:nvSpPr>
        <p:spPr>
          <a:xfrm>
            <a:off x="633587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41" name="Shape 41"/>
          <p:cNvSpPr txBox="1"/>
          <p:nvPr/>
        </p:nvSpPr>
        <p:spPr>
          <a:xfrm>
            <a:off x="664702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695817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726932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758047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789162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820277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851392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882507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7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9136228" y="50093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043270" y="48988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−60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043270" y="43559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−40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6043270" y="38130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−20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6043270" y="327012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6043270" y="27271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20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6043270" y="2184273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40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60</a:t>
            </a:r>
            <a:endParaRPr lang="en-US" sz="975" dirty="0"/>
          </a:p>
        </p:txBody>
      </p:sp>
      <p:cxnSp>
        <p:nvCxnSpPr>
          <p:cNvPr id="57" name="Line 57"/>
          <p:cNvCxnSpPr/>
          <p:nvPr/>
        </p:nvCxnSpPr>
        <p:spPr>
          <a:xfrm flipV="1">
            <a:off x="6610198" y="1732788"/>
            <a:ext cx="2489200" cy="32575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8" name="Shape 58"/>
          <p:cNvSpPr/>
          <p:nvPr/>
        </p:nvSpPr>
        <p:spPr>
          <a:xfrm>
            <a:off x="6868960" y="4530757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9" name="Shape 59"/>
          <p:cNvSpPr txBox="1"/>
          <p:nvPr/>
        </p:nvSpPr>
        <p:spPr>
          <a:xfrm>
            <a:off x="7007073" y="4335494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(0, −45)</a:t>
            </a:r>
            <a:endParaRPr lang="en-US" sz="1125" dirty="0"/>
          </a:p>
        </p:txBody>
      </p:sp>
      <p:sp>
        <p:nvSpPr>
          <p:cNvPr id="60" name="Shape 60"/>
          <p:cNvSpPr/>
          <p:nvPr/>
        </p:nvSpPr>
        <p:spPr>
          <a:xfrm>
            <a:off x="7802410" y="330917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1" name="Shape 61"/>
          <p:cNvSpPr txBox="1"/>
          <p:nvPr/>
        </p:nvSpPr>
        <p:spPr>
          <a:xfrm>
            <a:off x="7940523" y="3113913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(3, 0)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7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You do · Try it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Find the slope and the zero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5219548" cy="1813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48004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2(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− 4)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94382"/>
            <a:ext cx="48004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slope ____ zero ____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741676"/>
            <a:ext cx="4400459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slope 2, zero 4</a:t>
            </a:r>
            <a:endParaRPr lang="en-US" sz="2325" dirty="0"/>
          </a:p>
        </p:txBody>
      </p:sp>
      <p:sp>
        <p:nvSpPr>
          <p:cNvPr id="13" name="Shape 13"/>
          <p:cNvSpPr txBox="1"/>
          <p:nvPr/>
        </p:nvSpPr>
        <p:spPr>
          <a:xfrm>
            <a:off x="6286348" y="1618488"/>
            <a:ext cx="5219548" cy="28178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495898" y="1789938"/>
            <a:ext cx="48004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3(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− 7)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6495898" y="2294382"/>
            <a:ext cx="48004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slope ____ zero ____</a:t>
            </a: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6495898" y="2741676"/>
            <a:ext cx="4400459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slope 3, zero 7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495898" y="3355848"/>
            <a:ext cx="48004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General form: 3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− ____</a:t>
            </a:r>
            <a:endParaRPr lang="en-US" sz="1575" dirty="0"/>
          </a:p>
        </p:txBody>
      </p:sp>
      <p:sp>
        <p:nvSpPr>
          <p:cNvPr id="12" name="Shape 12"/>
          <p:cNvSpPr txBox="1"/>
          <p:nvPr/>
        </p:nvSpPr>
        <p:spPr>
          <a:xfrm>
            <a:off x="6495898" y="3745992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− 21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Exit Ticket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Show what you know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10820095" cy="13091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104009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Is the table linear?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1, 3, 7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: 4, 10, 22. If yes, write the function.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37232"/>
            <a:ext cx="639037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Yes, slope 3: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+ 1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3060954"/>
            <a:ext cx="10820095" cy="13091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895350" y="3232404"/>
            <a:ext cx="104009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What is the zero of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= 4(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− 5)?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895350" y="3679698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4503420"/>
            <a:ext cx="10820095" cy="16062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895350" y="4674870"/>
            <a:ext cx="104009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Bracelets sell for $10 each. The booth costs $30: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 = 10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− 30. What does the 10 mean?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95350" y="5419344"/>
            <a:ext cx="8546120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$10 earned for each bracelet (the slope)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Practice Online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work, homework and quiz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Day 3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| Practice: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7"/>
              </a:rPr>
              <a:t xml:space="preserve">Quiz →</a:t>
            </a:r>
            <a:endParaRPr lang="en-US" sz="180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76272"/>
            <a:ext cx="10820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work, homework and the quiz are the same pages as the general lesson. Assign fewer items, allow notes and a calculator, and give extended time as the IEP lists.</a:t>
            </a:r>
            <a:endParaRPr lang="en-US" sz="157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Making Sense of Different Representations of a Linear Function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11</Slides>
  <Notes>11</Notes>
</Properties>
</file>

<file path=docProps/core.xml><?xml version="1.0" encoding="utf-8"?>
<cp:coreProperties xmlns:cp="http://schemas.openxmlformats.org/package/2006/metadata/core-properties" xmlns:dc="http://purl.org/dc/elements/1.1/">
  <dc:title>Making Sense of Different Representations of a Linear Function</dc:title>
  <dc:subject>Bluebonnet Algebra I</dc:subject>
</cp:coreProperties>
</file>