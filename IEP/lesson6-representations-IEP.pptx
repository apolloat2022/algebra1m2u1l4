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IEP version of Lesson 6: a modified lesson that keeps the core skills and cuts the number of items. Each skill follows I do (teacher models), We do (together, with sentence frames), You do (student tries, then reveal). Click to reveal each answer. Apply each student's IEP accommodations too: extended time, read-aloud, breaks, calculator, small group.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up, or give students a printed copy, while they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the division for every pair, not just the first one.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up: 6 shirts only earns $90.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that both forms are the same: distribute 15(t − 3) = 15t − 45. The zero, 3, means she must sell 3 shirts just to break even.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try all items before revealing. Students may use the steps slide and their notes.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IEP/lesson6-bellwork-day1-IEP.html" TargetMode="External"/><Relationship Id="rId4" Type="http://schemas.openxmlformats.org/officeDocument/2006/relationships/hyperlink" Target="https://algebra1m2u1l4.vercel.app/IEP/lesson6-bellwork-day2-IEP.html" TargetMode="External"/><Relationship Id="rId5" Type="http://schemas.openxmlformats.org/officeDocument/2006/relationships/hyperlink" Target="https://algebra1m2u1l4.vercel.app/IEP/lesson6-bellwork-day3-IEP.html" TargetMode="External"/><Relationship Id="rId6" Type="http://schemas.openxmlformats.org/officeDocument/2006/relationships/hyperlink" Target="https://algebra1m2u1l4.vercel.app/IEP/lesson6-homework-IEP.html" TargetMode="External"/><Relationship Id="rId7" Type="http://schemas.openxmlformats.org/officeDocument/2006/relationships/hyperlink" Target="https://algebra1m2u1l4.vercel.app/IEP/lesson6-quiz-IEP.html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algebra1m2u1l4.vercel.app/IEP/lesson6-bellwork-day1-IEP.html" TargetMode="External"/><Relationship Id="rId4" Type="http://schemas.openxmlformats.org/officeDocument/2006/relationships/hyperlink" Target="https://algebra1m2u1l4.vercel.app/IEP/lesson6-bellwork-day2-IEP.html" TargetMode="External"/><Relationship Id="rId5" Type="http://schemas.openxmlformats.org/officeDocument/2006/relationships/hyperlink" Target="https://algebra1m2u1l4.vercel.app/IEP/lesson6-bellwork-day3-IEP.html" TargetMode="External"/><Relationship Id="rId6" Type="http://schemas.openxmlformats.org/officeDocument/2006/relationships/hyperlink" Target="https://algebra1m2u1l4.vercel.app/IEP/lesson6-homework-IEP.html" TargetMode="External"/><Relationship Id="rId7" Type="http://schemas.openxmlformats.org/officeDocument/2006/relationships/hyperlink" Target="https://algebra1m2u1l4.vercel.app/IEP/lesson6-quiz-IEP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1 · Lesson 6 · IEP Version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6164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5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Making Sense of Linear Functions</a:t>
            </a:r>
            <a:endParaRPr lang="en-US" sz="45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1185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ax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 can…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9506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tell whether a table is linear.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1856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write a linear function from a table.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2420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explain what the slope and the intercepts mean in a story.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765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find the zero from factored form.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534619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618591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Based on Bluebonnet Learning Secondary Mathematics, Algebra I (©2024–2025 Texas Education Agency, portions ©2021 Carnegie Learning, Inc.), licensed CC BY-NC 4.0. A private site for Algebra I teachers.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6 ·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Words we need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Linear function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 of change is always the same. The graph is a straight line.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÷ 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It is the slope.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General form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slope,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65023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b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3642360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Factored form</a:t>
            </a:r>
            <a:endParaRPr lang="en-US" sz="210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slope,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zero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1" name="Shape 21"/>
          <p:cNvSpPr txBox="1"/>
          <p:nvPr/>
        </p:nvSpPr>
        <p:spPr>
          <a:xfrm>
            <a:off x="4349648" y="3642360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Zero</a:t>
            </a:r>
            <a:endParaRPr lang="en-US" sz="210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283964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that makes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= 0. The line crosses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there.</a:t>
            </a:r>
            <a:endParaRPr lang="en-US" sz="1575" dirty="0"/>
          </a:p>
        </p:txBody>
      </p:sp>
      <p:sp>
        <p:nvSpPr>
          <p:cNvPr id="25" name="Shape 25"/>
          <p:cNvSpPr txBox="1"/>
          <p:nvPr/>
        </p:nvSpPr>
        <p:spPr>
          <a:xfrm>
            <a:off x="8013497" y="3642360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2" name="Shape 22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Direct variation</a:t>
            </a:r>
            <a:endParaRPr lang="en-US" sz="2100" dirty="0"/>
          </a:p>
        </p:txBody>
      </p:sp>
      <p:sp>
        <p:nvSpPr>
          <p:cNvPr id="23" name="Shape 23"/>
          <p:cNvSpPr txBox="1"/>
          <p:nvPr/>
        </p:nvSpPr>
        <p:spPr>
          <a:xfrm>
            <a:off x="8223047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line through (0, 0).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kx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6 · Steps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Is the table linear?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Find the 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the 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between each pair of rows.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Divide: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Always the same number →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linear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Different →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 linear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If linear, find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-value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0) and write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Watch me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Is this table linear?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1828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9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1828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13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17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row: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2,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4.</a:t>
            </a: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2103882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2 every time.</a:t>
            </a: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589276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Linear, slope 2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324154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At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5.</a:t>
            </a:r>
            <a:endParaRPr lang="en-US" sz="1950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726942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Together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Is this table linear?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1828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1828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12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24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3, ____, ____</a:t>
            </a: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210388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3, 6, 12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Is it the same every time?</a:t>
            </a: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3241548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No, so it is not linear.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Nakota sells pretzels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578864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Pretzels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264664" y="1618488"/>
            <a:ext cx="1707642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Money ($)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061972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2264664" y="2061972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505456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2264664" y="2505456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948940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2264664" y="2948940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392424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2264664" y="3392424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Rate: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 dollars per pretzel</a:t>
            </a: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21038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2.5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function: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324154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2.5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893820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Money for 10 pretzels: ____</a:t>
            </a: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4379214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Meaning in a story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sells T-shirts for $15 each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C9561F"/>
                </a:solidFill>
                <a:latin typeface="Segoe UI"/>
                <a:cs typeface="Segoe UI"/>
              </a:rPr>
              <a:t xml:space="preserve">15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means: she earns $15 for each shirt (the slope).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026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100 = 15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26130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≈ 6.67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01650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She can't sell part of a shirt, so she must sell ____ shirts.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53999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7 shirts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Two forms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shirts</a:t>
            </a:r>
            <a:endParaRPr lang="en-US" sz="34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1618488"/>
            <a:ext cx="5219548" cy="22265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General form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− 45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slope: ____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-intercept: ____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54680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 and (0, −45)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978402"/>
            <a:ext cx="5219548" cy="22265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14985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Factored form</a:t>
            </a:r>
            <a:endParaRPr lang="en-US" sz="2100" dirty="0"/>
          </a:p>
        </p:txBody>
      </p:sp>
      <p:sp>
        <p:nvSpPr>
          <p:cNvPr id="10" name="Shape 10"/>
          <p:cNvSpPr txBox="1"/>
          <p:nvPr/>
        </p:nvSpPr>
        <p:spPr>
          <a:xfrm>
            <a:off x="895350" y="4620006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− 3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5124450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slope: ____ zero: ____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95350" y="5514594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 and 3</a:t>
            </a:r>
            <a:endParaRPr lang="en-US" sz="2325" dirty="0"/>
          </a:p>
        </p:txBody>
      </p:sp>
      <p:sp>
        <p:nvSpPr>
          <p:cNvPr id="14" name="Shape 14"/>
          <p:cNvSpPr/>
          <p:nvPr/>
        </p:nvSpPr>
        <p:spPr>
          <a:xfrm>
            <a:off x="6286348" y="1618488"/>
            <a:ext cx="32385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5" name="Line 15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69213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2324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5436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8547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81659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4770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7882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0993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4105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9903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71887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4474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17595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9044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63302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3615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09010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8186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54717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2757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00425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921348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36156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0" name="Shape 40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6470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9581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72693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75804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8916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82027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5139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8250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7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91362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−60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3559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−40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813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727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2184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60</a:t>
            </a:r>
            <a:endParaRPr lang="en-US" sz="975" dirty="0"/>
          </a:p>
        </p:txBody>
      </p:sp>
      <p:cxnSp>
        <p:nvCxnSpPr>
          <p:cNvPr id="57" name="Line 57"/>
          <p:cNvCxnSpPr/>
          <p:nvPr/>
        </p:nvCxnSpPr>
        <p:spPr>
          <a:xfrm flipV="1">
            <a:off x="6610198" y="1732788"/>
            <a:ext cx="2489200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8" name="Shape 58"/>
          <p:cNvSpPr/>
          <p:nvPr/>
        </p:nvSpPr>
        <p:spPr>
          <a:xfrm>
            <a:off x="6868960" y="453075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007073" y="433549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−45)</a:t>
            </a:r>
            <a:endParaRPr lang="en-US" sz="1125" dirty="0"/>
          </a:p>
        </p:txBody>
      </p:sp>
      <p:sp>
        <p:nvSpPr>
          <p:cNvPr id="60" name="Shape 60"/>
          <p:cNvSpPr/>
          <p:nvPr/>
        </p:nvSpPr>
        <p:spPr>
          <a:xfrm>
            <a:off x="7802410" y="33091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1" name="Shape 61"/>
          <p:cNvSpPr txBox="1"/>
          <p:nvPr/>
        </p:nvSpPr>
        <p:spPr>
          <a:xfrm>
            <a:off x="7940523" y="31139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(3, 0)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Find the slope and the zero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813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− 4)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94382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slope ____ zero ____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41676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slope 2, zero 4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1618488"/>
            <a:ext cx="5219548" cy="28178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94382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slope ____ zero ____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741676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slope 3, zero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495898" y="3355848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General form: 3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____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6495898" y="374599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− 21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Is the table linear?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1, 3, 7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4, 10, 22. If yes, write the function.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37232"/>
            <a:ext cx="639037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Yes, slope 3: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060954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232404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zero of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= 4(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− 5)?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67969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03420"/>
            <a:ext cx="10820095" cy="1606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95350" y="4674870"/>
            <a:ext cx="104009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Bracelets sell for $10 each. The booth costs $30: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= 10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− 30. What does the 10 mean?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5419344"/>
            <a:ext cx="854612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$10 earned for each bracelet (the slope)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76272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IEP pages have 3 answer choices, 6 homework and quiz questions, a reminder card and read-aloud. Allow notes and a calculator, and give extended time as the IEP lists.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Making Sense of Different Representations of a Linear Function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11</Slides>
  <Notes>11</Notes>
</Properties>
</file>

<file path=docProps/core.xml><?xml version="1.0" encoding="utf-8"?>
<cp:coreProperties xmlns:cp="http://schemas.openxmlformats.org/package/2006/metadata/core-properties" xmlns:dc="http://purl.org/dc/elements/1.1/">
  <dc:title>Making Sense of Different Representations of a Linear Function</dc:title>
  <dc:subject>Bluebonnet Algebra I</dc:subject>
</cp:coreProperties>
</file>