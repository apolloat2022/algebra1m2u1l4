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the catch-up day; not from the textbook. The class finished Activity 1.1, so this one class covers only the starred activities left in Lessons 1 and 2. Skip Activity 1.5 and both Talk the Talks; they are not on the test. Keep each part to its time: show the slide, do one example together, move on. The homework tonight practices the same skills in the test's style.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 (about 5 minutes). The same 4 questions are on the online IEP Day 1 bell work, which shows the same formula under each question and these steps after each answer. Click to reveal one answer at a time; read each step aloud and point to where the formula is used.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up, or give students a printed copy, while they work.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lines pass through (0, 0): multiplying 0 gives 0.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lines have the same slope; only b changes.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teacher or assistant: click once for each step. Read the step aloud, and before each click ask the student what to do next. Students check their own paper and fix any mistake in a different color.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up, or give students a printed copy, while they work.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 about inside versus outside before naming the direction. Each click moves one point: right 7 on the left graph, down 4 on the right. For f(x) = x both give a line parallel to f(x).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teacher or assistant: click once for each step. Read the step aloud, and before each click ask the student what to do next. Students check their own paper and fix any mistake in a different color.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j(x) + 4 = 2x + 3: left 4 and up 4 are not the same for this line.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on paper, then click to reveal each answer. Anyone who misses question 3 needs the inside/outside rule again tomorrow during bell work.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homework pages grade themselves and explain each answer.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lgebra1m2u1l4.vercel.app/IEP/t2-lesson1-homework-IEP.html" TargetMode="External"/><Relationship Id="rId4" Type="http://schemas.openxmlformats.org/officeDocument/2006/relationships/hyperlink" Target="https://algebra1m2u1l4.vercel.app/IEP/t2-lesson2-homework-IEP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Monday, October 26 · Topic 2 Lessons 1–2 · IEP Version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Today: the essentials of Lessons 1 and 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9468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5 min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2007108" y="1694688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Bell work while you take attendance (Lesson 2, Day 1)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13817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10 min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2007108" y="2138172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1: parallel lines (1.2) and vertical dilations (1.3) ★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581656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7 min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2007108" y="2581656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1: both at once,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(1.4) ★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025140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15 min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2007108" y="3025140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2: horizontal translations and dilations, inside vs. outside (2.1–2.3) ★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3468624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8 min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2007108" y="3468624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Exit check, then homework</a:t>
            </a: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216908"/>
            <a:ext cx="10820095" cy="5577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★ = essential in the 150-day pacing guide. Lesson 3 starts tomorrow; the Topic 2 test is Tuesday, November 3.</a:t>
            </a:r>
            <a:endParaRPr lang="en-US" sz="1650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22821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How does the graph move?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36296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outside: + moves up, − moves down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95956"/>
            <a:ext cx="4876648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3 units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The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is outside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, so the graph moves up or down.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Minus means down: down 3 units.</a:t>
            </a:r>
            <a:endParaRPr lang="en-US" sz="14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034028"/>
            <a:ext cx="5295748" cy="1824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20547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is the 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53847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slope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871466"/>
            <a:ext cx="3964187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Match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, so the slope is 3.</a:t>
            </a:r>
            <a:endParaRPr lang="en-US" sz="14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2593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is the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set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solve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2455926"/>
            <a:ext cx="4876648" cy="125044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(8/3, 0)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− 8 = 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Add 8 to both sides: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both sides by 3: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8/3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 The point is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(8/3, 0)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9" name="Shape 19"/>
          <p:cNvSpPr txBox="1"/>
          <p:nvPr/>
        </p:nvSpPr>
        <p:spPr>
          <a:xfrm>
            <a:off x="6210148" y="4011168"/>
            <a:ext cx="5295748" cy="2499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4182618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Let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is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 slope-intercept form?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19698" y="475564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replace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with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419698" y="5088636"/>
            <a:ext cx="4876648" cy="125044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Put in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for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Slope 2 (dilation by 2),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(down 3).</a:t>
            </a:r>
            <a:endParaRPr lang="en-US" sz="14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Topic 2 Lesson 1 · Steps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to read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Start with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slope 1, through (0, 0).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b="1" i="1">
                <a:solidFill>
                  <a:srgbClr val="C9561F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new slope. A negative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flips the line.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b="1" i="1">
                <a:solidFill>
                  <a:srgbClr val="3050B8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the line up (+) or down (−).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is (0,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Plot (0,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), then count the slope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I do · Stretch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Multiply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by 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every output by 4.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5615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is now </a:t>
            </a:r>
            <a:r>
              <a:rPr lang="en-US" sz="1950" dirty="0" b="1">
                <a:solidFill>
                  <a:srgbClr val="C9561F"/>
                </a:solidFill>
                <a:latin typeface="Segoe UI"/>
                <a:cs typeface="Segoe UI"/>
              </a:rPr>
              <a:t xml:space="preserve">4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steeper.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With −4, the line also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flips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26942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9" name="Shape 9"/>
          <p:cNvSpPr/>
          <p:nvPr/>
        </p:nvSpPr>
        <p:spPr>
          <a:xfrm>
            <a:off x="6286348" y="1618488"/>
            <a:ext cx="323850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960241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31028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660329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01037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360416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71046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060504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41054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6093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4429554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249769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069985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89020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710416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530632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350847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31710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991279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811494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263171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2451926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2272141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2092357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1912572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17327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8010373" y="1732788"/>
            <a:ext cx="0" cy="2876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171063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8" name="Shape 38"/>
          <p:cNvSpPr txBox="1"/>
          <p:nvPr/>
        </p:nvSpPr>
        <p:spPr>
          <a:xfrm>
            <a:off x="63358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6685921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703596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7386009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773605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8086096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843614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8786184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913622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4517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41583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37987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343919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3079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272005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043270" y="23604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6043270" y="20009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56" name="Line 56"/>
          <p:cNvCxnSpPr/>
          <p:nvPr/>
        </p:nvCxnSpPr>
        <p:spPr>
          <a:xfrm flipV="1">
            <a:off x="6610198" y="2451926"/>
            <a:ext cx="2800350" cy="1438275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7" name="Shape 57"/>
          <p:cNvSpPr txBox="1"/>
          <p:nvPr/>
        </p:nvSpPr>
        <p:spPr>
          <a:xfrm>
            <a:off x="6918808" y="247097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58" name="Line 58"/>
          <p:cNvCxnSpPr/>
          <p:nvPr/>
        </p:nvCxnSpPr>
        <p:spPr>
          <a:xfrm flipV="1">
            <a:off x="7310285" y="1732788"/>
            <a:ext cx="1400175" cy="2876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21872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4x</a:t>
            </a:r>
            <a:endParaRPr lang="en-US" sz="1275" dirty="0"/>
          </a:p>
        </p:txBody>
      </p:sp>
      <p:cxnSp>
        <p:nvCxnSpPr>
          <p:cNvPr id="60" name="Line 60"/>
          <p:cNvCxnSpPr/>
          <p:nvPr/>
        </p:nvCxnSpPr>
        <p:spPr>
          <a:xfrm>
            <a:off x="7310285" y="1732788"/>
            <a:ext cx="1400175" cy="2876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1" name="Shape 61"/>
          <p:cNvSpPr txBox="1"/>
          <p:nvPr/>
        </p:nvSpPr>
        <p:spPr>
          <a:xfrm>
            <a:off x="7386485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−4x</a:t>
            </a:r>
            <a:endParaRPr lang="en-US" sz="1275" dirty="0"/>
          </a:p>
        </p:txBody>
      </p:sp>
      <p:sp>
        <p:nvSpPr>
          <p:cNvPr id="62" name="Slide Number 6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We do · Parallel line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to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−3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− 1, through (−1, 5)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same slope.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323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5 = −3(−1)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5584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462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write it.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569714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Check it · Step by step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to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345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1618488"/>
            <a:ext cx="5295748" cy="31325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Through (0, 4)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Parallel means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same slope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Put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0 and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4 into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4 = 2(0)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28041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2(0) = 0, so 4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670554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slope and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+ 4.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06069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17" name="Shape 17"/>
          <p:cNvSpPr txBox="1"/>
          <p:nvPr/>
        </p:nvSpPr>
        <p:spPr>
          <a:xfrm>
            <a:off x="6210148" y="1618488"/>
            <a:ext cx="5295748" cy="31325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Through (2, 0)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Same slope: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650236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Put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 and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0 into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0 = 2(2)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328041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Multiply: 0 = 4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419698" y="3670554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4 from both sides: −4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406069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18" name="Slide Number 1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Topic 2 Lesson 2 · Steps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way does it move?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Look for the number. Is it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inside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the parentheses with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or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outside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Outside: + is up, − is down.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Inside: − is right, + is left (the sign flips).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simplify, put the inside into the rule and distribute.</a:t>
            </a:r>
            <a:endParaRPr lang="en-US" sz="19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I do · Watch me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− 7) and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− 4</a:t>
            </a:r>
            <a:endParaRPr lang="en-US" sz="3450" dirty="0"/>
          </a:p>
        </p:txBody>
      </p:sp>
      <p:sp>
        <p:nvSpPr>
          <p:cNvPr id="58" name="Shape 58"/>
          <p:cNvSpPr txBox="1"/>
          <p:nvPr/>
        </p:nvSpPr>
        <p:spPr>
          <a:xfrm>
            <a:off x="685800" y="1618488"/>
            <a:ext cx="5219548" cy="4438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− 7)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Inside, minus →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 7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each point moves 7 to the right.</a:t>
            </a:r>
            <a:endParaRPr lang="en-US" sz="1575" dirty="0"/>
          </a:p>
        </p:txBody>
      </p:sp>
      <p:sp>
        <p:nvSpPr>
          <p:cNvPr id="6" name="Shape 6"/>
          <p:cNvSpPr/>
          <p:nvPr/>
        </p:nvSpPr>
        <p:spPr>
          <a:xfrm>
            <a:off x="895350" y="2890266"/>
            <a:ext cx="314325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7" name="Line 7"/>
          <p:cNvCxnSpPr/>
          <p:nvPr/>
        </p:nvCxnSpPr>
        <p:spPr>
          <a:xfrm>
            <a:off x="121920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44462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67005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189547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12090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234632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57175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279717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02260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324802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347345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369887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392430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219200" y="502386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219200" y="473539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219200" y="444692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219200" y="415845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219200" y="386998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219200" y="358150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219200" y="329303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219200" y="300456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670050" y="3004566"/>
            <a:ext cx="0" cy="2019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219200" y="4158452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0" name="Shape 30"/>
          <p:cNvSpPr txBox="1"/>
          <p:nvPr/>
        </p:nvSpPr>
        <p:spPr>
          <a:xfrm>
            <a:off x="944880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1395730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1846580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2297430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2748280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3199130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649980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652272" y="493242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52272" y="464395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652272" y="435548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652272" y="406701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652272" y="377854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52272" y="349006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52272" y="320159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52272" y="291312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45" name="Line 45"/>
          <p:cNvCxnSpPr/>
          <p:nvPr/>
        </p:nvCxnSpPr>
        <p:spPr>
          <a:xfrm flipV="1">
            <a:off x="1219200" y="3004566"/>
            <a:ext cx="1352550" cy="1730829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46" name="Shape 46"/>
          <p:cNvSpPr txBox="1"/>
          <p:nvPr/>
        </p:nvSpPr>
        <p:spPr>
          <a:xfrm>
            <a:off x="80010" y="30236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47" name="Line 47"/>
          <p:cNvCxnSpPr/>
          <p:nvPr/>
        </p:nvCxnSpPr>
        <p:spPr>
          <a:xfrm>
            <a:off x="1670050" y="4158452"/>
            <a:ext cx="1577975" cy="0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48" name="Shape 48"/>
          <p:cNvSpPr txBox="1"/>
          <p:nvPr/>
        </p:nvSpPr>
        <p:spPr>
          <a:xfrm>
            <a:off x="756285" y="417750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+7 →</a:t>
            </a:r>
            <a:endParaRPr lang="en-US" sz="1275" dirty="0"/>
          </a:p>
        </p:txBody>
      </p:sp>
      <p:sp>
        <p:nvSpPr>
          <p:cNvPr id="49" name="Shape 49"/>
          <p:cNvSpPr/>
          <p:nvPr/>
        </p:nvSpPr>
        <p:spPr>
          <a:xfrm>
            <a:off x="3195638" y="410606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0" name="Line 50"/>
          <p:cNvCxnSpPr/>
          <p:nvPr/>
        </p:nvCxnSpPr>
        <p:spPr>
          <a:xfrm>
            <a:off x="2120900" y="3581509"/>
            <a:ext cx="1577975" cy="0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51" name="Shape 51"/>
          <p:cNvSpPr txBox="1"/>
          <p:nvPr/>
        </p:nvSpPr>
        <p:spPr>
          <a:xfrm>
            <a:off x="1207135" y="3600559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+7 →</a:t>
            </a:r>
            <a:endParaRPr lang="en-US" sz="1275" dirty="0"/>
          </a:p>
        </p:txBody>
      </p:sp>
      <p:sp>
        <p:nvSpPr>
          <p:cNvPr id="52" name="Shape 52"/>
          <p:cNvSpPr/>
          <p:nvPr/>
        </p:nvSpPr>
        <p:spPr>
          <a:xfrm>
            <a:off x="3646487" y="352912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2571750" y="3293037"/>
            <a:ext cx="1352550" cy="1730829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1432560" y="331208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55" name="Shape 55"/>
          <p:cNvSpPr/>
          <p:nvPr/>
        </p:nvSpPr>
        <p:spPr>
          <a:xfrm>
            <a:off x="1617662" y="410606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6" name="Shape 56"/>
          <p:cNvSpPr/>
          <p:nvPr/>
        </p:nvSpPr>
        <p:spPr>
          <a:xfrm>
            <a:off x="2068512" y="352912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7" name="Shape 57"/>
          <p:cNvSpPr txBox="1"/>
          <p:nvPr/>
        </p:nvSpPr>
        <p:spPr>
          <a:xfrm>
            <a:off x="895350" y="5366766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</a:t>
            </a:r>
            <a:endParaRPr lang="en-US" sz="2325" dirty="0"/>
          </a:p>
        </p:txBody>
      </p:sp>
      <p:sp>
        <p:nvSpPr>
          <p:cNvPr id="113" name="Shape 113"/>
          <p:cNvSpPr txBox="1"/>
          <p:nvPr/>
        </p:nvSpPr>
        <p:spPr>
          <a:xfrm>
            <a:off x="6286348" y="1618488"/>
            <a:ext cx="5219548" cy="4438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9" name="Shape 59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− 4</a:t>
            </a:r>
            <a:endParaRPr lang="en-US" sz="2100" dirty="0"/>
          </a:p>
        </p:txBody>
      </p:sp>
      <p:sp>
        <p:nvSpPr>
          <p:cNvPr id="60" name="Shape 60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Outside, minus →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each point moves 4 down.</a:t>
            </a:r>
            <a:endParaRPr lang="en-US" sz="1575" dirty="0"/>
          </a:p>
        </p:txBody>
      </p:sp>
      <p:sp>
        <p:nvSpPr>
          <p:cNvPr id="61" name="Shape 61"/>
          <p:cNvSpPr/>
          <p:nvPr/>
        </p:nvSpPr>
        <p:spPr>
          <a:xfrm>
            <a:off x="6495898" y="2890266"/>
            <a:ext cx="314325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62" name="Line 62"/>
          <p:cNvCxnSpPr/>
          <p:nvPr/>
        </p:nvCxnSpPr>
        <p:spPr>
          <a:xfrm>
            <a:off x="6819748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715788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7496023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783416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172298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510435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848573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9186710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9524848" y="3004566"/>
            <a:ext cx="0" cy="2019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6819748" y="502386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6819748" y="484029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6819748" y="46567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6819748" y="447314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6819748" y="428957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6819748" y="410600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6819748" y="392243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6819748" y="373885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6819748" y="355528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6819748" y="337171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1" name="Line 81"/>
          <p:cNvCxnSpPr/>
          <p:nvPr/>
        </p:nvCxnSpPr>
        <p:spPr>
          <a:xfrm>
            <a:off x="6819748" y="318813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2" name="Line 82"/>
          <p:cNvCxnSpPr/>
          <p:nvPr/>
        </p:nvCxnSpPr>
        <p:spPr>
          <a:xfrm>
            <a:off x="6819748" y="300456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3" name="Line 83"/>
          <p:cNvCxnSpPr/>
          <p:nvPr/>
        </p:nvCxnSpPr>
        <p:spPr>
          <a:xfrm>
            <a:off x="8172298" y="3004566"/>
            <a:ext cx="0" cy="2019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6819748" y="3738857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85" name="Shape 85"/>
          <p:cNvSpPr txBox="1"/>
          <p:nvPr/>
        </p:nvSpPr>
        <p:spPr>
          <a:xfrm>
            <a:off x="6545428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7221703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7897978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8574253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9250528" y="504291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6252820" y="474885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6252820" y="438170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6252820" y="401456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6252820" y="36474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6252820" y="328027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5" name="Shape 95"/>
          <p:cNvSpPr txBox="1"/>
          <p:nvPr/>
        </p:nvSpPr>
        <p:spPr>
          <a:xfrm>
            <a:off x="6252820" y="291312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96" name="Line 96"/>
          <p:cNvCxnSpPr/>
          <p:nvPr/>
        </p:nvCxnSpPr>
        <p:spPr>
          <a:xfrm flipV="1">
            <a:off x="6819748" y="3004566"/>
            <a:ext cx="2705100" cy="1468582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7" name="Shape 97"/>
          <p:cNvSpPr txBox="1"/>
          <p:nvPr/>
        </p:nvSpPr>
        <p:spPr>
          <a:xfrm>
            <a:off x="7033108" y="30236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8" name="Line 98"/>
          <p:cNvCxnSpPr/>
          <p:nvPr/>
        </p:nvCxnSpPr>
        <p:spPr>
          <a:xfrm>
            <a:off x="7496023" y="4106002"/>
            <a:ext cx="0" cy="734291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99" name="Shape 99"/>
          <p:cNvSpPr txBox="1"/>
          <p:nvPr/>
        </p:nvSpPr>
        <p:spPr>
          <a:xfrm>
            <a:off x="7572223" y="412505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−4 ↓</a:t>
            </a:r>
            <a:endParaRPr lang="en-US" sz="1275" dirty="0"/>
          </a:p>
        </p:txBody>
      </p:sp>
      <p:sp>
        <p:nvSpPr>
          <p:cNvPr id="100" name="Shape 100"/>
          <p:cNvSpPr/>
          <p:nvPr/>
        </p:nvSpPr>
        <p:spPr>
          <a:xfrm>
            <a:off x="7443635" y="478790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1" name="Line 101"/>
          <p:cNvCxnSpPr/>
          <p:nvPr/>
        </p:nvCxnSpPr>
        <p:spPr>
          <a:xfrm>
            <a:off x="8172298" y="3738857"/>
            <a:ext cx="0" cy="734291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102" name="Shape 102"/>
          <p:cNvSpPr txBox="1"/>
          <p:nvPr/>
        </p:nvSpPr>
        <p:spPr>
          <a:xfrm>
            <a:off x="5680558" y="375790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−4 ↓</a:t>
            </a:r>
            <a:endParaRPr lang="en-US" sz="1275" dirty="0"/>
          </a:p>
        </p:txBody>
      </p:sp>
      <p:sp>
        <p:nvSpPr>
          <p:cNvPr id="103" name="Shape 103"/>
          <p:cNvSpPr/>
          <p:nvPr/>
        </p:nvSpPr>
        <p:spPr>
          <a:xfrm>
            <a:off x="8119910" y="442076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4" name="Line 104"/>
          <p:cNvCxnSpPr/>
          <p:nvPr/>
        </p:nvCxnSpPr>
        <p:spPr>
          <a:xfrm>
            <a:off x="8848573" y="3371711"/>
            <a:ext cx="0" cy="734291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105" name="Shape 105"/>
          <p:cNvSpPr txBox="1"/>
          <p:nvPr/>
        </p:nvSpPr>
        <p:spPr>
          <a:xfrm>
            <a:off x="6356833" y="3390761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−4 ↓</a:t>
            </a:r>
            <a:endParaRPr lang="en-US" sz="1275" dirty="0"/>
          </a:p>
        </p:txBody>
      </p:sp>
      <p:sp>
        <p:nvSpPr>
          <p:cNvPr id="106" name="Shape 106"/>
          <p:cNvSpPr/>
          <p:nvPr/>
        </p:nvSpPr>
        <p:spPr>
          <a:xfrm>
            <a:off x="8796185" y="405361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7" name="Line 107"/>
          <p:cNvCxnSpPr/>
          <p:nvPr/>
        </p:nvCxnSpPr>
        <p:spPr>
          <a:xfrm flipV="1">
            <a:off x="7157885" y="3738857"/>
            <a:ext cx="2366963" cy="1285009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108" name="Shape 108"/>
          <p:cNvSpPr txBox="1"/>
          <p:nvPr/>
        </p:nvSpPr>
        <p:spPr>
          <a:xfrm>
            <a:off x="7033108" y="375790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109" name="Shape 109"/>
          <p:cNvSpPr/>
          <p:nvPr/>
        </p:nvSpPr>
        <p:spPr>
          <a:xfrm>
            <a:off x="7443635" y="405361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0" name="Shape 110"/>
          <p:cNvSpPr/>
          <p:nvPr/>
        </p:nvSpPr>
        <p:spPr>
          <a:xfrm>
            <a:off x="8119910" y="368646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1" name="Shape 111"/>
          <p:cNvSpPr/>
          <p:nvPr/>
        </p:nvSpPr>
        <p:spPr>
          <a:xfrm>
            <a:off x="8796185" y="331932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2" name="Shape 112"/>
          <p:cNvSpPr txBox="1"/>
          <p:nvPr/>
        </p:nvSpPr>
        <p:spPr>
          <a:xfrm>
            <a:off x="6495898" y="5366766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114" name="Slide Number 1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You do · Try it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way, and how far?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352698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293359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+ 5)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3723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left 5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4419498" y="1618488"/>
            <a:ext cx="3352698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629048" y="1789938"/>
            <a:ext cx="293359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+ 2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29048" y="2237232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up 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8153197" y="1618488"/>
            <a:ext cx="3352698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362747" y="1789938"/>
            <a:ext cx="293359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62747" y="2237232"/>
            <a:ext cx="29335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right 3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Check it · Step by step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way, and how far?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3454298" cy="28323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+ 5)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351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5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inside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parentheses with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the graph moves left or right.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30296"/>
            <a:ext cx="30351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Inside, the sign flips: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plus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means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76047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left 5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4368698" y="1618488"/>
            <a:ext cx="3454298" cy="28323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4578248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+ 2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4578248" y="2260092"/>
            <a:ext cx="30351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2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outside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parentheses, so the graph moves up or down.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578248" y="3130296"/>
            <a:ext cx="30351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Outside, no flip: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plus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means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578248" y="3760470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up 2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8051597" y="1618488"/>
            <a:ext cx="3454298" cy="25923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8261147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− 3)</a:t>
            </a:r>
            <a:endParaRPr lang="en-US" sz="2100" dirty="0"/>
          </a:p>
        </p:txBody>
      </p:sp>
      <p:sp>
        <p:nvSpPr>
          <p:cNvPr id="15" name="Shape 15"/>
          <p:cNvSpPr txBox="1"/>
          <p:nvPr/>
        </p:nvSpPr>
        <p:spPr>
          <a:xfrm>
            <a:off x="8261147" y="2260092"/>
            <a:ext cx="30351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3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inside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left or right.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8261147" y="2890266"/>
            <a:ext cx="30351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 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Inside, the sign flips: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minus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means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8261147" y="3520440"/>
            <a:ext cx="30351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right 3</a:t>
            </a:r>
            <a:endParaRPr lang="en-US" sz="232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We do · Simplify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− 1. Simplify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+ 4).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Put 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+ 4) in for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2(____) − 1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 − 1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323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____ − 1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5584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+ 8 − 1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462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Combine: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56971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I do · Stretch inside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and 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(2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 ·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89276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The same line: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This only works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93642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262660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58889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91512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24135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567585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89381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2200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610198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15023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388162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361302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33444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280720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253860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226999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0013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7915123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1" name="Shape 31"/>
          <p:cNvSpPr txBox="1"/>
          <p:nvPr/>
        </p:nvSpPr>
        <p:spPr>
          <a:xfrm>
            <a:off x="6335878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666210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6988340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7314571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640803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967034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8293265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61949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945728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6043270" y="4327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6043270" y="405879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37901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352158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32529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27157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244716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21785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190995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cxnSp>
        <p:nvCxnSpPr>
          <p:cNvPr id="51" name="Line 51"/>
          <p:cNvCxnSpPr/>
          <p:nvPr/>
        </p:nvCxnSpPr>
        <p:spPr>
          <a:xfrm flipV="1">
            <a:off x="6610198" y="2001393"/>
            <a:ext cx="2609850" cy="214884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728308" y="202044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7099544" y="1732788"/>
            <a:ext cx="1631156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6238961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2x</a:t>
            </a:r>
            <a:endParaRPr lang="en-US" sz="1275" dirty="0"/>
          </a:p>
        </p:txBody>
      </p:sp>
      <p:sp>
        <p:nvSpPr>
          <p:cNvPr id="55" name="Slide Number 5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Exit Check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transformations and write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180082"/>
            <a:ext cx="6368567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 dilation by 2, then down 3: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15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859024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30474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line parallel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420618"/>
            <a:ext cx="5965317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 3: 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4 = 3(2) +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endParaRPr lang="en-US" sz="150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099560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271010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way does the graph move?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4661154"/>
            <a:ext cx="7779944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Inside: the opposite way. Left 4, the same as up 4: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1500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Tonight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Homework: practice for the test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264408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Lesson 1 homework →</a:t>
            </a:r>
            <a:r>
              <a:rPr lang="en-US" sz="21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2100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Lesson 2 homework →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81076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Questions 11–14 on each are written like the End of Topic 2 Assessment.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431139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Tomorrow: Lesson 3, Determining Slopes of Perpendicular Lines.</a:t>
            </a:r>
            <a:endParaRPr lang="en-US" sz="180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Catch-Up Day: Lessons 1–2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14</Slides>
  <Notes>14</Notes>
</Properties>
</file>

<file path=docProps/core.xml><?xml version="1.0" encoding="utf-8"?>
<cp:coreProperties xmlns:cp="http://schemas.openxmlformats.org/package/2006/metadata/core-properties" xmlns:dc="http://purl.org/dc/elements/1.1/">
  <dc:title>Topic 2 Catch-Up Day: Lessons 1–2</dc:title>
  <dc:subject>Bluebonnet Algebra I</dc:subject>
</cp:coreProperties>
</file>