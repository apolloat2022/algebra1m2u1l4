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2 Retake, Wed Nov 4 (the day after the End of Topic 2 Assessment). Same 14 skills, order, item types and points as the test, with new numbers: Q1-4 Lesson 1, Q5-6 Lesson 2, Q7-10 Lesson 3, Q11-14 Lesson 4. IEP version: same 14 skills, modified. Multiple choice has 3 choices; written items are chunked into steps with blanks and circle-one frames; tips define vocabulary; key points are labeled on the graphs. Grade with the IEP answer key. Apply the student's IEP accommodations as well: extended time, breaks, read-aloud, small-group setting.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1792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2: Transforming and Comparing Linear Functions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38277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Retake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8910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Name ________________________ Date ________________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22142"/>
            <a:ext cx="10820095" cy="22623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3593592"/>
            <a:ext cx="104009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Directions: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Read each question carefully. You may use a calculator and the reference sheet. For multiple choice, choose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one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answer. Use the steps and tips. Fill in each blank.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4772406"/>
            <a:ext cx="104009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One question is on each slide. Take your time. Ask your teacher if you need a break or a question read aloud.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Reference Sheet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" name="Shape 3"/>
          <p:cNvSpPr txBox="1"/>
          <p:nvPr/>
        </p:nvSpPr>
        <p:spPr>
          <a:xfrm>
            <a:off x="895350" y="1342644"/>
            <a:ext cx="3098698" cy="173507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changes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·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&gt; 1 stretch, 0 &lt; 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&lt; 1 compress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reflect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&gt; 0 up,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down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4336948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4546498" y="1342644"/>
            <a:ext cx="30986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changes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− 3): right 3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+ 3): left 3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7988097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197647" y="1342644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y₂ − y₁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x₂ − x₁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3553968"/>
            <a:ext cx="30986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lines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 lines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slopes are negative reciprocals: 2 and 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336948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546498" y="3553968"/>
            <a:ext cx="30986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₁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₁)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7988097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8197647" y="3553968"/>
            <a:ext cx="30986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Solve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find the slope.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5285232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4336948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4546498" y="5285232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Domain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(inputs)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(outputs)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7988097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9" name="Shape 19"/>
          <p:cNvSpPr txBox="1"/>
          <p:nvPr/>
        </p:nvSpPr>
        <p:spPr>
          <a:xfrm>
            <a:off x="8197647" y="5285232"/>
            <a:ext cx="30986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Compare functions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Set the two expressions equal to find where they meet.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22" name="Slide Number 2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becomes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+ 3. 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transformation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6519786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+ 3 is outside, so it adds 3 to every output 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-value).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Up 3 units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Down 3 units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Right 3 units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-axis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and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changes it by a factor of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A negative number in front of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reflects the line. A number between 0 and 1 makes it less steep.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− 4.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Replace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with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________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________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The 3 is a vertical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dilation /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by a factor of ________.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The − 4 moves the graph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 / down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________ units.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4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3223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6351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9478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2606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573338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3198813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5115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8242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41370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4497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7625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45659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42785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3991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370389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4165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12921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255454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2672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19798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16925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140519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7353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13608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19862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261175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2372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38627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881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4474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8997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3325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275043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2175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442722" y="16010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6" name="Line 46"/>
          <p:cNvCxnSpPr/>
          <p:nvPr/>
        </p:nvCxnSpPr>
        <p:spPr>
          <a:xfrm flipV="1">
            <a:off x="1009650" y="1117854"/>
            <a:ext cx="3752850" cy="3448050"/>
          </a:xfrm>
          <a:prstGeom prst="line">
            <a:avLst/>
          </a:prstGeom>
          <a:ln w="38100" cap="rnd">
            <a:solidFill>
              <a:srgbClr val="16171D"/>
            </a:solidFill>
            <a:prstDash val="dash"/>
          </a:ln>
        </p:spPr>
      </p:cxnSp>
      <p:sp>
        <p:nvSpPr>
          <p:cNvPr id="47" name="Shape 47"/>
          <p:cNvSpPr txBox="1"/>
          <p:nvPr/>
        </p:nvSpPr>
        <p:spPr>
          <a:xfrm>
            <a:off x="2270760" y="1136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48" name="Line 48"/>
          <p:cNvCxnSpPr/>
          <p:nvPr/>
        </p:nvCxnSpPr>
        <p:spPr>
          <a:xfrm flipV="1">
            <a:off x="1009650" y="1117854"/>
            <a:ext cx="3127375" cy="2873375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9" name="Shape 49"/>
          <p:cNvSpPr txBox="1"/>
          <p:nvPr/>
        </p:nvSpPr>
        <p:spPr>
          <a:xfrm>
            <a:off x="1645285" y="1136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sp>
        <p:nvSpPr>
          <p:cNvPr id="50" name="Shape 50"/>
          <p:cNvSpPr/>
          <p:nvPr/>
        </p:nvSpPr>
        <p:spPr>
          <a:xfrm>
            <a:off x="2833688" y="221481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1" name="Shape 51"/>
          <p:cNvSpPr txBox="1"/>
          <p:nvPr/>
        </p:nvSpPr>
        <p:spPr>
          <a:xfrm>
            <a:off x="2971800" y="201955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(0, 2)</a:t>
            </a:r>
            <a:endParaRPr lang="en-US" sz="1125" dirty="0"/>
          </a:p>
        </p:txBody>
      </p:sp>
      <p:sp>
        <p:nvSpPr>
          <p:cNvPr id="52" name="Shape 52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dashed line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equation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)?</a:t>
            </a:r>
            <a:endParaRPr lang="en-US" sz="2250" dirty="0"/>
          </a:p>
        </p:txBody>
      </p:sp>
      <p:sp>
        <p:nvSpPr>
          <p:cNvPr id="53" name="Shape 53"/>
          <p:cNvSpPr txBox="1"/>
          <p:nvPr/>
        </p:nvSpPr>
        <p:spPr>
          <a:xfrm>
            <a:off x="6286348" y="1877568"/>
            <a:ext cx="5219548" cy="6492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crosses the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-axis at 0.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crosses at 2. So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is 2 units up.</a:t>
            </a:r>
            <a:endParaRPr lang="en-US" sz="1650" dirty="0"/>
          </a:p>
        </p:txBody>
      </p:sp>
      <p:sp>
        <p:nvSpPr>
          <p:cNvPr id="54" name="Shape 54"/>
          <p:cNvSpPr txBox="1"/>
          <p:nvPr/>
        </p:nvSpPr>
        <p:spPr>
          <a:xfrm>
            <a:off x="6286348" y="266014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− 2</a:t>
            </a:r>
            <a:endParaRPr lang="en-US" sz="2250" dirty="0"/>
          </a:p>
        </p:txBody>
      </p:sp>
      <p:sp>
        <p:nvSpPr>
          <p:cNvPr id="55" name="Shape 55"/>
          <p:cNvSpPr txBox="1"/>
          <p:nvPr/>
        </p:nvSpPr>
        <p:spPr>
          <a:xfrm>
            <a:off x="6286348" y="319125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+ 2</a:t>
            </a:r>
            <a:endParaRPr lang="en-US" sz="2250" dirty="0"/>
          </a:p>
        </p:txBody>
      </p:sp>
      <p:sp>
        <p:nvSpPr>
          <p:cNvPr id="56" name="Shape 56"/>
          <p:cNvSpPr txBox="1"/>
          <p:nvPr/>
        </p:nvSpPr>
        <p:spPr>
          <a:xfrm>
            <a:off x="6286348" y="372237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2250" dirty="0"/>
          </a:p>
        </p:txBody>
      </p:sp>
      <p:sp>
        <p:nvSpPr>
          <p:cNvPr id="57" name="Shape 5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58" name="Slide Number 5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5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− 5).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8072300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Inside the parentheses, the graph moves the </a:t>
            </a:r>
            <a:r>
              <a:rPr lang="en-US" sz="16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opposite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way of the sign.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________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The graph moves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 / right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________ units.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For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that is the same graph as moving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up / down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(circle one) ________ units.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6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moves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left 2 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Which function is the new graph?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8848557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Left 2 means replace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with 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+ 2):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) = 3(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+ 2). Then distribute the 3.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+ 6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− 6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7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(−4, −1) and (2, 3).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Slope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3 − (−1)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2 − (−4)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________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________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slope (the same): ________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slope (flip the fraction and change the sign): 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8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is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+ 5 and passes through (4, 1)?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6492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slope: flip 2 = 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and change the sign → −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check: put in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4. Do you get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1?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1724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− 7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84835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7947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−(1/2)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9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of the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 through the point (−1, 2).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Parallel slope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Point-slope form: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 = ________(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(−1))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3: Distribute, then add 2: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Are these lines parallel, perpendicular, or neither?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6 and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57222"/>
            <a:ext cx="7517831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Solve 4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6 for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= 2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− 3. Compare the slopes 2 and 2.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883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Parallel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1945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Perpendicular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5056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Neither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Plan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660392" y="1003554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Plan A's total cost is shown in the table. Plan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660392" y="2220468"/>
            <a:ext cx="6845503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Plan A: starts at $________, goes up $________ each month.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660392" y="3094482"/>
            <a:ext cx="6845503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Plan B: starts at $________, goes up $________ each month.</a:t>
            </a:r>
            <a:endParaRPr lang="en-US" sz="2250" dirty="0"/>
          </a:p>
        </p:txBody>
      </p:sp>
      <p:sp>
        <p:nvSpPr>
          <p:cNvPr id="18" name="Shape 18"/>
          <p:cNvSpPr txBox="1"/>
          <p:nvPr/>
        </p:nvSpPr>
        <p:spPr>
          <a:xfrm>
            <a:off x="4660392" y="3968496"/>
            <a:ext cx="6845503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: Plan ________.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: Plan ________.</a:t>
            </a:r>
            <a:endParaRPr lang="en-US" sz="22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Plan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660392" y="1003554"/>
            <a:ext cx="684550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Plan A's total cost is shown in the table. Plan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20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660392" y="2220468"/>
            <a:ext cx="6845503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When do they cost the same? Solve 30 + 15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10 + 20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660392" y="3094482"/>
            <a:ext cx="6845503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1: Subtract 10 and 15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: ________ = ________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________ months. Cost: $________</a:t>
            </a:r>
            <a:endParaRPr lang="en-US" sz="2250" dirty="0"/>
          </a:p>
        </p:txBody>
      </p:sp>
      <p:sp>
        <p:nvSpPr>
          <p:cNvPr id="18" name="Shape 18"/>
          <p:cNvSpPr txBox="1"/>
          <p:nvPr/>
        </p:nvSpPr>
        <p:spPr>
          <a:xfrm>
            <a:off x="4660392" y="3968496"/>
            <a:ext cx="6845503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Step 2: For 6 months: Plan A = $________, Plan B = $________. Plan ________ costs less.</a:t>
            </a:r>
            <a:endParaRPr lang="en-US" sz="22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13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478756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2416969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886075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3355181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3824287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4293394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76250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009650" y="43754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1009650" y="39100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344467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297931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251394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20485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15832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910040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73533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24" name="Shape 24"/>
          <p:cNvSpPr txBox="1"/>
          <p:nvPr/>
        </p:nvSpPr>
        <p:spPr>
          <a:xfrm>
            <a:off x="1204436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25" name="Shape 25"/>
          <p:cNvSpPr txBox="1"/>
          <p:nvPr/>
        </p:nvSpPr>
        <p:spPr>
          <a:xfrm>
            <a:off x="1673542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6" name="Shape 26"/>
          <p:cNvSpPr txBox="1"/>
          <p:nvPr/>
        </p:nvSpPr>
        <p:spPr>
          <a:xfrm>
            <a:off x="2142649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27" name="Shape 27"/>
          <p:cNvSpPr txBox="1"/>
          <p:nvPr/>
        </p:nvSpPr>
        <p:spPr>
          <a:xfrm>
            <a:off x="2611755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3080861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3549967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4019074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448818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442722" y="42839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442722" y="381860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442722" y="335323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442722" y="288787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442722" y="24225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19571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14917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0" name="Line 40"/>
          <p:cNvCxnSpPr/>
          <p:nvPr/>
        </p:nvCxnSpPr>
        <p:spPr>
          <a:xfrm flipV="1">
            <a:off x="1009650" y="1117854"/>
            <a:ext cx="3440112" cy="2559504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1" name="Shape 41"/>
          <p:cNvSpPr/>
          <p:nvPr/>
        </p:nvSpPr>
        <p:spPr>
          <a:xfrm>
            <a:off x="1895475" y="292692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2" name="Shape 42"/>
          <p:cNvSpPr txBox="1"/>
          <p:nvPr/>
        </p:nvSpPr>
        <p:spPr>
          <a:xfrm>
            <a:off x="2033587" y="273166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(0, 2)</a:t>
            </a:r>
            <a:endParaRPr lang="en-US" sz="1125" dirty="0"/>
          </a:p>
        </p:txBody>
      </p:sp>
      <p:sp>
        <p:nvSpPr>
          <p:cNvPr id="43" name="Shape 43"/>
          <p:cNvSpPr/>
          <p:nvPr/>
        </p:nvSpPr>
        <p:spPr>
          <a:xfrm>
            <a:off x="3771900" y="1530831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4" name="Shape 44"/>
          <p:cNvSpPr txBox="1"/>
          <p:nvPr/>
        </p:nvSpPr>
        <p:spPr>
          <a:xfrm>
            <a:off x="3910012" y="133556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(4, 5)</a:t>
            </a:r>
            <a:endParaRPr lang="en-US" sz="1125" dirty="0"/>
          </a:p>
        </p:txBody>
      </p:sp>
      <p:sp>
        <p:nvSpPr>
          <p:cNvPr id="45" name="Shape 45"/>
          <p:cNvSpPr txBox="1"/>
          <p:nvPr/>
        </p:nvSpPr>
        <p:spPr>
          <a:xfrm>
            <a:off x="685800" y="47564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Function 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p</a:t>
            </a:r>
            <a:endParaRPr lang="en-US" sz="1575" dirty="0"/>
          </a:p>
        </p:txBody>
      </p:sp>
      <p:sp>
        <p:nvSpPr>
          <p:cNvPr id="46" name="Shape 46"/>
          <p:cNvSpPr txBox="1"/>
          <p:nvPr/>
        </p:nvSpPr>
        <p:spPr>
          <a:xfrm>
            <a:off x="6286348" y="1003554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p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has a slope of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0.75. Which function has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greater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rate of change?</a:t>
            </a:r>
            <a:endParaRPr lang="en-US" sz="2250" dirty="0"/>
          </a:p>
        </p:txBody>
      </p:sp>
      <p:sp>
        <p:nvSpPr>
          <p:cNvPr id="47" name="Shape 47"/>
          <p:cNvSpPr txBox="1"/>
          <p:nvPr/>
        </p:nvSpPr>
        <p:spPr>
          <a:xfrm>
            <a:off x="6286348" y="2220468"/>
            <a:ext cx="5219548" cy="64922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Find each slope and compare decimals: which is bigger than 0.75?</a:t>
            </a:r>
            <a:endParaRPr lang="en-US" sz="1650" dirty="0"/>
          </a:p>
        </p:txBody>
      </p:sp>
      <p:sp>
        <p:nvSpPr>
          <p:cNvPr id="48" name="Shape 48"/>
          <p:cNvSpPr txBox="1"/>
          <p:nvPr/>
        </p:nvSpPr>
        <p:spPr>
          <a:xfrm>
            <a:off x="6286348" y="300304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0.6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49" name="Shape 49"/>
          <p:cNvSpPr txBox="1"/>
          <p:nvPr/>
        </p:nvSpPr>
        <p:spPr>
          <a:xfrm>
            <a:off x="6286348" y="353415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8</a:t>
            </a:r>
            <a:endParaRPr lang="en-US" sz="2250" dirty="0"/>
          </a:p>
        </p:txBody>
      </p:sp>
      <p:sp>
        <p:nvSpPr>
          <p:cNvPr id="50" name="Shape 50"/>
          <p:cNvSpPr txBox="1"/>
          <p:nvPr/>
        </p:nvSpPr>
        <p:spPr>
          <a:xfrm>
            <a:off x="6286348" y="406527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endParaRPr lang="en-US" sz="2250" dirty="0"/>
          </a:p>
        </p:txBody>
      </p:sp>
      <p:sp>
        <p:nvSpPr>
          <p:cNvPr id="51" name="Shape 5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52" name="Slide Number 5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14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240-gallon tank drains 12 gallons each minute: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240 − 12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8515876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Range = the outputs, 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) gallons. The most water is 240. The least is 0.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≤ 20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240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≥ 0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are done!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Go back and check each answer.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0230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answer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question?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334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include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explanations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where asked?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45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Raise your hand when you are finished.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Retake · IEP Version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Retake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17</Slides>
  <Notes>17</Notes>
</Properties>
</file>

<file path=docProps/core.xml><?xml version="1.0" encoding="utf-8"?>
<cp:coreProperties xmlns:cp="http://schemas.openxmlformats.org/package/2006/metadata/core-properties" xmlns:dc="http://purl.org/dc/elements/1.1/">
  <dc:title>Topic 2 Retake</dc:title>
  <dc:subject>Bluebonnet Algebra I</dc:subject>
</cp:coreProperties>
</file>