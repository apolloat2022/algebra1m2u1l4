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IEP version of Topic 2 Lesson 3: a modified lesson that keeps the core skills and cuts the number of items. Each skill follows I do (teacher models), We do (together, with sentence frames), You do (student tries, then reveal). Click to reveal each answer. The bell work for every day follows this slide (the same questions as the online bell work); skip to the current day. Apply each student's IEP accommodations too: extended time, read-aloud, breaks, calculator, small group.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Wednesday, October 28.</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1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up: 6 shirts only earns $90.</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or give students a printed copy, while they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each: the product should be −1.</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Wednesday, October 28.</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starts here on Thursday, October 29.</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this up as students walk in (about 5 minutes). The same 4 questions are on the online IEP Day 2 bell work, which shows the same formula under each question and these steps after each answer. Click to reveal one answer at a time; read each step aloud and point to where the formula is used.</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Catch-up from Topic 1 Lesson 6 so the class is ready for the End of Topic 1 Assessment (Lessons 1–6). Keep it to about 15 minutes, then go back to the Topic 2 lesson.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that both forms are the same: distribute 15(t − 3) = 15t − 45. The zero, 3, means she must sell 3 shirts just to break even.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End of the Topic 1 Catch-Up. Continue with the Topic 2 lesson.</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each step; point to the steps slide.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the teacher or assistant: click once for each step. Read the step aloud, and before each click ask the student what to do next. Students check their own paper and fix any mistake in a different color.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students time to try all items before revealing. Students may use the steps slide and their notes. After each answer, click once per step and read it aloud so students can find where their work went wrong.</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ends here on Thursday, October 29.</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hyperlink" Target="https://algebra1m2u1l4.vercel.app/IEP/lesson6-homework-IEP.html" TargetMode="External"/><Relationship Id="rId4" Type="http://schemas.openxmlformats.org/officeDocument/2006/relationships/hyperlink" Target="https://algebra1m2u1l4.vercel.app/IEP/lesson6-quiz-IEP.html"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hyperlink" Target="https://algebra1m2u1l4.vercel.app/IEP/t2-lesson3-bellwork-day1-IEP.html" TargetMode="External"/><Relationship Id="rId4" Type="http://schemas.openxmlformats.org/officeDocument/2006/relationships/hyperlink" Target="https://algebra1m2u1l4.vercel.app/IEP/t2-lesson3-bellwork-day2-IEP.html" TargetMode="External"/><Relationship Id="rId5" Type="http://schemas.openxmlformats.org/officeDocument/2006/relationships/hyperlink" Target="https://algebra1m2u1l4.vercel.app/IEP/t2-lesson3-homework-IEP.html" TargetMode="External"/><Relationship Id="rId6" Type="http://schemas.openxmlformats.org/officeDocument/2006/relationships/hyperlink" Target="https://algebra1m2u1l4.vercel.app/IEP/t2-lesson3-quiz-IEP.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2 · Lesson 3 · IEP Version</a:t>
            </a:r>
            <a:endParaRPr lang="en-US" sz="1200" dirty="0"/>
          </a:p>
        </p:txBody>
      </p:sp>
      <p:sp>
        <p:nvSpPr>
          <p:cNvPr id="3" name="Shape 3"/>
          <p:cNvSpPr txBox="1"/>
          <p:nvPr/>
        </p:nvSpPr>
        <p:spPr>
          <a:xfrm>
            <a:off x="685800" y="961644"/>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b="1">
                <a:solidFill>
                  <a:srgbClr val="16171D"/>
                </a:solidFill>
                <a:latin typeface="Segoe UI"/>
                <a:cs typeface="Segoe UI"/>
              </a:rPr>
              <a:t xml:space="preserve">Slopes of Perpendicular Lines</a:t>
            </a:r>
            <a:endParaRPr lang="en-US" sz="4500" dirty="0"/>
          </a:p>
        </p:txBody>
      </p:sp>
      <p:sp>
        <p:nvSpPr>
          <p:cNvPr id="4" name="Shape 4"/>
          <p:cNvSpPr txBox="1"/>
          <p:nvPr/>
        </p:nvSpPr>
        <p:spPr>
          <a:xfrm>
            <a:off x="685800" y="1873758"/>
            <a:ext cx="108200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Adds a 15-minute Topic 1 Catch-Up (Lessons 5–6) each day · Day 1: Wed, Oct 28 · Day 2: Thu, Oct 29</a:t>
            </a:r>
            <a:endParaRPr lang="en-US" sz="1650" dirty="0"/>
          </a:p>
        </p:txBody>
      </p:sp>
      <p:sp>
        <p:nvSpPr>
          <p:cNvPr id="5" name="Shape 5"/>
          <p:cNvSpPr txBox="1"/>
          <p:nvPr/>
        </p:nvSpPr>
        <p:spPr>
          <a:xfrm>
            <a:off x="685800" y="248107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422" dirty="0" b="1" baseline="-25000">
                <a:solidFill>
                  <a:srgbClr val="C9561F"/>
                </a:solidFill>
                <a:latin typeface="Cambria"/>
                <a:cs typeface="Cambria"/>
              </a:rPr>
              <a:t xml:space="preserve">2</a:t>
            </a:r>
            <a:r>
              <a:rPr lang="en-US" sz="2850" dirty="0">
                <a:solidFill>
                  <a:srgbClr val="16171D"/>
                </a:solidFill>
                <a:latin typeface="Cambria"/>
                <a:cs typeface="Cambria"/>
              </a:rPr>
              <a:t xml:space="preserve"> = −1</a:t>
            </a:r>
            <a:endParaRPr lang="en-US" sz="2850" dirty="0"/>
          </a:p>
        </p:txBody>
      </p:sp>
      <p:sp>
        <p:nvSpPr>
          <p:cNvPr id="6" name="Shape 6"/>
          <p:cNvSpPr txBox="1"/>
          <p:nvPr/>
        </p:nvSpPr>
        <p:spPr>
          <a:xfrm>
            <a:off x="685800" y="3217926"/>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 can…</a:t>
            </a:r>
            <a:endParaRPr lang="en-US" sz="2100" dirty="0"/>
          </a:p>
        </p:txBody>
      </p:sp>
      <p:sp>
        <p:nvSpPr>
          <p:cNvPr id="7" name="Shape 7"/>
          <p:cNvSpPr txBox="1"/>
          <p:nvPr/>
        </p:nvSpPr>
        <p:spPr>
          <a:xfrm>
            <a:off x="685800" y="376428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find the slope of a perpendicular line.</a:t>
            </a:r>
            <a:endParaRPr lang="en-US" sz="1950" dirty="0"/>
          </a:p>
        </p:txBody>
      </p:sp>
      <p:sp>
        <p:nvSpPr>
          <p:cNvPr id="8" name="Shape 8"/>
          <p:cNvSpPr txBox="1"/>
          <p:nvPr/>
        </p:nvSpPr>
        <p:spPr>
          <a:xfrm>
            <a:off x="685800" y="428777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equations of horizontal and vertical lines.</a:t>
            </a:r>
            <a:endParaRPr lang="en-US" sz="1950" dirty="0"/>
          </a:p>
        </p:txBody>
      </p:sp>
      <p:sp>
        <p:nvSpPr>
          <p:cNvPr id="9" name="Shape 9"/>
          <p:cNvSpPr txBox="1"/>
          <p:nvPr/>
        </p:nvSpPr>
        <p:spPr>
          <a:xfrm>
            <a:off x="685800" y="481126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write the equation of a perpendicular line through a point.</a:t>
            </a:r>
            <a:endParaRPr lang="en-US" sz="1950" dirty="0"/>
          </a:p>
        </p:txBody>
      </p:sp>
      <p:sp>
        <p:nvSpPr>
          <p:cNvPr id="10" name="Shape 10"/>
          <p:cNvSpPr txBox="1"/>
          <p:nvPr/>
        </p:nvSpPr>
        <p:spPr>
          <a:xfrm>
            <a:off x="685800" y="539191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11" name="Shape 11"/>
          <p:cNvSpPr txBox="1"/>
          <p:nvPr/>
        </p:nvSpPr>
        <p:spPr>
          <a:xfrm>
            <a:off x="685800" y="6185916"/>
            <a:ext cx="10820095" cy="397764"/>
          </a:xfrm>
          <a:prstGeom prst="rect">
            <a:avLst/>
          </a:prstGeom>
          <a:noFill/>
          <a:ln>
            <a:noFill/>
          </a:ln>
        </p:spPr>
        <p:txBody>
          <a:bodyPr wrap="square" lIns="36576" tIns="27432" rIns="36576" bIns="27432" anchor="t">
            <a:noAutofit/>
          </a:bodyPr>
          <a:lstStyle/>
          <a:p>
            <a:pPr algn="l">
              <a:lnSpc>
                <a:spcPct val="100000"/>
              </a:lnSpc>
            </a:pPr>
            <a:r>
              <a:rPr lang="en-US" sz="1125" dirty="0">
                <a:solidFill>
                  <a:srgbClr val="5F6272"/>
                </a:solidFill>
                <a:latin typeface="Segoe UI"/>
                <a:cs typeface="Segoe UI"/>
              </a:rPr>
              <a:t xml:space="preserve">Based on Bluebonnet Learning Secondary Mathematics, Algebra I (©2024–2025 Texas Education Agency, portions ©2021 Carnegie Learning, Inc.), licensed CC BY-NC 4.0. A private site for Algebra I teachers.</a:t>
            </a:r>
            <a:endParaRPr lang="en-US" sz="11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1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Wednesday, October 28</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(Write, evaluate and solve a function in context) → Lesson 3, Day 1.</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 · Wed, Oct 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What is the reciprocal of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12293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reciprocal: flip the fraction</a:t>
            </a:r>
            <a:endParaRPr lang="en-US" sz="1575" dirty="0"/>
          </a:p>
        </p:txBody>
      </p:sp>
      <p:sp>
        <p:nvSpPr>
          <p:cNvPr id="6" name="Shape 6"/>
          <p:cNvSpPr txBox="1"/>
          <p:nvPr/>
        </p:nvSpPr>
        <p:spPr>
          <a:xfrm>
            <a:off x="895350" y="245592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has 2 on top and 3 on the bottom. Flip them: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379399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96544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Rotate the point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 90° counterclockwise about the origin. Where does it go?</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90° counterclockwise: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a:t>
            </a:r>
            <a:endParaRPr lang="en-US" sz="1575" dirty="0"/>
          </a:p>
        </p:txBody>
      </p:sp>
      <p:sp>
        <p:nvSpPr>
          <p:cNvPr id="10" name="Shape 10"/>
          <p:cNvSpPr txBox="1"/>
          <p:nvPr/>
        </p:nvSpPr>
        <p:spPr>
          <a:xfrm>
            <a:off x="895350" y="4871466"/>
            <a:ext cx="2431835"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 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8</a:t>
            </a:r>
            <a:r>
              <a:rPr lang="en-US" sz="1425" dirty="0">
                <a:solidFill>
                  <a:srgbClr val="16171D"/>
                </a:solidFill>
                <a:latin typeface="Segoe UI"/>
                <a:cs typeface="Segoe UI"/>
              </a:rPr>
              <a:t xml:space="preserve"> and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(−5, 8)</a:t>
            </a:r>
            <a:r>
              <a:rPr lang="en-US" sz="1425" dirty="0">
                <a:solidFill>
                  <a:srgbClr val="16171D"/>
                </a:solidFill>
                <a:latin typeface="Segoe UI"/>
                <a:cs typeface="Segoe UI"/>
              </a:rPr>
              <a:t xml:space="preserve">.</a:t>
            </a:r>
            <a:endParaRPr lang="en-US" sz="1425" dirty="0"/>
          </a:p>
        </p:txBody>
      </p:sp>
      <p:sp>
        <p:nvSpPr>
          <p:cNvPr id="15" name="Shape 15"/>
          <p:cNvSpPr txBox="1"/>
          <p:nvPr/>
        </p:nvSpPr>
        <p:spPr>
          <a:xfrm>
            <a:off x="6210148"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What is the slope of the segment from </a:t>
            </a:r>
            <a:r>
              <a:rPr lang="en-US" sz="1575" dirty="0">
                <a:solidFill>
                  <a:srgbClr val="16171D"/>
                </a:solidFill>
                <a:latin typeface="Cambria"/>
                <a:cs typeface="Cambria"/>
              </a:rPr>
              <a:t xml:space="preserve">(0, 0)</a:t>
            </a:r>
            <a:r>
              <a:rPr lang="en-US" sz="1575" dirty="0">
                <a:solidFill>
                  <a:srgbClr val="16171D"/>
                </a:solidFill>
                <a:latin typeface="Segoe UI"/>
                <a:cs typeface="Segoe UI"/>
              </a:rPr>
              <a:t xml:space="preserve"> to </a:t>
            </a:r>
            <a:r>
              <a:rPr lang="en-US" sz="1575" dirty="0">
                <a:solidFill>
                  <a:srgbClr val="16171D"/>
                </a:solidFill>
                <a:latin typeface="Cambria"/>
                <a:cs typeface="Cambria"/>
              </a:rPr>
              <a:t xml:space="preserve">(8, 5)</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4" name="Shape 14"/>
          <p:cNvSpPr txBox="1"/>
          <p:nvPr/>
        </p:nvSpPr>
        <p:spPr>
          <a:xfrm>
            <a:off x="6419698" y="2695956"/>
            <a:ext cx="386841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5/8</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5 − 0 = 5</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8 − 0 = 8</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5 ÷ 8 = 5/8</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4034028"/>
            <a:ext cx="5295748" cy="271653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420547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A line passes through the points </a:t>
            </a:r>
            <a:r>
              <a:rPr lang="en-US" sz="1575" dirty="0">
                <a:solidFill>
                  <a:srgbClr val="16171D"/>
                </a:solidFill>
                <a:latin typeface="Cambria"/>
                <a:cs typeface="Cambria"/>
              </a:rPr>
              <a:t xml:space="preserve">(−1, 4)</a:t>
            </a:r>
            <a:r>
              <a:rPr lang="en-US" sz="1575" dirty="0">
                <a:solidFill>
                  <a:srgbClr val="16171D"/>
                </a:solidFill>
                <a:latin typeface="Segoe UI"/>
                <a:cs typeface="Segoe UI"/>
              </a:rPr>
              <a:t xml:space="preserve"> and </a:t>
            </a:r>
            <a:r>
              <a:rPr lang="en-US" sz="1575" dirty="0">
                <a:solidFill>
                  <a:srgbClr val="16171D"/>
                </a:solidFill>
                <a:latin typeface="Cambria"/>
                <a:cs typeface="Cambria"/>
              </a:rPr>
              <a:t xml:space="preserve">(2, −2)</a:t>
            </a:r>
            <a:r>
              <a:rPr lang="en-US" sz="1575" dirty="0">
                <a:solidFill>
                  <a:srgbClr val="16171D"/>
                </a:solidFill>
                <a:latin typeface="Segoe UI"/>
                <a:cs typeface="Segoe UI"/>
              </a:rPr>
              <a:t xml:space="preserve">. What is the slope of the line?</a:t>
            </a:r>
            <a:endParaRPr lang="en-US" sz="1575" dirty="0"/>
          </a:p>
        </p:txBody>
      </p:sp>
      <p:sp>
        <p:nvSpPr>
          <p:cNvPr id="17" name="Shape 17"/>
          <p:cNvSpPr txBox="1"/>
          <p:nvPr/>
        </p:nvSpPr>
        <p:spPr>
          <a:xfrm>
            <a:off x="6419698" y="477850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m</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₁)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₂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₁)</a:t>
            </a:r>
            <a:endParaRPr lang="en-US" sz="1575" dirty="0"/>
          </a:p>
        </p:txBody>
      </p:sp>
      <p:sp>
        <p:nvSpPr>
          <p:cNvPr id="18" name="Shape 18"/>
          <p:cNvSpPr txBox="1"/>
          <p:nvPr/>
        </p:nvSpPr>
        <p:spPr>
          <a:xfrm>
            <a:off x="6419698" y="5111496"/>
            <a:ext cx="4876648" cy="146761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Label the points: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₁,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₁) = (−1, 4)</a:t>
            </a:r>
            <a:r>
              <a:rPr lang="en-US" sz="1425" dirty="0">
                <a:solidFill>
                  <a:srgbClr val="16171D"/>
                </a:solidFill>
                <a:latin typeface="Segoe UI"/>
                <a:cs typeface="Segoe UI"/>
              </a:rPr>
              <a:t xml:space="preserve"> and </a:t>
            </a:r>
            <a:r>
              <a:rPr lang="en-US" sz="1425" dirty="0">
                <a:solidFill>
                  <a:srgbClr val="16171D"/>
                </a:solidFill>
                <a:latin typeface="Cambria"/>
                <a:cs typeface="Cambria"/>
              </a:rPr>
              <a:t xml:space="preserve">(</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₂,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₂) = (2, −2)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y</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−2 − 4 = −6</a:t>
            </a:r>
            <a:r>
              <a:rPr lang="en-US" sz="1425" dirty="0">
                <a:solidFill>
                  <a:srgbClr val="16171D"/>
                </a:solidFill>
                <a:latin typeface="Segoe UI"/>
                <a:cs typeface="Segoe UI"/>
              </a:rPr>
              <a:t xml:space="preserve">. Subtract the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-values: </a:t>
            </a:r>
            <a:r>
              <a:rPr lang="en-US" sz="1425" dirty="0">
                <a:solidFill>
                  <a:srgbClr val="16171D"/>
                </a:solidFill>
                <a:latin typeface="Cambria"/>
                <a:cs typeface="Cambria"/>
              </a:rPr>
              <a:t xml:space="preserve">2 − (−1) = 3</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Divide: </a:t>
            </a:r>
            <a:r>
              <a:rPr lang="en-US" sz="1425" dirty="0">
                <a:solidFill>
                  <a:srgbClr val="16171D"/>
                </a:solidFill>
                <a:latin typeface="Cambria"/>
                <a:cs typeface="Cambria"/>
              </a:rPr>
              <a:t xml:space="preserve">−6 ÷ 3 = −2</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Wed, Oct 28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Write, evaluate and solve a function in context</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Lesson 3 evaluates slopes and points; this practices using function notation in a story.</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You do · Try it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Nakota sells pretzels</a:t>
            </a:r>
            <a:endParaRPr lang="en-US" sz="3450" dirty="0"/>
          </a:p>
        </p:txBody>
      </p:sp>
      <p:sp>
        <p:nvSpPr>
          <p:cNvPr id="4" name="Shape 4"/>
          <p:cNvSpPr txBox="1"/>
          <p:nvPr/>
        </p:nvSpPr>
        <p:spPr>
          <a:xfrm>
            <a:off x="685800" y="1618488"/>
            <a:ext cx="157886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Pretzels</a:t>
            </a:r>
            <a:endParaRPr lang="en-US" sz="1950" dirty="0"/>
          </a:p>
        </p:txBody>
      </p:sp>
      <p:sp>
        <p:nvSpPr>
          <p:cNvPr id="5" name="Shape 5"/>
          <p:cNvSpPr txBox="1"/>
          <p:nvPr/>
        </p:nvSpPr>
        <p:spPr>
          <a:xfrm>
            <a:off x="2264664" y="1618488"/>
            <a:ext cx="1707642"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Money ($)</a:t>
            </a:r>
            <a:endParaRPr lang="en-US" sz="1950" dirty="0"/>
          </a:p>
        </p:txBody>
      </p:sp>
      <p:sp>
        <p:nvSpPr>
          <p:cNvPr id="6" name="Shape 6"/>
          <p:cNvSpPr txBox="1"/>
          <p:nvPr/>
        </p:nvSpPr>
        <p:spPr>
          <a:xfrm>
            <a:off x="685800" y="2061972"/>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7" name="Shape 7"/>
          <p:cNvSpPr txBox="1"/>
          <p:nvPr/>
        </p:nvSpPr>
        <p:spPr>
          <a:xfrm>
            <a:off x="2264664" y="2061972"/>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a:t>
            </a:r>
            <a:endParaRPr lang="en-US" sz="1950" dirty="0"/>
          </a:p>
        </p:txBody>
      </p:sp>
      <p:sp>
        <p:nvSpPr>
          <p:cNvPr id="8" name="Shape 8"/>
          <p:cNvSpPr txBox="1"/>
          <p:nvPr/>
        </p:nvSpPr>
        <p:spPr>
          <a:xfrm>
            <a:off x="685800" y="2505456"/>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endParaRPr lang="en-US" sz="1950" dirty="0"/>
          </a:p>
        </p:txBody>
      </p:sp>
      <p:sp>
        <p:nvSpPr>
          <p:cNvPr id="9" name="Shape 9"/>
          <p:cNvSpPr txBox="1"/>
          <p:nvPr/>
        </p:nvSpPr>
        <p:spPr>
          <a:xfrm>
            <a:off x="2264664" y="2505456"/>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endParaRPr lang="en-US" sz="1950" dirty="0"/>
          </a:p>
        </p:txBody>
      </p:sp>
      <p:sp>
        <p:nvSpPr>
          <p:cNvPr id="10" name="Shape 10"/>
          <p:cNvSpPr txBox="1"/>
          <p:nvPr/>
        </p:nvSpPr>
        <p:spPr>
          <a:xfrm>
            <a:off x="685800" y="2948940"/>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4</a:t>
            </a:r>
            <a:endParaRPr lang="en-US" sz="1950" dirty="0"/>
          </a:p>
        </p:txBody>
      </p:sp>
      <p:sp>
        <p:nvSpPr>
          <p:cNvPr id="11" name="Shape 11"/>
          <p:cNvSpPr txBox="1"/>
          <p:nvPr/>
        </p:nvSpPr>
        <p:spPr>
          <a:xfrm>
            <a:off x="2264664" y="2948940"/>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10</a:t>
            </a:r>
            <a:endParaRPr lang="en-US" sz="1950" dirty="0"/>
          </a:p>
        </p:txBody>
      </p:sp>
      <p:sp>
        <p:nvSpPr>
          <p:cNvPr id="12" name="Shape 12"/>
          <p:cNvSpPr txBox="1"/>
          <p:nvPr/>
        </p:nvSpPr>
        <p:spPr>
          <a:xfrm>
            <a:off x="685800" y="3392424"/>
            <a:ext cx="157886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6</a:t>
            </a:r>
            <a:endParaRPr lang="en-US" sz="1950" dirty="0"/>
          </a:p>
        </p:txBody>
      </p:sp>
      <p:sp>
        <p:nvSpPr>
          <p:cNvPr id="13" name="Shape 13"/>
          <p:cNvSpPr txBox="1"/>
          <p:nvPr/>
        </p:nvSpPr>
        <p:spPr>
          <a:xfrm>
            <a:off x="2264664" y="3392424"/>
            <a:ext cx="1707642"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15</a:t>
            </a:r>
            <a:endParaRPr lang="en-US" sz="1950" dirty="0"/>
          </a:p>
        </p:txBody>
      </p:sp>
      <p:sp>
        <p:nvSpPr>
          <p:cNvPr id="14" name="Shape 14"/>
          <p:cNvSpPr txBox="1"/>
          <p:nvPr/>
        </p:nvSpPr>
        <p:spPr>
          <a:xfrm>
            <a:off x="6286348"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Rate: </a:t>
            </a:r>
            <a:r>
              <a:rPr lang="en-US" sz="1950" dirty="0">
                <a:solidFill>
                  <a:srgbClr val="16171D"/>
                </a:solidFill>
                <a:latin typeface="Segoe UI"/>
                <a:cs typeface="Segoe UI"/>
              </a:rPr>
              <a:t xml:space="preserve">5</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 = ____ dollars per pretzel</a:t>
            </a:r>
            <a:endParaRPr lang="en-US" sz="1950" dirty="0"/>
          </a:p>
        </p:txBody>
      </p:sp>
      <p:sp>
        <p:nvSpPr>
          <p:cNvPr id="15" name="Shape 15"/>
          <p:cNvSpPr txBox="1"/>
          <p:nvPr/>
        </p:nvSpPr>
        <p:spPr>
          <a:xfrm>
            <a:off x="6286348" y="210388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16" name="Shape 16"/>
          <p:cNvSpPr txBox="1"/>
          <p:nvPr/>
        </p:nvSpPr>
        <p:spPr>
          <a:xfrm>
            <a:off x="6286348"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function: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r>
              <a:rPr lang="en-US" sz="1950" dirty="0" i="1">
                <a:solidFill>
                  <a:srgbClr val="16171D"/>
                </a:solidFill>
                <a:latin typeface="Segoe UI"/>
                <a:cs typeface="Segoe UI"/>
              </a:rPr>
              <a:t xml:space="preserve">x</a:t>
            </a:r>
            <a:endParaRPr lang="en-US" sz="1950" dirty="0"/>
          </a:p>
        </p:txBody>
      </p:sp>
      <p:sp>
        <p:nvSpPr>
          <p:cNvPr id="17" name="Shape 17"/>
          <p:cNvSpPr txBox="1"/>
          <p:nvPr/>
        </p:nvSpPr>
        <p:spPr>
          <a:xfrm>
            <a:off x="6286348" y="324154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2.5</a:t>
            </a:r>
            <a:r>
              <a:rPr lang="en-US" sz="2325" dirty="0" i="1">
                <a:solidFill>
                  <a:srgbClr val="16171D"/>
                </a:solidFill>
                <a:latin typeface="Cambria"/>
                <a:cs typeface="Cambria"/>
              </a:rPr>
              <a:t xml:space="preserve">x</a:t>
            </a:r>
            <a:endParaRPr lang="en-US" sz="2325" dirty="0"/>
          </a:p>
        </p:txBody>
      </p:sp>
      <p:sp>
        <p:nvSpPr>
          <p:cNvPr id="18" name="Shape 18"/>
          <p:cNvSpPr txBox="1"/>
          <p:nvPr/>
        </p:nvSpPr>
        <p:spPr>
          <a:xfrm>
            <a:off x="6286348" y="3893820"/>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Money for 10 pretzels: ____</a:t>
            </a:r>
            <a:endParaRPr lang="en-US" sz="1950" dirty="0"/>
          </a:p>
        </p:txBody>
      </p:sp>
      <p:sp>
        <p:nvSpPr>
          <p:cNvPr id="19" name="Shape 19"/>
          <p:cNvSpPr txBox="1"/>
          <p:nvPr/>
        </p:nvSpPr>
        <p:spPr>
          <a:xfrm>
            <a:off x="6286348" y="437921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$25</a:t>
            </a:r>
            <a:endParaRPr lang="en-US" sz="23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5"/>
                                        </p:tgtEl>
                                        <p:attrNameLst>
                                          <p:attrName>style.visibility</p:attrName>
                                        </p:attrNameLst>
                                      </p:cBhvr>
                                      <p:to>
                                        <p:strVal val="visible"/>
                                      </p:to>
                                    </p:set>
                                    <p:animEffect transition="in" filter="fade">
                                      <p:cBhvr>
                                        <p:cTn id="4" dur="500"/>
                                        <p:tgtEl>
                                          <p:spTgt spid="15"/>
                                        </p:tgtEl>
                                      </p:cBhvr>
                                    </p:animEffect>
                                    <p:anim calcmode="lin" valueType="num">
                                      <p:cBhvr>
                                        <p:cTn id="5" dur="500" fill="hold"/>
                                        <p:tgtEl>
                                          <p:spTgt spid="15"/>
                                        </p:tgtEl>
                                        <p:attrNameLst>
                                          <p:attrName>ppt_w</p:attrName>
                                        </p:attrNameLst>
                                      </p:cBhvr>
                                      <p:tavLst>
                                        <p:tav tm="0">
                                          <p:val>
                                            <p:fltVal val="0"/>
                                          </p:val>
                                        </p:tav>
                                        <p:tav tm="100000">
                                          <p:val>
                                            <p:strVal val="#ppt_w"/>
                                          </p:val>
                                        </p:tav>
                                      </p:tavLst>
                                    </p:anim>
                                    <p:anim calcmode="lin" valueType="num">
                                      <p:cBhvr>
                                        <p:cTn id="6"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fade">
                                      <p:cBhvr>
                                        <p:cTn id="11" dur="500"/>
                                        <p:tgtEl>
                                          <p:spTgt spid="17"/>
                                        </p:tgtEl>
                                      </p:cBhvr>
                                    </p:animEffect>
                                    <p:anim calcmode="lin" valueType="num">
                                      <p:cBhvr>
                                        <p:cTn id="12" dur="500" fill="hold"/>
                                        <p:tgtEl>
                                          <p:spTgt spid="17"/>
                                        </p:tgtEl>
                                        <p:attrNameLst>
                                          <p:attrName>ppt_w</p:attrName>
                                        </p:attrNameLst>
                                      </p:cBhvr>
                                      <p:tavLst>
                                        <p:tav tm="0">
                                          <p:val>
                                            <p:fltVal val="0"/>
                                          </p:val>
                                        </p:tav>
                                        <p:tav tm="100000">
                                          <p:val>
                                            <p:strVal val="#ppt_w"/>
                                          </p:val>
                                        </p:tav>
                                      </p:tavLst>
                                    </p:anim>
                                    <p:anim calcmode="lin" valueType="num">
                                      <p:cBhvr>
                                        <p:cTn id="13"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9"/>
                                        </p:tgtEl>
                                        <p:attrNameLst>
                                          <p:attrName>style.visibility</p:attrName>
                                        </p:attrNameLst>
                                      </p:cBhvr>
                                      <p:to>
                                        <p:strVal val="visible"/>
                                      </p:to>
                                    </p:set>
                                    <p:animEffect transition="in" filter="fade">
                                      <p:cBhvr>
                                        <p:cTn id="18" dur="500"/>
                                        <p:tgtEl>
                                          <p:spTgt spid="19"/>
                                        </p:tgtEl>
                                      </p:cBhvr>
                                    </p:animEffect>
                                    <p:anim calcmode="lin" valueType="num">
                                      <p:cBhvr>
                                        <p:cTn id="19" dur="500" fill="hold"/>
                                        <p:tgtEl>
                                          <p:spTgt spid="19"/>
                                        </p:tgtEl>
                                        <p:attrNameLst>
                                          <p:attrName>ppt_w</p:attrName>
                                        </p:attrNameLst>
                                      </p:cBhvr>
                                      <p:tavLst>
                                        <p:tav tm="0">
                                          <p:val>
                                            <p:fltVal val="0"/>
                                          </p:val>
                                        </p:tav>
                                        <p:tav tm="100000">
                                          <p:val>
                                            <p:strVal val="#ppt_w"/>
                                          </p:val>
                                        </p:tav>
                                      </p:tavLst>
                                    </p:anim>
                                    <p:anim calcmode="lin" valueType="num">
                                      <p:cBhvr>
                                        <p:cTn id="20" dur="500" fill="hold"/>
                                        <p:tgtEl>
                                          <p:spTgt spid="1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I do · Meaning in a story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sells T-shirts for $15 each</a:t>
            </a:r>
            <a:endParaRPr lang="en-US" sz="3450" dirty="0"/>
          </a:p>
        </p:txBody>
      </p:sp>
      <p:sp>
        <p:nvSpPr>
          <p:cNvPr id="4" name="Shape 4"/>
          <p:cNvSpPr txBox="1"/>
          <p:nvPr/>
        </p:nvSpPr>
        <p:spPr>
          <a:xfrm>
            <a:off x="685800" y="1618488"/>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t</a:t>
            </a:r>
            <a:r>
              <a:rPr lang="en-US" sz="2850" dirty="0">
                <a:solidFill>
                  <a:srgbClr val="16171D"/>
                </a:solidFill>
                <a:latin typeface="Cambria"/>
                <a:cs typeface="Cambria"/>
              </a:rPr>
              <a:t xml:space="preserve">) = 15</a:t>
            </a:r>
            <a:r>
              <a:rPr lang="en-US" sz="2850" dirty="0" i="1">
                <a:solidFill>
                  <a:srgbClr val="16171D"/>
                </a:solidFill>
                <a:latin typeface="Cambria"/>
                <a:cs typeface="Cambria"/>
              </a:rPr>
              <a:t xml:space="preserve">t</a:t>
            </a:r>
            <a:endParaRPr lang="en-US" sz="2850" dirty="0"/>
          </a:p>
        </p:txBody>
      </p:sp>
      <p:sp>
        <p:nvSpPr>
          <p:cNvPr id="5" name="Shape 5"/>
          <p:cNvSpPr txBox="1"/>
          <p:nvPr/>
        </p:nvSpPr>
        <p:spPr>
          <a:xfrm>
            <a:off x="685800" y="227914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15</a:t>
            </a:r>
            <a:r>
              <a:rPr lang="en-US" sz="1950" dirty="0">
                <a:solidFill>
                  <a:srgbClr val="16171D"/>
                </a:solidFill>
                <a:latin typeface="Segoe UI"/>
                <a:cs typeface="Segoe UI"/>
              </a:rPr>
              <a:t xml:space="preserve"> means: she earns $15 for each shirt (the slope).</a:t>
            </a:r>
            <a:endParaRPr lang="en-US" sz="1950" dirty="0"/>
          </a:p>
        </p:txBody>
      </p:sp>
      <p:sp>
        <p:nvSpPr>
          <p:cNvPr id="6" name="Shape 6"/>
          <p:cNvSpPr txBox="1"/>
          <p:nvPr/>
        </p:nvSpPr>
        <p:spPr>
          <a:xfrm>
            <a:off x="685800" y="280263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How many shirts to earn $100? 100 = 15</a:t>
            </a:r>
            <a:r>
              <a:rPr lang="en-US" sz="1950" dirty="0" i="1">
                <a:solidFill>
                  <a:srgbClr val="16171D"/>
                </a:solidFill>
                <a:latin typeface="Segoe UI"/>
                <a:cs typeface="Segoe UI"/>
              </a:rPr>
              <a:t xml:space="preserve">t</a:t>
            </a:r>
            <a:endParaRPr lang="en-US" sz="1950" dirty="0"/>
          </a:p>
        </p:txBody>
      </p:sp>
      <p:sp>
        <p:nvSpPr>
          <p:cNvPr id="7" name="Shape 7"/>
          <p:cNvSpPr txBox="1"/>
          <p:nvPr/>
        </p:nvSpPr>
        <p:spPr>
          <a:xfrm>
            <a:off x="685800" y="3326130"/>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100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15</a:t>
            </a:r>
            <a:r>
              <a:rPr lang="en-US" sz="2325" dirty="0">
                <a:solidFill>
                  <a:srgbClr val="16171D"/>
                </a:solidFill>
                <a:latin typeface="Cambria"/>
                <a:cs typeface="Cambria"/>
              </a:rPr>
              <a:t xml:space="preserve"> ≈ 6.67</a:t>
            </a:r>
            <a:endParaRPr lang="en-US" sz="2325" dirty="0"/>
          </a:p>
        </p:txBody>
      </p:sp>
      <p:sp>
        <p:nvSpPr>
          <p:cNvPr id="8" name="Shape 8"/>
          <p:cNvSpPr txBox="1"/>
          <p:nvPr/>
        </p:nvSpPr>
        <p:spPr>
          <a:xfrm>
            <a:off x="685800" y="401650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She can't sell part of a shirt, so she must sell ____ shirts.</a:t>
            </a:r>
            <a:endParaRPr lang="en-US" sz="1950" dirty="0"/>
          </a:p>
        </p:txBody>
      </p:sp>
      <p:sp>
        <p:nvSpPr>
          <p:cNvPr id="9" name="Shape 9"/>
          <p:cNvSpPr txBox="1"/>
          <p:nvPr/>
        </p:nvSpPr>
        <p:spPr>
          <a:xfrm>
            <a:off x="685800" y="4539996"/>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7 shirts</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ppt_w</p:attrName>
                                        </p:attrNameLst>
                                      </p:cBhvr>
                                      <p:tavLst>
                                        <p:tav tm="0">
                                          <p:val>
                                            <p:fltVal val="0"/>
                                          </p:val>
                                        </p:tav>
                                        <p:tav tm="100000">
                                          <p:val>
                                            <p:strVal val="#ppt_w"/>
                                          </p:val>
                                        </p:tav>
                                      </p:tavLst>
                                    </p:anim>
                                    <p:anim calcmode="lin" valueType="num">
                                      <p:cBhvr>
                                        <p:cTn id="13"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Words we need</a:t>
            </a:r>
            <a:endParaRPr lang="en-US" sz="3450" dirty="0"/>
          </a:p>
        </p:txBody>
      </p:sp>
      <p:sp>
        <p:nvSpPr>
          <p:cNvPr id="7" name="Shape 7"/>
          <p:cNvSpPr txBox="1"/>
          <p:nvPr/>
        </p:nvSpPr>
        <p:spPr>
          <a:xfrm>
            <a:off x="685800"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Perpendicular</a:t>
            </a:r>
            <a:endParaRPr lang="en-US" sz="2100" dirty="0"/>
          </a:p>
        </p:txBody>
      </p:sp>
      <p:sp>
        <p:nvSpPr>
          <p:cNvPr id="5" name="Shape 5"/>
          <p:cNvSpPr txBox="1"/>
          <p:nvPr/>
        </p:nvSpPr>
        <p:spPr>
          <a:xfrm>
            <a:off x="895350"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Lines that make a square corner (90°).</a:t>
            </a:r>
            <a:endParaRPr lang="en-US" sz="1575" dirty="0"/>
          </a:p>
        </p:txBody>
      </p:sp>
      <p:sp>
        <p:nvSpPr>
          <p:cNvPr id="6" name="Shape 6"/>
          <p:cNvSpPr txBox="1"/>
          <p:nvPr/>
        </p:nvSpPr>
        <p:spPr>
          <a:xfrm>
            <a:off x="895350"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4349648"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Negative reciprocal</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the fraction and change the sign.</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5" name="Shape 15"/>
          <p:cNvSpPr txBox="1"/>
          <p:nvPr/>
        </p:nvSpPr>
        <p:spPr>
          <a:xfrm>
            <a:off x="8013497" y="1618488"/>
            <a:ext cx="34923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 vertical</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number (slope 0)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number (undefined).</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Lesson 3 · Steps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to write a perpendicular line</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Find the slope of the given line.</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Flip it and change the sign. That is the new slope.</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Use the point: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m</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Get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alone.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Watch me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Perpendicular slopes</a:t>
            </a:r>
            <a:endParaRPr lang="en-US" sz="3450" dirty="0"/>
          </a:p>
        </p:txBody>
      </p:sp>
      <p:sp>
        <p:nvSpPr>
          <p:cNvPr id="7" name="Shape 7"/>
          <p:cNvSpPr txBox="1"/>
          <p:nvPr/>
        </p:nvSpPr>
        <p:spPr>
          <a:xfrm>
            <a:off x="685800"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endParaRPr lang="en-US" sz="2100" dirty="0"/>
          </a:p>
        </p:txBody>
      </p:sp>
      <p:sp>
        <p:nvSpPr>
          <p:cNvPr id="5" name="Shape 5"/>
          <p:cNvSpPr txBox="1"/>
          <p:nvPr/>
        </p:nvSpPr>
        <p:spPr>
          <a:xfrm>
            <a:off x="895350"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Flip: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Change sign:</a:t>
            </a:r>
            <a:endParaRPr lang="en-US" sz="1575" dirty="0"/>
          </a:p>
        </p:txBody>
      </p:sp>
      <p:sp>
        <p:nvSpPr>
          <p:cNvPr id="6" name="Shape 6"/>
          <p:cNvSpPr txBox="1"/>
          <p:nvPr/>
        </p:nvSpPr>
        <p:spPr>
          <a:xfrm>
            <a:off x="895350" y="2650236"/>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1" name="Shape 11"/>
          <p:cNvSpPr txBox="1"/>
          <p:nvPr/>
        </p:nvSpPr>
        <p:spPr>
          <a:xfrm>
            <a:off x="6286348" y="1618488"/>
            <a:ext cx="5219548" cy="17221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6495898"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a:t>
            </a:r>
            <a:endParaRPr lang="en-US" sz="2100" dirty="0"/>
          </a:p>
        </p:txBody>
      </p:sp>
      <p:sp>
        <p:nvSpPr>
          <p:cNvPr id="9" name="Shape 9"/>
          <p:cNvSpPr txBox="1"/>
          <p:nvPr/>
        </p:nvSpPr>
        <p:spPr>
          <a:xfrm>
            <a:off x="6495898" y="2260092"/>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Change sign:</a:t>
            </a:r>
            <a:endParaRPr lang="en-US" sz="1575" dirty="0"/>
          </a:p>
        </p:txBody>
      </p:sp>
      <p:sp>
        <p:nvSpPr>
          <p:cNvPr id="10" name="Shape 10"/>
          <p:cNvSpPr txBox="1"/>
          <p:nvPr/>
        </p:nvSpPr>
        <p:spPr>
          <a:xfrm>
            <a:off x="6495898" y="2650236"/>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6" name="Shape 6"/>
          <p:cNvSpPr txBox="1"/>
          <p:nvPr/>
        </p:nvSpPr>
        <p:spPr>
          <a:xfrm>
            <a:off x="685800"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1. 4</a:t>
            </a:r>
            <a:endParaRPr lang="en-US" sz="1950" dirty="0"/>
          </a:p>
        </p:txBody>
      </p:sp>
      <p:sp>
        <p:nvSpPr>
          <p:cNvPr id="5" name="Shape 5"/>
          <p:cNvSpPr txBox="1"/>
          <p:nvPr/>
        </p:nvSpPr>
        <p:spPr>
          <a:xfrm>
            <a:off x="895350" y="223723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9" name="Shape 9"/>
          <p:cNvSpPr txBox="1"/>
          <p:nvPr/>
        </p:nvSpPr>
        <p:spPr>
          <a:xfrm>
            <a:off x="4419498"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629048"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5</a:t>
            </a:r>
            <a:endParaRPr lang="en-US" sz="1950" dirty="0"/>
          </a:p>
        </p:txBody>
      </p:sp>
      <p:sp>
        <p:nvSpPr>
          <p:cNvPr id="8" name="Shape 8"/>
          <p:cNvSpPr txBox="1"/>
          <p:nvPr/>
        </p:nvSpPr>
        <p:spPr>
          <a:xfrm>
            <a:off x="4629048" y="2237232"/>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2" name="Shape 12"/>
          <p:cNvSpPr txBox="1"/>
          <p:nvPr/>
        </p:nvSpPr>
        <p:spPr>
          <a:xfrm>
            <a:off x="8153197" y="1618488"/>
            <a:ext cx="3352698" cy="130911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362747" y="1789938"/>
            <a:ext cx="29335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endParaRPr lang="en-US" sz="1950" dirty="0"/>
          </a:p>
        </p:txBody>
      </p:sp>
      <p:sp>
        <p:nvSpPr>
          <p:cNvPr id="11" name="Shape 11"/>
          <p:cNvSpPr txBox="1"/>
          <p:nvPr/>
        </p:nvSpPr>
        <p:spPr>
          <a:xfrm>
            <a:off x="8362747" y="2237232"/>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13" name="Slide Number 1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ppt_w</p:attrName>
                                        </p:attrNameLst>
                                      </p:cBhvr>
                                      <p:tavLst>
                                        <p:tav tm="0">
                                          <p:val>
                                            <p:fltVal val="0"/>
                                          </p:val>
                                        </p:tav>
                                        <p:tav tm="100000">
                                          <p:val>
                                            <p:strVal val="#ppt_w"/>
                                          </p:val>
                                        </p:tav>
                                      </p:tavLst>
                                    </p:anim>
                                    <p:anim calcmode="lin" valueType="num">
                                      <p:cBhvr>
                                        <p:cTn id="20"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perpendicular slope</a:t>
            </a:r>
            <a:endParaRPr lang="en-US" sz="3450" dirty="0"/>
          </a:p>
        </p:txBody>
      </p:sp>
      <p:sp>
        <p:nvSpPr>
          <p:cNvPr id="10" name="Shape 10"/>
          <p:cNvSpPr txBox="1"/>
          <p:nvPr/>
        </p:nvSpPr>
        <p:spPr>
          <a:xfrm>
            <a:off x="685800" y="1618488"/>
            <a:ext cx="3454298" cy="361264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1. 4</a:t>
            </a:r>
            <a:endParaRPr lang="en-US" sz="2100" dirty="0"/>
          </a:p>
        </p:txBody>
      </p:sp>
      <p:sp>
        <p:nvSpPr>
          <p:cNvPr id="5" name="Shape 5"/>
          <p:cNvSpPr txBox="1"/>
          <p:nvPr/>
        </p:nvSpPr>
        <p:spPr>
          <a:xfrm>
            <a:off x="895350" y="2260092"/>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Write it as a fraction: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289026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Change the sign: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895350" y="3910584"/>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Check: 4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9" name="Shape 9"/>
          <p:cNvSpPr txBox="1"/>
          <p:nvPr/>
        </p:nvSpPr>
        <p:spPr>
          <a:xfrm>
            <a:off x="895350" y="4540758"/>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16" name="Shape 16"/>
          <p:cNvSpPr txBox="1"/>
          <p:nvPr/>
        </p:nvSpPr>
        <p:spPr>
          <a:xfrm>
            <a:off x="4368698" y="1618488"/>
            <a:ext cx="3454298" cy="29824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4578248"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a:t>
            </a:r>
            <a:r>
              <a:rPr lang="en-US" sz="2100" dirty="0" b="1">
                <a:solidFill>
                  <a:srgbClr val="16171D"/>
                </a:solidFill>
                <a:latin typeface="Segoe UI"/>
                <a:cs typeface="Segoe UI"/>
              </a:rPr>
              <a:t xml:space="preserve">4</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5</a:t>
            </a:r>
            <a:endParaRPr lang="en-US" sz="2100" dirty="0"/>
          </a:p>
        </p:txBody>
      </p:sp>
      <p:sp>
        <p:nvSpPr>
          <p:cNvPr id="12" name="Shape 12"/>
          <p:cNvSpPr txBox="1"/>
          <p:nvPr/>
        </p:nvSpPr>
        <p:spPr>
          <a:xfrm>
            <a:off x="4578248"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4578248" y="2650236"/>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 becomes +, so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4578248" y="328041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4</a:t>
            </a:r>
            <a:r>
              <a:rPr lang="en-US" sz="1575" dirty="0">
                <a:solidFill>
                  <a:srgbClr val="16171D"/>
                </a:solidFill>
                <a:latin typeface="Segoe UI"/>
                <a:cs typeface="Segoe UI"/>
              </a:rPr>
              <a:t xml:space="preserve"> = −1 ✓</a:t>
            </a:r>
            <a:endParaRPr lang="en-US" sz="1575" dirty="0"/>
          </a:p>
        </p:txBody>
      </p:sp>
      <p:sp>
        <p:nvSpPr>
          <p:cNvPr id="15" name="Shape 15"/>
          <p:cNvSpPr txBox="1"/>
          <p:nvPr/>
        </p:nvSpPr>
        <p:spPr>
          <a:xfrm>
            <a:off x="4578248" y="3910584"/>
            <a:ext cx="241054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22" name="Shape 22"/>
          <p:cNvSpPr txBox="1"/>
          <p:nvPr/>
        </p:nvSpPr>
        <p:spPr>
          <a:xfrm>
            <a:off x="8051597" y="1618488"/>
            <a:ext cx="3454298" cy="27424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7" name="Shape 17"/>
          <p:cNvSpPr txBox="1"/>
          <p:nvPr/>
        </p:nvSpPr>
        <p:spPr>
          <a:xfrm>
            <a:off x="8261147" y="1789938"/>
            <a:ext cx="30351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a:t>
            </a:r>
            <a:r>
              <a:rPr lang="en-US" sz="2100" dirty="0" b="1">
                <a:solidFill>
                  <a:srgbClr val="16171D"/>
                </a:solidFill>
                <a:latin typeface="Segoe UI"/>
                <a:cs typeface="Segoe UI"/>
              </a:rPr>
              <a:t xml:space="preserve">1</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2</a:t>
            </a:r>
            <a:endParaRPr lang="en-US" sz="2100" dirty="0"/>
          </a:p>
        </p:txBody>
      </p:sp>
      <p:sp>
        <p:nvSpPr>
          <p:cNvPr id="18" name="Shape 18"/>
          <p:cNvSpPr txBox="1"/>
          <p:nvPr/>
        </p:nvSpPr>
        <p:spPr>
          <a:xfrm>
            <a:off x="8261147" y="2260092"/>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Flip it: </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 2.</a:t>
            </a:r>
            <a:endParaRPr lang="en-US" sz="1575" dirty="0"/>
          </a:p>
        </p:txBody>
      </p:sp>
      <p:sp>
        <p:nvSpPr>
          <p:cNvPr id="19" name="Shape 19"/>
          <p:cNvSpPr txBox="1"/>
          <p:nvPr/>
        </p:nvSpPr>
        <p:spPr>
          <a:xfrm>
            <a:off x="8261147" y="2650236"/>
            <a:ext cx="30351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Change the sign: −2.</a:t>
            </a:r>
            <a:endParaRPr lang="en-US" sz="1575" dirty="0"/>
          </a:p>
        </p:txBody>
      </p:sp>
      <p:sp>
        <p:nvSpPr>
          <p:cNvPr id="20" name="Shape 20"/>
          <p:cNvSpPr txBox="1"/>
          <p:nvPr/>
        </p:nvSpPr>
        <p:spPr>
          <a:xfrm>
            <a:off x="8261147" y="3040380"/>
            <a:ext cx="30351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Check: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 (−2) = −1 ✓</a:t>
            </a:r>
            <a:endParaRPr lang="en-US" sz="1575" dirty="0"/>
          </a:p>
        </p:txBody>
      </p:sp>
      <p:sp>
        <p:nvSpPr>
          <p:cNvPr id="21" name="Shape 21"/>
          <p:cNvSpPr txBox="1"/>
          <p:nvPr/>
        </p:nvSpPr>
        <p:spPr>
          <a:xfrm>
            <a:off x="8261147" y="3670554"/>
            <a:ext cx="224471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endParaRPr lang="en-US" sz="2325"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ppt_w</p:attrName>
                                        </p:attrNameLst>
                                      </p:cBhvr>
                                      <p:tavLst>
                                        <p:tav tm="0">
                                          <p:val>
                                            <p:fltVal val="0"/>
                                          </p:val>
                                        </p:tav>
                                        <p:tav tm="100000">
                                          <p:val>
                                            <p:strVal val="#ppt_w"/>
                                          </p:val>
                                        </p:tav>
                                      </p:tavLst>
                                    </p:anim>
                                    <p:anim calcmode="lin" valueType="num">
                                      <p:cBhvr>
                                        <p:cTn id="34"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4"/>
                                        </p:tgtEl>
                                        <p:attrNameLst>
                                          <p:attrName>style.visibility</p:attrName>
                                        </p:attrNameLst>
                                      </p:cBhvr>
                                      <p:to>
                                        <p:strVal val="visible"/>
                                      </p:to>
                                    </p:set>
                                    <p:animEffect transition="in" filter="fade">
                                      <p:cBhvr>
                                        <p:cTn id="53" dur="500"/>
                                        <p:tgtEl>
                                          <p:spTgt spid="14"/>
                                        </p:tgtEl>
                                      </p:cBhvr>
                                    </p:animEffect>
                                    <p:anim calcmode="lin" valueType="num">
                                      <p:cBhvr>
                                        <p:cTn id="54" dur="500" fill="hold"/>
                                        <p:tgtEl>
                                          <p:spTgt spid="14"/>
                                        </p:tgtEl>
                                        <p:attrNameLst>
                                          <p:attrName>ppt_x</p:attrName>
                                        </p:attrNameLst>
                                      </p:cBhvr>
                                      <p:tavLst>
                                        <p:tav tm="0">
                                          <p:val>
                                            <p:strVal val="#ppt_x"/>
                                          </p:val>
                                        </p:tav>
                                        <p:tav tm="100000">
                                          <p:val>
                                            <p:strVal val="#ppt_x"/>
                                          </p:val>
                                        </p:tav>
                                      </p:tavLst>
                                    </p:anim>
                                    <p:anim calcmode="lin" valueType="num">
                                      <p:cBhvr>
                                        <p:cTn id="5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53" presetClass="entr" presetSubtype="16" fill="hold" nodeType="clickEffect">
                                  <p:stCondLst>
                                    <p:cond delay="0"/>
                                  </p:stCondLst>
                                  <p:childTnLst>
                                    <p:set>
                                      <p:cBhvr>
                                        <p:cTn id="59" dur="1" fill="hold">
                                          <p:stCondLst>
                                            <p:cond delay="0"/>
                                          </p:stCondLst>
                                        </p:cTn>
                                        <p:tgtEl>
                                          <p:spTgt spid="15"/>
                                        </p:tgtEl>
                                        <p:attrNameLst>
                                          <p:attrName>style.visibility</p:attrName>
                                        </p:attrNameLst>
                                      </p:cBhvr>
                                      <p:to>
                                        <p:strVal val="visible"/>
                                      </p:to>
                                    </p:set>
                                    <p:animEffect transition="in" filter="fade">
                                      <p:cBhvr>
                                        <p:cTn id="60" dur="500"/>
                                        <p:tgtEl>
                                          <p:spTgt spid="15"/>
                                        </p:tgtEl>
                                      </p:cBhvr>
                                    </p:animEffect>
                                    <p:anim calcmode="lin" valueType="num">
                                      <p:cBhvr>
                                        <p:cTn id="61" dur="500" fill="hold"/>
                                        <p:tgtEl>
                                          <p:spTgt spid="15"/>
                                        </p:tgtEl>
                                        <p:attrNameLst>
                                          <p:attrName>ppt_w</p:attrName>
                                        </p:attrNameLst>
                                      </p:cBhvr>
                                      <p:tavLst>
                                        <p:tav tm="0">
                                          <p:val>
                                            <p:fltVal val="0"/>
                                          </p:val>
                                        </p:tav>
                                        <p:tav tm="100000">
                                          <p:val>
                                            <p:strVal val="#ppt_w"/>
                                          </p:val>
                                        </p:tav>
                                      </p:tavLst>
                                    </p:anim>
                                    <p:anim calcmode="lin" valueType="num">
                                      <p:cBhvr>
                                        <p:cTn id="62"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5" fill="hold">
                      <p:stCondLst>
                        <p:cond delay="indefinite"/>
                      </p:stCondLst>
                      <p:childTnLst>
                        <p:par>
                          <p:cTn id="86" fill="hold">
                            <p:stCondLst>
                              <p:cond delay="0"/>
                            </p:stCondLst>
                            <p:childTnLst>
                              <p:par>
                                <p:cTn id="84" presetID="42" presetClass="entr" presetSubtype="0" fill="hold" nodeType="clickEffect">
                                  <p:stCondLst>
                                    <p:cond delay="0"/>
                                  </p:stCondLst>
                                  <p:childTnLst>
                                    <p:set>
                                      <p:cBhvr>
                                        <p:cTn id="80" dur="1" fill="hold">
                                          <p:stCondLst>
                                            <p:cond delay="0"/>
                                          </p:stCondLst>
                                        </p:cTn>
                                        <p:tgtEl>
                                          <p:spTgt spid="20"/>
                                        </p:tgtEl>
                                        <p:attrNameLst>
                                          <p:attrName>style.visibility</p:attrName>
                                        </p:attrNameLst>
                                      </p:cBhvr>
                                      <p:to>
                                        <p:strVal val="visible"/>
                                      </p:to>
                                    </p:set>
                                    <p:animEffect transition="in" filter="fade">
                                      <p:cBhvr>
                                        <p:cTn id="81" dur="500"/>
                                        <p:tgtEl>
                                          <p:spTgt spid="20"/>
                                        </p:tgtEl>
                                      </p:cBhvr>
                                    </p:animEffect>
                                    <p:anim calcmode="lin" valueType="num">
                                      <p:cBhvr>
                                        <p:cTn id="82" dur="500" fill="hold"/>
                                        <p:tgtEl>
                                          <p:spTgt spid="20"/>
                                        </p:tgtEl>
                                        <p:attrNameLst>
                                          <p:attrName>ppt_x</p:attrName>
                                        </p:attrNameLst>
                                      </p:cBhvr>
                                      <p:tavLst>
                                        <p:tav tm="0">
                                          <p:val>
                                            <p:strVal val="#ppt_x"/>
                                          </p:val>
                                        </p:tav>
                                        <p:tav tm="100000">
                                          <p:val>
                                            <p:strVal val="#ppt_x"/>
                                          </p:val>
                                        </p:tav>
                                      </p:tavLst>
                                    </p:anim>
                                    <p:anim calcmode="lin" valueType="num">
                                      <p:cBhvr>
                                        <p:cTn id="83"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92" fill="hold">
                      <p:stCondLst>
                        <p:cond delay="indefinite"/>
                      </p:stCondLst>
                      <p:childTnLst>
                        <p:par>
                          <p:cTn id="93" fill="hold">
                            <p:stCondLst>
                              <p:cond delay="0"/>
                            </p:stCondLst>
                            <p:childTnLst>
                              <p:par>
                                <p:cTn id="91" presetID="53" presetClass="entr" presetSubtype="16" fill="hold" nodeType="clickEffect">
                                  <p:stCondLst>
                                    <p:cond delay="0"/>
                                  </p:stCondLst>
                                  <p:childTnLst>
                                    <p:set>
                                      <p:cBhvr>
                                        <p:cTn id="87" dur="1" fill="hold">
                                          <p:stCondLst>
                                            <p:cond delay="0"/>
                                          </p:stCondLst>
                                        </p:cTn>
                                        <p:tgtEl>
                                          <p:spTgt spid="21"/>
                                        </p:tgtEl>
                                        <p:attrNameLst>
                                          <p:attrName>style.visibility</p:attrName>
                                        </p:attrNameLst>
                                      </p:cBhvr>
                                      <p:to>
                                        <p:strVal val="visible"/>
                                      </p:to>
                                    </p:set>
                                    <p:animEffect transition="in" filter="fade">
                                      <p:cBhvr>
                                        <p:cTn id="88" dur="500"/>
                                        <p:tgtEl>
                                          <p:spTgt spid="21"/>
                                        </p:tgtEl>
                                      </p:cBhvr>
                                    </p:animEffect>
                                    <p:anim calcmode="lin" valueType="num">
                                      <p:cBhvr>
                                        <p:cTn id="89" dur="500" fill="hold"/>
                                        <p:tgtEl>
                                          <p:spTgt spid="21"/>
                                        </p:tgtEl>
                                        <p:attrNameLst>
                                          <p:attrName>ppt_w</p:attrName>
                                        </p:attrNameLst>
                                      </p:cBhvr>
                                      <p:tavLst>
                                        <p:tav tm="0">
                                          <p:val>
                                            <p:fltVal val="0"/>
                                          </p:val>
                                        </p:tav>
                                        <p:tav tm="100000">
                                          <p:val>
                                            <p:strVal val="#ppt_w"/>
                                          </p:val>
                                        </p:tav>
                                      </p:tavLst>
                                    </p:anim>
                                    <p:anim calcmode="lin" valueType="num">
                                      <p:cBhvr>
                                        <p:cTn id="90" dur="500" fill="hold"/>
                                        <p:tgtEl>
                                          <p:spTgt spid="2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1</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Wednesday, October 28</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Thursday, October 29. Start at the next slide, “Start: Thursday, October 29.”</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Day 2 of 2 · Start here</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Start: Thursday, October 29</a:t>
            </a:r>
            <a:endParaRPr lang="en-US" sz="8250" dirty="0"/>
          </a:p>
        </p:txBody>
      </p:sp>
      <p:sp>
        <p:nvSpPr>
          <p:cNvPr id="4" name="Shape 4"/>
          <p:cNvSpPr txBox="1"/>
          <p:nvPr/>
        </p:nvSpPr>
        <p:spPr>
          <a:xfrm>
            <a:off x="685800" y="5253228"/>
            <a:ext cx="10820095" cy="694944"/>
          </a:xfrm>
          <a:prstGeom prst="rect">
            <a:avLst/>
          </a:prstGeom>
          <a:noFill/>
          <a:ln>
            <a:noFill/>
          </a:ln>
        </p:spPr>
        <p:txBody>
          <a:bodyPr wrap="square" lIns="36576" tIns="27432" rIns="36576" bIns="27432" anchor="t">
            <a:noAutofit/>
          </a:bodyPr>
          <a:lstStyle/>
          <a:p>
            <a:pPr algn="l">
              <a:lnSpc>
                <a:spcPct val="100000"/>
              </a:lnSpc>
            </a:pPr>
            <a:r>
              <a:rPr lang="en-US" sz="2100" dirty="0">
                <a:solidFill>
                  <a:srgbClr val="16171D"/>
                </a:solidFill>
                <a:latin typeface="Segoe UI"/>
                <a:cs typeface="Segoe UI"/>
              </a:rPr>
              <a:t xml:space="preserve">Today: bell work → Topic 1 catch-up (Changing the situation changes the function) → Lesson 3, Day 2.</a:t>
            </a:r>
            <a:endParaRPr lang="en-US" sz="21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 Thu, Oct 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7" name="Shape 7"/>
          <p:cNvSpPr txBox="1"/>
          <p:nvPr/>
        </p:nvSpPr>
        <p:spPr>
          <a:xfrm>
            <a:off x="685800" y="1618488"/>
            <a:ext cx="5295748" cy="228219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j</a:t>
            </a:r>
            <a:r>
              <a:rPr lang="en-US" sz="1575" dirty="0">
                <a:solidFill>
                  <a:srgbClr val="16171D"/>
                </a:solidFill>
                <a:latin typeface="Segoe UI"/>
                <a:cs typeface="Segoe UI"/>
              </a:rPr>
              <a:t xml:space="preserve"> has slope </a:t>
            </a:r>
            <a:r>
              <a:rPr lang="en-US" sz="1575" dirty="0">
                <a:solidFill>
                  <a:srgbClr val="16171D"/>
                </a:solidFill>
                <a:latin typeface="Cambria"/>
                <a:cs typeface="Cambria"/>
              </a:rPr>
              <a:t xml:space="preserve">⅔</a:t>
            </a:r>
            <a:r>
              <a:rPr lang="en-US" sz="1575" dirty="0">
                <a:solidFill>
                  <a:srgbClr val="16171D"/>
                </a:solidFill>
                <a:latin typeface="Segoe UI"/>
                <a:cs typeface="Segoe UI"/>
              </a:rPr>
              <a:t xml:space="preserve">. Line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 is perpendicular to it. What is the slope of </a:t>
            </a:r>
            <a:r>
              <a:rPr lang="en-US" sz="1575" dirty="0" i="1">
                <a:solidFill>
                  <a:srgbClr val="16171D"/>
                </a:solidFill>
                <a:latin typeface="Cambria"/>
                <a:cs typeface="Cambria"/>
              </a:rPr>
              <a:t xml:space="preserve">k</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895350"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a:t>
            </a:r>
            <a:endParaRPr lang="en-US" sz="1575" dirty="0"/>
          </a:p>
        </p:txBody>
      </p:sp>
      <p:sp>
        <p:nvSpPr>
          <p:cNvPr id="6" name="Shape 6"/>
          <p:cNvSpPr txBox="1"/>
          <p:nvPr/>
        </p:nvSpPr>
        <p:spPr>
          <a:xfrm>
            <a:off x="895350" y="2695956"/>
            <a:ext cx="2910695"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−3/2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Flip </a:t>
            </a:r>
            <a:r>
              <a:rPr lang="en-US" sz="1425" dirty="0">
                <a:solidFill>
                  <a:srgbClr val="16171D"/>
                </a:solidFill>
                <a:latin typeface="Cambria"/>
                <a:cs typeface="Cambria"/>
              </a:rPr>
              <a:t xml:space="preserve">⅔</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Change the sign: </a:t>
            </a:r>
            <a:r>
              <a:rPr lang="en-US" sz="1425" dirty="0">
                <a:solidFill>
                  <a:srgbClr val="16171D"/>
                </a:solidFill>
                <a:latin typeface="Cambria"/>
                <a:cs typeface="Cambria"/>
              </a:rPr>
              <a:t xml:space="preserve">−3/2</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Check: </a:t>
            </a:r>
            <a:r>
              <a:rPr lang="en-US" sz="1425" dirty="0">
                <a:solidFill>
                  <a:srgbClr val="16171D"/>
                </a:solidFill>
                <a:latin typeface="Cambria"/>
                <a:cs typeface="Cambria"/>
              </a:rPr>
              <a:t xml:space="preserve">⅔ · (−3/2) = −1</a:t>
            </a:r>
            <a:r>
              <a:rPr lang="en-US" sz="1425" dirty="0">
                <a:solidFill>
                  <a:srgbClr val="16171D"/>
                </a:solidFill>
                <a:latin typeface="Segoe UI"/>
                <a:cs typeface="Segoe UI"/>
              </a:rPr>
              <a:t xml:space="preserve">.</a:t>
            </a:r>
            <a:endParaRPr lang="en-US" sz="1425" dirty="0"/>
          </a:p>
        </p:txBody>
      </p:sp>
      <p:sp>
        <p:nvSpPr>
          <p:cNvPr id="11" name="Shape 11"/>
          <p:cNvSpPr txBox="1"/>
          <p:nvPr/>
        </p:nvSpPr>
        <p:spPr>
          <a:xfrm>
            <a:off x="685800" y="4034028"/>
            <a:ext cx="5295748" cy="204216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5478"/>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What is the slope of any horizontal line?</a:t>
            </a:r>
            <a:endParaRPr lang="en-US" sz="1575" dirty="0"/>
          </a:p>
        </p:txBody>
      </p:sp>
      <p:sp>
        <p:nvSpPr>
          <p:cNvPr id="9" name="Shape 9"/>
          <p:cNvSpPr txBox="1"/>
          <p:nvPr/>
        </p:nvSpPr>
        <p:spPr>
          <a:xfrm>
            <a:off x="895350" y="453847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slope = rise ÷ run</a:t>
            </a:r>
            <a:endParaRPr lang="en-US" sz="1575" dirty="0"/>
          </a:p>
        </p:txBody>
      </p:sp>
      <p:sp>
        <p:nvSpPr>
          <p:cNvPr id="10" name="Shape 10"/>
          <p:cNvSpPr txBox="1"/>
          <p:nvPr/>
        </p:nvSpPr>
        <p:spPr>
          <a:xfrm>
            <a:off x="895350" y="4871466"/>
            <a:ext cx="48766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a:solidFill>
                  <a:srgbClr val="16171D"/>
                </a:solidFill>
                <a:latin typeface="Cambria"/>
                <a:cs typeface="Cambria"/>
              </a:rPr>
              <a:t xml:space="preserve">0</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A horizontal line is flat: it never goes up or down, so the rise is 0.</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0 ÷ </a:t>
            </a:r>
            <a:r>
              <a:rPr lang="en-US" sz="1425" dirty="0" i="1">
                <a:solidFill>
                  <a:srgbClr val="16171D"/>
                </a:solidFill>
                <a:latin typeface="Cambria"/>
                <a:cs typeface="Cambria"/>
              </a:rPr>
              <a:t xml:space="preserve">r</a:t>
            </a:r>
            <a:r>
              <a:rPr lang="en-US" sz="1425" dirty="0" i="1">
                <a:solidFill>
                  <a:srgbClr val="16171D"/>
                </a:solidFill>
                <a:latin typeface="Cambria"/>
                <a:cs typeface="Cambria"/>
              </a:rPr>
              <a:t xml:space="preserve">u</a:t>
            </a:r>
            <a:r>
              <a:rPr lang="en-US" sz="1425" dirty="0" i="1">
                <a:solidFill>
                  <a:srgbClr val="16171D"/>
                </a:solidFill>
                <a:latin typeface="Cambria"/>
                <a:cs typeface="Cambria"/>
              </a:rPr>
              <a:t xml:space="preserve">n</a:t>
            </a:r>
            <a:r>
              <a:rPr lang="en-US" sz="1425" dirty="0">
                <a:solidFill>
                  <a:srgbClr val="16171D"/>
                </a:solidFill>
                <a:latin typeface="Cambria"/>
                <a:cs typeface="Cambria"/>
              </a:rPr>
              <a:t xml:space="preserve"> = 0</a:t>
            </a:r>
            <a:r>
              <a:rPr lang="en-US" sz="1425" dirty="0">
                <a:solidFill>
                  <a:srgbClr val="16171D"/>
                </a:solidFill>
                <a:latin typeface="Segoe UI"/>
                <a:cs typeface="Segoe UI"/>
              </a:rPr>
              <a:t xml:space="preserve">. The slope is 0.</a:t>
            </a:r>
            <a:endParaRPr lang="en-US" sz="1425" dirty="0"/>
          </a:p>
        </p:txBody>
      </p:sp>
      <p:sp>
        <p:nvSpPr>
          <p:cNvPr id="15" name="Shape 15"/>
          <p:cNvSpPr txBox="1"/>
          <p:nvPr/>
        </p:nvSpPr>
        <p:spPr>
          <a:xfrm>
            <a:off x="6210148" y="1618488"/>
            <a:ext cx="5295748" cy="20650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6419698" y="1789938"/>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Which is the equation of the vertical line through </a:t>
            </a:r>
            <a:r>
              <a:rPr lang="en-US" sz="1575" dirty="0">
                <a:solidFill>
                  <a:srgbClr val="16171D"/>
                </a:solidFill>
                <a:latin typeface="Cambria"/>
                <a:cs typeface="Cambria"/>
              </a:rPr>
              <a:t xml:space="preserve">(2, −1)</a:t>
            </a:r>
            <a:r>
              <a:rPr lang="en-US" sz="1575" dirty="0">
                <a:solidFill>
                  <a:srgbClr val="16171D"/>
                </a:solidFill>
                <a:latin typeface="Segoe UI"/>
                <a:cs typeface="Segoe UI"/>
              </a:rPr>
              <a:t xml:space="preserve">?</a:t>
            </a:r>
            <a:endParaRPr lang="en-US" sz="1575" dirty="0"/>
          </a:p>
        </p:txBody>
      </p:sp>
      <p:sp>
        <p:nvSpPr>
          <p:cNvPr id="13" name="Shape 13"/>
          <p:cNvSpPr txBox="1"/>
          <p:nvPr/>
        </p:nvSpPr>
        <p:spPr>
          <a:xfrm>
            <a:off x="6419698" y="2362962"/>
            <a:ext cx="48766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vertical line: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a:t>
            </a:r>
            <a:r>
              <a:rPr lang="en-US" sz="1575" dirty="0">
                <a:solidFill>
                  <a:srgbClr val="16171D"/>
                </a:solidFill>
                <a:latin typeface="Segoe UI"/>
                <a:cs typeface="Segoe UI"/>
              </a:rPr>
              <a:t xml:space="preserve"> a number</a:t>
            </a:r>
            <a:endParaRPr lang="en-US" sz="1575" dirty="0"/>
          </a:p>
        </p:txBody>
      </p:sp>
      <p:sp>
        <p:nvSpPr>
          <p:cNvPr id="14" name="Shape 14"/>
          <p:cNvSpPr txBox="1"/>
          <p:nvPr/>
        </p:nvSpPr>
        <p:spPr>
          <a:xfrm>
            <a:off x="6419698" y="2695956"/>
            <a:ext cx="4730363" cy="81610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2</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On a vertical line, </a:t>
            </a:r>
            <a:r>
              <a:rPr lang="en-US" sz="1425" dirty="0" i="1">
                <a:solidFill>
                  <a:srgbClr val="16171D"/>
                </a:solidFill>
                <a:latin typeface="Cambria"/>
                <a:cs typeface="Cambria"/>
              </a:rPr>
              <a:t xml:space="preserve">x</a:t>
            </a:r>
            <a:r>
              <a:rPr lang="en-US" sz="1425" dirty="0">
                <a:solidFill>
                  <a:srgbClr val="16171D"/>
                </a:solidFill>
                <a:latin typeface="Segoe UI"/>
                <a:cs typeface="Segoe UI"/>
              </a:rPr>
              <a:t xml:space="preserve"> never changes.</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The point has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 so the line is </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2</a:t>
            </a:r>
            <a:r>
              <a:rPr lang="en-US" sz="1425" dirty="0">
                <a:solidFill>
                  <a:srgbClr val="16171D"/>
                </a:solidFill>
                <a:latin typeface="Segoe UI"/>
                <a:cs typeface="Segoe UI"/>
              </a:rPr>
              <a:t xml:space="preserve">.</a:t>
            </a:r>
            <a:endParaRPr lang="en-US" sz="1425" dirty="0"/>
          </a:p>
        </p:txBody>
      </p:sp>
      <p:sp>
        <p:nvSpPr>
          <p:cNvPr id="19" name="Shape 19"/>
          <p:cNvSpPr txBox="1"/>
          <p:nvPr/>
        </p:nvSpPr>
        <p:spPr>
          <a:xfrm>
            <a:off x="6210148" y="3816858"/>
            <a:ext cx="5295748" cy="297942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6419698" y="3988308"/>
            <a:ext cx="487664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4.</a:t>
            </a:r>
            <a:r>
              <a:rPr lang="en-US" sz="1575" dirty="0">
                <a:solidFill>
                  <a:srgbClr val="16171D"/>
                </a:solidFill>
                <a:latin typeface="Segoe UI"/>
                <a:cs typeface="Segoe UI"/>
              </a:rPr>
              <a:t xml:space="preserve"> Which equation represents a line perpendicular to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that passes through the point </a:t>
            </a:r>
            <a:r>
              <a:rPr lang="en-US" sz="1575" dirty="0">
                <a:solidFill>
                  <a:srgbClr val="16171D"/>
                </a:solidFill>
                <a:latin typeface="Cambria"/>
                <a:cs typeface="Cambria"/>
              </a:rPr>
              <a:t xml:space="preserve">(4, 1)</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6419698" y="4801362"/>
            <a:ext cx="487664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Formula:</a:t>
            </a:r>
            <a:r>
              <a:rPr lang="en-US" sz="1575" dirty="0">
                <a:solidFill>
                  <a:srgbClr val="16171D"/>
                </a:solidFill>
                <a:latin typeface="Segoe UI"/>
                <a:cs typeface="Segoe UI"/>
              </a:rPr>
              <a:t xml:space="preserve"> perpendicular: flip and change the sign ·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m</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b</a:t>
            </a:r>
            <a:endParaRPr lang="en-US" sz="1575" dirty="0"/>
          </a:p>
        </p:txBody>
      </p:sp>
      <p:sp>
        <p:nvSpPr>
          <p:cNvPr id="18" name="Shape 18"/>
          <p:cNvSpPr txBox="1"/>
          <p:nvPr/>
        </p:nvSpPr>
        <p:spPr>
          <a:xfrm>
            <a:off x="6419698" y="5374386"/>
            <a:ext cx="4876648" cy="125044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1425" dirty="0" b="1" i="1">
                <a:solidFill>
                  <a:srgbClr val="16171D"/>
                </a:solidFill>
                <a:latin typeface="Cambria"/>
                <a:cs typeface="Cambria"/>
              </a:rPr>
              <a:t xml:space="preserve">y</a:t>
            </a:r>
            <a:r>
              <a:rPr lang="en-US" sz="1425" dirty="0" b="1">
                <a:solidFill>
                  <a:srgbClr val="16171D"/>
                </a:solidFill>
                <a:latin typeface="Cambria"/>
                <a:cs typeface="Cambria"/>
              </a:rPr>
              <a:t xml:space="preserve"> = −½</a:t>
            </a:r>
            <a:r>
              <a:rPr lang="en-US" sz="1425" dirty="0" b="1" i="1">
                <a:solidFill>
                  <a:srgbClr val="16171D"/>
                </a:solidFill>
                <a:latin typeface="Cambria"/>
                <a:cs typeface="Cambria"/>
              </a:rPr>
              <a:t xml:space="preserve">x</a:t>
            </a:r>
            <a:r>
              <a:rPr lang="en-US" sz="1425" dirty="0" b="1">
                <a:solidFill>
                  <a:srgbClr val="16171D"/>
                </a:solidFill>
                <a:latin typeface="Cambria"/>
                <a:cs typeface="Cambria"/>
              </a:rPr>
              <a:t xml:space="preserve"> + 3</a:t>
            </a:r>
            <a:br>
              <a:rPr lang="en-US" sz="1425" dirty="0">
                <a:solidFill>
                  <a:srgbClr val="16171D"/>
                </a:solidFill>
                <a:latin typeface="Segoe UI"/>
                <a:cs typeface="Segoe UI"/>
              </a:rPr>
            </a:br>
            <a:r>
              <a:rPr lang="en-US" sz="1425" dirty="0" b="1">
                <a:solidFill>
                  <a:srgbClr val="16171D"/>
                </a:solidFill>
                <a:latin typeface="Segoe UI"/>
                <a:cs typeface="Segoe UI"/>
              </a:rPr>
              <a:t xml:space="preserve">1.</a:t>
            </a:r>
            <a:r>
              <a:rPr lang="en-US" sz="1425" dirty="0">
                <a:solidFill>
                  <a:srgbClr val="16171D"/>
                </a:solidFill>
                <a:latin typeface="Segoe UI"/>
                <a:cs typeface="Segoe UI"/>
              </a:rPr>
              <a:t xml:space="preserve"> Slope of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2</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is 2. Flip and change the sign: </a:t>
            </a:r>
            <a:r>
              <a:rPr lang="en-US" sz="1425" dirty="0">
                <a:solidFill>
                  <a:srgbClr val="16171D"/>
                </a:solidFill>
                <a:latin typeface="Cambria"/>
                <a:cs typeface="Cambria"/>
              </a:rPr>
              <a:t xml:space="preserve">−½</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2.</a:t>
            </a:r>
            <a:r>
              <a:rPr lang="en-US" sz="1425" dirty="0">
                <a:solidFill>
                  <a:srgbClr val="16171D"/>
                </a:solidFill>
                <a:latin typeface="Segoe UI"/>
                <a:cs typeface="Segoe UI"/>
              </a:rPr>
              <a:t xml:space="preserve"> Put in </a:t>
            </a:r>
            <a:r>
              <a:rPr lang="en-US" sz="1425" dirty="0">
                <a:solidFill>
                  <a:srgbClr val="16171D"/>
                </a:solidFill>
                <a:latin typeface="Cambria"/>
                <a:cs typeface="Cambria"/>
              </a:rPr>
              <a:t xml:space="preserve">(4, 1)</a:t>
            </a:r>
            <a:r>
              <a:rPr lang="en-US" sz="1425" dirty="0">
                <a:solidFill>
                  <a:srgbClr val="16171D"/>
                </a:solidFill>
                <a:latin typeface="Segoe UI"/>
                <a:cs typeface="Segoe UI"/>
              </a:rPr>
              <a:t xml:space="preserve">: </a:t>
            </a:r>
            <a:r>
              <a:rPr lang="en-US" sz="1425" dirty="0">
                <a:solidFill>
                  <a:srgbClr val="16171D"/>
                </a:solidFill>
                <a:latin typeface="Cambria"/>
                <a:cs typeface="Cambria"/>
              </a:rPr>
              <a:t xml:space="preserve">1 = −½(4) +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−2 + </a:t>
            </a:r>
            <a:r>
              <a:rPr lang="en-US" sz="1425" dirty="0" i="1">
                <a:solidFill>
                  <a:srgbClr val="16171D"/>
                </a:solidFill>
                <a:latin typeface="Cambria"/>
                <a:cs typeface="Cambria"/>
              </a:rPr>
              <a:t xml:space="preserve">b</a:t>
            </a:r>
            <a:r>
              <a:rPr lang="en-US" sz="1425" dirty="0">
                <a:solidFill>
                  <a:srgbClr val="16171D"/>
                </a:solidFill>
                <a:latin typeface="Segoe UI"/>
                <a:cs typeface="Segoe UI"/>
              </a:rPr>
              <a:t xml:space="preserve">.</a:t>
            </a:r>
            <a:br>
              <a:rPr lang="en-US" sz="1425" dirty="0">
                <a:solidFill>
                  <a:srgbClr val="16171D"/>
                </a:solidFill>
                <a:latin typeface="Segoe UI"/>
                <a:cs typeface="Segoe UI"/>
              </a:rPr>
            </a:br>
            <a:r>
              <a:rPr lang="en-US" sz="1425" dirty="0" b="1">
                <a:solidFill>
                  <a:srgbClr val="16171D"/>
                </a:solidFill>
                <a:latin typeface="Segoe UI"/>
                <a:cs typeface="Segoe UI"/>
              </a:rPr>
              <a:t xml:space="preserve">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b</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 </a:t>
            </a:r>
            <a:r>
              <a:rPr lang="en-US" sz="1425" dirty="0" i="1">
                <a:solidFill>
                  <a:srgbClr val="16171D"/>
                </a:solidFill>
                <a:latin typeface="Cambria"/>
                <a:cs typeface="Cambria"/>
              </a:rPr>
              <a:t xml:space="preserve">y</a:t>
            </a:r>
            <a:r>
              <a:rPr lang="en-US" sz="1425" dirty="0">
                <a:solidFill>
                  <a:srgbClr val="16171D"/>
                </a:solidFill>
                <a:latin typeface="Cambria"/>
                <a:cs typeface="Cambria"/>
              </a:rPr>
              <a:t xml:space="preserve"> = −½</a:t>
            </a:r>
            <a:r>
              <a:rPr lang="en-US" sz="1425" dirty="0" i="1">
                <a:solidFill>
                  <a:srgbClr val="16171D"/>
                </a:solidFill>
                <a:latin typeface="Cambria"/>
                <a:cs typeface="Cambria"/>
              </a:rPr>
              <a:t xml:space="preserve">x</a:t>
            </a:r>
            <a:r>
              <a:rPr lang="en-US" sz="1425" dirty="0">
                <a:solidFill>
                  <a:srgbClr val="16171D"/>
                </a:solidFill>
                <a:latin typeface="Cambria"/>
                <a:cs typeface="Cambria"/>
              </a:rPr>
              <a:t xml:space="preserve"> + 3</a:t>
            </a:r>
            <a:r>
              <a:rPr lang="en-US" sz="1425" dirty="0">
                <a:solidFill>
                  <a:srgbClr val="16171D"/>
                </a:solidFill>
                <a:latin typeface="Segoe UI"/>
                <a:cs typeface="Segoe UI"/>
              </a:rPr>
              <a:t xml:space="preserve">.</a:t>
            </a:r>
            <a:endParaRPr lang="en-US" sz="142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ppt_w</p:attrName>
                                        </p:attrNameLst>
                                      </p:cBhvr>
                                      <p:tavLst>
                                        <p:tav tm="0">
                                          <p:val>
                                            <p:fltVal val="0"/>
                                          </p:val>
                                        </p:tav>
                                        <p:tav tm="100000">
                                          <p:val>
                                            <p:strVal val="#ppt_w"/>
                                          </p:val>
                                        </p:tav>
                                      </p:tavLst>
                                    </p:anim>
                                    <p:anim calcmode="lin" valueType="num">
                                      <p:cBhvr>
                                        <p:cTn id="6"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fade">
                                      <p:cBhvr>
                                        <p:cTn id="11" dur="500"/>
                                        <p:tgtEl>
                                          <p:spTgt spid="10"/>
                                        </p:tgtEl>
                                      </p:cBhvr>
                                    </p:animEffec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ppt_w</p:attrName>
                                        </p:attrNameLst>
                                      </p:cBhvr>
                                      <p:tavLst>
                                        <p:tav tm="0">
                                          <p:val>
                                            <p:fltVal val="0"/>
                                          </p:val>
                                        </p:tav>
                                        <p:tav tm="100000">
                                          <p:val>
                                            <p:strVal val="#ppt_w"/>
                                          </p:val>
                                        </p:tav>
                                      </p:tavLst>
                                    </p:anim>
                                    <p:anim calcmode="lin" valueType="num">
                                      <p:cBhvr>
                                        <p:cTn id="20" dur="500" fill="hold"/>
                                        <p:tgtEl>
                                          <p:spTgt spid="14"/>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fade">
                                      <p:cBhvr>
                                        <p:cTn id="25" dur="500"/>
                                        <p:tgtEl>
                                          <p:spTgt spid="18"/>
                                        </p:tgtEl>
                                      </p:cBhvr>
                                    </p:animEffect>
                                    <p:anim calcmode="lin" valueType="num">
                                      <p:cBhvr>
                                        <p:cTn id="26" dur="500" fill="hold"/>
                                        <p:tgtEl>
                                          <p:spTgt spid="18"/>
                                        </p:tgtEl>
                                        <p:attrNameLst>
                                          <p:attrName>ppt_w</p:attrName>
                                        </p:attrNameLst>
                                      </p:cBhvr>
                                      <p:tavLst>
                                        <p:tav tm="0">
                                          <p:val>
                                            <p:fltVal val="0"/>
                                          </p:val>
                                        </p:tav>
                                        <p:tav tm="100000">
                                          <p:val>
                                            <p:strVal val="#ppt_w"/>
                                          </p:val>
                                        </p:tav>
                                      </p:tavLst>
                                    </p:anim>
                                    <p:anim calcmode="lin" valueType="num">
                                      <p:cBhvr>
                                        <p:cTn id="27"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9144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Thu, Oct 29 · about 15 minutes</a:t>
            </a:r>
            <a:endParaRPr lang="en-US" sz="1200" dirty="0"/>
          </a:p>
        </p:txBody>
      </p:sp>
      <p:sp>
        <p:nvSpPr>
          <p:cNvPr id="3" name="Shape 3"/>
          <p:cNvSpPr txBox="1"/>
          <p:nvPr/>
        </p:nvSpPr>
        <p:spPr>
          <a:xfrm>
            <a:off x="685800" y="1323594"/>
            <a:ext cx="10820095" cy="266090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Topic 1 Lesson 6: Changing the situation changes the function</a:t>
            </a:r>
            <a:endParaRPr lang="en-US" sz="5700" dirty="0"/>
          </a:p>
        </p:txBody>
      </p:sp>
      <p:sp>
        <p:nvSpPr>
          <p:cNvPr id="4" name="Shape 4"/>
          <p:cNvSpPr txBox="1"/>
          <p:nvPr/>
        </p:nvSpPr>
        <p:spPr>
          <a:xfrm>
            <a:off x="685800" y="415594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Giving away 3 T-shirts shifts the function: the same idea as a Topic 2 translation.</a:t>
            </a:r>
            <a:endParaRPr lang="en-US" sz="2250" dirty="0"/>
          </a:p>
        </p:txBody>
      </p:sp>
      <p:sp>
        <p:nvSpPr>
          <p:cNvPr id="5" name="Shape 5"/>
          <p:cNvSpPr txBox="1"/>
          <p:nvPr/>
        </p:nvSpPr>
        <p:spPr>
          <a:xfrm>
            <a:off x="685800" y="506806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Topic 1 Lesson 6 practice: </a:t>
            </a:r>
            <a:r>
              <a:rPr lang="en-US" sz="1800" dirty="0">
                <a:solidFill>
                  <a:srgbClr val="3050B8"/>
                </a:solidFill>
                <a:latin typeface="Segoe UI"/>
                <a:cs typeface="Segoe UI"/>
                <a:hlinkClick r:id="rId3"/>
              </a:rPr>
              <a:t xml:space="preserve">Homework →</a:t>
            </a:r>
            <a:r>
              <a:rPr lang="en-US" sz="1800" dirty="0">
                <a:solidFill>
                  <a:srgbClr val="16171D"/>
                </a:solidFill>
                <a:latin typeface="Segoe UI"/>
                <a:cs typeface="Segoe UI"/>
              </a:rPr>
              <a:t xml:space="preserve"> · </a:t>
            </a:r>
            <a:r>
              <a:rPr lang="en-US" sz="1800" dirty="0">
                <a:solidFill>
                  <a:srgbClr val="3050B8"/>
                </a:solidFill>
                <a:latin typeface="Segoe UI"/>
                <a:cs typeface="Segoe UI"/>
                <a:hlinkClick r:id="rId4"/>
              </a:rPr>
              <a:t xml:space="preserve">Quiz →</a:t>
            </a:r>
            <a:endParaRPr lang="en-US" sz="18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1 Catch-Up · Lesson 6 · We do · Two forms</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Gracie gives away 3 shirts</a:t>
            </a:r>
            <a:endParaRPr lang="en-US" sz="3450" dirty="0"/>
          </a:p>
        </p:txBody>
      </p:sp>
      <p:sp>
        <p:nvSpPr>
          <p:cNvPr id="8" name="Shape 8"/>
          <p:cNvSpPr txBox="1"/>
          <p:nvPr/>
        </p:nvSpPr>
        <p:spPr>
          <a:xfrm>
            <a:off x="685800" y="1618488"/>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General form</a:t>
            </a:r>
            <a:endParaRPr lang="en-US" sz="2100" dirty="0"/>
          </a:p>
        </p:txBody>
      </p:sp>
      <p:sp>
        <p:nvSpPr>
          <p:cNvPr id="5" name="Shape 5"/>
          <p:cNvSpPr txBox="1"/>
          <p:nvPr/>
        </p:nvSpPr>
        <p:spPr>
          <a:xfrm>
            <a:off x="895350" y="2260092"/>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− 45</a:t>
            </a:r>
            <a:endParaRPr lang="en-US" sz="2325" dirty="0"/>
          </a:p>
        </p:txBody>
      </p:sp>
      <p:sp>
        <p:nvSpPr>
          <p:cNvPr id="6" name="Shape 6"/>
          <p:cNvSpPr txBox="1"/>
          <p:nvPr/>
        </p:nvSpPr>
        <p:spPr>
          <a:xfrm>
            <a:off x="895350" y="2764536"/>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____</a:t>
            </a:r>
            <a:endParaRPr lang="en-US" sz="1575" dirty="0"/>
          </a:p>
        </p:txBody>
      </p:sp>
      <p:sp>
        <p:nvSpPr>
          <p:cNvPr id="7" name="Shape 7"/>
          <p:cNvSpPr txBox="1"/>
          <p:nvPr/>
        </p:nvSpPr>
        <p:spPr>
          <a:xfrm>
            <a:off x="895350" y="3154680"/>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(0, −45)</a:t>
            </a:r>
            <a:endParaRPr lang="en-US" sz="2325" dirty="0"/>
          </a:p>
        </p:txBody>
      </p:sp>
      <p:sp>
        <p:nvSpPr>
          <p:cNvPr id="13" name="Shape 13"/>
          <p:cNvSpPr txBox="1"/>
          <p:nvPr/>
        </p:nvSpPr>
        <p:spPr>
          <a:xfrm>
            <a:off x="685800" y="3978402"/>
            <a:ext cx="5219548" cy="22265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9" name="Shape 9"/>
          <p:cNvSpPr txBox="1"/>
          <p:nvPr/>
        </p:nvSpPr>
        <p:spPr>
          <a:xfrm>
            <a:off x="895350" y="4149852"/>
            <a:ext cx="48004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Factored form</a:t>
            </a:r>
            <a:endParaRPr lang="en-US" sz="2100" dirty="0"/>
          </a:p>
        </p:txBody>
      </p:sp>
      <p:sp>
        <p:nvSpPr>
          <p:cNvPr id="10" name="Shape 10"/>
          <p:cNvSpPr txBox="1"/>
          <p:nvPr/>
        </p:nvSpPr>
        <p:spPr>
          <a:xfrm>
            <a:off x="895350" y="4620006"/>
            <a:ext cx="480044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G</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t</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− 3</a:t>
            </a:r>
            <a:r>
              <a:rPr lang="en-US" sz="2325" dirty="0">
                <a:solidFill>
                  <a:srgbClr val="16171D"/>
                </a:solidFill>
                <a:latin typeface="Cambria"/>
                <a:cs typeface="Cambria"/>
              </a:rPr>
              <a:t xml:space="preserve">)</a:t>
            </a:r>
            <a:endParaRPr lang="en-US" sz="2325" dirty="0"/>
          </a:p>
        </p:txBody>
      </p:sp>
      <p:sp>
        <p:nvSpPr>
          <p:cNvPr id="11" name="Shape 11"/>
          <p:cNvSpPr txBox="1"/>
          <p:nvPr/>
        </p:nvSpPr>
        <p:spPr>
          <a:xfrm>
            <a:off x="895350" y="5124450"/>
            <a:ext cx="48004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____ zero: ____</a:t>
            </a:r>
            <a:endParaRPr lang="en-US" sz="1575" dirty="0"/>
          </a:p>
        </p:txBody>
      </p:sp>
      <p:sp>
        <p:nvSpPr>
          <p:cNvPr id="12" name="Shape 12"/>
          <p:cNvSpPr txBox="1"/>
          <p:nvPr/>
        </p:nvSpPr>
        <p:spPr>
          <a:xfrm>
            <a:off x="895350" y="5514594"/>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15 and 3</a:t>
            </a:r>
            <a:endParaRPr lang="en-US" sz="2325" dirty="0"/>
          </a:p>
        </p:txBody>
      </p:sp>
      <p:sp>
        <p:nvSpPr>
          <p:cNvPr id="14" name="Shape 14"/>
          <p:cNvSpPr/>
          <p:nvPr/>
        </p:nvSpPr>
        <p:spPr>
          <a:xfrm>
            <a:off x="6286348" y="1618488"/>
            <a:ext cx="3238500" cy="3619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5" name="Line 15"/>
          <p:cNvCxnSpPr/>
          <p:nvPr/>
        </p:nvCxnSpPr>
        <p:spPr>
          <a:xfrm>
            <a:off x="6610198" y="1732788"/>
            <a:ext cx="0" cy="3257550"/>
          </a:xfrm>
          <a:prstGeom prst="line">
            <a:avLst/>
          </a:prstGeom>
          <a:ln w="9525" cap="flat">
            <a:solidFill>
              <a:srgbClr val="E6E8F2"/>
            </a:solidFill>
          </a:ln>
        </p:spPr>
      </p:cxnSp>
      <p:cxnSp>
        <p:nvCxnSpPr>
          <p:cNvPr id="16" name="Line 16"/>
          <p:cNvCxnSpPr/>
          <p:nvPr/>
        </p:nvCxnSpPr>
        <p:spPr>
          <a:xfrm>
            <a:off x="6921348" y="1732788"/>
            <a:ext cx="0" cy="3257550"/>
          </a:xfrm>
          <a:prstGeom prst="line">
            <a:avLst/>
          </a:prstGeom>
          <a:ln w="9525" cap="flat">
            <a:solidFill>
              <a:srgbClr val="E6E8F2"/>
            </a:solidFill>
          </a:ln>
        </p:spPr>
      </p:cxnSp>
      <p:cxnSp>
        <p:nvCxnSpPr>
          <p:cNvPr id="17" name="Line 17"/>
          <p:cNvCxnSpPr/>
          <p:nvPr/>
        </p:nvCxnSpPr>
        <p:spPr>
          <a:xfrm>
            <a:off x="7232498" y="1732788"/>
            <a:ext cx="0" cy="3257550"/>
          </a:xfrm>
          <a:prstGeom prst="line">
            <a:avLst/>
          </a:prstGeom>
          <a:ln w="9525" cap="flat">
            <a:solidFill>
              <a:srgbClr val="E6E8F2"/>
            </a:solidFill>
          </a:ln>
        </p:spPr>
      </p:cxnSp>
      <p:cxnSp>
        <p:nvCxnSpPr>
          <p:cNvPr id="18" name="Line 18"/>
          <p:cNvCxnSpPr/>
          <p:nvPr/>
        </p:nvCxnSpPr>
        <p:spPr>
          <a:xfrm>
            <a:off x="7543648" y="1732788"/>
            <a:ext cx="0" cy="3257550"/>
          </a:xfrm>
          <a:prstGeom prst="line">
            <a:avLst/>
          </a:prstGeom>
          <a:ln w="9525" cap="flat">
            <a:solidFill>
              <a:srgbClr val="E6E8F2"/>
            </a:solidFill>
          </a:ln>
        </p:spPr>
      </p:cxnSp>
      <p:cxnSp>
        <p:nvCxnSpPr>
          <p:cNvPr id="19" name="Line 19"/>
          <p:cNvCxnSpPr/>
          <p:nvPr/>
        </p:nvCxnSpPr>
        <p:spPr>
          <a:xfrm>
            <a:off x="7854798" y="1732788"/>
            <a:ext cx="0" cy="3257550"/>
          </a:xfrm>
          <a:prstGeom prst="line">
            <a:avLst/>
          </a:prstGeom>
          <a:ln w="9525" cap="flat">
            <a:solidFill>
              <a:srgbClr val="E6E8F2"/>
            </a:solidFill>
          </a:ln>
        </p:spPr>
      </p:cxnSp>
      <p:cxnSp>
        <p:nvCxnSpPr>
          <p:cNvPr id="20" name="Line 20"/>
          <p:cNvCxnSpPr/>
          <p:nvPr/>
        </p:nvCxnSpPr>
        <p:spPr>
          <a:xfrm>
            <a:off x="8165948" y="1732788"/>
            <a:ext cx="0" cy="3257550"/>
          </a:xfrm>
          <a:prstGeom prst="line">
            <a:avLst/>
          </a:prstGeom>
          <a:ln w="9525" cap="flat">
            <a:solidFill>
              <a:srgbClr val="E6E8F2"/>
            </a:solidFill>
          </a:ln>
        </p:spPr>
      </p:cxnSp>
      <p:cxnSp>
        <p:nvCxnSpPr>
          <p:cNvPr id="21" name="Line 21"/>
          <p:cNvCxnSpPr/>
          <p:nvPr/>
        </p:nvCxnSpPr>
        <p:spPr>
          <a:xfrm>
            <a:off x="8477098" y="1732788"/>
            <a:ext cx="0" cy="3257550"/>
          </a:xfrm>
          <a:prstGeom prst="line">
            <a:avLst/>
          </a:prstGeom>
          <a:ln w="9525" cap="flat">
            <a:solidFill>
              <a:srgbClr val="E6E8F2"/>
            </a:solidFill>
          </a:ln>
        </p:spPr>
      </p:cxnSp>
      <p:cxnSp>
        <p:nvCxnSpPr>
          <p:cNvPr id="22" name="Line 22"/>
          <p:cNvCxnSpPr/>
          <p:nvPr/>
        </p:nvCxnSpPr>
        <p:spPr>
          <a:xfrm>
            <a:off x="8788248" y="1732788"/>
            <a:ext cx="0" cy="3257550"/>
          </a:xfrm>
          <a:prstGeom prst="line">
            <a:avLst/>
          </a:prstGeom>
          <a:ln w="9525" cap="flat">
            <a:solidFill>
              <a:srgbClr val="E6E8F2"/>
            </a:solidFill>
          </a:ln>
        </p:spPr>
      </p:cxnSp>
      <p:cxnSp>
        <p:nvCxnSpPr>
          <p:cNvPr id="23" name="Line 23"/>
          <p:cNvCxnSpPr/>
          <p:nvPr/>
        </p:nvCxnSpPr>
        <p:spPr>
          <a:xfrm>
            <a:off x="9099398" y="1732788"/>
            <a:ext cx="0" cy="3257550"/>
          </a:xfrm>
          <a:prstGeom prst="line">
            <a:avLst/>
          </a:prstGeom>
          <a:ln w="9525" cap="flat">
            <a:solidFill>
              <a:srgbClr val="E6E8F2"/>
            </a:solidFill>
          </a:ln>
        </p:spPr>
      </p:cxnSp>
      <p:cxnSp>
        <p:nvCxnSpPr>
          <p:cNvPr id="24" name="Line 24"/>
          <p:cNvCxnSpPr/>
          <p:nvPr/>
        </p:nvCxnSpPr>
        <p:spPr>
          <a:xfrm>
            <a:off x="9410548" y="1732788"/>
            <a:ext cx="0" cy="3257550"/>
          </a:xfrm>
          <a:prstGeom prst="line">
            <a:avLst/>
          </a:prstGeom>
          <a:ln w="9525" cap="flat">
            <a:solidFill>
              <a:srgbClr val="E6E8F2"/>
            </a:solidFill>
          </a:ln>
        </p:spPr>
      </p:cxnSp>
      <p:cxnSp>
        <p:nvCxnSpPr>
          <p:cNvPr id="25" name="Line 25"/>
          <p:cNvCxnSpPr/>
          <p:nvPr/>
        </p:nvCxnSpPr>
        <p:spPr>
          <a:xfrm>
            <a:off x="6610198" y="4990338"/>
            <a:ext cx="2800350" cy="0"/>
          </a:xfrm>
          <a:prstGeom prst="line">
            <a:avLst/>
          </a:prstGeom>
          <a:ln w="9525" cap="flat">
            <a:solidFill>
              <a:srgbClr val="E6E8F2"/>
            </a:solidFill>
          </a:ln>
        </p:spPr>
      </p:cxnSp>
      <p:cxnSp>
        <p:nvCxnSpPr>
          <p:cNvPr id="26" name="Line 26"/>
          <p:cNvCxnSpPr/>
          <p:nvPr/>
        </p:nvCxnSpPr>
        <p:spPr>
          <a:xfrm>
            <a:off x="6610198" y="4718876"/>
            <a:ext cx="2800350" cy="0"/>
          </a:xfrm>
          <a:prstGeom prst="line">
            <a:avLst/>
          </a:prstGeom>
          <a:ln w="9525" cap="flat">
            <a:solidFill>
              <a:srgbClr val="E6E8F2"/>
            </a:solidFill>
          </a:ln>
        </p:spPr>
      </p:cxnSp>
      <p:cxnSp>
        <p:nvCxnSpPr>
          <p:cNvPr id="27" name="Line 27"/>
          <p:cNvCxnSpPr/>
          <p:nvPr/>
        </p:nvCxnSpPr>
        <p:spPr>
          <a:xfrm>
            <a:off x="6610198" y="4447413"/>
            <a:ext cx="2800350" cy="0"/>
          </a:xfrm>
          <a:prstGeom prst="line">
            <a:avLst/>
          </a:prstGeom>
          <a:ln w="9525" cap="flat">
            <a:solidFill>
              <a:srgbClr val="E6E8F2"/>
            </a:solidFill>
          </a:ln>
        </p:spPr>
      </p:cxnSp>
      <p:cxnSp>
        <p:nvCxnSpPr>
          <p:cNvPr id="28" name="Line 28"/>
          <p:cNvCxnSpPr/>
          <p:nvPr/>
        </p:nvCxnSpPr>
        <p:spPr>
          <a:xfrm>
            <a:off x="6610198" y="4175950"/>
            <a:ext cx="2800350" cy="0"/>
          </a:xfrm>
          <a:prstGeom prst="line">
            <a:avLst/>
          </a:prstGeom>
          <a:ln w="9525" cap="flat">
            <a:solidFill>
              <a:srgbClr val="E6E8F2"/>
            </a:solidFill>
          </a:ln>
        </p:spPr>
      </p:cxnSp>
      <p:cxnSp>
        <p:nvCxnSpPr>
          <p:cNvPr id="29" name="Line 29"/>
          <p:cNvCxnSpPr/>
          <p:nvPr/>
        </p:nvCxnSpPr>
        <p:spPr>
          <a:xfrm>
            <a:off x="6610198" y="3904488"/>
            <a:ext cx="2800350" cy="0"/>
          </a:xfrm>
          <a:prstGeom prst="line">
            <a:avLst/>
          </a:prstGeom>
          <a:ln w="9525" cap="flat">
            <a:solidFill>
              <a:srgbClr val="E6E8F2"/>
            </a:solidFill>
          </a:ln>
        </p:spPr>
      </p:cxnSp>
      <p:cxnSp>
        <p:nvCxnSpPr>
          <p:cNvPr id="30" name="Line 30"/>
          <p:cNvCxnSpPr/>
          <p:nvPr/>
        </p:nvCxnSpPr>
        <p:spPr>
          <a:xfrm>
            <a:off x="6610198" y="3633026"/>
            <a:ext cx="2800350" cy="0"/>
          </a:xfrm>
          <a:prstGeom prst="line">
            <a:avLst/>
          </a:prstGeom>
          <a:ln w="9525" cap="flat">
            <a:solidFill>
              <a:srgbClr val="E6E8F2"/>
            </a:solidFill>
          </a:ln>
        </p:spPr>
      </p:cxnSp>
      <p:cxnSp>
        <p:nvCxnSpPr>
          <p:cNvPr id="31" name="Line 31"/>
          <p:cNvCxnSpPr/>
          <p:nvPr/>
        </p:nvCxnSpPr>
        <p:spPr>
          <a:xfrm>
            <a:off x="6610198" y="3361563"/>
            <a:ext cx="2800350" cy="0"/>
          </a:xfrm>
          <a:prstGeom prst="line">
            <a:avLst/>
          </a:prstGeom>
          <a:ln w="9525" cap="flat">
            <a:solidFill>
              <a:srgbClr val="E6E8F2"/>
            </a:solidFill>
          </a:ln>
        </p:spPr>
      </p:cxnSp>
      <p:cxnSp>
        <p:nvCxnSpPr>
          <p:cNvPr id="32" name="Line 32"/>
          <p:cNvCxnSpPr/>
          <p:nvPr/>
        </p:nvCxnSpPr>
        <p:spPr>
          <a:xfrm>
            <a:off x="6610198" y="3090100"/>
            <a:ext cx="2800350" cy="0"/>
          </a:xfrm>
          <a:prstGeom prst="line">
            <a:avLst/>
          </a:prstGeom>
          <a:ln w="9525" cap="flat">
            <a:solidFill>
              <a:srgbClr val="E6E8F2"/>
            </a:solidFill>
          </a:ln>
        </p:spPr>
      </p:cxnSp>
      <p:cxnSp>
        <p:nvCxnSpPr>
          <p:cNvPr id="33" name="Line 33"/>
          <p:cNvCxnSpPr/>
          <p:nvPr/>
        </p:nvCxnSpPr>
        <p:spPr>
          <a:xfrm>
            <a:off x="6610198" y="2818638"/>
            <a:ext cx="2800350" cy="0"/>
          </a:xfrm>
          <a:prstGeom prst="line">
            <a:avLst/>
          </a:prstGeom>
          <a:ln w="9525" cap="flat">
            <a:solidFill>
              <a:srgbClr val="E6E8F2"/>
            </a:solidFill>
          </a:ln>
        </p:spPr>
      </p:cxnSp>
      <p:cxnSp>
        <p:nvCxnSpPr>
          <p:cNvPr id="34" name="Line 34"/>
          <p:cNvCxnSpPr/>
          <p:nvPr/>
        </p:nvCxnSpPr>
        <p:spPr>
          <a:xfrm>
            <a:off x="6610198" y="2547176"/>
            <a:ext cx="2800350" cy="0"/>
          </a:xfrm>
          <a:prstGeom prst="line">
            <a:avLst/>
          </a:prstGeom>
          <a:ln w="9525" cap="flat">
            <a:solidFill>
              <a:srgbClr val="E6E8F2"/>
            </a:solidFill>
          </a:ln>
        </p:spPr>
      </p:cxnSp>
      <p:cxnSp>
        <p:nvCxnSpPr>
          <p:cNvPr id="35" name="Line 35"/>
          <p:cNvCxnSpPr/>
          <p:nvPr/>
        </p:nvCxnSpPr>
        <p:spPr>
          <a:xfrm>
            <a:off x="6610198" y="2275713"/>
            <a:ext cx="2800350" cy="0"/>
          </a:xfrm>
          <a:prstGeom prst="line">
            <a:avLst/>
          </a:prstGeom>
          <a:ln w="9525" cap="flat">
            <a:solidFill>
              <a:srgbClr val="E6E8F2"/>
            </a:solidFill>
          </a:ln>
        </p:spPr>
      </p:cxnSp>
      <p:cxnSp>
        <p:nvCxnSpPr>
          <p:cNvPr id="36" name="Line 36"/>
          <p:cNvCxnSpPr/>
          <p:nvPr/>
        </p:nvCxnSpPr>
        <p:spPr>
          <a:xfrm>
            <a:off x="6610198" y="2004250"/>
            <a:ext cx="2800350" cy="0"/>
          </a:xfrm>
          <a:prstGeom prst="line">
            <a:avLst/>
          </a:prstGeom>
          <a:ln w="9525" cap="flat">
            <a:solidFill>
              <a:srgbClr val="E6E8F2"/>
            </a:solidFill>
          </a:ln>
        </p:spPr>
      </p:cxnSp>
      <p:cxnSp>
        <p:nvCxnSpPr>
          <p:cNvPr id="37" name="Line 37"/>
          <p:cNvCxnSpPr/>
          <p:nvPr/>
        </p:nvCxnSpPr>
        <p:spPr>
          <a:xfrm>
            <a:off x="6610198" y="1732788"/>
            <a:ext cx="2800350" cy="0"/>
          </a:xfrm>
          <a:prstGeom prst="line">
            <a:avLst/>
          </a:prstGeom>
          <a:ln w="9525" cap="flat">
            <a:solidFill>
              <a:srgbClr val="E6E8F2"/>
            </a:solidFill>
          </a:ln>
        </p:spPr>
      </p:cxnSp>
      <p:cxnSp>
        <p:nvCxnSpPr>
          <p:cNvPr id="38" name="Line 38"/>
          <p:cNvCxnSpPr/>
          <p:nvPr/>
        </p:nvCxnSpPr>
        <p:spPr>
          <a:xfrm>
            <a:off x="6921348" y="1732788"/>
            <a:ext cx="0" cy="3257550"/>
          </a:xfrm>
          <a:prstGeom prst="line">
            <a:avLst/>
          </a:prstGeom>
          <a:ln w="19050" cap="flat">
            <a:solidFill>
              <a:srgbClr val="5F6272"/>
            </a:solidFill>
          </a:ln>
        </p:spPr>
      </p:cxnSp>
      <p:cxnSp>
        <p:nvCxnSpPr>
          <p:cNvPr id="39" name="Line 39"/>
          <p:cNvCxnSpPr/>
          <p:nvPr/>
        </p:nvCxnSpPr>
        <p:spPr>
          <a:xfrm>
            <a:off x="6610198" y="3361563"/>
            <a:ext cx="2800350" cy="0"/>
          </a:xfrm>
          <a:prstGeom prst="line">
            <a:avLst/>
          </a:prstGeom>
          <a:ln w="19050" cap="flat">
            <a:solidFill>
              <a:srgbClr val="5F6272"/>
            </a:solidFill>
          </a:ln>
        </p:spPr>
      </p:cxnSp>
      <p:sp>
        <p:nvSpPr>
          <p:cNvPr id="40" name="Shape 40"/>
          <p:cNvSpPr txBox="1"/>
          <p:nvPr/>
        </p:nvSpPr>
        <p:spPr>
          <a:xfrm>
            <a:off x="63358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1" name="Shape 41"/>
          <p:cNvSpPr txBox="1"/>
          <p:nvPr/>
        </p:nvSpPr>
        <p:spPr>
          <a:xfrm>
            <a:off x="66470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69581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72693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5804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78916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2027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85139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882507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9136228" y="5009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6043270" y="4898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1" name="Shape 51"/>
          <p:cNvSpPr txBox="1"/>
          <p:nvPr/>
        </p:nvSpPr>
        <p:spPr>
          <a:xfrm>
            <a:off x="6043270" y="43559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6043270" y="3813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3" name="Shape 53"/>
          <p:cNvSpPr txBox="1"/>
          <p:nvPr/>
        </p:nvSpPr>
        <p:spPr>
          <a:xfrm>
            <a:off x="6043270" y="32701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4" name="Shape 54"/>
          <p:cNvSpPr txBox="1"/>
          <p:nvPr/>
        </p:nvSpPr>
        <p:spPr>
          <a:xfrm>
            <a:off x="6043270" y="2727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6043270" y="21842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6" name="Shape 56"/>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cxnSp>
        <p:nvCxnSpPr>
          <p:cNvPr id="57" name="Line 57"/>
          <p:cNvCxnSpPr/>
          <p:nvPr/>
        </p:nvCxnSpPr>
        <p:spPr>
          <a:xfrm flipV="1">
            <a:off x="6610198" y="1732788"/>
            <a:ext cx="2489200" cy="3257550"/>
          </a:xfrm>
          <a:prstGeom prst="line">
            <a:avLst/>
          </a:prstGeom>
          <a:ln w="38100" cap="rnd">
            <a:solidFill>
              <a:srgbClr val="16171D"/>
            </a:solidFill>
          </a:ln>
        </p:spPr>
      </p:cxnSp>
      <p:sp>
        <p:nvSpPr>
          <p:cNvPr id="58" name="Shape 58"/>
          <p:cNvSpPr/>
          <p:nvPr/>
        </p:nvSpPr>
        <p:spPr>
          <a:xfrm>
            <a:off x="6868960" y="453075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7007073" y="433549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sp>
        <p:nvSpPr>
          <p:cNvPr id="60" name="Shape 60"/>
          <p:cNvSpPr/>
          <p:nvPr/>
        </p:nvSpPr>
        <p:spPr>
          <a:xfrm>
            <a:off x="7802410" y="33091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7940523" y="31139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(3, 0)</a:t>
            </a:r>
            <a:endParaRPr lang="en-US" sz="1125" dirty="0"/>
          </a:p>
        </p:txBody>
      </p:sp>
      <p:sp>
        <p:nvSpPr>
          <p:cNvPr id="62" name="Slide Number 6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ppt_w</p:attrName>
                                        </p:attrNameLst>
                                      </p:cBhvr>
                                      <p:tavLst>
                                        <p:tav tm="0">
                                          <p:val>
                                            <p:fltVal val="0"/>
                                          </p:val>
                                        </p:tav>
                                        <p:tav tm="100000">
                                          <p:val>
                                            <p:strVal val="#ppt_w"/>
                                          </p:val>
                                        </p:tav>
                                      </p:tavLst>
                                    </p:anim>
                                    <p:anim calcmode="lin" valueType="num">
                                      <p:cBhvr>
                                        <p:cTn id="6"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ppt_w</p:attrName>
                                        </p:attrNameLst>
                                      </p:cBhvr>
                                      <p:tavLst>
                                        <p:tav tm="0">
                                          <p:val>
                                            <p:fltVal val="0"/>
                                          </p:val>
                                        </p:tav>
                                        <p:tav tm="100000">
                                          <p:val>
                                            <p:strVal val="#ppt_w"/>
                                          </p:val>
                                        </p:tav>
                                      </p:tavLst>
                                    </p:anim>
                                    <p:anim calcmode="lin" valueType="num">
                                      <p:cBhvr>
                                        <p:cTn id="13"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wipe(left)">
                                      <p:cBhvr>
                                        <p:cTn id="1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Back to Topic 2</a:t>
            </a:r>
            <a:endParaRPr lang="en-US" sz="8250" dirty="0"/>
          </a:p>
        </p:txBody>
      </p:sp>
      <p:sp>
        <p:nvSpPr>
          <p:cNvPr id="4" name="Shape 4"/>
          <p:cNvSpPr txBox="1"/>
          <p:nvPr/>
        </p:nvSpPr>
        <p:spPr>
          <a:xfrm>
            <a:off x="685800" y="399592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Catch-up done. Now today's Topic 2 lesson.</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We do · Flat and straight-up lines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Through (2, −1)</a:t>
            </a:r>
            <a:endParaRPr lang="en-US" sz="3450" dirty="0"/>
          </a:p>
        </p:txBody>
      </p:sp>
      <p:sp>
        <p:nvSpPr>
          <p:cNvPr id="4" name="Shape 4"/>
          <p:cNvSpPr txBox="1"/>
          <p:nvPr/>
        </p:nvSpPr>
        <p:spPr>
          <a:xfrm>
            <a:off x="685800" y="1618488"/>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Horizontal: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5" name="Shape 5"/>
          <p:cNvSpPr txBox="1"/>
          <p:nvPr/>
        </p:nvSpPr>
        <p:spPr>
          <a:xfrm>
            <a:off x="685800" y="210388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6" name="Shape 6"/>
          <p:cNvSpPr txBox="1"/>
          <p:nvPr/>
        </p:nvSpPr>
        <p:spPr>
          <a:xfrm>
            <a:off x="685800" y="2756154"/>
            <a:ext cx="52195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Vertical: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____</a:t>
            </a:r>
            <a:endParaRPr lang="en-US" sz="1950" dirty="0"/>
          </a:p>
        </p:txBody>
      </p:sp>
      <p:sp>
        <p:nvSpPr>
          <p:cNvPr id="7" name="Shape 7"/>
          <p:cNvSpPr txBox="1"/>
          <p:nvPr/>
        </p:nvSpPr>
        <p:spPr>
          <a:xfrm>
            <a:off x="685800" y="3241548"/>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85800" y="3893820"/>
            <a:ext cx="52195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horizontal line and a vertical line are always perpendicular.</a:t>
            </a:r>
            <a:endParaRPr lang="en-US" sz="1575" dirty="0"/>
          </a:p>
        </p:txBody>
      </p:sp>
      <p:sp>
        <p:nvSpPr>
          <p:cNvPr id="9" name="Shape 9"/>
          <p:cNvSpPr/>
          <p:nvPr/>
        </p:nvSpPr>
        <p:spPr>
          <a:xfrm>
            <a:off x="6286348" y="1618488"/>
            <a:ext cx="2857500" cy="2857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6610198" y="1732788"/>
            <a:ext cx="0" cy="2495550"/>
          </a:xfrm>
          <a:prstGeom prst="line">
            <a:avLst/>
          </a:prstGeom>
          <a:ln w="9525" cap="flat">
            <a:solidFill>
              <a:srgbClr val="E6E8F2"/>
            </a:solidFill>
          </a:ln>
        </p:spPr>
      </p:cxnSp>
      <p:cxnSp>
        <p:nvCxnSpPr>
          <p:cNvPr id="11" name="Line 11"/>
          <p:cNvCxnSpPr/>
          <p:nvPr/>
        </p:nvCxnSpPr>
        <p:spPr>
          <a:xfrm>
            <a:off x="6879014" y="1732788"/>
            <a:ext cx="0" cy="2495550"/>
          </a:xfrm>
          <a:prstGeom prst="line">
            <a:avLst/>
          </a:prstGeom>
          <a:ln w="9525" cap="flat">
            <a:solidFill>
              <a:srgbClr val="E6E8F2"/>
            </a:solidFill>
          </a:ln>
        </p:spPr>
      </p:cxnSp>
      <p:cxnSp>
        <p:nvCxnSpPr>
          <p:cNvPr id="12" name="Line 12"/>
          <p:cNvCxnSpPr/>
          <p:nvPr/>
        </p:nvCxnSpPr>
        <p:spPr>
          <a:xfrm>
            <a:off x="7147831" y="1732788"/>
            <a:ext cx="0" cy="2495550"/>
          </a:xfrm>
          <a:prstGeom prst="line">
            <a:avLst/>
          </a:prstGeom>
          <a:ln w="9525" cap="flat">
            <a:solidFill>
              <a:srgbClr val="E6E8F2"/>
            </a:solidFill>
          </a:ln>
        </p:spPr>
      </p:cxnSp>
      <p:cxnSp>
        <p:nvCxnSpPr>
          <p:cNvPr id="13" name="Line 13"/>
          <p:cNvCxnSpPr/>
          <p:nvPr/>
        </p:nvCxnSpPr>
        <p:spPr>
          <a:xfrm>
            <a:off x="7416648" y="1732788"/>
            <a:ext cx="0" cy="2495550"/>
          </a:xfrm>
          <a:prstGeom prst="line">
            <a:avLst/>
          </a:prstGeom>
          <a:ln w="9525" cap="flat">
            <a:solidFill>
              <a:srgbClr val="E6E8F2"/>
            </a:solidFill>
          </a:ln>
        </p:spPr>
      </p:cxnSp>
      <p:cxnSp>
        <p:nvCxnSpPr>
          <p:cNvPr id="14" name="Line 14"/>
          <p:cNvCxnSpPr/>
          <p:nvPr/>
        </p:nvCxnSpPr>
        <p:spPr>
          <a:xfrm>
            <a:off x="7685464" y="1732788"/>
            <a:ext cx="0" cy="2495550"/>
          </a:xfrm>
          <a:prstGeom prst="line">
            <a:avLst/>
          </a:prstGeom>
          <a:ln w="9525" cap="flat">
            <a:solidFill>
              <a:srgbClr val="E6E8F2"/>
            </a:solidFill>
          </a:ln>
        </p:spPr>
      </p:cxnSp>
      <p:cxnSp>
        <p:nvCxnSpPr>
          <p:cNvPr id="15" name="Line 15"/>
          <p:cNvCxnSpPr/>
          <p:nvPr/>
        </p:nvCxnSpPr>
        <p:spPr>
          <a:xfrm>
            <a:off x="7954281" y="1732788"/>
            <a:ext cx="0" cy="2495550"/>
          </a:xfrm>
          <a:prstGeom prst="line">
            <a:avLst/>
          </a:prstGeom>
          <a:ln w="9525" cap="flat">
            <a:solidFill>
              <a:srgbClr val="E6E8F2"/>
            </a:solidFill>
          </a:ln>
        </p:spPr>
      </p:cxnSp>
      <p:cxnSp>
        <p:nvCxnSpPr>
          <p:cNvPr id="16" name="Line 16"/>
          <p:cNvCxnSpPr/>
          <p:nvPr/>
        </p:nvCxnSpPr>
        <p:spPr>
          <a:xfrm>
            <a:off x="8223098" y="1732788"/>
            <a:ext cx="0" cy="2495550"/>
          </a:xfrm>
          <a:prstGeom prst="line">
            <a:avLst/>
          </a:prstGeom>
          <a:ln w="9525" cap="flat">
            <a:solidFill>
              <a:srgbClr val="E6E8F2"/>
            </a:solidFill>
          </a:ln>
        </p:spPr>
      </p:cxnSp>
      <p:cxnSp>
        <p:nvCxnSpPr>
          <p:cNvPr id="17" name="Line 17"/>
          <p:cNvCxnSpPr/>
          <p:nvPr/>
        </p:nvCxnSpPr>
        <p:spPr>
          <a:xfrm>
            <a:off x="8491914" y="1732788"/>
            <a:ext cx="0" cy="2495550"/>
          </a:xfrm>
          <a:prstGeom prst="line">
            <a:avLst/>
          </a:prstGeom>
          <a:ln w="9525" cap="flat">
            <a:solidFill>
              <a:srgbClr val="E6E8F2"/>
            </a:solidFill>
          </a:ln>
        </p:spPr>
      </p:cxnSp>
      <p:cxnSp>
        <p:nvCxnSpPr>
          <p:cNvPr id="18" name="Line 18"/>
          <p:cNvCxnSpPr/>
          <p:nvPr/>
        </p:nvCxnSpPr>
        <p:spPr>
          <a:xfrm>
            <a:off x="8760731" y="1732788"/>
            <a:ext cx="0" cy="2495550"/>
          </a:xfrm>
          <a:prstGeom prst="line">
            <a:avLst/>
          </a:prstGeom>
          <a:ln w="9525" cap="flat">
            <a:solidFill>
              <a:srgbClr val="E6E8F2"/>
            </a:solidFill>
          </a:ln>
        </p:spPr>
      </p:cxnSp>
      <p:cxnSp>
        <p:nvCxnSpPr>
          <p:cNvPr id="19" name="Line 19"/>
          <p:cNvCxnSpPr/>
          <p:nvPr/>
        </p:nvCxnSpPr>
        <p:spPr>
          <a:xfrm>
            <a:off x="9029548" y="1732788"/>
            <a:ext cx="0" cy="2495550"/>
          </a:xfrm>
          <a:prstGeom prst="line">
            <a:avLst/>
          </a:prstGeom>
          <a:ln w="9525" cap="flat">
            <a:solidFill>
              <a:srgbClr val="E6E8F2"/>
            </a:solidFill>
          </a:ln>
        </p:spPr>
      </p:cxnSp>
      <p:cxnSp>
        <p:nvCxnSpPr>
          <p:cNvPr id="20" name="Line 20"/>
          <p:cNvCxnSpPr/>
          <p:nvPr/>
        </p:nvCxnSpPr>
        <p:spPr>
          <a:xfrm>
            <a:off x="6610198" y="4228338"/>
            <a:ext cx="2419350" cy="0"/>
          </a:xfrm>
          <a:prstGeom prst="line">
            <a:avLst/>
          </a:prstGeom>
          <a:ln w="9525" cap="flat">
            <a:solidFill>
              <a:srgbClr val="E6E8F2"/>
            </a:solidFill>
          </a:ln>
        </p:spPr>
      </p:cxnSp>
      <p:cxnSp>
        <p:nvCxnSpPr>
          <p:cNvPr id="21" name="Line 21"/>
          <p:cNvCxnSpPr/>
          <p:nvPr/>
        </p:nvCxnSpPr>
        <p:spPr>
          <a:xfrm>
            <a:off x="6610198" y="3951055"/>
            <a:ext cx="2419350" cy="0"/>
          </a:xfrm>
          <a:prstGeom prst="line">
            <a:avLst/>
          </a:prstGeom>
          <a:ln w="9525" cap="flat">
            <a:solidFill>
              <a:srgbClr val="E6E8F2"/>
            </a:solidFill>
          </a:ln>
        </p:spPr>
      </p:cxnSp>
      <p:cxnSp>
        <p:nvCxnSpPr>
          <p:cNvPr id="22" name="Line 22"/>
          <p:cNvCxnSpPr/>
          <p:nvPr/>
        </p:nvCxnSpPr>
        <p:spPr>
          <a:xfrm>
            <a:off x="6610198" y="3673771"/>
            <a:ext cx="2419350" cy="0"/>
          </a:xfrm>
          <a:prstGeom prst="line">
            <a:avLst/>
          </a:prstGeom>
          <a:ln w="9525" cap="flat">
            <a:solidFill>
              <a:srgbClr val="E6E8F2"/>
            </a:solidFill>
          </a:ln>
        </p:spPr>
      </p:cxnSp>
      <p:cxnSp>
        <p:nvCxnSpPr>
          <p:cNvPr id="23" name="Line 23"/>
          <p:cNvCxnSpPr/>
          <p:nvPr/>
        </p:nvCxnSpPr>
        <p:spPr>
          <a:xfrm>
            <a:off x="6610198" y="3396488"/>
            <a:ext cx="2419350" cy="0"/>
          </a:xfrm>
          <a:prstGeom prst="line">
            <a:avLst/>
          </a:prstGeom>
          <a:ln w="9525" cap="flat">
            <a:solidFill>
              <a:srgbClr val="E6E8F2"/>
            </a:solidFill>
          </a:ln>
        </p:spPr>
      </p:cxnSp>
      <p:cxnSp>
        <p:nvCxnSpPr>
          <p:cNvPr id="24" name="Line 24"/>
          <p:cNvCxnSpPr/>
          <p:nvPr/>
        </p:nvCxnSpPr>
        <p:spPr>
          <a:xfrm>
            <a:off x="6610198" y="3119205"/>
            <a:ext cx="2419350" cy="0"/>
          </a:xfrm>
          <a:prstGeom prst="line">
            <a:avLst/>
          </a:prstGeom>
          <a:ln w="9525" cap="flat">
            <a:solidFill>
              <a:srgbClr val="E6E8F2"/>
            </a:solidFill>
          </a:ln>
        </p:spPr>
      </p:cxnSp>
      <p:cxnSp>
        <p:nvCxnSpPr>
          <p:cNvPr id="25" name="Line 25"/>
          <p:cNvCxnSpPr/>
          <p:nvPr/>
        </p:nvCxnSpPr>
        <p:spPr>
          <a:xfrm>
            <a:off x="6610198" y="2841921"/>
            <a:ext cx="2419350" cy="0"/>
          </a:xfrm>
          <a:prstGeom prst="line">
            <a:avLst/>
          </a:prstGeom>
          <a:ln w="9525" cap="flat">
            <a:solidFill>
              <a:srgbClr val="E6E8F2"/>
            </a:solidFill>
          </a:ln>
        </p:spPr>
      </p:cxnSp>
      <p:cxnSp>
        <p:nvCxnSpPr>
          <p:cNvPr id="26" name="Line 26"/>
          <p:cNvCxnSpPr/>
          <p:nvPr/>
        </p:nvCxnSpPr>
        <p:spPr>
          <a:xfrm>
            <a:off x="6610198" y="2564638"/>
            <a:ext cx="2419350" cy="0"/>
          </a:xfrm>
          <a:prstGeom prst="line">
            <a:avLst/>
          </a:prstGeom>
          <a:ln w="9525" cap="flat">
            <a:solidFill>
              <a:srgbClr val="E6E8F2"/>
            </a:solidFill>
          </a:ln>
        </p:spPr>
      </p:cxnSp>
      <p:cxnSp>
        <p:nvCxnSpPr>
          <p:cNvPr id="27" name="Line 27"/>
          <p:cNvCxnSpPr/>
          <p:nvPr/>
        </p:nvCxnSpPr>
        <p:spPr>
          <a:xfrm>
            <a:off x="6610198" y="2287355"/>
            <a:ext cx="2419350" cy="0"/>
          </a:xfrm>
          <a:prstGeom prst="line">
            <a:avLst/>
          </a:prstGeom>
          <a:ln w="9525" cap="flat">
            <a:solidFill>
              <a:srgbClr val="E6E8F2"/>
            </a:solidFill>
          </a:ln>
        </p:spPr>
      </p:cxnSp>
      <p:cxnSp>
        <p:nvCxnSpPr>
          <p:cNvPr id="28" name="Line 28"/>
          <p:cNvCxnSpPr/>
          <p:nvPr/>
        </p:nvCxnSpPr>
        <p:spPr>
          <a:xfrm>
            <a:off x="6610198" y="2010071"/>
            <a:ext cx="2419350" cy="0"/>
          </a:xfrm>
          <a:prstGeom prst="line">
            <a:avLst/>
          </a:prstGeom>
          <a:ln w="9525" cap="flat">
            <a:solidFill>
              <a:srgbClr val="E6E8F2"/>
            </a:solidFill>
          </a:ln>
        </p:spPr>
      </p:cxnSp>
      <p:cxnSp>
        <p:nvCxnSpPr>
          <p:cNvPr id="29" name="Line 29"/>
          <p:cNvCxnSpPr/>
          <p:nvPr/>
        </p:nvCxnSpPr>
        <p:spPr>
          <a:xfrm>
            <a:off x="6610198" y="1732788"/>
            <a:ext cx="2419350" cy="0"/>
          </a:xfrm>
          <a:prstGeom prst="line">
            <a:avLst/>
          </a:prstGeom>
          <a:ln w="9525" cap="flat">
            <a:solidFill>
              <a:srgbClr val="E6E8F2"/>
            </a:solidFill>
          </a:ln>
        </p:spPr>
      </p:cxnSp>
      <p:cxnSp>
        <p:nvCxnSpPr>
          <p:cNvPr id="30" name="Line 30"/>
          <p:cNvCxnSpPr/>
          <p:nvPr/>
        </p:nvCxnSpPr>
        <p:spPr>
          <a:xfrm>
            <a:off x="7685464" y="1732788"/>
            <a:ext cx="0" cy="2495550"/>
          </a:xfrm>
          <a:prstGeom prst="line">
            <a:avLst/>
          </a:prstGeom>
          <a:ln w="19050" cap="flat">
            <a:solidFill>
              <a:srgbClr val="5F6272"/>
            </a:solidFill>
          </a:ln>
        </p:spPr>
      </p:cxnSp>
      <p:cxnSp>
        <p:nvCxnSpPr>
          <p:cNvPr id="31" name="Line 31"/>
          <p:cNvCxnSpPr/>
          <p:nvPr/>
        </p:nvCxnSpPr>
        <p:spPr>
          <a:xfrm>
            <a:off x="6610198" y="2841921"/>
            <a:ext cx="2419350" cy="0"/>
          </a:xfrm>
          <a:prstGeom prst="line">
            <a:avLst/>
          </a:prstGeom>
          <a:ln w="19050" cap="flat">
            <a:solidFill>
              <a:srgbClr val="5F6272"/>
            </a:solidFill>
          </a:ln>
        </p:spPr>
      </p:cxnSp>
      <p:sp>
        <p:nvSpPr>
          <p:cNvPr id="32" name="Shape 32"/>
          <p:cNvSpPr txBox="1"/>
          <p:nvPr/>
        </p:nvSpPr>
        <p:spPr>
          <a:xfrm>
            <a:off x="63358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3" name="Shape 33"/>
          <p:cNvSpPr txBox="1"/>
          <p:nvPr/>
        </p:nvSpPr>
        <p:spPr>
          <a:xfrm>
            <a:off x="66046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4" name="Shape 34"/>
          <p:cNvSpPr txBox="1"/>
          <p:nvPr/>
        </p:nvSpPr>
        <p:spPr>
          <a:xfrm>
            <a:off x="68735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71423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6" name="Shape 36"/>
          <p:cNvSpPr txBox="1"/>
          <p:nvPr/>
        </p:nvSpPr>
        <p:spPr>
          <a:xfrm>
            <a:off x="741114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67996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8" name="Shape 38"/>
          <p:cNvSpPr txBox="1"/>
          <p:nvPr/>
        </p:nvSpPr>
        <p:spPr>
          <a:xfrm>
            <a:off x="794877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217594"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0" name="Shape 40"/>
          <p:cNvSpPr txBox="1"/>
          <p:nvPr/>
        </p:nvSpPr>
        <p:spPr>
          <a:xfrm>
            <a:off x="8486411"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8755228" y="4247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2" name="Shape 42"/>
          <p:cNvSpPr txBox="1"/>
          <p:nvPr/>
        </p:nvSpPr>
        <p:spPr>
          <a:xfrm>
            <a:off x="6043270" y="4136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a:t>
            </a:r>
            <a:endParaRPr lang="en-US" sz="975" dirty="0"/>
          </a:p>
        </p:txBody>
      </p:sp>
      <p:sp>
        <p:nvSpPr>
          <p:cNvPr id="43" name="Shape 43"/>
          <p:cNvSpPr txBox="1"/>
          <p:nvPr/>
        </p:nvSpPr>
        <p:spPr>
          <a:xfrm>
            <a:off x="6043270" y="38596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6043270" y="35823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6043270" y="3305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6043270" y="30277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7" name="Shape 47"/>
          <p:cNvSpPr txBox="1"/>
          <p:nvPr/>
        </p:nvSpPr>
        <p:spPr>
          <a:xfrm>
            <a:off x="6043270" y="275048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6043270" y="24731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a:t>
            </a:r>
            <a:endParaRPr lang="en-US" sz="975" dirty="0"/>
          </a:p>
        </p:txBody>
      </p:sp>
      <p:sp>
        <p:nvSpPr>
          <p:cNvPr id="49" name="Shape 49"/>
          <p:cNvSpPr txBox="1"/>
          <p:nvPr/>
        </p:nvSpPr>
        <p:spPr>
          <a:xfrm>
            <a:off x="6043270" y="219591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0" name="Shape 50"/>
          <p:cNvSpPr txBox="1"/>
          <p:nvPr/>
        </p:nvSpPr>
        <p:spPr>
          <a:xfrm>
            <a:off x="6043270" y="19186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a:t>
            </a:r>
            <a:endParaRPr lang="en-US" sz="975" dirty="0"/>
          </a:p>
        </p:txBody>
      </p:sp>
      <p:sp>
        <p:nvSpPr>
          <p:cNvPr id="51" name="Shape 51"/>
          <p:cNvSpPr txBox="1"/>
          <p:nvPr/>
        </p:nvSpPr>
        <p:spPr>
          <a:xfrm>
            <a:off x="6043270"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cxnSp>
        <p:nvCxnSpPr>
          <p:cNvPr id="52" name="Line 52"/>
          <p:cNvCxnSpPr/>
          <p:nvPr/>
        </p:nvCxnSpPr>
        <p:spPr>
          <a:xfrm>
            <a:off x="6610198" y="3119205"/>
            <a:ext cx="2419350" cy="0"/>
          </a:xfrm>
          <a:prstGeom prst="line">
            <a:avLst/>
          </a:prstGeom>
          <a:ln w="38100" cap="rnd">
            <a:solidFill>
              <a:srgbClr val="16171D"/>
            </a:solidFill>
          </a:ln>
        </p:spPr>
      </p:cxnSp>
      <p:sp>
        <p:nvSpPr>
          <p:cNvPr id="53" name="Shape 53"/>
          <p:cNvSpPr txBox="1"/>
          <p:nvPr/>
        </p:nvSpPr>
        <p:spPr>
          <a:xfrm>
            <a:off x="6537808" y="3138255"/>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−1</a:t>
            </a:r>
            <a:endParaRPr lang="en-US" sz="1275" dirty="0"/>
          </a:p>
        </p:txBody>
      </p:sp>
      <p:cxnSp>
        <p:nvCxnSpPr>
          <p:cNvPr id="54" name="Line 54"/>
          <p:cNvCxnSpPr/>
          <p:nvPr/>
        </p:nvCxnSpPr>
        <p:spPr>
          <a:xfrm flipV="1">
            <a:off x="8223098" y="1732788"/>
            <a:ext cx="0" cy="2495550"/>
          </a:xfrm>
          <a:prstGeom prst="line">
            <a:avLst/>
          </a:prstGeom>
          <a:ln w="38100" cap="rnd">
            <a:solidFill>
              <a:srgbClr val="7A4FC4"/>
            </a:solidFill>
          </a:ln>
        </p:spPr>
      </p:cxnSp>
      <p:sp>
        <p:nvSpPr>
          <p:cNvPr id="55" name="Shape 55"/>
          <p:cNvSpPr txBox="1"/>
          <p:nvPr/>
        </p:nvSpPr>
        <p:spPr>
          <a:xfrm>
            <a:off x="5731358"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x = 2</a:t>
            </a:r>
            <a:endParaRPr lang="en-US" sz="1275" dirty="0"/>
          </a:p>
        </p:txBody>
      </p:sp>
      <p:sp>
        <p:nvSpPr>
          <p:cNvPr id="56" name="Shape 56"/>
          <p:cNvSpPr/>
          <p:nvPr/>
        </p:nvSpPr>
        <p:spPr>
          <a:xfrm>
            <a:off x="8170710" y="306681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308823" y="287155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a:t>
            </a:r>
            <a:endParaRPr lang="en-US" sz="112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3" fill="hold">
                      <p:stCondLst>
                        <p:cond delay="indefinite"/>
                      </p:stCondLst>
                      <p:childTnLst>
                        <p:par>
                          <p:cTn id="24"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52"/>
                                        </p:tgtEl>
                                        <p:attrNameLst>
                                          <p:attrName>style.visibility</p:attrName>
                                        </p:attrNameLst>
                                      </p:cBhvr>
                                      <p:to>
                                        <p:strVal val="visible"/>
                                      </p:to>
                                    </p:set>
                                    <p:animEffect transition="in" filter="wipe(left)">
                                      <p:cBhvr>
                                        <p:cTn id="18" dur="700"/>
                                        <p:tgtEl>
                                          <p:spTgt spid="52"/>
                                        </p:tgtEl>
                                      </p:cBhvr>
                                    </p:animEffect>
                                  </p:childTnLst>
                                </p:cTn>
                              </p:par>
                              <p:par>
                                <p:cTn id="22" presetID="22" presetClass="entr" presetSubtype="8" fill="hold" nodeType="withEffect">
                                  <p:stCondLst>
                                    <p:cond delay="0"/>
                                  </p:stCondLst>
                                  <p:childTnLst>
                                    <p:set>
                                      <p:cBhvr>
                                        <p:cTn id="20" dur="1" fill="hold">
                                          <p:stCondLst>
                                            <p:cond delay="0"/>
                                          </p:stCondLst>
                                        </p:cTn>
                                        <p:tgtEl>
                                          <p:spTgt spid="53"/>
                                        </p:tgtEl>
                                        <p:attrNameLst>
                                          <p:attrName>style.visibility</p:attrName>
                                        </p:attrNameLst>
                                      </p:cBhvr>
                                      <p:to>
                                        <p:strVal val="visible"/>
                                      </p:to>
                                    </p:set>
                                    <p:animEffect transition="in" filter="wipe(left)">
                                      <p:cBhvr>
                                        <p:cTn id="21" dur="700"/>
                                        <p:tgtEl>
                                          <p:spTgt spid="53"/>
                                        </p:tgtEl>
                                      </p:cBhvr>
                                    </p:animEffect>
                                  </p:childTnLst>
                                </p:cTn>
                              </p:par>
                            </p:childTnLst>
                          </p:cTn>
                        </p:par>
                      </p:childTnLst>
                    </p:cTn>
                  </p:par>
                  <p:par>
                    <p:cTn id="31" fill="hold">
                      <p:stCondLst>
                        <p:cond delay="indefinite"/>
                      </p:stCondLst>
                      <p:childTnLst>
                        <p:par>
                          <p:cTn id="32" fill="hold">
                            <p:stCondLst>
                              <p:cond delay="0"/>
                            </p:stCondLst>
                            <p:childTnLst>
                              <p:par>
                                <p:cTn id="27" presetID="22" presetClass="entr" presetSubtype="8" fill="hold" nodeType="clickEffect">
                                  <p:stCondLst>
                                    <p:cond delay="0"/>
                                  </p:stCondLst>
                                  <p:childTnLst>
                                    <p:set>
                                      <p:cBhvr>
                                        <p:cTn id="25" dur="1" fill="hold">
                                          <p:stCondLst>
                                            <p:cond delay="0"/>
                                          </p:stCondLst>
                                        </p:cTn>
                                        <p:tgtEl>
                                          <p:spTgt spid="54"/>
                                        </p:tgtEl>
                                        <p:attrNameLst>
                                          <p:attrName>style.visibility</p:attrName>
                                        </p:attrNameLst>
                                      </p:cBhvr>
                                      <p:to>
                                        <p:strVal val="visible"/>
                                      </p:to>
                                    </p:set>
                                    <p:animEffect transition="in" filter="wipe(left)">
                                      <p:cBhvr>
                                        <p:cTn id="26" dur="700"/>
                                        <p:tgtEl>
                                          <p:spTgt spid="54"/>
                                        </p:tgtEl>
                                      </p:cBhvr>
                                    </p:animEffect>
                                  </p:childTnLst>
                                </p:cTn>
                              </p:par>
                              <p:par>
                                <p:cTn id="30" presetID="22" presetClass="entr" presetSubtype="8" fill="hold" nodeType="withEffect">
                                  <p:stCondLst>
                                    <p:cond delay="0"/>
                                  </p:stCondLst>
                                  <p:childTnLst>
                                    <p:set>
                                      <p:cBhvr>
                                        <p:cTn id="28" dur="1" fill="hold">
                                          <p:stCondLst>
                                            <p:cond delay="0"/>
                                          </p:stCondLst>
                                        </p:cTn>
                                        <p:tgtEl>
                                          <p:spTgt spid="55"/>
                                        </p:tgtEl>
                                        <p:attrNameLst>
                                          <p:attrName>style.visibility</p:attrName>
                                        </p:attrNameLst>
                                      </p:cBhvr>
                                      <p:to>
                                        <p:strVal val="visible"/>
                                      </p:to>
                                    </p:set>
                                    <p:animEffect transition="in" filter="wipe(left)">
                                      <p:cBhvr>
                                        <p:cTn id="29" dur="700"/>
                                        <p:tgtEl>
                                          <p:spTgt spid="5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I do · Write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2</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+ 1, through (6, 2)</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given slope 2. Step 2: new slope:</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3: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a:solidFill>
                  <a:srgbClr val="16171D"/>
                </a:solidFill>
                <a:latin typeface="Segoe UI"/>
                <a:cs typeface="Segoe UI"/>
              </a:rPr>
              <a:t xml:space="preserve">(</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− 6)</a:t>
            </a:r>
            <a:endParaRPr lang="en-US" sz="1950" dirty="0"/>
          </a:p>
        </p:txBody>
      </p:sp>
      <p:sp>
        <p:nvSpPr>
          <p:cNvPr id="7" name="Shape 7"/>
          <p:cNvSpPr txBox="1"/>
          <p:nvPr/>
        </p:nvSpPr>
        <p:spPr>
          <a:xfrm>
            <a:off x="685800" y="335584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4: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− 2 = −</a:t>
            </a:r>
            <a:r>
              <a:rPr lang="en-US" sz="1950" dirty="0">
                <a:solidFill>
                  <a:srgbClr val="16171D"/>
                </a:solidFill>
                <a:latin typeface="Segoe UI"/>
                <a:cs typeface="Segoe UI"/>
              </a:rPr>
              <a:t xml:space="preserve">1</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8" name="Shape 8"/>
          <p:cNvSpPr txBox="1"/>
          <p:nvPr/>
        </p:nvSpPr>
        <p:spPr>
          <a:xfrm>
            <a:off x="685800" y="387934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ppt_w</p:attrName>
                                        </p:attrNameLst>
                                      </p:cBhvr>
                                      <p:tavLst>
                                        <p:tav tm="0">
                                          <p:val>
                                            <p:fltVal val="0"/>
                                          </p:val>
                                        </p:tav>
                                        <p:tav tm="100000">
                                          <p:val>
                                            <p:strVal val="#ppt_w"/>
                                          </p:val>
                                        </p:tav>
                                      </p:tavLst>
                                    </p:anim>
                                    <p:anim calcmode="lin" valueType="num">
                                      <p:cBhvr>
                                        <p:cTn id="13" dur="500" fill="hold"/>
                                        <p:tgtEl>
                                          <p:spTgt spid="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You do · Try it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New slope: ____</a:t>
            </a:r>
            <a:endParaRPr lang="en-US" sz="1950" dirty="0"/>
          </a:p>
        </p:txBody>
      </p:sp>
      <p:sp>
        <p:nvSpPr>
          <p:cNvPr id="5" name="Shape 5"/>
          <p:cNvSpPr txBox="1"/>
          <p:nvPr/>
        </p:nvSpPr>
        <p:spPr>
          <a:xfrm>
            <a:off x="685800" y="214198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685800" y="283235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− 1 = ____(</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7" name="Shape 7"/>
          <p:cNvSpPr txBox="1"/>
          <p:nvPr/>
        </p:nvSpPr>
        <p:spPr>
          <a:xfrm>
            <a:off x="685800" y="3355848"/>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8" name="Shape 8"/>
          <p:cNvSpPr txBox="1"/>
          <p:nvPr/>
        </p:nvSpPr>
        <p:spPr>
          <a:xfrm>
            <a:off x="685800" y="404622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____</a:t>
            </a:r>
            <a:endParaRPr lang="en-US" sz="1950" dirty="0"/>
          </a:p>
        </p:txBody>
      </p:sp>
      <p:sp>
        <p:nvSpPr>
          <p:cNvPr id="9" name="Shape 9"/>
          <p:cNvSpPr txBox="1"/>
          <p:nvPr/>
        </p:nvSpPr>
        <p:spPr>
          <a:xfrm>
            <a:off x="685800" y="456971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Check it · Step by step · ★ Essential</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 to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 = 3</a:t>
            </a:r>
            <a:r>
              <a:rPr lang="en-US" sz="3450" dirty="0" b="1" i="1">
                <a:solidFill>
                  <a:srgbClr val="16171D"/>
                </a:solidFill>
                <a:latin typeface="Segoe UI"/>
                <a:cs typeface="Segoe UI"/>
              </a:rPr>
              <a:t xml:space="preserve">x</a:t>
            </a:r>
            <a:r>
              <a:rPr lang="en-US" sz="3450" dirty="0" b="1">
                <a:solidFill>
                  <a:srgbClr val="16171D"/>
                </a:solidFill>
                <a:latin typeface="Segoe UI"/>
                <a:cs typeface="Segoe UI"/>
              </a:rPr>
              <a:t xml:space="preserve">, through (3, 1)</a:t>
            </a:r>
            <a:endParaRPr lang="en-US" sz="3450" dirty="0"/>
          </a:p>
        </p:txBody>
      </p:sp>
      <p:sp>
        <p:nvSpPr>
          <p:cNvPr id="11" name="Shape 11"/>
          <p:cNvSpPr txBox="1"/>
          <p:nvPr/>
        </p:nvSpPr>
        <p:spPr>
          <a:xfrm>
            <a:off x="685800" y="1618488"/>
            <a:ext cx="10820095" cy="3282696"/>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104009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Write the perpendicular line</a:t>
            </a:r>
            <a:endParaRPr lang="en-US" sz="2100" dirty="0"/>
          </a:p>
        </p:txBody>
      </p:sp>
      <p:sp>
        <p:nvSpPr>
          <p:cNvPr id="5" name="Shape 5"/>
          <p:cNvSpPr txBox="1"/>
          <p:nvPr/>
        </p:nvSpPr>
        <p:spPr>
          <a:xfrm>
            <a:off x="895350" y="2260092"/>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1.</a:t>
            </a:r>
            <a:r>
              <a:rPr lang="en-US" sz="1575" dirty="0">
                <a:solidFill>
                  <a:srgbClr val="16171D"/>
                </a:solidFill>
                <a:latin typeface="Segoe UI"/>
                <a:cs typeface="Segoe UI"/>
              </a:rPr>
              <a:t xml:space="preserve"> The given slope is the number with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3.</a:t>
            </a:r>
            <a:endParaRPr lang="en-US" sz="1575" dirty="0"/>
          </a:p>
        </p:txBody>
      </p:sp>
      <p:sp>
        <p:nvSpPr>
          <p:cNvPr id="6" name="Shape 6"/>
          <p:cNvSpPr txBox="1"/>
          <p:nvPr/>
        </p:nvSpPr>
        <p:spPr>
          <a:xfrm>
            <a:off x="895350" y="2650236"/>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2.</a:t>
            </a:r>
            <a:r>
              <a:rPr lang="en-US" sz="1575" dirty="0">
                <a:solidFill>
                  <a:srgbClr val="16171D"/>
                </a:solidFill>
                <a:latin typeface="Segoe UI"/>
                <a:cs typeface="Segoe UI"/>
              </a:rPr>
              <a:t xml:space="preserve"> 3 =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 Flip it to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then change the sign: the new slope is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895350" y="3040380"/>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3.</a:t>
            </a:r>
            <a:r>
              <a:rPr lang="en-US" sz="1575" dirty="0">
                <a:solidFill>
                  <a:srgbClr val="16171D"/>
                </a:solidFill>
                <a:latin typeface="Segoe UI"/>
                <a:cs typeface="Segoe UI"/>
              </a:rPr>
              <a:t xml:space="preserve"> Put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3,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1 into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m</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− 3).</a:t>
            </a:r>
            <a:endParaRPr lang="en-US" sz="1575" dirty="0"/>
          </a:p>
        </p:txBody>
      </p:sp>
      <p:sp>
        <p:nvSpPr>
          <p:cNvPr id="8" name="Shape 8"/>
          <p:cNvSpPr txBox="1"/>
          <p:nvPr/>
        </p:nvSpPr>
        <p:spPr>
          <a:xfrm>
            <a:off x="895350" y="3430524"/>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4.</a:t>
            </a:r>
            <a:r>
              <a:rPr lang="en-US" sz="1575" dirty="0">
                <a:solidFill>
                  <a:srgbClr val="16171D"/>
                </a:solidFill>
                <a:latin typeface="Segoe UI"/>
                <a:cs typeface="Segoe UI"/>
              </a:rPr>
              <a:t xml:space="preserve"> 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and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 · (−3) = +1. Now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− 1 =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3</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+ 1.</a:t>
            </a:r>
            <a:endParaRPr lang="en-US" sz="1575" dirty="0"/>
          </a:p>
        </p:txBody>
      </p:sp>
      <p:sp>
        <p:nvSpPr>
          <p:cNvPr id="9" name="Shape 9"/>
          <p:cNvSpPr txBox="1"/>
          <p:nvPr/>
        </p:nvSpPr>
        <p:spPr>
          <a:xfrm>
            <a:off x="895350" y="3820668"/>
            <a:ext cx="104009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Step 5.</a:t>
            </a:r>
            <a:r>
              <a:rPr lang="en-US" sz="1575" dirty="0">
                <a:solidFill>
                  <a:srgbClr val="16171D"/>
                </a:solidFill>
                <a:latin typeface="Segoe UI"/>
                <a:cs typeface="Segoe UI"/>
              </a:rPr>
              <a:t xml:space="preserve"> Add 1 to both sides to get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alone: 1 + 1 = 2.</a:t>
            </a:r>
            <a:endParaRPr lang="en-US" sz="1575" dirty="0"/>
          </a:p>
        </p:txBody>
      </p:sp>
      <p:sp>
        <p:nvSpPr>
          <p:cNvPr id="10" name="Shape 10"/>
          <p:cNvSpPr txBox="1"/>
          <p:nvPr/>
        </p:nvSpPr>
        <p:spPr>
          <a:xfrm>
            <a:off x="895350" y="421081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ppt_w</p:attrName>
                                        </p:attrNameLst>
                                      </p:cBhvr>
                                      <p:tavLst>
                                        <p:tav tm="0">
                                          <p:val>
                                            <p:fltVal val="0"/>
                                          </p:val>
                                        </p:tav>
                                        <p:tav tm="100000">
                                          <p:val>
                                            <p:strVal val="#ppt_w"/>
                                          </p:val>
                                        </p:tav>
                                      </p:tavLst>
                                    </p:anim>
                                    <p:anim calcmode="lin" valueType="num">
                                      <p:cBhvr>
                                        <p:cTn id="41"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9" name="Shape 9"/>
          <p:cNvSpPr txBox="1"/>
          <p:nvPr/>
        </p:nvSpPr>
        <p:spPr>
          <a:xfrm>
            <a:off x="685800" y="1618488"/>
            <a:ext cx="3479698" cy="277672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What slope is perpendicular to </a:t>
            </a:r>
            <a:r>
              <a:rPr lang="en-US" sz="1950" dirty="0">
                <a:solidFill>
                  <a:srgbClr val="16171D"/>
                </a:solidFill>
                <a:latin typeface="Segoe UI"/>
                <a:cs typeface="Segoe UI"/>
              </a:rPr>
              <a:t xml:space="preserve">3</a:t>
            </a:r>
            <a:r>
              <a:rPr lang="en-US" sz="1950" dirty="0">
                <a:solidFill>
                  <a:srgbClr val="16171D"/>
                </a:solidFill>
                <a:latin typeface="Segoe UI"/>
                <a:cs typeface="Segoe UI"/>
              </a:rPr>
              <a:t xml:space="preserve">/</a:t>
            </a:r>
            <a:r>
              <a:rPr lang="en-US" sz="1950" dirty="0">
                <a:solidFill>
                  <a:srgbClr val="16171D"/>
                </a:solidFill>
                <a:latin typeface="Segoe UI"/>
                <a:cs typeface="Segoe UI"/>
              </a:rPr>
              <a:t xml:space="preserve">4</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895350" y="2534412"/>
            <a:ext cx="257636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895350" y="314858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Flip 3/4: 4/3.</a:t>
            </a:r>
            <a:endParaRPr lang="en-US" sz="1575" dirty="0"/>
          </a:p>
        </p:txBody>
      </p:sp>
      <p:sp>
        <p:nvSpPr>
          <p:cNvPr id="7" name="Shape 7"/>
          <p:cNvSpPr txBox="1"/>
          <p:nvPr/>
        </p:nvSpPr>
        <p:spPr>
          <a:xfrm>
            <a:off x="895350" y="3538728"/>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Change the sign: −4/3.</a:t>
            </a:r>
            <a:endParaRPr lang="en-US" sz="1575" dirty="0"/>
          </a:p>
        </p:txBody>
      </p:sp>
      <p:sp>
        <p:nvSpPr>
          <p:cNvPr id="8" name="Shape 8"/>
          <p:cNvSpPr txBox="1"/>
          <p:nvPr/>
        </p:nvSpPr>
        <p:spPr>
          <a:xfrm>
            <a:off x="895350" y="3928872"/>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Check: 3/4 · (−4/3) = −1.</a:t>
            </a:r>
            <a:endParaRPr lang="en-US" sz="1575" dirty="0"/>
          </a:p>
        </p:txBody>
      </p:sp>
      <p:sp>
        <p:nvSpPr>
          <p:cNvPr id="14" name="Shape 14"/>
          <p:cNvSpPr txBox="1"/>
          <p:nvPr/>
        </p:nvSpPr>
        <p:spPr>
          <a:xfrm>
            <a:off x="4355998" y="1618488"/>
            <a:ext cx="3479698" cy="286664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4565548"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vertical line through (5, 6).</a:t>
            </a:r>
            <a:endParaRPr lang="en-US" sz="1950" dirty="0"/>
          </a:p>
        </p:txBody>
      </p:sp>
      <p:sp>
        <p:nvSpPr>
          <p:cNvPr id="11" name="Shape 11"/>
          <p:cNvSpPr txBox="1"/>
          <p:nvPr/>
        </p:nvSpPr>
        <p:spPr>
          <a:xfrm>
            <a:off x="4565548" y="2534412"/>
            <a:ext cx="274219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2" name="Shape 12"/>
          <p:cNvSpPr txBox="1"/>
          <p:nvPr/>
        </p:nvSpPr>
        <p:spPr>
          <a:xfrm>
            <a:off x="4565548" y="3148584"/>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On a vertical line, x never changes.</a:t>
            </a:r>
            <a:endParaRPr lang="en-US" sz="1575" dirty="0"/>
          </a:p>
        </p:txBody>
      </p:sp>
      <p:sp>
        <p:nvSpPr>
          <p:cNvPr id="13" name="Shape 13"/>
          <p:cNvSpPr txBox="1"/>
          <p:nvPr/>
        </p:nvSpPr>
        <p:spPr>
          <a:xfrm>
            <a:off x="4565548" y="37787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The point has x = 5, so the line is x = 5.</a:t>
            </a:r>
            <a:endParaRPr lang="en-US" sz="1575" dirty="0"/>
          </a:p>
        </p:txBody>
      </p:sp>
      <p:sp>
        <p:nvSpPr>
          <p:cNvPr id="20" name="Shape 20"/>
          <p:cNvSpPr txBox="1"/>
          <p:nvPr/>
        </p:nvSpPr>
        <p:spPr>
          <a:xfrm>
            <a:off x="8026197" y="1618488"/>
            <a:ext cx="3479698" cy="361111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5" name="Shape 15"/>
          <p:cNvSpPr txBox="1"/>
          <p:nvPr/>
        </p:nvSpPr>
        <p:spPr>
          <a:xfrm>
            <a:off x="8235747" y="1789938"/>
            <a:ext cx="30605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line ⊥ to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through (0, 3).</a:t>
            </a:r>
            <a:endParaRPr lang="en-US" sz="1950" dirty="0"/>
          </a:p>
        </p:txBody>
      </p:sp>
      <p:sp>
        <p:nvSpPr>
          <p:cNvPr id="16" name="Shape 16"/>
          <p:cNvSpPr txBox="1"/>
          <p:nvPr/>
        </p:nvSpPr>
        <p:spPr>
          <a:xfrm>
            <a:off x="8235747" y="2534412"/>
            <a:ext cx="30605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8235747" y="3502914"/>
            <a:ext cx="3060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t>
            </a:r>
            <a:r>
              <a:rPr lang="en-US" sz="1575" dirty="0">
                <a:solidFill>
                  <a:srgbClr val="16171D"/>
                </a:solidFill>
                <a:latin typeface="Segoe UI"/>
                <a:cs typeface="Segoe UI"/>
              </a:rPr>
              <a:t xml:space="preserve"> The slope of y = −x is −1.</a:t>
            </a:r>
            <a:endParaRPr lang="en-US" sz="1575" dirty="0"/>
          </a:p>
        </p:txBody>
      </p:sp>
      <p:sp>
        <p:nvSpPr>
          <p:cNvPr id="18" name="Shape 18"/>
          <p:cNvSpPr txBox="1"/>
          <p:nvPr/>
        </p:nvSpPr>
        <p:spPr>
          <a:xfrm>
            <a:off x="8235747" y="3893058"/>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Flip and change the sign: −1 becomes 1.</a:t>
            </a:r>
            <a:endParaRPr lang="en-US" sz="1575" dirty="0"/>
          </a:p>
        </p:txBody>
      </p:sp>
      <p:sp>
        <p:nvSpPr>
          <p:cNvPr id="19" name="Shape 19"/>
          <p:cNvSpPr txBox="1"/>
          <p:nvPr/>
        </p:nvSpPr>
        <p:spPr>
          <a:xfrm>
            <a:off x="8235747" y="4523232"/>
            <a:ext cx="3060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(0, 3) is on the y-axis, so b = 3: y = x + 3.</a:t>
            </a:r>
            <a:endParaRPr lang="en-US" sz="157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2"/>
                                        </p:tgtEl>
                                        <p:attrNameLst>
                                          <p:attrName>style.visibility</p:attrName>
                                        </p:attrNameLst>
                                      </p:cBhvr>
                                      <p:to>
                                        <p:strVal val="visible"/>
                                      </p:to>
                                    </p:set>
                                    <p:animEffect transition="in" filter="fade">
                                      <p:cBhvr>
                                        <p:cTn id="39" dur="500"/>
                                        <p:tgtEl>
                                          <p:spTgt spid="12"/>
                                        </p:tgtEl>
                                      </p:cBhvr>
                                    </p:animEffect>
                                    <p:anim calcmode="lin" valueType="num">
                                      <p:cBhvr>
                                        <p:cTn id="40" dur="500" fill="hold"/>
                                        <p:tgtEl>
                                          <p:spTgt spid="12"/>
                                        </p:tgtEl>
                                        <p:attrNameLst>
                                          <p:attrName>ppt_x</p:attrName>
                                        </p:attrNameLst>
                                      </p:cBhvr>
                                      <p:tavLst>
                                        <p:tav tm="0">
                                          <p:val>
                                            <p:strVal val="#ppt_x"/>
                                          </p:val>
                                        </p:tav>
                                        <p:tav tm="100000">
                                          <p:val>
                                            <p:strVal val="#ppt_x"/>
                                          </p:val>
                                        </p:tav>
                                      </p:tavLst>
                                    </p:anim>
                                    <p:anim calcmode="lin" valueType="num">
                                      <p:cBhvr>
                                        <p:cTn id="41"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3"/>
                                        </p:tgtEl>
                                        <p:attrNameLst>
                                          <p:attrName>style.visibility</p:attrName>
                                        </p:attrNameLst>
                                      </p:cBhvr>
                                      <p:to>
                                        <p:strVal val="visible"/>
                                      </p:to>
                                    </p:set>
                                    <p:animEffect transition="in" filter="fade">
                                      <p:cBhvr>
                                        <p:cTn id="46" dur="500"/>
                                        <p:tgtEl>
                                          <p:spTgt spid="13"/>
                                        </p:tgtEl>
                                      </p:cBhvr>
                                    </p:animEffect>
                                    <p:anim calcmode="lin" valueType="num">
                                      <p:cBhvr>
                                        <p:cTn id="47" dur="500" fill="hold"/>
                                        <p:tgtEl>
                                          <p:spTgt spid="13"/>
                                        </p:tgtEl>
                                        <p:attrNameLst>
                                          <p:attrName>ppt_x</p:attrName>
                                        </p:attrNameLst>
                                      </p:cBhvr>
                                      <p:tavLst>
                                        <p:tav tm="0">
                                          <p:val>
                                            <p:strVal val="#ppt_x"/>
                                          </p:val>
                                        </p:tav>
                                        <p:tav tm="100000">
                                          <p:val>
                                            <p:strVal val="#ppt_x"/>
                                          </p:val>
                                        </p:tav>
                                      </p:tavLst>
                                    </p:anim>
                                    <p:anim calcmode="lin" valueType="num">
                                      <p:cBhvr>
                                        <p:cTn id="48"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53" presetClass="entr" presetSubtype="16" fill="hold" nodeType="clickEffect">
                                  <p:stCondLst>
                                    <p:cond delay="0"/>
                                  </p:stCondLst>
                                  <p:childTnLst>
                                    <p:set>
                                      <p:cBhvr>
                                        <p:cTn id="52" dur="1" fill="hold">
                                          <p:stCondLst>
                                            <p:cond delay="0"/>
                                          </p:stCondLst>
                                        </p:cTn>
                                        <p:tgtEl>
                                          <p:spTgt spid="16"/>
                                        </p:tgtEl>
                                        <p:attrNameLst>
                                          <p:attrName>style.visibility</p:attrName>
                                        </p:attrNameLst>
                                      </p:cBhvr>
                                      <p:to>
                                        <p:strVal val="visible"/>
                                      </p:to>
                                    </p:set>
                                    <p:animEffect transition="in" filter="fade">
                                      <p:cBhvr>
                                        <p:cTn id="53" dur="500"/>
                                        <p:tgtEl>
                                          <p:spTgt spid="16"/>
                                        </p:tgtEl>
                                      </p:cBhvr>
                                    </p:animEffect>
                                    <p:anim calcmode="lin" valueType="num">
                                      <p:cBhvr>
                                        <p:cTn id="54" dur="500" fill="hold"/>
                                        <p:tgtEl>
                                          <p:spTgt spid="16"/>
                                        </p:tgtEl>
                                        <p:attrNameLst>
                                          <p:attrName>ppt_w</p:attrName>
                                        </p:attrNameLst>
                                      </p:cBhvr>
                                      <p:tavLst>
                                        <p:tav tm="0">
                                          <p:val>
                                            <p:fltVal val="0"/>
                                          </p:val>
                                        </p:tav>
                                        <p:tav tm="100000">
                                          <p:val>
                                            <p:strVal val="#ppt_w"/>
                                          </p:val>
                                        </p:tav>
                                      </p:tavLst>
                                    </p:anim>
                                    <p:anim calcmode="lin" valueType="num">
                                      <p:cBhvr>
                                        <p:cTn id="55"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17"/>
                                        </p:tgtEl>
                                        <p:attrNameLst>
                                          <p:attrName>style.visibility</p:attrName>
                                        </p:attrNameLst>
                                      </p:cBhvr>
                                      <p:to>
                                        <p:strVal val="visible"/>
                                      </p:to>
                                    </p:set>
                                    <p:animEffect transition="in" filter="fade">
                                      <p:cBhvr>
                                        <p:cTn id="60" dur="500"/>
                                        <p:tgtEl>
                                          <p:spTgt spid="17"/>
                                        </p:tgtEl>
                                      </p:cBhvr>
                                    </p:animEffect>
                                    <p:anim calcmode="lin" valueType="num">
                                      <p:cBhvr>
                                        <p:cTn id="61" dur="500" fill="hold"/>
                                        <p:tgtEl>
                                          <p:spTgt spid="17"/>
                                        </p:tgtEl>
                                        <p:attrNameLst>
                                          <p:attrName>ppt_x</p:attrName>
                                        </p:attrNameLst>
                                      </p:cBhvr>
                                      <p:tavLst>
                                        <p:tav tm="0">
                                          <p:val>
                                            <p:strVal val="#ppt_x"/>
                                          </p:val>
                                        </p:tav>
                                        <p:tav tm="100000">
                                          <p:val>
                                            <p:strVal val="#ppt_x"/>
                                          </p:val>
                                        </p:tav>
                                      </p:tavLst>
                                    </p:anim>
                                    <p:anim calcmode="lin" valueType="num">
                                      <p:cBhvr>
                                        <p:cTn id="62"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18"/>
                                        </p:tgtEl>
                                        <p:attrNameLst>
                                          <p:attrName>style.visibility</p:attrName>
                                        </p:attrNameLst>
                                      </p:cBhvr>
                                      <p:to>
                                        <p:strVal val="visible"/>
                                      </p:to>
                                    </p:set>
                                    <p:animEffect transition="in" filter="fade">
                                      <p:cBhvr>
                                        <p:cTn id="67" dur="500"/>
                                        <p:tgtEl>
                                          <p:spTgt spid="18"/>
                                        </p:tgtEl>
                                      </p:cBhvr>
                                    </p:animEffect>
                                    <p:anim calcmode="lin" valueType="num">
                                      <p:cBhvr>
                                        <p:cTn id="68" dur="500" fill="hold"/>
                                        <p:tgtEl>
                                          <p:spTgt spid="18"/>
                                        </p:tgtEl>
                                        <p:attrNameLst>
                                          <p:attrName>ppt_x</p:attrName>
                                        </p:attrNameLst>
                                      </p:cBhvr>
                                      <p:tavLst>
                                        <p:tav tm="0">
                                          <p:val>
                                            <p:strVal val="#ppt_x"/>
                                          </p:val>
                                        </p:tav>
                                        <p:tav tm="100000">
                                          <p:val>
                                            <p:strVal val="#ppt_x"/>
                                          </p:val>
                                        </p:tav>
                                      </p:tavLst>
                                    </p:anim>
                                    <p:anim calcmode="lin" valueType="num">
                                      <p:cBhvr>
                                        <p:cTn id="69"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19"/>
                                        </p:tgtEl>
                                        <p:attrNameLst>
                                          <p:attrName>style.visibility</p:attrName>
                                        </p:attrNameLst>
                                      </p:cBhvr>
                                      <p:to>
                                        <p:strVal val="visible"/>
                                      </p:to>
                                    </p:set>
                                    <p:animEffect transition="in" filter="fade">
                                      <p:cBhvr>
                                        <p:cTn id="74" dur="500"/>
                                        <p:tgtEl>
                                          <p:spTgt spid="19"/>
                                        </p:tgtEl>
                                      </p:cBhvr>
                                    </p:animEffect>
                                    <p:anim calcmode="lin" valueType="num">
                                      <p:cBhvr>
                                        <p:cTn id="75" dur="500" fill="hold"/>
                                        <p:tgtEl>
                                          <p:spTgt spid="19"/>
                                        </p:tgtEl>
                                        <p:attrNameLst>
                                          <p:attrName>ppt_x</p:attrName>
                                        </p:attrNameLst>
                                      </p:cBhvr>
                                      <p:tavLst>
                                        <p:tav tm="0">
                                          <p:val>
                                            <p:strVal val="#ppt_x"/>
                                          </p:val>
                                        </p:tav>
                                        <p:tav tm="100000">
                                          <p:val>
                                            <p:strVal val="#ppt_x"/>
                                          </p:val>
                                        </p:tav>
                                      </p:tavLst>
                                    </p:anim>
                                    <p:anim calcmode="lin" valueType="num">
                                      <p:cBhvr>
                                        <p:cTn id="76"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Topic 2 · Lesson 3 · End of Day 2</a:t>
            </a:r>
            <a:endParaRPr lang="en-US" sz="1200" dirty="0"/>
          </a:p>
        </p:txBody>
      </p:sp>
      <p:sp>
        <p:nvSpPr>
          <p:cNvPr id="3" name="Shape 3"/>
          <p:cNvSpPr txBox="1"/>
          <p:nvPr/>
        </p:nvSpPr>
        <p:spPr>
          <a:xfrm>
            <a:off x="685800" y="2512314"/>
            <a:ext cx="10820095" cy="25694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Stop here: Thursday, October 29</a:t>
            </a:r>
            <a:endParaRPr lang="en-US" sz="8250" dirty="0"/>
          </a:p>
        </p:txBody>
      </p:sp>
      <p:sp>
        <p:nvSpPr>
          <p:cNvPr id="4" name="Shape 4"/>
          <p:cNvSpPr txBox="1"/>
          <p:nvPr/>
        </p:nvSpPr>
        <p:spPr>
          <a:xfrm>
            <a:off x="685800" y="525322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Next class: Monday, November 2. Topic 2 Review: Lesson 4 in brief, then the online practice test. Tonight: the Lesson 3 quiz as homework.</a:t>
            </a:r>
            <a:endParaRPr lang="en-US" sz="225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4" name="Shape 4"/>
          <p:cNvSpPr txBox="1"/>
          <p:nvPr/>
        </p:nvSpPr>
        <p:spPr>
          <a:xfrm>
            <a:off x="685800" y="1675638"/>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5" name="Shape 5"/>
          <p:cNvSpPr txBox="1"/>
          <p:nvPr/>
        </p:nvSpPr>
        <p:spPr>
          <a:xfrm>
            <a:off x="685800" y="2176272"/>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IEP pages have 3 answer choices, 6 homework and quiz questions, a reminder card and read-aloud. Allow notes and a calculator, and give extended time as the IEP lists.</a:t>
            </a:r>
            <a:endParaRPr lang="en-US" sz="1575"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theme/theme1.xml><?xml version="1.0" encoding="utf-8"?>
<a:theme xmlns:a="http://schemas.openxmlformats.org/drawingml/2006/main" name="Determining Slopes of Perpendicular Lin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25</Slides>
  <Notes>25</Notes>
</Properties>
</file>

<file path=docProps/core.xml><?xml version="1.0" encoding="utf-8"?>
<cp:coreProperties xmlns:cp="http://schemas.openxmlformats.org/package/2006/metadata/core-properties" xmlns:dc="http://purl.org/dc/elements/1.1/">
  <dc:title>Determining Slopes of Perpendicular Lines</dc:title>
  <dc:subject>Bluebonnet Algebra I</dc:subject>
</cp:coreProperties>
</file>