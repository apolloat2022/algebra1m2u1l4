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11"/>
    <p:sldId id="257" r:id="rId12"/>
    <p:sldId id="258" r:id="rId13"/>
    <p:sldId id="259" r:id="rId14"/>
    <p:sldId id="260" r:id="rId15"/>
    <p:sldId id="261" r:id="rId16"/>
    <p:sldId id="262" r:id="rId17"/>
    <p:sldId id="263" r:id="rId18"/>
    <p:sldId id="264" r:id="rId19"/>
    <p:sldId id="265" r:id="rId20"/>
    <p:sldId id="266" r:id="rId21"/>
    <p:sldId id="267" r:id="rId22"/>
    <p:sldId id="268" r:id="rId23"/>
    <p:sldId id="269" r:id="rId24"/>
    <p:sldId id="270" r:id="rId25"/>
    <p:sldId id="271" r:id="rId26"/>
    <p:sldId id="272" r:id="rId27"/>
    <p:sldId id="273" r:id="rId28"/>
    <p:sldId id="274" r:id="rId29"/>
    <p:sldId id="275" r:id="rId30"/>
    <p:sldId id="276" r:id="rId31"/>
    <p:sldId id="277" r:id="rId32"/>
    <p:sldId id="278" r:id="rId33"/>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 Id="rId26" Type="http://schemas.openxmlformats.org/officeDocument/2006/relationships/slide" Target="slides/slide16.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slide" Target="slides/slide21.xml"/><Relationship Id="rId32" Type="http://schemas.openxmlformats.org/officeDocument/2006/relationships/slide" Target="slides/slide22.xml"/><Relationship Id="rId33"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Notes</a:t>
            </a: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4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IEP version of Topic 2 Lesson 3: a modified lesson that keeps the core skills and cuts the number of items. Each skill follows I do (teacher models), We do (together, with sentence frames), You do (student tries, then reveal). Click to reveal each answer. The bell work for every day follows this slide (the same questions as the online bell work); skip to the current day. Apply each student's IEP accommodations too: extended time, read-aloud, breaks, calculator, small group.</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starts here on Thursday, October 29.</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The same 4 questions are on the online Day 1 bell work. Reveal the answers one at a time. Answer key: 1. Flip the fraction: ⅔ · 3/2 = 1. 2. A 90° counterclockwise rotation maps (x, y) to (−y, x). 3. Slope = (5 − 0) ÷ (8 − 0) = 5/8. 4. In y = mx + b, m = −3.</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Catch-up from Topic 1 Lesson 6 so the class is ready for the End of Topic 1 Assessment (Lessons 1–6). Keep it to about 15 minutes, then go back to the Topic 2 lesson.</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 up: 6 shirts only earns $90.</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the Topic 1 Catch-Up. Continue with the Topic 2 lesson.</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slide up, or give students a printed copy, while they work.</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each: the product should be −1.</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ends here on Thursday, October 29.</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starts here on Monday, November 2.</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The same 4 questions are on the online Day 2 bell work. Reveal the answers one at a time. Answer key: 1. Perpendicular slopes are negative reciprocals: ⅔ · (−3/2) = −1. 2. On a horizontal line y never changes, so the rise is 0. 3. Every point on a vertical line has the same x-value, here 2. 4. Negative reciprocals multiply to −1.</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Catch-up from Topic 1 Lesson 6 so the class is ready for the End of Topic 1 Assessment (Lessons 1–6). Keep it to about 15 minutes, then go back to the Topic 2 lesson.</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that both forms are the same: distribute 15(t − 3) = 15t − 45. The zero, 3, means she must sell 3 shirts just to break even.</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the Topic 1 Catch-Up. Continue with the Topic 2 lesson.</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each step; point to the steps slide.</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time to try all items before revealing. Students may use the steps slide and their notes.</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ends here on Monday, November 2.</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pattFill prst="lgGrid">
          <a:fgClr>
            <a:srgbClr val="E6E8F2"/>
          </a:fgClr>
          <a:bgClr>
            <a:srgbClr val="F7F7FB"/>
          </a:bgClr>
        </a:pattFill>
        <a:effectLst/>
      </p:bgPr>
    </p:bg>
    <p:spTree>
      <p:nvGrpSpPr>
        <p:cNvPr id="1" name=""/>
        <p:cNvGrpSpPr/>
        <p:nvPr/>
      </p:nvGrpSpPr>
      <p:grpSpPr>
        <a:xfrm>
          <a:off x="0" y="0"/>
          <a:ext cx="0" cy="0"/>
          <a:chOff x="0" y="0"/>
          <a:chExt cx="0" cy="0"/>
        </a:xfrm>
      </p:grpSpPr>
      <p:sp>
        <p:nvSpPr>
          <p:cNvPr id="101" name="Brand 101"/>
          <p:cNvSpPr/>
          <p:nvPr userDrawn="1"/>
        </p:nvSpPr>
        <p:spPr>
          <a:xfrm>
            <a:off x="9631375" y="128016"/>
            <a:ext cx="274320" cy="274320"/>
          </a:xfrm>
          <a:prstGeom prst="roundRect">
            <a:avLst>
              <a:gd name="adj" fmla="val 25000"/>
            </a:avLst>
          </a:prstGeom>
          <a:solidFill>
            <a:srgbClr val="3050B8"/>
          </a:solidFill>
          <a:ln>
            <a:noFill/>
          </a:ln>
        </p:spPr>
      </p:sp>
      <p:sp>
        <p:nvSpPr>
          <p:cNvPr id="102" name="Brand 102"/>
          <p:cNvSpPr/>
          <p:nvPr userDrawn="1"/>
        </p:nvSpPr>
        <p:spPr>
          <a:xfrm>
            <a:off x="9748818" y="172593"/>
            <a:ext cx="39434" cy="39434"/>
          </a:xfrm>
          <a:prstGeom prst="ellipse">
            <a:avLst/>
          </a:prstGeom>
          <a:solidFill>
            <a:srgbClr val="FFFFFF"/>
          </a:solidFill>
          <a:ln>
            <a:noFill/>
          </a:ln>
        </p:spPr>
      </p:sp>
      <p:sp>
        <p:nvSpPr>
          <p:cNvPr id="103" name="Brand 103"/>
          <p:cNvSpPr/>
          <p:nvPr userDrawn="1"/>
        </p:nvSpPr>
        <p:spPr>
          <a:xfrm>
            <a:off x="9719672" y="207740"/>
            <a:ext cx="42862" cy="42862"/>
          </a:xfrm>
          <a:prstGeom prst="ellipse">
            <a:avLst/>
          </a:prstGeom>
          <a:solidFill>
            <a:srgbClr val="FFFFFF">
              <a:alpha val="92000"/>
            </a:srgbClr>
          </a:solidFill>
          <a:ln>
            <a:noFill/>
          </a:ln>
        </p:spPr>
      </p:sp>
      <p:sp>
        <p:nvSpPr>
          <p:cNvPr id="104" name="Brand 104"/>
          <p:cNvSpPr/>
          <p:nvPr userDrawn="1"/>
        </p:nvSpPr>
        <p:spPr>
          <a:xfrm>
            <a:off x="9774536" y="207740"/>
            <a:ext cx="42862" cy="42862"/>
          </a:xfrm>
          <a:prstGeom prst="ellipse">
            <a:avLst/>
          </a:prstGeom>
          <a:solidFill>
            <a:srgbClr val="FFFFFF">
              <a:alpha val="92000"/>
            </a:srgbClr>
          </a:solidFill>
          <a:ln>
            <a:noFill/>
          </a:ln>
        </p:spPr>
      </p:sp>
      <p:sp>
        <p:nvSpPr>
          <p:cNvPr id="105" name="Brand 105"/>
          <p:cNvSpPr/>
          <p:nvPr userDrawn="1"/>
        </p:nvSpPr>
        <p:spPr>
          <a:xfrm>
            <a:off x="9746247" y="230886"/>
            <a:ext cx="44577" cy="44577"/>
          </a:xfrm>
          <a:prstGeom prst="ellipse">
            <a:avLst/>
          </a:prstGeom>
          <a:solidFill>
            <a:srgbClr val="FFFFFF"/>
          </a:solidFill>
          <a:ln>
            <a:noFill/>
          </a:ln>
        </p:spPr>
      </p:sp>
      <p:sp>
        <p:nvSpPr>
          <p:cNvPr id="106" name="Brand 106"/>
          <p:cNvSpPr/>
          <p:nvPr userDrawn="1"/>
        </p:nvSpPr>
        <p:spPr>
          <a:xfrm>
            <a:off x="9709385" y="255746"/>
            <a:ext cx="46292" cy="46292"/>
          </a:xfrm>
          <a:prstGeom prst="ellipse">
            <a:avLst/>
          </a:prstGeom>
          <a:solidFill>
            <a:srgbClr val="FFFFFF">
              <a:alpha val="82000"/>
            </a:srgbClr>
          </a:solidFill>
          <a:ln>
            <a:noFill/>
          </a:ln>
        </p:spPr>
      </p:sp>
      <p:sp>
        <p:nvSpPr>
          <p:cNvPr id="107" name="Brand 107"/>
          <p:cNvSpPr/>
          <p:nvPr userDrawn="1"/>
        </p:nvSpPr>
        <p:spPr>
          <a:xfrm>
            <a:off x="9781394" y="255746"/>
            <a:ext cx="46292" cy="46292"/>
          </a:xfrm>
          <a:prstGeom prst="ellipse">
            <a:avLst/>
          </a:prstGeom>
          <a:solidFill>
            <a:srgbClr val="FFFFFF">
              <a:alpha val="82000"/>
            </a:srgbClr>
          </a:solidFill>
          <a:ln>
            <a:noFill/>
          </a:ln>
        </p:spPr>
      </p:sp>
      <p:sp>
        <p:nvSpPr>
          <p:cNvPr id="108" name="Brand 108"/>
          <p:cNvSpPr/>
          <p:nvPr userDrawn="1"/>
        </p:nvSpPr>
        <p:spPr>
          <a:xfrm>
            <a:off x="9761677" y="303752"/>
            <a:ext cx="13716" cy="55721"/>
          </a:xfrm>
          <a:prstGeom prst="roundRect">
            <a:avLst>
              <a:gd name="adj" fmla="val 50000"/>
            </a:avLst>
          </a:prstGeom>
          <a:solidFill>
            <a:srgbClr val="9FD18B"/>
          </a:solidFill>
          <a:ln>
            <a:noFill/>
          </a:ln>
        </p:spPr>
      </p:sp>
      <p:sp>
        <p:nvSpPr>
          <p:cNvPr id="109" name="Shape 109"/>
          <p:cNvSpPr txBox="1"/>
          <p:nvPr/>
        </p:nvSpPr>
        <p:spPr>
          <a:xfrm>
            <a:off x="9960559" y="109728"/>
            <a:ext cx="1737360" cy="310896"/>
          </a:xfrm>
          <a:prstGeom prst="rect">
            <a:avLst/>
          </a:prstGeom>
          <a:noFill/>
          <a:ln>
            <a:noFill/>
          </a:ln>
        </p:spPr>
        <p:txBody>
          <a:bodyPr wrap="square" lIns="18288" tIns="0" rIns="18288" bIns="0" anchor="ctr">
            <a:noAutofit/>
          </a:bodyPr>
          <a:lstStyle/>
          <a:p>
            <a:pPr algn="l">
              <a:lnSpc>
                <a:spcPct val="100000"/>
              </a:lnSpc>
            </a:pPr>
            <a:r>
              <a:rPr lang="en-US" sz="1125" dirty="0">
                <a:solidFill>
                  <a:srgbClr val="16171D"/>
                </a:solidFill>
                <a:latin typeface="Segoe UI"/>
                <a:cs typeface="Segoe UI"/>
              </a:rPr>
              <a:t xml:space="preserve">Bluebonnet </a:t>
            </a:r>
            <a:r>
              <a:rPr lang="en-US" sz="1125" dirty="0" b="1">
                <a:solidFill>
                  <a:srgbClr val="3050B8"/>
                </a:solidFill>
                <a:latin typeface="Segoe UI"/>
                <a:cs typeface="Segoe UI"/>
              </a:rPr>
              <a:t xml:space="preserve">Algebra I</a:t>
            </a:r>
            <a:endParaRPr lang="en-US" sz="1125" dirty="0"/>
          </a:p>
        </p:txBody>
      </p:sp>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algebra1m2u1l4.vercel.app/IEP/t2-lesson3-bellwork-day1-IEP.html" TargetMode="External"/><Relationship Id="rId4" Type="http://schemas.openxmlformats.org/officeDocument/2006/relationships/hyperlink" Target="https://algebra1m2u1l4.vercel.app/IEP/t2-lesson3-bellwork-day2-IEP.html" TargetMode="External"/><Relationship Id="rId5" Type="http://schemas.openxmlformats.org/officeDocument/2006/relationships/hyperlink" Target="https://algebra1m2u1l4.vercel.app/IEP/t2-lesson3-homework-IEP.html" TargetMode="External"/><Relationship Id="rId6" Type="http://schemas.openxmlformats.org/officeDocument/2006/relationships/hyperlink" Target="https://algebra1m2u1l4.vercel.app/IEP/t2-lesson3-quiz-IEP.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hyperlink" Target="https://algebra1m2u1l4.vercel.app/IEP/lesson6-homework-IEP.html" TargetMode="External"/><Relationship Id="rId4" Type="http://schemas.openxmlformats.org/officeDocument/2006/relationships/hyperlink" Target="https://algebra1m2u1l4.vercel.app/IEP/lesson6-quiz-IEP.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hyperlink" Target="https://algebra1m2u1l4.vercel.app/IEP/lesson6-homework-IEP.html" TargetMode="External"/><Relationship Id="rId4" Type="http://schemas.openxmlformats.org/officeDocument/2006/relationships/hyperlink" Target="https://algebra1m2u1l4.vercel.app/IEP/lesson6-quiz-IEP.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hyperlink" Target="https://algebra1m2u1l4.vercel.app/IEP/t2-lesson3-bellwork-day1-IEP.html" TargetMode="External"/><Relationship Id="rId4" Type="http://schemas.openxmlformats.org/officeDocument/2006/relationships/hyperlink" Target="https://algebra1m2u1l4.vercel.app/IEP/t2-lesson3-bellwork-day2-IEP.html" TargetMode="External"/><Relationship Id="rId5" Type="http://schemas.openxmlformats.org/officeDocument/2006/relationships/hyperlink" Target="https://algebra1m2u1l4.vercel.app/IEP/t2-lesson3-homework-IEP.html" TargetMode="External"/><Relationship Id="rId6" Type="http://schemas.openxmlformats.org/officeDocument/2006/relationships/hyperlink" Target="https://algebra1m2u1l4.vercel.app/IEP/t2-lesson3-quiz-IEP.htm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Bluebonnet Algebra I · Module 2 · Topic 2 · Lesson 3 · IEP Version</a:t>
            </a:r>
            <a:endParaRPr lang="en-US" sz="1200" dirty="0"/>
          </a:p>
        </p:txBody>
      </p:sp>
      <p:sp>
        <p:nvSpPr>
          <p:cNvPr id="3" name="Shape 3"/>
          <p:cNvSpPr txBox="1"/>
          <p:nvPr/>
        </p:nvSpPr>
        <p:spPr>
          <a:xfrm>
            <a:off x="685800" y="961644"/>
            <a:ext cx="10820095" cy="740664"/>
          </a:xfrm>
          <a:prstGeom prst="rect">
            <a:avLst/>
          </a:prstGeom>
          <a:noFill/>
          <a:ln>
            <a:noFill/>
          </a:ln>
        </p:spPr>
        <p:txBody>
          <a:bodyPr wrap="square" lIns="36576" tIns="27432" rIns="36576" bIns="27432" anchor="t">
            <a:noAutofit/>
          </a:bodyPr>
          <a:lstStyle/>
          <a:p>
            <a:pPr algn="l">
              <a:lnSpc>
                <a:spcPct val="100000"/>
              </a:lnSpc>
            </a:pPr>
            <a:r>
              <a:rPr lang="en-US" sz="4500" dirty="0" b="1">
                <a:solidFill>
                  <a:srgbClr val="16171D"/>
                </a:solidFill>
                <a:latin typeface="Segoe UI"/>
                <a:cs typeface="Segoe UI"/>
              </a:rPr>
              <a:t xml:space="preserve">Slopes of Perpendicular Lines</a:t>
            </a:r>
            <a:endParaRPr lang="en-US" sz="4500" dirty="0"/>
          </a:p>
        </p:txBody>
      </p:sp>
      <p:sp>
        <p:nvSpPr>
          <p:cNvPr id="4" name="Shape 4"/>
          <p:cNvSpPr txBox="1"/>
          <p:nvPr/>
        </p:nvSpPr>
        <p:spPr>
          <a:xfrm>
            <a:off x="685800" y="1873758"/>
            <a:ext cx="10820095"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Adds a 15-minute Topic 1 Catch-Up (Lessons 5–6) each day · Day 1: Thu, Oct 29 · Day 2: Mon, Nov 2</a:t>
            </a:r>
            <a:endParaRPr lang="en-US" sz="1650" dirty="0"/>
          </a:p>
        </p:txBody>
      </p:sp>
      <p:sp>
        <p:nvSpPr>
          <p:cNvPr id="5" name="Shape 5"/>
          <p:cNvSpPr txBox="1"/>
          <p:nvPr/>
        </p:nvSpPr>
        <p:spPr>
          <a:xfrm>
            <a:off x="685800" y="2481072"/>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422" dirty="0" b="1" baseline="-25000">
                <a:solidFill>
                  <a:srgbClr val="C9561F"/>
                </a:solidFill>
                <a:latin typeface="Cambria"/>
                <a:cs typeface="Cambria"/>
              </a:rPr>
              <a:t xml:space="preserve">1</a:t>
            </a:r>
            <a:r>
              <a:rPr lang="en-US" sz="2850" dirty="0">
                <a:solidFill>
                  <a:srgbClr val="16171D"/>
                </a:solidFill>
                <a:latin typeface="Cambria"/>
                <a:cs typeface="Cambria"/>
              </a:rPr>
              <a:t xml:space="preserve"> · </a:t>
            </a:r>
            <a:r>
              <a:rPr lang="en-US" sz="2850" dirty="0" b="1" i="1">
                <a:solidFill>
                  <a:srgbClr val="C9561F"/>
                </a:solidFill>
                <a:latin typeface="Cambria"/>
                <a:cs typeface="Cambria"/>
              </a:rPr>
              <a:t xml:space="preserve">m</a:t>
            </a:r>
            <a:r>
              <a:rPr lang="en-US" sz="2422" dirty="0" b="1" baseline="-25000">
                <a:solidFill>
                  <a:srgbClr val="C9561F"/>
                </a:solidFill>
                <a:latin typeface="Cambria"/>
                <a:cs typeface="Cambria"/>
              </a:rPr>
              <a:t xml:space="preserve">2</a:t>
            </a:r>
            <a:r>
              <a:rPr lang="en-US" sz="2850" dirty="0">
                <a:solidFill>
                  <a:srgbClr val="16171D"/>
                </a:solidFill>
                <a:latin typeface="Cambria"/>
                <a:cs typeface="Cambria"/>
              </a:rPr>
              <a:t xml:space="preserve"> = −1</a:t>
            </a:r>
            <a:endParaRPr lang="en-US" sz="2850" dirty="0"/>
          </a:p>
        </p:txBody>
      </p:sp>
      <p:sp>
        <p:nvSpPr>
          <p:cNvPr id="6" name="Shape 6"/>
          <p:cNvSpPr txBox="1"/>
          <p:nvPr/>
        </p:nvSpPr>
        <p:spPr>
          <a:xfrm>
            <a:off x="685800" y="3217926"/>
            <a:ext cx="10820095"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I can…</a:t>
            </a:r>
            <a:endParaRPr lang="en-US" sz="2100" dirty="0"/>
          </a:p>
        </p:txBody>
      </p:sp>
      <p:sp>
        <p:nvSpPr>
          <p:cNvPr id="7" name="Shape 7"/>
          <p:cNvSpPr txBox="1"/>
          <p:nvPr/>
        </p:nvSpPr>
        <p:spPr>
          <a:xfrm>
            <a:off x="685800" y="376428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find the slope of a perpendicular line.</a:t>
            </a:r>
            <a:endParaRPr lang="en-US" sz="1950" dirty="0"/>
          </a:p>
        </p:txBody>
      </p:sp>
      <p:sp>
        <p:nvSpPr>
          <p:cNvPr id="8" name="Shape 8"/>
          <p:cNvSpPr txBox="1"/>
          <p:nvPr/>
        </p:nvSpPr>
        <p:spPr>
          <a:xfrm>
            <a:off x="685800" y="428777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write equations of horizontal and vertical lines.</a:t>
            </a:r>
            <a:endParaRPr lang="en-US" sz="1950" dirty="0"/>
          </a:p>
        </p:txBody>
      </p:sp>
      <p:sp>
        <p:nvSpPr>
          <p:cNvPr id="9" name="Shape 9"/>
          <p:cNvSpPr txBox="1"/>
          <p:nvPr/>
        </p:nvSpPr>
        <p:spPr>
          <a:xfrm>
            <a:off x="685800" y="481126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write the equation of a perpendicular line through a point.</a:t>
            </a:r>
            <a:endParaRPr lang="en-US" sz="1950" dirty="0"/>
          </a:p>
        </p:txBody>
      </p:sp>
      <p:sp>
        <p:nvSpPr>
          <p:cNvPr id="10" name="Shape 10"/>
          <p:cNvSpPr txBox="1"/>
          <p:nvPr/>
        </p:nvSpPr>
        <p:spPr>
          <a:xfrm>
            <a:off x="685800" y="539191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5"/>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6"/>
              </a:rPr>
              <a:t xml:space="preserve">Quiz →</a:t>
            </a:r>
            <a:endParaRPr lang="en-US" sz="1800" dirty="0"/>
          </a:p>
        </p:txBody>
      </p:sp>
      <p:sp>
        <p:nvSpPr>
          <p:cNvPr id="11" name="Shape 11"/>
          <p:cNvSpPr txBox="1"/>
          <p:nvPr/>
        </p:nvSpPr>
        <p:spPr>
          <a:xfrm>
            <a:off x="685800" y="6185916"/>
            <a:ext cx="10820095" cy="397764"/>
          </a:xfrm>
          <a:prstGeom prst="rect">
            <a:avLst/>
          </a:prstGeom>
          <a:noFill/>
          <a:ln>
            <a:noFill/>
          </a:ln>
        </p:spPr>
        <p:txBody>
          <a:bodyPr wrap="square" lIns="36576" tIns="27432" rIns="36576" bIns="27432" anchor="t">
            <a:noAutofit/>
          </a:bodyPr>
          <a:lstStyle/>
          <a:p>
            <a:pPr algn="l">
              <a:lnSpc>
                <a:spcPct val="100000"/>
              </a:lnSpc>
            </a:pPr>
            <a:r>
              <a:rPr lang="en-US" sz="1125" dirty="0">
                <a:solidFill>
                  <a:srgbClr val="5F6272"/>
                </a:solidFill>
                <a:latin typeface="Segoe UI"/>
                <a:cs typeface="Segoe UI"/>
              </a:rPr>
              <a:t xml:space="preserve">Based on Bluebonnet Learning Secondary Mathematics, Algebra I (©2024–2025 Texas Education Agency, portions ©2021 Carnegie Learning, Inc.), licensed CC BY-NC 4.0. A private site for Algebra I teachers.</a:t>
            </a:r>
            <a:endParaRPr lang="en-US" sz="1125"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3 · Day 1 of 2 · Start here</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Start: Thursday, October 29</a:t>
            </a:r>
            <a:endParaRPr lang="en-US" sz="8250" dirty="0"/>
          </a:p>
        </p:txBody>
      </p:sp>
      <p:sp>
        <p:nvSpPr>
          <p:cNvPr id="4" name="Shape 4"/>
          <p:cNvSpPr txBox="1"/>
          <p:nvPr/>
        </p:nvSpPr>
        <p:spPr>
          <a:xfrm>
            <a:off x="685800" y="5253228"/>
            <a:ext cx="10820095" cy="694944"/>
          </a:xfrm>
          <a:prstGeom prst="rect">
            <a:avLst/>
          </a:prstGeom>
          <a:noFill/>
          <a:ln>
            <a:noFill/>
          </a:ln>
        </p:spPr>
        <p:txBody>
          <a:bodyPr wrap="square" lIns="36576" tIns="27432" rIns="36576" bIns="27432" anchor="t">
            <a:noAutofit/>
          </a:bodyPr>
          <a:lstStyle/>
          <a:p>
            <a:pPr algn="l">
              <a:lnSpc>
                <a:spcPct val="100000"/>
              </a:lnSpc>
            </a:pPr>
            <a:r>
              <a:rPr lang="en-US" sz="2100" dirty="0">
                <a:solidFill>
                  <a:srgbClr val="16171D"/>
                </a:solidFill>
                <a:latin typeface="Segoe UI"/>
                <a:cs typeface="Segoe UI"/>
              </a:rPr>
              <a:t xml:space="preserve">Today: bell work → Topic 1 catch-up (Write, evaluate and solve a function in context) → Lesson 3, Day 1.</a:t>
            </a:r>
            <a:endParaRPr lang="en-US" sz="2100" dirty="0"/>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Bell Work · Review · Thu, Oct 29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What is the reciprocal of </a:t>
            </a:r>
            <a:r>
              <a:rPr lang="en-US" sz="1950" dirty="0">
                <a:solidFill>
                  <a:srgbClr val="16171D"/>
                </a:solidFill>
                <a:latin typeface="Cambria"/>
                <a:cs typeface="Cambria"/>
              </a:rPr>
              <a:t xml:space="preserve">⅔</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161032"/>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3/2</a:t>
            </a:r>
            <a:endParaRPr lang="en-US" sz="2325" dirty="0"/>
          </a:p>
        </p:txBody>
      </p:sp>
      <p:sp>
        <p:nvSpPr>
          <p:cNvPr id="6" name="Shape 6"/>
          <p:cNvSpPr txBox="1"/>
          <p:nvPr/>
        </p:nvSpPr>
        <p:spPr>
          <a:xfrm>
            <a:off x="685800" y="2946654"/>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Rotate the point </a:t>
            </a:r>
            <a:r>
              <a:rPr lang="en-US" sz="1950" dirty="0">
                <a:solidFill>
                  <a:srgbClr val="16171D"/>
                </a:solidFill>
                <a:latin typeface="Cambria"/>
                <a:cs typeface="Cambria"/>
              </a:rPr>
              <a:t xml:space="preserve">(8, 5)</a:t>
            </a:r>
            <a:r>
              <a:rPr lang="en-US" sz="1950" dirty="0">
                <a:solidFill>
                  <a:srgbClr val="16171D"/>
                </a:solidFill>
                <a:latin typeface="Segoe UI"/>
                <a:cs typeface="Segoe UI"/>
              </a:rPr>
              <a:t xml:space="preserve"> 90° counterclockwise about the origin. Where does it go? </a:t>
            </a:r>
            <a:r>
              <a:rPr lang="en-US" sz="1575" dirty="0">
                <a:solidFill>
                  <a:srgbClr val="5F6272"/>
                </a:solidFill>
                <a:latin typeface="Segoe UI"/>
                <a:cs typeface="Segoe UI"/>
              </a:rPr>
              <a:t xml:space="preserve">(SE p. 306)</a:t>
            </a:r>
            <a:endParaRPr lang="en-US" sz="1950" dirty="0"/>
          </a:p>
        </p:txBody>
      </p:sp>
      <p:sp>
        <p:nvSpPr>
          <p:cNvPr id="7" name="Shape 7"/>
          <p:cNvSpPr txBox="1"/>
          <p:nvPr/>
        </p:nvSpPr>
        <p:spPr>
          <a:xfrm>
            <a:off x="685800" y="4026408"/>
            <a:ext cx="3073847"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(−5, 8)</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What is the slope of the segment from </a:t>
            </a:r>
            <a:r>
              <a:rPr lang="en-US" sz="1950" dirty="0">
                <a:solidFill>
                  <a:srgbClr val="16171D"/>
                </a:solidFill>
                <a:latin typeface="Cambria"/>
                <a:cs typeface="Cambria"/>
              </a:rPr>
              <a:t xml:space="preserve">(0, 0)</a:t>
            </a:r>
            <a:r>
              <a:rPr lang="en-US" sz="1950" dirty="0">
                <a:solidFill>
                  <a:srgbClr val="16171D"/>
                </a:solidFill>
                <a:latin typeface="Segoe UI"/>
                <a:cs typeface="Segoe UI"/>
              </a:rPr>
              <a:t xml:space="preserve"> to </a:t>
            </a:r>
            <a:r>
              <a:rPr lang="en-US" sz="1950" dirty="0">
                <a:solidFill>
                  <a:srgbClr val="16171D"/>
                </a:solidFill>
                <a:latin typeface="Cambria"/>
                <a:cs typeface="Cambria"/>
              </a:rPr>
              <a:t xml:space="preserve">(8, 5)</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306)</a:t>
            </a:r>
            <a:endParaRPr lang="en-US" sz="1950" dirty="0"/>
          </a:p>
        </p:txBody>
      </p:sp>
      <p:sp>
        <p:nvSpPr>
          <p:cNvPr id="9" name="Shape 9"/>
          <p:cNvSpPr txBox="1"/>
          <p:nvPr/>
        </p:nvSpPr>
        <p:spPr>
          <a:xfrm>
            <a:off x="6362548" y="2458212"/>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5/8</a:t>
            </a:r>
            <a:endParaRPr lang="en-US" sz="2325" dirty="0"/>
          </a:p>
        </p:txBody>
      </p:sp>
      <p:sp>
        <p:nvSpPr>
          <p:cNvPr id="10" name="Shape 10"/>
          <p:cNvSpPr txBox="1"/>
          <p:nvPr/>
        </p:nvSpPr>
        <p:spPr>
          <a:xfrm>
            <a:off x="6362548" y="3243834"/>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What is the slope of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+ 5</a:t>
            </a:r>
            <a:r>
              <a:rPr lang="en-US" sz="1950" dirty="0">
                <a:solidFill>
                  <a:srgbClr val="16171D"/>
                </a:solidFill>
                <a:latin typeface="Segoe UI"/>
                <a:cs typeface="Segoe UI"/>
              </a:rPr>
              <a:t xml:space="preserve">?</a:t>
            </a:r>
            <a:endParaRPr lang="en-US" sz="1950" dirty="0"/>
          </a:p>
        </p:txBody>
      </p:sp>
      <p:sp>
        <p:nvSpPr>
          <p:cNvPr id="11" name="Shape 11"/>
          <p:cNvSpPr txBox="1"/>
          <p:nvPr/>
        </p:nvSpPr>
        <p:spPr>
          <a:xfrm>
            <a:off x="6362548" y="3729228"/>
            <a:ext cx="224471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Thu, Oct 29 · about 15 minutes</a:t>
            </a:r>
            <a:endParaRPr lang="en-US" sz="1200" dirty="0"/>
          </a:p>
        </p:txBody>
      </p:sp>
      <p:sp>
        <p:nvSpPr>
          <p:cNvPr id="3" name="Shape 3"/>
          <p:cNvSpPr txBox="1"/>
          <p:nvPr/>
        </p:nvSpPr>
        <p:spPr>
          <a:xfrm>
            <a:off x="685800" y="1323594"/>
            <a:ext cx="10820095" cy="266090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Topic 1 Lesson 6: Write, evaluate and solve a function in context</a:t>
            </a:r>
            <a:endParaRPr lang="en-US" sz="5700" dirty="0"/>
          </a:p>
        </p:txBody>
      </p:sp>
      <p:sp>
        <p:nvSpPr>
          <p:cNvPr id="4" name="Shape 4"/>
          <p:cNvSpPr txBox="1"/>
          <p:nvPr/>
        </p:nvSpPr>
        <p:spPr>
          <a:xfrm>
            <a:off x="685800" y="415594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Lesson 3 evaluates slopes and points; this practices using function notation in a story.</a:t>
            </a:r>
            <a:endParaRPr lang="en-US" sz="2250" dirty="0"/>
          </a:p>
        </p:txBody>
      </p:sp>
      <p:sp>
        <p:nvSpPr>
          <p:cNvPr id="5" name="Shape 5"/>
          <p:cNvSpPr txBox="1"/>
          <p:nvPr/>
        </p:nvSpPr>
        <p:spPr>
          <a:xfrm>
            <a:off x="685800" y="506806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Topic 1 Lesson 6 practice: </a:t>
            </a:r>
            <a:r>
              <a:rPr lang="en-US" sz="1800" dirty="0">
                <a:solidFill>
                  <a:srgbClr val="3050B8"/>
                </a:solidFill>
                <a:latin typeface="Segoe UI"/>
                <a:cs typeface="Segoe UI"/>
                <a:hlinkClick r:id="rId3"/>
              </a:rPr>
              <a:t xml:space="preserve">Homework →</a:t>
            </a:r>
            <a:r>
              <a:rPr lang="en-US" sz="1800" dirty="0">
                <a:solidFill>
                  <a:srgbClr val="16171D"/>
                </a:solidFill>
                <a:latin typeface="Segoe UI"/>
                <a:cs typeface="Segoe UI"/>
              </a:rPr>
              <a:t xml:space="preserve"> · </a:t>
            </a:r>
            <a:r>
              <a:rPr lang="en-US" sz="1800" dirty="0">
                <a:solidFill>
                  <a:srgbClr val="3050B8"/>
                </a:solidFill>
                <a:latin typeface="Segoe UI"/>
                <a:cs typeface="Segoe UI"/>
                <a:hlinkClick r:id="rId4"/>
              </a:rPr>
              <a:t xml:space="preserve">Quiz →</a:t>
            </a:r>
            <a:endParaRPr lang="en-US" sz="1800" dirty="0"/>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You do · Try it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Nakota sells pretzels</a:t>
            </a:r>
            <a:endParaRPr lang="en-US" sz="3450" dirty="0"/>
          </a:p>
        </p:txBody>
      </p:sp>
      <p:sp>
        <p:nvSpPr>
          <p:cNvPr id="4" name="Shape 4"/>
          <p:cNvSpPr txBox="1"/>
          <p:nvPr/>
        </p:nvSpPr>
        <p:spPr>
          <a:xfrm>
            <a:off x="685800" y="1618488"/>
            <a:ext cx="1578864"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Pretzels</a:t>
            </a:r>
            <a:endParaRPr lang="en-US" sz="1950" dirty="0"/>
          </a:p>
        </p:txBody>
      </p:sp>
      <p:sp>
        <p:nvSpPr>
          <p:cNvPr id="5" name="Shape 5"/>
          <p:cNvSpPr txBox="1"/>
          <p:nvPr/>
        </p:nvSpPr>
        <p:spPr>
          <a:xfrm>
            <a:off x="2264664" y="1618488"/>
            <a:ext cx="1707642"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Money ($)</a:t>
            </a:r>
            <a:endParaRPr lang="en-US" sz="1950" dirty="0"/>
          </a:p>
        </p:txBody>
      </p:sp>
      <p:sp>
        <p:nvSpPr>
          <p:cNvPr id="6" name="Shape 6"/>
          <p:cNvSpPr txBox="1"/>
          <p:nvPr/>
        </p:nvSpPr>
        <p:spPr>
          <a:xfrm>
            <a:off x="685800" y="2061972"/>
            <a:ext cx="1578864"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0</a:t>
            </a:r>
            <a:endParaRPr lang="en-US" sz="1950" dirty="0"/>
          </a:p>
        </p:txBody>
      </p:sp>
      <p:sp>
        <p:nvSpPr>
          <p:cNvPr id="7" name="Shape 7"/>
          <p:cNvSpPr txBox="1"/>
          <p:nvPr/>
        </p:nvSpPr>
        <p:spPr>
          <a:xfrm>
            <a:off x="2264664" y="2061972"/>
            <a:ext cx="170764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0</a:t>
            </a:r>
            <a:endParaRPr lang="en-US" sz="1950" dirty="0"/>
          </a:p>
        </p:txBody>
      </p:sp>
      <p:sp>
        <p:nvSpPr>
          <p:cNvPr id="8" name="Shape 8"/>
          <p:cNvSpPr txBox="1"/>
          <p:nvPr/>
        </p:nvSpPr>
        <p:spPr>
          <a:xfrm>
            <a:off x="685800" y="2505456"/>
            <a:ext cx="1578864"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2</a:t>
            </a:r>
            <a:endParaRPr lang="en-US" sz="1950" dirty="0"/>
          </a:p>
        </p:txBody>
      </p:sp>
      <p:sp>
        <p:nvSpPr>
          <p:cNvPr id="9" name="Shape 9"/>
          <p:cNvSpPr txBox="1"/>
          <p:nvPr/>
        </p:nvSpPr>
        <p:spPr>
          <a:xfrm>
            <a:off x="2264664" y="2505456"/>
            <a:ext cx="170764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5</a:t>
            </a:r>
            <a:endParaRPr lang="en-US" sz="1950" dirty="0"/>
          </a:p>
        </p:txBody>
      </p:sp>
      <p:sp>
        <p:nvSpPr>
          <p:cNvPr id="10" name="Shape 10"/>
          <p:cNvSpPr txBox="1"/>
          <p:nvPr/>
        </p:nvSpPr>
        <p:spPr>
          <a:xfrm>
            <a:off x="685800" y="2948940"/>
            <a:ext cx="1578864"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4</a:t>
            </a:r>
            <a:endParaRPr lang="en-US" sz="1950" dirty="0"/>
          </a:p>
        </p:txBody>
      </p:sp>
      <p:sp>
        <p:nvSpPr>
          <p:cNvPr id="11" name="Shape 11"/>
          <p:cNvSpPr txBox="1"/>
          <p:nvPr/>
        </p:nvSpPr>
        <p:spPr>
          <a:xfrm>
            <a:off x="2264664" y="2948940"/>
            <a:ext cx="170764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10</a:t>
            </a:r>
            <a:endParaRPr lang="en-US" sz="1950" dirty="0"/>
          </a:p>
        </p:txBody>
      </p:sp>
      <p:sp>
        <p:nvSpPr>
          <p:cNvPr id="12" name="Shape 12"/>
          <p:cNvSpPr txBox="1"/>
          <p:nvPr/>
        </p:nvSpPr>
        <p:spPr>
          <a:xfrm>
            <a:off x="685800" y="3392424"/>
            <a:ext cx="1578864"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6</a:t>
            </a:r>
            <a:endParaRPr lang="en-US" sz="1950" dirty="0"/>
          </a:p>
        </p:txBody>
      </p:sp>
      <p:sp>
        <p:nvSpPr>
          <p:cNvPr id="13" name="Shape 13"/>
          <p:cNvSpPr txBox="1"/>
          <p:nvPr/>
        </p:nvSpPr>
        <p:spPr>
          <a:xfrm>
            <a:off x="2264664" y="3392424"/>
            <a:ext cx="170764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15</a:t>
            </a:r>
            <a:endParaRPr lang="en-US" sz="1950" dirty="0"/>
          </a:p>
        </p:txBody>
      </p:sp>
      <p:sp>
        <p:nvSpPr>
          <p:cNvPr id="14" name="Shape 14"/>
          <p:cNvSpPr txBox="1"/>
          <p:nvPr/>
        </p:nvSpPr>
        <p:spPr>
          <a:xfrm>
            <a:off x="6286348"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Rate: </a:t>
            </a:r>
            <a:r>
              <a:rPr lang="en-US" sz="1950" dirty="0">
                <a:solidFill>
                  <a:srgbClr val="16171D"/>
                </a:solidFill>
                <a:latin typeface="Segoe UI"/>
                <a:cs typeface="Segoe UI"/>
              </a:rPr>
              <a:t xml:space="preserve">5</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2</a:t>
            </a:r>
            <a:r>
              <a:rPr lang="en-US" sz="1950" dirty="0">
                <a:solidFill>
                  <a:srgbClr val="16171D"/>
                </a:solidFill>
                <a:latin typeface="Segoe UI"/>
                <a:cs typeface="Segoe UI"/>
              </a:rPr>
              <a:t xml:space="preserve"> = ____ dollars per pretzel</a:t>
            </a:r>
            <a:endParaRPr lang="en-US" sz="1950" dirty="0"/>
          </a:p>
        </p:txBody>
      </p:sp>
      <p:sp>
        <p:nvSpPr>
          <p:cNvPr id="15" name="Shape 15"/>
          <p:cNvSpPr txBox="1"/>
          <p:nvPr/>
        </p:nvSpPr>
        <p:spPr>
          <a:xfrm>
            <a:off x="6286348" y="2103882"/>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2.5</a:t>
            </a:r>
            <a:endParaRPr lang="en-US" sz="2325" dirty="0"/>
          </a:p>
        </p:txBody>
      </p:sp>
      <p:sp>
        <p:nvSpPr>
          <p:cNvPr id="16" name="Shape 16"/>
          <p:cNvSpPr txBox="1"/>
          <p:nvPr/>
        </p:nvSpPr>
        <p:spPr>
          <a:xfrm>
            <a:off x="6286348" y="2756154"/>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Write the function: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____</a:t>
            </a:r>
            <a:r>
              <a:rPr lang="en-US" sz="1950" dirty="0" i="1">
                <a:solidFill>
                  <a:srgbClr val="16171D"/>
                </a:solidFill>
                <a:latin typeface="Segoe UI"/>
                <a:cs typeface="Segoe UI"/>
              </a:rPr>
              <a:t xml:space="preserve">x</a:t>
            </a:r>
            <a:endParaRPr lang="en-US" sz="1950" dirty="0"/>
          </a:p>
        </p:txBody>
      </p:sp>
      <p:sp>
        <p:nvSpPr>
          <p:cNvPr id="17" name="Shape 17"/>
          <p:cNvSpPr txBox="1"/>
          <p:nvPr/>
        </p:nvSpPr>
        <p:spPr>
          <a:xfrm>
            <a:off x="6286348" y="3241548"/>
            <a:ext cx="323967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2.5</a:t>
            </a:r>
            <a:r>
              <a:rPr lang="en-US" sz="2325" dirty="0" i="1">
                <a:solidFill>
                  <a:srgbClr val="16171D"/>
                </a:solidFill>
                <a:latin typeface="Cambria"/>
                <a:cs typeface="Cambria"/>
              </a:rPr>
              <a:t xml:space="preserve">x</a:t>
            </a:r>
            <a:endParaRPr lang="en-US" sz="2325" dirty="0"/>
          </a:p>
        </p:txBody>
      </p:sp>
      <p:sp>
        <p:nvSpPr>
          <p:cNvPr id="18" name="Shape 18"/>
          <p:cNvSpPr txBox="1"/>
          <p:nvPr/>
        </p:nvSpPr>
        <p:spPr>
          <a:xfrm>
            <a:off x="6286348" y="3893820"/>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Money for 10 pretzels: ____</a:t>
            </a:r>
            <a:endParaRPr lang="en-US" sz="1950" dirty="0"/>
          </a:p>
        </p:txBody>
      </p:sp>
      <p:sp>
        <p:nvSpPr>
          <p:cNvPr id="19" name="Shape 19"/>
          <p:cNvSpPr txBox="1"/>
          <p:nvPr/>
        </p:nvSpPr>
        <p:spPr>
          <a:xfrm>
            <a:off x="6286348" y="4379214"/>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$25</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fade">
                                      <p:cBhvr>
                                        <p:cTn id="4" dur="500"/>
                                        <p:tgtEl>
                                          <p:spTgt spid="15"/>
                                        </p:tgtEl>
                                      </p:cBhvr>
                                    </p:animEffect>
                                    <p:anim calcmode="lin" valueType="num">
                                      <p:cBhvr>
                                        <p:cTn id="5" dur="500" fill="hold"/>
                                        <p:tgtEl>
                                          <p:spTgt spid="15"/>
                                        </p:tgtEl>
                                        <p:attrNameLst>
                                          <p:attrName>ppt_w</p:attrName>
                                        </p:attrNameLst>
                                      </p:cBhvr>
                                      <p:tavLst>
                                        <p:tav tm="0">
                                          <p:val>
                                            <p:fltVal val="0"/>
                                          </p:val>
                                        </p:tav>
                                        <p:tav tm="100000">
                                          <p:val>
                                            <p:strVal val="#ppt_w"/>
                                          </p:val>
                                        </p:tav>
                                      </p:tavLst>
                                    </p:anim>
                                    <p:anim calcmode="lin" valueType="num">
                                      <p:cBhvr>
                                        <p:cTn id="6" dur="500" fill="hold"/>
                                        <p:tgtEl>
                                          <p:spTgt spid="1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7"/>
                                        </p:tgtEl>
                                        <p:attrNameLst>
                                          <p:attrName>style.visibility</p:attrName>
                                        </p:attrNameLst>
                                      </p:cBhvr>
                                      <p:to>
                                        <p:strVal val="visible"/>
                                      </p:to>
                                    </p:set>
                                    <p:animEffect transition="in" filter="fade">
                                      <p:cBhvr>
                                        <p:cTn id="11" dur="500"/>
                                        <p:tgtEl>
                                          <p:spTgt spid="17"/>
                                        </p:tgtEl>
                                      </p:cBhvr>
                                    </p:animEffect>
                                    <p:anim calcmode="lin" valueType="num">
                                      <p:cBhvr>
                                        <p:cTn id="12" dur="500" fill="hold"/>
                                        <p:tgtEl>
                                          <p:spTgt spid="17"/>
                                        </p:tgtEl>
                                        <p:attrNameLst>
                                          <p:attrName>ppt_w</p:attrName>
                                        </p:attrNameLst>
                                      </p:cBhvr>
                                      <p:tavLst>
                                        <p:tav tm="0">
                                          <p:val>
                                            <p:fltVal val="0"/>
                                          </p:val>
                                        </p:tav>
                                        <p:tav tm="100000">
                                          <p:val>
                                            <p:strVal val="#ppt_w"/>
                                          </p:val>
                                        </p:tav>
                                      </p:tavLst>
                                    </p:anim>
                                    <p:anim calcmode="lin" valueType="num">
                                      <p:cBhvr>
                                        <p:cTn id="13" dur="500" fill="hold"/>
                                        <p:tgtEl>
                                          <p:spTgt spid="1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9"/>
                                        </p:tgtEl>
                                        <p:attrNameLst>
                                          <p:attrName>style.visibility</p:attrName>
                                        </p:attrNameLst>
                                      </p:cBhvr>
                                      <p:to>
                                        <p:strVal val="visible"/>
                                      </p:to>
                                    </p:set>
                                    <p:animEffect transition="in" filter="fade">
                                      <p:cBhvr>
                                        <p:cTn id="18" dur="500"/>
                                        <p:tgtEl>
                                          <p:spTgt spid="19"/>
                                        </p:tgtEl>
                                      </p:cBhvr>
                                    </p:animEffect>
                                    <p:anim calcmode="lin" valueType="num">
                                      <p:cBhvr>
                                        <p:cTn id="19" dur="500" fill="hold"/>
                                        <p:tgtEl>
                                          <p:spTgt spid="19"/>
                                        </p:tgtEl>
                                        <p:attrNameLst>
                                          <p:attrName>ppt_w</p:attrName>
                                        </p:attrNameLst>
                                      </p:cBhvr>
                                      <p:tavLst>
                                        <p:tav tm="0">
                                          <p:val>
                                            <p:fltVal val="0"/>
                                          </p:val>
                                        </p:tav>
                                        <p:tav tm="100000">
                                          <p:val>
                                            <p:strVal val="#ppt_w"/>
                                          </p:val>
                                        </p:tav>
                                      </p:tavLst>
                                    </p:anim>
                                    <p:anim calcmode="lin" valueType="num">
                                      <p:cBhvr>
                                        <p:cTn id="20" dur="500" fill="hold"/>
                                        <p:tgtEl>
                                          <p:spTgt spid="1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I do · Meaning in a story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Gracie sells T-shirts for $15 each</a:t>
            </a:r>
            <a:endParaRPr lang="en-US" sz="3450" dirty="0"/>
          </a:p>
        </p:txBody>
      </p:sp>
      <p:sp>
        <p:nvSpPr>
          <p:cNvPr id="4" name="Shape 4"/>
          <p:cNvSpPr txBox="1"/>
          <p:nvPr/>
        </p:nvSpPr>
        <p:spPr>
          <a:xfrm>
            <a:off x="685800" y="1618488"/>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E</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t</a:t>
            </a:r>
            <a:r>
              <a:rPr lang="en-US" sz="2850" dirty="0">
                <a:solidFill>
                  <a:srgbClr val="16171D"/>
                </a:solidFill>
                <a:latin typeface="Cambria"/>
                <a:cs typeface="Cambria"/>
              </a:rPr>
              <a:t xml:space="preserve">) = 15</a:t>
            </a:r>
            <a:r>
              <a:rPr lang="en-US" sz="2850" dirty="0" i="1">
                <a:solidFill>
                  <a:srgbClr val="16171D"/>
                </a:solidFill>
                <a:latin typeface="Cambria"/>
                <a:cs typeface="Cambria"/>
              </a:rPr>
              <a:t xml:space="preserve">t</a:t>
            </a:r>
            <a:endParaRPr lang="en-US" sz="2850" dirty="0"/>
          </a:p>
        </p:txBody>
      </p:sp>
      <p:sp>
        <p:nvSpPr>
          <p:cNvPr id="5" name="Shape 5"/>
          <p:cNvSpPr txBox="1"/>
          <p:nvPr/>
        </p:nvSpPr>
        <p:spPr>
          <a:xfrm>
            <a:off x="685800" y="227914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C9561F"/>
                </a:solidFill>
                <a:latin typeface="Segoe UI"/>
                <a:cs typeface="Segoe UI"/>
              </a:rPr>
              <a:t xml:space="preserve">15</a:t>
            </a:r>
            <a:r>
              <a:rPr lang="en-US" sz="1950" dirty="0">
                <a:solidFill>
                  <a:srgbClr val="16171D"/>
                </a:solidFill>
                <a:latin typeface="Segoe UI"/>
                <a:cs typeface="Segoe UI"/>
              </a:rPr>
              <a:t xml:space="preserve"> means: she earns $15 for each shirt (the slope).</a:t>
            </a:r>
            <a:endParaRPr lang="en-US" sz="1950" dirty="0"/>
          </a:p>
        </p:txBody>
      </p:sp>
      <p:sp>
        <p:nvSpPr>
          <p:cNvPr id="6" name="Shape 6"/>
          <p:cNvSpPr txBox="1"/>
          <p:nvPr/>
        </p:nvSpPr>
        <p:spPr>
          <a:xfrm>
            <a:off x="685800" y="280263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How many shirts to earn $100? 100 = 15</a:t>
            </a:r>
            <a:r>
              <a:rPr lang="en-US" sz="1950" dirty="0" i="1">
                <a:solidFill>
                  <a:srgbClr val="16171D"/>
                </a:solidFill>
                <a:latin typeface="Segoe UI"/>
                <a:cs typeface="Segoe UI"/>
              </a:rPr>
              <a:t xml:space="preserve">t</a:t>
            </a:r>
            <a:endParaRPr lang="en-US" sz="1950" dirty="0"/>
          </a:p>
        </p:txBody>
      </p:sp>
      <p:sp>
        <p:nvSpPr>
          <p:cNvPr id="7" name="Shape 7"/>
          <p:cNvSpPr txBox="1"/>
          <p:nvPr/>
        </p:nvSpPr>
        <p:spPr>
          <a:xfrm>
            <a:off x="685800" y="3326130"/>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100</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15</a:t>
            </a:r>
            <a:r>
              <a:rPr lang="en-US" sz="2325" dirty="0">
                <a:solidFill>
                  <a:srgbClr val="16171D"/>
                </a:solidFill>
                <a:latin typeface="Cambria"/>
                <a:cs typeface="Cambria"/>
              </a:rPr>
              <a:t xml:space="preserve"> ≈ 6.67</a:t>
            </a:r>
            <a:endParaRPr lang="en-US" sz="2325" dirty="0"/>
          </a:p>
        </p:txBody>
      </p:sp>
      <p:sp>
        <p:nvSpPr>
          <p:cNvPr id="8" name="Shape 8"/>
          <p:cNvSpPr txBox="1"/>
          <p:nvPr/>
        </p:nvSpPr>
        <p:spPr>
          <a:xfrm>
            <a:off x="685800" y="401650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She can't sell part of a shirt, so she must sell ____ shirts.</a:t>
            </a:r>
            <a:endParaRPr lang="en-US" sz="1950" dirty="0"/>
          </a:p>
        </p:txBody>
      </p:sp>
      <p:sp>
        <p:nvSpPr>
          <p:cNvPr id="9" name="Shape 9"/>
          <p:cNvSpPr txBox="1"/>
          <p:nvPr/>
        </p:nvSpPr>
        <p:spPr>
          <a:xfrm>
            <a:off x="685800" y="4539996"/>
            <a:ext cx="323967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7 shirts</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7"/>
                                        </p:tgtEl>
                                        <p:attrNameLst>
                                          <p:attrName>style.visibility</p:attrName>
                                        </p:attrNameLst>
                                      </p:cBhvr>
                                      <p:to>
                                        <p:strVal val="visible"/>
                                      </p:to>
                                    </p:set>
                                    <p:animEffect transition="in" filter="fade">
                                      <p:cBhvr>
                                        <p:cTn id="4" dur="500"/>
                                        <p:tgtEl>
                                          <p:spTgt spid="7"/>
                                        </p:tgtEl>
                                      </p:cBhvr>
                                    </p:animEffect>
                                    <p:anim calcmode="lin" valueType="num">
                                      <p:cBhvr>
                                        <p:cTn id="5" dur="500" fill="hold"/>
                                        <p:tgtEl>
                                          <p:spTgt spid="7"/>
                                        </p:tgtEl>
                                        <p:attrNameLst>
                                          <p:attrName>ppt_w</p:attrName>
                                        </p:attrNameLst>
                                      </p:cBhvr>
                                      <p:tavLst>
                                        <p:tav tm="0">
                                          <p:val>
                                            <p:fltVal val="0"/>
                                          </p:val>
                                        </p:tav>
                                        <p:tav tm="100000">
                                          <p:val>
                                            <p:strVal val="#ppt_w"/>
                                          </p:val>
                                        </p:tav>
                                      </p:tavLst>
                                    </p:anim>
                                    <p:anim calcmode="lin" valueType="num">
                                      <p:cBhvr>
                                        <p:cTn id="6"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500"/>
                                        <p:tgtEl>
                                          <p:spTgt spid="9"/>
                                        </p:tgtEl>
                                      </p:cBhvr>
                                    </p:animEffect>
                                    <p:anim calcmode="lin" valueType="num">
                                      <p:cBhvr>
                                        <p:cTn id="12" dur="500" fill="hold"/>
                                        <p:tgtEl>
                                          <p:spTgt spid="9"/>
                                        </p:tgtEl>
                                        <p:attrNameLst>
                                          <p:attrName>ppt_w</p:attrName>
                                        </p:attrNameLst>
                                      </p:cBhvr>
                                      <p:tavLst>
                                        <p:tav tm="0">
                                          <p:val>
                                            <p:fltVal val="0"/>
                                          </p:val>
                                        </p:tav>
                                        <p:tav tm="100000">
                                          <p:val>
                                            <p:strVal val="#ppt_w"/>
                                          </p:val>
                                        </p:tav>
                                      </p:tavLst>
                                    </p:anim>
                                    <p:anim calcmode="lin" valueType="num">
                                      <p:cBhvr>
                                        <p:cTn id="13"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3</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Back to Topic 2</a:t>
            </a:r>
            <a:endParaRPr lang="en-US" sz="8250" dirty="0"/>
          </a:p>
        </p:txBody>
      </p:sp>
      <p:sp>
        <p:nvSpPr>
          <p:cNvPr id="4" name="Shape 4"/>
          <p:cNvSpPr txBox="1"/>
          <p:nvPr/>
        </p:nvSpPr>
        <p:spPr>
          <a:xfrm>
            <a:off x="685800" y="399592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Catch-up done. Now today's Topic 2 lesson.</a:t>
            </a:r>
            <a:endParaRPr lang="en-US" sz="2250" dirty="0"/>
          </a:p>
        </p:txBody>
      </p:sp>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Lesson 3 · Vocabulary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Words we need</a:t>
            </a:r>
            <a:endParaRPr lang="en-US" sz="3450" dirty="0"/>
          </a:p>
        </p:txBody>
      </p:sp>
      <p:sp>
        <p:nvSpPr>
          <p:cNvPr id="7" name="Shape 7"/>
          <p:cNvSpPr txBox="1"/>
          <p:nvPr/>
        </p:nvSpPr>
        <p:spPr>
          <a:xfrm>
            <a:off x="685800"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Perpendicular</a:t>
            </a:r>
            <a:endParaRPr lang="en-US" sz="2100" dirty="0"/>
          </a:p>
        </p:txBody>
      </p:sp>
      <p:sp>
        <p:nvSpPr>
          <p:cNvPr id="5" name="Shape 5"/>
          <p:cNvSpPr txBox="1"/>
          <p:nvPr/>
        </p:nvSpPr>
        <p:spPr>
          <a:xfrm>
            <a:off x="895350"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Lines that make a square corner (90°).</a:t>
            </a:r>
            <a:endParaRPr lang="en-US" sz="1575" dirty="0"/>
          </a:p>
        </p:txBody>
      </p:sp>
      <p:sp>
        <p:nvSpPr>
          <p:cNvPr id="6" name="Shape 6"/>
          <p:cNvSpPr txBox="1"/>
          <p:nvPr/>
        </p:nvSpPr>
        <p:spPr>
          <a:xfrm>
            <a:off x="895350"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a:t>
            </a:r>
            <a:endParaRPr lang="en-US" sz="2325" dirty="0"/>
          </a:p>
        </p:txBody>
      </p:sp>
      <p:sp>
        <p:nvSpPr>
          <p:cNvPr id="11" name="Shape 11"/>
          <p:cNvSpPr txBox="1"/>
          <p:nvPr/>
        </p:nvSpPr>
        <p:spPr>
          <a:xfrm>
            <a:off x="4349648"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Negative reciprocal</a:t>
            </a:r>
            <a:endParaRPr lang="en-US" sz="2100" dirty="0"/>
          </a:p>
        </p:txBody>
      </p:sp>
      <p:sp>
        <p:nvSpPr>
          <p:cNvPr id="9" name="Shape 9"/>
          <p:cNvSpPr txBox="1"/>
          <p:nvPr/>
        </p:nvSpPr>
        <p:spPr>
          <a:xfrm>
            <a:off x="4559198"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Flip the fraction and change the sign.</a:t>
            </a:r>
            <a:endParaRPr lang="en-US" sz="1575" dirty="0"/>
          </a:p>
        </p:txBody>
      </p:sp>
      <p:sp>
        <p:nvSpPr>
          <p:cNvPr id="10" name="Shape 10"/>
          <p:cNvSpPr txBox="1"/>
          <p:nvPr/>
        </p:nvSpPr>
        <p:spPr>
          <a:xfrm>
            <a:off x="4559198"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endParaRPr lang="en-US" sz="2325" dirty="0"/>
          </a:p>
        </p:txBody>
      </p:sp>
      <p:sp>
        <p:nvSpPr>
          <p:cNvPr id="15" name="Shape 15"/>
          <p:cNvSpPr txBox="1"/>
          <p:nvPr/>
        </p:nvSpPr>
        <p:spPr>
          <a:xfrm>
            <a:off x="8013497"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Horizontal / vertical</a:t>
            </a:r>
            <a:endParaRPr lang="en-US" sz="2100" dirty="0"/>
          </a:p>
        </p:txBody>
      </p:sp>
      <p:sp>
        <p:nvSpPr>
          <p:cNvPr id="13" name="Shape 13"/>
          <p:cNvSpPr txBox="1"/>
          <p:nvPr/>
        </p:nvSpPr>
        <p:spPr>
          <a:xfrm>
            <a:off x="8223047"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number (slope 0) /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number (undefined).</a:t>
            </a:r>
            <a:endParaRPr lang="en-US" sz="1575" dirty="0"/>
          </a:p>
        </p:txBody>
      </p:sp>
      <p:sp>
        <p:nvSpPr>
          <p:cNvPr id="14" name="Shape 14"/>
          <p:cNvSpPr txBox="1"/>
          <p:nvPr/>
        </p:nvSpPr>
        <p:spPr>
          <a:xfrm>
            <a:off x="8223047"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4,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Lesson 3 · Steps</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How to write a perpendicular line</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1.</a:t>
            </a:r>
            <a:r>
              <a:rPr lang="en-US" sz="1950" dirty="0">
                <a:solidFill>
                  <a:srgbClr val="16171D"/>
                </a:solidFill>
                <a:latin typeface="Segoe UI"/>
                <a:cs typeface="Segoe UI"/>
              </a:rPr>
              <a:t xml:space="preserve"> Find the slope of the given line.</a:t>
            </a:r>
            <a:endParaRPr lang="en-US" sz="1950" dirty="0"/>
          </a:p>
        </p:txBody>
      </p:sp>
      <p:sp>
        <p:nvSpPr>
          <p:cNvPr id="5" name="Shape 5"/>
          <p:cNvSpPr txBox="1"/>
          <p:nvPr/>
        </p:nvSpPr>
        <p:spPr>
          <a:xfrm>
            <a:off x="685800" y="214198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2.</a:t>
            </a:r>
            <a:r>
              <a:rPr lang="en-US" sz="1950" dirty="0">
                <a:solidFill>
                  <a:srgbClr val="16171D"/>
                </a:solidFill>
                <a:latin typeface="Segoe UI"/>
                <a:cs typeface="Segoe UI"/>
              </a:rPr>
              <a:t xml:space="preserve"> Flip it and change the sign. That is the new slope.</a:t>
            </a:r>
            <a:endParaRPr lang="en-US" sz="1950" dirty="0"/>
          </a:p>
        </p:txBody>
      </p:sp>
      <p:sp>
        <p:nvSpPr>
          <p:cNvPr id="6" name="Shape 6"/>
          <p:cNvSpPr txBox="1"/>
          <p:nvPr/>
        </p:nvSpPr>
        <p:spPr>
          <a:xfrm>
            <a:off x="685800" y="266547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3.</a:t>
            </a:r>
            <a:r>
              <a:rPr lang="en-US" sz="1950" dirty="0">
                <a:solidFill>
                  <a:srgbClr val="16171D"/>
                </a:solidFill>
                <a:latin typeface="Segoe UI"/>
                <a:cs typeface="Segoe UI"/>
              </a:rPr>
              <a:t xml:space="preserve"> Use the point: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y</a:t>
            </a:r>
            <a:r>
              <a:rPr lang="en-US" sz="1658" dirty="0" baseline="-25000">
                <a:solidFill>
                  <a:srgbClr val="16171D"/>
                </a:solidFill>
                <a:latin typeface="Segoe UI"/>
                <a:cs typeface="Segoe UI"/>
              </a:rPr>
              <a:t xml:space="preserve">1</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m</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x</a:t>
            </a:r>
            <a:r>
              <a:rPr lang="en-US" sz="1658" dirty="0" baseline="-25000">
                <a:solidFill>
                  <a:srgbClr val="16171D"/>
                </a:solidFill>
                <a:latin typeface="Segoe UI"/>
                <a:cs typeface="Segoe UI"/>
              </a:rPr>
              <a:t xml:space="preserve">1</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18897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4.</a:t>
            </a:r>
            <a:r>
              <a:rPr lang="en-US" sz="1950" dirty="0">
                <a:solidFill>
                  <a:srgbClr val="16171D"/>
                </a:solidFill>
                <a:latin typeface="Segoe UI"/>
                <a:cs typeface="Segoe UI"/>
              </a:rPr>
              <a:t xml:space="preserve"> Get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alone.</a:t>
            </a:r>
            <a:endParaRPr lang="en-US" sz="1950" dirty="0"/>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I do · Watch me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Perpendicular slopes</a:t>
            </a:r>
            <a:endParaRPr lang="en-US" sz="3450" dirty="0"/>
          </a:p>
        </p:txBody>
      </p:sp>
      <p:sp>
        <p:nvSpPr>
          <p:cNvPr id="7" name="Shape 7"/>
          <p:cNvSpPr txBox="1"/>
          <p:nvPr/>
        </p:nvSpPr>
        <p:spPr>
          <a:xfrm>
            <a:off x="685800" y="1618488"/>
            <a:ext cx="5219548" cy="172212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a:t>
            </a:r>
            <a:r>
              <a:rPr lang="en-US" sz="2100" dirty="0" b="1">
                <a:solidFill>
                  <a:srgbClr val="16171D"/>
                </a:solidFill>
                <a:latin typeface="Segoe UI"/>
                <a:cs typeface="Segoe UI"/>
              </a:rPr>
              <a:t xml:space="preserve">/</a:t>
            </a:r>
            <a:r>
              <a:rPr lang="en-US" sz="2100" dirty="0" b="1">
                <a:solidFill>
                  <a:srgbClr val="16171D"/>
                </a:solidFill>
                <a:latin typeface="Segoe UI"/>
                <a:cs typeface="Segoe UI"/>
              </a:rPr>
              <a:t xml:space="preserve">3</a:t>
            </a:r>
            <a:endParaRPr lang="en-US" sz="2100" dirty="0"/>
          </a:p>
        </p:txBody>
      </p:sp>
      <p:sp>
        <p:nvSpPr>
          <p:cNvPr id="5" name="Shape 5"/>
          <p:cNvSpPr txBox="1"/>
          <p:nvPr/>
        </p:nvSpPr>
        <p:spPr>
          <a:xfrm>
            <a:off x="895350" y="2260092"/>
            <a:ext cx="48004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Flip: </a:t>
            </a:r>
            <a:r>
              <a:rPr lang="en-US" sz="1575" dirty="0">
                <a:solidFill>
                  <a:srgbClr val="16171D"/>
                </a:solidFill>
                <a:latin typeface="Segoe UI"/>
                <a:cs typeface="Segoe UI"/>
              </a:rPr>
              <a:t xml:space="preserve">3</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2</a:t>
            </a:r>
            <a:r>
              <a:rPr lang="en-US" sz="1575" dirty="0">
                <a:solidFill>
                  <a:srgbClr val="16171D"/>
                </a:solidFill>
                <a:latin typeface="Segoe UI"/>
                <a:cs typeface="Segoe UI"/>
              </a:rPr>
              <a:t xml:space="preserve">. Change sign:</a:t>
            </a:r>
            <a:endParaRPr lang="en-US" sz="1575" dirty="0"/>
          </a:p>
        </p:txBody>
      </p:sp>
      <p:sp>
        <p:nvSpPr>
          <p:cNvPr id="6" name="Shape 6"/>
          <p:cNvSpPr txBox="1"/>
          <p:nvPr/>
        </p:nvSpPr>
        <p:spPr>
          <a:xfrm>
            <a:off x="895350" y="2650236"/>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endParaRPr lang="en-US" sz="2325" dirty="0"/>
          </a:p>
        </p:txBody>
      </p:sp>
      <p:sp>
        <p:nvSpPr>
          <p:cNvPr id="11" name="Shape 11"/>
          <p:cNvSpPr txBox="1"/>
          <p:nvPr/>
        </p:nvSpPr>
        <p:spPr>
          <a:xfrm>
            <a:off x="6286348" y="1618488"/>
            <a:ext cx="5219548" cy="172212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6495898" y="1789938"/>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−3</a:t>
            </a:r>
            <a:endParaRPr lang="en-US" sz="2100" dirty="0"/>
          </a:p>
        </p:txBody>
      </p:sp>
      <p:sp>
        <p:nvSpPr>
          <p:cNvPr id="9" name="Shape 9"/>
          <p:cNvSpPr txBox="1"/>
          <p:nvPr/>
        </p:nvSpPr>
        <p:spPr>
          <a:xfrm>
            <a:off x="6495898" y="2260092"/>
            <a:ext cx="48004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−3 = −</a:t>
            </a:r>
            <a:r>
              <a:rPr lang="en-US" sz="1575" dirty="0">
                <a:solidFill>
                  <a:srgbClr val="16171D"/>
                </a:solidFill>
                <a:latin typeface="Segoe UI"/>
                <a:cs typeface="Segoe UI"/>
              </a:rPr>
              <a:t xml:space="preserve">3</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 Flip: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3</a:t>
            </a:r>
            <a:r>
              <a:rPr lang="en-US" sz="1575" dirty="0">
                <a:solidFill>
                  <a:srgbClr val="16171D"/>
                </a:solidFill>
                <a:latin typeface="Segoe UI"/>
                <a:cs typeface="Segoe UI"/>
              </a:rPr>
              <a:t xml:space="preserve">. Change sign:</a:t>
            </a:r>
            <a:endParaRPr lang="en-US" sz="1575" dirty="0"/>
          </a:p>
        </p:txBody>
      </p:sp>
      <p:sp>
        <p:nvSpPr>
          <p:cNvPr id="10" name="Shape 10"/>
          <p:cNvSpPr txBox="1"/>
          <p:nvPr/>
        </p:nvSpPr>
        <p:spPr>
          <a:xfrm>
            <a:off x="6495898" y="2650236"/>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ppt_w</p:attrName>
                                        </p:attrNameLst>
                                      </p:cBhvr>
                                      <p:tavLst>
                                        <p:tav tm="0">
                                          <p:val>
                                            <p:fltVal val="0"/>
                                          </p:val>
                                        </p:tav>
                                        <p:tav tm="100000">
                                          <p:val>
                                            <p:strVal val="#ppt_w"/>
                                          </p:val>
                                        </p:tav>
                                      </p:tavLst>
                                    </p:anim>
                                    <p:anim calcmode="lin" valueType="num">
                                      <p:cBhvr>
                                        <p:cTn id="6"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anim calcmode="lin" valueType="num">
                                      <p:cBhvr>
                                        <p:cTn id="12" dur="500" fill="hold"/>
                                        <p:tgtEl>
                                          <p:spTgt spid="10"/>
                                        </p:tgtEl>
                                        <p:attrNameLst>
                                          <p:attrName>ppt_w</p:attrName>
                                        </p:attrNameLst>
                                      </p:cBhvr>
                                      <p:tavLst>
                                        <p:tav tm="0">
                                          <p:val>
                                            <p:fltVal val="0"/>
                                          </p:val>
                                        </p:tav>
                                        <p:tav tm="100000">
                                          <p:val>
                                            <p:strVal val="#ppt_w"/>
                                          </p:val>
                                        </p:tav>
                                      </p:tavLst>
                                    </p:anim>
                                    <p:anim calcmode="lin" valueType="num">
                                      <p:cBhvr>
                                        <p:cTn id="13" dur="500" fill="hold"/>
                                        <p:tgtEl>
                                          <p:spTgt spid="10"/>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You do · Try it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Find the perpendicular slope</a:t>
            </a:r>
            <a:endParaRPr lang="en-US" sz="3450" dirty="0"/>
          </a:p>
        </p:txBody>
      </p:sp>
      <p:sp>
        <p:nvSpPr>
          <p:cNvPr id="6" name="Shape 6"/>
          <p:cNvSpPr txBox="1"/>
          <p:nvPr/>
        </p:nvSpPr>
        <p:spPr>
          <a:xfrm>
            <a:off x="685800" y="1618488"/>
            <a:ext cx="3352698"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29335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1. 4</a:t>
            </a:r>
            <a:endParaRPr lang="en-US" sz="1950" dirty="0"/>
          </a:p>
        </p:txBody>
      </p:sp>
      <p:sp>
        <p:nvSpPr>
          <p:cNvPr id="5" name="Shape 5"/>
          <p:cNvSpPr txBox="1"/>
          <p:nvPr/>
        </p:nvSpPr>
        <p:spPr>
          <a:xfrm>
            <a:off x="895350" y="2237232"/>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a:t>
            </a:r>
            <a:endParaRPr lang="en-US" sz="2325" dirty="0"/>
          </a:p>
        </p:txBody>
      </p:sp>
      <p:sp>
        <p:nvSpPr>
          <p:cNvPr id="9" name="Shape 9"/>
          <p:cNvSpPr txBox="1"/>
          <p:nvPr/>
        </p:nvSpPr>
        <p:spPr>
          <a:xfrm>
            <a:off x="4419498" y="1618488"/>
            <a:ext cx="3352698"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4629048" y="1789938"/>
            <a:ext cx="29335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a:t>
            </a:r>
            <a:r>
              <a:rPr lang="en-US" sz="1950" dirty="0">
                <a:solidFill>
                  <a:srgbClr val="16171D"/>
                </a:solidFill>
                <a:latin typeface="Segoe UI"/>
                <a:cs typeface="Segoe UI"/>
              </a:rPr>
              <a:t xml:space="preserve">4</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5</a:t>
            </a:r>
            <a:endParaRPr lang="en-US" sz="1950" dirty="0"/>
          </a:p>
        </p:txBody>
      </p:sp>
      <p:sp>
        <p:nvSpPr>
          <p:cNvPr id="8" name="Shape 8"/>
          <p:cNvSpPr txBox="1"/>
          <p:nvPr/>
        </p:nvSpPr>
        <p:spPr>
          <a:xfrm>
            <a:off x="4629048" y="2237232"/>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5</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a:t>
            </a:r>
            <a:endParaRPr lang="en-US" sz="2325" dirty="0"/>
          </a:p>
        </p:txBody>
      </p:sp>
      <p:sp>
        <p:nvSpPr>
          <p:cNvPr id="12" name="Shape 12"/>
          <p:cNvSpPr txBox="1"/>
          <p:nvPr/>
        </p:nvSpPr>
        <p:spPr>
          <a:xfrm>
            <a:off x="8153197" y="1618488"/>
            <a:ext cx="3352698"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362747" y="1789938"/>
            <a:ext cx="29335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a:t>
            </a:r>
            <a:r>
              <a:rPr lang="en-US" sz="1950" dirty="0">
                <a:solidFill>
                  <a:srgbClr val="16171D"/>
                </a:solidFill>
                <a:latin typeface="Segoe UI"/>
                <a:cs typeface="Segoe UI"/>
              </a:rPr>
              <a:t xml:space="preserve">1</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2</a:t>
            </a:r>
            <a:endParaRPr lang="en-US" sz="1950" dirty="0"/>
          </a:p>
        </p:txBody>
      </p:sp>
      <p:sp>
        <p:nvSpPr>
          <p:cNvPr id="11" name="Shape 11"/>
          <p:cNvSpPr txBox="1"/>
          <p:nvPr/>
        </p:nvSpPr>
        <p:spPr>
          <a:xfrm>
            <a:off x="8362747" y="2237232"/>
            <a:ext cx="224471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anim calcmode="lin" valueType="num">
                                      <p:cBhvr>
                                        <p:cTn id="19" dur="500" fill="hold"/>
                                        <p:tgtEl>
                                          <p:spTgt spid="11"/>
                                        </p:tgtEl>
                                        <p:attrNameLst>
                                          <p:attrName>ppt_w</p:attrName>
                                        </p:attrNameLst>
                                      </p:cBhvr>
                                      <p:tavLst>
                                        <p:tav tm="0">
                                          <p:val>
                                            <p:fltVal val="0"/>
                                          </p:val>
                                        </p:tav>
                                        <p:tav tm="100000">
                                          <p:val>
                                            <p:strVal val="#ppt_w"/>
                                          </p:val>
                                        </p:tav>
                                      </p:tavLst>
                                    </p:anim>
                                    <p:anim calcmode="lin" valueType="num">
                                      <p:cBhvr>
                                        <p:cTn id="20"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3 · End of Day 1</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Stop here: Thursday, October 29</a:t>
            </a:r>
            <a:endParaRPr lang="en-US" sz="8250" dirty="0"/>
          </a:p>
        </p:txBody>
      </p:sp>
      <p:sp>
        <p:nvSpPr>
          <p:cNvPr id="4" name="Shape 4"/>
          <p:cNvSpPr txBox="1"/>
          <p:nvPr/>
        </p:nvSpPr>
        <p:spPr>
          <a:xfrm>
            <a:off x="685800" y="525322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Next class: Monday, November 2. Start at the next slide, “Start: Monday, November 2.”</a:t>
            </a:r>
            <a:endParaRPr lang="en-US" sz="2250" dirty="0"/>
          </a:p>
        </p:txBody>
      </p:sp>
    </p:spTree>
  </p:cSld>
  <p:clrMapOvr>
    <a:masterClrMapping/>
  </p:clrMapOvr>
  <p:transition spd="med">
    <p:fade/>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3 · Day 2 of 2 · Start here</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Start: Monday, November 2</a:t>
            </a:r>
            <a:endParaRPr lang="en-US" sz="8250" dirty="0"/>
          </a:p>
        </p:txBody>
      </p:sp>
      <p:sp>
        <p:nvSpPr>
          <p:cNvPr id="4" name="Shape 4"/>
          <p:cNvSpPr txBox="1"/>
          <p:nvPr/>
        </p:nvSpPr>
        <p:spPr>
          <a:xfrm>
            <a:off x="685800" y="5253228"/>
            <a:ext cx="10820095" cy="694944"/>
          </a:xfrm>
          <a:prstGeom prst="rect">
            <a:avLst/>
          </a:prstGeom>
          <a:noFill/>
          <a:ln>
            <a:noFill/>
          </a:ln>
        </p:spPr>
        <p:txBody>
          <a:bodyPr wrap="square" lIns="36576" tIns="27432" rIns="36576" bIns="27432" anchor="t">
            <a:noAutofit/>
          </a:bodyPr>
          <a:lstStyle/>
          <a:p>
            <a:pPr algn="l">
              <a:lnSpc>
                <a:spcPct val="100000"/>
              </a:lnSpc>
            </a:pPr>
            <a:r>
              <a:rPr lang="en-US" sz="2100" dirty="0">
                <a:solidFill>
                  <a:srgbClr val="16171D"/>
                </a:solidFill>
                <a:latin typeface="Segoe UI"/>
                <a:cs typeface="Segoe UI"/>
              </a:rPr>
              <a:t xml:space="preserve">Today: bell work → Topic 1 catch-up (Changing the situation changes the function) → Lesson 3, Day 2.</a:t>
            </a:r>
            <a:endParaRPr lang="en-US" sz="2100" dirty="0"/>
          </a:p>
        </p:txBody>
      </p:sp>
    </p:spTree>
  </p:cSld>
  <p:clrMapOvr>
    <a:masterClrMapping/>
  </p:clrMapOvr>
  <p:transition spd="med">
    <p:fade/>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Bell Work · Review of Day 1 · Mon, Nov 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Line </a:t>
            </a:r>
            <a:r>
              <a:rPr lang="en-US" sz="1950" dirty="0" i="1">
                <a:solidFill>
                  <a:srgbClr val="16171D"/>
                </a:solidFill>
                <a:latin typeface="Cambria"/>
                <a:cs typeface="Cambria"/>
              </a:rPr>
              <a:t xml:space="preserve">j</a:t>
            </a:r>
            <a:r>
              <a:rPr lang="en-US" sz="1950" dirty="0">
                <a:solidFill>
                  <a:srgbClr val="16171D"/>
                </a:solidFill>
                <a:latin typeface="Segoe UI"/>
                <a:cs typeface="Segoe UI"/>
              </a:rPr>
              <a:t xml:space="preserve"> has slope </a:t>
            </a:r>
            <a:r>
              <a:rPr lang="en-US" sz="1950" dirty="0">
                <a:solidFill>
                  <a:srgbClr val="16171D"/>
                </a:solidFill>
                <a:latin typeface="Cambria"/>
                <a:cs typeface="Cambria"/>
              </a:rPr>
              <a:t xml:space="preserve">⅔</a:t>
            </a:r>
            <a:r>
              <a:rPr lang="en-US" sz="1950" dirty="0">
                <a:solidFill>
                  <a:srgbClr val="16171D"/>
                </a:solidFill>
                <a:latin typeface="Segoe UI"/>
                <a:cs typeface="Segoe UI"/>
              </a:rPr>
              <a:t xml:space="preserve">. Line </a:t>
            </a:r>
            <a:r>
              <a:rPr lang="en-US" sz="1950" dirty="0" i="1">
                <a:solidFill>
                  <a:srgbClr val="16171D"/>
                </a:solidFill>
                <a:latin typeface="Cambria"/>
                <a:cs typeface="Cambria"/>
              </a:rPr>
              <a:t xml:space="preserve">k</a:t>
            </a:r>
            <a:r>
              <a:rPr lang="en-US" sz="1950" dirty="0">
                <a:solidFill>
                  <a:srgbClr val="16171D"/>
                </a:solidFill>
                <a:latin typeface="Segoe UI"/>
                <a:cs typeface="Segoe UI"/>
              </a:rPr>
              <a:t xml:space="preserve"> is perpendicular to it. What is the slope of </a:t>
            </a:r>
            <a:r>
              <a:rPr lang="en-US" sz="1950" dirty="0" i="1">
                <a:solidFill>
                  <a:srgbClr val="16171D"/>
                </a:solidFill>
                <a:latin typeface="Cambria"/>
                <a:cs typeface="Cambria"/>
              </a:rPr>
              <a:t xml:space="preserve">k</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309)</a:t>
            </a:r>
            <a:endParaRPr lang="en-US" sz="1950" dirty="0"/>
          </a:p>
        </p:txBody>
      </p:sp>
      <p:sp>
        <p:nvSpPr>
          <p:cNvPr id="5" name="Shape 5"/>
          <p:cNvSpPr txBox="1"/>
          <p:nvPr/>
        </p:nvSpPr>
        <p:spPr>
          <a:xfrm>
            <a:off x="685800" y="2755392"/>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−3/2</a:t>
            </a:r>
            <a:endParaRPr lang="en-US" sz="2325" dirty="0"/>
          </a:p>
        </p:txBody>
      </p:sp>
      <p:sp>
        <p:nvSpPr>
          <p:cNvPr id="6" name="Shape 6"/>
          <p:cNvSpPr txBox="1"/>
          <p:nvPr/>
        </p:nvSpPr>
        <p:spPr>
          <a:xfrm>
            <a:off x="685800" y="354101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What is the slope of any horizontal line? </a:t>
            </a:r>
            <a:r>
              <a:rPr lang="en-US" sz="1575" dirty="0">
                <a:solidFill>
                  <a:srgbClr val="5F6272"/>
                </a:solidFill>
                <a:latin typeface="Segoe UI"/>
                <a:cs typeface="Segoe UI"/>
              </a:rPr>
              <a:t xml:space="preserve">(SE p. 310)</a:t>
            </a:r>
            <a:endParaRPr lang="en-US" sz="1950" dirty="0"/>
          </a:p>
        </p:txBody>
      </p:sp>
      <p:sp>
        <p:nvSpPr>
          <p:cNvPr id="7" name="Shape 7"/>
          <p:cNvSpPr txBox="1"/>
          <p:nvPr/>
        </p:nvSpPr>
        <p:spPr>
          <a:xfrm>
            <a:off x="685800" y="4323588"/>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0</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Which is the equation of the vertical line through </a:t>
            </a:r>
            <a:r>
              <a:rPr lang="en-US" sz="1950" dirty="0">
                <a:solidFill>
                  <a:srgbClr val="16171D"/>
                </a:solidFill>
                <a:latin typeface="Cambria"/>
                <a:cs typeface="Cambria"/>
              </a:rPr>
              <a:t xml:space="preserve">(2, −1)</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311)</a:t>
            </a:r>
            <a:endParaRPr lang="en-US" sz="1950" dirty="0"/>
          </a:p>
        </p:txBody>
      </p:sp>
      <p:sp>
        <p:nvSpPr>
          <p:cNvPr id="9" name="Shape 9"/>
          <p:cNvSpPr txBox="1"/>
          <p:nvPr/>
        </p:nvSpPr>
        <p:spPr>
          <a:xfrm>
            <a:off x="6362548" y="2458212"/>
            <a:ext cx="274219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0" name="Shape 10"/>
          <p:cNvSpPr txBox="1"/>
          <p:nvPr/>
        </p:nvSpPr>
        <p:spPr>
          <a:xfrm>
            <a:off x="6362548" y="3243834"/>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What is the product of the slopes of two perpendicular lines (neither vertical)? </a:t>
            </a:r>
            <a:r>
              <a:rPr lang="en-US" sz="1575" dirty="0">
                <a:solidFill>
                  <a:srgbClr val="5F6272"/>
                </a:solidFill>
                <a:latin typeface="Segoe UI"/>
                <a:cs typeface="Segoe UI"/>
              </a:rPr>
              <a:t xml:space="preserve">(SE p. 308)</a:t>
            </a:r>
            <a:endParaRPr lang="en-US" sz="1950" dirty="0"/>
          </a:p>
        </p:txBody>
      </p:sp>
      <p:sp>
        <p:nvSpPr>
          <p:cNvPr id="11" name="Shape 11"/>
          <p:cNvSpPr txBox="1"/>
          <p:nvPr/>
        </p:nvSpPr>
        <p:spPr>
          <a:xfrm>
            <a:off x="6362548" y="4323588"/>
            <a:ext cx="224471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Mon, Nov 2 · about 15 minutes</a:t>
            </a:r>
            <a:endParaRPr lang="en-US" sz="1200" dirty="0"/>
          </a:p>
        </p:txBody>
      </p:sp>
      <p:sp>
        <p:nvSpPr>
          <p:cNvPr id="3" name="Shape 3"/>
          <p:cNvSpPr txBox="1"/>
          <p:nvPr/>
        </p:nvSpPr>
        <p:spPr>
          <a:xfrm>
            <a:off x="685800" y="1323594"/>
            <a:ext cx="10820095" cy="266090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Topic 1 Lesson 6: Changing the situation changes the function</a:t>
            </a:r>
            <a:endParaRPr lang="en-US" sz="5700" dirty="0"/>
          </a:p>
        </p:txBody>
      </p:sp>
      <p:sp>
        <p:nvSpPr>
          <p:cNvPr id="4" name="Shape 4"/>
          <p:cNvSpPr txBox="1"/>
          <p:nvPr/>
        </p:nvSpPr>
        <p:spPr>
          <a:xfrm>
            <a:off x="685800" y="415594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Giving away 3 T-shirts shifts the function: the same idea as a Topic 2 translation.</a:t>
            </a:r>
            <a:endParaRPr lang="en-US" sz="2250" dirty="0"/>
          </a:p>
        </p:txBody>
      </p:sp>
      <p:sp>
        <p:nvSpPr>
          <p:cNvPr id="5" name="Shape 5"/>
          <p:cNvSpPr txBox="1"/>
          <p:nvPr/>
        </p:nvSpPr>
        <p:spPr>
          <a:xfrm>
            <a:off x="685800" y="506806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Topic 1 Lesson 6 practice: </a:t>
            </a:r>
            <a:r>
              <a:rPr lang="en-US" sz="1800" dirty="0">
                <a:solidFill>
                  <a:srgbClr val="3050B8"/>
                </a:solidFill>
                <a:latin typeface="Segoe UI"/>
                <a:cs typeface="Segoe UI"/>
                <a:hlinkClick r:id="rId3"/>
              </a:rPr>
              <a:t xml:space="preserve">Homework →</a:t>
            </a:r>
            <a:r>
              <a:rPr lang="en-US" sz="1800" dirty="0">
                <a:solidFill>
                  <a:srgbClr val="16171D"/>
                </a:solidFill>
                <a:latin typeface="Segoe UI"/>
                <a:cs typeface="Segoe UI"/>
              </a:rPr>
              <a:t xml:space="preserve"> · </a:t>
            </a:r>
            <a:r>
              <a:rPr lang="en-US" sz="1800" dirty="0">
                <a:solidFill>
                  <a:srgbClr val="3050B8"/>
                </a:solidFill>
                <a:latin typeface="Segoe UI"/>
                <a:cs typeface="Segoe UI"/>
                <a:hlinkClick r:id="rId4"/>
              </a:rPr>
              <a:t xml:space="preserve">Quiz →</a:t>
            </a:r>
            <a:endParaRPr lang="en-US" sz="1800" dirty="0"/>
          </a:p>
        </p:txBody>
      </p:sp>
    </p:spTree>
  </p:cSld>
  <p:clrMapOvr>
    <a:masterClrMapping/>
  </p:clrMapOvr>
  <p:transition spd="med">
    <p:fad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We do · Two forms</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Gracie gives away 3 shirts</a:t>
            </a:r>
            <a:endParaRPr lang="en-US" sz="3450" dirty="0"/>
          </a:p>
        </p:txBody>
      </p:sp>
      <p:sp>
        <p:nvSpPr>
          <p:cNvPr id="8" name="Shape 8"/>
          <p:cNvSpPr txBox="1"/>
          <p:nvPr/>
        </p:nvSpPr>
        <p:spPr>
          <a:xfrm>
            <a:off x="685800" y="1618488"/>
            <a:ext cx="5219548" cy="222656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General form</a:t>
            </a:r>
            <a:endParaRPr lang="en-US" sz="2100" dirty="0"/>
          </a:p>
        </p:txBody>
      </p:sp>
      <p:sp>
        <p:nvSpPr>
          <p:cNvPr id="5" name="Shape 5"/>
          <p:cNvSpPr txBox="1"/>
          <p:nvPr/>
        </p:nvSpPr>
        <p:spPr>
          <a:xfrm>
            <a:off x="895350" y="2260092"/>
            <a:ext cx="480044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15</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a:t>
            </a:r>
            <a:r>
              <a:rPr lang="en-US" sz="2325" dirty="0" b="1">
                <a:solidFill>
                  <a:srgbClr val="3050B8"/>
                </a:solidFill>
                <a:latin typeface="Cambria"/>
                <a:cs typeface="Cambria"/>
              </a:rPr>
              <a:t xml:space="preserve">− 45</a:t>
            </a:r>
            <a:endParaRPr lang="en-US" sz="2325" dirty="0"/>
          </a:p>
        </p:txBody>
      </p:sp>
      <p:sp>
        <p:nvSpPr>
          <p:cNvPr id="6" name="Shape 6"/>
          <p:cNvSpPr txBox="1"/>
          <p:nvPr/>
        </p:nvSpPr>
        <p:spPr>
          <a:xfrm>
            <a:off x="895350" y="2764536"/>
            <a:ext cx="48004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____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____</a:t>
            </a:r>
            <a:endParaRPr lang="en-US" sz="1575" dirty="0"/>
          </a:p>
        </p:txBody>
      </p:sp>
      <p:sp>
        <p:nvSpPr>
          <p:cNvPr id="7" name="Shape 7"/>
          <p:cNvSpPr txBox="1"/>
          <p:nvPr/>
        </p:nvSpPr>
        <p:spPr>
          <a:xfrm>
            <a:off x="895350" y="3154680"/>
            <a:ext cx="440045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15 and (0, −45)</a:t>
            </a:r>
            <a:endParaRPr lang="en-US" sz="2325" dirty="0"/>
          </a:p>
        </p:txBody>
      </p:sp>
      <p:sp>
        <p:nvSpPr>
          <p:cNvPr id="13" name="Shape 13"/>
          <p:cNvSpPr txBox="1"/>
          <p:nvPr/>
        </p:nvSpPr>
        <p:spPr>
          <a:xfrm>
            <a:off x="685800" y="3978402"/>
            <a:ext cx="5219548" cy="222656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9" name="Shape 9"/>
          <p:cNvSpPr txBox="1"/>
          <p:nvPr/>
        </p:nvSpPr>
        <p:spPr>
          <a:xfrm>
            <a:off x="895350" y="4149852"/>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Factored form</a:t>
            </a:r>
            <a:endParaRPr lang="en-US" sz="2100" dirty="0"/>
          </a:p>
        </p:txBody>
      </p:sp>
      <p:sp>
        <p:nvSpPr>
          <p:cNvPr id="10" name="Shape 10"/>
          <p:cNvSpPr txBox="1"/>
          <p:nvPr/>
        </p:nvSpPr>
        <p:spPr>
          <a:xfrm>
            <a:off x="895350" y="4620006"/>
            <a:ext cx="480044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15</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a:t>
            </a:r>
            <a:r>
              <a:rPr lang="en-US" sz="2325" dirty="0" b="1">
                <a:solidFill>
                  <a:srgbClr val="3050B8"/>
                </a:solidFill>
                <a:latin typeface="Cambria"/>
                <a:cs typeface="Cambria"/>
              </a:rPr>
              <a:t xml:space="preserve">− 3</a:t>
            </a:r>
            <a:r>
              <a:rPr lang="en-US" sz="2325" dirty="0">
                <a:solidFill>
                  <a:srgbClr val="16171D"/>
                </a:solidFill>
                <a:latin typeface="Cambria"/>
                <a:cs typeface="Cambria"/>
              </a:rPr>
              <a:t xml:space="preserve">)</a:t>
            </a:r>
            <a:endParaRPr lang="en-US" sz="2325" dirty="0"/>
          </a:p>
        </p:txBody>
      </p:sp>
      <p:sp>
        <p:nvSpPr>
          <p:cNvPr id="11" name="Shape 11"/>
          <p:cNvSpPr txBox="1"/>
          <p:nvPr/>
        </p:nvSpPr>
        <p:spPr>
          <a:xfrm>
            <a:off x="895350" y="5124450"/>
            <a:ext cx="48004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____ zero: ____</a:t>
            </a:r>
            <a:endParaRPr lang="en-US" sz="1575" dirty="0"/>
          </a:p>
        </p:txBody>
      </p:sp>
      <p:sp>
        <p:nvSpPr>
          <p:cNvPr id="12" name="Shape 12"/>
          <p:cNvSpPr txBox="1"/>
          <p:nvPr/>
        </p:nvSpPr>
        <p:spPr>
          <a:xfrm>
            <a:off x="895350" y="5514594"/>
            <a:ext cx="323967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15 and 3</a:t>
            </a:r>
            <a:endParaRPr lang="en-US" sz="2325" dirty="0"/>
          </a:p>
        </p:txBody>
      </p:sp>
      <p:sp>
        <p:nvSpPr>
          <p:cNvPr id="14" name="Shape 14"/>
          <p:cNvSpPr/>
          <p:nvPr/>
        </p:nvSpPr>
        <p:spPr>
          <a:xfrm>
            <a:off x="6286348" y="1618488"/>
            <a:ext cx="3238500" cy="3619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5" name="Line 15"/>
          <p:cNvCxnSpPr/>
          <p:nvPr/>
        </p:nvCxnSpPr>
        <p:spPr>
          <a:xfrm>
            <a:off x="6610198" y="1732788"/>
            <a:ext cx="0" cy="3257550"/>
          </a:xfrm>
          <a:prstGeom prst="line">
            <a:avLst/>
          </a:prstGeom>
          <a:ln w="9525" cap="flat">
            <a:solidFill>
              <a:srgbClr val="E6E8F2"/>
            </a:solidFill>
          </a:ln>
        </p:spPr>
      </p:cxnSp>
      <p:cxnSp>
        <p:nvCxnSpPr>
          <p:cNvPr id="16" name="Line 16"/>
          <p:cNvCxnSpPr/>
          <p:nvPr/>
        </p:nvCxnSpPr>
        <p:spPr>
          <a:xfrm>
            <a:off x="6921348" y="1732788"/>
            <a:ext cx="0" cy="3257550"/>
          </a:xfrm>
          <a:prstGeom prst="line">
            <a:avLst/>
          </a:prstGeom>
          <a:ln w="9525" cap="flat">
            <a:solidFill>
              <a:srgbClr val="E6E8F2"/>
            </a:solidFill>
          </a:ln>
        </p:spPr>
      </p:cxnSp>
      <p:cxnSp>
        <p:nvCxnSpPr>
          <p:cNvPr id="17" name="Line 17"/>
          <p:cNvCxnSpPr/>
          <p:nvPr/>
        </p:nvCxnSpPr>
        <p:spPr>
          <a:xfrm>
            <a:off x="7232498" y="1732788"/>
            <a:ext cx="0" cy="3257550"/>
          </a:xfrm>
          <a:prstGeom prst="line">
            <a:avLst/>
          </a:prstGeom>
          <a:ln w="9525" cap="flat">
            <a:solidFill>
              <a:srgbClr val="E6E8F2"/>
            </a:solidFill>
          </a:ln>
        </p:spPr>
      </p:cxnSp>
      <p:cxnSp>
        <p:nvCxnSpPr>
          <p:cNvPr id="18" name="Line 18"/>
          <p:cNvCxnSpPr/>
          <p:nvPr/>
        </p:nvCxnSpPr>
        <p:spPr>
          <a:xfrm>
            <a:off x="7543648" y="1732788"/>
            <a:ext cx="0" cy="3257550"/>
          </a:xfrm>
          <a:prstGeom prst="line">
            <a:avLst/>
          </a:prstGeom>
          <a:ln w="9525" cap="flat">
            <a:solidFill>
              <a:srgbClr val="E6E8F2"/>
            </a:solidFill>
          </a:ln>
        </p:spPr>
      </p:cxnSp>
      <p:cxnSp>
        <p:nvCxnSpPr>
          <p:cNvPr id="19" name="Line 19"/>
          <p:cNvCxnSpPr/>
          <p:nvPr/>
        </p:nvCxnSpPr>
        <p:spPr>
          <a:xfrm>
            <a:off x="7854798" y="1732788"/>
            <a:ext cx="0" cy="3257550"/>
          </a:xfrm>
          <a:prstGeom prst="line">
            <a:avLst/>
          </a:prstGeom>
          <a:ln w="9525" cap="flat">
            <a:solidFill>
              <a:srgbClr val="E6E8F2"/>
            </a:solidFill>
          </a:ln>
        </p:spPr>
      </p:cxnSp>
      <p:cxnSp>
        <p:nvCxnSpPr>
          <p:cNvPr id="20" name="Line 20"/>
          <p:cNvCxnSpPr/>
          <p:nvPr/>
        </p:nvCxnSpPr>
        <p:spPr>
          <a:xfrm>
            <a:off x="8165948" y="1732788"/>
            <a:ext cx="0" cy="3257550"/>
          </a:xfrm>
          <a:prstGeom prst="line">
            <a:avLst/>
          </a:prstGeom>
          <a:ln w="9525" cap="flat">
            <a:solidFill>
              <a:srgbClr val="E6E8F2"/>
            </a:solidFill>
          </a:ln>
        </p:spPr>
      </p:cxnSp>
      <p:cxnSp>
        <p:nvCxnSpPr>
          <p:cNvPr id="21" name="Line 21"/>
          <p:cNvCxnSpPr/>
          <p:nvPr/>
        </p:nvCxnSpPr>
        <p:spPr>
          <a:xfrm>
            <a:off x="8477098" y="1732788"/>
            <a:ext cx="0" cy="3257550"/>
          </a:xfrm>
          <a:prstGeom prst="line">
            <a:avLst/>
          </a:prstGeom>
          <a:ln w="9525" cap="flat">
            <a:solidFill>
              <a:srgbClr val="E6E8F2"/>
            </a:solidFill>
          </a:ln>
        </p:spPr>
      </p:cxnSp>
      <p:cxnSp>
        <p:nvCxnSpPr>
          <p:cNvPr id="22" name="Line 22"/>
          <p:cNvCxnSpPr/>
          <p:nvPr/>
        </p:nvCxnSpPr>
        <p:spPr>
          <a:xfrm>
            <a:off x="8788248" y="1732788"/>
            <a:ext cx="0" cy="3257550"/>
          </a:xfrm>
          <a:prstGeom prst="line">
            <a:avLst/>
          </a:prstGeom>
          <a:ln w="9525" cap="flat">
            <a:solidFill>
              <a:srgbClr val="E6E8F2"/>
            </a:solidFill>
          </a:ln>
        </p:spPr>
      </p:cxnSp>
      <p:cxnSp>
        <p:nvCxnSpPr>
          <p:cNvPr id="23" name="Line 23"/>
          <p:cNvCxnSpPr/>
          <p:nvPr/>
        </p:nvCxnSpPr>
        <p:spPr>
          <a:xfrm>
            <a:off x="9099398" y="1732788"/>
            <a:ext cx="0" cy="3257550"/>
          </a:xfrm>
          <a:prstGeom prst="line">
            <a:avLst/>
          </a:prstGeom>
          <a:ln w="9525" cap="flat">
            <a:solidFill>
              <a:srgbClr val="E6E8F2"/>
            </a:solidFill>
          </a:ln>
        </p:spPr>
      </p:cxnSp>
      <p:cxnSp>
        <p:nvCxnSpPr>
          <p:cNvPr id="24" name="Line 24"/>
          <p:cNvCxnSpPr/>
          <p:nvPr/>
        </p:nvCxnSpPr>
        <p:spPr>
          <a:xfrm>
            <a:off x="9410548" y="1732788"/>
            <a:ext cx="0" cy="3257550"/>
          </a:xfrm>
          <a:prstGeom prst="line">
            <a:avLst/>
          </a:prstGeom>
          <a:ln w="9525" cap="flat">
            <a:solidFill>
              <a:srgbClr val="E6E8F2"/>
            </a:solidFill>
          </a:ln>
        </p:spPr>
      </p:cxnSp>
      <p:cxnSp>
        <p:nvCxnSpPr>
          <p:cNvPr id="25" name="Line 25"/>
          <p:cNvCxnSpPr/>
          <p:nvPr/>
        </p:nvCxnSpPr>
        <p:spPr>
          <a:xfrm>
            <a:off x="6610198" y="4990338"/>
            <a:ext cx="2800350" cy="0"/>
          </a:xfrm>
          <a:prstGeom prst="line">
            <a:avLst/>
          </a:prstGeom>
          <a:ln w="9525" cap="flat">
            <a:solidFill>
              <a:srgbClr val="E6E8F2"/>
            </a:solidFill>
          </a:ln>
        </p:spPr>
      </p:cxnSp>
      <p:cxnSp>
        <p:nvCxnSpPr>
          <p:cNvPr id="26" name="Line 26"/>
          <p:cNvCxnSpPr/>
          <p:nvPr/>
        </p:nvCxnSpPr>
        <p:spPr>
          <a:xfrm>
            <a:off x="6610198" y="4718876"/>
            <a:ext cx="2800350" cy="0"/>
          </a:xfrm>
          <a:prstGeom prst="line">
            <a:avLst/>
          </a:prstGeom>
          <a:ln w="9525" cap="flat">
            <a:solidFill>
              <a:srgbClr val="E6E8F2"/>
            </a:solidFill>
          </a:ln>
        </p:spPr>
      </p:cxnSp>
      <p:cxnSp>
        <p:nvCxnSpPr>
          <p:cNvPr id="27" name="Line 27"/>
          <p:cNvCxnSpPr/>
          <p:nvPr/>
        </p:nvCxnSpPr>
        <p:spPr>
          <a:xfrm>
            <a:off x="6610198" y="4447413"/>
            <a:ext cx="2800350" cy="0"/>
          </a:xfrm>
          <a:prstGeom prst="line">
            <a:avLst/>
          </a:prstGeom>
          <a:ln w="9525" cap="flat">
            <a:solidFill>
              <a:srgbClr val="E6E8F2"/>
            </a:solidFill>
          </a:ln>
        </p:spPr>
      </p:cxnSp>
      <p:cxnSp>
        <p:nvCxnSpPr>
          <p:cNvPr id="28" name="Line 28"/>
          <p:cNvCxnSpPr/>
          <p:nvPr/>
        </p:nvCxnSpPr>
        <p:spPr>
          <a:xfrm>
            <a:off x="6610198" y="4175950"/>
            <a:ext cx="2800350" cy="0"/>
          </a:xfrm>
          <a:prstGeom prst="line">
            <a:avLst/>
          </a:prstGeom>
          <a:ln w="9525" cap="flat">
            <a:solidFill>
              <a:srgbClr val="E6E8F2"/>
            </a:solidFill>
          </a:ln>
        </p:spPr>
      </p:cxnSp>
      <p:cxnSp>
        <p:nvCxnSpPr>
          <p:cNvPr id="29" name="Line 29"/>
          <p:cNvCxnSpPr/>
          <p:nvPr/>
        </p:nvCxnSpPr>
        <p:spPr>
          <a:xfrm>
            <a:off x="6610198" y="3904488"/>
            <a:ext cx="2800350" cy="0"/>
          </a:xfrm>
          <a:prstGeom prst="line">
            <a:avLst/>
          </a:prstGeom>
          <a:ln w="9525" cap="flat">
            <a:solidFill>
              <a:srgbClr val="E6E8F2"/>
            </a:solidFill>
          </a:ln>
        </p:spPr>
      </p:cxnSp>
      <p:cxnSp>
        <p:nvCxnSpPr>
          <p:cNvPr id="30" name="Line 30"/>
          <p:cNvCxnSpPr/>
          <p:nvPr/>
        </p:nvCxnSpPr>
        <p:spPr>
          <a:xfrm>
            <a:off x="6610198" y="3633026"/>
            <a:ext cx="2800350" cy="0"/>
          </a:xfrm>
          <a:prstGeom prst="line">
            <a:avLst/>
          </a:prstGeom>
          <a:ln w="9525" cap="flat">
            <a:solidFill>
              <a:srgbClr val="E6E8F2"/>
            </a:solidFill>
          </a:ln>
        </p:spPr>
      </p:cxnSp>
      <p:cxnSp>
        <p:nvCxnSpPr>
          <p:cNvPr id="31" name="Line 31"/>
          <p:cNvCxnSpPr/>
          <p:nvPr/>
        </p:nvCxnSpPr>
        <p:spPr>
          <a:xfrm>
            <a:off x="6610198" y="3361563"/>
            <a:ext cx="2800350" cy="0"/>
          </a:xfrm>
          <a:prstGeom prst="line">
            <a:avLst/>
          </a:prstGeom>
          <a:ln w="9525" cap="flat">
            <a:solidFill>
              <a:srgbClr val="E6E8F2"/>
            </a:solidFill>
          </a:ln>
        </p:spPr>
      </p:cxnSp>
      <p:cxnSp>
        <p:nvCxnSpPr>
          <p:cNvPr id="32" name="Line 32"/>
          <p:cNvCxnSpPr/>
          <p:nvPr/>
        </p:nvCxnSpPr>
        <p:spPr>
          <a:xfrm>
            <a:off x="6610198" y="3090100"/>
            <a:ext cx="2800350" cy="0"/>
          </a:xfrm>
          <a:prstGeom prst="line">
            <a:avLst/>
          </a:prstGeom>
          <a:ln w="9525" cap="flat">
            <a:solidFill>
              <a:srgbClr val="E6E8F2"/>
            </a:solidFill>
          </a:ln>
        </p:spPr>
      </p:cxnSp>
      <p:cxnSp>
        <p:nvCxnSpPr>
          <p:cNvPr id="33" name="Line 33"/>
          <p:cNvCxnSpPr/>
          <p:nvPr/>
        </p:nvCxnSpPr>
        <p:spPr>
          <a:xfrm>
            <a:off x="6610198" y="2818638"/>
            <a:ext cx="2800350" cy="0"/>
          </a:xfrm>
          <a:prstGeom prst="line">
            <a:avLst/>
          </a:prstGeom>
          <a:ln w="9525" cap="flat">
            <a:solidFill>
              <a:srgbClr val="E6E8F2"/>
            </a:solidFill>
          </a:ln>
        </p:spPr>
      </p:cxnSp>
      <p:cxnSp>
        <p:nvCxnSpPr>
          <p:cNvPr id="34" name="Line 34"/>
          <p:cNvCxnSpPr/>
          <p:nvPr/>
        </p:nvCxnSpPr>
        <p:spPr>
          <a:xfrm>
            <a:off x="6610198" y="2547176"/>
            <a:ext cx="2800350" cy="0"/>
          </a:xfrm>
          <a:prstGeom prst="line">
            <a:avLst/>
          </a:prstGeom>
          <a:ln w="9525" cap="flat">
            <a:solidFill>
              <a:srgbClr val="E6E8F2"/>
            </a:solidFill>
          </a:ln>
        </p:spPr>
      </p:cxnSp>
      <p:cxnSp>
        <p:nvCxnSpPr>
          <p:cNvPr id="35" name="Line 35"/>
          <p:cNvCxnSpPr/>
          <p:nvPr/>
        </p:nvCxnSpPr>
        <p:spPr>
          <a:xfrm>
            <a:off x="6610198" y="2275713"/>
            <a:ext cx="2800350" cy="0"/>
          </a:xfrm>
          <a:prstGeom prst="line">
            <a:avLst/>
          </a:prstGeom>
          <a:ln w="9525" cap="flat">
            <a:solidFill>
              <a:srgbClr val="E6E8F2"/>
            </a:solidFill>
          </a:ln>
        </p:spPr>
      </p:cxnSp>
      <p:cxnSp>
        <p:nvCxnSpPr>
          <p:cNvPr id="36" name="Line 36"/>
          <p:cNvCxnSpPr/>
          <p:nvPr/>
        </p:nvCxnSpPr>
        <p:spPr>
          <a:xfrm>
            <a:off x="6610198" y="2004250"/>
            <a:ext cx="2800350" cy="0"/>
          </a:xfrm>
          <a:prstGeom prst="line">
            <a:avLst/>
          </a:prstGeom>
          <a:ln w="9525" cap="flat">
            <a:solidFill>
              <a:srgbClr val="E6E8F2"/>
            </a:solidFill>
          </a:ln>
        </p:spPr>
      </p:cxnSp>
      <p:cxnSp>
        <p:nvCxnSpPr>
          <p:cNvPr id="37" name="Line 37"/>
          <p:cNvCxnSpPr/>
          <p:nvPr/>
        </p:nvCxnSpPr>
        <p:spPr>
          <a:xfrm>
            <a:off x="6610198" y="1732788"/>
            <a:ext cx="2800350" cy="0"/>
          </a:xfrm>
          <a:prstGeom prst="line">
            <a:avLst/>
          </a:prstGeom>
          <a:ln w="9525" cap="flat">
            <a:solidFill>
              <a:srgbClr val="E6E8F2"/>
            </a:solidFill>
          </a:ln>
        </p:spPr>
      </p:cxnSp>
      <p:cxnSp>
        <p:nvCxnSpPr>
          <p:cNvPr id="38" name="Line 38"/>
          <p:cNvCxnSpPr/>
          <p:nvPr/>
        </p:nvCxnSpPr>
        <p:spPr>
          <a:xfrm>
            <a:off x="6921348" y="1732788"/>
            <a:ext cx="0" cy="3257550"/>
          </a:xfrm>
          <a:prstGeom prst="line">
            <a:avLst/>
          </a:prstGeom>
          <a:ln w="19050" cap="flat">
            <a:solidFill>
              <a:srgbClr val="5F6272"/>
            </a:solidFill>
          </a:ln>
        </p:spPr>
      </p:cxnSp>
      <p:cxnSp>
        <p:nvCxnSpPr>
          <p:cNvPr id="39" name="Line 39"/>
          <p:cNvCxnSpPr/>
          <p:nvPr/>
        </p:nvCxnSpPr>
        <p:spPr>
          <a:xfrm>
            <a:off x="6610198" y="3361563"/>
            <a:ext cx="2800350" cy="0"/>
          </a:xfrm>
          <a:prstGeom prst="line">
            <a:avLst/>
          </a:prstGeom>
          <a:ln w="19050" cap="flat">
            <a:solidFill>
              <a:srgbClr val="5F6272"/>
            </a:solidFill>
          </a:ln>
        </p:spPr>
      </p:cxnSp>
      <p:sp>
        <p:nvSpPr>
          <p:cNvPr id="40" name="Shape 40"/>
          <p:cNvSpPr txBox="1"/>
          <p:nvPr/>
        </p:nvSpPr>
        <p:spPr>
          <a:xfrm>
            <a:off x="633587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41" name="Shape 41"/>
          <p:cNvSpPr txBox="1"/>
          <p:nvPr/>
        </p:nvSpPr>
        <p:spPr>
          <a:xfrm>
            <a:off x="664702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2" name="Shape 42"/>
          <p:cNvSpPr txBox="1"/>
          <p:nvPr/>
        </p:nvSpPr>
        <p:spPr>
          <a:xfrm>
            <a:off x="695817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43" name="Shape 43"/>
          <p:cNvSpPr txBox="1"/>
          <p:nvPr/>
        </p:nvSpPr>
        <p:spPr>
          <a:xfrm>
            <a:off x="726932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4" name="Shape 44"/>
          <p:cNvSpPr txBox="1"/>
          <p:nvPr/>
        </p:nvSpPr>
        <p:spPr>
          <a:xfrm>
            <a:off x="758047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5" name="Shape 45"/>
          <p:cNvSpPr txBox="1"/>
          <p:nvPr/>
        </p:nvSpPr>
        <p:spPr>
          <a:xfrm>
            <a:off x="789162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6" name="Shape 46"/>
          <p:cNvSpPr txBox="1"/>
          <p:nvPr/>
        </p:nvSpPr>
        <p:spPr>
          <a:xfrm>
            <a:off x="820277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47" name="Shape 47"/>
          <p:cNvSpPr txBox="1"/>
          <p:nvPr/>
        </p:nvSpPr>
        <p:spPr>
          <a:xfrm>
            <a:off x="851392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8" name="Shape 48"/>
          <p:cNvSpPr txBox="1"/>
          <p:nvPr/>
        </p:nvSpPr>
        <p:spPr>
          <a:xfrm>
            <a:off x="882507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7</a:t>
            </a:r>
            <a:endParaRPr lang="en-US" sz="975" dirty="0"/>
          </a:p>
        </p:txBody>
      </p:sp>
      <p:sp>
        <p:nvSpPr>
          <p:cNvPr id="49" name="Shape 49"/>
          <p:cNvSpPr txBox="1"/>
          <p:nvPr/>
        </p:nvSpPr>
        <p:spPr>
          <a:xfrm>
            <a:off x="913622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50" name="Shape 50"/>
          <p:cNvSpPr txBox="1"/>
          <p:nvPr/>
        </p:nvSpPr>
        <p:spPr>
          <a:xfrm>
            <a:off x="6043270" y="4898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−60</a:t>
            </a:r>
            <a:endParaRPr lang="en-US" sz="975" dirty="0"/>
          </a:p>
        </p:txBody>
      </p:sp>
      <p:sp>
        <p:nvSpPr>
          <p:cNvPr id="51" name="Shape 51"/>
          <p:cNvSpPr txBox="1"/>
          <p:nvPr/>
        </p:nvSpPr>
        <p:spPr>
          <a:xfrm>
            <a:off x="6043270" y="43559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−40</a:t>
            </a:r>
            <a:endParaRPr lang="en-US" sz="975" dirty="0"/>
          </a:p>
        </p:txBody>
      </p:sp>
      <p:sp>
        <p:nvSpPr>
          <p:cNvPr id="52" name="Shape 52"/>
          <p:cNvSpPr txBox="1"/>
          <p:nvPr/>
        </p:nvSpPr>
        <p:spPr>
          <a:xfrm>
            <a:off x="6043270" y="38130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sp>
        <p:nvSpPr>
          <p:cNvPr id="53" name="Shape 53"/>
          <p:cNvSpPr txBox="1"/>
          <p:nvPr/>
        </p:nvSpPr>
        <p:spPr>
          <a:xfrm>
            <a:off x="6043270" y="32701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4" name="Shape 54"/>
          <p:cNvSpPr txBox="1"/>
          <p:nvPr/>
        </p:nvSpPr>
        <p:spPr>
          <a:xfrm>
            <a:off x="6043270" y="27271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sp>
        <p:nvSpPr>
          <p:cNvPr id="55" name="Shape 55"/>
          <p:cNvSpPr txBox="1"/>
          <p:nvPr/>
        </p:nvSpPr>
        <p:spPr>
          <a:xfrm>
            <a:off x="6043270" y="21842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40</a:t>
            </a:r>
            <a:endParaRPr lang="en-US" sz="975" dirty="0"/>
          </a:p>
        </p:txBody>
      </p:sp>
      <p:sp>
        <p:nvSpPr>
          <p:cNvPr id="56" name="Shape 56"/>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60</a:t>
            </a:r>
            <a:endParaRPr lang="en-US" sz="975" dirty="0"/>
          </a:p>
        </p:txBody>
      </p:sp>
      <p:cxnSp>
        <p:nvCxnSpPr>
          <p:cNvPr id="57" name="Line 57"/>
          <p:cNvCxnSpPr/>
          <p:nvPr/>
        </p:nvCxnSpPr>
        <p:spPr>
          <a:xfrm flipV="1">
            <a:off x="6610198" y="1732788"/>
            <a:ext cx="2489200" cy="3257550"/>
          </a:xfrm>
          <a:prstGeom prst="line">
            <a:avLst/>
          </a:prstGeom>
          <a:ln w="38100" cap="rnd">
            <a:solidFill>
              <a:srgbClr val="16171D"/>
            </a:solidFill>
          </a:ln>
        </p:spPr>
      </p:cxnSp>
      <p:sp>
        <p:nvSpPr>
          <p:cNvPr id="58" name="Shape 58"/>
          <p:cNvSpPr/>
          <p:nvPr/>
        </p:nvSpPr>
        <p:spPr>
          <a:xfrm>
            <a:off x="6868960" y="4530757"/>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9" name="Shape 59"/>
          <p:cNvSpPr txBox="1"/>
          <p:nvPr/>
        </p:nvSpPr>
        <p:spPr>
          <a:xfrm>
            <a:off x="7007073" y="4335494"/>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−45)</a:t>
            </a:r>
            <a:endParaRPr lang="en-US" sz="1125" dirty="0"/>
          </a:p>
        </p:txBody>
      </p:sp>
      <p:sp>
        <p:nvSpPr>
          <p:cNvPr id="60" name="Shape 60"/>
          <p:cNvSpPr/>
          <p:nvPr/>
        </p:nvSpPr>
        <p:spPr>
          <a:xfrm>
            <a:off x="7802410" y="330917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1" name="Shape 61"/>
          <p:cNvSpPr txBox="1"/>
          <p:nvPr/>
        </p:nvSpPr>
        <p:spPr>
          <a:xfrm>
            <a:off x="7940523" y="311391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(3, 0)</a:t>
            </a:r>
            <a:endParaRPr lang="en-US" sz="11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7"/>
                                        </p:tgtEl>
                                        <p:attrNameLst>
                                          <p:attrName>style.visibility</p:attrName>
                                        </p:attrNameLst>
                                      </p:cBhvr>
                                      <p:to>
                                        <p:strVal val="visible"/>
                                      </p:to>
                                    </p:set>
                                    <p:animEffect transition="in" filter="fade">
                                      <p:cBhvr>
                                        <p:cTn id="4" dur="500"/>
                                        <p:tgtEl>
                                          <p:spTgt spid="7"/>
                                        </p:tgtEl>
                                      </p:cBhvr>
                                    </p:animEffect>
                                    <p:anim calcmode="lin" valueType="num">
                                      <p:cBhvr>
                                        <p:cTn id="5" dur="500" fill="hold"/>
                                        <p:tgtEl>
                                          <p:spTgt spid="7"/>
                                        </p:tgtEl>
                                        <p:attrNameLst>
                                          <p:attrName>ppt_w</p:attrName>
                                        </p:attrNameLst>
                                      </p:cBhvr>
                                      <p:tavLst>
                                        <p:tav tm="0">
                                          <p:val>
                                            <p:fltVal val="0"/>
                                          </p:val>
                                        </p:tav>
                                        <p:tav tm="100000">
                                          <p:val>
                                            <p:strVal val="#ppt_w"/>
                                          </p:val>
                                        </p:tav>
                                      </p:tavLst>
                                    </p:anim>
                                    <p:anim calcmode="lin" valueType="num">
                                      <p:cBhvr>
                                        <p:cTn id="6"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500"/>
                                        <p:tgtEl>
                                          <p:spTgt spid="12"/>
                                        </p:tgtEl>
                                      </p:cBhvr>
                                    </p:animEffect>
                                    <p:anim calcmode="lin" valueType="num">
                                      <p:cBhvr>
                                        <p:cTn id="12" dur="500" fill="hold"/>
                                        <p:tgtEl>
                                          <p:spTgt spid="12"/>
                                        </p:tgtEl>
                                        <p:attrNameLst>
                                          <p:attrName>ppt_w</p:attrName>
                                        </p:attrNameLst>
                                      </p:cBhvr>
                                      <p:tavLst>
                                        <p:tav tm="0">
                                          <p:val>
                                            <p:fltVal val="0"/>
                                          </p:val>
                                        </p:tav>
                                        <p:tav tm="100000">
                                          <p:val>
                                            <p:strVal val="#ppt_w"/>
                                          </p:val>
                                        </p:tav>
                                      </p:tavLst>
                                    </p:anim>
                                    <p:anim calcmode="lin" valueType="num">
                                      <p:cBhvr>
                                        <p:cTn id="13" dur="500" fill="hold"/>
                                        <p:tgtEl>
                                          <p:spTgt spid="12"/>
                                        </p:tgtEl>
                                        <p:attrNameLst>
                                          <p:attrName>ppt_h</p:attrName>
                                        </p:attrNameLst>
                                      </p:cBhvr>
                                      <p:tavLst>
                                        <p:tav tm="0">
                                          <p:val>
                                            <p:fltVal val="0"/>
                                          </p:val>
                                        </p:tav>
                                        <p:tav tm="100000">
                                          <p:val>
                                            <p:strVal val="#ppt_h"/>
                                          </p:val>
                                        </p:tav>
                                      </p:tavLst>
                                    </p:anim>
                                  </p:childTnLst>
                                </p:cTn>
                              </p:par>
                            </p:childTnLst>
                          </p:cTn>
                        </p:par>
                      </p:childTnLst>
                    </p:cTn>
                  </p:par>
                  <p:par>
                    <p:cTn id="20" fill="hold">
                      <p:stCondLst>
                        <p:cond delay="indefinite"/>
                      </p:stCondLst>
                      <p:childTnLst>
                        <p:par>
                          <p:cTn id="21" fill="hold">
                            <p:stCondLst>
                              <p:cond delay="0"/>
                            </p:stCondLst>
                            <p:childTnLst>
                              <p:par>
                                <p:cTn id="19" presetID="22" presetClass="entr" presetSubtype="8" fill="hold" nodeType="clickEffect">
                                  <p:stCondLst>
                                    <p:cond delay="0"/>
                                  </p:stCondLst>
                                  <p:childTnLst>
                                    <p:set>
                                      <p:cBhvr>
                                        <p:cTn id="17" dur="1" fill="hold">
                                          <p:stCondLst>
                                            <p:cond delay="0"/>
                                          </p:stCondLst>
                                        </p:cTn>
                                        <p:tgtEl>
                                          <p:spTgt spid="57"/>
                                        </p:tgtEl>
                                        <p:attrNameLst>
                                          <p:attrName>style.visibility</p:attrName>
                                        </p:attrNameLst>
                                      </p:cBhvr>
                                      <p:to>
                                        <p:strVal val="visible"/>
                                      </p:to>
                                    </p:set>
                                    <p:animEffect transition="in" filter="wipe(left)">
                                      <p:cBhvr>
                                        <p:cTn id="18" dur="7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3</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Back to Topic 2</a:t>
            </a:r>
            <a:endParaRPr lang="en-US" sz="8250" dirty="0"/>
          </a:p>
        </p:txBody>
      </p:sp>
      <p:sp>
        <p:nvSpPr>
          <p:cNvPr id="4" name="Shape 4"/>
          <p:cNvSpPr txBox="1"/>
          <p:nvPr/>
        </p:nvSpPr>
        <p:spPr>
          <a:xfrm>
            <a:off x="685800" y="399592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Catch-up done. Now today's Topic 2 lesson.</a:t>
            </a:r>
            <a:endParaRPr lang="en-US" sz="2250" dirty="0"/>
          </a:p>
        </p:txBody>
      </p:sp>
    </p:spTree>
  </p:cSld>
  <p:clrMapOvr>
    <a:masterClrMapping/>
  </p:clrMapOvr>
  <p:transition spd="med">
    <p:fade/>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We do · Flat and straight-up lines</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Through (2, −1)</a:t>
            </a:r>
            <a:endParaRPr lang="en-US" sz="3450" dirty="0"/>
          </a:p>
        </p:txBody>
      </p:sp>
      <p:sp>
        <p:nvSpPr>
          <p:cNvPr id="4" name="Shape 4"/>
          <p:cNvSpPr txBox="1"/>
          <p:nvPr/>
        </p:nvSpPr>
        <p:spPr>
          <a:xfrm>
            <a:off x="685800"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Horizontal: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____</a:t>
            </a:r>
            <a:endParaRPr lang="en-US" sz="1950" dirty="0"/>
          </a:p>
        </p:txBody>
      </p:sp>
      <p:sp>
        <p:nvSpPr>
          <p:cNvPr id="5" name="Shape 5"/>
          <p:cNvSpPr txBox="1"/>
          <p:nvPr/>
        </p:nvSpPr>
        <p:spPr>
          <a:xfrm>
            <a:off x="685800" y="210388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a:t>
            </a:r>
            <a:endParaRPr lang="en-US" sz="2325" dirty="0"/>
          </a:p>
        </p:txBody>
      </p:sp>
      <p:sp>
        <p:nvSpPr>
          <p:cNvPr id="6" name="Shape 6"/>
          <p:cNvSpPr txBox="1"/>
          <p:nvPr/>
        </p:nvSpPr>
        <p:spPr>
          <a:xfrm>
            <a:off x="685800" y="2756154"/>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Vertical: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____</a:t>
            </a:r>
            <a:endParaRPr lang="en-US" sz="1950" dirty="0"/>
          </a:p>
        </p:txBody>
      </p:sp>
      <p:sp>
        <p:nvSpPr>
          <p:cNvPr id="7" name="Shape 7"/>
          <p:cNvSpPr txBox="1"/>
          <p:nvPr/>
        </p:nvSpPr>
        <p:spPr>
          <a:xfrm>
            <a:off x="685800" y="3241548"/>
            <a:ext cx="274219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8" name="Shape 8"/>
          <p:cNvSpPr txBox="1"/>
          <p:nvPr/>
        </p:nvSpPr>
        <p:spPr>
          <a:xfrm>
            <a:off x="685800" y="3893820"/>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 horizontal line and a vertical line are always perpendicular.</a:t>
            </a:r>
            <a:endParaRPr lang="en-US" sz="1575" dirty="0"/>
          </a:p>
        </p:txBody>
      </p:sp>
      <p:sp>
        <p:nvSpPr>
          <p:cNvPr id="9" name="Shape 9"/>
          <p:cNvSpPr/>
          <p:nvPr/>
        </p:nvSpPr>
        <p:spPr>
          <a:xfrm>
            <a:off x="6286348" y="1618488"/>
            <a:ext cx="2857500" cy="2857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0" name="Line 10"/>
          <p:cNvCxnSpPr/>
          <p:nvPr/>
        </p:nvCxnSpPr>
        <p:spPr>
          <a:xfrm>
            <a:off x="6610198" y="1732788"/>
            <a:ext cx="0" cy="2495550"/>
          </a:xfrm>
          <a:prstGeom prst="line">
            <a:avLst/>
          </a:prstGeom>
          <a:ln w="9525" cap="flat">
            <a:solidFill>
              <a:srgbClr val="E6E8F2"/>
            </a:solidFill>
          </a:ln>
        </p:spPr>
      </p:cxnSp>
      <p:cxnSp>
        <p:nvCxnSpPr>
          <p:cNvPr id="11" name="Line 11"/>
          <p:cNvCxnSpPr/>
          <p:nvPr/>
        </p:nvCxnSpPr>
        <p:spPr>
          <a:xfrm>
            <a:off x="6879014" y="1732788"/>
            <a:ext cx="0" cy="2495550"/>
          </a:xfrm>
          <a:prstGeom prst="line">
            <a:avLst/>
          </a:prstGeom>
          <a:ln w="9525" cap="flat">
            <a:solidFill>
              <a:srgbClr val="E6E8F2"/>
            </a:solidFill>
          </a:ln>
        </p:spPr>
      </p:cxnSp>
      <p:cxnSp>
        <p:nvCxnSpPr>
          <p:cNvPr id="12" name="Line 12"/>
          <p:cNvCxnSpPr/>
          <p:nvPr/>
        </p:nvCxnSpPr>
        <p:spPr>
          <a:xfrm>
            <a:off x="7147831" y="1732788"/>
            <a:ext cx="0" cy="2495550"/>
          </a:xfrm>
          <a:prstGeom prst="line">
            <a:avLst/>
          </a:prstGeom>
          <a:ln w="9525" cap="flat">
            <a:solidFill>
              <a:srgbClr val="E6E8F2"/>
            </a:solidFill>
          </a:ln>
        </p:spPr>
      </p:cxnSp>
      <p:cxnSp>
        <p:nvCxnSpPr>
          <p:cNvPr id="13" name="Line 13"/>
          <p:cNvCxnSpPr/>
          <p:nvPr/>
        </p:nvCxnSpPr>
        <p:spPr>
          <a:xfrm>
            <a:off x="7416648" y="1732788"/>
            <a:ext cx="0" cy="2495550"/>
          </a:xfrm>
          <a:prstGeom prst="line">
            <a:avLst/>
          </a:prstGeom>
          <a:ln w="9525" cap="flat">
            <a:solidFill>
              <a:srgbClr val="E6E8F2"/>
            </a:solidFill>
          </a:ln>
        </p:spPr>
      </p:cxnSp>
      <p:cxnSp>
        <p:nvCxnSpPr>
          <p:cNvPr id="14" name="Line 14"/>
          <p:cNvCxnSpPr/>
          <p:nvPr/>
        </p:nvCxnSpPr>
        <p:spPr>
          <a:xfrm>
            <a:off x="7685464" y="1732788"/>
            <a:ext cx="0" cy="2495550"/>
          </a:xfrm>
          <a:prstGeom prst="line">
            <a:avLst/>
          </a:prstGeom>
          <a:ln w="9525" cap="flat">
            <a:solidFill>
              <a:srgbClr val="E6E8F2"/>
            </a:solidFill>
          </a:ln>
        </p:spPr>
      </p:cxnSp>
      <p:cxnSp>
        <p:nvCxnSpPr>
          <p:cNvPr id="15" name="Line 15"/>
          <p:cNvCxnSpPr/>
          <p:nvPr/>
        </p:nvCxnSpPr>
        <p:spPr>
          <a:xfrm>
            <a:off x="7954281" y="1732788"/>
            <a:ext cx="0" cy="2495550"/>
          </a:xfrm>
          <a:prstGeom prst="line">
            <a:avLst/>
          </a:prstGeom>
          <a:ln w="9525" cap="flat">
            <a:solidFill>
              <a:srgbClr val="E6E8F2"/>
            </a:solidFill>
          </a:ln>
        </p:spPr>
      </p:cxnSp>
      <p:cxnSp>
        <p:nvCxnSpPr>
          <p:cNvPr id="16" name="Line 16"/>
          <p:cNvCxnSpPr/>
          <p:nvPr/>
        </p:nvCxnSpPr>
        <p:spPr>
          <a:xfrm>
            <a:off x="8223098" y="1732788"/>
            <a:ext cx="0" cy="2495550"/>
          </a:xfrm>
          <a:prstGeom prst="line">
            <a:avLst/>
          </a:prstGeom>
          <a:ln w="9525" cap="flat">
            <a:solidFill>
              <a:srgbClr val="E6E8F2"/>
            </a:solidFill>
          </a:ln>
        </p:spPr>
      </p:cxnSp>
      <p:cxnSp>
        <p:nvCxnSpPr>
          <p:cNvPr id="17" name="Line 17"/>
          <p:cNvCxnSpPr/>
          <p:nvPr/>
        </p:nvCxnSpPr>
        <p:spPr>
          <a:xfrm>
            <a:off x="8491914" y="1732788"/>
            <a:ext cx="0" cy="2495550"/>
          </a:xfrm>
          <a:prstGeom prst="line">
            <a:avLst/>
          </a:prstGeom>
          <a:ln w="9525" cap="flat">
            <a:solidFill>
              <a:srgbClr val="E6E8F2"/>
            </a:solidFill>
          </a:ln>
        </p:spPr>
      </p:cxnSp>
      <p:cxnSp>
        <p:nvCxnSpPr>
          <p:cNvPr id="18" name="Line 18"/>
          <p:cNvCxnSpPr/>
          <p:nvPr/>
        </p:nvCxnSpPr>
        <p:spPr>
          <a:xfrm>
            <a:off x="8760731" y="1732788"/>
            <a:ext cx="0" cy="2495550"/>
          </a:xfrm>
          <a:prstGeom prst="line">
            <a:avLst/>
          </a:prstGeom>
          <a:ln w="9525" cap="flat">
            <a:solidFill>
              <a:srgbClr val="E6E8F2"/>
            </a:solidFill>
          </a:ln>
        </p:spPr>
      </p:cxnSp>
      <p:cxnSp>
        <p:nvCxnSpPr>
          <p:cNvPr id="19" name="Line 19"/>
          <p:cNvCxnSpPr/>
          <p:nvPr/>
        </p:nvCxnSpPr>
        <p:spPr>
          <a:xfrm>
            <a:off x="9029548" y="1732788"/>
            <a:ext cx="0" cy="2495550"/>
          </a:xfrm>
          <a:prstGeom prst="line">
            <a:avLst/>
          </a:prstGeom>
          <a:ln w="9525" cap="flat">
            <a:solidFill>
              <a:srgbClr val="E6E8F2"/>
            </a:solidFill>
          </a:ln>
        </p:spPr>
      </p:cxnSp>
      <p:cxnSp>
        <p:nvCxnSpPr>
          <p:cNvPr id="20" name="Line 20"/>
          <p:cNvCxnSpPr/>
          <p:nvPr/>
        </p:nvCxnSpPr>
        <p:spPr>
          <a:xfrm>
            <a:off x="6610198" y="4228338"/>
            <a:ext cx="2419350" cy="0"/>
          </a:xfrm>
          <a:prstGeom prst="line">
            <a:avLst/>
          </a:prstGeom>
          <a:ln w="9525" cap="flat">
            <a:solidFill>
              <a:srgbClr val="E6E8F2"/>
            </a:solidFill>
          </a:ln>
        </p:spPr>
      </p:cxnSp>
      <p:cxnSp>
        <p:nvCxnSpPr>
          <p:cNvPr id="21" name="Line 21"/>
          <p:cNvCxnSpPr/>
          <p:nvPr/>
        </p:nvCxnSpPr>
        <p:spPr>
          <a:xfrm>
            <a:off x="6610198" y="3951055"/>
            <a:ext cx="2419350" cy="0"/>
          </a:xfrm>
          <a:prstGeom prst="line">
            <a:avLst/>
          </a:prstGeom>
          <a:ln w="9525" cap="flat">
            <a:solidFill>
              <a:srgbClr val="E6E8F2"/>
            </a:solidFill>
          </a:ln>
        </p:spPr>
      </p:cxnSp>
      <p:cxnSp>
        <p:nvCxnSpPr>
          <p:cNvPr id="22" name="Line 22"/>
          <p:cNvCxnSpPr/>
          <p:nvPr/>
        </p:nvCxnSpPr>
        <p:spPr>
          <a:xfrm>
            <a:off x="6610198" y="3673771"/>
            <a:ext cx="2419350" cy="0"/>
          </a:xfrm>
          <a:prstGeom prst="line">
            <a:avLst/>
          </a:prstGeom>
          <a:ln w="9525" cap="flat">
            <a:solidFill>
              <a:srgbClr val="E6E8F2"/>
            </a:solidFill>
          </a:ln>
        </p:spPr>
      </p:cxnSp>
      <p:cxnSp>
        <p:nvCxnSpPr>
          <p:cNvPr id="23" name="Line 23"/>
          <p:cNvCxnSpPr/>
          <p:nvPr/>
        </p:nvCxnSpPr>
        <p:spPr>
          <a:xfrm>
            <a:off x="6610198" y="3396488"/>
            <a:ext cx="2419350" cy="0"/>
          </a:xfrm>
          <a:prstGeom prst="line">
            <a:avLst/>
          </a:prstGeom>
          <a:ln w="9525" cap="flat">
            <a:solidFill>
              <a:srgbClr val="E6E8F2"/>
            </a:solidFill>
          </a:ln>
        </p:spPr>
      </p:cxnSp>
      <p:cxnSp>
        <p:nvCxnSpPr>
          <p:cNvPr id="24" name="Line 24"/>
          <p:cNvCxnSpPr/>
          <p:nvPr/>
        </p:nvCxnSpPr>
        <p:spPr>
          <a:xfrm>
            <a:off x="6610198" y="3119205"/>
            <a:ext cx="2419350" cy="0"/>
          </a:xfrm>
          <a:prstGeom prst="line">
            <a:avLst/>
          </a:prstGeom>
          <a:ln w="9525" cap="flat">
            <a:solidFill>
              <a:srgbClr val="E6E8F2"/>
            </a:solidFill>
          </a:ln>
        </p:spPr>
      </p:cxnSp>
      <p:cxnSp>
        <p:nvCxnSpPr>
          <p:cNvPr id="25" name="Line 25"/>
          <p:cNvCxnSpPr/>
          <p:nvPr/>
        </p:nvCxnSpPr>
        <p:spPr>
          <a:xfrm>
            <a:off x="6610198" y="2841921"/>
            <a:ext cx="2419350" cy="0"/>
          </a:xfrm>
          <a:prstGeom prst="line">
            <a:avLst/>
          </a:prstGeom>
          <a:ln w="9525" cap="flat">
            <a:solidFill>
              <a:srgbClr val="E6E8F2"/>
            </a:solidFill>
          </a:ln>
        </p:spPr>
      </p:cxnSp>
      <p:cxnSp>
        <p:nvCxnSpPr>
          <p:cNvPr id="26" name="Line 26"/>
          <p:cNvCxnSpPr/>
          <p:nvPr/>
        </p:nvCxnSpPr>
        <p:spPr>
          <a:xfrm>
            <a:off x="6610198" y="2564638"/>
            <a:ext cx="2419350" cy="0"/>
          </a:xfrm>
          <a:prstGeom prst="line">
            <a:avLst/>
          </a:prstGeom>
          <a:ln w="9525" cap="flat">
            <a:solidFill>
              <a:srgbClr val="E6E8F2"/>
            </a:solidFill>
          </a:ln>
        </p:spPr>
      </p:cxnSp>
      <p:cxnSp>
        <p:nvCxnSpPr>
          <p:cNvPr id="27" name="Line 27"/>
          <p:cNvCxnSpPr/>
          <p:nvPr/>
        </p:nvCxnSpPr>
        <p:spPr>
          <a:xfrm>
            <a:off x="6610198" y="2287355"/>
            <a:ext cx="2419350" cy="0"/>
          </a:xfrm>
          <a:prstGeom prst="line">
            <a:avLst/>
          </a:prstGeom>
          <a:ln w="9525" cap="flat">
            <a:solidFill>
              <a:srgbClr val="E6E8F2"/>
            </a:solidFill>
          </a:ln>
        </p:spPr>
      </p:cxnSp>
      <p:cxnSp>
        <p:nvCxnSpPr>
          <p:cNvPr id="28" name="Line 28"/>
          <p:cNvCxnSpPr/>
          <p:nvPr/>
        </p:nvCxnSpPr>
        <p:spPr>
          <a:xfrm>
            <a:off x="6610198" y="2010071"/>
            <a:ext cx="2419350" cy="0"/>
          </a:xfrm>
          <a:prstGeom prst="line">
            <a:avLst/>
          </a:prstGeom>
          <a:ln w="9525" cap="flat">
            <a:solidFill>
              <a:srgbClr val="E6E8F2"/>
            </a:solidFill>
          </a:ln>
        </p:spPr>
      </p:cxnSp>
      <p:cxnSp>
        <p:nvCxnSpPr>
          <p:cNvPr id="29" name="Line 29"/>
          <p:cNvCxnSpPr/>
          <p:nvPr/>
        </p:nvCxnSpPr>
        <p:spPr>
          <a:xfrm>
            <a:off x="6610198" y="1732788"/>
            <a:ext cx="2419350" cy="0"/>
          </a:xfrm>
          <a:prstGeom prst="line">
            <a:avLst/>
          </a:prstGeom>
          <a:ln w="9525" cap="flat">
            <a:solidFill>
              <a:srgbClr val="E6E8F2"/>
            </a:solidFill>
          </a:ln>
        </p:spPr>
      </p:cxnSp>
      <p:cxnSp>
        <p:nvCxnSpPr>
          <p:cNvPr id="30" name="Line 30"/>
          <p:cNvCxnSpPr/>
          <p:nvPr/>
        </p:nvCxnSpPr>
        <p:spPr>
          <a:xfrm>
            <a:off x="7685464" y="1732788"/>
            <a:ext cx="0" cy="2495550"/>
          </a:xfrm>
          <a:prstGeom prst="line">
            <a:avLst/>
          </a:prstGeom>
          <a:ln w="19050" cap="flat">
            <a:solidFill>
              <a:srgbClr val="5F6272"/>
            </a:solidFill>
          </a:ln>
        </p:spPr>
      </p:cxnSp>
      <p:cxnSp>
        <p:nvCxnSpPr>
          <p:cNvPr id="31" name="Line 31"/>
          <p:cNvCxnSpPr/>
          <p:nvPr/>
        </p:nvCxnSpPr>
        <p:spPr>
          <a:xfrm>
            <a:off x="6610198" y="2841921"/>
            <a:ext cx="2419350" cy="0"/>
          </a:xfrm>
          <a:prstGeom prst="line">
            <a:avLst/>
          </a:prstGeom>
          <a:ln w="19050" cap="flat">
            <a:solidFill>
              <a:srgbClr val="5F6272"/>
            </a:solidFill>
          </a:ln>
        </p:spPr>
      </p:cxnSp>
      <p:sp>
        <p:nvSpPr>
          <p:cNvPr id="32" name="Shape 32"/>
          <p:cNvSpPr txBox="1"/>
          <p:nvPr/>
        </p:nvSpPr>
        <p:spPr>
          <a:xfrm>
            <a:off x="6335878"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3" name="Shape 33"/>
          <p:cNvSpPr txBox="1"/>
          <p:nvPr/>
        </p:nvSpPr>
        <p:spPr>
          <a:xfrm>
            <a:off x="6604694"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4" name="Shape 34"/>
          <p:cNvSpPr txBox="1"/>
          <p:nvPr/>
        </p:nvSpPr>
        <p:spPr>
          <a:xfrm>
            <a:off x="6873511"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5" name="Shape 35"/>
          <p:cNvSpPr txBox="1"/>
          <p:nvPr/>
        </p:nvSpPr>
        <p:spPr>
          <a:xfrm>
            <a:off x="7142328"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6" name="Shape 36"/>
          <p:cNvSpPr txBox="1"/>
          <p:nvPr/>
        </p:nvSpPr>
        <p:spPr>
          <a:xfrm>
            <a:off x="7411144"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7" name="Shape 37"/>
          <p:cNvSpPr txBox="1"/>
          <p:nvPr/>
        </p:nvSpPr>
        <p:spPr>
          <a:xfrm>
            <a:off x="7679961"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8" name="Shape 38"/>
          <p:cNvSpPr txBox="1"/>
          <p:nvPr/>
        </p:nvSpPr>
        <p:spPr>
          <a:xfrm>
            <a:off x="7948778"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9" name="Shape 39"/>
          <p:cNvSpPr txBox="1"/>
          <p:nvPr/>
        </p:nvSpPr>
        <p:spPr>
          <a:xfrm>
            <a:off x="8217594"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0" name="Shape 40"/>
          <p:cNvSpPr txBox="1"/>
          <p:nvPr/>
        </p:nvSpPr>
        <p:spPr>
          <a:xfrm>
            <a:off x="8486411"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1" name="Shape 41"/>
          <p:cNvSpPr txBox="1"/>
          <p:nvPr/>
        </p:nvSpPr>
        <p:spPr>
          <a:xfrm>
            <a:off x="8755228"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42" name="Shape 42"/>
          <p:cNvSpPr txBox="1"/>
          <p:nvPr/>
        </p:nvSpPr>
        <p:spPr>
          <a:xfrm>
            <a:off x="6043270" y="4136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sp>
        <p:nvSpPr>
          <p:cNvPr id="43" name="Shape 43"/>
          <p:cNvSpPr txBox="1"/>
          <p:nvPr/>
        </p:nvSpPr>
        <p:spPr>
          <a:xfrm>
            <a:off x="6043270" y="385961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4" name="Shape 44"/>
          <p:cNvSpPr txBox="1"/>
          <p:nvPr/>
        </p:nvSpPr>
        <p:spPr>
          <a:xfrm>
            <a:off x="6043270" y="358233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a:t>
            </a:r>
            <a:endParaRPr lang="en-US" sz="975" dirty="0"/>
          </a:p>
        </p:txBody>
      </p:sp>
      <p:sp>
        <p:nvSpPr>
          <p:cNvPr id="45" name="Shape 45"/>
          <p:cNvSpPr txBox="1"/>
          <p:nvPr/>
        </p:nvSpPr>
        <p:spPr>
          <a:xfrm>
            <a:off x="6043270" y="33050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6" name="Shape 46"/>
          <p:cNvSpPr txBox="1"/>
          <p:nvPr/>
        </p:nvSpPr>
        <p:spPr>
          <a:xfrm>
            <a:off x="6043270" y="302776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47" name="Shape 47"/>
          <p:cNvSpPr txBox="1"/>
          <p:nvPr/>
        </p:nvSpPr>
        <p:spPr>
          <a:xfrm>
            <a:off x="6043270" y="275048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8" name="Shape 48"/>
          <p:cNvSpPr txBox="1"/>
          <p:nvPr/>
        </p:nvSpPr>
        <p:spPr>
          <a:xfrm>
            <a:off x="6043270" y="24731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49" name="Shape 49"/>
          <p:cNvSpPr txBox="1"/>
          <p:nvPr/>
        </p:nvSpPr>
        <p:spPr>
          <a:xfrm>
            <a:off x="6043270" y="219591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0" name="Shape 50"/>
          <p:cNvSpPr txBox="1"/>
          <p:nvPr/>
        </p:nvSpPr>
        <p:spPr>
          <a:xfrm>
            <a:off x="6043270" y="191863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a:t>
            </a:r>
            <a:endParaRPr lang="en-US" sz="975" dirty="0"/>
          </a:p>
        </p:txBody>
      </p:sp>
      <p:sp>
        <p:nvSpPr>
          <p:cNvPr id="51" name="Shape 51"/>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cxnSp>
        <p:nvCxnSpPr>
          <p:cNvPr id="52" name="Line 52"/>
          <p:cNvCxnSpPr/>
          <p:nvPr/>
        </p:nvCxnSpPr>
        <p:spPr>
          <a:xfrm>
            <a:off x="6610198" y="3119205"/>
            <a:ext cx="2419350" cy="0"/>
          </a:xfrm>
          <a:prstGeom prst="line">
            <a:avLst/>
          </a:prstGeom>
          <a:ln w="38100" cap="rnd">
            <a:solidFill>
              <a:srgbClr val="16171D"/>
            </a:solidFill>
          </a:ln>
        </p:spPr>
      </p:cxnSp>
      <p:sp>
        <p:nvSpPr>
          <p:cNvPr id="53" name="Shape 53"/>
          <p:cNvSpPr txBox="1"/>
          <p:nvPr/>
        </p:nvSpPr>
        <p:spPr>
          <a:xfrm>
            <a:off x="6537808" y="3138255"/>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y = −1</a:t>
            </a:r>
            <a:endParaRPr lang="en-US" sz="1275" dirty="0"/>
          </a:p>
        </p:txBody>
      </p:sp>
      <p:cxnSp>
        <p:nvCxnSpPr>
          <p:cNvPr id="54" name="Line 54"/>
          <p:cNvCxnSpPr/>
          <p:nvPr/>
        </p:nvCxnSpPr>
        <p:spPr>
          <a:xfrm flipV="1">
            <a:off x="8223098" y="1732788"/>
            <a:ext cx="0" cy="2495550"/>
          </a:xfrm>
          <a:prstGeom prst="line">
            <a:avLst/>
          </a:prstGeom>
          <a:ln w="38100" cap="rnd">
            <a:solidFill>
              <a:srgbClr val="7A4FC4"/>
            </a:solidFill>
          </a:ln>
        </p:spPr>
      </p:cxnSp>
      <p:sp>
        <p:nvSpPr>
          <p:cNvPr id="55" name="Shape 55"/>
          <p:cNvSpPr txBox="1"/>
          <p:nvPr/>
        </p:nvSpPr>
        <p:spPr>
          <a:xfrm>
            <a:off x="5731358"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x = 2</a:t>
            </a:r>
            <a:endParaRPr lang="en-US" sz="1275" dirty="0"/>
          </a:p>
        </p:txBody>
      </p:sp>
      <p:sp>
        <p:nvSpPr>
          <p:cNvPr id="56" name="Shape 56"/>
          <p:cNvSpPr/>
          <p:nvPr/>
        </p:nvSpPr>
        <p:spPr>
          <a:xfrm>
            <a:off x="8170710" y="3066817"/>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7" name="Shape 57"/>
          <p:cNvSpPr txBox="1"/>
          <p:nvPr/>
        </p:nvSpPr>
        <p:spPr>
          <a:xfrm>
            <a:off x="8308823" y="2871555"/>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(2, −1)</a:t>
            </a:r>
            <a:endParaRPr lang="en-US" sz="11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3" fill="hold">
                      <p:stCondLst>
                        <p:cond delay="indefinite"/>
                      </p:stCondLst>
                      <p:childTnLst>
                        <p:par>
                          <p:cTn id="24" fill="hold">
                            <p:stCondLst>
                              <p:cond delay="0"/>
                            </p:stCondLst>
                            <p:childTnLst>
                              <p:par>
                                <p:cTn id="19" presetID="22" presetClass="entr" presetSubtype="8" fill="hold" nodeType="clickEffect">
                                  <p:stCondLst>
                                    <p:cond delay="0"/>
                                  </p:stCondLst>
                                  <p:childTnLst>
                                    <p:set>
                                      <p:cBhvr>
                                        <p:cTn id="17" dur="1" fill="hold">
                                          <p:stCondLst>
                                            <p:cond delay="0"/>
                                          </p:stCondLst>
                                        </p:cTn>
                                        <p:tgtEl>
                                          <p:spTgt spid="52"/>
                                        </p:tgtEl>
                                        <p:attrNameLst>
                                          <p:attrName>style.visibility</p:attrName>
                                        </p:attrNameLst>
                                      </p:cBhvr>
                                      <p:to>
                                        <p:strVal val="visible"/>
                                      </p:to>
                                    </p:set>
                                    <p:animEffect transition="in" filter="wipe(left)">
                                      <p:cBhvr>
                                        <p:cTn id="18" dur="700"/>
                                        <p:tgtEl>
                                          <p:spTgt spid="52"/>
                                        </p:tgtEl>
                                      </p:cBhvr>
                                    </p:animEffect>
                                  </p:childTnLst>
                                </p:cTn>
                              </p:par>
                              <p:par>
                                <p:cTn id="22" presetID="22" presetClass="entr" presetSubtype="8" fill="hold" nodeType="withEffect">
                                  <p:stCondLst>
                                    <p:cond delay="0"/>
                                  </p:stCondLst>
                                  <p:childTnLst>
                                    <p:set>
                                      <p:cBhvr>
                                        <p:cTn id="20" dur="1" fill="hold">
                                          <p:stCondLst>
                                            <p:cond delay="0"/>
                                          </p:stCondLst>
                                        </p:cTn>
                                        <p:tgtEl>
                                          <p:spTgt spid="53"/>
                                        </p:tgtEl>
                                        <p:attrNameLst>
                                          <p:attrName>style.visibility</p:attrName>
                                        </p:attrNameLst>
                                      </p:cBhvr>
                                      <p:to>
                                        <p:strVal val="visible"/>
                                      </p:to>
                                    </p:set>
                                    <p:animEffect transition="in" filter="wipe(left)">
                                      <p:cBhvr>
                                        <p:cTn id="21" dur="700"/>
                                        <p:tgtEl>
                                          <p:spTgt spid="53"/>
                                        </p:tgtEl>
                                      </p:cBhvr>
                                    </p:animEffect>
                                  </p:childTnLst>
                                </p:cTn>
                              </p:par>
                            </p:childTnLst>
                          </p:cTn>
                        </p:par>
                      </p:childTnLst>
                    </p:cTn>
                  </p:par>
                  <p:par>
                    <p:cTn id="31" fill="hold">
                      <p:stCondLst>
                        <p:cond delay="indefinite"/>
                      </p:stCondLst>
                      <p:childTnLst>
                        <p:par>
                          <p:cTn id="32" fill="hold">
                            <p:stCondLst>
                              <p:cond delay="0"/>
                            </p:stCondLst>
                            <p:childTnLst>
                              <p:par>
                                <p:cTn id="27" presetID="22" presetClass="entr" presetSubtype="8" fill="hold" nodeType="clickEffect">
                                  <p:stCondLst>
                                    <p:cond delay="0"/>
                                  </p:stCondLst>
                                  <p:childTnLst>
                                    <p:set>
                                      <p:cBhvr>
                                        <p:cTn id="25" dur="1" fill="hold">
                                          <p:stCondLst>
                                            <p:cond delay="0"/>
                                          </p:stCondLst>
                                        </p:cTn>
                                        <p:tgtEl>
                                          <p:spTgt spid="54"/>
                                        </p:tgtEl>
                                        <p:attrNameLst>
                                          <p:attrName>style.visibility</p:attrName>
                                        </p:attrNameLst>
                                      </p:cBhvr>
                                      <p:to>
                                        <p:strVal val="visible"/>
                                      </p:to>
                                    </p:set>
                                    <p:animEffect transition="in" filter="wipe(left)">
                                      <p:cBhvr>
                                        <p:cTn id="26" dur="700"/>
                                        <p:tgtEl>
                                          <p:spTgt spid="54"/>
                                        </p:tgtEl>
                                      </p:cBhvr>
                                    </p:animEffect>
                                  </p:childTnLst>
                                </p:cTn>
                              </p:par>
                              <p:par>
                                <p:cTn id="30" presetID="22" presetClass="entr" presetSubtype="8" fill="hold" nodeType="withEffect">
                                  <p:stCondLst>
                                    <p:cond delay="0"/>
                                  </p:stCondLst>
                                  <p:childTnLst>
                                    <p:set>
                                      <p:cBhvr>
                                        <p:cTn id="28" dur="1" fill="hold">
                                          <p:stCondLst>
                                            <p:cond delay="0"/>
                                          </p:stCondLst>
                                        </p:cTn>
                                        <p:tgtEl>
                                          <p:spTgt spid="55"/>
                                        </p:tgtEl>
                                        <p:attrNameLst>
                                          <p:attrName>style.visibility</p:attrName>
                                        </p:attrNameLst>
                                      </p:cBhvr>
                                      <p:to>
                                        <p:strVal val="visible"/>
                                      </p:to>
                                    </p:set>
                                    <p:animEffect transition="in" filter="wipe(left)">
                                      <p:cBhvr>
                                        <p:cTn id="29" dur="700"/>
                                        <p:tgtEl>
                                          <p:spTgt spid="5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I do · Write it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 to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2</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+ 1, through (6, 2)</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1: given slope 2. Step 2: new slope:</a:t>
            </a:r>
            <a:endParaRPr lang="en-US" sz="1950" dirty="0"/>
          </a:p>
        </p:txBody>
      </p:sp>
      <p:sp>
        <p:nvSpPr>
          <p:cNvPr id="5" name="Shape 5"/>
          <p:cNvSpPr txBox="1"/>
          <p:nvPr/>
        </p:nvSpPr>
        <p:spPr>
          <a:xfrm>
            <a:off x="685800" y="2141982"/>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endParaRPr lang="en-US" sz="2325" dirty="0"/>
          </a:p>
        </p:txBody>
      </p:sp>
      <p:sp>
        <p:nvSpPr>
          <p:cNvPr id="6" name="Shape 6"/>
          <p:cNvSpPr txBox="1"/>
          <p:nvPr/>
        </p:nvSpPr>
        <p:spPr>
          <a:xfrm>
            <a:off x="685800" y="283235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3: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− 2 = −</a:t>
            </a:r>
            <a:r>
              <a:rPr lang="en-US" sz="1950" dirty="0">
                <a:solidFill>
                  <a:srgbClr val="16171D"/>
                </a:solidFill>
                <a:latin typeface="Segoe UI"/>
                <a:cs typeface="Segoe UI"/>
              </a:rPr>
              <a:t xml:space="preserve">1</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2</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− 6)</a:t>
            </a:r>
            <a:endParaRPr lang="en-US" sz="1950" dirty="0"/>
          </a:p>
        </p:txBody>
      </p:sp>
      <p:sp>
        <p:nvSpPr>
          <p:cNvPr id="7" name="Shape 7"/>
          <p:cNvSpPr txBox="1"/>
          <p:nvPr/>
        </p:nvSpPr>
        <p:spPr>
          <a:xfrm>
            <a:off x="685800" y="335584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4: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− 2 = −</a:t>
            </a:r>
            <a:r>
              <a:rPr lang="en-US" sz="1950" dirty="0">
                <a:solidFill>
                  <a:srgbClr val="16171D"/>
                </a:solidFill>
                <a:latin typeface="Segoe UI"/>
                <a:cs typeface="Segoe UI"/>
              </a:rPr>
              <a:t xml:space="preserve">1</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2</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+ 3</a:t>
            </a:r>
            <a:endParaRPr lang="en-US" sz="1950" dirty="0"/>
          </a:p>
        </p:txBody>
      </p:sp>
      <p:sp>
        <p:nvSpPr>
          <p:cNvPr id="8" name="Shape 8"/>
          <p:cNvSpPr txBox="1"/>
          <p:nvPr/>
        </p:nvSpPr>
        <p:spPr>
          <a:xfrm>
            <a:off x="685800" y="3879342"/>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You do · Try it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 to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3</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through (3, 1)</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New slope: ____</a:t>
            </a:r>
            <a:endParaRPr lang="en-US" sz="1950" dirty="0"/>
          </a:p>
        </p:txBody>
      </p:sp>
      <p:sp>
        <p:nvSpPr>
          <p:cNvPr id="5" name="Shape 5"/>
          <p:cNvSpPr txBox="1"/>
          <p:nvPr/>
        </p:nvSpPr>
        <p:spPr>
          <a:xfrm>
            <a:off x="685800" y="2141982"/>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endParaRPr lang="en-US" sz="2325" dirty="0"/>
          </a:p>
        </p:txBody>
      </p:sp>
      <p:sp>
        <p:nvSpPr>
          <p:cNvPr id="6" name="Shape 6"/>
          <p:cNvSpPr txBox="1"/>
          <p:nvPr/>
        </p:nvSpPr>
        <p:spPr>
          <a:xfrm>
            <a:off x="685800" y="283235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− 1 = ____(</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− 3)</a:t>
            </a:r>
            <a:endParaRPr lang="en-US" sz="1950" dirty="0"/>
          </a:p>
        </p:txBody>
      </p:sp>
      <p:sp>
        <p:nvSpPr>
          <p:cNvPr id="7" name="Shape 7"/>
          <p:cNvSpPr txBox="1"/>
          <p:nvPr/>
        </p:nvSpPr>
        <p:spPr>
          <a:xfrm>
            <a:off x="685800" y="3355848"/>
            <a:ext cx="506376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8" name="Shape 8"/>
          <p:cNvSpPr txBox="1"/>
          <p:nvPr/>
        </p:nvSpPr>
        <p:spPr>
          <a:xfrm>
            <a:off x="685800" y="404622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____</a:t>
            </a:r>
            <a:endParaRPr lang="en-US" sz="1950" dirty="0"/>
          </a:p>
        </p:txBody>
      </p:sp>
      <p:sp>
        <p:nvSpPr>
          <p:cNvPr id="9" name="Shape 9"/>
          <p:cNvSpPr txBox="1"/>
          <p:nvPr/>
        </p:nvSpPr>
        <p:spPr>
          <a:xfrm>
            <a:off x="685800" y="4569714"/>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Exit Ticket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Show what you know</a:t>
            </a:r>
            <a:endParaRPr lang="en-US" sz="3450" dirty="0"/>
          </a:p>
        </p:txBody>
      </p:sp>
      <p:sp>
        <p:nvSpPr>
          <p:cNvPr id="6" name="Shape 6"/>
          <p:cNvSpPr txBox="1"/>
          <p:nvPr/>
        </p:nvSpPr>
        <p:spPr>
          <a:xfrm>
            <a:off x="685800" y="1618488"/>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What slope is perpendicular to </a:t>
            </a:r>
            <a:r>
              <a:rPr lang="en-US" sz="1950" dirty="0">
                <a:solidFill>
                  <a:srgbClr val="16171D"/>
                </a:solidFill>
                <a:latin typeface="Segoe UI"/>
                <a:cs typeface="Segoe UI"/>
              </a:rPr>
              <a:t xml:space="preserve">3</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4</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895350" y="2237232"/>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endParaRPr lang="en-US" sz="2325" dirty="0"/>
          </a:p>
        </p:txBody>
      </p:sp>
      <p:sp>
        <p:nvSpPr>
          <p:cNvPr id="9" name="Shape 9"/>
          <p:cNvSpPr txBox="1"/>
          <p:nvPr/>
        </p:nvSpPr>
        <p:spPr>
          <a:xfrm>
            <a:off x="685800" y="3060954"/>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895350" y="3232404"/>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Write the vertical line through (5, 6).</a:t>
            </a:r>
            <a:endParaRPr lang="en-US" sz="1950" dirty="0"/>
          </a:p>
        </p:txBody>
      </p:sp>
      <p:sp>
        <p:nvSpPr>
          <p:cNvPr id="8" name="Shape 8"/>
          <p:cNvSpPr txBox="1"/>
          <p:nvPr/>
        </p:nvSpPr>
        <p:spPr>
          <a:xfrm>
            <a:off x="895350" y="3679698"/>
            <a:ext cx="274219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12" name="Shape 12"/>
          <p:cNvSpPr txBox="1"/>
          <p:nvPr/>
        </p:nvSpPr>
        <p:spPr>
          <a:xfrm>
            <a:off x="685800" y="4503420"/>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95350" y="4674870"/>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Write the line ⊥ to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through (0, 3).</a:t>
            </a:r>
            <a:endParaRPr lang="en-US" sz="1950" dirty="0"/>
          </a:p>
        </p:txBody>
      </p:sp>
      <p:sp>
        <p:nvSpPr>
          <p:cNvPr id="11" name="Shape 11"/>
          <p:cNvSpPr txBox="1"/>
          <p:nvPr/>
        </p:nvSpPr>
        <p:spPr>
          <a:xfrm>
            <a:off x="895350" y="5122164"/>
            <a:ext cx="3405500"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anim calcmode="lin" valueType="num">
                                      <p:cBhvr>
                                        <p:cTn id="19" dur="500" fill="hold"/>
                                        <p:tgtEl>
                                          <p:spTgt spid="11"/>
                                        </p:tgtEl>
                                        <p:attrNameLst>
                                          <p:attrName>ppt_w</p:attrName>
                                        </p:attrNameLst>
                                      </p:cBhvr>
                                      <p:tavLst>
                                        <p:tav tm="0">
                                          <p:val>
                                            <p:fltVal val="0"/>
                                          </p:val>
                                        </p:tav>
                                        <p:tav tm="100000">
                                          <p:val>
                                            <p:strVal val="#ppt_w"/>
                                          </p:val>
                                        </p:tav>
                                      </p:tavLst>
                                    </p:anim>
                                    <p:anim calcmode="lin" valueType="num">
                                      <p:cBhvr>
                                        <p:cTn id="20"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3 · End of Day 2</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Stop here: Monday, November 2</a:t>
            </a:r>
            <a:endParaRPr lang="en-US" sz="8250" dirty="0"/>
          </a:p>
        </p:txBody>
      </p:sp>
      <p:sp>
        <p:nvSpPr>
          <p:cNvPr id="4" name="Shape 4"/>
          <p:cNvSpPr txBox="1"/>
          <p:nvPr/>
        </p:nvSpPr>
        <p:spPr>
          <a:xfrm>
            <a:off x="685800" y="525322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Next class: Tuesday, November 3. Open the Lesson 4 deck.</a:t>
            </a:r>
            <a:endParaRPr lang="en-US" sz="2250" dirty="0"/>
          </a:p>
        </p:txBody>
      </p:sp>
    </p:spTree>
  </p:cSld>
  <p:clrMapOvr>
    <a:masterClrMapping/>
  </p:clrMapOvr>
  <p:transition spd="med">
    <p:fade/>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Practice Online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Bell work, homework and quiz</a:t>
            </a:r>
            <a:endParaRPr lang="en-US" sz="3450" dirty="0"/>
          </a:p>
        </p:txBody>
      </p:sp>
      <p:sp>
        <p:nvSpPr>
          <p:cNvPr id="4" name="Shape 4"/>
          <p:cNvSpPr txBox="1"/>
          <p:nvPr/>
        </p:nvSpPr>
        <p:spPr>
          <a:xfrm>
            <a:off x="685800" y="1675638"/>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5"/>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6"/>
              </a:rPr>
              <a:t xml:space="preserve">Quiz →</a:t>
            </a:r>
            <a:endParaRPr lang="en-US" sz="1800" dirty="0"/>
          </a:p>
        </p:txBody>
      </p:sp>
      <p:sp>
        <p:nvSpPr>
          <p:cNvPr id="5" name="Shape 5"/>
          <p:cNvSpPr txBox="1"/>
          <p:nvPr/>
        </p:nvSpPr>
        <p:spPr>
          <a:xfrm>
            <a:off x="685800" y="2176272"/>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IEP pages have 3 answer choices, 6 homework and quiz questions, a reminder card and read-aloud. Allow notes and a calculator, and give extended time as the IEP lists.</a:t>
            </a:r>
            <a:endParaRPr lang="en-US" sz="1575" dirty="0"/>
          </a:p>
        </p:txBody>
      </p:sp>
    </p:spTree>
  </p:cSld>
  <p:clrMapOvr>
    <a:masterClrMapping/>
  </p:clrMapOvr>
  <p:transition spd="med">
    <p:fade/>
  </p:transition>
</p:sld>
</file>

<file path=ppt/theme/theme1.xml><?xml version="1.0" encoding="utf-8"?>
<a:theme xmlns:a="http://schemas.openxmlformats.org/drawingml/2006/main" name="Determining Slopes of Perpendicular Line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Note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Microsoft Office PowerPoint</Application>
  <Slides>23</Slides>
  <Notes>23</Notes>
</Properties>
</file>

<file path=docProps/core.xml><?xml version="1.0" encoding="utf-8"?>
<cp:coreProperties xmlns:cp="http://schemas.openxmlformats.org/package/2006/metadata/core-properties" xmlns:dc="http://purl.org/dc/elements/1.1/">
  <dc:title>Determining Slopes of Perpendicular Lines</dc:title>
  <dc:subject>Bluebonnet Algebra I</dc:subject>
</cp:coreProperties>
</file>