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IEP version of Topic 2 Lesson 3: a modified lesson that keeps the core skills and cuts the number of items. Each skill follows I do (teacher models), We do (together, with sentence frames), You do (student tries, then reveal). Click to reveal each answer. The bell work for every day follows this slide (the same questions as the online bell work); skip to the current day. Apply each student's IEP accommodations too: extended time, read-aloud, breaks, calculator, small group.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Thursday, October 29.</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1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6 so the class is ready for the End of Topic 1 Assessment (Lessons 1–6). Keep it to about 15 minutes, then go back to the Topic 2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up: 6 shirts only earns $90.</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or give students a printed copy, while they work.</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each: the product should be −1.</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Thursday, October 29.</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Monday, November 2.</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2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6 so the class is ready for the End of Topic 1 Assessment (Lessons 1–6). Keep it to about 15 minutes, then go back to the Topic 2 lesson.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that both forms are the same: distribute 15(t − 3) = 15t − 45. The zero, 3, means she must sell 3 shirts just to break even.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point to the steps slide.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try all items before revealing. Students may use the steps slide and their notes. After each answer, click once per step and read it aloud so students can find where their work went wrong.</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Monday, November 2.</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IEP/t2-lesson3-bellwork-day1-IEP.html" TargetMode="External"/><Relationship Id="rId4" Type="http://schemas.openxmlformats.org/officeDocument/2006/relationships/hyperlink" Target="https://algebra1m2u1l4.vercel.app/IEP/t2-lesson3-bellwork-day2-IEP.html" TargetMode="External"/><Relationship Id="rId5" Type="http://schemas.openxmlformats.org/officeDocument/2006/relationships/hyperlink" Target="https://algebra1m2u1l4.vercel.app/IEP/t2-lesson3-homework-IEP.html" TargetMode="External"/><Relationship Id="rId6" Type="http://schemas.openxmlformats.org/officeDocument/2006/relationships/hyperlink" Target="https://algebra1m2u1l4.vercel.app/IEP/t2-lesson3-quiz-IEP.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algebra1m2u1l4.vercel.app/IEP/lesson6-homework-IEP.html" TargetMode="External"/><Relationship Id="rId4" Type="http://schemas.openxmlformats.org/officeDocument/2006/relationships/hyperlink" Target="https://algebra1m2u1l4.vercel.app/IEP/lesson6-quiz-IEP.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algebra1m2u1l4.vercel.app/IEP/lesson6-homework-IEP.html" TargetMode="External"/><Relationship Id="rId4" Type="http://schemas.openxmlformats.org/officeDocument/2006/relationships/hyperlink" Target="https://algebra1m2u1l4.vercel.app/IEP/lesson6-quiz-IEP.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hyperlink" Target="https://algebra1m2u1l4.vercel.app/IEP/t2-lesson3-bellwork-day1-IEP.html" TargetMode="External"/><Relationship Id="rId4" Type="http://schemas.openxmlformats.org/officeDocument/2006/relationships/hyperlink" Target="https://algebra1m2u1l4.vercel.app/IEP/t2-lesson3-bellwork-day2-IEP.html" TargetMode="External"/><Relationship Id="rId5" Type="http://schemas.openxmlformats.org/officeDocument/2006/relationships/hyperlink" Target="https://algebra1m2u1l4.vercel.app/IEP/t2-lesson3-homework-IEP.html" TargetMode="External"/><Relationship Id="rId6" Type="http://schemas.openxmlformats.org/officeDocument/2006/relationships/hyperlink" Target="https://algebra1m2u1l4.vercel.app/IEP/t2-lesson3-quiz-IEP.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3 · IEP Version</a:t>
            </a:r>
            <a:endParaRPr lang="en-US" sz="1200" dirty="0"/>
          </a:p>
        </p:txBody>
      </p:sp>
      <p:sp>
        <p:nvSpPr>
          <p:cNvPr id="3" name="Shape 3"/>
          <p:cNvSpPr txBox="1"/>
          <p:nvPr/>
        </p:nvSpPr>
        <p:spPr>
          <a:xfrm>
            <a:off x="685800" y="961644"/>
            <a:ext cx="10820095" cy="740664"/>
          </a:xfrm>
          <a:prstGeom prst="rect">
            <a:avLst/>
          </a:prstGeom>
          <a:noFill/>
          <a:ln>
            <a:noFill/>
          </a:ln>
        </p:spPr>
        <p:txBody>
          <a:bodyPr wrap="square" lIns="36576" tIns="27432" rIns="36576" bIns="27432" anchor="t">
            <a:noAutofit/>
          </a:bodyPr>
          <a:lstStyle/>
          <a:p>
            <a:pPr algn="l">
              <a:lnSpc>
                <a:spcPct val="100000"/>
              </a:lnSpc>
            </a:pPr>
            <a:r>
              <a:rPr lang="en-US" sz="4500" dirty="0" b="1">
                <a:solidFill>
                  <a:srgbClr val="16171D"/>
                </a:solidFill>
                <a:latin typeface="Segoe UI"/>
                <a:cs typeface="Segoe UI"/>
              </a:rPr>
              <a:t xml:space="preserve">Slopes of Perpendicular Lines</a:t>
            </a:r>
            <a:endParaRPr lang="en-US" sz="4500" dirty="0"/>
          </a:p>
        </p:txBody>
      </p:sp>
      <p:sp>
        <p:nvSpPr>
          <p:cNvPr id="4" name="Shape 4"/>
          <p:cNvSpPr txBox="1"/>
          <p:nvPr/>
        </p:nvSpPr>
        <p:spPr>
          <a:xfrm>
            <a:off x="685800" y="1873758"/>
            <a:ext cx="1082009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Adds a 15-minute Topic 1 Catch-Up (Lessons 5–6) each day · Day 1: Thu, Oct 29 · Day 2: Mon, Nov 2</a:t>
            </a:r>
            <a:endParaRPr lang="en-US" sz="1650" dirty="0"/>
          </a:p>
        </p:txBody>
      </p:sp>
      <p:sp>
        <p:nvSpPr>
          <p:cNvPr id="5" name="Shape 5"/>
          <p:cNvSpPr txBox="1"/>
          <p:nvPr/>
        </p:nvSpPr>
        <p:spPr>
          <a:xfrm>
            <a:off x="685800" y="2481072"/>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422" dirty="0" b="1" baseline="-25000">
                <a:solidFill>
                  <a:srgbClr val="C9561F"/>
                </a:solidFill>
                <a:latin typeface="Cambria"/>
                <a:cs typeface="Cambria"/>
              </a:rPr>
              <a:t xml:space="preserve">1</a:t>
            </a:r>
            <a:r>
              <a:rPr lang="en-US" sz="2850" dirty="0">
                <a:solidFill>
                  <a:srgbClr val="16171D"/>
                </a:solidFill>
                <a:latin typeface="Cambria"/>
                <a:cs typeface="Cambria"/>
              </a:rPr>
              <a:t xml:space="preserve"> · </a:t>
            </a:r>
            <a:r>
              <a:rPr lang="en-US" sz="2850" dirty="0" b="1" i="1">
                <a:solidFill>
                  <a:srgbClr val="C9561F"/>
                </a:solidFill>
                <a:latin typeface="Cambria"/>
                <a:cs typeface="Cambria"/>
              </a:rPr>
              <a:t xml:space="preserve">m</a:t>
            </a:r>
            <a:r>
              <a:rPr lang="en-US" sz="2422" dirty="0" b="1" baseline="-25000">
                <a:solidFill>
                  <a:srgbClr val="C9561F"/>
                </a:solidFill>
                <a:latin typeface="Cambria"/>
                <a:cs typeface="Cambria"/>
              </a:rPr>
              <a:t xml:space="preserve">2</a:t>
            </a:r>
            <a:r>
              <a:rPr lang="en-US" sz="2850" dirty="0">
                <a:solidFill>
                  <a:srgbClr val="16171D"/>
                </a:solidFill>
                <a:latin typeface="Cambria"/>
                <a:cs typeface="Cambria"/>
              </a:rPr>
              <a:t xml:space="preserve"> = −1</a:t>
            </a:r>
            <a:endParaRPr lang="en-US" sz="2850" dirty="0"/>
          </a:p>
        </p:txBody>
      </p:sp>
      <p:sp>
        <p:nvSpPr>
          <p:cNvPr id="6" name="Shape 6"/>
          <p:cNvSpPr txBox="1"/>
          <p:nvPr/>
        </p:nvSpPr>
        <p:spPr>
          <a:xfrm>
            <a:off x="685800" y="3217926"/>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 can…</a:t>
            </a:r>
            <a:endParaRPr lang="en-US" sz="2100" dirty="0"/>
          </a:p>
        </p:txBody>
      </p:sp>
      <p:sp>
        <p:nvSpPr>
          <p:cNvPr id="7" name="Shape 7"/>
          <p:cNvSpPr txBox="1"/>
          <p:nvPr/>
        </p:nvSpPr>
        <p:spPr>
          <a:xfrm>
            <a:off x="685800" y="376428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find the slope of a perpendicular line.</a:t>
            </a:r>
            <a:endParaRPr lang="en-US" sz="1950" dirty="0"/>
          </a:p>
        </p:txBody>
      </p:sp>
      <p:sp>
        <p:nvSpPr>
          <p:cNvPr id="8" name="Shape 8"/>
          <p:cNvSpPr txBox="1"/>
          <p:nvPr/>
        </p:nvSpPr>
        <p:spPr>
          <a:xfrm>
            <a:off x="685800" y="428777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write equations of horizontal and vertical lines.</a:t>
            </a:r>
            <a:endParaRPr lang="en-US" sz="1950" dirty="0"/>
          </a:p>
        </p:txBody>
      </p:sp>
      <p:sp>
        <p:nvSpPr>
          <p:cNvPr id="9" name="Shape 9"/>
          <p:cNvSpPr txBox="1"/>
          <p:nvPr/>
        </p:nvSpPr>
        <p:spPr>
          <a:xfrm>
            <a:off x="685800" y="481126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write the equation of a perpendicular line through a point.</a:t>
            </a:r>
            <a:endParaRPr lang="en-US" sz="1950" dirty="0"/>
          </a:p>
        </p:txBody>
      </p:sp>
      <p:sp>
        <p:nvSpPr>
          <p:cNvPr id="10" name="Shape 10"/>
          <p:cNvSpPr txBox="1"/>
          <p:nvPr/>
        </p:nvSpPr>
        <p:spPr>
          <a:xfrm>
            <a:off x="685800" y="539191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11" name="Shape 11"/>
          <p:cNvSpPr txBox="1"/>
          <p:nvPr/>
        </p:nvSpPr>
        <p:spPr>
          <a:xfrm>
            <a:off x="685800" y="6185916"/>
            <a:ext cx="10820095" cy="397764"/>
          </a:xfrm>
          <a:prstGeom prst="rect">
            <a:avLst/>
          </a:prstGeom>
          <a:noFill/>
          <a:ln>
            <a:noFill/>
          </a:ln>
        </p:spPr>
        <p:txBody>
          <a:bodyPr wrap="square" lIns="36576" tIns="27432" rIns="36576" bIns="27432" anchor="t">
            <a:noAutofit/>
          </a:bodyPr>
          <a:lstStyle/>
          <a:p>
            <a:pPr algn="l">
              <a:lnSpc>
                <a:spcPct val="100000"/>
              </a:lnSpc>
            </a:pPr>
            <a:r>
              <a:rPr lang="en-US" sz="1125" dirty="0">
                <a:solidFill>
                  <a:srgbClr val="5F6272"/>
                </a:solidFill>
                <a:latin typeface="Segoe UI"/>
                <a:cs typeface="Segoe UI"/>
              </a:rPr>
              <a:t xml:space="preserve">Based on Bluebonnet Learning Secondary Mathematics, Algebra I (©2024–2025 Texas Education Agency, portions ©2021 Carnegie Learning, Inc.), licensed CC BY-NC 4.0. A private site for Algebra I teachers.</a:t>
            </a:r>
            <a:endParaRPr lang="en-US" sz="11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3 · Day 1 of 2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Thursday, October 29</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(Write, evaluate and solve a function in context) → Lesson 3, Day 1.</a:t>
            </a:r>
            <a:endParaRPr lang="en-US" sz="21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 · Thu, Oct 29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0421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What is the reciprocal of </a:t>
            </a:r>
            <a:r>
              <a:rPr lang="en-US" sz="1575" dirty="0">
                <a:solidFill>
                  <a:srgbClr val="16171D"/>
                </a:solidFill>
                <a:latin typeface="Cambria"/>
                <a:cs typeface="Cambria"/>
              </a:rPr>
              <a:t xml:space="preserve">⅔</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895350" y="21229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reciprocal: flip the fraction</a:t>
            </a:r>
            <a:endParaRPr lang="en-US" sz="1575" dirty="0"/>
          </a:p>
        </p:txBody>
      </p:sp>
      <p:sp>
        <p:nvSpPr>
          <p:cNvPr id="6" name="Shape 6"/>
          <p:cNvSpPr txBox="1"/>
          <p:nvPr/>
        </p:nvSpPr>
        <p:spPr>
          <a:xfrm>
            <a:off x="895350" y="245592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3/2</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⅔</a:t>
            </a:r>
            <a:r>
              <a:rPr lang="en-US" sz="1425" dirty="0">
                <a:solidFill>
                  <a:srgbClr val="16171D"/>
                </a:solidFill>
                <a:latin typeface="Segoe UI"/>
                <a:cs typeface="Segoe UI"/>
              </a:rPr>
              <a:t xml:space="preserve"> has 2 on top and 3 on the bottom. Flip them: </a:t>
            </a:r>
            <a:r>
              <a:rPr lang="en-US" sz="1425" dirty="0">
                <a:solidFill>
                  <a:srgbClr val="16171D"/>
                </a:solidFill>
                <a:latin typeface="Cambria"/>
                <a:cs typeface="Cambria"/>
              </a:rPr>
              <a:t xml:space="preserve">3/2</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Check: </a:t>
            </a:r>
            <a:r>
              <a:rPr lang="en-US" sz="1425" dirty="0">
                <a:solidFill>
                  <a:srgbClr val="16171D"/>
                </a:solidFill>
                <a:latin typeface="Cambria"/>
                <a:cs typeface="Cambria"/>
              </a:rPr>
              <a:t xml:space="preserve">⅔ · 3/2 = 1</a:t>
            </a:r>
            <a:r>
              <a:rPr lang="en-US" sz="1425" dirty="0">
                <a:solidFill>
                  <a:srgbClr val="16171D"/>
                </a:solidFill>
                <a:latin typeface="Segoe UI"/>
                <a:cs typeface="Segoe UI"/>
              </a:rPr>
              <a:t xml:space="preserve">.</a:t>
            </a:r>
            <a:endParaRPr lang="en-US" sz="1425" dirty="0"/>
          </a:p>
        </p:txBody>
      </p:sp>
      <p:sp>
        <p:nvSpPr>
          <p:cNvPr id="11" name="Shape 11"/>
          <p:cNvSpPr txBox="1"/>
          <p:nvPr/>
        </p:nvSpPr>
        <p:spPr>
          <a:xfrm>
            <a:off x="685800" y="3793998"/>
            <a:ext cx="5295748" cy="20650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96544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Rotate the point </a:t>
            </a:r>
            <a:r>
              <a:rPr lang="en-US" sz="1575" dirty="0">
                <a:solidFill>
                  <a:srgbClr val="16171D"/>
                </a:solidFill>
                <a:latin typeface="Cambria"/>
                <a:cs typeface="Cambria"/>
              </a:rPr>
              <a:t xml:space="preserve">(8, 5)</a:t>
            </a:r>
            <a:r>
              <a:rPr lang="en-US" sz="1575" dirty="0">
                <a:solidFill>
                  <a:srgbClr val="16171D"/>
                </a:solidFill>
                <a:latin typeface="Segoe UI"/>
                <a:cs typeface="Segoe UI"/>
              </a:rPr>
              <a:t xml:space="preserve"> 90° counterclockwise about the origin. Where does it go?</a:t>
            </a:r>
            <a:endParaRPr lang="en-US" sz="1575" dirty="0"/>
          </a:p>
        </p:txBody>
      </p:sp>
      <p:sp>
        <p:nvSpPr>
          <p:cNvPr id="9" name="Shape 9"/>
          <p:cNvSpPr txBox="1"/>
          <p:nvPr/>
        </p:nvSpPr>
        <p:spPr>
          <a:xfrm>
            <a:off x="895350" y="453847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90° counterclockwise: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10" name="Shape 10"/>
          <p:cNvSpPr txBox="1"/>
          <p:nvPr/>
        </p:nvSpPr>
        <p:spPr>
          <a:xfrm>
            <a:off x="895350" y="4871466"/>
            <a:ext cx="2431835" cy="81610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(−5, 8)</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8</a:t>
            </a:r>
            <a:r>
              <a:rPr lang="en-US" sz="1425" dirty="0">
                <a:solidFill>
                  <a:srgbClr val="16171D"/>
                </a:solidFill>
                <a:latin typeface="Segoe UI"/>
                <a:cs typeface="Segoe UI"/>
              </a:rPr>
              <a:t xml:space="preserve"> and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 8)</a:t>
            </a:r>
            <a:r>
              <a:rPr lang="en-US" sz="1425" dirty="0">
                <a:solidFill>
                  <a:srgbClr val="16171D"/>
                </a:solidFill>
                <a:latin typeface="Segoe UI"/>
                <a:cs typeface="Segoe UI"/>
              </a:rPr>
              <a:t xml:space="preserve">.</a:t>
            </a:r>
            <a:endParaRPr lang="en-US" sz="1425" dirty="0"/>
          </a:p>
        </p:txBody>
      </p:sp>
      <p:sp>
        <p:nvSpPr>
          <p:cNvPr id="15" name="Shape 15"/>
          <p:cNvSpPr txBox="1"/>
          <p:nvPr/>
        </p:nvSpPr>
        <p:spPr>
          <a:xfrm>
            <a:off x="6210148"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What is the slope of the segment from </a:t>
            </a:r>
            <a:r>
              <a:rPr lang="en-US" sz="1575" dirty="0">
                <a:solidFill>
                  <a:srgbClr val="16171D"/>
                </a:solidFill>
                <a:latin typeface="Cambria"/>
                <a:cs typeface="Cambria"/>
              </a:rPr>
              <a:t xml:space="preserve">(0, 0)</a:t>
            </a:r>
            <a:r>
              <a:rPr lang="en-US" sz="1575" dirty="0">
                <a:solidFill>
                  <a:srgbClr val="16171D"/>
                </a:solidFill>
                <a:latin typeface="Segoe UI"/>
                <a:cs typeface="Segoe UI"/>
              </a:rPr>
              <a:t xml:space="preserve"> to </a:t>
            </a:r>
            <a:r>
              <a:rPr lang="en-US" sz="1575" dirty="0">
                <a:solidFill>
                  <a:srgbClr val="16171D"/>
                </a:solidFill>
                <a:latin typeface="Cambria"/>
                <a:cs typeface="Cambria"/>
              </a:rPr>
              <a:t xml:space="preserve">(8, 5)</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m</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a:t>
            </a:r>
            <a:endParaRPr lang="en-US" sz="1575" dirty="0"/>
          </a:p>
        </p:txBody>
      </p:sp>
      <p:sp>
        <p:nvSpPr>
          <p:cNvPr id="14" name="Shape 14"/>
          <p:cNvSpPr txBox="1"/>
          <p:nvPr/>
        </p:nvSpPr>
        <p:spPr>
          <a:xfrm>
            <a:off x="6419698" y="2695956"/>
            <a:ext cx="3868415"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5/8</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Subtract the </a:t>
            </a:r>
            <a:r>
              <a:rPr lang="en-US" sz="1425" dirty="0" i="1">
                <a:solidFill>
                  <a:srgbClr val="16171D"/>
                </a:solidFill>
                <a:latin typeface="Cambria"/>
                <a:cs typeface="Cambria"/>
              </a:rPr>
              <a:t xml:space="preserve">y</a:t>
            </a:r>
            <a:r>
              <a:rPr lang="en-US" sz="1425" dirty="0">
                <a:solidFill>
                  <a:srgbClr val="16171D"/>
                </a:solidFill>
                <a:latin typeface="Segoe UI"/>
                <a:cs typeface="Segoe UI"/>
              </a:rPr>
              <a:t xml:space="preserve">-values: </a:t>
            </a:r>
            <a:r>
              <a:rPr lang="en-US" sz="1425" dirty="0">
                <a:solidFill>
                  <a:srgbClr val="16171D"/>
                </a:solidFill>
                <a:latin typeface="Cambria"/>
                <a:cs typeface="Cambria"/>
              </a:rPr>
              <a:t xml:space="preserve">5 − 0 = 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Subtract the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-values: </a:t>
            </a:r>
            <a:r>
              <a:rPr lang="en-US" sz="1425" dirty="0">
                <a:solidFill>
                  <a:srgbClr val="16171D"/>
                </a:solidFill>
                <a:latin typeface="Cambria"/>
                <a:cs typeface="Cambria"/>
              </a:rPr>
              <a:t xml:space="preserve">8 − 0 = 8</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Divide: </a:t>
            </a:r>
            <a:r>
              <a:rPr lang="en-US" sz="1425" dirty="0">
                <a:solidFill>
                  <a:srgbClr val="16171D"/>
                </a:solidFill>
                <a:latin typeface="Cambria"/>
                <a:cs typeface="Cambria"/>
              </a:rPr>
              <a:t xml:space="preserve">5 ÷ 8 = 5/8</a:t>
            </a:r>
            <a:r>
              <a:rPr lang="en-US" sz="1425" dirty="0">
                <a:solidFill>
                  <a:srgbClr val="16171D"/>
                </a:solidFill>
                <a:latin typeface="Segoe UI"/>
                <a:cs typeface="Segoe UI"/>
              </a:rPr>
              <a:t xml:space="preserve">.</a:t>
            </a:r>
            <a:endParaRPr lang="en-US" sz="1425" dirty="0"/>
          </a:p>
        </p:txBody>
      </p:sp>
      <p:sp>
        <p:nvSpPr>
          <p:cNvPr id="19" name="Shape 19"/>
          <p:cNvSpPr txBox="1"/>
          <p:nvPr/>
        </p:nvSpPr>
        <p:spPr>
          <a:xfrm>
            <a:off x="6210148" y="4034028"/>
            <a:ext cx="5295748" cy="20421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420547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What is the slope of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−3</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+ 5</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419698" y="453847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m</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slope </a:t>
            </a:r>
            <a:r>
              <a:rPr lang="en-US" sz="1575" dirty="0" i="1">
                <a:solidFill>
                  <a:srgbClr val="16171D"/>
                </a:solidFill>
                <a:latin typeface="Cambria"/>
                <a:cs typeface="Cambria"/>
              </a:rPr>
              <a:t xml:space="preserve">m</a:t>
            </a:r>
            <a:endParaRPr lang="en-US" sz="1575" dirty="0"/>
          </a:p>
        </p:txBody>
      </p:sp>
      <p:sp>
        <p:nvSpPr>
          <p:cNvPr id="18" name="Shape 18"/>
          <p:cNvSpPr txBox="1"/>
          <p:nvPr/>
        </p:nvSpPr>
        <p:spPr>
          <a:xfrm>
            <a:off x="6419698" y="487146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−3</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Match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−3</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 to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a:t>
            </a:r>
            <a:r>
              <a:rPr lang="en-US" sz="1425" dirty="0" i="1">
                <a:solidFill>
                  <a:srgbClr val="16171D"/>
                </a:solidFill>
                <a:latin typeface="Cambria"/>
                <a:cs typeface="Cambria"/>
              </a:rPr>
              <a:t xml:space="preserve">m</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a:t>
            </a:r>
            <a:r>
              <a:rPr lang="en-US" sz="1425" dirty="0" i="1">
                <a:solidFill>
                  <a:srgbClr val="16171D"/>
                </a:solidFill>
                <a:latin typeface="Cambria"/>
                <a:cs typeface="Cambria"/>
              </a:rPr>
              <a:t xml:space="preserve">b</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m</a:t>
            </a:r>
            <a:r>
              <a:rPr lang="en-US" sz="1425" dirty="0">
                <a:solidFill>
                  <a:srgbClr val="16171D"/>
                </a:solidFill>
                <a:latin typeface="Cambria"/>
                <a:cs typeface="Cambria"/>
              </a:rPr>
              <a:t xml:space="preserve"> = −3</a:t>
            </a:r>
            <a:r>
              <a:rPr lang="en-US" sz="1425" dirty="0">
                <a:solidFill>
                  <a:srgbClr val="16171D"/>
                </a:solidFill>
                <a:latin typeface="Segoe UI"/>
                <a:cs typeface="Segoe UI"/>
              </a:rPr>
              <a:t xml:space="preserve"> and </a:t>
            </a:r>
            <a:r>
              <a:rPr lang="en-US" sz="1425" dirty="0" i="1">
                <a:solidFill>
                  <a:srgbClr val="16171D"/>
                </a:solidFill>
                <a:latin typeface="Cambria"/>
                <a:cs typeface="Cambria"/>
              </a:rPr>
              <a:t xml:space="preserve">b</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The slope is </a:t>
            </a:r>
            <a:r>
              <a:rPr lang="en-US" sz="1425" dirty="0">
                <a:solidFill>
                  <a:srgbClr val="16171D"/>
                </a:solidFill>
                <a:latin typeface="Cambria"/>
                <a:cs typeface="Cambria"/>
              </a:rPr>
              <a:t xml:space="preserve">−3</a:t>
            </a:r>
            <a:r>
              <a:rPr lang="en-US" sz="1425" dirty="0">
                <a:solidFill>
                  <a:srgbClr val="16171D"/>
                </a:solidFill>
                <a:latin typeface="Segoe UI"/>
                <a:cs typeface="Segoe UI"/>
              </a:rPr>
              <a:t xml:space="preserve">.</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Thu, Oct 29 · about 15 minutes</a:t>
            </a:r>
            <a:endParaRPr lang="en-US" sz="1200" dirty="0"/>
          </a:p>
        </p:txBody>
      </p:sp>
      <p:sp>
        <p:nvSpPr>
          <p:cNvPr id="3" name="Shape 3"/>
          <p:cNvSpPr txBox="1"/>
          <p:nvPr/>
        </p:nvSpPr>
        <p:spPr>
          <a:xfrm>
            <a:off x="685800" y="1323594"/>
            <a:ext cx="10820095" cy="266090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6: Write, evaluate and solve a function in context</a:t>
            </a:r>
            <a:endParaRPr lang="en-US" sz="5700" dirty="0"/>
          </a:p>
        </p:txBody>
      </p:sp>
      <p:sp>
        <p:nvSpPr>
          <p:cNvPr id="4" name="Shape 4"/>
          <p:cNvSpPr txBox="1"/>
          <p:nvPr/>
        </p:nvSpPr>
        <p:spPr>
          <a:xfrm>
            <a:off x="685800" y="415594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Lesson 3 evaluates slopes and points; this practices using function notation in a story.</a:t>
            </a:r>
            <a:endParaRPr lang="en-US" sz="2250" dirty="0"/>
          </a:p>
        </p:txBody>
      </p:sp>
      <p:sp>
        <p:nvSpPr>
          <p:cNvPr id="5" name="Shape 5"/>
          <p:cNvSpPr txBox="1"/>
          <p:nvPr/>
        </p:nvSpPr>
        <p:spPr>
          <a:xfrm>
            <a:off x="685800" y="506806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6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Nakota sells pretzels</a:t>
            </a:r>
            <a:endParaRPr lang="en-US" sz="3450" dirty="0"/>
          </a:p>
        </p:txBody>
      </p:sp>
      <p:sp>
        <p:nvSpPr>
          <p:cNvPr id="4" name="Shape 4"/>
          <p:cNvSpPr txBox="1"/>
          <p:nvPr/>
        </p:nvSpPr>
        <p:spPr>
          <a:xfrm>
            <a:off x="685800" y="1618488"/>
            <a:ext cx="1578864"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Pretzels</a:t>
            </a:r>
            <a:endParaRPr lang="en-US" sz="1950" dirty="0"/>
          </a:p>
        </p:txBody>
      </p:sp>
      <p:sp>
        <p:nvSpPr>
          <p:cNvPr id="5" name="Shape 5"/>
          <p:cNvSpPr txBox="1"/>
          <p:nvPr/>
        </p:nvSpPr>
        <p:spPr>
          <a:xfrm>
            <a:off x="2264664" y="1618488"/>
            <a:ext cx="170764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Money ($)</a:t>
            </a:r>
            <a:endParaRPr lang="en-US" sz="1950" dirty="0"/>
          </a:p>
        </p:txBody>
      </p:sp>
      <p:sp>
        <p:nvSpPr>
          <p:cNvPr id="6" name="Shape 6"/>
          <p:cNvSpPr txBox="1"/>
          <p:nvPr/>
        </p:nvSpPr>
        <p:spPr>
          <a:xfrm>
            <a:off x="685800" y="2061972"/>
            <a:ext cx="157886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a:t>
            </a:r>
            <a:endParaRPr lang="en-US" sz="1950" dirty="0"/>
          </a:p>
        </p:txBody>
      </p:sp>
      <p:sp>
        <p:nvSpPr>
          <p:cNvPr id="7" name="Shape 7"/>
          <p:cNvSpPr txBox="1"/>
          <p:nvPr/>
        </p:nvSpPr>
        <p:spPr>
          <a:xfrm>
            <a:off x="2264664" y="2061972"/>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a:t>
            </a:r>
            <a:endParaRPr lang="en-US" sz="1950" dirty="0"/>
          </a:p>
        </p:txBody>
      </p:sp>
      <p:sp>
        <p:nvSpPr>
          <p:cNvPr id="8" name="Shape 8"/>
          <p:cNvSpPr txBox="1"/>
          <p:nvPr/>
        </p:nvSpPr>
        <p:spPr>
          <a:xfrm>
            <a:off x="685800" y="2505456"/>
            <a:ext cx="157886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9" name="Shape 9"/>
          <p:cNvSpPr txBox="1"/>
          <p:nvPr/>
        </p:nvSpPr>
        <p:spPr>
          <a:xfrm>
            <a:off x="2264664" y="2505456"/>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endParaRPr lang="en-US" sz="1950" dirty="0"/>
          </a:p>
        </p:txBody>
      </p:sp>
      <p:sp>
        <p:nvSpPr>
          <p:cNvPr id="10" name="Shape 10"/>
          <p:cNvSpPr txBox="1"/>
          <p:nvPr/>
        </p:nvSpPr>
        <p:spPr>
          <a:xfrm>
            <a:off x="685800" y="2948940"/>
            <a:ext cx="157886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4</a:t>
            </a:r>
            <a:endParaRPr lang="en-US" sz="1950" dirty="0"/>
          </a:p>
        </p:txBody>
      </p:sp>
      <p:sp>
        <p:nvSpPr>
          <p:cNvPr id="11" name="Shape 11"/>
          <p:cNvSpPr txBox="1"/>
          <p:nvPr/>
        </p:nvSpPr>
        <p:spPr>
          <a:xfrm>
            <a:off x="2264664" y="2948940"/>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10</a:t>
            </a:r>
            <a:endParaRPr lang="en-US" sz="1950" dirty="0"/>
          </a:p>
        </p:txBody>
      </p:sp>
      <p:sp>
        <p:nvSpPr>
          <p:cNvPr id="12" name="Shape 12"/>
          <p:cNvSpPr txBox="1"/>
          <p:nvPr/>
        </p:nvSpPr>
        <p:spPr>
          <a:xfrm>
            <a:off x="685800" y="3392424"/>
            <a:ext cx="157886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6</a:t>
            </a:r>
            <a:endParaRPr lang="en-US" sz="1950" dirty="0"/>
          </a:p>
        </p:txBody>
      </p:sp>
      <p:sp>
        <p:nvSpPr>
          <p:cNvPr id="13" name="Shape 13"/>
          <p:cNvSpPr txBox="1"/>
          <p:nvPr/>
        </p:nvSpPr>
        <p:spPr>
          <a:xfrm>
            <a:off x="2264664" y="3392424"/>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15</a:t>
            </a:r>
            <a:endParaRPr lang="en-US" sz="1950" dirty="0"/>
          </a:p>
        </p:txBody>
      </p:sp>
      <p:sp>
        <p:nvSpPr>
          <p:cNvPr id="14" name="Shape 14"/>
          <p:cNvSpPr txBox="1"/>
          <p:nvPr/>
        </p:nvSpPr>
        <p:spPr>
          <a:xfrm>
            <a:off x="6286348"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Rate: </a:t>
            </a:r>
            <a:r>
              <a:rPr lang="en-US" sz="1950" dirty="0">
                <a:solidFill>
                  <a:srgbClr val="16171D"/>
                </a:solidFill>
                <a:latin typeface="Segoe UI"/>
                <a:cs typeface="Segoe UI"/>
              </a:rPr>
              <a:t xml:space="preserve">5</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r>
              <a:rPr lang="en-US" sz="1950" dirty="0">
                <a:solidFill>
                  <a:srgbClr val="16171D"/>
                </a:solidFill>
                <a:latin typeface="Segoe UI"/>
                <a:cs typeface="Segoe UI"/>
              </a:rPr>
              <a:t xml:space="preserve"> = ____ dollars per pretzel</a:t>
            </a:r>
            <a:endParaRPr lang="en-US" sz="1950" dirty="0"/>
          </a:p>
        </p:txBody>
      </p:sp>
      <p:sp>
        <p:nvSpPr>
          <p:cNvPr id="15" name="Shape 15"/>
          <p:cNvSpPr txBox="1"/>
          <p:nvPr/>
        </p:nvSpPr>
        <p:spPr>
          <a:xfrm>
            <a:off x="6286348" y="2103882"/>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2.5</a:t>
            </a:r>
            <a:endParaRPr lang="en-US" sz="2325" dirty="0"/>
          </a:p>
        </p:txBody>
      </p:sp>
      <p:sp>
        <p:nvSpPr>
          <p:cNvPr id="16" name="Shape 16"/>
          <p:cNvSpPr txBox="1"/>
          <p:nvPr/>
        </p:nvSpPr>
        <p:spPr>
          <a:xfrm>
            <a:off x="6286348"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the function: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____</a:t>
            </a:r>
            <a:r>
              <a:rPr lang="en-US" sz="1950" dirty="0" i="1">
                <a:solidFill>
                  <a:srgbClr val="16171D"/>
                </a:solidFill>
                <a:latin typeface="Segoe UI"/>
                <a:cs typeface="Segoe UI"/>
              </a:rPr>
              <a:t xml:space="preserve">x</a:t>
            </a:r>
            <a:endParaRPr lang="en-US" sz="1950" dirty="0"/>
          </a:p>
        </p:txBody>
      </p:sp>
      <p:sp>
        <p:nvSpPr>
          <p:cNvPr id="17" name="Shape 17"/>
          <p:cNvSpPr txBox="1"/>
          <p:nvPr/>
        </p:nvSpPr>
        <p:spPr>
          <a:xfrm>
            <a:off x="6286348" y="3241548"/>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2.5</a:t>
            </a:r>
            <a:r>
              <a:rPr lang="en-US" sz="2325" dirty="0" i="1">
                <a:solidFill>
                  <a:srgbClr val="16171D"/>
                </a:solidFill>
                <a:latin typeface="Cambria"/>
                <a:cs typeface="Cambria"/>
              </a:rPr>
              <a:t xml:space="preserve">x</a:t>
            </a:r>
            <a:endParaRPr lang="en-US" sz="2325" dirty="0"/>
          </a:p>
        </p:txBody>
      </p:sp>
      <p:sp>
        <p:nvSpPr>
          <p:cNvPr id="18" name="Shape 18"/>
          <p:cNvSpPr txBox="1"/>
          <p:nvPr/>
        </p:nvSpPr>
        <p:spPr>
          <a:xfrm>
            <a:off x="6286348" y="3893820"/>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Money for 10 pretzels: ____</a:t>
            </a:r>
            <a:endParaRPr lang="en-US" sz="1950" dirty="0"/>
          </a:p>
        </p:txBody>
      </p:sp>
      <p:sp>
        <p:nvSpPr>
          <p:cNvPr id="19" name="Shape 19"/>
          <p:cNvSpPr txBox="1"/>
          <p:nvPr/>
        </p:nvSpPr>
        <p:spPr>
          <a:xfrm>
            <a:off x="6286348" y="4379214"/>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$25</a:t>
            </a:r>
            <a:endParaRPr lang="en-US" sz="23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ppt_w</p:attrName>
                                        </p:attrNameLst>
                                      </p:cBhvr>
                                      <p:tavLst>
                                        <p:tav tm="0">
                                          <p:val>
                                            <p:fltVal val="0"/>
                                          </p:val>
                                        </p:tav>
                                        <p:tav tm="100000">
                                          <p:val>
                                            <p:strVal val="#ppt_w"/>
                                          </p:val>
                                        </p:tav>
                                      </p:tavLst>
                                    </p:anim>
                                    <p:anim calcmode="lin" valueType="num">
                                      <p:cBhvr>
                                        <p:cTn id="6"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I do · Meaning in a story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Gracie sells T-shirts for $15 each</a:t>
            </a:r>
            <a:endParaRPr lang="en-US" sz="3450" dirty="0"/>
          </a:p>
        </p:txBody>
      </p:sp>
      <p:sp>
        <p:nvSpPr>
          <p:cNvPr id="4" name="Shape 4"/>
          <p:cNvSpPr txBox="1"/>
          <p:nvPr/>
        </p:nvSpPr>
        <p:spPr>
          <a:xfrm>
            <a:off x="685800" y="1618488"/>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E</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t</a:t>
            </a:r>
            <a:r>
              <a:rPr lang="en-US" sz="2850" dirty="0">
                <a:solidFill>
                  <a:srgbClr val="16171D"/>
                </a:solidFill>
                <a:latin typeface="Cambria"/>
                <a:cs typeface="Cambria"/>
              </a:rPr>
              <a:t xml:space="preserve">) = 15</a:t>
            </a:r>
            <a:r>
              <a:rPr lang="en-US" sz="2850" dirty="0" i="1">
                <a:solidFill>
                  <a:srgbClr val="16171D"/>
                </a:solidFill>
                <a:latin typeface="Cambria"/>
                <a:cs typeface="Cambria"/>
              </a:rPr>
              <a:t xml:space="preserve">t</a:t>
            </a:r>
            <a:endParaRPr lang="en-US" sz="2850" dirty="0"/>
          </a:p>
        </p:txBody>
      </p:sp>
      <p:sp>
        <p:nvSpPr>
          <p:cNvPr id="5" name="Shape 5"/>
          <p:cNvSpPr txBox="1"/>
          <p:nvPr/>
        </p:nvSpPr>
        <p:spPr>
          <a:xfrm>
            <a:off x="685800" y="227914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C9561F"/>
                </a:solidFill>
                <a:latin typeface="Segoe UI"/>
                <a:cs typeface="Segoe UI"/>
              </a:rPr>
              <a:t xml:space="preserve">15</a:t>
            </a:r>
            <a:r>
              <a:rPr lang="en-US" sz="1950" dirty="0">
                <a:solidFill>
                  <a:srgbClr val="16171D"/>
                </a:solidFill>
                <a:latin typeface="Segoe UI"/>
                <a:cs typeface="Segoe UI"/>
              </a:rPr>
              <a:t xml:space="preserve"> means: she earns $15 for each shirt (the slope).</a:t>
            </a:r>
            <a:endParaRPr lang="en-US" sz="1950" dirty="0"/>
          </a:p>
        </p:txBody>
      </p:sp>
      <p:sp>
        <p:nvSpPr>
          <p:cNvPr id="6" name="Shape 6"/>
          <p:cNvSpPr txBox="1"/>
          <p:nvPr/>
        </p:nvSpPr>
        <p:spPr>
          <a:xfrm>
            <a:off x="685800" y="280263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How many shirts to earn $100? 100 = 15</a:t>
            </a:r>
            <a:r>
              <a:rPr lang="en-US" sz="1950" dirty="0" i="1">
                <a:solidFill>
                  <a:srgbClr val="16171D"/>
                </a:solidFill>
                <a:latin typeface="Segoe UI"/>
                <a:cs typeface="Segoe UI"/>
              </a:rPr>
              <a:t xml:space="preserve">t</a:t>
            </a:r>
            <a:endParaRPr lang="en-US" sz="1950" dirty="0"/>
          </a:p>
        </p:txBody>
      </p:sp>
      <p:sp>
        <p:nvSpPr>
          <p:cNvPr id="7" name="Shape 7"/>
          <p:cNvSpPr txBox="1"/>
          <p:nvPr/>
        </p:nvSpPr>
        <p:spPr>
          <a:xfrm>
            <a:off x="685800" y="3326130"/>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100</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15</a:t>
            </a:r>
            <a:r>
              <a:rPr lang="en-US" sz="2325" dirty="0">
                <a:solidFill>
                  <a:srgbClr val="16171D"/>
                </a:solidFill>
                <a:latin typeface="Cambria"/>
                <a:cs typeface="Cambria"/>
              </a:rPr>
              <a:t xml:space="preserve"> ≈ 6.67</a:t>
            </a:r>
            <a:endParaRPr lang="en-US" sz="2325" dirty="0"/>
          </a:p>
        </p:txBody>
      </p:sp>
      <p:sp>
        <p:nvSpPr>
          <p:cNvPr id="8" name="Shape 8"/>
          <p:cNvSpPr txBox="1"/>
          <p:nvPr/>
        </p:nvSpPr>
        <p:spPr>
          <a:xfrm>
            <a:off x="685800" y="401650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She can't sell part of a shirt, so she must sell ____ shirts.</a:t>
            </a:r>
            <a:endParaRPr lang="en-US" sz="1950" dirty="0"/>
          </a:p>
        </p:txBody>
      </p:sp>
      <p:sp>
        <p:nvSpPr>
          <p:cNvPr id="9" name="Shape 9"/>
          <p:cNvSpPr txBox="1"/>
          <p:nvPr/>
        </p:nvSpPr>
        <p:spPr>
          <a:xfrm>
            <a:off x="685800" y="4539996"/>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7 shirts</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ppt_w</p:attrName>
                                        </p:attrNameLst>
                                      </p:cBhvr>
                                      <p:tavLst>
                                        <p:tav tm="0">
                                          <p:val>
                                            <p:fltVal val="0"/>
                                          </p:val>
                                        </p:tav>
                                        <p:tav tm="100000">
                                          <p:val>
                                            <p:strVal val="#ppt_w"/>
                                          </p:val>
                                        </p:tav>
                                      </p:tavLst>
                                    </p:anim>
                                    <p:anim calcmode="lin" valueType="num">
                                      <p:cBhvr>
                                        <p:cTn id="6"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3</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3 ·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Words we need</a:t>
            </a:r>
            <a:endParaRPr lang="en-US" sz="3450" dirty="0"/>
          </a:p>
        </p:txBody>
      </p:sp>
      <p:sp>
        <p:nvSpPr>
          <p:cNvPr id="7" name="Shape 7"/>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Perpendicular</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Lines that make a square corner (90°).</a:t>
            </a:r>
            <a:endParaRPr lang="en-US" sz="1575" dirty="0"/>
          </a:p>
        </p:txBody>
      </p:sp>
      <p:sp>
        <p:nvSpPr>
          <p:cNvPr id="6" name="Shape 6"/>
          <p:cNvSpPr txBox="1"/>
          <p:nvPr/>
        </p:nvSpPr>
        <p:spPr>
          <a:xfrm>
            <a:off x="895350"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t>
            </a:r>
            <a:endParaRPr lang="en-US" sz="2325" dirty="0"/>
          </a:p>
        </p:txBody>
      </p:sp>
      <p:sp>
        <p:nvSpPr>
          <p:cNvPr id="11" name="Shape 11"/>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Negative reciprocal</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Flip the fraction and change the sign.</a:t>
            </a:r>
            <a:endParaRPr lang="en-US" sz="1575" dirty="0"/>
          </a:p>
        </p:txBody>
      </p:sp>
      <p:sp>
        <p:nvSpPr>
          <p:cNvPr id="10" name="Shape 10"/>
          <p:cNvSpPr txBox="1"/>
          <p:nvPr/>
        </p:nvSpPr>
        <p:spPr>
          <a:xfrm>
            <a:off x="4559198"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15" name="Shape 15"/>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Horizontal / vertical</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number (slope 0) /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number (undefined).</a:t>
            </a:r>
            <a:endParaRPr lang="en-US" sz="1575" dirty="0"/>
          </a:p>
        </p:txBody>
      </p:sp>
      <p:sp>
        <p:nvSpPr>
          <p:cNvPr id="14" name="Shape 14"/>
          <p:cNvSpPr txBox="1"/>
          <p:nvPr/>
        </p:nvSpPr>
        <p:spPr>
          <a:xfrm>
            <a:off x="8223047"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3 · Steps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to write a perpendicular line</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Find the slope of the given line.</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Flip it and change the sign. That is the new slope.</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Use the point: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y</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m</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x</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Get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alone.</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Watch me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Perpendicular slopes</a:t>
            </a:r>
            <a:endParaRPr lang="en-US" sz="3450" dirty="0"/>
          </a:p>
        </p:txBody>
      </p:sp>
      <p:sp>
        <p:nvSpPr>
          <p:cNvPr id="7" name="Shape 7"/>
          <p:cNvSpPr txBox="1"/>
          <p:nvPr/>
        </p:nvSpPr>
        <p:spPr>
          <a:xfrm>
            <a:off x="685800" y="1618488"/>
            <a:ext cx="521954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3</a:t>
            </a:r>
            <a:endParaRPr lang="en-US" sz="2100" dirty="0"/>
          </a:p>
        </p:txBody>
      </p:sp>
      <p:sp>
        <p:nvSpPr>
          <p:cNvPr id="5" name="Shape 5"/>
          <p:cNvSpPr txBox="1"/>
          <p:nvPr/>
        </p:nvSpPr>
        <p:spPr>
          <a:xfrm>
            <a:off x="895350" y="2260092"/>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Flip: </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 Change sign:</a:t>
            </a:r>
            <a:endParaRPr lang="en-US" sz="1575" dirty="0"/>
          </a:p>
        </p:txBody>
      </p:sp>
      <p:sp>
        <p:nvSpPr>
          <p:cNvPr id="6" name="Shape 6"/>
          <p:cNvSpPr txBox="1"/>
          <p:nvPr/>
        </p:nvSpPr>
        <p:spPr>
          <a:xfrm>
            <a:off x="895350" y="2650236"/>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11" name="Shape 11"/>
          <p:cNvSpPr txBox="1"/>
          <p:nvPr/>
        </p:nvSpPr>
        <p:spPr>
          <a:xfrm>
            <a:off x="6286348" y="1618488"/>
            <a:ext cx="521954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6495898"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−3</a:t>
            </a:r>
            <a:endParaRPr lang="en-US" sz="2100" dirty="0"/>
          </a:p>
        </p:txBody>
      </p:sp>
      <p:sp>
        <p:nvSpPr>
          <p:cNvPr id="9" name="Shape 9"/>
          <p:cNvSpPr txBox="1"/>
          <p:nvPr/>
        </p:nvSpPr>
        <p:spPr>
          <a:xfrm>
            <a:off x="6495898" y="2260092"/>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−3 = −</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 Flip: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 Change sign:</a:t>
            </a:r>
            <a:endParaRPr lang="en-US" sz="1575" dirty="0"/>
          </a:p>
        </p:txBody>
      </p:sp>
      <p:sp>
        <p:nvSpPr>
          <p:cNvPr id="10" name="Shape 10"/>
          <p:cNvSpPr txBox="1"/>
          <p:nvPr/>
        </p:nvSpPr>
        <p:spPr>
          <a:xfrm>
            <a:off x="6495898" y="2650236"/>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perpendicular slope</a:t>
            </a:r>
            <a:endParaRPr lang="en-US" sz="3450" dirty="0"/>
          </a:p>
        </p:txBody>
      </p:sp>
      <p:sp>
        <p:nvSpPr>
          <p:cNvPr id="6" name="Shape 6"/>
          <p:cNvSpPr txBox="1"/>
          <p:nvPr/>
        </p:nvSpPr>
        <p:spPr>
          <a:xfrm>
            <a:off x="685800" y="1618488"/>
            <a:ext cx="335269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29335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1. 4</a:t>
            </a:r>
            <a:endParaRPr lang="en-US" sz="1950" dirty="0"/>
          </a:p>
        </p:txBody>
      </p:sp>
      <p:sp>
        <p:nvSpPr>
          <p:cNvPr id="5" name="Shape 5"/>
          <p:cNvSpPr txBox="1"/>
          <p:nvPr/>
        </p:nvSpPr>
        <p:spPr>
          <a:xfrm>
            <a:off x="895350" y="223723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endParaRPr lang="en-US" sz="2325" dirty="0"/>
          </a:p>
        </p:txBody>
      </p:sp>
      <p:sp>
        <p:nvSpPr>
          <p:cNvPr id="9" name="Shape 9"/>
          <p:cNvSpPr txBox="1"/>
          <p:nvPr/>
        </p:nvSpPr>
        <p:spPr>
          <a:xfrm>
            <a:off x="4419498" y="1618488"/>
            <a:ext cx="335269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629048" y="1789938"/>
            <a:ext cx="29335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a:solidFill>
                  <a:srgbClr val="16171D"/>
                </a:solidFill>
                <a:latin typeface="Segoe UI"/>
                <a:cs typeface="Segoe UI"/>
              </a:rPr>
              <a:t xml:space="preserve">4</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5</a:t>
            </a:r>
            <a:endParaRPr lang="en-US" sz="1950" dirty="0"/>
          </a:p>
        </p:txBody>
      </p:sp>
      <p:sp>
        <p:nvSpPr>
          <p:cNvPr id="8" name="Shape 8"/>
          <p:cNvSpPr txBox="1"/>
          <p:nvPr/>
        </p:nvSpPr>
        <p:spPr>
          <a:xfrm>
            <a:off x="4629048" y="2237232"/>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endParaRPr lang="en-US" sz="2325" dirty="0"/>
          </a:p>
        </p:txBody>
      </p:sp>
      <p:sp>
        <p:nvSpPr>
          <p:cNvPr id="12" name="Shape 12"/>
          <p:cNvSpPr txBox="1"/>
          <p:nvPr/>
        </p:nvSpPr>
        <p:spPr>
          <a:xfrm>
            <a:off x="8153197" y="1618488"/>
            <a:ext cx="335269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362747" y="1789938"/>
            <a:ext cx="29335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a:solidFill>
                  <a:srgbClr val="16171D"/>
                </a:solidFill>
                <a:latin typeface="Segoe UI"/>
                <a:cs typeface="Segoe UI"/>
              </a:rPr>
              <a:t xml:space="preserve">1</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endParaRPr lang="en-US" sz="1950" dirty="0"/>
          </a:p>
        </p:txBody>
      </p:sp>
      <p:sp>
        <p:nvSpPr>
          <p:cNvPr id="11" name="Shape 11"/>
          <p:cNvSpPr txBox="1"/>
          <p:nvPr/>
        </p:nvSpPr>
        <p:spPr>
          <a:xfrm>
            <a:off x="8362747" y="2237232"/>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endParaRPr lang="en-US" sz="2325" dirty="0"/>
          </a:p>
        </p:txBody>
      </p:sp>
      <p:sp>
        <p:nvSpPr>
          <p:cNvPr id="13" name="Slide Number 1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perpendicular slope</a:t>
            </a:r>
            <a:endParaRPr lang="en-US" sz="3450" dirty="0"/>
          </a:p>
        </p:txBody>
      </p:sp>
      <p:sp>
        <p:nvSpPr>
          <p:cNvPr id="10" name="Shape 10"/>
          <p:cNvSpPr txBox="1"/>
          <p:nvPr/>
        </p:nvSpPr>
        <p:spPr>
          <a:xfrm>
            <a:off x="685800" y="1618488"/>
            <a:ext cx="3454298" cy="361264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351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1. 4</a:t>
            </a:r>
            <a:endParaRPr lang="en-US" sz="2100" dirty="0"/>
          </a:p>
        </p:txBody>
      </p:sp>
      <p:sp>
        <p:nvSpPr>
          <p:cNvPr id="5" name="Shape 5"/>
          <p:cNvSpPr txBox="1"/>
          <p:nvPr/>
        </p:nvSpPr>
        <p:spPr>
          <a:xfrm>
            <a:off x="895350" y="2260092"/>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Write it as a fraction: </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895350" y="2890266"/>
            <a:ext cx="30351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Flip it: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895350" y="3280410"/>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Change the sign: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895350" y="3910584"/>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4.</a:t>
            </a:r>
            <a:r>
              <a:rPr lang="en-US" sz="1575" dirty="0">
                <a:solidFill>
                  <a:srgbClr val="16171D"/>
                </a:solidFill>
                <a:latin typeface="Segoe UI"/>
                <a:cs typeface="Segoe UI"/>
              </a:rPr>
              <a:t xml:space="preserve"> Check: 4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 = −1 ✓</a:t>
            </a:r>
            <a:endParaRPr lang="en-US" sz="1575" dirty="0"/>
          </a:p>
        </p:txBody>
      </p:sp>
      <p:sp>
        <p:nvSpPr>
          <p:cNvPr id="9" name="Shape 9"/>
          <p:cNvSpPr txBox="1"/>
          <p:nvPr/>
        </p:nvSpPr>
        <p:spPr>
          <a:xfrm>
            <a:off x="895350" y="4540758"/>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endParaRPr lang="en-US" sz="2325" dirty="0"/>
          </a:p>
        </p:txBody>
      </p:sp>
      <p:sp>
        <p:nvSpPr>
          <p:cNvPr id="16" name="Shape 16"/>
          <p:cNvSpPr txBox="1"/>
          <p:nvPr/>
        </p:nvSpPr>
        <p:spPr>
          <a:xfrm>
            <a:off x="4368698" y="1618488"/>
            <a:ext cx="3454298" cy="29824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4578248" y="1789938"/>
            <a:ext cx="30351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a:t>
            </a:r>
            <a:r>
              <a:rPr lang="en-US" sz="2100" dirty="0" b="1">
                <a:solidFill>
                  <a:srgbClr val="16171D"/>
                </a:solidFill>
                <a:latin typeface="Segoe UI"/>
                <a:cs typeface="Segoe UI"/>
              </a:rPr>
              <a:t xml:space="preserve">4</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5</a:t>
            </a:r>
            <a:endParaRPr lang="en-US" sz="2100" dirty="0"/>
          </a:p>
        </p:txBody>
      </p:sp>
      <p:sp>
        <p:nvSpPr>
          <p:cNvPr id="12" name="Shape 12"/>
          <p:cNvSpPr txBox="1"/>
          <p:nvPr/>
        </p:nvSpPr>
        <p:spPr>
          <a:xfrm>
            <a:off x="4578248" y="2260092"/>
            <a:ext cx="30351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Flip it: −</a:t>
            </a:r>
            <a:r>
              <a:rPr lang="en-US" sz="1575" dirty="0">
                <a:solidFill>
                  <a:srgbClr val="16171D"/>
                </a:solidFill>
                <a:latin typeface="Segoe UI"/>
                <a:cs typeface="Segoe UI"/>
              </a:rPr>
              <a:t xml:space="preserve">5</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4578248" y="2650236"/>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Change the sign: − becomes +, so </a:t>
            </a:r>
            <a:r>
              <a:rPr lang="en-US" sz="1575" dirty="0">
                <a:solidFill>
                  <a:srgbClr val="16171D"/>
                </a:solidFill>
                <a:latin typeface="Segoe UI"/>
                <a:cs typeface="Segoe UI"/>
              </a:rPr>
              <a:t xml:space="preserve">5</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4578248" y="3280410"/>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Check: −</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5</a:t>
            </a:r>
            <a:r>
              <a:rPr lang="en-US" sz="1575" dirty="0">
                <a:solidFill>
                  <a:srgbClr val="16171D"/>
                </a:solidFill>
                <a:latin typeface="Segoe UI"/>
                <a:cs typeface="Segoe UI"/>
              </a:rPr>
              <a:t xml:space="preserve"> · </a:t>
            </a:r>
            <a:r>
              <a:rPr lang="en-US" sz="1575" dirty="0">
                <a:solidFill>
                  <a:srgbClr val="16171D"/>
                </a:solidFill>
                <a:latin typeface="Segoe UI"/>
                <a:cs typeface="Segoe UI"/>
              </a:rPr>
              <a:t xml:space="preserve">5</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 = −1 ✓</a:t>
            </a:r>
            <a:endParaRPr lang="en-US" sz="1575" dirty="0"/>
          </a:p>
        </p:txBody>
      </p:sp>
      <p:sp>
        <p:nvSpPr>
          <p:cNvPr id="15" name="Shape 15"/>
          <p:cNvSpPr txBox="1"/>
          <p:nvPr/>
        </p:nvSpPr>
        <p:spPr>
          <a:xfrm>
            <a:off x="4578248" y="3910584"/>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endParaRPr lang="en-US" sz="2325" dirty="0"/>
          </a:p>
        </p:txBody>
      </p:sp>
      <p:sp>
        <p:nvSpPr>
          <p:cNvPr id="22" name="Shape 22"/>
          <p:cNvSpPr txBox="1"/>
          <p:nvPr/>
        </p:nvSpPr>
        <p:spPr>
          <a:xfrm>
            <a:off x="8051597" y="1618488"/>
            <a:ext cx="3454298" cy="27424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7" name="Shape 17"/>
          <p:cNvSpPr txBox="1"/>
          <p:nvPr/>
        </p:nvSpPr>
        <p:spPr>
          <a:xfrm>
            <a:off x="8261147" y="1789938"/>
            <a:ext cx="30351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3. </a:t>
            </a:r>
            <a:r>
              <a:rPr lang="en-US" sz="2100" dirty="0" b="1">
                <a:solidFill>
                  <a:srgbClr val="16171D"/>
                </a:solidFill>
                <a:latin typeface="Segoe UI"/>
                <a:cs typeface="Segoe UI"/>
              </a:rPr>
              <a:t xml:space="preserve">1</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2</a:t>
            </a:r>
            <a:endParaRPr lang="en-US" sz="2100" dirty="0"/>
          </a:p>
        </p:txBody>
      </p:sp>
      <p:sp>
        <p:nvSpPr>
          <p:cNvPr id="18" name="Shape 18"/>
          <p:cNvSpPr txBox="1"/>
          <p:nvPr/>
        </p:nvSpPr>
        <p:spPr>
          <a:xfrm>
            <a:off x="8261147" y="2260092"/>
            <a:ext cx="30351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Flip it: </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 = 2.</a:t>
            </a:r>
            <a:endParaRPr lang="en-US" sz="1575" dirty="0"/>
          </a:p>
        </p:txBody>
      </p:sp>
      <p:sp>
        <p:nvSpPr>
          <p:cNvPr id="19" name="Shape 19"/>
          <p:cNvSpPr txBox="1"/>
          <p:nvPr/>
        </p:nvSpPr>
        <p:spPr>
          <a:xfrm>
            <a:off x="8261147" y="2650236"/>
            <a:ext cx="30351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Change the sign: −2.</a:t>
            </a:r>
            <a:endParaRPr lang="en-US" sz="1575" dirty="0"/>
          </a:p>
        </p:txBody>
      </p:sp>
      <p:sp>
        <p:nvSpPr>
          <p:cNvPr id="20" name="Shape 20"/>
          <p:cNvSpPr txBox="1"/>
          <p:nvPr/>
        </p:nvSpPr>
        <p:spPr>
          <a:xfrm>
            <a:off x="8261147" y="3040380"/>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Check: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 · (−2) = −1 ✓</a:t>
            </a:r>
            <a:endParaRPr lang="en-US" sz="1575" dirty="0"/>
          </a:p>
        </p:txBody>
      </p:sp>
      <p:sp>
        <p:nvSpPr>
          <p:cNvPr id="21" name="Shape 21"/>
          <p:cNvSpPr txBox="1"/>
          <p:nvPr/>
        </p:nvSpPr>
        <p:spPr>
          <a:xfrm>
            <a:off x="8261147" y="3670554"/>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endParaRPr lang="en-US" sz="2325" dirty="0"/>
          </a:p>
        </p:txBody>
      </p:sp>
      <p:sp>
        <p:nvSpPr>
          <p:cNvPr id="23" name="Slide Number 2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ppt_x</p:attrName>
                                        </p:attrNameLst>
                                      </p:cBhvr>
                                      <p:tavLst>
                                        <p:tav tm="0">
                                          <p:val>
                                            <p:strVal val="#ppt_x"/>
                                          </p:val>
                                        </p:tav>
                                        <p:tav tm="100000">
                                          <p:val>
                                            <p:strVal val="#ppt_x"/>
                                          </p:val>
                                        </p:tav>
                                      </p:tavLst>
                                    </p:anim>
                                    <p:anim calcmode="lin" valueType="num">
                                      <p:cBhvr>
                                        <p:cTn id="5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53" presetClass="entr" presetSubtype="16" fill="hold"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p:cTn id="61" dur="500" fill="hold"/>
                                        <p:tgtEl>
                                          <p:spTgt spid="15"/>
                                        </p:tgtEl>
                                        <p:attrNameLst>
                                          <p:attrName>ppt_w</p:attrName>
                                        </p:attrNameLst>
                                      </p:cBhvr>
                                      <p:tavLst>
                                        <p:tav tm="0">
                                          <p:val>
                                            <p:fltVal val="0"/>
                                          </p:val>
                                        </p:tav>
                                        <p:tav tm="100000">
                                          <p:val>
                                            <p:strVal val="#ppt_w"/>
                                          </p:val>
                                        </p:tav>
                                      </p:tavLst>
                                    </p:anim>
                                    <p:anim calcmode="lin" valueType="num">
                                      <p:cBhvr>
                                        <p:cTn id="62"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anim calcmode="lin" valueType="num">
                                      <p:cBhvr>
                                        <p:cTn id="68" dur="500" fill="hold"/>
                                        <p:tgtEl>
                                          <p:spTgt spid="18"/>
                                        </p:tgtEl>
                                        <p:attrNameLst>
                                          <p:attrName>ppt_x</p:attrName>
                                        </p:attrNameLst>
                                      </p:cBhvr>
                                      <p:tavLst>
                                        <p:tav tm="0">
                                          <p:val>
                                            <p:strVal val="#ppt_x"/>
                                          </p:val>
                                        </p:tav>
                                        <p:tav tm="100000">
                                          <p:val>
                                            <p:strVal val="#ppt_x"/>
                                          </p:val>
                                        </p:tav>
                                      </p:tavLst>
                                    </p:anim>
                                    <p:anim calcmode="lin" valueType="num">
                                      <p:cBhvr>
                                        <p:cTn id="6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anim calcmode="lin" valueType="num">
                                      <p:cBhvr>
                                        <p:cTn id="75" dur="500" fill="hold"/>
                                        <p:tgtEl>
                                          <p:spTgt spid="19"/>
                                        </p:tgtEl>
                                        <p:attrNameLst>
                                          <p:attrName>ppt_x</p:attrName>
                                        </p:attrNameLst>
                                      </p:cBhvr>
                                      <p:tavLst>
                                        <p:tav tm="0">
                                          <p:val>
                                            <p:strVal val="#ppt_x"/>
                                          </p:val>
                                        </p:tav>
                                        <p:tav tm="100000">
                                          <p:val>
                                            <p:strVal val="#ppt_x"/>
                                          </p:val>
                                        </p:tav>
                                      </p:tavLst>
                                    </p:anim>
                                    <p:anim calcmode="lin" valueType="num">
                                      <p:cBhvr>
                                        <p:cTn id="76"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42" presetClass="entr" presetSubtype="0" fill="hold"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00"/>
                                        <p:tgtEl>
                                          <p:spTgt spid="20"/>
                                        </p:tgtEl>
                                      </p:cBhvr>
                                    </p:animEffect>
                                    <p:anim calcmode="lin" valueType="num">
                                      <p:cBhvr>
                                        <p:cTn id="82" dur="500" fill="hold"/>
                                        <p:tgtEl>
                                          <p:spTgt spid="20"/>
                                        </p:tgtEl>
                                        <p:attrNameLst>
                                          <p:attrName>ppt_x</p:attrName>
                                        </p:attrNameLst>
                                      </p:cBhvr>
                                      <p:tavLst>
                                        <p:tav tm="0">
                                          <p:val>
                                            <p:strVal val="#ppt_x"/>
                                          </p:val>
                                        </p:tav>
                                        <p:tav tm="100000">
                                          <p:val>
                                            <p:strVal val="#ppt_x"/>
                                          </p:val>
                                        </p:tav>
                                      </p:tavLst>
                                    </p:anim>
                                    <p:anim calcmode="lin" valueType="num">
                                      <p:cBhvr>
                                        <p:cTn id="83"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1" presetID="53" presetClass="entr" presetSubtype="16" fill="hold" nodeType="click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500"/>
                                        <p:tgtEl>
                                          <p:spTgt spid="21"/>
                                        </p:tgtEl>
                                      </p:cBhvr>
                                    </p:animEffect>
                                    <p:anim calcmode="lin" valueType="num">
                                      <p:cBhvr>
                                        <p:cTn id="89" dur="500" fill="hold"/>
                                        <p:tgtEl>
                                          <p:spTgt spid="21"/>
                                        </p:tgtEl>
                                        <p:attrNameLst>
                                          <p:attrName>ppt_w</p:attrName>
                                        </p:attrNameLst>
                                      </p:cBhvr>
                                      <p:tavLst>
                                        <p:tav tm="0">
                                          <p:val>
                                            <p:fltVal val="0"/>
                                          </p:val>
                                        </p:tav>
                                        <p:tav tm="100000">
                                          <p:val>
                                            <p:strVal val="#ppt_w"/>
                                          </p:val>
                                        </p:tav>
                                      </p:tavLst>
                                    </p:anim>
                                    <p:anim calcmode="lin" valueType="num">
                                      <p:cBhvr>
                                        <p:cTn id="90" dur="500" fill="hold"/>
                                        <p:tgtEl>
                                          <p:spTgt spid="2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3 · End of Day 1</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Thursday, October 29</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Monday, November 2. Start at the next slide, “Start: Monday, November 2.”</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3 · Day 2 of 2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Monday, November 2</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(Changing the situation changes the function) → Lesson 3, Day 2.</a:t>
            </a:r>
            <a:endParaRPr lang="en-US" sz="21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 Mon, Nov 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Line </a:t>
            </a:r>
            <a:r>
              <a:rPr lang="en-US" sz="1575" dirty="0" i="1">
                <a:solidFill>
                  <a:srgbClr val="16171D"/>
                </a:solidFill>
                <a:latin typeface="Cambria"/>
                <a:cs typeface="Cambria"/>
              </a:rPr>
              <a:t xml:space="preserve">j</a:t>
            </a:r>
            <a:r>
              <a:rPr lang="en-US" sz="1575" dirty="0">
                <a:solidFill>
                  <a:srgbClr val="16171D"/>
                </a:solidFill>
                <a:latin typeface="Segoe UI"/>
                <a:cs typeface="Segoe UI"/>
              </a:rPr>
              <a:t xml:space="preserve"> has slope </a:t>
            </a:r>
            <a:r>
              <a:rPr lang="en-US" sz="1575" dirty="0">
                <a:solidFill>
                  <a:srgbClr val="16171D"/>
                </a:solidFill>
                <a:latin typeface="Cambria"/>
                <a:cs typeface="Cambria"/>
              </a:rPr>
              <a:t xml:space="preserve">⅔</a:t>
            </a:r>
            <a:r>
              <a:rPr lang="en-US" sz="1575" dirty="0">
                <a:solidFill>
                  <a:srgbClr val="16171D"/>
                </a:solidFill>
                <a:latin typeface="Segoe UI"/>
                <a:cs typeface="Segoe UI"/>
              </a:rPr>
              <a:t xml:space="preserve">. Line </a:t>
            </a:r>
            <a:r>
              <a:rPr lang="en-US" sz="1575" dirty="0" i="1">
                <a:solidFill>
                  <a:srgbClr val="16171D"/>
                </a:solidFill>
                <a:latin typeface="Cambria"/>
                <a:cs typeface="Cambria"/>
              </a:rPr>
              <a:t xml:space="preserve">k</a:t>
            </a:r>
            <a:r>
              <a:rPr lang="en-US" sz="1575" dirty="0">
                <a:solidFill>
                  <a:srgbClr val="16171D"/>
                </a:solidFill>
                <a:latin typeface="Segoe UI"/>
                <a:cs typeface="Segoe UI"/>
              </a:rPr>
              <a:t xml:space="preserve"> is perpendicular to it. What is the slope of </a:t>
            </a:r>
            <a:r>
              <a:rPr lang="en-US" sz="1575" dirty="0" i="1">
                <a:solidFill>
                  <a:srgbClr val="16171D"/>
                </a:solidFill>
                <a:latin typeface="Cambria"/>
                <a:cs typeface="Cambria"/>
              </a:rPr>
              <a:t xml:space="preserve">k</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895350"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perpendicular: flip and change the sign</a:t>
            </a:r>
            <a:endParaRPr lang="en-US" sz="1575" dirty="0"/>
          </a:p>
        </p:txBody>
      </p:sp>
      <p:sp>
        <p:nvSpPr>
          <p:cNvPr id="6" name="Shape 6"/>
          <p:cNvSpPr txBox="1"/>
          <p:nvPr/>
        </p:nvSpPr>
        <p:spPr>
          <a:xfrm>
            <a:off x="895350" y="2695956"/>
            <a:ext cx="2910695"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−3/2</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Flip </a:t>
            </a:r>
            <a:r>
              <a:rPr lang="en-US" sz="1425" dirty="0">
                <a:solidFill>
                  <a:srgbClr val="16171D"/>
                </a:solidFill>
                <a:latin typeface="Cambria"/>
                <a:cs typeface="Cambria"/>
              </a:rPr>
              <a:t xml:space="preserve">⅔</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3/2</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Change the sign: </a:t>
            </a:r>
            <a:r>
              <a:rPr lang="en-US" sz="1425" dirty="0">
                <a:solidFill>
                  <a:srgbClr val="16171D"/>
                </a:solidFill>
                <a:latin typeface="Cambria"/>
                <a:cs typeface="Cambria"/>
              </a:rPr>
              <a:t xml:space="preserve">−3/2</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Check: </a:t>
            </a:r>
            <a:r>
              <a:rPr lang="en-US" sz="1425" dirty="0">
                <a:solidFill>
                  <a:srgbClr val="16171D"/>
                </a:solidFill>
                <a:latin typeface="Cambria"/>
                <a:cs typeface="Cambria"/>
              </a:rPr>
              <a:t xml:space="preserve">⅔ · (−3/2) = −1</a:t>
            </a:r>
            <a:r>
              <a:rPr lang="en-US" sz="1425" dirty="0">
                <a:solidFill>
                  <a:srgbClr val="16171D"/>
                </a:solidFill>
                <a:latin typeface="Segoe UI"/>
                <a:cs typeface="Segoe UI"/>
              </a:rPr>
              <a:t xml:space="preserve">.</a:t>
            </a:r>
            <a:endParaRPr lang="en-US" sz="1425" dirty="0"/>
          </a:p>
        </p:txBody>
      </p:sp>
      <p:sp>
        <p:nvSpPr>
          <p:cNvPr id="11" name="Shape 11"/>
          <p:cNvSpPr txBox="1"/>
          <p:nvPr/>
        </p:nvSpPr>
        <p:spPr>
          <a:xfrm>
            <a:off x="685800" y="4034028"/>
            <a:ext cx="5295748" cy="20421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420547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What is the slope of any horizontal line?</a:t>
            </a:r>
            <a:endParaRPr lang="en-US" sz="1575" dirty="0"/>
          </a:p>
        </p:txBody>
      </p:sp>
      <p:sp>
        <p:nvSpPr>
          <p:cNvPr id="9" name="Shape 9"/>
          <p:cNvSpPr txBox="1"/>
          <p:nvPr/>
        </p:nvSpPr>
        <p:spPr>
          <a:xfrm>
            <a:off x="895350" y="453847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slope = rise ÷ run</a:t>
            </a:r>
            <a:endParaRPr lang="en-US" sz="1575" dirty="0"/>
          </a:p>
        </p:txBody>
      </p:sp>
      <p:sp>
        <p:nvSpPr>
          <p:cNvPr id="10" name="Shape 10"/>
          <p:cNvSpPr txBox="1"/>
          <p:nvPr/>
        </p:nvSpPr>
        <p:spPr>
          <a:xfrm>
            <a:off x="895350" y="487146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0</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 horizontal line is flat: it never goes up or down, so the rise is 0.</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0 ÷ </a:t>
            </a:r>
            <a:r>
              <a:rPr lang="en-US" sz="1425" dirty="0" i="1">
                <a:solidFill>
                  <a:srgbClr val="16171D"/>
                </a:solidFill>
                <a:latin typeface="Cambria"/>
                <a:cs typeface="Cambria"/>
              </a:rPr>
              <a:t xml:space="preserve">r</a:t>
            </a:r>
            <a:r>
              <a:rPr lang="en-US" sz="1425" dirty="0" i="1">
                <a:solidFill>
                  <a:srgbClr val="16171D"/>
                </a:solidFill>
                <a:latin typeface="Cambria"/>
                <a:cs typeface="Cambria"/>
              </a:rPr>
              <a:t xml:space="preserve">u</a:t>
            </a:r>
            <a:r>
              <a:rPr lang="en-US" sz="1425" dirty="0" i="1">
                <a:solidFill>
                  <a:srgbClr val="16171D"/>
                </a:solidFill>
                <a:latin typeface="Cambria"/>
                <a:cs typeface="Cambria"/>
              </a:rPr>
              <a:t xml:space="preserve">n</a:t>
            </a:r>
            <a:r>
              <a:rPr lang="en-US" sz="1425" dirty="0">
                <a:solidFill>
                  <a:srgbClr val="16171D"/>
                </a:solidFill>
                <a:latin typeface="Cambria"/>
                <a:cs typeface="Cambria"/>
              </a:rPr>
              <a:t xml:space="preserve"> = 0</a:t>
            </a:r>
            <a:r>
              <a:rPr lang="en-US" sz="1425" dirty="0">
                <a:solidFill>
                  <a:srgbClr val="16171D"/>
                </a:solidFill>
                <a:latin typeface="Segoe UI"/>
                <a:cs typeface="Segoe UI"/>
              </a:rPr>
              <a:t xml:space="preserve">. The slope is 0.</a:t>
            </a:r>
            <a:endParaRPr lang="en-US" sz="1425" dirty="0"/>
          </a:p>
        </p:txBody>
      </p:sp>
      <p:sp>
        <p:nvSpPr>
          <p:cNvPr id="15" name="Shape 15"/>
          <p:cNvSpPr txBox="1"/>
          <p:nvPr/>
        </p:nvSpPr>
        <p:spPr>
          <a:xfrm>
            <a:off x="6210148" y="1618488"/>
            <a:ext cx="5295748" cy="20650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Which is the equation of the vertical line through </a:t>
            </a:r>
            <a:r>
              <a:rPr lang="en-US" sz="1575" dirty="0">
                <a:solidFill>
                  <a:srgbClr val="16171D"/>
                </a:solidFill>
                <a:latin typeface="Cambria"/>
                <a:cs typeface="Cambria"/>
              </a:rPr>
              <a:t xml:space="preserve">(2, −1)</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vertical line: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a:t>
            </a:r>
            <a:r>
              <a:rPr lang="en-US" sz="1575" dirty="0">
                <a:solidFill>
                  <a:srgbClr val="16171D"/>
                </a:solidFill>
                <a:latin typeface="Segoe UI"/>
                <a:cs typeface="Segoe UI"/>
              </a:rPr>
              <a:t xml:space="preserve"> a number</a:t>
            </a:r>
            <a:endParaRPr lang="en-US" sz="1575" dirty="0"/>
          </a:p>
        </p:txBody>
      </p:sp>
      <p:sp>
        <p:nvSpPr>
          <p:cNvPr id="14" name="Shape 14"/>
          <p:cNvSpPr txBox="1"/>
          <p:nvPr/>
        </p:nvSpPr>
        <p:spPr>
          <a:xfrm>
            <a:off x="6419698" y="2695956"/>
            <a:ext cx="4730363" cy="81610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2</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On a vertical line,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never changes.</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The point has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a:solidFill>
                  <a:srgbClr val="16171D"/>
                </a:solidFill>
                <a:latin typeface="Segoe UI"/>
                <a:cs typeface="Segoe UI"/>
              </a:rPr>
              <a:t xml:space="preserve">, so the line is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a:solidFill>
                  <a:srgbClr val="16171D"/>
                </a:solidFill>
                <a:latin typeface="Segoe UI"/>
                <a:cs typeface="Segoe UI"/>
              </a:rPr>
              <a:t xml:space="preserve">.</a:t>
            </a:r>
            <a:endParaRPr lang="en-US" sz="1425" dirty="0"/>
          </a:p>
        </p:txBody>
      </p:sp>
      <p:sp>
        <p:nvSpPr>
          <p:cNvPr id="19" name="Shape 19"/>
          <p:cNvSpPr txBox="1"/>
          <p:nvPr/>
        </p:nvSpPr>
        <p:spPr>
          <a:xfrm>
            <a:off x="6210148" y="3816858"/>
            <a:ext cx="5295748" cy="20650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398830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What is the product of the slopes of two perpendicular lines (neither vertical)?</a:t>
            </a:r>
            <a:endParaRPr lang="en-US" sz="1575" dirty="0"/>
          </a:p>
        </p:txBody>
      </p:sp>
      <p:sp>
        <p:nvSpPr>
          <p:cNvPr id="17" name="Shape 17"/>
          <p:cNvSpPr txBox="1"/>
          <p:nvPr/>
        </p:nvSpPr>
        <p:spPr>
          <a:xfrm>
            <a:off x="6419698" y="45613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m</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m</a:t>
            </a:r>
            <a:r>
              <a:rPr lang="en-US" sz="1575" dirty="0">
                <a:solidFill>
                  <a:srgbClr val="16171D"/>
                </a:solidFill>
                <a:latin typeface="Cambria"/>
                <a:cs typeface="Cambria"/>
              </a:rPr>
              <a:t xml:space="preserve">₂ = −1</a:t>
            </a:r>
            <a:endParaRPr lang="en-US" sz="1575" dirty="0"/>
          </a:p>
        </p:txBody>
      </p:sp>
      <p:sp>
        <p:nvSpPr>
          <p:cNvPr id="18" name="Shape 18"/>
          <p:cNvSpPr txBox="1"/>
          <p:nvPr/>
        </p:nvSpPr>
        <p:spPr>
          <a:xfrm>
            <a:off x="6419698" y="4894326"/>
            <a:ext cx="4826135" cy="81610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−1</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Example: slopes </a:t>
            </a:r>
            <a:r>
              <a:rPr lang="en-US" sz="1425" dirty="0">
                <a:solidFill>
                  <a:srgbClr val="16171D"/>
                </a:solidFill>
                <a:latin typeface="Cambria"/>
                <a:cs typeface="Cambria"/>
              </a:rPr>
              <a:t xml:space="preserve">2</a:t>
            </a:r>
            <a:r>
              <a:rPr lang="en-US" sz="1425" dirty="0">
                <a:solidFill>
                  <a:srgbClr val="16171D"/>
                </a:solidFill>
                <a:latin typeface="Segoe UI"/>
                <a:cs typeface="Segoe UI"/>
              </a:rPr>
              <a:t xml:space="preserve"> and </a:t>
            </a:r>
            <a:r>
              <a:rPr lang="en-US" sz="1425" dirty="0">
                <a:solidFill>
                  <a:srgbClr val="16171D"/>
                </a:solidFill>
                <a:latin typeface="Cambria"/>
                <a:cs typeface="Cambria"/>
              </a:rPr>
              <a:t xml:space="preserve">−½</a:t>
            </a:r>
            <a:r>
              <a:rPr lang="en-US" sz="1425" dirty="0">
                <a:solidFill>
                  <a:srgbClr val="16171D"/>
                </a:solidFill>
                <a:latin typeface="Segoe UI"/>
                <a:cs typeface="Segoe UI"/>
              </a:rPr>
              <a:t xml:space="preserve"> are perpendicular.</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2 · (−½) = −1</a:t>
            </a:r>
            <a:r>
              <a:rPr lang="en-US" sz="1425" dirty="0">
                <a:solidFill>
                  <a:srgbClr val="16171D"/>
                </a:solidFill>
                <a:latin typeface="Segoe UI"/>
                <a:cs typeface="Segoe UI"/>
              </a:rPr>
              <a:t xml:space="preserve">. The product is always </a:t>
            </a:r>
            <a:r>
              <a:rPr lang="en-US" sz="1425" dirty="0">
                <a:solidFill>
                  <a:srgbClr val="16171D"/>
                </a:solidFill>
                <a:latin typeface="Cambria"/>
                <a:cs typeface="Cambria"/>
              </a:rPr>
              <a:t xml:space="preserve">−1</a:t>
            </a:r>
            <a:r>
              <a:rPr lang="en-US" sz="1425" dirty="0">
                <a:solidFill>
                  <a:srgbClr val="16171D"/>
                </a:solidFill>
                <a:latin typeface="Segoe UI"/>
                <a:cs typeface="Segoe UI"/>
              </a:rPr>
              <a:t xml:space="preserve">.</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Mon, Nov 2 · about 15 minutes</a:t>
            </a:r>
            <a:endParaRPr lang="en-US" sz="1200" dirty="0"/>
          </a:p>
        </p:txBody>
      </p:sp>
      <p:sp>
        <p:nvSpPr>
          <p:cNvPr id="3" name="Shape 3"/>
          <p:cNvSpPr txBox="1"/>
          <p:nvPr/>
        </p:nvSpPr>
        <p:spPr>
          <a:xfrm>
            <a:off x="685800" y="1323594"/>
            <a:ext cx="10820095" cy="266090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6: Changing the situation changes the function</a:t>
            </a:r>
            <a:endParaRPr lang="en-US" sz="5700" dirty="0"/>
          </a:p>
        </p:txBody>
      </p:sp>
      <p:sp>
        <p:nvSpPr>
          <p:cNvPr id="4" name="Shape 4"/>
          <p:cNvSpPr txBox="1"/>
          <p:nvPr/>
        </p:nvSpPr>
        <p:spPr>
          <a:xfrm>
            <a:off x="685800" y="415594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Giving away 3 T-shirts shifts the function: the same idea as a Topic 2 translation.</a:t>
            </a:r>
            <a:endParaRPr lang="en-US" sz="2250" dirty="0"/>
          </a:p>
        </p:txBody>
      </p:sp>
      <p:sp>
        <p:nvSpPr>
          <p:cNvPr id="5" name="Shape 5"/>
          <p:cNvSpPr txBox="1"/>
          <p:nvPr/>
        </p:nvSpPr>
        <p:spPr>
          <a:xfrm>
            <a:off x="685800" y="506806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6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We do · Two forms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Gracie gives away 3 shirts</a:t>
            </a:r>
            <a:endParaRPr lang="en-US" sz="3450" dirty="0"/>
          </a:p>
        </p:txBody>
      </p:sp>
      <p:sp>
        <p:nvSpPr>
          <p:cNvPr id="8" name="Shape 8"/>
          <p:cNvSpPr txBox="1"/>
          <p:nvPr/>
        </p:nvSpPr>
        <p:spPr>
          <a:xfrm>
            <a:off x="685800" y="1618488"/>
            <a:ext cx="5219548" cy="22265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General form</a:t>
            </a:r>
            <a:endParaRPr lang="en-US" sz="2100" dirty="0"/>
          </a:p>
        </p:txBody>
      </p:sp>
      <p:sp>
        <p:nvSpPr>
          <p:cNvPr id="5" name="Shape 5"/>
          <p:cNvSpPr txBox="1"/>
          <p:nvPr/>
        </p:nvSpPr>
        <p:spPr>
          <a:xfrm>
            <a:off x="895350" y="2260092"/>
            <a:ext cx="48004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− 45</a:t>
            </a:r>
            <a:endParaRPr lang="en-US" sz="2325" dirty="0"/>
          </a:p>
        </p:txBody>
      </p:sp>
      <p:sp>
        <p:nvSpPr>
          <p:cNvPr id="6" name="Shape 6"/>
          <p:cNvSpPr txBox="1"/>
          <p:nvPr/>
        </p:nvSpPr>
        <p:spPr>
          <a:xfrm>
            <a:off x="895350" y="2764536"/>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____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____</a:t>
            </a:r>
            <a:endParaRPr lang="en-US" sz="1575" dirty="0"/>
          </a:p>
        </p:txBody>
      </p:sp>
      <p:sp>
        <p:nvSpPr>
          <p:cNvPr id="7" name="Shape 7"/>
          <p:cNvSpPr txBox="1"/>
          <p:nvPr/>
        </p:nvSpPr>
        <p:spPr>
          <a:xfrm>
            <a:off x="895350" y="3154680"/>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15 and (0, −45)</a:t>
            </a:r>
            <a:endParaRPr lang="en-US" sz="2325" dirty="0"/>
          </a:p>
        </p:txBody>
      </p:sp>
      <p:sp>
        <p:nvSpPr>
          <p:cNvPr id="13" name="Shape 13"/>
          <p:cNvSpPr txBox="1"/>
          <p:nvPr/>
        </p:nvSpPr>
        <p:spPr>
          <a:xfrm>
            <a:off x="685800" y="3978402"/>
            <a:ext cx="5219548" cy="22265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9" name="Shape 9"/>
          <p:cNvSpPr txBox="1"/>
          <p:nvPr/>
        </p:nvSpPr>
        <p:spPr>
          <a:xfrm>
            <a:off x="895350" y="4149852"/>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Factored form</a:t>
            </a:r>
            <a:endParaRPr lang="en-US" sz="2100" dirty="0"/>
          </a:p>
        </p:txBody>
      </p:sp>
      <p:sp>
        <p:nvSpPr>
          <p:cNvPr id="10" name="Shape 10"/>
          <p:cNvSpPr txBox="1"/>
          <p:nvPr/>
        </p:nvSpPr>
        <p:spPr>
          <a:xfrm>
            <a:off x="895350" y="4620006"/>
            <a:ext cx="48004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− 3</a:t>
            </a:r>
            <a:r>
              <a:rPr lang="en-US" sz="2325" dirty="0">
                <a:solidFill>
                  <a:srgbClr val="16171D"/>
                </a:solidFill>
                <a:latin typeface="Cambria"/>
                <a:cs typeface="Cambria"/>
              </a:rPr>
              <a:t xml:space="preserve">)</a:t>
            </a:r>
            <a:endParaRPr lang="en-US" sz="2325" dirty="0"/>
          </a:p>
        </p:txBody>
      </p:sp>
      <p:sp>
        <p:nvSpPr>
          <p:cNvPr id="11" name="Shape 11"/>
          <p:cNvSpPr txBox="1"/>
          <p:nvPr/>
        </p:nvSpPr>
        <p:spPr>
          <a:xfrm>
            <a:off x="895350" y="5124450"/>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____ zero: ____</a:t>
            </a:r>
            <a:endParaRPr lang="en-US" sz="1575" dirty="0"/>
          </a:p>
        </p:txBody>
      </p:sp>
      <p:sp>
        <p:nvSpPr>
          <p:cNvPr id="12" name="Shape 12"/>
          <p:cNvSpPr txBox="1"/>
          <p:nvPr/>
        </p:nvSpPr>
        <p:spPr>
          <a:xfrm>
            <a:off x="895350" y="5514594"/>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15 and 3</a:t>
            </a:r>
            <a:endParaRPr lang="en-US" sz="2325" dirty="0"/>
          </a:p>
        </p:txBody>
      </p:sp>
      <p:sp>
        <p:nvSpPr>
          <p:cNvPr id="14" name="Shape 14"/>
          <p:cNvSpPr/>
          <p:nvPr/>
        </p:nvSpPr>
        <p:spPr>
          <a:xfrm>
            <a:off x="6286348" y="1618488"/>
            <a:ext cx="3238500" cy="3619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5" name="Line 15"/>
          <p:cNvCxnSpPr/>
          <p:nvPr/>
        </p:nvCxnSpPr>
        <p:spPr>
          <a:xfrm>
            <a:off x="6610198" y="1732788"/>
            <a:ext cx="0" cy="3257550"/>
          </a:xfrm>
          <a:prstGeom prst="line">
            <a:avLst/>
          </a:prstGeom>
          <a:ln w="9525" cap="flat">
            <a:solidFill>
              <a:srgbClr val="E6E8F2"/>
            </a:solidFill>
          </a:ln>
        </p:spPr>
      </p:cxnSp>
      <p:cxnSp>
        <p:nvCxnSpPr>
          <p:cNvPr id="16" name="Line 16"/>
          <p:cNvCxnSpPr/>
          <p:nvPr/>
        </p:nvCxnSpPr>
        <p:spPr>
          <a:xfrm>
            <a:off x="6921348" y="1732788"/>
            <a:ext cx="0" cy="3257550"/>
          </a:xfrm>
          <a:prstGeom prst="line">
            <a:avLst/>
          </a:prstGeom>
          <a:ln w="9525" cap="flat">
            <a:solidFill>
              <a:srgbClr val="E6E8F2"/>
            </a:solidFill>
          </a:ln>
        </p:spPr>
      </p:cxnSp>
      <p:cxnSp>
        <p:nvCxnSpPr>
          <p:cNvPr id="17" name="Line 17"/>
          <p:cNvCxnSpPr/>
          <p:nvPr/>
        </p:nvCxnSpPr>
        <p:spPr>
          <a:xfrm>
            <a:off x="7232498" y="1732788"/>
            <a:ext cx="0" cy="3257550"/>
          </a:xfrm>
          <a:prstGeom prst="line">
            <a:avLst/>
          </a:prstGeom>
          <a:ln w="9525" cap="flat">
            <a:solidFill>
              <a:srgbClr val="E6E8F2"/>
            </a:solidFill>
          </a:ln>
        </p:spPr>
      </p:cxnSp>
      <p:cxnSp>
        <p:nvCxnSpPr>
          <p:cNvPr id="18" name="Line 18"/>
          <p:cNvCxnSpPr/>
          <p:nvPr/>
        </p:nvCxnSpPr>
        <p:spPr>
          <a:xfrm>
            <a:off x="7543648" y="1732788"/>
            <a:ext cx="0" cy="3257550"/>
          </a:xfrm>
          <a:prstGeom prst="line">
            <a:avLst/>
          </a:prstGeom>
          <a:ln w="9525" cap="flat">
            <a:solidFill>
              <a:srgbClr val="E6E8F2"/>
            </a:solidFill>
          </a:ln>
        </p:spPr>
      </p:cxnSp>
      <p:cxnSp>
        <p:nvCxnSpPr>
          <p:cNvPr id="19" name="Line 19"/>
          <p:cNvCxnSpPr/>
          <p:nvPr/>
        </p:nvCxnSpPr>
        <p:spPr>
          <a:xfrm>
            <a:off x="7854798" y="1732788"/>
            <a:ext cx="0" cy="3257550"/>
          </a:xfrm>
          <a:prstGeom prst="line">
            <a:avLst/>
          </a:prstGeom>
          <a:ln w="9525" cap="flat">
            <a:solidFill>
              <a:srgbClr val="E6E8F2"/>
            </a:solidFill>
          </a:ln>
        </p:spPr>
      </p:cxnSp>
      <p:cxnSp>
        <p:nvCxnSpPr>
          <p:cNvPr id="20" name="Line 20"/>
          <p:cNvCxnSpPr/>
          <p:nvPr/>
        </p:nvCxnSpPr>
        <p:spPr>
          <a:xfrm>
            <a:off x="8165948" y="1732788"/>
            <a:ext cx="0" cy="3257550"/>
          </a:xfrm>
          <a:prstGeom prst="line">
            <a:avLst/>
          </a:prstGeom>
          <a:ln w="9525" cap="flat">
            <a:solidFill>
              <a:srgbClr val="E6E8F2"/>
            </a:solidFill>
          </a:ln>
        </p:spPr>
      </p:cxnSp>
      <p:cxnSp>
        <p:nvCxnSpPr>
          <p:cNvPr id="21" name="Line 21"/>
          <p:cNvCxnSpPr/>
          <p:nvPr/>
        </p:nvCxnSpPr>
        <p:spPr>
          <a:xfrm>
            <a:off x="8477098" y="1732788"/>
            <a:ext cx="0" cy="3257550"/>
          </a:xfrm>
          <a:prstGeom prst="line">
            <a:avLst/>
          </a:prstGeom>
          <a:ln w="9525" cap="flat">
            <a:solidFill>
              <a:srgbClr val="E6E8F2"/>
            </a:solidFill>
          </a:ln>
        </p:spPr>
      </p:cxnSp>
      <p:cxnSp>
        <p:nvCxnSpPr>
          <p:cNvPr id="22" name="Line 22"/>
          <p:cNvCxnSpPr/>
          <p:nvPr/>
        </p:nvCxnSpPr>
        <p:spPr>
          <a:xfrm>
            <a:off x="8788248" y="1732788"/>
            <a:ext cx="0" cy="3257550"/>
          </a:xfrm>
          <a:prstGeom prst="line">
            <a:avLst/>
          </a:prstGeom>
          <a:ln w="9525" cap="flat">
            <a:solidFill>
              <a:srgbClr val="E6E8F2"/>
            </a:solidFill>
          </a:ln>
        </p:spPr>
      </p:cxnSp>
      <p:cxnSp>
        <p:nvCxnSpPr>
          <p:cNvPr id="23" name="Line 23"/>
          <p:cNvCxnSpPr/>
          <p:nvPr/>
        </p:nvCxnSpPr>
        <p:spPr>
          <a:xfrm>
            <a:off x="9099398" y="1732788"/>
            <a:ext cx="0" cy="3257550"/>
          </a:xfrm>
          <a:prstGeom prst="line">
            <a:avLst/>
          </a:prstGeom>
          <a:ln w="9525" cap="flat">
            <a:solidFill>
              <a:srgbClr val="E6E8F2"/>
            </a:solidFill>
          </a:ln>
        </p:spPr>
      </p:cxnSp>
      <p:cxnSp>
        <p:nvCxnSpPr>
          <p:cNvPr id="24" name="Line 24"/>
          <p:cNvCxnSpPr/>
          <p:nvPr/>
        </p:nvCxnSpPr>
        <p:spPr>
          <a:xfrm>
            <a:off x="9410548" y="1732788"/>
            <a:ext cx="0" cy="3257550"/>
          </a:xfrm>
          <a:prstGeom prst="line">
            <a:avLst/>
          </a:prstGeom>
          <a:ln w="9525" cap="flat">
            <a:solidFill>
              <a:srgbClr val="E6E8F2"/>
            </a:solidFill>
          </a:ln>
        </p:spPr>
      </p:cxnSp>
      <p:cxnSp>
        <p:nvCxnSpPr>
          <p:cNvPr id="25" name="Line 25"/>
          <p:cNvCxnSpPr/>
          <p:nvPr/>
        </p:nvCxnSpPr>
        <p:spPr>
          <a:xfrm>
            <a:off x="6610198" y="4990338"/>
            <a:ext cx="2800350" cy="0"/>
          </a:xfrm>
          <a:prstGeom prst="line">
            <a:avLst/>
          </a:prstGeom>
          <a:ln w="9525" cap="flat">
            <a:solidFill>
              <a:srgbClr val="E6E8F2"/>
            </a:solidFill>
          </a:ln>
        </p:spPr>
      </p:cxnSp>
      <p:cxnSp>
        <p:nvCxnSpPr>
          <p:cNvPr id="26" name="Line 26"/>
          <p:cNvCxnSpPr/>
          <p:nvPr/>
        </p:nvCxnSpPr>
        <p:spPr>
          <a:xfrm>
            <a:off x="6610198" y="4718876"/>
            <a:ext cx="2800350" cy="0"/>
          </a:xfrm>
          <a:prstGeom prst="line">
            <a:avLst/>
          </a:prstGeom>
          <a:ln w="9525" cap="flat">
            <a:solidFill>
              <a:srgbClr val="E6E8F2"/>
            </a:solidFill>
          </a:ln>
        </p:spPr>
      </p:cxnSp>
      <p:cxnSp>
        <p:nvCxnSpPr>
          <p:cNvPr id="27" name="Line 27"/>
          <p:cNvCxnSpPr/>
          <p:nvPr/>
        </p:nvCxnSpPr>
        <p:spPr>
          <a:xfrm>
            <a:off x="6610198" y="4447413"/>
            <a:ext cx="2800350" cy="0"/>
          </a:xfrm>
          <a:prstGeom prst="line">
            <a:avLst/>
          </a:prstGeom>
          <a:ln w="9525" cap="flat">
            <a:solidFill>
              <a:srgbClr val="E6E8F2"/>
            </a:solidFill>
          </a:ln>
        </p:spPr>
      </p:cxnSp>
      <p:cxnSp>
        <p:nvCxnSpPr>
          <p:cNvPr id="28" name="Line 28"/>
          <p:cNvCxnSpPr/>
          <p:nvPr/>
        </p:nvCxnSpPr>
        <p:spPr>
          <a:xfrm>
            <a:off x="6610198" y="4175950"/>
            <a:ext cx="2800350" cy="0"/>
          </a:xfrm>
          <a:prstGeom prst="line">
            <a:avLst/>
          </a:prstGeom>
          <a:ln w="9525" cap="flat">
            <a:solidFill>
              <a:srgbClr val="E6E8F2"/>
            </a:solidFill>
          </a:ln>
        </p:spPr>
      </p:cxnSp>
      <p:cxnSp>
        <p:nvCxnSpPr>
          <p:cNvPr id="29" name="Line 29"/>
          <p:cNvCxnSpPr/>
          <p:nvPr/>
        </p:nvCxnSpPr>
        <p:spPr>
          <a:xfrm>
            <a:off x="6610198" y="3904488"/>
            <a:ext cx="2800350" cy="0"/>
          </a:xfrm>
          <a:prstGeom prst="line">
            <a:avLst/>
          </a:prstGeom>
          <a:ln w="9525" cap="flat">
            <a:solidFill>
              <a:srgbClr val="E6E8F2"/>
            </a:solidFill>
          </a:ln>
        </p:spPr>
      </p:cxnSp>
      <p:cxnSp>
        <p:nvCxnSpPr>
          <p:cNvPr id="30" name="Line 30"/>
          <p:cNvCxnSpPr/>
          <p:nvPr/>
        </p:nvCxnSpPr>
        <p:spPr>
          <a:xfrm>
            <a:off x="6610198" y="3633026"/>
            <a:ext cx="2800350" cy="0"/>
          </a:xfrm>
          <a:prstGeom prst="line">
            <a:avLst/>
          </a:prstGeom>
          <a:ln w="9525" cap="flat">
            <a:solidFill>
              <a:srgbClr val="E6E8F2"/>
            </a:solidFill>
          </a:ln>
        </p:spPr>
      </p:cxnSp>
      <p:cxnSp>
        <p:nvCxnSpPr>
          <p:cNvPr id="31" name="Line 31"/>
          <p:cNvCxnSpPr/>
          <p:nvPr/>
        </p:nvCxnSpPr>
        <p:spPr>
          <a:xfrm>
            <a:off x="6610198" y="3361563"/>
            <a:ext cx="2800350" cy="0"/>
          </a:xfrm>
          <a:prstGeom prst="line">
            <a:avLst/>
          </a:prstGeom>
          <a:ln w="9525" cap="flat">
            <a:solidFill>
              <a:srgbClr val="E6E8F2"/>
            </a:solidFill>
          </a:ln>
        </p:spPr>
      </p:cxnSp>
      <p:cxnSp>
        <p:nvCxnSpPr>
          <p:cNvPr id="32" name="Line 32"/>
          <p:cNvCxnSpPr/>
          <p:nvPr/>
        </p:nvCxnSpPr>
        <p:spPr>
          <a:xfrm>
            <a:off x="6610198" y="3090100"/>
            <a:ext cx="2800350" cy="0"/>
          </a:xfrm>
          <a:prstGeom prst="line">
            <a:avLst/>
          </a:prstGeom>
          <a:ln w="9525" cap="flat">
            <a:solidFill>
              <a:srgbClr val="E6E8F2"/>
            </a:solidFill>
          </a:ln>
        </p:spPr>
      </p:cxnSp>
      <p:cxnSp>
        <p:nvCxnSpPr>
          <p:cNvPr id="33" name="Line 33"/>
          <p:cNvCxnSpPr/>
          <p:nvPr/>
        </p:nvCxnSpPr>
        <p:spPr>
          <a:xfrm>
            <a:off x="6610198" y="2818638"/>
            <a:ext cx="2800350" cy="0"/>
          </a:xfrm>
          <a:prstGeom prst="line">
            <a:avLst/>
          </a:prstGeom>
          <a:ln w="9525" cap="flat">
            <a:solidFill>
              <a:srgbClr val="E6E8F2"/>
            </a:solidFill>
          </a:ln>
        </p:spPr>
      </p:cxnSp>
      <p:cxnSp>
        <p:nvCxnSpPr>
          <p:cNvPr id="34" name="Line 34"/>
          <p:cNvCxnSpPr/>
          <p:nvPr/>
        </p:nvCxnSpPr>
        <p:spPr>
          <a:xfrm>
            <a:off x="6610198" y="2547176"/>
            <a:ext cx="2800350" cy="0"/>
          </a:xfrm>
          <a:prstGeom prst="line">
            <a:avLst/>
          </a:prstGeom>
          <a:ln w="9525" cap="flat">
            <a:solidFill>
              <a:srgbClr val="E6E8F2"/>
            </a:solidFill>
          </a:ln>
        </p:spPr>
      </p:cxnSp>
      <p:cxnSp>
        <p:nvCxnSpPr>
          <p:cNvPr id="35" name="Line 35"/>
          <p:cNvCxnSpPr/>
          <p:nvPr/>
        </p:nvCxnSpPr>
        <p:spPr>
          <a:xfrm>
            <a:off x="6610198" y="2275713"/>
            <a:ext cx="2800350" cy="0"/>
          </a:xfrm>
          <a:prstGeom prst="line">
            <a:avLst/>
          </a:prstGeom>
          <a:ln w="9525" cap="flat">
            <a:solidFill>
              <a:srgbClr val="E6E8F2"/>
            </a:solidFill>
          </a:ln>
        </p:spPr>
      </p:cxnSp>
      <p:cxnSp>
        <p:nvCxnSpPr>
          <p:cNvPr id="36" name="Line 36"/>
          <p:cNvCxnSpPr/>
          <p:nvPr/>
        </p:nvCxnSpPr>
        <p:spPr>
          <a:xfrm>
            <a:off x="6610198" y="2004250"/>
            <a:ext cx="2800350" cy="0"/>
          </a:xfrm>
          <a:prstGeom prst="line">
            <a:avLst/>
          </a:prstGeom>
          <a:ln w="9525" cap="flat">
            <a:solidFill>
              <a:srgbClr val="E6E8F2"/>
            </a:solidFill>
          </a:ln>
        </p:spPr>
      </p:cxnSp>
      <p:cxnSp>
        <p:nvCxnSpPr>
          <p:cNvPr id="37" name="Line 37"/>
          <p:cNvCxnSpPr/>
          <p:nvPr/>
        </p:nvCxnSpPr>
        <p:spPr>
          <a:xfrm>
            <a:off x="6610198" y="1732788"/>
            <a:ext cx="2800350" cy="0"/>
          </a:xfrm>
          <a:prstGeom prst="line">
            <a:avLst/>
          </a:prstGeom>
          <a:ln w="9525" cap="flat">
            <a:solidFill>
              <a:srgbClr val="E6E8F2"/>
            </a:solidFill>
          </a:ln>
        </p:spPr>
      </p:cxnSp>
      <p:cxnSp>
        <p:nvCxnSpPr>
          <p:cNvPr id="38" name="Line 38"/>
          <p:cNvCxnSpPr/>
          <p:nvPr/>
        </p:nvCxnSpPr>
        <p:spPr>
          <a:xfrm>
            <a:off x="6921348" y="1732788"/>
            <a:ext cx="0" cy="3257550"/>
          </a:xfrm>
          <a:prstGeom prst="line">
            <a:avLst/>
          </a:prstGeom>
          <a:ln w="19050" cap="flat">
            <a:solidFill>
              <a:srgbClr val="5F6272"/>
            </a:solidFill>
          </a:ln>
        </p:spPr>
      </p:cxnSp>
      <p:cxnSp>
        <p:nvCxnSpPr>
          <p:cNvPr id="39" name="Line 39"/>
          <p:cNvCxnSpPr/>
          <p:nvPr/>
        </p:nvCxnSpPr>
        <p:spPr>
          <a:xfrm>
            <a:off x="6610198" y="3361563"/>
            <a:ext cx="2800350" cy="0"/>
          </a:xfrm>
          <a:prstGeom prst="line">
            <a:avLst/>
          </a:prstGeom>
          <a:ln w="19050" cap="flat">
            <a:solidFill>
              <a:srgbClr val="5F6272"/>
            </a:solidFill>
          </a:ln>
        </p:spPr>
      </p:cxnSp>
      <p:sp>
        <p:nvSpPr>
          <p:cNvPr id="40" name="Shape 40"/>
          <p:cNvSpPr txBox="1"/>
          <p:nvPr/>
        </p:nvSpPr>
        <p:spPr>
          <a:xfrm>
            <a:off x="63358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1" name="Shape 41"/>
          <p:cNvSpPr txBox="1"/>
          <p:nvPr/>
        </p:nvSpPr>
        <p:spPr>
          <a:xfrm>
            <a:off x="66470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2" name="Shape 42"/>
          <p:cNvSpPr txBox="1"/>
          <p:nvPr/>
        </p:nvSpPr>
        <p:spPr>
          <a:xfrm>
            <a:off x="69581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3" name="Shape 43"/>
          <p:cNvSpPr txBox="1"/>
          <p:nvPr/>
        </p:nvSpPr>
        <p:spPr>
          <a:xfrm>
            <a:off x="72693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75804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5" name="Shape 45"/>
          <p:cNvSpPr txBox="1"/>
          <p:nvPr/>
        </p:nvSpPr>
        <p:spPr>
          <a:xfrm>
            <a:off x="78916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82027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7" name="Shape 47"/>
          <p:cNvSpPr txBox="1"/>
          <p:nvPr/>
        </p:nvSpPr>
        <p:spPr>
          <a:xfrm>
            <a:off x="85139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88250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9" name="Shape 49"/>
          <p:cNvSpPr txBox="1"/>
          <p:nvPr/>
        </p:nvSpPr>
        <p:spPr>
          <a:xfrm>
            <a:off x="91362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6043270" y="4898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1" name="Shape 51"/>
          <p:cNvSpPr txBox="1"/>
          <p:nvPr/>
        </p:nvSpPr>
        <p:spPr>
          <a:xfrm>
            <a:off x="6043270" y="43559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2" name="Shape 52"/>
          <p:cNvSpPr txBox="1"/>
          <p:nvPr/>
        </p:nvSpPr>
        <p:spPr>
          <a:xfrm>
            <a:off x="6043270" y="3813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3" name="Shape 53"/>
          <p:cNvSpPr txBox="1"/>
          <p:nvPr/>
        </p:nvSpPr>
        <p:spPr>
          <a:xfrm>
            <a:off x="6043270" y="32701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4" name="Shape 54"/>
          <p:cNvSpPr txBox="1"/>
          <p:nvPr/>
        </p:nvSpPr>
        <p:spPr>
          <a:xfrm>
            <a:off x="6043270" y="27271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5" name="Shape 55"/>
          <p:cNvSpPr txBox="1"/>
          <p:nvPr/>
        </p:nvSpPr>
        <p:spPr>
          <a:xfrm>
            <a:off x="6043270" y="21842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6" name="Shape 56"/>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cxnSp>
        <p:nvCxnSpPr>
          <p:cNvPr id="57" name="Line 57"/>
          <p:cNvCxnSpPr/>
          <p:nvPr/>
        </p:nvCxnSpPr>
        <p:spPr>
          <a:xfrm flipV="1">
            <a:off x="6610198" y="1732788"/>
            <a:ext cx="2489200" cy="3257550"/>
          </a:xfrm>
          <a:prstGeom prst="line">
            <a:avLst/>
          </a:prstGeom>
          <a:ln w="38100" cap="rnd">
            <a:solidFill>
              <a:srgbClr val="16171D"/>
            </a:solidFill>
          </a:ln>
        </p:spPr>
      </p:cxnSp>
      <p:sp>
        <p:nvSpPr>
          <p:cNvPr id="58" name="Shape 58"/>
          <p:cNvSpPr/>
          <p:nvPr/>
        </p:nvSpPr>
        <p:spPr>
          <a:xfrm>
            <a:off x="6868960" y="453075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9" name="Shape 59"/>
          <p:cNvSpPr txBox="1"/>
          <p:nvPr/>
        </p:nvSpPr>
        <p:spPr>
          <a:xfrm>
            <a:off x="7007073" y="4335494"/>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−45)</a:t>
            </a:r>
            <a:endParaRPr lang="en-US" sz="1125" dirty="0"/>
          </a:p>
        </p:txBody>
      </p:sp>
      <p:sp>
        <p:nvSpPr>
          <p:cNvPr id="60" name="Shape 60"/>
          <p:cNvSpPr/>
          <p:nvPr/>
        </p:nvSpPr>
        <p:spPr>
          <a:xfrm>
            <a:off x="7802410" y="33091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1" name="Shape 61"/>
          <p:cNvSpPr txBox="1"/>
          <p:nvPr/>
        </p:nvSpPr>
        <p:spPr>
          <a:xfrm>
            <a:off x="7940523" y="31139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(3, 0)</a:t>
            </a:r>
            <a:endParaRPr lang="en-US" sz="1125" dirty="0"/>
          </a:p>
        </p:txBody>
      </p:sp>
      <p:sp>
        <p:nvSpPr>
          <p:cNvPr id="62" name="Slide Number 6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ppt_w</p:attrName>
                                        </p:attrNameLst>
                                      </p:cBhvr>
                                      <p:tavLst>
                                        <p:tav tm="0">
                                          <p:val>
                                            <p:fltVal val="0"/>
                                          </p:val>
                                        </p:tav>
                                        <p:tav tm="100000">
                                          <p:val>
                                            <p:strVal val="#ppt_w"/>
                                          </p:val>
                                        </p:tav>
                                      </p:tavLst>
                                    </p:anim>
                                    <p:anim calcmode="lin" valueType="num">
                                      <p:cBhvr>
                                        <p:cTn id="6"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19" presetID="22" presetClass="entr" presetSubtype="8" fill="hold" nodeType="click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wipe(left)">
                                      <p:cBhvr>
                                        <p:cTn id="18" dur="7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3</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We do · Flat and straight-up lines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Through (2, −1)</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Horizontal: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____</a:t>
            </a:r>
            <a:endParaRPr lang="en-US" sz="1950" dirty="0"/>
          </a:p>
        </p:txBody>
      </p:sp>
      <p:sp>
        <p:nvSpPr>
          <p:cNvPr id="5" name="Shape 5"/>
          <p:cNvSpPr txBox="1"/>
          <p:nvPr/>
        </p:nvSpPr>
        <p:spPr>
          <a:xfrm>
            <a:off x="685800" y="210388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a:t>
            </a:r>
            <a:endParaRPr lang="en-US" sz="2325" dirty="0"/>
          </a:p>
        </p:txBody>
      </p:sp>
      <p:sp>
        <p:nvSpPr>
          <p:cNvPr id="6" name="Shape 6"/>
          <p:cNvSpPr txBox="1"/>
          <p:nvPr/>
        </p:nvSpPr>
        <p:spPr>
          <a:xfrm>
            <a:off x="685800"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Vertical: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____</a:t>
            </a:r>
            <a:endParaRPr lang="en-US" sz="1950" dirty="0"/>
          </a:p>
        </p:txBody>
      </p:sp>
      <p:sp>
        <p:nvSpPr>
          <p:cNvPr id="7" name="Shape 7"/>
          <p:cNvSpPr txBox="1"/>
          <p:nvPr/>
        </p:nvSpPr>
        <p:spPr>
          <a:xfrm>
            <a:off x="685800" y="3241548"/>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8" name="Shape 8"/>
          <p:cNvSpPr txBox="1"/>
          <p:nvPr/>
        </p:nvSpPr>
        <p:spPr>
          <a:xfrm>
            <a:off x="685800" y="3893820"/>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horizontal line and a vertical line are always perpendicular.</a:t>
            </a:r>
            <a:endParaRPr lang="en-US" sz="1575" dirty="0"/>
          </a:p>
        </p:txBody>
      </p:sp>
      <p:sp>
        <p:nvSpPr>
          <p:cNvPr id="9" name="Shape 9"/>
          <p:cNvSpPr/>
          <p:nvPr/>
        </p:nvSpPr>
        <p:spPr>
          <a:xfrm>
            <a:off x="6286348" y="1618488"/>
            <a:ext cx="2857500" cy="2857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6610198" y="1732788"/>
            <a:ext cx="0" cy="2495550"/>
          </a:xfrm>
          <a:prstGeom prst="line">
            <a:avLst/>
          </a:prstGeom>
          <a:ln w="9525" cap="flat">
            <a:solidFill>
              <a:srgbClr val="E6E8F2"/>
            </a:solidFill>
          </a:ln>
        </p:spPr>
      </p:cxnSp>
      <p:cxnSp>
        <p:nvCxnSpPr>
          <p:cNvPr id="11" name="Line 11"/>
          <p:cNvCxnSpPr/>
          <p:nvPr/>
        </p:nvCxnSpPr>
        <p:spPr>
          <a:xfrm>
            <a:off x="6879014" y="1732788"/>
            <a:ext cx="0" cy="2495550"/>
          </a:xfrm>
          <a:prstGeom prst="line">
            <a:avLst/>
          </a:prstGeom>
          <a:ln w="9525" cap="flat">
            <a:solidFill>
              <a:srgbClr val="E6E8F2"/>
            </a:solidFill>
          </a:ln>
        </p:spPr>
      </p:cxnSp>
      <p:cxnSp>
        <p:nvCxnSpPr>
          <p:cNvPr id="12" name="Line 12"/>
          <p:cNvCxnSpPr/>
          <p:nvPr/>
        </p:nvCxnSpPr>
        <p:spPr>
          <a:xfrm>
            <a:off x="7147831" y="1732788"/>
            <a:ext cx="0" cy="2495550"/>
          </a:xfrm>
          <a:prstGeom prst="line">
            <a:avLst/>
          </a:prstGeom>
          <a:ln w="9525" cap="flat">
            <a:solidFill>
              <a:srgbClr val="E6E8F2"/>
            </a:solidFill>
          </a:ln>
        </p:spPr>
      </p:cxnSp>
      <p:cxnSp>
        <p:nvCxnSpPr>
          <p:cNvPr id="13" name="Line 13"/>
          <p:cNvCxnSpPr/>
          <p:nvPr/>
        </p:nvCxnSpPr>
        <p:spPr>
          <a:xfrm>
            <a:off x="7416648" y="1732788"/>
            <a:ext cx="0" cy="2495550"/>
          </a:xfrm>
          <a:prstGeom prst="line">
            <a:avLst/>
          </a:prstGeom>
          <a:ln w="9525" cap="flat">
            <a:solidFill>
              <a:srgbClr val="E6E8F2"/>
            </a:solidFill>
          </a:ln>
        </p:spPr>
      </p:cxnSp>
      <p:cxnSp>
        <p:nvCxnSpPr>
          <p:cNvPr id="14" name="Line 14"/>
          <p:cNvCxnSpPr/>
          <p:nvPr/>
        </p:nvCxnSpPr>
        <p:spPr>
          <a:xfrm>
            <a:off x="7685464" y="1732788"/>
            <a:ext cx="0" cy="2495550"/>
          </a:xfrm>
          <a:prstGeom prst="line">
            <a:avLst/>
          </a:prstGeom>
          <a:ln w="9525" cap="flat">
            <a:solidFill>
              <a:srgbClr val="E6E8F2"/>
            </a:solidFill>
          </a:ln>
        </p:spPr>
      </p:cxnSp>
      <p:cxnSp>
        <p:nvCxnSpPr>
          <p:cNvPr id="15" name="Line 15"/>
          <p:cNvCxnSpPr/>
          <p:nvPr/>
        </p:nvCxnSpPr>
        <p:spPr>
          <a:xfrm>
            <a:off x="7954281" y="1732788"/>
            <a:ext cx="0" cy="2495550"/>
          </a:xfrm>
          <a:prstGeom prst="line">
            <a:avLst/>
          </a:prstGeom>
          <a:ln w="9525" cap="flat">
            <a:solidFill>
              <a:srgbClr val="E6E8F2"/>
            </a:solidFill>
          </a:ln>
        </p:spPr>
      </p:cxnSp>
      <p:cxnSp>
        <p:nvCxnSpPr>
          <p:cNvPr id="16" name="Line 16"/>
          <p:cNvCxnSpPr/>
          <p:nvPr/>
        </p:nvCxnSpPr>
        <p:spPr>
          <a:xfrm>
            <a:off x="8223098" y="1732788"/>
            <a:ext cx="0" cy="2495550"/>
          </a:xfrm>
          <a:prstGeom prst="line">
            <a:avLst/>
          </a:prstGeom>
          <a:ln w="9525" cap="flat">
            <a:solidFill>
              <a:srgbClr val="E6E8F2"/>
            </a:solidFill>
          </a:ln>
        </p:spPr>
      </p:cxnSp>
      <p:cxnSp>
        <p:nvCxnSpPr>
          <p:cNvPr id="17" name="Line 17"/>
          <p:cNvCxnSpPr/>
          <p:nvPr/>
        </p:nvCxnSpPr>
        <p:spPr>
          <a:xfrm>
            <a:off x="8491914" y="1732788"/>
            <a:ext cx="0" cy="2495550"/>
          </a:xfrm>
          <a:prstGeom prst="line">
            <a:avLst/>
          </a:prstGeom>
          <a:ln w="9525" cap="flat">
            <a:solidFill>
              <a:srgbClr val="E6E8F2"/>
            </a:solidFill>
          </a:ln>
        </p:spPr>
      </p:cxnSp>
      <p:cxnSp>
        <p:nvCxnSpPr>
          <p:cNvPr id="18" name="Line 18"/>
          <p:cNvCxnSpPr/>
          <p:nvPr/>
        </p:nvCxnSpPr>
        <p:spPr>
          <a:xfrm>
            <a:off x="8760731" y="1732788"/>
            <a:ext cx="0" cy="2495550"/>
          </a:xfrm>
          <a:prstGeom prst="line">
            <a:avLst/>
          </a:prstGeom>
          <a:ln w="9525" cap="flat">
            <a:solidFill>
              <a:srgbClr val="E6E8F2"/>
            </a:solidFill>
          </a:ln>
        </p:spPr>
      </p:cxnSp>
      <p:cxnSp>
        <p:nvCxnSpPr>
          <p:cNvPr id="19" name="Line 19"/>
          <p:cNvCxnSpPr/>
          <p:nvPr/>
        </p:nvCxnSpPr>
        <p:spPr>
          <a:xfrm>
            <a:off x="9029548" y="1732788"/>
            <a:ext cx="0" cy="2495550"/>
          </a:xfrm>
          <a:prstGeom prst="line">
            <a:avLst/>
          </a:prstGeom>
          <a:ln w="9525" cap="flat">
            <a:solidFill>
              <a:srgbClr val="E6E8F2"/>
            </a:solidFill>
          </a:ln>
        </p:spPr>
      </p:cxnSp>
      <p:cxnSp>
        <p:nvCxnSpPr>
          <p:cNvPr id="20" name="Line 20"/>
          <p:cNvCxnSpPr/>
          <p:nvPr/>
        </p:nvCxnSpPr>
        <p:spPr>
          <a:xfrm>
            <a:off x="6610198" y="4228338"/>
            <a:ext cx="2419350" cy="0"/>
          </a:xfrm>
          <a:prstGeom prst="line">
            <a:avLst/>
          </a:prstGeom>
          <a:ln w="9525" cap="flat">
            <a:solidFill>
              <a:srgbClr val="E6E8F2"/>
            </a:solidFill>
          </a:ln>
        </p:spPr>
      </p:cxnSp>
      <p:cxnSp>
        <p:nvCxnSpPr>
          <p:cNvPr id="21" name="Line 21"/>
          <p:cNvCxnSpPr/>
          <p:nvPr/>
        </p:nvCxnSpPr>
        <p:spPr>
          <a:xfrm>
            <a:off x="6610198" y="3951055"/>
            <a:ext cx="2419350" cy="0"/>
          </a:xfrm>
          <a:prstGeom prst="line">
            <a:avLst/>
          </a:prstGeom>
          <a:ln w="9525" cap="flat">
            <a:solidFill>
              <a:srgbClr val="E6E8F2"/>
            </a:solidFill>
          </a:ln>
        </p:spPr>
      </p:cxnSp>
      <p:cxnSp>
        <p:nvCxnSpPr>
          <p:cNvPr id="22" name="Line 22"/>
          <p:cNvCxnSpPr/>
          <p:nvPr/>
        </p:nvCxnSpPr>
        <p:spPr>
          <a:xfrm>
            <a:off x="6610198" y="3673771"/>
            <a:ext cx="2419350" cy="0"/>
          </a:xfrm>
          <a:prstGeom prst="line">
            <a:avLst/>
          </a:prstGeom>
          <a:ln w="9525" cap="flat">
            <a:solidFill>
              <a:srgbClr val="E6E8F2"/>
            </a:solidFill>
          </a:ln>
        </p:spPr>
      </p:cxnSp>
      <p:cxnSp>
        <p:nvCxnSpPr>
          <p:cNvPr id="23" name="Line 23"/>
          <p:cNvCxnSpPr/>
          <p:nvPr/>
        </p:nvCxnSpPr>
        <p:spPr>
          <a:xfrm>
            <a:off x="6610198" y="3396488"/>
            <a:ext cx="2419350" cy="0"/>
          </a:xfrm>
          <a:prstGeom prst="line">
            <a:avLst/>
          </a:prstGeom>
          <a:ln w="9525" cap="flat">
            <a:solidFill>
              <a:srgbClr val="E6E8F2"/>
            </a:solidFill>
          </a:ln>
        </p:spPr>
      </p:cxnSp>
      <p:cxnSp>
        <p:nvCxnSpPr>
          <p:cNvPr id="24" name="Line 24"/>
          <p:cNvCxnSpPr/>
          <p:nvPr/>
        </p:nvCxnSpPr>
        <p:spPr>
          <a:xfrm>
            <a:off x="6610198" y="3119205"/>
            <a:ext cx="2419350" cy="0"/>
          </a:xfrm>
          <a:prstGeom prst="line">
            <a:avLst/>
          </a:prstGeom>
          <a:ln w="9525" cap="flat">
            <a:solidFill>
              <a:srgbClr val="E6E8F2"/>
            </a:solidFill>
          </a:ln>
        </p:spPr>
      </p:cxnSp>
      <p:cxnSp>
        <p:nvCxnSpPr>
          <p:cNvPr id="25" name="Line 25"/>
          <p:cNvCxnSpPr/>
          <p:nvPr/>
        </p:nvCxnSpPr>
        <p:spPr>
          <a:xfrm>
            <a:off x="6610198" y="2841921"/>
            <a:ext cx="2419350" cy="0"/>
          </a:xfrm>
          <a:prstGeom prst="line">
            <a:avLst/>
          </a:prstGeom>
          <a:ln w="9525" cap="flat">
            <a:solidFill>
              <a:srgbClr val="E6E8F2"/>
            </a:solidFill>
          </a:ln>
        </p:spPr>
      </p:cxnSp>
      <p:cxnSp>
        <p:nvCxnSpPr>
          <p:cNvPr id="26" name="Line 26"/>
          <p:cNvCxnSpPr/>
          <p:nvPr/>
        </p:nvCxnSpPr>
        <p:spPr>
          <a:xfrm>
            <a:off x="6610198" y="2564638"/>
            <a:ext cx="2419350" cy="0"/>
          </a:xfrm>
          <a:prstGeom prst="line">
            <a:avLst/>
          </a:prstGeom>
          <a:ln w="9525" cap="flat">
            <a:solidFill>
              <a:srgbClr val="E6E8F2"/>
            </a:solidFill>
          </a:ln>
        </p:spPr>
      </p:cxnSp>
      <p:cxnSp>
        <p:nvCxnSpPr>
          <p:cNvPr id="27" name="Line 27"/>
          <p:cNvCxnSpPr/>
          <p:nvPr/>
        </p:nvCxnSpPr>
        <p:spPr>
          <a:xfrm>
            <a:off x="6610198" y="2287355"/>
            <a:ext cx="2419350" cy="0"/>
          </a:xfrm>
          <a:prstGeom prst="line">
            <a:avLst/>
          </a:prstGeom>
          <a:ln w="9525" cap="flat">
            <a:solidFill>
              <a:srgbClr val="E6E8F2"/>
            </a:solidFill>
          </a:ln>
        </p:spPr>
      </p:cxnSp>
      <p:cxnSp>
        <p:nvCxnSpPr>
          <p:cNvPr id="28" name="Line 28"/>
          <p:cNvCxnSpPr/>
          <p:nvPr/>
        </p:nvCxnSpPr>
        <p:spPr>
          <a:xfrm>
            <a:off x="6610198" y="2010071"/>
            <a:ext cx="2419350" cy="0"/>
          </a:xfrm>
          <a:prstGeom prst="line">
            <a:avLst/>
          </a:prstGeom>
          <a:ln w="9525" cap="flat">
            <a:solidFill>
              <a:srgbClr val="E6E8F2"/>
            </a:solidFill>
          </a:ln>
        </p:spPr>
      </p:cxnSp>
      <p:cxnSp>
        <p:nvCxnSpPr>
          <p:cNvPr id="29" name="Line 29"/>
          <p:cNvCxnSpPr/>
          <p:nvPr/>
        </p:nvCxnSpPr>
        <p:spPr>
          <a:xfrm>
            <a:off x="6610198" y="1732788"/>
            <a:ext cx="2419350" cy="0"/>
          </a:xfrm>
          <a:prstGeom prst="line">
            <a:avLst/>
          </a:prstGeom>
          <a:ln w="9525" cap="flat">
            <a:solidFill>
              <a:srgbClr val="E6E8F2"/>
            </a:solidFill>
          </a:ln>
        </p:spPr>
      </p:cxnSp>
      <p:cxnSp>
        <p:nvCxnSpPr>
          <p:cNvPr id="30" name="Line 30"/>
          <p:cNvCxnSpPr/>
          <p:nvPr/>
        </p:nvCxnSpPr>
        <p:spPr>
          <a:xfrm>
            <a:off x="7685464" y="1732788"/>
            <a:ext cx="0" cy="2495550"/>
          </a:xfrm>
          <a:prstGeom prst="line">
            <a:avLst/>
          </a:prstGeom>
          <a:ln w="19050" cap="flat">
            <a:solidFill>
              <a:srgbClr val="5F6272"/>
            </a:solidFill>
          </a:ln>
        </p:spPr>
      </p:cxnSp>
      <p:cxnSp>
        <p:nvCxnSpPr>
          <p:cNvPr id="31" name="Line 31"/>
          <p:cNvCxnSpPr/>
          <p:nvPr/>
        </p:nvCxnSpPr>
        <p:spPr>
          <a:xfrm>
            <a:off x="6610198" y="2841921"/>
            <a:ext cx="2419350" cy="0"/>
          </a:xfrm>
          <a:prstGeom prst="line">
            <a:avLst/>
          </a:prstGeom>
          <a:ln w="19050" cap="flat">
            <a:solidFill>
              <a:srgbClr val="5F6272"/>
            </a:solidFill>
          </a:ln>
        </p:spPr>
      </p:cxnSp>
      <p:sp>
        <p:nvSpPr>
          <p:cNvPr id="32" name="Shape 32"/>
          <p:cNvSpPr txBox="1"/>
          <p:nvPr/>
        </p:nvSpPr>
        <p:spPr>
          <a:xfrm>
            <a:off x="6335878"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3" name="Shape 33"/>
          <p:cNvSpPr txBox="1"/>
          <p:nvPr/>
        </p:nvSpPr>
        <p:spPr>
          <a:xfrm>
            <a:off x="6604694"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4" name="Shape 34"/>
          <p:cNvSpPr txBox="1"/>
          <p:nvPr/>
        </p:nvSpPr>
        <p:spPr>
          <a:xfrm>
            <a:off x="6873511"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5" name="Shape 35"/>
          <p:cNvSpPr txBox="1"/>
          <p:nvPr/>
        </p:nvSpPr>
        <p:spPr>
          <a:xfrm>
            <a:off x="7142328"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6" name="Shape 36"/>
          <p:cNvSpPr txBox="1"/>
          <p:nvPr/>
        </p:nvSpPr>
        <p:spPr>
          <a:xfrm>
            <a:off x="7411144"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7" name="Shape 37"/>
          <p:cNvSpPr txBox="1"/>
          <p:nvPr/>
        </p:nvSpPr>
        <p:spPr>
          <a:xfrm>
            <a:off x="7679961"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8" name="Shape 38"/>
          <p:cNvSpPr txBox="1"/>
          <p:nvPr/>
        </p:nvSpPr>
        <p:spPr>
          <a:xfrm>
            <a:off x="7948778"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8217594"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0" name="Shape 40"/>
          <p:cNvSpPr txBox="1"/>
          <p:nvPr/>
        </p:nvSpPr>
        <p:spPr>
          <a:xfrm>
            <a:off x="8486411"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1" name="Shape 41"/>
          <p:cNvSpPr txBox="1"/>
          <p:nvPr/>
        </p:nvSpPr>
        <p:spPr>
          <a:xfrm>
            <a:off x="8755228"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2" name="Shape 42"/>
          <p:cNvSpPr txBox="1"/>
          <p:nvPr/>
        </p:nvSpPr>
        <p:spPr>
          <a:xfrm>
            <a:off x="6043270" y="4136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43" name="Shape 43"/>
          <p:cNvSpPr txBox="1"/>
          <p:nvPr/>
        </p:nvSpPr>
        <p:spPr>
          <a:xfrm>
            <a:off x="6043270" y="385961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6043270" y="358233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45" name="Shape 45"/>
          <p:cNvSpPr txBox="1"/>
          <p:nvPr/>
        </p:nvSpPr>
        <p:spPr>
          <a:xfrm>
            <a:off x="6043270" y="3305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6043270" y="30277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7" name="Shape 47"/>
          <p:cNvSpPr txBox="1"/>
          <p:nvPr/>
        </p:nvSpPr>
        <p:spPr>
          <a:xfrm>
            <a:off x="6043270" y="275048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6043270" y="24731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9" name="Shape 49"/>
          <p:cNvSpPr txBox="1"/>
          <p:nvPr/>
        </p:nvSpPr>
        <p:spPr>
          <a:xfrm>
            <a:off x="6043270" y="219591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0" name="Shape 50"/>
          <p:cNvSpPr txBox="1"/>
          <p:nvPr/>
        </p:nvSpPr>
        <p:spPr>
          <a:xfrm>
            <a:off x="6043270" y="191863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51" name="Shape 51"/>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cxnSp>
        <p:nvCxnSpPr>
          <p:cNvPr id="52" name="Line 52"/>
          <p:cNvCxnSpPr/>
          <p:nvPr/>
        </p:nvCxnSpPr>
        <p:spPr>
          <a:xfrm>
            <a:off x="6610198" y="3119205"/>
            <a:ext cx="2419350" cy="0"/>
          </a:xfrm>
          <a:prstGeom prst="line">
            <a:avLst/>
          </a:prstGeom>
          <a:ln w="38100" cap="rnd">
            <a:solidFill>
              <a:srgbClr val="16171D"/>
            </a:solidFill>
          </a:ln>
        </p:spPr>
      </p:cxnSp>
      <p:sp>
        <p:nvSpPr>
          <p:cNvPr id="53" name="Shape 53"/>
          <p:cNvSpPr txBox="1"/>
          <p:nvPr/>
        </p:nvSpPr>
        <p:spPr>
          <a:xfrm>
            <a:off x="6537808" y="3138255"/>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−1</a:t>
            </a:r>
            <a:endParaRPr lang="en-US" sz="1275" dirty="0"/>
          </a:p>
        </p:txBody>
      </p:sp>
      <p:cxnSp>
        <p:nvCxnSpPr>
          <p:cNvPr id="54" name="Line 54"/>
          <p:cNvCxnSpPr/>
          <p:nvPr/>
        </p:nvCxnSpPr>
        <p:spPr>
          <a:xfrm flipV="1">
            <a:off x="8223098" y="1732788"/>
            <a:ext cx="0" cy="2495550"/>
          </a:xfrm>
          <a:prstGeom prst="line">
            <a:avLst/>
          </a:prstGeom>
          <a:ln w="38100" cap="rnd">
            <a:solidFill>
              <a:srgbClr val="7A4FC4"/>
            </a:solidFill>
          </a:ln>
        </p:spPr>
      </p:cxnSp>
      <p:sp>
        <p:nvSpPr>
          <p:cNvPr id="55" name="Shape 55"/>
          <p:cNvSpPr txBox="1"/>
          <p:nvPr/>
        </p:nvSpPr>
        <p:spPr>
          <a:xfrm>
            <a:off x="5731358"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x = 2</a:t>
            </a:r>
            <a:endParaRPr lang="en-US" sz="1275" dirty="0"/>
          </a:p>
        </p:txBody>
      </p:sp>
      <p:sp>
        <p:nvSpPr>
          <p:cNvPr id="56" name="Shape 56"/>
          <p:cNvSpPr/>
          <p:nvPr/>
        </p:nvSpPr>
        <p:spPr>
          <a:xfrm>
            <a:off x="8170710" y="306681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8308823" y="287155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−1)</a:t>
            </a:r>
            <a:endParaRPr lang="en-US" sz="1125" dirty="0"/>
          </a:p>
        </p:txBody>
      </p:sp>
      <p:sp>
        <p:nvSpPr>
          <p:cNvPr id="58" name="Slide Number 5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19" presetID="22" presetClass="entr" presetSubtype="8" fill="hold" nodeType="click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wipe(left)">
                                      <p:cBhvr>
                                        <p:cTn id="18" dur="700"/>
                                        <p:tgtEl>
                                          <p:spTgt spid="52"/>
                                        </p:tgtEl>
                                      </p:cBhvr>
                                    </p:animEffect>
                                  </p:childTnLst>
                                </p:cTn>
                              </p:par>
                              <p:par>
                                <p:cTn id="22" presetID="22" presetClass="entr" presetSubtype="8" fill="hold" nodeType="withEffect">
                                  <p:stCondLst>
                                    <p:cond delay="0"/>
                                  </p:stCondLst>
                                  <p:childTnLst>
                                    <p:set>
                                      <p:cBhvr>
                                        <p:cTn id="20" dur="1" fill="hold">
                                          <p:stCondLst>
                                            <p:cond delay="0"/>
                                          </p:stCondLst>
                                        </p:cTn>
                                        <p:tgtEl>
                                          <p:spTgt spid="53"/>
                                        </p:tgtEl>
                                        <p:attrNameLst>
                                          <p:attrName>style.visibility</p:attrName>
                                        </p:attrNameLst>
                                      </p:cBhvr>
                                      <p:to>
                                        <p:strVal val="visible"/>
                                      </p:to>
                                    </p:set>
                                    <p:animEffect transition="in" filter="wipe(left)">
                                      <p:cBhvr>
                                        <p:cTn id="21" dur="700"/>
                                        <p:tgtEl>
                                          <p:spTgt spid="53"/>
                                        </p:tgtEl>
                                      </p:cBhvr>
                                    </p:animEffect>
                                  </p:childTnLst>
                                </p:cTn>
                              </p:par>
                            </p:childTnLst>
                          </p:cTn>
                        </p:par>
                      </p:childTnLst>
                    </p:cTn>
                  </p:par>
                  <p:par>
                    <p:cTn id="31" fill="hold">
                      <p:stCondLst>
                        <p:cond delay="indefinite"/>
                      </p:stCondLst>
                      <p:childTnLst>
                        <p:par>
                          <p:cTn id="32" fill="hold">
                            <p:stCondLst>
                              <p:cond delay="0"/>
                            </p:stCondLst>
                            <p:childTnLst>
                              <p:par>
                                <p:cTn id="27" presetID="22" presetClass="entr" presetSubtype="8" fill="hold" nodeType="click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wipe(left)">
                                      <p:cBhvr>
                                        <p:cTn id="26" dur="700"/>
                                        <p:tgtEl>
                                          <p:spTgt spid="54"/>
                                        </p:tgtEl>
                                      </p:cBhvr>
                                    </p:animEffect>
                                  </p:childTnLst>
                                </p:cTn>
                              </p:par>
                              <p:par>
                                <p:cTn id="30" presetID="22" presetClass="entr" presetSubtype="8" fill="hold" nodeType="withEffect">
                                  <p:stCondLst>
                                    <p:cond delay="0"/>
                                  </p:stCondLst>
                                  <p:childTnLst>
                                    <p:set>
                                      <p:cBhvr>
                                        <p:cTn id="28" dur="1" fill="hold">
                                          <p:stCondLst>
                                            <p:cond delay="0"/>
                                          </p:stCondLst>
                                        </p:cTn>
                                        <p:tgtEl>
                                          <p:spTgt spid="55"/>
                                        </p:tgtEl>
                                        <p:attrNameLst>
                                          <p:attrName>style.visibility</p:attrName>
                                        </p:attrNameLst>
                                      </p:cBhvr>
                                      <p:to>
                                        <p:strVal val="visible"/>
                                      </p:to>
                                    </p:set>
                                    <p:animEffect transition="in" filter="wipe(left)">
                                      <p:cBhvr>
                                        <p:cTn id="29" dur="7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Write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 through (6, 2)</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1: given slope 2. Step 2: new slope:</a:t>
            </a:r>
            <a:endParaRPr lang="en-US" sz="1950" dirty="0"/>
          </a:p>
        </p:txBody>
      </p:sp>
      <p:sp>
        <p:nvSpPr>
          <p:cNvPr id="5" name="Shape 5"/>
          <p:cNvSpPr txBox="1"/>
          <p:nvPr/>
        </p:nvSpPr>
        <p:spPr>
          <a:xfrm>
            <a:off x="685800" y="214198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6" name="Shape 6"/>
          <p:cNvSpPr txBox="1"/>
          <p:nvPr/>
        </p:nvSpPr>
        <p:spPr>
          <a:xfrm>
            <a:off x="685800" y="28323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3: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− 2 = −</a:t>
            </a:r>
            <a:r>
              <a:rPr lang="en-US" sz="1950" dirty="0">
                <a:solidFill>
                  <a:srgbClr val="16171D"/>
                </a:solidFill>
                <a:latin typeface="Segoe UI"/>
                <a:cs typeface="Segoe UI"/>
              </a:rPr>
              <a:t xml:space="preserve">1</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− 6)</a:t>
            </a:r>
            <a:endParaRPr lang="en-US" sz="1950" dirty="0"/>
          </a:p>
        </p:txBody>
      </p:sp>
      <p:sp>
        <p:nvSpPr>
          <p:cNvPr id="7" name="Shape 7"/>
          <p:cNvSpPr txBox="1"/>
          <p:nvPr/>
        </p:nvSpPr>
        <p:spPr>
          <a:xfrm>
            <a:off x="685800" y="335584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4: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− 2 = −</a:t>
            </a:r>
            <a:r>
              <a:rPr lang="en-US" sz="1950" dirty="0">
                <a:solidFill>
                  <a:srgbClr val="16171D"/>
                </a:solidFill>
                <a:latin typeface="Segoe UI"/>
                <a:cs typeface="Segoe UI"/>
              </a:rPr>
              <a:t xml:space="preserve">1</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8" name="Shape 8"/>
          <p:cNvSpPr txBox="1"/>
          <p:nvPr/>
        </p:nvSpPr>
        <p:spPr>
          <a:xfrm>
            <a:off x="685800" y="387934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9" name="Slide Number 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3</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through (3, 1)</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New slope: ____</a:t>
            </a:r>
            <a:endParaRPr lang="en-US" sz="1950" dirty="0"/>
          </a:p>
        </p:txBody>
      </p:sp>
      <p:sp>
        <p:nvSpPr>
          <p:cNvPr id="5" name="Shape 5"/>
          <p:cNvSpPr txBox="1"/>
          <p:nvPr/>
        </p:nvSpPr>
        <p:spPr>
          <a:xfrm>
            <a:off x="685800" y="214198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685800" y="28323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− 1 = ____(</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7" name="Shape 7"/>
          <p:cNvSpPr txBox="1"/>
          <p:nvPr/>
        </p:nvSpPr>
        <p:spPr>
          <a:xfrm>
            <a:off x="685800" y="3355848"/>
            <a:ext cx="506376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8" name="Shape 8"/>
          <p:cNvSpPr txBox="1"/>
          <p:nvPr/>
        </p:nvSpPr>
        <p:spPr>
          <a:xfrm>
            <a:off x="685800" y="404622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____</a:t>
            </a:r>
            <a:endParaRPr lang="en-US" sz="1950" dirty="0"/>
          </a:p>
        </p:txBody>
      </p:sp>
      <p:sp>
        <p:nvSpPr>
          <p:cNvPr id="9" name="Shape 9"/>
          <p:cNvSpPr txBox="1"/>
          <p:nvPr/>
        </p:nvSpPr>
        <p:spPr>
          <a:xfrm>
            <a:off x="685800" y="4569714"/>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3</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through (3, 1)</a:t>
            </a:r>
            <a:endParaRPr lang="en-US" sz="3450" dirty="0"/>
          </a:p>
        </p:txBody>
      </p:sp>
      <p:sp>
        <p:nvSpPr>
          <p:cNvPr id="11" name="Shape 11"/>
          <p:cNvSpPr txBox="1"/>
          <p:nvPr/>
        </p:nvSpPr>
        <p:spPr>
          <a:xfrm>
            <a:off x="685800" y="1618488"/>
            <a:ext cx="10820095" cy="328269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104009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Write the perpendicular line</a:t>
            </a:r>
            <a:endParaRPr lang="en-US" sz="2100" dirty="0"/>
          </a:p>
        </p:txBody>
      </p:sp>
      <p:sp>
        <p:nvSpPr>
          <p:cNvPr id="5" name="Shape 5"/>
          <p:cNvSpPr txBox="1"/>
          <p:nvPr/>
        </p:nvSpPr>
        <p:spPr>
          <a:xfrm>
            <a:off x="895350" y="2260092"/>
            <a:ext cx="104009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The given slope is the number with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3.</a:t>
            </a:r>
            <a:endParaRPr lang="en-US" sz="1575" dirty="0"/>
          </a:p>
        </p:txBody>
      </p:sp>
      <p:sp>
        <p:nvSpPr>
          <p:cNvPr id="6" name="Shape 6"/>
          <p:cNvSpPr txBox="1"/>
          <p:nvPr/>
        </p:nvSpPr>
        <p:spPr>
          <a:xfrm>
            <a:off x="895350" y="2650236"/>
            <a:ext cx="104009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3 = </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 Flip it to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 then change the sign: the new slope is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895350" y="3040380"/>
            <a:ext cx="104009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Put </a:t>
            </a:r>
            <a:r>
              <a:rPr lang="en-US" sz="1575" dirty="0" i="1">
                <a:solidFill>
                  <a:srgbClr val="16171D"/>
                </a:solidFill>
                <a:latin typeface="Segoe UI"/>
                <a:cs typeface="Segoe UI"/>
              </a:rPr>
              <a:t xml:space="preserve">m</a:t>
            </a:r>
            <a:r>
              <a:rPr lang="en-US" sz="1575" dirty="0">
                <a:solidFill>
                  <a:srgbClr val="16171D"/>
                </a:solidFill>
                <a:latin typeface="Segoe UI"/>
                <a:cs typeface="Segoe UI"/>
              </a:rPr>
              <a:t xml:space="preserve">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 = 3, </a:t>
            </a:r>
            <a:r>
              <a:rPr lang="en-US" sz="1575" dirty="0" i="1">
                <a:solidFill>
                  <a:srgbClr val="16171D"/>
                </a:solidFill>
                <a:latin typeface="Segoe UI"/>
                <a:cs typeface="Segoe UI"/>
              </a:rPr>
              <a:t xml:space="preserve">y</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 = 1 into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y</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m</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x</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− 1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− 3).</a:t>
            </a:r>
            <a:endParaRPr lang="en-US" sz="1575" dirty="0"/>
          </a:p>
        </p:txBody>
      </p:sp>
      <p:sp>
        <p:nvSpPr>
          <p:cNvPr id="8" name="Shape 8"/>
          <p:cNvSpPr txBox="1"/>
          <p:nvPr/>
        </p:nvSpPr>
        <p:spPr>
          <a:xfrm>
            <a:off x="895350" y="3430524"/>
            <a:ext cx="104009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4.</a:t>
            </a:r>
            <a:r>
              <a:rPr lang="en-US" sz="1575" dirty="0">
                <a:solidFill>
                  <a:srgbClr val="16171D"/>
                </a:solidFill>
                <a:latin typeface="Segoe UI"/>
                <a:cs typeface="Segoe UI"/>
              </a:rPr>
              <a:t xml:space="preserve"> Distribute: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and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 · (−3) = +1. Now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− 1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+ 1.</a:t>
            </a:r>
            <a:endParaRPr lang="en-US" sz="1575" dirty="0"/>
          </a:p>
        </p:txBody>
      </p:sp>
      <p:sp>
        <p:nvSpPr>
          <p:cNvPr id="9" name="Shape 9"/>
          <p:cNvSpPr txBox="1"/>
          <p:nvPr/>
        </p:nvSpPr>
        <p:spPr>
          <a:xfrm>
            <a:off x="895350" y="3820668"/>
            <a:ext cx="104009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5.</a:t>
            </a:r>
            <a:r>
              <a:rPr lang="en-US" sz="1575" dirty="0">
                <a:solidFill>
                  <a:srgbClr val="16171D"/>
                </a:solidFill>
                <a:latin typeface="Segoe UI"/>
                <a:cs typeface="Segoe UI"/>
              </a:rPr>
              <a:t xml:space="preserve"> Add 1 to both sides to get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alone: 1 + 1 = 2.</a:t>
            </a:r>
            <a:endParaRPr lang="en-US" sz="1575" dirty="0"/>
          </a:p>
        </p:txBody>
      </p:sp>
      <p:sp>
        <p:nvSpPr>
          <p:cNvPr id="10" name="Shape 10"/>
          <p:cNvSpPr txBox="1"/>
          <p:nvPr/>
        </p:nvSpPr>
        <p:spPr>
          <a:xfrm>
            <a:off x="895350" y="421081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p:cTn id="40" dur="500" fill="hold"/>
                                        <p:tgtEl>
                                          <p:spTgt spid="10"/>
                                        </p:tgtEl>
                                        <p:attrNameLst>
                                          <p:attrName>ppt_w</p:attrName>
                                        </p:attrNameLst>
                                      </p:cBhvr>
                                      <p:tavLst>
                                        <p:tav tm="0">
                                          <p:val>
                                            <p:fltVal val="0"/>
                                          </p:val>
                                        </p:tav>
                                        <p:tav tm="100000">
                                          <p:val>
                                            <p:strVal val="#ppt_w"/>
                                          </p:val>
                                        </p:tav>
                                      </p:tavLst>
                                    </p:anim>
                                    <p:anim calcmode="lin" valueType="num">
                                      <p:cBhvr>
                                        <p:cTn id="41"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9" name="Shape 9"/>
          <p:cNvSpPr txBox="1"/>
          <p:nvPr/>
        </p:nvSpPr>
        <p:spPr>
          <a:xfrm>
            <a:off x="685800" y="1618488"/>
            <a:ext cx="3479698" cy="277672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605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What slope is perpendicular to </a:t>
            </a:r>
            <a:r>
              <a:rPr lang="en-US" sz="1950" dirty="0">
                <a:solidFill>
                  <a:srgbClr val="16171D"/>
                </a:solidFill>
                <a:latin typeface="Segoe UI"/>
                <a:cs typeface="Segoe UI"/>
              </a:rPr>
              <a:t xml:space="preserve">3</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4</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895350" y="253441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895350" y="3148584"/>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Flip 3/4: 4/3.</a:t>
            </a:r>
            <a:endParaRPr lang="en-US" sz="1575" dirty="0"/>
          </a:p>
        </p:txBody>
      </p:sp>
      <p:sp>
        <p:nvSpPr>
          <p:cNvPr id="7" name="Shape 7"/>
          <p:cNvSpPr txBox="1"/>
          <p:nvPr/>
        </p:nvSpPr>
        <p:spPr>
          <a:xfrm>
            <a:off x="895350" y="3538728"/>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Change the sign: −4/3.</a:t>
            </a:r>
            <a:endParaRPr lang="en-US" sz="1575" dirty="0"/>
          </a:p>
        </p:txBody>
      </p:sp>
      <p:sp>
        <p:nvSpPr>
          <p:cNvPr id="8" name="Shape 8"/>
          <p:cNvSpPr txBox="1"/>
          <p:nvPr/>
        </p:nvSpPr>
        <p:spPr>
          <a:xfrm>
            <a:off x="895350" y="3928872"/>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Check: 3/4 · (−4/3) = −1.</a:t>
            </a:r>
            <a:endParaRPr lang="en-US" sz="1575" dirty="0"/>
          </a:p>
        </p:txBody>
      </p:sp>
      <p:sp>
        <p:nvSpPr>
          <p:cNvPr id="14" name="Shape 14"/>
          <p:cNvSpPr txBox="1"/>
          <p:nvPr/>
        </p:nvSpPr>
        <p:spPr>
          <a:xfrm>
            <a:off x="4355998" y="1618488"/>
            <a:ext cx="3479698" cy="286664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4565548" y="1789938"/>
            <a:ext cx="30605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the vertical line through (5, 6).</a:t>
            </a:r>
            <a:endParaRPr lang="en-US" sz="1950" dirty="0"/>
          </a:p>
        </p:txBody>
      </p:sp>
      <p:sp>
        <p:nvSpPr>
          <p:cNvPr id="11" name="Shape 11"/>
          <p:cNvSpPr txBox="1"/>
          <p:nvPr/>
        </p:nvSpPr>
        <p:spPr>
          <a:xfrm>
            <a:off x="4565548" y="253441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2" name="Shape 12"/>
          <p:cNvSpPr txBox="1"/>
          <p:nvPr/>
        </p:nvSpPr>
        <p:spPr>
          <a:xfrm>
            <a:off x="4565548" y="3148584"/>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On a vertical line, x never changes.</a:t>
            </a:r>
            <a:endParaRPr lang="en-US" sz="1575" dirty="0"/>
          </a:p>
        </p:txBody>
      </p:sp>
      <p:sp>
        <p:nvSpPr>
          <p:cNvPr id="13" name="Shape 13"/>
          <p:cNvSpPr txBox="1"/>
          <p:nvPr/>
        </p:nvSpPr>
        <p:spPr>
          <a:xfrm>
            <a:off x="4565548" y="3778758"/>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The point has x = 5, so the line is x = 5.</a:t>
            </a:r>
            <a:endParaRPr lang="en-US" sz="1575" dirty="0"/>
          </a:p>
        </p:txBody>
      </p:sp>
      <p:sp>
        <p:nvSpPr>
          <p:cNvPr id="20" name="Shape 20"/>
          <p:cNvSpPr txBox="1"/>
          <p:nvPr/>
        </p:nvSpPr>
        <p:spPr>
          <a:xfrm>
            <a:off x="8026197" y="1618488"/>
            <a:ext cx="3479698" cy="361111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5" name="Shape 15"/>
          <p:cNvSpPr txBox="1"/>
          <p:nvPr/>
        </p:nvSpPr>
        <p:spPr>
          <a:xfrm>
            <a:off x="8235747" y="1789938"/>
            <a:ext cx="30605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Write the line ⊥ to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through (0, 3).</a:t>
            </a:r>
            <a:endParaRPr lang="en-US" sz="1950" dirty="0"/>
          </a:p>
        </p:txBody>
      </p:sp>
      <p:sp>
        <p:nvSpPr>
          <p:cNvPr id="16" name="Shape 16"/>
          <p:cNvSpPr txBox="1"/>
          <p:nvPr/>
        </p:nvSpPr>
        <p:spPr>
          <a:xfrm>
            <a:off x="8235747" y="2534412"/>
            <a:ext cx="30605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7" name="Shape 17"/>
          <p:cNvSpPr txBox="1"/>
          <p:nvPr/>
        </p:nvSpPr>
        <p:spPr>
          <a:xfrm>
            <a:off x="8235747" y="3502914"/>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The slope of y = −x is −1.</a:t>
            </a:r>
            <a:endParaRPr lang="en-US" sz="1575" dirty="0"/>
          </a:p>
        </p:txBody>
      </p:sp>
      <p:sp>
        <p:nvSpPr>
          <p:cNvPr id="18" name="Shape 18"/>
          <p:cNvSpPr txBox="1"/>
          <p:nvPr/>
        </p:nvSpPr>
        <p:spPr>
          <a:xfrm>
            <a:off x="8235747" y="3893058"/>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Flip and change the sign: −1 becomes 1.</a:t>
            </a:r>
            <a:endParaRPr lang="en-US" sz="1575" dirty="0"/>
          </a:p>
        </p:txBody>
      </p:sp>
      <p:sp>
        <p:nvSpPr>
          <p:cNvPr id="19" name="Shape 19"/>
          <p:cNvSpPr txBox="1"/>
          <p:nvPr/>
        </p:nvSpPr>
        <p:spPr>
          <a:xfrm>
            <a:off x="8235747" y="4523232"/>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(0, 3) is on the y-axis, so b = 3: y = x + 3.</a:t>
            </a:r>
            <a:endParaRPr lang="en-US" sz="1575" dirty="0"/>
          </a:p>
        </p:txBody>
      </p:sp>
      <p:sp>
        <p:nvSpPr>
          <p:cNvPr id="21" name="Slide Number 21"/>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anim calcmode="lin" valueType="num">
                                      <p:cBhvr>
                                        <p:cTn id="54" dur="500" fill="hold"/>
                                        <p:tgtEl>
                                          <p:spTgt spid="16"/>
                                        </p:tgtEl>
                                        <p:attrNameLst>
                                          <p:attrName>ppt_w</p:attrName>
                                        </p:attrNameLst>
                                      </p:cBhvr>
                                      <p:tavLst>
                                        <p:tav tm="0">
                                          <p:val>
                                            <p:fltVal val="0"/>
                                          </p:val>
                                        </p:tav>
                                        <p:tav tm="100000">
                                          <p:val>
                                            <p:strVal val="#ppt_w"/>
                                          </p:val>
                                        </p:tav>
                                      </p:tavLst>
                                    </p:anim>
                                    <p:anim calcmode="lin" valueType="num">
                                      <p:cBhvr>
                                        <p:cTn id="55"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anim calcmode="lin" valueType="num">
                                      <p:cBhvr>
                                        <p:cTn id="61" dur="500" fill="hold"/>
                                        <p:tgtEl>
                                          <p:spTgt spid="17"/>
                                        </p:tgtEl>
                                        <p:attrNameLst>
                                          <p:attrName>ppt_x</p:attrName>
                                        </p:attrNameLst>
                                      </p:cBhvr>
                                      <p:tavLst>
                                        <p:tav tm="0">
                                          <p:val>
                                            <p:strVal val="#ppt_x"/>
                                          </p:val>
                                        </p:tav>
                                        <p:tav tm="100000">
                                          <p:val>
                                            <p:strVal val="#ppt_x"/>
                                          </p:val>
                                        </p:tav>
                                      </p:tavLst>
                                    </p:anim>
                                    <p:anim calcmode="lin" valueType="num">
                                      <p:cBhvr>
                                        <p:cTn id="62"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anim calcmode="lin" valueType="num">
                                      <p:cBhvr>
                                        <p:cTn id="68" dur="500" fill="hold"/>
                                        <p:tgtEl>
                                          <p:spTgt spid="18"/>
                                        </p:tgtEl>
                                        <p:attrNameLst>
                                          <p:attrName>ppt_x</p:attrName>
                                        </p:attrNameLst>
                                      </p:cBhvr>
                                      <p:tavLst>
                                        <p:tav tm="0">
                                          <p:val>
                                            <p:strVal val="#ppt_x"/>
                                          </p:val>
                                        </p:tav>
                                        <p:tav tm="100000">
                                          <p:val>
                                            <p:strVal val="#ppt_x"/>
                                          </p:val>
                                        </p:tav>
                                      </p:tavLst>
                                    </p:anim>
                                    <p:anim calcmode="lin" valueType="num">
                                      <p:cBhvr>
                                        <p:cTn id="6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anim calcmode="lin" valueType="num">
                                      <p:cBhvr>
                                        <p:cTn id="75" dur="500" fill="hold"/>
                                        <p:tgtEl>
                                          <p:spTgt spid="19"/>
                                        </p:tgtEl>
                                        <p:attrNameLst>
                                          <p:attrName>ppt_x</p:attrName>
                                        </p:attrNameLst>
                                      </p:cBhvr>
                                      <p:tavLst>
                                        <p:tav tm="0">
                                          <p:val>
                                            <p:strVal val="#ppt_x"/>
                                          </p:val>
                                        </p:tav>
                                        <p:tav tm="100000">
                                          <p:val>
                                            <p:strVal val="#ppt_x"/>
                                          </p:val>
                                        </p:tav>
                                      </p:tavLst>
                                    </p:anim>
                                    <p:anim calcmode="lin" valueType="num">
                                      <p:cBhvr>
                                        <p:cTn id="76"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3 · End of Day 2</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Monday, November 2</a:t>
            </a:r>
            <a:endParaRPr lang="en-US" sz="8250" dirty="0"/>
          </a:p>
        </p:txBody>
      </p:sp>
      <p:sp>
        <p:nvSpPr>
          <p:cNvPr id="4" name="Shape 4"/>
          <p:cNvSpPr txBox="1"/>
          <p:nvPr/>
        </p:nvSpPr>
        <p:spPr>
          <a:xfrm>
            <a:off x="685800" y="52532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Tuesday, November 3. Open the Lesson 4 deck.</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4" name="Shape 4"/>
          <p:cNvSpPr txBox="1"/>
          <p:nvPr/>
        </p:nvSpPr>
        <p:spPr>
          <a:xfrm>
            <a:off x="685800" y="167563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5" name="Shape 5"/>
          <p:cNvSpPr txBox="1"/>
          <p:nvPr/>
        </p:nvSpPr>
        <p:spPr>
          <a:xfrm>
            <a:off x="685800" y="2176272"/>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IEP pages have 3 answer choices, 6 homework and quiz questions, a reminder card and read-aloud. Allow notes and a calculator, and give extended time as the IEP lists.</a:t>
            </a:r>
            <a:endParaRPr lang="en-US" sz="1575"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Tree>
  </p:cSld>
  <p:clrMapOvr>
    <a:masterClrMapping/>
  </p:clrMapOvr>
  <p:transition spd="med">
    <p:fade/>
  </p:transition>
</p:sld>
</file>

<file path=ppt/theme/theme1.xml><?xml version="1.0" encoding="utf-8"?>
<a:theme xmlns:a="http://schemas.openxmlformats.org/drawingml/2006/main" name="Determining Slopes of Perpendicular Lin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25</Slides>
  <Notes>25</Notes>
</Properties>
</file>

<file path=docProps/core.xml><?xml version="1.0" encoding="utf-8"?>
<cp:coreProperties xmlns:cp="http://schemas.openxmlformats.org/package/2006/metadata/core-properties" xmlns:dc="http://purl.org/dc/elements/1.1/">
  <dc:title>Determining Slopes of Perpendicular Lines</dc:title>
  <dc:subject>Bluebonnet Algebra I</dc:subject>
</cp:coreProperties>
</file>