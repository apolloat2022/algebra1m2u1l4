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
  </p:notesMasterIdLst>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theme" Target="theme/theme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ableStyles" Target="tableStyles.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 Id="rId26"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Notes</a:t>
            </a: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400" kern="1200">
        <a:solidFill>
          <a:schemeClr val="tx1"/>
        </a:solidFill>
        <a:latin typeface="+mn-lt"/>
        <a:ea typeface="+mn-ea"/>
        <a:cs typeface="+mn-cs"/>
      </a:defRPr>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IEP version of Topic 2 Lesson 1: a modified lesson that keeps the core skills and cuts the number of items. Each skill follows I do (teacher models), We do (together, with sentence frames), You do (student tries, then reveal). Click to reveal each answer. The bell work for every day follows this slide (the same questions as the online bell work); skip to the current day. Apply each student's IEP accommodations too: extended time, read-aloud, breaks, calculator, small group.</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this up as students walk in (about 5 minutes). The same 4 questions are on the online IEP Day 1 bell work, which shows the same formula under each question and these steps after each answer. Click to reveal one answer at a time; read each step aloud and point to where the formula is used.</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this up as students walk in (about 5 minutes). The same 4 questions are on the online IEP Day 2 bell work, which shows the same formula under each question and these steps after each answer. Click to reveal one answer at a time; read each step aloud and point to where the formula is used.</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this up as students walk in (about 5 minutes). The same 4 questions are on the online IEP Day 3 bell work, which shows the same formula under each question and these steps after each answer. Click to reveal one answer at a time; read each step aloud and point to where the formula is used.</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word aloud. Students copy them onto their vocabulary card.</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slide up, or give students a printed copy, while they work.</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once for each blue arrow: point to a black point on f(x), count up 5 squares, and land on the blue point. Then the blue line p(x) appears through the moved points. Fill in the table the same way: + 5 to each output. The lines are parallel.</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fill in the blanks on their paper first, then reveal. On the graph, each click moves one point down 4: count 4 squares down from the black point to the blue point. Then the blue line r(x) appears.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lines pass through (0, 0): multiplying 0 gives 0.</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teacher or assistant: click once for each step. Read the step aloud, and before each click ask the student what to do next. Students check their own paper and fix any mistake in a different color.</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Parallel lines have the same slope; only b changes.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teacher or assistant: click once for each step. Read the step aloud, and before each click ask the student what to do next. Students check their own paper and fix any mistake in a different color.</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time to try all items before revealing. Students may use the steps slide and their notes.</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lgGrid">
          <a:fgClr>
            <a:srgbClr val="E6E8F2"/>
          </a:fgClr>
          <a:bgClr>
            <a:srgbClr val="F7F7FB"/>
          </a:bgClr>
        </a:pattFill>
        <a:effectLst/>
      </p:bgPr>
    </p:bg>
    <p:spTree>
      <p:nvGrpSpPr>
        <p:cNvPr id="1" name=""/>
        <p:cNvGrpSpPr/>
        <p:nvPr/>
      </p:nvGrpSpPr>
      <p:grpSpPr>
        <a:xfrm>
          <a:off x="0" y="0"/>
          <a:ext cx="0" cy="0"/>
          <a:chOff x="0" y="0"/>
          <a:chExt cx="0" cy="0"/>
        </a:xfrm>
      </p:grpSpPr>
      <p:sp>
        <p:nvSpPr>
          <p:cNvPr id="101" name="Brand 101"/>
          <p:cNvSpPr/>
          <p:nvPr userDrawn="1"/>
        </p:nvSpPr>
        <p:spPr>
          <a:xfrm>
            <a:off x="9631375" y="128016"/>
            <a:ext cx="274320" cy="274320"/>
          </a:xfrm>
          <a:prstGeom prst="roundRect">
            <a:avLst>
              <a:gd name="adj" fmla="val 25000"/>
            </a:avLst>
          </a:prstGeom>
          <a:solidFill>
            <a:srgbClr val="3050B8"/>
          </a:solidFill>
          <a:ln>
            <a:noFill/>
          </a:ln>
        </p:spPr>
      </p:sp>
      <p:sp>
        <p:nvSpPr>
          <p:cNvPr id="102" name="Brand 102"/>
          <p:cNvSpPr/>
          <p:nvPr userDrawn="1"/>
        </p:nvSpPr>
        <p:spPr>
          <a:xfrm>
            <a:off x="9748818" y="172593"/>
            <a:ext cx="39434" cy="39434"/>
          </a:xfrm>
          <a:prstGeom prst="ellipse">
            <a:avLst/>
          </a:prstGeom>
          <a:solidFill>
            <a:srgbClr val="FFFFFF"/>
          </a:solidFill>
          <a:ln>
            <a:noFill/>
          </a:ln>
        </p:spPr>
      </p:sp>
      <p:sp>
        <p:nvSpPr>
          <p:cNvPr id="103" name="Brand 103"/>
          <p:cNvSpPr/>
          <p:nvPr userDrawn="1"/>
        </p:nvSpPr>
        <p:spPr>
          <a:xfrm>
            <a:off x="9719672" y="207740"/>
            <a:ext cx="42862" cy="42862"/>
          </a:xfrm>
          <a:prstGeom prst="ellipse">
            <a:avLst/>
          </a:prstGeom>
          <a:solidFill>
            <a:srgbClr val="FFFFFF">
              <a:alpha val="92000"/>
            </a:srgbClr>
          </a:solidFill>
          <a:ln>
            <a:noFill/>
          </a:ln>
        </p:spPr>
      </p:sp>
      <p:sp>
        <p:nvSpPr>
          <p:cNvPr id="104" name="Brand 104"/>
          <p:cNvSpPr/>
          <p:nvPr userDrawn="1"/>
        </p:nvSpPr>
        <p:spPr>
          <a:xfrm>
            <a:off x="9774536" y="207740"/>
            <a:ext cx="42862" cy="42862"/>
          </a:xfrm>
          <a:prstGeom prst="ellipse">
            <a:avLst/>
          </a:prstGeom>
          <a:solidFill>
            <a:srgbClr val="FFFFFF">
              <a:alpha val="92000"/>
            </a:srgbClr>
          </a:solidFill>
          <a:ln>
            <a:noFill/>
          </a:ln>
        </p:spPr>
      </p:sp>
      <p:sp>
        <p:nvSpPr>
          <p:cNvPr id="105" name="Brand 105"/>
          <p:cNvSpPr/>
          <p:nvPr userDrawn="1"/>
        </p:nvSpPr>
        <p:spPr>
          <a:xfrm>
            <a:off x="9746247" y="230886"/>
            <a:ext cx="44577" cy="44577"/>
          </a:xfrm>
          <a:prstGeom prst="ellipse">
            <a:avLst/>
          </a:prstGeom>
          <a:solidFill>
            <a:srgbClr val="FFFFFF"/>
          </a:solidFill>
          <a:ln>
            <a:noFill/>
          </a:ln>
        </p:spPr>
      </p:sp>
      <p:sp>
        <p:nvSpPr>
          <p:cNvPr id="106" name="Brand 106"/>
          <p:cNvSpPr/>
          <p:nvPr userDrawn="1"/>
        </p:nvSpPr>
        <p:spPr>
          <a:xfrm>
            <a:off x="9709385" y="255746"/>
            <a:ext cx="46292" cy="46292"/>
          </a:xfrm>
          <a:prstGeom prst="ellipse">
            <a:avLst/>
          </a:prstGeom>
          <a:solidFill>
            <a:srgbClr val="FFFFFF">
              <a:alpha val="82000"/>
            </a:srgbClr>
          </a:solidFill>
          <a:ln>
            <a:noFill/>
          </a:ln>
        </p:spPr>
      </p:sp>
      <p:sp>
        <p:nvSpPr>
          <p:cNvPr id="107" name="Brand 107"/>
          <p:cNvSpPr/>
          <p:nvPr userDrawn="1"/>
        </p:nvSpPr>
        <p:spPr>
          <a:xfrm>
            <a:off x="9781394" y="255746"/>
            <a:ext cx="46292" cy="46292"/>
          </a:xfrm>
          <a:prstGeom prst="ellipse">
            <a:avLst/>
          </a:prstGeom>
          <a:solidFill>
            <a:srgbClr val="FFFFFF">
              <a:alpha val="82000"/>
            </a:srgbClr>
          </a:solidFill>
          <a:ln>
            <a:noFill/>
          </a:ln>
        </p:spPr>
      </p:sp>
      <p:sp>
        <p:nvSpPr>
          <p:cNvPr id="108" name="Brand 108"/>
          <p:cNvSpPr/>
          <p:nvPr userDrawn="1"/>
        </p:nvSpPr>
        <p:spPr>
          <a:xfrm>
            <a:off x="9761677" y="303752"/>
            <a:ext cx="13716" cy="55721"/>
          </a:xfrm>
          <a:prstGeom prst="roundRect">
            <a:avLst>
              <a:gd name="adj" fmla="val 50000"/>
            </a:avLst>
          </a:prstGeom>
          <a:solidFill>
            <a:srgbClr val="9FD18B"/>
          </a:solidFill>
          <a:ln>
            <a:noFill/>
          </a:ln>
        </p:spPr>
      </p:sp>
      <p:sp>
        <p:nvSpPr>
          <p:cNvPr id="109" name="Shape 109"/>
          <p:cNvSpPr txBox="1"/>
          <p:nvPr/>
        </p:nvSpPr>
        <p:spPr>
          <a:xfrm>
            <a:off x="9960559" y="109728"/>
            <a:ext cx="1737360" cy="310896"/>
          </a:xfrm>
          <a:prstGeom prst="rect">
            <a:avLst/>
          </a:prstGeom>
          <a:noFill/>
          <a:ln>
            <a:noFill/>
          </a:ln>
        </p:spPr>
        <p:txBody>
          <a:bodyPr wrap="square" lIns="18288" tIns="0" rIns="18288" bIns="0" anchor="ctr">
            <a:noAutofit/>
          </a:bodyPr>
          <a:lstStyle/>
          <a:p>
            <a:pPr algn="l">
              <a:lnSpc>
                <a:spcPct val="100000"/>
              </a:lnSpc>
            </a:pPr>
            <a:r>
              <a:rPr lang="en-US" sz="1125" dirty="0">
                <a:solidFill>
                  <a:srgbClr val="16171D"/>
                </a:solidFill>
                <a:latin typeface="Segoe UI"/>
                <a:cs typeface="Segoe UI"/>
              </a:rPr>
              <a:t xml:space="preserve">Bluebonnet </a:t>
            </a:r>
            <a:r>
              <a:rPr lang="en-US" sz="1125" dirty="0" b="1">
                <a:solidFill>
                  <a:srgbClr val="3050B8"/>
                </a:solidFill>
                <a:latin typeface="Segoe UI"/>
                <a:cs typeface="Segoe UI"/>
              </a:rPr>
              <a:t xml:space="preserve">Algebra I</a:t>
            </a:r>
            <a:endParaRPr lang="en-US" sz="1125" dirty="0"/>
          </a:p>
        </p:txBody>
      </p:sp>
    </p:spTree>
  </p:cSld>
  <p:clrMap bg1="lt1" tx1="dk1" bg2="lt2" tx2="dk2" accent1="accent1" accent2="accent2" accent3="accent3" accent4="accent4" accent5="accent5" accent6="accent6" hlink="hlink" folHlink="folHlink"/>
  <p:sldLayoutIdLst>
    <p:sldLayoutId id="2147483649" r:id="rId1"/>
  </p:sldLayoutId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algebra1m2u1l4.vercel.app/IEP/t2-lesson1-bellwork-day1-IEP.html" TargetMode="External"/><Relationship Id="rId4" Type="http://schemas.openxmlformats.org/officeDocument/2006/relationships/hyperlink" Target="https://algebra1m2u1l4.vercel.app/IEP/t2-lesson1-bellwork-day2-IEP.html" TargetMode="External"/><Relationship Id="rId5" Type="http://schemas.openxmlformats.org/officeDocument/2006/relationships/hyperlink" Target="https://algebra1m2u1l4.vercel.app/IEP/t2-lesson1-bellwork-day3-IEP.html" TargetMode="External"/><Relationship Id="rId6" Type="http://schemas.openxmlformats.org/officeDocument/2006/relationships/hyperlink" Target="https://algebra1m2u1l4.vercel.app/IEP/t2-lesson1-homework-IEP.html" TargetMode="External"/><Relationship Id="rId7" Type="http://schemas.openxmlformats.org/officeDocument/2006/relationships/hyperlink" Target="https://algebra1m2u1l4.vercel.app/IEP/t2-lesson1-quiz-IEP.html"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hyperlink" Target="https://algebra1m2u1l4.vercel.app/IEP/t2-lesson1-bellwork-day1-IEP.html" TargetMode="External"/><Relationship Id="rId4" Type="http://schemas.openxmlformats.org/officeDocument/2006/relationships/hyperlink" Target="https://algebra1m2u1l4.vercel.app/IEP/t2-lesson1-bellwork-day2-IEP.html" TargetMode="External"/><Relationship Id="rId5" Type="http://schemas.openxmlformats.org/officeDocument/2006/relationships/hyperlink" Target="https://algebra1m2u1l4.vercel.app/IEP/t2-lesson1-bellwork-day3-IEP.html" TargetMode="External"/><Relationship Id="rId6" Type="http://schemas.openxmlformats.org/officeDocument/2006/relationships/hyperlink" Target="https://algebra1m2u1l4.vercel.app/IEP/t2-lesson1-homework-IEP.html" TargetMode="External"/><Relationship Id="rId7" Type="http://schemas.openxmlformats.org/officeDocument/2006/relationships/hyperlink" Target="https://algebra1m2u1l4.vercel.app/IEP/t2-lesson1-quiz-IEP.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Bluebonnet Algebra I · Module 2 · Topic 2 · Lesson 1 · IEP Version</a:t>
            </a:r>
            <a:endParaRPr lang="en-US" sz="1200" dirty="0"/>
          </a:p>
        </p:txBody>
      </p:sp>
      <p:sp>
        <p:nvSpPr>
          <p:cNvPr id="3" name="Shape 3"/>
          <p:cNvSpPr txBox="1"/>
          <p:nvPr/>
        </p:nvSpPr>
        <p:spPr>
          <a:xfrm>
            <a:off x="685800" y="961644"/>
            <a:ext cx="10820095" cy="740664"/>
          </a:xfrm>
          <a:prstGeom prst="rect">
            <a:avLst/>
          </a:prstGeom>
          <a:noFill/>
          <a:ln>
            <a:noFill/>
          </a:ln>
        </p:spPr>
        <p:txBody>
          <a:bodyPr wrap="square" lIns="36576" tIns="27432" rIns="36576" bIns="27432" anchor="t">
            <a:noAutofit/>
          </a:bodyPr>
          <a:lstStyle/>
          <a:p>
            <a:pPr algn="l">
              <a:lnSpc>
                <a:spcPct val="100000"/>
              </a:lnSpc>
            </a:pPr>
            <a:r>
              <a:rPr lang="en-US" sz="4500" dirty="0" b="1">
                <a:solidFill>
                  <a:srgbClr val="16171D"/>
                </a:solidFill>
                <a:latin typeface="Segoe UI"/>
                <a:cs typeface="Segoe UI"/>
              </a:rPr>
              <a:t xml:space="preserve">Transforming Linear Functions</a:t>
            </a:r>
            <a:endParaRPr lang="en-US" sz="4500" dirty="0"/>
          </a:p>
        </p:txBody>
      </p:sp>
      <p:sp>
        <p:nvSpPr>
          <p:cNvPr id="4" name="Shape 4"/>
          <p:cNvSpPr txBox="1"/>
          <p:nvPr/>
        </p:nvSpPr>
        <p:spPr>
          <a:xfrm>
            <a:off x="685800" y="1911858"/>
            <a:ext cx="10820095" cy="489204"/>
          </a:xfrm>
          <a:prstGeom prst="rect">
            <a:avLst/>
          </a:prstGeom>
          <a:noFill/>
          <a:ln>
            <a:noFill/>
          </a:ln>
        </p:spPr>
        <p:txBody>
          <a:bodyPr wrap="square" lIns="36576" tIns="27432" rIns="36576" bIns="27432" anchor="t">
            <a:noAutofit/>
          </a:bodyPr>
          <a:lstStyle/>
          <a:p>
            <a:pPr algn="l">
              <a:lnSpc>
                <a:spcPct val="100000"/>
              </a:lnSpc>
            </a:pPr>
            <a:r>
              <a:rPr lang="en-US" sz="2850" dirty="0" i="1">
                <a:solidFill>
                  <a:srgbClr val="16171D"/>
                </a:solidFill>
                <a:latin typeface="Cambria"/>
                <a:cs typeface="Cambria"/>
              </a:rPr>
              <a:t xml:space="preserve">g</a:t>
            </a:r>
            <a:r>
              <a:rPr lang="en-US" sz="2850" dirty="0">
                <a:solidFill>
                  <a:srgbClr val="16171D"/>
                </a:solidFill>
                <a:latin typeface="Cambria"/>
                <a:cs typeface="Cambria"/>
              </a:rPr>
              <a:t xml:space="preserve">(</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a:t>
            </a:r>
            <a:r>
              <a:rPr lang="en-US" sz="2850" dirty="0" b="1" i="1">
                <a:solidFill>
                  <a:srgbClr val="C9561F"/>
                </a:solidFill>
                <a:latin typeface="Cambria"/>
                <a:cs typeface="Cambria"/>
              </a:rPr>
              <a:t xml:space="preserve">a</a:t>
            </a:r>
            <a:r>
              <a:rPr lang="en-US" sz="2850" dirty="0">
                <a:solidFill>
                  <a:srgbClr val="16171D"/>
                </a:solidFill>
                <a:latin typeface="Cambria"/>
                <a:cs typeface="Cambria"/>
              </a:rPr>
              <a:t xml:space="preserve"> · </a:t>
            </a:r>
            <a:r>
              <a:rPr lang="en-US" sz="2850" dirty="0" i="1">
                <a:solidFill>
                  <a:srgbClr val="16171D"/>
                </a:solidFill>
                <a:latin typeface="Cambria"/>
                <a:cs typeface="Cambria"/>
              </a:rPr>
              <a:t xml:space="preserve">f</a:t>
            </a:r>
            <a:r>
              <a:rPr lang="en-US" sz="2850" dirty="0">
                <a:solidFill>
                  <a:srgbClr val="16171D"/>
                </a:solidFill>
                <a:latin typeface="Cambria"/>
                <a:cs typeface="Cambria"/>
              </a:rPr>
              <a:t xml:space="preserve">(</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a:t>
            </a:r>
            <a:r>
              <a:rPr lang="en-US" sz="2850" dirty="0" b="1" i="1">
                <a:solidFill>
                  <a:srgbClr val="3050B8"/>
                </a:solidFill>
                <a:latin typeface="Cambria"/>
                <a:cs typeface="Cambria"/>
              </a:rPr>
              <a:t xml:space="preserve">d</a:t>
            </a:r>
            <a:endParaRPr lang="en-US" sz="2850" dirty="0"/>
          </a:p>
        </p:txBody>
      </p:sp>
      <p:sp>
        <p:nvSpPr>
          <p:cNvPr id="5" name="Shape 5"/>
          <p:cNvSpPr txBox="1"/>
          <p:nvPr/>
        </p:nvSpPr>
        <p:spPr>
          <a:xfrm>
            <a:off x="685800" y="2648712"/>
            <a:ext cx="10820095"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I can…</a:t>
            </a:r>
            <a:endParaRPr lang="en-US" sz="2100" dirty="0"/>
          </a:p>
        </p:txBody>
      </p:sp>
      <p:sp>
        <p:nvSpPr>
          <p:cNvPr id="6" name="Shape 6"/>
          <p:cNvSpPr txBox="1"/>
          <p:nvPr/>
        </p:nvSpPr>
        <p:spPr>
          <a:xfrm>
            <a:off x="685800" y="3195066"/>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 move a line up or down and write its equation.</a:t>
            </a:r>
            <a:endParaRPr lang="en-US" sz="1950" dirty="0"/>
          </a:p>
        </p:txBody>
      </p:sp>
      <p:sp>
        <p:nvSpPr>
          <p:cNvPr id="7" name="Shape 7"/>
          <p:cNvSpPr txBox="1"/>
          <p:nvPr/>
        </p:nvSpPr>
        <p:spPr>
          <a:xfrm>
            <a:off x="685800" y="3718560"/>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 stretch, compress or flip a line and find its new slope.</a:t>
            </a:r>
            <a:endParaRPr lang="en-US" sz="1950" dirty="0"/>
          </a:p>
        </p:txBody>
      </p:sp>
      <p:sp>
        <p:nvSpPr>
          <p:cNvPr id="8" name="Shape 8"/>
          <p:cNvSpPr txBox="1"/>
          <p:nvPr/>
        </p:nvSpPr>
        <p:spPr>
          <a:xfrm>
            <a:off x="685800" y="4242054"/>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 write a line parallel to another line through a point.</a:t>
            </a:r>
            <a:endParaRPr lang="en-US" sz="1950" dirty="0"/>
          </a:p>
        </p:txBody>
      </p:sp>
      <p:sp>
        <p:nvSpPr>
          <p:cNvPr id="9" name="Shape 9"/>
          <p:cNvSpPr txBox="1"/>
          <p:nvPr/>
        </p:nvSpPr>
        <p:spPr>
          <a:xfrm>
            <a:off x="685800" y="4822698"/>
            <a:ext cx="10820095" cy="329184"/>
          </a:xfrm>
          <a:prstGeom prst="rect">
            <a:avLst/>
          </a:prstGeom>
          <a:noFill/>
          <a:ln>
            <a:noFill/>
          </a:ln>
        </p:spPr>
        <p:txBody>
          <a:bodyPr wrap="square" lIns="36576" tIns="27432" rIns="36576" bIns="27432" anchor="t">
            <a:noAutofit/>
          </a:bodyPr>
          <a:lstStyle/>
          <a:p>
            <a:pPr algn="l">
              <a:lnSpc>
                <a:spcPct val="100000"/>
              </a:lnSpc>
            </a:pPr>
            <a:r>
              <a:rPr lang="en-US" sz="1800" dirty="0">
                <a:solidFill>
                  <a:srgbClr val="16171D"/>
                </a:solidFill>
                <a:latin typeface="Segoe UI"/>
                <a:cs typeface="Segoe UI"/>
              </a:rPr>
              <a:t xml:space="preserve">Bell work: </a:t>
            </a:r>
            <a:r>
              <a:rPr lang="en-US" sz="1800" dirty="0" b="1">
                <a:solidFill>
                  <a:srgbClr val="3050B8"/>
                </a:solidFill>
                <a:latin typeface="Segoe UI"/>
                <a:cs typeface="Segoe UI"/>
                <a:hlinkClick r:id="rId3"/>
              </a:rPr>
              <a:t xml:space="preserve">Day 1 →</a:t>
            </a:r>
            <a:r>
              <a:rPr lang="en-US" sz="1800" dirty="0">
                <a:solidFill>
                  <a:srgbClr val="16171D"/>
                </a:solidFill>
                <a:latin typeface="Segoe UI"/>
                <a:cs typeface="Segoe UI"/>
              </a:rPr>
              <a:t xml:space="preserve"> · </a:t>
            </a:r>
            <a:r>
              <a:rPr lang="en-US" sz="1800" dirty="0" b="1">
                <a:solidFill>
                  <a:srgbClr val="3050B8"/>
                </a:solidFill>
                <a:latin typeface="Segoe UI"/>
                <a:cs typeface="Segoe UI"/>
                <a:hlinkClick r:id="rId4"/>
              </a:rPr>
              <a:t xml:space="preserve">Day 2 →</a:t>
            </a:r>
            <a:r>
              <a:rPr lang="en-US" sz="1800" dirty="0">
                <a:solidFill>
                  <a:srgbClr val="16171D"/>
                </a:solidFill>
                <a:latin typeface="Segoe UI"/>
                <a:cs typeface="Segoe UI"/>
              </a:rPr>
              <a:t xml:space="preserve"> · </a:t>
            </a:r>
            <a:r>
              <a:rPr lang="en-US" sz="1800" dirty="0" b="1">
                <a:solidFill>
                  <a:srgbClr val="3050B8"/>
                </a:solidFill>
                <a:latin typeface="Segoe UI"/>
                <a:cs typeface="Segoe UI"/>
                <a:hlinkClick r:id="rId5"/>
              </a:rPr>
              <a:t xml:space="preserve">Day 3 →</a:t>
            </a:r>
            <a:r>
              <a:rPr lang="en-US" sz="1800" dirty="0">
                <a:solidFill>
                  <a:srgbClr val="16171D"/>
                </a:solidFill>
                <a:latin typeface="Segoe UI"/>
                <a:cs typeface="Segoe UI"/>
              </a:rPr>
              <a:t xml:space="preserve"> | Practice: </a:t>
            </a:r>
            <a:r>
              <a:rPr lang="en-US" sz="1800" dirty="0" b="1">
                <a:solidFill>
                  <a:srgbClr val="3050B8"/>
                </a:solidFill>
                <a:latin typeface="Segoe UI"/>
                <a:cs typeface="Segoe UI"/>
                <a:hlinkClick r:id="rId6"/>
              </a:rPr>
              <a:t xml:space="preserve">Homework →</a:t>
            </a:r>
            <a:r>
              <a:rPr lang="en-US" sz="1800" dirty="0">
                <a:solidFill>
                  <a:srgbClr val="16171D"/>
                </a:solidFill>
                <a:latin typeface="Segoe UI"/>
                <a:cs typeface="Segoe UI"/>
              </a:rPr>
              <a:t xml:space="preserve"> · </a:t>
            </a:r>
            <a:r>
              <a:rPr lang="en-US" sz="1800" dirty="0" b="1">
                <a:solidFill>
                  <a:srgbClr val="3050B8"/>
                </a:solidFill>
                <a:latin typeface="Segoe UI"/>
                <a:cs typeface="Segoe UI"/>
                <a:hlinkClick r:id="rId7"/>
              </a:rPr>
              <a:t xml:space="preserve">Quiz →</a:t>
            </a:r>
            <a:endParaRPr lang="en-US" sz="1800" dirty="0"/>
          </a:p>
        </p:txBody>
      </p:sp>
      <p:sp>
        <p:nvSpPr>
          <p:cNvPr id="10" name="Shape 10"/>
          <p:cNvSpPr txBox="1"/>
          <p:nvPr/>
        </p:nvSpPr>
        <p:spPr>
          <a:xfrm>
            <a:off x="685800" y="6185916"/>
            <a:ext cx="10820095" cy="397764"/>
          </a:xfrm>
          <a:prstGeom prst="rect">
            <a:avLst/>
          </a:prstGeom>
          <a:noFill/>
          <a:ln>
            <a:noFill/>
          </a:ln>
        </p:spPr>
        <p:txBody>
          <a:bodyPr wrap="square" lIns="36576" tIns="27432" rIns="36576" bIns="27432" anchor="t">
            <a:noAutofit/>
          </a:bodyPr>
          <a:lstStyle/>
          <a:p>
            <a:pPr algn="l">
              <a:lnSpc>
                <a:spcPct val="100000"/>
              </a:lnSpc>
            </a:pPr>
            <a:r>
              <a:rPr lang="en-US" sz="1125" dirty="0">
                <a:solidFill>
                  <a:srgbClr val="5F6272"/>
                </a:solidFill>
                <a:latin typeface="Segoe UI"/>
                <a:cs typeface="Segoe UI"/>
              </a:rPr>
              <a:t xml:space="preserve">Based on Bluebonnet Learning Secondary Mathematics, Algebra I (©2024–2025 Texas Education Agency, portions ©2021 Carnegie Learning, Inc.), licensed CC BY-NC 4.0. A private site for Algebra I teachers.</a:t>
            </a:r>
            <a:endParaRPr lang="en-US" sz="1125" dirty="0"/>
          </a:p>
        </p:txBody>
      </p:sp>
      <p:sp>
        <p:nvSpPr>
          <p:cNvPr id="11" name="Slide Number 11"/>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a:t>
            </a:fld>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Bell Work · Review</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Warm up: work these on your own</a:t>
            </a:r>
            <a:endParaRPr lang="en-US" sz="3450" dirty="0"/>
          </a:p>
        </p:txBody>
      </p:sp>
      <p:sp>
        <p:nvSpPr>
          <p:cNvPr id="7" name="Shape 7"/>
          <p:cNvSpPr txBox="1"/>
          <p:nvPr/>
        </p:nvSpPr>
        <p:spPr>
          <a:xfrm>
            <a:off x="685800" y="1618488"/>
            <a:ext cx="5295748" cy="24765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48766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1.</a:t>
            </a:r>
            <a:r>
              <a:rPr lang="en-US" sz="1575" dirty="0">
                <a:solidFill>
                  <a:srgbClr val="16171D"/>
                </a:solidFill>
                <a:latin typeface="Segoe UI"/>
                <a:cs typeface="Segoe UI"/>
              </a:rPr>
              <a:t xml:space="preserve"> What is the slope between </a:t>
            </a:r>
            <a:r>
              <a:rPr lang="en-US" sz="1575" dirty="0">
                <a:solidFill>
                  <a:srgbClr val="16171D"/>
                </a:solidFill>
                <a:latin typeface="Cambria"/>
                <a:cs typeface="Cambria"/>
              </a:rPr>
              <a:t xml:space="preserve">(1, 2)</a:t>
            </a:r>
            <a:r>
              <a:rPr lang="en-US" sz="1575" dirty="0">
                <a:solidFill>
                  <a:srgbClr val="16171D"/>
                </a:solidFill>
                <a:latin typeface="Segoe UI"/>
                <a:cs typeface="Segoe UI"/>
              </a:rPr>
              <a:t xml:space="preserve"> and </a:t>
            </a:r>
            <a:r>
              <a:rPr lang="en-US" sz="1575" dirty="0">
                <a:solidFill>
                  <a:srgbClr val="16171D"/>
                </a:solidFill>
                <a:latin typeface="Cambria"/>
                <a:cs typeface="Cambria"/>
              </a:rPr>
              <a:t xml:space="preserve">(4, 11)</a:t>
            </a:r>
            <a:r>
              <a:rPr lang="en-US" sz="1575" dirty="0">
                <a:solidFill>
                  <a:srgbClr val="16171D"/>
                </a:solidFill>
                <a:latin typeface="Segoe UI"/>
                <a:cs typeface="Segoe UI"/>
              </a:rPr>
              <a:t xml:space="preserve">?</a:t>
            </a:r>
            <a:endParaRPr lang="en-US" sz="1575" dirty="0"/>
          </a:p>
        </p:txBody>
      </p:sp>
      <p:sp>
        <p:nvSpPr>
          <p:cNvPr id="5" name="Shape 5"/>
          <p:cNvSpPr txBox="1"/>
          <p:nvPr/>
        </p:nvSpPr>
        <p:spPr>
          <a:xfrm>
            <a:off x="895350" y="2122932"/>
            <a:ext cx="48766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Formula:</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m</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₂ − </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₁) ÷ (</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₂ − </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₁)</a:t>
            </a:r>
            <a:endParaRPr lang="en-US" sz="1575" dirty="0"/>
          </a:p>
        </p:txBody>
      </p:sp>
      <p:sp>
        <p:nvSpPr>
          <p:cNvPr id="6" name="Shape 6"/>
          <p:cNvSpPr txBox="1"/>
          <p:nvPr/>
        </p:nvSpPr>
        <p:spPr>
          <a:xfrm>
            <a:off x="895350" y="2455926"/>
            <a:ext cx="4876648" cy="146761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1425" dirty="0" b="1">
                <a:solidFill>
                  <a:srgbClr val="16171D"/>
                </a:solidFill>
                <a:latin typeface="Cambria"/>
                <a:cs typeface="Cambria"/>
              </a:rPr>
              <a:t xml:space="preserve">3</a:t>
            </a:r>
            <a:br>
              <a:rPr lang="en-US" sz="1425" dirty="0">
                <a:solidFill>
                  <a:srgbClr val="16171D"/>
                </a:solidFill>
                <a:latin typeface="Segoe UI"/>
                <a:cs typeface="Segoe UI"/>
              </a:rPr>
            </a:br>
            <a:r>
              <a:rPr lang="en-US" sz="1425" dirty="0" b="1">
                <a:solidFill>
                  <a:srgbClr val="16171D"/>
                </a:solidFill>
                <a:latin typeface="Segoe UI"/>
                <a:cs typeface="Segoe UI"/>
              </a:rPr>
              <a:t xml:space="preserve">1.</a:t>
            </a:r>
            <a:r>
              <a:rPr lang="en-US" sz="1425" dirty="0">
                <a:solidFill>
                  <a:srgbClr val="16171D"/>
                </a:solidFill>
                <a:latin typeface="Segoe UI"/>
                <a:cs typeface="Segoe UI"/>
              </a:rPr>
              <a:t xml:space="preserve"> Label the points: </a:t>
            </a:r>
            <a:r>
              <a:rPr lang="en-US" sz="1425" dirty="0">
                <a:solidFill>
                  <a:srgbClr val="16171D"/>
                </a:solidFill>
                <a:latin typeface="Cambria"/>
                <a:cs typeface="Cambria"/>
              </a:rPr>
              <a:t xml:space="preserve">(</a:t>
            </a:r>
            <a:r>
              <a:rPr lang="en-US" sz="1425" dirty="0" i="1">
                <a:solidFill>
                  <a:srgbClr val="16171D"/>
                </a:solidFill>
                <a:latin typeface="Cambria"/>
                <a:cs typeface="Cambria"/>
              </a:rPr>
              <a:t xml:space="preserve">x</a:t>
            </a:r>
            <a:r>
              <a:rPr lang="en-US" sz="1425" dirty="0">
                <a:solidFill>
                  <a:srgbClr val="16171D"/>
                </a:solidFill>
                <a:latin typeface="Cambria"/>
                <a:cs typeface="Cambria"/>
              </a:rPr>
              <a:t xml:space="preserve">₁, </a:t>
            </a:r>
            <a:r>
              <a:rPr lang="en-US" sz="1425" dirty="0" i="1">
                <a:solidFill>
                  <a:srgbClr val="16171D"/>
                </a:solidFill>
                <a:latin typeface="Cambria"/>
                <a:cs typeface="Cambria"/>
              </a:rPr>
              <a:t xml:space="preserve">y</a:t>
            </a:r>
            <a:r>
              <a:rPr lang="en-US" sz="1425" dirty="0">
                <a:solidFill>
                  <a:srgbClr val="16171D"/>
                </a:solidFill>
                <a:latin typeface="Cambria"/>
                <a:cs typeface="Cambria"/>
              </a:rPr>
              <a:t xml:space="preserve">₁) = (1, 2)</a:t>
            </a:r>
            <a:r>
              <a:rPr lang="en-US" sz="1425" dirty="0">
                <a:solidFill>
                  <a:srgbClr val="16171D"/>
                </a:solidFill>
                <a:latin typeface="Segoe UI"/>
                <a:cs typeface="Segoe UI"/>
              </a:rPr>
              <a:t xml:space="preserve"> and </a:t>
            </a:r>
            <a:r>
              <a:rPr lang="en-US" sz="1425" dirty="0">
                <a:solidFill>
                  <a:srgbClr val="16171D"/>
                </a:solidFill>
                <a:latin typeface="Cambria"/>
                <a:cs typeface="Cambria"/>
              </a:rPr>
              <a:t xml:space="preserve">(</a:t>
            </a:r>
            <a:r>
              <a:rPr lang="en-US" sz="1425" dirty="0" i="1">
                <a:solidFill>
                  <a:srgbClr val="16171D"/>
                </a:solidFill>
                <a:latin typeface="Cambria"/>
                <a:cs typeface="Cambria"/>
              </a:rPr>
              <a:t xml:space="preserve">x</a:t>
            </a:r>
            <a:r>
              <a:rPr lang="en-US" sz="1425" dirty="0">
                <a:solidFill>
                  <a:srgbClr val="16171D"/>
                </a:solidFill>
                <a:latin typeface="Cambria"/>
                <a:cs typeface="Cambria"/>
              </a:rPr>
              <a:t xml:space="preserve">₂, </a:t>
            </a:r>
            <a:r>
              <a:rPr lang="en-US" sz="1425" dirty="0" i="1">
                <a:solidFill>
                  <a:srgbClr val="16171D"/>
                </a:solidFill>
                <a:latin typeface="Cambria"/>
                <a:cs typeface="Cambria"/>
              </a:rPr>
              <a:t xml:space="preserve">y</a:t>
            </a:r>
            <a:r>
              <a:rPr lang="en-US" sz="1425" dirty="0">
                <a:solidFill>
                  <a:srgbClr val="16171D"/>
                </a:solidFill>
                <a:latin typeface="Cambria"/>
                <a:cs typeface="Cambria"/>
              </a:rPr>
              <a:t xml:space="preserve">₂) = (4, 11)</a:t>
            </a:r>
            <a:r>
              <a:rPr lang="en-US" sz="1425" dirty="0">
                <a:solidFill>
                  <a:srgbClr val="16171D"/>
                </a:solidFill>
                <a:latin typeface="Segoe UI"/>
                <a:cs typeface="Segoe UI"/>
              </a:rPr>
              <a:t xml:space="preserve">.</a:t>
            </a:r>
            <a:br>
              <a:rPr lang="en-US" sz="1425" dirty="0">
                <a:solidFill>
                  <a:srgbClr val="16171D"/>
                </a:solidFill>
                <a:latin typeface="Segoe UI"/>
                <a:cs typeface="Segoe UI"/>
              </a:rPr>
            </a:br>
            <a:r>
              <a:rPr lang="en-US" sz="1425" dirty="0" b="1">
                <a:solidFill>
                  <a:srgbClr val="16171D"/>
                </a:solidFill>
                <a:latin typeface="Segoe UI"/>
                <a:cs typeface="Segoe UI"/>
              </a:rPr>
              <a:t xml:space="preserve">2.</a:t>
            </a:r>
            <a:r>
              <a:rPr lang="en-US" sz="1425" dirty="0">
                <a:solidFill>
                  <a:srgbClr val="16171D"/>
                </a:solidFill>
                <a:latin typeface="Segoe UI"/>
                <a:cs typeface="Segoe UI"/>
              </a:rPr>
              <a:t xml:space="preserve"> Subtract the </a:t>
            </a:r>
            <a:r>
              <a:rPr lang="en-US" sz="1425" dirty="0" i="1">
                <a:solidFill>
                  <a:srgbClr val="16171D"/>
                </a:solidFill>
                <a:latin typeface="Cambria"/>
                <a:cs typeface="Cambria"/>
              </a:rPr>
              <a:t xml:space="preserve">y</a:t>
            </a:r>
            <a:r>
              <a:rPr lang="en-US" sz="1425" dirty="0">
                <a:solidFill>
                  <a:srgbClr val="16171D"/>
                </a:solidFill>
                <a:latin typeface="Segoe UI"/>
                <a:cs typeface="Segoe UI"/>
              </a:rPr>
              <a:t xml:space="preserve">-values: </a:t>
            </a:r>
            <a:r>
              <a:rPr lang="en-US" sz="1425" dirty="0">
                <a:solidFill>
                  <a:srgbClr val="16171D"/>
                </a:solidFill>
                <a:latin typeface="Cambria"/>
                <a:cs typeface="Cambria"/>
              </a:rPr>
              <a:t xml:space="preserve">11 − 2 = 9</a:t>
            </a:r>
            <a:r>
              <a:rPr lang="en-US" sz="1425" dirty="0">
                <a:solidFill>
                  <a:srgbClr val="16171D"/>
                </a:solidFill>
                <a:latin typeface="Segoe UI"/>
                <a:cs typeface="Segoe UI"/>
              </a:rPr>
              <a:t xml:space="preserve">. Subtract the </a:t>
            </a:r>
            <a:r>
              <a:rPr lang="en-US" sz="1425" dirty="0" i="1">
                <a:solidFill>
                  <a:srgbClr val="16171D"/>
                </a:solidFill>
                <a:latin typeface="Cambria"/>
                <a:cs typeface="Cambria"/>
              </a:rPr>
              <a:t xml:space="preserve">x</a:t>
            </a:r>
            <a:r>
              <a:rPr lang="en-US" sz="1425" dirty="0">
                <a:solidFill>
                  <a:srgbClr val="16171D"/>
                </a:solidFill>
                <a:latin typeface="Segoe UI"/>
                <a:cs typeface="Segoe UI"/>
              </a:rPr>
              <a:t xml:space="preserve">-values: </a:t>
            </a:r>
            <a:r>
              <a:rPr lang="en-US" sz="1425" dirty="0">
                <a:solidFill>
                  <a:srgbClr val="16171D"/>
                </a:solidFill>
                <a:latin typeface="Cambria"/>
                <a:cs typeface="Cambria"/>
              </a:rPr>
              <a:t xml:space="preserve">4 − 1 = 3</a:t>
            </a:r>
            <a:r>
              <a:rPr lang="en-US" sz="1425" dirty="0">
                <a:solidFill>
                  <a:srgbClr val="16171D"/>
                </a:solidFill>
                <a:latin typeface="Segoe UI"/>
                <a:cs typeface="Segoe UI"/>
              </a:rPr>
              <a:t xml:space="preserve">.</a:t>
            </a:r>
            <a:br>
              <a:rPr lang="en-US" sz="1425" dirty="0">
                <a:solidFill>
                  <a:srgbClr val="16171D"/>
                </a:solidFill>
                <a:latin typeface="Segoe UI"/>
                <a:cs typeface="Segoe UI"/>
              </a:rPr>
            </a:br>
            <a:r>
              <a:rPr lang="en-US" sz="1425" dirty="0" b="1">
                <a:solidFill>
                  <a:srgbClr val="16171D"/>
                </a:solidFill>
                <a:latin typeface="Segoe UI"/>
                <a:cs typeface="Segoe UI"/>
              </a:rPr>
              <a:t xml:space="preserve">3.</a:t>
            </a:r>
            <a:r>
              <a:rPr lang="en-US" sz="1425" dirty="0">
                <a:solidFill>
                  <a:srgbClr val="16171D"/>
                </a:solidFill>
                <a:latin typeface="Segoe UI"/>
                <a:cs typeface="Segoe UI"/>
              </a:rPr>
              <a:t xml:space="preserve"> Divide: </a:t>
            </a:r>
            <a:r>
              <a:rPr lang="en-US" sz="1425" dirty="0">
                <a:solidFill>
                  <a:srgbClr val="16171D"/>
                </a:solidFill>
                <a:latin typeface="Cambria"/>
                <a:cs typeface="Cambria"/>
              </a:rPr>
              <a:t xml:space="preserve">9 ÷ 3 = 3</a:t>
            </a:r>
            <a:r>
              <a:rPr lang="en-US" sz="1425" dirty="0">
                <a:solidFill>
                  <a:srgbClr val="16171D"/>
                </a:solidFill>
                <a:latin typeface="Segoe UI"/>
                <a:cs typeface="Segoe UI"/>
              </a:rPr>
              <a:t xml:space="preserve">.</a:t>
            </a:r>
            <a:endParaRPr lang="en-US" sz="1425" dirty="0"/>
          </a:p>
        </p:txBody>
      </p:sp>
      <p:sp>
        <p:nvSpPr>
          <p:cNvPr id="11" name="Shape 11"/>
          <p:cNvSpPr txBox="1"/>
          <p:nvPr/>
        </p:nvSpPr>
        <p:spPr>
          <a:xfrm>
            <a:off x="685800" y="4228338"/>
            <a:ext cx="5295748" cy="204216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8" name="Shape 8"/>
          <p:cNvSpPr txBox="1"/>
          <p:nvPr/>
        </p:nvSpPr>
        <p:spPr>
          <a:xfrm>
            <a:off x="895350" y="4399788"/>
            <a:ext cx="48766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2.</a:t>
            </a:r>
            <a:r>
              <a:rPr lang="en-US" sz="1575" dirty="0">
                <a:solidFill>
                  <a:srgbClr val="16171D"/>
                </a:solidFill>
                <a:latin typeface="Segoe UI"/>
                <a:cs typeface="Segoe UI"/>
              </a:rPr>
              <a:t xml:space="preserve"> What is the </a:t>
            </a:r>
            <a:r>
              <a:rPr lang="en-US" sz="1575" dirty="0" i="1">
                <a:solidFill>
                  <a:srgbClr val="16171D"/>
                </a:solidFill>
                <a:latin typeface="Cambria"/>
                <a:cs typeface="Cambria"/>
              </a:rPr>
              <a:t xml:space="preserve">y</a:t>
            </a:r>
            <a:r>
              <a:rPr lang="en-US" sz="1575" dirty="0">
                <a:solidFill>
                  <a:srgbClr val="16171D"/>
                </a:solidFill>
                <a:latin typeface="Segoe UI"/>
                <a:cs typeface="Segoe UI"/>
              </a:rPr>
              <a:t xml:space="preserve">-intercept of </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 = 3</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− 7</a:t>
            </a:r>
            <a:r>
              <a:rPr lang="en-US" sz="1575" dirty="0">
                <a:solidFill>
                  <a:srgbClr val="16171D"/>
                </a:solidFill>
                <a:latin typeface="Segoe UI"/>
                <a:cs typeface="Segoe UI"/>
              </a:rPr>
              <a:t xml:space="preserve">?</a:t>
            </a:r>
            <a:endParaRPr lang="en-US" sz="1575" dirty="0"/>
          </a:p>
        </p:txBody>
      </p:sp>
      <p:sp>
        <p:nvSpPr>
          <p:cNvPr id="9" name="Shape 9"/>
          <p:cNvSpPr txBox="1"/>
          <p:nvPr/>
        </p:nvSpPr>
        <p:spPr>
          <a:xfrm>
            <a:off x="895350" y="4732782"/>
            <a:ext cx="48766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Formula:</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m</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b</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y</a:t>
            </a:r>
            <a:r>
              <a:rPr lang="en-US" sz="1575" dirty="0">
                <a:solidFill>
                  <a:srgbClr val="16171D"/>
                </a:solidFill>
                <a:latin typeface="Segoe UI"/>
                <a:cs typeface="Segoe UI"/>
              </a:rPr>
              <a:t xml:space="preserve">-intercept </a:t>
            </a:r>
            <a:r>
              <a:rPr lang="en-US" sz="1575" dirty="0">
                <a:solidFill>
                  <a:srgbClr val="16171D"/>
                </a:solidFill>
                <a:latin typeface="Cambria"/>
                <a:cs typeface="Cambria"/>
              </a:rPr>
              <a:t xml:space="preserve">(0, </a:t>
            </a:r>
            <a:r>
              <a:rPr lang="en-US" sz="1575" dirty="0" i="1">
                <a:solidFill>
                  <a:srgbClr val="16171D"/>
                </a:solidFill>
                <a:latin typeface="Cambria"/>
                <a:cs typeface="Cambria"/>
              </a:rPr>
              <a:t xml:space="preserve">b</a:t>
            </a:r>
            <a:r>
              <a:rPr lang="en-US" sz="1575" dirty="0">
                <a:solidFill>
                  <a:srgbClr val="16171D"/>
                </a:solidFill>
                <a:latin typeface="Cambria"/>
                <a:cs typeface="Cambria"/>
              </a:rPr>
              <a:t xml:space="preserve">)</a:t>
            </a:r>
            <a:endParaRPr lang="en-US" sz="1575" dirty="0"/>
          </a:p>
        </p:txBody>
      </p:sp>
      <p:sp>
        <p:nvSpPr>
          <p:cNvPr id="10" name="Shape 10"/>
          <p:cNvSpPr txBox="1"/>
          <p:nvPr/>
        </p:nvSpPr>
        <p:spPr>
          <a:xfrm>
            <a:off x="895350" y="5065776"/>
            <a:ext cx="4876648" cy="103327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1425" dirty="0" b="1">
                <a:solidFill>
                  <a:srgbClr val="16171D"/>
                </a:solidFill>
                <a:latin typeface="Cambria"/>
                <a:cs typeface="Cambria"/>
              </a:rPr>
              <a:t xml:space="preserve">(0, −7)</a:t>
            </a:r>
            <a:br>
              <a:rPr lang="en-US" sz="1425" dirty="0">
                <a:solidFill>
                  <a:srgbClr val="16171D"/>
                </a:solidFill>
                <a:latin typeface="Segoe UI"/>
                <a:cs typeface="Segoe UI"/>
              </a:rPr>
            </a:br>
            <a:r>
              <a:rPr lang="en-US" sz="1425" dirty="0" b="1">
                <a:solidFill>
                  <a:srgbClr val="16171D"/>
                </a:solidFill>
                <a:latin typeface="Segoe UI"/>
                <a:cs typeface="Segoe UI"/>
              </a:rPr>
              <a:t xml:space="preserve">1.</a:t>
            </a:r>
            <a:r>
              <a:rPr lang="en-US" sz="1425" dirty="0">
                <a:solidFill>
                  <a:srgbClr val="16171D"/>
                </a:solidFill>
                <a:latin typeface="Segoe UI"/>
                <a:cs typeface="Segoe UI"/>
              </a:rPr>
              <a:t xml:space="preserve"> Match </a:t>
            </a:r>
            <a:r>
              <a:rPr lang="en-US" sz="1425" dirty="0" i="1">
                <a:solidFill>
                  <a:srgbClr val="16171D"/>
                </a:solidFill>
                <a:latin typeface="Cambria"/>
                <a:cs typeface="Cambria"/>
              </a:rPr>
              <a:t xml:space="preserve">y</a:t>
            </a:r>
            <a:r>
              <a:rPr lang="en-US" sz="1425" dirty="0">
                <a:solidFill>
                  <a:srgbClr val="16171D"/>
                </a:solidFill>
                <a:latin typeface="Cambria"/>
                <a:cs typeface="Cambria"/>
              </a:rPr>
              <a:t xml:space="preserve"> = 3</a:t>
            </a:r>
            <a:r>
              <a:rPr lang="en-US" sz="1425" dirty="0" i="1">
                <a:solidFill>
                  <a:srgbClr val="16171D"/>
                </a:solidFill>
                <a:latin typeface="Cambria"/>
                <a:cs typeface="Cambria"/>
              </a:rPr>
              <a:t xml:space="preserve">x</a:t>
            </a:r>
            <a:r>
              <a:rPr lang="en-US" sz="1425" dirty="0">
                <a:solidFill>
                  <a:srgbClr val="16171D"/>
                </a:solidFill>
                <a:latin typeface="Cambria"/>
                <a:cs typeface="Cambria"/>
              </a:rPr>
              <a:t xml:space="preserve"> − 7</a:t>
            </a:r>
            <a:r>
              <a:rPr lang="en-US" sz="1425" dirty="0">
                <a:solidFill>
                  <a:srgbClr val="16171D"/>
                </a:solidFill>
                <a:latin typeface="Segoe UI"/>
                <a:cs typeface="Segoe UI"/>
              </a:rPr>
              <a:t xml:space="preserve"> to </a:t>
            </a:r>
            <a:r>
              <a:rPr lang="en-US" sz="1425" dirty="0" i="1">
                <a:solidFill>
                  <a:srgbClr val="16171D"/>
                </a:solidFill>
                <a:latin typeface="Cambria"/>
                <a:cs typeface="Cambria"/>
              </a:rPr>
              <a:t xml:space="preserve">y</a:t>
            </a:r>
            <a:r>
              <a:rPr lang="en-US" sz="1425" dirty="0">
                <a:solidFill>
                  <a:srgbClr val="16171D"/>
                </a:solidFill>
                <a:latin typeface="Cambria"/>
                <a:cs typeface="Cambria"/>
              </a:rPr>
              <a:t xml:space="preserve"> = </a:t>
            </a:r>
            <a:r>
              <a:rPr lang="en-US" sz="1425" dirty="0" i="1">
                <a:solidFill>
                  <a:srgbClr val="16171D"/>
                </a:solidFill>
                <a:latin typeface="Cambria"/>
                <a:cs typeface="Cambria"/>
              </a:rPr>
              <a:t xml:space="preserve">m</a:t>
            </a:r>
            <a:r>
              <a:rPr lang="en-US" sz="1425" dirty="0" i="1">
                <a:solidFill>
                  <a:srgbClr val="16171D"/>
                </a:solidFill>
                <a:latin typeface="Cambria"/>
                <a:cs typeface="Cambria"/>
              </a:rPr>
              <a:t xml:space="preserve">x</a:t>
            </a:r>
            <a:r>
              <a:rPr lang="en-US" sz="1425" dirty="0">
                <a:solidFill>
                  <a:srgbClr val="16171D"/>
                </a:solidFill>
                <a:latin typeface="Cambria"/>
                <a:cs typeface="Cambria"/>
              </a:rPr>
              <a:t xml:space="preserve"> + </a:t>
            </a:r>
            <a:r>
              <a:rPr lang="en-US" sz="1425" dirty="0" i="1">
                <a:solidFill>
                  <a:srgbClr val="16171D"/>
                </a:solidFill>
                <a:latin typeface="Cambria"/>
                <a:cs typeface="Cambria"/>
              </a:rPr>
              <a:t xml:space="preserve">b</a:t>
            </a:r>
            <a:r>
              <a:rPr lang="en-US" sz="1425" dirty="0">
                <a:solidFill>
                  <a:srgbClr val="16171D"/>
                </a:solidFill>
                <a:latin typeface="Segoe UI"/>
                <a:cs typeface="Segoe UI"/>
              </a:rPr>
              <a:t xml:space="preserve">: </a:t>
            </a:r>
            <a:r>
              <a:rPr lang="en-US" sz="1425" dirty="0" i="1">
                <a:solidFill>
                  <a:srgbClr val="16171D"/>
                </a:solidFill>
                <a:latin typeface="Cambria"/>
                <a:cs typeface="Cambria"/>
              </a:rPr>
              <a:t xml:space="preserve">m</a:t>
            </a:r>
            <a:r>
              <a:rPr lang="en-US" sz="1425" dirty="0">
                <a:solidFill>
                  <a:srgbClr val="16171D"/>
                </a:solidFill>
                <a:latin typeface="Cambria"/>
                <a:cs typeface="Cambria"/>
              </a:rPr>
              <a:t xml:space="preserve"> = 3</a:t>
            </a:r>
            <a:r>
              <a:rPr lang="en-US" sz="1425" dirty="0">
                <a:solidFill>
                  <a:srgbClr val="16171D"/>
                </a:solidFill>
                <a:latin typeface="Segoe UI"/>
                <a:cs typeface="Segoe UI"/>
              </a:rPr>
              <a:t xml:space="preserve"> and </a:t>
            </a:r>
            <a:r>
              <a:rPr lang="en-US" sz="1425" dirty="0" i="1">
                <a:solidFill>
                  <a:srgbClr val="16171D"/>
                </a:solidFill>
                <a:latin typeface="Cambria"/>
                <a:cs typeface="Cambria"/>
              </a:rPr>
              <a:t xml:space="preserve">b</a:t>
            </a:r>
            <a:r>
              <a:rPr lang="en-US" sz="1425" dirty="0">
                <a:solidFill>
                  <a:srgbClr val="16171D"/>
                </a:solidFill>
                <a:latin typeface="Cambria"/>
                <a:cs typeface="Cambria"/>
              </a:rPr>
              <a:t xml:space="preserve"> = −7</a:t>
            </a:r>
            <a:r>
              <a:rPr lang="en-US" sz="1425" dirty="0">
                <a:solidFill>
                  <a:srgbClr val="16171D"/>
                </a:solidFill>
                <a:latin typeface="Segoe UI"/>
                <a:cs typeface="Segoe UI"/>
              </a:rPr>
              <a:t xml:space="preserve">.</a:t>
            </a:r>
            <a:br>
              <a:rPr lang="en-US" sz="1425" dirty="0">
                <a:solidFill>
                  <a:srgbClr val="16171D"/>
                </a:solidFill>
                <a:latin typeface="Segoe UI"/>
                <a:cs typeface="Segoe UI"/>
              </a:rPr>
            </a:br>
            <a:r>
              <a:rPr lang="en-US" sz="1425" dirty="0" b="1">
                <a:solidFill>
                  <a:srgbClr val="16171D"/>
                </a:solidFill>
                <a:latin typeface="Segoe UI"/>
                <a:cs typeface="Segoe UI"/>
              </a:rPr>
              <a:t xml:space="preserve">2.</a:t>
            </a:r>
            <a:r>
              <a:rPr lang="en-US" sz="1425" dirty="0">
                <a:solidFill>
                  <a:srgbClr val="16171D"/>
                </a:solidFill>
                <a:latin typeface="Segoe UI"/>
                <a:cs typeface="Segoe UI"/>
              </a:rPr>
              <a:t xml:space="preserve"> The </a:t>
            </a:r>
            <a:r>
              <a:rPr lang="en-US" sz="1425" dirty="0" i="1">
                <a:solidFill>
                  <a:srgbClr val="16171D"/>
                </a:solidFill>
                <a:latin typeface="Cambria"/>
                <a:cs typeface="Cambria"/>
              </a:rPr>
              <a:t xml:space="preserve">y</a:t>
            </a:r>
            <a:r>
              <a:rPr lang="en-US" sz="1425" dirty="0">
                <a:solidFill>
                  <a:srgbClr val="16171D"/>
                </a:solidFill>
                <a:latin typeface="Segoe UI"/>
                <a:cs typeface="Segoe UI"/>
              </a:rPr>
              <a:t xml:space="preserve">-intercept is </a:t>
            </a:r>
            <a:r>
              <a:rPr lang="en-US" sz="1425" dirty="0">
                <a:solidFill>
                  <a:srgbClr val="16171D"/>
                </a:solidFill>
                <a:latin typeface="Cambria"/>
                <a:cs typeface="Cambria"/>
              </a:rPr>
              <a:t xml:space="preserve">(0, </a:t>
            </a:r>
            <a:r>
              <a:rPr lang="en-US" sz="1425" dirty="0" i="1">
                <a:solidFill>
                  <a:srgbClr val="16171D"/>
                </a:solidFill>
                <a:latin typeface="Cambria"/>
                <a:cs typeface="Cambria"/>
              </a:rPr>
              <a:t xml:space="preserve">b</a:t>
            </a:r>
            <a:r>
              <a:rPr lang="en-US" sz="1425" dirty="0">
                <a:solidFill>
                  <a:srgbClr val="16171D"/>
                </a:solidFill>
                <a:latin typeface="Cambria"/>
                <a:cs typeface="Cambria"/>
              </a:rPr>
              <a:t xml:space="preserve">) = (0, −7)</a:t>
            </a:r>
            <a:r>
              <a:rPr lang="en-US" sz="1425" dirty="0">
                <a:solidFill>
                  <a:srgbClr val="16171D"/>
                </a:solidFill>
                <a:latin typeface="Segoe UI"/>
                <a:cs typeface="Segoe UI"/>
              </a:rPr>
              <a:t xml:space="preserve">.</a:t>
            </a:r>
            <a:endParaRPr lang="en-US" sz="1425" dirty="0"/>
          </a:p>
        </p:txBody>
      </p:sp>
      <p:sp>
        <p:nvSpPr>
          <p:cNvPr id="15" name="Shape 15"/>
          <p:cNvSpPr txBox="1"/>
          <p:nvPr/>
        </p:nvSpPr>
        <p:spPr>
          <a:xfrm>
            <a:off x="6210148" y="1618488"/>
            <a:ext cx="5295748" cy="204216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2" name="Shape 12"/>
          <p:cNvSpPr txBox="1"/>
          <p:nvPr/>
        </p:nvSpPr>
        <p:spPr>
          <a:xfrm>
            <a:off x="6419698" y="1789938"/>
            <a:ext cx="48766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3.</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f</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2</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+ 1</a:t>
            </a:r>
            <a:r>
              <a:rPr lang="en-US" sz="1575" dirty="0">
                <a:solidFill>
                  <a:srgbClr val="16171D"/>
                </a:solidFill>
                <a:latin typeface="Segoe UI"/>
                <a:cs typeface="Segoe UI"/>
              </a:rPr>
              <a:t xml:space="preserve">. What is </a:t>
            </a:r>
            <a:r>
              <a:rPr lang="en-US" sz="1575" dirty="0" i="1">
                <a:solidFill>
                  <a:srgbClr val="16171D"/>
                </a:solidFill>
                <a:latin typeface="Cambria"/>
                <a:cs typeface="Cambria"/>
              </a:rPr>
              <a:t xml:space="preserve">f</a:t>
            </a:r>
            <a:r>
              <a:rPr lang="en-US" sz="1575" dirty="0">
                <a:solidFill>
                  <a:srgbClr val="16171D"/>
                </a:solidFill>
                <a:latin typeface="Cambria"/>
                <a:cs typeface="Cambria"/>
              </a:rPr>
              <a:t xml:space="preserve">(−3)</a:t>
            </a:r>
            <a:r>
              <a:rPr lang="en-US" sz="1575" dirty="0">
                <a:solidFill>
                  <a:srgbClr val="16171D"/>
                </a:solidFill>
                <a:latin typeface="Segoe UI"/>
                <a:cs typeface="Segoe UI"/>
              </a:rPr>
              <a:t xml:space="preserve">?</a:t>
            </a:r>
            <a:endParaRPr lang="en-US" sz="1575" dirty="0"/>
          </a:p>
        </p:txBody>
      </p:sp>
      <p:sp>
        <p:nvSpPr>
          <p:cNvPr id="13" name="Shape 13"/>
          <p:cNvSpPr txBox="1"/>
          <p:nvPr/>
        </p:nvSpPr>
        <p:spPr>
          <a:xfrm>
            <a:off x="6419698" y="2122932"/>
            <a:ext cx="48766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Formula:</a:t>
            </a:r>
            <a:r>
              <a:rPr lang="en-US" sz="1575" dirty="0">
                <a:solidFill>
                  <a:srgbClr val="16171D"/>
                </a:solidFill>
                <a:latin typeface="Segoe UI"/>
                <a:cs typeface="Segoe UI"/>
              </a:rPr>
              <a:t xml:space="preserve"> put the number in for </a:t>
            </a:r>
            <a:r>
              <a:rPr lang="en-US" sz="1575" dirty="0" i="1">
                <a:solidFill>
                  <a:srgbClr val="16171D"/>
                </a:solidFill>
                <a:latin typeface="Cambria"/>
                <a:cs typeface="Cambria"/>
              </a:rPr>
              <a:t xml:space="preserve">x</a:t>
            </a:r>
            <a:endParaRPr lang="en-US" sz="1575" dirty="0"/>
          </a:p>
        </p:txBody>
      </p:sp>
      <p:sp>
        <p:nvSpPr>
          <p:cNvPr id="14" name="Shape 14"/>
          <p:cNvSpPr txBox="1"/>
          <p:nvPr/>
        </p:nvSpPr>
        <p:spPr>
          <a:xfrm>
            <a:off x="6419698" y="2455926"/>
            <a:ext cx="4443047" cy="103327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1425" dirty="0" b="1">
                <a:solidFill>
                  <a:srgbClr val="16171D"/>
                </a:solidFill>
                <a:latin typeface="Cambria"/>
                <a:cs typeface="Cambria"/>
              </a:rPr>
              <a:t xml:space="preserve">−5</a:t>
            </a:r>
            <a:br>
              <a:rPr lang="en-US" sz="1425" dirty="0">
                <a:solidFill>
                  <a:srgbClr val="16171D"/>
                </a:solidFill>
                <a:latin typeface="Segoe UI"/>
                <a:cs typeface="Segoe UI"/>
              </a:rPr>
            </a:br>
            <a:r>
              <a:rPr lang="en-US" sz="1425" dirty="0" b="1">
                <a:solidFill>
                  <a:srgbClr val="16171D"/>
                </a:solidFill>
                <a:latin typeface="Segoe UI"/>
                <a:cs typeface="Segoe UI"/>
              </a:rPr>
              <a:t xml:space="preserve">1.</a:t>
            </a:r>
            <a:r>
              <a:rPr lang="en-US" sz="1425" dirty="0">
                <a:solidFill>
                  <a:srgbClr val="16171D"/>
                </a:solidFill>
                <a:latin typeface="Segoe UI"/>
                <a:cs typeface="Segoe UI"/>
              </a:rPr>
              <a:t xml:space="preserve"> Replace </a:t>
            </a:r>
            <a:r>
              <a:rPr lang="en-US" sz="1425" dirty="0" i="1">
                <a:solidFill>
                  <a:srgbClr val="16171D"/>
                </a:solidFill>
                <a:latin typeface="Cambria"/>
                <a:cs typeface="Cambria"/>
              </a:rPr>
              <a:t xml:space="preserve">x</a:t>
            </a:r>
            <a:r>
              <a:rPr lang="en-US" sz="1425" dirty="0">
                <a:solidFill>
                  <a:srgbClr val="16171D"/>
                </a:solidFill>
                <a:latin typeface="Segoe UI"/>
                <a:cs typeface="Segoe UI"/>
              </a:rPr>
              <a:t xml:space="preserve"> with </a:t>
            </a:r>
            <a:r>
              <a:rPr lang="en-US" sz="1425" dirty="0">
                <a:solidFill>
                  <a:srgbClr val="16171D"/>
                </a:solidFill>
                <a:latin typeface="Cambria"/>
                <a:cs typeface="Cambria"/>
              </a:rPr>
              <a:t xml:space="preserve">(−3)</a:t>
            </a:r>
            <a:r>
              <a:rPr lang="en-US" sz="1425" dirty="0">
                <a:solidFill>
                  <a:srgbClr val="16171D"/>
                </a:solidFill>
                <a:latin typeface="Segoe UI"/>
                <a:cs typeface="Segoe UI"/>
              </a:rPr>
              <a:t xml:space="preserve">: </a:t>
            </a:r>
            <a:r>
              <a:rPr lang="en-US" sz="1425" dirty="0" i="1">
                <a:solidFill>
                  <a:srgbClr val="16171D"/>
                </a:solidFill>
                <a:latin typeface="Cambria"/>
                <a:cs typeface="Cambria"/>
              </a:rPr>
              <a:t xml:space="preserve">f</a:t>
            </a:r>
            <a:r>
              <a:rPr lang="en-US" sz="1425" dirty="0">
                <a:solidFill>
                  <a:srgbClr val="16171D"/>
                </a:solidFill>
                <a:latin typeface="Cambria"/>
                <a:cs typeface="Cambria"/>
              </a:rPr>
              <a:t xml:space="preserve">(−3) = 2(−3) + 1</a:t>
            </a:r>
            <a:r>
              <a:rPr lang="en-US" sz="1425" dirty="0">
                <a:solidFill>
                  <a:srgbClr val="16171D"/>
                </a:solidFill>
                <a:latin typeface="Segoe UI"/>
                <a:cs typeface="Segoe UI"/>
              </a:rPr>
              <a:t xml:space="preserve">.</a:t>
            </a:r>
            <a:br>
              <a:rPr lang="en-US" sz="1425" dirty="0">
                <a:solidFill>
                  <a:srgbClr val="16171D"/>
                </a:solidFill>
                <a:latin typeface="Segoe UI"/>
                <a:cs typeface="Segoe UI"/>
              </a:rPr>
            </a:br>
            <a:r>
              <a:rPr lang="en-US" sz="1425" dirty="0" b="1">
                <a:solidFill>
                  <a:srgbClr val="16171D"/>
                </a:solidFill>
                <a:latin typeface="Segoe UI"/>
                <a:cs typeface="Segoe UI"/>
              </a:rPr>
              <a:t xml:space="preserve">2.</a:t>
            </a:r>
            <a:r>
              <a:rPr lang="en-US" sz="1425" dirty="0">
                <a:solidFill>
                  <a:srgbClr val="16171D"/>
                </a:solidFill>
                <a:latin typeface="Segoe UI"/>
                <a:cs typeface="Segoe UI"/>
              </a:rPr>
              <a:t xml:space="preserve"> Multiply: </a:t>
            </a:r>
            <a:r>
              <a:rPr lang="en-US" sz="1425" dirty="0">
                <a:solidFill>
                  <a:srgbClr val="16171D"/>
                </a:solidFill>
                <a:latin typeface="Cambria"/>
                <a:cs typeface="Cambria"/>
              </a:rPr>
              <a:t xml:space="preserve">2(−3) = −6</a:t>
            </a:r>
            <a:r>
              <a:rPr lang="en-US" sz="1425" dirty="0">
                <a:solidFill>
                  <a:srgbClr val="16171D"/>
                </a:solidFill>
                <a:latin typeface="Segoe UI"/>
                <a:cs typeface="Segoe UI"/>
              </a:rPr>
              <a:t xml:space="preserve">.</a:t>
            </a:r>
            <a:br>
              <a:rPr lang="en-US" sz="1425" dirty="0">
                <a:solidFill>
                  <a:srgbClr val="16171D"/>
                </a:solidFill>
                <a:latin typeface="Segoe UI"/>
                <a:cs typeface="Segoe UI"/>
              </a:rPr>
            </a:br>
            <a:r>
              <a:rPr lang="en-US" sz="1425" dirty="0" b="1">
                <a:solidFill>
                  <a:srgbClr val="16171D"/>
                </a:solidFill>
                <a:latin typeface="Segoe UI"/>
                <a:cs typeface="Segoe UI"/>
              </a:rPr>
              <a:t xml:space="preserve">3.</a:t>
            </a:r>
            <a:r>
              <a:rPr lang="en-US" sz="1425" dirty="0">
                <a:solidFill>
                  <a:srgbClr val="16171D"/>
                </a:solidFill>
                <a:latin typeface="Segoe UI"/>
                <a:cs typeface="Segoe UI"/>
              </a:rPr>
              <a:t xml:space="preserve"> Add: </a:t>
            </a:r>
            <a:r>
              <a:rPr lang="en-US" sz="1425" dirty="0">
                <a:solidFill>
                  <a:srgbClr val="16171D"/>
                </a:solidFill>
                <a:latin typeface="Cambria"/>
                <a:cs typeface="Cambria"/>
              </a:rPr>
              <a:t xml:space="preserve">−6 + 1 = −5</a:t>
            </a:r>
            <a:r>
              <a:rPr lang="en-US" sz="1425" dirty="0">
                <a:solidFill>
                  <a:srgbClr val="16171D"/>
                </a:solidFill>
                <a:latin typeface="Segoe UI"/>
                <a:cs typeface="Segoe UI"/>
              </a:rPr>
              <a:t xml:space="preserve">.</a:t>
            </a:r>
            <a:endParaRPr lang="en-US" sz="1425" dirty="0"/>
          </a:p>
        </p:txBody>
      </p:sp>
      <p:sp>
        <p:nvSpPr>
          <p:cNvPr id="19" name="Shape 19"/>
          <p:cNvSpPr txBox="1"/>
          <p:nvPr/>
        </p:nvSpPr>
        <p:spPr>
          <a:xfrm>
            <a:off x="6210148" y="3793998"/>
            <a:ext cx="5295748" cy="204216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6" name="Shape 16"/>
          <p:cNvSpPr txBox="1"/>
          <p:nvPr/>
        </p:nvSpPr>
        <p:spPr>
          <a:xfrm>
            <a:off x="6419698" y="3965448"/>
            <a:ext cx="48766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4.</a:t>
            </a:r>
            <a:r>
              <a:rPr lang="en-US" sz="1575" dirty="0">
                <a:solidFill>
                  <a:srgbClr val="16171D"/>
                </a:solidFill>
                <a:latin typeface="Segoe UI"/>
                <a:cs typeface="Segoe UI"/>
              </a:rPr>
              <a:t xml:space="preserve"> Which line is parallel to </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 = 3</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+ 1</a:t>
            </a:r>
            <a:r>
              <a:rPr lang="en-US" sz="1575" dirty="0">
                <a:solidFill>
                  <a:srgbClr val="16171D"/>
                </a:solidFill>
                <a:latin typeface="Segoe UI"/>
                <a:cs typeface="Segoe UI"/>
              </a:rPr>
              <a:t xml:space="preserve">?</a:t>
            </a:r>
            <a:endParaRPr lang="en-US" sz="1575" dirty="0"/>
          </a:p>
        </p:txBody>
      </p:sp>
      <p:sp>
        <p:nvSpPr>
          <p:cNvPr id="17" name="Shape 17"/>
          <p:cNvSpPr txBox="1"/>
          <p:nvPr/>
        </p:nvSpPr>
        <p:spPr>
          <a:xfrm>
            <a:off x="6419698" y="4298442"/>
            <a:ext cx="48766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Formula:</a:t>
            </a:r>
            <a:r>
              <a:rPr lang="en-US" sz="1575" dirty="0">
                <a:solidFill>
                  <a:srgbClr val="16171D"/>
                </a:solidFill>
                <a:latin typeface="Segoe UI"/>
                <a:cs typeface="Segoe UI"/>
              </a:rPr>
              <a:t xml:space="preserve"> parallel lines have the same slope</a:t>
            </a:r>
            <a:endParaRPr lang="en-US" sz="1575" dirty="0"/>
          </a:p>
        </p:txBody>
      </p:sp>
      <p:sp>
        <p:nvSpPr>
          <p:cNvPr id="18" name="Shape 18"/>
          <p:cNvSpPr txBox="1"/>
          <p:nvPr/>
        </p:nvSpPr>
        <p:spPr>
          <a:xfrm>
            <a:off x="6419698" y="4631436"/>
            <a:ext cx="4876648" cy="103327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1425" dirty="0" b="1" i="1">
                <a:solidFill>
                  <a:srgbClr val="16171D"/>
                </a:solidFill>
                <a:latin typeface="Cambria"/>
                <a:cs typeface="Cambria"/>
              </a:rPr>
              <a:t xml:space="preserve">y</a:t>
            </a:r>
            <a:r>
              <a:rPr lang="en-US" sz="1425" dirty="0" b="1">
                <a:solidFill>
                  <a:srgbClr val="16171D"/>
                </a:solidFill>
                <a:latin typeface="Cambria"/>
                <a:cs typeface="Cambria"/>
              </a:rPr>
              <a:t xml:space="preserve"> = 3</a:t>
            </a:r>
            <a:r>
              <a:rPr lang="en-US" sz="1425" dirty="0" b="1" i="1">
                <a:solidFill>
                  <a:srgbClr val="16171D"/>
                </a:solidFill>
                <a:latin typeface="Cambria"/>
                <a:cs typeface="Cambria"/>
              </a:rPr>
              <a:t xml:space="preserve">x</a:t>
            </a:r>
            <a:r>
              <a:rPr lang="en-US" sz="1425" dirty="0" b="1">
                <a:solidFill>
                  <a:srgbClr val="16171D"/>
                </a:solidFill>
                <a:latin typeface="Cambria"/>
                <a:cs typeface="Cambria"/>
              </a:rPr>
              <a:t xml:space="preserve"> − 5</a:t>
            </a:r>
            <a:br>
              <a:rPr lang="en-US" sz="1425" dirty="0">
                <a:solidFill>
                  <a:srgbClr val="16171D"/>
                </a:solidFill>
                <a:latin typeface="Segoe UI"/>
                <a:cs typeface="Segoe UI"/>
              </a:rPr>
            </a:br>
            <a:r>
              <a:rPr lang="en-US" sz="1425" dirty="0" b="1">
                <a:solidFill>
                  <a:srgbClr val="16171D"/>
                </a:solidFill>
                <a:latin typeface="Segoe UI"/>
                <a:cs typeface="Segoe UI"/>
              </a:rPr>
              <a:t xml:space="preserve">1.</a:t>
            </a:r>
            <a:r>
              <a:rPr lang="en-US" sz="1425" dirty="0">
                <a:solidFill>
                  <a:srgbClr val="16171D"/>
                </a:solidFill>
                <a:latin typeface="Segoe UI"/>
                <a:cs typeface="Segoe UI"/>
              </a:rPr>
              <a:t xml:space="preserve"> The slope of </a:t>
            </a:r>
            <a:r>
              <a:rPr lang="en-US" sz="1425" dirty="0" i="1">
                <a:solidFill>
                  <a:srgbClr val="16171D"/>
                </a:solidFill>
                <a:latin typeface="Cambria"/>
                <a:cs typeface="Cambria"/>
              </a:rPr>
              <a:t xml:space="preserve">y</a:t>
            </a:r>
            <a:r>
              <a:rPr lang="en-US" sz="1425" dirty="0">
                <a:solidFill>
                  <a:srgbClr val="16171D"/>
                </a:solidFill>
                <a:latin typeface="Cambria"/>
                <a:cs typeface="Cambria"/>
              </a:rPr>
              <a:t xml:space="preserve"> = 3</a:t>
            </a:r>
            <a:r>
              <a:rPr lang="en-US" sz="1425" dirty="0" i="1">
                <a:solidFill>
                  <a:srgbClr val="16171D"/>
                </a:solidFill>
                <a:latin typeface="Cambria"/>
                <a:cs typeface="Cambria"/>
              </a:rPr>
              <a:t xml:space="preserve">x</a:t>
            </a:r>
            <a:r>
              <a:rPr lang="en-US" sz="1425" dirty="0">
                <a:solidFill>
                  <a:srgbClr val="16171D"/>
                </a:solidFill>
                <a:latin typeface="Cambria"/>
                <a:cs typeface="Cambria"/>
              </a:rPr>
              <a:t xml:space="preserve"> + 1</a:t>
            </a:r>
            <a:r>
              <a:rPr lang="en-US" sz="1425" dirty="0">
                <a:solidFill>
                  <a:srgbClr val="16171D"/>
                </a:solidFill>
                <a:latin typeface="Segoe UI"/>
                <a:cs typeface="Segoe UI"/>
              </a:rPr>
              <a:t xml:space="preserve"> is 3, the number with </a:t>
            </a:r>
            <a:r>
              <a:rPr lang="en-US" sz="1425" dirty="0" i="1">
                <a:solidFill>
                  <a:srgbClr val="16171D"/>
                </a:solidFill>
                <a:latin typeface="Cambria"/>
                <a:cs typeface="Cambria"/>
              </a:rPr>
              <a:t xml:space="preserve">x</a:t>
            </a:r>
            <a:r>
              <a:rPr lang="en-US" sz="1425" dirty="0">
                <a:solidFill>
                  <a:srgbClr val="16171D"/>
                </a:solidFill>
                <a:latin typeface="Segoe UI"/>
                <a:cs typeface="Segoe UI"/>
              </a:rPr>
              <a:t xml:space="preserve">.</a:t>
            </a:r>
            <a:br>
              <a:rPr lang="en-US" sz="1425" dirty="0">
                <a:solidFill>
                  <a:srgbClr val="16171D"/>
                </a:solidFill>
                <a:latin typeface="Segoe UI"/>
                <a:cs typeface="Segoe UI"/>
              </a:rPr>
            </a:br>
            <a:r>
              <a:rPr lang="en-US" sz="1425" dirty="0" b="1">
                <a:solidFill>
                  <a:srgbClr val="16171D"/>
                </a:solidFill>
                <a:latin typeface="Segoe UI"/>
                <a:cs typeface="Segoe UI"/>
              </a:rPr>
              <a:t xml:space="preserve">2.</a:t>
            </a:r>
            <a:r>
              <a:rPr lang="en-US" sz="1425" dirty="0">
                <a:solidFill>
                  <a:srgbClr val="16171D"/>
                </a:solidFill>
                <a:latin typeface="Segoe UI"/>
                <a:cs typeface="Segoe UI"/>
              </a:rPr>
              <a:t xml:space="preserve"> Find the choice with slope 3: </a:t>
            </a:r>
            <a:r>
              <a:rPr lang="en-US" sz="1425" dirty="0" i="1">
                <a:solidFill>
                  <a:srgbClr val="16171D"/>
                </a:solidFill>
                <a:latin typeface="Cambria"/>
                <a:cs typeface="Cambria"/>
              </a:rPr>
              <a:t xml:space="preserve">y</a:t>
            </a:r>
            <a:r>
              <a:rPr lang="en-US" sz="1425" dirty="0">
                <a:solidFill>
                  <a:srgbClr val="16171D"/>
                </a:solidFill>
                <a:latin typeface="Cambria"/>
                <a:cs typeface="Cambria"/>
              </a:rPr>
              <a:t xml:space="preserve"> = 3</a:t>
            </a:r>
            <a:r>
              <a:rPr lang="en-US" sz="1425" dirty="0" i="1">
                <a:solidFill>
                  <a:srgbClr val="16171D"/>
                </a:solidFill>
                <a:latin typeface="Cambria"/>
                <a:cs typeface="Cambria"/>
              </a:rPr>
              <a:t xml:space="preserve">x</a:t>
            </a:r>
            <a:r>
              <a:rPr lang="en-US" sz="1425" dirty="0">
                <a:solidFill>
                  <a:srgbClr val="16171D"/>
                </a:solidFill>
                <a:latin typeface="Cambria"/>
                <a:cs typeface="Cambria"/>
              </a:rPr>
              <a:t xml:space="preserve"> − 5</a:t>
            </a:r>
            <a:r>
              <a:rPr lang="en-US" sz="1425" dirty="0">
                <a:solidFill>
                  <a:srgbClr val="16171D"/>
                </a:solidFill>
                <a:latin typeface="Segoe UI"/>
                <a:cs typeface="Segoe UI"/>
              </a:rPr>
              <a:t xml:space="preserve">.</a:t>
            </a:r>
            <a:endParaRPr lang="en-US" sz="1425" dirty="0"/>
          </a:p>
        </p:txBody>
      </p:sp>
      <p:sp>
        <p:nvSpPr>
          <p:cNvPr id="20" name="Slide Number 20"/>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6"/>
                                        </p:tgtEl>
                                        <p:attrNameLst>
                                          <p:attrName>style.visibility</p:attrName>
                                        </p:attrNameLst>
                                      </p:cBhvr>
                                      <p:to>
                                        <p:strVal val="visible"/>
                                      </p:to>
                                    </p:set>
                                    <p:animEffect transition="in" filter="fade">
                                      <p:cBhvr>
                                        <p:cTn id="4" dur="500"/>
                                        <p:tgtEl>
                                          <p:spTgt spid="6"/>
                                        </p:tgtEl>
                                      </p:cBhvr>
                                    </p:animEffect>
                                    <p:anim calcmode="lin" valueType="num">
                                      <p:cBhvr>
                                        <p:cTn id="5" dur="500" fill="hold"/>
                                        <p:tgtEl>
                                          <p:spTgt spid="6"/>
                                        </p:tgtEl>
                                        <p:attrNameLst>
                                          <p:attrName>ppt_w</p:attrName>
                                        </p:attrNameLst>
                                      </p:cBhvr>
                                      <p:tavLst>
                                        <p:tav tm="0">
                                          <p:val>
                                            <p:fltVal val="0"/>
                                          </p:val>
                                        </p:tav>
                                        <p:tav tm="100000">
                                          <p:val>
                                            <p:strVal val="#ppt_w"/>
                                          </p:val>
                                        </p:tav>
                                      </p:tavLst>
                                    </p:anim>
                                    <p:anim calcmode="lin" valueType="num">
                                      <p:cBhvr>
                                        <p:cTn id="6" dur="500" fill="hold"/>
                                        <p:tgtEl>
                                          <p:spTgt spid="6"/>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00"/>
                                        <p:tgtEl>
                                          <p:spTgt spid="10"/>
                                        </p:tgtEl>
                                      </p:cBhvr>
                                    </p:animEffect>
                                    <p:anim calcmode="lin" valueType="num">
                                      <p:cBhvr>
                                        <p:cTn id="12" dur="500" fill="hold"/>
                                        <p:tgtEl>
                                          <p:spTgt spid="10"/>
                                        </p:tgtEl>
                                        <p:attrNameLst>
                                          <p:attrName>ppt_w</p:attrName>
                                        </p:attrNameLst>
                                      </p:cBhvr>
                                      <p:tavLst>
                                        <p:tav tm="0">
                                          <p:val>
                                            <p:fltVal val="0"/>
                                          </p:val>
                                        </p:tav>
                                        <p:tav tm="100000">
                                          <p:val>
                                            <p:strVal val="#ppt_w"/>
                                          </p:val>
                                        </p:tav>
                                      </p:tavLst>
                                    </p:anim>
                                    <p:anim calcmode="lin" valueType="num">
                                      <p:cBhvr>
                                        <p:cTn id="13" dur="500" fill="hold"/>
                                        <p:tgtEl>
                                          <p:spTgt spid="10"/>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anim calcmode="lin" valueType="num">
                                      <p:cBhvr>
                                        <p:cTn id="19" dur="500" fill="hold"/>
                                        <p:tgtEl>
                                          <p:spTgt spid="14"/>
                                        </p:tgtEl>
                                        <p:attrNameLst>
                                          <p:attrName>ppt_w</p:attrName>
                                        </p:attrNameLst>
                                      </p:cBhvr>
                                      <p:tavLst>
                                        <p:tav tm="0">
                                          <p:val>
                                            <p:fltVal val="0"/>
                                          </p:val>
                                        </p:tav>
                                        <p:tav tm="100000">
                                          <p:val>
                                            <p:strVal val="#ppt_w"/>
                                          </p:val>
                                        </p:tav>
                                      </p:tavLst>
                                    </p:anim>
                                    <p:anim calcmode="lin" valueType="num">
                                      <p:cBhvr>
                                        <p:cTn id="20" dur="500" fill="hold"/>
                                        <p:tgtEl>
                                          <p:spTgt spid="14"/>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500"/>
                                        <p:tgtEl>
                                          <p:spTgt spid="18"/>
                                        </p:tgtEl>
                                      </p:cBhvr>
                                    </p:animEffect>
                                    <p:anim calcmode="lin" valueType="num">
                                      <p:cBhvr>
                                        <p:cTn id="26" dur="500" fill="hold"/>
                                        <p:tgtEl>
                                          <p:spTgt spid="18"/>
                                        </p:tgtEl>
                                        <p:attrNameLst>
                                          <p:attrName>ppt_w</p:attrName>
                                        </p:attrNameLst>
                                      </p:cBhvr>
                                      <p:tavLst>
                                        <p:tav tm="0">
                                          <p:val>
                                            <p:fltVal val="0"/>
                                          </p:val>
                                        </p:tav>
                                        <p:tav tm="100000">
                                          <p:val>
                                            <p:strVal val="#ppt_w"/>
                                          </p:val>
                                        </p:tav>
                                      </p:tavLst>
                                    </p:anim>
                                    <p:anim calcmode="lin" valueType="num">
                                      <p:cBhvr>
                                        <p:cTn id="27" dur="500" fill="hold"/>
                                        <p:tgtEl>
                                          <p:spTgt spid="1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Bell Work · Review</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Warm up: work these on your own</a:t>
            </a:r>
            <a:endParaRPr lang="en-US" sz="3450" dirty="0"/>
          </a:p>
        </p:txBody>
      </p:sp>
      <p:sp>
        <p:nvSpPr>
          <p:cNvPr id="7" name="Shape 7"/>
          <p:cNvSpPr txBox="1"/>
          <p:nvPr/>
        </p:nvSpPr>
        <p:spPr>
          <a:xfrm>
            <a:off x="685800" y="1618488"/>
            <a:ext cx="5295748" cy="228219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487664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1.</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f</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x</a:t>
            </a:r>
            <a:r>
              <a:rPr lang="en-US" sz="1575" dirty="0">
                <a:solidFill>
                  <a:srgbClr val="16171D"/>
                </a:solidFill>
                <a:latin typeface="Segoe UI"/>
                <a:cs typeface="Segoe UI"/>
              </a:rPr>
              <a:t xml:space="preserve"> is translated up 4 units. Which equation is the new function?</a:t>
            </a:r>
            <a:endParaRPr lang="en-US" sz="1575" dirty="0"/>
          </a:p>
        </p:txBody>
      </p:sp>
      <p:sp>
        <p:nvSpPr>
          <p:cNvPr id="5" name="Shape 5"/>
          <p:cNvSpPr txBox="1"/>
          <p:nvPr/>
        </p:nvSpPr>
        <p:spPr>
          <a:xfrm>
            <a:off x="895350" y="2362962"/>
            <a:ext cx="48766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Formula:</a:t>
            </a:r>
            <a:r>
              <a:rPr lang="en-US" sz="1575" dirty="0">
                <a:solidFill>
                  <a:srgbClr val="16171D"/>
                </a:solidFill>
                <a:latin typeface="Segoe UI"/>
                <a:cs typeface="Segoe UI"/>
              </a:rPr>
              <a:t xml:space="preserve"> up </a:t>
            </a:r>
            <a:r>
              <a:rPr lang="en-US" sz="1575" dirty="0" i="1">
                <a:solidFill>
                  <a:srgbClr val="16171D"/>
                </a:solidFill>
                <a:latin typeface="Cambria"/>
                <a:cs typeface="Cambria"/>
              </a:rPr>
              <a:t xml:space="preserve">d</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g</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f</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d</a:t>
            </a:r>
            <a:endParaRPr lang="en-US" sz="1575" dirty="0"/>
          </a:p>
        </p:txBody>
      </p:sp>
      <p:sp>
        <p:nvSpPr>
          <p:cNvPr id="6" name="Shape 6"/>
          <p:cNvSpPr txBox="1"/>
          <p:nvPr/>
        </p:nvSpPr>
        <p:spPr>
          <a:xfrm>
            <a:off x="895350" y="2695956"/>
            <a:ext cx="4876648" cy="103327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1425" dirty="0" b="1" i="1">
                <a:solidFill>
                  <a:srgbClr val="16171D"/>
                </a:solidFill>
                <a:latin typeface="Cambria"/>
                <a:cs typeface="Cambria"/>
              </a:rPr>
              <a:t xml:space="preserve">g</a:t>
            </a:r>
            <a:r>
              <a:rPr lang="en-US" sz="1425" dirty="0" b="1">
                <a:solidFill>
                  <a:srgbClr val="16171D"/>
                </a:solidFill>
                <a:latin typeface="Cambria"/>
                <a:cs typeface="Cambria"/>
              </a:rPr>
              <a:t xml:space="preserve">(</a:t>
            </a:r>
            <a:r>
              <a:rPr lang="en-US" sz="1425" dirty="0" b="1" i="1">
                <a:solidFill>
                  <a:srgbClr val="16171D"/>
                </a:solidFill>
                <a:latin typeface="Cambria"/>
                <a:cs typeface="Cambria"/>
              </a:rPr>
              <a:t xml:space="preserve">x</a:t>
            </a:r>
            <a:r>
              <a:rPr lang="en-US" sz="1425" dirty="0" b="1">
                <a:solidFill>
                  <a:srgbClr val="16171D"/>
                </a:solidFill>
                <a:latin typeface="Cambria"/>
                <a:cs typeface="Cambria"/>
              </a:rPr>
              <a:t xml:space="preserve">) = </a:t>
            </a:r>
            <a:r>
              <a:rPr lang="en-US" sz="1425" dirty="0" b="1" i="1">
                <a:solidFill>
                  <a:srgbClr val="16171D"/>
                </a:solidFill>
                <a:latin typeface="Cambria"/>
                <a:cs typeface="Cambria"/>
              </a:rPr>
              <a:t xml:space="preserve">x</a:t>
            </a:r>
            <a:r>
              <a:rPr lang="en-US" sz="1425" dirty="0" b="1">
                <a:solidFill>
                  <a:srgbClr val="16171D"/>
                </a:solidFill>
                <a:latin typeface="Cambria"/>
                <a:cs typeface="Cambria"/>
              </a:rPr>
              <a:t xml:space="preserve"> + 4</a:t>
            </a:r>
            <a:br>
              <a:rPr lang="en-US" sz="1425" dirty="0">
                <a:solidFill>
                  <a:srgbClr val="16171D"/>
                </a:solidFill>
                <a:latin typeface="Segoe UI"/>
                <a:cs typeface="Segoe UI"/>
              </a:rPr>
            </a:br>
            <a:r>
              <a:rPr lang="en-US" sz="1425" dirty="0" b="1">
                <a:solidFill>
                  <a:srgbClr val="16171D"/>
                </a:solidFill>
                <a:latin typeface="Segoe UI"/>
                <a:cs typeface="Segoe UI"/>
              </a:rPr>
              <a:t xml:space="preserve">1.</a:t>
            </a:r>
            <a:r>
              <a:rPr lang="en-US" sz="1425" dirty="0">
                <a:solidFill>
                  <a:srgbClr val="16171D"/>
                </a:solidFill>
                <a:latin typeface="Segoe UI"/>
                <a:cs typeface="Segoe UI"/>
              </a:rPr>
              <a:t xml:space="preserve"> Up 4 means add 4 to every output: </a:t>
            </a:r>
            <a:r>
              <a:rPr lang="en-US" sz="1425" dirty="0" i="1">
                <a:solidFill>
                  <a:srgbClr val="16171D"/>
                </a:solidFill>
                <a:latin typeface="Cambria"/>
                <a:cs typeface="Cambria"/>
              </a:rPr>
              <a:t xml:space="preserve">g</a:t>
            </a:r>
            <a:r>
              <a:rPr lang="en-US" sz="1425" dirty="0">
                <a:solidFill>
                  <a:srgbClr val="16171D"/>
                </a:solidFill>
                <a:latin typeface="Cambria"/>
                <a:cs typeface="Cambria"/>
              </a:rPr>
              <a:t xml:space="preserve">(</a:t>
            </a:r>
            <a:r>
              <a:rPr lang="en-US" sz="1425" dirty="0" i="1">
                <a:solidFill>
                  <a:srgbClr val="16171D"/>
                </a:solidFill>
                <a:latin typeface="Cambria"/>
                <a:cs typeface="Cambria"/>
              </a:rPr>
              <a:t xml:space="preserve">x</a:t>
            </a:r>
            <a:r>
              <a:rPr lang="en-US" sz="1425" dirty="0">
                <a:solidFill>
                  <a:srgbClr val="16171D"/>
                </a:solidFill>
                <a:latin typeface="Cambria"/>
                <a:cs typeface="Cambria"/>
              </a:rPr>
              <a:t xml:space="preserve">) = </a:t>
            </a:r>
            <a:r>
              <a:rPr lang="en-US" sz="1425" dirty="0" i="1">
                <a:solidFill>
                  <a:srgbClr val="16171D"/>
                </a:solidFill>
                <a:latin typeface="Cambria"/>
                <a:cs typeface="Cambria"/>
              </a:rPr>
              <a:t xml:space="preserve">f</a:t>
            </a:r>
            <a:r>
              <a:rPr lang="en-US" sz="1425" dirty="0">
                <a:solidFill>
                  <a:srgbClr val="16171D"/>
                </a:solidFill>
                <a:latin typeface="Cambria"/>
                <a:cs typeface="Cambria"/>
              </a:rPr>
              <a:t xml:space="preserve">(</a:t>
            </a:r>
            <a:r>
              <a:rPr lang="en-US" sz="1425" dirty="0" i="1">
                <a:solidFill>
                  <a:srgbClr val="16171D"/>
                </a:solidFill>
                <a:latin typeface="Cambria"/>
                <a:cs typeface="Cambria"/>
              </a:rPr>
              <a:t xml:space="preserve">x</a:t>
            </a:r>
            <a:r>
              <a:rPr lang="en-US" sz="1425" dirty="0">
                <a:solidFill>
                  <a:srgbClr val="16171D"/>
                </a:solidFill>
                <a:latin typeface="Cambria"/>
                <a:cs typeface="Cambria"/>
              </a:rPr>
              <a:t xml:space="preserve">) + 4</a:t>
            </a:r>
            <a:r>
              <a:rPr lang="en-US" sz="1425" dirty="0">
                <a:solidFill>
                  <a:srgbClr val="16171D"/>
                </a:solidFill>
                <a:latin typeface="Segoe UI"/>
                <a:cs typeface="Segoe UI"/>
              </a:rPr>
              <a:t xml:space="preserve">.</a:t>
            </a:r>
            <a:br>
              <a:rPr lang="en-US" sz="1425" dirty="0">
                <a:solidFill>
                  <a:srgbClr val="16171D"/>
                </a:solidFill>
                <a:latin typeface="Segoe UI"/>
                <a:cs typeface="Segoe UI"/>
              </a:rPr>
            </a:br>
            <a:r>
              <a:rPr lang="en-US" sz="1425" dirty="0" b="1">
                <a:solidFill>
                  <a:srgbClr val="16171D"/>
                </a:solidFill>
                <a:latin typeface="Segoe UI"/>
                <a:cs typeface="Segoe UI"/>
              </a:rPr>
              <a:t xml:space="preserve">2.</a:t>
            </a:r>
            <a:r>
              <a:rPr lang="en-US" sz="1425" dirty="0">
                <a:solidFill>
                  <a:srgbClr val="16171D"/>
                </a:solidFill>
                <a:latin typeface="Segoe UI"/>
                <a:cs typeface="Segoe UI"/>
              </a:rPr>
              <a:t xml:space="preserve"> Replace </a:t>
            </a:r>
            <a:r>
              <a:rPr lang="en-US" sz="1425" dirty="0" i="1">
                <a:solidFill>
                  <a:srgbClr val="16171D"/>
                </a:solidFill>
                <a:latin typeface="Cambria"/>
                <a:cs typeface="Cambria"/>
              </a:rPr>
              <a:t xml:space="preserve">f</a:t>
            </a:r>
            <a:r>
              <a:rPr lang="en-US" sz="1425" dirty="0">
                <a:solidFill>
                  <a:srgbClr val="16171D"/>
                </a:solidFill>
                <a:latin typeface="Cambria"/>
                <a:cs typeface="Cambria"/>
              </a:rPr>
              <a:t xml:space="preserve">(</a:t>
            </a:r>
            <a:r>
              <a:rPr lang="en-US" sz="1425" dirty="0" i="1">
                <a:solidFill>
                  <a:srgbClr val="16171D"/>
                </a:solidFill>
                <a:latin typeface="Cambria"/>
                <a:cs typeface="Cambria"/>
              </a:rPr>
              <a:t xml:space="preserve">x</a:t>
            </a:r>
            <a:r>
              <a:rPr lang="en-US" sz="1425" dirty="0">
                <a:solidFill>
                  <a:srgbClr val="16171D"/>
                </a:solidFill>
                <a:latin typeface="Cambria"/>
                <a:cs typeface="Cambria"/>
              </a:rPr>
              <a:t xml:space="preserve">)</a:t>
            </a:r>
            <a:r>
              <a:rPr lang="en-US" sz="1425" dirty="0">
                <a:solidFill>
                  <a:srgbClr val="16171D"/>
                </a:solidFill>
                <a:latin typeface="Segoe UI"/>
                <a:cs typeface="Segoe UI"/>
              </a:rPr>
              <a:t xml:space="preserve"> with </a:t>
            </a:r>
            <a:r>
              <a:rPr lang="en-US" sz="1425" dirty="0" i="1">
                <a:solidFill>
                  <a:srgbClr val="16171D"/>
                </a:solidFill>
                <a:latin typeface="Cambria"/>
                <a:cs typeface="Cambria"/>
              </a:rPr>
              <a:t xml:space="preserve">x</a:t>
            </a:r>
            <a:r>
              <a:rPr lang="en-US" sz="1425" dirty="0">
                <a:solidFill>
                  <a:srgbClr val="16171D"/>
                </a:solidFill>
                <a:latin typeface="Segoe UI"/>
                <a:cs typeface="Segoe UI"/>
              </a:rPr>
              <a:t xml:space="preserve">: </a:t>
            </a:r>
            <a:r>
              <a:rPr lang="en-US" sz="1425" dirty="0" i="1">
                <a:solidFill>
                  <a:srgbClr val="16171D"/>
                </a:solidFill>
                <a:latin typeface="Cambria"/>
                <a:cs typeface="Cambria"/>
              </a:rPr>
              <a:t xml:space="preserve">g</a:t>
            </a:r>
            <a:r>
              <a:rPr lang="en-US" sz="1425" dirty="0">
                <a:solidFill>
                  <a:srgbClr val="16171D"/>
                </a:solidFill>
                <a:latin typeface="Cambria"/>
                <a:cs typeface="Cambria"/>
              </a:rPr>
              <a:t xml:space="preserve">(</a:t>
            </a:r>
            <a:r>
              <a:rPr lang="en-US" sz="1425" dirty="0" i="1">
                <a:solidFill>
                  <a:srgbClr val="16171D"/>
                </a:solidFill>
                <a:latin typeface="Cambria"/>
                <a:cs typeface="Cambria"/>
              </a:rPr>
              <a:t xml:space="preserve">x</a:t>
            </a:r>
            <a:r>
              <a:rPr lang="en-US" sz="1425" dirty="0">
                <a:solidFill>
                  <a:srgbClr val="16171D"/>
                </a:solidFill>
                <a:latin typeface="Cambria"/>
                <a:cs typeface="Cambria"/>
              </a:rPr>
              <a:t xml:space="preserve">) = </a:t>
            </a:r>
            <a:r>
              <a:rPr lang="en-US" sz="1425" dirty="0" i="1">
                <a:solidFill>
                  <a:srgbClr val="16171D"/>
                </a:solidFill>
                <a:latin typeface="Cambria"/>
                <a:cs typeface="Cambria"/>
              </a:rPr>
              <a:t xml:space="preserve">x</a:t>
            </a:r>
            <a:r>
              <a:rPr lang="en-US" sz="1425" dirty="0">
                <a:solidFill>
                  <a:srgbClr val="16171D"/>
                </a:solidFill>
                <a:latin typeface="Cambria"/>
                <a:cs typeface="Cambria"/>
              </a:rPr>
              <a:t xml:space="preserve"> + 4</a:t>
            </a:r>
            <a:r>
              <a:rPr lang="en-US" sz="1425" dirty="0">
                <a:solidFill>
                  <a:srgbClr val="16171D"/>
                </a:solidFill>
                <a:latin typeface="Segoe UI"/>
                <a:cs typeface="Segoe UI"/>
              </a:rPr>
              <a:t xml:space="preserve">.</a:t>
            </a:r>
            <a:endParaRPr lang="en-US" sz="1425" dirty="0"/>
          </a:p>
        </p:txBody>
      </p:sp>
      <p:sp>
        <p:nvSpPr>
          <p:cNvPr id="11" name="Shape 11"/>
          <p:cNvSpPr txBox="1"/>
          <p:nvPr/>
        </p:nvSpPr>
        <p:spPr>
          <a:xfrm>
            <a:off x="685800" y="4034028"/>
            <a:ext cx="5295748" cy="228219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8" name="Shape 8"/>
          <p:cNvSpPr txBox="1"/>
          <p:nvPr/>
        </p:nvSpPr>
        <p:spPr>
          <a:xfrm>
            <a:off x="895350" y="4205478"/>
            <a:ext cx="487664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2.</a:t>
            </a:r>
            <a:r>
              <a:rPr lang="en-US" sz="1575" dirty="0">
                <a:solidFill>
                  <a:srgbClr val="16171D"/>
                </a:solidFill>
                <a:latin typeface="Segoe UI"/>
                <a:cs typeface="Segoe UI"/>
              </a:rPr>
              <a:t xml:space="preserve"> The point </a:t>
            </a:r>
            <a:r>
              <a:rPr lang="en-US" sz="1575" dirty="0">
                <a:solidFill>
                  <a:srgbClr val="16171D"/>
                </a:solidFill>
                <a:latin typeface="Cambria"/>
                <a:cs typeface="Cambria"/>
              </a:rPr>
              <a:t xml:space="preserve">(2, 5)</a:t>
            </a:r>
            <a:r>
              <a:rPr lang="en-US" sz="1575" dirty="0">
                <a:solidFill>
                  <a:srgbClr val="16171D"/>
                </a:solidFill>
                <a:latin typeface="Segoe UI"/>
                <a:cs typeface="Segoe UI"/>
              </a:rPr>
              <a:t xml:space="preserve"> is translated down 3 units. Where does it go?</a:t>
            </a:r>
            <a:endParaRPr lang="en-US" sz="1575" dirty="0"/>
          </a:p>
        </p:txBody>
      </p:sp>
      <p:sp>
        <p:nvSpPr>
          <p:cNvPr id="9" name="Shape 9"/>
          <p:cNvSpPr txBox="1"/>
          <p:nvPr/>
        </p:nvSpPr>
        <p:spPr>
          <a:xfrm>
            <a:off x="895350" y="4778502"/>
            <a:ext cx="48766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Formula:</a:t>
            </a:r>
            <a:r>
              <a:rPr lang="en-US" sz="1575" dirty="0">
                <a:solidFill>
                  <a:srgbClr val="16171D"/>
                </a:solidFill>
                <a:latin typeface="Segoe UI"/>
                <a:cs typeface="Segoe UI"/>
              </a:rPr>
              <a:t xml:space="preserve"> down </a:t>
            </a:r>
            <a:r>
              <a:rPr lang="en-US" sz="1575" dirty="0" i="1">
                <a:solidFill>
                  <a:srgbClr val="16171D"/>
                </a:solidFill>
                <a:latin typeface="Cambria"/>
                <a:cs typeface="Cambria"/>
              </a:rPr>
              <a:t xml:space="preserve">d</a:t>
            </a:r>
            <a:r>
              <a:rPr lang="en-US" sz="1575" dirty="0">
                <a:solidFill>
                  <a:srgbClr val="16171D"/>
                </a:solidFill>
                <a:latin typeface="Segoe UI"/>
                <a:cs typeface="Segoe UI"/>
              </a:rPr>
              <a:t xml:space="preserve">: </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d</a:t>
            </a:r>
            <a:r>
              <a:rPr lang="en-US" sz="1575" dirty="0">
                <a:solidFill>
                  <a:srgbClr val="16171D"/>
                </a:solidFill>
                <a:latin typeface="Cambria"/>
                <a:cs typeface="Cambria"/>
              </a:rPr>
              <a:t xml:space="preserve">)</a:t>
            </a:r>
            <a:endParaRPr lang="en-US" sz="1575" dirty="0"/>
          </a:p>
        </p:txBody>
      </p:sp>
      <p:sp>
        <p:nvSpPr>
          <p:cNvPr id="10" name="Shape 10"/>
          <p:cNvSpPr txBox="1"/>
          <p:nvPr/>
        </p:nvSpPr>
        <p:spPr>
          <a:xfrm>
            <a:off x="895350" y="5111496"/>
            <a:ext cx="4538819" cy="103327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1425" dirty="0" b="1">
                <a:solidFill>
                  <a:srgbClr val="16171D"/>
                </a:solidFill>
                <a:latin typeface="Cambria"/>
                <a:cs typeface="Cambria"/>
              </a:rPr>
              <a:t xml:space="preserve">(2, 2)</a:t>
            </a:r>
            <a:br>
              <a:rPr lang="en-US" sz="1425" dirty="0">
                <a:solidFill>
                  <a:srgbClr val="16171D"/>
                </a:solidFill>
                <a:latin typeface="Segoe UI"/>
                <a:cs typeface="Segoe UI"/>
              </a:rPr>
            </a:br>
            <a:r>
              <a:rPr lang="en-US" sz="1425" dirty="0" b="1">
                <a:solidFill>
                  <a:srgbClr val="16171D"/>
                </a:solidFill>
                <a:latin typeface="Segoe UI"/>
                <a:cs typeface="Segoe UI"/>
              </a:rPr>
              <a:t xml:space="preserve">1.</a:t>
            </a:r>
            <a:r>
              <a:rPr lang="en-US" sz="1425" dirty="0">
                <a:solidFill>
                  <a:srgbClr val="16171D"/>
                </a:solidFill>
                <a:latin typeface="Segoe UI"/>
                <a:cs typeface="Segoe UI"/>
              </a:rPr>
              <a:t xml:space="preserve"> </a:t>
            </a:r>
            <a:r>
              <a:rPr lang="en-US" sz="1425" dirty="0" i="1">
                <a:solidFill>
                  <a:srgbClr val="16171D"/>
                </a:solidFill>
                <a:latin typeface="Cambria"/>
                <a:cs typeface="Cambria"/>
              </a:rPr>
              <a:t xml:space="preserve">x</a:t>
            </a:r>
            <a:r>
              <a:rPr lang="en-US" sz="1425" dirty="0">
                <a:solidFill>
                  <a:srgbClr val="16171D"/>
                </a:solidFill>
                <a:latin typeface="Segoe UI"/>
                <a:cs typeface="Segoe UI"/>
              </a:rPr>
              <a:t xml:space="preserve"> stays the same: </a:t>
            </a:r>
            <a:r>
              <a:rPr lang="en-US" sz="1425" dirty="0" i="1">
                <a:solidFill>
                  <a:srgbClr val="16171D"/>
                </a:solidFill>
                <a:latin typeface="Cambria"/>
                <a:cs typeface="Cambria"/>
              </a:rPr>
              <a:t xml:space="preserve">x</a:t>
            </a:r>
            <a:r>
              <a:rPr lang="en-US" sz="1425" dirty="0">
                <a:solidFill>
                  <a:srgbClr val="16171D"/>
                </a:solidFill>
                <a:latin typeface="Cambria"/>
                <a:cs typeface="Cambria"/>
              </a:rPr>
              <a:t xml:space="preserve"> = 2</a:t>
            </a:r>
            <a:r>
              <a:rPr lang="en-US" sz="1425" dirty="0">
                <a:solidFill>
                  <a:srgbClr val="16171D"/>
                </a:solidFill>
                <a:latin typeface="Segoe UI"/>
                <a:cs typeface="Segoe UI"/>
              </a:rPr>
              <a:t xml:space="preserve">.</a:t>
            </a:r>
            <a:br>
              <a:rPr lang="en-US" sz="1425" dirty="0">
                <a:solidFill>
                  <a:srgbClr val="16171D"/>
                </a:solidFill>
                <a:latin typeface="Segoe UI"/>
                <a:cs typeface="Segoe UI"/>
              </a:rPr>
            </a:br>
            <a:r>
              <a:rPr lang="en-US" sz="1425" dirty="0" b="1">
                <a:solidFill>
                  <a:srgbClr val="16171D"/>
                </a:solidFill>
                <a:latin typeface="Segoe UI"/>
                <a:cs typeface="Segoe UI"/>
              </a:rPr>
              <a:t xml:space="preserve">2.</a:t>
            </a:r>
            <a:r>
              <a:rPr lang="en-US" sz="1425" dirty="0">
                <a:solidFill>
                  <a:srgbClr val="16171D"/>
                </a:solidFill>
                <a:latin typeface="Segoe UI"/>
                <a:cs typeface="Segoe UI"/>
              </a:rPr>
              <a:t xml:space="preserve"> Down 3, so subtract 3 from </a:t>
            </a:r>
            <a:r>
              <a:rPr lang="en-US" sz="1425" dirty="0" i="1">
                <a:solidFill>
                  <a:srgbClr val="16171D"/>
                </a:solidFill>
                <a:latin typeface="Cambria"/>
                <a:cs typeface="Cambria"/>
              </a:rPr>
              <a:t xml:space="preserve">y</a:t>
            </a:r>
            <a:r>
              <a:rPr lang="en-US" sz="1425" dirty="0">
                <a:solidFill>
                  <a:srgbClr val="16171D"/>
                </a:solidFill>
                <a:latin typeface="Segoe UI"/>
                <a:cs typeface="Segoe UI"/>
              </a:rPr>
              <a:t xml:space="preserve">: </a:t>
            </a:r>
            <a:r>
              <a:rPr lang="en-US" sz="1425" dirty="0">
                <a:solidFill>
                  <a:srgbClr val="16171D"/>
                </a:solidFill>
                <a:latin typeface="Cambria"/>
                <a:cs typeface="Cambria"/>
              </a:rPr>
              <a:t xml:space="preserve">5 − 3 = 2</a:t>
            </a:r>
            <a:r>
              <a:rPr lang="en-US" sz="1425" dirty="0">
                <a:solidFill>
                  <a:srgbClr val="16171D"/>
                </a:solidFill>
                <a:latin typeface="Segoe UI"/>
                <a:cs typeface="Segoe UI"/>
              </a:rPr>
              <a:t xml:space="preserve">.</a:t>
            </a:r>
            <a:br>
              <a:rPr lang="en-US" sz="1425" dirty="0">
                <a:solidFill>
                  <a:srgbClr val="16171D"/>
                </a:solidFill>
                <a:latin typeface="Segoe UI"/>
                <a:cs typeface="Segoe UI"/>
              </a:rPr>
            </a:br>
            <a:r>
              <a:rPr lang="en-US" sz="1425" dirty="0" b="1">
                <a:solidFill>
                  <a:srgbClr val="16171D"/>
                </a:solidFill>
                <a:latin typeface="Segoe UI"/>
                <a:cs typeface="Segoe UI"/>
              </a:rPr>
              <a:t xml:space="preserve">3.</a:t>
            </a:r>
            <a:r>
              <a:rPr lang="en-US" sz="1425" dirty="0">
                <a:solidFill>
                  <a:srgbClr val="16171D"/>
                </a:solidFill>
                <a:latin typeface="Segoe UI"/>
                <a:cs typeface="Segoe UI"/>
              </a:rPr>
              <a:t xml:space="preserve"> The new point is </a:t>
            </a:r>
            <a:r>
              <a:rPr lang="en-US" sz="1425" dirty="0">
                <a:solidFill>
                  <a:srgbClr val="16171D"/>
                </a:solidFill>
                <a:latin typeface="Cambria"/>
                <a:cs typeface="Cambria"/>
              </a:rPr>
              <a:t xml:space="preserve">(2, 2)</a:t>
            </a:r>
            <a:r>
              <a:rPr lang="en-US" sz="1425" dirty="0">
                <a:solidFill>
                  <a:srgbClr val="16171D"/>
                </a:solidFill>
                <a:latin typeface="Segoe UI"/>
                <a:cs typeface="Segoe UI"/>
              </a:rPr>
              <a:t xml:space="preserve">.</a:t>
            </a:r>
            <a:endParaRPr lang="en-US" sz="1425" dirty="0"/>
          </a:p>
        </p:txBody>
      </p:sp>
      <p:sp>
        <p:nvSpPr>
          <p:cNvPr id="15" name="Shape 15"/>
          <p:cNvSpPr txBox="1"/>
          <p:nvPr/>
        </p:nvSpPr>
        <p:spPr>
          <a:xfrm>
            <a:off x="6210148" y="1618488"/>
            <a:ext cx="5295748" cy="252222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2" name="Shape 12"/>
          <p:cNvSpPr txBox="1"/>
          <p:nvPr/>
        </p:nvSpPr>
        <p:spPr>
          <a:xfrm>
            <a:off x="6419698" y="1789938"/>
            <a:ext cx="487664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3.</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f</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2</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− 1</a:t>
            </a:r>
            <a:r>
              <a:rPr lang="en-US" sz="1575" dirty="0">
                <a:solidFill>
                  <a:srgbClr val="16171D"/>
                </a:solidFill>
                <a:latin typeface="Segoe UI"/>
                <a:cs typeface="Segoe UI"/>
              </a:rPr>
              <a:t xml:space="preserve">. What is the slope of </a:t>
            </a:r>
            <a:r>
              <a:rPr lang="en-US" sz="1575" dirty="0" i="1">
                <a:solidFill>
                  <a:srgbClr val="16171D"/>
                </a:solidFill>
                <a:latin typeface="Cambria"/>
                <a:cs typeface="Cambria"/>
              </a:rPr>
              <a:t xml:space="preserve">g</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f</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+ 6</a:t>
            </a:r>
            <a:r>
              <a:rPr lang="en-US" sz="1575" dirty="0">
                <a:solidFill>
                  <a:srgbClr val="16171D"/>
                </a:solidFill>
                <a:latin typeface="Segoe UI"/>
                <a:cs typeface="Segoe UI"/>
              </a:rPr>
              <a:t xml:space="preserve">?</a:t>
            </a:r>
            <a:endParaRPr lang="en-US" sz="1575" dirty="0"/>
          </a:p>
        </p:txBody>
      </p:sp>
      <p:sp>
        <p:nvSpPr>
          <p:cNvPr id="13" name="Shape 13"/>
          <p:cNvSpPr txBox="1"/>
          <p:nvPr/>
        </p:nvSpPr>
        <p:spPr>
          <a:xfrm>
            <a:off x="6419698" y="2362962"/>
            <a:ext cx="487664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Formula:</a:t>
            </a:r>
            <a:r>
              <a:rPr lang="en-US" sz="1575" dirty="0">
                <a:solidFill>
                  <a:srgbClr val="16171D"/>
                </a:solidFill>
                <a:latin typeface="Segoe UI"/>
                <a:cs typeface="Segoe UI"/>
              </a:rPr>
              <a:t xml:space="preserve"> moving up or down does not change the slope</a:t>
            </a:r>
            <a:endParaRPr lang="en-US" sz="1575" dirty="0"/>
          </a:p>
        </p:txBody>
      </p:sp>
      <p:sp>
        <p:nvSpPr>
          <p:cNvPr id="14" name="Shape 14"/>
          <p:cNvSpPr txBox="1"/>
          <p:nvPr/>
        </p:nvSpPr>
        <p:spPr>
          <a:xfrm>
            <a:off x="6419698" y="2935986"/>
            <a:ext cx="4876648" cy="103327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1425" dirty="0" b="1">
                <a:solidFill>
                  <a:srgbClr val="16171D"/>
                </a:solidFill>
                <a:latin typeface="Cambria"/>
                <a:cs typeface="Cambria"/>
              </a:rPr>
              <a:t xml:space="preserve">2</a:t>
            </a:r>
            <a:br>
              <a:rPr lang="en-US" sz="1425" dirty="0">
                <a:solidFill>
                  <a:srgbClr val="16171D"/>
                </a:solidFill>
                <a:latin typeface="Segoe UI"/>
                <a:cs typeface="Segoe UI"/>
              </a:rPr>
            </a:br>
            <a:r>
              <a:rPr lang="en-US" sz="1425" dirty="0" b="1">
                <a:solidFill>
                  <a:srgbClr val="16171D"/>
                </a:solidFill>
                <a:latin typeface="Segoe UI"/>
                <a:cs typeface="Segoe UI"/>
              </a:rPr>
              <a:t xml:space="preserve">1.</a:t>
            </a:r>
            <a:r>
              <a:rPr lang="en-US" sz="1425" dirty="0">
                <a:solidFill>
                  <a:srgbClr val="16171D"/>
                </a:solidFill>
                <a:latin typeface="Segoe UI"/>
                <a:cs typeface="Segoe UI"/>
              </a:rPr>
              <a:t xml:space="preserve"> </a:t>
            </a:r>
            <a:r>
              <a:rPr lang="en-US" sz="1425" dirty="0" i="1">
                <a:solidFill>
                  <a:srgbClr val="16171D"/>
                </a:solidFill>
                <a:latin typeface="Cambria"/>
                <a:cs typeface="Cambria"/>
              </a:rPr>
              <a:t xml:space="preserve">g</a:t>
            </a:r>
            <a:r>
              <a:rPr lang="en-US" sz="1425" dirty="0">
                <a:solidFill>
                  <a:srgbClr val="16171D"/>
                </a:solidFill>
                <a:latin typeface="Cambria"/>
                <a:cs typeface="Cambria"/>
              </a:rPr>
              <a:t xml:space="preserve">(</a:t>
            </a:r>
            <a:r>
              <a:rPr lang="en-US" sz="1425" dirty="0" i="1">
                <a:solidFill>
                  <a:srgbClr val="16171D"/>
                </a:solidFill>
                <a:latin typeface="Cambria"/>
                <a:cs typeface="Cambria"/>
              </a:rPr>
              <a:t xml:space="preserve">x</a:t>
            </a:r>
            <a:r>
              <a:rPr lang="en-US" sz="1425" dirty="0">
                <a:solidFill>
                  <a:srgbClr val="16171D"/>
                </a:solidFill>
                <a:latin typeface="Cambria"/>
                <a:cs typeface="Cambria"/>
              </a:rPr>
              <a:t xml:space="preserve">) = 2</a:t>
            </a:r>
            <a:r>
              <a:rPr lang="en-US" sz="1425" dirty="0" i="1">
                <a:solidFill>
                  <a:srgbClr val="16171D"/>
                </a:solidFill>
                <a:latin typeface="Cambria"/>
                <a:cs typeface="Cambria"/>
              </a:rPr>
              <a:t xml:space="preserve">x</a:t>
            </a:r>
            <a:r>
              <a:rPr lang="en-US" sz="1425" dirty="0">
                <a:solidFill>
                  <a:srgbClr val="16171D"/>
                </a:solidFill>
                <a:latin typeface="Cambria"/>
                <a:cs typeface="Cambria"/>
              </a:rPr>
              <a:t xml:space="preserve"> − 1 + 6 = 2</a:t>
            </a:r>
            <a:r>
              <a:rPr lang="en-US" sz="1425" dirty="0" i="1">
                <a:solidFill>
                  <a:srgbClr val="16171D"/>
                </a:solidFill>
                <a:latin typeface="Cambria"/>
                <a:cs typeface="Cambria"/>
              </a:rPr>
              <a:t xml:space="preserve">x</a:t>
            </a:r>
            <a:r>
              <a:rPr lang="en-US" sz="1425" dirty="0">
                <a:solidFill>
                  <a:srgbClr val="16171D"/>
                </a:solidFill>
                <a:latin typeface="Cambria"/>
                <a:cs typeface="Cambria"/>
              </a:rPr>
              <a:t xml:space="preserve"> + 5</a:t>
            </a:r>
            <a:r>
              <a:rPr lang="en-US" sz="1425" dirty="0">
                <a:solidFill>
                  <a:srgbClr val="16171D"/>
                </a:solidFill>
                <a:latin typeface="Segoe UI"/>
                <a:cs typeface="Segoe UI"/>
              </a:rPr>
              <a:t xml:space="preserve">.</a:t>
            </a:r>
            <a:br>
              <a:rPr lang="en-US" sz="1425" dirty="0">
                <a:solidFill>
                  <a:srgbClr val="16171D"/>
                </a:solidFill>
                <a:latin typeface="Segoe UI"/>
                <a:cs typeface="Segoe UI"/>
              </a:rPr>
            </a:br>
            <a:r>
              <a:rPr lang="en-US" sz="1425" dirty="0" b="1">
                <a:solidFill>
                  <a:srgbClr val="16171D"/>
                </a:solidFill>
                <a:latin typeface="Segoe UI"/>
                <a:cs typeface="Segoe UI"/>
              </a:rPr>
              <a:t xml:space="preserve">2.</a:t>
            </a:r>
            <a:r>
              <a:rPr lang="en-US" sz="1425" dirty="0">
                <a:solidFill>
                  <a:srgbClr val="16171D"/>
                </a:solidFill>
                <a:latin typeface="Segoe UI"/>
                <a:cs typeface="Segoe UI"/>
              </a:rPr>
              <a:t xml:space="preserve"> The number with </a:t>
            </a:r>
            <a:r>
              <a:rPr lang="en-US" sz="1425" dirty="0" i="1">
                <a:solidFill>
                  <a:srgbClr val="16171D"/>
                </a:solidFill>
                <a:latin typeface="Cambria"/>
                <a:cs typeface="Cambria"/>
              </a:rPr>
              <a:t xml:space="preserve">x</a:t>
            </a:r>
            <a:r>
              <a:rPr lang="en-US" sz="1425" dirty="0">
                <a:solidFill>
                  <a:srgbClr val="16171D"/>
                </a:solidFill>
                <a:latin typeface="Segoe UI"/>
                <a:cs typeface="Segoe UI"/>
              </a:rPr>
              <a:t xml:space="preserve"> is still 2, so the slope is 2.</a:t>
            </a:r>
            <a:endParaRPr lang="en-US" sz="1425" dirty="0"/>
          </a:p>
        </p:txBody>
      </p:sp>
      <p:sp>
        <p:nvSpPr>
          <p:cNvPr id="19" name="Shape 19"/>
          <p:cNvSpPr txBox="1"/>
          <p:nvPr/>
        </p:nvSpPr>
        <p:spPr>
          <a:xfrm>
            <a:off x="6210148" y="4274058"/>
            <a:ext cx="5295748" cy="249936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6" name="Shape 16"/>
          <p:cNvSpPr txBox="1"/>
          <p:nvPr/>
        </p:nvSpPr>
        <p:spPr>
          <a:xfrm>
            <a:off x="6419698" y="4445508"/>
            <a:ext cx="487664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4.</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f</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2</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− 1</a:t>
            </a:r>
            <a:r>
              <a:rPr lang="en-US" sz="1575" dirty="0">
                <a:solidFill>
                  <a:srgbClr val="16171D"/>
                </a:solidFill>
                <a:latin typeface="Segoe UI"/>
                <a:cs typeface="Segoe UI"/>
              </a:rPr>
              <a:t xml:space="preserve">. What is the </a:t>
            </a:r>
            <a:r>
              <a:rPr lang="en-US" sz="1575" dirty="0" i="1">
                <a:solidFill>
                  <a:srgbClr val="16171D"/>
                </a:solidFill>
                <a:latin typeface="Cambria"/>
                <a:cs typeface="Cambria"/>
              </a:rPr>
              <a:t xml:space="preserve">y</a:t>
            </a:r>
            <a:r>
              <a:rPr lang="en-US" sz="1575" dirty="0">
                <a:solidFill>
                  <a:srgbClr val="16171D"/>
                </a:solidFill>
                <a:latin typeface="Segoe UI"/>
                <a:cs typeface="Segoe UI"/>
              </a:rPr>
              <a:t xml:space="preserve">-intercept of </a:t>
            </a:r>
            <a:r>
              <a:rPr lang="en-US" sz="1575" dirty="0" i="1">
                <a:solidFill>
                  <a:srgbClr val="16171D"/>
                </a:solidFill>
                <a:latin typeface="Cambria"/>
                <a:cs typeface="Cambria"/>
              </a:rPr>
              <a:t xml:space="preserve">g</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f</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+ 6</a:t>
            </a:r>
            <a:r>
              <a:rPr lang="en-US" sz="1575" dirty="0">
                <a:solidFill>
                  <a:srgbClr val="16171D"/>
                </a:solidFill>
                <a:latin typeface="Segoe UI"/>
                <a:cs typeface="Segoe UI"/>
              </a:rPr>
              <a:t xml:space="preserve">?</a:t>
            </a:r>
            <a:endParaRPr lang="en-US" sz="1575" dirty="0"/>
          </a:p>
        </p:txBody>
      </p:sp>
      <p:sp>
        <p:nvSpPr>
          <p:cNvPr id="17" name="Shape 17"/>
          <p:cNvSpPr txBox="1"/>
          <p:nvPr/>
        </p:nvSpPr>
        <p:spPr>
          <a:xfrm>
            <a:off x="6419698" y="5018532"/>
            <a:ext cx="48766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Formula:</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m</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b</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y</a:t>
            </a:r>
            <a:r>
              <a:rPr lang="en-US" sz="1575" dirty="0">
                <a:solidFill>
                  <a:srgbClr val="16171D"/>
                </a:solidFill>
                <a:latin typeface="Segoe UI"/>
                <a:cs typeface="Segoe UI"/>
              </a:rPr>
              <a:t xml:space="preserve">-intercept </a:t>
            </a:r>
            <a:r>
              <a:rPr lang="en-US" sz="1575" dirty="0">
                <a:solidFill>
                  <a:srgbClr val="16171D"/>
                </a:solidFill>
                <a:latin typeface="Cambria"/>
                <a:cs typeface="Cambria"/>
              </a:rPr>
              <a:t xml:space="preserve">(0, </a:t>
            </a:r>
            <a:r>
              <a:rPr lang="en-US" sz="1575" dirty="0" i="1">
                <a:solidFill>
                  <a:srgbClr val="16171D"/>
                </a:solidFill>
                <a:latin typeface="Cambria"/>
                <a:cs typeface="Cambria"/>
              </a:rPr>
              <a:t xml:space="preserve">b</a:t>
            </a:r>
            <a:r>
              <a:rPr lang="en-US" sz="1575" dirty="0">
                <a:solidFill>
                  <a:srgbClr val="16171D"/>
                </a:solidFill>
                <a:latin typeface="Cambria"/>
                <a:cs typeface="Cambria"/>
              </a:rPr>
              <a:t xml:space="preserve">)</a:t>
            </a:r>
            <a:endParaRPr lang="en-US" sz="1575" dirty="0"/>
          </a:p>
        </p:txBody>
      </p:sp>
      <p:sp>
        <p:nvSpPr>
          <p:cNvPr id="18" name="Shape 18"/>
          <p:cNvSpPr txBox="1"/>
          <p:nvPr/>
        </p:nvSpPr>
        <p:spPr>
          <a:xfrm>
            <a:off x="6419698" y="5351526"/>
            <a:ext cx="4876648" cy="125044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1425" dirty="0" b="1">
                <a:solidFill>
                  <a:srgbClr val="16171D"/>
                </a:solidFill>
                <a:latin typeface="Cambria"/>
                <a:cs typeface="Cambria"/>
              </a:rPr>
              <a:t xml:space="preserve">(0, 5)</a:t>
            </a:r>
            <a:br>
              <a:rPr lang="en-US" sz="1425" dirty="0">
                <a:solidFill>
                  <a:srgbClr val="16171D"/>
                </a:solidFill>
                <a:latin typeface="Segoe UI"/>
                <a:cs typeface="Segoe UI"/>
              </a:rPr>
            </a:br>
            <a:r>
              <a:rPr lang="en-US" sz="1425" dirty="0" b="1">
                <a:solidFill>
                  <a:srgbClr val="16171D"/>
                </a:solidFill>
                <a:latin typeface="Segoe UI"/>
                <a:cs typeface="Segoe UI"/>
              </a:rPr>
              <a:t xml:space="preserve">1.</a:t>
            </a:r>
            <a:r>
              <a:rPr lang="en-US" sz="1425" dirty="0">
                <a:solidFill>
                  <a:srgbClr val="16171D"/>
                </a:solidFill>
                <a:latin typeface="Segoe UI"/>
                <a:cs typeface="Segoe UI"/>
              </a:rPr>
              <a:t xml:space="preserve"> </a:t>
            </a:r>
            <a:r>
              <a:rPr lang="en-US" sz="1425" dirty="0" i="1">
                <a:solidFill>
                  <a:srgbClr val="16171D"/>
                </a:solidFill>
                <a:latin typeface="Cambria"/>
                <a:cs typeface="Cambria"/>
              </a:rPr>
              <a:t xml:space="preserve">g</a:t>
            </a:r>
            <a:r>
              <a:rPr lang="en-US" sz="1425" dirty="0">
                <a:solidFill>
                  <a:srgbClr val="16171D"/>
                </a:solidFill>
                <a:latin typeface="Cambria"/>
                <a:cs typeface="Cambria"/>
              </a:rPr>
              <a:t xml:space="preserve">(</a:t>
            </a:r>
            <a:r>
              <a:rPr lang="en-US" sz="1425" dirty="0" i="1">
                <a:solidFill>
                  <a:srgbClr val="16171D"/>
                </a:solidFill>
                <a:latin typeface="Cambria"/>
                <a:cs typeface="Cambria"/>
              </a:rPr>
              <a:t xml:space="preserve">x</a:t>
            </a:r>
            <a:r>
              <a:rPr lang="en-US" sz="1425" dirty="0">
                <a:solidFill>
                  <a:srgbClr val="16171D"/>
                </a:solidFill>
                <a:latin typeface="Cambria"/>
                <a:cs typeface="Cambria"/>
              </a:rPr>
              <a:t xml:space="preserve">) = 2</a:t>
            </a:r>
            <a:r>
              <a:rPr lang="en-US" sz="1425" dirty="0" i="1">
                <a:solidFill>
                  <a:srgbClr val="16171D"/>
                </a:solidFill>
                <a:latin typeface="Cambria"/>
                <a:cs typeface="Cambria"/>
              </a:rPr>
              <a:t xml:space="preserve">x</a:t>
            </a:r>
            <a:r>
              <a:rPr lang="en-US" sz="1425" dirty="0">
                <a:solidFill>
                  <a:srgbClr val="16171D"/>
                </a:solidFill>
                <a:latin typeface="Cambria"/>
                <a:cs typeface="Cambria"/>
              </a:rPr>
              <a:t xml:space="preserve"> − 1 + 6</a:t>
            </a:r>
            <a:r>
              <a:rPr lang="en-US" sz="1425" dirty="0">
                <a:solidFill>
                  <a:srgbClr val="16171D"/>
                </a:solidFill>
                <a:latin typeface="Segoe UI"/>
                <a:cs typeface="Segoe UI"/>
              </a:rPr>
              <a:t xml:space="preserve">.</a:t>
            </a:r>
            <a:br>
              <a:rPr lang="en-US" sz="1425" dirty="0">
                <a:solidFill>
                  <a:srgbClr val="16171D"/>
                </a:solidFill>
                <a:latin typeface="Segoe UI"/>
                <a:cs typeface="Segoe UI"/>
              </a:rPr>
            </a:br>
            <a:r>
              <a:rPr lang="en-US" sz="1425" dirty="0" b="1">
                <a:solidFill>
                  <a:srgbClr val="16171D"/>
                </a:solidFill>
                <a:latin typeface="Segoe UI"/>
                <a:cs typeface="Segoe UI"/>
              </a:rPr>
              <a:t xml:space="preserve">2.</a:t>
            </a:r>
            <a:r>
              <a:rPr lang="en-US" sz="1425" dirty="0">
                <a:solidFill>
                  <a:srgbClr val="16171D"/>
                </a:solidFill>
                <a:latin typeface="Segoe UI"/>
                <a:cs typeface="Segoe UI"/>
              </a:rPr>
              <a:t xml:space="preserve"> Combine: </a:t>
            </a:r>
            <a:r>
              <a:rPr lang="en-US" sz="1425" dirty="0">
                <a:solidFill>
                  <a:srgbClr val="16171D"/>
                </a:solidFill>
                <a:latin typeface="Cambria"/>
                <a:cs typeface="Cambria"/>
              </a:rPr>
              <a:t xml:space="preserve">−1 + 6 = 5</a:t>
            </a:r>
            <a:r>
              <a:rPr lang="en-US" sz="1425" dirty="0">
                <a:solidFill>
                  <a:srgbClr val="16171D"/>
                </a:solidFill>
                <a:latin typeface="Segoe UI"/>
                <a:cs typeface="Segoe UI"/>
              </a:rPr>
              <a:t xml:space="preserve">, so </a:t>
            </a:r>
            <a:r>
              <a:rPr lang="en-US" sz="1425" dirty="0" i="1">
                <a:solidFill>
                  <a:srgbClr val="16171D"/>
                </a:solidFill>
                <a:latin typeface="Cambria"/>
                <a:cs typeface="Cambria"/>
              </a:rPr>
              <a:t xml:space="preserve">g</a:t>
            </a:r>
            <a:r>
              <a:rPr lang="en-US" sz="1425" dirty="0">
                <a:solidFill>
                  <a:srgbClr val="16171D"/>
                </a:solidFill>
                <a:latin typeface="Cambria"/>
                <a:cs typeface="Cambria"/>
              </a:rPr>
              <a:t xml:space="preserve">(</a:t>
            </a:r>
            <a:r>
              <a:rPr lang="en-US" sz="1425" dirty="0" i="1">
                <a:solidFill>
                  <a:srgbClr val="16171D"/>
                </a:solidFill>
                <a:latin typeface="Cambria"/>
                <a:cs typeface="Cambria"/>
              </a:rPr>
              <a:t xml:space="preserve">x</a:t>
            </a:r>
            <a:r>
              <a:rPr lang="en-US" sz="1425" dirty="0">
                <a:solidFill>
                  <a:srgbClr val="16171D"/>
                </a:solidFill>
                <a:latin typeface="Cambria"/>
                <a:cs typeface="Cambria"/>
              </a:rPr>
              <a:t xml:space="preserve">) = 2</a:t>
            </a:r>
            <a:r>
              <a:rPr lang="en-US" sz="1425" dirty="0" i="1">
                <a:solidFill>
                  <a:srgbClr val="16171D"/>
                </a:solidFill>
                <a:latin typeface="Cambria"/>
                <a:cs typeface="Cambria"/>
              </a:rPr>
              <a:t xml:space="preserve">x</a:t>
            </a:r>
            <a:r>
              <a:rPr lang="en-US" sz="1425" dirty="0">
                <a:solidFill>
                  <a:srgbClr val="16171D"/>
                </a:solidFill>
                <a:latin typeface="Cambria"/>
                <a:cs typeface="Cambria"/>
              </a:rPr>
              <a:t xml:space="preserve"> + 5</a:t>
            </a:r>
            <a:r>
              <a:rPr lang="en-US" sz="1425" dirty="0">
                <a:solidFill>
                  <a:srgbClr val="16171D"/>
                </a:solidFill>
                <a:latin typeface="Segoe UI"/>
                <a:cs typeface="Segoe UI"/>
              </a:rPr>
              <a:t xml:space="preserve">.</a:t>
            </a:r>
            <a:br>
              <a:rPr lang="en-US" sz="1425" dirty="0">
                <a:solidFill>
                  <a:srgbClr val="16171D"/>
                </a:solidFill>
                <a:latin typeface="Segoe UI"/>
                <a:cs typeface="Segoe UI"/>
              </a:rPr>
            </a:br>
            <a:r>
              <a:rPr lang="en-US" sz="1425" dirty="0" b="1">
                <a:solidFill>
                  <a:srgbClr val="16171D"/>
                </a:solidFill>
                <a:latin typeface="Segoe UI"/>
                <a:cs typeface="Segoe UI"/>
              </a:rPr>
              <a:t xml:space="preserve">3.</a:t>
            </a:r>
            <a:r>
              <a:rPr lang="en-US" sz="1425" dirty="0">
                <a:solidFill>
                  <a:srgbClr val="16171D"/>
                </a:solidFill>
                <a:latin typeface="Segoe UI"/>
                <a:cs typeface="Segoe UI"/>
              </a:rPr>
              <a:t xml:space="preserve"> </a:t>
            </a:r>
            <a:r>
              <a:rPr lang="en-US" sz="1425" dirty="0" i="1">
                <a:solidFill>
                  <a:srgbClr val="16171D"/>
                </a:solidFill>
                <a:latin typeface="Cambria"/>
                <a:cs typeface="Cambria"/>
              </a:rPr>
              <a:t xml:space="preserve">b</a:t>
            </a:r>
            <a:r>
              <a:rPr lang="en-US" sz="1425" dirty="0">
                <a:solidFill>
                  <a:srgbClr val="16171D"/>
                </a:solidFill>
                <a:latin typeface="Cambria"/>
                <a:cs typeface="Cambria"/>
              </a:rPr>
              <a:t xml:space="preserve"> = 5</a:t>
            </a:r>
            <a:r>
              <a:rPr lang="en-US" sz="1425" dirty="0">
                <a:solidFill>
                  <a:srgbClr val="16171D"/>
                </a:solidFill>
                <a:latin typeface="Segoe UI"/>
                <a:cs typeface="Segoe UI"/>
              </a:rPr>
              <a:t xml:space="preserve">, so the </a:t>
            </a:r>
            <a:r>
              <a:rPr lang="en-US" sz="1425" dirty="0" i="1">
                <a:solidFill>
                  <a:srgbClr val="16171D"/>
                </a:solidFill>
                <a:latin typeface="Cambria"/>
                <a:cs typeface="Cambria"/>
              </a:rPr>
              <a:t xml:space="preserve">y</a:t>
            </a:r>
            <a:r>
              <a:rPr lang="en-US" sz="1425" dirty="0">
                <a:solidFill>
                  <a:srgbClr val="16171D"/>
                </a:solidFill>
                <a:latin typeface="Segoe UI"/>
                <a:cs typeface="Segoe UI"/>
              </a:rPr>
              <a:t xml:space="preserve">-intercept is </a:t>
            </a:r>
            <a:r>
              <a:rPr lang="en-US" sz="1425" dirty="0">
                <a:solidFill>
                  <a:srgbClr val="16171D"/>
                </a:solidFill>
                <a:latin typeface="Cambria"/>
                <a:cs typeface="Cambria"/>
              </a:rPr>
              <a:t xml:space="preserve">(0, 5)</a:t>
            </a:r>
            <a:r>
              <a:rPr lang="en-US" sz="1425" dirty="0">
                <a:solidFill>
                  <a:srgbClr val="16171D"/>
                </a:solidFill>
                <a:latin typeface="Segoe UI"/>
                <a:cs typeface="Segoe UI"/>
              </a:rPr>
              <a:t xml:space="preserve">: </a:t>
            </a:r>
            <a:r>
              <a:rPr lang="en-US" sz="1425" dirty="0">
                <a:solidFill>
                  <a:srgbClr val="16171D"/>
                </a:solidFill>
                <a:latin typeface="Cambria"/>
                <a:cs typeface="Cambria"/>
              </a:rPr>
              <a:t xml:space="preserve">(0, −1)</a:t>
            </a:r>
            <a:r>
              <a:rPr lang="en-US" sz="1425" dirty="0">
                <a:solidFill>
                  <a:srgbClr val="16171D"/>
                </a:solidFill>
                <a:latin typeface="Segoe UI"/>
                <a:cs typeface="Segoe UI"/>
              </a:rPr>
              <a:t xml:space="preserve"> moved up 6.</a:t>
            </a:r>
            <a:endParaRPr lang="en-US" sz="1425" dirty="0"/>
          </a:p>
        </p:txBody>
      </p:sp>
      <p:sp>
        <p:nvSpPr>
          <p:cNvPr id="20" name="Slide Number 20"/>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6"/>
                                        </p:tgtEl>
                                        <p:attrNameLst>
                                          <p:attrName>style.visibility</p:attrName>
                                        </p:attrNameLst>
                                      </p:cBhvr>
                                      <p:to>
                                        <p:strVal val="visible"/>
                                      </p:to>
                                    </p:set>
                                    <p:animEffect transition="in" filter="fade">
                                      <p:cBhvr>
                                        <p:cTn id="4" dur="500"/>
                                        <p:tgtEl>
                                          <p:spTgt spid="6"/>
                                        </p:tgtEl>
                                      </p:cBhvr>
                                    </p:animEffect>
                                    <p:anim calcmode="lin" valueType="num">
                                      <p:cBhvr>
                                        <p:cTn id="5" dur="500" fill="hold"/>
                                        <p:tgtEl>
                                          <p:spTgt spid="6"/>
                                        </p:tgtEl>
                                        <p:attrNameLst>
                                          <p:attrName>ppt_w</p:attrName>
                                        </p:attrNameLst>
                                      </p:cBhvr>
                                      <p:tavLst>
                                        <p:tav tm="0">
                                          <p:val>
                                            <p:fltVal val="0"/>
                                          </p:val>
                                        </p:tav>
                                        <p:tav tm="100000">
                                          <p:val>
                                            <p:strVal val="#ppt_w"/>
                                          </p:val>
                                        </p:tav>
                                      </p:tavLst>
                                    </p:anim>
                                    <p:anim calcmode="lin" valueType="num">
                                      <p:cBhvr>
                                        <p:cTn id="6" dur="500" fill="hold"/>
                                        <p:tgtEl>
                                          <p:spTgt spid="6"/>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00"/>
                                        <p:tgtEl>
                                          <p:spTgt spid="10"/>
                                        </p:tgtEl>
                                      </p:cBhvr>
                                    </p:animEffect>
                                    <p:anim calcmode="lin" valueType="num">
                                      <p:cBhvr>
                                        <p:cTn id="12" dur="500" fill="hold"/>
                                        <p:tgtEl>
                                          <p:spTgt spid="10"/>
                                        </p:tgtEl>
                                        <p:attrNameLst>
                                          <p:attrName>ppt_w</p:attrName>
                                        </p:attrNameLst>
                                      </p:cBhvr>
                                      <p:tavLst>
                                        <p:tav tm="0">
                                          <p:val>
                                            <p:fltVal val="0"/>
                                          </p:val>
                                        </p:tav>
                                        <p:tav tm="100000">
                                          <p:val>
                                            <p:strVal val="#ppt_w"/>
                                          </p:val>
                                        </p:tav>
                                      </p:tavLst>
                                    </p:anim>
                                    <p:anim calcmode="lin" valueType="num">
                                      <p:cBhvr>
                                        <p:cTn id="13" dur="500" fill="hold"/>
                                        <p:tgtEl>
                                          <p:spTgt spid="10"/>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anim calcmode="lin" valueType="num">
                                      <p:cBhvr>
                                        <p:cTn id="19" dur="500" fill="hold"/>
                                        <p:tgtEl>
                                          <p:spTgt spid="14"/>
                                        </p:tgtEl>
                                        <p:attrNameLst>
                                          <p:attrName>ppt_w</p:attrName>
                                        </p:attrNameLst>
                                      </p:cBhvr>
                                      <p:tavLst>
                                        <p:tav tm="0">
                                          <p:val>
                                            <p:fltVal val="0"/>
                                          </p:val>
                                        </p:tav>
                                        <p:tav tm="100000">
                                          <p:val>
                                            <p:strVal val="#ppt_w"/>
                                          </p:val>
                                        </p:tav>
                                      </p:tavLst>
                                    </p:anim>
                                    <p:anim calcmode="lin" valueType="num">
                                      <p:cBhvr>
                                        <p:cTn id="20" dur="500" fill="hold"/>
                                        <p:tgtEl>
                                          <p:spTgt spid="14"/>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500"/>
                                        <p:tgtEl>
                                          <p:spTgt spid="18"/>
                                        </p:tgtEl>
                                      </p:cBhvr>
                                    </p:animEffect>
                                    <p:anim calcmode="lin" valueType="num">
                                      <p:cBhvr>
                                        <p:cTn id="26" dur="500" fill="hold"/>
                                        <p:tgtEl>
                                          <p:spTgt spid="18"/>
                                        </p:tgtEl>
                                        <p:attrNameLst>
                                          <p:attrName>ppt_w</p:attrName>
                                        </p:attrNameLst>
                                      </p:cBhvr>
                                      <p:tavLst>
                                        <p:tav tm="0">
                                          <p:val>
                                            <p:fltVal val="0"/>
                                          </p:val>
                                        </p:tav>
                                        <p:tav tm="100000">
                                          <p:val>
                                            <p:strVal val="#ppt_w"/>
                                          </p:val>
                                        </p:tav>
                                      </p:tavLst>
                                    </p:anim>
                                    <p:anim calcmode="lin" valueType="num">
                                      <p:cBhvr>
                                        <p:cTn id="27" dur="500" fill="hold"/>
                                        <p:tgtEl>
                                          <p:spTgt spid="1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3 · Bell Work · Review</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Warm up: work these on your own</a:t>
            </a:r>
            <a:endParaRPr lang="en-US" sz="3450" dirty="0"/>
          </a:p>
        </p:txBody>
      </p:sp>
      <p:sp>
        <p:nvSpPr>
          <p:cNvPr id="7" name="Shape 7"/>
          <p:cNvSpPr txBox="1"/>
          <p:nvPr/>
        </p:nvSpPr>
        <p:spPr>
          <a:xfrm>
            <a:off x="685800" y="1618488"/>
            <a:ext cx="5295748" cy="206502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487664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1.</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f</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x</a:t>
            </a:r>
            <a:r>
              <a:rPr lang="en-US" sz="1575" dirty="0">
                <a:solidFill>
                  <a:srgbClr val="16171D"/>
                </a:solidFill>
                <a:latin typeface="Segoe UI"/>
                <a:cs typeface="Segoe UI"/>
              </a:rPr>
              <a:t xml:space="preserve"> and </a:t>
            </a:r>
            <a:r>
              <a:rPr lang="en-US" sz="1575" dirty="0" i="1">
                <a:solidFill>
                  <a:srgbClr val="16171D"/>
                </a:solidFill>
                <a:latin typeface="Cambria"/>
                <a:cs typeface="Cambria"/>
              </a:rPr>
              <a:t xml:space="preserve">g</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3</a:t>
            </a:r>
            <a:r>
              <a:rPr lang="en-US" sz="1575" dirty="0" i="1">
                <a:solidFill>
                  <a:srgbClr val="16171D"/>
                </a:solidFill>
                <a:latin typeface="Cambria"/>
                <a:cs typeface="Cambria"/>
              </a:rPr>
              <a:t xml:space="preserve">f</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a:t>
            </a:r>
            <a:r>
              <a:rPr lang="en-US" sz="1575" dirty="0">
                <a:solidFill>
                  <a:srgbClr val="16171D"/>
                </a:solidFill>
                <a:latin typeface="Segoe UI"/>
                <a:cs typeface="Segoe UI"/>
              </a:rPr>
              <a:t xml:space="preserve">. What is the slope of </a:t>
            </a:r>
            <a:r>
              <a:rPr lang="en-US" sz="1575" dirty="0" i="1">
                <a:solidFill>
                  <a:srgbClr val="16171D"/>
                </a:solidFill>
                <a:latin typeface="Cambria"/>
                <a:cs typeface="Cambria"/>
              </a:rPr>
              <a:t xml:space="preserve">g</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a:t>
            </a:r>
            <a:r>
              <a:rPr lang="en-US" sz="1575" dirty="0">
                <a:solidFill>
                  <a:srgbClr val="16171D"/>
                </a:solidFill>
                <a:latin typeface="Segoe UI"/>
                <a:cs typeface="Segoe UI"/>
              </a:rPr>
              <a:t xml:space="preserve">?</a:t>
            </a:r>
            <a:endParaRPr lang="en-US" sz="1575" dirty="0"/>
          </a:p>
        </p:txBody>
      </p:sp>
      <p:sp>
        <p:nvSpPr>
          <p:cNvPr id="5" name="Shape 5"/>
          <p:cNvSpPr txBox="1"/>
          <p:nvPr/>
        </p:nvSpPr>
        <p:spPr>
          <a:xfrm>
            <a:off x="895350" y="2362962"/>
            <a:ext cx="48766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Formula:</a:t>
            </a:r>
            <a:r>
              <a:rPr lang="en-US" sz="1575" dirty="0">
                <a:solidFill>
                  <a:srgbClr val="16171D"/>
                </a:solidFill>
                <a:latin typeface="Segoe UI"/>
                <a:cs typeface="Segoe UI"/>
              </a:rPr>
              <a:t xml:space="preserve"> for </a:t>
            </a:r>
            <a:r>
              <a:rPr lang="en-US" sz="1575" dirty="0" i="1">
                <a:solidFill>
                  <a:srgbClr val="16171D"/>
                </a:solidFill>
                <a:latin typeface="Cambria"/>
                <a:cs typeface="Cambria"/>
              </a:rPr>
              <a:t xml:space="preserve">f</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x</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a</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f</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a</a:t>
            </a:r>
            <a:r>
              <a:rPr lang="en-US" sz="1575" dirty="0" i="1">
                <a:solidFill>
                  <a:srgbClr val="16171D"/>
                </a:solidFill>
                <a:latin typeface="Cambria"/>
                <a:cs typeface="Cambria"/>
              </a:rPr>
              <a:t xml:space="preserve">x</a:t>
            </a:r>
            <a:r>
              <a:rPr lang="en-US" sz="1575" dirty="0">
                <a:solidFill>
                  <a:srgbClr val="16171D"/>
                </a:solidFill>
                <a:latin typeface="Segoe UI"/>
                <a:cs typeface="Segoe UI"/>
              </a:rPr>
              <a:t xml:space="preserve"> has slope </a:t>
            </a:r>
            <a:r>
              <a:rPr lang="en-US" sz="1575" dirty="0" i="1">
                <a:solidFill>
                  <a:srgbClr val="16171D"/>
                </a:solidFill>
                <a:latin typeface="Cambria"/>
                <a:cs typeface="Cambria"/>
              </a:rPr>
              <a:t xml:space="preserve">a</a:t>
            </a:r>
            <a:endParaRPr lang="en-US" sz="1575" dirty="0"/>
          </a:p>
        </p:txBody>
      </p:sp>
      <p:sp>
        <p:nvSpPr>
          <p:cNvPr id="6" name="Shape 6"/>
          <p:cNvSpPr txBox="1"/>
          <p:nvPr/>
        </p:nvSpPr>
        <p:spPr>
          <a:xfrm>
            <a:off x="895350" y="2695956"/>
            <a:ext cx="4730363" cy="81610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1425" dirty="0" b="1">
                <a:solidFill>
                  <a:srgbClr val="16171D"/>
                </a:solidFill>
                <a:latin typeface="Cambria"/>
                <a:cs typeface="Cambria"/>
              </a:rPr>
              <a:t xml:space="preserve">3</a:t>
            </a:r>
            <a:br>
              <a:rPr lang="en-US" sz="1425" dirty="0">
                <a:solidFill>
                  <a:srgbClr val="16171D"/>
                </a:solidFill>
                <a:latin typeface="Segoe UI"/>
                <a:cs typeface="Segoe UI"/>
              </a:rPr>
            </a:br>
            <a:r>
              <a:rPr lang="en-US" sz="1425" dirty="0" b="1">
                <a:solidFill>
                  <a:srgbClr val="16171D"/>
                </a:solidFill>
                <a:latin typeface="Segoe UI"/>
                <a:cs typeface="Segoe UI"/>
              </a:rPr>
              <a:t xml:space="preserve">1.</a:t>
            </a:r>
            <a:r>
              <a:rPr lang="en-US" sz="1425" dirty="0">
                <a:solidFill>
                  <a:srgbClr val="16171D"/>
                </a:solidFill>
                <a:latin typeface="Segoe UI"/>
                <a:cs typeface="Segoe UI"/>
              </a:rPr>
              <a:t xml:space="preserve"> Replace </a:t>
            </a:r>
            <a:r>
              <a:rPr lang="en-US" sz="1425" dirty="0" i="1">
                <a:solidFill>
                  <a:srgbClr val="16171D"/>
                </a:solidFill>
                <a:latin typeface="Cambria"/>
                <a:cs typeface="Cambria"/>
              </a:rPr>
              <a:t xml:space="preserve">f</a:t>
            </a:r>
            <a:r>
              <a:rPr lang="en-US" sz="1425" dirty="0">
                <a:solidFill>
                  <a:srgbClr val="16171D"/>
                </a:solidFill>
                <a:latin typeface="Cambria"/>
                <a:cs typeface="Cambria"/>
              </a:rPr>
              <a:t xml:space="preserve">(</a:t>
            </a:r>
            <a:r>
              <a:rPr lang="en-US" sz="1425" dirty="0" i="1">
                <a:solidFill>
                  <a:srgbClr val="16171D"/>
                </a:solidFill>
                <a:latin typeface="Cambria"/>
                <a:cs typeface="Cambria"/>
              </a:rPr>
              <a:t xml:space="preserve">x</a:t>
            </a:r>
            <a:r>
              <a:rPr lang="en-US" sz="1425" dirty="0">
                <a:solidFill>
                  <a:srgbClr val="16171D"/>
                </a:solidFill>
                <a:latin typeface="Cambria"/>
                <a:cs typeface="Cambria"/>
              </a:rPr>
              <a:t xml:space="preserve">)</a:t>
            </a:r>
            <a:r>
              <a:rPr lang="en-US" sz="1425" dirty="0">
                <a:solidFill>
                  <a:srgbClr val="16171D"/>
                </a:solidFill>
                <a:latin typeface="Segoe UI"/>
                <a:cs typeface="Segoe UI"/>
              </a:rPr>
              <a:t xml:space="preserve"> with </a:t>
            </a:r>
            <a:r>
              <a:rPr lang="en-US" sz="1425" dirty="0" i="1">
                <a:solidFill>
                  <a:srgbClr val="16171D"/>
                </a:solidFill>
                <a:latin typeface="Cambria"/>
                <a:cs typeface="Cambria"/>
              </a:rPr>
              <a:t xml:space="preserve">x</a:t>
            </a:r>
            <a:r>
              <a:rPr lang="en-US" sz="1425" dirty="0">
                <a:solidFill>
                  <a:srgbClr val="16171D"/>
                </a:solidFill>
                <a:latin typeface="Segoe UI"/>
                <a:cs typeface="Segoe UI"/>
              </a:rPr>
              <a:t xml:space="preserve">: </a:t>
            </a:r>
            <a:r>
              <a:rPr lang="en-US" sz="1425" dirty="0" i="1">
                <a:solidFill>
                  <a:srgbClr val="16171D"/>
                </a:solidFill>
                <a:latin typeface="Cambria"/>
                <a:cs typeface="Cambria"/>
              </a:rPr>
              <a:t xml:space="preserve">g</a:t>
            </a:r>
            <a:r>
              <a:rPr lang="en-US" sz="1425" dirty="0">
                <a:solidFill>
                  <a:srgbClr val="16171D"/>
                </a:solidFill>
                <a:latin typeface="Cambria"/>
                <a:cs typeface="Cambria"/>
              </a:rPr>
              <a:t xml:space="preserve">(</a:t>
            </a:r>
            <a:r>
              <a:rPr lang="en-US" sz="1425" dirty="0" i="1">
                <a:solidFill>
                  <a:srgbClr val="16171D"/>
                </a:solidFill>
                <a:latin typeface="Cambria"/>
                <a:cs typeface="Cambria"/>
              </a:rPr>
              <a:t xml:space="preserve">x</a:t>
            </a:r>
            <a:r>
              <a:rPr lang="en-US" sz="1425" dirty="0">
                <a:solidFill>
                  <a:srgbClr val="16171D"/>
                </a:solidFill>
                <a:latin typeface="Cambria"/>
                <a:cs typeface="Cambria"/>
              </a:rPr>
              <a:t xml:space="preserve">) = 3</a:t>
            </a:r>
            <a:r>
              <a:rPr lang="en-US" sz="1425" dirty="0" i="1">
                <a:solidFill>
                  <a:srgbClr val="16171D"/>
                </a:solidFill>
                <a:latin typeface="Cambria"/>
                <a:cs typeface="Cambria"/>
              </a:rPr>
              <a:t xml:space="preserve">x</a:t>
            </a:r>
            <a:r>
              <a:rPr lang="en-US" sz="1425" dirty="0">
                <a:solidFill>
                  <a:srgbClr val="16171D"/>
                </a:solidFill>
                <a:latin typeface="Segoe UI"/>
                <a:cs typeface="Segoe UI"/>
              </a:rPr>
              <a:t xml:space="preserve">.</a:t>
            </a:r>
            <a:br>
              <a:rPr lang="en-US" sz="1425" dirty="0">
                <a:solidFill>
                  <a:srgbClr val="16171D"/>
                </a:solidFill>
                <a:latin typeface="Segoe UI"/>
                <a:cs typeface="Segoe UI"/>
              </a:rPr>
            </a:br>
            <a:r>
              <a:rPr lang="en-US" sz="1425" dirty="0" b="1">
                <a:solidFill>
                  <a:srgbClr val="16171D"/>
                </a:solidFill>
                <a:latin typeface="Segoe UI"/>
                <a:cs typeface="Segoe UI"/>
              </a:rPr>
              <a:t xml:space="preserve">2.</a:t>
            </a:r>
            <a:r>
              <a:rPr lang="en-US" sz="1425" dirty="0">
                <a:solidFill>
                  <a:srgbClr val="16171D"/>
                </a:solidFill>
                <a:latin typeface="Segoe UI"/>
                <a:cs typeface="Segoe UI"/>
              </a:rPr>
              <a:t xml:space="preserve"> The number with </a:t>
            </a:r>
            <a:r>
              <a:rPr lang="en-US" sz="1425" dirty="0" i="1">
                <a:solidFill>
                  <a:srgbClr val="16171D"/>
                </a:solidFill>
                <a:latin typeface="Cambria"/>
                <a:cs typeface="Cambria"/>
              </a:rPr>
              <a:t xml:space="preserve">x</a:t>
            </a:r>
            <a:r>
              <a:rPr lang="en-US" sz="1425" dirty="0">
                <a:solidFill>
                  <a:srgbClr val="16171D"/>
                </a:solidFill>
                <a:latin typeface="Segoe UI"/>
                <a:cs typeface="Segoe UI"/>
              </a:rPr>
              <a:t xml:space="preserve"> is 3, so the slope is 3.</a:t>
            </a:r>
            <a:endParaRPr lang="en-US" sz="1425" dirty="0"/>
          </a:p>
        </p:txBody>
      </p:sp>
      <p:sp>
        <p:nvSpPr>
          <p:cNvPr id="11" name="Shape 11"/>
          <p:cNvSpPr txBox="1"/>
          <p:nvPr/>
        </p:nvSpPr>
        <p:spPr>
          <a:xfrm>
            <a:off x="685800" y="3816858"/>
            <a:ext cx="5295748" cy="271653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8" name="Shape 8"/>
          <p:cNvSpPr txBox="1"/>
          <p:nvPr/>
        </p:nvSpPr>
        <p:spPr>
          <a:xfrm>
            <a:off x="895350" y="3988308"/>
            <a:ext cx="48766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2.</a:t>
            </a:r>
            <a:r>
              <a:rPr lang="en-US" sz="1575" dirty="0">
                <a:solidFill>
                  <a:srgbClr val="16171D"/>
                </a:solidFill>
                <a:latin typeface="Segoe UI"/>
                <a:cs typeface="Segoe UI"/>
              </a:rPr>
              <a:t xml:space="preserve"> How is </a:t>
            </a:r>
            <a:r>
              <a:rPr lang="en-US" sz="1575" dirty="0" i="1">
                <a:solidFill>
                  <a:srgbClr val="16171D"/>
                </a:solidFill>
                <a:latin typeface="Cambria"/>
                <a:cs typeface="Cambria"/>
              </a:rPr>
              <a:t xml:space="preserve">g</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−2</a:t>
            </a:r>
            <a:r>
              <a:rPr lang="en-US" sz="1575" dirty="0" i="1">
                <a:solidFill>
                  <a:srgbClr val="16171D"/>
                </a:solidFill>
                <a:latin typeface="Cambria"/>
                <a:cs typeface="Cambria"/>
              </a:rPr>
              <a:t xml:space="preserve">f</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a:t>
            </a:r>
            <a:r>
              <a:rPr lang="en-US" sz="1575" dirty="0">
                <a:solidFill>
                  <a:srgbClr val="16171D"/>
                </a:solidFill>
                <a:latin typeface="Segoe UI"/>
                <a:cs typeface="Segoe UI"/>
              </a:rPr>
              <a:t xml:space="preserve"> related to </a:t>
            </a:r>
            <a:r>
              <a:rPr lang="en-US" sz="1575" dirty="0" i="1">
                <a:solidFill>
                  <a:srgbClr val="16171D"/>
                </a:solidFill>
                <a:latin typeface="Cambria"/>
                <a:cs typeface="Cambria"/>
              </a:rPr>
              <a:t xml:space="preserve">f</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x</a:t>
            </a:r>
            <a:r>
              <a:rPr lang="en-US" sz="1575" dirty="0">
                <a:solidFill>
                  <a:srgbClr val="16171D"/>
                </a:solidFill>
                <a:latin typeface="Segoe UI"/>
                <a:cs typeface="Segoe UI"/>
              </a:rPr>
              <a:t xml:space="preserve">?</a:t>
            </a:r>
            <a:endParaRPr lang="en-US" sz="1575" dirty="0"/>
          </a:p>
        </p:txBody>
      </p:sp>
      <p:sp>
        <p:nvSpPr>
          <p:cNvPr id="9" name="Shape 9"/>
          <p:cNvSpPr txBox="1"/>
          <p:nvPr/>
        </p:nvSpPr>
        <p:spPr>
          <a:xfrm>
            <a:off x="895350" y="4321302"/>
            <a:ext cx="487664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Formula:</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a</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f</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a:t>
            </a:r>
            <a:r>
              <a:rPr lang="en-US" sz="1575" dirty="0">
                <a:solidFill>
                  <a:srgbClr val="16171D"/>
                </a:solidFill>
                <a:latin typeface="Segoe UI"/>
                <a:cs typeface="Segoe UI"/>
              </a:rPr>
              <a:t xml:space="preserve">: </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a</a:t>
            </a:r>
            <a:r>
              <a:rPr lang="en-US" sz="1575" dirty="0">
                <a:solidFill>
                  <a:srgbClr val="16171D"/>
                </a:solidFill>
                <a:latin typeface="Cambria"/>
                <a:cs typeface="Cambria"/>
              </a:rPr>
              <a:t xml:space="preserve">| &gt; 1</a:t>
            </a:r>
            <a:r>
              <a:rPr lang="en-US" sz="1575" dirty="0">
                <a:solidFill>
                  <a:srgbClr val="16171D"/>
                </a:solidFill>
                <a:latin typeface="Segoe UI"/>
                <a:cs typeface="Segoe UI"/>
              </a:rPr>
              <a:t xml:space="preserve"> stretches, </a:t>
            </a:r>
            <a:r>
              <a:rPr lang="en-US" sz="1575" dirty="0" i="1">
                <a:solidFill>
                  <a:srgbClr val="16171D"/>
                </a:solidFill>
                <a:latin typeface="Cambria"/>
                <a:cs typeface="Cambria"/>
              </a:rPr>
              <a:t xml:space="preserve">a</a:t>
            </a:r>
            <a:r>
              <a:rPr lang="en-US" sz="1575" dirty="0">
                <a:solidFill>
                  <a:srgbClr val="16171D"/>
                </a:solidFill>
                <a:latin typeface="Cambria"/>
                <a:cs typeface="Cambria"/>
              </a:rPr>
              <a:t xml:space="preserve"> </a:t>
            </a:r>
            <a:r>
              <a:rPr lang="en-US" sz="1575" dirty="0">
                <a:solidFill>
                  <a:srgbClr val="16171D"/>
                </a:solidFill>
                <a:latin typeface="Cambria"/>
                <a:cs typeface="Cambria"/>
              </a:rPr>
              <a:t xml:space="preserve">&lt;</a:t>
            </a:r>
            <a:r>
              <a:rPr lang="en-US" sz="1575" dirty="0">
                <a:solidFill>
                  <a:srgbClr val="16171D"/>
                </a:solidFill>
                <a:latin typeface="Cambria"/>
                <a:cs typeface="Cambria"/>
              </a:rPr>
              <a:t xml:space="preserve"> 0</a:t>
            </a:r>
            <a:r>
              <a:rPr lang="en-US" sz="1575" dirty="0">
                <a:solidFill>
                  <a:srgbClr val="16171D"/>
                </a:solidFill>
                <a:latin typeface="Segoe UI"/>
                <a:cs typeface="Segoe UI"/>
              </a:rPr>
              <a:t xml:space="preserve"> flips</a:t>
            </a:r>
            <a:endParaRPr lang="en-US" sz="1575" dirty="0"/>
          </a:p>
        </p:txBody>
      </p:sp>
      <p:sp>
        <p:nvSpPr>
          <p:cNvPr id="10" name="Shape 10"/>
          <p:cNvSpPr txBox="1"/>
          <p:nvPr/>
        </p:nvSpPr>
        <p:spPr>
          <a:xfrm>
            <a:off x="895350" y="4894326"/>
            <a:ext cx="4876648" cy="146761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1425" dirty="0" b="1">
                <a:solidFill>
                  <a:srgbClr val="16171D"/>
                </a:solidFill>
                <a:latin typeface="Segoe UI"/>
                <a:cs typeface="Segoe UI"/>
              </a:rPr>
              <a:t xml:space="preserve">Stretched vertically by 2 and reflected across the </a:t>
            </a:r>
            <a:r>
              <a:rPr lang="en-US" sz="1425" dirty="0" b="1" i="1">
                <a:solidFill>
                  <a:srgbClr val="16171D"/>
                </a:solidFill>
                <a:latin typeface="Cambria"/>
                <a:cs typeface="Cambria"/>
              </a:rPr>
              <a:t xml:space="preserve">x</a:t>
            </a:r>
            <a:r>
              <a:rPr lang="en-US" sz="1425" dirty="0" b="1">
                <a:solidFill>
                  <a:srgbClr val="16171D"/>
                </a:solidFill>
                <a:latin typeface="Segoe UI"/>
                <a:cs typeface="Segoe UI"/>
              </a:rPr>
              <a:t xml:space="preserve">-axis</a:t>
            </a:r>
            <a:br>
              <a:rPr lang="en-US" sz="1425" dirty="0">
                <a:solidFill>
                  <a:srgbClr val="16171D"/>
                </a:solidFill>
                <a:latin typeface="Segoe UI"/>
                <a:cs typeface="Segoe UI"/>
              </a:rPr>
            </a:br>
            <a:r>
              <a:rPr lang="en-US" sz="1425" dirty="0" b="1">
                <a:solidFill>
                  <a:srgbClr val="16171D"/>
                </a:solidFill>
                <a:latin typeface="Segoe UI"/>
                <a:cs typeface="Segoe UI"/>
              </a:rPr>
              <a:t xml:space="preserve">1.</a:t>
            </a:r>
            <a:r>
              <a:rPr lang="en-US" sz="1425" dirty="0">
                <a:solidFill>
                  <a:srgbClr val="16171D"/>
                </a:solidFill>
                <a:latin typeface="Segoe UI"/>
                <a:cs typeface="Segoe UI"/>
              </a:rPr>
              <a:t xml:space="preserve"> </a:t>
            </a:r>
            <a:r>
              <a:rPr lang="en-US" sz="1425" dirty="0" i="1">
                <a:solidFill>
                  <a:srgbClr val="16171D"/>
                </a:solidFill>
                <a:latin typeface="Cambria"/>
                <a:cs typeface="Cambria"/>
              </a:rPr>
              <a:t xml:space="preserve">a</a:t>
            </a:r>
            <a:r>
              <a:rPr lang="en-US" sz="1425" dirty="0">
                <a:solidFill>
                  <a:srgbClr val="16171D"/>
                </a:solidFill>
                <a:latin typeface="Cambria"/>
                <a:cs typeface="Cambria"/>
              </a:rPr>
              <a:t xml:space="preserve"> = −2</a:t>
            </a:r>
            <a:r>
              <a:rPr lang="en-US" sz="1425" dirty="0">
                <a:solidFill>
                  <a:srgbClr val="16171D"/>
                </a:solidFill>
                <a:latin typeface="Segoe UI"/>
                <a:cs typeface="Segoe UI"/>
              </a:rPr>
              <a:t xml:space="preserve">. The size, 2, is more than 1: stretched by 2.</a:t>
            </a:r>
            <a:br>
              <a:rPr lang="en-US" sz="1425" dirty="0">
                <a:solidFill>
                  <a:srgbClr val="16171D"/>
                </a:solidFill>
                <a:latin typeface="Segoe UI"/>
                <a:cs typeface="Segoe UI"/>
              </a:rPr>
            </a:br>
            <a:r>
              <a:rPr lang="en-US" sz="1425" dirty="0" b="1">
                <a:solidFill>
                  <a:srgbClr val="16171D"/>
                </a:solidFill>
                <a:latin typeface="Segoe UI"/>
                <a:cs typeface="Segoe UI"/>
              </a:rPr>
              <a:t xml:space="preserve">2.</a:t>
            </a:r>
            <a:r>
              <a:rPr lang="en-US" sz="1425" dirty="0">
                <a:solidFill>
                  <a:srgbClr val="16171D"/>
                </a:solidFill>
                <a:latin typeface="Segoe UI"/>
                <a:cs typeface="Segoe UI"/>
              </a:rPr>
              <a:t xml:space="preserve"> The sign is negative: reflected (flipped) across the </a:t>
            </a:r>
            <a:r>
              <a:rPr lang="en-US" sz="1425" dirty="0" i="1">
                <a:solidFill>
                  <a:srgbClr val="16171D"/>
                </a:solidFill>
                <a:latin typeface="Cambria"/>
                <a:cs typeface="Cambria"/>
              </a:rPr>
              <a:t xml:space="preserve">x</a:t>
            </a:r>
            <a:r>
              <a:rPr lang="en-US" sz="1425" dirty="0">
                <a:solidFill>
                  <a:srgbClr val="16171D"/>
                </a:solidFill>
                <a:latin typeface="Segoe UI"/>
                <a:cs typeface="Segoe UI"/>
              </a:rPr>
              <a:t xml:space="preserve">-axis.</a:t>
            </a:r>
            <a:endParaRPr lang="en-US" sz="1425" dirty="0"/>
          </a:p>
        </p:txBody>
      </p:sp>
      <p:sp>
        <p:nvSpPr>
          <p:cNvPr id="15" name="Shape 15"/>
          <p:cNvSpPr txBox="1"/>
          <p:nvPr/>
        </p:nvSpPr>
        <p:spPr>
          <a:xfrm>
            <a:off x="6210148" y="1618488"/>
            <a:ext cx="5295748" cy="249936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2" name="Shape 12"/>
          <p:cNvSpPr txBox="1"/>
          <p:nvPr/>
        </p:nvSpPr>
        <p:spPr>
          <a:xfrm>
            <a:off x="6419698" y="1789938"/>
            <a:ext cx="487664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3.</a:t>
            </a:r>
            <a:r>
              <a:rPr lang="en-US" sz="1575" dirty="0">
                <a:solidFill>
                  <a:srgbClr val="16171D"/>
                </a:solidFill>
                <a:latin typeface="Segoe UI"/>
                <a:cs typeface="Segoe UI"/>
              </a:rPr>
              <a:t xml:space="preserve"> Which function is a vertical compression of </a:t>
            </a:r>
            <a:r>
              <a:rPr lang="en-US" sz="1575" dirty="0" i="1">
                <a:solidFill>
                  <a:srgbClr val="16171D"/>
                </a:solidFill>
                <a:latin typeface="Cambria"/>
                <a:cs typeface="Cambria"/>
              </a:rPr>
              <a:t xml:space="preserve">f</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x</a:t>
            </a:r>
            <a:r>
              <a:rPr lang="en-US" sz="1575" dirty="0">
                <a:solidFill>
                  <a:srgbClr val="16171D"/>
                </a:solidFill>
                <a:latin typeface="Segoe UI"/>
                <a:cs typeface="Segoe UI"/>
              </a:rPr>
              <a:t xml:space="preserve">?</a:t>
            </a:r>
            <a:endParaRPr lang="en-US" sz="1575" dirty="0"/>
          </a:p>
        </p:txBody>
      </p:sp>
      <p:sp>
        <p:nvSpPr>
          <p:cNvPr id="13" name="Shape 13"/>
          <p:cNvSpPr txBox="1"/>
          <p:nvPr/>
        </p:nvSpPr>
        <p:spPr>
          <a:xfrm>
            <a:off x="6419698" y="2362962"/>
            <a:ext cx="48766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Formula:</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a</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f</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a:t>
            </a:r>
            <a:r>
              <a:rPr lang="en-US" sz="1575" dirty="0">
                <a:solidFill>
                  <a:srgbClr val="16171D"/>
                </a:solidFill>
                <a:latin typeface="Segoe UI"/>
                <a:cs typeface="Segoe UI"/>
              </a:rPr>
              <a:t xml:space="preserve">: </a:t>
            </a:r>
            <a:r>
              <a:rPr lang="en-US" sz="1575" dirty="0">
                <a:solidFill>
                  <a:srgbClr val="16171D"/>
                </a:solidFill>
                <a:latin typeface="Cambria"/>
                <a:cs typeface="Cambria"/>
              </a:rPr>
              <a:t xml:space="preserve">0 </a:t>
            </a:r>
            <a:r>
              <a:rPr lang="en-US" sz="1575" dirty="0">
                <a:solidFill>
                  <a:srgbClr val="16171D"/>
                </a:solidFill>
                <a:latin typeface="Cambria"/>
                <a:cs typeface="Cambria"/>
              </a:rPr>
              <a:t xml:space="preserve">&lt;</a:t>
            </a:r>
            <a:r>
              <a:rPr lang="en-US" sz="1575" dirty="0">
                <a:solidFill>
                  <a:srgbClr val="16171D"/>
                </a:solidFill>
                <a:latin typeface="Cambria"/>
                <a:cs typeface="Cambria"/>
              </a:rPr>
              <a:t xml:space="preserve"> </a:t>
            </a:r>
            <a:r>
              <a:rPr lang="en-US" sz="1575" dirty="0" i="1">
                <a:solidFill>
                  <a:srgbClr val="16171D"/>
                </a:solidFill>
                <a:latin typeface="Cambria"/>
                <a:cs typeface="Cambria"/>
              </a:rPr>
              <a:t xml:space="preserve">a</a:t>
            </a:r>
            <a:r>
              <a:rPr lang="en-US" sz="1575" dirty="0">
                <a:solidFill>
                  <a:srgbClr val="16171D"/>
                </a:solidFill>
                <a:latin typeface="Cambria"/>
                <a:cs typeface="Cambria"/>
              </a:rPr>
              <a:t xml:space="preserve"> </a:t>
            </a:r>
            <a:r>
              <a:rPr lang="en-US" sz="1575" dirty="0">
                <a:solidFill>
                  <a:srgbClr val="16171D"/>
                </a:solidFill>
                <a:latin typeface="Cambria"/>
                <a:cs typeface="Cambria"/>
              </a:rPr>
              <a:t xml:space="preserve">&lt;</a:t>
            </a:r>
            <a:r>
              <a:rPr lang="en-US" sz="1575" dirty="0">
                <a:solidFill>
                  <a:srgbClr val="16171D"/>
                </a:solidFill>
                <a:latin typeface="Cambria"/>
                <a:cs typeface="Cambria"/>
              </a:rPr>
              <a:t xml:space="preserve"> 1</a:t>
            </a:r>
            <a:r>
              <a:rPr lang="en-US" sz="1575" dirty="0">
                <a:solidFill>
                  <a:srgbClr val="16171D"/>
                </a:solidFill>
                <a:latin typeface="Segoe UI"/>
                <a:cs typeface="Segoe UI"/>
              </a:rPr>
              <a:t xml:space="preserve"> compresses</a:t>
            </a:r>
            <a:endParaRPr lang="en-US" sz="1575" dirty="0"/>
          </a:p>
        </p:txBody>
      </p:sp>
      <p:sp>
        <p:nvSpPr>
          <p:cNvPr id="14" name="Shape 14"/>
          <p:cNvSpPr txBox="1"/>
          <p:nvPr/>
        </p:nvSpPr>
        <p:spPr>
          <a:xfrm>
            <a:off x="6419698" y="2695956"/>
            <a:ext cx="4876648" cy="125044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1425" dirty="0" b="1" i="1">
                <a:solidFill>
                  <a:srgbClr val="16171D"/>
                </a:solidFill>
                <a:latin typeface="Cambria"/>
                <a:cs typeface="Cambria"/>
              </a:rPr>
              <a:t xml:space="preserve">g</a:t>
            </a:r>
            <a:r>
              <a:rPr lang="en-US" sz="1425" dirty="0" b="1">
                <a:solidFill>
                  <a:srgbClr val="16171D"/>
                </a:solidFill>
                <a:latin typeface="Cambria"/>
                <a:cs typeface="Cambria"/>
              </a:rPr>
              <a:t xml:space="preserve">(</a:t>
            </a:r>
            <a:r>
              <a:rPr lang="en-US" sz="1425" dirty="0" b="1" i="1">
                <a:solidFill>
                  <a:srgbClr val="16171D"/>
                </a:solidFill>
                <a:latin typeface="Cambria"/>
                <a:cs typeface="Cambria"/>
              </a:rPr>
              <a:t xml:space="preserve">x</a:t>
            </a:r>
            <a:r>
              <a:rPr lang="en-US" sz="1425" dirty="0" b="1">
                <a:solidFill>
                  <a:srgbClr val="16171D"/>
                </a:solidFill>
                <a:latin typeface="Cambria"/>
                <a:cs typeface="Cambria"/>
              </a:rPr>
              <a:t xml:space="preserve">) = ½</a:t>
            </a:r>
            <a:r>
              <a:rPr lang="en-US" sz="1425" dirty="0" b="1" i="1">
                <a:solidFill>
                  <a:srgbClr val="16171D"/>
                </a:solidFill>
                <a:latin typeface="Cambria"/>
                <a:cs typeface="Cambria"/>
              </a:rPr>
              <a:t xml:space="preserve">f</a:t>
            </a:r>
            <a:r>
              <a:rPr lang="en-US" sz="1425" dirty="0" b="1">
                <a:solidFill>
                  <a:srgbClr val="16171D"/>
                </a:solidFill>
                <a:latin typeface="Cambria"/>
                <a:cs typeface="Cambria"/>
              </a:rPr>
              <a:t xml:space="preserve">(</a:t>
            </a:r>
            <a:r>
              <a:rPr lang="en-US" sz="1425" dirty="0" b="1" i="1">
                <a:solidFill>
                  <a:srgbClr val="16171D"/>
                </a:solidFill>
                <a:latin typeface="Cambria"/>
                <a:cs typeface="Cambria"/>
              </a:rPr>
              <a:t xml:space="preserve">x</a:t>
            </a:r>
            <a:r>
              <a:rPr lang="en-US" sz="1425" dirty="0" b="1">
                <a:solidFill>
                  <a:srgbClr val="16171D"/>
                </a:solidFill>
                <a:latin typeface="Cambria"/>
                <a:cs typeface="Cambria"/>
              </a:rPr>
              <a:t xml:space="preserve">)</a:t>
            </a:r>
            <a:br>
              <a:rPr lang="en-US" sz="1425" dirty="0">
                <a:solidFill>
                  <a:srgbClr val="16171D"/>
                </a:solidFill>
                <a:latin typeface="Segoe UI"/>
                <a:cs typeface="Segoe UI"/>
              </a:rPr>
            </a:br>
            <a:r>
              <a:rPr lang="en-US" sz="1425" dirty="0" b="1">
                <a:solidFill>
                  <a:srgbClr val="16171D"/>
                </a:solidFill>
                <a:latin typeface="Segoe UI"/>
                <a:cs typeface="Segoe UI"/>
              </a:rPr>
              <a:t xml:space="preserve">1.</a:t>
            </a:r>
            <a:r>
              <a:rPr lang="en-US" sz="1425" dirty="0">
                <a:solidFill>
                  <a:srgbClr val="16171D"/>
                </a:solidFill>
                <a:latin typeface="Segoe UI"/>
                <a:cs typeface="Segoe UI"/>
              </a:rPr>
              <a:t xml:space="preserve"> Look for a number between 0 and 1 in front of </a:t>
            </a:r>
            <a:r>
              <a:rPr lang="en-US" sz="1425" dirty="0" i="1">
                <a:solidFill>
                  <a:srgbClr val="16171D"/>
                </a:solidFill>
                <a:latin typeface="Cambria"/>
                <a:cs typeface="Cambria"/>
              </a:rPr>
              <a:t xml:space="preserve">f</a:t>
            </a:r>
            <a:r>
              <a:rPr lang="en-US" sz="1425" dirty="0">
                <a:solidFill>
                  <a:srgbClr val="16171D"/>
                </a:solidFill>
                <a:latin typeface="Cambria"/>
                <a:cs typeface="Cambria"/>
              </a:rPr>
              <a:t xml:space="preserve">(</a:t>
            </a:r>
            <a:r>
              <a:rPr lang="en-US" sz="1425" dirty="0" i="1">
                <a:solidFill>
                  <a:srgbClr val="16171D"/>
                </a:solidFill>
                <a:latin typeface="Cambria"/>
                <a:cs typeface="Cambria"/>
              </a:rPr>
              <a:t xml:space="preserve">x</a:t>
            </a:r>
            <a:r>
              <a:rPr lang="en-US" sz="1425" dirty="0">
                <a:solidFill>
                  <a:srgbClr val="16171D"/>
                </a:solidFill>
                <a:latin typeface="Cambria"/>
                <a:cs typeface="Cambria"/>
              </a:rPr>
              <a:t xml:space="preserve">)</a:t>
            </a:r>
            <a:r>
              <a:rPr lang="en-US" sz="1425" dirty="0">
                <a:solidFill>
                  <a:srgbClr val="16171D"/>
                </a:solidFill>
                <a:latin typeface="Segoe UI"/>
                <a:cs typeface="Segoe UI"/>
              </a:rPr>
              <a:t xml:space="preserve">.</a:t>
            </a:r>
            <a:br>
              <a:rPr lang="en-US" sz="1425" dirty="0">
                <a:solidFill>
                  <a:srgbClr val="16171D"/>
                </a:solidFill>
                <a:latin typeface="Segoe UI"/>
                <a:cs typeface="Segoe UI"/>
              </a:rPr>
            </a:br>
            <a:r>
              <a:rPr lang="en-US" sz="1425" dirty="0" b="1">
                <a:solidFill>
                  <a:srgbClr val="16171D"/>
                </a:solidFill>
                <a:latin typeface="Segoe UI"/>
                <a:cs typeface="Segoe UI"/>
              </a:rPr>
              <a:t xml:space="preserve">2.</a:t>
            </a:r>
            <a:r>
              <a:rPr lang="en-US" sz="1425" dirty="0">
                <a:solidFill>
                  <a:srgbClr val="16171D"/>
                </a:solidFill>
                <a:latin typeface="Segoe UI"/>
                <a:cs typeface="Segoe UI"/>
              </a:rPr>
              <a:t xml:space="preserve"> </a:t>
            </a:r>
            <a:r>
              <a:rPr lang="en-US" sz="1425" dirty="0">
                <a:solidFill>
                  <a:srgbClr val="16171D"/>
                </a:solidFill>
                <a:latin typeface="Cambria"/>
                <a:cs typeface="Cambria"/>
              </a:rPr>
              <a:t xml:space="preserve">½</a:t>
            </a:r>
            <a:r>
              <a:rPr lang="en-US" sz="1425" dirty="0">
                <a:solidFill>
                  <a:srgbClr val="16171D"/>
                </a:solidFill>
                <a:latin typeface="Segoe UI"/>
                <a:cs typeface="Segoe UI"/>
              </a:rPr>
              <a:t xml:space="preserve"> is between 0 and 1, so </a:t>
            </a:r>
            <a:r>
              <a:rPr lang="en-US" sz="1425" dirty="0" i="1">
                <a:solidFill>
                  <a:srgbClr val="16171D"/>
                </a:solidFill>
                <a:latin typeface="Cambria"/>
                <a:cs typeface="Cambria"/>
              </a:rPr>
              <a:t xml:space="preserve">g</a:t>
            </a:r>
            <a:r>
              <a:rPr lang="en-US" sz="1425" dirty="0">
                <a:solidFill>
                  <a:srgbClr val="16171D"/>
                </a:solidFill>
                <a:latin typeface="Cambria"/>
                <a:cs typeface="Cambria"/>
              </a:rPr>
              <a:t xml:space="preserve">(</a:t>
            </a:r>
            <a:r>
              <a:rPr lang="en-US" sz="1425" dirty="0" i="1">
                <a:solidFill>
                  <a:srgbClr val="16171D"/>
                </a:solidFill>
                <a:latin typeface="Cambria"/>
                <a:cs typeface="Cambria"/>
              </a:rPr>
              <a:t xml:space="preserve">x</a:t>
            </a:r>
            <a:r>
              <a:rPr lang="en-US" sz="1425" dirty="0">
                <a:solidFill>
                  <a:srgbClr val="16171D"/>
                </a:solidFill>
                <a:latin typeface="Cambria"/>
                <a:cs typeface="Cambria"/>
              </a:rPr>
              <a:t xml:space="preserve">) = ½</a:t>
            </a:r>
            <a:r>
              <a:rPr lang="en-US" sz="1425" dirty="0" i="1">
                <a:solidFill>
                  <a:srgbClr val="16171D"/>
                </a:solidFill>
                <a:latin typeface="Cambria"/>
                <a:cs typeface="Cambria"/>
              </a:rPr>
              <a:t xml:space="preserve">f</a:t>
            </a:r>
            <a:r>
              <a:rPr lang="en-US" sz="1425" dirty="0">
                <a:solidFill>
                  <a:srgbClr val="16171D"/>
                </a:solidFill>
                <a:latin typeface="Cambria"/>
                <a:cs typeface="Cambria"/>
              </a:rPr>
              <a:t xml:space="preserve">(</a:t>
            </a:r>
            <a:r>
              <a:rPr lang="en-US" sz="1425" dirty="0" i="1">
                <a:solidFill>
                  <a:srgbClr val="16171D"/>
                </a:solidFill>
                <a:latin typeface="Cambria"/>
                <a:cs typeface="Cambria"/>
              </a:rPr>
              <a:t xml:space="preserve">x</a:t>
            </a:r>
            <a:r>
              <a:rPr lang="en-US" sz="1425" dirty="0">
                <a:solidFill>
                  <a:srgbClr val="16171D"/>
                </a:solidFill>
                <a:latin typeface="Cambria"/>
                <a:cs typeface="Cambria"/>
              </a:rPr>
              <a:t xml:space="preserve">)</a:t>
            </a:r>
            <a:r>
              <a:rPr lang="en-US" sz="1425" dirty="0">
                <a:solidFill>
                  <a:srgbClr val="16171D"/>
                </a:solidFill>
                <a:latin typeface="Segoe UI"/>
                <a:cs typeface="Segoe UI"/>
              </a:rPr>
              <a:t xml:space="preserve"> compresses.</a:t>
            </a:r>
            <a:endParaRPr lang="en-US" sz="1425" dirty="0"/>
          </a:p>
        </p:txBody>
      </p:sp>
      <p:sp>
        <p:nvSpPr>
          <p:cNvPr id="19" name="Shape 19"/>
          <p:cNvSpPr txBox="1"/>
          <p:nvPr/>
        </p:nvSpPr>
        <p:spPr>
          <a:xfrm>
            <a:off x="6210148" y="4251198"/>
            <a:ext cx="5295748" cy="206502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6" name="Shape 16"/>
          <p:cNvSpPr txBox="1"/>
          <p:nvPr/>
        </p:nvSpPr>
        <p:spPr>
          <a:xfrm>
            <a:off x="6419698" y="4422648"/>
            <a:ext cx="487664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4.</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f</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x</a:t>
            </a:r>
            <a:r>
              <a:rPr lang="en-US" sz="1575" dirty="0">
                <a:solidFill>
                  <a:srgbClr val="16171D"/>
                </a:solidFill>
                <a:latin typeface="Segoe UI"/>
                <a:cs typeface="Segoe UI"/>
              </a:rPr>
              <a:t xml:space="preserve"> and </a:t>
            </a:r>
            <a:r>
              <a:rPr lang="en-US" sz="1575" dirty="0" i="1">
                <a:solidFill>
                  <a:srgbClr val="16171D"/>
                </a:solidFill>
                <a:latin typeface="Cambria"/>
                <a:cs typeface="Cambria"/>
              </a:rPr>
              <a:t xml:space="preserve">g</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2</a:t>
            </a:r>
            <a:r>
              <a:rPr lang="en-US" sz="1575" dirty="0" i="1">
                <a:solidFill>
                  <a:srgbClr val="16171D"/>
                </a:solidFill>
                <a:latin typeface="Cambria"/>
                <a:cs typeface="Cambria"/>
              </a:rPr>
              <a:t xml:space="preserve">f</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− 5</a:t>
            </a:r>
            <a:r>
              <a:rPr lang="en-US" sz="1575" dirty="0">
                <a:solidFill>
                  <a:srgbClr val="16171D"/>
                </a:solidFill>
                <a:latin typeface="Segoe UI"/>
                <a:cs typeface="Segoe UI"/>
              </a:rPr>
              <a:t xml:space="preserve">. What is the </a:t>
            </a:r>
            <a:r>
              <a:rPr lang="en-US" sz="1575" dirty="0" i="1">
                <a:solidFill>
                  <a:srgbClr val="16171D"/>
                </a:solidFill>
                <a:latin typeface="Cambria"/>
                <a:cs typeface="Cambria"/>
              </a:rPr>
              <a:t xml:space="preserve">y</a:t>
            </a:r>
            <a:r>
              <a:rPr lang="en-US" sz="1575" dirty="0">
                <a:solidFill>
                  <a:srgbClr val="16171D"/>
                </a:solidFill>
                <a:latin typeface="Segoe UI"/>
                <a:cs typeface="Segoe UI"/>
              </a:rPr>
              <a:t xml:space="preserve">-intercept of </a:t>
            </a:r>
            <a:r>
              <a:rPr lang="en-US" sz="1575" dirty="0" i="1">
                <a:solidFill>
                  <a:srgbClr val="16171D"/>
                </a:solidFill>
                <a:latin typeface="Cambria"/>
                <a:cs typeface="Cambria"/>
              </a:rPr>
              <a:t xml:space="preserve">g</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a:t>
            </a:r>
            <a:r>
              <a:rPr lang="en-US" sz="1575" dirty="0">
                <a:solidFill>
                  <a:srgbClr val="16171D"/>
                </a:solidFill>
                <a:latin typeface="Segoe UI"/>
                <a:cs typeface="Segoe UI"/>
              </a:rPr>
              <a:t xml:space="preserve">?</a:t>
            </a:r>
            <a:endParaRPr lang="en-US" sz="1575" dirty="0"/>
          </a:p>
        </p:txBody>
      </p:sp>
      <p:sp>
        <p:nvSpPr>
          <p:cNvPr id="17" name="Shape 17"/>
          <p:cNvSpPr txBox="1"/>
          <p:nvPr/>
        </p:nvSpPr>
        <p:spPr>
          <a:xfrm>
            <a:off x="6419698" y="4995672"/>
            <a:ext cx="48766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Formula:</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a</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f</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d</a:t>
            </a:r>
            <a:r>
              <a:rPr lang="en-US" sz="1575" dirty="0">
                <a:solidFill>
                  <a:srgbClr val="16171D"/>
                </a:solidFill>
                <a:latin typeface="Segoe UI"/>
                <a:cs typeface="Segoe UI"/>
              </a:rPr>
              <a:t xml:space="preserve"> has </a:t>
            </a:r>
            <a:r>
              <a:rPr lang="en-US" sz="1575" dirty="0" i="1">
                <a:solidFill>
                  <a:srgbClr val="16171D"/>
                </a:solidFill>
                <a:latin typeface="Cambria"/>
                <a:cs typeface="Cambria"/>
              </a:rPr>
              <a:t xml:space="preserve">y</a:t>
            </a:r>
            <a:r>
              <a:rPr lang="en-US" sz="1575" dirty="0">
                <a:solidFill>
                  <a:srgbClr val="16171D"/>
                </a:solidFill>
                <a:latin typeface="Segoe UI"/>
                <a:cs typeface="Segoe UI"/>
              </a:rPr>
              <a:t xml:space="preserve">-intercept </a:t>
            </a:r>
            <a:r>
              <a:rPr lang="en-US" sz="1575" dirty="0">
                <a:solidFill>
                  <a:srgbClr val="16171D"/>
                </a:solidFill>
                <a:latin typeface="Cambria"/>
                <a:cs typeface="Cambria"/>
              </a:rPr>
              <a:t xml:space="preserve">(0, </a:t>
            </a:r>
            <a:r>
              <a:rPr lang="en-US" sz="1575" dirty="0" i="1">
                <a:solidFill>
                  <a:srgbClr val="16171D"/>
                </a:solidFill>
                <a:latin typeface="Cambria"/>
                <a:cs typeface="Cambria"/>
              </a:rPr>
              <a:t xml:space="preserve">d</a:t>
            </a:r>
            <a:r>
              <a:rPr lang="en-US" sz="1575" dirty="0">
                <a:solidFill>
                  <a:srgbClr val="16171D"/>
                </a:solidFill>
                <a:latin typeface="Cambria"/>
                <a:cs typeface="Cambria"/>
              </a:rPr>
              <a:t xml:space="preserve">)</a:t>
            </a:r>
            <a:endParaRPr lang="en-US" sz="1575" dirty="0"/>
          </a:p>
        </p:txBody>
      </p:sp>
      <p:sp>
        <p:nvSpPr>
          <p:cNvPr id="18" name="Shape 18"/>
          <p:cNvSpPr txBox="1"/>
          <p:nvPr/>
        </p:nvSpPr>
        <p:spPr>
          <a:xfrm>
            <a:off x="6419698" y="5328666"/>
            <a:ext cx="4347275" cy="81610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1425" dirty="0" b="1">
                <a:solidFill>
                  <a:srgbClr val="16171D"/>
                </a:solidFill>
                <a:latin typeface="Cambria"/>
                <a:cs typeface="Cambria"/>
              </a:rPr>
              <a:t xml:space="preserve">(0, −5)</a:t>
            </a:r>
            <a:br>
              <a:rPr lang="en-US" sz="1425" dirty="0">
                <a:solidFill>
                  <a:srgbClr val="16171D"/>
                </a:solidFill>
                <a:latin typeface="Segoe UI"/>
                <a:cs typeface="Segoe UI"/>
              </a:rPr>
            </a:br>
            <a:r>
              <a:rPr lang="en-US" sz="1425" dirty="0" b="1">
                <a:solidFill>
                  <a:srgbClr val="16171D"/>
                </a:solidFill>
                <a:latin typeface="Segoe UI"/>
                <a:cs typeface="Segoe UI"/>
              </a:rPr>
              <a:t xml:space="preserve">1.</a:t>
            </a:r>
            <a:r>
              <a:rPr lang="en-US" sz="1425" dirty="0">
                <a:solidFill>
                  <a:srgbClr val="16171D"/>
                </a:solidFill>
                <a:latin typeface="Segoe UI"/>
                <a:cs typeface="Segoe UI"/>
              </a:rPr>
              <a:t xml:space="preserve"> Replace </a:t>
            </a:r>
            <a:r>
              <a:rPr lang="en-US" sz="1425" dirty="0" i="1">
                <a:solidFill>
                  <a:srgbClr val="16171D"/>
                </a:solidFill>
                <a:latin typeface="Cambria"/>
                <a:cs typeface="Cambria"/>
              </a:rPr>
              <a:t xml:space="preserve">f</a:t>
            </a:r>
            <a:r>
              <a:rPr lang="en-US" sz="1425" dirty="0">
                <a:solidFill>
                  <a:srgbClr val="16171D"/>
                </a:solidFill>
                <a:latin typeface="Cambria"/>
                <a:cs typeface="Cambria"/>
              </a:rPr>
              <a:t xml:space="preserve">(</a:t>
            </a:r>
            <a:r>
              <a:rPr lang="en-US" sz="1425" dirty="0" i="1">
                <a:solidFill>
                  <a:srgbClr val="16171D"/>
                </a:solidFill>
                <a:latin typeface="Cambria"/>
                <a:cs typeface="Cambria"/>
              </a:rPr>
              <a:t xml:space="preserve">x</a:t>
            </a:r>
            <a:r>
              <a:rPr lang="en-US" sz="1425" dirty="0">
                <a:solidFill>
                  <a:srgbClr val="16171D"/>
                </a:solidFill>
                <a:latin typeface="Cambria"/>
                <a:cs typeface="Cambria"/>
              </a:rPr>
              <a:t xml:space="preserve">)</a:t>
            </a:r>
            <a:r>
              <a:rPr lang="en-US" sz="1425" dirty="0">
                <a:solidFill>
                  <a:srgbClr val="16171D"/>
                </a:solidFill>
                <a:latin typeface="Segoe UI"/>
                <a:cs typeface="Segoe UI"/>
              </a:rPr>
              <a:t xml:space="preserve"> with </a:t>
            </a:r>
            <a:r>
              <a:rPr lang="en-US" sz="1425" dirty="0" i="1">
                <a:solidFill>
                  <a:srgbClr val="16171D"/>
                </a:solidFill>
                <a:latin typeface="Cambria"/>
                <a:cs typeface="Cambria"/>
              </a:rPr>
              <a:t xml:space="preserve">x</a:t>
            </a:r>
            <a:r>
              <a:rPr lang="en-US" sz="1425" dirty="0">
                <a:solidFill>
                  <a:srgbClr val="16171D"/>
                </a:solidFill>
                <a:latin typeface="Segoe UI"/>
                <a:cs typeface="Segoe UI"/>
              </a:rPr>
              <a:t xml:space="preserve">: </a:t>
            </a:r>
            <a:r>
              <a:rPr lang="en-US" sz="1425" dirty="0" i="1">
                <a:solidFill>
                  <a:srgbClr val="16171D"/>
                </a:solidFill>
                <a:latin typeface="Cambria"/>
                <a:cs typeface="Cambria"/>
              </a:rPr>
              <a:t xml:space="preserve">g</a:t>
            </a:r>
            <a:r>
              <a:rPr lang="en-US" sz="1425" dirty="0">
                <a:solidFill>
                  <a:srgbClr val="16171D"/>
                </a:solidFill>
                <a:latin typeface="Cambria"/>
                <a:cs typeface="Cambria"/>
              </a:rPr>
              <a:t xml:space="preserve">(</a:t>
            </a:r>
            <a:r>
              <a:rPr lang="en-US" sz="1425" dirty="0" i="1">
                <a:solidFill>
                  <a:srgbClr val="16171D"/>
                </a:solidFill>
                <a:latin typeface="Cambria"/>
                <a:cs typeface="Cambria"/>
              </a:rPr>
              <a:t xml:space="preserve">x</a:t>
            </a:r>
            <a:r>
              <a:rPr lang="en-US" sz="1425" dirty="0">
                <a:solidFill>
                  <a:srgbClr val="16171D"/>
                </a:solidFill>
                <a:latin typeface="Cambria"/>
                <a:cs typeface="Cambria"/>
              </a:rPr>
              <a:t xml:space="preserve">) = 2</a:t>
            </a:r>
            <a:r>
              <a:rPr lang="en-US" sz="1425" dirty="0" i="1">
                <a:solidFill>
                  <a:srgbClr val="16171D"/>
                </a:solidFill>
                <a:latin typeface="Cambria"/>
                <a:cs typeface="Cambria"/>
              </a:rPr>
              <a:t xml:space="preserve">x</a:t>
            </a:r>
            <a:r>
              <a:rPr lang="en-US" sz="1425" dirty="0">
                <a:solidFill>
                  <a:srgbClr val="16171D"/>
                </a:solidFill>
                <a:latin typeface="Cambria"/>
                <a:cs typeface="Cambria"/>
              </a:rPr>
              <a:t xml:space="preserve"> − 5</a:t>
            </a:r>
            <a:r>
              <a:rPr lang="en-US" sz="1425" dirty="0">
                <a:solidFill>
                  <a:srgbClr val="16171D"/>
                </a:solidFill>
                <a:latin typeface="Segoe UI"/>
                <a:cs typeface="Segoe UI"/>
              </a:rPr>
              <a:t xml:space="preserve">.</a:t>
            </a:r>
            <a:br>
              <a:rPr lang="en-US" sz="1425" dirty="0">
                <a:solidFill>
                  <a:srgbClr val="16171D"/>
                </a:solidFill>
                <a:latin typeface="Segoe UI"/>
                <a:cs typeface="Segoe UI"/>
              </a:rPr>
            </a:br>
            <a:r>
              <a:rPr lang="en-US" sz="1425" dirty="0" b="1">
                <a:solidFill>
                  <a:srgbClr val="16171D"/>
                </a:solidFill>
                <a:latin typeface="Segoe UI"/>
                <a:cs typeface="Segoe UI"/>
              </a:rPr>
              <a:t xml:space="preserve">2.</a:t>
            </a:r>
            <a:r>
              <a:rPr lang="en-US" sz="1425" dirty="0">
                <a:solidFill>
                  <a:srgbClr val="16171D"/>
                </a:solidFill>
                <a:latin typeface="Segoe UI"/>
                <a:cs typeface="Segoe UI"/>
              </a:rPr>
              <a:t xml:space="preserve"> </a:t>
            </a:r>
            <a:r>
              <a:rPr lang="en-US" sz="1425" dirty="0" i="1">
                <a:solidFill>
                  <a:srgbClr val="16171D"/>
                </a:solidFill>
                <a:latin typeface="Cambria"/>
                <a:cs typeface="Cambria"/>
              </a:rPr>
              <a:t xml:space="preserve">d</a:t>
            </a:r>
            <a:r>
              <a:rPr lang="en-US" sz="1425" dirty="0">
                <a:solidFill>
                  <a:srgbClr val="16171D"/>
                </a:solidFill>
                <a:latin typeface="Cambria"/>
                <a:cs typeface="Cambria"/>
              </a:rPr>
              <a:t xml:space="preserve"> = −5</a:t>
            </a:r>
            <a:r>
              <a:rPr lang="en-US" sz="1425" dirty="0">
                <a:solidFill>
                  <a:srgbClr val="16171D"/>
                </a:solidFill>
                <a:latin typeface="Segoe UI"/>
                <a:cs typeface="Segoe UI"/>
              </a:rPr>
              <a:t xml:space="preserve">, so the </a:t>
            </a:r>
            <a:r>
              <a:rPr lang="en-US" sz="1425" dirty="0" i="1">
                <a:solidFill>
                  <a:srgbClr val="16171D"/>
                </a:solidFill>
                <a:latin typeface="Cambria"/>
                <a:cs typeface="Cambria"/>
              </a:rPr>
              <a:t xml:space="preserve">y</a:t>
            </a:r>
            <a:r>
              <a:rPr lang="en-US" sz="1425" dirty="0">
                <a:solidFill>
                  <a:srgbClr val="16171D"/>
                </a:solidFill>
                <a:latin typeface="Segoe UI"/>
                <a:cs typeface="Segoe UI"/>
              </a:rPr>
              <a:t xml:space="preserve">-intercept is </a:t>
            </a:r>
            <a:r>
              <a:rPr lang="en-US" sz="1425" dirty="0">
                <a:solidFill>
                  <a:srgbClr val="16171D"/>
                </a:solidFill>
                <a:latin typeface="Cambria"/>
                <a:cs typeface="Cambria"/>
              </a:rPr>
              <a:t xml:space="preserve">(0, −5)</a:t>
            </a:r>
            <a:r>
              <a:rPr lang="en-US" sz="1425" dirty="0">
                <a:solidFill>
                  <a:srgbClr val="16171D"/>
                </a:solidFill>
                <a:latin typeface="Segoe UI"/>
                <a:cs typeface="Segoe UI"/>
              </a:rPr>
              <a:t xml:space="preserve">.</a:t>
            </a:r>
            <a:endParaRPr lang="en-US" sz="1425" dirty="0"/>
          </a:p>
        </p:txBody>
      </p:sp>
      <p:sp>
        <p:nvSpPr>
          <p:cNvPr id="20" name="Slide Number 20"/>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4</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6"/>
                                        </p:tgtEl>
                                        <p:attrNameLst>
                                          <p:attrName>style.visibility</p:attrName>
                                        </p:attrNameLst>
                                      </p:cBhvr>
                                      <p:to>
                                        <p:strVal val="visible"/>
                                      </p:to>
                                    </p:set>
                                    <p:animEffect transition="in" filter="fade">
                                      <p:cBhvr>
                                        <p:cTn id="4" dur="500"/>
                                        <p:tgtEl>
                                          <p:spTgt spid="6"/>
                                        </p:tgtEl>
                                      </p:cBhvr>
                                    </p:animEffect>
                                    <p:anim calcmode="lin" valueType="num">
                                      <p:cBhvr>
                                        <p:cTn id="5" dur="500" fill="hold"/>
                                        <p:tgtEl>
                                          <p:spTgt spid="6"/>
                                        </p:tgtEl>
                                        <p:attrNameLst>
                                          <p:attrName>ppt_w</p:attrName>
                                        </p:attrNameLst>
                                      </p:cBhvr>
                                      <p:tavLst>
                                        <p:tav tm="0">
                                          <p:val>
                                            <p:fltVal val="0"/>
                                          </p:val>
                                        </p:tav>
                                        <p:tav tm="100000">
                                          <p:val>
                                            <p:strVal val="#ppt_w"/>
                                          </p:val>
                                        </p:tav>
                                      </p:tavLst>
                                    </p:anim>
                                    <p:anim calcmode="lin" valueType="num">
                                      <p:cBhvr>
                                        <p:cTn id="6" dur="500" fill="hold"/>
                                        <p:tgtEl>
                                          <p:spTgt spid="6"/>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00"/>
                                        <p:tgtEl>
                                          <p:spTgt spid="10"/>
                                        </p:tgtEl>
                                      </p:cBhvr>
                                    </p:animEffect>
                                    <p:anim calcmode="lin" valueType="num">
                                      <p:cBhvr>
                                        <p:cTn id="12" dur="500" fill="hold"/>
                                        <p:tgtEl>
                                          <p:spTgt spid="10"/>
                                        </p:tgtEl>
                                        <p:attrNameLst>
                                          <p:attrName>ppt_w</p:attrName>
                                        </p:attrNameLst>
                                      </p:cBhvr>
                                      <p:tavLst>
                                        <p:tav tm="0">
                                          <p:val>
                                            <p:fltVal val="0"/>
                                          </p:val>
                                        </p:tav>
                                        <p:tav tm="100000">
                                          <p:val>
                                            <p:strVal val="#ppt_w"/>
                                          </p:val>
                                        </p:tav>
                                      </p:tavLst>
                                    </p:anim>
                                    <p:anim calcmode="lin" valueType="num">
                                      <p:cBhvr>
                                        <p:cTn id="13" dur="500" fill="hold"/>
                                        <p:tgtEl>
                                          <p:spTgt spid="10"/>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anim calcmode="lin" valueType="num">
                                      <p:cBhvr>
                                        <p:cTn id="19" dur="500" fill="hold"/>
                                        <p:tgtEl>
                                          <p:spTgt spid="14"/>
                                        </p:tgtEl>
                                        <p:attrNameLst>
                                          <p:attrName>ppt_w</p:attrName>
                                        </p:attrNameLst>
                                      </p:cBhvr>
                                      <p:tavLst>
                                        <p:tav tm="0">
                                          <p:val>
                                            <p:fltVal val="0"/>
                                          </p:val>
                                        </p:tav>
                                        <p:tav tm="100000">
                                          <p:val>
                                            <p:strVal val="#ppt_w"/>
                                          </p:val>
                                        </p:tav>
                                      </p:tavLst>
                                    </p:anim>
                                    <p:anim calcmode="lin" valueType="num">
                                      <p:cBhvr>
                                        <p:cTn id="20" dur="500" fill="hold"/>
                                        <p:tgtEl>
                                          <p:spTgt spid="14"/>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500"/>
                                        <p:tgtEl>
                                          <p:spTgt spid="18"/>
                                        </p:tgtEl>
                                      </p:cBhvr>
                                    </p:animEffect>
                                    <p:anim calcmode="lin" valueType="num">
                                      <p:cBhvr>
                                        <p:cTn id="26" dur="500" fill="hold"/>
                                        <p:tgtEl>
                                          <p:spTgt spid="18"/>
                                        </p:tgtEl>
                                        <p:attrNameLst>
                                          <p:attrName>ppt_w</p:attrName>
                                        </p:attrNameLst>
                                      </p:cBhvr>
                                      <p:tavLst>
                                        <p:tav tm="0">
                                          <p:val>
                                            <p:fltVal val="0"/>
                                          </p:val>
                                        </p:tav>
                                        <p:tav tm="100000">
                                          <p:val>
                                            <p:strVal val="#ppt_w"/>
                                          </p:val>
                                        </p:tav>
                                      </p:tavLst>
                                    </p:anim>
                                    <p:anim calcmode="lin" valueType="num">
                                      <p:cBhvr>
                                        <p:cTn id="27" dur="500" fill="hold"/>
                                        <p:tgtEl>
                                          <p:spTgt spid="1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2 Lesson 1 · Vocabulary</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Words we need</a:t>
            </a:r>
            <a:endParaRPr lang="en-US" sz="3450" dirty="0"/>
          </a:p>
        </p:txBody>
      </p:sp>
      <p:sp>
        <p:nvSpPr>
          <p:cNvPr id="7" name="Shape 7"/>
          <p:cNvSpPr txBox="1"/>
          <p:nvPr/>
        </p:nvSpPr>
        <p:spPr>
          <a:xfrm>
            <a:off x="685800" y="1618488"/>
            <a:ext cx="3492398" cy="185242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Parent function</a:t>
            </a:r>
            <a:endParaRPr lang="en-US" sz="2100" dirty="0"/>
          </a:p>
        </p:txBody>
      </p:sp>
      <p:sp>
        <p:nvSpPr>
          <p:cNvPr id="5" name="Shape 5"/>
          <p:cNvSpPr txBox="1"/>
          <p:nvPr/>
        </p:nvSpPr>
        <p:spPr>
          <a:xfrm>
            <a:off x="895350" y="2260092"/>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 simplest line.</a:t>
            </a:r>
            <a:endParaRPr lang="en-US" sz="1575" dirty="0"/>
          </a:p>
        </p:txBody>
      </p:sp>
      <p:sp>
        <p:nvSpPr>
          <p:cNvPr id="6" name="Shape 6"/>
          <p:cNvSpPr txBox="1"/>
          <p:nvPr/>
        </p:nvSpPr>
        <p:spPr>
          <a:xfrm>
            <a:off x="895350" y="2650236"/>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x</a:t>
            </a:r>
            <a:endParaRPr lang="en-US" sz="2325" dirty="0"/>
          </a:p>
        </p:txBody>
      </p:sp>
      <p:sp>
        <p:nvSpPr>
          <p:cNvPr id="11" name="Shape 11"/>
          <p:cNvSpPr txBox="1"/>
          <p:nvPr/>
        </p:nvSpPr>
        <p:spPr>
          <a:xfrm>
            <a:off x="4349648" y="1618488"/>
            <a:ext cx="3492398" cy="185242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8" name="Shape 8"/>
          <p:cNvSpPr txBox="1"/>
          <p:nvPr/>
        </p:nvSpPr>
        <p:spPr>
          <a:xfrm>
            <a:off x="4559198"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Translate</a:t>
            </a:r>
            <a:endParaRPr lang="en-US" sz="2100" dirty="0"/>
          </a:p>
        </p:txBody>
      </p:sp>
      <p:sp>
        <p:nvSpPr>
          <p:cNvPr id="9" name="Shape 9"/>
          <p:cNvSpPr txBox="1"/>
          <p:nvPr/>
        </p:nvSpPr>
        <p:spPr>
          <a:xfrm>
            <a:off x="4559198" y="2260092"/>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Move up or down. Add </a:t>
            </a:r>
            <a:r>
              <a:rPr lang="en-US" sz="1575" dirty="0" i="1">
                <a:solidFill>
                  <a:srgbClr val="16171D"/>
                </a:solidFill>
                <a:latin typeface="Segoe UI"/>
                <a:cs typeface="Segoe UI"/>
              </a:rPr>
              <a:t xml:space="preserve">d</a:t>
            </a:r>
            <a:r>
              <a:rPr lang="en-US" sz="1575" dirty="0">
                <a:solidFill>
                  <a:srgbClr val="16171D"/>
                </a:solidFill>
                <a:latin typeface="Segoe UI"/>
                <a:cs typeface="Segoe UI"/>
              </a:rPr>
              <a:t xml:space="preserve">.</a:t>
            </a:r>
            <a:endParaRPr lang="en-US" sz="1575" dirty="0"/>
          </a:p>
        </p:txBody>
      </p:sp>
      <p:sp>
        <p:nvSpPr>
          <p:cNvPr id="10" name="Shape 10"/>
          <p:cNvSpPr txBox="1"/>
          <p:nvPr/>
        </p:nvSpPr>
        <p:spPr>
          <a:xfrm>
            <a:off x="4559198" y="2650236"/>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a:t>
            </a:r>
            <a:r>
              <a:rPr lang="en-US" sz="2325" dirty="0" b="1">
                <a:solidFill>
                  <a:srgbClr val="3050B8"/>
                </a:solidFill>
                <a:latin typeface="Cambria"/>
                <a:cs typeface="Cambria"/>
              </a:rPr>
              <a:t xml:space="preserve">+ 4</a:t>
            </a:r>
            <a:endParaRPr lang="en-US" sz="2325" dirty="0"/>
          </a:p>
        </p:txBody>
      </p:sp>
      <p:sp>
        <p:nvSpPr>
          <p:cNvPr id="15" name="Shape 15"/>
          <p:cNvSpPr txBox="1"/>
          <p:nvPr/>
        </p:nvSpPr>
        <p:spPr>
          <a:xfrm>
            <a:off x="8013497" y="1618488"/>
            <a:ext cx="3492398" cy="185242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2" name="Shape 12"/>
          <p:cNvSpPr txBox="1"/>
          <p:nvPr/>
        </p:nvSpPr>
        <p:spPr>
          <a:xfrm>
            <a:off x="8223047"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Dilate</a:t>
            </a:r>
            <a:endParaRPr lang="en-US" sz="2100" dirty="0"/>
          </a:p>
        </p:txBody>
      </p:sp>
      <p:sp>
        <p:nvSpPr>
          <p:cNvPr id="13" name="Shape 13"/>
          <p:cNvSpPr txBox="1"/>
          <p:nvPr/>
        </p:nvSpPr>
        <p:spPr>
          <a:xfrm>
            <a:off x="8223047" y="2260092"/>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Stretch or squeeze. Multiply by </a:t>
            </a:r>
            <a:r>
              <a:rPr lang="en-US" sz="1575" dirty="0" i="1">
                <a:solidFill>
                  <a:srgbClr val="16171D"/>
                </a:solidFill>
                <a:latin typeface="Segoe UI"/>
                <a:cs typeface="Segoe UI"/>
              </a:rPr>
              <a:t xml:space="preserve">a</a:t>
            </a:r>
            <a:r>
              <a:rPr lang="en-US" sz="1575" dirty="0">
                <a:solidFill>
                  <a:srgbClr val="16171D"/>
                </a:solidFill>
                <a:latin typeface="Segoe UI"/>
                <a:cs typeface="Segoe UI"/>
              </a:rPr>
              <a:t xml:space="preserve">.</a:t>
            </a:r>
            <a:endParaRPr lang="en-US" sz="1575" dirty="0"/>
          </a:p>
        </p:txBody>
      </p:sp>
      <p:sp>
        <p:nvSpPr>
          <p:cNvPr id="14" name="Shape 14"/>
          <p:cNvSpPr txBox="1"/>
          <p:nvPr/>
        </p:nvSpPr>
        <p:spPr>
          <a:xfrm>
            <a:off x="8223047" y="2890266"/>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b="1">
                <a:solidFill>
                  <a:srgbClr val="C9561F"/>
                </a:solidFill>
                <a:latin typeface="Cambria"/>
                <a:cs typeface="Cambria"/>
              </a:rPr>
              <a:t xml:space="preserve">2</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a:t>
            </a:r>
            <a:endParaRPr lang="en-US" sz="2325" dirty="0"/>
          </a:p>
        </p:txBody>
      </p:sp>
      <p:sp>
        <p:nvSpPr>
          <p:cNvPr id="16" name="Slide Number 16"/>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5</a:t>
            </a:fld>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2 Lesson 1 · Steps</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How to read </a:t>
            </a:r>
            <a:r>
              <a:rPr lang="en-US" sz="3450" dirty="0" b="1" i="1">
                <a:solidFill>
                  <a:srgbClr val="16171D"/>
                </a:solidFill>
                <a:latin typeface="Segoe UI"/>
                <a:cs typeface="Segoe UI"/>
              </a:rPr>
              <a:t xml:space="preserve">g</a:t>
            </a:r>
            <a:r>
              <a:rPr lang="en-US" sz="3450" dirty="0" b="1">
                <a:solidFill>
                  <a:srgbClr val="16171D"/>
                </a:solidFill>
                <a:latin typeface="Segoe UI"/>
                <a:cs typeface="Segoe UI"/>
              </a:rPr>
              <a:t xml:space="preserve">(</a:t>
            </a:r>
            <a:r>
              <a:rPr lang="en-US" sz="3450" dirty="0" b="1" i="1">
                <a:solidFill>
                  <a:srgbClr val="16171D"/>
                </a:solidFill>
                <a:latin typeface="Segoe UI"/>
                <a:cs typeface="Segoe UI"/>
              </a:rPr>
              <a:t xml:space="preserve">x</a:t>
            </a:r>
            <a:r>
              <a:rPr lang="en-US" sz="3450" dirty="0" b="1">
                <a:solidFill>
                  <a:srgbClr val="16171D"/>
                </a:solidFill>
                <a:latin typeface="Segoe UI"/>
                <a:cs typeface="Segoe UI"/>
              </a:rPr>
              <a:t xml:space="preserve">) = </a:t>
            </a:r>
            <a:r>
              <a:rPr lang="en-US" sz="3450" dirty="0" b="1" i="1">
                <a:solidFill>
                  <a:srgbClr val="16171D"/>
                </a:solidFill>
                <a:latin typeface="Segoe UI"/>
                <a:cs typeface="Segoe UI"/>
              </a:rPr>
              <a:t xml:space="preserve">a</a:t>
            </a:r>
            <a:r>
              <a:rPr lang="en-US" sz="3450" dirty="0" b="1">
                <a:solidFill>
                  <a:srgbClr val="16171D"/>
                </a:solidFill>
                <a:latin typeface="Segoe UI"/>
                <a:cs typeface="Segoe UI"/>
              </a:rPr>
              <a:t xml:space="preserve"> · </a:t>
            </a:r>
            <a:r>
              <a:rPr lang="en-US" sz="3450" dirty="0" b="1" i="1">
                <a:solidFill>
                  <a:srgbClr val="16171D"/>
                </a:solidFill>
                <a:latin typeface="Segoe UI"/>
                <a:cs typeface="Segoe UI"/>
              </a:rPr>
              <a:t xml:space="preserve">f</a:t>
            </a:r>
            <a:r>
              <a:rPr lang="en-US" sz="3450" dirty="0" b="1">
                <a:solidFill>
                  <a:srgbClr val="16171D"/>
                </a:solidFill>
                <a:latin typeface="Segoe UI"/>
                <a:cs typeface="Segoe UI"/>
              </a:rPr>
              <a:t xml:space="preserve">(</a:t>
            </a:r>
            <a:r>
              <a:rPr lang="en-US" sz="3450" dirty="0" b="1" i="1">
                <a:solidFill>
                  <a:srgbClr val="16171D"/>
                </a:solidFill>
                <a:latin typeface="Segoe UI"/>
                <a:cs typeface="Segoe UI"/>
              </a:rPr>
              <a:t xml:space="preserve">x</a:t>
            </a:r>
            <a:r>
              <a:rPr lang="en-US" sz="3450" dirty="0" b="1">
                <a:solidFill>
                  <a:srgbClr val="16171D"/>
                </a:solidFill>
                <a:latin typeface="Segoe UI"/>
                <a:cs typeface="Segoe UI"/>
              </a:rPr>
              <a:t xml:space="preserve">) + </a:t>
            </a:r>
            <a:r>
              <a:rPr lang="en-US" sz="3450" dirty="0" b="1" i="1">
                <a:solidFill>
                  <a:srgbClr val="16171D"/>
                </a:solidFill>
                <a:latin typeface="Segoe UI"/>
                <a:cs typeface="Segoe UI"/>
              </a:rPr>
              <a:t xml:space="preserve">d</a:t>
            </a:r>
            <a:endParaRPr lang="en-US" sz="3450" dirty="0"/>
          </a:p>
        </p:txBody>
      </p:sp>
      <p:sp>
        <p:nvSpPr>
          <p:cNvPr id="4" name="Shape 4"/>
          <p:cNvSpPr txBox="1"/>
          <p:nvPr/>
        </p:nvSpPr>
        <p:spPr>
          <a:xfrm>
            <a:off x="685800" y="1618488"/>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1.</a:t>
            </a:r>
            <a:r>
              <a:rPr lang="en-US" sz="1950" dirty="0">
                <a:solidFill>
                  <a:srgbClr val="16171D"/>
                </a:solidFill>
                <a:latin typeface="Segoe UI"/>
                <a:cs typeface="Segoe UI"/>
              </a:rPr>
              <a:t xml:space="preserve"> Start with </a:t>
            </a:r>
            <a:r>
              <a:rPr lang="en-US" sz="1950" dirty="0" i="1">
                <a:solidFill>
                  <a:srgbClr val="16171D"/>
                </a:solidFill>
                <a:latin typeface="Segoe UI"/>
                <a:cs typeface="Segoe UI"/>
              </a:rPr>
              <a:t xml:space="preserve">f</a:t>
            </a:r>
            <a:r>
              <a:rPr lang="en-US" sz="1950" dirty="0">
                <a:solidFill>
                  <a:srgbClr val="16171D"/>
                </a:solidFill>
                <a:latin typeface="Segoe UI"/>
                <a:cs typeface="Segoe UI"/>
              </a:rPr>
              <a:t xml:space="preserve">(</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slope 1, through (0, 0).</a:t>
            </a:r>
            <a:endParaRPr lang="en-US" sz="1950" dirty="0"/>
          </a:p>
        </p:txBody>
      </p:sp>
      <p:sp>
        <p:nvSpPr>
          <p:cNvPr id="5" name="Shape 5"/>
          <p:cNvSpPr txBox="1"/>
          <p:nvPr/>
        </p:nvSpPr>
        <p:spPr>
          <a:xfrm>
            <a:off x="685800" y="2141982"/>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2.</a:t>
            </a:r>
            <a:r>
              <a:rPr lang="en-US" sz="1950" dirty="0">
                <a:solidFill>
                  <a:srgbClr val="16171D"/>
                </a:solidFill>
                <a:latin typeface="Segoe UI"/>
                <a:cs typeface="Segoe UI"/>
              </a:rPr>
              <a:t xml:space="preserve"> </a:t>
            </a:r>
            <a:r>
              <a:rPr lang="en-US" sz="1950" dirty="0" b="1" i="1">
                <a:solidFill>
                  <a:srgbClr val="C9561F"/>
                </a:solidFill>
                <a:latin typeface="Segoe UI"/>
                <a:cs typeface="Segoe UI"/>
              </a:rPr>
              <a:t xml:space="preserve">a</a:t>
            </a:r>
            <a:r>
              <a:rPr lang="en-US" sz="1950" dirty="0">
                <a:solidFill>
                  <a:srgbClr val="16171D"/>
                </a:solidFill>
                <a:latin typeface="Segoe UI"/>
                <a:cs typeface="Segoe UI"/>
              </a:rPr>
              <a:t xml:space="preserve"> is the new slope. A negative </a:t>
            </a:r>
            <a:r>
              <a:rPr lang="en-US" sz="1950" dirty="0" i="1">
                <a:solidFill>
                  <a:srgbClr val="16171D"/>
                </a:solidFill>
                <a:latin typeface="Segoe UI"/>
                <a:cs typeface="Segoe UI"/>
              </a:rPr>
              <a:t xml:space="preserve">a</a:t>
            </a:r>
            <a:r>
              <a:rPr lang="en-US" sz="1950" dirty="0">
                <a:solidFill>
                  <a:srgbClr val="16171D"/>
                </a:solidFill>
                <a:latin typeface="Segoe UI"/>
                <a:cs typeface="Segoe UI"/>
              </a:rPr>
              <a:t xml:space="preserve"> flips the line.</a:t>
            </a:r>
            <a:endParaRPr lang="en-US" sz="1950" dirty="0"/>
          </a:p>
        </p:txBody>
      </p:sp>
      <p:sp>
        <p:nvSpPr>
          <p:cNvPr id="6" name="Shape 6"/>
          <p:cNvSpPr txBox="1"/>
          <p:nvPr/>
        </p:nvSpPr>
        <p:spPr>
          <a:xfrm>
            <a:off x="685800" y="2665476"/>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3.</a:t>
            </a:r>
            <a:r>
              <a:rPr lang="en-US" sz="1950" dirty="0">
                <a:solidFill>
                  <a:srgbClr val="16171D"/>
                </a:solidFill>
                <a:latin typeface="Segoe UI"/>
                <a:cs typeface="Segoe UI"/>
              </a:rPr>
              <a:t xml:space="preserve"> </a:t>
            </a:r>
            <a:r>
              <a:rPr lang="en-US" sz="1950" dirty="0" b="1" i="1">
                <a:solidFill>
                  <a:srgbClr val="3050B8"/>
                </a:solidFill>
                <a:latin typeface="Segoe UI"/>
                <a:cs typeface="Segoe UI"/>
              </a:rPr>
              <a:t xml:space="preserve">d</a:t>
            </a:r>
            <a:r>
              <a:rPr lang="en-US" sz="1950" dirty="0">
                <a:solidFill>
                  <a:srgbClr val="16171D"/>
                </a:solidFill>
                <a:latin typeface="Segoe UI"/>
                <a:cs typeface="Segoe UI"/>
              </a:rPr>
              <a:t xml:space="preserve"> moves the line up (+) or down (−). The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-intercept is (0, </a:t>
            </a:r>
            <a:r>
              <a:rPr lang="en-US" sz="1950" dirty="0" i="1">
                <a:solidFill>
                  <a:srgbClr val="16171D"/>
                </a:solidFill>
                <a:latin typeface="Segoe UI"/>
                <a:cs typeface="Segoe UI"/>
              </a:rPr>
              <a:t xml:space="preserve">d</a:t>
            </a:r>
            <a:r>
              <a:rPr lang="en-US" sz="1950" dirty="0">
                <a:solidFill>
                  <a:srgbClr val="16171D"/>
                </a:solidFill>
                <a:latin typeface="Segoe UI"/>
                <a:cs typeface="Segoe UI"/>
              </a:rPr>
              <a:t xml:space="preserve">).</a:t>
            </a:r>
            <a:endParaRPr lang="en-US" sz="1950" dirty="0"/>
          </a:p>
        </p:txBody>
      </p:sp>
      <p:sp>
        <p:nvSpPr>
          <p:cNvPr id="7" name="Shape 7"/>
          <p:cNvSpPr txBox="1"/>
          <p:nvPr/>
        </p:nvSpPr>
        <p:spPr>
          <a:xfrm>
            <a:off x="685800" y="3188970"/>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4.</a:t>
            </a:r>
            <a:r>
              <a:rPr lang="en-US" sz="1950" dirty="0">
                <a:solidFill>
                  <a:srgbClr val="16171D"/>
                </a:solidFill>
                <a:latin typeface="Segoe UI"/>
                <a:cs typeface="Segoe UI"/>
              </a:rPr>
              <a:t xml:space="preserve"> Plot (0, </a:t>
            </a:r>
            <a:r>
              <a:rPr lang="en-US" sz="1950" dirty="0" i="1">
                <a:solidFill>
                  <a:srgbClr val="16171D"/>
                </a:solidFill>
                <a:latin typeface="Segoe UI"/>
                <a:cs typeface="Segoe UI"/>
              </a:rPr>
              <a:t xml:space="preserve">d</a:t>
            </a:r>
            <a:r>
              <a:rPr lang="en-US" sz="1950" dirty="0">
                <a:solidFill>
                  <a:srgbClr val="16171D"/>
                </a:solidFill>
                <a:latin typeface="Segoe UI"/>
                <a:cs typeface="Segoe UI"/>
              </a:rPr>
              <a:t xml:space="preserve">), then count the slope </a:t>
            </a:r>
            <a:r>
              <a:rPr lang="en-US" sz="1950" dirty="0" i="1">
                <a:solidFill>
                  <a:srgbClr val="16171D"/>
                </a:solidFill>
                <a:latin typeface="Segoe UI"/>
                <a:cs typeface="Segoe UI"/>
              </a:rPr>
              <a:t xml:space="preserve">a</a:t>
            </a:r>
            <a:r>
              <a:rPr lang="en-US" sz="1950" dirty="0">
                <a:solidFill>
                  <a:srgbClr val="16171D"/>
                </a:solidFill>
                <a:latin typeface="Segoe UI"/>
                <a:cs typeface="Segoe UI"/>
              </a:rPr>
              <a:t xml:space="preserve">.</a:t>
            </a:r>
            <a:endParaRPr lang="en-US" sz="1950" dirty="0"/>
          </a:p>
        </p:txBody>
      </p:sp>
      <p:sp>
        <p:nvSpPr>
          <p:cNvPr id="8" name="Slide Number 8"/>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6</a:t>
            </a:fld>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I do · Watch me</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Move </a:t>
            </a:r>
            <a:r>
              <a:rPr lang="en-US" sz="3450" dirty="0" b="1" i="1">
                <a:solidFill>
                  <a:srgbClr val="16171D"/>
                </a:solidFill>
                <a:latin typeface="Segoe UI"/>
                <a:cs typeface="Segoe UI"/>
              </a:rPr>
              <a:t xml:space="preserve">f</a:t>
            </a:r>
            <a:r>
              <a:rPr lang="en-US" sz="3450" dirty="0" b="1">
                <a:solidFill>
                  <a:srgbClr val="16171D"/>
                </a:solidFill>
                <a:latin typeface="Segoe UI"/>
                <a:cs typeface="Segoe UI"/>
              </a:rPr>
              <a:t xml:space="preserve">(</a:t>
            </a:r>
            <a:r>
              <a:rPr lang="en-US" sz="3450" dirty="0" b="1" i="1">
                <a:solidFill>
                  <a:srgbClr val="16171D"/>
                </a:solidFill>
                <a:latin typeface="Segoe UI"/>
                <a:cs typeface="Segoe UI"/>
              </a:rPr>
              <a:t xml:space="preserve">x</a:t>
            </a:r>
            <a:r>
              <a:rPr lang="en-US" sz="3450" dirty="0" b="1">
                <a:solidFill>
                  <a:srgbClr val="16171D"/>
                </a:solidFill>
                <a:latin typeface="Segoe UI"/>
                <a:cs typeface="Segoe UI"/>
              </a:rPr>
              <a:t xml:space="preserve">) = </a:t>
            </a:r>
            <a:r>
              <a:rPr lang="en-US" sz="3450" dirty="0" b="1" i="1">
                <a:solidFill>
                  <a:srgbClr val="16171D"/>
                </a:solidFill>
                <a:latin typeface="Segoe UI"/>
                <a:cs typeface="Segoe UI"/>
              </a:rPr>
              <a:t xml:space="preserve">x</a:t>
            </a:r>
            <a:r>
              <a:rPr lang="en-US" sz="3450" dirty="0" b="1">
                <a:solidFill>
                  <a:srgbClr val="16171D"/>
                </a:solidFill>
                <a:latin typeface="Segoe UI"/>
                <a:cs typeface="Segoe UI"/>
              </a:rPr>
              <a:t xml:space="preserve"> up 5</a:t>
            </a:r>
            <a:endParaRPr lang="en-US" sz="3450" dirty="0"/>
          </a:p>
        </p:txBody>
      </p:sp>
      <p:sp>
        <p:nvSpPr>
          <p:cNvPr id="4" name="Shape 4"/>
          <p:cNvSpPr/>
          <p:nvPr/>
        </p:nvSpPr>
        <p:spPr>
          <a:xfrm>
            <a:off x="685800" y="1618488"/>
            <a:ext cx="3619500" cy="38100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5" name="Line 5"/>
          <p:cNvCxnSpPr/>
          <p:nvPr/>
        </p:nvCxnSpPr>
        <p:spPr>
          <a:xfrm>
            <a:off x="1009650" y="1732788"/>
            <a:ext cx="0" cy="3448050"/>
          </a:xfrm>
          <a:prstGeom prst="line">
            <a:avLst/>
          </a:prstGeom>
          <a:ln w="9525" cap="flat">
            <a:solidFill>
              <a:srgbClr val="E6E8F2"/>
            </a:solidFill>
          </a:ln>
        </p:spPr>
      </p:cxnSp>
      <p:cxnSp>
        <p:nvCxnSpPr>
          <p:cNvPr id="6" name="Line 6"/>
          <p:cNvCxnSpPr/>
          <p:nvPr/>
        </p:nvCxnSpPr>
        <p:spPr>
          <a:xfrm>
            <a:off x="1327785" y="1732788"/>
            <a:ext cx="0" cy="3448050"/>
          </a:xfrm>
          <a:prstGeom prst="line">
            <a:avLst/>
          </a:prstGeom>
          <a:ln w="9525" cap="flat">
            <a:solidFill>
              <a:srgbClr val="E6E8F2"/>
            </a:solidFill>
          </a:ln>
        </p:spPr>
      </p:cxnSp>
      <p:cxnSp>
        <p:nvCxnSpPr>
          <p:cNvPr id="7" name="Line 7"/>
          <p:cNvCxnSpPr/>
          <p:nvPr/>
        </p:nvCxnSpPr>
        <p:spPr>
          <a:xfrm>
            <a:off x="1645920" y="1732788"/>
            <a:ext cx="0" cy="3448050"/>
          </a:xfrm>
          <a:prstGeom prst="line">
            <a:avLst/>
          </a:prstGeom>
          <a:ln w="9525" cap="flat">
            <a:solidFill>
              <a:srgbClr val="E6E8F2"/>
            </a:solidFill>
          </a:ln>
        </p:spPr>
      </p:cxnSp>
      <p:cxnSp>
        <p:nvCxnSpPr>
          <p:cNvPr id="8" name="Line 8"/>
          <p:cNvCxnSpPr/>
          <p:nvPr/>
        </p:nvCxnSpPr>
        <p:spPr>
          <a:xfrm>
            <a:off x="1964055" y="1732788"/>
            <a:ext cx="0" cy="3448050"/>
          </a:xfrm>
          <a:prstGeom prst="line">
            <a:avLst/>
          </a:prstGeom>
          <a:ln w="9525" cap="flat">
            <a:solidFill>
              <a:srgbClr val="E6E8F2"/>
            </a:solidFill>
          </a:ln>
        </p:spPr>
      </p:cxnSp>
      <p:cxnSp>
        <p:nvCxnSpPr>
          <p:cNvPr id="9" name="Line 9"/>
          <p:cNvCxnSpPr/>
          <p:nvPr/>
        </p:nvCxnSpPr>
        <p:spPr>
          <a:xfrm>
            <a:off x="2282190" y="1732788"/>
            <a:ext cx="0" cy="3448050"/>
          </a:xfrm>
          <a:prstGeom prst="line">
            <a:avLst/>
          </a:prstGeom>
          <a:ln w="9525" cap="flat">
            <a:solidFill>
              <a:srgbClr val="E6E8F2"/>
            </a:solidFill>
          </a:ln>
        </p:spPr>
      </p:cxnSp>
      <p:cxnSp>
        <p:nvCxnSpPr>
          <p:cNvPr id="10" name="Line 10"/>
          <p:cNvCxnSpPr/>
          <p:nvPr/>
        </p:nvCxnSpPr>
        <p:spPr>
          <a:xfrm>
            <a:off x="2600325" y="1732788"/>
            <a:ext cx="0" cy="3448050"/>
          </a:xfrm>
          <a:prstGeom prst="line">
            <a:avLst/>
          </a:prstGeom>
          <a:ln w="9525" cap="flat">
            <a:solidFill>
              <a:srgbClr val="E6E8F2"/>
            </a:solidFill>
          </a:ln>
        </p:spPr>
      </p:cxnSp>
      <p:cxnSp>
        <p:nvCxnSpPr>
          <p:cNvPr id="11" name="Line 11"/>
          <p:cNvCxnSpPr/>
          <p:nvPr/>
        </p:nvCxnSpPr>
        <p:spPr>
          <a:xfrm>
            <a:off x="2918460" y="1732788"/>
            <a:ext cx="0" cy="3448050"/>
          </a:xfrm>
          <a:prstGeom prst="line">
            <a:avLst/>
          </a:prstGeom>
          <a:ln w="9525" cap="flat">
            <a:solidFill>
              <a:srgbClr val="E6E8F2"/>
            </a:solidFill>
          </a:ln>
        </p:spPr>
      </p:cxnSp>
      <p:cxnSp>
        <p:nvCxnSpPr>
          <p:cNvPr id="12" name="Line 12"/>
          <p:cNvCxnSpPr/>
          <p:nvPr/>
        </p:nvCxnSpPr>
        <p:spPr>
          <a:xfrm>
            <a:off x="3236595" y="1732788"/>
            <a:ext cx="0" cy="3448050"/>
          </a:xfrm>
          <a:prstGeom prst="line">
            <a:avLst/>
          </a:prstGeom>
          <a:ln w="9525" cap="flat">
            <a:solidFill>
              <a:srgbClr val="E6E8F2"/>
            </a:solidFill>
          </a:ln>
        </p:spPr>
      </p:cxnSp>
      <p:cxnSp>
        <p:nvCxnSpPr>
          <p:cNvPr id="13" name="Line 13"/>
          <p:cNvCxnSpPr/>
          <p:nvPr/>
        </p:nvCxnSpPr>
        <p:spPr>
          <a:xfrm>
            <a:off x="3554730" y="1732788"/>
            <a:ext cx="0" cy="3448050"/>
          </a:xfrm>
          <a:prstGeom prst="line">
            <a:avLst/>
          </a:prstGeom>
          <a:ln w="9525" cap="flat">
            <a:solidFill>
              <a:srgbClr val="E6E8F2"/>
            </a:solidFill>
          </a:ln>
        </p:spPr>
      </p:cxnSp>
      <p:cxnSp>
        <p:nvCxnSpPr>
          <p:cNvPr id="14" name="Line 14"/>
          <p:cNvCxnSpPr/>
          <p:nvPr/>
        </p:nvCxnSpPr>
        <p:spPr>
          <a:xfrm>
            <a:off x="3872865" y="1732788"/>
            <a:ext cx="0" cy="3448050"/>
          </a:xfrm>
          <a:prstGeom prst="line">
            <a:avLst/>
          </a:prstGeom>
          <a:ln w="9525" cap="flat">
            <a:solidFill>
              <a:srgbClr val="E6E8F2"/>
            </a:solidFill>
          </a:ln>
        </p:spPr>
      </p:cxnSp>
      <p:cxnSp>
        <p:nvCxnSpPr>
          <p:cNvPr id="15" name="Line 15"/>
          <p:cNvCxnSpPr/>
          <p:nvPr/>
        </p:nvCxnSpPr>
        <p:spPr>
          <a:xfrm>
            <a:off x="4191000" y="1732788"/>
            <a:ext cx="0" cy="3448050"/>
          </a:xfrm>
          <a:prstGeom prst="line">
            <a:avLst/>
          </a:prstGeom>
          <a:ln w="9525" cap="flat">
            <a:solidFill>
              <a:srgbClr val="E6E8F2"/>
            </a:solidFill>
          </a:ln>
        </p:spPr>
      </p:cxnSp>
      <p:cxnSp>
        <p:nvCxnSpPr>
          <p:cNvPr id="16" name="Line 16"/>
          <p:cNvCxnSpPr/>
          <p:nvPr/>
        </p:nvCxnSpPr>
        <p:spPr>
          <a:xfrm>
            <a:off x="1009650" y="5180838"/>
            <a:ext cx="3181350" cy="0"/>
          </a:xfrm>
          <a:prstGeom prst="line">
            <a:avLst/>
          </a:prstGeom>
          <a:ln w="9525" cap="flat">
            <a:solidFill>
              <a:srgbClr val="E6E8F2"/>
            </a:solidFill>
          </a:ln>
        </p:spPr>
      </p:cxnSp>
      <p:cxnSp>
        <p:nvCxnSpPr>
          <p:cNvPr id="17" name="Line 17"/>
          <p:cNvCxnSpPr/>
          <p:nvPr/>
        </p:nvCxnSpPr>
        <p:spPr>
          <a:xfrm>
            <a:off x="1009650" y="4934549"/>
            <a:ext cx="3181350" cy="0"/>
          </a:xfrm>
          <a:prstGeom prst="line">
            <a:avLst/>
          </a:prstGeom>
          <a:ln w="9525" cap="flat">
            <a:solidFill>
              <a:srgbClr val="E6E8F2"/>
            </a:solidFill>
          </a:ln>
        </p:spPr>
      </p:cxnSp>
      <p:cxnSp>
        <p:nvCxnSpPr>
          <p:cNvPr id="18" name="Line 18"/>
          <p:cNvCxnSpPr/>
          <p:nvPr/>
        </p:nvCxnSpPr>
        <p:spPr>
          <a:xfrm>
            <a:off x="1009650" y="4688259"/>
            <a:ext cx="3181350" cy="0"/>
          </a:xfrm>
          <a:prstGeom prst="line">
            <a:avLst/>
          </a:prstGeom>
          <a:ln w="9525" cap="flat">
            <a:solidFill>
              <a:srgbClr val="E6E8F2"/>
            </a:solidFill>
          </a:ln>
        </p:spPr>
      </p:cxnSp>
      <p:cxnSp>
        <p:nvCxnSpPr>
          <p:cNvPr id="19" name="Line 19"/>
          <p:cNvCxnSpPr/>
          <p:nvPr/>
        </p:nvCxnSpPr>
        <p:spPr>
          <a:xfrm>
            <a:off x="1009650" y="4441970"/>
            <a:ext cx="3181350" cy="0"/>
          </a:xfrm>
          <a:prstGeom prst="line">
            <a:avLst/>
          </a:prstGeom>
          <a:ln w="9525" cap="flat">
            <a:solidFill>
              <a:srgbClr val="E6E8F2"/>
            </a:solidFill>
          </a:ln>
        </p:spPr>
      </p:cxnSp>
      <p:cxnSp>
        <p:nvCxnSpPr>
          <p:cNvPr id="20" name="Line 20"/>
          <p:cNvCxnSpPr/>
          <p:nvPr/>
        </p:nvCxnSpPr>
        <p:spPr>
          <a:xfrm>
            <a:off x="1009650" y="4195681"/>
            <a:ext cx="3181350" cy="0"/>
          </a:xfrm>
          <a:prstGeom prst="line">
            <a:avLst/>
          </a:prstGeom>
          <a:ln w="9525" cap="flat">
            <a:solidFill>
              <a:srgbClr val="E6E8F2"/>
            </a:solidFill>
          </a:ln>
        </p:spPr>
      </p:cxnSp>
      <p:cxnSp>
        <p:nvCxnSpPr>
          <p:cNvPr id="21" name="Line 21"/>
          <p:cNvCxnSpPr/>
          <p:nvPr/>
        </p:nvCxnSpPr>
        <p:spPr>
          <a:xfrm>
            <a:off x="1009650" y="3949392"/>
            <a:ext cx="3181350" cy="0"/>
          </a:xfrm>
          <a:prstGeom prst="line">
            <a:avLst/>
          </a:prstGeom>
          <a:ln w="9525" cap="flat">
            <a:solidFill>
              <a:srgbClr val="E6E8F2"/>
            </a:solidFill>
          </a:ln>
        </p:spPr>
      </p:cxnSp>
      <p:cxnSp>
        <p:nvCxnSpPr>
          <p:cNvPr id="22" name="Line 22"/>
          <p:cNvCxnSpPr/>
          <p:nvPr/>
        </p:nvCxnSpPr>
        <p:spPr>
          <a:xfrm>
            <a:off x="1009650" y="3703102"/>
            <a:ext cx="3181350" cy="0"/>
          </a:xfrm>
          <a:prstGeom prst="line">
            <a:avLst/>
          </a:prstGeom>
          <a:ln w="9525" cap="flat">
            <a:solidFill>
              <a:srgbClr val="E6E8F2"/>
            </a:solidFill>
          </a:ln>
        </p:spPr>
      </p:cxnSp>
      <p:cxnSp>
        <p:nvCxnSpPr>
          <p:cNvPr id="23" name="Line 23"/>
          <p:cNvCxnSpPr/>
          <p:nvPr/>
        </p:nvCxnSpPr>
        <p:spPr>
          <a:xfrm>
            <a:off x="1009650" y="3456813"/>
            <a:ext cx="3181350" cy="0"/>
          </a:xfrm>
          <a:prstGeom prst="line">
            <a:avLst/>
          </a:prstGeom>
          <a:ln w="9525" cap="flat">
            <a:solidFill>
              <a:srgbClr val="E6E8F2"/>
            </a:solidFill>
          </a:ln>
        </p:spPr>
      </p:cxnSp>
      <p:cxnSp>
        <p:nvCxnSpPr>
          <p:cNvPr id="24" name="Line 24"/>
          <p:cNvCxnSpPr/>
          <p:nvPr/>
        </p:nvCxnSpPr>
        <p:spPr>
          <a:xfrm>
            <a:off x="1009650" y="3210524"/>
            <a:ext cx="3181350" cy="0"/>
          </a:xfrm>
          <a:prstGeom prst="line">
            <a:avLst/>
          </a:prstGeom>
          <a:ln w="9525" cap="flat">
            <a:solidFill>
              <a:srgbClr val="E6E8F2"/>
            </a:solidFill>
          </a:ln>
        </p:spPr>
      </p:cxnSp>
      <p:cxnSp>
        <p:nvCxnSpPr>
          <p:cNvPr id="25" name="Line 25"/>
          <p:cNvCxnSpPr/>
          <p:nvPr/>
        </p:nvCxnSpPr>
        <p:spPr>
          <a:xfrm>
            <a:off x="1009650" y="2964234"/>
            <a:ext cx="3181350" cy="0"/>
          </a:xfrm>
          <a:prstGeom prst="line">
            <a:avLst/>
          </a:prstGeom>
          <a:ln w="9525" cap="flat">
            <a:solidFill>
              <a:srgbClr val="E6E8F2"/>
            </a:solidFill>
          </a:ln>
        </p:spPr>
      </p:cxnSp>
      <p:cxnSp>
        <p:nvCxnSpPr>
          <p:cNvPr id="26" name="Line 26"/>
          <p:cNvCxnSpPr/>
          <p:nvPr/>
        </p:nvCxnSpPr>
        <p:spPr>
          <a:xfrm>
            <a:off x="1009650" y="2717945"/>
            <a:ext cx="3181350" cy="0"/>
          </a:xfrm>
          <a:prstGeom prst="line">
            <a:avLst/>
          </a:prstGeom>
          <a:ln w="9525" cap="flat">
            <a:solidFill>
              <a:srgbClr val="E6E8F2"/>
            </a:solidFill>
          </a:ln>
        </p:spPr>
      </p:cxnSp>
      <p:cxnSp>
        <p:nvCxnSpPr>
          <p:cNvPr id="27" name="Line 27"/>
          <p:cNvCxnSpPr/>
          <p:nvPr/>
        </p:nvCxnSpPr>
        <p:spPr>
          <a:xfrm>
            <a:off x="1009650" y="2471656"/>
            <a:ext cx="3181350" cy="0"/>
          </a:xfrm>
          <a:prstGeom prst="line">
            <a:avLst/>
          </a:prstGeom>
          <a:ln w="9525" cap="flat">
            <a:solidFill>
              <a:srgbClr val="E6E8F2"/>
            </a:solidFill>
          </a:ln>
        </p:spPr>
      </p:cxnSp>
      <p:cxnSp>
        <p:nvCxnSpPr>
          <p:cNvPr id="28" name="Line 28"/>
          <p:cNvCxnSpPr/>
          <p:nvPr/>
        </p:nvCxnSpPr>
        <p:spPr>
          <a:xfrm>
            <a:off x="1009650" y="2225367"/>
            <a:ext cx="3181350" cy="0"/>
          </a:xfrm>
          <a:prstGeom prst="line">
            <a:avLst/>
          </a:prstGeom>
          <a:ln w="9525" cap="flat">
            <a:solidFill>
              <a:srgbClr val="E6E8F2"/>
            </a:solidFill>
          </a:ln>
        </p:spPr>
      </p:cxnSp>
      <p:cxnSp>
        <p:nvCxnSpPr>
          <p:cNvPr id="29" name="Line 29"/>
          <p:cNvCxnSpPr/>
          <p:nvPr/>
        </p:nvCxnSpPr>
        <p:spPr>
          <a:xfrm>
            <a:off x="1009650" y="1979077"/>
            <a:ext cx="3181350" cy="0"/>
          </a:xfrm>
          <a:prstGeom prst="line">
            <a:avLst/>
          </a:prstGeom>
          <a:ln w="9525" cap="flat">
            <a:solidFill>
              <a:srgbClr val="E6E8F2"/>
            </a:solidFill>
          </a:ln>
        </p:spPr>
      </p:cxnSp>
      <p:cxnSp>
        <p:nvCxnSpPr>
          <p:cNvPr id="30" name="Line 30"/>
          <p:cNvCxnSpPr/>
          <p:nvPr/>
        </p:nvCxnSpPr>
        <p:spPr>
          <a:xfrm>
            <a:off x="1009650" y="1732788"/>
            <a:ext cx="3181350" cy="0"/>
          </a:xfrm>
          <a:prstGeom prst="line">
            <a:avLst/>
          </a:prstGeom>
          <a:ln w="9525" cap="flat">
            <a:solidFill>
              <a:srgbClr val="E6E8F2"/>
            </a:solidFill>
          </a:ln>
        </p:spPr>
      </p:cxnSp>
      <p:cxnSp>
        <p:nvCxnSpPr>
          <p:cNvPr id="31" name="Line 31"/>
          <p:cNvCxnSpPr/>
          <p:nvPr/>
        </p:nvCxnSpPr>
        <p:spPr>
          <a:xfrm>
            <a:off x="2600325" y="1732788"/>
            <a:ext cx="0" cy="3448050"/>
          </a:xfrm>
          <a:prstGeom prst="line">
            <a:avLst/>
          </a:prstGeom>
          <a:ln w="19050" cap="flat">
            <a:solidFill>
              <a:srgbClr val="5F6272"/>
            </a:solidFill>
          </a:ln>
        </p:spPr>
      </p:cxnSp>
      <p:cxnSp>
        <p:nvCxnSpPr>
          <p:cNvPr id="32" name="Line 32"/>
          <p:cNvCxnSpPr/>
          <p:nvPr/>
        </p:nvCxnSpPr>
        <p:spPr>
          <a:xfrm>
            <a:off x="1009650" y="3949392"/>
            <a:ext cx="3181350" cy="0"/>
          </a:xfrm>
          <a:prstGeom prst="line">
            <a:avLst/>
          </a:prstGeom>
          <a:ln w="19050" cap="flat">
            <a:solidFill>
              <a:srgbClr val="5F6272"/>
            </a:solidFill>
          </a:ln>
        </p:spPr>
      </p:cxnSp>
      <p:sp>
        <p:nvSpPr>
          <p:cNvPr id="33" name="Shape 33"/>
          <p:cNvSpPr txBox="1"/>
          <p:nvPr/>
        </p:nvSpPr>
        <p:spPr>
          <a:xfrm>
            <a:off x="735330" y="5199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a:t>
            </a:r>
            <a:endParaRPr lang="en-US" sz="975" dirty="0"/>
          </a:p>
        </p:txBody>
      </p:sp>
      <p:sp>
        <p:nvSpPr>
          <p:cNvPr id="34" name="Shape 34"/>
          <p:cNvSpPr txBox="1"/>
          <p:nvPr/>
        </p:nvSpPr>
        <p:spPr>
          <a:xfrm>
            <a:off x="1053465" y="5199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35" name="Shape 35"/>
          <p:cNvSpPr txBox="1"/>
          <p:nvPr/>
        </p:nvSpPr>
        <p:spPr>
          <a:xfrm>
            <a:off x="1371600" y="5199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−3</a:t>
            </a:r>
            <a:endParaRPr lang="en-US" sz="975" dirty="0"/>
          </a:p>
        </p:txBody>
      </p:sp>
      <p:sp>
        <p:nvSpPr>
          <p:cNvPr id="36" name="Shape 36"/>
          <p:cNvSpPr txBox="1"/>
          <p:nvPr/>
        </p:nvSpPr>
        <p:spPr>
          <a:xfrm>
            <a:off x="1689735" y="5199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37" name="Shape 37"/>
          <p:cNvSpPr txBox="1"/>
          <p:nvPr/>
        </p:nvSpPr>
        <p:spPr>
          <a:xfrm>
            <a:off x="2007870" y="5199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a:t>
            </a:r>
            <a:endParaRPr lang="en-US" sz="975" dirty="0"/>
          </a:p>
        </p:txBody>
      </p:sp>
      <p:sp>
        <p:nvSpPr>
          <p:cNvPr id="38" name="Shape 38"/>
          <p:cNvSpPr txBox="1"/>
          <p:nvPr/>
        </p:nvSpPr>
        <p:spPr>
          <a:xfrm>
            <a:off x="2326005" y="5199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39" name="Shape 39"/>
          <p:cNvSpPr txBox="1"/>
          <p:nvPr/>
        </p:nvSpPr>
        <p:spPr>
          <a:xfrm>
            <a:off x="2644140" y="5199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a:t>
            </a:r>
            <a:endParaRPr lang="en-US" sz="975" dirty="0"/>
          </a:p>
        </p:txBody>
      </p:sp>
      <p:sp>
        <p:nvSpPr>
          <p:cNvPr id="40" name="Shape 40"/>
          <p:cNvSpPr txBox="1"/>
          <p:nvPr/>
        </p:nvSpPr>
        <p:spPr>
          <a:xfrm>
            <a:off x="2962275" y="5199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41" name="Shape 41"/>
          <p:cNvSpPr txBox="1"/>
          <p:nvPr/>
        </p:nvSpPr>
        <p:spPr>
          <a:xfrm>
            <a:off x="3280410" y="5199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3</a:t>
            </a:r>
            <a:endParaRPr lang="en-US" sz="975" dirty="0"/>
          </a:p>
        </p:txBody>
      </p:sp>
      <p:sp>
        <p:nvSpPr>
          <p:cNvPr id="42" name="Shape 42"/>
          <p:cNvSpPr txBox="1"/>
          <p:nvPr/>
        </p:nvSpPr>
        <p:spPr>
          <a:xfrm>
            <a:off x="3598545" y="5199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43" name="Shape 43"/>
          <p:cNvSpPr txBox="1"/>
          <p:nvPr/>
        </p:nvSpPr>
        <p:spPr>
          <a:xfrm>
            <a:off x="3916680" y="5199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a:t>
            </a:r>
            <a:endParaRPr lang="en-US" sz="975" dirty="0"/>
          </a:p>
        </p:txBody>
      </p:sp>
      <p:sp>
        <p:nvSpPr>
          <p:cNvPr id="44" name="Shape 44"/>
          <p:cNvSpPr txBox="1"/>
          <p:nvPr/>
        </p:nvSpPr>
        <p:spPr>
          <a:xfrm>
            <a:off x="442722" y="4843109"/>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45" name="Shape 45"/>
          <p:cNvSpPr txBox="1"/>
          <p:nvPr/>
        </p:nvSpPr>
        <p:spPr>
          <a:xfrm>
            <a:off x="442722" y="4350530"/>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46" name="Shape 46"/>
          <p:cNvSpPr txBox="1"/>
          <p:nvPr/>
        </p:nvSpPr>
        <p:spPr>
          <a:xfrm>
            <a:off x="442722" y="385795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47" name="Shape 47"/>
          <p:cNvSpPr txBox="1"/>
          <p:nvPr/>
        </p:nvSpPr>
        <p:spPr>
          <a:xfrm>
            <a:off x="442722" y="336537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48" name="Shape 48"/>
          <p:cNvSpPr txBox="1"/>
          <p:nvPr/>
        </p:nvSpPr>
        <p:spPr>
          <a:xfrm>
            <a:off x="442722" y="2872794"/>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49" name="Shape 49"/>
          <p:cNvSpPr txBox="1"/>
          <p:nvPr/>
        </p:nvSpPr>
        <p:spPr>
          <a:xfrm>
            <a:off x="442722" y="238021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50" name="Shape 50"/>
          <p:cNvSpPr txBox="1"/>
          <p:nvPr/>
        </p:nvSpPr>
        <p:spPr>
          <a:xfrm>
            <a:off x="442722" y="1887637"/>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cxnSp>
        <p:nvCxnSpPr>
          <p:cNvPr id="51" name="Line 51"/>
          <p:cNvCxnSpPr/>
          <p:nvPr/>
        </p:nvCxnSpPr>
        <p:spPr>
          <a:xfrm flipV="1">
            <a:off x="1009650" y="2717945"/>
            <a:ext cx="3181350" cy="2462893"/>
          </a:xfrm>
          <a:prstGeom prst="line">
            <a:avLst/>
          </a:prstGeom>
          <a:ln w="38100" cap="rnd">
            <a:solidFill>
              <a:srgbClr val="16171D"/>
            </a:solidFill>
          </a:ln>
        </p:spPr>
      </p:cxnSp>
      <p:sp>
        <p:nvSpPr>
          <p:cNvPr id="52" name="Shape 52"/>
          <p:cNvSpPr txBox="1"/>
          <p:nvPr/>
        </p:nvSpPr>
        <p:spPr>
          <a:xfrm>
            <a:off x="1699260" y="2736995"/>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f(x)</a:t>
            </a:r>
            <a:endParaRPr lang="en-US" sz="1275" dirty="0"/>
          </a:p>
        </p:txBody>
      </p:sp>
      <p:cxnSp>
        <p:nvCxnSpPr>
          <p:cNvPr id="53" name="Line 53"/>
          <p:cNvCxnSpPr/>
          <p:nvPr/>
        </p:nvCxnSpPr>
        <p:spPr>
          <a:xfrm flipV="1">
            <a:off x="1327785" y="3703102"/>
            <a:ext cx="0" cy="1231446"/>
          </a:xfrm>
          <a:prstGeom prst="line">
            <a:avLst/>
          </a:prstGeom>
          <a:ln w="38100" cap="rnd">
            <a:solidFill>
              <a:srgbClr val="7A4FC4"/>
            </a:solidFill>
            <a:prstDash val="dash"/>
          </a:ln>
        </p:spPr>
      </p:cxnSp>
      <p:sp>
        <p:nvSpPr>
          <p:cNvPr id="54" name="Shape 54"/>
          <p:cNvSpPr txBox="1"/>
          <p:nvPr/>
        </p:nvSpPr>
        <p:spPr>
          <a:xfrm>
            <a:off x="1403985" y="3722152"/>
            <a:ext cx="2377440" cy="228600"/>
          </a:xfrm>
          <a:prstGeom prst="rect">
            <a:avLst/>
          </a:prstGeom>
          <a:noFill/>
          <a:ln>
            <a:noFill/>
          </a:ln>
        </p:spPr>
        <p:txBody>
          <a:bodyPr wrap="square" lIns="0" tIns="0" rIns="0" bIns="0" anchor="t">
            <a:noAutofit/>
          </a:bodyPr>
          <a:lstStyle/>
          <a:p>
            <a:pPr algn="l">
              <a:lnSpc>
                <a:spcPct val="100000"/>
              </a:lnSpc>
            </a:pPr>
            <a:r>
              <a:rPr lang="en-US" sz="1275" dirty="0" i="1">
                <a:solidFill>
                  <a:srgbClr val="16171D"/>
                </a:solidFill>
                <a:latin typeface="Cambria"/>
                <a:cs typeface="Cambria"/>
              </a:rPr>
              <a:t xml:space="preserve">+5 ↑</a:t>
            </a:r>
            <a:endParaRPr lang="en-US" sz="1275" dirty="0"/>
          </a:p>
        </p:txBody>
      </p:sp>
      <p:sp>
        <p:nvSpPr>
          <p:cNvPr id="55" name="Shape 55"/>
          <p:cNvSpPr/>
          <p:nvPr/>
        </p:nvSpPr>
        <p:spPr>
          <a:xfrm>
            <a:off x="1275398" y="3650715"/>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cxnSp>
        <p:nvCxnSpPr>
          <p:cNvPr id="56" name="Line 56"/>
          <p:cNvCxnSpPr/>
          <p:nvPr/>
        </p:nvCxnSpPr>
        <p:spPr>
          <a:xfrm flipV="1">
            <a:off x="2282190" y="2964234"/>
            <a:ext cx="0" cy="1231446"/>
          </a:xfrm>
          <a:prstGeom prst="line">
            <a:avLst/>
          </a:prstGeom>
          <a:ln w="38100" cap="rnd">
            <a:solidFill>
              <a:srgbClr val="7A4FC4"/>
            </a:solidFill>
            <a:prstDash val="dash"/>
          </a:ln>
        </p:spPr>
      </p:cxnSp>
      <p:sp>
        <p:nvSpPr>
          <p:cNvPr id="57" name="Shape 57"/>
          <p:cNvSpPr txBox="1"/>
          <p:nvPr/>
        </p:nvSpPr>
        <p:spPr>
          <a:xfrm>
            <a:off x="2358390" y="2983284"/>
            <a:ext cx="2377440" cy="228600"/>
          </a:xfrm>
          <a:prstGeom prst="rect">
            <a:avLst/>
          </a:prstGeom>
          <a:noFill/>
          <a:ln>
            <a:noFill/>
          </a:ln>
        </p:spPr>
        <p:txBody>
          <a:bodyPr wrap="square" lIns="0" tIns="0" rIns="0" bIns="0" anchor="t">
            <a:noAutofit/>
          </a:bodyPr>
          <a:lstStyle/>
          <a:p>
            <a:pPr algn="l">
              <a:lnSpc>
                <a:spcPct val="100000"/>
              </a:lnSpc>
            </a:pPr>
            <a:r>
              <a:rPr lang="en-US" sz="1275" dirty="0" i="1">
                <a:solidFill>
                  <a:srgbClr val="16171D"/>
                </a:solidFill>
                <a:latin typeface="Cambria"/>
                <a:cs typeface="Cambria"/>
              </a:rPr>
              <a:t xml:space="preserve">+5 ↑</a:t>
            </a:r>
            <a:endParaRPr lang="en-US" sz="1275" dirty="0"/>
          </a:p>
        </p:txBody>
      </p:sp>
      <p:sp>
        <p:nvSpPr>
          <p:cNvPr id="58" name="Shape 58"/>
          <p:cNvSpPr/>
          <p:nvPr/>
        </p:nvSpPr>
        <p:spPr>
          <a:xfrm>
            <a:off x="2229802" y="2911847"/>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cxnSp>
        <p:nvCxnSpPr>
          <p:cNvPr id="59" name="Line 59"/>
          <p:cNvCxnSpPr/>
          <p:nvPr/>
        </p:nvCxnSpPr>
        <p:spPr>
          <a:xfrm flipV="1">
            <a:off x="3236595" y="2225367"/>
            <a:ext cx="0" cy="1231446"/>
          </a:xfrm>
          <a:prstGeom prst="line">
            <a:avLst/>
          </a:prstGeom>
          <a:ln w="38100" cap="rnd">
            <a:solidFill>
              <a:srgbClr val="7A4FC4"/>
            </a:solidFill>
            <a:prstDash val="dash"/>
          </a:ln>
        </p:spPr>
      </p:cxnSp>
      <p:sp>
        <p:nvSpPr>
          <p:cNvPr id="60" name="Shape 60"/>
          <p:cNvSpPr txBox="1"/>
          <p:nvPr/>
        </p:nvSpPr>
        <p:spPr>
          <a:xfrm>
            <a:off x="744855" y="2244417"/>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+5 ↑</a:t>
            </a:r>
            <a:endParaRPr lang="en-US" sz="1275" dirty="0"/>
          </a:p>
        </p:txBody>
      </p:sp>
      <p:sp>
        <p:nvSpPr>
          <p:cNvPr id="61" name="Shape 61"/>
          <p:cNvSpPr/>
          <p:nvPr/>
        </p:nvSpPr>
        <p:spPr>
          <a:xfrm>
            <a:off x="3184207" y="2172979"/>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cxnSp>
        <p:nvCxnSpPr>
          <p:cNvPr id="62" name="Line 62"/>
          <p:cNvCxnSpPr/>
          <p:nvPr/>
        </p:nvCxnSpPr>
        <p:spPr>
          <a:xfrm flipV="1">
            <a:off x="1009650" y="1732788"/>
            <a:ext cx="2863215" cy="2216604"/>
          </a:xfrm>
          <a:prstGeom prst="line">
            <a:avLst/>
          </a:prstGeom>
          <a:ln w="38100" cap="rnd">
            <a:solidFill>
              <a:srgbClr val="7A4FC4"/>
            </a:solidFill>
          </a:ln>
        </p:spPr>
      </p:cxnSp>
      <p:sp>
        <p:nvSpPr>
          <p:cNvPr id="63" name="Shape 63"/>
          <p:cNvSpPr txBox="1"/>
          <p:nvPr/>
        </p:nvSpPr>
        <p:spPr>
          <a:xfrm>
            <a:off x="1381125" y="1751838"/>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p(x)</a:t>
            </a:r>
            <a:endParaRPr lang="en-US" sz="1275" dirty="0"/>
          </a:p>
        </p:txBody>
      </p:sp>
      <p:sp>
        <p:nvSpPr>
          <p:cNvPr id="64" name="Shape 64"/>
          <p:cNvSpPr/>
          <p:nvPr/>
        </p:nvSpPr>
        <p:spPr>
          <a:xfrm>
            <a:off x="1275398" y="4882161"/>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65" name="Shape 65"/>
          <p:cNvSpPr/>
          <p:nvPr/>
        </p:nvSpPr>
        <p:spPr>
          <a:xfrm>
            <a:off x="2229802" y="4143293"/>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66" name="Shape 66"/>
          <p:cNvSpPr/>
          <p:nvPr/>
        </p:nvSpPr>
        <p:spPr>
          <a:xfrm>
            <a:off x="3184207" y="3404426"/>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67" name="Shape 67"/>
          <p:cNvSpPr txBox="1"/>
          <p:nvPr/>
        </p:nvSpPr>
        <p:spPr>
          <a:xfrm>
            <a:off x="6286348" y="1618488"/>
            <a:ext cx="52195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Up means </a:t>
            </a:r>
            <a:r>
              <a:rPr lang="en-US" sz="1950" dirty="0" b="1">
                <a:solidFill>
                  <a:srgbClr val="16171D"/>
                </a:solidFill>
                <a:latin typeface="Segoe UI"/>
                <a:cs typeface="Segoe UI"/>
              </a:rPr>
              <a:t xml:space="preserve">+</a:t>
            </a:r>
            <a:r>
              <a:rPr lang="en-US" sz="1950" dirty="0">
                <a:solidFill>
                  <a:srgbClr val="16171D"/>
                </a:solidFill>
                <a:latin typeface="Segoe UI"/>
                <a:cs typeface="Segoe UI"/>
              </a:rPr>
              <a:t xml:space="preserve">: add 5 to every output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a:t>
            </a:r>
            <a:endParaRPr lang="en-US" sz="1950" dirty="0"/>
          </a:p>
        </p:txBody>
      </p:sp>
      <p:sp>
        <p:nvSpPr>
          <p:cNvPr id="68" name="Shape 68"/>
          <p:cNvSpPr txBox="1"/>
          <p:nvPr/>
        </p:nvSpPr>
        <p:spPr>
          <a:xfrm>
            <a:off x="6286348" y="2103882"/>
            <a:ext cx="1143000" cy="42062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800" dirty="0" i="1">
                <a:solidFill>
                  <a:srgbClr val="16171D"/>
                </a:solidFill>
                <a:latin typeface="Cambria"/>
                <a:cs typeface="Cambria"/>
              </a:rPr>
              <a:t xml:space="preserve">x</a:t>
            </a:r>
            <a:endParaRPr lang="en-US" sz="1800" dirty="0"/>
          </a:p>
        </p:txBody>
      </p:sp>
      <p:sp>
        <p:nvSpPr>
          <p:cNvPr id="69" name="Shape 69"/>
          <p:cNvSpPr txBox="1"/>
          <p:nvPr/>
        </p:nvSpPr>
        <p:spPr>
          <a:xfrm>
            <a:off x="7429348" y="2103882"/>
            <a:ext cx="1143000" cy="42062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800" dirty="0" i="1">
                <a:solidFill>
                  <a:srgbClr val="16171D"/>
                </a:solidFill>
                <a:latin typeface="Cambria"/>
                <a:cs typeface="Cambria"/>
              </a:rPr>
              <a:t xml:space="preserve">f(x)</a:t>
            </a:r>
            <a:endParaRPr lang="en-US" sz="1800" dirty="0"/>
          </a:p>
        </p:txBody>
      </p:sp>
      <p:sp>
        <p:nvSpPr>
          <p:cNvPr id="70" name="Shape 70"/>
          <p:cNvSpPr txBox="1"/>
          <p:nvPr/>
        </p:nvSpPr>
        <p:spPr>
          <a:xfrm>
            <a:off x="8572348" y="2103882"/>
            <a:ext cx="1143000" cy="42062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800" dirty="0" i="1">
                <a:solidFill>
                  <a:srgbClr val="16171D"/>
                </a:solidFill>
                <a:latin typeface="Cambria"/>
                <a:cs typeface="Cambria"/>
              </a:rPr>
              <a:t xml:space="preserve">+ 5</a:t>
            </a:r>
            <a:endParaRPr lang="en-US" sz="1800" dirty="0"/>
          </a:p>
        </p:txBody>
      </p:sp>
      <p:sp>
        <p:nvSpPr>
          <p:cNvPr id="71" name="Shape 71"/>
          <p:cNvSpPr txBox="1"/>
          <p:nvPr/>
        </p:nvSpPr>
        <p:spPr>
          <a:xfrm>
            <a:off x="9715348" y="2103882"/>
            <a:ext cx="1143000" cy="42062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800" dirty="0" i="1">
                <a:solidFill>
                  <a:srgbClr val="16171D"/>
                </a:solidFill>
                <a:latin typeface="Cambria"/>
                <a:cs typeface="Cambria"/>
              </a:rPr>
              <a:t xml:space="preserve">p(x)</a:t>
            </a:r>
            <a:endParaRPr lang="en-US" sz="1800" dirty="0"/>
          </a:p>
        </p:txBody>
      </p:sp>
      <p:sp>
        <p:nvSpPr>
          <p:cNvPr id="72" name="Shape 72"/>
          <p:cNvSpPr txBox="1"/>
          <p:nvPr/>
        </p:nvSpPr>
        <p:spPr>
          <a:xfrm>
            <a:off x="6286348" y="2524506"/>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−4</a:t>
            </a:r>
            <a:endParaRPr lang="en-US" sz="1800" dirty="0"/>
          </a:p>
        </p:txBody>
      </p:sp>
      <p:sp>
        <p:nvSpPr>
          <p:cNvPr id="73" name="Shape 73"/>
          <p:cNvSpPr txBox="1"/>
          <p:nvPr/>
        </p:nvSpPr>
        <p:spPr>
          <a:xfrm>
            <a:off x="7429348" y="2524506"/>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−4</a:t>
            </a:r>
            <a:endParaRPr lang="en-US" sz="1800" dirty="0"/>
          </a:p>
        </p:txBody>
      </p:sp>
      <p:sp>
        <p:nvSpPr>
          <p:cNvPr id="74" name="Shape 74"/>
          <p:cNvSpPr txBox="1"/>
          <p:nvPr/>
        </p:nvSpPr>
        <p:spPr>
          <a:xfrm>
            <a:off x="8572348" y="2524506"/>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+ 5</a:t>
            </a:r>
            <a:endParaRPr lang="en-US" sz="1800" dirty="0"/>
          </a:p>
        </p:txBody>
      </p:sp>
      <p:sp>
        <p:nvSpPr>
          <p:cNvPr id="75" name="Shape 75"/>
          <p:cNvSpPr txBox="1"/>
          <p:nvPr/>
        </p:nvSpPr>
        <p:spPr>
          <a:xfrm>
            <a:off x="9715348" y="2524506"/>
            <a:ext cx="1143000" cy="42062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800" dirty="0"/>
          </a:p>
        </p:txBody>
      </p:sp>
      <p:sp>
        <p:nvSpPr>
          <p:cNvPr id="76" name="Shape 76"/>
          <p:cNvSpPr txBox="1"/>
          <p:nvPr/>
        </p:nvSpPr>
        <p:spPr>
          <a:xfrm>
            <a:off x="9715348" y="2524506"/>
            <a:ext cx="1143000" cy="420624"/>
          </a:xfrm>
          <a:prstGeom prst="rect">
            <a:avLst/>
          </a:prstGeom>
          <a:noFill/>
          <a:ln>
            <a:no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1</a:t>
            </a:r>
            <a:endParaRPr lang="en-US" sz="1800" dirty="0"/>
          </a:p>
        </p:txBody>
      </p:sp>
      <p:sp>
        <p:nvSpPr>
          <p:cNvPr id="77" name="Shape 77"/>
          <p:cNvSpPr txBox="1"/>
          <p:nvPr/>
        </p:nvSpPr>
        <p:spPr>
          <a:xfrm>
            <a:off x="6286348" y="2945130"/>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−1</a:t>
            </a:r>
            <a:endParaRPr lang="en-US" sz="1800" dirty="0"/>
          </a:p>
        </p:txBody>
      </p:sp>
      <p:sp>
        <p:nvSpPr>
          <p:cNvPr id="78" name="Shape 78"/>
          <p:cNvSpPr txBox="1"/>
          <p:nvPr/>
        </p:nvSpPr>
        <p:spPr>
          <a:xfrm>
            <a:off x="7429348" y="2945130"/>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−1</a:t>
            </a:r>
            <a:endParaRPr lang="en-US" sz="1800" dirty="0"/>
          </a:p>
        </p:txBody>
      </p:sp>
      <p:sp>
        <p:nvSpPr>
          <p:cNvPr id="79" name="Shape 79"/>
          <p:cNvSpPr txBox="1"/>
          <p:nvPr/>
        </p:nvSpPr>
        <p:spPr>
          <a:xfrm>
            <a:off x="8572348" y="2945130"/>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+ 5</a:t>
            </a:r>
            <a:endParaRPr lang="en-US" sz="1800" dirty="0"/>
          </a:p>
        </p:txBody>
      </p:sp>
      <p:sp>
        <p:nvSpPr>
          <p:cNvPr id="80" name="Shape 80"/>
          <p:cNvSpPr txBox="1"/>
          <p:nvPr/>
        </p:nvSpPr>
        <p:spPr>
          <a:xfrm>
            <a:off x="9715348" y="2945130"/>
            <a:ext cx="1143000" cy="42062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800" dirty="0"/>
          </a:p>
        </p:txBody>
      </p:sp>
      <p:sp>
        <p:nvSpPr>
          <p:cNvPr id="81" name="Shape 81"/>
          <p:cNvSpPr txBox="1"/>
          <p:nvPr/>
        </p:nvSpPr>
        <p:spPr>
          <a:xfrm>
            <a:off x="9715348" y="2945130"/>
            <a:ext cx="1143000" cy="420624"/>
          </a:xfrm>
          <a:prstGeom prst="rect">
            <a:avLst/>
          </a:prstGeom>
          <a:noFill/>
          <a:ln>
            <a:no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4</a:t>
            </a:r>
            <a:endParaRPr lang="en-US" sz="1800" dirty="0"/>
          </a:p>
        </p:txBody>
      </p:sp>
      <p:sp>
        <p:nvSpPr>
          <p:cNvPr id="82" name="Shape 82"/>
          <p:cNvSpPr txBox="1"/>
          <p:nvPr/>
        </p:nvSpPr>
        <p:spPr>
          <a:xfrm>
            <a:off x="6286348" y="3365754"/>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2</a:t>
            </a:r>
            <a:endParaRPr lang="en-US" sz="1800" dirty="0"/>
          </a:p>
        </p:txBody>
      </p:sp>
      <p:sp>
        <p:nvSpPr>
          <p:cNvPr id="83" name="Shape 83"/>
          <p:cNvSpPr txBox="1"/>
          <p:nvPr/>
        </p:nvSpPr>
        <p:spPr>
          <a:xfrm>
            <a:off x="7429348" y="3365754"/>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2</a:t>
            </a:r>
            <a:endParaRPr lang="en-US" sz="1800" dirty="0"/>
          </a:p>
        </p:txBody>
      </p:sp>
      <p:sp>
        <p:nvSpPr>
          <p:cNvPr id="84" name="Shape 84"/>
          <p:cNvSpPr txBox="1"/>
          <p:nvPr/>
        </p:nvSpPr>
        <p:spPr>
          <a:xfrm>
            <a:off x="8572348" y="3365754"/>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+ 5</a:t>
            </a:r>
            <a:endParaRPr lang="en-US" sz="1800" dirty="0"/>
          </a:p>
        </p:txBody>
      </p:sp>
      <p:sp>
        <p:nvSpPr>
          <p:cNvPr id="85" name="Shape 85"/>
          <p:cNvSpPr txBox="1"/>
          <p:nvPr/>
        </p:nvSpPr>
        <p:spPr>
          <a:xfrm>
            <a:off x="9715348" y="3365754"/>
            <a:ext cx="1143000" cy="42062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800" dirty="0"/>
          </a:p>
        </p:txBody>
      </p:sp>
      <p:sp>
        <p:nvSpPr>
          <p:cNvPr id="86" name="Shape 86"/>
          <p:cNvSpPr txBox="1"/>
          <p:nvPr/>
        </p:nvSpPr>
        <p:spPr>
          <a:xfrm>
            <a:off x="9715348" y="3365754"/>
            <a:ext cx="1143000" cy="420624"/>
          </a:xfrm>
          <a:prstGeom prst="rect">
            <a:avLst/>
          </a:prstGeom>
          <a:noFill/>
          <a:ln>
            <a:no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7</a:t>
            </a:r>
            <a:endParaRPr lang="en-US" sz="1800" dirty="0"/>
          </a:p>
        </p:txBody>
      </p:sp>
      <p:sp>
        <p:nvSpPr>
          <p:cNvPr id="87" name="Shape 87"/>
          <p:cNvSpPr txBox="1"/>
          <p:nvPr/>
        </p:nvSpPr>
        <p:spPr>
          <a:xfrm>
            <a:off x="6286348" y="3919728"/>
            <a:ext cx="5219548" cy="87325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p</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+ 5 =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+ 5</a:t>
            </a:r>
            <a:endParaRPr lang="en-US" sz="2325" dirty="0"/>
          </a:p>
        </p:txBody>
      </p:sp>
      <p:sp>
        <p:nvSpPr>
          <p:cNvPr id="88" name="Shape 88"/>
          <p:cNvSpPr txBox="1"/>
          <p:nvPr/>
        </p:nvSpPr>
        <p:spPr>
          <a:xfrm>
            <a:off x="6286348" y="4926330"/>
            <a:ext cx="521954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still 1.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-intercept: (0, 0) → (0, 5).</a:t>
            </a:r>
            <a:endParaRPr lang="en-US" sz="1575" dirty="0"/>
          </a:p>
        </p:txBody>
      </p:sp>
      <p:sp>
        <p:nvSpPr>
          <p:cNvPr id="89" name="Slide Number 89"/>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7</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22" presetClass="entr" presetSubtype="8" fill="hold" nodeType="clickEffect">
                                  <p:stCondLst>
                                    <p:cond delay="0"/>
                                  </p:stCondLst>
                                  <p:childTnLst>
                                    <p:set>
                                      <p:cBhvr>
                                        <p:cTn id="3" dur="1" fill="hold">
                                          <p:stCondLst>
                                            <p:cond delay="0"/>
                                          </p:stCondLst>
                                        </p:cTn>
                                        <p:tgtEl>
                                          <p:spTgt spid="53"/>
                                        </p:tgtEl>
                                        <p:attrNameLst>
                                          <p:attrName>style.visibility</p:attrName>
                                        </p:attrNameLst>
                                      </p:cBhvr>
                                      <p:to>
                                        <p:strVal val="visible"/>
                                      </p:to>
                                    </p:set>
                                    <p:animEffect transition="in" filter="wipe(left)">
                                      <p:cBhvr>
                                        <p:cTn id="4" dur="700"/>
                                        <p:tgtEl>
                                          <p:spTgt spid="53"/>
                                        </p:tgtEl>
                                      </p:cBhvr>
                                    </p:animEffect>
                                  </p:childTnLst>
                                </p:cTn>
                              </p:par>
                              <p:par>
                                <p:cTn id="8" presetID="22" presetClass="entr" presetSubtype="8" fill="hold" nodeType="withEffect">
                                  <p:stCondLst>
                                    <p:cond delay="0"/>
                                  </p:stCondLst>
                                  <p:childTnLst>
                                    <p:set>
                                      <p:cBhvr>
                                        <p:cTn id="6" dur="1" fill="hold">
                                          <p:stCondLst>
                                            <p:cond delay="0"/>
                                          </p:stCondLst>
                                        </p:cTn>
                                        <p:tgtEl>
                                          <p:spTgt spid="54"/>
                                        </p:tgtEl>
                                        <p:attrNameLst>
                                          <p:attrName>style.visibility</p:attrName>
                                        </p:attrNameLst>
                                      </p:cBhvr>
                                      <p:to>
                                        <p:strVal val="visible"/>
                                      </p:to>
                                    </p:set>
                                    <p:animEffect transition="in" filter="wipe(left)">
                                      <p:cBhvr>
                                        <p:cTn id="7" dur="700"/>
                                        <p:tgtEl>
                                          <p:spTgt spid="54"/>
                                        </p:tgtEl>
                                      </p:cBhvr>
                                    </p:animEffect>
                                  </p:childTnLst>
                                </p:cTn>
                              </p:par>
                              <p:par>
                                <p:cTn id="11" presetID="22" presetClass="entr" presetSubtype="8" fill="hold" nodeType="withEffect">
                                  <p:stCondLst>
                                    <p:cond delay="0"/>
                                  </p:stCondLst>
                                  <p:childTnLst>
                                    <p:set>
                                      <p:cBhvr>
                                        <p:cTn id="9" dur="1" fill="hold">
                                          <p:stCondLst>
                                            <p:cond delay="0"/>
                                          </p:stCondLst>
                                        </p:cTn>
                                        <p:tgtEl>
                                          <p:spTgt spid="55"/>
                                        </p:tgtEl>
                                        <p:attrNameLst>
                                          <p:attrName>style.visibility</p:attrName>
                                        </p:attrNameLst>
                                      </p:cBhvr>
                                      <p:to>
                                        <p:strVal val="visible"/>
                                      </p:to>
                                    </p:set>
                                    <p:animEffect transition="in" filter="wipe(left)">
                                      <p:cBhvr>
                                        <p:cTn id="10" dur="700"/>
                                        <p:tgtEl>
                                          <p:spTgt spid="55"/>
                                        </p:tgtEl>
                                      </p:cBhvr>
                                    </p:animEffect>
                                  </p:childTnLst>
                                </p:cTn>
                              </p:par>
                            </p:childTnLst>
                          </p:cTn>
                        </p:par>
                      </p:childTnLst>
                    </p:cTn>
                  </p:par>
                  <p:par>
                    <p:cTn id="23" fill="hold">
                      <p:stCondLst>
                        <p:cond delay="indefinite"/>
                      </p:stCondLst>
                      <p:childTnLst>
                        <p:par>
                          <p:cTn id="24" fill="hold">
                            <p:stCondLst>
                              <p:cond delay="0"/>
                            </p:stCondLst>
                            <p:childTnLst>
                              <p:par>
                                <p:cTn id="16" presetID="22" presetClass="entr" presetSubtype="8" fill="hold" nodeType="clickEffect">
                                  <p:stCondLst>
                                    <p:cond delay="0"/>
                                  </p:stCondLst>
                                  <p:childTnLst>
                                    <p:set>
                                      <p:cBhvr>
                                        <p:cTn id="14" dur="1" fill="hold">
                                          <p:stCondLst>
                                            <p:cond delay="0"/>
                                          </p:stCondLst>
                                        </p:cTn>
                                        <p:tgtEl>
                                          <p:spTgt spid="56"/>
                                        </p:tgtEl>
                                        <p:attrNameLst>
                                          <p:attrName>style.visibility</p:attrName>
                                        </p:attrNameLst>
                                      </p:cBhvr>
                                      <p:to>
                                        <p:strVal val="visible"/>
                                      </p:to>
                                    </p:set>
                                    <p:animEffect transition="in" filter="wipe(left)">
                                      <p:cBhvr>
                                        <p:cTn id="15" dur="700"/>
                                        <p:tgtEl>
                                          <p:spTgt spid="56"/>
                                        </p:tgtEl>
                                      </p:cBhvr>
                                    </p:animEffect>
                                  </p:childTnLst>
                                </p:cTn>
                              </p:par>
                              <p:par>
                                <p:cTn id="19" presetID="22" presetClass="entr" presetSubtype="8" fill="hold" nodeType="withEffect">
                                  <p:stCondLst>
                                    <p:cond delay="0"/>
                                  </p:stCondLst>
                                  <p:childTnLst>
                                    <p:set>
                                      <p:cBhvr>
                                        <p:cTn id="17" dur="1" fill="hold">
                                          <p:stCondLst>
                                            <p:cond delay="0"/>
                                          </p:stCondLst>
                                        </p:cTn>
                                        <p:tgtEl>
                                          <p:spTgt spid="57"/>
                                        </p:tgtEl>
                                        <p:attrNameLst>
                                          <p:attrName>style.visibility</p:attrName>
                                        </p:attrNameLst>
                                      </p:cBhvr>
                                      <p:to>
                                        <p:strVal val="visible"/>
                                      </p:to>
                                    </p:set>
                                    <p:animEffect transition="in" filter="wipe(left)">
                                      <p:cBhvr>
                                        <p:cTn id="18" dur="700"/>
                                        <p:tgtEl>
                                          <p:spTgt spid="57"/>
                                        </p:tgtEl>
                                      </p:cBhvr>
                                    </p:animEffect>
                                  </p:childTnLst>
                                </p:cTn>
                              </p:par>
                              <p:par>
                                <p:cTn id="22" presetID="22" presetClass="entr" presetSubtype="8" fill="hold" nodeType="withEffect">
                                  <p:stCondLst>
                                    <p:cond delay="0"/>
                                  </p:stCondLst>
                                  <p:childTnLst>
                                    <p:set>
                                      <p:cBhvr>
                                        <p:cTn id="20" dur="1" fill="hold">
                                          <p:stCondLst>
                                            <p:cond delay="0"/>
                                          </p:stCondLst>
                                        </p:cTn>
                                        <p:tgtEl>
                                          <p:spTgt spid="58"/>
                                        </p:tgtEl>
                                        <p:attrNameLst>
                                          <p:attrName>style.visibility</p:attrName>
                                        </p:attrNameLst>
                                      </p:cBhvr>
                                      <p:to>
                                        <p:strVal val="visible"/>
                                      </p:to>
                                    </p:set>
                                    <p:animEffect transition="in" filter="wipe(left)">
                                      <p:cBhvr>
                                        <p:cTn id="21" dur="700"/>
                                        <p:tgtEl>
                                          <p:spTgt spid="58"/>
                                        </p:tgtEl>
                                      </p:cBhvr>
                                    </p:animEffect>
                                  </p:childTnLst>
                                </p:cTn>
                              </p:par>
                            </p:childTnLst>
                          </p:cTn>
                        </p:par>
                      </p:childTnLst>
                    </p:cTn>
                  </p:par>
                  <p:par>
                    <p:cTn id="34" fill="hold">
                      <p:stCondLst>
                        <p:cond delay="indefinite"/>
                      </p:stCondLst>
                      <p:childTnLst>
                        <p:par>
                          <p:cTn id="35" fill="hold">
                            <p:stCondLst>
                              <p:cond delay="0"/>
                            </p:stCondLst>
                            <p:childTnLst>
                              <p:par>
                                <p:cTn id="27" presetID="22" presetClass="entr" presetSubtype="8" fill="hold" nodeType="clickEffect">
                                  <p:stCondLst>
                                    <p:cond delay="0"/>
                                  </p:stCondLst>
                                  <p:childTnLst>
                                    <p:set>
                                      <p:cBhvr>
                                        <p:cTn id="25" dur="1" fill="hold">
                                          <p:stCondLst>
                                            <p:cond delay="0"/>
                                          </p:stCondLst>
                                        </p:cTn>
                                        <p:tgtEl>
                                          <p:spTgt spid="59"/>
                                        </p:tgtEl>
                                        <p:attrNameLst>
                                          <p:attrName>style.visibility</p:attrName>
                                        </p:attrNameLst>
                                      </p:cBhvr>
                                      <p:to>
                                        <p:strVal val="visible"/>
                                      </p:to>
                                    </p:set>
                                    <p:animEffect transition="in" filter="wipe(left)">
                                      <p:cBhvr>
                                        <p:cTn id="26" dur="700"/>
                                        <p:tgtEl>
                                          <p:spTgt spid="59"/>
                                        </p:tgtEl>
                                      </p:cBhvr>
                                    </p:animEffect>
                                  </p:childTnLst>
                                </p:cTn>
                              </p:par>
                              <p:par>
                                <p:cTn id="30" presetID="22" presetClass="entr" presetSubtype="8" fill="hold" nodeType="withEffect">
                                  <p:stCondLst>
                                    <p:cond delay="0"/>
                                  </p:stCondLst>
                                  <p:childTnLst>
                                    <p:set>
                                      <p:cBhvr>
                                        <p:cTn id="28" dur="1" fill="hold">
                                          <p:stCondLst>
                                            <p:cond delay="0"/>
                                          </p:stCondLst>
                                        </p:cTn>
                                        <p:tgtEl>
                                          <p:spTgt spid="60"/>
                                        </p:tgtEl>
                                        <p:attrNameLst>
                                          <p:attrName>style.visibility</p:attrName>
                                        </p:attrNameLst>
                                      </p:cBhvr>
                                      <p:to>
                                        <p:strVal val="visible"/>
                                      </p:to>
                                    </p:set>
                                    <p:animEffect transition="in" filter="wipe(left)">
                                      <p:cBhvr>
                                        <p:cTn id="29" dur="700"/>
                                        <p:tgtEl>
                                          <p:spTgt spid="60"/>
                                        </p:tgtEl>
                                      </p:cBhvr>
                                    </p:animEffect>
                                  </p:childTnLst>
                                </p:cTn>
                              </p:par>
                              <p:par>
                                <p:cTn id="33" presetID="22" presetClass="entr" presetSubtype="8" fill="hold" nodeType="withEffect">
                                  <p:stCondLst>
                                    <p:cond delay="0"/>
                                  </p:stCondLst>
                                  <p:childTnLst>
                                    <p:set>
                                      <p:cBhvr>
                                        <p:cTn id="31" dur="1" fill="hold">
                                          <p:stCondLst>
                                            <p:cond delay="0"/>
                                          </p:stCondLst>
                                        </p:cTn>
                                        <p:tgtEl>
                                          <p:spTgt spid="61"/>
                                        </p:tgtEl>
                                        <p:attrNameLst>
                                          <p:attrName>style.visibility</p:attrName>
                                        </p:attrNameLst>
                                      </p:cBhvr>
                                      <p:to>
                                        <p:strVal val="visible"/>
                                      </p:to>
                                    </p:set>
                                    <p:animEffect transition="in" filter="wipe(left)">
                                      <p:cBhvr>
                                        <p:cTn id="32" dur="700"/>
                                        <p:tgtEl>
                                          <p:spTgt spid="61"/>
                                        </p:tgtEl>
                                      </p:cBhvr>
                                    </p:animEffect>
                                  </p:childTnLst>
                                </p:cTn>
                              </p:par>
                            </p:childTnLst>
                          </p:cTn>
                        </p:par>
                      </p:childTnLst>
                    </p:cTn>
                  </p:par>
                  <p:par>
                    <p:cTn id="42" fill="hold">
                      <p:stCondLst>
                        <p:cond delay="indefinite"/>
                      </p:stCondLst>
                      <p:childTnLst>
                        <p:par>
                          <p:cTn id="43" fill="hold">
                            <p:stCondLst>
                              <p:cond delay="0"/>
                            </p:stCondLst>
                            <p:childTnLst>
                              <p:par>
                                <p:cTn id="38" presetID="22" presetClass="entr" presetSubtype="8" fill="hold" nodeType="clickEffect">
                                  <p:stCondLst>
                                    <p:cond delay="0"/>
                                  </p:stCondLst>
                                  <p:childTnLst>
                                    <p:set>
                                      <p:cBhvr>
                                        <p:cTn id="36" dur="1" fill="hold">
                                          <p:stCondLst>
                                            <p:cond delay="0"/>
                                          </p:stCondLst>
                                        </p:cTn>
                                        <p:tgtEl>
                                          <p:spTgt spid="62"/>
                                        </p:tgtEl>
                                        <p:attrNameLst>
                                          <p:attrName>style.visibility</p:attrName>
                                        </p:attrNameLst>
                                      </p:cBhvr>
                                      <p:to>
                                        <p:strVal val="visible"/>
                                      </p:to>
                                    </p:set>
                                    <p:animEffect transition="in" filter="wipe(left)">
                                      <p:cBhvr>
                                        <p:cTn id="37" dur="700"/>
                                        <p:tgtEl>
                                          <p:spTgt spid="62"/>
                                        </p:tgtEl>
                                      </p:cBhvr>
                                    </p:animEffect>
                                  </p:childTnLst>
                                </p:cTn>
                              </p:par>
                              <p:par>
                                <p:cTn id="41" presetID="22" presetClass="entr" presetSubtype="8" fill="hold" nodeType="withEffect">
                                  <p:stCondLst>
                                    <p:cond delay="0"/>
                                  </p:stCondLst>
                                  <p:childTnLst>
                                    <p:set>
                                      <p:cBhvr>
                                        <p:cTn id="39" dur="1" fill="hold">
                                          <p:stCondLst>
                                            <p:cond delay="0"/>
                                          </p:stCondLst>
                                        </p:cTn>
                                        <p:tgtEl>
                                          <p:spTgt spid="63"/>
                                        </p:tgtEl>
                                        <p:attrNameLst>
                                          <p:attrName>style.visibility</p:attrName>
                                        </p:attrNameLst>
                                      </p:cBhvr>
                                      <p:to>
                                        <p:strVal val="visible"/>
                                      </p:to>
                                    </p:set>
                                    <p:animEffect transition="in" filter="wipe(left)">
                                      <p:cBhvr>
                                        <p:cTn id="40" dur="700"/>
                                        <p:tgtEl>
                                          <p:spTgt spid="63"/>
                                        </p:tgtEl>
                                      </p:cBhvr>
                                    </p:animEffect>
                                  </p:childTnLst>
                                </p:cTn>
                              </p:par>
                            </p:childTnLst>
                          </p:cTn>
                        </p:par>
                      </p:childTnLst>
                    </p:cTn>
                  </p:par>
                  <p:par>
                    <p:cTn id="49" fill="hold">
                      <p:stCondLst>
                        <p:cond delay="indefinite"/>
                      </p:stCondLst>
                      <p:childTnLst>
                        <p:par>
                          <p:cTn id="50" fill="hold">
                            <p:stCondLst>
                              <p:cond delay="0"/>
                            </p:stCondLst>
                            <p:childTnLst>
                              <p:par>
                                <p:cTn id="48" presetID="42" presetClass="entr" presetSubtype="0" fill="hold" nodeType="clickEffect">
                                  <p:stCondLst>
                                    <p:cond delay="0"/>
                                  </p:stCondLst>
                                  <p:childTnLst>
                                    <p:set>
                                      <p:cBhvr>
                                        <p:cTn id="44" dur="1" fill="hold">
                                          <p:stCondLst>
                                            <p:cond delay="0"/>
                                          </p:stCondLst>
                                        </p:cTn>
                                        <p:tgtEl>
                                          <p:spTgt spid="76"/>
                                        </p:tgtEl>
                                        <p:attrNameLst>
                                          <p:attrName>style.visibility</p:attrName>
                                        </p:attrNameLst>
                                      </p:cBhvr>
                                      <p:to>
                                        <p:strVal val="visible"/>
                                      </p:to>
                                    </p:set>
                                    <p:animEffect transition="in" filter="fade">
                                      <p:cBhvr>
                                        <p:cTn id="45" dur="500"/>
                                        <p:tgtEl>
                                          <p:spTgt spid="76"/>
                                        </p:tgtEl>
                                      </p:cBhvr>
                                    </p:animEffect>
                                    <p:anim calcmode="lin" valueType="num">
                                      <p:cBhvr>
                                        <p:cTn id="46" dur="500" fill="hold"/>
                                        <p:tgtEl>
                                          <p:spTgt spid="76"/>
                                        </p:tgtEl>
                                        <p:attrNameLst>
                                          <p:attrName>ppt_x</p:attrName>
                                        </p:attrNameLst>
                                      </p:cBhvr>
                                      <p:tavLst>
                                        <p:tav tm="0">
                                          <p:val>
                                            <p:strVal val="#ppt_x"/>
                                          </p:val>
                                        </p:tav>
                                        <p:tav tm="100000">
                                          <p:val>
                                            <p:strVal val="#ppt_x"/>
                                          </p:val>
                                        </p:tav>
                                      </p:tavLst>
                                    </p:anim>
                                    <p:anim calcmode="lin" valueType="num">
                                      <p:cBhvr>
                                        <p:cTn id="47" dur="500" fill="hold"/>
                                        <p:tgtEl>
                                          <p:spTgt spid="76"/>
                                        </p:tgtEl>
                                        <p:attrNameLst>
                                          <p:attrName>ppt_y</p:attrName>
                                        </p:attrNameLst>
                                      </p:cBhvr>
                                      <p:tavLst>
                                        <p:tav tm="0">
                                          <p:val>
                                            <p:strVal val="#ppt_y+.1"/>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5" presetID="42" presetClass="entr" presetSubtype="0" fill="hold" nodeType="clickEffect">
                                  <p:stCondLst>
                                    <p:cond delay="0"/>
                                  </p:stCondLst>
                                  <p:childTnLst>
                                    <p:set>
                                      <p:cBhvr>
                                        <p:cTn id="51" dur="1" fill="hold">
                                          <p:stCondLst>
                                            <p:cond delay="0"/>
                                          </p:stCondLst>
                                        </p:cTn>
                                        <p:tgtEl>
                                          <p:spTgt spid="81"/>
                                        </p:tgtEl>
                                        <p:attrNameLst>
                                          <p:attrName>style.visibility</p:attrName>
                                        </p:attrNameLst>
                                      </p:cBhvr>
                                      <p:to>
                                        <p:strVal val="visible"/>
                                      </p:to>
                                    </p:set>
                                    <p:animEffect transition="in" filter="fade">
                                      <p:cBhvr>
                                        <p:cTn id="52" dur="500"/>
                                        <p:tgtEl>
                                          <p:spTgt spid="81"/>
                                        </p:tgtEl>
                                      </p:cBhvr>
                                    </p:animEffect>
                                    <p:anim calcmode="lin" valueType="num">
                                      <p:cBhvr>
                                        <p:cTn id="53" dur="500" fill="hold"/>
                                        <p:tgtEl>
                                          <p:spTgt spid="81"/>
                                        </p:tgtEl>
                                        <p:attrNameLst>
                                          <p:attrName>ppt_x</p:attrName>
                                        </p:attrNameLst>
                                      </p:cBhvr>
                                      <p:tavLst>
                                        <p:tav tm="0">
                                          <p:val>
                                            <p:strVal val="#ppt_x"/>
                                          </p:val>
                                        </p:tav>
                                        <p:tav tm="100000">
                                          <p:val>
                                            <p:strVal val="#ppt_x"/>
                                          </p:val>
                                        </p:tav>
                                      </p:tavLst>
                                    </p:anim>
                                    <p:anim calcmode="lin" valueType="num">
                                      <p:cBhvr>
                                        <p:cTn id="54" dur="500" fill="hold"/>
                                        <p:tgtEl>
                                          <p:spTgt spid="81"/>
                                        </p:tgtEl>
                                        <p:attrNameLst>
                                          <p:attrName>ppt_y</p:attrName>
                                        </p:attrNameLst>
                                      </p:cBhvr>
                                      <p:tavLst>
                                        <p:tav tm="0">
                                          <p:val>
                                            <p:strVal val="#ppt_y+.1"/>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2" presetID="42" presetClass="entr" presetSubtype="0" fill="hold" nodeType="clickEffect">
                                  <p:stCondLst>
                                    <p:cond delay="0"/>
                                  </p:stCondLst>
                                  <p:childTnLst>
                                    <p:set>
                                      <p:cBhvr>
                                        <p:cTn id="58" dur="1" fill="hold">
                                          <p:stCondLst>
                                            <p:cond delay="0"/>
                                          </p:stCondLst>
                                        </p:cTn>
                                        <p:tgtEl>
                                          <p:spTgt spid="86"/>
                                        </p:tgtEl>
                                        <p:attrNameLst>
                                          <p:attrName>style.visibility</p:attrName>
                                        </p:attrNameLst>
                                      </p:cBhvr>
                                      <p:to>
                                        <p:strVal val="visible"/>
                                      </p:to>
                                    </p:set>
                                    <p:animEffect transition="in" filter="fade">
                                      <p:cBhvr>
                                        <p:cTn id="59" dur="500"/>
                                        <p:tgtEl>
                                          <p:spTgt spid="86"/>
                                        </p:tgtEl>
                                      </p:cBhvr>
                                    </p:animEffect>
                                    <p:anim calcmode="lin" valueType="num">
                                      <p:cBhvr>
                                        <p:cTn id="60" dur="500" fill="hold"/>
                                        <p:tgtEl>
                                          <p:spTgt spid="86"/>
                                        </p:tgtEl>
                                        <p:attrNameLst>
                                          <p:attrName>ppt_x</p:attrName>
                                        </p:attrNameLst>
                                      </p:cBhvr>
                                      <p:tavLst>
                                        <p:tav tm="0">
                                          <p:val>
                                            <p:strVal val="#ppt_x"/>
                                          </p:val>
                                        </p:tav>
                                        <p:tav tm="100000">
                                          <p:val>
                                            <p:strVal val="#ppt_x"/>
                                          </p:val>
                                        </p:tav>
                                      </p:tavLst>
                                    </p:anim>
                                    <p:anim calcmode="lin" valueType="num">
                                      <p:cBhvr>
                                        <p:cTn id="61" dur="500" fill="hold"/>
                                        <p:tgtEl>
                                          <p:spTgt spid="86"/>
                                        </p:tgtEl>
                                        <p:attrNameLst>
                                          <p:attrName>ppt_y</p:attrName>
                                        </p:attrNameLst>
                                      </p:cBhvr>
                                      <p:tavLst>
                                        <p:tav tm="0">
                                          <p:val>
                                            <p:strVal val="#ppt_y+.1"/>
                                          </p:val>
                                        </p:tav>
                                        <p:tav tm="100000">
                                          <p:val>
                                            <p:strVal val="#ppt_y"/>
                                          </p:val>
                                        </p:tav>
                                      </p:tavLst>
                                    </p:anim>
                                  </p:childTnLst>
                                </p:cTn>
                              </p:par>
                            </p:childTnLst>
                          </p:cTn>
                        </p:par>
                      </p:childTnLst>
                    </p:cTn>
                  </p:par>
                  <p:par>
                    <p:cTn id="70" fill="hold">
                      <p:stCondLst>
                        <p:cond delay="indefinite"/>
                      </p:stCondLst>
                      <p:childTnLst>
                        <p:par>
                          <p:cTn id="71" fill="hold">
                            <p:stCondLst>
                              <p:cond delay="0"/>
                            </p:stCondLst>
                            <p:childTnLst>
                              <p:par>
                                <p:cTn id="69" presetID="53" presetClass="entr" presetSubtype="16" fill="hold" nodeType="clickEffect">
                                  <p:stCondLst>
                                    <p:cond delay="0"/>
                                  </p:stCondLst>
                                  <p:childTnLst>
                                    <p:set>
                                      <p:cBhvr>
                                        <p:cTn id="65" dur="1" fill="hold">
                                          <p:stCondLst>
                                            <p:cond delay="0"/>
                                          </p:stCondLst>
                                        </p:cTn>
                                        <p:tgtEl>
                                          <p:spTgt spid="87"/>
                                        </p:tgtEl>
                                        <p:attrNameLst>
                                          <p:attrName>style.visibility</p:attrName>
                                        </p:attrNameLst>
                                      </p:cBhvr>
                                      <p:to>
                                        <p:strVal val="visible"/>
                                      </p:to>
                                    </p:set>
                                    <p:animEffect transition="in" filter="fade">
                                      <p:cBhvr>
                                        <p:cTn id="66" dur="500"/>
                                        <p:tgtEl>
                                          <p:spTgt spid="87"/>
                                        </p:tgtEl>
                                      </p:cBhvr>
                                    </p:animEffect>
                                    <p:anim calcmode="lin" valueType="num">
                                      <p:cBhvr>
                                        <p:cTn id="67" dur="500" fill="hold"/>
                                        <p:tgtEl>
                                          <p:spTgt spid="87"/>
                                        </p:tgtEl>
                                        <p:attrNameLst>
                                          <p:attrName>ppt_w</p:attrName>
                                        </p:attrNameLst>
                                      </p:cBhvr>
                                      <p:tavLst>
                                        <p:tav tm="0">
                                          <p:val>
                                            <p:fltVal val="0"/>
                                          </p:val>
                                        </p:tav>
                                        <p:tav tm="100000">
                                          <p:val>
                                            <p:strVal val="#ppt_w"/>
                                          </p:val>
                                        </p:tav>
                                      </p:tavLst>
                                    </p:anim>
                                    <p:anim calcmode="lin" valueType="num">
                                      <p:cBhvr>
                                        <p:cTn id="68" dur="500" fill="hold"/>
                                        <p:tgtEl>
                                          <p:spTgt spid="8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We do · Together</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Move </a:t>
            </a:r>
            <a:r>
              <a:rPr lang="en-US" sz="3450" dirty="0" b="1" i="1">
                <a:solidFill>
                  <a:srgbClr val="16171D"/>
                </a:solidFill>
                <a:latin typeface="Segoe UI"/>
                <a:cs typeface="Segoe UI"/>
              </a:rPr>
              <a:t xml:space="preserve">j</a:t>
            </a:r>
            <a:r>
              <a:rPr lang="en-US" sz="3450" dirty="0" b="1">
                <a:solidFill>
                  <a:srgbClr val="16171D"/>
                </a:solidFill>
                <a:latin typeface="Segoe UI"/>
                <a:cs typeface="Segoe UI"/>
              </a:rPr>
              <a:t xml:space="preserve">(</a:t>
            </a:r>
            <a:r>
              <a:rPr lang="en-US" sz="3450" dirty="0" b="1" i="1">
                <a:solidFill>
                  <a:srgbClr val="16171D"/>
                </a:solidFill>
                <a:latin typeface="Segoe UI"/>
                <a:cs typeface="Segoe UI"/>
              </a:rPr>
              <a:t xml:space="preserve">x</a:t>
            </a:r>
            <a:r>
              <a:rPr lang="en-US" sz="3450" dirty="0" b="1">
                <a:solidFill>
                  <a:srgbClr val="16171D"/>
                </a:solidFill>
                <a:latin typeface="Segoe UI"/>
                <a:cs typeface="Segoe UI"/>
              </a:rPr>
              <a:t xml:space="preserve">) = 2</a:t>
            </a:r>
            <a:r>
              <a:rPr lang="en-US" sz="3450" dirty="0" b="1" i="1">
                <a:solidFill>
                  <a:srgbClr val="16171D"/>
                </a:solidFill>
                <a:latin typeface="Segoe UI"/>
                <a:cs typeface="Segoe UI"/>
              </a:rPr>
              <a:t xml:space="preserve">x</a:t>
            </a:r>
            <a:r>
              <a:rPr lang="en-US" sz="3450" dirty="0" b="1">
                <a:solidFill>
                  <a:srgbClr val="16171D"/>
                </a:solidFill>
                <a:latin typeface="Segoe UI"/>
                <a:cs typeface="Segoe UI"/>
              </a:rPr>
              <a:t xml:space="preserve"> − 1 down 4</a:t>
            </a:r>
            <a:endParaRPr lang="en-US" sz="3450" dirty="0"/>
          </a:p>
        </p:txBody>
      </p:sp>
      <p:sp>
        <p:nvSpPr>
          <p:cNvPr id="4" name="Shape 4"/>
          <p:cNvSpPr txBox="1"/>
          <p:nvPr/>
        </p:nvSpPr>
        <p:spPr>
          <a:xfrm>
            <a:off x="685800" y="1618488"/>
            <a:ext cx="52195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Down means </a:t>
            </a:r>
            <a:r>
              <a:rPr lang="en-US" sz="1950" dirty="0" b="1">
                <a:solidFill>
                  <a:srgbClr val="16171D"/>
                </a:solidFill>
                <a:latin typeface="Segoe UI"/>
                <a:cs typeface="Segoe UI"/>
              </a:rPr>
              <a:t xml:space="preserve">−</a:t>
            </a:r>
            <a:r>
              <a:rPr lang="en-US" sz="1950" dirty="0">
                <a:solidFill>
                  <a:srgbClr val="16171D"/>
                </a:solidFill>
                <a:latin typeface="Segoe UI"/>
                <a:cs typeface="Segoe UI"/>
              </a:rPr>
              <a:t xml:space="preserve">: subtract 4 from every output.</a:t>
            </a:r>
            <a:endParaRPr lang="en-US" sz="1950" dirty="0"/>
          </a:p>
        </p:txBody>
      </p:sp>
      <p:sp>
        <p:nvSpPr>
          <p:cNvPr id="5" name="Shape 5"/>
          <p:cNvSpPr txBox="1"/>
          <p:nvPr/>
        </p:nvSpPr>
        <p:spPr>
          <a:xfrm>
            <a:off x="685800" y="2401062"/>
            <a:ext cx="5219548" cy="352044"/>
          </a:xfrm>
          <a:prstGeom prst="rect">
            <a:avLst/>
          </a:prstGeom>
          <a:noFill/>
          <a:ln>
            <a:noFill/>
          </a:ln>
        </p:spPr>
        <p:txBody>
          <a:bodyPr wrap="square" lIns="36576" tIns="27432" rIns="36576" bIns="27432" anchor="t">
            <a:noAutofit/>
          </a:bodyPr>
          <a:lstStyle/>
          <a:p>
            <a:pPr algn="l">
              <a:lnSpc>
                <a:spcPct val="100000"/>
              </a:lnSpc>
            </a:pPr>
            <a:r>
              <a:rPr lang="en-US" sz="1950" dirty="0" i="1">
                <a:solidFill>
                  <a:srgbClr val="16171D"/>
                </a:solidFill>
                <a:latin typeface="Segoe UI"/>
                <a:cs typeface="Segoe UI"/>
              </a:rPr>
              <a:t xml:space="preserve">r</a:t>
            </a:r>
            <a:r>
              <a:rPr lang="en-US" sz="1950" dirty="0">
                <a:solidFill>
                  <a:srgbClr val="16171D"/>
                </a:solidFill>
                <a:latin typeface="Segoe UI"/>
                <a:cs typeface="Segoe UI"/>
              </a:rPr>
              <a:t xml:space="preserve">(</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a:t>
            </a:r>
            <a:r>
              <a:rPr lang="en-US" sz="1950" dirty="0" i="1">
                <a:solidFill>
                  <a:srgbClr val="16171D"/>
                </a:solidFill>
                <a:latin typeface="Segoe UI"/>
                <a:cs typeface="Segoe UI"/>
              </a:rPr>
              <a:t xml:space="preserve">j</a:t>
            </a:r>
            <a:r>
              <a:rPr lang="en-US" sz="1950" dirty="0">
                <a:solidFill>
                  <a:srgbClr val="16171D"/>
                </a:solidFill>
                <a:latin typeface="Segoe UI"/>
                <a:cs typeface="Segoe UI"/>
              </a:rPr>
              <a:t xml:space="preserve">(</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____</a:t>
            </a:r>
            <a:endParaRPr lang="en-US" sz="1950" dirty="0"/>
          </a:p>
        </p:txBody>
      </p:sp>
      <p:sp>
        <p:nvSpPr>
          <p:cNvPr id="6" name="Shape 6"/>
          <p:cNvSpPr txBox="1"/>
          <p:nvPr/>
        </p:nvSpPr>
        <p:spPr>
          <a:xfrm>
            <a:off x="685800" y="2886456"/>
            <a:ext cx="4400459"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r</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j</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− 4</a:t>
            </a:r>
            <a:endParaRPr lang="en-US" sz="2325" dirty="0"/>
          </a:p>
        </p:txBody>
      </p:sp>
      <p:sp>
        <p:nvSpPr>
          <p:cNvPr id="7" name="Shape 7"/>
          <p:cNvSpPr txBox="1"/>
          <p:nvPr/>
        </p:nvSpPr>
        <p:spPr>
          <a:xfrm>
            <a:off x="685800" y="3538728"/>
            <a:ext cx="52195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Simplify: 2</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− 1 − 4 = ____</a:t>
            </a:r>
            <a:endParaRPr lang="en-US" sz="1950" dirty="0"/>
          </a:p>
        </p:txBody>
      </p:sp>
      <p:sp>
        <p:nvSpPr>
          <p:cNvPr id="8" name="Shape 8"/>
          <p:cNvSpPr txBox="1"/>
          <p:nvPr/>
        </p:nvSpPr>
        <p:spPr>
          <a:xfrm>
            <a:off x="685800" y="4024122"/>
            <a:ext cx="5219548" cy="87325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r</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− 5 (−1 − 4 = −5)</a:t>
            </a:r>
            <a:endParaRPr lang="en-US" sz="2325" dirty="0"/>
          </a:p>
        </p:txBody>
      </p:sp>
      <p:sp>
        <p:nvSpPr>
          <p:cNvPr id="9" name="Shape 9"/>
          <p:cNvSpPr txBox="1"/>
          <p:nvPr/>
        </p:nvSpPr>
        <p:spPr>
          <a:xfrm>
            <a:off x="685800" y="5030724"/>
            <a:ext cx="52195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Slope ____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-intercept ____</a:t>
            </a:r>
            <a:endParaRPr lang="en-US" sz="1950" dirty="0"/>
          </a:p>
        </p:txBody>
      </p:sp>
      <p:sp>
        <p:nvSpPr>
          <p:cNvPr id="10" name="Shape 10"/>
          <p:cNvSpPr txBox="1"/>
          <p:nvPr/>
        </p:nvSpPr>
        <p:spPr>
          <a:xfrm>
            <a:off x="685800" y="5516118"/>
            <a:ext cx="5219548" cy="87325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slope 2, (0, −1) → (0, −5)</a:t>
            </a:r>
            <a:endParaRPr lang="en-US" sz="2325" dirty="0"/>
          </a:p>
        </p:txBody>
      </p:sp>
      <p:sp>
        <p:nvSpPr>
          <p:cNvPr id="11" name="Shape 11"/>
          <p:cNvSpPr/>
          <p:nvPr/>
        </p:nvSpPr>
        <p:spPr>
          <a:xfrm>
            <a:off x="6286348" y="1618488"/>
            <a:ext cx="3429000" cy="40005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12" name="Line 12"/>
          <p:cNvCxnSpPr/>
          <p:nvPr/>
        </p:nvCxnSpPr>
        <p:spPr>
          <a:xfrm>
            <a:off x="6610198" y="1732788"/>
            <a:ext cx="0" cy="3638550"/>
          </a:xfrm>
          <a:prstGeom prst="line">
            <a:avLst/>
          </a:prstGeom>
          <a:ln w="9525" cap="flat">
            <a:solidFill>
              <a:srgbClr val="E6E8F2"/>
            </a:solidFill>
          </a:ln>
        </p:spPr>
      </p:cxnSp>
      <p:cxnSp>
        <p:nvCxnSpPr>
          <p:cNvPr id="13" name="Line 13"/>
          <p:cNvCxnSpPr/>
          <p:nvPr/>
        </p:nvCxnSpPr>
        <p:spPr>
          <a:xfrm>
            <a:off x="7108673" y="1732788"/>
            <a:ext cx="0" cy="3638550"/>
          </a:xfrm>
          <a:prstGeom prst="line">
            <a:avLst/>
          </a:prstGeom>
          <a:ln w="9525" cap="flat">
            <a:solidFill>
              <a:srgbClr val="E6E8F2"/>
            </a:solidFill>
          </a:ln>
        </p:spPr>
      </p:cxnSp>
      <p:cxnSp>
        <p:nvCxnSpPr>
          <p:cNvPr id="14" name="Line 14"/>
          <p:cNvCxnSpPr/>
          <p:nvPr/>
        </p:nvCxnSpPr>
        <p:spPr>
          <a:xfrm>
            <a:off x="7607148" y="1732788"/>
            <a:ext cx="0" cy="3638550"/>
          </a:xfrm>
          <a:prstGeom prst="line">
            <a:avLst/>
          </a:prstGeom>
          <a:ln w="9525" cap="flat">
            <a:solidFill>
              <a:srgbClr val="E6E8F2"/>
            </a:solidFill>
          </a:ln>
        </p:spPr>
      </p:cxnSp>
      <p:cxnSp>
        <p:nvCxnSpPr>
          <p:cNvPr id="15" name="Line 15"/>
          <p:cNvCxnSpPr/>
          <p:nvPr/>
        </p:nvCxnSpPr>
        <p:spPr>
          <a:xfrm>
            <a:off x="8105623" y="1732788"/>
            <a:ext cx="0" cy="3638550"/>
          </a:xfrm>
          <a:prstGeom prst="line">
            <a:avLst/>
          </a:prstGeom>
          <a:ln w="9525" cap="flat">
            <a:solidFill>
              <a:srgbClr val="E6E8F2"/>
            </a:solidFill>
          </a:ln>
        </p:spPr>
      </p:cxnSp>
      <p:cxnSp>
        <p:nvCxnSpPr>
          <p:cNvPr id="16" name="Line 16"/>
          <p:cNvCxnSpPr/>
          <p:nvPr/>
        </p:nvCxnSpPr>
        <p:spPr>
          <a:xfrm>
            <a:off x="8604098" y="1732788"/>
            <a:ext cx="0" cy="3638550"/>
          </a:xfrm>
          <a:prstGeom prst="line">
            <a:avLst/>
          </a:prstGeom>
          <a:ln w="9525" cap="flat">
            <a:solidFill>
              <a:srgbClr val="E6E8F2"/>
            </a:solidFill>
          </a:ln>
        </p:spPr>
      </p:cxnSp>
      <p:cxnSp>
        <p:nvCxnSpPr>
          <p:cNvPr id="17" name="Line 17"/>
          <p:cNvCxnSpPr/>
          <p:nvPr/>
        </p:nvCxnSpPr>
        <p:spPr>
          <a:xfrm>
            <a:off x="9102573" y="1732788"/>
            <a:ext cx="0" cy="3638550"/>
          </a:xfrm>
          <a:prstGeom prst="line">
            <a:avLst/>
          </a:prstGeom>
          <a:ln w="9525" cap="flat">
            <a:solidFill>
              <a:srgbClr val="E6E8F2"/>
            </a:solidFill>
          </a:ln>
        </p:spPr>
      </p:cxnSp>
      <p:cxnSp>
        <p:nvCxnSpPr>
          <p:cNvPr id="18" name="Line 18"/>
          <p:cNvCxnSpPr/>
          <p:nvPr/>
        </p:nvCxnSpPr>
        <p:spPr>
          <a:xfrm>
            <a:off x="9601048" y="1732788"/>
            <a:ext cx="0" cy="3638550"/>
          </a:xfrm>
          <a:prstGeom prst="line">
            <a:avLst/>
          </a:prstGeom>
          <a:ln w="9525" cap="flat">
            <a:solidFill>
              <a:srgbClr val="E6E8F2"/>
            </a:solidFill>
          </a:ln>
        </p:spPr>
      </p:cxnSp>
      <p:cxnSp>
        <p:nvCxnSpPr>
          <p:cNvPr id="19" name="Line 19"/>
          <p:cNvCxnSpPr/>
          <p:nvPr/>
        </p:nvCxnSpPr>
        <p:spPr>
          <a:xfrm>
            <a:off x="6610198" y="5371338"/>
            <a:ext cx="2990850" cy="0"/>
          </a:xfrm>
          <a:prstGeom prst="line">
            <a:avLst/>
          </a:prstGeom>
          <a:ln w="9525" cap="flat">
            <a:solidFill>
              <a:srgbClr val="E6E8F2"/>
            </a:solidFill>
          </a:ln>
        </p:spPr>
      </p:cxnSp>
      <p:cxnSp>
        <p:nvCxnSpPr>
          <p:cNvPr id="20" name="Line 20"/>
          <p:cNvCxnSpPr/>
          <p:nvPr/>
        </p:nvCxnSpPr>
        <p:spPr>
          <a:xfrm>
            <a:off x="6610198" y="5068126"/>
            <a:ext cx="2990850" cy="0"/>
          </a:xfrm>
          <a:prstGeom prst="line">
            <a:avLst/>
          </a:prstGeom>
          <a:ln w="9525" cap="flat">
            <a:solidFill>
              <a:srgbClr val="E6E8F2"/>
            </a:solidFill>
          </a:ln>
        </p:spPr>
      </p:cxnSp>
      <p:cxnSp>
        <p:nvCxnSpPr>
          <p:cNvPr id="21" name="Line 21"/>
          <p:cNvCxnSpPr/>
          <p:nvPr/>
        </p:nvCxnSpPr>
        <p:spPr>
          <a:xfrm>
            <a:off x="6610198" y="4764913"/>
            <a:ext cx="2990850" cy="0"/>
          </a:xfrm>
          <a:prstGeom prst="line">
            <a:avLst/>
          </a:prstGeom>
          <a:ln w="9525" cap="flat">
            <a:solidFill>
              <a:srgbClr val="E6E8F2"/>
            </a:solidFill>
          </a:ln>
        </p:spPr>
      </p:cxnSp>
      <p:cxnSp>
        <p:nvCxnSpPr>
          <p:cNvPr id="22" name="Line 22"/>
          <p:cNvCxnSpPr/>
          <p:nvPr/>
        </p:nvCxnSpPr>
        <p:spPr>
          <a:xfrm>
            <a:off x="6610198" y="4461700"/>
            <a:ext cx="2990850" cy="0"/>
          </a:xfrm>
          <a:prstGeom prst="line">
            <a:avLst/>
          </a:prstGeom>
          <a:ln w="9525" cap="flat">
            <a:solidFill>
              <a:srgbClr val="E6E8F2"/>
            </a:solidFill>
          </a:ln>
        </p:spPr>
      </p:cxnSp>
      <p:cxnSp>
        <p:nvCxnSpPr>
          <p:cNvPr id="23" name="Line 23"/>
          <p:cNvCxnSpPr/>
          <p:nvPr/>
        </p:nvCxnSpPr>
        <p:spPr>
          <a:xfrm>
            <a:off x="6610198" y="4158488"/>
            <a:ext cx="2990850" cy="0"/>
          </a:xfrm>
          <a:prstGeom prst="line">
            <a:avLst/>
          </a:prstGeom>
          <a:ln w="9525" cap="flat">
            <a:solidFill>
              <a:srgbClr val="E6E8F2"/>
            </a:solidFill>
          </a:ln>
        </p:spPr>
      </p:cxnSp>
      <p:cxnSp>
        <p:nvCxnSpPr>
          <p:cNvPr id="24" name="Line 24"/>
          <p:cNvCxnSpPr/>
          <p:nvPr/>
        </p:nvCxnSpPr>
        <p:spPr>
          <a:xfrm>
            <a:off x="6610198" y="3855275"/>
            <a:ext cx="2990850" cy="0"/>
          </a:xfrm>
          <a:prstGeom prst="line">
            <a:avLst/>
          </a:prstGeom>
          <a:ln w="9525" cap="flat">
            <a:solidFill>
              <a:srgbClr val="E6E8F2"/>
            </a:solidFill>
          </a:ln>
        </p:spPr>
      </p:cxnSp>
      <p:cxnSp>
        <p:nvCxnSpPr>
          <p:cNvPr id="25" name="Line 25"/>
          <p:cNvCxnSpPr/>
          <p:nvPr/>
        </p:nvCxnSpPr>
        <p:spPr>
          <a:xfrm>
            <a:off x="6610198" y="3552063"/>
            <a:ext cx="2990850" cy="0"/>
          </a:xfrm>
          <a:prstGeom prst="line">
            <a:avLst/>
          </a:prstGeom>
          <a:ln w="9525" cap="flat">
            <a:solidFill>
              <a:srgbClr val="E6E8F2"/>
            </a:solidFill>
          </a:ln>
        </p:spPr>
      </p:cxnSp>
      <p:cxnSp>
        <p:nvCxnSpPr>
          <p:cNvPr id="26" name="Line 26"/>
          <p:cNvCxnSpPr/>
          <p:nvPr/>
        </p:nvCxnSpPr>
        <p:spPr>
          <a:xfrm>
            <a:off x="6610198" y="3248850"/>
            <a:ext cx="2990850" cy="0"/>
          </a:xfrm>
          <a:prstGeom prst="line">
            <a:avLst/>
          </a:prstGeom>
          <a:ln w="9525" cap="flat">
            <a:solidFill>
              <a:srgbClr val="E6E8F2"/>
            </a:solidFill>
          </a:ln>
        </p:spPr>
      </p:cxnSp>
      <p:cxnSp>
        <p:nvCxnSpPr>
          <p:cNvPr id="27" name="Line 27"/>
          <p:cNvCxnSpPr/>
          <p:nvPr/>
        </p:nvCxnSpPr>
        <p:spPr>
          <a:xfrm>
            <a:off x="6610198" y="2945638"/>
            <a:ext cx="2990850" cy="0"/>
          </a:xfrm>
          <a:prstGeom prst="line">
            <a:avLst/>
          </a:prstGeom>
          <a:ln w="9525" cap="flat">
            <a:solidFill>
              <a:srgbClr val="E6E8F2"/>
            </a:solidFill>
          </a:ln>
        </p:spPr>
      </p:cxnSp>
      <p:cxnSp>
        <p:nvCxnSpPr>
          <p:cNvPr id="28" name="Line 28"/>
          <p:cNvCxnSpPr/>
          <p:nvPr/>
        </p:nvCxnSpPr>
        <p:spPr>
          <a:xfrm>
            <a:off x="6610198" y="2642426"/>
            <a:ext cx="2990850" cy="0"/>
          </a:xfrm>
          <a:prstGeom prst="line">
            <a:avLst/>
          </a:prstGeom>
          <a:ln w="9525" cap="flat">
            <a:solidFill>
              <a:srgbClr val="E6E8F2"/>
            </a:solidFill>
          </a:ln>
        </p:spPr>
      </p:cxnSp>
      <p:cxnSp>
        <p:nvCxnSpPr>
          <p:cNvPr id="29" name="Line 29"/>
          <p:cNvCxnSpPr/>
          <p:nvPr/>
        </p:nvCxnSpPr>
        <p:spPr>
          <a:xfrm>
            <a:off x="6610198" y="2339213"/>
            <a:ext cx="2990850" cy="0"/>
          </a:xfrm>
          <a:prstGeom prst="line">
            <a:avLst/>
          </a:prstGeom>
          <a:ln w="9525" cap="flat">
            <a:solidFill>
              <a:srgbClr val="E6E8F2"/>
            </a:solidFill>
          </a:ln>
        </p:spPr>
      </p:cxnSp>
      <p:cxnSp>
        <p:nvCxnSpPr>
          <p:cNvPr id="30" name="Line 30"/>
          <p:cNvCxnSpPr/>
          <p:nvPr/>
        </p:nvCxnSpPr>
        <p:spPr>
          <a:xfrm>
            <a:off x="6610198" y="2036000"/>
            <a:ext cx="2990850" cy="0"/>
          </a:xfrm>
          <a:prstGeom prst="line">
            <a:avLst/>
          </a:prstGeom>
          <a:ln w="9525" cap="flat">
            <a:solidFill>
              <a:srgbClr val="E6E8F2"/>
            </a:solidFill>
          </a:ln>
        </p:spPr>
      </p:cxnSp>
      <p:cxnSp>
        <p:nvCxnSpPr>
          <p:cNvPr id="31" name="Line 31"/>
          <p:cNvCxnSpPr/>
          <p:nvPr/>
        </p:nvCxnSpPr>
        <p:spPr>
          <a:xfrm>
            <a:off x="6610198" y="1732788"/>
            <a:ext cx="2990850" cy="0"/>
          </a:xfrm>
          <a:prstGeom prst="line">
            <a:avLst/>
          </a:prstGeom>
          <a:ln w="9525" cap="flat">
            <a:solidFill>
              <a:srgbClr val="E6E8F2"/>
            </a:solidFill>
          </a:ln>
        </p:spPr>
      </p:cxnSp>
      <p:cxnSp>
        <p:nvCxnSpPr>
          <p:cNvPr id="32" name="Line 32"/>
          <p:cNvCxnSpPr/>
          <p:nvPr/>
        </p:nvCxnSpPr>
        <p:spPr>
          <a:xfrm>
            <a:off x="8105623" y="1732788"/>
            <a:ext cx="0" cy="3638550"/>
          </a:xfrm>
          <a:prstGeom prst="line">
            <a:avLst/>
          </a:prstGeom>
          <a:ln w="19050" cap="flat">
            <a:solidFill>
              <a:srgbClr val="5F6272"/>
            </a:solidFill>
          </a:ln>
        </p:spPr>
      </p:cxnSp>
      <p:cxnSp>
        <p:nvCxnSpPr>
          <p:cNvPr id="33" name="Line 33"/>
          <p:cNvCxnSpPr/>
          <p:nvPr/>
        </p:nvCxnSpPr>
        <p:spPr>
          <a:xfrm>
            <a:off x="6610198" y="2945638"/>
            <a:ext cx="2990850" cy="0"/>
          </a:xfrm>
          <a:prstGeom prst="line">
            <a:avLst/>
          </a:prstGeom>
          <a:ln w="19050" cap="flat">
            <a:solidFill>
              <a:srgbClr val="5F6272"/>
            </a:solidFill>
          </a:ln>
        </p:spPr>
      </p:cxnSp>
      <p:sp>
        <p:nvSpPr>
          <p:cNvPr id="34" name="Shape 34"/>
          <p:cNvSpPr txBox="1"/>
          <p:nvPr/>
        </p:nvSpPr>
        <p:spPr>
          <a:xfrm>
            <a:off x="6335878"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−3</a:t>
            </a:r>
            <a:endParaRPr lang="en-US" sz="975" dirty="0"/>
          </a:p>
        </p:txBody>
      </p:sp>
      <p:sp>
        <p:nvSpPr>
          <p:cNvPr id="35" name="Shape 35"/>
          <p:cNvSpPr txBox="1"/>
          <p:nvPr/>
        </p:nvSpPr>
        <p:spPr>
          <a:xfrm>
            <a:off x="6834353"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36" name="Shape 36"/>
          <p:cNvSpPr txBox="1"/>
          <p:nvPr/>
        </p:nvSpPr>
        <p:spPr>
          <a:xfrm>
            <a:off x="7332828"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a:t>
            </a:r>
            <a:endParaRPr lang="en-US" sz="975" dirty="0"/>
          </a:p>
        </p:txBody>
      </p:sp>
      <p:sp>
        <p:nvSpPr>
          <p:cNvPr id="37" name="Shape 37"/>
          <p:cNvSpPr txBox="1"/>
          <p:nvPr/>
        </p:nvSpPr>
        <p:spPr>
          <a:xfrm>
            <a:off x="7831303"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38" name="Shape 38"/>
          <p:cNvSpPr txBox="1"/>
          <p:nvPr/>
        </p:nvSpPr>
        <p:spPr>
          <a:xfrm>
            <a:off x="8329778"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a:t>
            </a:r>
            <a:endParaRPr lang="en-US" sz="975" dirty="0"/>
          </a:p>
        </p:txBody>
      </p:sp>
      <p:sp>
        <p:nvSpPr>
          <p:cNvPr id="39" name="Shape 39"/>
          <p:cNvSpPr txBox="1"/>
          <p:nvPr/>
        </p:nvSpPr>
        <p:spPr>
          <a:xfrm>
            <a:off x="8828253"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40" name="Shape 40"/>
          <p:cNvSpPr txBox="1"/>
          <p:nvPr/>
        </p:nvSpPr>
        <p:spPr>
          <a:xfrm>
            <a:off x="9326728"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3</a:t>
            </a:r>
            <a:endParaRPr lang="en-US" sz="975" dirty="0"/>
          </a:p>
        </p:txBody>
      </p:sp>
      <p:sp>
        <p:nvSpPr>
          <p:cNvPr id="41" name="Shape 41"/>
          <p:cNvSpPr txBox="1"/>
          <p:nvPr/>
        </p:nvSpPr>
        <p:spPr>
          <a:xfrm>
            <a:off x="6043270" y="52798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42" name="Shape 42"/>
          <p:cNvSpPr txBox="1"/>
          <p:nvPr/>
        </p:nvSpPr>
        <p:spPr>
          <a:xfrm>
            <a:off x="6043270" y="467347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43" name="Shape 43"/>
          <p:cNvSpPr txBox="1"/>
          <p:nvPr/>
        </p:nvSpPr>
        <p:spPr>
          <a:xfrm>
            <a:off x="6043270" y="40670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44" name="Shape 44"/>
          <p:cNvSpPr txBox="1"/>
          <p:nvPr/>
        </p:nvSpPr>
        <p:spPr>
          <a:xfrm>
            <a:off x="6043270" y="346062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45" name="Shape 45"/>
          <p:cNvSpPr txBox="1"/>
          <p:nvPr/>
        </p:nvSpPr>
        <p:spPr>
          <a:xfrm>
            <a:off x="6043270" y="28541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46" name="Shape 46"/>
          <p:cNvSpPr txBox="1"/>
          <p:nvPr/>
        </p:nvSpPr>
        <p:spPr>
          <a:xfrm>
            <a:off x="6043270" y="224777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47" name="Shape 47"/>
          <p:cNvSpPr txBox="1"/>
          <p:nvPr/>
        </p:nvSpPr>
        <p:spPr>
          <a:xfrm>
            <a:off x="6043270" y="16413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cxnSp>
        <p:nvCxnSpPr>
          <p:cNvPr id="48" name="Line 48"/>
          <p:cNvCxnSpPr/>
          <p:nvPr/>
        </p:nvCxnSpPr>
        <p:spPr>
          <a:xfrm flipV="1">
            <a:off x="6610198" y="1732788"/>
            <a:ext cx="2741612" cy="3335338"/>
          </a:xfrm>
          <a:prstGeom prst="line">
            <a:avLst/>
          </a:prstGeom>
          <a:ln w="38100" cap="rnd">
            <a:solidFill>
              <a:srgbClr val="16171D"/>
            </a:solidFill>
          </a:ln>
        </p:spPr>
      </p:cxnSp>
      <p:sp>
        <p:nvSpPr>
          <p:cNvPr id="49" name="Shape 49"/>
          <p:cNvSpPr txBox="1"/>
          <p:nvPr/>
        </p:nvSpPr>
        <p:spPr>
          <a:xfrm>
            <a:off x="6860070" y="1751838"/>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j(x)</a:t>
            </a:r>
            <a:endParaRPr lang="en-US" sz="1275" dirty="0"/>
          </a:p>
        </p:txBody>
      </p:sp>
      <p:cxnSp>
        <p:nvCxnSpPr>
          <p:cNvPr id="50" name="Line 50"/>
          <p:cNvCxnSpPr/>
          <p:nvPr/>
        </p:nvCxnSpPr>
        <p:spPr>
          <a:xfrm>
            <a:off x="7607148" y="3855275"/>
            <a:ext cx="0" cy="1212850"/>
          </a:xfrm>
          <a:prstGeom prst="line">
            <a:avLst/>
          </a:prstGeom>
          <a:ln w="38100" cap="rnd">
            <a:solidFill>
              <a:srgbClr val="7A4FC4"/>
            </a:solidFill>
            <a:prstDash val="dash"/>
          </a:ln>
        </p:spPr>
      </p:cxnSp>
      <p:sp>
        <p:nvSpPr>
          <p:cNvPr id="51" name="Shape 51"/>
          <p:cNvSpPr txBox="1"/>
          <p:nvPr/>
        </p:nvSpPr>
        <p:spPr>
          <a:xfrm>
            <a:off x="7683348" y="3874325"/>
            <a:ext cx="2377440" cy="228600"/>
          </a:xfrm>
          <a:prstGeom prst="rect">
            <a:avLst/>
          </a:prstGeom>
          <a:noFill/>
          <a:ln>
            <a:noFill/>
          </a:ln>
        </p:spPr>
        <p:txBody>
          <a:bodyPr wrap="square" lIns="0" tIns="0" rIns="0" bIns="0" anchor="t">
            <a:noAutofit/>
          </a:bodyPr>
          <a:lstStyle/>
          <a:p>
            <a:pPr algn="l">
              <a:lnSpc>
                <a:spcPct val="100000"/>
              </a:lnSpc>
            </a:pPr>
            <a:r>
              <a:rPr lang="en-US" sz="1275" dirty="0" i="1">
                <a:solidFill>
                  <a:srgbClr val="16171D"/>
                </a:solidFill>
                <a:latin typeface="Cambria"/>
                <a:cs typeface="Cambria"/>
              </a:rPr>
              <a:t xml:space="preserve">−4 ↓</a:t>
            </a:r>
            <a:endParaRPr lang="en-US" sz="1275" dirty="0"/>
          </a:p>
        </p:txBody>
      </p:sp>
      <p:sp>
        <p:nvSpPr>
          <p:cNvPr id="52" name="Shape 52"/>
          <p:cNvSpPr/>
          <p:nvPr/>
        </p:nvSpPr>
        <p:spPr>
          <a:xfrm>
            <a:off x="7554760" y="5015738"/>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cxnSp>
        <p:nvCxnSpPr>
          <p:cNvPr id="53" name="Line 53"/>
          <p:cNvCxnSpPr/>
          <p:nvPr/>
        </p:nvCxnSpPr>
        <p:spPr>
          <a:xfrm>
            <a:off x="8105623" y="3248850"/>
            <a:ext cx="0" cy="1212850"/>
          </a:xfrm>
          <a:prstGeom prst="line">
            <a:avLst/>
          </a:prstGeom>
          <a:ln w="38100" cap="rnd">
            <a:solidFill>
              <a:srgbClr val="7A4FC4"/>
            </a:solidFill>
            <a:prstDash val="dash"/>
          </a:ln>
        </p:spPr>
      </p:cxnSp>
      <p:sp>
        <p:nvSpPr>
          <p:cNvPr id="54" name="Shape 54"/>
          <p:cNvSpPr txBox="1"/>
          <p:nvPr/>
        </p:nvSpPr>
        <p:spPr>
          <a:xfrm>
            <a:off x="5613883" y="3267900"/>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−4 ↓</a:t>
            </a:r>
            <a:endParaRPr lang="en-US" sz="1275" dirty="0"/>
          </a:p>
        </p:txBody>
      </p:sp>
      <p:sp>
        <p:nvSpPr>
          <p:cNvPr id="55" name="Shape 55"/>
          <p:cNvSpPr/>
          <p:nvPr/>
        </p:nvSpPr>
        <p:spPr>
          <a:xfrm>
            <a:off x="8053235" y="4409313"/>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cxnSp>
        <p:nvCxnSpPr>
          <p:cNvPr id="56" name="Line 56"/>
          <p:cNvCxnSpPr/>
          <p:nvPr/>
        </p:nvCxnSpPr>
        <p:spPr>
          <a:xfrm>
            <a:off x="8604098" y="2642426"/>
            <a:ext cx="0" cy="1212850"/>
          </a:xfrm>
          <a:prstGeom prst="line">
            <a:avLst/>
          </a:prstGeom>
          <a:ln w="38100" cap="rnd">
            <a:solidFill>
              <a:srgbClr val="7A4FC4"/>
            </a:solidFill>
            <a:prstDash val="dash"/>
          </a:ln>
        </p:spPr>
      </p:cxnSp>
      <p:sp>
        <p:nvSpPr>
          <p:cNvPr id="57" name="Shape 57"/>
          <p:cNvSpPr txBox="1"/>
          <p:nvPr/>
        </p:nvSpPr>
        <p:spPr>
          <a:xfrm>
            <a:off x="6112358" y="2661476"/>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−4 ↓</a:t>
            </a:r>
            <a:endParaRPr lang="en-US" sz="1275" dirty="0"/>
          </a:p>
        </p:txBody>
      </p:sp>
      <p:sp>
        <p:nvSpPr>
          <p:cNvPr id="58" name="Shape 58"/>
          <p:cNvSpPr/>
          <p:nvPr/>
        </p:nvSpPr>
        <p:spPr>
          <a:xfrm>
            <a:off x="8551710" y="3802888"/>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cxnSp>
        <p:nvCxnSpPr>
          <p:cNvPr id="59" name="Line 59"/>
          <p:cNvCxnSpPr/>
          <p:nvPr/>
        </p:nvCxnSpPr>
        <p:spPr>
          <a:xfrm flipV="1">
            <a:off x="7357910" y="2642426"/>
            <a:ext cx="2243138" cy="2728912"/>
          </a:xfrm>
          <a:prstGeom prst="line">
            <a:avLst/>
          </a:prstGeom>
          <a:ln w="38100" cap="rnd">
            <a:solidFill>
              <a:srgbClr val="7A4FC4"/>
            </a:solidFill>
          </a:ln>
        </p:spPr>
      </p:cxnSp>
      <p:sp>
        <p:nvSpPr>
          <p:cNvPr id="60" name="Shape 60"/>
          <p:cNvSpPr txBox="1"/>
          <p:nvPr/>
        </p:nvSpPr>
        <p:spPr>
          <a:xfrm>
            <a:off x="7109308" y="2661476"/>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r(x)</a:t>
            </a:r>
            <a:endParaRPr lang="en-US" sz="1275" dirty="0"/>
          </a:p>
        </p:txBody>
      </p:sp>
      <p:sp>
        <p:nvSpPr>
          <p:cNvPr id="61" name="Shape 61"/>
          <p:cNvSpPr/>
          <p:nvPr/>
        </p:nvSpPr>
        <p:spPr>
          <a:xfrm>
            <a:off x="7554760" y="3802888"/>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62" name="Shape 62"/>
          <p:cNvSpPr/>
          <p:nvPr/>
        </p:nvSpPr>
        <p:spPr>
          <a:xfrm>
            <a:off x="8053235" y="3196463"/>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63" name="Shape 63"/>
          <p:cNvSpPr/>
          <p:nvPr/>
        </p:nvSpPr>
        <p:spPr>
          <a:xfrm>
            <a:off x="8551710" y="2590038"/>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64" name="Slide Number 64"/>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8</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6"/>
                                        </p:tgtEl>
                                        <p:attrNameLst>
                                          <p:attrName>style.visibility</p:attrName>
                                        </p:attrNameLst>
                                      </p:cBhvr>
                                      <p:to>
                                        <p:strVal val="visible"/>
                                      </p:to>
                                    </p:set>
                                    <p:animEffect transition="in" filter="fade">
                                      <p:cBhvr>
                                        <p:cTn id="4" dur="500"/>
                                        <p:tgtEl>
                                          <p:spTgt spid="6"/>
                                        </p:tgtEl>
                                      </p:cBhvr>
                                    </p:animEffect>
                                    <p:anim calcmode="lin" valueType="num">
                                      <p:cBhvr>
                                        <p:cTn id="5" dur="500" fill="hold"/>
                                        <p:tgtEl>
                                          <p:spTgt spid="6"/>
                                        </p:tgtEl>
                                        <p:attrNameLst>
                                          <p:attrName>ppt_w</p:attrName>
                                        </p:attrNameLst>
                                      </p:cBhvr>
                                      <p:tavLst>
                                        <p:tav tm="0">
                                          <p:val>
                                            <p:fltVal val="0"/>
                                          </p:val>
                                        </p:tav>
                                        <p:tav tm="100000">
                                          <p:val>
                                            <p:strVal val="#ppt_w"/>
                                          </p:val>
                                        </p:tav>
                                      </p:tavLst>
                                    </p:anim>
                                    <p:anim calcmode="lin" valueType="num">
                                      <p:cBhvr>
                                        <p:cTn id="6" dur="500" fill="hold"/>
                                        <p:tgtEl>
                                          <p:spTgt spid="6"/>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anim calcmode="lin" valueType="num">
                                      <p:cBhvr>
                                        <p:cTn id="12" dur="500" fill="hold"/>
                                        <p:tgtEl>
                                          <p:spTgt spid="8"/>
                                        </p:tgtEl>
                                        <p:attrNameLst>
                                          <p:attrName>ppt_w</p:attrName>
                                        </p:attrNameLst>
                                      </p:cBhvr>
                                      <p:tavLst>
                                        <p:tav tm="0">
                                          <p:val>
                                            <p:fltVal val="0"/>
                                          </p:val>
                                        </p:tav>
                                        <p:tav tm="100000">
                                          <p:val>
                                            <p:strVal val="#ppt_w"/>
                                          </p:val>
                                        </p:tav>
                                      </p:tavLst>
                                    </p:anim>
                                    <p:anim calcmode="lin" valueType="num">
                                      <p:cBhvr>
                                        <p:cTn id="13" dur="500" fill="hold"/>
                                        <p:tgtEl>
                                          <p:spTgt spid="8"/>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anim calcmode="lin" valueType="num">
                                      <p:cBhvr>
                                        <p:cTn id="19" dur="500" fill="hold"/>
                                        <p:tgtEl>
                                          <p:spTgt spid="10"/>
                                        </p:tgtEl>
                                        <p:attrNameLst>
                                          <p:attrName>ppt_w</p:attrName>
                                        </p:attrNameLst>
                                      </p:cBhvr>
                                      <p:tavLst>
                                        <p:tav tm="0">
                                          <p:val>
                                            <p:fltVal val="0"/>
                                          </p:val>
                                        </p:tav>
                                        <p:tav tm="100000">
                                          <p:val>
                                            <p:strVal val="#ppt_w"/>
                                          </p:val>
                                        </p:tav>
                                      </p:tavLst>
                                    </p:anim>
                                    <p:anim calcmode="lin" valueType="num">
                                      <p:cBhvr>
                                        <p:cTn id="20" dur="500" fill="hold"/>
                                        <p:tgtEl>
                                          <p:spTgt spid="10"/>
                                        </p:tgtEl>
                                        <p:attrNameLst>
                                          <p:attrName>ppt_h</p:attrName>
                                        </p:attrNameLst>
                                      </p:cBhvr>
                                      <p:tavLst>
                                        <p:tav tm="0">
                                          <p:val>
                                            <p:fltVal val="0"/>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26" presetID="22" presetClass="entr" presetSubtype="8" fill="hold" nodeType="clickEffect">
                                  <p:stCondLst>
                                    <p:cond delay="0"/>
                                  </p:stCondLst>
                                  <p:childTnLst>
                                    <p:set>
                                      <p:cBhvr>
                                        <p:cTn id="24" dur="1" fill="hold">
                                          <p:stCondLst>
                                            <p:cond delay="0"/>
                                          </p:stCondLst>
                                        </p:cTn>
                                        <p:tgtEl>
                                          <p:spTgt spid="50"/>
                                        </p:tgtEl>
                                        <p:attrNameLst>
                                          <p:attrName>style.visibility</p:attrName>
                                        </p:attrNameLst>
                                      </p:cBhvr>
                                      <p:to>
                                        <p:strVal val="visible"/>
                                      </p:to>
                                    </p:set>
                                    <p:animEffect transition="in" filter="wipe(left)">
                                      <p:cBhvr>
                                        <p:cTn id="25" dur="700"/>
                                        <p:tgtEl>
                                          <p:spTgt spid="50"/>
                                        </p:tgtEl>
                                      </p:cBhvr>
                                    </p:animEffect>
                                  </p:childTnLst>
                                </p:cTn>
                              </p:par>
                              <p:par>
                                <p:cTn id="29" presetID="22" presetClass="entr" presetSubtype="8" fill="hold" nodeType="withEffect">
                                  <p:stCondLst>
                                    <p:cond delay="0"/>
                                  </p:stCondLst>
                                  <p:childTnLst>
                                    <p:set>
                                      <p:cBhvr>
                                        <p:cTn id="27" dur="1" fill="hold">
                                          <p:stCondLst>
                                            <p:cond delay="0"/>
                                          </p:stCondLst>
                                        </p:cTn>
                                        <p:tgtEl>
                                          <p:spTgt spid="51"/>
                                        </p:tgtEl>
                                        <p:attrNameLst>
                                          <p:attrName>style.visibility</p:attrName>
                                        </p:attrNameLst>
                                      </p:cBhvr>
                                      <p:to>
                                        <p:strVal val="visible"/>
                                      </p:to>
                                    </p:set>
                                    <p:animEffect transition="in" filter="wipe(left)">
                                      <p:cBhvr>
                                        <p:cTn id="28" dur="700"/>
                                        <p:tgtEl>
                                          <p:spTgt spid="51"/>
                                        </p:tgtEl>
                                      </p:cBhvr>
                                    </p:animEffect>
                                  </p:childTnLst>
                                </p:cTn>
                              </p:par>
                              <p:par>
                                <p:cTn id="32" presetID="22" presetClass="entr" presetSubtype="8" fill="hold" nodeType="withEffect">
                                  <p:stCondLst>
                                    <p:cond delay="0"/>
                                  </p:stCondLst>
                                  <p:childTnLst>
                                    <p:set>
                                      <p:cBhvr>
                                        <p:cTn id="30" dur="1" fill="hold">
                                          <p:stCondLst>
                                            <p:cond delay="0"/>
                                          </p:stCondLst>
                                        </p:cTn>
                                        <p:tgtEl>
                                          <p:spTgt spid="52"/>
                                        </p:tgtEl>
                                        <p:attrNameLst>
                                          <p:attrName>style.visibility</p:attrName>
                                        </p:attrNameLst>
                                      </p:cBhvr>
                                      <p:to>
                                        <p:strVal val="visible"/>
                                      </p:to>
                                    </p:set>
                                    <p:animEffect transition="in" filter="wipe(left)">
                                      <p:cBhvr>
                                        <p:cTn id="31" dur="700"/>
                                        <p:tgtEl>
                                          <p:spTgt spid="52"/>
                                        </p:tgtEl>
                                      </p:cBhvr>
                                    </p:animEffect>
                                  </p:childTnLst>
                                </p:cTn>
                              </p:par>
                            </p:childTnLst>
                          </p:cTn>
                        </p:par>
                      </p:childTnLst>
                    </p:cTn>
                  </p:par>
                  <p:par>
                    <p:cTn id="44" fill="hold">
                      <p:stCondLst>
                        <p:cond delay="indefinite"/>
                      </p:stCondLst>
                      <p:childTnLst>
                        <p:par>
                          <p:cTn id="45" fill="hold">
                            <p:stCondLst>
                              <p:cond delay="0"/>
                            </p:stCondLst>
                            <p:childTnLst>
                              <p:par>
                                <p:cTn id="37" presetID="22" presetClass="entr" presetSubtype="8" fill="hold" nodeType="clickEffect">
                                  <p:stCondLst>
                                    <p:cond delay="0"/>
                                  </p:stCondLst>
                                  <p:childTnLst>
                                    <p:set>
                                      <p:cBhvr>
                                        <p:cTn id="35" dur="1" fill="hold">
                                          <p:stCondLst>
                                            <p:cond delay="0"/>
                                          </p:stCondLst>
                                        </p:cTn>
                                        <p:tgtEl>
                                          <p:spTgt spid="53"/>
                                        </p:tgtEl>
                                        <p:attrNameLst>
                                          <p:attrName>style.visibility</p:attrName>
                                        </p:attrNameLst>
                                      </p:cBhvr>
                                      <p:to>
                                        <p:strVal val="visible"/>
                                      </p:to>
                                    </p:set>
                                    <p:animEffect transition="in" filter="wipe(left)">
                                      <p:cBhvr>
                                        <p:cTn id="36" dur="700"/>
                                        <p:tgtEl>
                                          <p:spTgt spid="53"/>
                                        </p:tgtEl>
                                      </p:cBhvr>
                                    </p:animEffect>
                                  </p:childTnLst>
                                </p:cTn>
                              </p:par>
                              <p:par>
                                <p:cTn id="40" presetID="22" presetClass="entr" presetSubtype="8" fill="hold" nodeType="withEffect">
                                  <p:stCondLst>
                                    <p:cond delay="0"/>
                                  </p:stCondLst>
                                  <p:childTnLst>
                                    <p:set>
                                      <p:cBhvr>
                                        <p:cTn id="38" dur="1" fill="hold">
                                          <p:stCondLst>
                                            <p:cond delay="0"/>
                                          </p:stCondLst>
                                        </p:cTn>
                                        <p:tgtEl>
                                          <p:spTgt spid="54"/>
                                        </p:tgtEl>
                                        <p:attrNameLst>
                                          <p:attrName>style.visibility</p:attrName>
                                        </p:attrNameLst>
                                      </p:cBhvr>
                                      <p:to>
                                        <p:strVal val="visible"/>
                                      </p:to>
                                    </p:set>
                                    <p:animEffect transition="in" filter="wipe(left)">
                                      <p:cBhvr>
                                        <p:cTn id="39" dur="700"/>
                                        <p:tgtEl>
                                          <p:spTgt spid="54"/>
                                        </p:tgtEl>
                                      </p:cBhvr>
                                    </p:animEffect>
                                  </p:childTnLst>
                                </p:cTn>
                              </p:par>
                              <p:par>
                                <p:cTn id="43" presetID="22" presetClass="entr" presetSubtype="8" fill="hold" nodeType="withEffect">
                                  <p:stCondLst>
                                    <p:cond delay="0"/>
                                  </p:stCondLst>
                                  <p:childTnLst>
                                    <p:set>
                                      <p:cBhvr>
                                        <p:cTn id="41" dur="1" fill="hold">
                                          <p:stCondLst>
                                            <p:cond delay="0"/>
                                          </p:stCondLst>
                                        </p:cTn>
                                        <p:tgtEl>
                                          <p:spTgt spid="55"/>
                                        </p:tgtEl>
                                        <p:attrNameLst>
                                          <p:attrName>style.visibility</p:attrName>
                                        </p:attrNameLst>
                                      </p:cBhvr>
                                      <p:to>
                                        <p:strVal val="visible"/>
                                      </p:to>
                                    </p:set>
                                    <p:animEffect transition="in" filter="wipe(left)">
                                      <p:cBhvr>
                                        <p:cTn id="42" dur="700"/>
                                        <p:tgtEl>
                                          <p:spTgt spid="55"/>
                                        </p:tgtEl>
                                      </p:cBhvr>
                                    </p:animEffect>
                                  </p:childTnLst>
                                </p:cTn>
                              </p:par>
                            </p:childTnLst>
                          </p:cTn>
                        </p:par>
                      </p:childTnLst>
                    </p:cTn>
                  </p:par>
                  <p:par>
                    <p:cTn id="55" fill="hold">
                      <p:stCondLst>
                        <p:cond delay="indefinite"/>
                      </p:stCondLst>
                      <p:childTnLst>
                        <p:par>
                          <p:cTn id="56" fill="hold">
                            <p:stCondLst>
                              <p:cond delay="0"/>
                            </p:stCondLst>
                            <p:childTnLst>
                              <p:par>
                                <p:cTn id="48" presetID="22" presetClass="entr" presetSubtype="8" fill="hold" nodeType="clickEffect">
                                  <p:stCondLst>
                                    <p:cond delay="0"/>
                                  </p:stCondLst>
                                  <p:childTnLst>
                                    <p:set>
                                      <p:cBhvr>
                                        <p:cTn id="46" dur="1" fill="hold">
                                          <p:stCondLst>
                                            <p:cond delay="0"/>
                                          </p:stCondLst>
                                        </p:cTn>
                                        <p:tgtEl>
                                          <p:spTgt spid="56"/>
                                        </p:tgtEl>
                                        <p:attrNameLst>
                                          <p:attrName>style.visibility</p:attrName>
                                        </p:attrNameLst>
                                      </p:cBhvr>
                                      <p:to>
                                        <p:strVal val="visible"/>
                                      </p:to>
                                    </p:set>
                                    <p:animEffect transition="in" filter="wipe(left)">
                                      <p:cBhvr>
                                        <p:cTn id="47" dur="700"/>
                                        <p:tgtEl>
                                          <p:spTgt spid="56"/>
                                        </p:tgtEl>
                                      </p:cBhvr>
                                    </p:animEffect>
                                  </p:childTnLst>
                                </p:cTn>
                              </p:par>
                              <p:par>
                                <p:cTn id="51" presetID="22" presetClass="entr" presetSubtype="8" fill="hold" nodeType="withEffect">
                                  <p:stCondLst>
                                    <p:cond delay="0"/>
                                  </p:stCondLst>
                                  <p:childTnLst>
                                    <p:set>
                                      <p:cBhvr>
                                        <p:cTn id="49" dur="1" fill="hold">
                                          <p:stCondLst>
                                            <p:cond delay="0"/>
                                          </p:stCondLst>
                                        </p:cTn>
                                        <p:tgtEl>
                                          <p:spTgt spid="57"/>
                                        </p:tgtEl>
                                        <p:attrNameLst>
                                          <p:attrName>style.visibility</p:attrName>
                                        </p:attrNameLst>
                                      </p:cBhvr>
                                      <p:to>
                                        <p:strVal val="visible"/>
                                      </p:to>
                                    </p:set>
                                    <p:animEffect transition="in" filter="wipe(left)">
                                      <p:cBhvr>
                                        <p:cTn id="50" dur="700"/>
                                        <p:tgtEl>
                                          <p:spTgt spid="57"/>
                                        </p:tgtEl>
                                      </p:cBhvr>
                                    </p:animEffect>
                                  </p:childTnLst>
                                </p:cTn>
                              </p:par>
                              <p:par>
                                <p:cTn id="54" presetID="22" presetClass="entr" presetSubtype="8" fill="hold" nodeType="withEffect">
                                  <p:stCondLst>
                                    <p:cond delay="0"/>
                                  </p:stCondLst>
                                  <p:childTnLst>
                                    <p:set>
                                      <p:cBhvr>
                                        <p:cTn id="52" dur="1" fill="hold">
                                          <p:stCondLst>
                                            <p:cond delay="0"/>
                                          </p:stCondLst>
                                        </p:cTn>
                                        <p:tgtEl>
                                          <p:spTgt spid="58"/>
                                        </p:tgtEl>
                                        <p:attrNameLst>
                                          <p:attrName>style.visibility</p:attrName>
                                        </p:attrNameLst>
                                      </p:cBhvr>
                                      <p:to>
                                        <p:strVal val="visible"/>
                                      </p:to>
                                    </p:set>
                                    <p:animEffect transition="in" filter="wipe(left)">
                                      <p:cBhvr>
                                        <p:cTn id="53" dur="700"/>
                                        <p:tgtEl>
                                          <p:spTgt spid="58"/>
                                        </p:tgtEl>
                                      </p:cBhvr>
                                    </p:animEffect>
                                  </p:childTnLst>
                                </p:cTn>
                              </p:par>
                            </p:childTnLst>
                          </p:cTn>
                        </p:par>
                      </p:childTnLst>
                    </p:cTn>
                  </p:par>
                  <p:par>
                    <p:cTn id="63" fill="hold">
                      <p:stCondLst>
                        <p:cond delay="indefinite"/>
                      </p:stCondLst>
                      <p:childTnLst>
                        <p:par>
                          <p:cTn id="64" fill="hold">
                            <p:stCondLst>
                              <p:cond delay="0"/>
                            </p:stCondLst>
                            <p:childTnLst>
                              <p:par>
                                <p:cTn id="59" presetID="22" presetClass="entr" presetSubtype="8" fill="hold" nodeType="clickEffect">
                                  <p:stCondLst>
                                    <p:cond delay="0"/>
                                  </p:stCondLst>
                                  <p:childTnLst>
                                    <p:set>
                                      <p:cBhvr>
                                        <p:cTn id="57" dur="1" fill="hold">
                                          <p:stCondLst>
                                            <p:cond delay="0"/>
                                          </p:stCondLst>
                                        </p:cTn>
                                        <p:tgtEl>
                                          <p:spTgt spid="59"/>
                                        </p:tgtEl>
                                        <p:attrNameLst>
                                          <p:attrName>style.visibility</p:attrName>
                                        </p:attrNameLst>
                                      </p:cBhvr>
                                      <p:to>
                                        <p:strVal val="visible"/>
                                      </p:to>
                                    </p:set>
                                    <p:animEffect transition="in" filter="wipe(left)">
                                      <p:cBhvr>
                                        <p:cTn id="58" dur="700"/>
                                        <p:tgtEl>
                                          <p:spTgt spid="59"/>
                                        </p:tgtEl>
                                      </p:cBhvr>
                                    </p:animEffect>
                                  </p:childTnLst>
                                </p:cTn>
                              </p:par>
                              <p:par>
                                <p:cTn id="62" presetID="22" presetClass="entr" presetSubtype="8" fill="hold" nodeType="withEffect">
                                  <p:stCondLst>
                                    <p:cond delay="0"/>
                                  </p:stCondLst>
                                  <p:childTnLst>
                                    <p:set>
                                      <p:cBhvr>
                                        <p:cTn id="60" dur="1" fill="hold">
                                          <p:stCondLst>
                                            <p:cond delay="0"/>
                                          </p:stCondLst>
                                        </p:cTn>
                                        <p:tgtEl>
                                          <p:spTgt spid="60"/>
                                        </p:tgtEl>
                                        <p:attrNameLst>
                                          <p:attrName>style.visibility</p:attrName>
                                        </p:attrNameLst>
                                      </p:cBhvr>
                                      <p:to>
                                        <p:strVal val="visible"/>
                                      </p:to>
                                    </p:set>
                                    <p:animEffect transition="in" filter="wipe(left)">
                                      <p:cBhvr>
                                        <p:cTn id="61" dur="7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I do · Stretch</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Multiply </a:t>
            </a:r>
            <a:r>
              <a:rPr lang="en-US" sz="3450" dirty="0" b="1" i="1">
                <a:solidFill>
                  <a:srgbClr val="16171D"/>
                </a:solidFill>
                <a:latin typeface="Segoe UI"/>
                <a:cs typeface="Segoe UI"/>
              </a:rPr>
              <a:t xml:space="preserve">f</a:t>
            </a:r>
            <a:r>
              <a:rPr lang="en-US" sz="3450" dirty="0" b="1">
                <a:solidFill>
                  <a:srgbClr val="16171D"/>
                </a:solidFill>
                <a:latin typeface="Segoe UI"/>
                <a:cs typeface="Segoe UI"/>
              </a:rPr>
              <a:t xml:space="preserve">(</a:t>
            </a:r>
            <a:r>
              <a:rPr lang="en-US" sz="3450" dirty="0" b="1" i="1">
                <a:solidFill>
                  <a:srgbClr val="16171D"/>
                </a:solidFill>
                <a:latin typeface="Segoe UI"/>
                <a:cs typeface="Segoe UI"/>
              </a:rPr>
              <a:t xml:space="preserve">x</a:t>
            </a:r>
            <a:r>
              <a:rPr lang="en-US" sz="3450" dirty="0" b="1">
                <a:solidFill>
                  <a:srgbClr val="16171D"/>
                </a:solidFill>
                <a:latin typeface="Segoe UI"/>
                <a:cs typeface="Segoe UI"/>
              </a:rPr>
              <a:t xml:space="preserve">) = </a:t>
            </a:r>
            <a:r>
              <a:rPr lang="en-US" sz="3450" dirty="0" b="1" i="1">
                <a:solidFill>
                  <a:srgbClr val="16171D"/>
                </a:solidFill>
                <a:latin typeface="Segoe UI"/>
                <a:cs typeface="Segoe UI"/>
              </a:rPr>
              <a:t xml:space="preserve">x</a:t>
            </a:r>
            <a:r>
              <a:rPr lang="en-US" sz="3450" dirty="0" b="1">
                <a:solidFill>
                  <a:srgbClr val="16171D"/>
                </a:solidFill>
                <a:latin typeface="Segoe UI"/>
                <a:cs typeface="Segoe UI"/>
              </a:rPr>
              <a:t xml:space="preserve"> by 4</a:t>
            </a:r>
            <a:endParaRPr lang="en-US" sz="3450" dirty="0"/>
          </a:p>
        </p:txBody>
      </p:sp>
      <p:sp>
        <p:nvSpPr>
          <p:cNvPr id="4" name="Shape 4"/>
          <p:cNvSpPr txBox="1"/>
          <p:nvPr/>
        </p:nvSpPr>
        <p:spPr>
          <a:xfrm>
            <a:off x="685800" y="1618488"/>
            <a:ext cx="52195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Multiply every output by 4.</a:t>
            </a:r>
            <a:endParaRPr lang="en-US" sz="1950" dirty="0"/>
          </a:p>
        </p:txBody>
      </p:sp>
      <p:sp>
        <p:nvSpPr>
          <p:cNvPr id="5" name="Shape 5"/>
          <p:cNvSpPr txBox="1"/>
          <p:nvPr/>
        </p:nvSpPr>
        <p:spPr>
          <a:xfrm>
            <a:off x="685800" y="2103882"/>
            <a:ext cx="3405500"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a</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4</a:t>
            </a:r>
            <a:r>
              <a:rPr lang="en-US" sz="2325" dirty="0" i="1">
                <a:solidFill>
                  <a:srgbClr val="16171D"/>
                </a:solidFill>
                <a:latin typeface="Cambria"/>
                <a:cs typeface="Cambria"/>
              </a:rPr>
              <a:t xml:space="preserve">x</a:t>
            </a:r>
            <a:endParaRPr lang="en-US" sz="2325" dirty="0"/>
          </a:p>
        </p:txBody>
      </p:sp>
      <p:sp>
        <p:nvSpPr>
          <p:cNvPr id="6" name="Shape 6"/>
          <p:cNvSpPr txBox="1"/>
          <p:nvPr/>
        </p:nvSpPr>
        <p:spPr>
          <a:xfrm>
            <a:off x="685800" y="2756154"/>
            <a:ext cx="52195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The slope is now </a:t>
            </a:r>
            <a:r>
              <a:rPr lang="en-US" sz="1950" dirty="0" b="1">
                <a:solidFill>
                  <a:srgbClr val="C9561F"/>
                </a:solidFill>
                <a:latin typeface="Segoe UI"/>
                <a:cs typeface="Segoe UI"/>
              </a:rPr>
              <a:t xml:space="preserve">4</a:t>
            </a:r>
            <a:r>
              <a:rPr lang="en-US" sz="1950" dirty="0">
                <a:solidFill>
                  <a:srgbClr val="16171D"/>
                </a:solidFill>
                <a:latin typeface="Segoe UI"/>
                <a:cs typeface="Segoe UI"/>
              </a:rPr>
              <a:t xml:space="preserve">: steeper.</a:t>
            </a:r>
            <a:endParaRPr lang="en-US" sz="1950" dirty="0"/>
          </a:p>
        </p:txBody>
      </p:sp>
      <p:sp>
        <p:nvSpPr>
          <p:cNvPr id="7" name="Shape 7"/>
          <p:cNvSpPr txBox="1"/>
          <p:nvPr/>
        </p:nvSpPr>
        <p:spPr>
          <a:xfrm>
            <a:off x="685800" y="3241548"/>
            <a:ext cx="52195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With −4, the line also </a:t>
            </a:r>
            <a:r>
              <a:rPr lang="en-US" sz="1950" dirty="0" b="1">
                <a:solidFill>
                  <a:srgbClr val="16171D"/>
                </a:solidFill>
                <a:latin typeface="Segoe UI"/>
                <a:cs typeface="Segoe UI"/>
              </a:rPr>
              <a:t xml:space="preserve">flips</a:t>
            </a:r>
            <a:r>
              <a:rPr lang="en-US" sz="1950" dirty="0">
                <a:solidFill>
                  <a:srgbClr val="16171D"/>
                </a:solidFill>
                <a:latin typeface="Segoe UI"/>
                <a:cs typeface="Segoe UI"/>
              </a:rPr>
              <a:t xml:space="preserve">:</a:t>
            </a:r>
            <a:endParaRPr lang="en-US" sz="1950" dirty="0"/>
          </a:p>
        </p:txBody>
      </p:sp>
      <p:sp>
        <p:nvSpPr>
          <p:cNvPr id="8" name="Shape 8"/>
          <p:cNvSpPr txBox="1"/>
          <p:nvPr/>
        </p:nvSpPr>
        <p:spPr>
          <a:xfrm>
            <a:off x="685800" y="3726942"/>
            <a:ext cx="3571326"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c</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−4</a:t>
            </a:r>
            <a:r>
              <a:rPr lang="en-US" sz="2325" dirty="0" i="1">
                <a:solidFill>
                  <a:srgbClr val="16171D"/>
                </a:solidFill>
                <a:latin typeface="Cambria"/>
                <a:cs typeface="Cambria"/>
              </a:rPr>
              <a:t xml:space="preserve">x</a:t>
            </a:r>
            <a:endParaRPr lang="en-US" sz="2325" dirty="0"/>
          </a:p>
        </p:txBody>
      </p:sp>
      <p:sp>
        <p:nvSpPr>
          <p:cNvPr id="9" name="Shape 9"/>
          <p:cNvSpPr/>
          <p:nvPr/>
        </p:nvSpPr>
        <p:spPr>
          <a:xfrm>
            <a:off x="6286348" y="1618488"/>
            <a:ext cx="3238500" cy="32385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10" name="Line 10"/>
          <p:cNvCxnSpPr/>
          <p:nvPr/>
        </p:nvCxnSpPr>
        <p:spPr>
          <a:xfrm>
            <a:off x="6610198" y="1732788"/>
            <a:ext cx="0" cy="2876550"/>
          </a:xfrm>
          <a:prstGeom prst="line">
            <a:avLst/>
          </a:prstGeom>
          <a:ln w="9525" cap="flat">
            <a:solidFill>
              <a:srgbClr val="E6E8F2"/>
            </a:solidFill>
          </a:ln>
        </p:spPr>
      </p:cxnSp>
      <p:cxnSp>
        <p:nvCxnSpPr>
          <p:cNvPr id="11" name="Line 11"/>
          <p:cNvCxnSpPr/>
          <p:nvPr/>
        </p:nvCxnSpPr>
        <p:spPr>
          <a:xfrm>
            <a:off x="6960241" y="1732788"/>
            <a:ext cx="0" cy="2876550"/>
          </a:xfrm>
          <a:prstGeom prst="line">
            <a:avLst/>
          </a:prstGeom>
          <a:ln w="9525" cap="flat">
            <a:solidFill>
              <a:srgbClr val="E6E8F2"/>
            </a:solidFill>
          </a:ln>
        </p:spPr>
      </p:cxnSp>
      <p:cxnSp>
        <p:nvCxnSpPr>
          <p:cNvPr id="12" name="Line 12"/>
          <p:cNvCxnSpPr/>
          <p:nvPr/>
        </p:nvCxnSpPr>
        <p:spPr>
          <a:xfrm>
            <a:off x="7310285" y="1732788"/>
            <a:ext cx="0" cy="2876550"/>
          </a:xfrm>
          <a:prstGeom prst="line">
            <a:avLst/>
          </a:prstGeom>
          <a:ln w="9525" cap="flat">
            <a:solidFill>
              <a:srgbClr val="E6E8F2"/>
            </a:solidFill>
          </a:ln>
        </p:spPr>
      </p:cxnSp>
      <p:cxnSp>
        <p:nvCxnSpPr>
          <p:cNvPr id="13" name="Line 13"/>
          <p:cNvCxnSpPr/>
          <p:nvPr/>
        </p:nvCxnSpPr>
        <p:spPr>
          <a:xfrm>
            <a:off x="7660329" y="1732788"/>
            <a:ext cx="0" cy="2876550"/>
          </a:xfrm>
          <a:prstGeom prst="line">
            <a:avLst/>
          </a:prstGeom>
          <a:ln w="9525" cap="flat">
            <a:solidFill>
              <a:srgbClr val="E6E8F2"/>
            </a:solidFill>
          </a:ln>
        </p:spPr>
      </p:cxnSp>
      <p:cxnSp>
        <p:nvCxnSpPr>
          <p:cNvPr id="14" name="Line 14"/>
          <p:cNvCxnSpPr/>
          <p:nvPr/>
        </p:nvCxnSpPr>
        <p:spPr>
          <a:xfrm>
            <a:off x="8010373" y="1732788"/>
            <a:ext cx="0" cy="2876550"/>
          </a:xfrm>
          <a:prstGeom prst="line">
            <a:avLst/>
          </a:prstGeom>
          <a:ln w="9525" cap="flat">
            <a:solidFill>
              <a:srgbClr val="E6E8F2"/>
            </a:solidFill>
          </a:ln>
        </p:spPr>
      </p:cxnSp>
      <p:cxnSp>
        <p:nvCxnSpPr>
          <p:cNvPr id="15" name="Line 15"/>
          <p:cNvCxnSpPr/>
          <p:nvPr/>
        </p:nvCxnSpPr>
        <p:spPr>
          <a:xfrm>
            <a:off x="8360416" y="1732788"/>
            <a:ext cx="0" cy="2876550"/>
          </a:xfrm>
          <a:prstGeom prst="line">
            <a:avLst/>
          </a:prstGeom>
          <a:ln w="9525" cap="flat">
            <a:solidFill>
              <a:srgbClr val="E6E8F2"/>
            </a:solidFill>
          </a:ln>
        </p:spPr>
      </p:cxnSp>
      <p:cxnSp>
        <p:nvCxnSpPr>
          <p:cNvPr id="16" name="Line 16"/>
          <p:cNvCxnSpPr/>
          <p:nvPr/>
        </p:nvCxnSpPr>
        <p:spPr>
          <a:xfrm>
            <a:off x="8710460" y="1732788"/>
            <a:ext cx="0" cy="2876550"/>
          </a:xfrm>
          <a:prstGeom prst="line">
            <a:avLst/>
          </a:prstGeom>
          <a:ln w="9525" cap="flat">
            <a:solidFill>
              <a:srgbClr val="E6E8F2"/>
            </a:solidFill>
          </a:ln>
        </p:spPr>
      </p:cxnSp>
      <p:cxnSp>
        <p:nvCxnSpPr>
          <p:cNvPr id="17" name="Line 17"/>
          <p:cNvCxnSpPr/>
          <p:nvPr/>
        </p:nvCxnSpPr>
        <p:spPr>
          <a:xfrm>
            <a:off x="9060504" y="1732788"/>
            <a:ext cx="0" cy="2876550"/>
          </a:xfrm>
          <a:prstGeom prst="line">
            <a:avLst/>
          </a:prstGeom>
          <a:ln w="9525" cap="flat">
            <a:solidFill>
              <a:srgbClr val="E6E8F2"/>
            </a:solidFill>
          </a:ln>
        </p:spPr>
      </p:cxnSp>
      <p:cxnSp>
        <p:nvCxnSpPr>
          <p:cNvPr id="18" name="Line 18"/>
          <p:cNvCxnSpPr/>
          <p:nvPr/>
        </p:nvCxnSpPr>
        <p:spPr>
          <a:xfrm>
            <a:off x="9410548" y="1732788"/>
            <a:ext cx="0" cy="2876550"/>
          </a:xfrm>
          <a:prstGeom prst="line">
            <a:avLst/>
          </a:prstGeom>
          <a:ln w="9525" cap="flat">
            <a:solidFill>
              <a:srgbClr val="E6E8F2"/>
            </a:solidFill>
          </a:ln>
        </p:spPr>
      </p:cxnSp>
      <p:cxnSp>
        <p:nvCxnSpPr>
          <p:cNvPr id="19" name="Line 19"/>
          <p:cNvCxnSpPr/>
          <p:nvPr/>
        </p:nvCxnSpPr>
        <p:spPr>
          <a:xfrm>
            <a:off x="6610198" y="4609338"/>
            <a:ext cx="2800350" cy="0"/>
          </a:xfrm>
          <a:prstGeom prst="line">
            <a:avLst/>
          </a:prstGeom>
          <a:ln w="9525" cap="flat">
            <a:solidFill>
              <a:srgbClr val="E6E8F2"/>
            </a:solidFill>
          </a:ln>
        </p:spPr>
      </p:cxnSp>
      <p:cxnSp>
        <p:nvCxnSpPr>
          <p:cNvPr id="20" name="Line 20"/>
          <p:cNvCxnSpPr/>
          <p:nvPr/>
        </p:nvCxnSpPr>
        <p:spPr>
          <a:xfrm>
            <a:off x="6610198" y="4429554"/>
            <a:ext cx="2800350" cy="0"/>
          </a:xfrm>
          <a:prstGeom prst="line">
            <a:avLst/>
          </a:prstGeom>
          <a:ln w="9525" cap="flat">
            <a:solidFill>
              <a:srgbClr val="E6E8F2"/>
            </a:solidFill>
          </a:ln>
        </p:spPr>
      </p:cxnSp>
      <p:cxnSp>
        <p:nvCxnSpPr>
          <p:cNvPr id="21" name="Line 21"/>
          <p:cNvCxnSpPr/>
          <p:nvPr/>
        </p:nvCxnSpPr>
        <p:spPr>
          <a:xfrm>
            <a:off x="6610198" y="4249769"/>
            <a:ext cx="2800350" cy="0"/>
          </a:xfrm>
          <a:prstGeom prst="line">
            <a:avLst/>
          </a:prstGeom>
          <a:ln w="9525" cap="flat">
            <a:solidFill>
              <a:srgbClr val="E6E8F2"/>
            </a:solidFill>
          </a:ln>
        </p:spPr>
      </p:cxnSp>
      <p:cxnSp>
        <p:nvCxnSpPr>
          <p:cNvPr id="22" name="Line 22"/>
          <p:cNvCxnSpPr/>
          <p:nvPr/>
        </p:nvCxnSpPr>
        <p:spPr>
          <a:xfrm>
            <a:off x="6610198" y="4069985"/>
            <a:ext cx="2800350" cy="0"/>
          </a:xfrm>
          <a:prstGeom prst="line">
            <a:avLst/>
          </a:prstGeom>
          <a:ln w="9525" cap="flat">
            <a:solidFill>
              <a:srgbClr val="E6E8F2"/>
            </a:solidFill>
          </a:ln>
        </p:spPr>
      </p:cxnSp>
      <p:cxnSp>
        <p:nvCxnSpPr>
          <p:cNvPr id="23" name="Line 23"/>
          <p:cNvCxnSpPr/>
          <p:nvPr/>
        </p:nvCxnSpPr>
        <p:spPr>
          <a:xfrm>
            <a:off x="6610198" y="3890200"/>
            <a:ext cx="2800350" cy="0"/>
          </a:xfrm>
          <a:prstGeom prst="line">
            <a:avLst/>
          </a:prstGeom>
          <a:ln w="9525" cap="flat">
            <a:solidFill>
              <a:srgbClr val="E6E8F2"/>
            </a:solidFill>
          </a:ln>
        </p:spPr>
      </p:cxnSp>
      <p:cxnSp>
        <p:nvCxnSpPr>
          <p:cNvPr id="24" name="Line 24"/>
          <p:cNvCxnSpPr/>
          <p:nvPr/>
        </p:nvCxnSpPr>
        <p:spPr>
          <a:xfrm>
            <a:off x="6610198" y="3710416"/>
            <a:ext cx="2800350" cy="0"/>
          </a:xfrm>
          <a:prstGeom prst="line">
            <a:avLst/>
          </a:prstGeom>
          <a:ln w="9525" cap="flat">
            <a:solidFill>
              <a:srgbClr val="E6E8F2"/>
            </a:solidFill>
          </a:ln>
        </p:spPr>
      </p:cxnSp>
      <p:cxnSp>
        <p:nvCxnSpPr>
          <p:cNvPr id="25" name="Line 25"/>
          <p:cNvCxnSpPr/>
          <p:nvPr/>
        </p:nvCxnSpPr>
        <p:spPr>
          <a:xfrm>
            <a:off x="6610198" y="3530632"/>
            <a:ext cx="2800350" cy="0"/>
          </a:xfrm>
          <a:prstGeom prst="line">
            <a:avLst/>
          </a:prstGeom>
          <a:ln w="9525" cap="flat">
            <a:solidFill>
              <a:srgbClr val="E6E8F2"/>
            </a:solidFill>
          </a:ln>
        </p:spPr>
      </p:cxnSp>
      <p:cxnSp>
        <p:nvCxnSpPr>
          <p:cNvPr id="26" name="Line 26"/>
          <p:cNvCxnSpPr/>
          <p:nvPr/>
        </p:nvCxnSpPr>
        <p:spPr>
          <a:xfrm>
            <a:off x="6610198" y="3350847"/>
            <a:ext cx="2800350" cy="0"/>
          </a:xfrm>
          <a:prstGeom prst="line">
            <a:avLst/>
          </a:prstGeom>
          <a:ln w="9525" cap="flat">
            <a:solidFill>
              <a:srgbClr val="E6E8F2"/>
            </a:solidFill>
          </a:ln>
        </p:spPr>
      </p:cxnSp>
      <p:cxnSp>
        <p:nvCxnSpPr>
          <p:cNvPr id="27" name="Line 27"/>
          <p:cNvCxnSpPr/>
          <p:nvPr/>
        </p:nvCxnSpPr>
        <p:spPr>
          <a:xfrm>
            <a:off x="6610198" y="3171063"/>
            <a:ext cx="2800350" cy="0"/>
          </a:xfrm>
          <a:prstGeom prst="line">
            <a:avLst/>
          </a:prstGeom>
          <a:ln w="9525" cap="flat">
            <a:solidFill>
              <a:srgbClr val="E6E8F2"/>
            </a:solidFill>
          </a:ln>
        </p:spPr>
      </p:cxnSp>
      <p:cxnSp>
        <p:nvCxnSpPr>
          <p:cNvPr id="28" name="Line 28"/>
          <p:cNvCxnSpPr/>
          <p:nvPr/>
        </p:nvCxnSpPr>
        <p:spPr>
          <a:xfrm>
            <a:off x="6610198" y="2991279"/>
            <a:ext cx="2800350" cy="0"/>
          </a:xfrm>
          <a:prstGeom prst="line">
            <a:avLst/>
          </a:prstGeom>
          <a:ln w="9525" cap="flat">
            <a:solidFill>
              <a:srgbClr val="E6E8F2"/>
            </a:solidFill>
          </a:ln>
        </p:spPr>
      </p:cxnSp>
      <p:cxnSp>
        <p:nvCxnSpPr>
          <p:cNvPr id="29" name="Line 29"/>
          <p:cNvCxnSpPr/>
          <p:nvPr/>
        </p:nvCxnSpPr>
        <p:spPr>
          <a:xfrm>
            <a:off x="6610198" y="2811494"/>
            <a:ext cx="2800350" cy="0"/>
          </a:xfrm>
          <a:prstGeom prst="line">
            <a:avLst/>
          </a:prstGeom>
          <a:ln w="9525" cap="flat">
            <a:solidFill>
              <a:srgbClr val="E6E8F2"/>
            </a:solidFill>
          </a:ln>
        </p:spPr>
      </p:cxnSp>
      <p:cxnSp>
        <p:nvCxnSpPr>
          <p:cNvPr id="30" name="Line 30"/>
          <p:cNvCxnSpPr/>
          <p:nvPr/>
        </p:nvCxnSpPr>
        <p:spPr>
          <a:xfrm>
            <a:off x="6610198" y="2631710"/>
            <a:ext cx="2800350" cy="0"/>
          </a:xfrm>
          <a:prstGeom prst="line">
            <a:avLst/>
          </a:prstGeom>
          <a:ln w="9525" cap="flat">
            <a:solidFill>
              <a:srgbClr val="E6E8F2"/>
            </a:solidFill>
          </a:ln>
        </p:spPr>
      </p:cxnSp>
      <p:cxnSp>
        <p:nvCxnSpPr>
          <p:cNvPr id="31" name="Line 31"/>
          <p:cNvCxnSpPr/>
          <p:nvPr/>
        </p:nvCxnSpPr>
        <p:spPr>
          <a:xfrm>
            <a:off x="6610198" y="2451926"/>
            <a:ext cx="2800350" cy="0"/>
          </a:xfrm>
          <a:prstGeom prst="line">
            <a:avLst/>
          </a:prstGeom>
          <a:ln w="9525" cap="flat">
            <a:solidFill>
              <a:srgbClr val="E6E8F2"/>
            </a:solidFill>
          </a:ln>
        </p:spPr>
      </p:cxnSp>
      <p:cxnSp>
        <p:nvCxnSpPr>
          <p:cNvPr id="32" name="Line 32"/>
          <p:cNvCxnSpPr/>
          <p:nvPr/>
        </p:nvCxnSpPr>
        <p:spPr>
          <a:xfrm>
            <a:off x="6610198" y="2272141"/>
            <a:ext cx="2800350" cy="0"/>
          </a:xfrm>
          <a:prstGeom prst="line">
            <a:avLst/>
          </a:prstGeom>
          <a:ln w="9525" cap="flat">
            <a:solidFill>
              <a:srgbClr val="E6E8F2"/>
            </a:solidFill>
          </a:ln>
        </p:spPr>
      </p:cxnSp>
      <p:cxnSp>
        <p:nvCxnSpPr>
          <p:cNvPr id="33" name="Line 33"/>
          <p:cNvCxnSpPr/>
          <p:nvPr/>
        </p:nvCxnSpPr>
        <p:spPr>
          <a:xfrm>
            <a:off x="6610198" y="2092357"/>
            <a:ext cx="2800350" cy="0"/>
          </a:xfrm>
          <a:prstGeom prst="line">
            <a:avLst/>
          </a:prstGeom>
          <a:ln w="9525" cap="flat">
            <a:solidFill>
              <a:srgbClr val="E6E8F2"/>
            </a:solidFill>
          </a:ln>
        </p:spPr>
      </p:cxnSp>
      <p:cxnSp>
        <p:nvCxnSpPr>
          <p:cNvPr id="34" name="Line 34"/>
          <p:cNvCxnSpPr/>
          <p:nvPr/>
        </p:nvCxnSpPr>
        <p:spPr>
          <a:xfrm>
            <a:off x="6610198" y="1912572"/>
            <a:ext cx="2800350" cy="0"/>
          </a:xfrm>
          <a:prstGeom prst="line">
            <a:avLst/>
          </a:prstGeom>
          <a:ln w="9525" cap="flat">
            <a:solidFill>
              <a:srgbClr val="E6E8F2"/>
            </a:solidFill>
          </a:ln>
        </p:spPr>
      </p:cxnSp>
      <p:cxnSp>
        <p:nvCxnSpPr>
          <p:cNvPr id="35" name="Line 35"/>
          <p:cNvCxnSpPr/>
          <p:nvPr/>
        </p:nvCxnSpPr>
        <p:spPr>
          <a:xfrm>
            <a:off x="6610198" y="1732788"/>
            <a:ext cx="2800350" cy="0"/>
          </a:xfrm>
          <a:prstGeom prst="line">
            <a:avLst/>
          </a:prstGeom>
          <a:ln w="9525" cap="flat">
            <a:solidFill>
              <a:srgbClr val="E6E8F2"/>
            </a:solidFill>
          </a:ln>
        </p:spPr>
      </p:cxnSp>
      <p:cxnSp>
        <p:nvCxnSpPr>
          <p:cNvPr id="36" name="Line 36"/>
          <p:cNvCxnSpPr/>
          <p:nvPr/>
        </p:nvCxnSpPr>
        <p:spPr>
          <a:xfrm>
            <a:off x="8010373" y="1732788"/>
            <a:ext cx="0" cy="2876550"/>
          </a:xfrm>
          <a:prstGeom prst="line">
            <a:avLst/>
          </a:prstGeom>
          <a:ln w="19050" cap="flat">
            <a:solidFill>
              <a:srgbClr val="5F6272"/>
            </a:solidFill>
          </a:ln>
        </p:spPr>
      </p:cxnSp>
      <p:cxnSp>
        <p:nvCxnSpPr>
          <p:cNvPr id="37" name="Line 37"/>
          <p:cNvCxnSpPr/>
          <p:nvPr/>
        </p:nvCxnSpPr>
        <p:spPr>
          <a:xfrm>
            <a:off x="6610198" y="3171063"/>
            <a:ext cx="2800350" cy="0"/>
          </a:xfrm>
          <a:prstGeom prst="line">
            <a:avLst/>
          </a:prstGeom>
          <a:ln w="19050" cap="flat">
            <a:solidFill>
              <a:srgbClr val="5F6272"/>
            </a:solidFill>
          </a:ln>
        </p:spPr>
      </p:cxnSp>
      <p:sp>
        <p:nvSpPr>
          <p:cNvPr id="38" name="Shape 38"/>
          <p:cNvSpPr txBox="1"/>
          <p:nvPr/>
        </p:nvSpPr>
        <p:spPr>
          <a:xfrm>
            <a:off x="6335878" y="4628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39" name="Shape 39"/>
          <p:cNvSpPr txBox="1"/>
          <p:nvPr/>
        </p:nvSpPr>
        <p:spPr>
          <a:xfrm>
            <a:off x="6685921" y="4628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−3</a:t>
            </a:r>
            <a:endParaRPr lang="en-US" sz="975" dirty="0"/>
          </a:p>
        </p:txBody>
      </p:sp>
      <p:sp>
        <p:nvSpPr>
          <p:cNvPr id="40" name="Shape 40"/>
          <p:cNvSpPr txBox="1"/>
          <p:nvPr/>
        </p:nvSpPr>
        <p:spPr>
          <a:xfrm>
            <a:off x="7035965" y="4628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41" name="Shape 41"/>
          <p:cNvSpPr txBox="1"/>
          <p:nvPr/>
        </p:nvSpPr>
        <p:spPr>
          <a:xfrm>
            <a:off x="7386009" y="4628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a:t>
            </a:r>
            <a:endParaRPr lang="en-US" sz="975" dirty="0"/>
          </a:p>
        </p:txBody>
      </p:sp>
      <p:sp>
        <p:nvSpPr>
          <p:cNvPr id="42" name="Shape 42"/>
          <p:cNvSpPr txBox="1"/>
          <p:nvPr/>
        </p:nvSpPr>
        <p:spPr>
          <a:xfrm>
            <a:off x="7736053" y="4628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43" name="Shape 43"/>
          <p:cNvSpPr txBox="1"/>
          <p:nvPr/>
        </p:nvSpPr>
        <p:spPr>
          <a:xfrm>
            <a:off x="8086096" y="4628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a:t>
            </a:r>
            <a:endParaRPr lang="en-US" sz="975" dirty="0"/>
          </a:p>
        </p:txBody>
      </p:sp>
      <p:sp>
        <p:nvSpPr>
          <p:cNvPr id="44" name="Shape 44"/>
          <p:cNvSpPr txBox="1"/>
          <p:nvPr/>
        </p:nvSpPr>
        <p:spPr>
          <a:xfrm>
            <a:off x="8436140" y="4628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45" name="Shape 45"/>
          <p:cNvSpPr txBox="1"/>
          <p:nvPr/>
        </p:nvSpPr>
        <p:spPr>
          <a:xfrm>
            <a:off x="8786184" y="4628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3</a:t>
            </a:r>
            <a:endParaRPr lang="en-US" sz="975" dirty="0"/>
          </a:p>
        </p:txBody>
      </p:sp>
      <p:sp>
        <p:nvSpPr>
          <p:cNvPr id="46" name="Shape 46"/>
          <p:cNvSpPr txBox="1"/>
          <p:nvPr/>
        </p:nvSpPr>
        <p:spPr>
          <a:xfrm>
            <a:off x="9136228" y="4628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47" name="Shape 47"/>
          <p:cNvSpPr txBox="1"/>
          <p:nvPr/>
        </p:nvSpPr>
        <p:spPr>
          <a:xfrm>
            <a:off x="6043270" y="45178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48" name="Shape 48"/>
          <p:cNvSpPr txBox="1"/>
          <p:nvPr/>
        </p:nvSpPr>
        <p:spPr>
          <a:xfrm>
            <a:off x="6043270" y="4158329"/>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49" name="Shape 49"/>
          <p:cNvSpPr txBox="1"/>
          <p:nvPr/>
        </p:nvSpPr>
        <p:spPr>
          <a:xfrm>
            <a:off x="6043270" y="3798760"/>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50" name="Shape 50"/>
          <p:cNvSpPr txBox="1"/>
          <p:nvPr/>
        </p:nvSpPr>
        <p:spPr>
          <a:xfrm>
            <a:off x="6043270" y="343919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51" name="Shape 51"/>
          <p:cNvSpPr txBox="1"/>
          <p:nvPr/>
        </p:nvSpPr>
        <p:spPr>
          <a:xfrm>
            <a:off x="6043270" y="307962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52" name="Shape 52"/>
          <p:cNvSpPr txBox="1"/>
          <p:nvPr/>
        </p:nvSpPr>
        <p:spPr>
          <a:xfrm>
            <a:off x="6043270" y="2720054"/>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53" name="Shape 53"/>
          <p:cNvSpPr txBox="1"/>
          <p:nvPr/>
        </p:nvSpPr>
        <p:spPr>
          <a:xfrm>
            <a:off x="6043270" y="236048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54" name="Shape 54"/>
          <p:cNvSpPr txBox="1"/>
          <p:nvPr/>
        </p:nvSpPr>
        <p:spPr>
          <a:xfrm>
            <a:off x="6043270" y="2000917"/>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55" name="Shape 55"/>
          <p:cNvSpPr txBox="1"/>
          <p:nvPr/>
        </p:nvSpPr>
        <p:spPr>
          <a:xfrm>
            <a:off x="6043270" y="16413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cxnSp>
        <p:nvCxnSpPr>
          <p:cNvPr id="56" name="Line 56"/>
          <p:cNvCxnSpPr/>
          <p:nvPr/>
        </p:nvCxnSpPr>
        <p:spPr>
          <a:xfrm flipV="1">
            <a:off x="6610198" y="2451926"/>
            <a:ext cx="2800350" cy="1438275"/>
          </a:xfrm>
          <a:prstGeom prst="line">
            <a:avLst/>
          </a:prstGeom>
          <a:ln w="38100" cap="rnd">
            <a:solidFill>
              <a:srgbClr val="16171D"/>
            </a:solidFill>
          </a:ln>
        </p:spPr>
      </p:cxnSp>
      <p:sp>
        <p:nvSpPr>
          <p:cNvPr id="57" name="Shape 57"/>
          <p:cNvSpPr txBox="1"/>
          <p:nvPr/>
        </p:nvSpPr>
        <p:spPr>
          <a:xfrm>
            <a:off x="6918808" y="2470976"/>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f(x)</a:t>
            </a:r>
            <a:endParaRPr lang="en-US" sz="1275" dirty="0"/>
          </a:p>
        </p:txBody>
      </p:sp>
      <p:cxnSp>
        <p:nvCxnSpPr>
          <p:cNvPr id="58" name="Line 58"/>
          <p:cNvCxnSpPr/>
          <p:nvPr/>
        </p:nvCxnSpPr>
        <p:spPr>
          <a:xfrm flipV="1">
            <a:off x="7310285" y="1732788"/>
            <a:ext cx="1400175" cy="2876550"/>
          </a:xfrm>
          <a:prstGeom prst="line">
            <a:avLst/>
          </a:prstGeom>
          <a:ln w="38100" cap="rnd">
            <a:solidFill>
              <a:srgbClr val="16171D"/>
            </a:solidFill>
          </a:ln>
        </p:spPr>
      </p:cxnSp>
      <p:sp>
        <p:nvSpPr>
          <p:cNvPr id="59" name="Shape 59"/>
          <p:cNvSpPr txBox="1"/>
          <p:nvPr/>
        </p:nvSpPr>
        <p:spPr>
          <a:xfrm>
            <a:off x="6218720" y="1751838"/>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4x</a:t>
            </a:r>
            <a:endParaRPr lang="en-US" sz="1275" dirty="0"/>
          </a:p>
        </p:txBody>
      </p:sp>
      <p:cxnSp>
        <p:nvCxnSpPr>
          <p:cNvPr id="60" name="Line 60"/>
          <p:cNvCxnSpPr/>
          <p:nvPr/>
        </p:nvCxnSpPr>
        <p:spPr>
          <a:xfrm>
            <a:off x="7310285" y="1732788"/>
            <a:ext cx="1400175" cy="2876550"/>
          </a:xfrm>
          <a:prstGeom prst="line">
            <a:avLst/>
          </a:prstGeom>
          <a:ln w="38100" cap="rnd">
            <a:solidFill>
              <a:srgbClr val="7A4FC4"/>
            </a:solidFill>
          </a:ln>
        </p:spPr>
      </p:cxnSp>
      <p:sp>
        <p:nvSpPr>
          <p:cNvPr id="61" name="Shape 61"/>
          <p:cNvSpPr txBox="1"/>
          <p:nvPr/>
        </p:nvSpPr>
        <p:spPr>
          <a:xfrm>
            <a:off x="7386485" y="1751838"/>
            <a:ext cx="2377440" cy="228600"/>
          </a:xfrm>
          <a:prstGeom prst="rect">
            <a:avLst/>
          </a:prstGeom>
          <a:noFill/>
          <a:ln>
            <a:noFill/>
          </a:ln>
        </p:spPr>
        <p:txBody>
          <a:bodyPr wrap="square" lIns="0" tIns="0" rIns="0" bIns="0" anchor="t">
            <a:noAutofit/>
          </a:bodyPr>
          <a:lstStyle/>
          <a:p>
            <a:pPr algn="l">
              <a:lnSpc>
                <a:spcPct val="100000"/>
              </a:lnSpc>
            </a:pPr>
            <a:r>
              <a:rPr lang="en-US" sz="1275" dirty="0" i="1">
                <a:solidFill>
                  <a:srgbClr val="16171D"/>
                </a:solidFill>
                <a:latin typeface="Cambria"/>
                <a:cs typeface="Cambria"/>
              </a:rPr>
              <a:t xml:space="preserve">−4x</a:t>
            </a:r>
            <a:endParaRPr lang="en-US" sz="1275" dirty="0"/>
          </a:p>
        </p:txBody>
      </p:sp>
      <p:sp>
        <p:nvSpPr>
          <p:cNvPr id="62" name="Slide Number 62"/>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9</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anim calcmode="lin" valueType="num">
                                      <p:cBhvr>
                                        <p:cTn id="12" dur="500" fill="hold"/>
                                        <p:tgtEl>
                                          <p:spTgt spid="8"/>
                                        </p:tgtEl>
                                        <p:attrNameLst>
                                          <p:attrName>ppt_w</p:attrName>
                                        </p:attrNameLst>
                                      </p:cBhvr>
                                      <p:tavLst>
                                        <p:tav tm="0">
                                          <p:val>
                                            <p:fltVal val="0"/>
                                          </p:val>
                                        </p:tav>
                                        <p:tav tm="100000">
                                          <p:val>
                                            <p:strVal val="#ppt_w"/>
                                          </p:val>
                                        </p:tav>
                                      </p:tavLst>
                                    </p:anim>
                                    <p:anim calcmode="lin" valueType="num">
                                      <p:cBhvr>
                                        <p:cTn id="13" dur="500" fill="hold"/>
                                        <p:tgtEl>
                                          <p:spTgt spid="8"/>
                                        </p:tgtEl>
                                        <p:attrNameLst>
                                          <p:attrName>ppt_h</p:attrName>
                                        </p:attrNameLst>
                                      </p:cBhvr>
                                      <p:tavLst>
                                        <p:tav tm="0">
                                          <p:val>
                                            <p:fltVal val="0"/>
                                          </p:val>
                                        </p:tav>
                                        <p:tav tm="100000">
                                          <p:val>
                                            <p:strVal val="#ppt_h"/>
                                          </p:val>
                                        </p:tav>
                                      </p:tavLst>
                                    </p:anim>
                                  </p:childTnLst>
                                </p:cTn>
                              </p:par>
                            </p:childTnLst>
                          </p:cTn>
                        </p:par>
                      </p:childTnLst>
                    </p:cTn>
                  </p:par>
                  <p:par>
                    <p:cTn id="23" fill="hold">
                      <p:stCondLst>
                        <p:cond delay="indefinite"/>
                      </p:stCondLst>
                      <p:childTnLst>
                        <p:par>
                          <p:cTn id="24" fill="hold">
                            <p:stCondLst>
                              <p:cond delay="0"/>
                            </p:stCondLst>
                            <p:childTnLst>
                              <p:par>
                                <p:cTn id="19" presetID="22" presetClass="entr" presetSubtype="8" fill="hold" nodeType="clickEffect">
                                  <p:stCondLst>
                                    <p:cond delay="0"/>
                                  </p:stCondLst>
                                  <p:childTnLst>
                                    <p:set>
                                      <p:cBhvr>
                                        <p:cTn id="17" dur="1" fill="hold">
                                          <p:stCondLst>
                                            <p:cond delay="0"/>
                                          </p:stCondLst>
                                        </p:cTn>
                                        <p:tgtEl>
                                          <p:spTgt spid="58"/>
                                        </p:tgtEl>
                                        <p:attrNameLst>
                                          <p:attrName>style.visibility</p:attrName>
                                        </p:attrNameLst>
                                      </p:cBhvr>
                                      <p:to>
                                        <p:strVal val="visible"/>
                                      </p:to>
                                    </p:set>
                                    <p:animEffect transition="in" filter="wipe(left)">
                                      <p:cBhvr>
                                        <p:cTn id="18" dur="700"/>
                                        <p:tgtEl>
                                          <p:spTgt spid="58"/>
                                        </p:tgtEl>
                                      </p:cBhvr>
                                    </p:animEffect>
                                  </p:childTnLst>
                                </p:cTn>
                              </p:par>
                              <p:par>
                                <p:cTn id="22" presetID="22" presetClass="entr" presetSubtype="8" fill="hold" nodeType="withEffect">
                                  <p:stCondLst>
                                    <p:cond delay="0"/>
                                  </p:stCondLst>
                                  <p:childTnLst>
                                    <p:set>
                                      <p:cBhvr>
                                        <p:cTn id="20" dur="1" fill="hold">
                                          <p:stCondLst>
                                            <p:cond delay="0"/>
                                          </p:stCondLst>
                                        </p:cTn>
                                        <p:tgtEl>
                                          <p:spTgt spid="59"/>
                                        </p:tgtEl>
                                        <p:attrNameLst>
                                          <p:attrName>style.visibility</p:attrName>
                                        </p:attrNameLst>
                                      </p:cBhvr>
                                      <p:to>
                                        <p:strVal val="visible"/>
                                      </p:to>
                                    </p:set>
                                    <p:animEffect transition="in" filter="wipe(left)">
                                      <p:cBhvr>
                                        <p:cTn id="21" dur="700"/>
                                        <p:tgtEl>
                                          <p:spTgt spid="59"/>
                                        </p:tgtEl>
                                      </p:cBhvr>
                                    </p:animEffect>
                                  </p:childTnLst>
                                </p:cTn>
                              </p:par>
                            </p:childTnLst>
                          </p:cTn>
                        </p:par>
                      </p:childTnLst>
                    </p:cTn>
                  </p:par>
                  <p:par>
                    <p:cTn id="31" fill="hold">
                      <p:stCondLst>
                        <p:cond delay="indefinite"/>
                      </p:stCondLst>
                      <p:childTnLst>
                        <p:par>
                          <p:cTn id="32" fill="hold">
                            <p:stCondLst>
                              <p:cond delay="0"/>
                            </p:stCondLst>
                            <p:childTnLst>
                              <p:par>
                                <p:cTn id="27" presetID="22" presetClass="entr" presetSubtype="8" fill="hold" nodeType="clickEffect">
                                  <p:stCondLst>
                                    <p:cond delay="0"/>
                                  </p:stCondLst>
                                  <p:childTnLst>
                                    <p:set>
                                      <p:cBhvr>
                                        <p:cTn id="25" dur="1" fill="hold">
                                          <p:stCondLst>
                                            <p:cond delay="0"/>
                                          </p:stCondLst>
                                        </p:cTn>
                                        <p:tgtEl>
                                          <p:spTgt spid="60"/>
                                        </p:tgtEl>
                                        <p:attrNameLst>
                                          <p:attrName>style.visibility</p:attrName>
                                        </p:attrNameLst>
                                      </p:cBhvr>
                                      <p:to>
                                        <p:strVal val="visible"/>
                                      </p:to>
                                    </p:set>
                                    <p:animEffect transition="in" filter="wipe(left)">
                                      <p:cBhvr>
                                        <p:cTn id="26" dur="700"/>
                                        <p:tgtEl>
                                          <p:spTgt spid="60"/>
                                        </p:tgtEl>
                                      </p:cBhvr>
                                    </p:animEffect>
                                  </p:childTnLst>
                                </p:cTn>
                              </p:par>
                              <p:par>
                                <p:cTn id="30" presetID="22" presetClass="entr" presetSubtype="8" fill="hold" nodeType="withEffect">
                                  <p:stCondLst>
                                    <p:cond delay="0"/>
                                  </p:stCondLst>
                                  <p:childTnLst>
                                    <p:set>
                                      <p:cBhvr>
                                        <p:cTn id="28" dur="1" fill="hold">
                                          <p:stCondLst>
                                            <p:cond delay="0"/>
                                          </p:stCondLst>
                                        </p:cTn>
                                        <p:tgtEl>
                                          <p:spTgt spid="61"/>
                                        </p:tgtEl>
                                        <p:attrNameLst>
                                          <p:attrName>style.visibility</p:attrName>
                                        </p:attrNameLst>
                                      </p:cBhvr>
                                      <p:to>
                                        <p:strVal val="visible"/>
                                      </p:to>
                                    </p:set>
                                    <p:animEffect transition="in" filter="wipe(left)">
                                      <p:cBhvr>
                                        <p:cTn id="29" dur="7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You do · Try it</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Describe the change and write </a:t>
            </a:r>
            <a:r>
              <a:rPr lang="en-US" sz="3450" dirty="0" b="1" i="1">
                <a:solidFill>
                  <a:srgbClr val="16171D"/>
                </a:solidFill>
                <a:latin typeface="Segoe UI"/>
                <a:cs typeface="Segoe UI"/>
              </a:rPr>
              <a:t xml:space="preserve">g</a:t>
            </a:r>
            <a:r>
              <a:rPr lang="en-US" sz="3450" dirty="0" b="1">
                <a:solidFill>
                  <a:srgbClr val="16171D"/>
                </a:solidFill>
                <a:latin typeface="Segoe UI"/>
                <a:cs typeface="Segoe UI"/>
              </a:rPr>
              <a:t xml:space="preserve">(</a:t>
            </a:r>
            <a:r>
              <a:rPr lang="en-US" sz="3450" dirty="0" b="1" i="1">
                <a:solidFill>
                  <a:srgbClr val="16171D"/>
                </a:solidFill>
                <a:latin typeface="Segoe UI"/>
                <a:cs typeface="Segoe UI"/>
              </a:rPr>
              <a:t xml:space="preserve">x</a:t>
            </a:r>
            <a:r>
              <a:rPr lang="en-US" sz="3450" dirty="0" b="1">
                <a:solidFill>
                  <a:srgbClr val="16171D"/>
                </a:solidFill>
                <a:latin typeface="Segoe UI"/>
                <a:cs typeface="Segoe UI"/>
              </a:rPr>
              <a:t xml:space="preserve">)</a:t>
            </a:r>
            <a:endParaRPr lang="en-US" sz="3450" dirty="0"/>
          </a:p>
        </p:txBody>
      </p:sp>
      <p:sp>
        <p:nvSpPr>
          <p:cNvPr id="6" name="Shape 6"/>
          <p:cNvSpPr txBox="1"/>
          <p:nvPr/>
        </p:nvSpPr>
        <p:spPr>
          <a:xfrm>
            <a:off x="685800" y="1618488"/>
            <a:ext cx="5219548" cy="1663446"/>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48004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a:t>
            </a:r>
            <a:r>
              <a:rPr lang="en-US" sz="1950" dirty="0" i="1">
                <a:solidFill>
                  <a:srgbClr val="16171D"/>
                </a:solidFill>
                <a:latin typeface="Segoe UI"/>
                <a:cs typeface="Segoe UI"/>
              </a:rPr>
              <a:t xml:space="preserve">g</a:t>
            </a:r>
            <a:r>
              <a:rPr lang="en-US" sz="1950" dirty="0">
                <a:solidFill>
                  <a:srgbClr val="16171D"/>
                </a:solidFill>
                <a:latin typeface="Segoe UI"/>
                <a:cs typeface="Segoe UI"/>
              </a:rPr>
              <a:t xml:space="preserve">(</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2 · </a:t>
            </a:r>
            <a:r>
              <a:rPr lang="en-US" sz="1950" dirty="0" i="1">
                <a:solidFill>
                  <a:srgbClr val="16171D"/>
                </a:solidFill>
                <a:latin typeface="Segoe UI"/>
                <a:cs typeface="Segoe UI"/>
              </a:rPr>
              <a:t xml:space="preserve">f</a:t>
            </a:r>
            <a:r>
              <a:rPr lang="en-US" sz="1950" dirty="0">
                <a:solidFill>
                  <a:srgbClr val="16171D"/>
                </a:solidFill>
                <a:latin typeface="Segoe UI"/>
                <a:cs typeface="Segoe UI"/>
              </a:rPr>
              <a:t xml:space="preserve">(</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+ 7</a:t>
            </a:r>
            <a:endParaRPr lang="en-US" sz="1950" dirty="0"/>
          </a:p>
        </p:txBody>
      </p:sp>
      <p:sp>
        <p:nvSpPr>
          <p:cNvPr id="5" name="Shape 5"/>
          <p:cNvSpPr txBox="1"/>
          <p:nvPr/>
        </p:nvSpPr>
        <p:spPr>
          <a:xfrm>
            <a:off x="895350" y="2237232"/>
            <a:ext cx="4800448" cy="87325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stretch by 2, up 7: 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+ 7</a:t>
            </a:r>
            <a:endParaRPr lang="en-US" sz="2325" dirty="0"/>
          </a:p>
        </p:txBody>
      </p:sp>
      <p:sp>
        <p:nvSpPr>
          <p:cNvPr id="9" name="Shape 9"/>
          <p:cNvSpPr txBox="1"/>
          <p:nvPr/>
        </p:nvSpPr>
        <p:spPr>
          <a:xfrm>
            <a:off x="6286348" y="1618488"/>
            <a:ext cx="5219548" cy="1663446"/>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7" name="Shape 7"/>
          <p:cNvSpPr txBox="1"/>
          <p:nvPr/>
        </p:nvSpPr>
        <p:spPr>
          <a:xfrm>
            <a:off x="6495898" y="1789938"/>
            <a:ext cx="48004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a:t>
            </a:r>
            <a:r>
              <a:rPr lang="en-US" sz="1950" dirty="0" i="1">
                <a:solidFill>
                  <a:srgbClr val="16171D"/>
                </a:solidFill>
                <a:latin typeface="Segoe UI"/>
                <a:cs typeface="Segoe UI"/>
              </a:rPr>
              <a:t xml:space="preserve">g</a:t>
            </a:r>
            <a:r>
              <a:rPr lang="en-US" sz="1950" dirty="0">
                <a:solidFill>
                  <a:srgbClr val="16171D"/>
                </a:solidFill>
                <a:latin typeface="Segoe UI"/>
                <a:cs typeface="Segoe UI"/>
              </a:rPr>
              <a:t xml:space="preserve">(</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a:t>
            </a:r>
            <a:r>
              <a:rPr lang="en-US" sz="1950" dirty="0">
                <a:solidFill>
                  <a:srgbClr val="16171D"/>
                </a:solidFill>
                <a:latin typeface="Segoe UI"/>
                <a:cs typeface="Segoe UI"/>
              </a:rPr>
              <a:t xml:space="preserve">1</a:t>
            </a:r>
            <a:r>
              <a:rPr lang="en-US" sz="1950" dirty="0">
                <a:solidFill>
                  <a:srgbClr val="16171D"/>
                </a:solidFill>
                <a:latin typeface="Segoe UI"/>
                <a:cs typeface="Segoe UI"/>
              </a:rPr>
              <a:t xml:space="preserve">/</a:t>
            </a:r>
            <a:r>
              <a:rPr lang="en-US" sz="1950" dirty="0">
                <a:solidFill>
                  <a:srgbClr val="16171D"/>
                </a:solidFill>
                <a:latin typeface="Segoe UI"/>
                <a:cs typeface="Segoe UI"/>
              </a:rPr>
              <a:t xml:space="preserve">2</a:t>
            </a:r>
            <a:r>
              <a:rPr lang="en-US" sz="1950" dirty="0">
                <a:solidFill>
                  <a:srgbClr val="16171D"/>
                </a:solidFill>
                <a:latin typeface="Segoe UI"/>
                <a:cs typeface="Segoe UI"/>
              </a:rPr>
              <a:t xml:space="preserve"> · </a:t>
            </a:r>
            <a:r>
              <a:rPr lang="en-US" sz="1950" dirty="0" i="1">
                <a:solidFill>
                  <a:srgbClr val="16171D"/>
                </a:solidFill>
                <a:latin typeface="Segoe UI"/>
                <a:cs typeface="Segoe UI"/>
              </a:rPr>
              <a:t xml:space="preserve">f</a:t>
            </a:r>
            <a:r>
              <a:rPr lang="en-US" sz="1950" dirty="0">
                <a:solidFill>
                  <a:srgbClr val="16171D"/>
                </a:solidFill>
                <a:latin typeface="Segoe UI"/>
                <a:cs typeface="Segoe UI"/>
              </a:rPr>
              <a:t xml:space="preserve">(</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− 3</a:t>
            </a:r>
            <a:endParaRPr lang="en-US" sz="1950" dirty="0"/>
          </a:p>
        </p:txBody>
      </p:sp>
      <p:sp>
        <p:nvSpPr>
          <p:cNvPr id="8" name="Shape 8"/>
          <p:cNvSpPr txBox="1"/>
          <p:nvPr/>
        </p:nvSpPr>
        <p:spPr>
          <a:xfrm>
            <a:off x="6495898" y="2237232"/>
            <a:ext cx="4800448" cy="87325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compress by </a:t>
            </a:r>
            <a:r>
              <a:rPr lang="en-US" sz="2325" dirty="0">
                <a:solidFill>
                  <a:srgbClr val="16171D"/>
                </a:solidFill>
                <a:latin typeface="Cambria"/>
                <a:cs typeface="Cambria"/>
              </a:rPr>
              <a:t xml:space="preserve">1</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2</a:t>
            </a:r>
            <a:r>
              <a:rPr lang="en-US" sz="2325" dirty="0">
                <a:solidFill>
                  <a:srgbClr val="16171D"/>
                </a:solidFill>
                <a:latin typeface="Cambria"/>
                <a:cs typeface="Cambria"/>
              </a:rPr>
              <a:t xml:space="preserve">, down 3: </a:t>
            </a:r>
            <a:r>
              <a:rPr lang="en-US" sz="2325" dirty="0">
                <a:solidFill>
                  <a:srgbClr val="16171D"/>
                </a:solidFill>
                <a:latin typeface="Cambria"/>
                <a:cs typeface="Cambria"/>
              </a:rPr>
              <a:t xml:space="preserve">1</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− 3</a:t>
            </a:r>
            <a:endParaRPr lang="en-US" sz="2325" dirty="0"/>
          </a:p>
        </p:txBody>
      </p:sp>
      <p:sp>
        <p:nvSpPr>
          <p:cNvPr id="10" name="Slide Number 10"/>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10</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anim calcmode="lin" valueType="num">
                                      <p:cBhvr>
                                        <p:cTn id="12" dur="500" fill="hold"/>
                                        <p:tgtEl>
                                          <p:spTgt spid="8"/>
                                        </p:tgtEl>
                                        <p:attrNameLst>
                                          <p:attrName>ppt_w</p:attrName>
                                        </p:attrNameLst>
                                      </p:cBhvr>
                                      <p:tavLst>
                                        <p:tav tm="0">
                                          <p:val>
                                            <p:fltVal val="0"/>
                                          </p:val>
                                        </p:tav>
                                        <p:tav tm="100000">
                                          <p:val>
                                            <p:strVal val="#ppt_w"/>
                                          </p:val>
                                        </p:tav>
                                      </p:tavLst>
                                    </p:anim>
                                    <p:anim calcmode="lin" valueType="num">
                                      <p:cBhvr>
                                        <p:cTn id="13" dur="500" fill="hold"/>
                                        <p:tgtEl>
                                          <p:spTgt spid="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Check it · Step by step</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Describe the change and write </a:t>
            </a:r>
            <a:r>
              <a:rPr lang="en-US" sz="3450" dirty="0" b="1" i="1">
                <a:solidFill>
                  <a:srgbClr val="16171D"/>
                </a:solidFill>
                <a:latin typeface="Segoe UI"/>
                <a:cs typeface="Segoe UI"/>
              </a:rPr>
              <a:t xml:space="preserve">g</a:t>
            </a:r>
            <a:r>
              <a:rPr lang="en-US" sz="3450" dirty="0" b="1">
                <a:solidFill>
                  <a:srgbClr val="16171D"/>
                </a:solidFill>
                <a:latin typeface="Segoe UI"/>
                <a:cs typeface="Segoe UI"/>
              </a:rPr>
              <a:t xml:space="preserve">(</a:t>
            </a:r>
            <a:r>
              <a:rPr lang="en-US" sz="3450" dirty="0" b="1" i="1">
                <a:solidFill>
                  <a:srgbClr val="16171D"/>
                </a:solidFill>
                <a:latin typeface="Segoe UI"/>
                <a:cs typeface="Segoe UI"/>
              </a:rPr>
              <a:t xml:space="preserve">x</a:t>
            </a:r>
            <a:r>
              <a:rPr lang="en-US" sz="3450" dirty="0" b="1">
                <a:solidFill>
                  <a:srgbClr val="16171D"/>
                </a:solidFill>
                <a:latin typeface="Segoe UI"/>
                <a:cs typeface="Segoe UI"/>
              </a:rPr>
              <a:t xml:space="preserve">)</a:t>
            </a:r>
            <a:endParaRPr lang="en-US" sz="3450" dirty="0"/>
          </a:p>
        </p:txBody>
      </p:sp>
      <p:sp>
        <p:nvSpPr>
          <p:cNvPr id="9" name="Shape 9"/>
          <p:cNvSpPr txBox="1"/>
          <p:nvPr/>
        </p:nvSpPr>
        <p:spPr>
          <a:xfrm>
            <a:off x="685800" y="1618488"/>
            <a:ext cx="5295748" cy="405688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487664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1. </a:t>
            </a:r>
            <a:r>
              <a:rPr lang="en-US" sz="2100" dirty="0" b="1" i="1">
                <a:solidFill>
                  <a:srgbClr val="16171D"/>
                </a:solidFill>
                <a:latin typeface="Segoe UI"/>
                <a:cs typeface="Segoe UI"/>
              </a:rPr>
              <a:t xml:space="preserve">g</a:t>
            </a:r>
            <a:r>
              <a:rPr lang="en-US" sz="2100" dirty="0" b="1">
                <a:solidFill>
                  <a:srgbClr val="16171D"/>
                </a:solidFill>
                <a:latin typeface="Segoe UI"/>
                <a:cs typeface="Segoe UI"/>
              </a:rPr>
              <a:t xml:space="preserve">(</a:t>
            </a:r>
            <a:r>
              <a:rPr lang="en-US" sz="2100" dirty="0" b="1" i="1">
                <a:solidFill>
                  <a:srgbClr val="16171D"/>
                </a:solidFill>
                <a:latin typeface="Segoe UI"/>
                <a:cs typeface="Segoe UI"/>
              </a:rPr>
              <a:t xml:space="preserve">x</a:t>
            </a:r>
            <a:r>
              <a:rPr lang="en-US" sz="2100" dirty="0" b="1">
                <a:solidFill>
                  <a:srgbClr val="16171D"/>
                </a:solidFill>
                <a:latin typeface="Segoe UI"/>
                <a:cs typeface="Segoe UI"/>
              </a:rPr>
              <a:t xml:space="preserve">) = 2 · </a:t>
            </a:r>
            <a:r>
              <a:rPr lang="en-US" sz="2100" dirty="0" b="1" i="1">
                <a:solidFill>
                  <a:srgbClr val="16171D"/>
                </a:solidFill>
                <a:latin typeface="Segoe UI"/>
                <a:cs typeface="Segoe UI"/>
              </a:rPr>
              <a:t xml:space="preserve">f</a:t>
            </a:r>
            <a:r>
              <a:rPr lang="en-US" sz="2100" dirty="0" b="1">
                <a:solidFill>
                  <a:srgbClr val="16171D"/>
                </a:solidFill>
                <a:latin typeface="Segoe UI"/>
                <a:cs typeface="Segoe UI"/>
              </a:rPr>
              <a:t xml:space="preserve">(</a:t>
            </a:r>
            <a:r>
              <a:rPr lang="en-US" sz="2100" dirty="0" b="1" i="1">
                <a:solidFill>
                  <a:srgbClr val="16171D"/>
                </a:solidFill>
                <a:latin typeface="Segoe UI"/>
                <a:cs typeface="Segoe UI"/>
              </a:rPr>
              <a:t xml:space="preserve">x</a:t>
            </a:r>
            <a:r>
              <a:rPr lang="en-US" sz="2100" dirty="0" b="1">
                <a:solidFill>
                  <a:srgbClr val="16171D"/>
                </a:solidFill>
                <a:latin typeface="Segoe UI"/>
                <a:cs typeface="Segoe UI"/>
              </a:rPr>
              <a:t xml:space="preserve">) + 7</a:t>
            </a:r>
            <a:endParaRPr lang="en-US" sz="2100" dirty="0"/>
          </a:p>
        </p:txBody>
      </p:sp>
      <p:sp>
        <p:nvSpPr>
          <p:cNvPr id="5" name="Shape 5"/>
          <p:cNvSpPr txBox="1"/>
          <p:nvPr/>
        </p:nvSpPr>
        <p:spPr>
          <a:xfrm>
            <a:off x="895350" y="2260092"/>
            <a:ext cx="487664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Step 1.</a:t>
            </a:r>
            <a:r>
              <a:rPr lang="en-US" sz="1575" dirty="0">
                <a:solidFill>
                  <a:srgbClr val="16171D"/>
                </a:solidFill>
                <a:latin typeface="Segoe UI"/>
                <a:cs typeface="Segoe UI"/>
              </a:rPr>
              <a:t xml:space="preserve"> </a:t>
            </a:r>
            <a:r>
              <a:rPr lang="en-US" sz="1575" dirty="0" i="1">
                <a:solidFill>
                  <a:srgbClr val="16171D"/>
                </a:solidFill>
                <a:latin typeface="Segoe UI"/>
                <a:cs typeface="Segoe UI"/>
              </a:rPr>
              <a:t xml:space="preserve">f</a:t>
            </a:r>
            <a:r>
              <a:rPr lang="en-US" sz="1575" dirty="0">
                <a:solidFill>
                  <a:srgbClr val="16171D"/>
                </a:solidFill>
                <a:latin typeface="Segoe UI"/>
                <a:cs typeface="Segoe UI"/>
              </a:rPr>
              <a:t xml:space="preserve">(</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so write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in its place: </a:t>
            </a:r>
            <a:r>
              <a:rPr lang="en-US" sz="1575" dirty="0" i="1">
                <a:solidFill>
                  <a:srgbClr val="16171D"/>
                </a:solidFill>
                <a:latin typeface="Segoe UI"/>
                <a:cs typeface="Segoe UI"/>
              </a:rPr>
              <a:t xml:space="preserve">g</a:t>
            </a:r>
            <a:r>
              <a:rPr lang="en-US" sz="1575" dirty="0">
                <a:solidFill>
                  <a:srgbClr val="16171D"/>
                </a:solidFill>
                <a:latin typeface="Segoe UI"/>
                <a:cs typeface="Segoe UI"/>
              </a:rPr>
              <a:t xml:space="preserve">(</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 2</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+ 7.</a:t>
            </a:r>
            <a:endParaRPr lang="en-US" sz="1575" dirty="0"/>
          </a:p>
        </p:txBody>
      </p:sp>
      <p:sp>
        <p:nvSpPr>
          <p:cNvPr id="6" name="Shape 6"/>
          <p:cNvSpPr txBox="1"/>
          <p:nvPr/>
        </p:nvSpPr>
        <p:spPr>
          <a:xfrm>
            <a:off x="895350" y="2890266"/>
            <a:ext cx="4876648" cy="77495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Step 2.</a:t>
            </a:r>
            <a:r>
              <a:rPr lang="en-US" sz="1575" dirty="0">
                <a:solidFill>
                  <a:srgbClr val="16171D"/>
                </a:solidFill>
                <a:latin typeface="Segoe UI"/>
                <a:cs typeface="Segoe UI"/>
              </a:rPr>
              <a:t xml:space="preserve"> The number </a:t>
            </a:r>
            <a:r>
              <a:rPr lang="en-US" sz="1575" dirty="0" b="1">
                <a:solidFill>
                  <a:srgbClr val="C9561F"/>
                </a:solidFill>
                <a:latin typeface="Segoe UI"/>
                <a:cs typeface="Segoe UI"/>
              </a:rPr>
              <a:t xml:space="preserve">multiplied</a:t>
            </a:r>
            <a:r>
              <a:rPr lang="en-US" sz="1575" dirty="0">
                <a:solidFill>
                  <a:srgbClr val="16171D"/>
                </a:solidFill>
                <a:latin typeface="Segoe UI"/>
                <a:cs typeface="Segoe UI"/>
              </a:rPr>
              <a:t xml:space="preserve"> is </a:t>
            </a:r>
            <a:r>
              <a:rPr lang="en-US" sz="1575" dirty="0" i="1">
                <a:solidFill>
                  <a:srgbClr val="16171D"/>
                </a:solidFill>
                <a:latin typeface="Segoe UI"/>
                <a:cs typeface="Segoe UI"/>
              </a:rPr>
              <a:t xml:space="preserve">a</a:t>
            </a:r>
            <a:r>
              <a:rPr lang="en-US" sz="1575" dirty="0">
                <a:solidFill>
                  <a:srgbClr val="16171D"/>
                </a:solidFill>
                <a:latin typeface="Segoe UI"/>
                <a:cs typeface="Segoe UI"/>
              </a:rPr>
              <a:t xml:space="preserve"> = 2. It is the new slope. 2 is more than 1, so the line </a:t>
            </a:r>
            <a:r>
              <a:rPr lang="en-US" sz="1575" dirty="0" b="1">
                <a:solidFill>
                  <a:srgbClr val="16171D"/>
                </a:solidFill>
                <a:latin typeface="Segoe UI"/>
                <a:cs typeface="Segoe UI"/>
              </a:rPr>
              <a:t xml:space="preserve">stretches</a:t>
            </a:r>
            <a:r>
              <a:rPr lang="en-US" sz="1575" dirty="0">
                <a:solidFill>
                  <a:srgbClr val="16171D"/>
                </a:solidFill>
                <a:latin typeface="Segoe UI"/>
                <a:cs typeface="Segoe UI"/>
              </a:rPr>
              <a:t xml:space="preserve"> (gets steeper).</a:t>
            </a:r>
            <a:endParaRPr lang="en-US" sz="1575" dirty="0"/>
          </a:p>
        </p:txBody>
      </p:sp>
      <p:sp>
        <p:nvSpPr>
          <p:cNvPr id="7" name="Shape 7"/>
          <p:cNvSpPr txBox="1"/>
          <p:nvPr/>
        </p:nvSpPr>
        <p:spPr>
          <a:xfrm>
            <a:off x="895350" y="3760470"/>
            <a:ext cx="4876648" cy="77495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Step 3.</a:t>
            </a:r>
            <a:r>
              <a:rPr lang="en-US" sz="1575" dirty="0">
                <a:solidFill>
                  <a:srgbClr val="16171D"/>
                </a:solidFill>
                <a:latin typeface="Segoe UI"/>
                <a:cs typeface="Segoe UI"/>
              </a:rPr>
              <a:t xml:space="preserve"> The number </a:t>
            </a:r>
            <a:r>
              <a:rPr lang="en-US" sz="1575" dirty="0" b="1">
                <a:solidFill>
                  <a:srgbClr val="3050B8"/>
                </a:solidFill>
                <a:latin typeface="Segoe UI"/>
                <a:cs typeface="Segoe UI"/>
              </a:rPr>
              <a:t xml:space="preserve">added</a:t>
            </a:r>
            <a:r>
              <a:rPr lang="en-US" sz="1575" dirty="0">
                <a:solidFill>
                  <a:srgbClr val="16171D"/>
                </a:solidFill>
                <a:latin typeface="Segoe UI"/>
                <a:cs typeface="Segoe UI"/>
              </a:rPr>
              <a:t xml:space="preserve"> is </a:t>
            </a:r>
            <a:r>
              <a:rPr lang="en-US" sz="1575" dirty="0" i="1">
                <a:solidFill>
                  <a:srgbClr val="16171D"/>
                </a:solidFill>
                <a:latin typeface="Segoe UI"/>
                <a:cs typeface="Segoe UI"/>
              </a:rPr>
              <a:t xml:space="preserve">d</a:t>
            </a:r>
            <a:r>
              <a:rPr lang="en-US" sz="1575" dirty="0">
                <a:solidFill>
                  <a:srgbClr val="16171D"/>
                </a:solidFill>
                <a:latin typeface="Segoe UI"/>
                <a:cs typeface="Segoe UI"/>
              </a:rPr>
              <a:t xml:space="preserve"> = +7. Plus means the line moves </a:t>
            </a:r>
            <a:r>
              <a:rPr lang="en-US" sz="1575" dirty="0" b="1">
                <a:solidFill>
                  <a:srgbClr val="16171D"/>
                </a:solidFill>
                <a:latin typeface="Segoe UI"/>
                <a:cs typeface="Segoe UI"/>
              </a:rPr>
              <a:t xml:space="preserve">up 7</a:t>
            </a:r>
            <a:r>
              <a:rPr lang="en-US" sz="1575" dirty="0">
                <a:solidFill>
                  <a:srgbClr val="16171D"/>
                </a:solidFill>
                <a:latin typeface="Segoe UI"/>
                <a:cs typeface="Segoe UI"/>
              </a:rPr>
              <a:t xml:space="preserve">. It crosses the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-axis at (0, 7).</a:t>
            </a:r>
            <a:endParaRPr lang="en-US" sz="1575" dirty="0"/>
          </a:p>
        </p:txBody>
      </p:sp>
      <p:sp>
        <p:nvSpPr>
          <p:cNvPr id="8" name="Shape 8"/>
          <p:cNvSpPr txBox="1"/>
          <p:nvPr/>
        </p:nvSpPr>
        <p:spPr>
          <a:xfrm>
            <a:off x="895350" y="4630674"/>
            <a:ext cx="4876648" cy="87325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stretch by 2, up 7: </a:t>
            </a:r>
            <a:r>
              <a:rPr lang="en-US" sz="2325" dirty="0" i="1">
                <a:solidFill>
                  <a:srgbClr val="16171D"/>
                </a:solidFill>
                <a:latin typeface="Cambria"/>
                <a:cs typeface="Cambria"/>
              </a:rPr>
              <a:t xml:space="preserve">g</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+ 7</a:t>
            </a:r>
            <a:endParaRPr lang="en-US" sz="2325" dirty="0"/>
          </a:p>
        </p:txBody>
      </p:sp>
      <p:sp>
        <p:nvSpPr>
          <p:cNvPr id="15" name="Shape 15"/>
          <p:cNvSpPr txBox="1"/>
          <p:nvPr/>
        </p:nvSpPr>
        <p:spPr>
          <a:xfrm>
            <a:off x="6210148" y="1618488"/>
            <a:ext cx="5295748" cy="357682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0" name="Shape 10"/>
          <p:cNvSpPr txBox="1"/>
          <p:nvPr/>
        </p:nvSpPr>
        <p:spPr>
          <a:xfrm>
            <a:off x="6419698" y="1789938"/>
            <a:ext cx="487664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2. </a:t>
            </a:r>
            <a:r>
              <a:rPr lang="en-US" sz="2100" dirty="0" b="1" i="1">
                <a:solidFill>
                  <a:srgbClr val="16171D"/>
                </a:solidFill>
                <a:latin typeface="Segoe UI"/>
                <a:cs typeface="Segoe UI"/>
              </a:rPr>
              <a:t xml:space="preserve">g</a:t>
            </a:r>
            <a:r>
              <a:rPr lang="en-US" sz="2100" dirty="0" b="1">
                <a:solidFill>
                  <a:srgbClr val="16171D"/>
                </a:solidFill>
                <a:latin typeface="Segoe UI"/>
                <a:cs typeface="Segoe UI"/>
              </a:rPr>
              <a:t xml:space="preserve">(</a:t>
            </a:r>
            <a:r>
              <a:rPr lang="en-US" sz="2100" dirty="0" b="1" i="1">
                <a:solidFill>
                  <a:srgbClr val="16171D"/>
                </a:solidFill>
                <a:latin typeface="Segoe UI"/>
                <a:cs typeface="Segoe UI"/>
              </a:rPr>
              <a:t xml:space="preserve">x</a:t>
            </a:r>
            <a:r>
              <a:rPr lang="en-US" sz="2100" dirty="0" b="1">
                <a:solidFill>
                  <a:srgbClr val="16171D"/>
                </a:solidFill>
                <a:latin typeface="Segoe UI"/>
                <a:cs typeface="Segoe UI"/>
              </a:rPr>
              <a:t xml:space="preserve">) = </a:t>
            </a:r>
            <a:r>
              <a:rPr lang="en-US" sz="2100" dirty="0" b="1">
                <a:solidFill>
                  <a:srgbClr val="16171D"/>
                </a:solidFill>
                <a:latin typeface="Segoe UI"/>
                <a:cs typeface="Segoe UI"/>
              </a:rPr>
              <a:t xml:space="preserve">1</a:t>
            </a:r>
            <a:r>
              <a:rPr lang="en-US" sz="2100" dirty="0" b="1">
                <a:solidFill>
                  <a:srgbClr val="16171D"/>
                </a:solidFill>
                <a:latin typeface="Segoe UI"/>
                <a:cs typeface="Segoe UI"/>
              </a:rPr>
              <a:t xml:space="preserve">/</a:t>
            </a:r>
            <a:r>
              <a:rPr lang="en-US" sz="2100" dirty="0" b="1">
                <a:solidFill>
                  <a:srgbClr val="16171D"/>
                </a:solidFill>
                <a:latin typeface="Segoe UI"/>
                <a:cs typeface="Segoe UI"/>
              </a:rPr>
              <a:t xml:space="preserve">2</a:t>
            </a:r>
            <a:r>
              <a:rPr lang="en-US" sz="2100" dirty="0" b="1">
                <a:solidFill>
                  <a:srgbClr val="16171D"/>
                </a:solidFill>
                <a:latin typeface="Segoe UI"/>
                <a:cs typeface="Segoe UI"/>
              </a:rPr>
              <a:t xml:space="preserve"> · </a:t>
            </a:r>
            <a:r>
              <a:rPr lang="en-US" sz="2100" dirty="0" b="1" i="1">
                <a:solidFill>
                  <a:srgbClr val="16171D"/>
                </a:solidFill>
                <a:latin typeface="Segoe UI"/>
                <a:cs typeface="Segoe UI"/>
              </a:rPr>
              <a:t xml:space="preserve">f</a:t>
            </a:r>
            <a:r>
              <a:rPr lang="en-US" sz="2100" dirty="0" b="1">
                <a:solidFill>
                  <a:srgbClr val="16171D"/>
                </a:solidFill>
                <a:latin typeface="Segoe UI"/>
                <a:cs typeface="Segoe UI"/>
              </a:rPr>
              <a:t xml:space="preserve">(</a:t>
            </a:r>
            <a:r>
              <a:rPr lang="en-US" sz="2100" dirty="0" b="1" i="1">
                <a:solidFill>
                  <a:srgbClr val="16171D"/>
                </a:solidFill>
                <a:latin typeface="Segoe UI"/>
                <a:cs typeface="Segoe UI"/>
              </a:rPr>
              <a:t xml:space="preserve">x</a:t>
            </a:r>
            <a:r>
              <a:rPr lang="en-US" sz="2100" dirty="0" b="1">
                <a:solidFill>
                  <a:srgbClr val="16171D"/>
                </a:solidFill>
                <a:latin typeface="Segoe UI"/>
                <a:cs typeface="Segoe UI"/>
              </a:rPr>
              <a:t xml:space="preserve">) − 3</a:t>
            </a:r>
            <a:endParaRPr lang="en-US" sz="2100" dirty="0"/>
          </a:p>
        </p:txBody>
      </p:sp>
      <p:sp>
        <p:nvSpPr>
          <p:cNvPr id="11" name="Shape 11"/>
          <p:cNvSpPr txBox="1"/>
          <p:nvPr/>
        </p:nvSpPr>
        <p:spPr>
          <a:xfrm>
            <a:off x="6419698" y="2260092"/>
            <a:ext cx="487664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Step 1.</a:t>
            </a:r>
            <a:r>
              <a:rPr lang="en-US" sz="1575" dirty="0">
                <a:solidFill>
                  <a:srgbClr val="16171D"/>
                </a:solidFill>
                <a:latin typeface="Segoe UI"/>
                <a:cs typeface="Segoe UI"/>
              </a:rPr>
              <a:t xml:space="preserve"> Write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in place of </a:t>
            </a:r>
            <a:r>
              <a:rPr lang="en-US" sz="1575" dirty="0" i="1">
                <a:solidFill>
                  <a:srgbClr val="16171D"/>
                </a:solidFill>
                <a:latin typeface="Segoe UI"/>
                <a:cs typeface="Segoe UI"/>
              </a:rPr>
              <a:t xml:space="preserve">f</a:t>
            </a:r>
            <a:r>
              <a:rPr lang="en-US" sz="1575" dirty="0">
                <a:solidFill>
                  <a:srgbClr val="16171D"/>
                </a:solidFill>
                <a:latin typeface="Segoe UI"/>
                <a:cs typeface="Segoe UI"/>
              </a:rPr>
              <a:t xml:space="preserve">(</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a:t>
            </a:r>
            <a:r>
              <a:rPr lang="en-US" sz="1575" dirty="0" i="1">
                <a:solidFill>
                  <a:srgbClr val="16171D"/>
                </a:solidFill>
                <a:latin typeface="Segoe UI"/>
                <a:cs typeface="Segoe UI"/>
              </a:rPr>
              <a:t xml:space="preserve">g</a:t>
            </a:r>
            <a:r>
              <a:rPr lang="en-US" sz="1575" dirty="0">
                <a:solidFill>
                  <a:srgbClr val="16171D"/>
                </a:solidFill>
                <a:latin typeface="Segoe UI"/>
                <a:cs typeface="Segoe UI"/>
              </a:rPr>
              <a:t xml:space="preserve">(</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 </a:t>
            </a:r>
            <a:r>
              <a:rPr lang="en-US" sz="1575" dirty="0">
                <a:solidFill>
                  <a:srgbClr val="16171D"/>
                </a:solidFill>
                <a:latin typeface="Segoe UI"/>
                <a:cs typeface="Segoe UI"/>
              </a:rPr>
              <a:t xml:space="preserve">1</a:t>
            </a:r>
            <a:r>
              <a:rPr lang="en-US" sz="1575" dirty="0">
                <a:solidFill>
                  <a:srgbClr val="16171D"/>
                </a:solidFill>
                <a:latin typeface="Segoe UI"/>
                <a:cs typeface="Segoe UI"/>
              </a:rPr>
              <a:t xml:space="preserve">/</a:t>
            </a:r>
            <a:r>
              <a:rPr lang="en-US" sz="1575" dirty="0">
                <a:solidFill>
                  <a:srgbClr val="16171D"/>
                </a:solidFill>
                <a:latin typeface="Segoe UI"/>
                <a:cs typeface="Segoe UI"/>
              </a:rPr>
              <a:t xml:space="preserve">2</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− 3.</a:t>
            </a:r>
            <a:endParaRPr lang="en-US" sz="1575" dirty="0"/>
          </a:p>
        </p:txBody>
      </p:sp>
      <p:sp>
        <p:nvSpPr>
          <p:cNvPr id="12" name="Shape 12"/>
          <p:cNvSpPr txBox="1"/>
          <p:nvPr/>
        </p:nvSpPr>
        <p:spPr>
          <a:xfrm>
            <a:off x="6419698" y="2890266"/>
            <a:ext cx="487664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Step 2.</a:t>
            </a:r>
            <a:r>
              <a:rPr lang="en-US" sz="1575" dirty="0">
                <a:solidFill>
                  <a:srgbClr val="16171D"/>
                </a:solidFill>
                <a:latin typeface="Segoe UI"/>
                <a:cs typeface="Segoe UI"/>
              </a:rPr>
              <a:t xml:space="preserve"> </a:t>
            </a:r>
            <a:r>
              <a:rPr lang="en-US" sz="1575" dirty="0" i="1">
                <a:solidFill>
                  <a:srgbClr val="16171D"/>
                </a:solidFill>
                <a:latin typeface="Segoe UI"/>
                <a:cs typeface="Segoe UI"/>
              </a:rPr>
              <a:t xml:space="preserve">a</a:t>
            </a:r>
            <a:r>
              <a:rPr lang="en-US" sz="1575" dirty="0">
                <a:solidFill>
                  <a:srgbClr val="16171D"/>
                </a:solidFill>
                <a:latin typeface="Segoe UI"/>
                <a:cs typeface="Segoe UI"/>
              </a:rPr>
              <a:t xml:space="preserve"> = </a:t>
            </a:r>
            <a:r>
              <a:rPr lang="en-US" sz="1575" dirty="0">
                <a:solidFill>
                  <a:srgbClr val="16171D"/>
                </a:solidFill>
                <a:latin typeface="Segoe UI"/>
                <a:cs typeface="Segoe UI"/>
              </a:rPr>
              <a:t xml:space="preserve">1</a:t>
            </a:r>
            <a:r>
              <a:rPr lang="en-US" sz="1575" dirty="0">
                <a:solidFill>
                  <a:srgbClr val="16171D"/>
                </a:solidFill>
                <a:latin typeface="Segoe UI"/>
                <a:cs typeface="Segoe UI"/>
              </a:rPr>
              <a:t xml:space="preserve">/</a:t>
            </a:r>
            <a:r>
              <a:rPr lang="en-US" sz="1575" dirty="0">
                <a:solidFill>
                  <a:srgbClr val="16171D"/>
                </a:solidFill>
                <a:latin typeface="Segoe UI"/>
                <a:cs typeface="Segoe UI"/>
              </a:rPr>
              <a:t xml:space="preserve">2</a:t>
            </a:r>
            <a:r>
              <a:rPr lang="en-US" sz="1575" dirty="0">
                <a:solidFill>
                  <a:srgbClr val="16171D"/>
                </a:solidFill>
                <a:latin typeface="Segoe UI"/>
                <a:cs typeface="Segoe UI"/>
              </a:rPr>
              <a:t xml:space="preserve"> is between 0 and 1, so the line </a:t>
            </a:r>
            <a:r>
              <a:rPr lang="en-US" sz="1575" dirty="0" b="1">
                <a:solidFill>
                  <a:srgbClr val="16171D"/>
                </a:solidFill>
                <a:latin typeface="Segoe UI"/>
                <a:cs typeface="Segoe UI"/>
              </a:rPr>
              <a:t xml:space="preserve">compresses</a:t>
            </a:r>
            <a:r>
              <a:rPr lang="en-US" sz="1575" dirty="0">
                <a:solidFill>
                  <a:srgbClr val="16171D"/>
                </a:solidFill>
                <a:latin typeface="Segoe UI"/>
                <a:cs typeface="Segoe UI"/>
              </a:rPr>
              <a:t xml:space="preserve"> (gets less steep). The slope is </a:t>
            </a:r>
            <a:r>
              <a:rPr lang="en-US" sz="1575" dirty="0">
                <a:solidFill>
                  <a:srgbClr val="16171D"/>
                </a:solidFill>
                <a:latin typeface="Segoe UI"/>
                <a:cs typeface="Segoe UI"/>
              </a:rPr>
              <a:t xml:space="preserve">1</a:t>
            </a:r>
            <a:r>
              <a:rPr lang="en-US" sz="1575" dirty="0">
                <a:solidFill>
                  <a:srgbClr val="16171D"/>
                </a:solidFill>
                <a:latin typeface="Segoe UI"/>
                <a:cs typeface="Segoe UI"/>
              </a:rPr>
              <a:t xml:space="preserve">/</a:t>
            </a:r>
            <a:r>
              <a:rPr lang="en-US" sz="1575" dirty="0">
                <a:solidFill>
                  <a:srgbClr val="16171D"/>
                </a:solidFill>
                <a:latin typeface="Segoe UI"/>
                <a:cs typeface="Segoe UI"/>
              </a:rPr>
              <a:t xml:space="preserve">2</a:t>
            </a:r>
            <a:r>
              <a:rPr lang="en-US" sz="1575" dirty="0">
                <a:solidFill>
                  <a:srgbClr val="16171D"/>
                </a:solidFill>
                <a:latin typeface="Segoe UI"/>
                <a:cs typeface="Segoe UI"/>
              </a:rPr>
              <a:t xml:space="preserve">.</a:t>
            </a:r>
            <a:endParaRPr lang="en-US" sz="1575" dirty="0"/>
          </a:p>
        </p:txBody>
      </p:sp>
      <p:sp>
        <p:nvSpPr>
          <p:cNvPr id="13" name="Shape 13"/>
          <p:cNvSpPr txBox="1"/>
          <p:nvPr/>
        </p:nvSpPr>
        <p:spPr>
          <a:xfrm>
            <a:off x="6419698" y="3520440"/>
            <a:ext cx="487664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Step 3.</a:t>
            </a:r>
            <a:r>
              <a:rPr lang="en-US" sz="1575" dirty="0">
                <a:solidFill>
                  <a:srgbClr val="16171D"/>
                </a:solidFill>
                <a:latin typeface="Segoe UI"/>
                <a:cs typeface="Segoe UI"/>
              </a:rPr>
              <a:t xml:space="preserve"> </a:t>
            </a:r>
            <a:r>
              <a:rPr lang="en-US" sz="1575" dirty="0" i="1">
                <a:solidFill>
                  <a:srgbClr val="16171D"/>
                </a:solidFill>
                <a:latin typeface="Segoe UI"/>
                <a:cs typeface="Segoe UI"/>
              </a:rPr>
              <a:t xml:space="preserve">d</a:t>
            </a:r>
            <a:r>
              <a:rPr lang="en-US" sz="1575" dirty="0">
                <a:solidFill>
                  <a:srgbClr val="16171D"/>
                </a:solidFill>
                <a:latin typeface="Segoe UI"/>
                <a:cs typeface="Segoe UI"/>
              </a:rPr>
              <a:t xml:space="preserve"> = −3. Minus means the line moves </a:t>
            </a:r>
            <a:r>
              <a:rPr lang="en-US" sz="1575" dirty="0" b="1">
                <a:solidFill>
                  <a:srgbClr val="16171D"/>
                </a:solidFill>
                <a:latin typeface="Segoe UI"/>
                <a:cs typeface="Segoe UI"/>
              </a:rPr>
              <a:t xml:space="preserve">down 3</a:t>
            </a:r>
            <a:r>
              <a:rPr lang="en-US" sz="1575" dirty="0">
                <a:solidFill>
                  <a:srgbClr val="16171D"/>
                </a:solidFill>
                <a:latin typeface="Segoe UI"/>
                <a:cs typeface="Segoe UI"/>
              </a:rPr>
              <a:t xml:space="preserve">. It crosses the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-axis at (0, −3).</a:t>
            </a:r>
            <a:endParaRPr lang="en-US" sz="1575" dirty="0"/>
          </a:p>
        </p:txBody>
      </p:sp>
      <p:sp>
        <p:nvSpPr>
          <p:cNvPr id="14" name="Shape 14"/>
          <p:cNvSpPr txBox="1"/>
          <p:nvPr/>
        </p:nvSpPr>
        <p:spPr>
          <a:xfrm>
            <a:off x="6419698" y="4150614"/>
            <a:ext cx="4876648" cy="87325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compress by </a:t>
            </a:r>
            <a:r>
              <a:rPr lang="en-US" sz="2325" dirty="0">
                <a:solidFill>
                  <a:srgbClr val="16171D"/>
                </a:solidFill>
                <a:latin typeface="Cambria"/>
                <a:cs typeface="Cambria"/>
              </a:rPr>
              <a:t xml:space="preserve">1</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2</a:t>
            </a:r>
            <a:r>
              <a:rPr lang="en-US" sz="2325" dirty="0">
                <a:solidFill>
                  <a:srgbClr val="16171D"/>
                </a:solidFill>
                <a:latin typeface="Cambria"/>
                <a:cs typeface="Cambria"/>
              </a:rPr>
              <a:t xml:space="preserve">, down 3: </a:t>
            </a:r>
            <a:r>
              <a:rPr lang="en-US" sz="2325" dirty="0">
                <a:solidFill>
                  <a:srgbClr val="16171D"/>
                </a:solidFill>
                <a:latin typeface="Cambria"/>
                <a:cs typeface="Cambria"/>
              </a:rPr>
              <a:t xml:space="preserve">1</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− 3</a:t>
            </a:r>
            <a:endParaRPr lang="en-US" sz="2325" dirty="0"/>
          </a:p>
        </p:txBody>
      </p:sp>
      <p:sp>
        <p:nvSpPr>
          <p:cNvPr id="16" name="Slide Number 16"/>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11</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anim calcmode="lin" valueType="num">
                                      <p:cBhvr>
                                        <p:cTn id="12" dur="500" fill="hold"/>
                                        <p:tgtEl>
                                          <p:spTgt spid="6"/>
                                        </p:tgtEl>
                                        <p:attrNameLst>
                                          <p:attrName>ppt_x</p:attrName>
                                        </p:attrNameLst>
                                      </p:cBhvr>
                                      <p:tavLst>
                                        <p:tav tm="0">
                                          <p:val>
                                            <p:strVal val="#ppt_x"/>
                                          </p:val>
                                        </p:tav>
                                        <p:tav tm="100000">
                                          <p:val>
                                            <p:strVal val="#ppt_x"/>
                                          </p:val>
                                        </p:tav>
                                      </p:tavLst>
                                    </p:anim>
                                    <p:anim calcmode="lin" valueType="num">
                                      <p:cBhvr>
                                        <p:cTn id="13"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anim calcmode="lin" valueType="num">
                                      <p:cBhvr>
                                        <p:cTn id="19" dur="500" fill="hold"/>
                                        <p:tgtEl>
                                          <p:spTgt spid="7"/>
                                        </p:tgtEl>
                                        <p:attrNameLst>
                                          <p:attrName>ppt_x</p:attrName>
                                        </p:attrNameLst>
                                      </p:cBhvr>
                                      <p:tavLst>
                                        <p:tav tm="0">
                                          <p:val>
                                            <p:strVal val="#ppt_x"/>
                                          </p:val>
                                        </p:tav>
                                        <p:tav tm="100000">
                                          <p:val>
                                            <p:strVal val="#ppt_x"/>
                                          </p:val>
                                        </p:tav>
                                      </p:tavLst>
                                    </p:anim>
                                    <p:anim calcmode="lin" valueType="num">
                                      <p:cBhvr>
                                        <p:cTn id="20"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anim calcmode="lin" valueType="num">
                                      <p:cBhvr>
                                        <p:cTn id="26" dur="500" fill="hold"/>
                                        <p:tgtEl>
                                          <p:spTgt spid="8"/>
                                        </p:tgtEl>
                                        <p:attrNameLst>
                                          <p:attrName>ppt_w</p:attrName>
                                        </p:attrNameLst>
                                      </p:cBhvr>
                                      <p:tavLst>
                                        <p:tav tm="0">
                                          <p:val>
                                            <p:fltVal val="0"/>
                                          </p:val>
                                        </p:tav>
                                        <p:tav tm="100000">
                                          <p:val>
                                            <p:strVal val="#ppt_w"/>
                                          </p:val>
                                        </p:tav>
                                      </p:tavLst>
                                    </p:anim>
                                    <p:anim calcmode="lin" valueType="num">
                                      <p:cBhvr>
                                        <p:cTn id="27" dur="500" fill="hold"/>
                                        <p:tgtEl>
                                          <p:spTgt spid="8"/>
                                        </p:tgtEl>
                                        <p:attrNameLst>
                                          <p:attrName>ppt_h</p:attrName>
                                        </p:attrNameLst>
                                      </p:cBhvr>
                                      <p:tavLst>
                                        <p:tav tm="0">
                                          <p:val>
                                            <p:fltVal val="0"/>
                                          </p:val>
                                        </p:tav>
                                        <p:tav tm="100000">
                                          <p:val>
                                            <p:strVal val="#ppt_h"/>
                                          </p:val>
                                        </p:tav>
                                      </p:tavLst>
                                    </p:anim>
                                  </p:childTnLst>
                                </p:cTn>
                              </p:par>
                            </p:childTnLst>
                          </p:cTn>
                        </p:par>
                      </p:childTnLst>
                    </p:cTn>
                  </p:par>
                  <p:par>
                    <p:cTn id="36" fill="hold">
                      <p:stCondLst>
                        <p:cond delay="indefinite"/>
                      </p:stCondLst>
                      <p:childTnLst>
                        <p:par>
                          <p:cTn id="37" fill="hold">
                            <p:stCondLst>
                              <p:cond delay="0"/>
                            </p:stCondLst>
                            <p:childTnLst>
                              <p:par>
                                <p:cTn id="35" presetID="42" presetClass="entr" presetSubtype="0" fill="hold"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anim calcmode="lin" valueType="num">
                                      <p:cBhvr>
                                        <p:cTn id="33" dur="500" fill="hold"/>
                                        <p:tgtEl>
                                          <p:spTgt spid="11"/>
                                        </p:tgtEl>
                                        <p:attrNameLst>
                                          <p:attrName>ppt_x</p:attrName>
                                        </p:attrNameLst>
                                      </p:cBhvr>
                                      <p:tavLst>
                                        <p:tav tm="0">
                                          <p:val>
                                            <p:strVal val="#ppt_x"/>
                                          </p:val>
                                        </p:tav>
                                        <p:tav tm="100000">
                                          <p:val>
                                            <p:strVal val="#ppt_x"/>
                                          </p:val>
                                        </p:tav>
                                      </p:tavLst>
                                    </p:anim>
                                    <p:anim calcmode="lin" valueType="num">
                                      <p:cBhvr>
                                        <p:cTn id="34" dur="5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2" presetID="42" presetClass="entr" presetSubtype="0" fill="hold" nodeType="click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500"/>
                                        <p:tgtEl>
                                          <p:spTgt spid="12"/>
                                        </p:tgtEl>
                                      </p:cBhvr>
                                    </p:animEffect>
                                    <p:anim calcmode="lin" valueType="num">
                                      <p:cBhvr>
                                        <p:cTn id="40" dur="500" fill="hold"/>
                                        <p:tgtEl>
                                          <p:spTgt spid="12"/>
                                        </p:tgtEl>
                                        <p:attrNameLst>
                                          <p:attrName>ppt_x</p:attrName>
                                        </p:attrNameLst>
                                      </p:cBhvr>
                                      <p:tavLst>
                                        <p:tav tm="0">
                                          <p:val>
                                            <p:strVal val="#ppt_x"/>
                                          </p:val>
                                        </p:tav>
                                        <p:tav tm="100000">
                                          <p:val>
                                            <p:strVal val="#ppt_x"/>
                                          </p:val>
                                        </p:tav>
                                      </p:tavLst>
                                    </p:anim>
                                    <p:anim calcmode="lin" valueType="num">
                                      <p:cBhvr>
                                        <p:cTn id="41" dur="5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49" presetID="42" presetClass="entr" presetSubtype="0" fill="hold" nodeType="click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500"/>
                                        <p:tgtEl>
                                          <p:spTgt spid="13"/>
                                        </p:tgtEl>
                                      </p:cBhvr>
                                    </p:animEffect>
                                    <p:anim calcmode="lin" valueType="num">
                                      <p:cBhvr>
                                        <p:cTn id="47" dur="500" fill="hold"/>
                                        <p:tgtEl>
                                          <p:spTgt spid="13"/>
                                        </p:tgtEl>
                                        <p:attrNameLst>
                                          <p:attrName>ppt_x</p:attrName>
                                        </p:attrNameLst>
                                      </p:cBhvr>
                                      <p:tavLst>
                                        <p:tav tm="0">
                                          <p:val>
                                            <p:strVal val="#ppt_x"/>
                                          </p:val>
                                        </p:tav>
                                        <p:tav tm="100000">
                                          <p:val>
                                            <p:strVal val="#ppt_x"/>
                                          </p:val>
                                        </p:tav>
                                      </p:tavLst>
                                    </p:anim>
                                    <p:anim calcmode="lin" valueType="num">
                                      <p:cBhvr>
                                        <p:cTn id="48" dur="5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6" presetID="53" presetClass="entr" presetSubtype="16" fill="hold" nodeType="clickEffect">
                                  <p:stCondLst>
                                    <p:cond delay="0"/>
                                  </p:stCondLst>
                                  <p:childTnLst>
                                    <p:set>
                                      <p:cBhvr>
                                        <p:cTn id="52" dur="1" fill="hold">
                                          <p:stCondLst>
                                            <p:cond delay="0"/>
                                          </p:stCondLst>
                                        </p:cTn>
                                        <p:tgtEl>
                                          <p:spTgt spid="14"/>
                                        </p:tgtEl>
                                        <p:attrNameLst>
                                          <p:attrName>style.visibility</p:attrName>
                                        </p:attrNameLst>
                                      </p:cBhvr>
                                      <p:to>
                                        <p:strVal val="visible"/>
                                      </p:to>
                                    </p:set>
                                    <p:animEffect transition="in" filter="fade">
                                      <p:cBhvr>
                                        <p:cTn id="53" dur="500"/>
                                        <p:tgtEl>
                                          <p:spTgt spid="14"/>
                                        </p:tgtEl>
                                      </p:cBhvr>
                                    </p:animEffect>
                                    <p:anim calcmode="lin" valueType="num">
                                      <p:cBhvr>
                                        <p:cTn id="54" dur="500" fill="hold"/>
                                        <p:tgtEl>
                                          <p:spTgt spid="14"/>
                                        </p:tgtEl>
                                        <p:attrNameLst>
                                          <p:attrName>ppt_w</p:attrName>
                                        </p:attrNameLst>
                                      </p:cBhvr>
                                      <p:tavLst>
                                        <p:tav tm="0">
                                          <p:val>
                                            <p:fltVal val="0"/>
                                          </p:val>
                                        </p:tav>
                                        <p:tav tm="100000">
                                          <p:val>
                                            <p:strVal val="#ppt_w"/>
                                          </p:val>
                                        </p:tav>
                                      </p:tavLst>
                                    </p:anim>
                                    <p:anim calcmode="lin" valueType="num">
                                      <p:cBhvr>
                                        <p:cTn id="55" dur="500" fill="hold"/>
                                        <p:tgtEl>
                                          <p:spTgt spid="1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We do · Parallel line</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Parallel to </a:t>
            </a:r>
            <a:r>
              <a:rPr lang="en-US" sz="3450" dirty="0" b="1" i="1">
                <a:solidFill>
                  <a:srgbClr val="16171D"/>
                </a:solidFill>
                <a:latin typeface="Segoe UI"/>
                <a:cs typeface="Segoe UI"/>
              </a:rPr>
              <a:t xml:space="preserve">y</a:t>
            </a:r>
            <a:r>
              <a:rPr lang="en-US" sz="3450" dirty="0" b="1">
                <a:solidFill>
                  <a:srgbClr val="16171D"/>
                </a:solidFill>
                <a:latin typeface="Segoe UI"/>
                <a:cs typeface="Segoe UI"/>
              </a:rPr>
              <a:t xml:space="preserve"> = −3</a:t>
            </a:r>
            <a:r>
              <a:rPr lang="en-US" sz="3450" dirty="0" b="1" i="1">
                <a:solidFill>
                  <a:srgbClr val="16171D"/>
                </a:solidFill>
                <a:latin typeface="Segoe UI"/>
                <a:cs typeface="Segoe UI"/>
              </a:rPr>
              <a:t xml:space="preserve">x</a:t>
            </a:r>
            <a:r>
              <a:rPr lang="en-US" sz="3450" dirty="0" b="1">
                <a:solidFill>
                  <a:srgbClr val="16171D"/>
                </a:solidFill>
                <a:latin typeface="Segoe UI"/>
                <a:cs typeface="Segoe UI"/>
              </a:rPr>
              <a:t xml:space="preserve"> − 1, through (−1, 5)</a:t>
            </a:r>
            <a:endParaRPr lang="en-US" sz="3450" dirty="0"/>
          </a:p>
        </p:txBody>
      </p:sp>
      <p:sp>
        <p:nvSpPr>
          <p:cNvPr id="4" name="Shape 4"/>
          <p:cNvSpPr txBox="1"/>
          <p:nvPr/>
        </p:nvSpPr>
        <p:spPr>
          <a:xfrm>
            <a:off x="685800" y="1618488"/>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Step 1: same slope. </a:t>
            </a:r>
            <a:r>
              <a:rPr lang="en-US" sz="1950" dirty="0" i="1">
                <a:solidFill>
                  <a:srgbClr val="16171D"/>
                </a:solidFill>
                <a:latin typeface="Segoe UI"/>
                <a:cs typeface="Segoe UI"/>
              </a:rPr>
              <a:t xml:space="preserve">m</a:t>
            </a:r>
            <a:r>
              <a:rPr lang="en-US" sz="1950" dirty="0">
                <a:solidFill>
                  <a:srgbClr val="16171D"/>
                </a:solidFill>
                <a:latin typeface="Segoe UI"/>
                <a:cs typeface="Segoe UI"/>
              </a:rPr>
              <a:t xml:space="preserve"> = ____</a:t>
            </a:r>
            <a:endParaRPr lang="en-US" sz="1950" dirty="0"/>
          </a:p>
        </p:txBody>
      </p:sp>
      <p:sp>
        <p:nvSpPr>
          <p:cNvPr id="5" name="Shape 5"/>
          <p:cNvSpPr txBox="1"/>
          <p:nvPr/>
        </p:nvSpPr>
        <p:spPr>
          <a:xfrm>
            <a:off x="685800" y="2141982"/>
            <a:ext cx="290802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m</a:t>
            </a:r>
            <a:r>
              <a:rPr lang="en-US" sz="2325" dirty="0">
                <a:solidFill>
                  <a:srgbClr val="16171D"/>
                </a:solidFill>
                <a:latin typeface="Cambria"/>
                <a:cs typeface="Cambria"/>
              </a:rPr>
              <a:t xml:space="preserve"> = −3</a:t>
            </a:r>
            <a:endParaRPr lang="en-US" sz="2325" dirty="0"/>
          </a:p>
        </p:txBody>
      </p:sp>
      <p:sp>
        <p:nvSpPr>
          <p:cNvPr id="6" name="Shape 6"/>
          <p:cNvSpPr txBox="1"/>
          <p:nvPr/>
        </p:nvSpPr>
        <p:spPr>
          <a:xfrm>
            <a:off x="685800" y="2832354"/>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Step 2: 5 = −3(−1) + </a:t>
            </a:r>
            <a:r>
              <a:rPr lang="en-US" sz="1950" dirty="0" i="1">
                <a:solidFill>
                  <a:srgbClr val="16171D"/>
                </a:solidFill>
                <a:latin typeface="Segoe UI"/>
                <a:cs typeface="Segoe UI"/>
              </a:rPr>
              <a:t xml:space="preserve">b</a:t>
            </a:r>
            <a:r>
              <a:rPr lang="en-US" sz="1950" dirty="0">
                <a:solidFill>
                  <a:srgbClr val="16171D"/>
                </a:solidFill>
                <a:latin typeface="Segoe UI"/>
                <a:cs typeface="Segoe UI"/>
              </a:rPr>
              <a:t xml:space="preserve">, so </a:t>
            </a:r>
            <a:r>
              <a:rPr lang="en-US" sz="1950" dirty="0" i="1">
                <a:solidFill>
                  <a:srgbClr val="16171D"/>
                </a:solidFill>
                <a:latin typeface="Segoe UI"/>
                <a:cs typeface="Segoe UI"/>
              </a:rPr>
              <a:t xml:space="preserve">b</a:t>
            </a:r>
            <a:r>
              <a:rPr lang="en-US" sz="1950" dirty="0">
                <a:solidFill>
                  <a:srgbClr val="16171D"/>
                </a:solidFill>
                <a:latin typeface="Segoe UI"/>
                <a:cs typeface="Segoe UI"/>
              </a:rPr>
              <a:t xml:space="preserve"> = ____</a:t>
            </a:r>
            <a:endParaRPr lang="en-US" sz="1950" dirty="0"/>
          </a:p>
        </p:txBody>
      </p:sp>
      <p:sp>
        <p:nvSpPr>
          <p:cNvPr id="7" name="Shape 7"/>
          <p:cNvSpPr txBox="1"/>
          <p:nvPr/>
        </p:nvSpPr>
        <p:spPr>
          <a:xfrm>
            <a:off x="685800" y="3355848"/>
            <a:ext cx="2742194"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b</a:t>
            </a:r>
            <a:r>
              <a:rPr lang="en-US" sz="2325" dirty="0">
                <a:solidFill>
                  <a:srgbClr val="16171D"/>
                </a:solidFill>
                <a:latin typeface="Cambria"/>
                <a:cs typeface="Cambria"/>
              </a:rPr>
              <a:t xml:space="preserve"> = 2</a:t>
            </a:r>
            <a:endParaRPr lang="en-US" sz="2325" dirty="0"/>
          </a:p>
        </p:txBody>
      </p:sp>
      <p:sp>
        <p:nvSpPr>
          <p:cNvPr id="8" name="Shape 8"/>
          <p:cNvSpPr txBox="1"/>
          <p:nvPr/>
        </p:nvSpPr>
        <p:spPr>
          <a:xfrm>
            <a:off x="685800" y="4046220"/>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Step 3: write it.</a:t>
            </a:r>
            <a:endParaRPr lang="en-US" sz="1950" dirty="0"/>
          </a:p>
        </p:txBody>
      </p:sp>
      <p:sp>
        <p:nvSpPr>
          <p:cNvPr id="9" name="Shape 9"/>
          <p:cNvSpPr txBox="1"/>
          <p:nvPr/>
        </p:nvSpPr>
        <p:spPr>
          <a:xfrm>
            <a:off x="685800" y="4569714"/>
            <a:ext cx="3737153"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−3</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+ 2</a:t>
            </a:r>
            <a:endParaRPr lang="en-US" sz="2325" dirty="0"/>
          </a:p>
        </p:txBody>
      </p:sp>
      <p:sp>
        <p:nvSpPr>
          <p:cNvPr id="10" name="Slide Number 10"/>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12</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You do · Try it</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Parallel to </a:t>
            </a:r>
            <a:r>
              <a:rPr lang="en-US" sz="3450" dirty="0" b="1" i="1">
                <a:solidFill>
                  <a:srgbClr val="16171D"/>
                </a:solidFill>
                <a:latin typeface="Segoe UI"/>
                <a:cs typeface="Segoe UI"/>
              </a:rPr>
              <a:t xml:space="preserve">y</a:t>
            </a:r>
            <a:r>
              <a:rPr lang="en-US" sz="3450" dirty="0" b="1">
                <a:solidFill>
                  <a:srgbClr val="16171D"/>
                </a:solidFill>
                <a:latin typeface="Segoe UI"/>
                <a:cs typeface="Segoe UI"/>
              </a:rPr>
              <a:t xml:space="preserve"> = 2</a:t>
            </a:r>
            <a:r>
              <a:rPr lang="en-US" sz="3450" dirty="0" b="1" i="1">
                <a:solidFill>
                  <a:srgbClr val="16171D"/>
                </a:solidFill>
                <a:latin typeface="Segoe UI"/>
                <a:cs typeface="Segoe UI"/>
              </a:rPr>
              <a:t xml:space="preserve">x</a:t>
            </a:r>
            <a:endParaRPr lang="en-US" sz="3450" dirty="0"/>
          </a:p>
        </p:txBody>
      </p:sp>
      <p:sp>
        <p:nvSpPr>
          <p:cNvPr id="6" name="Shape 6"/>
          <p:cNvSpPr txBox="1"/>
          <p:nvPr/>
        </p:nvSpPr>
        <p:spPr>
          <a:xfrm>
            <a:off x="685800" y="1618488"/>
            <a:ext cx="5219548" cy="1309116"/>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48004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Through (0, 4)</a:t>
            </a:r>
            <a:endParaRPr lang="en-US" sz="1950" dirty="0"/>
          </a:p>
        </p:txBody>
      </p:sp>
      <p:sp>
        <p:nvSpPr>
          <p:cNvPr id="5" name="Shape 5"/>
          <p:cNvSpPr txBox="1"/>
          <p:nvPr/>
        </p:nvSpPr>
        <p:spPr>
          <a:xfrm>
            <a:off x="895350" y="2237232"/>
            <a:ext cx="3571326"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+ 4</a:t>
            </a:r>
            <a:endParaRPr lang="en-US" sz="2325" dirty="0"/>
          </a:p>
        </p:txBody>
      </p:sp>
      <p:sp>
        <p:nvSpPr>
          <p:cNvPr id="10" name="Shape 10"/>
          <p:cNvSpPr txBox="1"/>
          <p:nvPr/>
        </p:nvSpPr>
        <p:spPr>
          <a:xfrm>
            <a:off x="6286348" y="1618488"/>
            <a:ext cx="5219548" cy="169926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7" name="Shape 7"/>
          <p:cNvSpPr txBox="1"/>
          <p:nvPr/>
        </p:nvSpPr>
        <p:spPr>
          <a:xfrm>
            <a:off x="6495898" y="1789938"/>
            <a:ext cx="48004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Through (2, 0)</a:t>
            </a:r>
            <a:endParaRPr lang="en-US" sz="1950" dirty="0"/>
          </a:p>
        </p:txBody>
      </p:sp>
      <p:sp>
        <p:nvSpPr>
          <p:cNvPr id="8" name="Shape 8"/>
          <p:cNvSpPr txBox="1"/>
          <p:nvPr/>
        </p:nvSpPr>
        <p:spPr>
          <a:xfrm>
            <a:off x="6495898" y="2237232"/>
            <a:ext cx="480044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0 = 2(2) + </a:t>
            </a:r>
            <a:r>
              <a:rPr lang="en-US" sz="1575" dirty="0" i="1">
                <a:solidFill>
                  <a:srgbClr val="16171D"/>
                </a:solidFill>
                <a:latin typeface="Segoe UI"/>
                <a:cs typeface="Segoe UI"/>
              </a:rPr>
              <a:t xml:space="preserve">b</a:t>
            </a:r>
            <a:endParaRPr lang="en-US" sz="1575" dirty="0"/>
          </a:p>
        </p:txBody>
      </p:sp>
      <p:sp>
        <p:nvSpPr>
          <p:cNvPr id="9" name="Shape 9"/>
          <p:cNvSpPr txBox="1"/>
          <p:nvPr/>
        </p:nvSpPr>
        <p:spPr>
          <a:xfrm>
            <a:off x="6495898" y="2627376"/>
            <a:ext cx="3571326"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− 4</a:t>
            </a:r>
            <a:endParaRPr lang="en-US" sz="2325" dirty="0"/>
          </a:p>
        </p:txBody>
      </p:sp>
      <p:sp>
        <p:nvSpPr>
          <p:cNvPr id="11" name="Slide Number 11"/>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13</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500"/>
                                        <p:tgtEl>
                                          <p:spTgt spid="9"/>
                                        </p:tgtEl>
                                      </p:cBhvr>
                                    </p:animEffect>
                                    <p:anim calcmode="lin" valueType="num">
                                      <p:cBhvr>
                                        <p:cTn id="12" dur="500" fill="hold"/>
                                        <p:tgtEl>
                                          <p:spTgt spid="9"/>
                                        </p:tgtEl>
                                        <p:attrNameLst>
                                          <p:attrName>ppt_w</p:attrName>
                                        </p:attrNameLst>
                                      </p:cBhvr>
                                      <p:tavLst>
                                        <p:tav tm="0">
                                          <p:val>
                                            <p:fltVal val="0"/>
                                          </p:val>
                                        </p:tav>
                                        <p:tav tm="100000">
                                          <p:val>
                                            <p:strVal val="#ppt_w"/>
                                          </p:val>
                                        </p:tav>
                                      </p:tavLst>
                                    </p:anim>
                                    <p:anim calcmode="lin" valueType="num">
                                      <p:cBhvr>
                                        <p:cTn id="13" dur="500" fill="hold"/>
                                        <p:tgtEl>
                                          <p:spTgt spid="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Check it · Step by step</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Parallel to </a:t>
            </a:r>
            <a:r>
              <a:rPr lang="en-US" sz="3450" dirty="0" b="1" i="1">
                <a:solidFill>
                  <a:srgbClr val="16171D"/>
                </a:solidFill>
                <a:latin typeface="Segoe UI"/>
                <a:cs typeface="Segoe UI"/>
              </a:rPr>
              <a:t xml:space="preserve">y</a:t>
            </a:r>
            <a:r>
              <a:rPr lang="en-US" sz="3450" dirty="0" b="1">
                <a:solidFill>
                  <a:srgbClr val="16171D"/>
                </a:solidFill>
                <a:latin typeface="Segoe UI"/>
                <a:cs typeface="Segoe UI"/>
              </a:rPr>
              <a:t xml:space="preserve"> = 2</a:t>
            </a:r>
            <a:r>
              <a:rPr lang="en-US" sz="3450" dirty="0" b="1" i="1">
                <a:solidFill>
                  <a:srgbClr val="16171D"/>
                </a:solidFill>
                <a:latin typeface="Segoe UI"/>
                <a:cs typeface="Segoe UI"/>
              </a:rPr>
              <a:t xml:space="preserve">x</a:t>
            </a:r>
            <a:endParaRPr lang="en-US" sz="3450" dirty="0"/>
          </a:p>
        </p:txBody>
      </p:sp>
      <p:sp>
        <p:nvSpPr>
          <p:cNvPr id="10" name="Shape 10"/>
          <p:cNvSpPr txBox="1"/>
          <p:nvPr/>
        </p:nvSpPr>
        <p:spPr>
          <a:xfrm>
            <a:off x="685800" y="1618488"/>
            <a:ext cx="5295748" cy="313258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487664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1. Through (0, 4)</a:t>
            </a:r>
            <a:endParaRPr lang="en-US" sz="2100" dirty="0"/>
          </a:p>
        </p:txBody>
      </p:sp>
      <p:sp>
        <p:nvSpPr>
          <p:cNvPr id="5" name="Shape 5"/>
          <p:cNvSpPr txBox="1"/>
          <p:nvPr/>
        </p:nvSpPr>
        <p:spPr>
          <a:xfrm>
            <a:off x="895350" y="2260092"/>
            <a:ext cx="48766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Step 1.</a:t>
            </a:r>
            <a:r>
              <a:rPr lang="en-US" sz="1575" dirty="0">
                <a:solidFill>
                  <a:srgbClr val="16171D"/>
                </a:solidFill>
                <a:latin typeface="Segoe UI"/>
                <a:cs typeface="Segoe UI"/>
              </a:rPr>
              <a:t xml:space="preserve"> Parallel means the </a:t>
            </a:r>
            <a:r>
              <a:rPr lang="en-US" sz="1575" dirty="0" b="1">
                <a:solidFill>
                  <a:srgbClr val="16171D"/>
                </a:solidFill>
                <a:latin typeface="Segoe UI"/>
                <a:cs typeface="Segoe UI"/>
              </a:rPr>
              <a:t xml:space="preserve">same slope</a:t>
            </a:r>
            <a:r>
              <a:rPr lang="en-US" sz="1575" dirty="0">
                <a:solidFill>
                  <a:srgbClr val="16171D"/>
                </a:solidFill>
                <a:latin typeface="Segoe UI"/>
                <a:cs typeface="Segoe UI"/>
              </a:rPr>
              <a:t xml:space="preserve">: </a:t>
            </a:r>
            <a:r>
              <a:rPr lang="en-US" sz="1575" dirty="0" i="1">
                <a:solidFill>
                  <a:srgbClr val="16171D"/>
                </a:solidFill>
                <a:latin typeface="Segoe UI"/>
                <a:cs typeface="Segoe UI"/>
              </a:rPr>
              <a:t xml:space="preserve">m</a:t>
            </a:r>
            <a:r>
              <a:rPr lang="en-US" sz="1575" dirty="0">
                <a:solidFill>
                  <a:srgbClr val="16171D"/>
                </a:solidFill>
                <a:latin typeface="Segoe UI"/>
                <a:cs typeface="Segoe UI"/>
              </a:rPr>
              <a:t xml:space="preserve"> = 2.</a:t>
            </a:r>
            <a:endParaRPr lang="en-US" sz="1575" dirty="0"/>
          </a:p>
        </p:txBody>
      </p:sp>
      <p:sp>
        <p:nvSpPr>
          <p:cNvPr id="6" name="Shape 6"/>
          <p:cNvSpPr txBox="1"/>
          <p:nvPr/>
        </p:nvSpPr>
        <p:spPr>
          <a:xfrm>
            <a:off x="895350" y="2650236"/>
            <a:ext cx="487664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Step 2.</a:t>
            </a:r>
            <a:r>
              <a:rPr lang="en-US" sz="1575" dirty="0">
                <a:solidFill>
                  <a:srgbClr val="16171D"/>
                </a:solidFill>
                <a:latin typeface="Segoe UI"/>
                <a:cs typeface="Segoe UI"/>
              </a:rPr>
              <a:t xml:space="preserve"> Put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 0 and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 = 4 into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 = </a:t>
            </a:r>
            <a:r>
              <a:rPr lang="en-US" sz="1575" dirty="0" i="1">
                <a:solidFill>
                  <a:srgbClr val="16171D"/>
                </a:solidFill>
                <a:latin typeface="Segoe UI"/>
                <a:cs typeface="Segoe UI"/>
              </a:rPr>
              <a:t xml:space="preserve">mx</a:t>
            </a:r>
            <a:r>
              <a:rPr lang="en-US" sz="1575" dirty="0">
                <a:solidFill>
                  <a:srgbClr val="16171D"/>
                </a:solidFill>
                <a:latin typeface="Segoe UI"/>
                <a:cs typeface="Segoe UI"/>
              </a:rPr>
              <a:t xml:space="preserve"> + </a:t>
            </a:r>
            <a:r>
              <a:rPr lang="en-US" sz="1575" dirty="0" i="1">
                <a:solidFill>
                  <a:srgbClr val="16171D"/>
                </a:solidFill>
                <a:latin typeface="Segoe UI"/>
                <a:cs typeface="Segoe UI"/>
              </a:rPr>
              <a:t xml:space="preserve">b</a:t>
            </a:r>
            <a:r>
              <a:rPr lang="en-US" sz="1575" dirty="0">
                <a:solidFill>
                  <a:srgbClr val="16171D"/>
                </a:solidFill>
                <a:latin typeface="Segoe UI"/>
                <a:cs typeface="Segoe UI"/>
              </a:rPr>
              <a:t xml:space="preserve">: 4 = 2(0) + </a:t>
            </a:r>
            <a:r>
              <a:rPr lang="en-US" sz="1575" dirty="0" i="1">
                <a:solidFill>
                  <a:srgbClr val="16171D"/>
                </a:solidFill>
                <a:latin typeface="Segoe UI"/>
                <a:cs typeface="Segoe UI"/>
              </a:rPr>
              <a:t xml:space="preserve">b</a:t>
            </a:r>
            <a:r>
              <a:rPr lang="en-US" sz="1575" dirty="0">
                <a:solidFill>
                  <a:srgbClr val="16171D"/>
                </a:solidFill>
                <a:latin typeface="Segoe UI"/>
                <a:cs typeface="Segoe UI"/>
              </a:rPr>
              <a:t xml:space="preserve">.</a:t>
            </a:r>
            <a:endParaRPr lang="en-US" sz="1575" dirty="0"/>
          </a:p>
        </p:txBody>
      </p:sp>
      <p:sp>
        <p:nvSpPr>
          <p:cNvPr id="7" name="Shape 7"/>
          <p:cNvSpPr txBox="1"/>
          <p:nvPr/>
        </p:nvSpPr>
        <p:spPr>
          <a:xfrm>
            <a:off x="895350" y="3280410"/>
            <a:ext cx="48766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Step 3.</a:t>
            </a:r>
            <a:r>
              <a:rPr lang="en-US" sz="1575" dirty="0">
                <a:solidFill>
                  <a:srgbClr val="16171D"/>
                </a:solidFill>
                <a:latin typeface="Segoe UI"/>
                <a:cs typeface="Segoe UI"/>
              </a:rPr>
              <a:t xml:space="preserve"> 2(0) = 0, so 4 = </a:t>
            </a:r>
            <a:r>
              <a:rPr lang="en-US" sz="1575" dirty="0" i="1">
                <a:solidFill>
                  <a:srgbClr val="16171D"/>
                </a:solidFill>
                <a:latin typeface="Segoe UI"/>
                <a:cs typeface="Segoe UI"/>
              </a:rPr>
              <a:t xml:space="preserve">b</a:t>
            </a:r>
            <a:r>
              <a:rPr lang="en-US" sz="1575" dirty="0">
                <a:solidFill>
                  <a:srgbClr val="16171D"/>
                </a:solidFill>
                <a:latin typeface="Segoe UI"/>
                <a:cs typeface="Segoe UI"/>
              </a:rPr>
              <a:t xml:space="preserve">.</a:t>
            </a:r>
            <a:endParaRPr lang="en-US" sz="1575" dirty="0"/>
          </a:p>
        </p:txBody>
      </p:sp>
      <p:sp>
        <p:nvSpPr>
          <p:cNvPr id="8" name="Shape 8"/>
          <p:cNvSpPr txBox="1"/>
          <p:nvPr/>
        </p:nvSpPr>
        <p:spPr>
          <a:xfrm>
            <a:off x="895350" y="3670554"/>
            <a:ext cx="48766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Step 4.</a:t>
            </a:r>
            <a:r>
              <a:rPr lang="en-US" sz="1575" dirty="0">
                <a:solidFill>
                  <a:srgbClr val="16171D"/>
                </a:solidFill>
                <a:latin typeface="Segoe UI"/>
                <a:cs typeface="Segoe UI"/>
              </a:rPr>
              <a:t xml:space="preserve"> Write the slope and </a:t>
            </a:r>
            <a:r>
              <a:rPr lang="en-US" sz="1575" dirty="0" i="1">
                <a:solidFill>
                  <a:srgbClr val="16171D"/>
                </a:solidFill>
                <a:latin typeface="Segoe UI"/>
                <a:cs typeface="Segoe UI"/>
              </a:rPr>
              <a:t xml:space="preserve">b</a:t>
            </a:r>
            <a:r>
              <a:rPr lang="en-US" sz="1575" dirty="0">
                <a:solidFill>
                  <a:srgbClr val="16171D"/>
                </a:solidFill>
                <a:latin typeface="Segoe UI"/>
                <a:cs typeface="Segoe UI"/>
              </a:rPr>
              <a:t xml:space="preserve">: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 = 2</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+ 4.</a:t>
            </a:r>
            <a:endParaRPr lang="en-US" sz="1575" dirty="0"/>
          </a:p>
        </p:txBody>
      </p:sp>
      <p:sp>
        <p:nvSpPr>
          <p:cNvPr id="9" name="Shape 9"/>
          <p:cNvSpPr txBox="1"/>
          <p:nvPr/>
        </p:nvSpPr>
        <p:spPr>
          <a:xfrm>
            <a:off x="895350" y="4060698"/>
            <a:ext cx="3571326"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+ 4</a:t>
            </a:r>
            <a:endParaRPr lang="en-US" sz="2325" dirty="0"/>
          </a:p>
        </p:txBody>
      </p:sp>
      <p:sp>
        <p:nvSpPr>
          <p:cNvPr id="17" name="Shape 17"/>
          <p:cNvSpPr txBox="1"/>
          <p:nvPr/>
        </p:nvSpPr>
        <p:spPr>
          <a:xfrm>
            <a:off x="6210148" y="1618488"/>
            <a:ext cx="5295748" cy="313258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1" name="Shape 11"/>
          <p:cNvSpPr txBox="1"/>
          <p:nvPr/>
        </p:nvSpPr>
        <p:spPr>
          <a:xfrm>
            <a:off x="6419698" y="1789938"/>
            <a:ext cx="487664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2. Through (2, 0)</a:t>
            </a:r>
            <a:endParaRPr lang="en-US" sz="2100" dirty="0"/>
          </a:p>
        </p:txBody>
      </p:sp>
      <p:sp>
        <p:nvSpPr>
          <p:cNvPr id="12" name="Shape 12"/>
          <p:cNvSpPr txBox="1"/>
          <p:nvPr/>
        </p:nvSpPr>
        <p:spPr>
          <a:xfrm>
            <a:off x="6419698" y="2260092"/>
            <a:ext cx="48766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Step 1.</a:t>
            </a:r>
            <a:r>
              <a:rPr lang="en-US" sz="1575" dirty="0">
                <a:solidFill>
                  <a:srgbClr val="16171D"/>
                </a:solidFill>
                <a:latin typeface="Segoe UI"/>
                <a:cs typeface="Segoe UI"/>
              </a:rPr>
              <a:t xml:space="preserve"> Same slope: </a:t>
            </a:r>
            <a:r>
              <a:rPr lang="en-US" sz="1575" dirty="0" i="1">
                <a:solidFill>
                  <a:srgbClr val="16171D"/>
                </a:solidFill>
                <a:latin typeface="Segoe UI"/>
                <a:cs typeface="Segoe UI"/>
              </a:rPr>
              <a:t xml:space="preserve">m</a:t>
            </a:r>
            <a:r>
              <a:rPr lang="en-US" sz="1575" dirty="0">
                <a:solidFill>
                  <a:srgbClr val="16171D"/>
                </a:solidFill>
                <a:latin typeface="Segoe UI"/>
                <a:cs typeface="Segoe UI"/>
              </a:rPr>
              <a:t xml:space="preserve"> = 2.</a:t>
            </a:r>
            <a:endParaRPr lang="en-US" sz="1575" dirty="0"/>
          </a:p>
        </p:txBody>
      </p:sp>
      <p:sp>
        <p:nvSpPr>
          <p:cNvPr id="13" name="Shape 13"/>
          <p:cNvSpPr txBox="1"/>
          <p:nvPr/>
        </p:nvSpPr>
        <p:spPr>
          <a:xfrm>
            <a:off x="6419698" y="2650236"/>
            <a:ext cx="487664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Step 2.</a:t>
            </a:r>
            <a:r>
              <a:rPr lang="en-US" sz="1575" dirty="0">
                <a:solidFill>
                  <a:srgbClr val="16171D"/>
                </a:solidFill>
                <a:latin typeface="Segoe UI"/>
                <a:cs typeface="Segoe UI"/>
              </a:rPr>
              <a:t xml:space="preserve"> Put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 2 and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 = 0 into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 = </a:t>
            </a:r>
            <a:r>
              <a:rPr lang="en-US" sz="1575" dirty="0" i="1">
                <a:solidFill>
                  <a:srgbClr val="16171D"/>
                </a:solidFill>
                <a:latin typeface="Segoe UI"/>
                <a:cs typeface="Segoe UI"/>
              </a:rPr>
              <a:t xml:space="preserve">mx</a:t>
            </a:r>
            <a:r>
              <a:rPr lang="en-US" sz="1575" dirty="0">
                <a:solidFill>
                  <a:srgbClr val="16171D"/>
                </a:solidFill>
                <a:latin typeface="Segoe UI"/>
                <a:cs typeface="Segoe UI"/>
              </a:rPr>
              <a:t xml:space="preserve"> + </a:t>
            </a:r>
            <a:r>
              <a:rPr lang="en-US" sz="1575" dirty="0" i="1">
                <a:solidFill>
                  <a:srgbClr val="16171D"/>
                </a:solidFill>
                <a:latin typeface="Segoe UI"/>
                <a:cs typeface="Segoe UI"/>
              </a:rPr>
              <a:t xml:space="preserve">b</a:t>
            </a:r>
            <a:r>
              <a:rPr lang="en-US" sz="1575" dirty="0">
                <a:solidFill>
                  <a:srgbClr val="16171D"/>
                </a:solidFill>
                <a:latin typeface="Segoe UI"/>
                <a:cs typeface="Segoe UI"/>
              </a:rPr>
              <a:t xml:space="preserve">: 0 = 2(2) + </a:t>
            </a:r>
            <a:r>
              <a:rPr lang="en-US" sz="1575" dirty="0" i="1">
                <a:solidFill>
                  <a:srgbClr val="16171D"/>
                </a:solidFill>
                <a:latin typeface="Segoe UI"/>
                <a:cs typeface="Segoe UI"/>
              </a:rPr>
              <a:t xml:space="preserve">b</a:t>
            </a:r>
            <a:r>
              <a:rPr lang="en-US" sz="1575" dirty="0">
                <a:solidFill>
                  <a:srgbClr val="16171D"/>
                </a:solidFill>
                <a:latin typeface="Segoe UI"/>
                <a:cs typeface="Segoe UI"/>
              </a:rPr>
              <a:t xml:space="preserve">.</a:t>
            </a:r>
            <a:endParaRPr lang="en-US" sz="1575" dirty="0"/>
          </a:p>
        </p:txBody>
      </p:sp>
      <p:sp>
        <p:nvSpPr>
          <p:cNvPr id="14" name="Shape 14"/>
          <p:cNvSpPr txBox="1"/>
          <p:nvPr/>
        </p:nvSpPr>
        <p:spPr>
          <a:xfrm>
            <a:off x="6419698" y="3280410"/>
            <a:ext cx="48766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Step 3.</a:t>
            </a:r>
            <a:r>
              <a:rPr lang="en-US" sz="1575" dirty="0">
                <a:solidFill>
                  <a:srgbClr val="16171D"/>
                </a:solidFill>
                <a:latin typeface="Segoe UI"/>
                <a:cs typeface="Segoe UI"/>
              </a:rPr>
              <a:t xml:space="preserve"> Multiply: 0 = 4 + </a:t>
            </a:r>
            <a:r>
              <a:rPr lang="en-US" sz="1575" dirty="0" i="1">
                <a:solidFill>
                  <a:srgbClr val="16171D"/>
                </a:solidFill>
                <a:latin typeface="Segoe UI"/>
                <a:cs typeface="Segoe UI"/>
              </a:rPr>
              <a:t xml:space="preserve">b</a:t>
            </a:r>
            <a:r>
              <a:rPr lang="en-US" sz="1575" dirty="0">
                <a:solidFill>
                  <a:srgbClr val="16171D"/>
                </a:solidFill>
                <a:latin typeface="Segoe UI"/>
                <a:cs typeface="Segoe UI"/>
              </a:rPr>
              <a:t xml:space="preserve">.</a:t>
            </a:r>
            <a:endParaRPr lang="en-US" sz="1575" dirty="0"/>
          </a:p>
        </p:txBody>
      </p:sp>
      <p:sp>
        <p:nvSpPr>
          <p:cNvPr id="15" name="Shape 15"/>
          <p:cNvSpPr txBox="1"/>
          <p:nvPr/>
        </p:nvSpPr>
        <p:spPr>
          <a:xfrm>
            <a:off x="6419698" y="3670554"/>
            <a:ext cx="48766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Step 4.</a:t>
            </a:r>
            <a:r>
              <a:rPr lang="en-US" sz="1575" dirty="0">
                <a:solidFill>
                  <a:srgbClr val="16171D"/>
                </a:solidFill>
                <a:latin typeface="Segoe UI"/>
                <a:cs typeface="Segoe UI"/>
              </a:rPr>
              <a:t xml:space="preserve"> Subtract 4 from both sides: −4 = </a:t>
            </a:r>
            <a:r>
              <a:rPr lang="en-US" sz="1575" dirty="0" i="1">
                <a:solidFill>
                  <a:srgbClr val="16171D"/>
                </a:solidFill>
                <a:latin typeface="Segoe UI"/>
                <a:cs typeface="Segoe UI"/>
              </a:rPr>
              <a:t xml:space="preserve">b</a:t>
            </a:r>
            <a:r>
              <a:rPr lang="en-US" sz="1575" dirty="0">
                <a:solidFill>
                  <a:srgbClr val="16171D"/>
                </a:solidFill>
                <a:latin typeface="Segoe UI"/>
                <a:cs typeface="Segoe UI"/>
              </a:rPr>
              <a:t xml:space="preserve">.</a:t>
            </a:r>
            <a:endParaRPr lang="en-US" sz="1575" dirty="0"/>
          </a:p>
        </p:txBody>
      </p:sp>
      <p:sp>
        <p:nvSpPr>
          <p:cNvPr id="16" name="Shape 16"/>
          <p:cNvSpPr txBox="1"/>
          <p:nvPr/>
        </p:nvSpPr>
        <p:spPr>
          <a:xfrm>
            <a:off x="6419698" y="4060698"/>
            <a:ext cx="3571326"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− 4</a:t>
            </a:r>
            <a:endParaRPr lang="en-US" sz="2325" dirty="0"/>
          </a:p>
        </p:txBody>
      </p:sp>
      <p:sp>
        <p:nvSpPr>
          <p:cNvPr id="18" name="Slide Number 18"/>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14</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anim calcmode="lin" valueType="num">
                                      <p:cBhvr>
                                        <p:cTn id="12" dur="500" fill="hold"/>
                                        <p:tgtEl>
                                          <p:spTgt spid="6"/>
                                        </p:tgtEl>
                                        <p:attrNameLst>
                                          <p:attrName>ppt_x</p:attrName>
                                        </p:attrNameLst>
                                      </p:cBhvr>
                                      <p:tavLst>
                                        <p:tav tm="0">
                                          <p:val>
                                            <p:strVal val="#ppt_x"/>
                                          </p:val>
                                        </p:tav>
                                        <p:tav tm="100000">
                                          <p:val>
                                            <p:strVal val="#ppt_x"/>
                                          </p:val>
                                        </p:tav>
                                      </p:tavLst>
                                    </p:anim>
                                    <p:anim calcmode="lin" valueType="num">
                                      <p:cBhvr>
                                        <p:cTn id="13"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anim calcmode="lin" valueType="num">
                                      <p:cBhvr>
                                        <p:cTn id="19" dur="500" fill="hold"/>
                                        <p:tgtEl>
                                          <p:spTgt spid="7"/>
                                        </p:tgtEl>
                                        <p:attrNameLst>
                                          <p:attrName>ppt_x</p:attrName>
                                        </p:attrNameLst>
                                      </p:cBhvr>
                                      <p:tavLst>
                                        <p:tav tm="0">
                                          <p:val>
                                            <p:strVal val="#ppt_x"/>
                                          </p:val>
                                        </p:tav>
                                        <p:tav tm="100000">
                                          <p:val>
                                            <p:strVal val="#ppt_x"/>
                                          </p:val>
                                        </p:tav>
                                      </p:tavLst>
                                    </p:anim>
                                    <p:anim calcmode="lin" valueType="num">
                                      <p:cBhvr>
                                        <p:cTn id="20"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anim calcmode="lin" valueType="num">
                                      <p:cBhvr>
                                        <p:cTn id="26" dur="500" fill="hold"/>
                                        <p:tgtEl>
                                          <p:spTgt spid="8"/>
                                        </p:tgtEl>
                                        <p:attrNameLst>
                                          <p:attrName>ppt_x</p:attrName>
                                        </p:attrNameLst>
                                      </p:cBhvr>
                                      <p:tavLst>
                                        <p:tav tm="0">
                                          <p:val>
                                            <p:strVal val="#ppt_x"/>
                                          </p:val>
                                        </p:tav>
                                        <p:tav tm="100000">
                                          <p:val>
                                            <p:strVal val="#ppt_x"/>
                                          </p:val>
                                        </p:tav>
                                      </p:tavLst>
                                    </p:anim>
                                    <p:anim calcmode="lin" valueType="num">
                                      <p:cBhvr>
                                        <p:cTn id="27"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5" presetID="53" presetClass="entr" presetSubtype="16"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anim calcmode="lin" valueType="num">
                                      <p:cBhvr>
                                        <p:cTn id="33" dur="500" fill="hold"/>
                                        <p:tgtEl>
                                          <p:spTgt spid="9"/>
                                        </p:tgtEl>
                                        <p:attrNameLst>
                                          <p:attrName>ppt_w</p:attrName>
                                        </p:attrNameLst>
                                      </p:cBhvr>
                                      <p:tavLst>
                                        <p:tav tm="0">
                                          <p:val>
                                            <p:fltVal val="0"/>
                                          </p:val>
                                        </p:tav>
                                        <p:tav tm="100000">
                                          <p:val>
                                            <p:strVal val="#ppt_w"/>
                                          </p:val>
                                        </p:tav>
                                      </p:tavLst>
                                    </p:anim>
                                    <p:anim calcmode="lin" valueType="num">
                                      <p:cBhvr>
                                        <p:cTn id="34"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43" fill="hold">
                      <p:stCondLst>
                        <p:cond delay="indefinite"/>
                      </p:stCondLst>
                      <p:childTnLst>
                        <p:par>
                          <p:cTn id="44" fill="hold">
                            <p:stCondLst>
                              <p:cond delay="0"/>
                            </p:stCondLst>
                            <p:childTnLst>
                              <p:par>
                                <p:cTn id="42" presetID="42" presetClass="entr" presetSubtype="0" fill="hold" nodeType="click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500"/>
                                        <p:tgtEl>
                                          <p:spTgt spid="12"/>
                                        </p:tgtEl>
                                      </p:cBhvr>
                                    </p:animEffect>
                                    <p:anim calcmode="lin" valueType="num">
                                      <p:cBhvr>
                                        <p:cTn id="40" dur="500" fill="hold"/>
                                        <p:tgtEl>
                                          <p:spTgt spid="12"/>
                                        </p:tgtEl>
                                        <p:attrNameLst>
                                          <p:attrName>ppt_x</p:attrName>
                                        </p:attrNameLst>
                                      </p:cBhvr>
                                      <p:tavLst>
                                        <p:tav tm="0">
                                          <p:val>
                                            <p:strVal val="#ppt_x"/>
                                          </p:val>
                                        </p:tav>
                                        <p:tav tm="100000">
                                          <p:val>
                                            <p:strVal val="#ppt_x"/>
                                          </p:val>
                                        </p:tav>
                                      </p:tavLst>
                                    </p:anim>
                                    <p:anim calcmode="lin" valueType="num">
                                      <p:cBhvr>
                                        <p:cTn id="41" dur="5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49" presetID="42" presetClass="entr" presetSubtype="0" fill="hold" nodeType="click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500"/>
                                        <p:tgtEl>
                                          <p:spTgt spid="13"/>
                                        </p:tgtEl>
                                      </p:cBhvr>
                                    </p:animEffect>
                                    <p:anim calcmode="lin" valueType="num">
                                      <p:cBhvr>
                                        <p:cTn id="47" dur="500" fill="hold"/>
                                        <p:tgtEl>
                                          <p:spTgt spid="13"/>
                                        </p:tgtEl>
                                        <p:attrNameLst>
                                          <p:attrName>ppt_x</p:attrName>
                                        </p:attrNameLst>
                                      </p:cBhvr>
                                      <p:tavLst>
                                        <p:tav tm="0">
                                          <p:val>
                                            <p:strVal val="#ppt_x"/>
                                          </p:val>
                                        </p:tav>
                                        <p:tav tm="100000">
                                          <p:val>
                                            <p:strVal val="#ppt_x"/>
                                          </p:val>
                                        </p:tav>
                                      </p:tavLst>
                                    </p:anim>
                                    <p:anim calcmode="lin" valueType="num">
                                      <p:cBhvr>
                                        <p:cTn id="48" dur="5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6" presetID="42" presetClass="entr" presetSubtype="0" fill="hold" nodeType="clickEffect">
                                  <p:stCondLst>
                                    <p:cond delay="0"/>
                                  </p:stCondLst>
                                  <p:childTnLst>
                                    <p:set>
                                      <p:cBhvr>
                                        <p:cTn id="52" dur="1" fill="hold">
                                          <p:stCondLst>
                                            <p:cond delay="0"/>
                                          </p:stCondLst>
                                        </p:cTn>
                                        <p:tgtEl>
                                          <p:spTgt spid="14"/>
                                        </p:tgtEl>
                                        <p:attrNameLst>
                                          <p:attrName>style.visibility</p:attrName>
                                        </p:attrNameLst>
                                      </p:cBhvr>
                                      <p:to>
                                        <p:strVal val="visible"/>
                                      </p:to>
                                    </p:set>
                                    <p:animEffect transition="in" filter="fade">
                                      <p:cBhvr>
                                        <p:cTn id="53" dur="500"/>
                                        <p:tgtEl>
                                          <p:spTgt spid="14"/>
                                        </p:tgtEl>
                                      </p:cBhvr>
                                    </p:animEffect>
                                    <p:anim calcmode="lin" valueType="num">
                                      <p:cBhvr>
                                        <p:cTn id="54" dur="500" fill="hold"/>
                                        <p:tgtEl>
                                          <p:spTgt spid="14"/>
                                        </p:tgtEl>
                                        <p:attrNameLst>
                                          <p:attrName>ppt_x</p:attrName>
                                        </p:attrNameLst>
                                      </p:cBhvr>
                                      <p:tavLst>
                                        <p:tav tm="0">
                                          <p:val>
                                            <p:strVal val="#ppt_x"/>
                                          </p:val>
                                        </p:tav>
                                        <p:tav tm="100000">
                                          <p:val>
                                            <p:strVal val="#ppt_x"/>
                                          </p:val>
                                        </p:tav>
                                      </p:tavLst>
                                    </p:anim>
                                    <p:anim calcmode="lin" valueType="num">
                                      <p:cBhvr>
                                        <p:cTn id="55" dur="5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3" presetID="42" presetClass="entr" presetSubtype="0" fill="hold"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anim calcmode="lin" valueType="num">
                                      <p:cBhvr>
                                        <p:cTn id="61" dur="500" fill="hold"/>
                                        <p:tgtEl>
                                          <p:spTgt spid="15"/>
                                        </p:tgtEl>
                                        <p:attrNameLst>
                                          <p:attrName>ppt_x</p:attrName>
                                        </p:attrNameLst>
                                      </p:cBhvr>
                                      <p:tavLst>
                                        <p:tav tm="0">
                                          <p:val>
                                            <p:strVal val="#ppt_x"/>
                                          </p:val>
                                        </p:tav>
                                        <p:tav tm="100000">
                                          <p:val>
                                            <p:strVal val="#ppt_x"/>
                                          </p:val>
                                        </p:tav>
                                      </p:tavLst>
                                    </p:anim>
                                    <p:anim calcmode="lin" valueType="num">
                                      <p:cBhvr>
                                        <p:cTn id="62" dur="5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0" presetID="53" presetClass="entr" presetSubtype="16" fill="hold" nodeType="clickEffect">
                                  <p:stCondLst>
                                    <p:cond delay="0"/>
                                  </p:stCondLst>
                                  <p:childTnLst>
                                    <p:set>
                                      <p:cBhvr>
                                        <p:cTn id="66" dur="1" fill="hold">
                                          <p:stCondLst>
                                            <p:cond delay="0"/>
                                          </p:stCondLst>
                                        </p:cTn>
                                        <p:tgtEl>
                                          <p:spTgt spid="16"/>
                                        </p:tgtEl>
                                        <p:attrNameLst>
                                          <p:attrName>style.visibility</p:attrName>
                                        </p:attrNameLst>
                                      </p:cBhvr>
                                      <p:to>
                                        <p:strVal val="visible"/>
                                      </p:to>
                                    </p:set>
                                    <p:animEffect transition="in" filter="fade">
                                      <p:cBhvr>
                                        <p:cTn id="67" dur="500"/>
                                        <p:tgtEl>
                                          <p:spTgt spid="16"/>
                                        </p:tgtEl>
                                      </p:cBhvr>
                                    </p:animEffect>
                                    <p:anim calcmode="lin" valueType="num">
                                      <p:cBhvr>
                                        <p:cTn id="68" dur="500" fill="hold"/>
                                        <p:tgtEl>
                                          <p:spTgt spid="16"/>
                                        </p:tgtEl>
                                        <p:attrNameLst>
                                          <p:attrName>ppt_w</p:attrName>
                                        </p:attrNameLst>
                                      </p:cBhvr>
                                      <p:tavLst>
                                        <p:tav tm="0">
                                          <p:val>
                                            <p:fltVal val="0"/>
                                          </p:val>
                                        </p:tav>
                                        <p:tav tm="100000">
                                          <p:val>
                                            <p:strVal val="#ppt_w"/>
                                          </p:val>
                                        </p:tav>
                                      </p:tavLst>
                                    </p:anim>
                                    <p:anim calcmode="lin" valueType="num">
                                      <p:cBhvr>
                                        <p:cTn id="69" dur="500" fill="hold"/>
                                        <p:tgtEl>
                                          <p:spTgt spid="1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Exit Ticket</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Show what you know</a:t>
            </a:r>
            <a:endParaRPr lang="en-US" sz="3450" dirty="0"/>
          </a:p>
        </p:txBody>
      </p:sp>
      <p:sp>
        <p:nvSpPr>
          <p:cNvPr id="6" name="Shape 6"/>
          <p:cNvSpPr txBox="1"/>
          <p:nvPr/>
        </p:nvSpPr>
        <p:spPr>
          <a:xfrm>
            <a:off x="685800" y="1618488"/>
            <a:ext cx="10820095" cy="1309116"/>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104009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a:t>
            </a:r>
            <a:r>
              <a:rPr lang="en-US" sz="1950" dirty="0" i="1">
                <a:solidFill>
                  <a:srgbClr val="16171D"/>
                </a:solidFill>
                <a:latin typeface="Segoe UI"/>
                <a:cs typeface="Segoe UI"/>
              </a:rPr>
              <a:t xml:space="preserve">g</a:t>
            </a:r>
            <a:r>
              <a:rPr lang="en-US" sz="1950" dirty="0">
                <a:solidFill>
                  <a:srgbClr val="16171D"/>
                </a:solidFill>
                <a:latin typeface="Segoe UI"/>
                <a:cs typeface="Segoe UI"/>
              </a:rPr>
              <a:t xml:space="preserve">(</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a:t>
            </a:r>
            <a:r>
              <a:rPr lang="en-US" sz="1950" dirty="0" i="1">
                <a:solidFill>
                  <a:srgbClr val="16171D"/>
                </a:solidFill>
                <a:latin typeface="Segoe UI"/>
                <a:cs typeface="Segoe UI"/>
              </a:rPr>
              <a:t xml:space="preserve">f</a:t>
            </a:r>
            <a:r>
              <a:rPr lang="en-US" sz="1950" dirty="0">
                <a:solidFill>
                  <a:srgbClr val="16171D"/>
                </a:solidFill>
                <a:latin typeface="Segoe UI"/>
                <a:cs typeface="Segoe UI"/>
              </a:rPr>
              <a:t xml:space="preserve">(</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+ 6. Up or down? How far?</a:t>
            </a:r>
            <a:endParaRPr lang="en-US" sz="1950" dirty="0"/>
          </a:p>
        </p:txBody>
      </p:sp>
      <p:sp>
        <p:nvSpPr>
          <p:cNvPr id="5" name="Shape 5"/>
          <p:cNvSpPr txBox="1"/>
          <p:nvPr/>
        </p:nvSpPr>
        <p:spPr>
          <a:xfrm>
            <a:off x="895350" y="2237232"/>
            <a:ext cx="2576368"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up 6</a:t>
            </a:r>
            <a:endParaRPr lang="en-US" sz="2325" dirty="0"/>
          </a:p>
        </p:txBody>
      </p:sp>
      <p:sp>
        <p:nvSpPr>
          <p:cNvPr id="9" name="Shape 9"/>
          <p:cNvSpPr txBox="1"/>
          <p:nvPr/>
        </p:nvSpPr>
        <p:spPr>
          <a:xfrm>
            <a:off x="685800" y="3060954"/>
            <a:ext cx="10820095" cy="1309116"/>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7" name="Shape 7"/>
          <p:cNvSpPr txBox="1"/>
          <p:nvPr/>
        </p:nvSpPr>
        <p:spPr>
          <a:xfrm>
            <a:off x="895350" y="3232404"/>
            <a:ext cx="104009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What is the slope of </a:t>
            </a:r>
            <a:r>
              <a:rPr lang="en-US" sz="1950" dirty="0" i="1">
                <a:solidFill>
                  <a:srgbClr val="16171D"/>
                </a:solidFill>
                <a:latin typeface="Segoe UI"/>
                <a:cs typeface="Segoe UI"/>
              </a:rPr>
              <a:t xml:space="preserve">g</a:t>
            </a:r>
            <a:r>
              <a:rPr lang="en-US" sz="1950" dirty="0">
                <a:solidFill>
                  <a:srgbClr val="16171D"/>
                </a:solidFill>
                <a:latin typeface="Segoe UI"/>
                <a:cs typeface="Segoe UI"/>
              </a:rPr>
              <a:t xml:space="preserve">(</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5 · </a:t>
            </a:r>
            <a:r>
              <a:rPr lang="en-US" sz="1950" dirty="0" i="1">
                <a:solidFill>
                  <a:srgbClr val="16171D"/>
                </a:solidFill>
                <a:latin typeface="Segoe UI"/>
                <a:cs typeface="Segoe UI"/>
              </a:rPr>
              <a:t xml:space="preserve">f</a:t>
            </a:r>
            <a:r>
              <a:rPr lang="en-US" sz="1950" dirty="0">
                <a:solidFill>
                  <a:srgbClr val="16171D"/>
                </a:solidFill>
                <a:latin typeface="Segoe UI"/>
                <a:cs typeface="Segoe UI"/>
              </a:rPr>
              <a:t xml:space="preserve">(</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a:t>
            </a:r>
            <a:endParaRPr lang="en-US" sz="1950" dirty="0"/>
          </a:p>
        </p:txBody>
      </p:sp>
      <p:sp>
        <p:nvSpPr>
          <p:cNvPr id="8" name="Shape 8"/>
          <p:cNvSpPr txBox="1"/>
          <p:nvPr/>
        </p:nvSpPr>
        <p:spPr>
          <a:xfrm>
            <a:off x="895350" y="3679698"/>
            <a:ext cx="2078888"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5</a:t>
            </a:r>
            <a:endParaRPr lang="en-US" sz="2325" dirty="0"/>
          </a:p>
        </p:txBody>
      </p:sp>
      <p:sp>
        <p:nvSpPr>
          <p:cNvPr id="12" name="Shape 12"/>
          <p:cNvSpPr txBox="1"/>
          <p:nvPr/>
        </p:nvSpPr>
        <p:spPr>
          <a:xfrm>
            <a:off x="685800" y="4503420"/>
            <a:ext cx="10820095" cy="1309116"/>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0" name="Shape 10"/>
          <p:cNvSpPr txBox="1"/>
          <p:nvPr/>
        </p:nvSpPr>
        <p:spPr>
          <a:xfrm>
            <a:off x="895350" y="4674870"/>
            <a:ext cx="104009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3. Write the line parallel to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 = 4</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+ 1 through (0, −2).</a:t>
            </a:r>
            <a:endParaRPr lang="en-US" sz="1950" dirty="0"/>
          </a:p>
        </p:txBody>
      </p:sp>
      <p:sp>
        <p:nvSpPr>
          <p:cNvPr id="11" name="Shape 11"/>
          <p:cNvSpPr txBox="1"/>
          <p:nvPr/>
        </p:nvSpPr>
        <p:spPr>
          <a:xfrm>
            <a:off x="895350" y="5122164"/>
            <a:ext cx="3571326"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4</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− 2</a:t>
            </a:r>
            <a:endParaRPr lang="en-US" sz="2325" dirty="0"/>
          </a:p>
        </p:txBody>
      </p:sp>
      <p:sp>
        <p:nvSpPr>
          <p:cNvPr id="13" name="Slide Number 13"/>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15</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anim calcmode="lin" valueType="num">
                                      <p:cBhvr>
                                        <p:cTn id="12" dur="500" fill="hold"/>
                                        <p:tgtEl>
                                          <p:spTgt spid="8"/>
                                        </p:tgtEl>
                                        <p:attrNameLst>
                                          <p:attrName>ppt_w</p:attrName>
                                        </p:attrNameLst>
                                      </p:cBhvr>
                                      <p:tavLst>
                                        <p:tav tm="0">
                                          <p:val>
                                            <p:fltVal val="0"/>
                                          </p:val>
                                        </p:tav>
                                        <p:tav tm="100000">
                                          <p:val>
                                            <p:strVal val="#ppt_w"/>
                                          </p:val>
                                        </p:tav>
                                      </p:tavLst>
                                    </p:anim>
                                    <p:anim calcmode="lin" valueType="num">
                                      <p:cBhvr>
                                        <p:cTn id="13" dur="500" fill="hold"/>
                                        <p:tgtEl>
                                          <p:spTgt spid="8"/>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anim calcmode="lin" valueType="num">
                                      <p:cBhvr>
                                        <p:cTn id="19" dur="500" fill="hold"/>
                                        <p:tgtEl>
                                          <p:spTgt spid="11"/>
                                        </p:tgtEl>
                                        <p:attrNameLst>
                                          <p:attrName>ppt_w</p:attrName>
                                        </p:attrNameLst>
                                      </p:cBhvr>
                                      <p:tavLst>
                                        <p:tav tm="0">
                                          <p:val>
                                            <p:fltVal val="0"/>
                                          </p:val>
                                        </p:tav>
                                        <p:tav tm="100000">
                                          <p:val>
                                            <p:strVal val="#ppt_w"/>
                                          </p:val>
                                        </p:tav>
                                      </p:tavLst>
                                    </p:anim>
                                    <p:anim calcmode="lin" valueType="num">
                                      <p:cBhvr>
                                        <p:cTn id="20" dur="500" fill="hold"/>
                                        <p:tgtEl>
                                          <p:spTgt spid="1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Practice Online</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Bell work, homework and quiz</a:t>
            </a:r>
            <a:endParaRPr lang="en-US" sz="3450" dirty="0"/>
          </a:p>
        </p:txBody>
      </p:sp>
      <p:sp>
        <p:nvSpPr>
          <p:cNvPr id="4" name="Shape 4"/>
          <p:cNvSpPr txBox="1"/>
          <p:nvPr/>
        </p:nvSpPr>
        <p:spPr>
          <a:xfrm>
            <a:off x="685800" y="1675638"/>
            <a:ext cx="10820095" cy="329184"/>
          </a:xfrm>
          <a:prstGeom prst="rect">
            <a:avLst/>
          </a:prstGeom>
          <a:noFill/>
          <a:ln>
            <a:noFill/>
          </a:ln>
        </p:spPr>
        <p:txBody>
          <a:bodyPr wrap="square" lIns="36576" tIns="27432" rIns="36576" bIns="27432" anchor="t">
            <a:noAutofit/>
          </a:bodyPr>
          <a:lstStyle/>
          <a:p>
            <a:pPr algn="l">
              <a:lnSpc>
                <a:spcPct val="100000"/>
              </a:lnSpc>
            </a:pPr>
            <a:r>
              <a:rPr lang="en-US" sz="1800" dirty="0">
                <a:solidFill>
                  <a:srgbClr val="16171D"/>
                </a:solidFill>
                <a:latin typeface="Segoe UI"/>
                <a:cs typeface="Segoe UI"/>
              </a:rPr>
              <a:t xml:space="preserve">Bell work: </a:t>
            </a:r>
            <a:r>
              <a:rPr lang="en-US" sz="1800" dirty="0" b="1">
                <a:solidFill>
                  <a:srgbClr val="3050B8"/>
                </a:solidFill>
                <a:latin typeface="Segoe UI"/>
                <a:cs typeface="Segoe UI"/>
                <a:hlinkClick r:id="rId3"/>
              </a:rPr>
              <a:t xml:space="preserve">Day 1 →</a:t>
            </a:r>
            <a:r>
              <a:rPr lang="en-US" sz="1800" dirty="0">
                <a:solidFill>
                  <a:srgbClr val="16171D"/>
                </a:solidFill>
                <a:latin typeface="Segoe UI"/>
                <a:cs typeface="Segoe UI"/>
              </a:rPr>
              <a:t xml:space="preserve"> · </a:t>
            </a:r>
            <a:r>
              <a:rPr lang="en-US" sz="1800" dirty="0" b="1">
                <a:solidFill>
                  <a:srgbClr val="3050B8"/>
                </a:solidFill>
                <a:latin typeface="Segoe UI"/>
                <a:cs typeface="Segoe UI"/>
                <a:hlinkClick r:id="rId4"/>
              </a:rPr>
              <a:t xml:space="preserve">Day 2 →</a:t>
            </a:r>
            <a:r>
              <a:rPr lang="en-US" sz="1800" dirty="0">
                <a:solidFill>
                  <a:srgbClr val="16171D"/>
                </a:solidFill>
                <a:latin typeface="Segoe UI"/>
                <a:cs typeface="Segoe UI"/>
              </a:rPr>
              <a:t xml:space="preserve"> · </a:t>
            </a:r>
            <a:r>
              <a:rPr lang="en-US" sz="1800" dirty="0" b="1">
                <a:solidFill>
                  <a:srgbClr val="3050B8"/>
                </a:solidFill>
                <a:latin typeface="Segoe UI"/>
                <a:cs typeface="Segoe UI"/>
                <a:hlinkClick r:id="rId5"/>
              </a:rPr>
              <a:t xml:space="preserve">Day 3 →</a:t>
            </a:r>
            <a:r>
              <a:rPr lang="en-US" sz="1800" dirty="0">
                <a:solidFill>
                  <a:srgbClr val="16171D"/>
                </a:solidFill>
                <a:latin typeface="Segoe UI"/>
                <a:cs typeface="Segoe UI"/>
              </a:rPr>
              <a:t xml:space="preserve"> | Practice: </a:t>
            </a:r>
            <a:r>
              <a:rPr lang="en-US" sz="1800" dirty="0" b="1">
                <a:solidFill>
                  <a:srgbClr val="3050B8"/>
                </a:solidFill>
                <a:latin typeface="Segoe UI"/>
                <a:cs typeface="Segoe UI"/>
                <a:hlinkClick r:id="rId6"/>
              </a:rPr>
              <a:t xml:space="preserve">Homework →</a:t>
            </a:r>
            <a:r>
              <a:rPr lang="en-US" sz="1800" dirty="0">
                <a:solidFill>
                  <a:srgbClr val="16171D"/>
                </a:solidFill>
                <a:latin typeface="Segoe UI"/>
                <a:cs typeface="Segoe UI"/>
              </a:rPr>
              <a:t xml:space="preserve"> · </a:t>
            </a:r>
            <a:r>
              <a:rPr lang="en-US" sz="1800" dirty="0" b="1">
                <a:solidFill>
                  <a:srgbClr val="3050B8"/>
                </a:solidFill>
                <a:latin typeface="Segoe UI"/>
                <a:cs typeface="Segoe UI"/>
                <a:hlinkClick r:id="rId7"/>
              </a:rPr>
              <a:t xml:space="preserve">Quiz →</a:t>
            </a:r>
            <a:endParaRPr lang="en-US" sz="1800" dirty="0"/>
          </a:p>
        </p:txBody>
      </p:sp>
      <p:sp>
        <p:nvSpPr>
          <p:cNvPr id="5" name="Shape 5"/>
          <p:cNvSpPr txBox="1"/>
          <p:nvPr/>
        </p:nvSpPr>
        <p:spPr>
          <a:xfrm>
            <a:off x="685800" y="2176272"/>
            <a:ext cx="10820095"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 IEP pages have 3 answer choices, 6 homework and quiz questions, a reminder card and read-aloud. Allow notes and a calculator, and give extended time as the IEP lists.</a:t>
            </a:r>
            <a:endParaRPr lang="en-US" sz="1575" dirty="0"/>
          </a:p>
        </p:txBody>
      </p:sp>
      <p:sp>
        <p:nvSpPr>
          <p:cNvPr id="6" name="Slide Number 6"/>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16</a:t>
            </a:fld>
          </a:p>
        </p:txBody>
      </p:sp>
    </p:spTree>
  </p:cSld>
  <p:clrMapOvr>
    <a:masterClrMapping/>
  </p:clrMapOvr>
  <p:transition spd="med">
    <p:fade/>
  </p:transition>
</p:sld>
</file>

<file path=ppt/theme/theme1.xml><?xml version="1.0" encoding="utf-8"?>
<a:theme xmlns:a="http://schemas.openxmlformats.org/drawingml/2006/main" name="Transforming Linear Functions">
  <a:themeElements>
    <a:clrScheme name="Lesson">
      <a:dk1>
        <a:srgbClr val="16171D"/>
      </a:dk1>
      <a:lt1>
        <a:srgbClr val="FFFFFF"/>
      </a:lt1>
      <a:dk2>
        <a:srgbClr val="233D94"/>
      </a:dk2>
      <a:lt2>
        <a:srgbClr val="F7F7FB"/>
      </a:lt2>
      <a:accent1>
        <a:srgbClr val="C9561F"/>
      </a:accent1>
      <a:accent2>
        <a:srgbClr val="3050B8"/>
      </a:accent2>
      <a:accent3>
        <a:srgbClr val="4F8A3C"/>
      </a:accent3>
      <a:accent4>
        <a:srgbClr val="7A5AC8"/>
      </a:accent4>
      <a:accent5>
        <a:srgbClr val="C23B6B"/>
      </a:accent5>
      <a:accent6>
        <a:srgbClr val="4F8A3C"/>
      </a:accent6>
      <a:hlink>
        <a:srgbClr val="3050B8"/>
      </a:hlink>
      <a:folHlink>
        <a:srgbClr val="7A5AC8"/>
      </a:folHlink>
    </a:clrScheme>
    <a:fontScheme name="Lesson">
      <a:majorFont>
        <a:latin typeface="Segoe UI"/>
        <a:ea typeface=""/>
        <a:cs typeface=""/>
      </a:majorFont>
      <a:minorFont>
        <a:latin typeface="Segoe UI"/>
        <a:ea typeface=""/>
        <a:cs typeface=""/>
      </a:minorFont>
    </a:fontScheme>
    <a:fmtScheme name="Lesson">
      <a:fillStyleLst>
        <a:solidFill>
          <a:schemeClr val="phClr"/>
        </a:solidFill>
        <a:solidFill>
          <a:schemeClr val="phClr"/>
        </a:solidFill>
        <a:solidFill>
          <a:schemeClr val="phClr"/>
        </a:solidFill>
      </a:fillStyleLst>
      <a:lnStyleLst>
        <a:ln w="9525" cap="flat" cmpd="sng" algn="ctr">
          <a:solidFill>
            <a:schemeClr val="phClr"/>
          </a:solidFill>
          <a:prstDash val="solid"/>
        </a:ln>
        <a:ln w="9525" cap="flat" cmpd="sng" algn="ctr">
          <a:solidFill>
            <a:schemeClr val="phClr"/>
          </a:solidFill>
          <a:prstDash val="solid"/>
        </a:ln>
        <a:ln w="95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Notes">
  <a:themeElements>
    <a:clrScheme name="Lesson">
      <a:dk1>
        <a:srgbClr val="16171D"/>
      </a:dk1>
      <a:lt1>
        <a:srgbClr val="FFFFFF"/>
      </a:lt1>
      <a:dk2>
        <a:srgbClr val="233D94"/>
      </a:dk2>
      <a:lt2>
        <a:srgbClr val="F7F7FB"/>
      </a:lt2>
      <a:accent1>
        <a:srgbClr val="C9561F"/>
      </a:accent1>
      <a:accent2>
        <a:srgbClr val="3050B8"/>
      </a:accent2>
      <a:accent3>
        <a:srgbClr val="4F8A3C"/>
      </a:accent3>
      <a:accent4>
        <a:srgbClr val="7A5AC8"/>
      </a:accent4>
      <a:accent5>
        <a:srgbClr val="C23B6B"/>
      </a:accent5>
      <a:accent6>
        <a:srgbClr val="4F8A3C"/>
      </a:accent6>
      <a:hlink>
        <a:srgbClr val="3050B8"/>
      </a:hlink>
      <a:folHlink>
        <a:srgbClr val="7A5AC8"/>
      </a:folHlink>
    </a:clrScheme>
    <a:fontScheme name="Lesson">
      <a:majorFont>
        <a:latin typeface="Segoe UI"/>
        <a:ea typeface=""/>
        <a:cs typeface=""/>
      </a:majorFont>
      <a:minorFont>
        <a:latin typeface="Segoe UI"/>
        <a:ea typeface=""/>
        <a:cs typeface=""/>
      </a:minorFont>
    </a:fontScheme>
    <a:fmtScheme name="Lesson">
      <a:fillStyleLst>
        <a:solidFill>
          <a:schemeClr val="phClr"/>
        </a:solidFill>
        <a:solidFill>
          <a:schemeClr val="phClr"/>
        </a:solidFill>
        <a:solidFill>
          <a:schemeClr val="phClr"/>
        </a:solidFill>
      </a:fillStyleLst>
      <a:lnStyleLst>
        <a:ln w="9525" cap="flat" cmpd="sng" algn="ctr">
          <a:solidFill>
            <a:schemeClr val="phClr"/>
          </a:solidFill>
          <a:prstDash val="solid"/>
        </a:ln>
        <a:ln w="9525" cap="flat" cmpd="sng" algn="ctr">
          <a:solidFill>
            <a:schemeClr val="phClr"/>
          </a:solidFill>
          <a:prstDash val="solid"/>
        </a:ln>
        <a:ln w="95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Application>Microsoft Office PowerPoint</Application>
  <Slides>16</Slides>
  <Notes>16</Notes>
</Properties>
</file>

<file path=docProps/core.xml><?xml version="1.0" encoding="utf-8"?>
<cp:coreProperties xmlns:cp="http://schemas.openxmlformats.org/package/2006/metadata/core-properties" xmlns:dc="http://purl.org/dc/elements/1.1/">
  <dc:title>Transforming Linear Functions</dc:title>
  <dc:subject>Bluebonnet Algebra I</dc:subject>
</cp:coreProperties>
</file>