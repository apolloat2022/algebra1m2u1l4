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every point moves straight up 5.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Add 5 to every output.</a:t>
            </a:r>
            <a:endParaRPr lang="en-US" sz="1950" dirty="0"/>
          </a:p>
        </p:txBody>
      </p:sp>
      <p:sp>
        <p:nvSpPr>
          <p:cNvPr id="5" name="Shape 5"/>
          <p:cNvSpPr txBox="1"/>
          <p:nvPr/>
        </p:nvSpPr>
        <p:spPr>
          <a:xfrm>
            <a:off x="685800" y="210388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264642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7" name="Shape 7"/>
          <p:cNvSpPr txBox="1"/>
          <p:nvPr/>
        </p:nvSpPr>
        <p:spPr>
          <a:xfrm>
            <a:off x="685800" y="329869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still 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5).</a:t>
            </a:r>
            <a:endParaRPr lang="en-US" sz="1950"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843560" y="1732788"/>
            <a:ext cx="0" cy="2876550"/>
          </a:xfrm>
          <a:prstGeom prst="line">
            <a:avLst/>
          </a:prstGeom>
          <a:ln w="9525" cap="flat">
            <a:solidFill>
              <a:srgbClr val="E6E8F2"/>
            </a:solidFill>
          </a:ln>
        </p:spPr>
      </p:cxnSp>
      <p:cxnSp>
        <p:nvCxnSpPr>
          <p:cNvPr id="11" name="Line 11"/>
          <p:cNvCxnSpPr/>
          <p:nvPr/>
        </p:nvCxnSpPr>
        <p:spPr>
          <a:xfrm>
            <a:off x="7076923"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543648" y="1732788"/>
            <a:ext cx="0" cy="2876550"/>
          </a:xfrm>
          <a:prstGeom prst="line">
            <a:avLst/>
          </a:prstGeom>
          <a:ln w="9525" cap="flat">
            <a:solidFill>
              <a:srgbClr val="E6E8F2"/>
            </a:solidFill>
          </a:ln>
        </p:spPr>
      </p:cxnSp>
      <p:cxnSp>
        <p:nvCxnSpPr>
          <p:cNvPr id="14" name="Line 14"/>
          <p:cNvCxnSpPr/>
          <p:nvPr/>
        </p:nvCxnSpPr>
        <p:spPr>
          <a:xfrm>
            <a:off x="7777010"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243735" y="1732788"/>
            <a:ext cx="0" cy="2876550"/>
          </a:xfrm>
          <a:prstGeom prst="line">
            <a:avLst/>
          </a:prstGeom>
          <a:ln w="9525" cap="flat">
            <a:solidFill>
              <a:srgbClr val="E6E8F2"/>
            </a:solidFill>
          </a:ln>
        </p:spPr>
      </p:cxnSp>
      <p:cxnSp>
        <p:nvCxnSpPr>
          <p:cNvPr id="17" name="Line 17"/>
          <p:cNvCxnSpPr/>
          <p:nvPr/>
        </p:nvCxnSpPr>
        <p:spPr>
          <a:xfrm>
            <a:off x="8477098" y="1732788"/>
            <a:ext cx="0" cy="2876550"/>
          </a:xfrm>
          <a:prstGeom prst="line">
            <a:avLst/>
          </a:prstGeom>
          <a:ln w="9525" cap="flat">
            <a:solidFill>
              <a:srgbClr val="E6E8F2"/>
            </a:solidFill>
          </a:ln>
        </p:spPr>
      </p:cxnSp>
      <p:cxnSp>
        <p:nvCxnSpPr>
          <p:cNvPr id="18" name="Line 18"/>
          <p:cNvCxnSpPr/>
          <p:nvPr/>
        </p:nvCxnSpPr>
        <p:spPr>
          <a:xfrm>
            <a:off x="8710460" y="1732788"/>
            <a:ext cx="0" cy="2876550"/>
          </a:xfrm>
          <a:prstGeom prst="line">
            <a:avLst/>
          </a:prstGeom>
          <a:ln w="9525" cap="flat">
            <a:solidFill>
              <a:srgbClr val="E6E8F2"/>
            </a:solidFill>
          </a:ln>
        </p:spPr>
      </p:cxnSp>
      <p:cxnSp>
        <p:nvCxnSpPr>
          <p:cNvPr id="19" name="Line 19"/>
          <p:cNvCxnSpPr/>
          <p:nvPr/>
        </p:nvCxnSpPr>
        <p:spPr>
          <a:xfrm>
            <a:off x="8943823" y="1732788"/>
            <a:ext cx="0" cy="2876550"/>
          </a:xfrm>
          <a:prstGeom prst="line">
            <a:avLst/>
          </a:prstGeom>
          <a:ln w="9525" cap="flat">
            <a:solidFill>
              <a:srgbClr val="E6E8F2"/>
            </a:solidFill>
          </a:ln>
        </p:spPr>
      </p:cxnSp>
      <p:cxnSp>
        <p:nvCxnSpPr>
          <p:cNvPr id="20" name="Line 20"/>
          <p:cNvCxnSpPr/>
          <p:nvPr/>
        </p:nvCxnSpPr>
        <p:spPr>
          <a:xfrm>
            <a:off x="9177185" y="1732788"/>
            <a:ext cx="0" cy="2876550"/>
          </a:xfrm>
          <a:prstGeom prst="line">
            <a:avLst/>
          </a:prstGeom>
          <a:ln w="9525" cap="flat">
            <a:solidFill>
              <a:srgbClr val="E6E8F2"/>
            </a:solidFill>
          </a:ln>
        </p:spPr>
      </p:cxnSp>
      <p:cxnSp>
        <p:nvCxnSpPr>
          <p:cNvPr id="21" name="Line 21"/>
          <p:cNvCxnSpPr/>
          <p:nvPr/>
        </p:nvCxnSpPr>
        <p:spPr>
          <a:xfrm>
            <a:off x="9410548" y="1732788"/>
            <a:ext cx="0" cy="2876550"/>
          </a:xfrm>
          <a:prstGeom prst="line">
            <a:avLst/>
          </a:prstGeom>
          <a:ln w="9525" cap="flat">
            <a:solidFill>
              <a:srgbClr val="E6E8F2"/>
            </a:solidFill>
          </a:ln>
        </p:spPr>
      </p:cxnSp>
      <p:cxnSp>
        <p:nvCxnSpPr>
          <p:cNvPr id="22" name="Line 22"/>
          <p:cNvCxnSpPr/>
          <p:nvPr/>
        </p:nvCxnSpPr>
        <p:spPr>
          <a:xfrm>
            <a:off x="6610198" y="4609338"/>
            <a:ext cx="2800350" cy="0"/>
          </a:xfrm>
          <a:prstGeom prst="line">
            <a:avLst/>
          </a:prstGeom>
          <a:ln w="9525" cap="flat">
            <a:solidFill>
              <a:srgbClr val="E6E8F2"/>
            </a:solidFill>
          </a:ln>
        </p:spPr>
      </p:cxnSp>
      <p:cxnSp>
        <p:nvCxnSpPr>
          <p:cNvPr id="23" name="Line 23"/>
          <p:cNvCxnSpPr/>
          <p:nvPr/>
        </p:nvCxnSpPr>
        <p:spPr>
          <a:xfrm>
            <a:off x="6610198" y="4403870"/>
            <a:ext cx="2800350" cy="0"/>
          </a:xfrm>
          <a:prstGeom prst="line">
            <a:avLst/>
          </a:prstGeom>
          <a:ln w="9525" cap="flat">
            <a:solidFill>
              <a:srgbClr val="E6E8F2"/>
            </a:solidFill>
          </a:ln>
        </p:spPr>
      </p:cxnSp>
      <p:cxnSp>
        <p:nvCxnSpPr>
          <p:cNvPr id="24" name="Line 24"/>
          <p:cNvCxnSpPr/>
          <p:nvPr/>
        </p:nvCxnSpPr>
        <p:spPr>
          <a:xfrm>
            <a:off x="6610198" y="4198402"/>
            <a:ext cx="2800350" cy="0"/>
          </a:xfrm>
          <a:prstGeom prst="line">
            <a:avLst/>
          </a:prstGeom>
          <a:ln w="9525" cap="flat">
            <a:solidFill>
              <a:srgbClr val="E6E8F2"/>
            </a:solidFill>
          </a:ln>
        </p:spPr>
      </p:cxnSp>
      <p:cxnSp>
        <p:nvCxnSpPr>
          <p:cNvPr id="25" name="Line 25"/>
          <p:cNvCxnSpPr/>
          <p:nvPr/>
        </p:nvCxnSpPr>
        <p:spPr>
          <a:xfrm>
            <a:off x="6610198" y="3992934"/>
            <a:ext cx="2800350" cy="0"/>
          </a:xfrm>
          <a:prstGeom prst="line">
            <a:avLst/>
          </a:prstGeom>
          <a:ln w="9525" cap="flat">
            <a:solidFill>
              <a:srgbClr val="E6E8F2"/>
            </a:solidFill>
          </a:ln>
        </p:spPr>
      </p:cxnSp>
      <p:cxnSp>
        <p:nvCxnSpPr>
          <p:cNvPr id="26" name="Line 26"/>
          <p:cNvCxnSpPr/>
          <p:nvPr/>
        </p:nvCxnSpPr>
        <p:spPr>
          <a:xfrm>
            <a:off x="6610198" y="3787467"/>
            <a:ext cx="2800350" cy="0"/>
          </a:xfrm>
          <a:prstGeom prst="line">
            <a:avLst/>
          </a:prstGeom>
          <a:ln w="9525" cap="flat">
            <a:solidFill>
              <a:srgbClr val="E6E8F2"/>
            </a:solidFill>
          </a:ln>
        </p:spPr>
      </p:cxnSp>
      <p:cxnSp>
        <p:nvCxnSpPr>
          <p:cNvPr id="27" name="Line 27"/>
          <p:cNvCxnSpPr/>
          <p:nvPr/>
        </p:nvCxnSpPr>
        <p:spPr>
          <a:xfrm>
            <a:off x="6610198" y="3581999"/>
            <a:ext cx="2800350" cy="0"/>
          </a:xfrm>
          <a:prstGeom prst="line">
            <a:avLst/>
          </a:prstGeom>
          <a:ln w="9525" cap="flat">
            <a:solidFill>
              <a:srgbClr val="E6E8F2"/>
            </a:solidFill>
          </a:ln>
        </p:spPr>
      </p:cxnSp>
      <p:cxnSp>
        <p:nvCxnSpPr>
          <p:cNvPr id="28" name="Line 28"/>
          <p:cNvCxnSpPr/>
          <p:nvPr/>
        </p:nvCxnSpPr>
        <p:spPr>
          <a:xfrm>
            <a:off x="6610198" y="3376531"/>
            <a:ext cx="2800350" cy="0"/>
          </a:xfrm>
          <a:prstGeom prst="line">
            <a:avLst/>
          </a:prstGeom>
          <a:ln w="9525" cap="flat">
            <a:solidFill>
              <a:srgbClr val="E6E8F2"/>
            </a:solidFill>
          </a:ln>
        </p:spPr>
      </p:cxnSp>
      <p:cxnSp>
        <p:nvCxnSpPr>
          <p:cNvPr id="29" name="Line 29"/>
          <p:cNvCxnSpPr/>
          <p:nvPr/>
        </p:nvCxnSpPr>
        <p:spPr>
          <a:xfrm>
            <a:off x="6610198" y="3171063"/>
            <a:ext cx="2800350" cy="0"/>
          </a:xfrm>
          <a:prstGeom prst="line">
            <a:avLst/>
          </a:prstGeom>
          <a:ln w="9525" cap="flat">
            <a:solidFill>
              <a:srgbClr val="E6E8F2"/>
            </a:solidFill>
          </a:ln>
        </p:spPr>
      </p:cxnSp>
      <p:cxnSp>
        <p:nvCxnSpPr>
          <p:cNvPr id="30" name="Line 30"/>
          <p:cNvCxnSpPr/>
          <p:nvPr/>
        </p:nvCxnSpPr>
        <p:spPr>
          <a:xfrm>
            <a:off x="6610198" y="2965595"/>
            <a:ext cx="2800350" cy="0"/>
          </a:xfrm>
          <a:prstGeom prst="line">
            <a:avLst/>
          </a:prstGeom>
          <a:ln w="9525" cap="flat">
            <a:solidFill>
              <a:srgbClr val="E6E8F2"/>
            </a:solidFill>
          </a:ln>
        </p:spPr>
      </p:cxnSp>
      <p:cxnSp>
        <p:nvCxnSpPr>
          <p:cNvPr id="31" name="Line 31"/>
          <p:cNvCxnSpPr/>
          <p:nvPr/>
        </p:nvCxnSpPr>
        <p:spPr>
          <a:xfrm>
            <a:off x="6610198" y="2760127"/>
            <a:ext cx="2800350" cy="0"/>
          </a:xfrm>
          <a:prstGeom prst="line">
            <a:avLst/>
          </a:prstGeom>
          <a:ln w="9525" cap="flat">
            <a:solidFill>
              <a:srgbClr val="E6E8F2"/>
            </a:solidFill>
          </a:ln>
        </p:spPr>
      </p:cxnSp>
      <p:cxnSp>
        <p:nvCxnSpPr>
          <p:cNvPr id="32" name="Line 32"/>
          <p:cNvCxnSpPr/>
          <p:nvPr/>
        </p:nvCxnSpPr>
        <p:spPr>
          <a:xfrm>
            <a:off x="6610198" y="2554659"/>
            <a:ext cx="2800350" cy="0"/>
          </a:xfrm>
          <a:prstGeom prst="line">
            <a:avLst/>
          </a:prstGeom>
          <a:ln w="9525" cap="flat">
            <a:solidFill>
              <a:srgbClr val="E6E8F2"/>
            </a:solidFill>
          </a:ln>
        </p:spPr>
      </p:cxnSp>
      <p:cxnSp>
        <p:nvCxnSpPr>
          <p:cNvPr id="33" name="Line 33"/>
          <p:cNvCxnSpPr/>
          <p:nvPr/>
        </p:nvCxnSpPr>
        <p:spPr>
          <a:xfrm>
            <a:off x="6610198" y="2349192"/>
            <a:ext cx="2800350" cy="0"/>
          </a:xfrm>
          <a:prstGeom prst="line">
            <a:avLst/>
          </a:prstGeom>
          <a:ln w="9525" cap="flat">
            <a:solidFill>
              <a:srgbClr val="E6E8F2"/>
            </a:solidFill>
          </a:ln>
        </p:spPr>
      </p:cxnSp>
      <p:cxnSp>
        <p:nvCxnSpPr>
          <p:cNvPr id="34" name="Line 34"/>
          <p:cNvCxnSpPr/>
          <p:nvPr/>
        </p:nvCxnSpPr>
        <p:spPr>
          <a:xfrm>
            <a:off x="6610198" y="2143724"/>
            <a:ext cx="2800350" cy="0"/>
          </a:xfrm>
          <a:prstGeom prst="line">
            <a:avLst/>
          </a:prstGeom>
          <a:ln w="9525" cap="flat">
            <a:solidFill>
              <a:srgbClr val="E6E8F2"/>
            </a:solidFill>
          </a:ln>
        </p:spPr>
      </p:cxnSp>
      <p:cxnSp>
        <p:nvCxnSpPr>
          <p:cNvPr id="35" name="Line 35"/>
          <p:cNvCxnSpPr/>
          <p:nvPr/>
        </p:nvCxnSpPr>
        <p:spPr>
          <a:xfrm>
            <a:off x="6610198" y="1938256"/>
            <a:ext cx="2800350" cy="0"/>
          </a:xfrm>
          <a:prstGeom prst="line">
            <a:avLst/>
          </a:prstGeom>
          <a:ln w="9525" cap="flat">
            <a:solidFill>
              <a:srgbClr val="E6E8F2"/>
            </a:solidFill>
          </a:ln>
        </p:spPr>
      </p:cxnSp>
      <p:cxnSp>
        <p:nvCxnSpPr>
          <p:cNvPr id="36" name="Line 36"/>
          <p:cNvCxnSpPr/>
          <p:nvPr/>
        </p:nvCxnSpPr>
        <p:spPr>
          <a:xfrm>
            <a:off x="6610198" y="1732788"/>
            <a:ext cx="2800350" cy="0"/>
          </a:xfrm>
          <a:prstGeom prst="line">
            <a:avLst/>
          </a:prstGeom>
          <a:ln w="9525" cap="flat">
            <a:solidFill>
              <a:srgbClr val="E6E8F2"/>
            </a:solidFill>
          </a:ln>
        </p:spPr>
      </p:cxnSp>
      <p:cxnSp>
        <p:nvCxnSpPr>
          <p:cNvPr id="37" name="Line 37"/>
          <p:cNvCxnSpPr/>
          <p:nvPr/>
        </p:nvCxnSpPr>
        <p:spPr>
          <a:xfrm>
            <a:off x="8010373" y="1732788"/>
            <a:ext cx="0" cy="2876550"/>
          </a:xfrm>
          <a:prstGeom prst="line">
            <a:avLst/>
          </a:prstGeom>
          <a:ln w="19050" cap="flat">
            <a:solidFill>
              <a:srgbClr val="5F6272"/>
            </a:solidFill>
          </a:ln>
        </p:spPr>
      </p:cxnSp>
      <p:cxnSp>
        <p:nvCxnSpPr>
          <p:cNvPr id="38" name="Line 38"/>
          <p:cNvCxnSpPr/>
          <p:nvPr/>
        </p:nvCxnSpPr>
        <p:spPr>
          <a:xfrm>
            <a:off x="6610198" y="3376531"/>
            <a:ext cx="2800350" cy="0"/>
          </a:xfrm>
          <a:prstGeom prst="line">
            <a:avLst/>
          </a:prstGeom>
          <a:ln w="19050" cap="flat">
            <a:solidFill>
              <a:srgbClr val="5F6272"/>
            </a:solidFill>
          </a:ln>
        </p:spPr>
      </p:cxnSp>
      <p:sp>
        <p:nvSpPr>
          <p:cNvPr id="39" name="Shape 3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8026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72693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2027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6695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6043270" y="41069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36960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32850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8741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24632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20522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4" name="Line 54"/>
          <p:cNvCxnSpPr/>
          <p:nvPr/>
        </p:nvCxnSpPr>
        <p:spPr>
          <a:xfrm flipV="1">
            <a:off x="6610198" y="2143724"/>
            <a:ext cx="2800350" cy="2465614"/>
          </a:xfrm>
          <a:prstGeom prst="line">
            <a:avLst/>
          </a:prstGeom>
          <a:ln w="38100" cap="rnd">
            <a:solidFill>
              <a:srgbClr val="16171D"/>
            </a:solidFill>
          </a:ln>
        </p:spPr>
      </p:cxnSp>
      <p:sp>
        <p:nvSpPr>
          <p:cNvPr id="55" name="Shape 55"/>
          <p:cNvSpPr txBox="1"/>
          <p:nvPr/>
        </p:nvSpPr>
        <p:spPr>
          <a:xfrm>
            <a:off x="6918808" y="216277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6" name="Line 56"/>
          <p:cNvCxnSpPr/>
          <p:nvPr/>
        </p:nvCxnSpPr>
        <p:spPr>
          <a:xfrm flipV="1">
            <a:off x="6610198" y="1732788"/>
            <a:ext cx="2100262" cy="1849211"/>
          </a:xfrm>
          <a:prstGeom prst="line">
            <a:avLst/>
          </a:prstGeom>
          <a:ln w="38100" cap="rnd">
            <a:solidFill>
              <a:srgbClr val="7A4FC4"/>
            </a:solidFill>
          </a:ln>
        </p:spPr>
      </p:cxnSp>
      <p:sp>
        <p:nvSpPr>
          <p:cNvPr id="57" name="Shape 57"/>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wipe(left)">
                                      <p:cBhvr>
                                        <p:cTn id="11" dur="700"/>
                                        <p:tgtEl>
                                          <p:spTgt spid="56"/>
                                        </p:tgtEl>
                                      </p:cBhvr>
                                    </p:animEffect>
                                  </p:childTnLst>
                                </p:cTn>
                              </p:par>
                              <p:par>
                                <p:cTn id="15" presetID="22" presetClass="entr" presetSubtype="8"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7" name="Shape 7"/>
          <p:cNvSpPr txBox="1"/>
          <p:nvPr/>
        </p:nvSpPr>
        <p:spPr>
          <a:xfrm>
            <a:off x="685800" y="33558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9" name="Shape 9"/>
          <p:cNvSpPr txBox="1"/>
          <p:nvPr/>
        </p:nvSpPr>
        <p:spPr>
          <a:xfrm>
            <a:off x="685800" y="456971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