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1: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3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once for each blue arrow: point to a black point on f(x), count up 5 squares, and land on the blue point. Then the blue line p(x) appears through the moved points. Fill in the table the same way: + 5 to each output. The lines are parallel.</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 On the graph, each click moves one point down 4: count 4 squares down from the black point to the blue point. Then the blue line r(x) appears.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lines pass through (0, 0): multiplying 0 gives 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 lines have the same slope; only b changes.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t2-lesson1-bellwork-day1-IEP.html" TargetMode="External"/><Relationship Id="rId4" Type="http://schemas.openxmlformats.org/officeDocument/2006/relationships/hyperlink" Target="https://algebra1m2u1l4.vercel.app/IEP/t2-lesson1-bellwork-day2-IEP.html" TargetMode="External"/><Relationship Id="rId5" Type="http://schemas.openxmlformats.org/officeDocument/2006/relationships/hyperlink" Target="https://algebra1m2u1l4.vercel.app/IEP/t2-lesson1-bellwork-day3-IEP.html" TargetMode="External"/><Relationship Id="rId6" Type="http://schemas.openxmlformats.org/officeDocument/2006/relationships/hyperlink" Target="https://algebra1m2u1l4.vercel.app/IEP/t2-lesson1-homework-IEP.html" TargetMode="External"/><Relationship Id="rId7" Type="http://schemas.openxmlformats.org/officeDocument/2006/relationships/hyperlink" Target="https://algebra1m2u1l4.vercel.app/IEP/t2-lesson1-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Transforming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g</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a</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d</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move a line up or down and write its equation.</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stretch, compress or flip a line and find its new slope.</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 parallel to another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between </a:t>
            </a:r>
            <a:r>
              <a:rPr lang="en-US" sz="1575" dirty="0">
                <a:solidFill>
                  <a:srgbClr val="16171D"/>
                </a:solidFill>
                <a:latin typeface="Cambria"/>
                <a:cs typeface="Cambria"/>
              </a:rPr>
              <a:t xml:space="preserve">(1, 2)</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(4, 11)</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4559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(4, 11)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11 − 2 = 9</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9 ÷ 3 = 3</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22833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39978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73278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06577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is </a:t>
            </a:r>
            <a:r>
              <a:rPr lang="en-US" sz="1425" dirty="0">
                <a:solidFill>
                  <a:srgbClr val="16171D"/>
                </a:solidFill>
                <a:latin typeface="Cambria"/>
                <a:cs typeface="Cambria"/>
              </a:rPr>
              <a:t xml:space="preserve">(0,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(0, −7)</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(−3)</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455926"/>
            <a:ext cx="4443047"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with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(−3) = 2(−3)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2(−3)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−6 + 1 = −5</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79399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in slope-intercept form is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passes through </a:t>
            </a:r>
            <a:r>
              <a:rPr lang="en-US" sz="1575" dirty="0">
                <a:solidFill>
                  <a:srgbClr val="16171D"/>
                </a:solidFill>
                <a:latin typeface="Cambria"/>
                <a:cs typeface="Cambria"/>
              </a:rPr>
              <a:t xml:space="preserve">(1, 5)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same slope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487146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Parallel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a:t>
            </a:r>
            <a:r>
              <a:rPr lang="en-US" sz="1425" dirty="0">
                <a:solidFill>
                  <a:srgbClr val="16171D"/>
                </a:solidFill>
                <a:latin typeface="Segoe UI"/>
                <a:cs typeface="Segoe UI"/>
              </a:rPr>
              <a:t xml:space="preserve"> means the same slope: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the point </a:t>
            </a:r>
            <a:r>
              <a:rPr lang="en-US" sz="1425" dirty="0">
                <a:solidFill>
                  <a:srgbClr val="16171D"/>
                </a:solidFill>
                <a:latin typeface="Cambria"/>
                <a:cs typeface="Cambria"/>
              </a:rPr>
              <a:t xml:space="preserve">(1, 5)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3(1)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up 4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up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Up 4 means add 4 to every output: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a:t>
            </a:r>
            <a:r>
              <a:rPr lang="en-US" sz="1575" dirty="0">
                <a:solidFill>
                  <a:srgbClr val="16171D"/>
                </a:solidFill>
                <a:latin typeface="Cambria"/>
                <a:cs typeface="Cambria"/>
              </a:rPr>
              <a:t xml:space="preserve">(2, 5)</a:t>
            </a:r>
            <a:r>
              <a:rPr lang="en-US" sz="1575" dirty="0">
                <a:solidFill>
                  <a:srgbClr val="16171D"/>
                </a:solidFill>
                <a:latin typeface="Segoe UI"/>
                <a:cs typeface="Segoe UI"/>
              </a:rPr>
              <a:t xml:space="preserve"> is translated down 3 units. Where does it go?</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down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5111496"/>
            <a:ext cx="453881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stays the same: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3, so subtract 3 from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5 − 3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The new point is </a:t>
            </a:r>
            <a:r>
              <a:rPr lang="en-US" sz="1425" dirty="0">
                <a:solidFill>
                  <a:srgbClr val="16171D"/>
                </a:solidFill>
                <a:latin typeface="Cambria"/>
                <a:cs typeface="Cambria"/>
              </a:rPr>
              <a:t xml:space="preserve">(2, 2)</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moving up or down does not change the slope</a:t>
            </a:r>
            <a:endParaRPr lang="en-US" sz="1575" dirty="0"/>
          </a:p>
        </p:txBody>
      </p:sp>
      <p:sp>
        <p:nvSpPr>
          <p:cNvPr id="14" name="Shape 14"/>
          <p:cNvSpPr txBox="1"/>
          <p:nvPr/>
        </p:nvSpPr>
        <p:spPr>
          <a:xfrm>
            <a:off x="6419698" y="293598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− 1 + 6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still 2, so the slope is 2.</a:t>
            </a:r>
            <a:endParaRPr lang="en-US" sz="1425" dirty="0"/>
          </a:p>
        </p:txBody>
      </p:sp>
      <p:sp>
        <p:nvSpPr>
          <p:cNvPr id="19" name="Shape 19"/>
          <p:cNvSpPr txBox="1"/>
          <p:nvPr/>
        </p:nvSpPr>
        <p:spPr>
          <a:xfrm>
            <a:off x="6210148" y="42740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455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transformed to make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Which describes the transformation?</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18" name="Shape 18"/>
          <p:cNvSpPr txBox="1"/>
          <p:nvPr/>
        </p:nvSpPr>
        <p:spPr>
          <a:xfrm>
            <a:off x="6419698" y="53515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A translation down 2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− 2</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it changes every output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a translation down 2 units.</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slope </a:t>
            </a:r>
            <a:r>
              <a:rPr lang="en-US" sz="1575" dirty="0" i="1">
                <a:solidFill>
                  <a:srgbClr val="16171D"/>
                </a:solidFill>
                <a:latin typeface="Cambria"/>
                <a:cs typeface="Cambria"/>
              </a:rPr>
              <a:t xml:space="preserve">a</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Replace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is 3, so the slope is 3.</a:t>
            </a:r>
            <a:endParaRPr lang="en-US" sz="1425" dirty="0"/>
          </a:p>
        </p:txBody>
      </p:sp>
      <p:sp>
        <p:nvSpPr>
          <p:cNvPr id="11" name="Shape 11"/>
          <p:cNvSpPr txBox="1"/>
          <p:nvPr/>
        </p:nvSpPr>
        <p:spPr>
          <a:xfrm>
            <a:off x="685800" y="381685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How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related to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3213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flips</a:t>
            </a:r>
            <a:endParaRPr lang="en-US" sz="1575" dirty="0"/>
          </a:p>
        </p:txBody>
      </p:sp>
      <p:sp>
        <p:nvSpPr>
          <p:cNvPr id="10" name="Shape 10"/>
          <p:cNvSpPr txBox="1"/>
          <p:nvPr/>
        </p:nvSpPr>
        <p:spPr>
          <a:xfrm>
            <a:off x="895350" y="489432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Stretched vertically by 2 and reflected across the </a:t>
            </a:r>
            <a:r>
              <a:rPr lang="en-US" sz="1425" dirty="0" b="1" i="1">
                <a:solidFill>
                  <a:srgbClr val="16171D"/>
                </a:solidFill>
                <a:latin typeface="Cambria"/>
                <a:cs typeface="Cambria"/>
              </a:rPr>
              <a:t xml:space="preserve">x</a:t>
            </a:r>
            <a:r>
              <a:rPr lang="en-US" sz="1425" dirty="0" b="1">
                <a:solidFill>
                  <a:srgbClr val="16171D"/>
                </a:solidFill>
                <a:latin typeface="Segoe UI"/>
                <a:cs typeface="Segoe UI"/>
              </a:rPr>
              <a:t xml:space="preserve">-axis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The size, 2, is more than 1: stretched by 2.</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sign is negative: reflected (flipped) across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-axis.</a:t>
            </a:r>
            <a:endParaRPr lang="en-US" sz="1425" dirty="0"/>
          </a:p>
        </p:txBody>
      </p:sp>
      <p:sp>
        <p:nvSpPr>
          <p:cNvPr id="15" name="Shape 15"/>
          <p:cNvSpPr txBox="1"/>
          <p:nvPr/>
        </p:nvSpPr>
        <p:spPr>
          <a:xfrm>
            <a:off x="6210148" y="161848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function is a vertical compression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compresses</a:t>
            </a:r>
            <a:endParaRPr lang="en-US" sz="1575" dirty="0"/>
          </a:p>
        </p:txBody>
      </p:sp>
      <p:sp>
        <p:nvSpPr>
          <p:cNvPr id="14" name="Shape 14"/>
          <p:cNvSpPr txBox="1"/>
          <p:nvPr/>
        </p:nvSpPr>
        <p:spPr>
          <a:xfrm>
            <a:off x="6419698" y="269595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Look for a number between 0 and 1 in front of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is between 0 and 1, so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compresses.</a:t>
            </a:r>
            <a:endParaRPr lang="en-US" sz="1425" dirty="0"/>
          </a:p>
        </p:txBody>
      </p:sp>
      <p:sp>
        <p:nvSpPr>
          <p:cNvPr id="19" name="Shape 19"/>
          <p:cNvSpPr txBox="1"/>
          <p:nvPr/>
        </p:nvSpPr>
        <p:spPr>
          <a:xfrm>
            <a:off x="6210148" y="4251198"/>
            <a:ext cx="5295748" cy="254508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42264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function is a reflection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across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-axis and a vertical dilation by a factor of 2?</a:t>
            </a:r>
            <a:endParaRPr lang="en-US" sz="1575" dirty="0"/>
          </a:p>
        </p:txBody>
      </p:sp>
      <p:sp>
        <p:nvSpPr>
          <p:cNvPr id="17" name="Shape 17"/>
          <p:cNvSpPr txBox="1"/>
          <p:nvPr/>
        </p:nvSpPr>
        <p:spPr>
          <a:xfrm>
            <a:off x="6419698" y="52357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stretches</a:t>
            </a:r>
            <a:endParaRPr lang="en-US" sz="1575" dirty="0"/>
          </a:p>
        </p:txBody>
      </p:sp>
      <p:sp>
        <p:nvSpPr>
          <p:cNvPr id="18" name="Shape 18"/>
          <p:cNvSpPr txBox="1"/>
          <p:nvPr/>
        </p:nvSpPr>
        <p:spPr>
          <a:xfrm>
            <a:off x="6419698" y="5808726"/>
            <a:ext cx="4876648"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Reflect: </a:t>
            </a:r>
            <a:r>
              <a:rPr lang="en-US" sz="1425" dirty="0" i="1">
                <a:solidFill>
                  <a:srgbClr val="16171D"/>
                </a:solidFill>
                <a:latin typeface="Cambria"/>
                <a:cs typeface="Cambria"/>
              </a:rPr>
              <a:t xml:space="preserve">a</a:t>
            </a:r>
            <a:r>
              <a:rPr lang="en-US" sz="1425" dirty="0">
                <a:solidFill>
                  <a:srgbClr val="16171D"/>
                </a:solidFill>
                <a:latin typeface="Segoe UI"/>
                <a:cs typeface="Segoe UI"/>
              </a:rPr>
              <a:t xml:space="preserve"> is negative. Factor of 2: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a</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line.</a:t>
            </a:r>
            <a:endParaRPr lang="en-US" sz="1575" dirty="0"/>
          </a:p>
        </p:txBody>
      </p:sp>
      <p:sp>
        <p:nvSpPr>
          <p:cNvPr id="6" name="Shape 6"/>
          <p:cNvSpPr txBox="1"/>
          <p:nvPr/>
        </p:nvSpPr>
        <p:spPr>
          <a:xfrm>
            <a:off x="895350"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 up or down. Add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Dilate</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or squeeze. Multiply by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read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a</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d</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Start with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slope 1, through (0, 0).</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i="1">
                <a:solidFill>
                  <a:srgbClr val="C9561F"/>
                </a:solidFill>
                <a:latin typeface="Segoe UI"/>
                <a:cs typeface="Segoe UI"/>
              </a:rPr>
              <a:t xml:space="preserve">a</a:t>
            </a:r>
            <a:r>
              <a:rPr lang="en-US" sz="1950" dirty="0">
                <a:solidFill>
                  <a:srgbClr val="16171D"/>
                </a:solidFill>
                <a:latin typeface="Segoe UI"/>
                <a:cs typeface="Segoe UI"/>
              </a:rPr>
              <a:t xml:space="preserve"> is the new slope. A negative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flips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d</a:t>
            </a:r>
            <a:r>
              <a:rPr lang="en-US" sz="1950" dirty="0">
                <a:solidFill>
                  <a:srgbClr val="16171D"/>
                </a:solidFill>
                <a:latin typeface="Segoe UI"/>
                <a:cs typeface="Segoe UI"/>
              </a:rPr>
              <a:t xml:space="preserve"> moves the line up (+) or down (−).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Plot (0,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then count the slope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up 5</a:t>
            </a:r>
            <a:endParaRPr lang="en-US" sz="3450" dirty="0"/>
          </a:p>
        </p:txBody>
      </p:sp>
      <p:sp>
        <p:nvSpPr>
          <p:cNvPr id="4" name="Shape 4"/>
          <p:cNvSpPr/>
          <p:nvPr/>
        </p:nvSpPr>
        <p:spPr>
          <a:xfrm>
            <a:off x="685800" y="1618488"/>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448050"/>
          </a:xfrm>
          <a:prstGeom prst="line">
            <a:avLst/>
          </a:prstGeom>
          <a:ln w="9525" cap="flat">
            <a:solidFill>
              <a:srgbClr val="E6E8F2"/>
            </a:solidFill>
          </a:ln>
        </p:spPr>
      </p:cxnSp>
      <p:cxnSp>
        <p:nvCxnSpPr>
          <p:cNvPr id="6" name="Line 6"/>
          <p:cNvCxnSpPr/>
          <p:nvPr/>
        </p:nvCxnSpPr>
        <p:spPr>
          <a:xfrm>
            <a:off x="1327785" y="1732788"/>
            <a:ext cx="0" cy="3448050"/>
          </a:xfrm>
          <a:prstGeom prst="line">
            <a:avLst/>
          </a:prstGeom>
          <a:ln w="9525" cap="flat">
            <a:solidFill>
              <a:srgbClr val="E6E8F2"/>
            </a:solidFill>
          </a:ln>
        </p:spPr>
      </p:cxnSp>
      <p:cxnSp>
        <p:nvCxnSpPr>
          <p:cNvPr id="7" name="Line 7"/>
          <p:cNvCxnSpPr/>
          <p:nvPr/>
        </p:nvCxnSpPr>
        <p:spPr>
          <a:xfrm>
            <a:off x="1645920" y="1732788"/>
            <a:ext cx="0" cy="3448050"/>
          </a:xfrm>
          <a:prstGeom prst="line">
            <a:avLst/>
          </a:prstGeom>
          <a:ln w="9525" cap="flat">
            <a:solidFill>
              <a:srgbClr val="E6E8F2"/>
            </a:solidFill>
          </a:ln>
        </p:spPr>
      </p:cxnSp>
      <p:cxnSp>
        <p:nvCxnSpPr>
          <p:cNvPr id="8" name="Line 8"/>
          <p:cNvCxnSpPr/>
          <p:nvPr/>
        </p:nvCxnSpPr>
        <p:spPr>
          <a:xfrm>
            <a:off x="1964055" y="1732788"/>
            <a:ext cx="0" cy="3448050"/>
          </a:xfrm>
          <a:prstGeom prst="line">
            <a:avLst/>
          </a:prstGeom>
          <a:ln w="9525" cap="flat">
            <a:solidFill>
              <a:srgbClr val="E6E8F2"/>
            </a:solidFill>
          </a:ln>
        </p:spPr>
      </p:cxnSp>
      <p:cxnSp>
        <p:nvCxnSpPr>
          <p:cNvPr id="9" name="Line 9"/>
          <p:cNvCxnSpPr/>
          <p:nvPr/>
        </p:nvCxnSpPr>
        <p:spPr>
          <a:xfrm>
            <a:off x="2282190" y="1732788"/>
            <a:ext cx="0" cy="3448050"/>
          </a:xfrm>
          <a:prstGeom prst="line">
            <a:avLst/>
          </a:prstGeom>
          <a:ln w="9525" cap="flat">
            <a:solidFill>
              <a:srgbClr val="E6E8F2"/>
            </a:solidFill>
          </a:ln>
        </p:spPr>
      </p:cxnSp>
      <p:cxnSp>
        <p:nvCxnSpPr>
          <p:cNvPr id="10" name="Line 10"/>
          <p:cNvCxnSpPr/>
          <p:nvPr/>
        </p:nvCxnSpPr>
        <p:spPr>
          <a:xfrm>
            <a:off x="2600325" y="1732788"/>
            <a:ext cx="0" cy="3448050"/>
          </a:xfrm>
          <a:prstGeom prst="line">
            <a:avLst/>
          </a:prstGeom>
          <a:ln w="9525" cap="flat">
            <a:solidFill>
              <a:srgbClr val="E6E8F2"/>
            </a:solidFill>
          </a:ln>
        </p:spPr>
      </p:cxnSp>
      <p:cxnSp>
        <p:nvCxnSpPr>
          <p:cNvPr id="11" name="Line 11"/>
          <p:cNvCxnSpPr/>
          <p:nvPr/>
        </p:nvCxnSpPr>
        <p:spPr>
          <a:xfrm>
            <a:off x="2918460" y="1732788"/>
            <a:ext cx="0" cy="3448050"/>
          </a:xfrm>
          <a:prstGeom prst="line">
            <a:avLst/>
          </a:prstGeom>
          <a:ln w="9525" cap="flat">
            <a:solidFill>
              <a:srgbClr val="E6E8F2"/>
            </a:solidFill>
          </a:ln>
        </p:spPr>
      </p:cxnSp>
      <p:cxnSp>
        <p:nvCxnSpPr>
          <p:cNvPr id="12" name="Line 12"/>
          <p:cNvCxnSpPr/>
          <p:nvPr/>
        </p:nvCxnSpPr>
        <p:spPr>
          <a:xfrm>
            <a:off x="3236595" y="1732788"/>
            <a:ext cx="0" cy="3448050"/>
          </a:xfrm>
          <a:prstGeom prst="line">
            <a:avLst/>
          </a:prstGeom>
          <a:ln w="9525" cap="flat">
            <a:solidFill>
              <a:srgbClr val="E6E8F2"/>
            </a:solidFill>
          </a:ln>
        </p:spPr>
      </p:cxnSp>
      <p:cxnSp>
        <p:nvCxnSpPr>
          <p:cNvPr id="13" name="Line 13"/>
          <p:cNvCxnSpPr/>
          <p:nvPr/>
        </p:nvCxnSpPr>
        <p:spPr>
          <a:xfrm>
            <a:off x="3554730" y="1732788"/>
            <a:ext cx="0" cy="3448050"/>
          </a:xfrm>
          <a:prstGeom prst="line">
            <a:avLst/>
          </a:prstGeom>
          <a:ln w="9525" cap="flat">
            <a:solidFill>
              <a:srgbClr val="E6E8F2"/>
            </a:solidFill>
          </a:ln>
        </p:spPr>
      </p:cxnSp>
      <p:cxnSp>
        <p:nvCxnSpPr>
          <p:cNvPr id="14" name="Line 14"/>
          <p:cNvCxnSpPr/>
          <p:nvPr/>
        </p:nvCxnSpPr>
        <p:spPr>
          <a:xfrm>
            <a:off x="3872865" y="1732788"/>
            <a:ext cx="0" cy="3448050"/>
          </a:xfrm>
          <a:prstGeom prst="line">
            <a:avLst/>
          </a:prstGeom>
          <a:ln w="9525" cap="flat">
            <a:solidFill>
              <a:srgbClr val="E6E8F2"/>
            </a:solidFill>
          </a:ln>
        </p:spPr>
      </p:cxnSp>
      <p:cxnSp>
        <p:nvCxnSpPr>
          <p:cNvPr id="15" name="Line 15"/>
          <p:cNvCxnSpPr/>
          <p:nvPr/>
        </p:nvCxnSpPr>
        <p:spPr>
          <a:xfrm>
            <a:off x="4191000" y="1732788"/>
            <a:ext cx="0" cy="3448050"/>
          </a:xfrm>
          <a:prstGeom prst="line">
            <a:avLst/>
          </a:prstGeom>
          <a:ln w="9525" cap="flat">
            <a:solidFill>
              <a:srgbClr val="E6E8F2"/>
            </a:solidFill>
          </a:ln>
        </p:spPr>
      </p:cxnSp>
      <p:cxnSp>
        <p:nvCxnSpPr>
          <p:cNvPr id="16" name="Line 16"/>
          <p:cNvCxnSpPr/>
          <p:nvPr/>
        </p:nvCxnSpPr>
        <p:spPr>
          <a:xfrm>
            <a:off x="1009650" y="5180838"/>
            <a:ext cx="3181350" cy="0"/>
          </a:xfrm>
          <a:prstGeom prst="line">
            <a:avLst/>
          </a:prstGeom>
          <a:ln w="9525" cap="flat">
            <a:solidFill>
              <a:srgbClr val="E6E8F2"/>
            </a:solidFill>
          </a:ln>
        </p:spPr>
      </p:cxnSp>
      <p:cxnSp>
        <p:nvCxnSpPr>
          <p:cNvPr id="17" name="Line 17"/>
          <p:cNvCxnSpPr/>
          <p:nvPr/>
        </p:nvCxnSpPr>
        <p:spPr>
          <a:xfrm>
            <a:off x="1009650" y="4934549"/>
            <a:ext cx="3181350" cy="0"/>
          </a:xfrm>
          <a:prstGeom prst="line">
            <a:avLst/>
          </a:prstGeom>
          <a:ln w="9525" cap="flat">
            <a:solidFill>
              <a:srgbClr val="E6E8F2"/>
            </a:solidFill>
          </a:ln>
        </p:spPr>
      </p:cxnSp>
      <p:cxnSp>
        <p:nvCxnSpPr>
          <p:cNvPr id="18" name="Line 18"/>
          <p:cNvCxnSpPr/>
          <p:nvPr/>
        </p:nvCxnSpPr>
        <p:spPr>
          <a:xfrm>
            <a:off x="1009650" y="4688259"/>
            <a:ext cx="3181350" cy="0"/>
          </a:xfrm>
          <a:prstGeom prst="line">
            <a:avLst/>
          </a:prstGeom>
          <a:ln w="9525" cap="flat">
            <a:solidFill>
              <a:srgbClr val="E6E8F2"/>
            </a:solidFill>
          </a:ln>
        </p:spPr>
      </p:cxnSp>
      <p:cxnSp>
        <p:nvCxnSpPr>
          <p:cNvPr id="19" name="Line 19"/>
          <p:cNvCxnSpPr/>
          <p:nvPr/>
        </p:nvCxnSpPr>
        <p:spPr>
          <a:xfrm>
            <a:off x="1009650" y="4441970"/>
            <a:ext cx="3181350" cy="0"/>
          </a:xfrm>
          <a:prstGeom prst="line">
            <a:avLst/>
          </a:prstGeom>
          <a:ln w="9525" cap="flat">
            <a:solidFill>
              <a:srgbClr val="E6E8F2"/>
            </a:solidFill>
          </a:ln>
        </p:spPr>
      </p:cxnSp>
      <p:cxnSp>
        <p:nvCxnSpPr>
          <p:cNvPr id="20" name="Line 20"/>
          <p:cNvCxnSpPr/>
          <p:nvPr/>
        </p:nvCxnSpPr>
        <p:spPr>
          <a:xfrm>
            <a:off x="1009650" y="4195681"/>
            <a:ext cx="3181350" cy="0"/>
          </a:xfrm>
          <a:prstGeom prst="line">
            <a:avLst/>
          </a:prstGeom>
          <a:ln w="9525" cap="flat">
            <a:solidFill>
              <a:srgbClr val="E6E8F2"/>
            </a:solidFill>
          </a:ln>
        </p:spPr>
      </p:cxnSp>
      <p:cxnSp>
        <p:nvCxnSpPr>
          <p:cNvPr id="21" name="Line 21"/>
          <p:cNvCxnSpPr/>
          <p:nvPr/>
        </p:nvCxnSpPr>
        <p:spPr>
          <a:xfrm>
            <a:off x="1009650" y="3949392"/>
            <a:ext cx="3181350" cy="0"/>
          </a:xfrm>
          <a:prstGeom prst="line">
            <a:avLst/>
          </a:prstGeom>
          <a:ln w="9525" cap="flat">
            <a:solidFill>
              <a:srgbClr val="E6E8F2"/>
            </a:solidFill>
          </a:ln>
        </p:spPr>
      </p:cxnSp>
      <p:cxnSp>
        <p:nvCxnSpPr>
          <p:cNvPr id="22" name="Line 22"/>
          <p:cNvCxnSpPr/>
          <p:nvPr/>
        </p:nvCxnSpPr>
        <p:spPr>
          <a:xfrm>
            <a:off x="1009650" y="3703102"/>
            <a:ext cx="3181350" cy="0"/>
          </a:xfrm>
          <a:prstGeom prst="line">
            <a:avLst/>
          </a:prstGeom>
          <a:ln w="9525" cap="flat">
            <a:solidFill>
              <a:srgbClr val="E6E8F2"/>
            </a:solidFill>
          </a:ln>
        </p:spPr>
      </p:cxnSp>
      <p:cxnSp>
        <p:nvCxnSpPr>
          <p:cNvPr id="23" name="Line 23"/>
          <p:cNvCxnSpPr/>
          <p:nvPr/>
        </p:nvCxnSpPr>
        <p:spPr>
          <a:xfrm>
            <a:off x="1009650" y="3456813"/>
            <a:ext cx="3181350" cy="0"/>
          </a:xfrm>
          <a:prstGeom prst="line">
            <a:avLst/>
          </a:prstGeom>
          <a:ln w="9525" cap="flat">
            <a:solidFill>
              <a:srgbClr val="E6E8F2"/>
            </a:solidFill>
          </a:ln>
        </p:spPr>
      </p:cxnSp>
      <p:cxnSp>
        <p:nvCxnSpPr>
          <p:cNvPr id="24" name="Line 24"/>
          <p:cNvCxnSpPr/>
          <p:nvPr/>
        </p:nvCxnSpPr>
        <p:spPr>
          <a:xfrm>
            <a:off x="1009650" y="3210524"/>
            <a:ext cx="3181350" cy="0"/>
          </a:xfrm>
          <a:prstGeom prst="line">
            <a:avLst/>
          </a:prstGeom>
          <a:ln w="9525" cap="flat">
            <a:solidFill>
              <a:srgbClr val="E6E8F2"/>
            </a:solidFill>
          </a:ln>
        </p:spPr>
      </p:cxnSp>
      <p:cxnSp>
        <p:nvCxnSpPr>
          <p:cNvPr id="25" name="Line 25"/>
          <p:cNvCxnSpPr/>
          <p:nvPr/>
        </p:nvCxnSpPr>
        <p:spPr>
          <a:xfrm>
            <a:off x="1009650" y="2964234"/>
            <a:ext cx="3181350" cy="0"/>
          </a:xfrm>
          <a:prstGeom prst="line">
            <a:avLst/>
          </a:prstGeom>
          <a:ln w="9525" cap="flat">
            <a:solidFill>
              <a:srgbClr val="E6E8F2"/>
            </a:solidFill>
          </a:ln>
        </p:spPr>
      </p:cxnSp>
      <p:cxnSp>
        <p:nvCxnSpPr>
          <p:cNvPr id="26" name="Line 26"/>
          <p:cNvCxnSpPr/>
          <p:nvPr/>
        </p:nvCxnSpPr>
        <p:spPr>
          <a:xfrm>
            <a:off x="1009650" y="2717945"/>
            <a:ext cx="3181350" cy="0"/>
          </a:xfrm>
          <a:prstGeom prst="line">
            <a:avLst/>
          </a:prstGeom>
          <a:ln w="9525" cap="flat">
            <a:solidFill>
              <a:srgbClr val="E6E8F2"/>
            </a:solidFill>
          </a:ln>
        </p:spPr>
      </p:cxnSp>
      <p:cxnSp>
        <p:nvCxnSpPr>
          <p:cNvPr id="27" name="Line 27"/>
          <p:cNvCxnSpPr/>
          <p:nvPr/>
        </p:nvCxnSpPr>
        <p:spPr>
          <a:xfrm>
            <a:off x="1009650" y="2471656"/>
            <a:ext cx="3181350" cy="0"/>
          </a:xfrm>
          <a:prstGeom prst="line">
            <a:avLst/>
          </a:prstGeom>
          <a:ln w="9525" cap="flat">
            <a:solidFill>
              <a:srgbClr val="E6E8F2"/>
            </a:solidFill>
          </a:ln>
        </p:spPr>
      </p:cxnSp>
      <p:cxnSp>
        <p:nvCxnSpPr>
          <p:cNvPr id="28" name="Line 28"/>
          <p:cNvCxnSpPr/>
          <p:nvPr/>
        </p:nvCxnSpPr>
        <p:spPr>
          <a:xfrm>
            <a:off x="1009650" y="2225367"/>
            <a:ext cx="3181350" cy="0"/>
          </a:xfrm>
          <a:prstGeom prst="line">
            <a:avLst/>
          </a:prstGeom>
          <a:ln w="9525" cap="flat">
            <a:solidFill>
              <a:srgbClr val="E6E8F2"/>
            </a:solidFill>
          </a:ln>
        </p:spPr>
      </p:cxnSp>
      <p:cxnSp>
        <p:nvCxnSpPr>
          <p:cNvPr id="29" name="Line 29"/>
          <p:cNvCxnSpPr/>
          <p:nvPr/>
        </p:nvCxnSpPr>
        <p:spPr>
          <a:xfrm>
            <a:off x="1009650" y="1979077"/>
            <a:ext cx="3181350" cy="0"/>
          </a:xfrm>
          <a:prstGeom prst="line">
            <a:avLst/>
          </a:prstGeom>
          <a:ln w="9525" cap="flat">
            <a:solidFill>
              <a:srgbClr val="E6E8F2"/>
            </a:solidFill>
          </a:ln>
        </p:spPr>
      </p:cxnSp>
      <p:cxnSp>
        <p:nvCxnSpPr>
          <p:cNvPr id="30" name="Line 30"/>
          <p:cNvCxnSpPr/>
          <p:nvPr/>
        </p:nvCxnSpPr>
        <p:spPr>
          <a:xfrm>
            <a:off x="1009650" y="1732788"/>
            <a:ext cx="3181350" cy="0"/>
          </a:xfrm>
          <a:prstGeom prst="line">
            <a:avLst/>
          </a:prstGeom>
          <a:ln w="9525" cap="flat">
            <a:solidFill>
              <a:srgbClr val="E6E8F2"/>
            </a:solidFill>
          </a:ln>
        </p:spPr>
      </p:cxnSp>
      <p:cxnSp>
        <p:nvCxnSpPr>
          <p:cNvPr id="31" name="Line 31"/>
          <p:cNvCxnSpPr/>
          <p:nvPr/>
        </p:nvCxnSpPr>
        <p:spPr>
          <a:xfrm>
            <a:off x="2600325" y="1732788"/>
            <a:ext cx="0" cy="3448050"/>
          </a:xfrm>
          <a:prstGeom prst="line">
            <a:avLst/>
          </a:prstGeom>
          <a:ln w="19050" cap="flat">
            <a:solidFill>
              <a:srgbClr val="5F6272"/>
            </a:solidFill>
          </a:ln>
        </p:spPr>
      </p:cxnSp>
      <p:cxnSp>
        <p:nvCxnSpPr>
          <p:cNvPr id="32" name="Line 32"/>
          <p:cNvCxnSpPr/>
          <p:nvPr/>
        </p:nvCxnSpPr>
        <p:spPr>
          <a:xfrm>
            <a:off x="1009650" y="3949392"/>
            <a:ext cx="3181350" cy="0"/>
          </a:xfrm>
          <a:prstGeom prst="line">
            <a:avLst/>
          </a:prstGeom>
          <a:ln w="19050" cap="flat">
            <a:solidFill>
              <a:srgbClr val="5F6272"/>
            </a:solidFill>
          </a:ln>
        </p:spPr>
      </p:cxnSp>
      <p:sp>
        <p:nvSpPr>
          <p:cNvPr id="33" name="Shape 33"/>
          <p:cNvSpPr txBox="1"/>
          <p:nvPr/>
        </p:nvSpPr>
        <p:spPr>
          <a:xfrm>
            <a:off x="73533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10534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13716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168973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7" name="Shape 37"/>
          <p:cNvSpPr txBox="1"/>
          <p:nvPr/>
        </p:nvSpPr>
        <p:spPr>
          <a:xfrm>
            <a:off x="200787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232600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26441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2962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328041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359854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391668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442722" y="48431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442722" y="43505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38579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442722"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442722" y="287279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442722" y="238021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18876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1" name="Line 51"/>
          <p:cNvCxnSpPr/>
          <p:nvPr/>
        </p:nvCxnSpPr>
        <p:spPr>
          <a:xfrm flipV="1">
            <a:off x="1009650" y="2717945"/>
            <a:ext cx="3181350" cy="2462893"/>
          </a:xfrm>
          <a:prstGeom prst="line">
            <a:avLst/>
          </a:prstGeom>
          <a:ln w="38100" cap="rnd">
            <a:solidFill>
              <a:srgbClr val="16171D"/>
            </a:solidFill>
          </a:ln>
        </p:spPr>
      </p:cxnSp>
      <p:sp>
        <p:nvSpPr>
          <p:cNvPr id="52" name="Shape 52"/>
          <p:cNvSpPr txBox="1"/>
          <p:nvPr/>
        </p:nvSpPr>
        <p:spPr>
          <a:xfrm>
            <a:off x="1699260" y="273699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1327785" y="3703102"/>
            <a:ext cx="0" cy="1231446"/>
          </a:xfrm>
          <a:prstGeom prst="line">
            <a:avLst/>
          </a:prstGeom>
          <a:ln w="38100" cap="rnd">
            <a:solidFill>
              <a:srgbClr val="7A4FC4"/>
            </a:solidFill>
            <a:prstDash val="dash"/>
          </a:ln>
        </p:spPr>
      </p:cxnSp>
      <p:sp>
        <p:nvSpPr>
          <p:cNvPr id="54" name="Shape 54"/>
          <p:cNvSpPr txBox="1"/>
          <p:nvPr/>
        </p:nvSpPr>
        <p:spPr>
          <a:xfrm>
            <a:off x="1403985" y="37221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5" name="Shape 55"/>
          <p:cNvSpPr/>
          <p:nvPr/>
        </p:nvSpPr>
        <p:spPr>
          <a:xfrm>
            <a:off x="1275398" y="36507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2282190" y="2964234"/>
            <a:ext cx="0" cy="1231446"/>
          </a:xfrm>
          <a:prstGeom prst="line">
            <a:avLst/>
          </a:prstGeom>
          <a:ln w="38100" cap="rnd">
            <a:solidFill>
              <a:srgbClr val="7A4FC4"/>
            </a:solidFill>
            <a:prstDash val="dash"/>
          </a:ln>
        </p:spPr>
      </p:cxnSp>
      <p:sp>
        <p:nvSpPr>
          <p:cNvPr id="57" name="Shape 57"/>
          <p:cNvSpPr txBox="1"/>
          <p:nvPr/>
        </p:nvSpPr>
        <p:spPr>
          <a:xfrm>
            <a:off x="2358390" y="2983284"/>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+5 ↑</a:t>
            </a:r>
            <a:endParaRPr lang="en-US" sz="1275" dirty="0"/>
          </a:p>
        </p:txBody>
      </p:sp>
      <p:sp>
        <p:nvSpPr>
          <p:cNvPr id="58" name="Shape 58"/>
          <p:cNvSpPr/>
          <p:nvPr/>
        </p:nvSpPr>
        <p:spPr>
          <a:xfrm>
            <a:off x="2229802" y="29118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3236595" y="2225367"/>
            <a:ext cx="0" cy="1231446"/>
          </a:xfrm>
          <a:prstGeom prst="line">
            <a:avLst/>
          </a:prstGeom>
          <a:ln w="38100" cap="rnd">
            <a:solidFill>
              <a:srgbClr val="7A4FC4"/>
            </a:solidFill>
            <a:prstDash val="dash"/>
          </a:ln>
        </p:spPr>
      </p:cxnSp>
      <p:sp>
        <p:nvSpPr>
          <p:cNvPr id="60" name="Shape 60"/>
          <p:cNvSpPr txBox="1"/>
          <p:nvPr/>
        </p:nvSpPr>
        <p:spPr>
          <a:xfrm>
            <a:off x="744855" y="224441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+5 ↑</a:t>
            </a:r>
            <a:endParaRPr lang="en-US" sz="1275" dirty="0"/>
          </a:p>
        </p:txBody>
      </p:sp>
      <p:sp>
        <p:nvSpPr>
          <p:cNvPr id="61" name="Shape 61"/>
          <p:cNvSpPr/>
          <p:nvPr/>
        </p:nvSpPr>
        <p:spPr>
          <a:xfrm>
            <a:off x="3184207" y="217297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flipV="1">
            <a:off x="1009650" y="1732788"/>
            <a:ext cx="2863215" cy="2216604"/>
          </a:xfrm>
          <a:prstGeom prst="line">
            <a:avLst/>
          </a:prstGeom>
          <a:ln w="38100" cap="rnd">
            <a:solidFill>
              <a:srgbClr val="7A4FC4"/>
            </a:solidFill>
          </a:ln>
        </p:spPr>
      </p:cxnSp>
      <p:sp>
        <p:nvSpPr>
          <p:cNvPr id="63" name="Shape 63"/>
          <p:cNvSpPr txBox="1"/>
          <p:nvPr/>
        </p:nvSpPr>
        <p:spPr>
          <a:xfrm>
            <a:off x="138112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64" name="Shape 64"/>
          <p:cNvSpPr/>
          <p:nvPr/>
        </p:nvSpPr>
        <p:spPr>
          <a:xfrm>
            <a:off x="1275398" y="488216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p:nvPr/>
        </p:nvSpPr>
        <p:spPr>
          <a:xfrm>
            <a:off x="2229802" y="41432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p:nvPr/>
        </p:nvSpPr>
        <p:spPr>
          <a:xfrm>
            <a:off x="3184207" y="34044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Up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add 5 to every output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endParaRPr lang="en-US" sz="1950" dirty="0"/>
          </a:p>
        </p:txBody>
      </p:sp>
      <p:sp>
        <p:nvSpPr>
          <p:cNvPr id="68" name="Shape 68"/>
          <p:cNvSpPr txBox="1"/>
          <p:nvPr/>
        </p:nvSpPr>
        <p:spPr>
          <a:xfrm>
            <a:off x="6286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9" name="Shape 69"/>
          <p:cNvSpPr txBox="1"/>
          <p:nvPr/>
        </p:nvSpPr>
        <p:spPr>
          <a:xfrm>
            <a:off x="7429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70" name="Shape 70"/>
          <p:cNvSpPr txBox="1"/>
          <p:nvPr/>
        </p:nvSpPr>
        <p:spPr>
          <a:xfrm>
            <a:off x="8572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+ 5</a:t>
            </a:r>
            <a:endParaRPr lang="en-US" sz="1800" dirty="0"/>
          </a:p>
        </p:txBody>
      </p:sp>
      <p:sp>
        <p:nvSpPr>
          <p:cNvPr id="71" name="Shape 71"/>
          <p:cNvSpPr txBox="1"/>
          <p:nvPr/>
        </p:nvSpPr>
        <p:spPr>
          <a:xfrm>
            <a:off x="9715348"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p(x)</a:t>
            </a:r>
            <a:endParaRPr lang="en-US" sz="1800" dirty="0"/>
          </a:p>
        </p:txBody>
      </p:sp>
      <p:sp>
        <p:nvSpPr>
          <p:cNvPr id="72" name="Shape 72"/>
          <p:cNvSpPr txBox="1"/>
          <p:nvPr/>
        </p:nvSpPr>
        <p:spPr>
          <a:xfrm>
            <a:off x="6286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3" name="Shape 73"/>
          <p:cNvSpPr txBox="1"/>
          <p:nvPr/>
        </p:nvSpPr>
        <p:spPr>
          <a:xfrm>
            <a:off x="7429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74" name="Shape 74"/>
          <p:cNvSpPr txBox="1"/>
          <p:nvPr/>
        </p:nvSpPr>
        <p:spPr>
          <a:xfrm>
            <a:off x="8572348"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75" name="Shape 75"/>
          <p:cNvSpPr txBox="1"/>
          <p:nvPr/>
        </p:nvSpPr>
        <p:spPr>
          <a:xfrm>
            <a:off x="9715348" y="252450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76" name="Shape 76"/>
          <p:cNvSpPr txBox="1"/>
          <p:nvPr/>
        </p:nvSpPr>
        <p:spPr>
          <a:xfrm>
            <a:off x="9715348" y="252450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7" name="Shape 77"/>
          <p:cNvSpPr txBox="1"/>
          <p:nvPr/>
        </p:nvSpPr>
        <p:spPr>
          <a:xfrm>
            <a:off x="6286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8" name="Shape 78"/>
          <p:cNvSpPr txBox="1"/>
          <p:nvPr/>
        </p:nvSpPr>
        <p:spPr>
          <a:xfrm>
            <a:off x="7429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79" name="Shape 79"/>
          <p:cNvSpPr txBox="1"/>
          <p:nvPr/>
        </p:nvSpPr>
        <p:spPr>
          <a:xfrm>
            <a:off x="8572348"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0" name="Shape 80"/>
          <p:cNvSpPr txBox="1"/>
          <p:nvPr/>
        </p:nvSpPr>
        <p:spPr>
          <a:xfrm>
            <a:off x="9715348" y="294513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1" name="Shape 81"/>
          <p:cNvSpPr txBox="1"/>
          <p:nvPr/>
        </p:nvSpPr>
        <p:spPr>
          <a:xfrm>
            <a:off x="9715348" y="294513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2" name="Shape 82"/>
          <p:cNvSpPr txBox="1"/>
          <p:nvPr/>
        </p:nvSpPr>
        <p:spPr>
          <a:xfrm>
            <a:off x="6286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3" name="Shape 83"/>
          <p:cNvSpPr txBox="1"/>
          <p:nvPr/>
        </p:nvSpPr>
        <p:spPr>
          <a:xfrm>
            <a:off x="7429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4" name="Shape 84"/>
          <p:cNvSpPr txBox="1"/>
          <p:nvPr/>
        </p:nvSpPr>
        <p:spPr>
          <a:xfrm>
            <a:off x="8572348" y="336575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+ 5</a:t>
            </a:r>
            <a:endParaRPr lang="en-US" sz="1800" dirty="0"/>
          </a:p>
        </p:txBody>
      </p:sp>
      <p:sp>
        <p:nvSpPr>
          <p:cNvPr id="85" name="Shape 85"/>
          <p:cNvSpPr txBox="1"/>
          <p:nvPr/>
        </p:nvSpPr>
        <p:spPr>
          <a:xfrm>
            <a:off x="9715348" y="336575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86" name="Shape 86"/>
          <p:cNvSpPr txBox="1"/>
          <p:nvPr/>
        </p:nvSpPr>
        <p:spPr>
          <a:xfrm>
            <a:off x="9715348" y="336575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87" name="Shape 87"/>
          <p:cNvSpPr txBox="1"/>
          <p:nvPr/>
        </p:nvSpPr>
        <p:spPr>
          <a:xfrm>
            <a:off x="6286348" y="391972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8" name="Shape 88"/>
          <p:cNvSpPr txBox="1"/>
          <p:nvPr/>
        </p:nvSpPr>
        <p:spPr>
          <a:xfrm>
            <a:off x="6286348" y="492633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still 1.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0) → (0, 5).</a:t>
            </a:r>
            <a:endParaRPr lang="en-US" sz="1575" dirty="0"/>
          </a:p>
        </p:txBody>
      </p:sp>
      <p:sp>
        <p:nvSpPr>
          <p:cNvPr id="89" name="Slide Number 8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wipe(left)">
                                      <p:cBhvr>
                                        <p:cTn id="4" dur="700"/>
                                        <p:tgtEl>
                                          <p:spTgt spid="53"/>
                                        </p:tgtEl>
                                      </p:cBhvr>
                                    </p:animEffect>
                                  </p:childTnLst>
                                </p:cTn>
                              </p:par>
                              <p:par>
                                <p:cTn id="8" presetID="22" presetClass="entr" presetSubtype="8"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700"/>
                                        <p:tgtEl>
                                          <p:spTgt spid="54"/>
                                        </p:tgtEl>
                                      </p:cBhvr>
                                    </p:animEffect>
                                  </p:childTnLst>
                                </p:cTn>
                              </p:par>
                              <p:par>
                                <p:cTn id="11" presetID="22" presetClass="entr" presetSubtype="8" fill="hold" nodeType="withEffect">
                                  <p:stCondLst>
                                    <p:cond delay="0"/>
                                  </p:stCondLst>
                                  <p:childTnLst>
                                    <p:set>
                                      <p:cBhvr>
                                        <p:cTn id="9" dur="1" fill="hold">
                                          <p:stCondLst>
                                            <p:cond delay="0"/>
                                          </p:stCondLst>
                                        </p:cTn>
                                        <p:tgtEl>
                                          <p:spTgt spid="55"/>
                                        </p:tgtEl>
                                        <p:attrNameLst>
                                          <p:attrName>style.visibility</p:attrName>
                                        </p:attrNameLst>
                                      </p:cBhvr>
                                      <p:to>
                                        <p:strVal val="visible"/>
                                      </p:to>
                                    </p:set>
                                    <p:animEffect transition="in" filter="wipe(left)">
                                      <p:cBhvr>
                                        <p:cTn id="10" dur="700"/>
                                        <p:tgtEl>
                                          <p:spTgt spid="55"/>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ipe(left)">
                                      <p:cBhvr>
                                        <p:cTn id="15" dur="700"/>
                                        <p:tgtEl>
                                          <p:spTgt spid="56"/>
                                        </p:tgtEl>
                                      </p:cBhvr>
                                    </p:animEffect>
                                  </p:childTnLst>
                                </p:cTn>
                              </p:par>
                              <p:par>
                                <p:cTn id="19" presetID="22" presetClass="entr" presetSubtype="8" fill="hold" nodeType="with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par>
                                <p:cTn id="22" presetID="22" presetClass="entr" presetSubtype="8" fill="hold" nodeType="with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wipe(left)">
                                      <p:cBhvr>
                                        <p:cTn id="21" dur="700"/>
                                        <p:tgtEl>
                                          <p:spTgt spid="58"/>
                                        </p:tgtEl>
                                      </p:cBhvr>
                                    </p:animEffect>
                                  </p:childTnLst>
                                </p:cTn>
                              </p:par>
                            </p:childTnLst>
                          </p:cTn>
                        </p:par>
                      </p:childTnLst>
                    </p:cTn>
                  </p:par>
                  <p:par>
                    <p:cTn id="34" fill="hold">
                      <p:stCondLst>
                        <p:cond delay="indefinite"/>
                      </p:stCondLst>
                      <p:childTnLst>
                        <p:par>
                          <p:cTn id="35"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9"/>
                                        </p:tgtEl>
                                        <p:attrNameLst>
                                          <p:attrName>style.visibility</p:attrName>
                                        </p:attrNameLst>
                                      </p:cBhvr>
                                      <p:to>
                                        <p:strVal val="visible"/>
                                      </p:to>
                                    </p:set>
                                    <p:animEffect transition="in" filter="wipe(left)">
                                      <p:cBhvr>
                                        <p:cTn id="26" dur="700"/>
                                        <p:tgtEl>
                                          <p:spTgt spid="59"/>
                                        </p:tgtEl>
                                      </p:cBhvr>
                                    </p:animEffect>
                                  </p:childTnLst>
                                </p:cTn>
                              </p:par>
                              <p:par>
                                <p:cTn id="30" presetID="22" presetClass="entr" presetSubtype="8" fill="hold" nodeType="withEffect">
                                  <p:stCondLst>
                                    <p:cond delay="0"/>
                                  </p:stCondLst>
                                  <p:childTnLst>
                                    <p:set>
                                      <p:cBhvr>
                                        <p:cTn id="28" dur="1" fill="hold">
                                          <p:stCondLst>
                                            <p:cond delay="0"/>
                                          </p:stCondLst>
                                        </p:cTn>
                                        <p:tgtEl>
                                          <p:spTgt spid="60"/>
                                        </p:tgtEl>
                                        <p:attrNameLst>
                                          <p:attrName>style.visibility</p:attrName>
                                        </p:attrNameLst>
                                      </p:cBhvr>
                                      <p:to>
                                        <p:strVal val="visible"/>
                                      </p:to>
                                    </p:set>
                                    <p:animEffect transition="in" filter="wipe(left)">
                                      <p:cBhvr>
                                        <p:cTn id="29" dur="700"/>
                                        <p:tgtEl>
                                          <p:spTgt spid="60"/>
                                        </p:tgtEl>
                                      </p:cBhvr>
                                    </p:animEffect>
                                  </p:childTnLst>
                                </p:cTn>
                              </p:par>
                              <p:par>
                                <p:cTn id="33" presetID="22" presetClass="entr" presetSubtype="8" fill="hold" nodeType="withEffect">
                                  <p:stCondLst>
                                    <p:cond delay="0"/>
                                  </p:stCondLst>
                                  <p:childTnLst>
                                    <p:set>
                                      <p:cBhvr>
                                        <p:cTn id="31" dur="1" fill="hold">
                                          <p:stCondLst>
                                            <p:cond delay="0"/>
                                          </p:stCondLst>
                                        </p:cTn>
                                        <p:tgtEl>
                                          <p:spTgt spid="61"/>
                                        </p:tgtEl>
                                        <p:attrNameLst>
                                          <p:attrName>style.visibility</p:attrName>
                                        </p:attrNameLst>
                                      </p:cBhvr>
                                      <p:to>
                                        <p:strVal val="visible"/>
                                      </p:to>
                                    </p:set>
                                    <p:animEffect transition="in" filter="wipe(left)">
                                      <p:cBhvr>
                                        <p:cTn id="32" dur="700"/>
                                        <p:tgtEl>
                                          <p:spTgt spid="61"/>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wipe(left)">
                                      <p:cBhvr>
                                        <p:cTn id="37" dur="700"/>
                                        <p:tgtEl>
                                          <p:spTgt spid="62"/>
                                        </p:tgtEl>
                                      </p:cBhvr>
                                    </p:animEffect>
                                  </p:childTnLst>
                                </p:cTn>
                              </p:par>
                              <p:par>
                                <p:cTn id="41" presetID="22" presetClass="entr" presetSubtype="8" fill="hold" nodeType="withEffect">
                                  <p:stCondLst>
                                    <p:cond delay="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700"/>
                                        <p:tgtEl>
                                          <p:spTgt spid="63"/>
                                        </p:tgtEl>
                                      </p:cBhvr>
                                    </p:animEffect>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500"/>
                                        <p:tgtEl>
                                          <p:spTgt spid="76"/>
                                        </p:tgtEl>
                                      </p:cBhvr>
                                    </p:animEffect>
                                    <p:anim calcmode="lin" valueType="num">
                                      <p:cBhvr>
                                        <p:cTn id="46" dur="500" fill="hold"/>
                                        <p:tgtEl>
                                          <p:spTgt spid="76"/>
                                        </p:tgtEl>
                                        <p:attrNameLst>
                                          <p:attrName>ppt_x</p:attrName>
                                        </p:attrNameLst>
                                      </p:cBhvr>
                                      <p:tavLst>
                                        <p:tav tm="0">
                                          <p:val>
                                            <p:strVal val="#ppt_x"/>
                                          </p:val>
                                        </p:tav>
                                        <p:tav tm="100000">
                                          <p:val>
                                            <p:strVal val="#ppt_x"/>
                                          </p:val>
                                        </p:tav>
                                      </p:tavLst>
                                    </p:anim>
                                    <p:anim calcmode="lin" valueType="num">
                                      <p:cBhvr>
                                        <p:cTn id="47"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81"/>
                                        </p:tgtEl>
                                        <p:attrNameLst>
                                          <p:attrName>style.visibility</p:attrName>
                                        </p:attrNameLst>
                                      </p:cBhvr>
                                      <p:to>
                                        <p:strVal val="visible"/>
                                      </p:to>
                                    </p:set>
                                    <p:animEffect transition="in" filter="fade">
                                      <p:cBhvr>
                                        <p:cTn id="52" dur="500"/>
                                        <p:tgtEl>
                                          <p:spTgt spid="81"/>
                                        </p:tgtEl>
                                      </p:cBhvr>
                                    </p:animEffect>
                                    <p:anim calcmode="lin" valueType="num">
                                      <p:cBhvr>
                                        <p:cTn id="53" dur="500" fill="hold"/>
                                        <p:tgtEl>
                                          <p:spTgt spid="81"/>
                                        </p:tgtEl>
                                        <p:attrNameLst>
                                          <p:attrName>ppt_x</p:attrName>
                                        </p:attrNameLst>
                                      </p:cBhvr>
                                      <p:tavLst>
                                        <p:tav tm="0">
                                          <p:val>
                                            <p:strVal val="#ppt_x"/>
                                          </p:val>
                                        </p:tav>
                                        <p:tav tm="100000">
                                          <p:val>
                                            <p:strVal val="#ppt_x"/>
                                          </p:val>
                                        </p:tav>
                                      </p:tavLst>
                                    </p:anim>
                                    <p:anim calcmode="lin" valueType="num">
                                      <p:cBhvr>
                                        <p:cTn id="54" dur="500" fill="hold"/>
                                        <p:tgtEl>
                                          <p:spTgt spid="81"/>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86"/>
                                        </p:tgtEl>
                                        <p:attrNameLst>
                                          <p:attrName>style.visibility</p:attrName>
                                        </p:attrNameLst>
                                      </p:cBhvr>
                                      <p:to>
                                        <p:strVal val="visible"/>
                                      </p:to>
                                    </p:set>
                                    <p:animEffect transition="in" filter="fade">
                                      <p:cBhvr>
                                        <p:cTn id="59" dur="500"/>
                                        <p:tgtEl>
                                          <p:spTgt spid="86"/>
                                        </p:tgtEl>
                                      </p:cBhvr>
                                    </p:animEffect>
                                    <p:anim calcmode="lin" valueType="num">
                                      <p:cBhvr>
                                        <p:cTn id="60" dur="500" fill="hold"/>
                                        <p:tgtEl>
                                          <p:spTgt spid="86"/>
                                        </p:tgtEl>
                                        <p:attrNameLst>
                                          <p:attrName>ppt_x</p:attrName>
                                        </p:attrNameLst>
                                      </p:cBhvr>
                                      <p:tavLst>
                                        <p:tav tm="0">
                                          <p:val>
                                            <p:strVal val="#ppt_x"/>
                                          </p:val>
                                        </p:tav>
                                        <p:tav tm="100000">
                                          <p:val>
                                            <p:strVal val="#ppt_x"/>
                                          </p:val>
                                        </p:tav>
                                      </p:tavLst>
                                    </p:anim>
                                    <p:anim calcmode="lin" valueType="num">
                                      <p:cBhvr>
                                        <p:cTn id="61" dur="500" fill="hold"/>
                                        <p:tgtEl>
                                          <p:spTgt spid="86"/>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69" presetID="53" presetClass="entr" presetSubtype="16" fill="hold" nodeType="clickEffect">
                                  <p:stCondLst>
                                    <p:cond delay="0"/>
                                  </p:stCondLst>
                                  <p:childTnLst>
                                    <p:set>
                                      <p:cBhvr>
                                        <p:cTn id="65" dur="1" fill="hold">
                                          <p:stCondLst>
                                            <p:cond delay="0"/>
                                          </p:stCondLst>
                                        </p:cTn>
                                        <p:tgtEl>
                                          <p:spTgt spid="87"/>
                                        </p:tgtEl>
                                        <p:attrNameLst>
                                          <p:attrName>style.visibility</p:attrName>
                                        </p:attrNameLst>
                                      </p:cBhvr>
                                      <p:to>
                                        <p:strVal val="visible"/>
                                      </p:to>
                                    </p:set>
                                    <p:animEffect transition="in" filter="fade">
                                      <p:cBhvr>
                                        <p:cTn id="66" dur="500"/>
                                        <p:tgtEl>
                                          <p:spTgt spid="87"/>
                                        </p:tgtEl>
                                      </p:cBhvr>
                                    </p:animEffect>
                                    <p:anim calcmode="lin" valueType="num">
                                      <p:cBhvr>
                                        <p:cTn id="67" dur="500" fill="hold"/>
                                        <p:tgtEl>
                                          <p:spTgt spid="87"/>
                                        </p:tgtEl>
                                        <p:attrNameLst>
                                          <p:attrName>ppt_w</p:attrName>
                                        </p:attrNameLst>
                                      </p:cBhvr>
                                      <p:tavLst>
                                        <p:tav tm="0">
                                          <p:val>
                                            <p:fltVal val="0"/>
                                          </p:val>
                                        </p:tav>
                                        <p:tav tm="100000">
                                          <p:val>
                                            <p:strVal val="#ppt_w"/>
                                          </p:val>
                                        </p:tav>
                                      </p:tavLst>
                                    </p:anim>
                                    <p:anim calcmode="lin" valueType="num">
                                      <p:cBhvr>
                                        <p:cTn id="68" dur="500" fill="hold"/>
                                        <p:tgtEl>
                                          <p:spTgt spid="8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Move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down 4</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means </a:t>
            </a:r>
            <a:r>
              <a:rPr lang="en-US" sz="1950" dirty="0" b="1">
                <a:solidFill>
                  <a:srgbClr val="16171D"/>
                </a:solidFill>
                <a:latin typeface="Segoe UI"/>
                <a:cs typeface="Segoe UI"/>
              </a:rPr>
              <a:t xml:space="preserve">−</a:t>
            </a:r>
            <a:r>
              <a:rPr lang="en-US" sz="1950" dirty="0">
                <a:solidFill>
                  <a:srgbClr val="16171D"/>
                </a:solidFill>
                <a:latin typeface="Segoe UI"/>
                <a:cs typeface="Segoe UI"/>
              </a:rPr>
              <a:t xml:space="preserve">: subtract 4 from every output.</a:t>
            </a:r>
            <a:endParaRPr lang="en-US" sz="1950" dirty="0"/>
          </a:p>
        </p:txBody>
      </p:sp>
      <p:sp>
        <p:nvSpPr>
          <p:cNvPr id="5" name="Shape 5"/>
          <p:cNvSpPr txBox="1"/>
          <p:nvPr/>
        </p:nvSpPr>
        <p:spPr>
          <a:xfrm>
            <a:off x="685800" y="240106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r</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6" name="Shape 6"/>
          <p:cNvSpPr txBox="1"/>
          <p:nvPr/>
        </p:nvSpPr>
        <p:spPr>
          <a:xfrm>
            <a:off x="685800" y="288645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7" name="Shape 7"/>
          <p:cNvSpPr txBox="1"/>
          <p:nvPr/>
        </p:nvSpPr>
        <p:spPr>
          <a:xfrm>
            <a:off x="685800" y="353872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Simplify: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− 1 − 4 = ____</a:t>
            </a:r>
            <a:endParaRPr lang="en-US" sz="1950" dirty="0"/>
          </a:p>
        </p:txBody>
      </p:sp>
      <p:sp>
        <p:nvSpPr>
          <p:cNvPr id="8" name="Shape 8"/>
          <p:cNvSpPr txBox="1"/>
          <p:nvPr/>
        </p:nvSpPr>
        <p:spPr>
          <a:xfrm>
            <a:off x="685800" y="402412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(−1 − 4 = −5)</a:t>
            </a:r>
            <a:endParaRPr lang="en-US" sz="2325" dirty="0"/>
          </a:p>
        </p:txBody>
      </p:sp>
      <p:sp>
        <p:nvSpPr>
          <p:cNvPr id="9" name="Shape 9"/>
          <p:cNvSpPr txBox="1"/>
          <p:nvPr/>
        </p:nvSpPr>
        <p:spPr>
          <a:xfrm>
            <a:off x="685800" y="503072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____</a:t>
            </a:r>
            <a:endParaRPr lang="en-US" sz="1950" dirty="0"/>
          </a:p>
        </p:txBody>
      </p:sp>
      <p:sp>
        <p:nvSpPr>
          <p:cNvPr id="10" name="Shape 10"/>
          <p:cNvSpPr txBox="1"/>
          <p:nvPr/>
        </p:nvSpPr>
        <p:spPr>
          <a:xfrm>
            <a:off x="685800" y="551611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(0, −1) → (0, −5)</a:t>
            </a:r>
            <a:endParaRPr lang="en-US" sz="2325" dirty="0"/>
          </a:p>
        </p:txBody>
      </p:sp>
      <p:sp>
        <p:nvSpPr>
          <p:cNvPr id="11" name="Shape 11"/>
          <p:cNvSpPr/>
          <p:nvPr/>
        </p:nvSpPr>
        <p:spPr>
          <a:xfrm>
            <a:off x="6286348" y="1618488"/>
            <a:ext cx="3429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638550"/>
          </a:xfrm>
          <a:prstGeom prst="line">
            <a:avLst/>
          </a:prstGeom>
          <a:ln w="9525" cap="flat">
            <a:solidFill>
              <a:srgbClr val="E6E8F2"/>
            </a:solidFill>
          </a:ln>
        </p:spPr>
      </p:cxnSp>
      <p:cxnSp>
        <p:nvCxnSpPr>
          <p:cNvPr id="13" name="Line 13"/>
          <p:cNvCxnSpPr/>
          <p:nvPr/>
        </p:nvCxnSpPr>
        <p:spPr>
          <a:xfrm>
            <a:off x="7108673" y="1732788"/>
            <a:ext cx="0" cy="3638550"/>
          </a:xfrm>
          <a:prstGeom prst="line">
            <a:avLst/>
          </a:prstGeom>
          <a:ln w="9525" cap="flat">
            <a:solidFill>
              <a:srgbClr val="E6E8F2"/>
            </a:solidFill>
          </a:ln>
        </p:spPr>
      </p:cxnSp>
      <p:cxnSp>
        <p:nvCxnSpPr>
          <p:cNvPr id="14" name="Line 14"/>
          <p:cNvCxnSpPr/>
          <p:nvPr/>
        </p:nvCxnSpPr>
        <p:spPr>
          <a:xfrm>
            <a:off x="7607148" y="1732788"/>
            <a:ext cx="0" cy="3638550"/>
          </a:xfrm>
          <a:prstGeom prst="line">
            <a:avLst/>
          </a:prstGeom>
          <a:ln w="9525" cap="flat">
            <a:solidFill>
              <a:srgbClr val="E6E8F2"/>
            </a:solidFill>
          </a:ln>
        </p:spPr>
      </p:cxnSp>
      <p:cxnSp>
        <p:nvCxnSpPr>
          <p:cNvPr id="15" name="Line 15"/>
          <p:cNvCxnSpPr/>
          <p:nvPr/>
        </p:nvCxnSpPr>
        <p:spPr>
          <a:xfrm>
            <a:off x="8105623" y="1732788"/>
            <a:ext cx="0" cy="3638550"/>
          </a:xfrm>
          <a:prstGeom prst="line">
            <a:avLst/>
          </a:prstGeom>
          <a:ln w="9525" cap="flat">
            <a:solidFill>
              <a:srgbClr val="E6E8F2"/>
            </a:solidFill>
          </a:ln>
        </p:spPr>
      </p:cxnSp>
      <p:cxnSp>
        <p:nvCxnSpPr>
          <p:cNvPr id="16" name="Line 16"/>
          <p:cNvCxnSpPr/>
          <p:nvPr/>
        </p:nvCxnSpPr>
        <p:spPr>
          <a:xfrm>
            <a:off x="8604098" y="1732788"/>
            <a:ext cx="0" cy="3638550"/>
          </a:xfrm>
          <a:prstGeom prst="line">
            <a:avLst/>
          </a:prstGeom>
          <a:ln w="9525" cap="flat">
            <a:solidFill>
              <a:srgbClr val="E6E8F2"/>
            </a:solidFill>
          </a:ln>
        </p:spPr>
      </p:cxnSp>
      <p:cxnSp>
        <p:nvCxnSpPr>
          <p:cNvPr id="17" name="Line 17"/>
          <p:cNvCxnSpPr/>
          <p:nvPr/>
        </p:nvCxnSpPr>
        <p:spPr>
          <a:xfrm>
            <a:off x="9102573" y="1732788"/>
            <a:ext cx="0" cy="3638550"/>
          </a:xfrm>
          <a:prstGeom prst="line">
            <a:avLst/>
          </a:prstGeom>
          <a:ln w="9525" cap="flat">
            <a:solidFill>
              <a:srgbClr val="E6E8F2"/>
            </a:solidFill>
          </a:ln>
        </p:spPr>
      </p:cxnSp>
      <p:cxnSp>
        <p:nvCxnSpPr>
          <p:cNvPr id="18" name="Line 18"/>
          <p:cNvCxnSpPr/>
          <p:nvPr/>
        </p:nvCxnSpPr>
        <p:spPr>
          <a:xfrm>
            <a:off x="9601048" y="1732788"/>
            <a:ext cx="0" cy="3638550"/>
          </a:xfrm>
          <a:prstGeom prst="line">
            <a:avLst/>
          </a:prstGeom>
          <a:ln w="9525" cap="flat">
            <a:solidFill>
              <a:srgbClr val="E6E8F2"/>
            </a:solidFill>
          </a:ln>
        </p:spPr>
      </p:cxnSp>
      <p:cxnSp>
        <p:nvCxnSpPr>
          <p:cNvPr id="19" name="Line 19"/>
          <p:cNvCxnSpPr/>
          <p:nvPr/>
        </p:nvCxnSpPr>
        <p:spPr>
          <a:xfrm>
            <a:off x="6610198" y="5371338"/>
            <a:ext cx="2990850" cy="0"/>
          </a:xfrm>
          <a:prstGeom prst="line">
            <a:avLst/>
          </a:prstGeom>
          <a:ln w="9525" cap="flat">
            <a:solidFill>
              <a:srgbClr val="E6E8F2"/>
            </a:solidFill>
          </a:ln>
        </p:spPr>
      </p:cxnSp>
      <p:cxnSp>
        <p:nvCxnSpPr>
          <p:cNvPr id="20" name="Line 20"/>
          <p:cNvCxnSpPr/>
          <p:nvPr/>
        </p:nvCxnSpPr>
        <p:spPr>
          <a:xfrm>
            <a:off x="6610198" y="5068126"/>
            <a:ext cx="2990850" cy="0"/>
          </a:xfrm>
          <a:prstGeom prst="line">
            <a:avLst/>
          </a:prstGeom>
          <a:ln w="9525" cap="flat">
            <a:solidFill>
              <a:srgbClr val="E6E8F2"/>
            </a:solidFill>
          </a:ln>
        </p:spPr>
      </p:cxnSp>
      <p:cxnSp>
        <p:nvCxnSpPr>
          <p:cNvPr id="21" name="Line 21"/>
          <p:cNvCxnSpPr/>
          <p:nvPr/>
        </p:nvCxnSpPr>
        <p:spPr>
          <a:xfrm>
            <a:off x="6610198" y="4764913"/>
            <a:ext cx="2990850" cy="0"/>
          </a:xfrm>
          <a:prstGeom prst="line">
            <a:avLst/>
          </a:prstGeom>
          <a:ln w="9525" cap="flat">
            <a:solidFill>
              <a:srgbClr val="E6E8F2"/>
            </a:solidFill>
          </a:ln>
        </p:spPr>
      </p:cxnSp>
      <p:cxnSp>
        <p:nvCxnSpPr>
          <p:cNvPr id="22" name="Line 22"/>
          <p:cNvCxnSpPr/>
          <p:nvPr/>
        </p:nvCxnSpPr>
        <p:spPr>
          <a:xfrm>
            <a:off x="6610198" y="4461700"/>
            <a:ext cx="2990850" cy="0"/>
          </a:xfrm>
          <a:prstGeom prst="line">
            <a:avLst/>
          </a:prstGeom>
          <a:ln w="9525" cap="flat">
            <a:solidFill>
              <a:srgbClr val="E6E8F2"/>
            </a:solidFill>
          </a:ln>
        </p:spPr>
      </p:cxnSp>
      <p:cxnSp>
        <p:nvCxnSpPr>
          <p:cNvPr id="23" name="Line 23"/>
          <p:cNvCxnSpPr/>
          <p:nvPr/>
        </p:nvCxnSpPr>
        <p:spPr>
          <a:xfrm>
            <a:off x="6610198" y="4158488"/>
            <a:ext cx="2990850" cy="0"/>
          </a:xfrm>
          <a:prstGeom prst="line">
            <a:avLst/>
          </a:prstGeom>
          <a:ln w="9525" cap="flat">
            <a:solidFill>
              <a:srgbClr val="E6E8F2"/>
            </a:solidFill>
          </a:ln>
        </p:spPr>
      </p:cxnSp>
      <p:cxnSp>
        <p:nvCxnSpPr>
          <p:cNvPr id="24" name="Line 24"/>
          <p:cNvCxnSpPr/>
          <p:nvPr/>
        </p:nvCxnSpPr>
        <p:spPr>
          <a:xfrm>
            <a:off x="6610198" y="3855275"/>
            <a:ext cx="2990850" cy="0"/>
          </a:xfrm>
          <a:prstGeom prst="line">
            <a:avLst/>
          </a:prstGeom>
          <a:ln w="9525" cap="flat">
            <a:solidFill>
              <a:srgbClr val="E6E8F2"/>
            </a:solidFill>
          </a:ln>
        </p:spPr>
      </p:cxnSp>
      <p:cxnSp>
        <p:nvCxnSpPr>
          <p:cNvPr id="25" name="Line 25"/>
          <p:cNvCxnSpPr/>
          <p:nvPr/>
        </p:nvCxnSpPr>
        <p:spPr>
          <a:xfrm>
            <a:off x="6610198" y="3552063"/>
            <a:ext cx="2990850" cy="0"/>
          </a:xfrm>
          <a:prstGeom prst="line">
            <a:avLst/>
          </a:prstGeom>
          <a:ln w="9525" cap="flat">
            <a:solidFill>
              <a:srgbClr val="E6E8F2"/>
            </a:solidFill>
          </a:ln>
        </p:spPr>
      </p:cxnSp>
      <p:cxnSp>
        <p:nvCxnSpPr>
          <p:cNvPr id="26" name="Line 26"/>
          <p:cNvCxnSpPr/>
          <p:nvPr/>
        </p:nvCxnSpPr>
        <p:spPr>
          <a:xfrm>
            <a:off x="6610198" y="3248850"/>
            <a:ext cx="2990850" cy="0"/>
          </a:xfrm>
          <a:prstGeom prst="line">
            <a:avLst/>
          </a:prstGeom>
          <a:ln w="9525" cap="flat">
            <a:solidFill>
              <a:srgbClr val="E6E8F2"/>
            </a:solidFill>
          </a:ln>
        </p:spPr>
      </p:cxnSp>
      <p:cxnSp>
        <p:nvCxnSpPr>
          <p:cNvPr id="27" name="Line 27"/>
          <p:cNvCxnSpPr/>
          <p:nvPr/>
        </p:nvCxnSpPr>
        <p:spPr>
          <a:xfrm>
            <a:off x="6610198" y="2945638"/>
            <a:ext cx="2990850" cy="0"/>
          </a:xfrm>
          <a:prstGeom prst="line">
            <a:avLst/>
          </a:prstGeom>
          <a:ln w="9525" cap="flat">
            <a:solidFill>
              <a:srgbClr val="E6E8F2"/>
            </a:solidFill>
          </a:ln>
        </p:spPr>
      </p:cxnSp>
      <p:cxnSp>
        <p:nvCxnSpPr>
          <p:cNvPr id="28" name="Line 28"/>
          <p:cNvCxnSpPr/>
          <p:nvPr/>
        </p:nvCxnSpPr>
        <p:spPr>
          <a:xfrm>
            <a:off x="6610198" y="2642426"/>
            <a:ext cx="2990850" cy="0"/>
          </a:xfrm>
          <a:prstGeom prst="line">
            <a:avLst/>
          </a:prstGeom>
          <a:ln w="9525" cap="flat">
            <a:solidFill>
              <a:srgbClr val="E6E8F2"/>
            </a:solidFill>
          </a:ln>
        </p:spPr>
      </p:cxnSp>
      <p:cxnSp>
        <p:nvCxnSpPr>
          <p:cNvPr id="29" name="Line 29"/>
          <p:cNvCxnSpPr/>
          <p:nvPr/>
        </p:nvCxnSpPr>
        <p:spPr>
          <a:xfrm>
            <a:off x="6610198" y="2339213"/>
            <a:ext cx="2990850" cy="0"/>
          </a:xfrm>
          <a:prstGeom prst="line">
            <a:avLst/>
          </a:prstGeom>
          <a:ln w="9525" cap="flat">
            <a:solidFill>
              <a:srgbClr val="E6E8F2"/>
            </a:solidFill>
          </a:ln>
        </p:spPr>
      </p:cxnSp>
      <p:cxnSp>
        <p:nvCxnSpPr>
          <p:cNvPr id="30" name="Line 30"/>
          <p:cNvCxnSpPr/>
          <p:nvPr/>
        </p:nvCxnSpPr>
        <p:spPr>
          <a:xfrm>
            <a:off x="6610198" y="2036000"/>
            <a:ext cx="2990850" cy="0"/>
          </a:xfrm>
          <a:prstGeom prst="line">
            <a:avLst/>
          </a:prstGeom>
          <a:ln w="9525" cap="flat">
            <a:solidFill>
              <a:srgbClr val="E6E8F2"/>
            </a:solidFill>
          </a:ln>
        </p:spPr>
      </p:cxnSp>
      <p:cxnSp>
        <p:nvCxnSpPr>
          <p:cNvPr id="31" name="Line 31"/>
          <p:cNvCxnSpPr/>
          <p:nvPr/>
        </p:nvCxnSpPr>
        <p:spPr>
          <a:xfrm>
            <a:off x="6610198" y="1732788"/>
            <a:ext cx="2990850" cy="0"/>
          </a:xfrm>
          <a:prstGeom prst="line">
            <a:avLst/>
          </a:prstGeom>
          <a:ln w="9525" cap="flat">
            <a:solidFill>
              <a:srgbClr val="E6E8F2"/>
            </a:solidFill>
          </a:ln>
        </p:spPr>
      </p:cxnSp>
      <p:cxnSp>
        <p:nvCxnSpPr>
          <p:cNvPr id="32" name="Line 32"/>
          <p:cNvCxnSpPr/>
          <p:nvPr/>
        </p:nvCxnSpPr>
        <p:spPr>
          <a:xfrm>
            <a:off x="8105623" y="1732788"/>
            <a:ext cx="0" cy="3638550"/>
          </a:xfrm>
          <a:prstGeom prst="line">
            <a:avLst/>
          </a:prstGeom>
          <a:ln w="19050" cap="flat">
            <a:solidFill>
              <a:srgbClr val="5F6272"/>
            </a:solidFill>
          </a:ln>
        </p:spPr>
      </p:cxnSp>
      <p:cxnSp>
        <p:nvCxnSpPr>
          <p:cNvPr id="33" name="Line 33"/>
          <p:cNvCxnSpPr/>
          <p:nvPr/>
        </p:nvCxnSpPr>
        <p:spPr>
          <a:xfrm>
            <a:off x="6610198" y="2945638"/>
            <a:ext cx="2990850" cy="0"/>
          </a:xfrm>
          <a:prstGeom prst="line">
            <a:avLst/>
          </a:prstGeom>
          <a:ln w="19050" cap="flat">
            <a:solidFill>
              <a:srgbClr val="5F6272"/>
            </a:solidFill>
          </a:ln>
        </p:spPr>
      </p:cxnSp>
      <p:sp>
        <p:nvSpPr>
          <p:cNvPr id="34" name="Shape 34"/>
          <p:cNvSpPr txBox="1"/>
          <p:nvPr/>
        </p:nvSpPr>
        <p:spPr>
          <a:xfrm>
            <a:off x="63358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68343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328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83130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2977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82825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932672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6043270"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6043270" y="4673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67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2854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247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8" name="Line 48"/>
          <p:cNvCxnSpPr/>
          <p:nvPr/>
        </p:nvCxnSpPr>
        <p:spPr>
          <a:xfrm flipV="1">
            <a:off x="6610198" y="1732788"/>
            <a:ext cx="2741612" cy="3335338"/>
          </a:xfrm>
          <a:prstGeom prst="line">
            <a:avLst/>
          </a:prstGeom>
          <a:ln w="38100" cap="rnd">
            <a:solidFill>
              <a:srgbClr val="16171D"/>
            </a:solidFill>
          </a:ln>
        </p:spPr>
      </p:cxnSp>
      <p:sp>
        <p:nvSpPr>
          <p:cNvPr id="49" name="Shape 49"/>
          <p:cNvSpPr txBox="1"/>
          <p:nvPr/>
        </p:nvSpPr>
        <p:spPr>
          <a:xfrm>
            <a:off x="68600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50" name="Line 50"/>
          <p:cNvCxnSpPr/>
          <p:nvPr/>
        </p:nvCxnSpPr>
        <p:spPr>
          <a:xfrm>
            <a:off x="7607148" y="3855275"/>
            <a:ext cx="0" cy="1212850"/>
          </a:xfrm>
          <a:prstGeom prst="line">
            <a:avLst/>
          </a:prstGeom>
          <a:ln w="38100" cap="rnd">
            <a:solidFill>
              <a:srgbClr val="7A4FC4"/>
            </a:solidFill>
            <a:prstDash val="dash"/>
          </a:ln>
        </p:spPr>
      </p:cxnSp>
      <p:sp>
        <p:nvSpPr>
          <p:cNvPr id="51" name="Shape 51"/>
          <p:cNvSpPr txBox="1"/>
          <p:nvPr/>
        </p:nvSpPr>
        <p:spPr>
          <a:xfrm>
            <a:off x="7683348" y="3874325"/>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52" name="Shape 52"/>
          <p:cNvSpPr/>
          <p:nvPr/>
        </p:nvSpPr>
        <p:spPr>
          <a:xfrm>
            <a:off x="7554760" y="50157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105623" y="3248850"/>
            <a:ext cx="0" cy="1212850"/>
          </a:xfrm>
          <a:prstGeom prst="line">
            <a:avLst/>
          </a:prstGeom>
          <a:ln w="38100" cap="rnd">
            <a:solidFill>
              <a:srgbClr val="7A4FC4"/>
            </a:solidFill>
            <a:prstDash val="dash"/>
          </a:ln>
        </p:spPr>
      </p:cxnSp>
      <p:sp>
        <p:nvSpPr>
          <p:cNvPr id="54" name="Shape 54"/>
          <p:cNvSpPr txBox="1"/>
          <p:nvPr/>
        </p:nvSpPr>
        <p:spPr>
          <a:xfrm>
            <a:off x="5613883"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5" name="Shape 55"/>
          <p:cNvSpPr/>
          <p:nvPr/>
        </p:nvSpPr>
        <p:spPr>
          <a:xfrm>
            <a:off x="8053235" y="44093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8604098" y="2642426"/>
            <a:ext cx="0" cy="1212850"/>
          </a:xfrm>
          <a:prstGeom prst="line">
            <a:avLst/>
          </a:prstGeom>
          <a:ln w="38100" cap="rnd">
            <a:solidFill>
              <a:srgbClr val="7A4FC4"/>
            </a:solidFill>
            <a:prstDash val="dash"/>
          </a:ln>
        </p:spPr>
      </p:cxnSp>
      <p:sp>
        <p:nvSpPr>
          <p:cNvPr id="57" name="Shape 57"/>
          <p:cNvSpPr txBox="1"/>
          <p:nvPr/>
        </p:nvSpPr>
        <p:spPr>
          <a:xfrm>
            <a:off x="611235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58" name="Shape 58"/>
          <p:cNvSpPr/>
          <p:nvPr/>
        </p:nvSpPr>
        <p:spPr>
          <a:xfrm>
            <a:off x="855171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flipV="1">
            <a:off x="7357910" y="2642426"/>
            <a:ext cx="2243138" cy="2728912"/>
          </a:xfrm>
          <a:prstGeom prst="line">
            <a:avLst/>
          </a:prstGeom>
          <a:ln w="38100" cap="rnd">
            <a:solidFill>
              <a:srgbClr val="7A4FC4"/>
            </a:solidFill>
          </a:ln>
        </p:spPr>
      </p:cxnSp>
      <p:sp>
        <p:nvSpPr>
          <p:cNvPr id="60" name="Shape 60"/>
          <p:cNvSpPr txBox="1"/>
          <p:nvPr/>
        </p:nvSpPr>
        <p:spPr>
          <a:xfrm>
            <a:off x="7109308" y="26614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1" name="Shape 61"/>
          <p:cNvSpPr/>
          <p:nvPr/>
        </p:nvSpPr>
        <p:spPr>
          <a:xfrm>
            <a:off x="7554760" y="38028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p:nvPr/>
        </p:nvSpPr>
        <p:spPr>
          <a:xfrm>
            <a:off x="8053235" y="31964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p:nvPr/>
        </p:nvSpPr>
        <p:spPr>
          <a:xfrm>
            <a:off x="8551710" y="25900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animEffect transition="in" filter="wipe(left)">
                                      <p:cBhvr>
                                        <p:cTn id="25" dur="700"/>
                                        <p:tgtEl>
                                          <p:spTgt spid="50"/>
                                        </p:tgtEl>
                                      </p:cBhvr>
                                    </p:animEffect>
                                  </p:childTnLst>
                                </p:cTn>
                              </p:par>
                              <p:par>
                                <p:cTn id="29" presetID="22" presetClass="entr" presetSubtype="8" fill="hold" nodeType="withEffect">
                                  <p:stCondLst>
                                    <p:cond delay="0"/>
                                  </p:stCondLst>
                                  <p:childTnLst>
                                    <p:set>
                                      <p:cBhvr>
                                        <p:cTn id="27" dur="1" fill="hold">
                                          <p:stCondLst>
                                            <p:cond delay="0"/>
                                          </p:stCondLst>
                                        </p:cTn>
                                        <p:tgtEl>
                                          <p:spTgt spid="51"/>
                                        </p:tgtEl>
                                        <p:attrNameLst>
                                          <p:attrName>style.visibility</p:attrName>
                                        </p:attrNameLst>
                                      </p:cBhvr>
                                      <p:to>
                                        <p:strVal val="visible"/>
                                      </p:to>
                                    </p:set>
                                    <p:animEffect transition="in" filter="wipe(left)">
                                      <p:cBhvr>
                                        <p:cTn id="28" dur="700"/>
                                        <p:tgtEl>
                                          <p:spTgt spid="51"/>
                                        </p:tgtEl>
                                      </p:cBhvr>
                                    </p:animEffect>
                                  </p:childTnLst>
                                </p:cTn>
                              </p:par>
                              <p:par>
                                <p:cTn id="32" presetID="22" presetClass="entr" presetSubtype="8" fill="hold" nodeType="withEffect">
                                  <p:stCondLst>
                                    <p:cond delay="0"/>
                                  </p:stCondLst>
                                  <p:childTnLst>
                                    <p:set>
                                      <p:cBhvr>
                                        <p:cTn id="30" dur="1" fill="hold">
                                          <p:stCondLst>
                                            <p:cond delay="0"/>
                                          </p:stCondLst>
                                        </p:cTn>
                                        <p:tgtEl>
                                          <p:spTgt spid="52"/>
                                        </p:tgtEl>
                                        <p:attrNameLst>
                                          <p:attrName>style.visibility</p:attrName>
                                        </p:attrNameLst>
                                      </p:cBhvr>
                                      <p:to>
                                        <p:strVal val="visible"/>
                                      </p:to>
                                    </p:set>
                                    <p:animEffect transition="in" filter="wipe(left)">
                                      <p:cBhvr>
                                        <p:cTn id="31" dur="700"/>
                                        <p:tgtEl>
                                          <p:spTgt spid="52"/>
                                        </p:tgtEl>
                                      </p:cBhvr>
                                    </p:animEffect>
                                  </p:childTnLst>
                                </p:cTn>
                              </p:par>
                            </p:childTnLst>
                          </p:cTn>
                        </p:par>
                      </p:childTnLst>
                    </p:cTn>
                  </p:par>
                  <p:par>
                    <p:cTn id="44" fill="hold">
                      <p:stCondLst>
                        <p:cond delay="indefinite"/>
                      </p:stCondLst>
                      <p:childTnLst>
                        <p:par>
                          <p:cTn id="45" fill="hold">
                            <p:stCondLst>
                              <p:cond delay="0"/>
                            </p:stCondLst>
                            <p:childTnLst>
                              <p:par>
                                <p:cTn id="37" presetID="22" presetClass="entr" presetSubtype="8" fill="hold" nodeType="click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left)">
                                      <p:cBhvr>
                                        <p:cTn id="36" dur="700"/>
                                        <p:tgtEl>
                                          <p:spTgt spid="53"/>
                                        </p:tgtEl>
                                      </p:cBhvr>
                                    </p:animEffect>
                                  </p:childTnLst>
                                </p:cTn>
                              </p:par>
                              <p:par>
                                <p:cTn id="40" presetID="22" presetClass="entr" presetSubtype="8" fill="hold" nodeType="with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700"/>
                                        <p:tgtEl>
                                          <p:spTgt spid="54"/>
                                        </p:tgtEl>
                                      </p:cBhvr>
                                    </p:animEffect>
                                  </p:childTnLst>
                                </p:cTn>
                              </p:par>
                              <p:par>
                                <p:cTn id="43" presetID="22" presetClass="entr" presetSubtype="8" fill="hold" nodeType="withEffect">
                                  <p:stCondLst>
                                    <p:cond delay="0"/>
                                  </p:stCondLst>
                                  <p:childTnLst>
                                    <p:set>
                                      <p:cBhvr>
                                        <p:cTn id="41" dur="1" fill="hold">
                                          <p:stCondLst>
                                            <p:cond delay="0"/>
                                          </p:stCondLst>
                                        </p:cTn>
                                        <p:tgtEl>
                                          <p:spTgt spid="55"/>
                                        </p:tgtEl>
                                        <p:attrNameLst>
                                          <p:attrName>style.visibility</p:attrName>
                                        </p:attrNameLst>
                                      </p:cBhvr>
                                      <p:to>
                                        <p:strVal val="visible"/>
                                      </p:to>
                                    </p:set>
                                    <p:animEffect transition="in" filter="wipe(left)">
                                      <p:cBhvr>
                                        <p:cTn id="42" dur="700"/>
                                        <p:tgtEl>
                                          <p:spTgt spid="55"/>
                                        </p:tgtEl>
                                      </p:cBhvr>
                                    </p:animEffect>
                                  </p:childTnLst>
                                </p:cTn>
                              </p:par>
                            </p:childTnLst>
                          </p:cTn>
                        </p:par>
                      </p:childTnLst>
                    </p:cTn>
                  </p:par>
                  <p:par>
                    <p:cTn id="55" fill="hold">
                      <p:stCondLst>
                        <p:cond delay="indefinite"/>
                      </p:stCondLst>
                      <p:childTnLst>
                        <p:par>
                          <p:cTn id="56"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wipe(left)">
                                      <p:cBhvr>
                                        <p:cTn id="47" dur="700"/>
                                        <p:tgtEl>
                                          <p:spTgt spid="56"/>
                                        </p:tgtEl>
                                      </p:cBhvr>
                                    </p:animEffect>
                                  </p:childTnLst>
                                </p:cTn>
                              </p:par>
                              <p:par>
                                <p:cTn id="51" presetID="22" presetClass="entr" presetSubtype="8" fill="hold" nodeType="withEffect">
                                  <p:stCondLst>
                                    <p:cond delay="0"/>
                                  </p:stCondLst>
                                  <p:childTnLst>
                                    <p:set>
                                      <p:cBhvr>
                                        <p:cTn id="49" dur="1" fill="hold">
                                          <p:stCondLst>
                                            <p:cond delay="0"/>
                                          </p:stCondLst>
                                        </p:cTn>
                                        <p:tgtEl>
                                          <p:spTgt spid="57"/>
                                        </p:tgtEl>
                                        <p:attrNameLst>
                                          <p:attrName>style.visibility</p:attrName>
                                        </p:attrNameLst>
                                      </p:cBhvr>
                                      <p:to>
                                        <p:strVal val="visible"/>
                                      </p:to>
                                    </p:set>
                                    <p:animEffect transition="in" filter="wipe(left)">
                                      <p:cBhvr>
                                        <p:cTn id="50" dur="700"/>
                                        <p:tgtEl>
                                          <p:spTgt spid="57"/>
                                        </p:tgtEl>
                                      </p:cBhvr>
                                    </p:animEffect>
                                  </p:childTnLst>
                                </p:cTn>
                              </p:par>
                              <p:par>
                                <p:cTn id="54" presetID="22" presetClass="entr" presetSubtype="8"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animEffect transition="in" filter="wipe(left)">
                                      <p:cBhvr>
                                        <p:cTn id="53" dur="700"/>
                                        <p:tgtEl>
                                          <p:spTgt spid="58"/>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wipe(left)">
                                      <p:cBhvr>
                                        <p:cTn id="58" dur="700"/>
                                        <p:tgtEl>
                                          <p:spTgt spid="59"/>
                                        </p:tgtEl>
                                      </p:cBhvr>
                                    </p:animEffect>
                                  </p:childTnLst>
                                </p:cTn>
                              </p:par>
                              <p:par>
                                <p:cTn id="62" presetID="22" presetClass="entr" presetSubtype="8"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wipe(left)">
                                      <p:cBhvr>
                                        <p:cTn id="6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by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every output by 4.</a:t>
            </a:r>
            <a:endParaRPr lang="en-US" sz="1950" dirty="0"/>
          </a:p>
        </p:txBody>
      </p:sp>
      <p:sp>
        <p:nvSpPr>
          <p:cNvPr id="5" name="Shape 5"/>
          <p:cNvSpPr txBox="1"/>
          <p:nvPr/>
        </p:nvSpPr>
        <p:spPr>
          <a:xfrm>
            <a:off x="685800" y="2103882"/>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slope is now </a:t>
            </a:r>
            <a:r>
              <a:rPr lang="en-US" sz="1950" dirty="0" b="1">
                <a:solidFill>
                  <a:srgbClr val="C9561F"/>
                </a:solidFill>
                <a:latin typeface="Segoe UI"/>
                <a:cs typeface="Segoe UI"/>
              </a:rPr>
              <a:t xml:space="preserve">4</a:t>
            </a:r>
            <a:r>
              <a:rPr lang="en-US" sz="1950" dirty="0">
                <a:solidFill>
                  <a:srgbClr val="16171D"/>
                </a:solidFill>
                <a:latin typeface="Segoe UI"/>
                <a:cs typeface="Segoe UI"/>
              </a:rPr>
              <a:t xml:space="preserve">: steeper.</a:t>
            </a:r>
            <a:endParaRPr lang="en-US" sz="1950"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With −4, the line also </a:t>
            </a:r>
            <a:r>
              <a:rPr lang="en-US" sz="1950" dirty="0" b="1">
                <a:solidFill>
                  <a:srgbClr val="16171D"/>
                </a:solidFill>
                <a:latin typeface="Segoe UI"/>
                <a:cs typeface="Segoe UI"/>
              </a:rPr>
              <a:t xml:space="preserve">flips</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2694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9" name="Shape 9"/>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60241" y="1732788"/>
            <a:ext cx="0" cy="2876550"/>
          </a:xfrm>
          <a:prstGeom prst="line">
            <a:avLst/>
          </a:prstGeom>
          <a:ln w="9525" cap="flat">
            <a:solidFill>
              <a:srgbClr val="E6E8F2"/>
            </a:solidFill>
          </a:ln>
        </p:spPr>
      </p:cxnSp>
      <p:cxnSp>
        <p:nvCxnSpPr>
          <p:cNvPr id="12" name="Line 12"/>
          <p:cNvCxnSpPr/>
          <p:nvPr/>
        </p:nvCxnSpPr>
        <p:spPr>
          <a:xfrm>
            <a:off x="7310285" y="1732788"/>
            <a:ext cx="0" cy="2876550"/>
          </a:xfrm>
          <a:prstGeom prst="line">
            <a:avLst/>
          </a:prstGeom>
          <a:ln w="9525" cap="flat">
            <a:solidFill>
              <a:srgbClr val="E6E8F2"/>
            </a:solidFill>
          </a:ln>
        </p:spPr>
      </p:cxnSp>
      <p:cxnSp>
        <p:nvCxnSpPr>
          <p:cNvPr id="13" name="Line 13"/>
          <p:cNvCxnSpPr/>
          <p:nvPr/>
        </p:nvCxnSpPr>
        <p:spPr>
          <a:xfrm>
            <a:off x="7660329" y="1732788"/>
            <a:ext cx="0" cy="2876550"/>
          </a:xfrm>
          <a:prstGeom prst="line">
            <a:avLst/>
          </a:prstGeom>
          <a:ln w="9525" cap="flat">
            <a:solidFill>
              <a:srgbClr val="E6E8F2"/>
            </a:solidFill>
          </a:ln>
        </p:spPr>
      </p:cxnSp>
      <p:cxnSp>
        <p:nvCxnSpPr>
          <p:cNvPr id="14" name="Line 14"/>
          <p:cNvCxnSpPr/>
          <p:nvPr/>
        </p:nvCxnSpPr>
        <p:spPr>
          <a:xfrm>
            <a:off x="8010373" y="1732788"/>
            <a:ext cx="0" cy="2876550"/>
          </a:xfrm>
          <a:prstGeom prst="line">
            <a:avLst/>
          </a:prstGeom>
          <a:ln w="9525" cap="flat">
            <a:solidFill>
              <a:srgbClr val="E6E8F2"/>
            </a:solidFill>
          </a:ln>
        </p:spPr>
      </p:cxnSp>
      <p:cxnSp>
        <p:nvCxnSpPr>
          <p:cNvPr id="15" name="Line 15"/>
          <p:cNvCxnSpPr/>
          <p:nvPr/>
        </p:nvCxnSpPr>
        <p:spPr>
          <a:xfrm>
            <a:off x="8360416" y="1732788"/>
            <a:ext cx="0" cy="2876550"/>
          </a:xfrm>
          <a:prstGeom prst="line">
            <a:avLst/>
          </a:prstGeom>
          <a:ln w="9525" cap="flat">
            <a:solidFill>
              <a:srgbClr val="E6E8F2"/>
            </a:solidFill>
          </a:ln>
        </p:spPr>
      </p:cxnSp>
      <p:cxnSp>
        <p:nvCxnSpPr>
          <p:cNvPr id="16" name="Line 16"/>
          <p:cNvCxnSpPr/>
          <p:nvPr/>
        </p:nvCxnSpPr>
        <p:spPr>
          <a:xfrm>
            <a:off x="8710460" y="1732788"/>
            <a:ext cx="0" cy="2876550"/>
          </a:xfrm>
          <a:prstGeom prst="line">
            <a:avLst/>
          </a:prstGeom>
          <a:ln w="9525" cap="flat">
            <a:solidFill>
              <a:srgbClr val="E6E8F2"/>
            </a:solidFill>
          </a:ln>
        </p:spPr>
      </p:cxnSp>
      <p:cxnSp>
        <p:nvCxnSpPr>
          <p:cNvPr id="17" name="Line 17"/>
          <p:cNvCxnSpPr/>
          <p:nvPr/>
        </p:nvCxnSpPr>
        <p:spPr>
          <a:xfrm>
            <a:off x="9060504" y="1732788"/>
            <a:ext cx="0" cy="2876550"/>
          </a:xfrm>
          <a:prstGeom prst="line">
            <a:avLst/>
          </a:prstGeom>
          <a:ln w="9525" cap="flat">
            <a:solidFill>
              <a:srgbClr val="E6E8F2"/>
            </a:solidFill>
          </a:ln>
        </p:spPr>
      </p:cxnSp>
      <p:cxnSp>
        <p:nvCxnSpPr>
          <p:cNvPr id="18" name="Line 18"/>
          <p:cNvCxnSpPr/>
          <p:nvPr/>
        </p:nvCxnSpPr>
        <p:spPr>
          <a:xfrm>
            <a:off x="9410548" y="1732788"/>
            <a:ext cx="0" cy="2876550"/>
          </a:xfrm>
          <a:prstGeom prst="line">
            <a:avLst/>
          </a:prstGeom>
          <a:ln w="9525" cap="flat">
            <a:solidFill>
              <a:srgbClr val="E6E8F2"/>
            </a:solidFill>
          </a:ln>
        </p:spPr>
      </p:cxnSp>
      <p:cxnSp>
        <p:nvCxnSpPr>
          <p:cNvPr id="19" name="Line 19"/>
          <p:cNvCxnSpPr/>
          <p:nvPr/>
        </p:nvCxnSpPr>
        <p:spPr>
          <a:xfrm>
            <a:off x="6610198" y="4609338"/>
            <a:ext cx="2800350" cy="0"/>
          </a:xfrm>
          <a:prstGeom prst="line">
            <a:avLst/>
          </a:prstGeom>
          <a:ln w="9525" cap="flat">
            <a:solidFill>
              <a:srgbClr val="E6E8F2"/>
            </a:solidFill>
          </a:ln>
        </p:spPr>
      </p:cxnSp>
      <p:cxnSp>
        <p:nvCxnSpPr>
          <p:cNvPr id="20" name="Line 20"/>
          <p:cNvCxnSpPr/>
          <p:nvPr/>
        </p:nvCxnSpPr>
        <p:spPr>
          <a:xfrm>
            <a:off x="6610198" y="4429554"/>
            <a:ext cx="2800350" cy="0"/>
          </a:xfrm>
          <a:prstGeom prst="line">
            <a:avLst/>
          </a:prstGeom>
          <a:ln w="9525" cap="flat">
            <a:solidFill>
              <a:srgbClr val="E6E8F2"/>
            </a:solidFill>
          </a:ln>
        </p:spPr>
      </p:cxnSp>
      <p:cxnSp>
        <p:nvCxnSpPr>
          <p:cNvPr id="21" name="Line 21"/>
          <p:cNvCxnSpPr/>
          <p:nvPr/>
        </p:nvCxnSpPr>
        <p:spPr>
          <a:xfrm>
            <a:off x="6610198" y="4249769"/>
            <a:ext cx="2800350" cy="0"/>
          </a:xfrm>
          <a:prstGeom prst="line">
            <a:avLst/>
          </a:prstGeom>
          <a:ln w="9525" cap="flat">
            <a:solidFill>
              <a:srgbClr val="E6E8F2"/>
            </a:solidFill>
          </a:ln>
        </p:spPr>
      </p:cxnSp>
      <p:cxnSp>
        <p:nvCxnSpPr>
          <p:cNvPr id="22" name="Line 22"/>
          <p:cNvCxnSpPr/>
          <p:nvPr/>
        </p:nvCxnSpPr>
        <p:spPr>
          <a:xfrm>
            <a:off x="6610198" y="4069985"/>
            <a:ext cx="2800350" cy="0"/>
          </a:xfrm>
          <a:prstGeom prst="line">
            <a:avLst/>
          </a:prstGeom>
          <a:ln w="9525" cap="flat">
            <a:solidFill>
              <a:srgbClr val="E6E8F2"/>
            </a:solidFill>
          </a:ln>
        </p:spPr>
      </p:cxnSp>
      <p:cxnSp>
        <p:nvCxnSpPr>
          <p:cNvPr id="23" name="Line 23"/>
          <p:cNvCxnSpPr/>
          <p:nvPr/>
        </p:nvCxnSpPr>
        <p:spPr>
          <a:xfrm>
            <a:off x="6610198" y="3890200"/>
            <a:ext cx="2800350" cy="0"/>
          </a:xfrm>
          <a:prstGeom prst="line">
            <a:avLst/>
          </a:prstGeom>
          <a:ln w="9525" cap="flat">
            <a:solidFill>
              <a:srgbClr val="E6E8F2"/>
            </a:solidFill>
          </a:ln>
        </p:spPr>
      </p:cxnSp>
      <p:cxnSp>
        <p:nvCxnSpPr>
          <p:cNvPr id="24" name="Line 24"/>
          <p:cNvCxnSpPr/>
          <p:nvPr/>
        </p:nvCxnSpPr>
        <p:spPr>
          <a:xfrm>
            <a:off x="6610198" y="3710416"/>
            <a:ext cx="2800350" cy="0"/>
          </a:xfrm>
          <a:prstGeom prst="line">
            <a:avLst/>
          </a:prstGeom>
          <a:ln w="9525" cap="flat">
            <a:solidFill>
              <a:srgbClr val="E6E8F2"/>
            </a:solidFill>
          </a:ln>
        </p:spPr>
      </p:cxnSp>
      <p:cxnSp>
        <p:nvCxnSpPr>
          <p:cNvPr id="25" name="Line 25"/>
          <p:cNvCxnSpPr/>
          <p:nvPr/>
        </p:nvCxnSpPr>
        <p:spPr>
          <a:xfrm>
            <a:off x="6610198" y="3530632"/>
            <a:ext cx="2800350" cy="0"/>
          </a:xfrm>
          <a:prstGeom prst="line">
            <a:avLst/>
          </a:prstGeom>
          <a:ln w="9525" cap="flat">
            <a:solidFill>
              <a:srgbClr val="E6E8F2"/>
            </a:solidFill>
          </a:ln>
        </p:spPr>
      </p:cxnSp>
      <p:cxnSp>
        <p:nvCxnSpPr>
          <p:cNvPr id="26" name="Line 26"/>
          <p:cNvCxnSpPr/>
          <p:nvPr/>
        </p:nvCxnSpPr>
        <p:spPr>
          <a:xfrm>
            <a:off x="6610198" y="3350847"/>
            <a:ext cx="2800350" cy="0"/>
          </a:xfrm>
          <a:prstGeom prst="line">
            <a:avLst/>
          </a:prstGeom>
          <a:ln w="9525" cap="flat">
            <a:solidFill>
              <a:srgbClr val="E6E8F2"/>
            </a:solidFill>
          </a:ln>
        </p:spPr>
      </p:cxnSp>
      <p:cxnSp>
        <p:nvCxnSpPr>
          <p:cNvPr id="27" name="Line 27"/>
          <p:cNvCxnSpPr/>
          <p:nvPr/>
        </p:nvCxnSpPr>
        <p:spPr>
          <a:xfrm>
            <a:off x="6610198" y="3171063"/>
            <a:ext cx="2800350" cy="0"/>
          </a:xfrm>
          <a:prstGeom prst="line">
            <a:avLst/>
          </a:prstGeom>
          <a:ln w="9525" cap="flat">
            <a:solidFill>
              <a:srgbClr val="E6E8F2"/>
            </a:solidFill>
          </a:ln>
        </p:spPr>
      </p:cxnSp>
      <p:cxnSp>
        <p:nvCxnSpPr>
          <p:cNvPr id="28" name="Line 28"/>
          <p:cNvCxnSpPr/>
          <p:nvPr/>
        </p:nvCxnSpPr>
        <p:spPr>
          <a:xfrm>
            <a:off x="6610198" y="2991279"/>
            <a:ext cx="2800350" cy="0"/>
          </a:xfrm>
          <a:prstGeom prst="line">
            <a:avLst/>
          </a:prstGeom>
          <a:ln w="9525" cap="flat">
            <a:solidFill>
              <a:srgbClr val="E6E8F2"/>
            </a:solidFill>
          </a:ln>
        </p:spPr>
      </p:cxnSp>
      <p:cxnSp>
        <p:nvCxnSpPr>
          <p:cNvPr id="29" name="Line 29"/>
          <p:cNvCxnSpPr/>
          <p:nvPr/>
        </p:nvCxnSpPr>
        <p:spPr>
          <a:xfrm>
            <a:off x="6610198" y="2811494"/>
            <a:ext cx="2800350" cy="0"/>
          </a:xfrm>
          <a:prstGeom prst="line">
            <a:avLst/>
          </a:prstGeom>
          <a:ln w="9525" cap="flat">
            <a:solidFill>
              <a:srgbClr val="E6E8F2"/>
            </a:solidFill>
          </a:ln>
        </p:spPr>
      </p:cxnSp>
      <p:cxnSp>
        <p:nvCxnSpPr>
          <p:cNvPr id="30" name="Line 30"/>
          <p:cNvCxnSpPr/>
          <p:nvPr/>
        </p:nvCxnSpPr>
        <p:spPr>
          <a:xfrm>
            <a:off x="6610198" y="2631710"/>
            <a:ext cx="2800350" cy="0"/>
          </a:xfrm>
          <a:prstGeom prst="line">
            <a:avLst/>
          </a:prstGeom>
          <a:ln w="9525" cap="flat">
            <a:solidFill>
              <a:srgbClr val="E6E8F2"/>
            </a:solidFill>
          </a:ln>
        </p:spPr>
      </p:cxnSp>
      <p:cxnSp>
        <p:nvCxnSpPr>
          <p:cNvPr id="31" name="Line 31"/>
          <p:cNvCxnSpPr/>
          <p:nvPr/>
        </p:nvCxnSpPr>
        <p:spPr>
          <a:xfrm>
            <a:off x="6610198" y="2451926"/>
            <a:ext cx="2800350" cy="0"/>
          </a:xfrm>
          <a:prstGeom prst="line">
            <a:avLst/>
          </a:prstGeom>
          <a:ln w="9525" cap="flat">
            <a:solidFill>
              <a:srgbClr val="E6E8F2"/>
            </a:solidFill>
          </a:ln>
        </p:spPr>
      </p:cxnSp>
      <p:cxnSp>
        <p:nvCxnSpPr>
          <p:cNvPr id="32" name="Line 32"/>
          <p:cNvCxnSpPr/>
          <p:nvPr/>
        </p:nvCxnSpPr>
        <p:spPr>
          <a:xfrm>
            <a:off x="6610198" y="2272141"/>
            <a:ext cx="2800350" cy="0"/>
          </a:xfrm>
          <a:prstGeom prst="line">
            <a:avLst/>
          </a:prstGeom>
          <a:ln w="9525" cap="flat">
            <a:solidFill>
              <a:srgbClr val="E6E8F2"/>
            </a:solidFill>
          </a:ln>
        </p:spPr>
      </p:cxnSp>
      <p:cxnSp>
        <p:nvCxnSpPr>
          <p:cNvPr id="33" name="Line 33"/>
          <p:cNvCxnSpPr/>
          <p:nvPr/>
        </p:nvCxnSpPr>
        <p:spPr>
          <a:xfrm>
            <a:off x="6610198" y="2092357"/>
            <a:ext cx="2800350" cy="0"/>
          </a:xfrm>
          <a:prstGeom prst="line">
            <a:avLst/>
          </a:prstGeom>
          <a:ln w="9525" cap="flat">
            <a:solidFill>
              <a:srgbClr val="E6E8F2"/>
            </a:solidFill>
          </a:ln>
        </p:spPr>
      </p:cxnSp>
      <p:cxnSp>
        <p:nvCxnSpPr>
          <p:cNvPr id="34" name="Line 34"/>
          <p:cNvCxnSpPr/>
          <p:nvPr/>
        </p:nvCxnSpPr>
        <p:spPr>
          <a:xfrm>
            <a:off x="6610198" y="1912572"/>
            <a:ext cx="2800350" cy="0"/>
          </a:xfrm>
          <a:prstGeom prst="line">
            <a:avLst/>
          </a:prstGeom>
          <a:ln w="9525" cap="flat">
            <a:solidFill>
              <a:srgbClr val="E6E8F2"/>
            </a:solidFill>
          </a:ln>
        </p:spPr>
      </p:cxnSp>
      <p:cxnSp>
        <p:nvCxnSpPr>
          <p:cNvPr id="35" name="Line 35"/>
          <p:cNvCxnSpPr/>
          <p:nvPr/>
        </p:nvCxnSpPr>
        <p:spPr>
          <a:xfrm>
            <a:off x="6610198" y="1732788"/>
            <a:ext cx="2800350" cy="0"/>
          </a:xfrm>
          <a:prstGeom prst="line">
            <a:avLst/>
          </a:prstGeom>
          <a:ln w="9525" cap="flat">
            <a:solidFill>
              <a:srgbClr val="E6E8F2"/>
            </a:solidFill>
          </a:ln>
        </p:spPr>
      </p:cxnSp>
      <p:cxnSp>
        <p:nvCxnSpPr>
          <p:cNvPr id="36" name="Line 36"/>
          <p:cNvCxnSpPr/>
          <p:nvPr/>
        </p:nvCxnSpPr>
        <p:spPr>
          <a:xfrm>
            <a:off x="8010373" y="1732788"/>
            <a:ext cx="0" cy="2876550"/>
          </a:xfrm>
          <a:prstGeom prst="line">
            <a:avLst/>
          </a:prstGeom>
          <a:ln w="19050" cap="flat">
            <a:solidFill>
              <a:srgbClr val="5F6272"/>
            </a:solidFill>
          </a:ln>
        </p:spPr>
      </p:cxnSp>
      <p:cxnSp>
        <p:nvCxnSpPr>
          <p:cNvPr id="37" name="Line 37"/>
          <p:cNvCxnSpPr/>
          <p:nvPr/>
        </p:nvCxnSpPr>
        <p:spPr>
          <a:xfrm>
            <a:off x="6610198" y="3171063"/>
            <a:ext cx="2800350" cy="0"/>
          </a:xfrm>
          <a:prstGeom prst="line">
            <a:avLst/>
          </a:prstGeom>
          <a:ln w="19050" cap="flat">
            <a:solidFill>
              <a:srgbClr val="5F6272"/>
            </a:solidFill>
          </a:ln>
        </p:spPr>
      </p:cxnSp>
      <p:sp>
        <p:nvSpPr>
          <p:cNvPr id="38" name="Shape 38"/>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6" name="Shape 46"/>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043270" y="41583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798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34391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2" name="Shape 52"/>
          <p:cNvSpPr txBox="1"/>
          <p:nvPr/>
        </p:nvSpPr>
        <p:spPr>
          <a:xfrm>
            <a:off x="6043270" y="27200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2360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0009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5" name="Shape 5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6" name="Line 56"/>
          <p:cNvCxnSpPr/>
          <p:nvPr/>
        </p:nvCxnSpPr>
        <p:spPr>
          <a:xfrm flipV="1">
            <a:off x="6610198" y="2451926"/>
            <a:ext cx="2800350" cy="1438275"/>
          </a:xfrm>
          <a:prstGeom prst="line">
            <a:avLst/>
          </a:prstGeom>
          <a:ln w="38100" cap="rnd">
            <a:solidFill>
              <a:srgbClr val="16171D"/>
            </a:solidFill>
          </a:ln>
        </p:spPr>
      </p:cxnSp>
      <p:sp>
        <p:nvSpPr>
          <p:cNvPr id="57" name="Shape 57"/>
          <p:cNvSpPr txBox="1"/>
          <p:nvPr/>
        </p:nvSpPr>
        <p:spPr>
          <a:xfrm>
            <a:off x="6918808" y="24709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8" name="Line 58"/>
          <p:cNvCxnSpPr/>
          <p:nvPr/>
        </p:nvCxnSpPr>
        <p:spPr>
          <a:xfrm flipV="1">
            <a:off x="7310285" y="1732788"/>
            <a:ext cx="1400175" cy="2876550"/>
          </a:xfrm>
          <a:prstGeom prst="line">
            <a:avLst/>
          </a:prstGeom>
          <a:ln w="38100" cap="rnd">
            <a:solidFill>
              <a:srgbClr val="16171D"/>
            </a:solidFill>
          </a:ln>
        </p:spPr>
      </p:cxnSp>
      <p:sp>
        <p:nvSpPr>
          <p:cNvPr id="59" name="Shape 59"/>
          <p:cNvSpPr txBox="1"/>
          <p:nvPr/>
        </p:nvSpPr>
        <p:spPr>
          <a:xfrm>
            <a:off x="6218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4x</a:t>
            </a:r>
            <a:endParaRPr lang="en-US" sz="1275" dirty="0"/>
          </a:p>
        </p:txBody>
      </p:sp>
      <p:cxnSp>
        <p:nvCxnSpPr>
          <p:cNvPr id="60" name="Line 60"/>
          <p:cNvCxnSpPr/>
          <p:nvPr/>
        </p:nvCxnSpPr>
        <p:spPr>
          <a:xfrm>
            <a:off x="7310285" y="1732788"/>
            <a:ext cx="1400175" cy="2876550"/>
          </a:xfrm>
          <a:prstGeom prst="line">
            <a:avLst/>
          </a:prstGeom>
          <a:ln w="38100" cap="rnd">
            <a:solidFill>
              <a:srgbClr val="7A4FC4"/>
            </a:solidFill>
          </a:ln>
        </p:spPr>
      </p:cxnSp>
      <p:sp>
        <p:nvSpPr>
          <p:cNvPr id="61" name="Shape 61"/>
          <p:cNvSpPr txBox="1"/>
          <p:nvPr/>
        </p:nvSpPr>
        <p:spPr>
          <a:xfrm>
            <a:off x="7386485"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−4x</a:t>
            </a:r>
            <a:endParaRPr lang="en-US" sz="127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wipe(left)">
                                      <p:cBhvr>
                                        <p:cTn id="18" dur="700"/>
                                        <p:tgtEl>
                                          <p:spTgt spid="58"/>
                                        </p:tgtEl>
                                      </p:cBhvr>
                                    </p:animEffect>
                                  </p:childTnLst>
                                </p:cTn>
                              </p:par>
                              <p:par>
                                <p:cTn id="22" presetID="22" presetClass="entr" presetSubtype="8" fill="hold"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wipe(left)">
                                      <p:cBhvr>
                                        <p:cTn id="21" dur="700"/>
                                        <p:tgtEl>
                                          <p:spTgt spid="59"/>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60"/>
                                        </p:tgtEl>
                                        <p:attrNameLst>
                                          <p:attrName>style.visibility</p:attrName>
                                        </p:attrNameLst>
                                      </p:cBhvr>
                                      <p:to>
                                        <p:strVal val="visible"/>
                                      </p:to>
                                    </p:set>
                                    <p:animEffect transition="in" filter="wipe(left)">
                                      <p:cBhvr>
                                        <p:cTn id="26" dur="700"/>
                                        <p:tgtEl>
                                          <p:spTgt spid="60"/>
                                        </p:tgtEl>
                                      </p:cBhvr>
                                    </p:animEffect>
                                  </p:childTnLst>
                                </p:cTn>
                              </p:par>
                              <p:par>
                                <p:cTn id="30" presetID="22" presetClass="entr" presetSubtype="8"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animEffect transition="in" filter="wipe(left)">
                                      <p:cBhvr>
                                        <p:cTn id="29" dur="7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6" name="Shape 6"/>
          <p:cNvSpPr txBox="1"/>
          <p:nvPr/>
        </p:nvSpPr>
        <p:spPr>
          <a:xfrm>
            <a:off x="685800"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a:t>
            </a:r>
            <a:endParaRPr lang="en-US" sz="1950" dirty="0"/>
          </a:p>
        </p:txBody>
      </p:sp>
      <p:sp>
        <p:nvSpPr>
          <p:cNvPr id="5" name="Shape 5"/>
          <p:cNvSpPr txBox="1"/>
          <p:nvPr/>
        </p:nvSpPr>
        <p:spPr>
          <a:xfrm>
            <a:off x="895350"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286348" y="1618488"/>
            <a:ext cx="5219548" cy="166344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495898" y="2237232"/>
            <a:ext cx="48004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the change and write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9" name="Shape 9"/>
          <p:cNvSpPr txBox="1"/>
          <p:nvPr/>
        </p:nvSpPr>
        <p:spPr>
          <a:xfrm>
            <a:off x="685800" y="1618488"/>
            <a:ext cx="5295748" cy="405688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its place: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+ 7.</a:t>
            </a:r>
            <a:endParaRPr lang="en-US" sz="1575" dirty="0"/>
          </a:p>
        </p:txBody>
      </p:sp>
      <p:sp>
        <p:nvSpPr>
          <p:cNvPr id="6" name="Shape 6"/>
          <p:cNvSpPr txBox="1"/>
          <p:nvPr/>
        </p:nvSpPr>
        <p:spPr>
          <a:xfrm>
            <a:off x="895350" y="2890266"/>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number </a:t>
            </a:r>
            <a:r>
              <a:rPr lang="en-US" sz="1575" dirty="0" b="1">
                <a:solidFill>
                  <a:srgbClr val="C9561F"/>
                </a:solidFill>
                <a:latin typeface="Segoe UI"/>
                <a:cs typeface="Segoe UI"/>
              </a:rPr>
              <a:t xml:space="preserve">multiplied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2. It is the new slope. 2 is more than 1, so the line </a:t>
            </a:r>
            <a:r>
              <a:rPr lang="en-US" sz="1575" dirty="0" b="1">
                <a:solidFill>
                  <a:srgbClr val="16171D"/>
                </a:solidFill>
                <a:latin typeface="Segoe UI"/>
                <a:cs typeface="Segoe UI"/>
              </a:rPr>
              <a:t xml:space="preserve">stretches</a:t>
            </a:r>
            <a:r>
              <a:rPr lang="en-US" sz="1575" dirty="0">
                <a:solidFill>
                  <a:srgbClr val="16171D"/>
                </a:solidFill>
                <a:latin typeface="Segoe UI"/>
                <a:cs typeface="Segoe UI"/>
              </a:rPr>
              <a:t xml:space="preserve"> (gets steeper).</a:t>
            </a:r>
            <a:endParaRPr lang="en-US" sz="1575" dirty="0"/>
          </a:p>
        </p:txBody>
      </p:sp>
      <p:sp>
        <p:nvSpPr>
          <p:cNvPr id="7" name="Shape 7"/>
          <p:cNvSpPr txBox="1"/>
          <p:nvPr/>
        </p:nvSpPr>
        <p:spPr>
          <a:xfrm>
            <a:off x="895350" y="3760470"/>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The number </a:t>
            </a:r>
            <a:r>
              <a:rPr lang="en-US" sz="1575" dirty="0" b="1">
                <a:solidFill>
                  <a:srgbClr val="3050B8"/>
                </a:solidFill>
                <a:latin typeface="Segoe UI"/>
                <a:cs typeface="Segoe UI"/>
              </a:rPr>
              <a:t xml:space="preserve">added</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+7. Plus means the line moves </a:t>
            </a:r>
            <a:r>
              <a:rPr lang="en-US" sz="1575" dirty="0" b="1">
                <a:solidFill>
                  <a:srgbClr val="16171D"/>
                </a:solidFill>
                <a:latin typeface="Segoe UI"/>
                <a:cs typeface="Segoe UI"/>
              </a:rPr>
              <a:t xml:space="preserve">up 7</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7).</a:t>
            </a:r>
            <a:endParaRPr lang="en-US" sz="1575" dirty="0"/>
          </a:p>
        </p:txBody>
      </p:sp>
      <p:sp>
        <p:nvSpPr>
          <p:cNvPr id="8" name="Shape 8"/>
          <p:cNvSpPr txBox="1"/>
          <p:nvPr/>
        </p:nvSpPr>
        <p:spPr>
          <a:xfrm>
            <a:off x="895350" y="463067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2, up 7: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g</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 place of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g</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is between 0 and 1, so the line </a:t>
            </a:r>
            <a:r>
              <a:rPr lang="en-US" sz="1575" dirty="0" b="1">
                <a:solidFill>
                  <a:srgbClr val="16171D"/>
                </a:solidFill>
                <a:latin typeface="Segoe UI"/>
                <a:cs typeface="Segoe UI"/>
              </a:rPr>
              <a:t xml:space="preserve">compresses</a:t>
            </a:r>
            <a:r>
              <a:rPr lang="en-US" sz="1575" dirty="0">
                <a:solidFill>
                  <a:srgbClr val="16171D"/>
                </a:solidFill>
                <a:latin typeface="Segoe UI"/>
                <a:cs typeface="Segoe UI"/>
              </a:rPr>
              <a:t xml:space="preserve"> (gets less steep). The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 −3. Minus means the line moves </a:t>
            </a:r>
            <a:r>
              <a:rPr lang="en-US" sz="1575" dirty="0" b="1">
                <a:solidFill>
                  <a:srgbClr val="16171D"/>
                </a:solidFill>
                <a:latin typeface="Segoe UI"/>
                <a:cs typeface="Segoe UI"/>
              </a:rPr>
              <a:t xml:space="preserve">down 3</a:t>
            </a:r>
            <a:r>
              <a:rPr lang="en-US" sz="1575" dirty="0">
                <a:solidFill>
                  <a:srgbClr val="16171D"/>
                </a:solidFill>
                <a:latin typeface="Segoe UI"/>
                <a:cs typeface="Segoe UI"/>
              </a:rPr>
              <a:t xml:space="preserve">. It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(0, −3).</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compress by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down 3: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Parallel 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(−1, 5)</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same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5 = −3(−1)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so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write it.</a:t>
            </a:r>
            <a:endParaRPr lang="en-US" sz="1950" dirty="0"/>
          </a:p>
        </p:txBody>
      </p:sp>
      <p:sp>
        <p:nvSpPr>
          <p:cNvPr id="9" name="Shape 9"/>
          <p:cNvSpPr txBox="1"/>
          <p:nvPr/>
        </p:nvSpPr>
        <p:spPr>
          <a:xfrm>
            <a:off x="685800" y="456971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Through (0, 4)</a:t>
            </a:r>
            <a:endParaRPr lang="en-US" sz="1950" dirty="0"/>
          </a:p>
        </p:txBody>
      </p:sp>
      <p:sp>
        <p:nvSpPr>
          <p:cNvPr id="5" name="Shape 5"/>
          <p:cNvSpPr txBox="1"/>
          <p:nvPr/>
        </p:nvSpPr>
        <p:spPr>
          <a:xfrm>
            <a:off x="895350" y="223723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0" name="Shape 10"/>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(2, 0)</a:t>
            </a:r>
            <a:endParaRPr lang="en-US" sz="1950" dirty="0"/>
          </a:p>
        </p:txBody>
      </p:sp>
      <p:sp>
        <p:nvSpPr>
          <p:cNvPr id="8" name="Shape 8"/>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2(2) + </a:t>
            </a:r>
            <a:r>
              <a:rPr lang="en-US" sz="1575" dirty="0" i="1">
                <a:solidFill>
                  <a:srgbClr val="16171D"/>
                </a:solidFill>
                <a:latin typeface="Segoe UI"/>
                <a:cs typeface="Segoe UI"/>
              </a:rPr>
              <a:t xml:space="preserve">b</a:t>
            </a:r>
            <a:endParaRPr lang="en-US" sz="1575" dirty="0"/>
          </a:p>
        </p:txBody>
      </p:sp>
      <p:sp>
        <p:nvSpPr>
          <p:cNvPr id="9" name="Shape 9"/>
          <p:cNvSpPr txBox="1"/>
          <p:nvPr/>
        </p:nvSpPr>
        <p:spPr>
          <a:xfrm>
            <a:off x="6495898" y="262737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endParaRPr lang="en-US" sz="3450" dirty="0"/>
          </a:p>
        </p:txBody>
      </p:sp>
      <p:sp>
        <p:nvSpPr>
          <p:cNvPr id="10" name="Shape 10"/>
          <p:cNvSpPr txBox="1"/>
          <p:nvPr/>
        </p:nvSpPr>
        <p:spPr>
          <a:xfrm>
            <a:off x="685800"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Through (0, 4)</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Parallel means the </a:t>
            </a:r>
            <a:r>
              <a:rPr lang="en-US" sz="1575" dirty="0" b="1">
                <a:solidFill>
                  <a:srgbClr val="16171D"/>
                </a:solidFill>
                <a:latin typeface="Segoe UI"/>
                <a:cs typeface="Segoe UI"/>
              </a:rPr>
              <a:t xml:space="preserve">same slope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4 = 2(0)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2(0) = 0, so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Write the slope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9" name="Shape 9"/>
          <p:cNvSpPr txBox="1"/>
          <p:nvPr/>
        </p:nvSpPr>
        <p:spPr>
          <a:xfrm>
            <a:off x="895350"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6210148" y="1618488"/>
            <a:ext cx="5295748" cy="31325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Through (2, 0)</a:t>
            </a:r>
            <a:endParaRPr lang="en-US" sz="2100" dirty="0"/>
          </a:p>
        </p:txBody>
      </p:sp>
      <p:sp>
        <p:nvSpPr>
          <p:cNvPr id="12" name="Shape 12"/>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Same slope: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2.</a:t>
            </a:r>
            <a:endParaRPr lang="en-US" sz="1575" dirty="0"/>
          </a:p>
        </p:txBody>
      </p:sp>
      <p:sp>
        <p:nvSpPr>
          <p:cNvPr id="13" name="Shape 13"/>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0 = 2(2)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419698" y="328041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0 =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5" name="Shape 15"/>
          <p:cNvSpPr txBox="1"/>
          <p:nvPr/>
        </p:nvSpPr>
        <p:spPr>
          <a:xfrm>
            <a:off x="6419698" y="3670554"/>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Subtract 4 from both sides: −4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419698" y="4060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ppt_x</p:attrName>
                                        </p:attrNameLst>
                                      </p:cBhvr>
                                      <p:tavLst>
                                        <p:tav tm="0">
                                          <p:val>
                                            <p:strVal val="#ppt_x"/>
                                          </p:val>
                                        </p:tav>
                                        <p:tav tm="100000">
                                          <p:val>
                                            <p:strVal val="#ppt_x"/>
                                          </p:val>
                                        </p:tav>
                                      </p:tavLst>
                                    </p:anim>
                                    <p:anim calcmode="lin" valueType="num">
                                      <p:cBhvr>
                                        <p:cTn id="62"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ppt_w</p:attrName>
                                        </p:attrNameLst>
                                      </p:cBhvr>
                                      <p:tavLst>
                                        <p:tav tm="0">
                                          <p:val>
                                            <p:fltVal val="0"/>
                                          </p:val>
                                        </p:tav>
                                        <p:tav tm="100000">
                                          <p:val>
                                            <p:strVal val="#ppt_w"/>
                                          </p:val>
                                        </p:tav>
                                      </p:tavLst>
                                    </p:anim>
                                    <p:anim calcmode="lin" valueType="num">
                                      <p:cBhvr>
                                        <p:cTn id="69"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262661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Up or down? How far?</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6</a:t>
            </a:r>
            <a:endParaRPr lang="en-US" sz="2325" dirty="0"/>
          </a:p>
        </p:txBody>
      </p:sp>
      <p:sp>
        <p:nvSpPr>
          <p:cNvPr id="6" name="Shape 6"/>
          <p:cNvSpPr txBox="1"/>
          <p:nvPr/>
        </p:nvSpPr>
        <p:spPr>
          <a:xfrm>
            <a:off x="895350"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+ 6 is outside f(x), so the graph moves up or down.</a:t>
            </a:r>
            <a:endParaRPr lang="en-US" sz="1575" dirty="0"/>
          </a:p>
        </p:txBody>
      </p:sp>
      <p:sp>
        <p:nvSpPr>
          <p:cNvPr id="7" name="Shape 7"/>
          <p:cNvSpPr txBox="1"/>
          <p:nvPr/>
        </p:nvSpPr>
        <p:spPr>
          <a:xfrm>
            <a:off x="895350" y="377875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Plus means up: up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10" name="Shape 10"/>
          <p:cNvSpPr txBox="1"/>
          <p:nvPr/>
        </p:nvSpPr>
        <p:spPr>
          <a:xfrm>
            <a:off x="4565548" y="25344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Replace f(x) with x: g(x) = 5x.</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number with x is 5, so the slope is 5.</a:t>
            </a:r>
            <a:endParaRPr lang="en-US" sz="1575" dirty="0"/>
          </a:p>
        </p:txBody>
      </p:sp>
      <p:sp>
        <p:nvSpPr>
          <p:cNvPr id="19" name="Shape 19"/>
          <p:cNvSpPr txBox="1"/>
          <p:nvPr/>
        </p:nvSpPr>
        <p:spPr>
          <a:xfrm>
            <a:off x="8026197" y="1618488"/>
            <a:ext cx="3479698" cy="41483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parallel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through (0, −2).</a:t>
            </a:r>
            <a:endParaRPr lang="en-US" sz="1950" dirty="0"/>
          </a:p>
        </p:txBody>
      </p:sp>
      <p:sp>
        <p:nvSpPr>
          <p:cNvPr id="15" name="Shape 15"/>
          <p:cNvSpPr txBox="1"/>
          <p:nvPr/>
        </p:nvSpPr>
        <p:spPr>
          <a:xfrm>
            <a:off x="8235747" y="283159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hape 16"/>
          <p:cNvSpPr txBox="1"/>
          <p:nvPr/>
        </p:nvSpPr>
        <p:spPr>
          <a:xfrm>
            <a:off x="8235747" y="380009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Parallel means the same slope: m = 4.</a:t>
            </a:r>
            <a:endParaRPr lang="en-US" sz="1575" dirty="0"/>
          </a:p>
        </p:txBody>
      </p:sp>
      <p:sp>
        <p:nvSpPr>
          <p:cNvPr id="17" name="Shape 17"/>
          <p:cNvSpPr txBox="1"/>
          <p:nvPr/>
        </p:nvSpPr>
        <p:spPr>
          <a:xfrm>
            <a:off x="8235747" y="443026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Put x = 0, y = −2 into y = mx + b: −2 = 4(0) + b, so b = −2.</a:t>
            </a:r>
            <a:endParaRPr lang="en-US" sz="1575" dirty="0"/>
          </a:p>
        </p:txBody>
      </p:sp>
      <p:sp>
        <p:nvSpPr>
          <p:cNvPr id="18" name="Shape 18"/>
          <p:cNvSpPr txBox="1"/>
          <p:nvPr/>
        </p:nvSpPr>
        <p:spPr>
          <a:xfrm>
            <a:off x="8235747" y="53004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it: y = 4x − 2.</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16</Slides>
  <Notes>16</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