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line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2984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8" name="Shape 18"/>
          <p:cNvSpPr txBox="1"/>
          <p:nvPr/>
        </p:nvSpPr>
        <p:spPr>
          <a:xfrm>
            <a:off x="6419698" y="463143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is 3,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Find the choice with slope 3: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−1 + 6 = 5</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so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−1)</a:t>
            </a:r>
            <a:r>
              <a:rPr lang="en-US" sz="1425" dirty="0">
                <a:solidFill>
                  <a:srgbClr val="16171D"/>
                </a:solidFill>
                <a:latin typeface="Segoe UI"/>
                <a:cs typeface="Segoe UI"/>
              </a:rPr>
              <a:t xml:space="preserve"> moved up 6.</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9956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has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328666"/>
            <a:ext cx="434727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d</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so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−5)</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262661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6" name="Shape 6"/>
          <p:cNvSpPr txBox="1"/>
          <p:nvPr/>
        </p:nvSpPr>
        <p:spPr>
          <a:xfrm>
            <a:off x="895350"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+ 6 is outside f(x), so the graph moves up or down.</a:t>
            </a:r>
            <a:endParaRPr lang="en-US" sz="1575" dirty="0"/>
          </a:p>
        </p:txBody>
      </p:sp>
      <p:sp>
        <p:nvSpPr>
          <p:cNvPr id="7" name="Shape 7"/>
          <p:cNvSpPr txBox="1"/>
          <p:nvPr/>
        </p:nvSpPr>
        <p:spPr>
          <a:xfrm>
            <a:off x="895350" y="377875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Plus means up: up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10" name="Shape 10"/>
          <p:cNvSpPr txBox="1"/>
          <p:nvPr/>
        </p:nvSpPr>
        <p:spPr>
          <a:xfrm>
            <a:off x="4565548" y="25344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Replace f(x) with x: g(x) = 5x.</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number with x is 5, so the slope is 5.</a:t>
            </a:r>
            <a:endParaRPr lang="en-US" sz="1575" dirty="0"/>
          </a:p>
        </p:txBody>
      </p:sp>
      <p:sp>
        <p:nvSpPr>
          <p:cNvPr id="19" name="Shape 19"/>
          <p:cNvSpPr txBox="1"/>
          <p:nvPr/>
        </p:nvSpPr>
        <p:spPr>
          <a:xfrm>
            <a:off x="8026197" y="1618488"/>
            <a:ext cx="3479698" cy="41483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5" name="Shape 15"/>
          <p:cNvSpPr txBox="1"/>
          <p:nvPr/>
        </p:nvSpPr>
        <p:spPr>
          <a:xfrm>
            <a:off x="8235747" y="283159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hape 16"/>
          <p:cNvSpPr txBox="1"/>
          <p:nvPr/>
        </p:nvSpPr>
        <p:spPr>
          <a:xfrm>
            <a:off x="8235747" y="380009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Parallel means the same slope: m = 4.</a:t>
            </a:r>
            <a:endParaRPr lang="en-US" sz="1575" dirty="0"/>
          </a:p>
        </p:txBody>
      </p:sp>
      <p:sp>
        <p:nvSpPr>
          <p:cNvPr id="17" name="Shape 17"/>
          <p:cNvSpPr txBox="1"/>
          <p:nvPr/>
        </p:nvSpPr>
        <p:spPr>
          <a:xfrm>
            <a:off x="8235747" y="443026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Put x = 0, y = −2 into y = mx + b: −2 = 4(0) + b, so b = −2.</a:t>
            </a:r>
            <a:endParaRPr lang="en-US" sz="1575" dirty="0"/>
          </a:p>
        </p:txBody>
      </p:sp>
      <p:sp>
        <p:nvSpPr>
          <p:cNvPr id="18" name="Shape 18"/>
          <p:cNvSpPr txBox="1"/>
          <p:nvPr/>
        </p:nvSpPr>
        <p:spPr>
          <a:xfrm>
            <a:off x="8235747" y="53004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it: y = 4x − 2.</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16</Slides>
  <Notes>16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