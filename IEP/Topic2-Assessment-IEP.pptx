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version: same 14 skills, modified. Multiple choice has 3 choices; written items are chunked into steps with blanks and circle-one frames; tips define vocabulary; key points are labeled on the graphs. Grade with the IEP answer key. Apply the student's IEP accommodations as well: extended time, breaks, read-aloud, small-group setting.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1792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2: Transforming and Comparing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38277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End of Topic Assessment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8910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22142"/>
            <a:ext cx="10820095" cy="22623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59359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 and the reference sheet.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Use the steps and tips. Fill in each blank.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4772406"/>
            <a:ext cx="104009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One question is on each slide. Take your time. Ask your teacher if you need a break or a question read aloud.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Reference Sheet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" name="Shape 3"/>
          <p:cNvSpPr txBox="1"/>
          <p:nvPr/>
        </p:nvSpPr>
        <p:spPr>
          <a:xfrm>
            <a:off x="895350" y="1342644"/>
            <a:ext cx="3098698" cy="173507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·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&gt; 1 stretch, 0 &lt; 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&lt; 1 compress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&gt; 0 up,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down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4336948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4546498" y="1342644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− 3): right 3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+ 3): left 3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7988097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197647" y="1342644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y₂ − y₁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x₂ − x₁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53968"/>
            <a:ext cx="30986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 are negative reciprocals: 2 and 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336948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46498" y="3553968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₁)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7988097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197647" y="3553968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Solve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find the slope.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4336948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46498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(inputs)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(outputs)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7988097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8197647" y="5285232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Compare functions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Set the two expressions equal to find where they meet.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becomes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− 4. 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7296043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− 4 is outside, so it subtracts 4 from every output 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-value).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Up 4 units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Down 4 units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Left 4 units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stretches it by a factor of 3?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51196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A negative number in front of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reflects the line. A number bigger than 1 makes it steeper.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+ 5.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Replace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with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________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________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The 2 is a vertical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 /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by a factor of ________.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The + 5 moves the graph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 / down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________ units.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3223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6351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9478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2606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573338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198813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5115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8242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1370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4497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7625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5659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2785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991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70389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4165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921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55454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2672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9798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6925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40519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3608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19862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61175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2372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38627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881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474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8997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325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7504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175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16010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6" name="Line 46"/>
          <p:cNvCxnSpPr/>
          <p:nvPr/>
        </p:nvCxnSpPr>
        <p:spPr>
          <a:xfrm flipV="1">
            <a:off x="1009650" y="1117854"/>
            <a:ext cx="3752850" cy="344805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47" name="Shape 47"/>
          <p:cNvSpPr txBox="1"/>
          <p:nvPr/>
        </p:nvSpPr>
        <p:spPr>
          <a:xfrm>
            <a:off x="2270760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48" name="Line 48"/>
          <p:cNvCxnSpPr/>
          <p:nvPr/>
        </p:nvCxnSpPr>
        <p:spPr>
          <a:xfrm flipV="1">
            <a:off x="1947862" y="1979866"/>
            <a:ext cx="2814638" cy="2586038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9" name="Shape 49"/>
          <p:cNvSpPr txBox="1"/>
          <p:nvPr/>
        </p:nvSpPr>
        <p:spPr>
          <a:xfrm>
            <a:off x="2270760" y="19989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50" name="Shape 50"/>
          <p:cNvSpPr/>
          <p:nvPr/>
        </p:nvSpPr>
        <p:spPr>
          <a:xfrm>
            <a:off x="2833688" y="365150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2971800" y="345624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−3)</a:t>
            </a:r>
            <a:endParaRPr lang="en-US" sz="1125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dashed line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equation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)?</a:t>
            </a:r>
            <a:endParaRPr lang="en-US" sz="2250" dirty="0"/>
          </a:p>
        </p:txBody>
      </p:sp>
      <p:sp>
        <p:nvSpPr>
          <p:cNvPr id="53" name="Shape 53"/>
          <p:cNvSpPr txBox="1"/>
          <p:nvPr/>
        </p:nvSpPr>
        <p:spPr>
          <a:xfrm>
            <a:off x="6286348" y="1877568"/>
            <a:ext cx="5219548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crosses the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at 0.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crosses at −3. So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is 3 units down.</a:t>
            </a:r>
            <a:endParaRPr lang="en-US" sz="1650" dirty="0"/>
          </a:p>
        </p:txBody>
      </p:sp>
      <p:sp>
        <p:nvSpPr>
          <p:cNvPr id="54" name="Shape 54"/>
          <p:cNvSpPr txBox="1"/>
          <p:nvPr/>
        </p:nvSpPr>
        <p:spPr>
          <a:xfrm>
            <a:off x="6286348" y="266014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+ 3</a:t>
            </a:r>
            <a:endParaRPr lang="en-US" sz="2250" dirty="0"/>
          </a:p>
        </p:txBody>
      </p:sp>
      <p:sp>
        <p:nvSpPr>
          <p:cNvPr id="55" name="Shape 55"/>
          <p:cNvSpPr txBox="1"/>
          <p:nvPr/>
        </p:nvSpPr>
        <p:spPr>
          <a:xfrm>
            <a:off x="6286348" y="319125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− 3</a:t>
            </a:r>
            <a:endParaRPr lang="en-US" sz="2250" dirty="0"/>
          </a:p>
        </p:txBody>
      </p:sp>
      <p:sp>
        <p:nvSpPr>
          <p:cNvPr id="56" name="Shape 56"/>
          <p:cNvSpPr txBox="1"/>
          <p:nvPr/>
        </p:nvSpPr>
        <p:spPr>
          <a:xfrm>
            <a:off x="6286348" y="372237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2250" dirty="0"/>
          </a:p>
        </p:txBody>
      </p:sp>
      <p:sp>
        <p:nvSpPr>
          <p:cNvPr id="57" name="Shape 5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8072300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Inside the parentheses, the graph moves the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opposite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way of the sign.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________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The graph moves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 / right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________ units.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For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that is the same graph as moving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 / down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________ units.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 3 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function is the new graph?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8959451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Right 3 means replace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with 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− 3):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) = 2(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− 3). Then distribute the 2.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− 6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(−2, 5) and (4, 1).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Slope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1 − 5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4 − (−2)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________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________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 (the same): ________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 (flip the fraction and change the sign): 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− 1 and passes through (8, 3)?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slope: flip 4 = 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and change the sign → −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check: put in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8. Do you get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3?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1724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− 29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4835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7947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+ 5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the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+ 7 through the point (2, −4).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Parallel slope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Point-slope form: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(−4) = ________(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− 2)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Distribute, then subtract 4: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Are these lines parallel, perpendicular, or neither?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6 and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(3/2)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7517831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Solve 2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6 for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−(2/3)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+ 2. Compare −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with 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883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Parallel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1945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Perpendicular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5056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Neither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21284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Gym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541520" y="1003554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A's total cost is shown in the table. Gym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35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541520" y="2220468"/>
            <a:ext cx="696437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A: starts at $________, goes up $________ each month.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541520" y="3094482"/>
            <a:ext cx="696437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B: starts at $________, goes up $________ each month.</a:t>
            </a:r>
            <a:endParaRPr lang="en-US" sz="2250" dirty="0"/>
          </a:p>
        </p:txBody>
      </p:sp>
      <p:sp>
        <p:nvSpPr>
          <p:cNvPr id="18" name="Shape 18"/>
          <p:cNvSpPr txBox="1"/>
          <p:nvPr/>
        </p:nvSpPr>
        <p:spPr>
          <a:xfrm>
            <a:off x="4541520" y="3968496"/>
            <a:ext cx="696437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Gym ________.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Gym ________.</a:t>
            </a:r>
            <a:endParaRPr lang="en-US" sz="22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21284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Gym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541520" y="1003554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A's total cost is shown in the table. Gym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35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541520" y="2220468"/>
            <a:ext cx="696437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When do they cost the same? Solve 50 + 25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20 + 35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541520" y="3094482"/>
            <a:ext cx="696437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Subtract 20 and 25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________ = ________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 months. Cost: $________</a:t>
            </a:r>
            <a:endParaRPr lang="en-US" sz="2250" dirty="0"/>
          </a:p>
        </p:txBody>
      </p:sp>
      <p:sp>
        <p:nvSpPr>
          <p:cNvPr id="18" name="Shape 18"/>
          <p:cNvSpPr txBox="1"/>
          <p:nvPr/>
        </p:nvSpPr>
        <p:spPr>
          <a:xfrm>
            <a:off x="4541520" y="3968496"/>
            <a:ext cx="696437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For 6 months: Gym A = $________, Gym B = $________. Gym ________ costs less.</a:t>
            </a:r>
            <a:endParaRPr lang="en-US" sz="22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78756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416969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886075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355181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824287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293394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76250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3754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44467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51394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0485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15832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73533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1204436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1673542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2142649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2611755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3080861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3549967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019074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8818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442722" y="42839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442722" y="381860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442722" y="335323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442722" y="288787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42722" y="2422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19571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14917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40" name="Line 40"/>
          <p:cNvCxnSpPr/>
          <p:nvPr/>
        </p:nvCxnSpPr>
        <p:spPr>
          <a:xfrm flipV="1">
            <a:off x="1009650" y="1583218"/>
            <a:ext cx="3752850" cy="248194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1" name="Shape 41"/>
          <p:cNvSpPr/>
          <p:nvPr/>
        </p:nvSpPr>
        <p:spPr>
          <a:xfrm>
            <a:off x="1895475" y="339228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2" name="Shape 42"/>
          <p:cNvSpPr txBox="1"/>
          <p:nvPr/>
        </p:nvSpPr>
        <p:spPr>
          <a:xfrm>
            <a:off x="2033587" y="319702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−1)</a:t>
            </a:r>
            <a:endParaRPr lang="en-US" sz="1125" dirty="0"/>
          </a:p>
        </p:txBody>
      </p:sp>
      <p:sp>
        <p:nvSpPr>
          <p:cNvPr id="43" name="Shape 43"/>
          <p:cNvSpPr/>
          <p:nvPr/>
        </p:nvSpPr>
        <p:spPr>
          <a:xfrm>
            <a:off x="3302794" y="246155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4" name="Shape 44"/>
          <p:cNvSpPr txBox="1"/>
          <p:nvPr/>
        </p:nvSpPr>
        <p:spPr>
          <a:xfrm>
            <a:off x="3440906" y="2266297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(3, 1)</a:t>
            </a:r>
            <a:endParaRPr lang="en-US" sz="1125" dirty="0"/>
          </a:p>
        </p:txBody>
      </p:sp>
      <p:sp>
        <p:nvSpPr>
          <p:cNvPr id="45" name="Shape 45"/>
          <p:cNvSpPr txBox="1"/>
          <p:nvPr/>
        </p:nvSpPr>
        <p:spPr>
          <a:xfrm>
            <a:off x="685800" y="47564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p</a:t>
            </a:r>
            <a:endParaRPr lang="en-US" sz="1575" dirty="0"/>
          </a:p>
        </p:txBody>
      </p:sp>
      <p:sp>
        <p:nvSpPr>
          <p:cNvPr id="46" name="Shape 46"/>
          <p:cNvSpPr txBox="1"/>
          <p:nvPr/>
        </p:nvSpPr>
        <p:spPr>
          <a:xfrm>
            <a:off x="6286348" y="1003554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p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has a slope of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≈ 0.67. Which function has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greater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rate of change?</a:t>
            </a:r>
            <a:endParaRPr lang="en-US" sz="2250" dirty="0"/>
          </a:p>
        </p:txBody>
      </p:sp>
      <p:sp>
        <p:nvSpPr>
          <p:cNvPr id="47" name="Shape 47"/>
          <p:cNvSpPr txBox="1"/>
          <p:nvPr/>
        </p:nvSpPr>
        <p:spPr>
          <a:xfrm>
            <a:off x="6286348" y="2220468"/>
            <a:ext cx="5219548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Find each slope and compare decimals: which is bigger than 0.67?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300304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0.5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+ 4</a:t>
            </a:r>
            <a:endParaRPr lang="en-US" sz="2250" dirty="0"/>
          </a:p>
        </p:txBody>
      </p:sp>
      <p:sp>
        <p:nvSpPr>
          <p:cNvPr id="49" name="Shape 49"/>
          <p:cNvSpPr txBox="1"/>
          <p:nvPr/>
        </p:nvSpPr>
        <p:spPr>
          <a:xfrm>
            <a:off x="6286348" y="353415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6</a:t>
            </a:r>
            <a:endParaRPr lang="en-US" sz="2250" dirty="0"/>
          </a:p>
        </p:txBody>
      </p:sp>
      <p:sp>
        <p:nvSpPr>
          <p:cNvPr id="50" name="Shape 50"/>
          <p:cNvSpPr txBox="1"/>
          <p:nvPr/>
        </p:nvSpPr>
        <p:spPr>
          <a:xfrm>
            <a:off x="6286348" y="406527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(3/4)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endParaRPr lang="en-US" sz="2250" dirty="0"/>
          </a:p>
        </p:txBody>
      </p:sp>
      <p:sp>
        <p:nvSpPr>
          <p:cNvPr id="51" name="Shape 5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300-gallon tank drains 15 gallons each minute: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300 − 15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8515876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Range = the outputs,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) gallons. The most water is 300. The least is 0.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20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300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≥ 0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Assessment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17</Slides>
  <Notes>17</Notes>
</Properties>
</file>

<file path=docProps/core.xml><?xml version="1.0" encoding="utf-8"?>
<cp:coreProperties xmlns:cp="http://schemas.openxmlformats.org/package/2006/metadata/core-properties" xmlns:dc="http://purl.org/dc/elements/1.1/">
  <dc:title>Topic 2 Assessment</dc:title>
  <dc:subject>Bluebonnet Algebra I</dc:subject>
</cp:coreProperties>
</file>