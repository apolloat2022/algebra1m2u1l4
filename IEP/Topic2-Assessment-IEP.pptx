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IEP version: same 14 skills, modified. Multiple choice has 3 choices; written items are chunked into steps with blanks and circle-one frames; tips define vocabulary; key points are labeled on the graphs. Grade with the IEP answer key. Apply the student's IEP accommodations as well: extended time, breaks, read-aloud, small-group setting.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1792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2: Transforming and Comparing Linear Functions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38277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End of Topic Assessment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8910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Name ________________________ Date ________________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22142"/>
            <a:ext cx="10820095" cy="22623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3593592"/>
            <a:ext cx="104009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Directions: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Read each question carefully. You may use a calculator and the reference sheet. For multiple choice, choose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one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answer. Use the steps and tips. Fill in each blank.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4772406"/>
            <a:ext cx="104009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One question is on each slide. Take your time. Ask your teacher if you need a break or a question read aloud.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Reference Sheet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171194"/>
            <a:ext cx="3517798" cy="207797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" name="Shape 3"/>
          <p:cNvSpPr txBox="1"/>
          <p:nvPr/>
        </p:nvSpPr>
        <p:spPr>
          <a:xfrm>
            <a:off x="895350" y="1342644"/>
            <a:ext cx="3098698" cy="173507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changes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·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&gt; 1 stretch, 0 &lt; 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&lt; 1 compress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&lt; 0 reflect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&gt; 0 up,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&lt; 0 down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4336948" y="1171194"/>
            <a:ext cx="3517798" cy="207797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4546498" y="1342644"/>
            <a:ext cx="3098698" cy="10149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changes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− 3): right 3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+ 3): left 3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7988097" y="1171194"/>
            <a:ext cx="3517798" cy="207797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8197647" y="1342644"/>
            <a:ext cx="3098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y₂ − y₁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x₂ − x₁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82518"/>
            <a:ext cx="3517798" cy="15979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53968"/>
            <a:ext cx="30986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lines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slope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 are negative reciprocals: 2 and 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4336948" y="3382518"/>
            <a:ext cx="3517798" cy="15979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4546498" y="3553968"/>
            <a:ext cx="3098698" cy="10149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Point-slope form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₁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₁)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7988097" y="3382518"/>
            <a:ext cx="3517798" cy="15979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8197647" y="3553968"/>
            <a:ext cx="30986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Standard form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Solve for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find the slope.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5113782"/>
            <a:ext cx="3517798" cy="11178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5285232"/>
            <a:ext cx="3098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slope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Initial value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4336948" y="5113782"/>
            <a:ext cx="3517798" cy="11178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4546498" y="5285232"/>
            <a:ext cx="3098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Domain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-values (inputs)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Range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-values (outputs)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7988097" y="5113782"/>
            <a:ext cx="3517798" cy="11178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8197647" y="5285232"/>
            <a:ext cx="30986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Compare functions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Set the two expressions equal to find where they meet.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22" name="Slide Number 2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− 4. What is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7296043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− 4 is outside, so it subtracts 4 from every output (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-value).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Up 4 units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Down 4 units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Left 4 units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2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-axis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and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stretches it by a factor of 3?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1051196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A negative number in front of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reflects the line. A number bigger than 1 makes it steeper.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−3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397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709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3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Let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+ 5.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Replace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with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________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________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The 2 is a vertical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 / translation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(circle one) by a factor of ________.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397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3: The + 5 moves the graph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 / down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(circle one) ________ units.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4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4191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322387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635125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947862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26060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573338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886075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3198813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351155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3824287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4137025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4449762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476250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456590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427856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3991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1009650" y="370389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1009650" y="34165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312921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284187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255454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226720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197986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16925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140519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11178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2886075" y="1117854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2841879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73533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1360805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198628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2611755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323723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3862705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448818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442722" y="44744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442722" y="389978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442722" y="33251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442722" y="275043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442722" y="21757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442722" y="160108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46" name="Line 46"/>
          <p:cNvCxnSpPr/>
          <p:nvPr/>
        </p:nvCxnSpPr>
        <p:spPr>
          <a:xfrm flipV="1">
            <a:off x="1009650" y="1117854"/>
            <a:ext cx="3752850" cy="3448050"/>
          </a:xfrm>
          <a:prstGeom prst="line">
            <a:avLst/>
          </a:prstGeom>
          <a:ln w="38100" cap="rnd">
            <a:solidFill>
              <a:srgbClr val="16171D"/>
            </a:solidFill>
            <a:prstDash val="dash"/>
          </a:ln>
        </p:spPr>
      </p:cxnSp>
      <p:sp>
        <p:nvSpPr>
          <p:cNvPr id="47" name="Shape 47"/>
          <p:cNvSpPr txBox="1"/>
          <p:nvPr/>
        </p:nvSpPr>
        <p:spPr>
          <a:xfrm>
            <a:off x="2270760" y="11369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48" name="Line 48"/>
          <p:cNvCxnSpPr/>
          <p:nvPr/>
        </p:nvCxnSpPr>
        <p:spPr>
          <a:xfrm flipV="1">
            <a:off x="1947862" y="1979866"/>
            <a:ext cx="2814638" cy="2586038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49" name="Shape 49"/>
          <p:cNvSpPr txBox="1"/>
          <p:nvPr/>
        </p:nvSpPr>
        <p:spPr>
          <a:xfrm>
            <a:off x="2270760" y="19989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g(x)</a:t>
            </a:r>
            <a:endParaRPr lang="en-US" sz="1275" dirty="0"/>
          </a:p>
        </p:txBody>
      </p:sp>
      <p:sp>
        <p:nvSpPr>
          <p:cNvPr id="50" name="Shape 50"/>
          <p:cNvSpPr/>
          <p:nvPr/>
        </p:nvSpPr>
        <p:spPr>
          <a:xfrm>
            <a:off x="2833688" y="365150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1" name="Shape 51"/>
          <p:cNvSpPr txBox="1"/>
          <p:nvPr/>
        </p:nvSpPr>
        <p:spPr>
          <a:xfrm>
            <a:off x="2971800" y="345624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−3)</a:t>
            </a:r>
            <a:endParaRPr lang="en-US" sz="1125" dirty="0"/>
          </a:p>
        </p:txBody>
      </p:sp>
      <p:sp>
        <p:nvSpPr>
          <p:cNvPr id="52" name="Shape 52"/>
          <p:cNvSpPr txBox="1"/>
          <p:nvPr/>
        </p:nvSpPr>
        <p:spPr>
          <a:xfrm>
            <a:off x="6286348" y="1003554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dashed line is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equation is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)?</a:t>
            </a:r>
            <a:endParaRPr lang="en-US" sz="2250" dirty="0"/>
          </a:p>
        </p:txBody>
      </p:sp>
      <p:sp>
        <p:nvSpPr>
          <p:cNvPr id="53" name="Shape 53"/>
          <p:cNvSpPr txBox="1"/>
          <p:nvPr/>
        </p:nvSpPr>
        <p:spPr>
          <a:xfrm>
            <a:off x="6286348" y="1877568"/>
            <a:ext cx="5219548" cy="64922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crosses the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-axis at 0.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crosses at −3. So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is 3 units down.</a:t>
            </a:r>
            <a:endParaRPr lang="en-US" sz="1650" dirty="0"/>
          </a:p>
        </p:txBody>
      </p:sp>
      <p:sp>
        <p:nvSpPr>
          <p:cNvPr id="54" name="Shape 54"/>
          <p:cNvSpPr txBox="1"/>
          <p:nvPr/>
        </p:nvSpPr>
        <p:spPr>
          <a:xfrm>
            <a:off x="6286348" y="2660142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+ 3</a:t>
            </a:r>
            <a:endParaRPr lang="en-US" sz="2250" dirty="0"/>
          </a:p>
        </p:txBody>
      </p:sp>
      <p:sp>
        <p:nvSpPr>
          <p:cNvPr id="55" name="Shape 55"/>
          <p:cNvSpPr txBox="1"/>
          <p:nvPr/>
        </p:nvSpPr>
        <p:spPr>
          <a:xfrm>
            <a:off x="6286348" y="3191256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− 3</a:t>
            </a:r>
            <a:endParaRPr lang="en-US" sz="2250" dirty="0"/>
          </a:p>
        </p:txBody>
      </p:sp>
      <p:sp>
        <p:nvSpPr>
          <p:cNvPr id="56" name="Shape 56"/>
          <p:cNvSpPr txBox="1"/>
          <p:nvPr/>
        </p:nvSpPr>
        <p:spPr>
          <a:xfrm>
            <a:off x="6286348" y="3722370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−3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2250" dirty="0"/>
          </a:p>
        </p:txBody>
      </p:sp>
      <p:sp>
        <p:nvSpPr>
          <p:cNvPr id="57" name="Shape 5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58" name="Slide Number 5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5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Let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h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+ 6).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8072300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Inside the parentheses, the graph moves the </a:t>
            </a:r>
            <a:r>
              <a:rPr lang="en-US" sz="16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opposite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way of the sign.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h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________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The graph moves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left / right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(circle one) ________ units.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3: For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, that is the same graph as moving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 / down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(circle one) ________ units.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6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 3 units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function is the new graph?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8959451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Right 3 means replace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with (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− 3):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) = 2(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− 3). Then distribute the 2.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− 6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+ 6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7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passes through (−2, 5) and (4, 1).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Slope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1 − 5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4 − (−2)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________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________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 (the same): ________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3: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 (flip the fraction and change the sign): ________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8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− 1 and passes through (8, 3)?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64922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slope: flip 4 = 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and change the sign → −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. Then check: put in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= 8. Do you get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= 3?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31724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− 29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4835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−(1/4)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+ 1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947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−(1/4)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+ 5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9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the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+ 7 through the point (2, −4).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Parallel slope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Point-slope form: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(−4) = ________(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− 2)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397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3: Distribute, then subtract 4: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________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Are these lines parallel, perpendicular, or neither?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6 and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(3/2)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57222"/>
            <a:ext cx="7517831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Solve 2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+ 3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= 6 for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−(2/3)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+ 2. Compare −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with 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8833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Parallel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1945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5056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Neither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11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261872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Months</a:t>
            </a:r>
            <a:endParaRPr lang="en-US" sz="1800" dirty="0"/>
          </a:p>
        </p:txBody>
      </p:sp>
      <p:sp>
        <p:nvSpPr>
          <p:cNvPr id="4" name="Shape 4"/>
          <p:cNvSpPr txBox="1"/>
          <p:nvPr/>
        </p:nvSpPr>
        <p:spPr>
          <a:xfrm>
            <a:off x="1947672" y="1003554"/>
            <a:ext cx="221284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Gym A Cost ($)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24178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1947672" y="1424178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44802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1947672" y="1844802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265426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1947672" y="2265426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686050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1947672" y="2686050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125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106674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1947672" y="3106674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150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4541520" y="1003554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Gym A's total cost is shown in the table. Gym B's total cost is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35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+ 20, where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number of months.</a:t>
            </a:r>
            <a:endParaRPr lang="en-US" sz="2250" dirty="0"/>
          </a:p>
        </p:txBody>
      </p:sp>
      <p:sp>
        <p:nvSpPr>
          <p:cNvPr id="16" name="Shape 16"/>
          <p:cNvSpPr txBox="1"/>
          <p:nvPr/>
        </p:nvSpPr>
        <p:spPr>
          <a:xfrm>
            <a:off x="4541520" y="2220468"/>
            <a:ext cx="696437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Gym A: starts at $________, goes up $________ each month.</a:t>
            </a:r>
            <a:endParaRPr lang="en-US" sz="2250" dirty="0"/>
          </a:p>
        </p:txBody>
      </p:sp>
      <p:sp>
        <p:nvSpPr>
          <p:cNvPr id="17" name="Shape 17"/>
          <p:cNvSpPr txBox="1"/>
          <p:nvPr/>
        </p:nvSpPr>
        <p:spPr>
          <a:xfrm>
            <a:off x="4541520" y="3094482"/>
            <a:ext cx="696437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Gym B: starts at $________, goes up $________ each month.</a:t>
            </a:r>
            <a:endParaRPr lang="en-US" sz="2250" dirty="0"/>
          </a:p>
        </p:txBody>
      </p:sp>
      <p:sp>
        <p:nvSpPr>
          <p:cNvPr id="18" name="Shape 18"/>
          <p:cNvSpPr txBox="1"/>
          <p:nvPr/>
        </p:nvSpPr>
        <p:spPr>
          <a:xfrm>
            <a:off x="4541520" y="3968496"/>
            <a:ext cx="696437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Greater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: Gym ________. Greater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initial value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: Gym ________.</a:t>
            </a:r>
            <a:endParaRPr lang="en-US" sz="22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12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261872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Months</a:t>
            </a:r>
            <a:endParaRPr lang="en-US" sz="1800" dirty="0"/>
          </a:p>
        </p:txBody>
      </p:sp>
      <p:sp>
        <p:nvSpPr>
          <p:cNvPr id="4" name="Shape 4"/>
          <p:cNvSpPr txBox="1"/>
          <p:nvPr/>
        </p:nvSpPr>
        <p:spPr>
          <a:xfrm>
            <a:off x="1947672" y="1003554"/>
            <a:ext cx="221284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Gym A Cost ($)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24178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1947672" y="1424178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44802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1947672" y="1844802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265426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1947672" y="2265426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686050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1947672" y="2686050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125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106674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1947672" y="3106674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150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4541520" y="1003554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Gym A's total cost is shown in the table. Gym B's total cost is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35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+ 20, where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number of months.</a:t>
            </a:r>
            <a:endParaRPr lang="en-US" sz="2250" dirty="0"/>
          </a:p>
        </p:txBody>
      </p:sp>
      <p:sp>
        <p:nvSpPr>
          <p:cNvPr id="16" name="Shape 16"/>
          <p:cNvSpPr txBox="1"/>
          <p:nvPr/>
        </p:nvSpPr>
        <p:spPr>
          <a:xfrm>
            <a:off x="4541520" y="2220468"/>
            <a:ext cx="696437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When do they cost the same? Solve 50 + 25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20 + 35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2250" dirty="0"/>
          </a:p>
        </p:txBody>
      </p:sp>
      <p:sp>
        <p:nvSpPr>
          <p:cNvPr id="17" name="Shape 17"/>
          <p:cNvSpPr txBox="1"/>
          <p:nvPr/>
        </p:nvSpPr>
        <p:spPr>
          <a:xfrm>
            <a:off x="4541520" y="3094482"/>
            <a:ext cx="696437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Subtract 20 and 25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: ________ = ________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________ months. Cost: $________</a:t>
            </a:r>
            <a:endParaRPr lang="en-US" sz="2250" dirty="0"/>
          </a:p>
        </p:txBody>
      </p:sp>
      <p:sp>
        <p:nvSpPr>
          <p:cNvPr id="18" name="Shape 18"/>
          <p:cNvSpPr txBox="1"/>
          <p:nvPr/>
        </p:nvSpPr>
        <p:spPr>
          <a:xfrm>
            <a:off x="4541520" y="3968496"/>
            <a:ext cx="696437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For 6 months: Gym A = $________, Gym B = $________. Gym ________ costs less.</a:t>
            </a:r>
            <a:endParaRPr lang="en-US" sz="22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13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41910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478756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947862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2416969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886075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3355181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3824287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4293394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4762500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1009650" y="437540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1009650" y="39100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344467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297931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251394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20485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15832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1009650" y="11178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1947862" y="1117854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2979311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735330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24" name="Shape 24"/>
          <p:cNvSpPr txBox="1"/>
          <p:nvPr/>
        </p:nvSpPr>
        <p:spPr>
          <a:xfrm>
            <a:off x="1204436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25" name="Shape 25"/>
          <p:cNvSpPr txBox="1"/>
          <p:nvPr/>
        </p:nvSpPr>
        <p:spPr>
          <a:xfrm>
            <a:off x="1673542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6" name="Shape 26"/>
          <p:cNvSpPr txBox="1"/>
          <p:nvPr/>
        </p:nvSpPr>
        <p:spPr>
          <a:xfrm>
            <a:off x="2142649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27" name="Shape 27"/>
          <p:cNvSpPr txBox="1"/>
          <p:nvPr/>
        </p:nvSpPr>
        <p:spPr>
          <a:xfrm>
            <a:off x="2611755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3080861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3549967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4019074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4488180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442722" y="42839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442722" y="381860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442722" y="335323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442722" y="288787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442722" y="24225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442722" y="195714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442722" y="14917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40" name="Line 40"/>
          <p:cNvCxnSpPr/>
          <p:nvPr/>
        </p:nvCxnSpPr>
        <p:spPr>
          <a:xfrm flipV="1">
            <a:off x="1009650" y="1583218"/>
            <a:ext cx="3752850" cy="248194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41" name="Shape 41"/>
          <p:cNvSpPr/>
          <p:nvPr/>
        </p:nvSpPr>
        <p:spPr>
          <a:xfrm>
            <a:off x="1895475" y="339228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2" name="Shape 42"/>
          <p:cNvSpPr txBox="1"/>
          <p:nvPr/>
        </p:nvSpPr>
        <p:spPr>
          <a:xfrm>
            <a:off x="2033587" y="319702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−1)</a:t>
            </a:r>
            <a:endParaRPr lang="en-US" sz="1125" dirty="0"/>
          </a:p>
        </p:txBody>
      </p:sp>
      <p:sp>
        <p:nvSpPr>
          <p:cNvPr id="43" name="Shape 43"/>
          <p:cNvSpPr/>
          <p:nvPr/>
        </p:nvSpPr>
        <p:spPr>
          <a:xfrm>
            <a:off x="3302794" y="246155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4" name="Shape 44"/>
          <p:cNvSpPr txBox="1"/>
          <p:nvPr/>
        </p:nvSpPr>
        <p:spPr>
          <a:xfrm>
            <a:off x="3440906" y="226629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(3, 1)</a:t>
            </a:r>
            <a:endParaRPr lang="en-US" sz="1125" dirty="0"/>
          </a:p>
        </p:txBody>
      </p:sp>
      <p:sp>
        <p:nvSpPr>
          <p:cNvPr id="45" name="Shape 45"/>
          <p:cNvSpPr txBox="1"/>
          <p:nvPr/>
        </p:nvSpPr>
        <p:spPr>
          <a:xfrm>
            <a:off x="685800" y="47564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Function </a:t>
            </a:r>
            <a:r>
              <a:rPr lang="en-US" sz="1575" dirty="0" i="1">
                <a:solidFill>
                  <a:srgbClr val="5F6272"/>
                </a:solidFill>
                <a:latin typeface="Segoe UI"/>
                <a:cs typeface="Segoe UI"/>
              </a:rPr>
              <a:t xml:space="preserve">p</a:t>
            </a:r>
            <a:endParaRPr lang="en-US" sz="1575" dirty="0"/>
          </a:p>
        </p:txBody>
      </p:sp>
      <p:sp>
        <p:nvSpPr>
          <p:cNvPr id="46" name="Shape 46"/>
          <p:cNvSpPr txBox="1"/>
          <p:nvPr/>
        </p:nvSpPr>
        <p:spPr>
          <a:xfrm>
            <a:off x="6286348" y="1003554"/>
            <a:ext cx="5219548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Function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p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has a slope of 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≈ 0.67. Which function has a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greater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rate of change?</a:t>
            </a:r>
            <a:endParaRPr lang="en-US" sz="2250" dirty="0"/>
          </a:p>
        </p:txBody>
      </p:sp>
      <p:sp>
        <p:nvSpPr>
          <p:cNvPr id="47" name="Shape 47"/>
          <p:cNvSpPr txBox="1"/>
          <p:nvPr/>
        </p:nvSpPr>
        <p:spPr>
          <a:xfrm>
            <a:off x="6286348" y="2220468"/>
            <a:ext cx="5219548" cy="64922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Find each slope and compare decimals: which is bigger than 0.67?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6286348" y="3003042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0.5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+ 4</a:t>
            </a:r>
            <a:endParaRPr lang="en-US" sz="2250" dirty="0"/>
          </a:p>
        </p:txBody>
      </p:sp>
      <p:sp>
        <p:nvSpPr>
          <p:cNvPr id="49" name="Shape 49"/>
          <p:cNvSpPr txBox="1"/>
          <p:nvPr/>
        </p:nvSpPr>
        <p:spPr>
          <a:xfrm>
            <a:off x="6286348" y="3534156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6</a:t>
            </a:r>
            <a:endParaRPr lang="en-US" sz="2250" dirty="0"/>
          </a:p>
        </p:txBody>
      </p:sp>
      <p:sp>
        <p:nvSpPr>
          <p:cNvPr id="50" name="Shape 50"/>
          <p:cNvSpPr txBox="1"/>
          <p:nvPr/>
        </p:nvSpPr>
        <p:spPr>
          <a:xfrm>
            <a:off x="6286348" y="4065270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(3/4)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− 2</a:t>
            </a:r>
            <a:endParaRPr lang="en-US" sz="2250" dirty="0"/>
          </a:p>
        </p:txBody>
      </p:sp>
      <p:sp>
        <p:nvSpPr>
          <p:cNvPr id="51" name="Shape 5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52" name="Slide Number 5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14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 300-gallon tank drains 15 gallons each minute: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300 − 15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8515876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Range = the outputs, 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6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) gallons. The most water is 300. The least is 0.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≤ 20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≤ 300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≥ 0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are done!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Go back and check each answer.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0230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Did you answer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every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question?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3342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Did you include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units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explanations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where asked?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453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Raise your hand when you are finished.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Assessment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17</Slides>
  <Notes>17</Notes>
</Properties>
</file>

<file path=docProps/core.xml><?xml version="1.0" encoding="utf-8"?>
<cp:coreProperties xmlns:cp="http://schemas.openxmlformats.org/package/2006/metadata/core-properties" xmlns:dc="http://purl.org/dc/elements/1.1/">
  <dc:title>Topic 2 Assessment</dc:title>
  <dc:subject>Bluebonnet Algebra I</dc:subject>
</cp:coreProperties>
</file>