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students graph lines straight from their equations, without making a table first. Same color code as Lesson 4: orange always means slope, blue always means a point. The lesson runs three days, and each day opens with bell work while you take attendance (slide 2 for Day 1, slide 14 for Day 2, slide 26 for Day 3). Day 1 covers Getting Started and Activity 5.1. Day 2 covers Activities 5.2 and 5.3. Day 3 covers Activity 5.4 and Talk the Talk. Materials: straightedges.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These review what today builds on: reading the slope and y-intercept from slope-intercept form, reading the slope and point from point-slope form (Lesson 4), solving for y (the Lesson 4 Prepare page), and counting rise over run on a grid. Reveal the answers one at a time. Watch #2: y − 4 = −2(x + 1) means the point is (−1, 4), because the sign inside the parentheses flips. Answer key: 1. y = ½x − 3: m = ½, y-intercept (0, −3). 2. y − 4 = −2(x + 1): m = −2, point (−1, 4). 3. 4x + 2y = 10: 2y = −4x + 10, so y = −2x + 5. 4. From (0, 1), up 3 and right 2 lands on (2, 4).</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 Ask: Which two forms do you already know? (slope-intercept and point-slope). Standard form is the new one. Have students write the two new key terms in their notes.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return to it at the end of each day. Quick check: ask a student how they would graph y = 2x + 1 right now. Most will say "make a table". That's the method this lesson replaces.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10–15 minutes. Have pairs work Questions 1–4 before you reveal anything, then share as a class. The point of this is to see what students already do: most will make a table and plot points. Ask: What is the form of each equation? Identify the y-intercept as a point. For #2, how did you get the signs of the point? (x + 1 means x₁ = −1.) For #4, ask: How could you work with this equation to find its slope or points on it? That question sets up Activity 5.3.</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5.1, 25–30 minutes in total. Ask a student to read the introduction aloud. Ask: Why is the slope negative? (Tickets go down as more people ask.) Why −2? (A pair per person.) The sign of the number tells you which way to go. Both ratios equal −2; using both lets you plot points on each side of the starting point. Optional, from the teacher guide: before the Worked Example, let students try graphing the context on their own, then connect their graph to the Worked Example.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Worked Example is explicit instruction: go through it as a class and have students restate each step in their own words. Each click plots one point, in the order of steps 1–3, and the fourth click draws the line. Teacher-guide idea: have students highlight (0, 10) and the two slope ratios in different colors, and mark the matching moves on the graph in the same colors. The line crosses the x-axis at (5, 0): after 5 people ask, Douglas is out of tickets.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pairs work Questions 1–5, then share. Before graphing, ask: Will this line go up or down from left to right? (Think about the direction before you start.) Each click plots one point; the fourth draws the line. Look for students who don't see that 3/2 is the same as −3/−2. Ask: In which direction do you move with a negative numerator? A negative denominator? How is graphing with the slope related to slope triangles?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teacher guide flags this one: students count grid spaces instead of units. On this grid one square up is 10 units, so a rise of 10 is one square. Each click plots one point; the fourth draws the line. Ask: Why does it help to write the number 10 as a fraction, 10/1?</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to label the axes with the quantities: Number of Lawns Mowed and Total Savings (dollars). The teacher guide's equation is y = 30 + 15x, which is the same thing. Ask: Why is this graph increasing? Use the graph to show how total savings goes up by 15 for every lawn. Discuss the Ask Yourself: a closed circle at (0, 30) because 0 lawns is possible; an arrow to the right because he can keep mowing. Strictly, only whole numbers of lawns make sense; accept either a ray or points, as long as the reasoning is sound. Each click plots one point, then the line.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error: a slope of −20 because the depth numbers are negative. Ask: Is the diver going up or down? So is the depth increasing or decreasing? The teacher guide writes it as y = −130 + 20x. The graph lives below the x-axis because depth below sea level is negative. Each click plots one point, then the line. Questions 1–3 are a good check of today's content; for more practice graphing from slope-intercept form, assign Skills Practice Set 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Stamp the learning, from the teacher guide: "An equation written in slope-intercept form can be graphed by first plotting the y-intercept and then using the slope to locate two additional points by counting from that initial point." To close Day 1, have students reread the Essential Question and read the activity summary to the class. End of Day 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then go to the bell work while you take attendance. Afterward, have a student read the Essential Question aloud, and ask two or three students to summarize Day 1: How do you graph a line from slope-intercept form?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#1 and #2 review Day 1. #3 reviews reading point-slope form, which Activity 5.2 uses to graph. #4 previews the x-intercept from Activity 5.3: on the x-axis, y is 0. Answer key: 1. y = −⅓x + 4: y-intercept (0, 4); down 1, right 3 gives (3, 3); up 1, left 3 gives (−3, 5). 2. y = 5x + 25 (x = weeks, y = dollars saved). 3. y + 2 = 4(x − 1): m = 4, point (1, −2). 4. Set y = 0: 0 = 2x − 6, so x = 3; the point is (3, 0).</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5.2, 15–20 minutes. Have a student read the introduction aloud. Ask: Why does point-slope form make sense here? (We know a point and a rate, not the starting amount.) The text steps come first; then each click plots a point, (3, 50), (4, 55), (2, 45), and the last click draws the line. Other points include (5, 60) and (6, 65). Ask: How is this the same as and different from graphing from slope-intercept form? (Same counting; you start from the given point instead of the y-intercept.) The line hits the y-axis at 35: the band started with $35.</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with the signs: x + 6 means x₁ = −6, and y + 8 means y₁ = −8. In part a, the grid in the book stops just past 14, so going down 3 and right 4 runs off the grid. Use the equivalent ratio, 3/−4: up 3 and left 4, to (10, 8) and (6, 11). The teacher guide flags this as a common sticking point. Each click plots one point, then the line. Question 2 is a good check of point-slope graphing; for more practice, assign Skills Practice Set B.</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for different scales on the x-axis (some students may use minutes); our grid counts seconds by 20. Ask: How did you rewrite the rate to use it as the slope? (Lowered means negative: −0.3, which is −3/10 or −6/20.) Each click plots one point, then the line. Extension: in slope-intercept form, y = −0.3x + 1.2, so the ROV started 1.2 m above the water (on the boat) and reached the surface after 4 seconds. Note: the teacher guide's sample answer says x is in minutes, but the problem gives the rate per second, so use seconds.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5.3, 20–25 minutes. Ask a student to read the introduction and definition aloud. Have pairs work Questions 1–5, then share. Ask: Why can't A and B both be 0? (Then there would be no x or y at all.) Why is standard form a good fit here? (The total comes from adding two kinds of tickets.) Why is it hard to tell which quantity is independent?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the y-intercept (0, b) is where x is 0, and the x-intercept (x, 0) is where y is 0. After the text steps, each click plots an intercept and the last click connects them (Question 4). Ask: Use the graph to name another pair that makes sense, such as (160, 100). Slope check: 8 student tickets bring in $40, the same as 5 adult tickets. Look for sign errors when students divide the y-intercept by the x-intercept instead of using the slope formula.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pairs work Questions 6 and 7, then share. Each click fills one blank, row by row. Common misconception: students think the coefficient of x is always the slope. In 5x + 2y = 6 the slope is −5/2, not 5. Clear this up while sharing Question 6. For row 2, start from the slope −3/4 = −A/B to get A = 3, B = 4, then C = 3 · 7/3 = 7. For row 3, the slope 2/3 gives A = 2, B = −3, and the y-intercept −3 gives C = −3 · −3 = 9. Note: the y-intercept of 3x + 4y = 7 is (0, 7/4); the teacher guide prints 4/3, which is a typo. Challenge: derive the Question 7 patterns by substituting 0 for y, then 0 for x.</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student book the axes have no numbers, so students must reason from structure. Ask: What strategies can you use? Because all three lines share a y-intercept, the slope decides: the greatest slope is the steepest line. Show the steps with −A/B for each: a. −3/−12 = 1/4; b. −6/−2 = 3; c. −9/−9 = 1. Question 8 is a good check of standard form; for more practice, assign Skills Practice Set C.</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Yourself: Why is standard form appropriate here? (Two kinds of things add up to one total.) Look for different units in Question 9: 20 calories per 5 minutes is also 4 calories per minute. With minutes as the variables, the equation is 4x + 10y = 500, with intercepts (125, 0) and (0, 50). Either is correct if the variables are defined. Is it wrong to swap the axes? No, as long as the labels match. Intercepts: 9: 20x = 500 gives x = 25; 50y = 500 gives y = 10. 10: 5x = 270 gives x = 54; 6y = 270 gives y = 45.</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Analyze the Worked Example together as a class. The last step subtracts 2x from both sides so x and y are on the same side. Ask: Why do we need the slope first? Which form would you prefer when you are given two points? 2x − y = −5 is also correct; it's the same equation multiplied by −1.</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pairs work Question 11, then share. Part c is where students leave a fraction in the equation, such as −½x + y = 4; send them back to the definition. Equivalent answers are fine (for a, 3x − y = 4). Stamp the learning, from the teacher guide: "The standard form of a linear equation is Ax + By = C, where A, B, and C are integers and A and B are not both zero. An equation in standard form can be graphed by calculating and graphing the intercepts." To close Day 2, have students reread the Essential Question and read the activity summaries to the class. End of Day 2.</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then go to the bell work while you take attendance. Afterward, have a student read the Essential Question aloud and summarize Day 2: How do you graph from point-slope form? From standard form?</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It reviews Day 2. Watch #2: the slope is −A/B = −3/(−4) = 3/4; students who forget the sign of B get −3/4. Answer key: 1. y = 0 gives 2x = 20, x = 10; x = 0 gives 5y = 20, y = 4. Intercepts (10, 0) and (0, 4). 2. m = −A/B = −3/(−4) = 3/4. 3. Multiply by 3: 3y = 2x − 3, so −2x + 3y = −3, or 2x − 3y = 3. 4. m = (0 − 6)/(3 − 0) = −2, so y = −2x + 6, and 2x + y = 6.</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5.4, 20–25 minutes. To begin Day 3, have a student read the Essential Question aloud. Have pairs work Questions 1–10, then share. Write the y-intercepts as ordered pairs. For #5 the trap is reading (3, −9) as the y-intercept; that's just a point. Distribute: y + 9 = 6x − 18, so y = 6x − 27. For #2, ask: How did you find the slope? What's another way? (−A/B = −4/6, or solve for y.) Look for students who drop the sign of B when using −A/B.</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about #8: Why doesn't this line have a y-intercept? (It's vertical and never crosses the y-axis; HOY VUX from Lesson 4.) For #10, the terms are in a different order: −½ is still the coefficient of x. For #7, −A/B = −4/(−12) = 1/3. Stamp the learning, from the teacher guide: the slope can be read directly in slope-intercept or point-slope form, calculated with −A/B in standard form, and the y-intercept can be found by substituting x = 0 in any form. Activity 5.4 is a good check; for more practice, assign Skills Practice Set 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20–25 minutes. Have pairs complete Questions 1–3, then share. For each context students write an equation, name the form and why, graph it, and explain the graphing method. Ask: Does 2x + 3y = 36 or 3x + 2y = 36 represent this? Which axis is which? Reasoning will vary; using the intercepts is natural because the equation is in standard form. Only whole-number points make sense (Joey can't get half a question right), such as (3, 10) and (9, 6). Note: the student book also lists a bullet about matching transformed graphs to f(x); it doesn't apply to these questions, so skip it.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Does y = 5x + 20 or y = 5x − 20 represent this? Is it in slope-intercept or point-slope form? The trap is a slope of 10: the $10 is every two weeks, so the rate is $5 per week. Writing the slope as 10/2 makes the graph easy: up 10, right 2. Also accept point-slope form, such as y − 30 = 5(x − 2).</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their own answers first, then reveal the sample answers from the teacher guide one row at a time. Accept other reasonable answers. Teacher-guide tip for emergent bilingual students: have pairs make a table comparing the three forms, with one example line written in each form, such as y − 5 = 2(x − 4), y = 2x − 3, and 2x − y = 3, and describe the advantages of each.</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read and answer the Essential Question on the lesson opener page. Stamp the learning, from the teacher guide: "Different forms of equations, such as standard form, slope-intercept form, and point-slope form can be used to represent linear relationships."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Sets A–D. For #1, up 3 and left 4 to (−4, 5) is also right. For #3, y − 1 = 2x + 6, so y = 2x + 7.</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Lesson 5 Assignment. Prepares students for Lesson 6. Assign it as homework or use it as a warm-up. Work: 1. (12 − 10)/(3 − 0) = 2/3. 2. (−4.5 − 4.5)/(1 − (−1)) = −9/2. 3. (12 − 0)/(0 − 21) = 12/−21 = −4/7. The Lesson 5 Assignment (SE pp. 235–237) is the practice for this lesson.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1 · Lesson 5 · Student Edition pp. 217–237</a:t>
            </a:r>
            <a:endParaRPr lang="en-US" sz="1200" dirty="0"/>
          </a:p>
        </p:txBody>
      </p:sp>
      <p:sp>
        <p:nvSpPr>
          <p:cNvPr id="3" name="Shape 3"/>
          <p:cNvSpPr txBox="1"/>
          <p:nvPr/>
        </p:nvSpPr>
        <p:spPr>
          <a:xfrm>
            <a:off x="685800" y="96164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Using Linear</a:t>
            </a:r>
            <a:br>
              <a:rPr lang="en-US" sz="5700" dirty="0" b="1">
                <a:solidFill>
                  <a:srgbClr val="16171D"/>
                </a:solidFill>
                <a:latin typeface="Segoe UI"/>
                <a:cs typeface="Segoe UI"/>
              </a:rPr>
            </a:br>
            <a:r>
              <a:rPr lang="en-US" sz="5700" dirty="0" b="1">
                <a:solidFill>
                  <a:srgbClr val="16171D"/>
                </a:solidFill>
                <a:latin typeface="Segoe UI"/>
                <a:cs typeface="Segoe UI"/>
              </a:rPr>
              <a:t xml:space="preserve">Equations</a:t>
            </a:r>
            <a:endParaRPr lang="en-US" sz="5700" dirty="0"/>
          </a:p>
        </p:txBody>
      </p:sp>
      <p:sp>
        <p:nvSpPr>
          <p:cNvPr id="4" name="Shape 4"/>
          <p:cNvSpPr txBox="1"/>
          <p:nvPr/>
        </p:nvSpPr>
        <p:spPr>
          <a:xfrm>
            <a:off x="685800" y="3001518"/>
            <a:ext cx="10820095" cy="512064"/>
          </a:xfrm>
          <a:prstGeom prst="rect">
            <a:avLst/>
          </a:prstGeom>
          <a:noFill/>
          <a:ln>
            <a:noFill/>
          </a:ln>
        </p:spPr>
        <p:txBody>
          <a:bodyPr wrap="square" lIns="36576" tIns="27432" rIns="36576" bIns="27432" anchor="t">
            <a:noAutofit/>
          </a:bodyPr>
          <a:lstStyle/>
          <a:p>
            <a:pPr algn="l">
              <a:lnSpc>
                <a:spcPct val="100000"/>
              </a:lnSpc>
            </a:pPr>
            <a:r>
              <a:rPr lang="en-US" sz="3000" dirty="0" i="1">
                <a:solidFill>
                  <a:srgbClr val="16171D"/>
                </a:solidFill>
                <a:latin typeface="Cambria"/>
                <a:cs typeface="Cambria"/>
              </a:rPr>
              <a:t xml:space="preserve">y</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m</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b</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y</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y</a:t>
            </a:r>
            <a:r>
              <a:rPr lang="en-US" sz="2550" dirty="0" b="1" baseline="-25000">
                <a:solidFill>
                  <a:srgbClr val="3050B8"/>
                </a:solidFill>
                <a:latin typeface="Cambria"/>
                <a:cs typeface="Cambria"/>
              </a:rPr>
              <a:t xml:space="preserve">1</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m</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x</a:t>
            </a:r>
            <a:r>
              <a:rPr lang="en-US" sz="2550" dirty="0" b="1" baseline="-25000">
                <a:solidFill>
                  <a:srgbClr val="3050B8"/>
                </a:solidFill>
                <a:latin typeface="Cambria"/>
                <a:cs typeface="Cambria"/>
              </a:rPr>
              <a:t xml:space="preserve">1</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Ax</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By</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C</a:t>
            </a:r>
            <a:endParaRPr lang="en-US" sz="3000" dirty="0"/>
          </a:p>
        </p:txBody>
      </p:sp>
      <p:sp>
        <p:nvSpPr>
          <p:cNvPr id="5" name="Shape 5"/>
          <p:cNvSpPr txBox="1"/>
          <p:nvPr/>
        </p:nvSpPr>
        <p:spPr>
          <a:xfrm>
            <a:off x="685800" y="37421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Prepared by </a:t>
            </a:r>
            <a:r>
              <a:rPr lang="en-US" sz="1800" dirty="0" b="1">
                <a:solidFill>
                  <a:srgbClr val="16171D"/>
                </a:solidFill>
                <a:latin typeface="Segoe UI"/>
                <a:cs typeface="Segoe UI"/>
              </a:rPr>
              <a:t xml:space="preserve">Mr. Pandey</a:t>
            </a:r>
            <a:endParaRPr lang="en-US" sz="1800" dirty="0"/>
          </a:p>
        </p:txBody>
      </p:sp>
      <p:sp>
        <p:nvSpPr>
          <p:cNvPr id="6" name="Shape 6"/>
          <p:cNvSpPr txBox="1"/>
          <p:nvPr/>
        </p:nvSpPr>
        <p:spPr>
          <a:xfrm>
            <a:off x="685800" y="424281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7" name="Shape 7"/>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3050B8"/>
                </a:solidFill>
                <a:latin typeface="Segoe UI"/>
                <a:cs typeface="Segoe UI"/>
                <a:hlinkClick r:id="rId3"/>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Slope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61032"/>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 (0, −3)</a:t>
            </a:r>
            <a:endParaRPr lang="en-US" sz="2325" dirty="0"/>
          </a:p>
        </p:txBody>
      </p:sp>
      <p:sp>
        <p:nvSpPr>
          <p:cNvPr id="6" name="Shape 6"/>
          <p:cNvSpPr txBox="1"/>
          <p:nvPr/>
        </p:nvSpPr>
        <p:spPr>
          <a:xfrm>
            <a:off x="685800" y="294665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Slope and a point 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729228"/>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−2, (−1, 4)</a:t>
            </a:r>
            <a:endParaRPr lang="en-US" sz="2325" dirty="0"/>
          </a:p>
        </p:txBody>
      </p:sp>
      <p:sp>
        <p:nvSpPr>
          <p:cNvPr id="8" name="Shape 8"/>
          <p:cNvSpPr txBox="1"/>
          <p:nvPr/>
        </p:nvSpPr>
        <p:spPr>
          <a:xfrm>
            <a:off x="6362548"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Solve for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a:t>
            </a:r>
            <a:r>
              <a:rPr lang="en-US" sz="1950" dirty="0">
                <a:solidFill>
                  <a:srgbClr val="16171D"/>
                </a:solidFill>
                <a:latin typeface="Cambria"/>
                <a:cs typeface="Cambria"/>
              </a:rPr>
              <a:t xml:space="preserve">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10</a:t>
            </a:r>
            <a:endParaRPr lang="en-US" sz="1950" dirty="0"/>
          </a:p>
        </p:txBody>
      </p:sp>
      <p:sp>
        <p:nvSpPr>
          <p:cNvPr id="9" name="Shape 9"/>
          <p:cNvSpPr txBox="1"/>
          <p:nvPr/>
        </p:nvSpPr>
        <p:spPr>
          <a:xfrm>
            <a:off x="6362548" y="216103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0" name="Shape 10"/>
          <p:cNvSpPr txBox="1"/>
          <p:nvPr/>
        </p:nvSpPr>
        <p:spPr>
          <a:xfrm>
            <a:off x="6362548" y="294665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Start at (0, 1). Go </a:t>
            </a:r>
            <a:r>
              <a:rPr lang="en-US" sz="1950" dirty="0" b="1">
                <a:solidFill>
                  <a:srgbClr val="16171D"/>
                </a:solidFill>
                <a:latin typeface="Segoe UI"/>
                <a:cs typeface="Segoe UI"/>
              </a:rPr>
              <a:t xml:space="preserve">up 3</a:t>
            </a:r>
            <a:r>
              <a:rPr lang="en-US" sz="1950" dirty="0">
                <a:solidFill>
                  <a:srgbClr val="16171D"/>
                </a:solidFill>
                <a:latin typeface="Segoe UI"/>
                <a:cs typeface="Segoe UI"/>
              </a:rPr>
              <a:t xml:space="preserve"> and </a:t>
            </a:r>
            <a:r>
              <a:rPr lang="en-US" sz="1950" dirty="0" b="1">
                <a:solidFill>
                  <a:srgbClr val="16171D"/>
                </a:solidFill>
                <a:latin typeface="Segoe UI"/>
                <a:cs typeface="Segoe UI"/>
              </a:rPr>
              <a:t xml:space="preserve">right 2</a:t>
            </a:r>
            <a:r>
              <a:rPr lang="en-US" sz="1950" dirty="0">
                <a:solidFill>
                  <a:srgbClr val="16171D"/>
                </a:solidFill>
                <a:latin typeface="Segoe UI"/>
                <a:cs typeface="Segoe UI"/>
              </a:rPr>
              <a:t xml:space="preserve">. Where do you land?</a:t>
            </a:r>
            <a:endParaRPr lang="en-US" sz="1950" dirty="0"/>
          </a:p>
        </p:txBody>
      </p:sp>
      <p:sp>
        <p:nvSpPr>
          <p:cNvPr id="11" name="Shape 11"/>
          <p:cNvSpPr txBox="1"/>
          <p:nvPr/>
        </p:nvSpPr>
        <p:spPr>
          <a:xfrm>
            <a:off x="6362548" y="372922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(2, 4)</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5 · SE p. 217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694688"/>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1. </a:t>
            </a:r>
            <a:r>
              <a:rPr lang="en-US" sz="2025" dirty="0" b="1">
                <a:solidFill>
                  <a:srgbClr val="16171D"/>
                </a:solidFill>
                <a:latin typeface="Segoe UI"/>
                <a:cs typeface="Segoe UI"/>
              </a:rPr>
              <a:t xml:space="preserve">Construct</a:t>
            </a:r>
            <a:r>
              <a:rPr lang="en-US" sz="2025" dirty="0">
                <a:solidFill>
                  <a:srgbClr val="16171D"/>
                </a:solidFill>
                <a:latin typeface="Segoe UI"/>
                <a:cs typeface="Segoe UI"/>
              </a:rPr>
              <a:t xml:space="preserve"> linear equations to model relationships between two quantities.</a:t>
            </a:r>
            <a:endParaRPr lang="en-US" sz="2025" dirty="0"/>
          </a:p>
        </p:txBody>
      </p:sp>
      <p:sp>
        <p:nvSpPr>
          <p:cNvPr id="5" name="Shape 5"/>
          <p:cNvSpPr txBox="1"/>
          <p:nvPr/>
        </p:nvSpPr>
        <p:spPr>
          <a:xfrm>
            <a:off x="685800" y="2210562"/>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2. Graph lines using </a:t>
            </a:r>
            <a:r>
              <a:rPr lang="en-US" sz="2025" dirty="0" b="1">
                <a:solidFill>
                  <a:srgbClr val="16171D"/>
                </a:solidFill>
                <a:latin typeface="Segoe UI"/>
                <a:cs typeface="Segoe UI"/>
              </a:rPr>
              <a:t xml:space="preserve">slope-intercept form</a:t>
            </a:r>
            <a:r>
              <a:rPr lang="en-US" sz="2025" dirty="0">
                <a:solidFill>
                  <a:srgbClr val="16171D"/>
                </a:solidFill>
                <a:latin typeface="Segoe UI"/>
                <a:cs typeface="Segoe UI"/>
              </a:rPr>
              <a:t xml:space="preserve">.</a:t>
            </a:r>
            <a:endParaRPr lang="en-US" sz="2025" dirty="0"/>
          </a:p>
        </p:txBody>
      </p:sp>
      <p:sp>
        <p:nvSpPr>
          <p:cNvPr id="6" name="Shape 6"/>
          <p:cNvSpPr txBox="1"/>
          <p:nvPr/>
        </p:nvSpPr>
        <p:spPr>
          <a:xfrm>
            <a:off x="685800" y="2726436"/>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3. Graph lines using </a:t>
            </a:r>
            <a:r>
              <a:rPr lang="en-US" sz="2025" dirty="0" b="1">
                <a:solidFill>
                  <a:srgbClr val="16171D"/>
                </a:solidFill>
                <a:latin typeface="Segoe UI"/>
                <a:cs typeface="Segoe UI"/>
              </a:rPr>
              <a:t xml:space="preserve">point-slope form</a:t>
            </a:r>
            <a:r>
              <a:rPr lang="en-US" sz="2025" dirty="0">
                <a:solidFill>
                  <a:srgbClr val="16171D"/>
                </a:solidFill>
                <a:latin typeface="Segoe UI"/>
                <a:cs typeface="Segoe UI"/>
              </a:rPr>
              <a:t xml:space="preserve">.</a:t>
            </a:r>
            <a:endParaRPr lang="en-US" sz="2025" dirty="0"/>
          </a:p>
        </p:txBody>
      </p:sp>
      <p:sp>
        <p:nvSpPr>
          <p:cNvPr id="7" name="Shape 7"/>
          <p:cNvSpPr txBox="1"/>
          <p:nvPr/>
        </p:nvSpPr>
        <p:spPr>
          <a:xfrm>
            <a:off x="685800" y="3242310"/>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4. Graph lines using </a:t>
            </a:r>
            <a:r>
              <a:rPr lang="en-US" sz="2025" dirty="0" b="1">
                <a:solidFill>
                  <a:srgbClr val="16171D"/>
                </a:solidFill>
                <a:latin typeface="Segoe UI"/>
                <a:cs typeface="Segoe UI"/>
              </a:rPr>
              <a:t xml:space="preserve">standard form</a:t>
            </a:r>
            <a:r>
              <a:rPr lang="en-US" sz="2025" dirty="0">
                <a:solidFill>
                  <a:srgbClr val="16171D"/>
                </a:solidFill>
                <a:latin typeface="Segoe UI"/>
                <a:cs typeface="Segoe UI"/>
              </a:rPr>
              <a:t xml:space="preserve">.</a:t>
            </a:r>
            <a:endParaRPr lang="en-US" sz="2025" dirty="0"/>
          </a:p>
        </p:txBody>
      </p:sp>
      <p:sp>
        <p:nvSpPr>
          <p:cNvPr id="8" name="Shape 8"/>
          <p:cNvSpPr txBox="1"/>
          <p:nvPr/>
        </p:nvSpPr>
        <p:spPr>
          <a:xfrm>
            <a:off x="685800" y="3758184"/>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5. </a:t>
            </a:r>
            <a:r>
              <a:rPr lang="en-US" sz="2025" dirty="0" b="1">
                <a:solidFill>
                  <a:srgbClr val="16171D"/>
                </a:solidFill>
                <a:latin typeface="Segoe UI"/>
                <a:cs typeface="Segoe UI"/>
              </a:rPr>
              <a:t xml:space="preserve">Convert</a:t>
            </a:r>
            <a:r>
              <a:rPr lang="en-US" sz="2025" dirty="0">
                <a:solidFill>
                  <a:srgbClr val="16171D"/>
                </a:solidFill>
                <a:latin typeface="Segoe UI"/>
                <a:cs typeface="Segoe UI"/>
              </a:rPr>
              <a:t xml:space="preserve"> equations from point-slope or standard form to slope-intercept form.</a:t>
            </a:r>
            <a:endParaRPr lang="en-US" sz="2025" dirty="0"/>
          </a:p>
        </p:txBody>
      </p:sp>
      <p:sp>
        <p:nvSpPr>
          <p:cNvPr id="9" name="Shape 9"/>
          <p:cNvSpPr txBox="1"/>
          <p:nvPr/>
        </p:nvSpPr>
        <p:spPr>
          <a:xfrm>
            <a:off x="685800" y="4274058"/>
            <a:ext cx="10820095" cy="363474"/>
          </a:xfrm>
          <a:prstGeom prst="rect">
            <a:avLst/>
          </a:prstGeom>
          <a:noFill/>
          <a:ln>
            <a:noFill/>
          </a:ln>
        </p:spPr>
        <p:txBody>
          <a:bodyPr wrap="square" lIns="36576" tIns="27432" rIns="36576" bIns="27432" anchor="t">
            <a:noAutofit/>
          </a:bodyPr>
          <a:lstStyle/>
          <a:p>
            <a:pPr algn="l">
              <a:lnSpc>
                <a:spcPct val="100000"/>
              </a:lnSpc>
            </a:pPr>
            <a:r>
              <a:rPr lang="en-US" sz="2025" dirty="0">
                <a:solidFill>
                  <a:srgbClr val="16171D"/>
                </a:solidFill>
                <a:latin typeface="Segoe UI"/>
                <a:cs typeface="Segoe UI"/>
              </a:rPr>
              <a:t xml:space="preserve">6. Discuss the </a:t>
            </a:r>
            <a:r>
              <a:rPr lang="en-US" sz="2025" dirty="0" b="1">
                <a:solidFill>
                  <a:srgbClr val="16171D"/>
                </a:solidFill>
                <a:latin typeface="Segoe UI"/>
                <a:cs typeface="Segoe UI"/>
              </a:rPr>
              <a:t xml:space="preserve">advantages and disadvantages</a:t>
            </a:r>
            <a:r>
              <a:rPr lang="en-US" sz="2025" dirty="0">
                <a:solidFill>
                  <a:srgbClr val="16171D"/>
                </a:solidFill>
                <a:latin typeface="Segoe UI"/>
                <a:cs typeface="Segoe UI"/>
              </a:rPr>
              <a:t xml:space="preserve"> of each form.</a:t>
            </a:r>
            <a:endParaRPr lang="en-US" sz="2025" dirty="0"/>
          </a:p>
        </p:txBody>
      </p:sp>
      <p:sp>
        <p:nvSpPr>
          <p:cNvPr id="10" name="Shape 10"/>
          <p:cNvSpPr txBox="1"/>
          <p:nvPr/>
        </p:nvSpPr>
        <p:spPr>
          <a:xfrm>
            <a:off x="685800" y="480898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New key terms: </a:t>
            </a:r>
            <a:r>
              <a:rPr lang="en-US" sz="1575" dirty="0" b="1">
                <a:solidFill>
                  <a:srgbClr val="5F6272"/>
                </a:solidFill>
                <a:latin typeface="Segoe UI"/>
                <a:cs typeface="Segoe UI"/>
              </a:rPr>
              <a:t xml:space="preserve">standard form</a:t>
            </a:r>
            <a:r>
              <a:rPr lang="en-US" sz="1575" dirty="0">
                <a:solidFill>
                  <a:srgbClr val="5F6272"/>
                </a:solidFill>
                <a:latin typeface="Segoe UI"/>
                <a:cs typeface="Segoe UI"/>
              </a:rPr>
              <a:t xml:space="preserve"> · </a:t>
            </a:r>
            <a:r>
              <a:rPr lang="en-US" sz="1575" dirty="0" b="1" i="1">
                <a:solidFill>
                  <a:srgbClr val="5F6272"/>
                </a:solidFill>
                <a:latin typeface="Segoe UI"/>
                <a:cs typeface="Segoe UI"/>
              </a:rPr>
              <a:t xml:space="preserve">x</a:t>
            </a:r>
            <a:r>
              <a:rPr lang="en-US" sz="1575" dirty="0" b="1">
                <a:solidFill>
                  <a:srgbClr val="5F6272"/>
                </a:solidFill>
                <a:latin typeface="Segoe UI"/>
                <a:cs typeface="Segoe UI"/>
              </a:rPr>
              <a:t xml:space="preserve">-intercept</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anim calcmode="lin" valueType="num">
                                      <p:cBhvr>
                                        <p:cTn id="33" dur="500" fill="hold"/>
                                        <p:tgtEl>
                                          <p:spTgt spid="8"/>
                                        </p:tgtEl>
                                        <p:attrNameLst>
                                          <p:attrName>ppt_x</p:attrName>
                                        </p:attrNameLst>
                                      </p:cBhvr>
                                      <p:tavLst>
                                        <p:tav tm="0">
                                          <p:val>
                                            <p:strVal val="#ppt_x"/>
                                          </p:val>
                                        </p:tav>
                                        <p:tav tm="100000">
                                          <p:val>
                                            <p:strVal val="#ppt_x"/>
                                          </p:val>
                                        </p:tav>
                                      </p:tavLst>
                                    </p:anim>
                                    <p:anim calcmode="lin" valueType="num">
                                      <p:cBhvr>
                                        <p:cTn id="34"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fill="hold"/>
                                        <p:tgtEl>
                                          <p:spTgt spid="9"/>
                                        </p:tgtEl>
                                        <p:attrNameLst>
                                          <p:attrName>ppt_x</p:attrName>
                                        </p:attrNameLst>
                                      </p:cBhvr>
                                      <p:tavLst>
                                        <p:tav tm="0">
                                          <p:val>
                                            <p:strVal val="#ppt_x"/>
                                          </p:val>
                                        </p:tav>
                                        <p:tav tm="100000">
                                          <p:val>
                                            <p:strVal val="#ppt_x"/>
                                          </p:val>
                                        </p:tav>
                                      </p:tavLst>
                                    </p:anim>
                                    <p:anim calcmode="lin" valueType="num">
                                      <p:cBhvr>
                                        <p:cTn id="41"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fill="hold"/>
                                        <p:tgtEl>
                                          <p:spTgt spid="10"/>
                                        </p:tgtEl>
                                        <p:attrNameLst>
                                          <p:attrName>ppt_x</p:attrName>
                                        </p:attrNameLst>
                                      </p:cBhvr>
                                      <p:tavLst>
                                        <p:tav tm="0">
                                          <p:val>
                                            <p:strVal val="#ppt_x"/>
                                          </p:val>
                                        </p:tav>
                                        <p:tav tm="100000">
                                          <p:val>
                                            <p:strVal val="#ppt_x"/>
                                          </p:val>
                                        </p:tav>
                                      </p:tavLst>
                                    </p:anim>
                                    <p:anim calcmode="lin" valueType="num">
                                      <p:cBhvr>
                                        <p:cTn id="48"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217</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have graphed equations using tables of values.</a:t>
            </a:r>
            <a:endParaRPr lang="en-US" sz="3450" dirty="0"/>
          </a:p>
        </p:txBody>
      </p:sp>
      <p:sp>
        <p:nvSpPr>
          <p:cNvPr id="4" name="Shape 4"/>
          <p:cNvSpPr txBox="1"/>
          <p:nvPr/>
        </p:nvSpPr>
        <p:spPr>
          <a:xfrm>
            <a:off x="685800" y="2525268"/>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Is there a </a:t>
            </a:r>
            <a:r>
              <a:rPr lang="en-US" sz="2700" dirty="0" b="1">
                <a:solidFill>
                  <a:srgbClr val="16171D"/>
                </a:solidFill>
                <a:latin typeface="Segoe UI"/>
                <a:cs typeface="Segoe UI"/>
              </a:rPr>
              <a:t xml:space="preserve">more efficient</a:t>
            </a:r>
            <a:r>
              <a:rPr lang="en-US" sz="2700" dirty="0">
                <a:solidFill>
                  <a:srgbClr val="16171D"/>
                </a:solidFill>
                <a:latin typeface="Segoe UI"/>
                <a:cs typeface="Segoe UI"/>
              </a:rPr>
              <a:t xml:space="preserve"> method to graphing a linear relationship?</a:t>
            </a:r>
            <a:endParaRPr lang="en-US" sz="2700" dirty="0"/>
          </a:p>
        </p:txBody>
      </p:sp>
      <p:sp>
        <p:nvSpPr>
          <p:cNvPr id="5" name="Shape 5"/>
          <p:cNvSpPr txBox="1"/>
          <p:nvPr/>
        </p:nvSpPr>
        <p:spPr>
          <a:xfrm>
            <a:off x="685800" y="3688842"/>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Can you use the </a:t>
            </a:r>
            <a:r>
              <a:rPr lang="en-US" sz="2700" dirty="0" b="1">
                <a:solidFill>
                  <a:srgbClr val="16171D"/>
                </a:solidFill>
                <a:latin typeface="Segoe UI"/>
                <a:cs typeface="Segoe UI"/>
              </a:rPr>
              <a:t xml:space="preserve">equation</a:t>
            </a:r>
            <a:r>
              <a:rPr lang="en-US" sz="2700" dirty="0">
                <a:solidFill>
                  <a:srgbClr val="16171D"/>
                </a:solidFill>
                <a:latin typeface="Segoe UI"/>
                <a:cs typeface="Segoe UI"/>
              </a:rPr>
              <a:t xml:space="preserve"> of a linear relationship to create a graphical representation?</a:t>
            </a:r>
            <a:endParaRPr lang="en-US" sz="2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Jump In the Line · SE p. 218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 you know from each equation?</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Describe the graph. Then explain how you might graph the line from its equation.</a:t>
            </a:r>
            <a:endParaRPr lang="en-US" sz="1575" dirty="0"/>
          </a:p>
        </p:txBody>
      </p:sp>
      <p:sp>
        <p:nvSpPr>
          <p:cNvPr id="7" name="Shape 7"/>
          <p:cNvSpPr txBox="1"/>
          <p:nvPr/>
        </p:nvSpPr>
        <p:spPr>
          <a:xfrm>
            <a:off x="685800" y="2084832"/>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5" name="Shape 5"/>
          <p:cNvSpPr txBox="1"/>
          <p:nvPr/>
        </p:nvSpPr>
        <p:spPr>
          <a:xfrm>
            <a:off x="895350" y="2256282"/>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6" name="Shape 6"/>
          <p:cNvSpPr txBox="1"/>
          <p:nvPr/>
        </p:nvSpPr>
        <p:spPr>
          <a:xfrm>
            <a:off x="895350" y="2760726"/>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b="1">
                <a:solidFill>
                  <a:srgbClr val="3050B8"/>
                </a:solidFill>
                <a:latin typeface="Segoe UI"/>
                <a:cs typeface="Segoe UI"/>
              </a:rPr>
              <a:t xml:space="preserve">(0, 7)</a:t>
            </a:r>
            <a:r>
              <a:rPr lang="en-US" sz="1575" dirty="0">
                <a:solidFill>
                  <a:srgbClr val="16171D"/>
                </a:solidFill>
                <a:latin typeface="Segoe UI"/>
                <a:cs typeface="Segoe UI"/>
              </a:rPr>
              <a:t xml:space="preserve">. Start at (0, 7), go up 2 and right 3 to (3, 9).</a:t>
            </a:r>
            <a:endParaRPr lang="en-US" sz="1575" dirty="0"/>
          </a:p>
        </p:txBody>
      </p:sp>
      <p:sp>
        <p:nvSpPr>
          <p:cNvPr id="10" name="Shape 10"/>
          <p:cNvSpPr txBox="1"/>
          <p:nvPr/>
        </p:nvSpPr>
        <p:spPr>
          <a:xfrm>
            <a:off x="685800" y="3600450"/>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771900"/>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 = </a:t>
            </a:r>
            <a:r>
              <a:rPr lang="en-US" sz="2325" dirty="0" b="1">
                <a:solidFill>
                  <a:srgbClr val="C9561F"/>
                </a:solidFill>
                <a:latin typeface="Cambria"/>
                <a:cs typeface="Cambria"/>
              </a:rPr>
              <a:t xml:space="preserve">5</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9" name="Shape 9"/>
          <p:cNvSpPr txBox="1"/>
          <p:nvPr/>
        </p:nvSpPr>
        <p:spPr>
          <a:xfrm>
            <a:off x="895350" y="4276344"/>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5</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(−1, 3)</a:t>
            </a:r>
            <a:r>
              <a:rPr lang="en-US" sz="1575" dirty="0">
                <a:solidFill>
                  <a:srgbClr val="16171D"/>
                </a:solidFill>
                <a:latin typeface="Segoe UI"/>
                <a:cs typeface="Segoe UI"/>
              </a:rPr>
              <a:t xml:space="preserve">. Start at (−1, 3), go up 5 and right 1 to (0, 8).</a:t>
            </a:r>
            <a:endParaRPr lang="en-US" sz="1575" dirty="0"/>
          </a:p>
        </p:txBody>
      </p:sp>
      <p:sp>
        <p:nvSpPr>
          <p:cNvPr id="13" name="Shape 13"/>
          <p:cNvSpPr txBox="1"/>
          <p:nvPr/>
        </p:nvSpPr>
        <p:spPr>
          <a:xfrm>
            <a:off x="6191098" y="2084832"/>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6400648" y="2256282"/>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2" name="Shape 12"/>
          <p:cNvSpPr txBox="1"/>
          <p:nvPr/>
        </p:nvSpPr>
        <p:spPr>
          <a:xfrm>
            <a:off x="6400648" y="2760726"/>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vertical line</a:t>
            </a:r>
            <a:r>
              <a:rPr lang="en-US" sz="1575" dirty="0">
                <a:solidFill>
                  <a:srgbClr val="16171D"/>
                </a:solidFill>
                <a:latin typeface="Segoe UI"/>
                <a:cs typeface="Segoe UI"/>
              </a:rPr>
              <a:t xml:space="preserve"> through (−4, 0). The slope is undefined.</a:t>
            </a:r>
            <a:endParaRPr lang="en-US" sz="1575" dirty="0"/>
          </a:p>
        </p:txBody>
      </p:sp>
      <p:sp>
        <p:nvSpPr>
          <p:cNvPr id="16" name="Shape 16"/>
          <p:cNvSpPr txBox="1"/>
          <p:nvPr/>
        </p:nvSpPr>
        <p:spPr>
          <a:xfrm>
            <a:off x="6191098" y="3600450"/>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4" name="Shape 14"/>
          <p:cNvSpPr txBox="1"/>
          <p:nvPr/>
        </p:nvSpPr>
        <p:spPr>
          <a:xfrm>
            <a:off x="6400648" y="3771900"/>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10</a:t>
            </a:r>
            <a:endParaRPr lang="en-US" sz="2325" dirty="0"/>
          </a:p>
        </p:txBody>
      </p:sp>
      <p:sp>
        <p:nvSpPr>
          <p:cNvPr id="15" name="Shape 15"/>
          <p:cNvSpPr txBox="1"/>
          <p:nvPr/>
        </p:nvSpPr>
        <p:spPr>
          <a:xfrm>
            <a:off x="6400648" y="4276344"/>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slope and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aren't easy to see. Make a table: (2, 2) and (10, 5) are on the line.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anim calcmode="lin" valueType="num">
                                      <p:cBhvr>
                                        <p:cTn id="12" dur="500" fill="hold"/>
                                        <p:tgtEl>
                                          <p:spTgt spid="9"/>
                                        </p:tgtEl>
                                        <p:attrNameLst>
                                          <p:attrName>ppt_x</p:attrName>
                                        </p:attrNameLst>
                                      </p:cBhvr>
                                      <p:tavLst>
                                        <p:tav tm="0">
                                          <p:val>
                                            <p:strVal val="#ppt_x"/>
                                          </p:val>
                                        </p:tav>
                                        <p:tav tm="100000">
                                          <p:val>
                                            <p:strVal val="#ppt_x"/>
                                          </p:val>
                                        </p:tav>
                                      </p:tavLst>
                                    </p:anim>
                                    <p:anim calcmode="lin" valueType="num">
                                      <p:cBhvr>
                                        <p:cTn id="13"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anim calcmode="lin" valueType="num">
                                      <p:cBhvr>
                                        <p:cTn id="19" dur="500" fill="hold"/>
                                        <p:tgtEl>
                                          <p:spTgt spid="12"/>
                                        </p:tgtEl>
                                        <p:attrNameLst>
                                          <p:attrName>ppt_x</p:attrName>
                                        </p:attrNameLst>
                                      </p:cBhvr>
                                      <p:tavLst>
                                        <p:tav tm="0">
                                          <p:val>
                                            <p:strVal val="#ppt_x"/>
                                          </p:val>
                                        </p:tav>
                                        <p:tav tm="100000">
                                          <p:val>
                                            <p:strVal val="#ppt_x"/>
                                          </p:val>
                                        </p:tav>
                                      </p:tavLst>
                                    </p:anim>
                                    <p:anim calcmode="lin" valueType="num">
                                      <p:cBhvr>
                                        <p:cTn id="2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anim calcmode="lin" valueType="num">
                                      <p:cBhvr>
                                        <p:cTn id="26" dur="500" fill="hold"/>
                                        <p:tgtEl>
                                          <p:spTgt spid="15"/>
                                        </p:tgtEl>
                                        <p:attrNameLst>
                                          <p:attrName>ppt_x</p:attrName>
                                        </p:attrNameLst>
                                      </p:cBhvr>
                                      <p:tavLst>
                                        <p:tav tm="0">
                                          <p:val>
                                            <p:strVal val="#ppt_x"/>
                                          </p:val>
                                        </p:tav>
                                        <p:tav tm="100000">
                                          <p:val>
                                            <p:strVal val="#ppt_x"/>
                                          </p:val>
                                        </p:tav>
                                      </p:tavLst>
                                    </p:anim>
                                    <p:anim calcmode="lin" valueType="num">
                                      <p:cBhvr>
                                        <p:cTn id="27"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Using Slope-Intercept Form to Graph a Line · SE p. 219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Douglas's concert tickets</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Douglas has </a:t>
            </a:r>
            <a:r>
              <a:rPr lang="en-US" sz="1575" dirty="0" b="1">
                <a:solidFill>
                  <a:srgbClr val="16171D"/>
                </a:solidFill>
                <a:latin typeface="Segoe UI"/>
                <a:cs typeface="Segoe UI"/>
              </a:rPr>
              <a:t xml:space="preserve">10 tickets</a:t>
            </a:r>
            <a:r>
              <a:rPr lang="en-US" sz="1575" dirty="0">
                <a:solidFill>
                  <a:srgbClr val="16171D"/>
                </a:solidFill>
                <a:latin typeface="Segoe UI"/>
                <a:cs typeface="Segoe UI"/>
              </a:rPr>
              <a:t xml:space="preserve"> left. He gives a </a:t>
            </a:r>
            <a:r>
              <a:rPr lang="en-US" sz="1575" dirty="0" b="1">
                <a:solidFill>
                  <a:srgbClr val="16171D"/>
                </a:solidFill>
                <a:latin typeface="Segoe UI"/>
                <a:cs typeface="Segoe UI"/>
              </a:rPr>
              <a:t xml:space="preserve">pair</a:t>
            </a:r>
            <a:r>
              <a:rPr lang="en-US" sz="1575" dirty="0">
                <a:solidFill>
                  <a:srgbClr val="16171D"/>
                </a:solidFill>
                <a:latin typeface="Segoe UI"/>
                <a:cs typeface="Segoe UI"/>
              </a:rPr>
              <a:t xml:space="preserve"> of tickets to each person who asks.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people who ask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tickets left.</a:t>
            </a:r>
            <a:endParaRPr lang="en-US" sz="1575" dirty="0"/>
          </a:p>
        </p:txBody>
      </p:sp>
      <p:sp>
        <p:nvSpPr>
          <p:cNvPr id="5" name="Shape 5"/>
          <p:cNvSpPr txBox="1"/>
          <p:nvPr/>
        </p:nvSpPr>
        <p:spPr>
          <a:xfrm>
            <a:off x="685800" y="2324862"/>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10</a:t>
            </a:r>
            <a:endParaRPr lang="en-US" sz="2850" dirty="0"/>
          </a:p>
        </p:txBody>
      </p:sp>
      <p:sp>
        <p:nvSpPr>
          <p:cNvPr id="6" name="Shape 6"/>
          <p:cNvSpPr txBox="1"/>
          <p:nvPr/>
        </p:nvSpPr>
        <p:spPr>
          <a:xfrm>
            <a:off x="685800" y="298551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Plot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b="1">
                <a:solidFill>
                  <a:srgbClr val="3050B8"/>
                </a:solidFill>
                <a:latin typeface="Segoe UI"/>
                <a:cs typeface="Segoe UI"/>
              </a:rPr>
              <a:t xml:space="preserve">(0, 10)</a:t>
            </a:r>
            <a:r>
              <a:rPr lang="en-US" sz="1950" dirty="0">
                <a:solidFill>
                  <a:srgbClr val="16171D"/>
                </a:solidFill>
                <a:latin typeface="Segoe UI"/>
                <a:cs typeface="Segoe UI"/>
              </a:rPr>
              <a:t xml:space="preserve"> first. Then use the slope to count to more points.</a:t>
            </a:r>
            <a:endParaRPr lang="en-US" sz="1950" dirty="0"/>
          </a:p>
        </p:txBody>
      </p:sp>
      <p:sp>
        <p:nvSpPr>
          <p:cNvPr id="7" name="Shape 7"/>
          <p:cNvSpPr txBox="1"/>
          <p:nvPr/>
        </p:nvSpPr>
        <p:spPr>
          <a:xfrm>
            <a:off x="685800" y="350901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Slope is </a:t>
            </a:r>
            <a:r>
              <a:rPr lang="en-US" sz="1950" dirty="0" b="1">
                <a:solidFill>
                  <a:srgbClr val="16171D"/>
                </a:solidFill>
                <a:latin typeface="Segoe UI"/>
                <a:cs typeface="Segoe UI"/>
              </a:rPr>
              <a:t xml:space="preserve">rise over run</a:t>
            </a:r>
            <a:r>
              <a:rPr lang="en-US" sz="1950" dirty="0">
                <a:solidFill>
                  <a:srgbClr val="16171D"/>
                </a:solidFill>
                <a:latin typeface="Segoe UI"/>
                <a:cs typeface="Segoe UI"/>
              </a:rPr>
              <a:t xml:space="preserve">. You can write </a:t>
            </a:r>
            <a:r>
              <a:rPr lang="en-US" sz="1950" dirty="0" b="1" i="1">
                <a:solidFill>
                  <a:srgbClr val="C9561F"/>
                </a:solidFill>
                <a:latin typeface="Cambria"/>
                <a:cs typeface="Cambria"/>
              </a:rPr>
              <a:t xml:space="preserve">m</a:t>
            </a:r>
            <a:r>
              <a:rPr lang="en-US" sz="1950" dirty="0" b="1">
                <a:solidFill>
                  <a:srgbClr val="C9561F"/>
                </a:solidFill>
                <a:latin typeface="Cambria"/>
                <a:cs typeface="Cambria"/>
              </a:rPr>
              <a:t xml:space="preserve"> = −2</a:t>
            </a:r>
            <a:r>
              <a:rPr lang="en-US" sz="1950" dirty="0">
                <a:solidFill>
                  <a:srgbClr val="16171D"/>
                </a:solidFill>
                <a:latin typeface="Segoe UI"/>
                <a:cs typeface="Segoe UI"/>
              </a:rPr>
              <a:t xml:space="preserve"> as two different ratios:</a:t>
            </a:r>
            <a:endParaRPr lang="en-US" sz="1950" dirty="0"/>
          </a:p>
        </p:txBody>
      </p:sp>
      <p:sp>
        <p:nvSpPr>
          <p:cNvPr id="10" name="Shape 10"/>
          <p:cNvSpPr txBox="1"/>
          <p:nvPr/>
        </p:nvSpPr>
        <p:spPr>
          <a:xfrm>
            <a:off x="685800" y="4032504"/>
            <a:ext cx="52766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4203954"/>
            <a:ext cx="48575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C9561F"/>
                </a:solidFill>
                <a:latin typeface="Cambria"/>
                <a:cs typeface="Cambria"/>
              </a:rPr>
              <a:t xml:space="preserve">−2</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endParaRPr lang="en-US" sz="2325" dirty="0"/>
          </a:p>
        </p:txBody>
      </p:sp>
      <p:sp>
        <p:nvSpPr>
          <p:cNvPr id="9" name="Shape 9"/>
          <p:cNvSpPr txBox="1"/>
          <p:nvPr/>
        </p:nvSpPr>
        <p:spPr>
          <a:xfrm>
            <a:off x="895350" y="4708398"/>
            <a:ext cx="4857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negative rise, positive run: </a:t>
            </a:r>
            <a:r>
              <a:rPr lang="en-US" sz="1575" dirty="0" b="1">
                <a:solidFill>
                  <a:srgbClr val="16171D"/>
                </a:solidFill>
                <a:latin typeface="Segoe UI"/>
                <a:cs typeface="Segoe UI"/>
              </a:rPr>
              <a:t xml:space="preserve">down 2, right 1</a:t>
            </a:r>
            <a:endParaRPr lang="en-US" sz="1575" dirty="0"/>
          </a:p>
        </p:txBody>
      </p:sp>
      <p:sp>
        <p:nvSpPr>
          <p:cNvPr id="13" name="Shape 13"/>
          <p:cNvSpPr txBox="1"/>
          <p:nvPr/>
        </p:nvSpPr>
        <p:spPr>
          <a:xfrm>
            <a:off x="6229198" y="4032504"/>
            <a:ext cx="52766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6438748" y="4203954"/>
            <a:ext cx="48575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C9561F"/>
                </a:solidFill>
                <a:latin typeface="Cambria"/>
                <a:cs typeface="Cambria"/>
              </a:rPr>
              <a:t xml:space="preserve">2</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endParaRPr lang="en-US" sz="2325" dirty="0"/>
          </a:p>
        </p:txBody>
      </p:sp>
      <p:sp>
        <p:nvSpPr>
          <p:cNvPr id="12" name="Shape 12"/>
          <p:cNvSpPr txBox="1"/>
          <p:nvPr/>
        </p:nvSpPr>
        <p:spPr>
          <a:xfrm>
            <a:off x="6438748" y="4708398"/>
            <a:ext cx="4857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positive rise, negative run: </a:t>
            </a:r>
            <a:r>
              <a:rPr lang="en-US" sz="1575" dirty="0" b="1">
                <a:solidFill>
                  <a:srgbClr val="16171D"/>
                </a:solidFill>
                <a:latin typeface="Segoe UI"/>
                <a:cs typeface="Segoe UI"/>
              </a:rPr>
              <a:t xml:space="preserve">up 2, left 1</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700"/>
                                        <p:tgtEl>
                                          <p:spTgt spid="5"/>
                                        </p:tgtEl>
                                      </p:cBhvr>
                                    </p:animEffect>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anim calcmode="lin" valueType="num">
                                      <p:cBhvr>
                                        <p:cTn id="10" dur="500" fill="hold"/>
                                        <p:tgtEl>
                                          <p:spTgt spid="6"/>
                                        </p:tgtEl>
                                        <p:attrNameLst>
                                          <p:attrName>ppt_x</p:attrName>
                                        </p:attrNameLst>
                                      </p:cBhvr>
                                      <p:tavLst>
                                        <p:tav tm="0">
                                          <p:val>
                                            <p:strVal val="#ppt_x"/>
                                          </p:val>
                                        </p:tav>
                                        <p:tav tm="100000">
                                          <p:val>
                                            <p:strVal val="#ppt_x"/>
                                          </p:val>
                                        </p:tav>
                                      </p:tavLst>
                                    </p:anim>
                                    <p:anim calcmode="lin" valueType="num">
                                      <p:cBhvr>
                                        <p:cTn id="11"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anim calcmode="lin" valueType="num">
                                      <p:cBhvr>
                                        <p:cTn id="17" dur="500" fill="hold"/>
                                        <p:tgtEl>
                                          <p:spTgt spid="7"/>
                                        </p:tgtEl>
                                        <p:attrNameLst>
                                          <p:attrName>ppt_x</p:attrName>
                                        </p:attrNameLst>
                                      </p:cBhvr>
                                      <p:tavLst>
                                        <p:tav tm="0">
                                          <p:val>
                                            <p:strVal val="#ppt_x"/>
                                          </p:val>
                                        </p:tav>
                                        <p:tav tm="100000">
                                          <p:val>
                                            <p:strVal val="#ppt_x"/>
                                          </p:val>
                                        </p:tav>
                                      </p:tavLst>
                                    </p:anim>
                                    <p:anim calcmode="lin" valueType="num">
                                      <p:cBhvr>
                                        <p:cTn id="18"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anim calcmode="lin" valueType="num">
                                      <p:cBhvr>
                                        <p:cTn id="24" dur="500" fill="hold"/>
                                        <p:tgtEl>
                                          <p:spTgt spid="10"/>
                                        </p:tgtEl>
                                        <p:attrNameLst>
                                          <p:attrName>ppt_x</p:attrName>
                                        </p:attrNameLst>
                                      </p:cBhvr>
                                      <p:tavLst>
                                        <p:tav tm="0">
                                          <p:val>
                                            <p:strVal val="#ppt_x"/>
                                          </p:val>
                                        </p:tav>
                                        <p:tav tm="100000">
                                          <p:val>
                                            <p:strVal val="#ppt_x"/>
                                          </p:val>
                                        </p:tav>
                                      </p:tavLst>
                                    </p:anim>
                                    <p:anim calcmode="lin" valueType="num">
                                      <p:cBhvr>
                                        <p:cTn id="25" dur="500" fill="hold"/>
                                        <p:tgtEl>
                                          <p:spTgt spid="10"/>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anim calcmode="lin" valueType="num">
                                      <p:cBhvr>
                                        <p:cTn id="29" dur="500" fill="hold"/>
                                        <p:tgtEl>
                                          <p:spTgt spid="8"/>
                                        </p:tgtEl>
                                        <p:attrNameLst>
                                          <p:attrName>ppt_x</p:attrName>
                                        </p:attrNameLst>
                                      </p:cBhvr>
                                      <p:tavLst>
                                        <p:tav tm="0">
                                          <p:val>
                                            <p:strVal val="#ppt_x"/>
                                          </p:val>
                                        </p:tav>
                                        <p:tav tm="100000">
                                          <p:val>
                                            <p:strVal val="#ppt_x"/>
                                          </p:val>
                                        </p:tav>
                                      </p:tavLst>
                                    </p:anim>
                                    <p:anim calcmode="lin" valueType="num">
                                      <p:cBhvr>
                                        <p:cTn id="30" dur="500" fill="hold"/>
                                        <p:tgtEl>
                                          <p:spTgt spid="8"/>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anim calcmode="lin" valueType="num">
                                      <p:cBhvr>
                                        <p:cTn id="34" dur="500" fill="hold"/>
                                        <p:tgtEl>
                                          <p:spTgt spid="9"/>
                                        </p:tgtEl>
                                        <p:attrNameLst>
                                          <p:attrName>ppt_x</p:attrName>
                                        </p:attrNameLst>
                                      </p:cBhvr>
                                      <p:tavLst>
                                        <p:tav tm="0">
                                          <p:val>
                                            <p:strVal val="#ppt_x"/>
                                          </p:val>
                                        </p:tav>
                                        <p:tav tm="100000">
                                          <p:val>
                                            <p:strVal val="#ppt_x"/>
                                          </p:val>
                                        </p:tav>
                                      </p:tavLst>
                                    </p:anim>
                                    <p:anim calcmode="lin" valueType="num">
                                      <p:cBhvr>
                                        <p:cTn id="35"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anim calcmode="lin" valueType="num">
                                      <p:cBhvr>
                                        <p:cTn id="41" dur="500" fill="hold"/>
                                        <p:tgtEl>
                                          <p:spTgt spid="13"/>
                                        </p:tgtEl>
                                        <p:attrNameLst>
                                          <p:attrName>ppt_x</p:attrName>
                                        </p:attrNameLst>
                                      </p:cBhvr>
                                      <p:tavLst>
                                        <p:tav tm="0">
                                          <p:val>
                                            <p:strVal val="#ppt_x"/>
                                          </p:val>
                                        </p:tav>
                                        <p:tav tm="100000">
                                          <p:val>
                                            <p:strVal val="#ppt_x"/>
                                          </p:val>
                                        </p:tav>
                                      </p:tavLst>
                                    </p:anim>
                                    <p:anim calcmode="lin" valueType="num">
                                      <p:cBhvr>
                                        <p:cTn id="42" dur="500" fill="hold"/>
                                        <p:tgtEl>
                                          <p:spTgt spid="13"/>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anim calcmode="lin" valueType="num">
                                      <p:cBhvr>
                                        <p:cTn id="46" dur="500" fill="hold"/>
                                        <p:tgtEl>
                                          <p:spTgt spid="11"/>
                                        </p:tgtEl>
                                        <p:attrNameLst>
                                          <p:attrName>ppt_x</p:attrName>
                                        </p:attrNameLst>
                                      </p:cBhvr>
                                      <p:tavLst>
                                        <p:tav tm="0">
                                          <p:val>
                                            <p:strVal val="#ppt_x"/>
                                          </p:val>
                                        </p:tav>
                                        <p:tav tm="100000">
                                          <p:val>
                                            <p:strVal val="#ppt_x"/>
                                          </p:val>
                                        </p:tav>
                                      </p:tavLst>
                                    </p:anim>
                                    <p:anim calcmode="lin" valueType="num">
                                      <p:cBhvr>
                                        <p:cTn id="47" dur="500" fill="hold"/>
                                        <p:tgtEl>
                                          <p:spTgt spid="11"/>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anim calcmode="lin" valueType="num">
                                      <p:cBhvr>
                                        <p:cTn id="51" dur="500" fill="hold"/>
                                        <p:tgtEl>
                                          <p:spTgt spid="12"/>
                                        </p:tgtEl>
                                        <p:attrNameLst>
                                          <p:attrName>ppt_x</p:attrName>
                                        </p:attrNameLst>
                                      </p:cBhvr>
                                      <p:tavLst>
                                        <p:tav tm="0">
                                          <p:val>
                                            <p:strVal val="#ppt_x"/>
                                          </p:val>
                                        </p:tav>
                                        <p:tav tm="100000">
                                          <p:val>
                                            <p:strVal val="#ppt_x"/>
                                          </p:val>
                                        </p:tav>
                                      </p:tavLst>
                                    </p:anim>
                                    <p:anim calcmode="lin" valueType="num">
                                      <p:cBhvr>
                                        <p:cTn id="52" dur="5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Worked Example · SE p. 219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a:solidFill>
                  <a:srgbClr val="C9561F"/>
                </a:solidFill>
                <a:latin typeface="Cambria"/>
                <a:cs typeface="Cambria"/>
              </a:rPr>
              <a:t xml:space="preserve">−2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a:solidFill>
                  <a:srgbClr val="3050B8"/>
                </a:solidFill>
                <a:latin typeface="Cambria"/>
                <a:cs typeface="Cambria"/>
              </a:rPr>
              <a:t xml:space="preserve">10</a:t>
            </a:r>
            <a:endParaRPr lang="en-US" sz="3450" dirty="0"/>
          </a:p>
        </p:txBody>
      </p:sp>
      <p:sp>
        <p:nvSpPr>
          <p:cNvPr id="4" name="Shape 4"/>
          <p:cNvSpPr txBox="1"/>
          <p:nvPr/>
        </p:nvSpPr>
        <p:spPr>
          <a:xfrm>
            <a:off x="685800" y="1618488"/>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Plot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b="1">
                <a:solidFill>
                  <a:srgbClr val="3050B8"/>
                </a:solidFill>
                <a:latin typeface="Cambria"/>
                <a:cs typeface="Cambria"/>
              </a:rPr>
              <a:t xml:space="preserve">(0, 10)</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03882"/>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For </a:t>
            </a:r>
            <a:r>
              <a:rPr lang="en-US" sz="1950" dirty="0" b="1" i="1">
                <a:solidFill>
                  <a:srgbClr val="C9561F"/>
                </a:solidFill>
                <a:latin typeface="Cambria"/>
                <a:cs typeface="Cambria"/>
              </a:rPr>
              <a:t xml:space="preserve">m</a:t>
            </a:r>
            <a:r>
              <a:rPr lang="en-US" sz="1950" dirty="0" b="1">
                <a:solidFill>
                  <a:srgbClr val="C9561F"/>
                </a:solidFill>
                <a:latin typeface="Cambria"/>
                <a:cs typeface="Cambria"/>
              </a:rPr>
              <a:t xml:space="preserve"> = </a:t>
            </a:r>
            <a:r>
              <a:rPr lang="en-US" sz="1950" dirty="0" b="1">
                <a:solidFill>
                  <a:srgbClr val="C9561F"/>
                </a:solidFill>
                <a:latin typeface="Cambria"/>
                <a:cs typeface="Cambria"/>
              </a:rPr>
              <a:t xml:space="preserve">−2</a:t>
            </a:r>
            <a:r>
              <a:rPr lang="en-US" sz="1950" dirty="0" b="1">
                <a:solidFill>
                  <a:srgbClr val="C9561F"/>
                </a:solidFill>
                <a:latin typeface="Cambria"/>
                <a:cs typeface="Cambria"/>
              </a:rPr>
              <a:t xml:space="preserve">/</a:t>
            </a:r>
            <a:r>
              <a:rPr lang="en-US" sz="1950" dirty="0" b="1">
                <a:solidFill>
                  <a:srgbClr val="C9561F"/>
                </a:solidFill>
                <a:latin typeface="Cambria"/>
                <a:cs typeface="Cambria"/>
              </a:rPr>
              <a:t xml:space="preserve">1</a:t>
            </a:r>
            <a:r>
              <a:rPr lang="en-US" sz="1950" dirty="0">
                <a:solidFill>
                  <a:srgbClr val="16171D"/>
                </a:solidFill>
                <a:latin typeface="Segoe UI"/>
                <a:cs typeface="Segoe UI"/>
              </a:rPr>
              <a:t xml:space="preserve">, go down 2 and right 1: </a:t>
            </a:r>
            <a:r>
              <a:rPr lang="en-US" sz="1950" dirty="0">
                <a:solidFill>
                  <a:srgbClr val="16171D"/>
                </a:solidFill>
                <a:latin typeface="Cambria"/>
                <a:cs typeface="Cambria"/>
              </a:rPr>
              <a:t xml:space="preserve">(1, 8)</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2589276"/>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For </a:t>
            </a:r>
            <a:r>
              <a:rPr lang="en-US" sz="1950" dirty="0" b="1" i="1">
                <a:solidFill>
                  <a:srgbClr val="C9561F"/>
                </a:solidFill>
                <a:latin typeface="Cambria"/>
                <a:cs typeface="Cambria"/>
              </a:rPr>
              <a:t xml:space="preserve">m</a:t>
            </a:r>
            <a:r>
              <a:rPr lang="en-US" sz="1950" dirty="0" b="1">
                <a:solidFill>
                  <a:srgbClr val="C9561F"/>
                </a:solidFill>
                <a:latin typeface="Cambria"/>
                <a:cs typeface="Cambria"/>
              </a:rPr>
              <a:t xml:space="preserve"> = </a:t>
            </a:r>
            <a:r>
              <a:rPr lang="en-US" sz="1950" dirty="0" b="1">
                <a:solidFill>
                  <a:srgbClr val="C9561F"/>
                </a:solidFill>
                <a:latin typeface="Cambria"/>
                <a:cs typeface="Cambria"/>
              </a:rPr>
              <a:t xml:space="preserve">2</a:t>
            </a:r>
            <a:r>
              <a:rPr lang="en-US" sz="1950" dirty="0" b="1">
                <a:solidFill>
                  <a:srgbClr val="C9561F"/>
                </a:solidFill>
                <a:latin typeface="Cambria"/>
                <a:cs typeface="Cambria"/>
              </a:rPr>
              <a:t xml:space="preserve">/</a:t>
            </a:r>
            <a:r>
              <a:rPr lang="en-US" sz="1950" dirty="0" b="1">
                <a:solidFill>
                  <a:srgbClr val="C9561F"/>
                </a:solidFill>
                <a:latin typeface="Cambria"/>
                <a:cs typeface="Cambria"/>
              </a:rPr>
              <a:t xml:space="preserve">−1</a:t>
            </a:r>
            <a:r>
              <a:rPr lang="en-US" sz="1950" dirty="0">
                <a:solidFill>
                  <a:srgbClr val="16171D"/>
                </a:solidFill>
                <a:latin typeface="Segoe UI"/>
                <a:cs typeface="Segoe UI"/>
              </a:rPr>
              <a:t xml:space="preserve">, go up 2 and left 1: </a:t>
            </a:r>
            <a:r>
              <a:rPr lang="en-US" sz="1950" dirty="0">
                <a:solidFill>
                  <a:srgbClr val="16171D"/>
                </a:solidFill>
                <a:latin typeface="Cambria"/>
                <a:cs typeface="Cambria"/>
              </a:rPr>
              <a:t xml:space="preserve">(−1, 12)</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074670"/>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Connect the points to form a straight line.</a:t>
            </a:r>
            <a:endParaRPr lang="en-US" sz="1950" dirty="0"/>
          </a:p>
        </p:txBody>
      </p:sp>
      <p:sp>
        <p:nvSpPr>
          <p:cNvPr id="8" name="Shape 8"/>
          <p:cNvSpPr txBox="1"/>
          <p:nvPr/>
        </p:nvSpPr>
        <p:spPr>
          <a:xfrm>
            <a:off x="685800" y="3560064"/>
            <a:ext cx="6743395" cy="69951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A rule of thumb when graphing a line is to plot at least three points.</a:t>
            </a:r>
            <a:endParaRPr lang="en-US" sz="1575" dirty="0"/>
          </a:p>
        </p:txBody>
      </p:sp>
      <p:sp>
        <p:nvSpPr>
          <p:cNvPr id="9" name="Shape 9"/>
          <p:cNvSpPr/>
          <p:nvPr/>
        </p:nvSpPr>
        <p:spPr>
          <a:xfrm>
            <a:off x="7886395" y="1618488"/>
            <a:ext cx="3619500" cy="4191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8210245" y="1732788"/>
            <a:ext cx="0" cy="3829050"/>
          </a:xfrm>
          <a:prstGeom prst="line">
            <a:avLst/>
          </a:prstGeom>
          <a:ln w="9525" cap="flat">
            <a:solidFill>
              <a:srgbClr val="E6E8F2"/>
            </a:solidFill>
          </a:ln>
        </p:spPr>
      </p:cxnSp>
      <p:cxnSp>
        <p:nvCxnSpPr>
          <p:cNvPr id="11" name="Line 11"/>
          <p:cNvCxnSpPr/>
          <p:nvPr/>
        </p:nvCxnSpPr>
        <p:spPr>
          <a:xfrm>
            <a:off x="8607914" y="1732788"/>
            <a:ext cx="0" cy="3829050"/>
          </a:xfrm>
          <a:prstGeom prst="line">
            <a:avLst/>
          </a:prstGeom>
          <a:ln w="9525" cap="flat">
            <a:solidFill>
              <a:srgbClr val="E6E8F2"/>
            </a:solidFill>
          </a:ln>
        </p:spPr>
      </p:cxnSp>
      <p:cxnSp>
        <p:nvCxnSpPr>
          <p:cNvPr id="12" name="Line 12"/>
          <p:cNvCxnSpPr/>
          <p:nvPr/>
        </p:nvCxnSpPr>
        <p:spPr>
          <a:xfrm>
            <a:off x="9005583" y="1732788"/>
            <a:ext cx="0" cy="3829050"/>
          </a:xfrm>
          <a:prstGeom prst="line">
            <a:avLst/>
          </a:prstGeom>
          <a:ln w="9525" cap="flat">
            <a:solidFill>
              <a:srgbClr val="E6E8F2"/>
            </a:solidFill>
          </a:ln>
        </p:spPr>
      </p:cxnSp>
      <p:cxnSp>
        <p:nvCxnSpPr>
          <p:cNvPr id="13" name="Line 13"/>
          <p:cNvCxnSpPr/>
          <p:nvPr/>
        </p:nvCxnSpPr>
        <p:spPr>
          <a:xfrm>
            <a:off x="9403251" y="1732788"/>
            <a:ext cx="0" cy="3829050"/>
          </a:xfrm>
          <a:prstGeom prst="line">
            <a:avLst/>
          </a:prstGeom>
          <a:ln w="9525" cap="flat">
            <a:solidFill>
              <a:srgbClr val="E6E8F2"/>
            </a:solidFill>
          </a:ln>
        </p:spPr>
      </p:cxnSp>
      <p:cxnSp>
        <p:nvCxnSpPr>
          <p:cNvPr id="14" name="Line 14"/>
          <p:cNvCxnSpPr/>
          <p:nvPr/>
        </p:nvCxnSpPr>
        <p:spPr>
          <a:xfrm>
            <a:off x="9800920" y="1732788"/>
            <a:ext cx="0" cy="3829050"/>
          </a:xfrm>
          <a:prstGeom prst="line">
            <a:avLst/>
          </a:prstGeom>
          <a:ln w="9525" cap="flat">
            <a:solidFill>
              <a:srgbClr val="E6E8F2"/>
            </a:solidFill>
          </a:ln>
        </p:spPr>
      </p:cxnSp>
      <p:cxnSp>
        <p:nvCxnSpPr>
          <p:cNvPr id="15" name="Line 15"/>
          <p:cNvCxnSpPr/>
          <p:nvPr/>
        </p:nvCxnSpPr>
        <p:spPr>
          <a:xfrm>
            <a:off x="10198589" y="1732788"/>
            <a:ext cx="0" cy="3829050"/>
          </a:xfrm>
          <a:prstGeom prst="line">
            <a:avLst/>
          </a:prstGeom>
          <a:ln w="9525" cap="flat">
            <a:solidFill>
              <a:srgbClr val="E6E8F2"/>
            </a:solidFill>
          </a:ln>
        </p:spPr>
      </p:cxnSp>
      <p:cxnSp>
        <p:nvCxnSpPr>
          <p:cNvPr id="16" name="Line 16"/>
          <p:cNvCxnSpPr/>
          <p:nvPr/>
        </p:nvCxnSpPr>
        <p:spPr>
          <a:xfrm>
            <a:off x="10596258" y="1732788"/>
            <a:ext cx="0" cy="3829050"/>
          </a:xfrm>
          <a:prstGeom prst="line">
            <a:avLst/>
          </a:prstGeom>
          <a:ln w="9525" cap="flat">
            <a:solidFill>
              <a:srgbClr val="E6E8F2"/>
            </a:solidFill>
          </a:ln>
        </p:spPr>
      </p:cxnSp>
      <p:cxnSp>
        <p:nvCxnSpPr>
          <p:cNvPr id="17" name="Line 17"/>
          <p:cNvCxnSpPr/>
          <p:nvPr/>
        </p:nvCxnSpPr>
        <p:spPr>
          <a:xfrm>
            <a:off x="10993926" y="1732788"/>
            <a:ext cx="0" cy="3829050"/>
          </a:xfrm>
          <a:prstGeom prst="line">
            <a:avLst/>
          </a:prstGeom>
          <a:ln w="9525" cap="flat">
            <a:solidFill>
              <a:srgbClr val="E6E8F2"/>
            </a:solidFill>
          </a:ln>
        </p:spPr>
      </p:cxnSp>
      <p:cxnSp>
        <p:nvCxnSpPr>
          <p:cNvPr id="18" name="Line 18"/>
          <p:cNvCxnSpPr/>
          <p:nvPr/>
        </p:nvCxnSpPr>
        <p:spPr>
          <a:xfrm>
            <a:off x="11391595" y="1732788"/>
            <a:ext cx="0" cy="3829050"/>
          </a:xfrm>
          <a:prstGeom prst="line">
            <a:avLst/>
          </a:prstGeom>
          <a:ln w="9525" cap="flat">
            <a:solidFill>
              <a:srgbClr val="E6E8F2"/>
            </a:solidFill>
          </a:ln>
        </p:spPr>
      </p:cxnSp>
      <p:cxnSp>
        <p:nvCxnSpPr>
          <p:cNvPr id="19" name="Line 19"/>
          <p:cNvCxnSpPr/>
          <p:nvPr/>
        </p:nvCxnSpPr>
        <p:spPr>
          <a:xfrm>
            <a:off x="8210245" y="5561838"/>
            <a:ext cx="3181350" cy="0"/>
          </a:xfrm>
          <a:prstGeom prst="line">
            <a:avLst/>
          </a:prstGeom>
          <a:ln w="9525" cap="flat">
            <a:solidFill>
              <a:srgbClr val="E6E8F2"/>
            </a:solidFill>
          </a:ln>
        </p:spPr>
      </p:cxnSp>
      <p:cxnSp>
        <p:nvCxnSpPr>
          <p:cNvPr id="20" name="Line 20"/>
          <p:cNvCxnSpPr/>
          <p:nvPr/>
        </p:nvCxnSpPr>
        <p:spPr>
          <a:xfrm>
            <a:off x="8210245" y="5322522"/>
            <a:ext cx="3181350" cy="0"/>
          </a:xfrm>
          <a:prstGeom prst="line">
            <a:avLst/>
          </a:prstGeom>
          <a:ln w="9525" cap="flat">
            <a:solidFill>
              <a:srgbClr val="E6E8F2"/>
            </a:solidFill>
          </a:ln>
        </p:spPr>
      </p:cxnSp>
      <p:cxnSp>
        <p:nvCxnSpPr>
          <p:cNvPr id="21" name="Line 21"/>
          <p:cNvCxnSpPr/>
          <p:nvPr/>
        </p:nvCxnSpPr>
        <p:spPr>
          <a:xfrm>
            <a:off x="8210245" y="5083207"/>
            <a:ext cx="3181350" cy="0"/>
          </a:xfrm>
          <a:prstGeom prst="line">
            <a:avLst/>
          </a:prstGeom>
          <a:ln w="9525" cap="flat">
            <a:solidFill>
              <a:srgbClr val="E6E8F2"/>
            </a:solidFill>
          </a:ln>
        </p:spPr>
      </p:cxnSp>
      <p:cxnSp>
        <p:nvCxnSpPr>
          <p:cNvPr id="22" name="Line 22"/>
          <p:cNvCxnSpPr/>
          <p:nvPr/>
        </p:nvCxnSpPr>
        <p:spPr>
          <a:xfrm>
            <a:off x="8210245" y="4843891"/>
            <a:ext cx="3181350" cy="0"/>
          </a:xfrm>
          <a:prstGeom prst="line">
            <a:avLst/>
          </a:prstGeom>
          <a:ln w="9525" cap="flat">
            <a:solidFill>
              <a:srgbClr val="E6E8F2"/>
            </a:solidFill>
          </a:ln>
        </p:spPr>
      </p:cxnSp>
      <p:cxnSp>
        <p:nvCxnSpPr>
          <p:cNvPr id="23" name="Line 23"/>
          <p:cNvCxnSpPr/>
          <p:nvPr/>
        </p:nvCxnSpPr>
        <p:spPr>
          <a:xfrm>
            <a:off x="8210245" y="4604576"/>
            <a:ext cx="3181350" cy="0"/>
          </a:xfrm>
          <a:prstGeom prst="line">
            <a:avLst/>
          </a:prstGeom>
          <a:ln w="9525" cap="flat">
            <a:solidFill>
              <a:srgbClr val="E6E8F2"/>
            </a:solidFill>
          </a:ln>
        </p:spPr>
      </p:cxnSp>
      <p:cxnSp>
        <p:nvCxnSpPr>
          <p:cNvPr id="24" name="Line 24"/>
          <p:cNvCxnSpPr/>
          <p:nvPr/>
        </p:nvCxnSpPr>
        <p:spPr>
          <a:xfrm>
            <a:off x="8210245" y="4365260"/>
            <a:ext cx="3181350" cy="0"/>
          </a:xfrm>
          <a:prstGeom prst="line">
            <a:avLst/>
          </a:prstGeom>
          <a:ln w="9525" cap="flat">
            <a:solidFill>
              <a:srgbClr val="E6E8F2"/>
            </a:solidFill>
          </a:ln>
        </p:spPr>
      </p:cxnSp>
      <p:cxnSp>
        <p:nvCxnSpPr>
          <p:cNvPr id="25" name="Line 25"/>
          <p:cNvCxnSpPr/>
          <p:nvPr/>
        </p:nvCxnSpPr>
        <p:spPr>
          <a:xfrm>
            <a:off x="8210245" y="4125944"/>
            <a:ext cx="3181350" cy="0"/>
          </a:xfrm>
          <a:prstGeom prst="line">
            <a:avLst/>
          </a:prstGeom>
          <a:ln w="9525" cap="flat">
            <a:solidFill>
              <a:srgbClr val="E6E8F2"/>
            </a:solidFill>
          </a:ln>
        </p:spPr>
      </p:cxnSp>
      <p:cxnSp>
        <p:nvCxnSpPr>
          <p:cNvPr id="26" name="Line 26"/>
          <p:cNvCxnSpPr/>
          <p:nvPr/>
        </p:nvCxnSpPr>
        <p:spPr>
          <a:xfrm>
            <a:off x="8210245" y="3886629"/>
            <a:ext cx="3181350" cy="0"/>
          </a:xfrm>
          <a:prstGeom prst="line">
            <a:avLst/>
          </a:prstGeom>
          <a:ln w="9525" cap="flat">
            <a:solidFill>
              <a:srgbClr val="E6E8F2"/>
            </a:solidFill>
          </a:ln>
        </p:spPr>
      </p:cxnSp>
      <p:cxnSp>
        <p:nvCxnSpPr>
          <p:cNvPr id="27" name="Line 27"/>
          <p:cNvCxnSpPr/>
          <p:nvPr/>
        </p:nvCxnSpPr>
        <p:spPr>
          <a:xfrm>
            <a:off x="8210245" y="3647313"/>
            <a:ext cx="3181350" cy="0"/>
          </a:xfrm>
          <a:prstGeom prst="line">
            <a:avLst/>
          </a:prstGeom>
          <a:ln w="9525" cap="flat">
            <a:solidFill>
              <a:srgbClr val="E6E8F2"/>
            </a:solidFill>
          </a:ln>
        </p:spPr>
      </p:cxnSp>
      <p:cxnSp>
        <p:nvCxnSpPr>
          <p:cNvPr id="28" name="Line 28"/>
          <p:cNvCxnSpPr/>
          <p:nvPr/>
        </p:nvCxnSpPr>
        <p:spPr>
          <a:xfrm>
            <a:off x="8210245" y="3407997"/>
            <a:ext cx="3181350" cy="0"/>
          </a:xfrm>
          <a:prstGeom prst="line">
            <a:avLst/>
          </a:prstGeom>
          <a:ln w="9525" cap="flat">
            <a:solidFill>
              <a:srgbClr val="E6E8F2"/>
            </a:solidFill>
          </a:ln>
        </p:spPr>
      </p:cxnSp>
      <p:cxnSp>
        <p:nvCxnSpPr>
          <p:cNvPr id="29" name="Line 29"/>
          <p:cNvCxnSpPr/>
          <p:nvPr/>
        </p:nvCxnSpPr>
        <p:spPr>
          <a:xfrm>
            <a:off x="8210245" y="3168682"/>
            <a:ext cx="3181350" cy="0"/>
          </a:xfrm>
          <a:prstGeom prst="line">
            <a:avLst/>
          </a:prstGeom>
          <a:ln w="9525" cap="flat">
            <a:solidFill>
              <a:srgbClr val="E6E8F2"/>
            </a:solidFill>
          </a:ln>
        </p:spPr>
      </p:cxnSp>
      <p:cxnSp>
        <p:nvCxnSpPr>
          <p:cNvPr id="30" name="Line 30"/>
          <p:cNvCxnSpPr/>
          <p:nvPr/>
        </p:nvCxnSpPr>
        <p:spPr>
          <a:xfrm>
            <a:off x="8210245" y="2929366"/>
            <a:ext cx="3181350" cy="0"/>
          </a:xfrm>
          <a:prstGeom prst="line">
            <a:avLst/>
          </a:prstGeom>
          <a:ln w="9525" cap="flat">
            <a:solidFill>
              <a:srgbClr val="E6E8F2"/>
            </a:solidFill>
          </a:ln>
        </p:spPr>
      </p:cxnSp>
      <p:cxnSp>
        <p:nvCxnSpPr>
          <p:cNvPr id="31" name="Line 31"/>
          <p:cNvCxnSpPr/>
          <p:nvPr/>
        </p:nvCxnSpPr>
        <p:spPr>
          <a:xfrm>
            <a:off x="8210245" y="2690050"/>
            <a:ext cx="3181350" cy="0"/>
          </a:xfrm>
          <a:prstGeom prst="line">
            <a:avLst/>
          </a:prstGeom>
          <a:ln w="9525" cap="flat">
            <a:solidFill>
              <a:srgbClr val="E6E8F2"/>
            </a:solidFill>
          </a:ln>
        </p:spPr>
      </p:cxnSp>
      <p:cxnSp>
        <p:nvCxnSpPr>
          <p:cNvPr id="32" name="Line 32"/>
          <p:cNvCxnSpPr/>
          <p:nvPr/>
        </p:nvCxnSpPr>
        <p:spPr>
          <a:xfrm>
            <a:off x="8210245" y="2450735"/>
            <a:ext cx="3181350" cy="0"/>
          </a:xfrm>
          <a:prstGeom prst="line">
            <a:avLst/>
          </a:prstGeom>
          <a:ln w="9525" cap="flat">
            <a:solidFill>
              <a:srgbClr val="E6E8F2"/>
            </a:solidFill>
          </a:ln>
        </p:spPr>
      </p:cxnSp>
      <p:cxnSp>
        <p:nvCxnSpPr>
          <p:cNvPr id="33" name="Line 33"/>
          <p:cNvCxnSpPr/>
          <p:nvPr/>
        </p:nvCxnSpPr>
        <p:spPr>
          <a:xfrm>
            <a:off x="8210245" y="2211419"/>
            <a:ext cx="3181350" cy="0"/>
          </a:xfrm>
          <a:prstGeom prst="line">
            <a:avLst/>
          </a:prstGeom>
          <a:ln w="9525" cap="flat">
            <a:solidFill>
              <a:srgbClr val="E6E8F2"/>
            </a:solidFill>
          </a:ln>
        </p:spPr>
      </p:cxnSp>
      <p:cxnSp>
        <p:nvCxnSpPr>
          <p:cNvPr id="34" name="Line 34"/>
          <p:cNvCxnSpPr/>
          <p:nvPr/>
        </p:nvCxnSpPr>
        <p:spPr>
          <a:xfrm>
            <a:off x="8210245" y="1972104"/>
            <a:ext cx="3181350" cy="0"/>
          </a:xfrm>
          <a:prstGeom prst="line">
            <a:avLst/>
          </a:prstGeom>
          <a:ln w="9525" cap="flat">
            <a:solidFill>
              <a:srgbClr val="E6E8F2"/>
            </a:solidFill>
          </a:ln>
        </p:spPr>
      </p:cxnSp>
      <p:cxnSp>
        <p:nvCxnSpPr>
          <p:cNvPr id="35" name="Line 35"/>
          <p:cNvCxnSpPr/>
          <p:nvPr/>
        </p:nvCxnSpPr>
        <p:spPr>
          <a:xfrm>
            <a:off x="8210245" y="1732788"/>
            <a:ext cx="3181350" cy="0"/>
          </a:xfrm>
          <a:prstGeom prst="line">
            <a:avLst/>
          </a:prstGeom>
          <a:ln w="9525" cap="flat">
            <a:solidFill>
              <a:srgbClr val="E6E8F2"/>
            </a:solidFill>
          </a:ln>
        </p:spPr>
      </p:cxnSp>
      <p:cxnSp>
        <p:nvCxnSpPr>
          <p:cNvPr id="36" name="Line 36"/>
          <p:cNvCxnSpPr/>
          <p:nvPr/>
        </p:nvCxnSpPr>
        <p:spPr>
          <a:xfrm>
            <a:off x="9005583" y="1732788"/>
            <a:ext cx="0" cy="3829050"/>
          </a:xfrm>
          <a:prstGeom prst="line">
            <a:avLst/>
          </a:prstGeom>
          <a:ln w="19050" cap="flat">
            <a:solidFill>
              <a:srgbClr val="5F6272"/>
            </a:solidFill>
          </a:ln>
        </p:spPr>
      </p:cxnSp>
      <p:cxnSp>
        <p:nvCxnSpPr>
          <p:cNvPr id="37" name="Line 37"/>
          <p:cNvCxnSpPr/>
          <p:nvPr/>
        </p:nvCxnSpPr>
        <p:spPr>
          <a:xfrm>
            <a:off x="8210245" y="5083207"/>
            <a:ext cx="3181350" cy="0"/>
          </a:xfrm>
          <a:prstGeom prst="line">
            <a:avLst/>
          </a:prstGeom>
          <a:ln w="19050" cap="flat">
            <a:solidFill>
              <a:srgbClr val="5F6272"/>
            </a:solidFill>
          </a:ln>
        </p:spPr>
      </p:cxnSp>
      <p:sp>
        <p:nvSpPr>
          <p:cNvPr id="38" name="Shape 38"/>
          <p:cNvSpPr txBox="1"/>
          <p:nvPr/>
        </p:nvSpPr>
        <p:spPr>
          <a:xfrm>
            <a:off x="793592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8731263"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0" name="Shape 40"/>
          <p:cNvSpPr txBox="1"/>
          <p:nvPr/>
        </p:nvSpPr>
        <p:spPr>
          <a:xfrm>
            <a:off x="9526600"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10321938"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1111727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3" name="Shape 43"/>
          <p:cNvSpPr txBox="1"/>
          <p:nvPr/>
        </p:nvSpPr>
        <p:spPr>
          <a:xfrm>
            <a:off x="7643317" y="5470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7643317" y="499176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7643317" y="4513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7643317" y="403450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7" name="Shape 47"/>
          <p:cNvSpPr txBox="1"/>
          <p:nvPr/>
        </p:nvSpPr>
        <p:spPr>
          <a:xfrm>
            <a:off x="7643317" y="35558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7643317" y="30772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7643317" y="25986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0" name="Shape 50"/>
          <p:cNvSpPr txBox="1"/>
          <p:nvPr/>
        </p:nvSpPr>
        <p:spPr>
          <a:xfrm>
            <a:off x="7643317" y="211997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1" name="Shape 51"/>
          <p:cNvSpPr txBox="1"/>
          <p:nvPr/>
        </p:nvSpPr>
        <p:spPr>
          <a:xfrm>
            <a:off x="76433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52" name="Shape 52"/>
          <p:cNvSpPr/>
          <p:nvPr/>
        </p:nvSpPr>
        <p:spPr>
          <a:xfrm>
            <a:off x="8953195" y="263766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3" name="Shape 53"/>
          <p:cNvSpPr txBox="1"/>
          <p:nvPr/>
        </p:nvSpPr>
        <p:spPr>
          <a:xfrm>
            <a:off x="9091308" y="244240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(0, 10)</a:t>
            </a:r>
            <a:endParaRPr lang="en-US" sz="1125" dirty="0"/>
          </a:p>
        </p:txBody>
      </p:sp>
      <p:sp>
        <p:nvSpPr>
          <p:cNvPr id="54" name="Shape 54"/>
          <p:cNvSpPr/>
          <p:nvPr/>
        </p:nvSpPr>
        <p:spPr>
          <a:xfrm>
            <a:off x="9350864" y="311629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9488976" y="292103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(1, 8)</a:t>
            </a:r>
            <a:endParaRPr lang="en-US" sz="1125" dirty="0"/>
          </a:p>
        </p:txBody>
      </p:sp>
      <p:sp>
        <p:nvSpPr>
          <p:cNvPr id="56" name="Shape 56"/>
          <p:cNvSpPr/>
          <p:nvPr/>
        </p:nvSpPr>
        <p:spPr>
          <a:xfrm>
            <a:off x="8555526" y="215903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txBox="1"/>
          <p:nvPr/>
        </p:nvSpPr>
        <p:spPr>
          <a:xfrm>
            <a:off x="8693639" y="196376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12)</a:t>
            </a:r>
            <a:endParaRPr lang="en-US" sz="1125" dirty="0"/>
          </a:p>
        </p:txBody>
      </p:sp>
      <p:cxnSp>
        <p:nvCxnSpPr>
          <p:cNvPr id="58" name="Line 58"/>
          <p:cNvCxnSpPr/>
          <p:nvPr/>
        </p:nvCxnSpPr>
        <p:spPr>
          <a:xfrm>
            <a:off x="8210245" y="1732788"/>
            <a:ext cx="3181350" cy="382905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2"/>
                                        </p:tgtEl>
                                        <p:attrNameLst>
                                          <p:attrName>style.visibility</p:attrName>
                                        </p:attrNameLst>
                                      </p:cBhvr>
                                      <p:to>
                                        <p:strVal val="visible"/>
                                      </p:to>
                                    </p:set>
                                    <p:animEffect transition="in" filter="fade">
                                      <p:cBhvr>
                                        <p:cTn id="4" dur="500"/>
                                        <p:tgtEl>
                                          <p:spTgt spid="52"/>
                                        </p:tgtEl>
                                      </p:cBhvr>
                                    </p:animEffect>
                                    <p:anim calcmode="lin" valueType="num">
                                      <p:cBhvr>
                                        <p:cTn id="5" dur="500" fill="hold"/>
                                        <p:tgtEl>
                                          <p:spTgt spid="52"/>
                                        </p:tgtEl>
                                        <p:attrNameLst>
                                          <p:attrName>ppt_w</p:attrName>
                                        </p:attrNameLst>
                                      </p:cBhvr>
                                      <p:tavLst>
                                        <p:tav tm="0">
                                          <p:val>
                                            <p:fltVal val="0"/>
                                          </p:val>
                                        </p:tav>
                                        <p:tav tm="100000">
                                          <p:val>
                                            <p:strVal val="#ppt_w"/>
                                          </p:val>
                                        </p:tav>
                                      </p:tavLst>
                                    </p:anim>
                                    <p:anim calcmode="lin" valueType="num">
                                      <p:cBhvr>
                                        <p:cTn id="6" dur="500" fill="hold"/>
                                        <p:tgtEl>
                                          <p:spTgt spid="52"/>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53"/>
                                        </p:tgtEl>
                                        <p:attrNameLst>
                                          <p:attrName>style.visibility</p:attrName>
                                        </p:attrNameLst>
                                      </p:cBhvr>
                                      <p:to>
                                        <p:strVal val="visible"/>
                                      </p:to>
                                    </p:set>
                                    <p:animEffect transition="in" filter="fade">
                                      <p:cBhvr>
                                        <p:cTn id="9" dur="500"/>
                                        <p:tgtEl>
                                          <p:spTgt spid="53"/>
                                        </p:tgtEl>
                                      </p:cBhvr>
                                    </p:animEffect>
                                    <p:anim calcmode="lin" valueType="num">
                                      <p:cBhvr>
                                        <p:cTn id="10" dur="500" fill="hold"/>
                                        <p:tgtEl>
                                          <p:spTgt spid="53"/>
                                        </p:tgtEl>
                                        <p:attrNameLst>
                                          <p:attrName>ppt_w</p:attrName>
                                        </p:attrNameLst>
                                      </p:cBhvr>
                                      <p:tavLst>
                                        <p:tav tm="0">
                                          <p:val>
                                            <p:fltVal val="0"/>
                                          </p:val>
                                        </p:tav>
                                        <p:tav tm="100000">
                                          <p:val>
                                            <p:strVal val="#ppt_w"/>
                                          </p:val>
                                        </p:tav>
                                      </p:tavLst>
                                    </p:anim>
                                    <p:anim calcmode="lin" valueType="num">
                                      <p:cBhvr>
                                        <p:cTn id="11"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anim calcmode="lin" valueType="num">
                                      <p:cBhvr>
                                        <p:cTn id="17" dur="500" fill="hold"/>
                                        <p:tgtEl>
                                          <p:spTgt spid="54"/>
                                        </p:tgtEl>
                                        <p:attrNameLst>
                                          <p:attrName>ppt_w</p:attrName>
                                        </p:attrNameLst>
                                      </p:cBhvr>
                                      <p:tavLst>
                                        <p:tav tm="0">
                                          <p:val>
                                            <p:fltVal val="0"/>
                                          </p:val>
                                        </p:tav>
                                        <p:tav tm="100000">
                                          <p:val>
                                            <p:strVal val="#ppt_w"/>
                                          </p:val>
                                        </p:tav>
                                      </p:tavLst>
                                    </p:anim>
                                    <p:anim calcmode="lin" valueType="num">
                                      <p:cBhvr>
                                        <p:cTn id="18" dur="500" fill="hold"/>
                                        <p:tgtEl>
                                          <p:spTgt spid="54"/>
                                        </p:tgtEl>
                                        <p:attrNameLst>
                                          <p:attrName>ppt_h</p:attrName>
                                        </p:attrNameLst>
                                      </p:cBhvr>
                                      <p:tavLst>
                                        <p:tav tm="0">
                                          <p:val>
                                            <p:fltVal val="0"/>
                                          </p:val>
                                        </p:tav>
                                        <p:tav tm="100000">
                                          <p:val>
                                            <p:strVal val="#ppt_h"/>
                                          </p:val>
                                        </p:tav>
                                      </p:tavLst>
                                    </p:anim>
                                  </p:childTnLst>
                                </p:cTn>
                              </p:par>
                              <p:par>
                                <p:cTn id="24" presetID="53" presetClass="entr" presetSubtype="16" fill="hold" nodeType="with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500"/>
                                        <p:tgtEl>
                                          <p:spTgt spid="55"/>
                                        </p:tgtEl>
                                      </p:cBhvr>
                                    </p:animEffect>
                                    <p:anim calcmode="lin" valueType="num">
                                      <p:cBhvr>
                                        <p:cTn id="22" dur="500" fill="hold"/>
                                        <p:tgtEl>
                                          <p:spTgt spid="55"/>
                                        </p:tgtEl>
                                        <p:attrNameLst>
                                          <p:attrName>ppt_w</p:attrName>
                                        </p:attrNameLst>
                                      </p:cBhvr>
                                      <p:tavLst>
                                        <p:tav tm="0">
                                          <p:val>
                                            <p:fltVal val="0"/>
                                          </p:val>
                                        </p:tav>
                                        <p:tav tm="100000">
                                          <p:val>
                                            <p:strVal val="#ppt_w"/>
                                          </p:val>
                                        </p:tav>
                                      </p:tavLst>
                                    </p:anim>
                                    <p:anim calcmode="lin" valueType="num">
                                      <p:cBhvr>
                                        <p:cTn id="23"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500"/>
                                        <p:tgtEl>
                                          <p:spTgt spid="56"/>
                                        </p:tgtEl>
                                      </p:cBhvr>
                                    </p:animEffect>
                                    <p:anim calcmode="lin" valueType="num">
                                      <p:cBhvr>
                                        <p:cTn id="29" dur="500" fill="hold"/>
                                        <p:tgtEl>
                                          <p:spTgt spid="56"/>
                                        </p:tgtEl>
                                        <p:attrNameLst>
                                          <p:attrName>ppt_w</p:attrName>
                                        </p:attrNameLst>
                                      </p:cBhvr>
                                      <p:tavLst>
                                        <p:tav tm="0">
                                          <p:val>
                                            <p:fltVal val="0"/>
                                          </p:val>
                                        </p:tav>
                                        <p:tav tm="100000">
                                          <p:val>
                                            <p:strVal val="#ppt_w"/>
                                          </p:val>
                                        </p:tav>
                                      </p:tavLst>
                                    </p:anim>
                                    <p:anim calcmode="lin" valueType="num">
                                      <p:cBhvr>
                                        <p:cTn id="30" dur="500" fill="hold"/>
                                        <p:tgtEl>
                                          <p:spTgt spid="56"/>
                                        </p:tgtEl>
                                        <p:attrNameLst>
                                          <p:attrName>ppt_h</p:attrName>
                                        </p:attrNameLst>
                                      </p:cBhvr>
                                      <p:tavLst>
                                        <p:tav tm="0">
                                          <p:val>
                                            <p:fltVal val="0"/>
                                          </p:val>
                                        </p:tav>
                                        <p:tav tm="100000">
                                          <p:val>
                                            <p:strVal val="#ppt_h"/>
                                          </p:val>
                                        </p:tav>
                                      </p:tavLst>
                                    </p:anim>
                                  </p:childTnLst>
                                </p:cTn>
                              </p:par>
                              <p:par>
                                <p:cTn id="36" presetID="53" presetClass="entr" presetSubtype="16" fill="hold"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500"/>
                                        <p:tgtEl>
                                          <p:spTgt spid="57"/>
                                        </p:tgtEl>
                                      </p:cBhvr>
                                    </p:animEffect>
                                    <p:anim calcmode="lin" valueType="num">
                                      <p:cBhvr>
                                        <p:cTn id="34" dur="500" fill="hold"/>
                                        <p:tgtEl>
                                          <p:spTgt spid="57"/>
                                        </p:tgtEl>
                                        <p:attrNameLst>
                                          <p:attrName>ppt_w</p:attrName>
                                        </p:attrNameLst>
                                      </p:cBhvr>
                                      <p:tavLst>
                                        <p:tav tm="0">
                                          <p:val>
                                            <p:fltVal val="0"/>
                                          </p:val>
                                        </p:tav>
                                        <p:tav tm="100000">
                                          <p:val>
                                            <p:strVal val="#ppt_w"/>
                                          </p:val>
                                        </p:tav>
                                      </p:tavLst>
                                    </p:anim>
                                    <p:anim calcmode="lin" valueType="num">
                                      <p:cBhvr>
                                        <p:cTn id="35"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58"/>
                                        </p:tgtEl>
                                        <p:attrNameLst>
                                          <p:attrName>style.visibility</p:attrName>
                                        </p:attrNameLst>
                                      </p:cBhvr>
                                      <p:to>
                                        <p:strVal val="visible"/>
                                      </p:to>
                                    </p:set>
                                    <p:animEffect transition="in" filter="wipe(left)">
                                      <p:cBhvr>
                                        <p:cTn id="40" dur="7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Questions 1–2 · SE p. 220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Use the equation to graph each line</a:t>
            </a:r>
            <a:endParaRPr lang="en-US" sz="3450" dirty="0"/>
          </a:p>
        </p:txBody>
      </p:sp>
      <p:sp>
        <p:nvSpPr>
          <p:cNvPr id="4" name="Shape 4"/>
          <p:cNvSpPr txBox="1"/>
          <p:nvPr/>
        </p:nvSpPr>
        <p:spPr>
          <a:xfrm>
            <a:off x="685800"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3</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a:t>
            </a:r>
            <a:endParaRPr lang="en-US" sz="2325" dirty="0"/>
          </a:p>
        </p:txBody>
      </p:sp>
      <p:sp>
        <p:nvSpPr>
          <p:cNvPr id="5" name="Shape 5"/>
          <p:cNvSpPr txBox="1"/>
          <p:nvPr/>
        </p:nvSpPr>
        <p:spPr>
          <a:xfrm>
            <a:off x="685800"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Start at </a:t>
            </a:r>
            <a:r>
              <a:rPr lang="en-US" sz="1575" dirty="0" b="1">
                <a:solidFill>
                  <a:srgbClr val="3050B8"/>
                </a:solidFill>
                <a:latin typeface="Segoe UI"/>
                <a:cs typeface="Segoe UI"/>
              </a:rPr>
              <a:t xml:space="preserve">(0, −1)</a:t>
            </a:r>
            <a:r>
              <a:rPr lang="en-US" sz="1575" dirty="0">
                <a:solidFill>
                  <a:srgbClr val="16171D"/>
                </a:solidFill>
                <a:latin typeface="Segoe UI"/>
                <a:cs typeface="Segoe UI"/>
              </a:rPr>
              <a:t xml:space="preserve">. Up 3, right 2. Or down 3, left 2.</a:t>
            </a:r>
            <a:endParaRPr lang="en-US" sz="1575" dirty="0"/>
          </a:p>
        </p:txBody>
      </p:sp>
      <p:sp>
        <p:nvSpPr>
          <p:cNvPr id="6" name="Shape 6"/>
          <p:cNvSpPr/>
          <p:nvPr/>
        </p:nvSpPr>
        <p:spPr>
          <a:xfrm>
            <a:off x="685800"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 name="Line 7"/>
          <p:cNvCxnSpPr/>
          <p:nvPr/>
        </p:nvCxnSpPr>
        <p:spPr>
          <a:xfrm>
            <a:off x="1009650" y="2589276"/>
            <a:ext cx="0" cy="2781300"/>
          </a:xfrm>
          <a:prstGeom prst="line">
            <a:avLst/>
          </a:prstGeom>
          <a:ln w="9525" cap="flat">
            <a:solidFill>
              <a:srgbClr val="E6E8F2"/>
            </a:solidFill>
          </a:ln>
        </p:spPr>
      </p:cxnSp>
      <p:cxnSp>
        <p:nvCxnSpPr>
          <p:cNvPr id="8" name="Line 8"/>
          <p:cNvCxnSpPr/>
          <p:nvPr/>
        </p:nvCxnSpPr>
        <p:spPr>
          <a:xfrm>
            <a:off x="1178719" y="2589276"/>
            <a:ext cx="0" cy="2781300"/>
          </a:xfrm>
          <a:prstGeom prst="line">
            <a:avLst/>
          </a:prstGeom>
          <a:ln w="9525" cap="flat">
            <a:solidFill>
              <a:srgbClr val="E6E8F2"/>
            </a:solidFill>
          </a:ln>
        </p:spPr>
      </p:cxnSp>
      <p:cxnSp>
        <p:nvCxnSpPr>
          <p:cNvPr id="9" name="Line 9"/>
          <p:cNvCxnSpPr/>
          <p:nvPr/>
        </p:nvCxnSpPr>
        <p:spPr>
          <a:xfrm>
            <a:off x="1347788" y="2589276"/>
            <a:ext cx="0" cy="2781300"/>
          </a:xfrm>
          <a:prstGeom prst="line">
            <a:avLst/>
          </a:prstGeom>
          <a:ln w="9525" cap="flat">
            <a:solidFill>
              <a:srgbClr val="E6E8F2"/>
            </a:solidFill>
          </a:ln>
        </p:spPr>
      </p:cxnSp>
      <p:cxnSp>
        <p:nvCxnSpPr>
          <p:cNvPr id="10" name="Line 10"/>
          <p:cNvCxnSpPr/>
          <p:nvPr/>
        </p:nvCxnSpPr>
        <p:spPr>
          <a:xfrm>
            <a:off x="1516856" y="2589276"/>
            <a:ext cx="0" cy="2781300"/>
          </a:xfrm>
          <a:prstGeom prst="line">
            <a:avLst/>
          </a:prstGeom>
          <a:ln w="9525" cap="flat">
            <a:solidFill>
              <a:srgbClr val="E6E8F2"/>
            </a:solidFill>
          </a:ln>
        </p:spPr>
      </p:cxnSp>
      <p:cxnSp>
        <p:nvCxnSpPr>
          <p:cNvPr id="11" name="Line 11"/>
          <p:cNvCxnSpPr/>
          <p:nvPr/>
        </p:nvCxnSpPr>
        <p:spPr>
          <a:xfrm>
            <a:off x="1685925" y="2589276"/>
            <a:ext cx="0" cy="2781300"/>
          </a:xfrm>
          <a:prstGeom prst="line">
            <a:avLst/>
          </a:prstGeom>
          <a:ln w="9525" cap="flat">
            <a:solidFill>
              <a:srgbClr val="E6E8F2"/>
            </a:solidFill>
          </a:ln>
        </p:spPr>
      </p:cxnSp>
      <p:cxnSp>
        <p:nvCxnSpPr>
          <p:cNvPr id="12" name="Line 12"/>
          <p:cNvCxnSpPr/>
          <p:nvPr/>
        </p:nvCxnSpPr>
        <p:spPr>
          <a:xfrm>
            <a:off x="1854994" y="2589276"/>
            <a:ext cx="0" cy="2781300"/>
          </a:xfrm>
          <a:prstGeom prst="line">
            <a:avLst/>
          </a:prstGeom>
          <a:ln w="9525" cap="flat">
            <a:solidFill>
              <a:srgbClr val="E6E8F2"/>
            </a:solidFill>
          </a:ln>
        </p:spPr>
      </p:cxnSp>
      <p:cxnSp>
        <p:nvCxnSpPr>
          <p:cNvPr id="13" name="Line 13"/>
          <p:cNvCxnSpPr/>
          <p:nvPr/>
        </p:nvCxnSpPr>
        <p:spPr>
          <a:xfrm>
            <a:off x="2024062" y="2589276"/>
            <a:ext cx="0" cy="2781300"/>
          </a:xfrm>
          <a:prstGeom prst="line">
            <a:avLst/>
          </a:prstGeom>
          <a:ln w="9525" cap="flat">
            <a:solidFill>
              <a:srgbClr val="E6E8F2"/>
            </a:solidFill>
          </a:ln>
        </p:spPr>
      </p:cxnSp>
      <p:cxnSp>
        <p:nvCxnSpPr>
          <p:cNvPr id="14" name="Line 14"/>
          <p:cNvCxnSpPr/>
          <p:nvPr/>
        </p:nvCxnSpPr>
        <p:spPr>
          <a:xfrm>
            <a:off x="2193131" y="2589276"/>
            <a:ext cx="0" cy="2781300"/>
          </a:xfrm>
          <a:prstGeom prst="line">
            <a:avLst/>
          </a:prstGeom>
          <a:ln w="9525" cap="flat">
            <a:solidFill>
              <a:srgbClr val="E6E8F2"/>
            </a:solidFill>
          </a:ln>
        </p:spPr>
      </p:cxnSp>
      <p:cxnSp>
        <p:nvCxnSpPr>
          <p:cNvPr id="15" name="Line 15"/>
          <p:cNvCxnSpPr/>
          <p:nvPr/>
        </p:nvCxnSpPr>
        <p:spPr>
          <a:xfrm>
            <a:off x="2362200" y="2589276"/>
            <a:ext cx="0" cy="2781300"/>
          </a:xfrm>
          <a:prstGeom prst="line">
            <a:avLst/>
          </a:prstGeom>
          <a:ln w="9525" cap="flat">
            <a:solidFill>
              <a:srgbClr val="E6E8F2"/>
            </a:solidFill>
          </a:ln>
        </p:spPr>
      </p:cxnSp>
      <p:cxnSp>
        <p:nvCxnSpPr>
          <p:cNvPr id="16" name="Line 16"/>
          <p:cNvCxnSpPr/>
          <p:nvPr/>
        </p:nvCxnSpPr>
        <p:spPr>
          <a:xfrm>
            <a:off x="2531269" y="2589276"/>
            <a:ext cx="0" cy="2781300"/>
          </a:xfrm>
          <a:prstGeom prst="line">
            <a:avLst/>
          </a:prstGeom>
          <a:ln w="9525" cap="flat">
            <a:solidFill>
              <a:srgbClr val="E6E8F2"/>
            </a:solidFill>
          </a:ln>
        </p:spPr>
      </p:cxnSp>
      <p:cxnSp>
        <p:nvCxnSpPr>
          <p:cNvPr id="17" name="Line 17"/>
          <p:cNvCxnSpPr/>
          <p:nvPr/>
        </p:nvCxnSpPr>
        <p:spPr>
          <a:xfrm>
            <a:off x="2700338" y="2589276"/>
            <a:ext cx="0" cy="2781300"/>
          </a:xfrm>
          <a:prstGeom prst="line">
            <a:avLst/>
          </a:prstGeom>
          <a:ln w="9525" cap="flat">
            <a:solidFill>
              <a:srgbClr val="E6E8F2"/>
            </a:solidFill>
          </a:ln>
        </p:spPr>
      </p:cxnSp>
      <p:cxnSp>
        <p:nvCxnSpPr>
          <p:cNvPr id="18" name="Line 18"/>
          <p:cNvCxnSpPr/>
          <p:nvPr/>
        </p:nvCxnSpPr>
        <p:spPr>
          <a:xfrm>
            <a:off x="2869406" y="2589276"/>
            <a:ext cx="0" cy="2781300"/>
          </a:xfrm>
          <a:prstGeom prst="line">
            <a:avLst/>
          </a:prstGeom>
          <a:ln w="9525" cap="flat">
            <a:solidFill>
              <a:srgbClr val="E6E8F2"/>
            </a:solidFill>
          </a:ln>
        </p:spPr>
      </p:cxnSp>
      <p:cxnSp>
        <p:nvCxnSpPr>
          <p:cNvPr id="19" name="Line 19"/>
          <p:cNvCxnSpPr/>
          <p:nvPr/>
        </p:nvCxnSpPr>
        <p:spPr>
          <a:xfrm>
            <a:off x="3038475" y="2589276"/>
            <a:ext cx="0" cy="2781300"/>
          </a:xfrm>
          <a:prstGeom prst="line">
            <a:avLst/>
          </a:prstGeom>
          <a:ln w="9525" cap="flat">
            <a:solidFill>
              <a:srgbClr val="E6E8F2"/>
            </a:solidFill>
          </a:ln>
        </p:spPr>
      </p:cxnSp>
      <p:cxnSp>
        <p:nvCxnSpPr>
          <p:cNvPr id="20" name="Line 20"/>
          <p:cNvCxnSpPr/>
          <p:nvPr/>
        </p:nvCxnSpPr>
        <p:spPr>
          <a:xfrm>
            <a:off x="3207544" y="2589276"/>
            <a:ext cx="0" cy="2781300"/>
          </a:xfrm>
          <a:prstGeom prst="line">
            <a:avLst/>
          </a:prstGeom>
          <a:ln w="9525" cap="flat">
            <a:solidFill>
              <a:srgbClr val="E6E8F2"/>
            </a:solidFill>
          </a:ln>
        </p:spPr>
      </p:cxnSp>
      <p:cxnSp>
        <p:nvCxnSpPr>
          <p:cNvPr id="21" name="Line 21"/>
          <p:cNvCxnSpPr/>
          <p:nvPr/>
        </p:nvCxnSpPr>
        <p:spPr>
          <a:xfrm>
            <a:off x="3376612" y="2589276"/>
            <a:ext cx="0" cy="2781300"/>
          </a:xfrm>
          <a:prstGeom prst="line">
            <a:avLst/>
          </a:prstGeom>
          <a:ln w="9525" cap="flat">
            <a:solidFill>
              <a:srgbClr val="E6E8F2"/>
            </a:solidFill>
          </a:ln>
        </p:spPr>
      </p:cxnSp>
      <p:cxnSp>
        <p:nvCxnSpPr>
          <p:cNvPr id="22" name="Line 22"/>
          <p:cNvCxnSpPr/>
          <p:nvPr/>
        </p:nvCxnSpPr>
        <p:spPr>
          <a:xfrm>
            <a:off x="3545681" y="2589276"/>
            <a:ext cx="0" cy="2781300"/>
          </a:xfrm>
          <a:prstGeom prst="line">
            <a:avLst/>
          </a:prstGeom>
          <a:ln w="9525" cap="flat">
            <a:solidFill>
              <a:srgbClr val="E6E8F2"/>
            </a:solidFill>
          </a:ln>
        </p:spPr>
      </p:cxnSp>
      <p:cxnSp>
        <p:nvCxnSpPr>
          <p:cNvPr id="23" name="Line 23"/>
          <p:cNvCxnSpPr/>
          <p:nvPr/>
        </p:nvCxnSpPr>
        <p:spPr>
          <a:xfrm>
            <a:off x="3714750" y="2589276"/>
            <a:ext cx="0" cy="2781300"/>
          </a:xfrm>
          <a:prstGeom prst="line">
            <a:avLst/>
          </a:prstGeom>
          <a:ln w="9525" cap="flat">
            <a:solidFill>
              <a:srgbClr val="E6E8F2"/>
            </a:solidFill>
          </a:ln>
        </p:spPr>
      </p:cxnSp>
      <p:cxnSp>
        <p:nvCxnSpPr>
          <p:cNvPr id="24" name="Line 24"/>
          <p:cNvCxnSpPr/>
          <p:nvPr/>
        </p:nvCxnSpPr>
        <p:spPr>
          <a:xfrm>
            <a:off x="1009650" y="5370576"/>
            <a:ext cx="2705100" cy="0"/>
          </a:xfrm>
          <a:prstGeom prst="line">
            <a:avLst/>
          </a:prstGeom>
          <a:ln w="9525" cap="flat">
            <a:solidFill>
              <a:srgbClr val="E6E8F2"/>
            </a:solidFill>
          </a:ln>
        </p:spPr>
      </p:cxnSp>
      <p:cxnSp>
        <p:nvCxnSpPr>
          <p:cNvPr id="25" name="Line 25"/>
          <p:cNvCxnSpPr/>
          <p:nvPr/>
        </p:nvCxnSpPr>
        <p:spPr>
          <a:xfrm>
            <a:off x="1009650" y="5196745"/>
            <a:ext cx="2705100" cy="0"/>
          </a:xfrm>
          <a:prstGeom prst="line">
            <a:avLst/>
          </a:prstGeom>
          <a:ln w="9525" cap="flat">
            <a:solidFill>
              <a:srgbClr val="E6E8F2"/>
            </a:solidFill>
          </a:ln>
        </p:spPr>
      </p:cxnSp>
      <p:cxnSp>
        <p:nvCxnSpPr>
          <p:cNvPr id="26" name="Line 26"/>
          <p:cNvCxnSpPr/>
          <p:nvPr/>
        </p:nvCxnSpPr>
        <p:spPr>
          <a:xfrm>
            <a:off x="1009650" y="5022913"/>
            <a:ext cx="2705100" cy="0"/>
          </a:xfrm>
          <a:prstGeom prst="line">
            <a:avLst/>
          </a:prstGeom>
          <a:ln w="9525" cap="flat">
            <a:solidFill>
              <a:srgbClr val="E6E8F2"/>
            </a:solidFill>
          </a:ln>
        </p:spPr>
      </p:cxnSp>
      <p:cxnSp>
        <p:nvCxnSpPr>
          <p:cNvPr id="27" name="Line 27"/>
          <p:cNvCxnSpPr/>
          <p:nvPr/>
        </p:nvCxnSpPr>
        <p:spPr>
          <a:xfrm>
            <a:off x="1009650" y="4849082"/>
            <a:ext cx="2705100" cy="0"/>
          </a:xfrm>
          <a:prstGeom prst="line">
            <a:avLst/>
          </a:prstGeom>
          <a:ln w="9525" cap="flat">
            <a:solidFill>
              <a:srgbClr val="E6E8F2"/>
            </a:solidFill>
          </a:ln>
        </p:spPr>
      </p:cxnSp>
      <p:cxnSp>
        <p:nvCxnSpPr>
          <p:cNvPr id="28" name="Line 28"/>
          <p:cNvCxnSpPr/>
          <p:nvPr/>
        </p:nvCxnSpPr>
        <p:spPr>
          <a:xfrm>
            <a:off x="1009650" y="4675251"/>
            <a:ext cx="2705100" cy="0"/>
          </a:xfrm>
          <a:prstGeom prst="line">
            <a:avLst/>
          </a:prstGeom>
          <a:ln w="9525" cap="flat">
            <a:solidFill>
              <a:srgbClr val="E6E8F2"/>
            </a:solidFill>
          </a:ln>
        </p:spPr>
      </p:cxnSp>
      <p:cxnSp>
        <p:nvCxnSpPr>
          <p:cNvPr id="29" name="Line 29"/>
          <p:cNvCxnSpPr/>
          <p:nvPr/>
        </p:nvCxnSpPr>
        <p:spPr>
          <a:xfrm>
            <a:off x="1009650" y="4501420"/>
            <a:ext cx="2705100" cy="0"/>
          </a:xfrm>
          <a:prstGeom prst="line">
            <a:avLst/>
          </a:prstGeom>
          <a:ln w="9525" cap="flat">
            <a:solidFill>
              <a:srgbClr val="E6E8F2"/>
            </a:solidFill>
          </a:ln>
        </p:spPr>
      </p:cxnSp>
      <p:cxnSp>
        <p:nvCxnSpPr>
          <p:cNvPr id="30" name="Line 30"/>
          <p:cNvCxnSpPr/>
          <p:nvPr/>
        </p:nvCxnSpPr>
        <p:spPr>
          <a:xfrm>
            <a:off x="1009650" y="4327588"/>
            <a:ext cx="2705100" cy="0"/>
          </a:xfrm>
          <a:prstGeom prst="line">
            <a:avLst/>
          </a:prstGeom>
          <a:ln w="9525" cap="flat">
            <a:solidFill>
              <a:srgbClr val="E6E8F2"/>
            </a:solidFill>
          </a:ln>
        </p:spPr>
      </p:cxnSp>
      <p:cxnSp>
        <p:nvCxnSpPr>
          <p:cNvPr id="31" name="Line 31"/>
          <p:cNvCxnSpPr/>
          <p:nvPr/>
        </p:nvCxnSpPr>
        <p:spPr>
          <a:xfrm>
            <a:off x="1009650" y="4153757"/>
            <a:ext cx="2705100" cy="0"/>
          </a:xfrm>
          <a:prstGeom prst="line">
            <a:avLst/>
          </a:prstGeom>
          <a:ln w="9525" cap="flat">
            <a:solidFill>
              <a:srgbClr val="E6E8F2"/>
            </a:solidFill>
          </a:ln>
        </p:spPr>
      </p:cxnSp>
      <p:cxnSp>
        <p:nvCxnSpPr>
          <p:cNvPr id="32" name="Line 32"/>
          <p:cNvCxnSpPr/>
          <p:nvPr/>
        </p:nvCxnSpPr>
        <p:spPr>
          <a:xfrm>
            <a:off x="1009650" y="3979926"/>
            <a:ext cx="2705100" cy="0"/>
          </a:xfrm>
          <a:prstGeom prst="line">
            <a:avLst/>
          </a:prstGeom>
          <a:ln w="9525" cap="flat">
            <a:solidFill>
              <a:srgbClr val="E6E8F2"/>
            </a:solidFill>
          </a:ln>
        </p:spPr>
      </p:cxnSp>
      <p:cxnSp>
        <p:nvCxnSpPr>
          <p:cNvPr id="33" name="Line 33"/>
          <p:cNvCxnSpPr/>
          <p:nvPr/>
        </p:nvCxnSpPr>
        <p:spPr>
          <a:xfrm>
            <a:off x="1009650" y="3806095"/>
            <a:ext cx="2705100" cy="0"/>
          </a:xfrm>
          <a:prstGeom prst="line">
            <a:avLst/>
          </a:prstGeom>
          <a:ln w="9525" cap="flat">
            <a:solidFill>
              <a:srgbClr val="E6E8F2"/>
            </a:solidFill>
          </a:ln>
        </p:spPr>
      </p:cxnSp>
      <p:cxnSp>
        <p:nvCxnSpPr>
          <p:cNvPr id="34" name="Line 34"/>
          <p:cNvCxnSpPr/>
          <p:nvPr/>
        </p:nvCxnSpPr>
        <p:spPr>
          <a:xfrm>
            <a:off x="1009650" y="3632264"/>
            <a:ext cx="2705100" cy="0"/>
          </a:xfrm>
          <a:prstGeom prst="line">
            <a:avLst/>
          </a:prstGeom>
          <a:ln w="9525" cap="flat">
            <a:solidFill>
              <a:srgbClr val="E6E8F2"/>
            </a:solidFill>
          </a:ln>
        </p:spPr>
      </p:cxnSp>
      <p:cxnSp>
        <p:nvCxnSpPr>
          <p:cNvPr id="35" name="Line 35"/>
          <p:cNvCxnSpPr/>
          <p:nvPr/>
        </p:nvCxnSpPr>
        <p:spPr>
          <a:xfrm>
            <a:off x="1009650" y="3458432"/>
            <a:ext cx="2705100" cy="0"/>
          </a:xfrm>
          <a:prstGeom prst="line">
            <a:avLst/>
          </a:prstGeom>
          <a:ln w="9525" cap="flat">
            <a:solidFill>
              <a:srgbClr val="E6E8F2"/>
            </a:solidFill>
          </a:ln>
        </p:spPr>
      </p:cxnSp>
      <p:cxnSp>
        <p:nvCxnSpPr>
          <p:cNvPr id="36" name="Line 36"/>
          <p:cNvCxnSpPr/>
          <p:nvPr/>
        </p:nvCxnSpPr>
        <p:spPr>
          <a:xfrm>
            <a:off x="1009650" y="3284601"/>
            <a:ext cx="2705100" cy="0"/>
          </a:xfrm>
          <a:prstGeom prst="line">
            <a:avLst/>
          </a:prstGeom>
          <a:ln w="9525" cap="flat">
            <a:solidFill>
              <a:srgbClr val="E6E8F2"/>
            </a:solidFill>
          </a:ln>
        </p:spPr>
      </p:cxnSp>
      <p:cxnSp>
        <p:nvCxnSpPr>
          <p:cNvPr id="37" name="Line 37"/>
          <p:cNvCxnSpPr/>
          <p:nvPr/>
        </p:nvCxnSpPr>
        <p:spPr>
          <a:xfrm>
            <a:off x="1009650" y="3110770"/>
            <a:ext cx="2705100" cy="0"/>
          </a:xfrm>
          <a:prstGeom prst="line">
            <a:avLst/>
          </a:prstGeom>
          <a:ln w="9525" cap="flat">
            <a:solidFill>
              <a:srgbClr val="E6E8F2"/>
            </a:solidFill>
          </a:ln>
        </p:spPr>
      </p:cxnSp>
      <p:cxnSp>
        <p:nvCxnSpPr>
          <p:cNvPr id="38" name="Line 38"/>
          <p:cNvCxnSpPr/>
          <p:nvPr/>
        </p:nvCxnSpPr>
        <p:spPr>
          <a:xfrm>
            <a:off x="1009650" y="2936938"/>
            <a:ext cx="2705100" cy="0"/>
          </a:xfrm>
          <a:prstGeom prst="line">
            <a:avLst/>
          </a:prstGeom>
          <a:ln w="9525" cap="flat">
            <a:solidFill>
              <a:srgbClr val="E6E8F2"/>
            </a:solidFill>
          </a:ln>
        </p:spPr>
      </p:cxnSp>
      <p:cxnSp>
        <p:nvCxnSpPr>
          <p:cNvPr id="39" name="Line 39"/>
          <p:cNvCxnSpPr/>
          <p:nvPr/>
        </p:nvCxnSpPr>
        <p:spPr>
          <a:xfrm>
            <a:off x="1009650" y="2763107"/>
            <a:ext cx="2705100" cy="0"/>
          </a:xfrm>
          <a:prstGeom prst="line">
            <a:avLst/>
          </a:prstGeom>
          <a:ln w="9525" cap="flat">
            <a:solidFill>
              <a:srgbClr val="E6E8F2"/>
            </a:solidFill>
          </a:ln>
        </p:spPr>
      </p:cxnSp>
      <p:cxnSp>
        <p:nvCxnSpPr>
          <p:cNvPr id="40" name="Line 40"/>
          <p:cNvCxnSpPr/>
          <p:nvPr/>
        </p:nvCxnSpPr>
        <p:spPr>
          <a:xfrm>
            <a:off x="1009650" y="2589276"/>
            <a:ext cx="2705100" cy="0"/>
          </a:xfrm>
          <a:prstGeom prst="line">
            <a:avLst/>
          </a:prstGeom>
          <a:ln w="9525" cap="flat">
            <a:solidFill>
              <a:srgbClr val="E6E8F2"/>
            </a:solidFill>
          </a:ln>
        </p:spPr>
      </p:cxnSp>
      <p:cxnSp>
        <p:nvCxnSpPr>
          <p:cNvPr id="41" name="Line 41"/>
          <p:cNvCxnSpPr/>
          <p:nvPr/>
        </p:nvCxnSpPr>
        <p:spPr>
          <a:xfrm>
            <a:off x="2362200" y="2589276"/>
            <a:ext cx="0" cy="2781300"/>
          </a:xfrm>
          <a:prstGeom prst="line">
            <a:avLst/>
          </a:prstGeom>
          <a:ln w="19050" cap="flat">
            <a:solidFill>
              <a:srgbClr val="5F6272"/>
            </a:solidFill>
          </a:ln>
        </p:spPr>
      </p:cxnSp>
      <p:cxnSp>
        <p:nvCxnSpPr>
          <p:cNvPr id="42" name="Line 42"/>
          <p:cNvCxnSpPr/>
          <p:nvPr/>
        </p:nvCxnSpPr>
        <p:spPr>
          <a:xfrm>
            <a:off x="1009650" y="3979926"/>
            <a:ext cx="2705100" cy="0"/>
          </a:xfrm>
          <a:prstGeom prst="line">
            <a:avLst/>
          </a:prstGeom>
          <a:ln w="19050" cap="flat">
            <a:solidFill>
              <a:srgbClr val="5F6272"/>
            </a:solidFill>
          </a:ln>
        </p:spPr>
      </p:cxnSp>
      <p:sp>
        <p:nvSpPr>
          <p:cNvPr id="43" name="Shape 43"/>
          <p:cNvSpPr txBox="1"/>
          <p:nvPr/>
        </p:nvSpPr>
        <p:spPr>
          <a:xfrm>
            <a:off x="7353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4" name="Shape 44"/>
          <p:cNvSpPr txBox="1"/>
          <p:nvPr/>
        </p:nvSpPr>
        <p:spPr>
          <a:xfrm>
            <a:off x="107346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141160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174974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208788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242601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9" name="Shape 49"/>
          <p:cNvSpPr txBox="1"/>
          <p:nvPr/>
        </p:nvSpPr>
        <p:spPr>
          <a:xfrm>
            <a:off x="276415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310229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1" name="Shape 51"/>
          <p:cNvSpPr txBox="1"/>
          <p:nvPr/>
        </p:nvSpPr>
        <p:spPr>
          <a:xfrm>
            <a:off x="34404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2" name="Shape 52"/>
          <p:cNvSpPr txBox="1"/>
          <p:nvPr/>
        </p:nvSpPr>
        <p:spPr>
          <a:xfrm>
            <a:off x="442722"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3" name="Shape 53"/>
          <p:cNvSpPr txBox="1"/>
          <p:nvPr/>
        </p:nvSpPr>
        <p:spPr>
          <a:xfrm>
            <a:off x="442722" y="493147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4" name="Shape 54"/>
          <p:cNvSpPr txBox="1"/>
          <p:nvPr/>
        </p:nvSpPr>
        <p:spPr>
          <a:xfrm>
            <a:off x="442722" y="45838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5" name="Shape 55"/>
          <p:cNvSpPr txBox="1"/>
          <p:nvPr/>
        </p:nvSpPr>
        <p:spPr>
          <a:xfrm>
            <a:off x="442722" y="42361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6" name="Shape 56"/>
          <p:cNvSpPr txBox="1"/>
          <p:nvPr/>
        </p:nvSpPr>
        <p:spPr>
          <a:xfrm>
            <a:off x="442722" y="38884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7" name="Shape 57"/>
          <p:cNvSpPr txBox="1"/>
          <p:nvPr/>
        </p:nvSpPr>
        <p:spPr>
          <a:xfrm>
            <a:off x="442722" y="354082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8" name="Shape 58"/>
          <p:cNvSpPr txBox="1"/>
          <p:nvPr/>
        </p:nvSpPr>
        <p:spPr>
          <a:xfrm>
            <a:off x="442722" y="319316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9" name="Shape 59"/>
          <p:cNvSpPr txBox="1"/>
          <p:nvPr/>
        </p:nvSpPr>
        <p:spPr>
          <a:xfrm>
            <a:off x="442722" y="28454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60" name="Shape 60"/>
          <p:cNvSpPr txBox="1"/>
          <p:nvPr/>
        </p:nvSpPr>
        <p:spPr>
          <a:xfrm>
            <a:off x="442722"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61" name="Shape 61"/>
          <p:cNvSpPr/>
          <p:nvPr/>
        </p:nvSpPr>
        <p:spPr>
          <a:xfrm>
            <a:off x="2309812" y="410137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2" name="Shape 62"/>
          <p:cNvSpPr txBox="1"/>
          <p:nvPr/>
        </p:nvSpPr>
        <p:spPr>
          <a:xfrm>
            <a:off x="2447925" y="390610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a:t>
            </a:r>
            <a:endParaRPr lang="en-US" sz="1125" dirty="0"/>
          </a:p>
        </p:txBody>
      </p:sp>
      <p:sp>
        <p:nvSpPr>
          <p:cNvPr id="63" name="Shape 63"/>
          <p:cNvSpPr/>
          <p:nvPr/>
        </p:nvSpPr>
        <p:spPr>
          <a:xfrm>
            <a:off x="2647950" y="35798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txBox="1"/>
          <p:nvPr/>
        </p:nvSpPr>
        <p:spPr>
          <a:xfrm>
            <a:off x="2786062" y="33846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(2, 2)</a:t>
            </a:r>
            <a:endParaRPr lang="en-US" sz="1125" dirty="0"/>
          </a:p>
        </p:txBody>
      </p:sp>
      <p:sp>
        <p:nvSpPr>
          <p:cNvPr id="65" name="Shape 65"/>
          <p:cNvSpPr/>
          <p:nvPr/>
        </p:nvSpPr>
        <p:spPr>
          <a:xfrm>
            <a:off x="1971675" y="462286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6" name="Shape 66"/>
          <p:cNvSpPr txBox="1"/>
          <p:nvPr/>
        </p:nvSpPr>
        <p:spPr>
          <a:xfrm>
            <a:off x="2109788" y="442760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−4)</a:t>
            </a:r>
            <a:endParaRPr lang="en-US" sz="1125" dirty="0"/>
          </a:p>
        </p:txBody>
      </p:sp>
      <p:cxnSp>
        <p:nvCxnSpPr>
          <p:cNvPr id="67" name="Line 67"/>
          <p:cNvCxnSpPr/>
          <p:nvPr/>
        </p:nvCxnSpPr>
        <p:spPr>
          <a:xfrm flipV="1">
            <a:off x="1573212" y="2589276"/>
            <a:ext cx="1803400" cy="2781300"/>
          </a:xfrm>
          <a:prstGeom prst="line">
            <a:avLst/>
          </a:prstGeom>
          <a:ln w="38100" cap="rnd">
            <a:solidFill>
              <a:srgbClr val="16171D"/>
            </a:solidFill>
          </a:ln>
        </p:spPr>
      </p:cxnSp>
      <p:sp>
        <p:nvSpPr>
          <p:cNvPr id="68" name="Shape 68"/>
          <p:cNvSpPr txBox="1"/>
          <p:nvPr/>
        </p:nvSpPr>
        <p:spPr>
          <a:xfrm>
            <a:off x="6286348"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5</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3</a:t>
            </a:r>
            <a:endParaRPr lang="en-US" sz="2325" dirty="0"/>
          </a:p>
        </p:txBody>
      </p:sp>
      <p:sp>
        <p:nvSpPr>
          <p:cNvPr id="69" name="Shape 69"/>
          <p:cNvSpPr txBox="1"/>
          <p:nvPr/>
        </p:nvSpPr>
        <p:spPr>
          <a:xfrm>
            <a:off x="6286348"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Start at </a:t>
            </a:r>
            <a:r>
              <a:rPr lang="en-US" sz="1575" dirty="0" b="1">
                <a:solidFill>
                  <a:srgbClr val="3050B8"/>
                </a:solidFill>
                <a:latin typeface="Segoe UI"/>
                <a:cs typeface="Segoe UI"/>
              </a:rPr>
              <a:t xml:space="preserve">(0, 3)</a:t>
            </a:r>
            <a:r>
              <a:rPr lang="en-US" sz="1575" dirty="0">
                <a:solidFill>
                  <a:srgbClr val="16171D"/>
                </a:solidFill>
                <a:latin typeface="Segoe UI"/>
                <a:cs typeface="Segoe UI"/>
              </a:rPr>
              <a:t xml:space="preserve">. Down 5, right 2. Or up 5, left 2.</a:t>
            </a:r>
            <a:endParaRPr lang="en-US" sz="1575" dirty="0"/>
          </a:p>
        </p:txBody>
      </p:sp>
      <p:sp>
        <p:nvSpPr>
          <p:cNvPr id="70" name="Shape 70"/>
          <p:cNvSpPr/>
          <p:nvPr/>
        </p:nvSpPr>
        <p:spPr>
          <a:xfrm>
            <a:off x="6286348"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1" name="Line 71"/>
          <p:cNvCxnSpPr/>
          <p:nvPr/>
        </p:nvCxnSpPr>
        <p:spPr>
          <a:xfrm>
            <a:off x="6610198" y="2589276"/>
            <a:ext cx="0" cy="2781300"/>
          </a:xfrm>
          <a:prstGeom prst="line">
            <a:avLst/>
          </a:prstGeom>
          <a:ln w="9525" cap="flat">
            <a:solidFill>
              <a:srgbClr val="E6E8F2"/>
            </a:solidFill>
          </a:ln>
        </p:spPr>
      </p:cxnSp>
      <p:cxnSp>
        <p:nvCxnSpPr>
          <p:cNvPr id="72" name="Line 72"/>
          <p:cNvCxnSpPr/>
          <p:nvPr/>
        </p:nvCxnSpPr>
        <p:spPr>
          <a:xfrm>
            <a:off x="6779266" y="2589276"/>
            <a:ext cx="0" cy="2781300"/>
          </a:xfrm>
          <a:prstGeom prst="line">
            <a:avLst/>
          </a:prstGeom>
          <a:ln w="9525" cap="flat">
            <a:solidFill>
              <a:srgbClr val="E6E8F2"/>
            </a:solidFill>
          </a:ln>
        </p:spPr>
      </p:cxnSp>
      <p:cxnSp>
        <p:nvCxnSpPr>
          <p:cNvPr id="73" name="Line 73"/>
          <p:cNvCxnSpPr/>
          <p:nvPr/>
        </p:nvCxnSpPr>
        <p:spPr>
          <a:xfrm>
            <a:off x="6948335" y="2589276"/>
            <a:ext cx="0" cy="2781300"/>
          </a:xfrm>
          <a:prstGeom prst="line">
            <a:avLst/>
          </a:prstGeom>
          <a:ln w="9525" cap="flat">
            <a:solidFill>
              <a:srgbClr val="E6E8F2"/>
            </a:solidFill>
          </a:ln>
        </p:spPr>
      </p:cxnSp>
      <p:cxnSp>
        <p:nvCxnSpPr>
          <p:cNvPr id="74" name="Line 74"/>
          <p:cNvCxnSpPr/>
          <p:nvPr/>
        </p:nvCxnSpPr>
        <p:spPr>
          <a:xfrm>
            <a:off x="7117404" y="2589276"/>
            <a:ext cx="0" cy="2781300"/>
          </a:xfrm>
          <a:prstGeom prst="line">
            <a:avLst/>
          </a:prstGeom>
          <a:ln w="9525" cap="flat">
            <a:solidFill>
              <a:srgbClr val="E6E8F2"/>
            </a:solidFill>
          </a:ln>
        </p:spPr>
      </p:cxnSp>
      <p:cxnSp>
        <p:nvCxnSpPr>
          <p:cNvPr id="75" name="Line 75"/>
          <p:cNvCxnSpPr/>
          <p:nvPr/>
        </p:nvCxnSpPr>
        <p:spPr>
          <a:xfrm>
            <a:off x="7286473" y="2589276"/>
            <a:ext cx="0" cy="2781300"/>
          </a:xfrm>
          <a:prstGeom prst="line">
            <a:avLst/>
          </a:prstGeom>
          <a:ln w="9525" cap="flat">
            <a:solidFill>
              <a:srgbClr val="E6E8F2"/>
            </a:solidFill>
          </a:ln>
        </p:spPr>
      </p:cxnSp>
      <p:cxnSp>
        <p:nvCxnSpPr>
          <p:cNvPr id="76" name="Line 76"/>
          <p:cNvCxnSpPr/>
          <p:nvPr/>
        </p:nvCxnSpPr>
        <p:spPr>
          <a:xfrm>
            <a:off x="7455541" y="2589276"/>
            <a:ext cx="0" cy="2781300"/>
          </a:xfrm>
          <a:prstGeom prst="line">
            <a:avLst/>
          </a:prstGeom>
          <a:ln w="9525" cap="flat">
            <a:solidFill>
              <a:srgbClr val="E6E8F2"/>
            </a:solidFill>
          </a:ln>
        </p:spPr>
      </p:cxnSp>
      <p:cxnSp>
        <p:nvCxnSpPr>
          <p:cNvPr id="77" name="Line 77"/>
          <p:cNvCxnSpPr/>
          <p:nvPr/>
        </p:nvCxnSpPr>
        <p:spPr>
          <a:xfrm>
            <a:off x="7624610" y="2589276"/>
            <a:ext cx="0" cy="2781300"/>
          </a:xfrm>
          <a:prstGeom prst="line">
            <a:avLst/>
          </a:prstGeom>
          <a:ln w="9525" cap="flat">
            <a:solidFill>
              <a:srgbClr val="E6E8F2"/>
            </a:solidFill>
          </a:ln>
        </p:spPr>
      </p:cxnSp>
      <p:cxnSp>
        <p:nvCxnSpPr>
          <p:cNvPr id="78" name="Line 78"/>
          <p:cNvCxnSpPr/>
          <p:nvPr/>
        </p:nvCxnSpPr>
        <p:spPr>
          <a:xfrm>
            <a:off x="7793679" y="2589276"/>
            <a:ext cx="0" cy="2781300"/>
          </a:xfrm>
          <a:prstGeom prst="line">
            <a:avLst/>
          </a:prstGeom>
          <a:ln w="9525" cap="flat">
            <a:solidFill>
              <a:srgbClr val="E6E8F2"/>
            </a:solidFill>
          </a:ln>
        </p:spPr>
      </p:cxnSp>
      <p:cxnSp>
        <p:nvCxnSpPr>
          <p:cNvPr id="79" name="Line 79"/>
          <p:cNvCxnSpPr/>
          <p:nvPr/>
        </p:nvCxnSpPr>
        <p:spPr>
          <a:xfrm>
            <a:off x="7962748" y="2589276"/>
            <a:ext cx="0" cy="2781300"/>
          </a:xfrm>
          <a:prstGeom prst="line">
            <a:avLst/>
          </a:prstGeom>
          <a:ln w="9525" cap="flat">
            <a:solidFill>
              <a:srgbClr val="E6E8F2"/>
            </a:solidFill>
          </a:ln>
        </p:spPr>
      </p:cxnSp>
      <p:cxnSp>
        <p:nvCxnSpPr>
          <p:cNvPr id="80" name="Line 80"/>
          <p:cNvCxnSpPr/>
          <p:nvPr/>
        </p:nvCxnSpPr>
        <p:spPr>
          <a:xfrm>
            <a:off x="8131816" y="2589276"/>
            <a:ext cx="0" cy="2781300"/>
          </a:xfrm>
          <a:prstGeom prst="line">
            <a:avLst/>
          </a:prstGeom>
          <a:ln w="9525" cap="flat">
            <a:solidFill>
              <a:srgbClr val="E6E8F2"/>
            </a:solidFill>
          </a:ln>
        </p:spPr>
      </p:cxnSp>
      <p:cxnSp>
        <p:nvCxnSpPr>
          <p:cNvPr id="81" name="Line 81"/>
          <p:cNvCxnSpPr/>
          <p:nvPr/>
        </p:nvCxnSpPr>
        <p:spPr>
          <a:xfrm>
            <a:off x="8300885" y="2589276"/>
            <a:ext cx="0" cy="2781300"/>
          </a:xfrm>
          <a:prstGeom prst="line">
            <a:avLst/>
          </a:prstGeom>
          <a:ln w="9525" cap="flat">
            <a:solidFill>
              <a:srgbClr val="E6E8F2"/>
            </a:solidFill>
          </a:ln>
        </p:spPr>
      </p:cxnSp>
      <p:cxnSp>
        <p:nvCxnSpPr>
          <p:cNvPr id="82" name="Line 82"/>
          <p:cNvCxnSpPr/>
          <p:nvPr/>
        </p:nvCxnSpPr>
        <p:spPr>
          <a:xfrm>
            <a:off x="8469954" y="2589276"/>
            <a:ext cx="0" cy="2781300"/>
          </a:xfrm>
          <a:prstGeom prst="line">
            <a:avLst/>
          </a:prstGeom>
          <a:ln w="9525" cap="flat">
            <a:solidFill>
              <a:srgbClr val="E6E8F2"/>
            </a:solidFill>
          </a:ln>
        </p:spPr>
      </p:cxnSp>
      <p:cxnSp>
        <p:nvCxnSpPr>
          <p:cNvPr id="83" name="Line 83"/>
          <p:cNvCxnSpPr/>
          <p:nvPr/>
        </p:nvCxnSpPr>
        <p:spPr>
          <a:xfrm>
            <a:off x="8639023" y="2589276"/>
            <a:ext cx="0" cy="2781300"/>
          </a:xfrm>
          <a:prstGeom prst="line">
            <a:avLst/>
          </a:prstGeom>
          <a:ln w="9525" cap="flat">
            <a:solidFill>
              <a:srgbClr val="E6E8F2"/>
            </a:solidFill>
          </a:ln>
        </p:spPr>
      </p:cxnSp>
      <p:cxnSp>
        <p:nvCxnSpPr>
          <p:cNvPr id="84" name="Line 84"/>
          <p:cNvCxnSpPr/>
          <p:nvPr/>
        </p:nvCxnSpPr>
        <p:spPr>
          <a:xfrm>
            <a:off x="8808091" y="2589276"/>
            <a:ext cx="0" cy="2781300"/>
          </a:xfrm>
          <a:prstGeom prst="line">
            <a:avLst/>
          </a:prstGeom>
          <a:ln w="9525" cap="flat">
            <a:solidFill>
              <a:srgbClr val="E6E8F2"/>
            </a:solidFill>
          </a:ln>
        </p:spPr>
      </p:cxnSp>
      <p:cxnSp>
        <p:nvCxnSpPr>
          <p:cNvPr id="85" name="Line 85"/>
          <p:cNvCxnSpPr/>
          <p:nvPr/>
        </p:nvCxnSpPr>
        <p:spPr>
          <a:xfrm>
            <a:off x="8977160" y="2589276"/>
            <a:ext cx="0" cy="2781300"/>
          </a:xfrm>
          <a:prstGeom prst="line">
            <a:avLst/>
          </a:prstGeom>
          <a:ln w="9525" cap="flat">
            <a:solidFill>
              <a:srgbClr val="E6E8F2"/>
            </a:solidFill>
          </a:ln>
        </p:spPr>
      </p:cxnSp>
      <p:cxnSp>
        <p:nvCxnSpPr>
          <p:cNvPr id="86" name="Line 86"/>
          <p:cNvCxnSpPr/>
          <p:nvPr/>
        </p:nvCxnSpPr>
        <p:spPr>
          <a:xfrm>
            <a:off x="9146229" y="2589276"/>
            <a:ext cx="0" cy="2781300"/>
          </a:xfrm>
          <a:prstGeom prst="line">
            <a:avLst/>
          </a:prstGeom>
          <a:ln w="9525" cap="flat">
            <a:solidFill>
              <a:srgbClr val="E6E8F2"/>
            </a:solidFill>
          </a:ln>
        </p:spPr>
      </p:cxnSp>
      <p:cxnSp>
        <p:nvCxnSpPr>
          <p:cNvPr id="87" name="Line 87"/>
          <p:cNvCxnSpPr/>
          <p:nvPr/>
        </p:nvCxnSpPr>
        <p:spPr>
          <a:xfrm>
            <a:off x="9315298" y="2589276"/>
            <a:ext cx="0" cy="2781300"/>
          </a:xfrm>
          <a:prstGeom prst="line">
            <a:avLst/>
          </a:prstGeom>
          <a:ln w="9525" cap="flat">
            <a:solidFill>
              <a:srgbClr val="E6E8F2"/>
            </a:solidFill>
          </a:ln>
        </p:spPr>
      </p:cxnSp>
      <p:cxnSp>
        <p:nvCxnSpPr>
          <p:cNvPr id="88" name="Line 88"/>
          <p:cNvCxnSpPr/>
          <p:nvPr/>
        </p:nvCxnSpPr>
        <p:spPr>
          <a:xfrm>
            <a:off x="6610198" y="5370576"/>
            <a:ext cx="2705100" cy="0"/>
          </a:xfrm>
          <a:prstGeom prst="line">
            <a:avLst/>
          </a:prstGeom>
          <a:ln w="9525" cap="flat">
            <a:solidFill>
              <a:srgbClr val="E6E8F2"/>
            </a:solidFill>
          </a:ln>
        </p:spPr>
      </p:cxnSp>
      <p:cxnSp>
        <p:nvCxnSpPr>
          <p:cNvPr id="89" name="Line 89"/>
          <p:cNvCxnSpPr/>
          <p:nvPr/>
        </p:nvCxnSpPr>
        <p:spPr>
          <a:xfrm>
            <a:off x="6610198" y="5216059"/>
            <a:ext cx="2705100" cy="0"/>
          </a:xfrm>
          <a:prstGeom prst="line">
            <a:avLst/>
          </a:prstGeom>
          <a:ln w="9525" cap="flat">
            <a:solidFill>
              <a:srgbClr val="E6E8F2"/>
            </a:solidFill>
          </a:ln>
        </p:spPr>
      </p:cxnSp>
      <p:cxnSp>
        <p:nvCxnSpPr>
          <p:cNvPr id="90" name="Line 90"/>
          <p:cNvCxnSpPr/>
          <p:nvPr/>
        </p:nvCxnSpPr>
        <p:spPr>
          <a:xfrm>
            <a:off x="6610198" y="5061543"/>
            <a:ext cx="2705100" cy="0"/>
          </a:xfrm>
          <a:prstGeom prst="line">
            <a:avLst/>
          </a:prstGeom>
          <a:ln w="9525" cap="flat">
            <a:solidFill>
              <a:srgbClr val="E6E8F2"/>
            </a:solidFill>
          </a:ln>
        </p:spPr>
      </p:cxnSp>
      <p:cxnSp>
        <p:nvCxnSpPr>
          <p:cNvPr id="91" name="Line 91"/>
          <p:cNvCxnSpPr/>
          <p:nvPr/>
        </p:nvCxnSpPr>
        <p:spPr>
          <a:xfrm>
            <a:off x="6610198" y="4907026"/>
            <a:ext cx="2705100" cy="0"/>
          </a:xfrm>
          <a:prstGeom prst="line">
            <a:avLst/>
          </a:prstGeom>
          <a:ln w="9525" cap="flat">
            <a:solidFill>
              <a:srgbClr val="E6E8F2"/>
            </a:solidFill>
          </a:ln>
        </p:spPr>
      </p:cxnSp>
      <p:cxnSp>
        <p:nvCxnSpPr>
          <p:cNvPr id="92" name="Line 92"/>
          <p:cNvCxnSpPr/>
          <p:nvPr/>
        </p:nvCxnSpPr>
        <p:spPr>
          <a:xfrm>
            <a:off x="6610198" y="4752509"/>
            <a:ext cx="2705100" cy="0"/>
          </a:xfrm>
          <a:prstGeom prst="line">
            <a:avLst/>
          </a:prstGeom>
          <a:ln w="9525" cap="flat">
            <a:solidFill>
              <a:srgbClr val="E6E8F2"/>
            </a:solidFill>
          </a:ln>
        </p:spPr>
      </p:cxnSp>
      <p:cxnSp>
        <p:nvCxnSpPr>
          <p:cNvPr id="93" name="Line 93"/>
          <p:cNvCxnSpPr/>
          <p:nvPr/>
        </p:nvCxnSpPr>
        <p:spPr>
          <a:xfrm>
            <a:off x="6610198" y="4597993"/>
            <a:ext cx="2705100" cy="0"/>
          </a:xfrm>
          <a:prstGeom prst="line">
            <a:avLst/>
          </a:prstGeom>
          <a:ln w="9525" cap="flat">
            <a:solidFill>
              <a:srgbClr val="E6E8F2"/>
            </a:solidFill>
          </a:ln>
        </p:spPr>
      </p:cxnSp>
      <p:cxnSp>
        <p:nvCxnSpPr>
          <p:cNvPr id="94" name="Line 94"/>
          <p:cNvCxnSpPr/>
          <p:nvPr/>
        </p:nvCxnSpPr>
        <p:spPr>
          <a:xfrm>
            <a:off x="6610198" y="4443476"/>
            <a:ext cx="2705100" cy="0"/>
          </a:xfrm>
          <a:prstGeom prst="line">
            <a:avLst/>
          </a:prstGeom>
          <a:ln w="9525" cap="flat">
            <a:solidFill>
              <a:srgbClr val="E6E8F2"/>
            </a:solidFill>
          </a:ln>
        </p:spPr>
      </p:cxnSp>
      <p:cxnSp>
        <p:nvCxnSpPr>
          <p:cNvPr id="95" name="Line 95"/>
          <p:cNvCxnSpPr/>
          <p:nvPr/>
        </p:nvCxnSpPr>
        <p:spPr>
          <a:xfrm>
            <a:off x="6610198" y="4288959"/>
            <a:ext cx="2705100" cy="0"/>
          </a:xfrm>
          <a:prstGeom prst="line">
            <a:avLst/>
          </a:prstGeom>
          <a:ln w="9525" cap="flat">
            <a:solidFill>
              <a:srgbClr val="E6E8F2"/>
            </a:solidFill>
          </a:ln>
        </p:spPr>
      </p:cxnSp>
      <p:cxnSp>
        <p:nvCxnSpPr>
          <p:cNvPr id="96" name="Line 96"/>
          <p:cNvCxnSpPr/>
          <p:nvPr/>
        </p:nvCxnSpPr>
        <p:spPr>
          <a:xfrm>
            <a:off x="6610198" y="4134443"/>
            <a:ext cx="2705100" cy="0"/>
          </a:xfrm>
          <a:prstGeom prst="line">
            <a:avLst/>
          </a:prstGeom>
          <a:ln w="9525" cap="flat">
            <a:solidFill>
              <a:srgbClr val="E6E8F2"/>
            </a:solidFill>
          </a:ln>
        </p:spPr>
      </p:cxnSp>
      <p:cxnSp>
        <p:nvCxnSpPr>
          <p:cNvPr id="97" name="Line 97"/>
          <p:cNvCxnSpPr/>
          <p:nvPr/>
        </p:nvCxnSpPr>
        <p:spPr>
          <a:xfrm>
            <a:off x="6610198" y="3979926"/>
            <a:ext cx="2705100" cy="0"/>
          </a:xfrm>
          <a:prstGeom prst="line">
            <a:avLst/>
          </a:prstGeom>
          <a:ln w="9525" cap="flat">
            <a:solidFill>
              <a:srgbClr val="E6E8F2"/>
            </a:solidFill>
          </a:ln>
        </p:spPr>
      </p:cxnSp>
      <p:cxnSp>
        <p:nvCxnSpPr>
          <p:cNvPr id="98" name="Line 98"/>
          <p:cNvCxnSpPr/>
          <p:nvPr/>
        </p:nvCxnSpPr>
        <p:spPr>
          <a:xfrm>
            <a:off x="6610198" y="3825409"/>
            <a:ext cx="2705100" cy="0"/>
          </a:xfrm>
          <a:prstGeom prst="line">
            <a:avLst/>
          </a:prstGeom>
          <a:ln w="9525" cap="flat">
            <a:solidFill>
              <a:srgbClr val="E6E8F2"/>
            </a:solidFill>
          </a:ln>
        </p:spPr>
      </p:cxnSp>
      <p:cxnSp>
        <p:nvCxnSpPr>
          <p:cNvPr id="99" name="Line 99"/>
          <p:cNvCxnSpPr/>
          <p:nvPr/>
        </p:nvCxnSpPr>
        <p:spPr>
          <a:xfrm>
            <a:off x="6610198" y="3670893"/>
            <a:ext cx="2705100" cy="0"/>
          </a:xfrm>
          <a:prstGeom prst="line">
            <a:avLst/>
          </a:prstGeom>
          <a:ln w="9525" cap="flat">
            <a:solidFill>
              <a:srgbClr val="E6E8F2"/>
            </a:solidFill>
          </a:ln>
        </p:spPr>
      </p:cxnSp>
      <p:cxnSp>
        <p:nvCxnSpPr>
          <p:cNvPr id="100" name="Line 100"/>
          <p:cNvCxnSpPr/>
          <p:nvPr/>
        </p:nvCxnSpPr>
        <p:spPr>
          <a:xfrm>
            <a:off x="6610198" y="3516376"/>
            <a:ext cx="2705100" cy="0"/>
          </a:xfrm>
          <a:prstGeom prst="line">
            <a:avLst/>
          </a:prstGeom>
          <a:ln w="9525" cap="flat">
            <a:solidFill>
              <a:srgbClr val="E6E8F2"/>
            </a:solidFill>
          </a:ln>
        </p:spPr>
      </p:cxnSp>
      <p:cxnSp>
        <p:nvCxnSpPr>
          <p:cNvPr id="101" name="Line 101"/>
          <p:cNvCxnSpPr/>
          <p:nvPr/>
        </p:nvCxnSpPr>
        <p:spPr>
          <a:xfrm>
            <a:off x="6610198" y="3361859"/>
            <a:ext cx="2705100" cy="0"/>
          </a:xfrm>
          <a:prstGeom prst="line">
            <a:avLst/>
          </a:prstGeom>
          <a:ln w="9525" cap="flat">
            <a:solidFill>
              <a:srgbClr val="E6E8F2"/>
            </a:solidFill>
          </a:ln>
        </p:spPr>
      </p:cxnSp>
      <p:cxnSp>
        <p:nvCxnSpPr>
          <p:cNvPr id="102" name="Line 102"/>
          <p:cNvCxnSpPr/>
          <p:nvPr/>
        </p:nvCxnSpPr>
        <p:spPr>
          <a:xfrm>
            <a:off x="6610198" y="3207343"/>
            <a:ext cx="2705100" cy="0"/>
          </a:xfrm>
          <a:prstGeom prst="line">
            <a:avLst/>
          </a:prstGeom>
          <a:ln w="9525" cap="flat">
            <a:solidFill>
              <a:srgbClr val="E6E8F2"/>
            </a:solidFill>
          </a:ln>
        </p:spPr>
      </p:cxnSp>
      <p:cxnSp>
        <p:nvCxnSpPr>
          <p:cNvPr id="103" name="Line 103"/>
          <p:cNvCxnSpPr/>
          <p:nvPr/>
        </p:nvCxnSpPr>
        <p:spPr>
          <a:xfrm>
            <a:off x="6610198" y="3052826"/>
            <a:ext cx="2705100" cy="0"/>
          </a:xfrm>
          <a:prstGeom prst="line">
            <a:avLst/>
          </a:prstGeom>
          <a:ln w="9525" cap="flat">
            <a:solidFill>
              <a:srgbClr val="E6E8F2"/>
            </a:solidFill>
          </a:ln>
        </p:spPr>
      </p:cxnSp>
      <p:cxnSp>
        <p:nvCxnSpPr>
          <p:cNvPr id="104" name="Line 104"/>
          <p:cNvCxnSpPr/>
          <p:nvPr/>
        </p:nvCxnSpPr>
        <p:spPr>
          <a:xfrm>
            <a:off x="6610198" y="2898309"/>
            <a:ext cx="2705100" cy="0"/>
          </a:xfrm>
          <a:prstGeom prst="line">
            <a:avLst/>
          </a:prstGeom>
          <a:ln w="9525" cap="flat">
            <a:solidFill>
              <a:srgbClr val="E6E8F2"/>
            </a:solidFill>
          </a:ln>
        </p:spPr>
      </p:cxnSp>
      <p:cxnSp>
        <p:nvCxnSpPr>
          <p:cNvPr id="105" name="Line 105"/>
          <p:cNvCxnSpPr/>
          <p:nvPr/>
        </p:nvCxnSpPr>
        <p:spPr>
          <a:xfrm>
            <a:off x="6610198" y="2743793"/>
            <a:ext cx="2705100" cy="0"/>
          </a:xfrm>
          <a:prstGeom prst="line">
            <a:avLst/>
          </a:prstGeom>
          <a:ln w="9525" cap="flat">
            <a:solidFill>
              <a:srgbClr val="E6E8F2"/>
            </a:solidFill>
          </a:ln>
        </p:spPr>
      </p:cxnSp>
      <p:cxnSp>
        <p:nvCxnSpPr>
          <p:cNvPr id="106" name="Line 106"/>
          <p:cNvCxnSpPr/>
          <p:nvPr/>
        </p:nvCxnSpPr>
        <p:spPr>
          <a:xfrm>
            <a:off x="6610198" y="2589276"/>
            <a:ext cx="2705100" cy="0"/>
          </a:xfrm>
          <a:prstGeom prst="line">
            <a:avLst/>
          </a:prstGeom>
          <a:ln w="9525" cap="flat">
            <a:solidFill>
              <a:srgbClr val="E6E8F2"/>
            </a:solidFill>
          </a:ln>
        </p:spPr>
      </p:cxnSp>
      <p:cxnSp>
        <p:nvCxnSpPr>
          <p:cNvPr id="107" name="Line 107"/>
          <p:cNvCxnSpPr/>
          <p:nvPr/>
        </p:nvCxnSpPr>
        <p:spPr>
          <a:xfrm>
            <a:off x="7962748" y="2589276"/>
            <a:ext cx="0" cy="2781300"/>
          </a:xfrm>
          <a:prstGeom prst="line">
            <a:avLst/>
          </a:prstGeom>
          <a:ln w="19050" cap="flat">
            <a:solidFill>
              <a:srgbClr val="5F6272"/>
            </a:solidFill>
          </a:ln>
        </p:spPr>
      </p:cxnSp>
      <p:cxnSp>
        <p:nvCxnSpPr>
          <p:cNvPr id="108" name="Line 108"/>
          <p:cNvCxnSpPr/>
          <p:nvPr/>
        </p:nvCxnSpPr>
        <p:spPr>
          <a:xfrm>
            <a:off x="6610198" y="4134443"/>
            <a:ext cx="2705100" cy="0"/>
          </a:xfrm>
          <a:prstGeom prst="line">
            <a:avLst/>
          </a:prstGeom>
          <a:ln w="19050" cap="flat">
            <a:solidFill>
              <a:srgbClr val="5F6272"/>
            </a:solidFill>
          </a:ln>
        </p:spPr>
      </p:cxnSp>
      <p:sp>
        <p:nvSpPr>
          <p:cNvPr id="109" name="Shape 109"/>
          <p:cNvSpPr txBox="1"/>
          <p:nvPr/>
        </p:nvSpPr>
        <p:spPr>
          <a:xfrm>
            <a:off x="63358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0" name="Shape 110"/>
          <p:cNvSpPr txBox="1"/>
          <p:nvPr/>
        </p:nvSpPr>
        <p:spPr>
          <a:xfrm>
            <a:off x="667401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1" name="Shape 111"/>
          <p:cNvSpPr txBox="1"/>
          <p:nvPr/>
        </p:nvSpPr>
        <p:spPr>
          <a:xfrm>
            <a:off x="701215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2" name="Shape 112"/>
          <p:cNvSpPr txBox="1"/>
          <p:nvPr/>
        </p:nvSpPr>
        <p:spPr>
          <a:xfrm>
            <a:off x="735029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3" name="Shape 113"/>
          <p:cNvSpPr txBox="1"/>
          <p:nvPr/>
        </p:nvSpPr>
        <p:spPr>
          <a:xfrm>
            <a:off x="768842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14" name="Shape 114"/>
          <p:cNvSpPr txBox="1"/>
          <p:nvPr/>
        </p:nvSpPr>
        <p:spPr>
          <a:xfrm>
            <a:off x="802656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5" name="Shape 115"/>
          <p:cNvSpPr txBox="1"/>
          <p:nvPr/>
        </p:nvSpPr>
        <p:spPr>
          <a:xfrm>
            <a:off x="836470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6" name="Shape 116"/>
          <p:cNvSpPr txBox="1"/>
          <p:nvPr/>
        </p:nvSpPr>
        <p:spPr>
          <a:xfrm>
            <a:off x="870284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7" name="Shape 117"/>
          <p:cNvSpPr txBox="1"/>
          <p:nvPr/>
        </p:nvSpPr>
        <p:spPr>
          <a:xfrm>
            <a:off x="90409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8" name="Shape 118"/>
          <p:cNvSpPr txBox="1"/>
          <p:nvPr/>
        </p:nvSpPr>
        <p:spPr>
          <a:xfrm>
            <a:off x="6043270"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19" name="Shape 119"/>
          <p:cNvSpPr txBox="1"/>
          <p:nvPr/>
        </p:nvSpPr>
        <p:spPr>
          <a:xfrm>
            <a:off x="6043270" y="49701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0" name="Shape 120"/>
          <p:cNvSpPr txBox="1"/>
          <p:nvPr/>
        </p:nvSpPr>
        <p:spPr>
          <a:xfrm>
            <a:off x="6043270" y="4661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1" name="Shape 121"/>
          <p:cNvSpPr txBox="1"/>
          <p:nvPr/>
        </p:nvSpPr>
        <p:spPr>
          <a:xfrm>
            <a:off x="6043270" y="43520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2" name="Shape 122"/>
          <p:cNvSpPr txBox="1"/>
          <p:nvPr/>
        </p:nvSpPr>
        <p:spPr>
          <a:xfrm>
            <a:off x="6043270" y="4043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23" name="Shape 123"/>
          <p:cNvSpPr txBox="1"/>
          <p:nvPr/>
        </p:nvSpPr>
        <p:spPr>
          <a:xfrm>
            <a:off x="6043270" y="37339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4" name="Shape 124"/>
          <p:cNvSpPr txBox="1"/>
          <p:nvPr/>
        </p:nvSpPr>
        <p:spPr>
          <a:xfrm>
            <a:off x="6043270" y="34249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5" name="Shape 125"/>
          <p:cNvSpPr txBox="1"/>
          <p:nvPr/>
        </p:nvSpPr>
        <p:spPr>
          <a:xfrm>
            <a:off x="6043270" y="31159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6" name="Shape 126"/>
          <p:cNvSpPr txBox="1"/>
          <p:nvPr/>
        </p:nvSpPr>
        <p:spPr>
          <a:xfrm>
            <a:off x="6043270" y="28068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27" name="Shape 127"/>
          <p:cNvSpPr txBox="1"/>
          <p:nvPr/>
        </p:nvSpPr>
        <p:spPr>
          <a:xfrm>
            <a:off x="6043270"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128" name="Shape 128"/>
          <p:cNvSpPr/>
          <p:nvPr/>
        </p:nvSpPr>
        <p:spPr>
          <a:xfrm>
            <a:off x="7910360" y="361850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9" name="Shape 129"/>
          <p:cNvSpPr txBox="1"/>
          <p:nvPr/>
        </p:nvSpPr>
        <p:spPr>
          <a:xfrm>
            <a:off x="8048473" y="342324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(0, 3)</a:t>
            </a:r>
            <a:endParaRPr lang="en-US" sz="1125" dirty="0"/>
          </a:p>
        </p:txBody>
      </p:sp>
      <p:sp>
        <p:nvSpPr>
          <p:cNvPr id="130" name="Shape 130"/>
          <p:cNvSpPr/>
          <p:nvPr/>
        </p:nvSpPr>
        <p:spPr>
          <a:xfrm>
            <a:off x="8248498" y="439108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31" name="Shape 131"/>
          <p:cNvSpPr txBox="1"/>
          <p:nvPr/>
        </p:nvSpPr>
        <p:spPr>
          <a:xfrm>
            <a:off x="8386610" y="4195826"/>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−2)</a:t>
            </a:r>
            <a:endParaRPr lang="en-US" sz="1125" dirty="0"/>
          </a:p>
        </p:txBody>
      </p:sp>
      <p:sp>
        <p:nvSpPr>
          <p:cNvPr id="132" name="Shape 132"/>
          <p:cNvSpPr/>
          <p:nvPr/>
        </p:nvSpPr>
        <p:spPr>
          <a:xfrm>
            <a:off x="7572223" y="284592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33" name="Shape 133"/>
          <p:cNvSpPr txBox="1"/>
          <p:nvPr/>
        </p:nvSpPr>
        <p:spPr>
          <a:xfrm>
            <a:off x="7710335" y="265065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8)</a:t>
            </a:r>
            <a:endParaRPr lang="en-US" sz="1125" dirty="0"/>
          </a:p>
        </p:txBody>
      </p:sp>
      <p:cxnSp>
        <p:nvCxnSpPr>
          <p:cNvPr id="134" name="Line 134"/>
          <p:cNvCxnSpPr/>
          <p:nvPr/>
        </p:nvCxnSpPr>
        <p:spPr>
          <a:xfrm>
            <a:off x="7489355" y="2589276"/>
            <a:ext cx="1217295" cy="278130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1"/>
                                        </p:tgtEl>
                                        <p:attrNameLst>
                                          <p:attrName>style.visibility</p:attrName>
                                        </p:attrNameLst>
                                      </p:cBhvr>
                                      <p:to>
                                        <p:strVal val="visible"/>
                                      </p:to>
                                    </p:set>
                                    <p:animEffect transition="in" filter="fade">
                                      <p:cBhvr>
                                        <p:cTn id="4" dur="500"/>
                                        <p:tgtEl>
                                          <p:spTgt spid="61"/>
                                        </p:tgtEl>
                                      </p:cBhvr>
                                    </p:animEffect>
                                    <p:anim calcmode="lin" valueType="num">
                                      <p:cBhvr>
                                        <p:cTn id="5" dur="500" fill="hold"/>
                                        <p:tgtEl>
                                          <p:spTgt spid="61"/>
                                        </p:tgtEl>
                                        <p:attrNameLst>
                                          <p:attrName>ppt_w</p:attrName>
                                        </p:attrNameLst>
                                      </p:cBhvr>
                                      <p:tavLst>
                                        <p:tav tm="0">
                                          <p:val>
                                            <p:fltVal val="0"/>
                                          </p:val>
                                        </p:tav>
                                        <p:tav tm="100000">
                                          <p:val>
                                            <p:strVal val="#ppt_w"/>
                                          </p:val>
                                        </p:tav>
                                      </p:tavLst>
                                    </p:anim>
                                    <p:anim calcmode="lin" valueType="num">
                                      <p:cBhvr>
                                        <p:cTn id="6" dur="500" fill="hold"/>
                                        <p:tgtEl>
                                          <p:spTgt spid="61"/>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62"/>
                                        </p:tgtEl>
                                        <p:attrNameLst>
                                          <p:attrName>style.visibility</p:attrName>
                                        </p:attrNameLst>
                                      </p:cBhvr>
                                      <p:to>
                                        <p:strVal val="visible"/>
                                      </p:to>
                                    </p:set>
                                    <p:animEffect transition="in" filter="fade">
                                      <p:cBhvr>
                                        <p:cTn id="9" dur="500"/>
                                        <p:tgtEl>
                                          <p:spTgt spid="62"/>
                                        </p:tgtEl>
                                      </p:cBhvr>
                                    </p:animEffect>
                                    <p:anim calcmode="lin" valueType="num">
                                      <p:cBhvr>
                                        <p:cTn id="10" dur="500" fill="hold"/>
                                        <p:tgtEl>
                                          <p:spTgt spid="62"/>
                                        </p:tgtEl>
                                        <p:attrNameLst>
                                          <p:attrName>ppt_w</p:attrName>
                                        </p:attrNameLst>
                                      </p:cBhvr>
                                      <p:tavLst>
                                        <p:tav tm="0">
                                          <p:val>
                                            <p:fltVal val="0"/>
                                          </p:val>
                                        </p:tav>
                                        <p:tav tm="100000">
                                          <p:val>
                                            <p:strVal val="#ppt_w"/>
                                          </p:val>
                                        </p:tav>
                                      </p:tavLst>
                                    </p:anim>
                                    <p:anim calcmode="lin" valueType="num">
                                      <p:cBhvr>
                                        <p:cTn id="11"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anim calcmode="lin" valueType="num">
                                      <p:cBhvr>
                                        <p:cTn id="17" dur="500" fill="hold"/>
                                        <p:tgtEl>
                                          <p:spTgt spid="63"/>
                                        </p:tgtEl>
                                        <p:attrNameLst>
                                          <p:attrName>ppt_w</p:attrName>
                                        </p:attrNameLst>
                                      </p:cBhvr>
                                      <p:tavLst>
                                        <p:tav tm="0">
                                          <p:val>
                                            <p:fltVal val="0"/>
                                          </p:val>
                                        </p:tav>
                                        <p:tav tm="100000">
                                          <p:val>
                                            <p:strVal val="#ppt_w"/>
                                          </p:val>
                                        </p:tav>
                                      </p:tavLst>
                                    </p:anim>
                                    <p:anim calcmode="lin" valueType="num">
                                      <p:cBhvr>
                                        <p:cTn id="18" dur="500" fill="hold"/>
                                        <p:tgtEl>
                                          <p:spTgt spid="63"/>
                                        </p:tgtEl>
                                        <p:attrNameLst>
                                          <p:attrName>ppt_h</p:attrName>
                                        </p:attrNameLst>
                                      </p:cBhvr>
                                      <p:tavLst>
                                        <p:tav tm="0">
                                          <p:val>
                                            <p:fltVal val="0"/>
                                          </p:val>
                                        </p:tav>
                                        <p:tav tm="100000">
                                          <p:val>
                                            <p:strVal val="#ppt_h"/>
                                          </p:val>
                                        </p:tav>
                                      </p:tavLst>
                                    </p:anim>
                                  </p:childTnLst>
                                </p:cTn>
                              </p:par>
                              <p:par>
                                <p:cTn id="24" presetID="53" presetClass="entr" presetSubtype="16"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anim calcmode="lin" valueType="num">
                                      <p:cBhvr>
                                        <p:cTn id="22" dur="500" fill="hold"/>
                                        <p:tgtEl>
                                          <p:spTgt spid="64"/>
                                        </p:tgtEl>
                                        <p:attrNameLst>
                                          <p:attrName>ppt_w</p:attrName>
                                        </p:attrNameLst>
                                      </p:cBhvr>
                                      <p:tavLst>
                                        <p:tav tm="0">
                                          <p:val>
                                            <p:fltVal val="0"/>
                                          </p:val>
                                        </p:tav>
                                        <p:tav tm="100000">
                                          <p:val>
                                            <p:strVal val="#ppt_w"/>
                                          </p:val>
                                        </p:tav>
                                      </p:tavLst>
                                    </p:anim>
                                    <p:anim calcmode="lin" valueType="num">
                                      <p:cBhvr>
                                        <p:cTn id="23"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65"/>
                                        </p:tgtEl>
                                        <p:attrNameLst>
                                          <p:attrName>style.visibility</p:attrName>
                                        </p:attrNameLst>
                                      </p:cBhvr>
                                      <p:to>
                                        <p:strVal val="visible"/>
                                      </p:to>
                                    </p:set>
                                    <p:animEffect transition="in" filter="fade">
                                      <p:cBhvr>
                                        <p:cTn id="28" dur="500"/>
                                        <p:tgtEl>
                                          <p:spTgt spid="65"/>
                                        </p:tgtEl>
                                      </p:cBhvr>
                                    </p:animEffect>
                                    <p:anim calcmode="lin" valueType="num">
                                      <p:cBhvr>
                                        <p:cTn id="29" dur="500" fill="hold"/>
                                        <p:tgtEl>
                                          <p:spTgt spid="65"/>
                                        </p:tgtEl>
                                        <p:attrNameLst>
                                          <p:attrName>ppt_w</p:attrName>
                                        </p:attrNameLst>
                                      </p:cBhvr>
                                      <p:tavLst>
                                        <p:tav tm="0">
                                          <p:val>
                                            <p:fltVal val="0"/>
                                          </p:val>
                                        </p:tav>
                                        <p:tav tm="100000">
                                          <p:val>
                                            <p:strVal val="#ppt_w"/>
                                          </p:val>
                                        </p:tav>
                                      </p:tavLst>
                                    </p:anim>
                                    <p:anim calcmode="lin" valueType="num">
                                      <p:cBhvr>
                                        <p:cTn id="30" dur="500" fill="hold"/>
                                        <p:tgtEl>
                                          <p:spTgt spid="65"/>
                                        </p:tgtEl>
                                        <p:attrNameLst>
                                          <p:attrName>ppt_h</p:attrName>
                                        </p:attrNameLst>
                                      </p:cBhvr>
                                      <p:tavLst>
                                        <p:tav tm="0">
                                          <p:val>
                                            <p:fltVal val="0"/>
                                          </p:val>
                                        </p:tav>
                                        <p:tav tm="100000">
                                          <p:val>
                                            <p:strVal val="#ppt_h"/>
                                          </p:val>
                                        </p:tav>
                                      </p:tavLst>
                                    </p:anim>
                                  </p:childTnLst>
                                </p:cTn>
                              </p:par>
                              <p:par>
                                <p:cTn id="36" presetID="53" presetClass="entr" presetSubtype="16" fill="hold" nodeType="with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fade">
                                      <p:cBhvr>
                                        <p:cTn id="33" dur="500"/>
                                        <p:tgtEl>
                                          <p:spTgt spid="66"/>
                                        </p:tgtEl>
                                      </p:cBhvr>
                                    </p:animEffect>
                                    <p:anim calcmode="lin" valueType="num">
                                      <p:cBhvr>
                                        <p:cTn id="34" dur="500" fill="hold"/>
                                        <p:tgtEl>
                                          <p:spTgt spid="66"/>
                                        </p:tgtEl>
                                        <p:attrNameLst>
                                          <p:attrName>ppt_w</p:attrName>
                                        </p:attrNameLst>
                                      </p:cBhvr>
                                      <p:tavLst>
                                        <p:tav tm="0">
                                          <p:val>
                                            <p:fltVal val="0"/>
                                          </p:val>
                                        </p:tav>
                                        <p:tav tm="100000">
                                          <p:val>
                                            <p:strVal val="#ppt_w"/>
                                          </p:val>
                                        </p:tav>
                                      </p:tavLst>
                                    </p:anim>
                                    <p:anim calcmode="lin" valueType="num">
                                      <p:cBhvr>
                                        <p:cTn id="35" dur="500" fill="hold"/>
                                        <p:tgtEl>
                                          <p:spTgt spid="66"/>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wipe(left)">
                                      <p:cBhvr>
                                        <p:cTn id="40" dur="700"/>
                                        <p:tgtEl>
                                          <p:spTgt spid="67"/>
                                        </p:tgtEl>
                                      </p:cBhvr>
                                    </p:animEffect>
                                  </p:childTnLst>
                                </p:cTn>
                              </p:par>
                            </p:childTnLst>
                          </p:cTn>
                        </p:par>
                      </p:childTnLst>
                    </p:cTn>
                  </p:par>
                  <p:par>
                    <p:cTn id="54" fill="hold">
                      <p:stCondLst>
                        <p:cond delay="indefinite"/>
                      </p:stCondLst>
                      <p:childTnLst>
                        <p:par>
                          <p:cTn id="55" fill="hold">
                            <p:stCondLst>
                              <p:cond delay="0"/>
                            </p:stCondLst>
                            <p:childTnLst>
                              <p:par>
                                <p:cTn id="48" presetID="53" presetClass="entr" presetSubtype="16" fill="hold" nodeType="clickEffect">
                                  <p:stCondLst>
                                    <p:cond delay="0"/>
                                  </p:stCondLst>
                                  <p:childTnLst>
                                    <p:set>
                                      <p:cBhvr>
                                        <p:cTn id="44" dur="1" fill="hold">
                                          <p:stCondLst>
                                            <p:cond delay="0"/>
                                          </p:stCondLst>
                                        </p:cTn>
                                        <p:tgtEl>
                                          <p:spTgt spid="128"/>
                                        </p:tgtEl>
                                        <p:attrNameLst>
                                          <p:attrName>style.visibility</p:attrName>
                                        </p:attrNameLst>
                                      </p:cBhvr>
                                      <p:to>
                                        <p:strVal val="visible"/>
                                      </p:to>
                                    </p:set>
                                    <p:animEffect transition="in" filter="fade">
                                      <p:cBhvr>
                                        <p:cTn id="45" dur="500"/>
                                        <p:tgtEl>
                                          <p:spTgt spid="128"/>
                                        </p:tgtEl>
                                      </p:cBhvr>
                                    </p:animEffect>
                                    <p:anim calcmode="lin" valueType="num">
                                      <p:cBhvr>
                                        <p:cTn id="46" dur="500" fill="hold"/>
                                        <p:tgtEl>
                                          <p:spTgt spid="128"/>
                                        </p:tgtEl>
                                        <p:attrNameLst>
                                          <p:attrName>ppt_w</p:attrName>
                                        </p:attrNameLst>
                                      </p:cBhvr>
                                      <p:tavLst>
                                        <p:tav tm="0">
                                          <p:val>
                                            <p:fltVal val="0"/>
                                          </p:val>
                                        </p:tav>
                                        <p:tav tm="100000">
                                          <p:val>
                                            <p:strVal val="#ppt_w"/>
                                          </p:val>
                                        </p:tav>
                                      </p:tavLst>
                                    </p:anim>
                                    <p:anim calcmode="lin" valueType="num">
                                      <p:cBhvr>
                                        <p:cTn id="47" dur="500" fill="hold"/>
                                        <p:tgtEl>
                                          <p:spTgt spid="128"/>
                                        </p:tgtEl>
                                        <p:attrNameLst>
                                          <p:attrName>ppt_h</p:attrName>
                                        </p:attrNameLst>
                                      </p:cBhvr>
                                      <p:tavLst>
                                        <p:tav tm="0">
                                          <p:val>
                                            <p:fltVal val="0"/>
                                          </p:val>
                                        </p:tav>
                                        <p:tav tm="100000">
                                          <p:val>
                                            <p:strVal val="#ppt_h"/>
                                          </p:val>
                                        </p:tav>
                                      </p:tavLst>
                                    </p:anim>
                                  </p:childTnLst>
                                </p:cTn>
                              </p:par>
                              <p:par>
                                <p:cTn id="53" presetID="53" presetClass="entr" presetSubtype="16" fill="hold" nodeType="withEffect">
                                  <p:stCondLst>
                                    <p:cond delay="0"/>
                                  </p:stCondLst>
                                  <p:childTnLst>
                                    <p:set>
                                      <p:cBhvr>
                                        <p:cTn id="49" dur="1" fill="hold">
                                          <p:stCondLst>
                                            <p:cond delay="0"/>
                                          </p:stCondLst>
                                        </p:cTn>
                                        <p:tgtEl>
                                          <p:spTgt spid="129"/>
                                        </p:tgtEl>
                                        <p:attrNameLst>
                                          <p:attrName>style.visibility</p:attrName>
                                        </p:attrNameLst>
                                      </p:cBhvr>
                                      <p:to>
                                        <p:strVal val="visible"/>
                                      </p:to>
                                    </p:set>
                                    <p:animEffect transition="in" filter="fade">
                                      <p:cBhvr>
                                        <p:cTn id="50" dur="500"/>
                                        <p:tgtEl>
                                          <p:spTgt spid="129"/>
                                        </p:tgtEl>
                                      </p:cBhvr>
                                    </p:animEffect>
                                    <p:anim calcmode="lin" valueType="num">
                                      <p:cBhvr>
                                        <p:cTn id="51" dur="500" fill="hold"/>
                                        <p:tgtEl>
                                          <p:spTgt spid="129"/>
                                        </p:tgtEl>
                                        <p:attrNameLst>
                                          <p:attrName>ppt_w</p:attrName>
                                        </p:attrNameLst>
                                      </p:cBhvr>
                                      <p:tavLst>
                                        <p:tav tm="0">
                                          <p:val>
                                            <p:fltVal val="0"/>
                                          </p:val>
                                        </p:tav>
                                        <p:tav tm="100000">
                                          <p:val>
                                            <p:strVal val="#ppt_w"/>
                                          </p:val>
                                        </p:tav>
                                      </p:tavLst>
                                    </p:anim>
                                    <p:anim calcmode="lin" valueType="num">
                                      <p:cBhvr>
                                        <p:cTn id="52" dur="500" fill="hold"/>
                                        <p:tgtEl>
                                          <p:spTgt spid="129"/>
                                        </p:tgtEl>
                                        <p:attrNameLst>
                                          <p:attrName>ppt_h</p:attrName>
                                        </p:attrNameLst>
                                      </p:cBhvr>
                                      <p:tavLst>
                                        <p:tav tm="0">
                                          <p:val>
                                            <p:fltVal val="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0" presetID="53" presetClass="entr" presetSubtype="16" fill="hold" nodeType="clickEffect">
                                  <p:stCondLst>
                                    <p:cond delay="0"/>
                                  </p:stCondLst>
                                  <p:childTnLst>
                                    <p:set>
                                      <p:cBhvr>
                                        <p:cTn id="56" dur="1" fill="hold">
                                          <p:stCondLst>
                                            <p:cond delay="0"/>
                                          </p:stCondLst>
                                        </p:cTn>
                                        <p:tgtEl>
                                          <p:spTgt spid="130"/>
                                        </p:tgtEl>
                                        <p:attrNameLst>
                                          <p:attrName>style.visibility</p:attrName>
                                        </p:attrNameLst>
                                      </p:cBhvr>
                                      <p:to>
                                        <p:strVal val="visible"/>
                                      </p:to>
                                    </p:set>
                                    <p:animEffect transition="in" filter="fade">
                                      <p:cBhvr>
                                        <p:cTn id="57" dur="500"/>
                                        <p:tgtEl>
                                          <p:spTgt spid="130"/>
                                        </p:tgtEl>
                                      </p:cBhvr>
                                    </p:animEffect>
                                    <p:anim calcmode="lin" valueType="num">
                                      <p:cBhvr>
                                        <p:cTn id="58" dur="500" fill="hold"/>
                                        <p:tgtEl>
                                          <p:spTgt spid="130"/>
                                        </p:tgtEl>
                                        <p:attrNameLst>
                                          <p:attrName>ppt_w</p:attrName>
                                        </p:attrNameLst>
                                      </p:cBhvr>
                                      <p:tavLst>
                                        <p:tav tm="0">
                                          <p:val>
                                            <p:fltVal val="0"/>
                                          </p:val>
                                        </p:tav>
                                        <p:tav tm="100000">
                                          <p:val>
                                            <p:strVal val="#ppt_w"/>
                                          </p:val>
                                        </p:tav>
                                      </p:tavLst>
                                    </p:anim>
                                    <p:anim calcmode="lin" valueType="num">
                                      <p:cBhvr>
                                        <p:cTn id="59" dur="500" fill="hold"/>
                                        <p:tgtEl>
                                          <p:spTgt spid="130"/>
                                        </p:tgtEl>
                                        <p:attrNameLst>
                                          <p:attrName>ppt_h</p:attrName>
                                        </p:attrNameLst>
                                      </p:cBhvr>
                                      <p:tavLst>
                                        <p:tav tm="0">
                                          <p:val>
                                            <p:fltVal val="0"/>
                                          </p:val>
                                        </p:tav>
                                        <p:tav tm="100000">
                                          <p:val>
                                            <p:strVal val="#ppt_h"/>
                                          </p:val>
                                        </p:tav>
                                      </p:tavLst>
                                    </p:anim>
                                  </p:childTnLst>
                                </p:cTn>
                              </p:par>
                              <p:par>
                                <p:cTn id="65" presetID="53" presetClass="entr" presetSubtype="16" fill="hold" nodeType="withEffect">
                                  <p:stCondLst>
                                    <p:cond delay="0"/>
                                  </p:stCondLst>
                                  <p:childTnLst>
                                    <p:set>
                                      <p:cBhvr>
                                        <p:cTn id="61" dur="1" fill="hold">
                                          <p:stCondLst>
                                            <p:cond delay="0"/>
                                          </p:stCondLst>
                                        </p:cTn>
                                        <p:tgtEl>
                                          <p:spTgt spid="131"/>
                                        </p:tgtEl>
                                        <p:attrNameLst>
                                          <p:attrName>style.visibility</p:attrName>
                                        </p:attrNameLst>
                                      </p:cBhvr>
                                      <p:to>
                                        <p:strVal val="visible"/>
                                      </p:to>
                                    </p:set>
                                    <p:animEffect transition="in" filter="fade">
                                      <p:cBhvr>
                                        <p:cTn id="62" dur="500"/>
                                        <p:tgtEl>
                                          <p:spTgt spid="131"/>
                                        </p:tgtEl>
                                      </p:cBhvr>
                                    </p:animEffect>
                                    <p:anim calcmode="lin" valueType="num">
                                      <p:cBhvr>
                                        <p:cTn id="63" dur="500" fill="hold"/>
                                        <p:tgtEl>
                                          <p:spTgt spid="131"/>
                                        </p:tgtEl>
                                        <p:attrNameLst>
                                          <p:attrName>ppt_w</p:attrName>
                                        </p:attrNameLst>
                                      </p:cBhvr>
                                      <p:tavLst>
                                        <p:tav tm="0">
                                          <p:val>
                                            <p:fltVal val="0"/>
                                          </p:val>
                                        </p:tav>
                                        <p:tav tm="100000">
                                          <p:val>
                                            <p:strVal val="#ppt_w"/>
                                          </p:val>
                                        </p:tav>
                                      </p:tavLst>
                                    </p:anim>
                                    <p:anim calcmode="lin" valueType="num">
                                      <p:cBhvr>
                                        <p:cTn id="64" dur="500" fill="hold"/>
                                        <p:tgtEl>
                                          <p:spTgt spid="131"/>
                                        </p:tgtEl>
                                        <p:attrNameLst>
                                          <p:attrName>ppt_h</p:attrName>
                                        </p:attrNameLst>
                                      </p:cBhvr>
                                      <p:tavLst>
                                        <p:tav tm="0">
                                          <p:val>
                                            <p:fltVal val="0"/>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72" presetID="53" presetClass="entr" presetSubtype="16" fill="hold" nodeType="clickEffect">
                                  <p:stCondLst>
                                    <p:cond delay="0"/>
                                  </p:stCondLst>
                                  <p:childTnLst>
                                    <p:set>
                                      <p:cBhvr>
                                        <p:cTn id="68" dur="1" fill="hold">
                                          <p:stCondLst>
                                            <p:cond delay="0"/>
                                          </p:stCondLst>
                                        </p:cTn>
                                        <p:tgtEl>
                                          <p:spTgt spid="132"/>
                                        </p:tgtEl>
                                        <p:attrNameLst>
                                          <p:attrName>style.visibility</p:attrName>
                                        </p:attrNameLst>
                                      </p:cBhvr>
                                      <p:to>
                                        <p:strVal val="visible"/>
                                      </p:to>
                                    </p:set>
                                    <p:animEffect transition="in" filter="fade">
                                      <p:cBhvr>
                                        <p:cTn id="69" dur="500"/>
                                        <p:tgtEl>
                                          <p:spTgt spid="132"/>
                                        </p:tgtEl>
                                      </p:cBhvr>
                                    </p:animEffect>
                                    <p:anim calcmode="lin" valueType="num">
                                      <p:cBhvr>
                                        <p:cTn id="70" dur="500" fill="hold"/>
                                        <p:tgtEl>
                                          <p:spTgt spid="132"/>
                                        </p:tgtEl>
                                        <p:attrNameLst>
                                          <p:attrName>ppt_w</p:attrName>
                                        </p:attrNameLst>
                                      </p:cBhvr>
                                      <p:tavLst>
                                        <p:tav tm="0">
                                          <p:val>
                                            <p:fltVal val="0"/>
                                          </p:val>
                                        </p:tav>
                                        <p:tav tm="100000">
                                          <p:val>
                                            <p:strVal val="#ppt_w"/>
                                          </p:val>
                                        </p:tav>
                                      </p:tavLst>
                                    </p:anim>
                                    <p:anim calcmode="lin" valueType="num">
                                      <p:cBhvr>
                                        <p:cTn id="71" dur="500" fill="hold"/>
                                        <p:tgtEl>
                                          <p:spTgt spid="132"/>
                                        </p:tgtEl>
                                        <p:attrNameLst>
                                          <p:attrName>ppt_h</p:attrName>
                                        </p:attrNameLst>
                                      </p:cBhvr>
                                      <p:tavLst>
                                        <p:tav tm="0">
                                          <p:val>
                                            <p:fltVal val="0"/>
                                          </p:val>
                                        </p:tav>
                                        <p:tav tm="100000">
                                          <p:val>
                                            <p:strVal val="#ppt_h"/>
                                          </p:val>
                                        </p:tav>
                                      </p:tavLst>
                                    </p:anim>
                                  </p:childTnLst>
                                </p:cTn>
                              </p:par>
                              <p:par>
                                <p:cTn id="77" presetID="53" presetClass="entr" presetSubtype="16" fill="hold" nodeType="withEffect">
                                  <p:stCondLst>
                                    <p:cond delay="0"/>
                                  </p:stCondLst>
                                  <p:childTnLst>
                                    <p:set>
                                      <p:cBhvr>
                                        <p:cTn id="73" dur="1" fill="hold">
                                          <p:stCondLst>
                                            <p:cond delay="0"/>
                                          </p:stCondLst>
                                        </p:cTn>
                                        <p:tgtEl>
                                          <p:spTgt spid="133"/>
                                        </p:tgtEl>
                                        <p:attrNameLst>
                                          <p:attrName>style.visibility</p:attrName>
                                        </p:attrNameLst>
                                      </p:cBhvr>
                                      <p:to>
                                        <p:strVal val="visible"/>
                                      </p:to>
                                    </p:set>
                                    <p:animEffect transition="in" filter="fade">
                                      <p:cBhvr>
                                        <p:cTn id="74" dur="500"/>
                                        <p:tgtEl>
                                          <p:spTgt spid="133"/>
                                        </p:tgtEl>
                                      </p:cBhvr>
                                    </p:animEffect>
                                    <p:anim calcmode="lin" valueType="num">
                                      <p:cBhvr>
                                        <p:cTn id="75" dur="500" fill="hold"/>
                                        <p:tgtEl>
                                          <p:spTgt spid="133"/>
                                        </p:tgtEl>
                                        <p:attrNameLst>
                                          <p:attrName>ppt_w</p:attrName>
                                        </p:attrNameLst>
                                      </p:cBhvr>
                                      <p:tavLst>
                                        <p:tav tm="0">
                                          <p:val>
                                            <p:fltVal val="0"/>
                                          </p:val>
                                        </p:tav>
                                        <p:tav tm="100000">
                                          <p:val>
                                            <p:strVal val="#ppt_w"/>
                                          </p:val>
                                        </p:tav>
                                      </p:tavLst>
                                    </p:anim>
                                    <p:anim calcmode="lin" valueType="num">
                                      <p:cBhvr>
                                        <p:cTn id="76" dur="500" fill="hold"/>
                                        <p:tgtEl>
                                          <p:spTgt spid="133"/>
                                        </p:tgtEl>
                                        <p:attrNameLst>
                                          <p:attrName>ppt_h</p:attrName>
                                        </p:attrNameLst>
                                      </p:cBhvr>
                                      <p:tavLst>
                                        <p:tav tm="0">
                                          <p:val>
                                            <p:fltVal val="0"/>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2" presetID="22" presetClass="entr" presetSubtype="8" fill="hold" nodeType="clickEffect">
                                  <p:stCondLst>
                                    <p:cond delay="0"/>
                                  </p:stCondLst>
                                  <p:childTnLst>
                                    <p:set>
                                      <p:cBhvr>
                                        <p:cTn id="80" dur="1" fill="hold">
                                          <p:stCondLst>
                                            <p:cond delay="0"/>
                                          </p:stCondLst>
                                        </p:cTn>
                                        <p:tgtEl>
                                          <p:spTgt spid="134"/>
                                        </p:tgtEl>
                                        <p:attrNameLst>
                                          <p:attrName>style.visibility</p:attrName>
                                        </p:attrNameLst>
                                      </p:cBhvr>
                                      <p:to>
                                        <p:strVal val="visible"/>
                                      </p:to>
                                    </p:set>
                                    <p:animEffect transition="in" filter="wipe(left)">
                                      <p:cBhvr>
                                        <p:cTn id="81" dur="7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Question 3 · SE p. 221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Watch the scale: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a:solidFill>
                  <a:srgbClr val="C9561F"/>
                </a:solidFill>
                <a:latin typeface="Cambria"/>
                <a:cs typeface="Cambria"/>
              </a:rPr>
              <a:t xml:space="preserve">10</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a:solidFill>
                  <a:srgbClr val="3050B8"/>
                </a:solidFill>
                <a:latin typeface="Cambria"/>
                <a:cs typeface="Cambria"/>
              </a:rPr>
              <a:t xml:space="preserve">25</a:t>
            </a:r>
            <a:endParaRPr lang="en-US" sz="3450" dirty="0"/>
          </a:p>
        </p:txBody>
      </p:sp>
      <p:sp>
        <p:nvSpPr>
          <p:cNvPr id="4" name="Shape 4"/>
          <p:cNvSpPr txBox="1"/>
          <p:nvPr/>
        </p:nvSpPr>
        <p:spPr>
          <a:xfrm>
            <a:off x="685800" y="1618488"/>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-axis counts by </a:t>
            </a:r>
            <a:r>
              <a:rPr lang="en-US" sz="1950" dirty="0" b="1">
                <a:solidFill>
                  <a:srgbClr val="16171D"/>
                </a:solidFill>
                <a:latin typeface="Segoe UI"/>
                <a:cs typeface="Segoe UI"/>
              </a:rPr>
              <a:t xml:space="preserve">10</a:t>
            </a:r>
            <a:r>
              <a:rPr lang="en-US" sz="1950" dirty="0">
                <a:solidFill>
                  <a:srgbClr val="16171D"/>
                </a:solidFill>
                <a:latin typeface="Segoe UI"/>
                <a:cs typeface="Segoe UI"/>
              </a:rPr>
              <a:t xml:space="preserve">, not by 1.</a:t>
            </a:r>
            <a:endParaRPr lang="en-US" sz="1950" dirty="0"/>
          </a:p>
        </p:txBody>
      </p:sp>
      <p:sp>
        <p:nvSpPr>
          <p:cNvPr id="5" name="Shape 5"/>
          <p:cNvSpPr txBox="1"/>
          <p:nvPr/>
        </p:nvSpPr>
        <p:spPr>
          <a:xfrm>
            <a:off x="685800" y="2103882"/>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Start at </a:t>
            </a:r>
            <a:r>
              <a:rPr lang="en-US" sz="1950" dirty="0" b="1">
                <a:solidFill>
                  <a:srgbClr val="3050B8"/>
                </a:solidFill>
                <a:latin typeface="Cambria"/>
                <a:cs typeface="Cambria"/>
              </a:rPr>
              <a:t xml:space="preserve">(0, 25)</a:t>
            </a:r>
            <a:r>
              <a:rPr lang="en-US" sz="1950" dirty="0">
                <a:solidFill>
                  <a:srgbClr val="16171D"/>
                </a:solidFill>
                <a:latin typeface="Segoe UI"/>
                <a:cs typeface="Segoe UI"/>
              </a:rPr>
              <a:t xml:space="preserve">, halfway between 20 and 30.</a:t>
            </a:r>
            <a:endParaRPr lang="en-US" sz="1950" dirty="0"/>
          </a:p>
        </p:txBody>
      </p:sp>
      <p:sp>
        <p:nvSpPr>
          <p:cNvPr id="6" name="Shape 6"/>
          <p:cNvSpPr txBox="1"/>
          <p:nvPr/>
        </p:nvSpPr>
        <p:spPr>
          <a:xfrm>
            <a:off x="685800" y="2589276"/>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Write the slope as </a:t>
            </a:r>
            <a:r>
              <a:rPr lang="en-US" sz="1950" dirty="0" b="1">
                <a:solidFill>
                  <a:srgbClr val="C9561F"/>
                </a:solidFill>
                <a:latin typeface="Cambria"/>
                <a:cs typeface="Cambria"/>
              </a:rPr>
              <a:t xml:space="preserve">10</a:t>
            </a:r>
            <a:r>
              <a:rPr lang="en-US" sz="1950" dirty="0" b="1">
                <a:solidFill>
                  <a:srgbClr val="C9561F"/>
                </a:solidFill>
                <a:latin typeface="Cambria"/>
                <a:cs typeface="Cambria"/>
              </a:rPr>
              <a:t xml:space="preserve">/</a:t>
            </a:r>
            <a:r>
              <a:rPr lang="en-US" sz="1950" dirty="0" b="1">
                <a:solidFill>
                  <a:srgbClr val="C9561F"/>
                </a:solidFill>
                <a:latin typeface="Cambria"/>
                <a:cs typeface="Cambria"/>
              </a:rPr>
              <a:t xml:space="preserve">1</a:t>
            </a:r>
            <a:r>
              <a:rPr lang="en-US" sz="1950" dirty="0">
                <a:solidFill>
                  <a:srgbClr val="16171D"/>
                </a:solidFill>
                <a:latin typeface="Segoe UI"/>
                <a:cs typeface="Segoe UI"/>
              </a:rPr>
              <a:t xml:space="preserve">: up 10 units, right 1 unit.</a:t>
            </a:r>
            <a:endParaRPr lang="en-US" sz="1950" dirty="0"/>
          </a:p>
        </p:txBody>
      </p:sp>
      <p:sp>
        <p:nvSpPr>
          <p:cNvPr id="7" name="Shape 7"/>
          <p:cNvSpPr txBox="1"/>
          <p:nvPr/>
        </p:nvSpPr>
        <p:spPr>
          <a:xfrm>
            <a:off x="685800" y="3074670"/>
            <a:ext cx="674339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Count </a:t>
            </a:r>
            <a:r>
              <a:rPr lang="en-US" sz="1650" dirty="0" b="1">
                <a:solidFill>
                  <a:srgbClr val="16171D"/>
                </a:solidFill>
                <a:latin typeface="Segoe UI"/>
                <a:cs typeface="Segoe UI"/>
              </a:rPr>
              <a:t xml:space="preserve">units</a:t>
            </a:r>
            <a:r>
              <a:rPr lang="en-US" sz="1650" dirty="0">
                <a:solidFill>
                  <a:srgbClr val="16171D"/>
                </a:solidFill>
                <a:latin typeface="Segoe UI"/>
                <a:cs typeface="Segoe UI"/>
              </a:rPr>
              <a:t xml:space="preserve">, not grid squares. Up 10 is only one square here.</a:t>
            </a:r>
            <a:endParaRPr lang="en-US" sz="1650" dirty="0"/>
          </a:p>
        </p:txBody>
      </p:sp>
      <p:sp>
        <p:nvSpPr>
          <p:cNvPr id="8" name="Shape 8"/>
          <p:cNvSpPr txBox="1"/>
          <p:nvPr/>
        </p:nvSpPr>
        <p:spPr>
          <a:xfrm>
            <a:off x="685800" y="3605784"/>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Use a straightedge to draw your lines.</a:t>
            </a:r>
            <a:endParaRPr lang="en-US" sz="1575" dirty="0"/>
          </a:p>
        </p:txBody>
      </p:sp>
      <p:sp>
        <p:nvSpPr>
          <p:cNvPr id="9" name="Shape 9"/>
          <p:cNvSpPr/>
          <p:nvPr/>
        </p:nvSpPr>
        <p:spPr>
          <a:xfrm>
            <a:off x="7886395" y="1618488"/>
            <a:ext cx="3619500" cy="4191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8210245" y="1732788"/>
            <a:ext cx="0" cy="3829050"/>
          </a:xfrm>
          <a:prstGeom prst="line">
            <a:avLst/>
          </a:prstGeom>
          <a:ln w="9525" cap="flat">
            <a:solidFill>
              <a:srgbClr val="E6E8F2"/>
            </a:solidFill>
          </a:ln>
        </p:spPr>
      </p:cxnSp>
      <p:cxnSp>
        <p:nvCxnSpPr>
          <p:cNvPr id="11" name="Line 11"/>
          <p:cNvCxnSpPr/>
          <p:nvPr/>
        </p:nvCxnSpPr>
        <p:spPr>
          <a:xfrm>
            <a:off x="8409080" y="1732788"/>
            <a:ext cx="0" cy="3829050"/>
          </a:xfrm>
          <a:prstGeom prst="line">
            <a:avLst/>
          </a:prstGeom>
          <a:ln w="9525" cap="flat">
            <a:solidFill>
              <a:srgbClr val="E6E8F2"/>
            </a:solidFill>
          </a:ln>
        </p:spPr>
      </p:cxnSp>
      <p:cxnSp>
        <p:nvCxnSpPr>
          <p:cNvPr id="12" name="Line 12"/>
          <p:cNvCxnSpPr/>
          <p:nvPr/>
        </p:nvCxnSpPr>
        <p:spPr>
          <a:xfrm>
            <a:off x="8607914" y="1732788"/>
            <a:ext cx="0" cy="3829050"/>
          </a:xfrm>
          <a:prstGeom prst="line">
            <a:avLst/>
          </a:prstGeom>
          <a:ln w="9525" cap="flat">
            <a:solidFill>
              <a:srgbClr val="E6E8F2"/>
            </a:solidFill>
          </a:ln>
        </p:spPr>
      </p:cxnSp>
      <p:cxnSp>
        <p:nvCxnSpPr>
          <p:cNvPr id="13" name="Line 13"/>
          <p:cNvCxnSpPr/>
          <p:nvPr/>
        </p:nvCxnSpPr>
        <p:spPr>
          <a:xfrm>
            <a:off x="8806748" y="1732788"/>
            <a:ext cx="0" cy="3829050"/>
          </a:xfrm>
          <a:prstGeom prst="line">
            <a:avLst/>
          </a:prstGeom>
          <a:ln w="9525" cap="flat">
            <a:solidFill>
              <a:srgbClr val="E6E8F2"/>
            </a:solidFill>
          </a:ln>
        </p:spPr>
      </p:cxnSp>
      <p:cxnSp>
        <p:nvCxnSpPr>
          <p:cNvPr id="14" name="Line 14"/>
          <p:cNvCxnSpPr/>
          <p:nvPr/>
        </p:nvCxnSpPr>
        <p:spPr>
          <a:xfrm>
            <a:off x="9005583" y="1732788"/>
            <a:ext cx="0" cy="3829050"/>
          </a:xfrm>
          <a:prstGeom prst="line">
            <a:avLst/>
          </a:prstGeom>
          <a:ln w="9525" cap="flat">
            <a:solidFill>
              <a:srgbClr val="E6E8F2"/>
            </a:solidFill>
          </a:ln>
        </p:spPr>
      </p:cxnSp>
      <p:cxnSp>
        <p:nvCxnSpPr>
          <p:cNvPr id="15" name="Line 15"/>
          <p:cNvCxnSpPr/>
          <p:nvPr/>
        </p:nvCxnSpPr>
        <p:spPr>
          <a:xfrm>
            <a:off x="9204417" y="1732788"/>
            <a:ext cx="0" cy="3829050"/>
          </a:xfrm>
          <a:prstGeom prst="line">
            <a:avLst/>
          </a:prstGeom>
          <a:ln w="9525" cap="flat">
            <a:solidFill>
              <a:srgbClr val="E6E8F2"/>
            </a:solidFill>
          </a:ln>
        </p:spPr>
      </p:cxnSp>
      <p:cxnSp>
        <p:nvCxnSpPr>
          <p:cNvPr id="16" name="Line 16"/>
          <p:cNvCxnSpPr/>
          <p:nvPr/>
        </p:nvCxnSpPr>
        <p:spPr>
          <a:xfrm>
            <a:off x="9403251" y="1732788"/>
            <a:ext cx="0" cy="3829050"/>
          </a:xfrm>
          <a:prstGeom prst="line">
            <a:avLst/>
          </a:prstGeom>
          <a:ln w="9525" cap="flat">
            <a:solidFill>
              <a:srgbClr val="E6E8F2"/>
            </a:solidFill>
          </a:ln>
        </p:spPr>
      </p:cxnSp>
      <p:cxnSp>
        <p:nvCxnSpPr>
          <p:cNvPr id="17" name="Line 17"/>
          <p:cNvCxnSpPr/>
          <p:nvPr/>
        </p:nvCxnSpPr>
        <p:spPr>
          <a:xfrm>
            <a:off x="9602086" y="1732788"/>
            <a:ext cx="0" cy="3829050"/>
          </a:xfrm>
          <a:prstGeom prst="line">
            <a:avLst/>
          </a:prstGeom>
          <a:ln w="9525" cap="flat">
            <a:solidFill>
              <a:srgbClr val="E6E8F2"/>
            </a:solidFill>
          </a:ln>
        </p:spPr>
      </p:cxnSp>
      <p:cxnSp>
        <p:nvCxnSpPr>
          <p:cNvPr id="18" name="Line 18"/>
          <p:cNvCxnSpPr/>
          <p:nvPr/>
        </p:nvCxnSpPr>
        <p:spPr>
          <a:xfrm>
            <a:off x="9800920" y="1732788"/>
            <a:ext cx="0" cy="3829050"/>
          </a:xfrm>
          <a:prstGeom prst="line">
            <a:avLst/>
          </a:prstGeom>
          <a:ln w="9525" cap="flat">
            <a:solidFill>
              <a:srgbClr val="E6E8F2"/>
            </a:solidFill>
          </a:ln>
        </p:spPr>
      </p:cxnSp>
      <p:cxnSp>
        <p:nvCxnSpPr>
          <p:cNvPr id="19" name="Line 19"/>
          <p:cNvCxnSpPr/>
          <p:nvPr/>
        </p:nvCxnSpPr>
        <p:spPr>
          <a:xfrm>
            <a:off x="9999755" y="1732788"/>
            <a:ext cx="0" cy="3829050"/>
          </a:xfrm>
          <a:prstGeom prst="line">
            <a:avLst/>
          </a:prstGeom>
          <a:ln w="9525" cap="flat">
            <a:solidFill>
              <a:srgbClr val="E6E8F2"/>
            </a:solidFill>
          </a:ln>
        </p:spPr>
      </p:cxnSp>
      <p:cxnSp>
        <p:nvCxnSpPr>
          <p:cNvPr id="20" name="Line 20"/>
          <p:cNvCxnSpPr/>
          <p:nvPr/>
        </p:nvCxnSpPr>
        <p:spPr>
          <a:xfrm>
            <a:off x="10198589" y="1732788"/>
            <a:ext cx="0" cy="3829050"/>
          </a:xfrm>
          <a:prstGeom prst="line">
            <a:avLst/>
          </a:prstGeom>
          <a:ln w="9525" cap="flat">
            <a:solidFill>
              <a:srgbClr val="E6E8F2"/>
            </a:solidFill>
          </a:ln>
        </p:spPr>
      </p:cxnSp>
      <p:cxnSp>
        <p:nvCxnSpPr>
          <p:cNvPr id="21" name="Line 21"/>
          <p:cNvCxnSpPr/>
          <p:nvPr/>
        </p:nvCxnSpPr>
        <p:spPr>
          <a:xfrm>
            <a:off x="10397423" y="1732788"/>
            <a:ext cx="0" cy="3829050"/>
          </a:xfrm>
          <a:prstGeom prst="line">
            <a:avLst/>
          </a:prstGeom>
          <a:ln w="9525" cap="flat">
            <a:solidFill>
              <a:srgbClr val="E6E8F2"/>
            </a:solidFill>
          </a:ln>
        </p:spPr>
      </p:cxnSp>
      <p:cxnSp>
        <p:nvCxnSpPr>
          <p:cNvPr id="22" name="Line 22"/>
          <p:cNvCxnSpPr/>
          <p:nvPr/>
        </p:nvCxnSpPr>
        <p:spPr>
          <a:xfrm>
            <a:off x="10596258" y="1732788"/>
            <a:ext cx="0" cy="3829050"/>
          </a:xfrm>
          <a:prstGeom prst="line">
            <a:avLst/>
          </a:prstGeom>
          <a:ln w="9525" cap="flat">
            <a:solidFill>
              <a:srgbClr val="E6E8F2"/>
            </a:solidFill>
          </a:ln>
        </p:spPr>
      </p:cxnSp>
      <p:cxnSp>
        <p:nvCxnSpPr>
          <p:cNvPr id="23" name="Line 23"/>
          <p:cNvCxnSpPr/>
          <p:nvPr/>
        </p:nvCxnSpPr>
        <p:spPr>
          <a:xfrm>
            <a:off x="10795092" y="1732788"/>
            <a:ext cx="0" cy="3829050"/>
          </a:xfrm>
          <a:prstGeom prst="line">
            <a:avLst/>
          </a:prstGeom>
          <a:ln w="9525" cap="flat">
            <a:solidFill>
              <a:srgbClr val="E6E8F2"/>
            </a:solidFill>
          </a:ln>
        </p:spPr>
      </p:cxnSp>
      <p:cxnSp>
        <p:nvCxnSpPr>
          <p:cNvPr id="24" name="Line 24"/>
          <p:cNvCxnSpPr/>
          <p:nvPr/>
        </p:nvCxnSpPr>
        <p:spPr>
          <a:xfrm>
            <a:off x="10993926" y="1732788"/>
            <a:ext cx="0" cy="3829050"/>
          </a:xfrm>
          <a:prstGeom prst="line">
            <a:avLst/>
          </a:prstGeom>
          <a:ln w="9525" cap="flat">
            <a:solidFill>
              <a:srgbClr val="E6E8F2"/>
            </a:solidFill>
          </a:ln>
        </p:spPr>
      </p:cxnSp>
      <p:cxnSp>
        <p:nvCxnSpPr>
          <p:cNvPr id="25" name="Line 25"/>
          <p:cNvCxnSpPr/>
          <p:nvPr/>
        </p:nvCxnSpPr>
        <p:spPr>
          <a:xfrm>
            <a:off x="11192761" y="1732788"/>
            <a:ext cx="0" cy="3829050"/>
          </a:xfrm>
          <a:prstGeom prst="line">
            <a:avLst/>
          </a:prstGeom>
          <a:ln w="9525" cap="flat">
            <a:solidFill>
              <a:srgbClr val="E6E8F2"/>
            </a:solidFill>
          </a:ln>
        </p:spPr>
      </p:cxnSp>
      <p:cxnSp>
        <p:nvCxnSpPr>
          <p:cNvPr id="26" name="Line 26"/>
          <p:cNvCxnSpPr/>
          <p:nvPr/>
        </p:nvCxnSpPr>
        <p:spPr>
          <a:xfrm>
            <a:off x="11391595" y="1732788"/>
            <a:ext cx="0" cy="3829050"/>
          </a:xfrm>
          <a:prstGeom prst="line">
            <a:avLst/>
          </a:prstGeom>
          <a:ln w="9525" cap="flat">
            <a:solidFill>
              <a:srgbClr val="E6E8F2"/>
            </a:solidFill>
          </a:ln>
        </p:spPr>
      </p:cxnSp>
      <p:cxnSp>
        <p:nvCxnSpPr>
          <p:cNvPr id="27" name="Line 27"/>
          <p:cNvCxnSpPr/>
          <p:nvPr/>
        </p:nvCxnSpPr>
        <p:spPr>
          <a:xfrm>
            <a:off x="8210245" y="5561838"/>
            <a:ext cx="3181350" cy="0"/>
          </a:xfrm>
          <a:prstGeom prst="line">
            <a:avLst/>
          </a:prstGeom>
          <a:ln w="9525" cap="flat">
            <a:solidFill>
              <a:srgbClr val="E6E8F2"/>
            </a:solidFill>
          </a:ln>
        </p:spPr>
      </p:cxnSp>
      <p:cxnSp>
        <p:nvCxnSpPr>
          <p:cNvPr id="28" name="Line 28"/>
          <p:cNvCxnSpPr/>
          <p:nvPr/>
        </p:nvCxnSpPr>
        <p:spPr>
          <a:xfrm>
            <a:off x="8210245" y="5136388"/>
            <a:ext cx="3181350" cy="0"/>
          </a:xfrm>
          <a:prstGeom prst="line">
            <a:avLst/>
          </a:prstGeom>
          <a:ln w="9525" cap="flat">
            <a:solidFill>
              <a:srgbClr val="E6E8F2"/>
            </a:solidFill>
          </a:ln>
        </p:spPr>
      </p:cxnSp>
      <p:cxnSp>
        <p:nvCxnSpPr>
          <p:cNvPr id="29" name="Line 29"/>
          <p:cNvCxnSpPr/>
          <p:nvPr/>
        </p:nvCxnSpPr>
        <p:spPr>
          <a:xfrm>
            <a:off x="8210245" y="4710938"/>
            <a:ext cx="3181350" cy="0"/>
          </a:xfrm>
          <a:prstGeom prst="line">
            <a:avLst/>
          </a:prstGeom>
          <a:ln w="9525" cap="flat">
            <a:solidFill>
              <a:srgbClr val="E6E8F2"/>
            </a:solidFill>
          </a:ln>
        </p:spPr>
      </p:cxnSp>
      <p:cxnSp>
        <p:nvCxnSpPr>
          <p:cNvPr id="30" name="Line 30"/>
          <p:cNvCxnSpPr/>
          <p:nvPr/>
        </p:nvCxnSpPr>
        <p:spPr>
          <a:xfrm>
            <a:off x="8210245" y="4285488"/>
            <a:ext cx="3181350" cy="0"/>
          </a:xfrm>
          <a:prstGeom prst="line">
            <a:avLst/>
          </a:prstGeom>
          <a:ln w="9525" cap="flat">
            <a:solidFill>
              <a:srgbClr val="E6E8F2"/>
            </a:solidFill>
          </a:ln>
        </p:spPr>
      </p:cxnSp>
      <p:cxnSp>
        <p:nvCxnSpPr>
          <p:cNvPr id="31" name="Line 31"/>
          <p:cNvCxnSpPr/>
          <p:nvPr/>
        </p:nvCxnSpPr>
        <p:spPr>
          <a:xfrm>
            <a:off x="8210245" y="3860038"/>
            <a:ext cx="3181350" cy="0"/>
          </a:xfrm>
          <a:prstGeom prst="line">
            <a:avLst/>
          </a:prstGeom>
          <a:ln w="9525" cap="flat">
            <a:solidFill>
              <a:srgbClr val="E6E8F2"/>
            </a:solidFill>
          </a:ln>
        </p:spPr>
      </p:cxnSp>
      <p:cxnSp>
        <p:nvCxnSpPr>
          <p:cNvPr id="32" name="Line 32"/>
          <p:cNvCxnSpPr/>
          <p:nvPr/>
        </p:nvCxnSpPr>
        <p:spPr>
          <a:xfrm>
            <a:off x="8210245" y="3434588"/>
            <a:ext cx="3181350" cy="0"/>
          </a:xfrm>
          <a:prstGeom prst="line">
            <a:avLst/>
          </a:prstGeom>
          <a:ln w="9525" cap="flat">
            <a:solidFill>
              <a:srgbClr val="E6E8F2"/>
            </a:solidFill>
          </a:ln>
        </p:spPr>
      </p:cxnSp>
      <p:cxnSp>
        <p:nvCxnSpPr>
          <p:cNvPr id="33" name="Line 33"/>
          <p:cNvCxnSpPr/>
          <p:nvPr/>
        </p:nvCxnSpPr>
        <p:spPr>
          <a:xfrm>
            <a:off x="8210245" y="3009138"/>
            <a:ext cx="3181350" cy="0"/>
          </a:xfrm>
          <a:prstGeom prst="line">
            <a:avLst/>
          </a:prstGeom>
          <a:ln w="9525" cap="flat">
            <a:solidFill>
              <a:srgbClr val="E6E8F2"/>
            </a:solidFill>
          </a:ln>
        </p:spPr>
      </p:cxnSp>
      <p:cxnSp>
        <p:nvCxnSpPr>
          <p:cNvPr id="34" name="Line 34"/>
          <p:cNvCxnSpPr/>
          <p:nvPr/>
        </p:nvCxnSpPr>
        <p:spPr>
          <a:xfrm>
            <a:off x="8210245" y="2583688"/>
            <a:ext cx="3181350" cy="0"/>
          </a:xfrm>
          <a:prstGeom prst="line">
            <a:avLst/>
          </a:prstGeom>
          <a:ln w="9525" cap="flat">
            <a:solidFill>
              <a:srgbClr val="E6E8F2"/>
            </a:solidFill>
          </a:ln>
        </p:spPr>
      </p:cxnSp>
      <p:cxnSp>
        <p:nvCxnSpPr>
          <p:cNvPr id="35" name="Line 35"/>
          <p:cNvCxnSpPr/>
          <p:nvPr/>
        </p:nvCxnSpPr>
        <p:spPr>
          <a:xfrm>
            <a:off x="8210245" y="2158238"/>
            <a:ext cx="3181350" cy="0"/>
          </a:xfrm>
          <a:prstGeom prst="line">
            <a:avLst/>
          </a:prstGeom>
          <a:ln w="9525" cap="flat">
            <a:solidFill>
              <a:srgbClr val="E6E8F2"/>
            </a:solidFill>
          </a:ln>
        </p:spPr>
      </p:cxnSp>
      <p:cxnSp>
        <p:nvCxnSpPr>
          <p:cNvPr id="36" name="Line 36"/>
          <p:cNvCxnSpPr/>
          <p:nvPr/>
        </p:nvCxnSpPr>
        <p:spPr>
          <a:xfrm>
            <a:off x="8210245" y="1732788"/>
            <a:ext cx="3181350" cy="0"/>
          </a:xfrm>
          <a:prstGeom prst="line">
            <a:avLst/>
          </a:prstGeom>
          <a:ln w="9525" cap="flat">
            <a:solidFill>
              <a:srgbClr val="E6E8F2"/>
            </a:solidFill>
          </a:ln>
        </p:spPr>
      </p:cxnSp>
      <p:cxnSp>
        <p:nvCxnSpPr>
          <p:cNvPr id="37" name="Line 37"/>
          <p:cNvCxnSpPr/>
          <p:nvPr/>
        </p:nvCxnSpPr>
        <p:spPr>
          <a:xfrm>
            <a:off x="9800920" y="1732788"/>
            <a:ext cx="0" cy="3829050"/>
          </a:xfrm>
          <a:prstGeom prst="line">
            <a:avLst/>
          </a:prstGeom>
          <a:ln w="19050" cap="flat">
            <a:solidFill>
              <a:srgbClr val="5F6272"/>
            </a:solidFill>
          </a:ln>
        </p:spPr>
      </p:cxnSp>
      <p:cxnSp>
        <p:nvCxnSpPr>
          <p:cNvPr id="38" name="Line 38"/>
          <p:cNvCxnSpPr/>
          <p:nvPr/>
        </p:nvCxnSpPr>
        <p:spPr>
          <a:xfrm>
            <a:off x="8210245" y="5136388"/>
            <a:ext cx="3181350" cy="0"/>
          </a:xfrm>
          <a:prstGeom prst="line">
            <a:avLst/>
          </a:prstGeom>
          <a:ln w="19050" cap="flat">
            <a:solidFill>
              <a:srgbClr val="5F6272"/>
            </a:solidFill>
          </a:ln>
        </p:spPr>
      </p:cxnSp>
      <p:sp>
        <p:nvSpPr>
          <p:cNvPr id="39" name="Shape 39"/>
          <p:cNvSpPr txBox="1"/>
          <p:nvPr/>
        </p:nvSpPr>
        <p:spPr>
          <a:xfrm>
            <a:off x="793592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0" name="Shape 40"/>
          <p:cNvSpPr txBox="1"/>
          <p:nvPr/>
        </p:nvSpPr>
        <p:spPr>
          <a:xfrm>
            <a:off x="8333594"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1" name="Shape 41"/>
          <p:cNvSpPr txBox="1"/>
          <p:nvPr/>
        </p:nvSpPr>
        <p:spPr>
          <a:xfrm>
            <a:off x="8731263"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9128931"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3" name="Shape 43"/>
          <p:cNvSpPr txBox="1"/>
          <p:nvPr/>
        </p:nvSpPr>
        <p:spPr>
          <a:xfrm>
            <a:off x="9526600"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4" name="Shape 44"/>
          <p:cNvSpPr txBox="1"/>
          <p:nvPr/>
        </p:nvSpPr>
        <p:spPr>
          <a:xfrm>
            <a:off x="9924269"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10321938"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10719606"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7" name="Shape 47"/>
          <p:cNvSpPr txBox="1"/>
          <p:nvPr/>
        </p:nvSpPr>
        <p:spPr>
          <a:xfrm>
            <a:off x="1111727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8" name="Shape 48"/>
          <p:cNvSpPr txBox="1"/>
          <p:nvPr/>
        </p:nvSpPr>
        <p:spPr>
          <a:xfrm>
            <a:off x="7643317" y="5470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49" name="Shape 49"/>
          <p:cNvSpPr txBox="1"/>
          <p:nvPr/>
        </p:nvSpPr>
        <p:spPr>
          <a:xfrm>
            <a:off x="7643317" y="50449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7643317" y="46194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1" name="Shape 51"/>
          <p:cNvSpPr txBox="1"/>
          <p:nvPr/>
        </p:nvSpPr>
        <p:spPr>
          <a:xfrm>
            <a:off x="7643317" y="4194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52" name="Shape 52"/>
          <p:cNvSpPr txBox="1"/>
          <p:nvPr/>
        </p:nvSpPr>
        <p:spPr>
          <a:xfrm>
            <a:off x="7643317" y="37685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53" name="Shape 53"/>
          <p:cNvSpPr txBox="1"/>
          <p:nvPr/>
        </p:nvSpPr>
        <p:spPr>
          <a:xfrm>
            <a:off x="7643317" y="33431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4" name="Shape 54"/>
          <p:cNvSpPr txBox="1"/>
          <p:nvPr/>
        </p:nvSpPr>
        <p:spPr>
          <a:xfrm>
            <a:off x="7643317" y="2917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55" name="Shape 55"/>
          <p:cNvSpPr txBox="1"/>
          <p:nvPr/>
        </p:nvSpPr>
        <p:spPr>
          <a:xfrm>
            <a:off x="7643317" y="24922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6" name="Shape 56"/>
          <p:cNvSpPr txBox="1"/>
          <p:nvPr/>
        </p:nvSpPr>
        <p:spPr>
          <a:xfrm>
            <a:off x="7643317" y="20667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70</a:t>
            </a:r>
            <a:endParaRPr lang="en-US" sz="975" dirty="0"/>
          </a:p>
        </p:txBody>
      </p:sp>
      <p:sp>
        <p:nvSpPr>
          <p:cNvPr id="57" name="Shape 57"/>
          <p:cNvSpPr txBox="1"/>
          <p:nvPr/>
        </p:nvSpPr>
        <p:spPr>
          <a:xfrm>
            <a:off x="76433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8" name="Shape 58"/>
          <p:cNvSpPr/>
          <p:nvPr/>
        </p:nvSpPr>
        <p:spPr>
          <a:xfrm>
            <a:off x="9748533" y="40203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9" name="Shape 59"/>
          <p:cNvSpPr txBox="1"/>
          <p:nvPr/>
        </p:nvSpPr>
        <p:spPr>
          <a:xfrm>
            <a:off x="9886645" y="38251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(0, 25)</a:t>
            </a:r>
            <a:endParaRPr lang="en-US" sz="1125" dirty="0"/>
          </a:p>
        </p:txBody>
      </p:sp>
      <p:sp>
        <p:nvSpPr>
          <p:cNvPr id="60" name="Shape 60"/>
          <p:cNvSpPr/>
          <p:nvPr/>
        </p:nvSpPr>
        <p:spPr>
          <a:xfrm>
            <a:off x="9947367" y="359492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1" name="Shape 61"/>
          <p:cNvSpPr txBox="1"/>
          <p:nvPr/>
        </p:nvSpPr>
        <p:spPr>
          <a:xfrm>
            <a:off x="10085480" y="339966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(1, 35)</a:t>
            </a:r>
            <a:endParaRPr lang="en-US" sz="1125" dirty="0"/>
          </a:p>
        </p:txBody>
      </p:sp>
      <p:sp>
        <p:nvSpPr>
          <p:cNvPr id="62" name="Shape 62"/>
          <p:cNvSpPr/>
          <p:nvPr/>
        </p:nvSpPr>
        <p:spPr>
          <a:xfrm>
            <a:off x="9549698" y="444582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3" name="Shape 63"/>
          <p:cNvSpPr txBox="1"/>
          <p:nvPr/>
        </p:nvSpPr>
        <p:spPr>
          <a:xfrm>
            <a:off x="9687811" y="425056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15)</a:t>
            </a:r>
            <a:endParaRPr lang="en-US" sz="1125" dirty="0"/>
          </a:p>
        </p:txBody>
      </p:sp>
      <p:cxnSp>
        <p:nvCxnSpPr>
          <p:cNvPr id="64" name="Line 64"/>
          <p:cNvCxnSpPr/>
          <p:nvPr/>
        </p:nvCxnSpPr>
        <p:spPr>
          <a:xfrm flipV="1">
            <a:off x="9105000" y="1732788"/>
            <a:ext cx="1789509" cy="382905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8"/>
                                        </p:tgtEl>
                                        <p:attrNameLst>
                                          <p:attrName>style.visibility</p:attrName>
                                        </p:attrNameLst>
                                      </p:cBhvr>
                                      <p:to>
                                        <p:strVal val="visible"/>
                                      </p:to>
                                    </p:set>
                                    <p:animEffect transition="in" filter="fade">
                                      <p:cBhvr>
                                        <p:cTn id="4" dur="500"/>
                                        <p:tgtEl>
                                          <p:spTgt spid="58"/>
                                        </p:tgtEl>
                                      </p:cBhvr>
                                    </p:animEffect>
                                    <p:anim calcmode="lin" valueType="num">
                                      <p:cBhvr>
                                        <p:cTn id="5" dur="500" fill="hold"/>
                                        <p:tgtEl>
                                          <p:spTgt spid="58"/>
                                        </p:tgtEl>
                                        <p:attrNameLst>
                                          <p:attrName>ppt_w</p:attrName>
                                        </p:attrNameLst>
                                      </p:cBhvr>
                                      <p:tavLst>
                                        <p:tav tm="0">
                                          <p:val>
                                            <p:fltVal val="0"/>
                                          </p:val>
                                        </p:tav>
                                        <p:tav tm="100000">
                                          <p:val>
                                            <p:strVal val="#ppt_w"/>
                                          </p:val>
                                        </p:tav>
                                      </p:tavLst>
                                    </p:anim>
                                    <p:anim calcmode="lin" valueType="num">
                                      <p:cBhvr>
                                        <p:cTn id="6" dur="500" fill="hold"/>
                                        <p:tgtEl>
                                          <p:spTgt spid="58"/>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59"/>
                                        </p:tgtEl>
                                        <p:attrNameLst>
                                          <p:attrName>style.visibility</p:attrName>
                                        </p:attrNameLst>
                                      </p:cBhvr>
                                      <p:to>
                                        <p:strVal val="visible"/>
                                      </p:to>
                                    </p:set>
                                    <p:animEffect transition="in" filter="fade">
                                      <p:cBhvr>
                                        <p:cTn id="9" dur="500"/>
                                        <p:tgtEl>
                                          <p:spTgt spid="59"/>
                                        </p:tgtEl>
                                      </p:cBhvr>
                                    </p:animEffect>
                                    <p:anim calcmode="lin" valueType="num">
                                      <p:cBhvr>
                                        <p:cTn id="10" dur="500" fill="hold"/>
                                        <p:tgtEl>
                                          <p:spTgt spid="59"/>
                                        </p:tgtEl>
                                        <p:attrNameLst>
                                          <p:attrName>ppt_w</p:attrName>
                                        </p:attrNameLst>
                                      </p:cBhvr>
                                      <p:tavLst>
                                        <p:tav tm="0">
                                          <p:val>
                                            <p:fltVal val="0"/>
                                          </p:val>
                                        </p:tav>
                                        <p:tav tm="100000">
                                          <p:val>
                                            <p:strVal val="#ppt_w"/>
                                          </p:val>
                                        </p:tav>
                                      </p:tavLst>
                                    </p:anim>
                                    <p:anim calcmode="lin" valueType="num">
                                      <p:cBhvr>
                                        <p:cTn id="11" dur="500" fill="hold"/>
                                        <p:tgtEl>
                                          <p:spTgt spid="59"/>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fade">
                                      <p:cBhvr>
                                        <p:cTn id="16" dur="500"/>
                                        <p:tgtEl>
                                          <p:spTgt spid="60"/>
                                        </p:tgtEl>
                                      </p:cBhvr>
                                    </p:animEffect>
                                    <p:anim calcmode="lin" valueType="num">
                                      <p:cBhvr>
                                        <p:cTn id="17" dur="500" fill="hold"/>
                                        <p:tgtEl>
                                          <p:spTgt spid="60"/>
                                        </p:tgtEl>
                                        <p:attrNameLst>
                                          <p:attrName>ppt_w</p:attrName>
                                        </p:attrNameLst>
                                      </p:cBhvr>
                                      <p:tavLst>
                                        <p:tav tm="0">
                                          <p:val>
                                            <p:fltVal val="0"/>
                                          </p:val>
                                        </p:tav>
                                        <p:tav tm="100000">
                                          <p:val>
                                            <p:strVal val="#ppt_w"/>
                                          </p:val>
                                        </p:tav>
                                      </p:tavLst>
                                    </p:anim>
                                    <p:anim calcmode="lin" valueType="num">
                                      <p:cBhvr>
                                        <p:cTn id="18" dur="500" fill="hold"/>
                                        <p:tgtEl>
                                          <p:spTgt spid="60"/>
                                        </p:tgtEl>
                                        <p:attrNameLst>
                                          <p:attrName>ppt_h</p:attrName>
                                        </p:attrNameLst>
                                      </p:cBhvr>
                                      <p:tavLst>
                                        <p:tav tm="0">
                                          <p:val>
                                            <p:fltVal val="0"/>
                                          </p:val>
                                        </p:tav>
                                        <p:tav tm="100000">
                                          <p:val>
                                            <p:strVal val="#ppt_h"/>
                                          </p:val>
                                        </p:tav>
                                      </p:tavLst>
                                    </p:anim>
                                  </p:childTnLst>
                                </p:cTn>
                              </p:par>
                              <p:par>
                                <p:cTn id="24" presetID="53" presetClass="entr" presetSubtype="16" fill="hold" nodeType="with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fade">
                                      <p:cBhvr>
                                        <p:cTn id="21" dur="500"/>
                                        <p:tgtEl>
                                          <p:spTgt spid="61"/>
                                        </p:tgtEl>
                                      </p:cBhvr>
                                    </p:animEffect>
                                    <p:anim calcmode="lin" valueType="num">
                                      <p:cBhvr>
                                        <p:cTn id="22" dur="500" fill="hold"/>
                                        <p:tgtEl>
                                          <p:spTgt spid="61"/>
                                        </p:tgtEl>
                                        <p:attrNameLst>
                                          <p:attrName>ppt_w</p:attrName>
                                        </p:attrNameLst>
                                      </p:cBhvr>
                                      <p:tavLst>
                                        <p:tav tm="0">
                                          <p:val>
                                            <p:fltVal val="0"/>
                                          </p:val>
                                        </p:tav>
                                        <p:tav tm="100000">
                                          <p:val>
                                            <p:strVal val="#ppt_w"/>
                                          </p:val>
                                        </p:tav>
                                      </p:tavLst>
                                    </p:anim>
                                    <p:anim calcmode="lin" valueType="num">
                                      <p:cBhvr>
                                        <p:cTn id="23" dur="500" fill="hold"/>
                                        <p:tgtEl>
                                          <p:spTgt spid="61"/>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62"/>
                                        </p:tgtEl>
                                        <p:attrNameLst>
                                          <p:attrName>style.visibility</p:attrName>
                                        </p:attrNameLst>
                                      </p:cBhvr>
                                      <p:to>
                                        <p:strVal val="visible"/>
                                      </p:to>
                                    </p:set>
                                    <p:animEffect transition="in" filter="fade">
                                      <p:cBhvr>
                                        <p:cTn id="28" dur="500"/>
                                        <p:tgtEl>
                                          <p:spTgt spid="62"/>
                                        </p:tgtEl>
                                      </p:cBhvr>
                                    </p:animEffect>
                                    <p:anim calcmode="lin" valueType="num">
                                      <p:cBhvr>
                                        <p:cTn id="29" dur="500" fill="hold"/>
                                        <p:tgtEl>
                                          <p:spTgt spid="62"/>
                                        </p:tgtEl>
                                        <p:attrNameLst>
                                          <p:attrName>ppt_w</p:attrName>
                                        </p:attrNameLst>
                                      </p:cBhvr>
                                      <p:tavLst>
                                        <p:tav tm="0">
                                          <p:val>
                                            <p:fltVal val="0"/>
                                          </p:val>
                                        </p:tav>
                                        <p:tav tm="100000">
                                          <p:val>
                                            <p:strVal val="#ppt_w"/>
                                          </p:val>
                                        </p:tav>
                                      </p:tavLst>
                                    </p:anim>
                                    <p:anim calcmode="lin" valueType="num">
                                      <p:cBhvr>
                                        <p:cTn id="30" dur="500" fill="hold"/>
                                        <p:tgtEl>
                                          <p:spTgt spid="62"/>
                                        </p:tgtEl>
                                        <p:attrNameLst>
                                          <p:attrName>ppt_h</p:attrName>
                                        </p:attrNameLst>
                                      </p:cBhvr>
                                      <p:tavLst>
                                        <p:tav tm="0">
                                          <p:val>
                                            <p:fltVal val="0"/>
                                          </p:val>
                                        </p:tav>
                                        <p:tav tm="100000">
                                          <p:val>
                                            <p:strVal val="#ppt_h"/>
                                          </p:val>
                                        </p:tav>
                                      </p:tavLst>
                                    </p:anim>
                                  </p:childTnLst>
                                </p:cTn>
                              </p:par>
                              <p:par>
                                <p:cTn id="36" presetID="53" presetClass="entr" presetSubtype="16" fill="hold" nodeType="withEffect">
                                  <p:stCondLst>
                                    <p:cond delay="0"/>
                                  </p:stCondLst>
                                  <p:childTnLst>
                                    <p:set>
                                      <p:cBhvr>
                                        <p:cTn id="32" dur="1" fill="hold">
                                          <p:stCondLst>
                                            <p:cond delay="0"/>
                                          </p:stCondLst>
                                        </p:cTn>
                                        <p:tgtEl>
                                          <p:spTgt spid="63"/>
                                        </p:tgtEl>
                                        <p:attrNameLst>
                                          <p:attrName>style.visibility</p:attrName>
                                        </p:attrNameLst>
                                      </p:cBhvr>
                                      <p:to>
                                        <p:strVal val="visible"/>
                                      </p:to>
                                    </p:set>
                                    <p:animEffect transition="in" filter="fade">
                                      <p:cBhvr>
                                        <p:cTn id="33" dur="500"/>
                                        <p:tgtEl>
                                          <p:spTgt spid="63"/>
                                        </p:tgtEl>
                                      </p:cBhvr>
                                    </p:animEffect>
                                    <p:anim calcmode="lin" valueType="num">
                                      <p:cBhvr>
                                        <p:cTn id="34" dur="500" fill="hold"/>
                                        <p:tgtEl>
                                          <p:spTgt spid="63"/>
                                        </p:tgtEl>
                                        <p:attrNameLst>
                                          <p:attrName>ppt_w</p:attrName>
                                        </p:attrNameLst>
                                      </p:cBhvr>
                                      <p:tavLst>
                                        <p:tav tm="0">
                                          <p:val>
                                            <p:fltVal val="0"/>
                                          </p:val>
                                        </p:tav>
                                        <p:tav tm="100000">
                                          <p:val>
                                            <p:strVal val="#ppt_w"/>
                                          </p:val>
                                        </p:tav>
                                      </p:tavLst>
                                    </p:anim>
                                    <p:anim calcmode="lin" valueType="num">
                                      <p:cBhvr>
                                        <p:cTn id="35" dur="500" fill="hold"/>
                                        <p:tgtEl>
                                          <p:spTgt spid="63"/>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left)">
                                      <p:cBhvr>
                                        <p:cTn id="40" dur="7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Question 4 · SE p. 221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Avery's headset savings</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Avery has </a:t>
            </a:r>
            <a:r>
              <a:rPr lang="en-US" sz="1575" dirty="0" b="1">
                <a:solidFill>
                  <a:srgbClr val="16171D"/>
                </a:solidFill>
                <a:latin typeface="Segoe UI"/>
                <a:cs typeface="Segoe UI"/>
              </a:rPr>
              <a:t xml:space="preserve">$30</a:t>
            </a:r>
            <a:r>
              <a:rPr lang="en-US" sz="1575" dirty="0">
                <a:solidFill>
                  <a:srgbClr val="16171D"/>
                </a:solidFill>
                <a:latin typeface="Segoe UI"/>
                <a:cs typeface="Segoe UI"/>
              </a:rPr>
              <a:t xml:space="preserve"> saved and plans to mow lawns for </a:t>
            </a:r>
            <a:r>
              <a:rPr lang="en-US" sz="1575" dirty="0" b="1">
                <a:solidFill>
                  <a:srgbClr val="16171D"/>
                </a:solidFill>
                <a:latin typeface="Segoe UI"/>
                <a:cs typeface="Segoe UI"/>
              </a:rPr>
              <a:t xml:space="preserve">$15 each</a:t>
            </a:r>
            <a:r>
              <a:rPr lang="en-US" sz="1575" dirty="0">
                <a:solidFill>
                  <a:srgbClr val="16171D"/>
                </a:solidFill>
                <a:latin typeface="Segoe UI"/>
                <a:cs typeface="Segoe UI"/>
              </a:rPr>
              <a:t xml:space="preserve">. Write an equation, then graph it.</a:t>
            </a:r>
            <a:endParaRPr lang="en-US" sz="1575" dirty="0"/>
          </a:p>
        </p:txBody>
      </p:sp>
      <p:sp>
        <p:nvSpPr>
          <p:cNvPr id="5" name="Shape 5"/>
          <p:cNvSpPr txBox="1"/>
          <p:nvPr/>
        </p:nvSpPr>
        <p:spPr>
          <a:xfrm>
            <a:off x="685800" y="2084832"/>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lawns mowed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total savings in dollars.</a:t>
            </a:r>
            <a:endParaRPr lang="en-US" sz="1575" dirty="0"/>
          </a:p>
        </p:txBody>
      </p:sp>
      <p:sp>
        <p:nvSpPr>
          <p:cNvPr id="6" name="Shape 6"/>
          <p:cNvSpPr txBox="1"/>
          <p:nvPr/>
        </p:nvSpPr>
        <p:spPr>
          <a:xfrm>
            <a:off x="685800" y="2494026"/>
            <a:ext cx="67433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Starts at $30 → </a:t>
            </a:r>
            <a:r>
              <a:rPr lang="en-US" sz="1950" dirty="0" b="1">
                <a:solidFill>
                  <a:srgbClr val="3050B8"/>
                </a:solidFill>
                <a:latin typeface="Segoe UI"/>
                <a:cs typeface="Segoe UI"/>
              </a:rPr>
              <a:t xml:space="preserve">(0, 30)</a:t>
            </a:r>
            <a:r>
              <a:rPr lang="en-US" sz="1950" dirty="0">
                <a:solidFill>
                  <a:srgbClr val="16171D"/>
                </a:solidFill>
                <a:latin typeface="Segoe UI"/>
                <a:cs typeface="Segoe UI"/>
              </a:rPr>
              <a:t xml:space="preserve">. Earns $15 per lawn → </a:t>
            </a:r>
            <a:r>
              <a:rPr lang="en-US" sz="1950" dirty="0" b="1">
                <a:solidFill>
                  <a:srgbClr val="C9561F"/>
                </a:solidFill>
                <a:latin typeface="Segoe UI"/>
                <a:cs typeface="Segoe UI"/>
              </a:rPr>
              <a:t xml:space="preserve">slope 15</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257550"/>
            <a:ext cx="4689318"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15</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30</a:t>
            </a:r>
            <a:endParaRPr lang="en-US" sz="2850" dirty="0"/>
          </a:p>
        </p:txBody>
      </p:sp>
      <p:sp>
        <p:nvSpPr>
          <p:cNvPr id="8" name="Shape 8"/>
          <p:cNvSpPr txBox="1"/>
          <p:nvPr/>
        </p:nvSpPr>
        <p:spPr>
          <a:xfrm>
            <a:off x="685800" y="3970782"/>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Graph: start at (0, 30), then up 15 and right 1 for each lawn.</a:t>
            </a:r>
            <a:endParaRPr lang="en-US" sz="1575" dirty="0"/>
          </a:p>
        </p:txBody>
      </p:sp>
      <p:sp>
        <p:nvSpPr>
          <p:cNvPr id="9" name="Shape 9"/>
          <p:cNvSpPr txBox="1"/>
          <p:nvPr/>
        </p:nvSpPr>
        <p:spPr>
          <a:xfrm>
            <a:off x="685800" y="4379976"/>
            <a:ext cx="6743395" cy="93954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Should the graph have arrows or points on each end? Avery can't mow −1 lawns, so the graph starts at (0, 30) with a closed point.</a:t>
            </a:r>
            <a:endParaRPr lang="en-US" sz="1575" dirty="0"/>
          </a:p>
        </p:txBody>
      </p:sp>
      <p:sp>
        <p:nvSpPr>
          <p:cNvPr id="10" name="Shape 10"/>
          <p:cNvSpPr/>
          <p:nvPr/>
        </p:nvSpPr>
        <p:spPr>
          <a:xfrm>
            <a:off x="7886395" y="2084832"/>
            <a:ext cx="36195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210245" y="2199132"/>
            <a:ext cx="0" cy="3448050"/>
          </a:xfrm>
          <a:prstGeom prst="line">
            <a:avLst/>
          </a:prstGeom>
          <a:ln w="9525" cap="flat">
            <a:solidFill>
              <a:srgbClr val="E6E8F2"/>
            </a:solidFill>
          </a:ln>
        </p:spPr>
      </p:cxnSp>
      <p:cxnSp>
        <p:nvCxnSpPr>
          <p:cNvPr id="12" name="Line 12"/>
          <p:cNvCxnSpPr/>
          <p:nvPr/>
        </p:nvCxnSpPr>
        <p:spPr>
          <a:xfrm>
            <a:off x="8528380" y="2199132"/>
            <a:ext cx="0" cy="3448050"/>
          </a:xfrm>
          <a:prstGeom prst="line">
            <a:avLst/>
          </a:prstGeom>
          <a:ln w="9525" cap="flat">
            <a:solidFill>
              <a:srgbClr val="E6E8F2"/>
            </a:solidFill>
          </a:ln>
        </p:spPr>
      </p:cxnSp>
      <p:cxnSp>
        <p:nvCxnSpPr>
          <p:cNvPr id="13" name="Line 13"/>
          <p:cNvCxnSpPr/>
          <p:nvPr/>
        </p:nvCxnSpPr>
        <p:spPr>
          <a:xfrm>
            <a:off x="8846515" y="2199132"/>
            <a:ext cx="0" cy="3448050"/>
          </a:xfrm>
          <a:prstGeom prst="line">
            <a:avLst/>
          </a:prstGeom>
          <a:ln w="9525" cap="flat">
            <a:solidFill>
              <a:srgbClr val="E6E8F2"/>
            </a:solidFill>
          </a:ln>
        </p:spPr>
      </p:cxnSp>
      <p:cxnSp>
        <p:nvCxnSpPr>
          <p:cNvPr id="14" name="Line 14"/>
          <p:cNvCxnSpPr/>
          <p:nvPr/>
        </p:nvCxnSpPr>
        <p:spPr>
          <a:xfrm>
            <a:off x="9164650" y="2199132"/>
            <a:ext cx="0" cy="3448050"/>
          </a:xfrm>
          <a:prstGeom prst="line">
            <a:avLst/>
          </a:prstGeom>
          <a:ln w="9525" cap="flat">
            <a:solidFill>
              <a:srgbClr val="E6E8F2"/>
            </a:solidFill>
          </a:ln>
        </p:spPr>
      </p:cxnSp>
      <p:cxnSp>
        <p:nvCxnSpPr>
          <p:cNvPr id="15" name="Line 15"/>
          <p:cNvCxnSpPr/>
          <p:nvPr/>
        </p:nvCxnSpPr>
        <p:spPr>
          <a:xfrm>
            <a:off x="9482785" y="2199132"/>
            <a:ext cx="0" cy="3448050"/>
          </a:xfrm>
          <a:prstGeom prst="line">
            <a:avLst/>
          </a:prstGeom>
          <a:ln w="9525" cap="flat">
            <a:solidFill>
              <a:srgbClr val="E6E8F2"/>
            </a:solidFill>
          </a:ln>
        </p:spPr>
      </p:cxnSp>
      <p:cxnSp>
        <p:nvCxnSpPr>
          <p:cNvPr id="16" name="Line 16"/>
          <p:cNvCxnSpPr/>
          <p:nvPr/>
        </p:nvCxnSpPr>
        <p:spPr>
          <a:xfrm>
            <a:off x="9800920" y="2199132"/>
            <a:ext cx="0" cy="3448050"/>
          </a:xfrm>
          <a:prstGeom prst="line">
            <a:avLst/>
          </a:prstGeom>
          <a:ln w="9525" cap="flat">
            <a:solidFill>
              <a:srgbClr val="E6E8F2"/>
            </a:solidFill>
          </a:ln>
        </p:spPr>
      </p:cxnSp>
      <p:cxnSp>
        <p:nvCxnSpPr>
          <p:cNvPr id="17" name="Line 17"/>
          <p:cNvCxnSpPr/>
          <p:nvPr/>
        </p:nvCxnSpPr>
        <p:spPr>
          <a:xfrm>
            <a:off x="10119055" y="2199132"/>
            <a:ext cx="0" cy="3448050"/>
          </a:xfrm>
          <a:prstGeom prst="line">
            <a:avLst/>
          </a:prstGeom>
          <a:ln w="9525" cap="flat">
            <a:solidFill>
              <a:srgbClr val="E6E8F2"/>
            </a:solidFill>
          </a:ln>
        </p:spPr>
      </p:cxnSp>
      <p:cxnSp>
        <p:nvCxnSpPr>
          <p:cNvPr id="18" name="Line 18"/>
          <p:cNvCxnSpPr/>
          <p:nvPr/>
        </p:nvCxnSpPr>
        <p:spPr>
          <a:xfrm>
            <a:off x="10437190" y="2199132"/>
            <a:ext cx="0" cy="3448050"/>
          </a:xfrm>
          <a:prstGeom prst="line">
            <a:avLst/>
          </a:prstGeom>
          <a:ln w="9525" cap="flat">
            <a:solidFill>
              <a:srgbClr val="E6E8F2"/>
            </a:solidFill>
          </a:ln>
        </p:spPr>
      </p:cxnSp>
      <p:cxnSp>
        <p:nvCxnSpPr>
          <p:cNvPr id="19" name="Line 19"/>
          <p:cNvCxnSpPr/>
          <p:nvPr/>
        </p:nvCxnSpPr>
        <p:spPr>
          <a:xfrm>
            <a:off x="10755325" y="2199132"/>
            <a:ext cx="0" cy="3448050"/>
          </a:xfrm>
          <a:prstGeom prst="line">
            <a:avLst/>
          </a:prstGeom>
          <a:ln w="9525" cap="flat">
            <a:solidFill>
              <a:srgbClr val="E6E8F2"/>
            </a:solidFill>
          </a:ln>
        </p:spPr>
      </p:cxnSp>
      <p:cxnSp>
        <p:nvCxnSpPr>
          <p:cNvPr id="20" name="Line 20"/>
          <p:cNvCxnSpPr/>
          <p:nvPr/>
        </p:nvCxnSpPr>
        <p:spPr>
          <a:xfrm>
            <a:off x="11073460" y="2199132"/>
            <a:ext cx="0" cy="3448050"/>
          </a:xfrm>
          <a:prstGeom prst="line">
            <a:avLst/>
          </a:prstGeom>
          <a:ln w="9525" cap="flat">
            <a:solidFill>
              <a:srgbClr val="E6E8F2"/>
            </a:solidFill>
          </a:ln>
        </p:spPr>
      </p:cxnSp>
      <p:cxnSp>
        <p:nvCxnSpPr>
          <p:cNvPr id="21" name="Line 21"/>
          <p:cNvCxnSpPr/>
          <p:nvPr/>
        </p:nvCxnSpPr>
        <p:spPr>
          <a:xfrm>
            <a:off x="11391595" y="2199132"/>
            <a:ext cx="0" cy="3448050"/>
          </a:xfrm>
          <a:prstGeom prst="line">
            <a:avLst/>
          </a:prstGeom>
          <a:ln w="9525" cap="flat">
            <a:solidFill>
              <a:srgbClr val="E6E8F2"/>
            </a:solidFill>
          </a:ln>
        </p:spPr>
      </p:cxnSp>
      <p:cxnSp>
        <p:nvCxnSpPr>
          <p:cNvPr id="22" name="Line 22"/>
          <p:cNvCxnSpPr/>
          <p:nvPr/>
        </p:nvCxnSpPr>
        <p:spPr>
          <a:xfrm>
            <a:off x="8210245" y="5647182"/>
            <a:ext cx="3181350" cy="0"/>
          </a:xfrm>
          <a:prstGeom prst="line">
            <a:avLst/>
          </a:prstGeom>
          <a:ln w="9525" cap="flat">
            <a:solidFill>
              <a:srgbClr val="E6E8F2"/>
            </a:solidFill>
          </a:ln>
        </p:spPr>
      </p:cxnSp>
      <p:cxnSp>
        <p:nvCxnSpPr>
          <p:cNvPr id="23" name="Line 23"/>
          <p:cNvCxnSpPr/>
          <p:nvPr/>
        </p:nvCxnSpPr>
        <p:spPr>
          <a:xfrm>
            <a:off x="8210245" y="5431679"/>
            <a:ext cx="3181350" cy="0"/>
          </a:xfrm>
          <a:prstGeom prst="line">
            <a:avLst/>
          </a:prstGeom>
          <a:ln w="9525" cap="flat">
            <a:solidFill>
              <a:srgbClr val="E6E8F2"/>
            </a:solidFill>
          </a:ln>
        </p:spPr>
      </p:cxnSp>
      <p:cxnSp>
        <p:nvCxnSpPr>
          <p:cNvPr id="24" name="Line 24"/>
          <p:cNvCxnSpPr/>
          <p:nvPr/>
        </p:nvCxnSpPr>
        <p:spPr>
          <a:xfrm>
            <a:off x="8210245" y="5216176"/>
            <a:ext cx="3181350" cy="0"/>
          </a:xfrm>
          <a:prstGeom prst="line">
            <a:avLst/>
          </a:prstGeom>
          <a:ln w="9525" cap="flat">
            <a:solidFill>
              <a:srgbClr val="E6E8F2"/>
            </a:solidFill>
          </a:ln>
        </p:spPr>
      </p:cxnSp>
      <p:cxnSp>
        <p:nvCxnSpPr>
          <p:cNvPr id="25" name="Line 25"/>
          <p:cNvCxnSpPr/>
          <p:nvPr/>
        </p:nvCxnSpPr>
        <p:spPr>
          <a:xfrm>
            <a:off x="8210245" y="5000673"/>
            <a:ext cx="3181350" cy="0"/>
          </a:xfrm>
          <a:prstGeom prst="line">
            <a:avLst/>
          </a:prstGeom>
          <a:ln w="9525" cap="flat">
            <a:solidFill>
              <a:srgbClr val="E6E8F2"/>
            </a:solidFill>
          </a:ln>
        </p:spPr>
      </p:cxnSp>
      <p:cxnSp>
        <p:nvCxnSpPr>
          <p:cNvPr id="26" name="Line 26"/>
          <p:cNvCxnSpPr/>
          <p:nvPr/>
        </p:nvCxnSpPr>
        <p:spPr>
          <a:xfrm>
            <a:off x="8210245" y="4785170"/>
            <a:ext cx="3181350" cy="0"/>
          </a:xfrm>
          <a:prstGeom prst="line">
            <a:avLst/>
          </a:prstGeom>
          <a:ln w="9525" cap="flat">
            <a:solidFill>
              <a:srgbClr val="E6E8F2"/>
            </a:solidFill>
          </a:ln>
        </p:spPr>
      </p:cxnSp>
      <p:cxnSp>
        <p:nvCxnSpPr>
          <p:cNvPr id="27" name="Line 27"/>
          <p:cNvCxnSpPr/>
          <p:nvPr/>
        </p:nvCxnSpPr>
        <p:spPr>
          <a:xfrm>
            <a:off x="8210245" y="4569666"/>
            <a:ext cx="3181350" cy="0"/>
          </a:xfrm>
          <a:prstGeom prst="line">
            <a:avLst/>
          </a:prstGeom>
          <a:ln w="9525" cap="flat">
            <a:solidFill>
              <a:srgbClr val="E6E8F2"/>
            </a:solidFill>
          </a:ln>
        </p:spPr>
      </p:cxnSp>
      <p:cxnSp>
        <p:nvCxnSpPr>
          <p:cNvPr id="28" name="Line 28"/>
          <p:cNvCxnSpPr/>
          <p:nvPr/>
        </p:nvCxnSpPr>
        <p:spPr>
          <a:xfrm>
            <a:off x="8210245" y="4354163"/>
            <a:ext cx="3181350" cy="0"/>
          </a:xfrm>
          <a:prstGeom prst="line">
            <a:avLst/>
          </a:prstGeom>
          <a:ln w="9525" cap="flat">
            <a:solidFill>
              <a:srgbClr val="E6E8F2"/>
            </a:solidFill>
          </a:ln>
        </p:spPr>
      </p:cxnSp>
      <p:cxnSp>
        <p:nvCxnSpPr>
          <p:cNvPr id="29" name="Line 29"/>
          <p:cNvCxnSpPr/>
          <p:nvPr/>
        </p:nvCxnSpPr>
        <p:spPr>
          <a:xfrm>
            <a:off x="8210245" y="4138660"/>
            <a:ext cx="3181350" cy="0"/>
          </a:xfrm>
          <a:prstGeom prst="line">
            <a:avLst/>
          </a:prstGeom>
          <a:ln w="9525" cap="flat">
            <a:solidFill>
              <a:srgbClr val="E6E8F2"/>
            </a:solidFill>
          </a:ln>
        </p:spPr>
      </p:cxnSp>
      <p:cxnSp>
        <p:nvCxnSpPr>
          <p:cNvPr id="30" name="Line 30"/>
          <p:cNvCxnSpPr/>
          <p:nvPr/>
        </p:nvCxnSpPr>
        <p:spPr>
          <a:xfrm>
            <a:off x="8210245" y="3923157"/>
            <a:ext cx="3181350" cy="0"/>
          </a:xfrm>
          <a:prstGeom prst="line">
            <a:avLst/>
          </a:prstGeom>
          <a:ln w="9525" cap="flat">
            <a:solidFill>
              <a:srgbClr val="E6E8F2"/>
            </a:solidFill>
          </a:ln>
        </p:spPr>
      </p:cxnSp>
      <p:cxnSp>
        <p:nvCxnSpPr>
          <p:cNvPr id="31" name="Line 31"/>
          <p:cNvCxnSpPr/>
          <p:nvPr/>
        </p:nvCxnSpPr>
        <p:spPr>
          <a:xfrm>
            <a:off x="8210245" y="3707654"/>
            <a:ext cx="3181350" cy="0"/>
          </a:xfrm>
          <a:prstGeom prst="line">
            <a:avLst/>
          </a:prstGeom>
          <a:ln w="9525" cap="flat">
            <a:solidFill>
              <a:srgbClr val="E6E8F2"/>
            </a:solidFill>
          </a:ln>
        </p:spPr>
      </p:cxnSp>
      <p:cxnSp>
        <p:nvCxnSpPr>
          <p:cNvPr id="32" name="Line 32"/>
          <p:cNvCxnSpPr/>
          <p:nvPr/>
        </p:nvCxnSpPr>
        <p:spPr>
          <a:xfrm>
            <a:off x="8210245" y="3492151"/>
            <a:ext cx="3181350" cy="0"/>
          </a:xfrm>
          <a:prstGeom prst="line">
            <a:avLst/>
          </a:prstGeom>
          <a:ln w="9525" cap="flat">
            <a:solidFill>
              <a:srgbClr val="E6E8F2"/>
            </a:solidFill>
          </a:ln>
        </p:spPr>
      </p:cxnSp>
      <p:cxnSp>
        <p:nvCxnSpPr>
          <p:cNvPr id="33" name="Line 33"/>
          <p:cNvCxnSpPr/>
          <p:nvPr/>
        </p:nvCxnSpPr>
        <p:spPr>
          <a:xfrm>
            <a:off x="8210245" y="3276648"/>
            <a:ext cx="3181350" cy="0"/>
          </a:xfrm>
          <a:prstGeom prst="line">
            <a:avLst/>
          </a:prstGeom>
          <a:ln w="9525" cap="flat">
            <a:solidFill>
              <a:srgbClr val="E6E8F2"/>
            </a:solidFill>
          </a:ln>
        </p:spPr>
      </p:cxnSp>
      <p:cxnSp>
        <p:nvCxnSpPr>
          <p:cNvPr id="34" name="Line 34"/>
          <p:cNvCxnSpPr/>
          <p:nvPr/>
        </p:nvCxnSpPr>
        <p:spPr>
          <a:xfrm>
            <a:off x="8210245" y="3061144"/>
            <a:ext cx="3181350" cy="0"/>
          </a:xfrm>
          <a:prstGeom prst="line">
            <a:avLst/>
          </a:prstGeom>
          <a:ln w="9525" cap="flat">
            <a:solidFill>
              <a:srgbClr val="E6E8F2"/>
            </a:solidFill>
          </a:ln>
        </p:spPr>
      </p:cxnSp>
      <p:cxnSp>
        <p:nvCxnSpPr>
          <p:cNvPr id="35" name="Line 35"/>
          <p:cNvCxnSpPr/>
          <p:nvPr/>
        </p:nvCxnSpPr>
        <p:spPr>
          <a:xfrm>
            <a:off x="8210245" y="2845641"/>
            <a:ext cx="3181350" cy="0"/>
          </a:xfrm>
          <a:prstGeom prst="line">
            <a:avLst/>
          </a:prstGeom>
          <a:ln w="9525" cap="flat">
            <a:solidFill>
              <a:srgbClr val="E6E8F2"/>
            </a:solidFill>
          </a:ln>
        </p:spPr>
      </p:cxnSp>
      <p:cxnSp>
        <p:nvCxnSpPr>
          <p:cNvPr id="36" name="Line 36"/>
          <p:cNvCxnSpPr/>
          <p:nvPr/>
        </p:nvCxnSpPr>
        <p:spPr>
          <a:xfrm>
            <a:off x="8210245" y="2630138"/>
            <a:ext cx="3181350" cy="0"/>
          </a:xfrm>
          <a:prstGeom prst="line">
            <a:avLst/>
          </a:prstGeom>
          <a:ln w="9525" cap="flat">
            <a:solidFill>
              <a:srgbClr val="E6E8F2"/>
            </a:solidFill>
          </a:ln>
        </p:spPr>
      </p:cxnSp>
      <p:cxnSp>
        <p:nvCxnSpPr>
          <p:cNvPr id="37" name="Line 37"/>
          <p:cNvCxnSpPr/>
          <p:nvPr/>
        </p:nvCxnSpPr>
        <p:spPr>
          <a:xfrm>
            <a:off x="8210245" y="2414635"/>
            <a:ext cx="3181350" cy="0"/>
          </a:xfrm>
          <a:prstGeom prst="line">
            <a:avLst/>
          </a:prstGeom>
          <a:ln w="9525" cap="flat">
            <a:solidFill>
              <a:srgbClr val="E6E8F2"/>
            </a:solidFill>
          </a:ln>
        </p:spPr>
      </p:cxnSp>
      <p:cxnSp>
        <p:nvCxnSpPr>
          <p:cNvPr id="38" name="Line 38"/>
          <p:cNvCxnSpPr/>
          <p:nvPr/>
        </p:nvCxnSpPr>
        <p:spPr>
          <a:xfrm>
            <a:off x="8210245" y="2199132"/>
            <a:ext cx="3181350" cy="0"/>
          </a:xfrm>
          <a:prstGeom prst="line">
            <a:avLst/>
          </a:prstGeom>
          <a:ln w="9525" cap="flat">
            <a:solidFill>
              <a:srgbClr val="E6E8F2"/>
            </a:solidFill>
          </a:ln>
        </p:spPr>
      </p:cxnSp>
      <p:cxnSp>
        <p:nvCxnSpPr>
          <p:cNvPr id="39" name="Line 39"/>
          <p:cNvCxnSpPr/>
          <p:nvPr/>
        </p:nvCxnSpPr>
        <p:spPr>
          <a:xfrm>
            <a:off x="8210245" y="2199132"/>
            <a:ext cx="0" cy="3448050"/>
          </a:xfrm>
          <a:prstGeom prst="line">
            <a:avLst/>
          </a:prstGeom>
          <a:ln w="19050" cap="flat">
            <a:solidFill>
              <a:srgbClr val="5F6272"/>
            </a:solidFill>
          </a:ln>
        </p:spPr>
      </p:cxnSp>
      <p:cxnSp>
        <p:nvCxnSpPr>
          <p:cNvPr id="40" name="Line 40"/>
          <p:cNvCxnSpPr/>
          <p:nvPr/>
        </p:nvCxnSpPr>
        <p:spPr>
          <a:xfrm>
            <a:off x="8210245" y="5647182"/>
            <a:ext cx="3181350" cy="0"/>
          </a:xfrm>
          <a:prstGeom prst="line">
            <a:avLst/>
          </a:prstGeom>
          <a:ln w="19050" cap="flat">
            <a:solidFill>
              <a:srgbClr val="5F6272"/>
            </a:solidFill>
          </a:ln>
        </p:spPr>
      </p:cxnSp>
      <p:sp>
        <p:nvSpPr>
          <p:cNvPr id="41" name="Shape 41"/>
          <p:cNvSpPr txBox="1"/>
          <p:nvPr/>
        </p:nvSpPr>
        <p:spPr>
          <a:xfrm>
            <a:off x="793592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2" name="Shape 42"/>
          <p:cNvSpPr txBox="1"/>
          <p:nvPr/>
        </p:nvSpPr>
        <p:spPr>
          <a:xfrm>
            <a:off x="825406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3" name="Shape 43"/>
          <p:cNvSpPr txBox="1"/>
          <p:nvPr/>
        </p:nvSpPr>
        <p:spPr>
          <a:xfrm>
            <a:off x="857219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889033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5" name="Shape 45"/>
          <p:cNvSpPr txBox="1"/>
          <p:nvPr/>
        </p:nvSpPr>
        <p:spPr>
          <a:xfrm>
            <a:off x="920846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952660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7" name="Shape 47"/>
          <p:cNvSpPr txBox="1"/>
          <p:nvPr/>
        </p:nvSpPr>
        <p:spPr>
          <a:xfrm>
            <a:off x="984473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1016287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49" name="Shape 49"/>
          <p:cNvSpPr txBox="1"/>
          <p:nvPr/>
        </p:nvSpPr>
        <p:spPr>
          <a:xfrm>
            <a:off x="1048100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0" name="Shape 50"/>
          <p:cNvSpPr txBox="1"/>
          <p:nvPr/>
        </p:nvSpPr>
        <p:spPr>
          <a:xfrm>
            <a:off x="10799140"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9</a:t>
            </a:r>
            <a:endParaRPr lang="en-US" sz="975" dirty="0"/>
          </a:p>
        </p:txBody>
      </p:sp>
      <p:sp>
        <p:nvSpPr>
          <p:cNvPr id="51" name="Shape 51"/>
          <p:cNvSpPr txBox="1"/>
          <p:nvPr/>
        </p:nvSpPr>
        <p:spPr>
          <a:xfrm>
            <a:off x="1111727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52" name="Shape 52"/>
          <p:cNvSpPr txBox="1"/>
          <p:nvPr/>
        </p:nvSpPr>
        <p:spPr>
          <a:xfrm>
            <a:off x="7643317" y="55557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3" name="Shape 53"/>
          <p:cNvSpPr txBox="1"/>
          <p:nvPr/>
        </p:nvSpPr>
        <p:spPr>
          <a:xfrm>
            <a:off x="7643317" y="51247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54" name="Shape 54"/>
          <p:cNvSpPr txBox="1"/>
          <p:nvPr/>
        </p:nvSpPr>
        <p:spPr>
          <a:xfrm>
            <a:off x="7643317" y="469373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5" name="Shape 55"/>
          <p:cNvSpPr txBox="1"/>
          <p:nvPr/>
        </p:nvSpPr>
        <p:spPr>
          <a:xfrm>
            <a:off x="7643317" y="42627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6" name="Shape 56"/>
          <p:cNvSpPr txBox="1"/>
          <p:nvPr/>
        </p:nvSpPr>
        <p:spPr>
          <a:xfrm>
            <a:off x="7643317" y="38317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7" name="Shape 57"/>
          <p:cNvSpPr txBox="1"/>
          <p:nvPr/>
        </p:nvSpPr>
        <p:spPr>
          <a:xfrm>
            <a:off x="7643317" y="34007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58" name="Shape 58"/>
          <p:cNvSpPr txBox="1"/>
          <p:nvPr/>
        </p:nvSpPr>
        <p:spPr>
          <a:xfrm>
            <a:off x="7643317" y="296970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120</a:t>
            </a:r>
            <a:endParaRPr lang="en-US" sz="975" dirty="0"/>
          </a:p>
        </p:txBody>
      </p:sp>
      <p:sp>
        <p:nvSpPr>
          <p:cNvPr id="59" name="Shape 59"/>
          <p:cNvSpPr txBox="1"/>
          <p:nvPr/>
        </p:nvSpPr>
        <p:spPr>
          <a:xfrm>
            <a:off x="7643317" y="2538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140</a:t>
            </a:r>
            <a:endParaRPr lang="en-US" sz="975" dirty="0"/>
          </a:p>
        </p:txBody>
      </p:sp>
      <p:sp>
        <p:nvSpPr>
          <p:cNvPr id="60" name="Shape 60"/>
          <p:cNvSpPr txBox="1"/>
          <p:nvPr/>
        </p:nvSpPr>
        <p:spPr>
          <a:xfrm>
            <a:off x="7643317" y="21076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160</a:t>
            </a:r>
            <a:endParaRPr lang="en-US" sz="975" dirty="0"/>
          </a:p>
        </p:txBody>
      </p:sp>
      <p:sp>
        <p:nvSpPr>
          <p:cNvPr id="61" name="Shape 61"/>
          <p:cNvSpPr/>
          <p:nvPr/>
        </p:nvSpPr>
        <p:spPr>
          <a:xfrm>
            <a:off x="8157858" y="494828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2" name="Shape 62"/>
          <p:cNvSpPr txBox="1"/>
          <p:nvPr/>
        </p:nvSpPr>
        <p:spPr>
          <a:xfrm>
            <a:off x="8295970" y="475302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(0, 30)</a:t>
            </a:r>
            <a:endParaRPr lang="en-US" sz="1125" dirty="0"/>
          </a:p>
        </p:txBody>
      </p:sp>
      <p:sp>
        <p:nvSpPr>
          <p:cNvPr id="63" name="Shape 63"/>
          <p:cNvSpPr/>
          <p:nvPr/>
        </p:nvSpPr>
        <p:spPr>
          <a:xfrm>
            <a:off x="8475993" y="462503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p:nvPr/>
        </p:nvSpPr>
        <p:spPr>
          <a:xfrm>
            <a:off x="8794128" y="43017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65" name="Line 65"/>
          <p:cNvCxnSpPr/>
          <p:nvPr/>
        </p:nvCxnSpPr>
        <p:spPr>
          <a:xfrm flipV="1">
            <a:off x="8210245" y="2199132"/>
            <a:ext cx="2757170" cy="2801541"/>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61"/>
                                        </p:tgtEl>
                                        <p:attrNameLst>
                                          <p:attrName>style.visibility</p:attrName>
                                        </p:attrNameLst>
                                      </p:cBhvr>
                                      <p:to>
                                        <p:strVal val="visible"/>
                                      </p:to>
                                    </p:set>
                                    <p:animEffect transition="in" filter="fade">
                                      <p:cBhvr>
                                        <p:cTn id="39" dur="500"/>
                                        <p:tgtEl>
                                          <p:spTgt spid="61"/>
                                        </p:tgtEl>
                                      </p:cBhvr>
                                    </p:animEffect>
                                    <p:anim calcmode="lin" valueType="num">
                                      <p:cBhvr>
                                        <p:cTn id="40" dur="500" fill="hold"/>
                                        <p:tgtEl>
                                          <p:spTgt spid="61"/>
                                        </p:tgtEl>
                                        <p:attrNameLst>
                                          <p:attrName>ppt_w</p:attrName>
                                        </p:attrNameLst>
                                      </p:cBhvr>
                                      <p:tavLst>
                                        <p:tav tm="0">
                                          <p:val>
                                            <p:fltVal val="0"/>
                                          </p:val>
                                        </p:tav>
                                        <p:tav tm="100000">
                                          <p:val>
                                            <p:strVal val="#ppt_w"/>
                                          </p:val>
                                        </p:tav>
                                      </p:tavLst>
                                    </p:anim>
                                    <p:anim calcmode="lin" valueType="num">
                                      <p:cBhvr>
                                        <p:cTn id="41" dur="500" fill="hold"/>
                                        <p:tgtEl>
                                          <p:spTgt spid="61"/>
                                        </p:tgtEl>
                                        <p:attrNameLst>
                                          <p:attrName>ppt_h</p:attrName>
                                        </p:attrNameLst>
                                      </p:cBhvr>
                                      <p:tavLst>
                                        <p:tav tm="0">
                                          <p:val>
                                            <p:fltVal val="0"/>
                                          </p:val>
                                        </p:tav>
                                        <p:tav tm="100000">
                                          <p:val>
                                            <p:strVal val="#ppt_h"/>
                                          </p:val>
                                        </p:tav>
                                      </p:tavLst>
                                    </p:anim>
                                  </p:childTnLst>
                                </p:cTn>
                              </p:par>
                              <p:par>
                                <p:cTn id="47" presetID="53" presetClass="entr" presetSubtype="16" fill="hold" nodeType="withEffect">
                                  <p:stCondLst>
                                    <p:cond delay="0"/>
                                  </p:stCondLst>
                                  <p:childTnLst>
                                    <p:set>
                                      <p:cBhvr>
                                        <p:cTn id="43" dur="1" fill="hold">
                                          <p:stCondLst>
                                            <p:cond delay="0"/>
                                          </p:stCondLst>
                                        </p:cTn>
                                        <p:tgtEl>
                                          <p:spTgt spid="62"/>
                                        </p:tgtEl>
                                        <p:attrNameLst>
                                          <p:attrName>style.visibility</p:attrName>
                                        </p:attrNameLst>
                                      </p:cBhvr>
                                      <p:to>
                                        <p:strVal val="visible"/>
                                      </p:to>
                                    </p:set>
                                    <p:animEffect transition="in" filter="fade">
                                      <p:cBhvr>
                                        <p:cTn id="44" dur="500"/>
                                        <p:tgtEl>
                                          <p:spTgt spid="62"/>
                                        </p:tgtEl>
                                      </p:cBhvr>
                                    </p:animEffect>
                                    <p:anim calcmode="lin" valueType="num">
                                      <p:cBhvr>
                                        <p:cTn id="45" dur="500" fill="hold"/>
                                        <p:tgtEl>
                                          <p:spTgt spid="62"/>
                                        </p:tgtEl>
                                        <p:attrNameLst>
                                          <p:attrName>ppt_w</p:attrName>
                                        </p:attrNameLst>
                                      </p:cBhvr>
                                      <p:tavLst>
                                        <p:tav tm="0">
                                          <p:val>
                                            <p:fltVal val="0"/>
                                          </p:val>
                                        </p:tav>
                                        <p:tav tm="100000">
                                          <p:val>
                                            <p:strVal val="#ppt_w"/>
                                          </p:val>
                                        </p:tav>
                                      </p:tavLst>
                                    </p:anim>
                                    <p:anim calcmode="lin" valueType="num">
                                      <p:cBhvr>
                                        <p:cTn id="46"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fade">
                                      <p:cBhvr>
                                        <p:cTn id="51" dur="500"/>
                                        <p:tgtEl>
                                          <p:spTgt spid="63"/>
                                        </p:tgtEl>
                                      </p:cBhvr>
                                    </p:animEffect>
                                    <p:anim calcmode="lin" valueType="num">
                                      <p:cBhvr>
                                        <p:cTn id="52" dur="500" fill="hold"/>
                                        <p:tgtEl>
                                          <p:spTgt spid="63"/>
                                        </p:tgtEl>
                                        <p:attrNameLst>
                                          <p:attrName>ppt_w</p:attrName>
                                        </p:attrNameLst>
                                      </p:cBhvr>
                                      <p:tavLst>
                                        <p:tav tm="0">
                                          <p:val>
                                            <p:fltVal val="0"/>
                                          </p:val>
                                        </p:tav>
                                        <p:tav tm="100000">
                                          <p:val>
                                            <p:strVal val="#ppt_w"/>
                                          </p:val>
                                        </p:tav>
                                      </p:tavLst>
                                    </p:anim>
                                    <p:anim calcmode="lin" valueType="num">
                                      <p:cBhvr>
                                        <p:cTn id="53" dur="500" fill="hold"/>
                                        <p:tgtEl>
                                          <p:spTgt spid="63"/>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1" presetID="53" presetClass="entr" presetSubtype="16" fill="hold" nodeType="clickEffect">
                                  <p:stCondLst>
                                    <p:cond delay="0"/>
                                  </p:stCondLst>
                                  <p:childTnLst>
                                    <p:set>
                                      <p:cBhvr>
                                        <p:cTn id="57" dur="1" fill="hold">
                                          <p:stCondLst>
                                            <p:cond delay="0"/>
                                          </p:stCondLst>
                                        </p:cTn>
                                        <p:tgtEl>
                                          <p:spTgt spid="64"/>
                                        </p:tgtEl>
                                        <p:attrNameLst>
                                          <p:attrName>style.visibility</p:attrName>
                                        </p:attrNameLst>
                                      </p:cBhvr>
                                      <p:to>
                                        <p:strVal val="visible"/>
                                      </p:to>
                                    </p:set>
                                    <p:animEffect transition="in" filter="fade">
                                      <p:cBhvr>
                                        <p:cTn id="58" dur="500"/>
                                        <p:tgtEl>
                                          <p:spTgt spid="64"/>
                                        </p:tgtEl>
                                      </p:cBhvr>
                                    </p:animEffect>
                                    <p:anim calcmode="lin" valueType="num">
                                      <p:cBhvr>
                                        <p:cTn id="59" dur="500" fill="hold"/>
                                        <p:tgtEl>
                                          <p:spTgt spid="64"/>
                                        </p:tgtEl>
                                        <p:attrNameLst>
                                          <p:attrName>ppt_w</p:attrName>
                                        </p:attrNameLst>
                                      </p:cBhvr>
                                      <p:tavLst>
                                        <p:tav tm="0">
                                          <p:val>
                                            <p:fltVal val="0"/>
                                          </p:val>
                                        </p:tav>
                                        <p:tav tm="100000">
                                          <p:val>
                                            <p:strVal val="#ppt_w"/>
                                          </p:val>
                                        </p:tav>
                                      </p:tavLst>
                                    </p:anim>
                                    <p:anim calcmode="lin" valueType="num">
                                      <p:cBhvr>
                                        <p:cTn id="60"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6" presetID="22" presetClass="entr" presetSubtype="8" fill="hold" nodeType="clickEffect">
                                  <p:stCondLst>
                                    <p:cond delay="0"/>
                                  </p:stCondLst>
                                  <p:childTnLst>
                                    <p:set>
                                      <p:cBhvr>
                                        <p:cTn id="64" dur="1" fill="hold">
                                          <p:stCondLst>
                                            <p:cond delay="0"/>
                                          </p:stCondLst>
                                        </p:cTn>
                                        <p:tgtEl>
                                          <p:spTgt spid="65"/>
                                        </p:tgtEl>
                                        <p:attrNameLst>
                                          <p:attrName>style.visibility</p:attrName>
                                        </p:attrNameLst>
                                      </p:cBhvr>
                                      <p:to>
                                        <p:strVal val="visible"/>
                                      </p:to>
                                    </p:set>
                                    <p:animEffect transition="in" filter="wipe(left)">
                                      <p:cBhvr>
                                        <p:cTn id="65" dur="7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Question 5 · SE p. 222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The scuba diver</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scuba diver is </a:t>
            </a:r>
            <a:r>
              <a:rPr lang="en-US" sz="1575" dirty="0" b="1">
                <a:solidFill>
                  <a:srgbClr val="16171D"/>
                </a:solidFill>
                <a:latin typeface="Segoe UI"/>
                <a:cs typeface="Segoe UI"/>
              </a:rPr>
              <a:t xml:space="preserve">130 feet below sea level</a:t>
            </a:r>
            <a:r>
              <a:rPr lang="en-US" sz="1575" dirty="0">
                <a:solidFill>
                  <a:srgbClr val="16171D"/>
                </a:solidFill>
                <a:latin typeface="Segoe UI"/>
                <a:cs typeface="Segoe UI"/>
              </a:rPr>
              <a:t xml:space="preserve">. The diver ascends at a constant rate of </a:t>
            </a:r>
            <a:r>
              <a:rPr lang="en-US" sz="1575" dirty="0" b="1">
                <a:solidFill>
                  <a:srgbClr val="16171D"/>
                </a:solidFill>
                <a:latin typeface="Segoe UI"/>
                <a:cs typeface="Segoe UI"/>
              </a:rPr>
              <a:t xml:space="preserve">20 feet per minute</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084832"/>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time in minutes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depth in feet.</a:t>
            </a:r>
            <a:endParaRPr lang="en-US" sz="1575" dirty="0"/>
          </a:p>
        </p:txBody>
      </p:sp>
      <p:sp>
        <p:nvSpPr>
          <p:cNvPr id="6" name="Shape 6"/>
          <p:cNvSpPr txBox="1"/>
          <p:nvPr/>
        </p:nvSpPr>
        <p:spPr>
          <a:xfrm>
            <a:off x="685800" y="2494026"/>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Below sea level → </a:t>
            </a:r>
            <a:r>
              <a:rPr lang="en-US" sz="1950" dirty="0" b="1">
                <a:solidFill>
                  <a:srgbClr val="3050B8"/>
                </a:solidFill>
                <a:latin typeface="Segoe UI"/>
                <a:cs typeface="Segoe UI"/>
              </a:rPr>
              <a:t xml:space="preserve">(0, −130)</a:t>
            </a:r>
            <a:r>
              <a:rPr lang="en-US" sz="1950" dirty="0">
                <a:solidFill>
                  <a:srgbClr val="16171D"/>
                </a:solidFill>
                <a:latin typeface="Segoe UI"/>
                <a:cs typeface="Segoe UI"/>
              </a:rPr>
              <a:t xml:space="preserve">. Rising → </a:t>
            </a:r>
            <a:r>
              <a:rPr lang="en-US" sz="1950" dirty="0" b="1">
                <a:solidFill>
                  <a:srgbClr val="C9561F"/>
                </a:solidFill>
                <a:latin typeface="Segoe UI"/>
                <a:cs typeface="Segoe UI"/>
              </a:rPr>
              <a:t xml:space="preserve">slope +20</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2960370"/>
            <a:ext cx="4892589"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20</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130</a:t>
            </a:r>
            <a:endParaRPr lang="en-US" sz="2850" dirty="0"/>
          </a:p>
        </p:txBody>
      </p:sp>
      <p:sp>
        <p:nvSpPr>
          <p:cNvPr id="8" name="Shape 8"/>
          <p:cNvSpPr txBox="1"/>
          <p:nvPr/>
        </p:nvSpPr>
        <p:spPr>
          <a:xfrm>
            <a:off x="685800" y="3673602"/>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Graph: start at (0, −130), then up 20 and right 1 each minute.</a:t>
            </a:r>
            <a:endParaRPr lang="en-US" sz="1575" dirty="0"/>
          </a:p>
        </p:txBody>
      </p:sp>
      <p:sp>
        <p:nvSpPr>
          <p:cNvPr id="9" name="Shape 9"/>
          <p:cNvSpPr txBox="1"/>
          <p:nvPr/>
        </p:nvSpPr>
        <p:spPr>
          <a:xfrm>
            <a:off x="685800" y="4082796"/>
            <a:ext cx="67433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diver reaches the surface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0) after 6.5 minutes.</a:t>
            </a:r>
            <a:endParaRPr lang="en-US" sz="1575" dirty="0"/>
          </a:p>
        </p:txBody>
      </p:sp>
      <p:sp>
        <p:nvSpPr>
          <p:cNvPr id="10" name="Shape 10"/>
          <p:cNvSpPr/>
          <p:nvPr/>
        </p:nvSpPr>
        <p:spPr>
          <a:xfrm>
            <a:off x="7886395" y="2084832"/>
            <a:ext cx="36195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210245" y="2199132"/>
            <a:ext cx="0" cy="3448050"/>
          </a:xfrm>
          <a:prstGeom prst="line">
            <a:avLst/>
          </a:prstGeom>
          <a:ln w="9525" cap="flat">
            <a:solidFill>
              <a:srgbClr val="E6E8F2"/>
            </a:solidFill>
          </a:ln>
        </p:spPr>
      </p:cxnSp>
      <p:cxnSp>
        <p:nvCxnSpPr>
          <p:cNvPr id="12" name="Line 12"/>
          <p:cNvCxnSpPr/>
          <p:nvPr/>
        </p:nvCxnSpPr>
        <p:spPr>
          <a:xfrm>
            <a:off x="8563729" y="2199132"/>
            <a:ext cx="0" cy="3448050"/>
          </a:xfrm>
          <a:prstGeom prst="line">
            <a:avLst/>
          </a:prstGeom>
          <a:ln w="9525" cap="flat">
            <a:solidFill>
              <a:srgbClr val="E6E8F2"/>
            </a:solidFill>
          </a:ln>
        </p:spPr>
      </p:cxnSp>
      <p:cxnSp>
        <p:nvCxnSpPr>
          <p:cNvPr id="13" name="Line 13"/>
          <p:cNvCxnSpPr/>
          <p:nvPr/>
        </p:nvCxnSpPr>
        <p:spPr>
          <a:xfrm>
            <a:off x="8917212" y="2199132"/>
            <a:ext cx="0" cy="3448050"/>
          </a:xfrm>
          <a:prstGeom prst="line">
            <a:avLst/>
          </a:prstGeom>
          <a:ln w="9525" cap="flat">
            <a:solidFill>
              <a:srgbClr val="E6E8F2"/>
            </a:solidFill>
          </a:ln>
        </p:spPr>
      </p:cxnSp>
      <p:cxnSp>
        <p:nvCxnSpPr>
          <p:cNvPr id="14" name="Line 14"/>
          <p:cNvCxnSpPr/>
          <p:nvPr/>
        </p:nvCxnSpPr>
        <p:spPr>
          <a:xfrm>
            <a:off x="9270695" y="2199132"/>
            <a:ext cx="0" cy="3448050"/>
          </a:xfrm>
          <a:prstGeom prst="line">
            <a:avLst/>
          </a:prstGeom>
          <a:ln w="9525" cap="flat">
            <a:solidFill>
              <a:srgbClr val="E6E8F2"/>
            </a:solidFill>
          </a:ln>
        </p:spPr>
      </p:cxnSp>
      <p:cxnSp>
        <p:nvCxnSpPr>
          <p:cNvPr id="15" name="Line 15"/>
          <p:cNvCxnSpPr/>
          <p:nvPr/>
        </p:nvCxnSpPr>
        <p:spPr>
          <a:xfrm>
            <a:off x="9624179" y="2199132"/>
            <a:ext cx="0" cy="3448050"/>
          </a:xfrm>
          <a:prstGeom prst="line">
            <a:avLst/>
          </a:prstGeom>
          <a:ln w="9525" cap="flat">
            <a:solidFill>
              <a:srgbClr val="E6E8F2"/>
            </a:solidFill>
          </a:ln>
        </p:spPr>
      </p:cxnSp>
      <p:cxnSp>
        <p:nvCxnSpPr>
          <p:cNvPr id="16" name="Line 16"/>
          <p:cNvCxnSpPr/>
          <p:nvPr/>
        </p:nvCxnSpPr>
        <p:spPr>
          <a:xfrm>
            <a:off x="9977662" y="2199132"/>
            <a:ext cx="0" cy="3448050"/>
          </a:xfrm>
          <a:prstGeom prst="line">
            <a:avLst/>
          </a:prstGeom>
          <a:ln w="9525" cap="flat">
            <a:solidFill>
              <a:srgbClr val="E6E8F2"/>
            </a:solidFill>
          </a:ln>
        </p:spPr>
      </p:cxnSp>
      <p:cxnSp>
        <p:nvCxnSpPr>
          <p:cNvPr id="17" name="Line 17"/>
          <p:cNvCxnSpPr/>
          <p:nvPr/>
        </p:nvCxnSpPr>
        <p:spPr>
          <a:xfrm>
            <a:off x="10331145" y="2199132"/>
            <a:ext cx="0" cy="3448050"/>
          </a:xfrm>
          <a:prstGeom prst="line">
            <a:avLst/>
          </a:prstGeom>
          <a:ln w="9525" cap="flat">
            <a:solidFill>
              <a:srgbClr val="E6E8F2"/>
            </a:solidFill>
          </a:ln>
        </p:spPr>
      </p:cxnSp>
      <p:cxnSp>
        <p:nvCxnSpPr>
          <p:cNvPr id="18" name="Line 18"/>
          <p:cNvCxnSpPr/>
          <p:nvPr/>
        </p:nvCxnSpPr>
        <p:spPr>
          <a:xfrm>
            <a:off x="10684629" y="2199132"/>
            <a:ext cx="0" cy="3448050"/>
          </a:xfrm>
          <a:prstGeom prst="line">
            <a:avLst/>
          </a:prstGeom>
          <a:ln w="9525" cap="flat">
            <a:solidFill>
              <a:srgbClr val="E6E8F2"/>
            </a:solidFill>
          </a:ln>
        </p:spPr>
      </p:cxnSp>
      <p:cxnSp>
        <p:nvCxnSpPr>
          <p:cNvPr id="19" name="Line 19"/>
          <p:cNvCxnSpPr/>
          <p:nvPr/>
        </p:nvCxnSpPr>
        <p:spPr>
          <a:xfrm>
            <a:off x="11038112" y="2199132"/>
            <a:ext cx="0" cy="3448050"/>
          </a:xfrm>
          <a:prstGeom prst="line">
            <a:avLst/>
          </a:prstGeom>
          <a:ln w="9525" cap="flat">
            <a:solidFill>
              <a:srgbClr val="E6E8F2"/>
            </a:solidFill>
          </a:ln>
        </p:spPr>
      </p:cxnSp>
      <p:cxnSp>
        <p:nvCxnSpPr>
          <p:cNvPr id="20" name="Line 20"/>
          <p:cNvCxnSpPr/>
          <p:nvPr/>
        </p:nvCxnSpPr>
        <p:spPr>
          <a:xfrm>
            <a:off x="11391595" y="2199132"/>
            <a:ext cx="0" cy="3448050"/>
          </a:xfrm>
          <a:prstGeom prst="line">
            <a:avLst/>
          </a:prstGeom>
          <a:ln w="9525" cap="flat">
            <a:solidFill>
              <a:srgbClr val="E6E8F2"/>
            </a:solidFill>
          </a:ln>
        </p:spPr>
      </p:cxnSp>
      <p:cxnSp>
        <p:nvCxnSpPr>
          <p:cNvPr id="21" name="Line 21"/>
          <p:cNvCxnSpPr/>
          <p:nvPr/>
        </p:nvCxnSpPr>
        <p:spPr>
          <a:xfrm>
            <a:off x="8210245" y="5647182"/>
            <a:ext cx="3181350" cy="0"/>
          </a:xfrm>
          <a:prstGeom prst="line">
            <a:avLst/>
          </a:prstGeom>
          <a:ln w="9525" cap="flat">
            <a:solidFill>
              <a:srgbClr val="E6E8F2"/>
            </a:solidFill>
          </a:ln>
        </p:spPr>
      </p:cxnSp>
      <p:cxnSp>
        <p:nvCxnSpPr>
          <p:cNvPr id="22" name="Line 22"/>
          <p:cNvCxnSpPr/>
          <p:nvPr/>
        </p:nvCxnSpPr>
        <p:spPr>
          <a:xfrm>
            <a:off x="8210245" y="5400893"/>
            <a:ext cx="3181350" cy="0"/>
          </a:xfrm>
          <a:prstGeom prst="line">
            <a:avLst/>
          </a:prstGeom>
          <a:ln w="9525" cap="flat">
            <a:solidFill>
              <a:srgbClr val="E6E8F2"/>
            </a:solidFill>
          </a:ln>
        </p:spPr>
      </p:cxnSp>
      <p:cxnSp>
        <p:nvCxnSpPr>
          <p:cNvPr id="23" name="Line 23"/>
          <p:cNvCxnSpPr/>
          <p:nvPr/>
        </p:nvCxnSpPr>
        <p:spPr>
          <a:xfrm>
            <a:off x="8210245" y="5154603"/>
            <a:ext cx="3181350" cy="0"/>
          </a:xfrm>
          <a:prstGeom prst="line">
            <a:avLst/>
          </a:prstGeom>
          <a:ln w="9525" cap="flat">
            <a:solidFill>
              <a:srgbClr val="E6E8F2"/>
            </a:solidFill>
          </a:ln>
        </p:spPr>
      </p:cxnSp>
      <p:cxnSp>
        <p:nvCxnSpPr>
          <p:cNvPr id="24" name="Line 24"/>
          <p:cNvCxnSpPr/>
          <p:nvPr/>
        </p:nvCxnSpPr>
        <p:spPr>
          <a:xfrm>
            <a:off x="8210245" y="4908314"/>
            <a:ext cx="3181350" cy="0"/>
          </a:xfrm>
          <a:prstGeom prst="line">
            <a:avLst/>
          </a:prstGeom>
          <a:ln w="9525" cap="flat">
            <a:solidFill>
              <a:srgbClr val="E6E8F2"/>
            </a:solidFill>
          </a:ln>
        </p:spPr>
      </p:cxnSp>
      <p:cxnSp>
        <p:nvCxnSpPr>
          <p:cNvPr id="25" name="Line 25"/>
          <p:cNvCxnSpPr/>
          <p:nvPr/>
        </p:nvCxnSpPr>
        <p:spPr>
          <a:xfrm>
            <a:off x="8210245" y="4662025"/>
            <a:ext cx="3181350" cy="0"/>
          </a:xfrm>
          <a:prstGeom prst="line">
            <a:avLst/>
          </a:prstGeom>
          <a:ln w="9525" cap="flat">
            <a:solidFill>
              <a:srgbClr val="E6E8F2"/>
            </a:solidFill>
          </a:ln>
        </p:spPr>
      </p:cxnSp>
      <p:cxnSp>
        <p:nvCxnSpPr>
          <p:cNvPr id="26" name="Line 26"/>
          <p:cNvCxnSpPr/>
          <p:nvPr/>
        </p:nvCxnSpPr>
        <p:spPr>
          <a:xfrm>
            <a:off x="8210245" y="4415736"/>
            <a:ext cx="3181350" cy="0"/>
          </a:xfrm>
          <a:prstGeom prst="line">
            <a:avLst/>
          </a:prstGeom>
          <a:ln w="9525" cap="flat">
            <a:solidFill>
              <a:srgbClr val="E6E8F2"/>
            </a:solidFill>
          </a:ln>
        </p:spPr>
      </p:cxnSp>
      <p:cxnSp>
        <p:nvCxnSpPr>
          <p:cNvPr id="27" name="Line 27"/>
          <p:cNvCxnSpPr/>
          <p:nvPr/>
        </p:nvCxnSpPr>
        <p:spPr>
          <a:xfrm>
            <a:off x="8210245" y="4169446"/>
            <a:ext cx="3181350" cy="0"/>
          </a:xfrm>
          <a:prstGeom prst="line">
            <a:avLst/>
          </a:prstGeom>
          <a:ln w="9525" cap="flat">
            <a:solidFill>
              <a:srgbClr val="E6E8F2"/>
            </a:solidFill>
          </a:ln>
        </p:spPr>
      </p:cxnSp>
      <p:cxnSp>
        <p:nvCxnSpPr>
          <p:cNvPr id="28" name="Line 28"/>
          <p:cNvCxnSpPr/>
          <p:nvPr/>
        </p:nvCxnSpPr>
        <p:spPr>
          <a:xfrm>
            <a:off x="8210245" y="3923157"/>
            <a:ext cx="3181350" cy="0"/>
          </a:xfrm>
          <a:prstGeom prst="line">
            <a:avLst/>
          </a:prstGeom>
          <a:ln w="9525" cap="flat">
            <a:solidFill>
              <a:srgbClr val="E6E8F2"/>
            </a:solidFill>
          </a:ln>
        </p:spPr>
      </p:cxnSp>
      <p:cxnSp>
        <p:nvCxnSpPr>
          <p:cNvPr id="29" name="Line 29"/>
          <p:cNvCxnSpPr/>
          <p:nvPr/>
        </p:nvCxnSpPr>
        <p:spPr>
          <a:xfrm>
            <a:off x="8210245" y="3676868"/>
            <a:ext cx="3181350" cy="0"/>
          </a:xfrm>
          <a:prstGeom prst="line">
            <a:avLst/>
          </a:prstGeom>
          <a:ln w="9525" cap="flat">
            <a:solidFill>
              <a:srgbClr val="E6E8F2"/>
            </a:solidFill>
          </a:ln>
        </p:spPr>
      </p:cxnSp>
      <p:cxnSp>
        <p:nvCxnSpPr>
          <p:cNvPr id="30" name="Line 30"/>
          <p:cNvCxnSpPr/>
          <p:nvPr/>
        </p:nvCxnSpPr>
        <p:spPr>
          <a:xfrm>
            <a:off x="8210245" y="3430578"/>
            <a:ext cx="3181350" cy="0"/>
          </a:xfrm>
          <a:prstGeom prst="line">
            <a:avLst/>
          </a:prstGeom>
          <a:ln w="9525" cap="flat">
            <a:solidFill>
              <a:srgbClr val="E6E8F2"/>
            </a:solidFill>
          </a:ln>
        </p:spPr>
      </p:cxnSp>
      <p:cxnSp>
        <p:nvCxnSpPr>
          <p:cNvPr id="31" name="Line 31"/>
          <p:cNvCxnSpPr/>
          <p:nvPr/>
        </p:nvCxnSpPr>
        <p:spPr>
          <a:xfrm>
            <a:off x="8210245" y="3184289"/>
            <a:ext cx="3181350" cy="0"/>
          </a:xfrm>
          <a:prstGeom prst="line">
            <a:avLst/>
          </a:prstGeom>
          <a:ln w="9525" cap="flat">
            <a:solidFill>
              <a:srgbClr val="E6E8F2"/>
            </a:solidFill>
          </a:ln>
        </p:spPr>
      </p:cxnSp>
      <p:cxnSp>
        <p:nvCxnSpPr>
          <p:cNvPr id="32" name="Line 32"/>
          <p:cNvCxnSpPr/>
          <p:nvPr/>
        </p:nvCxnSpPr>
        <p:spPr>
          <a:xfrm>
            <a:off x="8210245" y="2938000"/>
            <a:ext cx="3181350" cy="0"/>
          </a:xfrm>
          <a:prstGeom prst="line">
            <a:avLst/>
          </a:prstGeom>
          <a:ln w="9525" cap="flat">
            <a:solidFill>
              <a:srgbClr val="E6E8F2"/>
            </a:solidFill>
          </a:ln>
        </p:spPr>
      </p:cxnSp>
      <p:cxnSp>
        <p:nvCxnSpPr>
          <p:cNvPr id="33" name="Line 33"/>
          <p:cNvCxnSpPr/>
          <p:nvPr/>
        </p:nvCxnSpPr>
        <p:spPr>
          <a:xfrm>
            <a:off x="8210245" y="2691711"/>
            <a:ext cx="3181350" cy="0"/>
          </a:xfrm>
          <a:prstGeom prst="line">
            <a:avLst/>
          </a:prstGeom>
          <a:ln w="9525" cap="flat">
            <a:solidFill>
              <a:srgbClr val="E6E8F2"/>
            </a:solidFill>
          </a:ln>
        </p:spPr>
      </p:cxnSp>
      <p:cxnSp>
        <p:nvCxnSpPr>
          <p:cNvPr id="34" name="Line 34"/>
          <p:cNvCxnSpPr/>
          <p:nvPr/>
        </p:nvCxnSpPr>
        <p:spPr>
          <a:xfrm>
            <a:off x="8210245" y="2445421"/>
            <a:ext cx="3181350" cy="0"/>
          </a:xfrm>
          <a:prstGeom prst="line">
            <a:avLst/>
          </a:prstGeom>
          <a:ln w="9525" cap="flat">
            <a:solidFill>
              <a:srgbClr val="E6E8F2"/>
            </a:solidFill>
          </a:ln>
        </p:spPr>
      </p:cxnSp>
      <p:cxnSp>
        <p:nvCxnSpPr>
          <p:cNvPr id="35" name="Line 35"/>
          <p:cNvCxnSpPr/>
          <p:nvPr/>
        </p:nvCxnSpPr>
        <p:spPr>
          <a:xfrm>
            <a:off x="8210245" y="2199132"/>
            <a:ext cx="3181350" cy="0"/>
          </a:xfrm>
          <a:prstGeom prst="line">
            <a:avLst/>
          </a:prstGeom>
          <a:ln w="9525" cap="flat">
            <a:solidFill>
              <a:srgbClr val="E6E8F2"/>
            </a:solidFill>
          </a:ln>
        </p:spPr>
      </p:cxnSp>
      <p:cxnSp>
        <p:nvCxnSpPr>
          <p:cNvPr id="36" name="Line 36"/>
          <p:cNvCxnSpPr/>
          <p:nvPr/>
        </p:nvCxnSpPr>
        <p:spPr>
          <a:xfrm>
            <a:off x="8210245" y="2199132"/>
            <a:ext cx="0" cy="3448050"/>
          </a:xfrm>
          <a:prstGeom prst="line">
            <a:avLst/>
          </a:prstGeom>
          <a:ln w="19050" cap="flat">
            <a:solidFill>
              <a:srgbClr val="5F6272"/>
            </a:solidFill>
          </a:ln>
        </p:spPr>
      </p:cxnSp>
      <p:cxnSp>
        <p:nvCxnSpPr>
          <p:cNvPr id="37" name="Line 37"/>
          <p:cNvCxnSpPr/>
          <p:nvPr/>
        </p:nvCxnSpPr>
        <p:spPr>
          <a:xfrm>
            <a:off x="8210245" y="2199132"/>
            <a:ext cx="3181350" cy="0"/>
          </a:xfrm>
          <a:prstGeom prst="line">
            <a:avLst/>
          </a:prstGeom>
          <a:ln w="19050" cap="flat">
            <a:solidFill>
              <a:srgbClr val="5F6272"/>
            </a:solidFill>
          </a:ln>
        </p:spPr>
      </p:cxnSp>
      <p:sp>
        <p:nvSpPr>
          <p:cNvPr id="38" name="Shape 38"/>
          <p:cNvSpPr txBox="1"/>
          <p:nvPr/>
        </p:nvSpPr>
        <p:spPr>
          <a:xfrm>
            <a:off x="793592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9" name="Shape 39"/>
          <p:cNvSpPr txBox="1"/>
          <p:nvPr/>
        </p:nvSpPr>
        <p:spPr>
          <a:xfrm>
            <a:off x="8289409"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0" name="Shape 40"/>
          <p:cNvSpPr txBox="1"/>
          <p:nvPr/>
        </p:nvSpPr>
        <p:spPr>
          <a:xfrm>
            <a:off x="8642892"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899637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2" name="Shape 42"/>
          <p:cNvSpPr txBox="1"/>
          <p:nvPr/>
        </p:nvSpPr>
        <p:spPr>
          <a:xfrm>
            <a:off x="9349859"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9703342"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4" name="Shape 44"/>
          <p:cNvSpPr txBox="1"/>
          <p:nvPr/>
        </p:nvSpPr>
        <p:spPr>
          <a:xfrm>
            <a:off x="1005682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10410309"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46" name="Shape 46"/>
          <p:cNvSpPr txBox="1"/>
          <p:nvPr/>
        </p:nvSpPr>
        <p:spPr>
          <a:xfrm>
            <a:off x="10763792"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7" name="Shape 47"/>
          <p:cNvSpPr txBox="1"/>
          <p:nvPr/>
        </p:nvSpPr>
        <p:spPr>
          <a:xfrm>
            <a:off x="11117275" y="5666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9</a:t>
            </a:r>
            <a:endParaRPr lang="en-US" sz="975" dirty="0"/>
          </a:p>
        </p:txBody>
      </p:sp>
      <p:sp>
        <p:nvSpPr>
          <p:cNvPr id="48" name="Shape 48"/>
          <p:cNvSpPr txBox="1"/>
          <p:nvPr/>
        </p:nvSpPr>
        <p:spPr>
          <a:xfrm>
            <a:off x="7643317" y="55557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−140</a:t>
            </a:r>
            <a:endParaRPr lang="en-US" sz="975" dirty="0"/>
          </a:p>
        </p:txBody>
      </p:sp>
      <p:sp>
        <p:nvSpPr>
          <p:cNvPr id="49" name="Shape 49"/>
          <p:cNvSpPr txBox="1"/>
          <p:nvPr/>
        </p:nvSpPr>
        <p:spPr>
          <a:xfrm>
            <a:off x="7643317" y="506316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−120</a:t>
            </a:r>
            <a:endParaRPr lang="en-US" sz="975" dirty="0"/>
          </a:p>
        </p:txBody>
      </p:sp>
      <p:sp>
        <p:nvSpPr>
          <p:cNvPr id="50" name="Shape 50"/>
          <p:cNvSpPr txBox="1"/>
          <p:nvPr/>
        </p:nvSpPr>
        <p:spPr>
          <a:xfrm>
            <a:off x="7643317" y="457058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51" name="Shape 51"/>
          <p:cNvSpPr txBox="1"/>
          <p:nvPr/>
        </p:nvSpPr>
        <p:spPr>
          <a:xfrm>
            <a:off x="7643317" y="407800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2" name="Shape 52"/>
          <p:cNvSpPr txBox="1"/>
          <p:nvPr/>
        </p:nvSpPr>
        <p:spPr>
          <a:xfrm>
            <a:off x="7643317" y="35854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3" name="Shape 53"/>
          <p:cNvSpPr txBox="1"/>
          <p:nvPr/>
        </p:nvSpPr>
        <p:spPr>
          <a:xfrm>
            <a:off x="7643317" y="309284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4" name="Shape 54"/>
          <p:cNvSpPr txBox="1"/>
          <p:nvPr/>
        </p:nvSpPr>
        <p:spPr>
          <a:xfrm>
            <a:off x="7643317" y="260027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55" name="Shape 55"/>
          <p:cNvSpPr txBox="1"/>
          <p:nvPr/>
        </p:nvSpPr>
        <p:spPr>
          <a:xfrm>
            <a:off x="7643317" y="21076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6" name="Shape 56"/>
          <p:cNvSpPr/>
          <p:nvPr/>
        </p:nvSpPr>
        <p:spPr>
          <a:xfrm>
            <a:off x="8157858" y="534850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txBox="1"/>
          <p:nvPr/>
        </p:nvSpPr>
        <p:spPr>
          <a:xfrm>
            <a:off x="8295970" y="515324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−130)</a:t>
            </a:r>
            <a:endParaRPr lang="en-US" sz="1125" dirty="0"/>
          </a:p>
        </p:txBody>
      </p:sp>
      <p:sp>
        <p:nvSpPr>
          <p:cNvPr id="58" name="Shape 58"/>
          <p:cNvSpPr/>
          <p:nvPr/>
        </p:nvSpPr>
        <p:spPr>
          <a:xfrm>
            <a:off x="8511341" y="485592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9" name="Shape 59"/>
          <p:cNvSpPr/>
          <p:nvPr/>
        </p:nvSpPr>
        <p:spPr>
          <a:xfrm>
            <a:off x="8864824" y="436334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60" name="Line 60"/>
          <p:cNvCxnSpPr/>
          <p:nvPr/>
        </p:nvCxnSpPr>
        <p:spPr>
          <a:xfrm flipV="1">
            <a:off x="8210245" y="2199132"/>
            <a:ext cx="2297642" cy="3201761"/>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fade">
                                      <p:cBhvr>
                                        <p:cTn id="39" dur="500"/>
                                        <p:tgtEl>
                                          <p:spTgt spid="56"/>
                                        </p:tgtEl>
                                      </p:cBhvr>
                                    </p:animEffect>
                                    <p:anim calcmode="lin" valueType="num">
                                      <p:cBhvr>
                                        <p:cTn id="40" dur="500" fill="hold"/>
                                        <p:tgtEl>
                                          <p:spTgt spid="56"/>
                                        </p:tgtEl>
                                        <p:attrNameLst>
                                          <p:attrName>ppt_w</p:attrName>
                                        </p:attrNameLst>
                                      </p:cBhvr>
                                      <p:tavLst>
                                        <p:tav tm="0">
                                          <p:val>
                                            <p:fltVal val="0"/>
                                          </p:val>
                                        </p:tav>
                                        <p:tav tm="100000">
                                          <p:val>
                                            <p:strVal val="#ppt_w"/>
                                          </p:val>
                                        </p:tav>
                                      </p:tavLst>
                                    </p:anim>
                                    <p:anim calcmode="lin" valueType="num">
                                      <p:cBhvr>
                                        <p:cTn id="41" dur="500" fill="hold"/>
                                        <p:tgtEl>
                                          <p:spTgt spid="56"/>
                                        </p:tgtEl>
                                        <p:attrNameLst>
                                          <p:attrName>ppt_h</p:attrName>
                                        </p:attrNameLst>
                                      </p:cBhvr>
                                      <p:tavLst>
                                        <p:tav tm="0">
                                          <p:val>
                                            <p:fltVal val="0"/>
                                          </p:val>
                                        </p:tav>
                                        <p:tav tm="100000">
                                          <p:val>
                                            <p:strVal val="#ppt_h"/>
                                          </p:val>
                                        </p:tav>
                                      </p:tavLst>
                                    </p:anim>
                                  </p:childTnLst>
                                </p:cTn>
                              </p:par>
                              <p:par>
                                <p:cTn id="47" presetID="53" presetClass="entr" presetSubtype="16" fill="hold" nodeType="withEffect">
                                  <p:stCondLst>
                                    <p:cond delay="0"/>
                                  </p:stCondLst>
                                  <p:childTnLst>
                                    <p:set>
                                      <p:cBhvr>
                                        <p:cTn id="43" dur="1" fill="hold">
                                          <p:stCondLst>
                                            <p:cond delay="0"/>
                                          </p:stCondLst>
                                        </p:cTn>
                                        <p:tgtEl>
                                          <p:spTgt spid="57"/>
                                        </p:tgtEl>
                                        <p:attrNameLst>
                                          <p:attrName>style.visibility</p:attrName>
                                        </p:attrNameLst>
                                      </p:cBhvr>
                                      <p:to>
                                        <p:strVal val="visible"/>
                                      </p:to>
                                    </p:set>
                                    <p:animEffect transition="in" filter="fade">
                                      <p:cBhvr>
                                        <p:cTn id="44" dur="500"/>
                                        <p:tgtEl>
                                          <p:spTgt spid="57"/>
                                        </p:tgtEl>
                                      </p:cBhvr>
                                    </p:animEffect>
                                    <p:anim calcmode="lin" valueType="num">
                                      <p:cBhvr>
                                        <p:cTn id="45" dur="500" fill="hold"/>
                                        <p:tgtEl>
                                          <p:spTgt spid="57"/>
                                        </p:tgtEl>
                                        <p:attrNameLst>
                                          <p:attrName>ppt_w</p:attrName>
                                        </p:attrNameLst>
                                      </p:cBhvr>
                                      <p:tavLst>
                                        <p:tav tm="0">
                                          <p:val>
                                            <p:fltVal val="0"/>
                                          </p:val>
                                        </p:tav>
                                        <p:tav tm="100000">
                                          <p:val>
                                            <p:strVal val="#ppt_w"/>
                                          </p:val>
                                        </p:tav>
                                      </p:tavLst>
                                    </p:anim>
                                    <p:anim calcmode="lin" valueType="num">
                                      <p:cBhvr>
                                        <p:cTn id="46"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58"/>
                                        </p:tgtEl>
                                        <p:attrNameLst>
                                          <p:attrName>style.visibility</p:attrName>
                                        </p:attrNameLst>
                                      </p:cBhvr>
                                      <p:to>
                                        <p:strVal val="visible"/>
                                      </p:to>
                                    </p:set>
                                    <p:animEffect transition="in" filter="fade">
                                      <p:cBhvr>
                                        <p:cTn id="51" dur="500"/>
                                        <p:tgtEl>
                                          <p:spTgt spid="58"/>
                                        </p:tgtEl>
                                      </p:cBhvr>
                                    </p:animEffect>
                                    <p:anim calcmode="lin" valueType="num">
                                      <p:cBhvr>
                                        <p:cTn id="52" dur="500" fill="hold"/>
                                        <p:tgtEl>
                                          <p:spTgt spid="58"/>
                                        </p:tgtEl>
                                        <p:attrNameLst>
                                          <p:attrName>ppt_w</p:attrName>
                                        </p:attrNameLst>
                                      </p:cBhvr>
                                      <p:tavLst>
                                        <p:tav tm="0">
                                          <p:val>
                                            <p:fltVal val="0"/>
                                          </p:val>
                                        </p:tav>
                                        <p:tav tm="100000">
                                          <p:val>
                                            <p:strVal val="#ppt_w"/>
                                          </p:val>
                                        </p:tav>
                                      </p:tavLst>
                                    </p:anim>
                                    <p:anim calcmode="lin" valueType="num">
                                      <p:cBhvr>
                                        <p:cTn id="53" dur="500" fill="hold"/>
                                        <p:tgtEl>
                                          <p:spTgt spid="58"/>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1" presetID="53" presetClass="entr" presetSubtype="16" fill="hold" nodeType="clickEffect">
                                  <p:stCondLst>
                                    <p:cond delay="0"/>
                                  </p:stCondLst>
                                  <p:childTnLst>
                                    <p:set>
                                      <p:cBhvr>
                                        <p:cTn id="57" dur="1" fill="hold">
                                          <p:stCondLst>
                                            <p:cond delay="0"/>
                                          </p:stCondLst>
                                        </p:cTn>
                                        <p:tgtEl>
                                          <p:spTgt spid="59"/>
                                        </p:tgtEl>
                                        <p:attrNameLst>
                                          <p:attrName>style.visibility</p:attrName>
                                        </p:attrNameLst>
                                      </p:cBhvr>
                                      <p:to>
                                        <p:strVal val="visible"/>
                                      </p:to>
                                    </p:set>
                                    <p:animEffect transition="in" filter="fade">
                                      <p:cBhvr>
                                        <p:cTn id="58" dur="500"/>
                                        <p:tgtEl>
                                          <p:spTgt spid="59"/>
                                        </p:tgtEl>
                                      </p:cBhvr>
                                    </p:animEffect>
                                    <p:anim calcmode="lin" valueType="num">
                                      <p:cBhvr>
                                        <p:cTn id="59" dur="500" fill="hold"/>
                                        <p:tgtEl>
                                          <p:spTgt spid="59"/>
                                        </p:tgtEl>
                                        <p:attrNameLst>
                                          <p:attrName>ppt_w</p:attrName>
                                        </p:attrNameLst>
                                      </p:cBhvr>
                                      <p:tavLst>
                                        <p:tav tm="0">
                                          <p:val>
                                            <p:fltVal val="0"/>
                                          </p:val>
                                        </p:tav>
                                        <p:tav tm="100000">
                                          <p:val>
                                            <p:strVal val="#ppt_w"/>
                                          </p:val>
                                        </p:tav>
                                      </p:tavLst>
                                    </p:anim>
                                    <p:anim calcmode="lin" valueType="num">
                                      <p:cBhvr>
                                        <p:cTn id="60" dur="500" fill="hold"/>
                                        <p:tgtEl>
                                          <p:spTgt spid="59"/>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6" presetID="22" presetClass="entr" presetSubtype="8" fill="hold" nodeType="clickEffect">
                                  <p:stCondLst>
                                    <p:cond delay="0"/>
                                  </p:stCondLst>
                                  <p:childTnLst>
                                    <p:set>
                                      <p:cBhvr>
                                        <p:cTn id="64" dur="1" fill="hold">
                                          <p:stCondLst>
                                            <p:cond delay="0"/>
                                          </p:stCondLst>
                                        </p:cTn>
                                        <p:tgtEl>
                                          <p:spTgt spid="60"/>
                                        </p:tgtEl>
                                        <p:attrNameLst>
                                          <p:attrName>style.visibility</p:attrName>
                                        </p:attrNameLst>
                                      </p:cBhvr>
                                      <p:to>
                                        <p:strVal val="visible"/>
                                      </p:to>
                                    </p:set>
                                    <p:animEffect transition="in" filter="wipe(left)">
                                      <p:cBhvr>
                                        <p:cTn id="65" dur="7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5.1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Graphing from slope-intercept form</a:t>
            </a:r>
            <a:endParaRPr lang="en-US" sz="3450" dirty="0"/>
          </a:p>
        </p:txBody>
      </p:sp>
      <p:sp>
        <p:nvSpPr>
          <p:cNvPr id="4" name="Shape 4"/>
          <p:cNvSpPr txBox="1"/>
          <p:nvPr/>
        </p:nvSpPr>
        <p:spPr>
          <a:xfrm>
            <a:off x="685800" y="17137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Plot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b="1">
                <a:solidFill>
                  <a:srgbClr val="3050B8"/>
                </a:solidFill>
                <a:latin typeface="Cambria"/>
                <a:cs typeface="Cambria"/>
              </a:rPr>
              <a:t xml:space="preserve">(0, </a:t>
            </a:r>
            <a:r>
              <a:rPr lang="en-US" sz="1950" dirty="0" b="1" i="1">
                <a:solidFill>
                  <a:srgbClr val="3050B8"/>
                </a:solidFill>
                <a:latin typeface="Cambria"/>
                <a:cs typeface="Cambria"/>
              </a:rPr>
              <a:t xml:space="preserve">b</a:t>
            </a:r>
            <a:r>
              <a:rPr lang="en-US" sz="1950" dirty="0" b="1">
                <a:solidFill>
                  <a:srgbClr val="3050B8"/>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27533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Write the slope </a:t>
            </a:r>
            <a:r>
              <a:rPr lang="en-US" sz="1950" dirty="0" b="1" i="1">
                <a:solidFill>
                  <a:srgbClr val="C9561F"/>
                </a:solidFill>
                <a:latin typeface="Cambria"/>
                <a:cs typeface="Cambria"/>
              </a:rPr>
              <a:t xml:space="preserve">m</a:t>
            </a:r>
            <a:r>
              <a:rPr lang="en-US" sz="1950" dirty="0">
                <a:solidFill>
                  <a:srgbClr val="16171D"/>
                </a:solidFill>
                <a:latin typeface="Segoe UI"/>
                <a:cs typeface="Segoe UI"/>
              </a:rPr>
              <a:t xml:space="preserve"> as a ratio, </a:t>
            </a:r>
            <a:r>
              <a:rPr lang="en-US" sz="1950" dirty="0">
                <a:solidFill>
                  <a:srgbClr val="16171D"/>
                </a:solidFill>
                <a:latin typeface="Cambria"/>
                <a:cs typeface="Cambria"/>
              </a:rPr>
              <a:t xml:space="preserve">rise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run</a:t>
            </a:r>
            <a:r>
              <a:rPr lang="en-US" sz="1950" dirty="0">
                <a:solidFill>
                  <a:srgbClr val="16171D"/>
                </a:solidFill>
                <a:latin typeface="Segoe UI"/>
                <a:cs typeface="Segoe UI"/>
              </a:rPr>
              <a:t xml:space="preserve">. Count from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to plot another point.</a:t>
            </a:r>
            <a:endParaRPr lang="en-US" sz="1950" dirty="0"/>
          </a:p>
        </p:txBody>
      </p:sp>
      <p:sp>
        <p:nvSpPr>
          <p:cNvPr id="6" name="Shape 6"/>
          <p:cNvSpPr txBox="1"/>
          <p:nvPr/>
        </p:nvSpPr>
        <p:spPr>
          <a:xfrm>
            <a:off x="685800" y="313410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Use the equivalent ratio (both signs flipped) to plot a point on the other side.</a:t>
            </a:r>
            <a:endParaRPr lang="en-US" sz="1950" dirty="0"/>
          </a:p>
        </p:txBody>
      </p:sp>
      <p:sp>
        <p:nvSpPr>
          <p:cNvPr id="7" name="Shape 7"/>
          <p:cNvSpPr txBox="1"/>
          <p:nvPr/>
        </p:nvSpPr>
        <p:spPr>
          <a:xfrm>
            <a:off x="685800" y="3695700"/>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Connect at least three points with a straightedge. Check the direction: positive slope rises left to right, negative slope falls.</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5</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2</a:t>
            </a:r>
            <a:endParaRPr lang="en-US" sz="8250" dirty="0"/>
          </a:p>
        </p:txBody>
      </p:sp>
      <p:sp>
        <p:nvSpPr>
          <p:cNvPr id="4" name="Shape 4"/>
          <p:cNvSpPr txBox="1"/>
          <p:nvPr/>
        </p:nvSpPr>
        <p:spPr>
          <a:xfrm>
            <a:off x="685800" y="3995928"/>
            <a:ext cx="10820095" cy="115214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Is there a more efficient method to graphing a linear relationship? Can you use the equation of a linear relationship to create a graphical representation?</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Name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and two more points 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220)</a:t>
            </a:r>
            <a:endParaRPr lang="en-US" sz="1950" dirty="0"/>
          </a:p>
        </p:txBody>
      </p:sp>
      <p:sp>
        <p:nvSpPr>
          <p:cNvPr id="5" name="Shape 5"/>
          <p:cNvSpPr txBox="1"/>
          <p:nvPr/>
        </p:nvSpPr>
        <p:spPr>
          <a:xfrm>
            <a:off x="685800" y="2458212"/>
            <a:ext cx="51433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4), (3, 3), (−3, 5)</a:t>
            </a:r>
            <a:endParaRPr lang="en-US" sz="2325" dirty="0"/>
          </a:p>
        </p:txBody>
      </p:sp>
      <p:sp>
        <p:nvSpPr>
          <p:cNvPr id="6" name="Shape 6"/>
          <p:cNvSpPr txBox="1"/>
          <p:nvPr/>
        </p:nvSpPr>
        <p:spPr>
          <a:xfrm>
            <a:off x="685800" y="359816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Lena has $25 and saves $5 a week. Write an equation. </a:t>
            </a:r>
            <a:r>
              <a:rPr lang="en-US" sz="1575" dirty="0">
                <a:solidFill>
                  <a:srgbClr val="5F6272"/>
                </a:solidFill>
                <a:latin typeface="Segoe UI"/>
                <a:cs typeface="Segoe UI"/>
              </a:rPr>
              <a:t xml:space="preserve">(SE p. 221)</a:t>
            </a:r>
            <a:endParaRPr lang="en-US" sz="1950" dirty="0"/>
          </a:p>
        </p:txBody>
      </p:sp>
      <p:sp>
        <p:nvSpPr>
          <p:cNvPr id="7" name="Shape 7"/>
          <p:cNvSpPr txBox="1"/>
          <p:nvPr/>
        </p:nvSpPr>
        <p:spPr>
          <a:xfrm>
            <a:off x="685800" y="4380738"/>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+ 25</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Slope and a point 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+ 2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(Lesson 4)</a:t>
            </a:r>
            <a:endParaRPr lang="en-US" sz="1950" dirty="0"/>
          </a:p>
        </p:txBody>
      </p:sp>
      <p:sp>
        <p:nvSpPr>
          <p:cNvPr id="9" name="Shape 9"/>
          <p:cNvSpPr txBox="1"/>
          <p:nvPr/>
        </p:nvSpPr>
        <p:spPr>
          <a:xfrm>
            <a:off x="6362548" y="2458212"/>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4, (1, −2)</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Where does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a:t>
            </a:r>
            <a:r>
              <a:rPr lang="en-US" sz="1950" dirty="0">
                <a:solidFill>
                  <a:srgbClr val="16171D"/>
                </a:solidFill>
                <a:latin typeface="Segoe UI"/>
                <a:cs typeface="Segoe UI"/>
              </a:rPr>
              <a:t xml:space="preserve"> cross the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-axis?</a:t>
            </a:r>
            <a:endParaRPr lang="en-US" sz="1950" dirty="0"/>
          </a:p>
        </p:txBody>
      </p:sp>
      <p:sp>
        <p:nvSpPr>
          <p:cNvPr id="11" name="Shape 11"/>
          <p:cNvSpPr txBox="1"/>
          <p:nvPr/>
        </p:nvSpPr>
        <p:spPr>
          <a:xfrm>
            <a:off x="6362548" y="402640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(3, 0)</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5.2 · Using Point-Slope Form to Graph a Line · SE p. 223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The jazz band's account</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They already had some money. They sell tickets at </a:t>
            </a:r>
            <a:r>
              <a:rPr lang="en-US" sz="1575" dirty="0" b="1">
                <a:solidFill>
                  <a:srgbClr val="16171D"/>
                </a:solidFill>
                <a:latin typeface="Segoe UI"/>
                <a:cs typeface="Segoe UI"/>
              </a:rPr>
              <a:t xml:space="preserve">$5.00 each</a:t>
            </a:r>
            <a:r>
              <a:rPr lang="en-US" sz="1575" dirty="0">
                <a:solidFill>
                  <a:srgbClr val="16171D"/>
                </a:solidFill>
                <a:latin typeface="Segoe UI"/>
                <a:cs typeface="Segoe UI"/>
              </a:rPr>
              <a:t xml:space="preserve">. After selling </a:t>
            </a:r>
            <a:r>
              <a:rPr lang="en-US" sz="1575" dirty="0" b="1">
                <a:solidFill>
                  <a:srgbClr val="16171D"/>
                </a:solidFill>
                <a:latin typeface="Segoe UI"/>
                <a:cs typeface="Segoe UI"/>
              </a:rPr>
              <a:t xml:space="preserve">3 tickets</a:t>
            </a:r>
            <a:r>
              <a:rPr lang="en-US" sz="1575" dirty="0">
                <a:solidFill>
                  <a:srgbClr val="16171D"/>
                </a:solidFill>
                <a:latin typeface="Segoe UI"/>
                <a:cs typeface="Segoe UI"/>
              </a:rPr>
              <a:t xml:space="preserve">, they had </a:t>
            </a:r>
            <a:r>
              <a:rPr lang="en-US" sz="1575" dirty="0" b="1">
                <a:solidFill>
                  <a:srgbClr val="16171D"/>
                </a:solidFill>
                <a:latin typeface="Segoe UI"/>
                <a:cs typeface="Segoe UI"/>
              </a:rPr>
              <a:t xml:space="preserve">$50</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tickets sold,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money in the account.</a:t>
            </a:r>
            <a:endParaRPr lang="en-US" sz="1575" dirty="0"/>
          </a:p>
        </p:txBody>
      </p:sp>
      <p:sp>
        <p:nvSpPr>
          <p:cNvPr id="5" name="Shape 5"/>
          <p:cNvSpPr txBox="1"/>
          <p:nvPr/>
        </p:nvSpPr>
        <p:spPr>
          <a:xfrm>
            <a:off x="685800" y="2324862"/>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$5 per ticket → </a:t>
            </a:r>
            <a:r>
              <a:rPr lang="en-US" sz="1575" dirty="0" b="1">
                <a:solidFill>
                  <a:srgbClr val="C9561F"/>
                </a:solidFill>
                <a:latin typeface="Segoe UI"/>
                <a:cs typeface="Segoe UI"/>
              </a:rPr>
              <a:t xml:space="preserve">slope 5</a:t>
            </a:r>
            <a:r>
              <a:rPr lang="en-US" sz="1575" dirty="0">
                <a:solidFill>
                  <a:srgbClr val="16171D"/>
                </a:solidFill>
                <a:latin typeface="Segoe UI"/>
                <a:cs typeface="Segoe UI"/>
              </a:rPr>
              <a:t xml:space="preserve">. 3 tickets, $50 → </a:t>
            </a:r>
            <a:r>
              <a:rPr lang="en-US" sz="1575" dirty="0" b="1">
                <a:solidFill>
                  <a:srgbClr val="3050B8"/>
                </a:solidFill>
                <a:latin typeface="Segoe UI"/>
                <a:cs typeface="Segoe UI"/>
              </a:rPr>
              <a:t xml:space="preserve">point (3, 50)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715006"/>
            <a:ext cx="5705673"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50</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5</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3</a:t>
            </a:r>
            <a:r>
              <a:rPr lang="en-US" sz="2850" dirty="0">
                <a:solidFill>
                  <a:srgbClr val="16171D"/>
                </a:solidFill>
                <a:latin typeface="Cambria"/>
                <a:cs typeface="Cambria"/>
              </a:rPr>
              <a:t xml:space="preserve">)</a:t>
            </a:r>
            <a:endParaRPr lang="en-US" sz="2850" dirty="0"/>
          </a:p>
        </p:txBody>
      </p:sp>
      <p:sp>
        <p:nvSpPr>
          <p:cNvPr id="7" name="Shape 7"/>
          <p:cNvSpPr txBox="1"/>
          <p:nvPr/>
        </p:nvSpPr>
        <p:spPr>
          <a:xfrm>
            <a:off x="685800" y="3409188"/>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Plot the known point, </a:t>
            </a:r>
            <a:r>
              <a:rPr lang="en-US" sz="1575" dirty="0" b="1">
                <a:solidFill>
                  <a:srgbClr val="3050B8"/>
                </a:solidFill>
                <a:latin typeface="Segoe UI"/>
                <a:cs typeface="Segoe UI"/>
              </a:rPr>
              <a:t xml:space="preserve">(3, 50)</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685800" y="3799332"/>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Write the slope as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1</a:t>
            </a:r>
            <a:r>
              <a:rPr lang="en-US" sz="1575" dirty="0">
                <a:solidFill>
                  <a:srgbClr val="16171D"/>
                </a:solidFill>
                <a:latin typeface="Segoe UI"/>
                <a:cs typeface="Segoe UI"/>
              </a:rPr>
              <a:t xml:space="preserve"> (up 5, right 1) and as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−1</a:t>
            </a:r>
            <a:r>
              <a:rPr lang="en-US" sz="1575" dirty="0">
                <a:solidFill>
                  <a:srgbClr val="16171D"/>
                </a:solidFill>
                <a:latin typeface="Segoe UI"/>
                <a:cs typeface="Segoe UI"/>
              </a:rPr>
              <a:t xml:space="preserve"> (down 5, left 1). Count from the point.</a:t>
            </a:r>
            <a:endParaRPr lang="en-US" sz="1575" dirty="0"/>
          </a:p>
        </p:txBody>
      </p:sp>
      <p:sp>
        <p:nvSpPr>
          <p:cNvPr id="9" name="Shape 9"/>
          <p:cNvSpPr txBox="1"/>
          <p:nvPr/>
        </p:nvSpPr>
        <p:spPr>
          <a:xfrm>
            <a:off x="685800" y="4429506"/>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Plot at least two more points, then connect them.</a:t>
            </a:r>
            <a:endParaRPr lang="en-US" sz="1575" dirty="0"/>
          </a:p>
        </p:txBody>
      </p:sp>
      <p:sp>
        <p:nvSpPr>
          <p:cNvPr id="10" name="Shape 10"/>
          <p:cNvSpPr/>
          <p:nvPr/>
        </p:nvSpPr>
        <p:spPr>
          <a:xfrm>
            <a:off x="7886395" y="2324862"/>
            <a:ext cx="36195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210245" y="2439162"/>
            <a:ext cx="0" cy="3448050"/>
          </a:xfrm>
          <a:prstGeom prst="line">
            <a:avLst/>
          </a:prstGeom>
          <a:ln w="9525" cap="flat">
            <a:solidFill>
              <a:srgbClr val="E6E8F2"/>
            </a:solidFill>
          </a:ln>
        </p:spPr>
      </p:cxnSp>
      <p:cxnSp>
        <p:nvCxnSpPr>
          <p:cNvPr id="12" name="Line 12"/>
          <p:cNvCxnSpPr/>
          <p:nvPr/>
        </p:nvCxnSpPr>
        <p:spPr>
          <a:xfrm>
            <a:off x="8437484" y="2439162"/>
            <a:ext cx="0" cy="3448050"/>
          </a:xfrm>
          <a:prstGeom prst="line">
            <a:avLst/>
          </a:prstGeom>
          <a:ln w="9525" cap="flat">
            <a:solidFill>
              <a:srgbClr val="E6E8F2"/>
            </a:solidFill>
          </a:ln>
        </p:spPr>
      </p:cxnSp>
      <p:cxnSp>
        <p:nvCxnSpPr>
          <p:cNvPr id="13" name="Line 13"/>
          <p:cNvCxnSpPr/>
          <p:nvPr/>
        </p:nvCxnSpPr>
        <p:spPr>
          <a:xfrm>
            <a:off x="8664724" y="2439162"/>
            <a:ext cx="0" cy="3448050"/>
          </a:xfrm>
          <a:prstGeom prst="line">
            <a:avLst/>
          </a:prstGeom>
          <a:ln w="9525" cap="flat">
            <a:solidFill>
              <a:srgbClr val="E6E8F2"/>
            </a:solidFill>
          </a:ln>
        </p:spPr>
      </p:cxnSp>
      <p:cxnSp>
        <p:nvCxnSpPr>
          <p:cNvPr id="14" name="Line 14"/>
          <p:cNvCxnSpPr/>
          <p:nvPr/>
        </p:nvCxnSpPr>
        <p:spPr>
          <a:xfrm>
            <a:off x="8891963" y="2439162"/>
            <a:ext cx="0" cy="3448050"/>
          </a:xfrm>
          <a:prstGeom prst="line">
            <a:avLst/>
          </a:prstGeom>
          <a:ln w="9525" cap="flat">
            <a:solidFill>
              <a:srgbClr val="E6E8F2"/>
            </a:solidFill>
          </a:ln>
        </p:spPr>
      </p:cxnSp>
      <p:cxnSp>
        <p:nvCxnSpPr>
          <p:cNvPr id="15" name="Line 15"/>
          <p:cNvCxnSpPr/>
          <p:nvPr/>
        </p:nvCxnSpPr>
        <p:spPr>
          <a:xfrm>
            <a:off x="9119202" y="2439162"/>
            <a:ext cx="0" cy="3448050"/>
          </a:xfrm>
          <a:prstGeom prst="line">
            <a:avLst/>
          </a:prstGeom>
          <a:ln w="9525" cap="flat">
            <a:solidFill>
              <a:srgbClr val="E6E8F2"/>
            </a:solidFill>
          </a:ln>
        </p:spPr>
      </p:cxnSp>
      <p:cxnSp>
        <p:nvCxnSpPr>
          <p:cNvPr id="16" name="Line 16"/>
          <p:cNvCxnSpPr/>
          <p:nvPr/>
        </p:nvCxnSpPr>
        <p:spPr>
          <a:xfrm>
            <a:off x="9346442" y="2439162"/>
            <a:ext cx="0" cy="3448050"/>
          </a:xfrm>
          <a:prstGeom prst="line">
            <a:avLst/>
          </a:prstGeom>
          <a:ln w="9525" cap="flat">
            <a:solidFill>
              <a:srgbClr val="E6E8F2"/>
            </a:solidFill>
          </a:ln>
        </p:spPr>
      </p:cxnSp>
      <p:cxnSp>
        <p:nvCxnSpPr>
          <p:cNvPr id="17" name="Line 17"/>
          <p:cNvCxnSpPr/>
          <p:nvPr/>
        </p:nvCxnSpPr>
        <p:spPr>
          <a:xfrm>
            <a:off x="9573681" y="2439162"/>
            <a:ext cx="0" cy="3448050"/>
          </a:xfrm>
          <a:prstGeom prst="line">
            <a:avLst/>
          </a:prstGeom>
          <a:ln w="9525" cap="flat">
            <a:solidFill>
              <a:srgbClr val="E6E8F2"/>
            </a:solidFill>
          </a:ln>
        </p:spPr>
      </p:cxnSp>
      <p:cxnSp>
        <p:nvCxnSpPr>
          <p:cNvPr id="18" name="Line 18"/>
          <p:cNvCxnSpPr/>
          <p:nvPr/>
        </p:nvCxnSpPr>
        <p:spPr>
          <a:xfrm>
            <a:off x="9800920" y="2439162"/>
            <a:ext cx="0" cy="3448050"/>
          </a:xfrm>
          <a:prstGeom prst="line">
            <a:avLst/>
          </a:prstGeom>
          <a:ln w="9525" cap="flat">
            <a:solidFill>
              <a:srgbClr val="E6E8F2"/>
            </a:solidFill>
          </a:ln>
        </p:spPr>
      </p:cxnSp>
      <p:cxnSp>
        <p:nvCxnSpPr>
          <p:cNvPr id="19" name="Line 19"/>
          <p:cNvCxnSpPr/>
          <p:nvPr/>
        </p:nvCxnSpPr>
        <p:spPr>
          <a:xfrm>
            <a:off x="10028159" y="2439162"/>
            <a:ext cx="0" cy="3448050"/>
          </a:xfrm>
          <a:prstGeom prst="line">
            <a:avLst/>
          </a:prstGeom>
          <a:ln w="9525" cap="flat">
            <a:solidFill>
              <a:srgbClr val="E6E8F2"/>
            </a:solidFill>
          </a:ln>
        </p:spPr>
      </p:cxnSp>
      <p:cxnSp>
        <p:nvCxnSpPr>
          <p:cNvPr id="20" name="Line 20"/>
          <p:cNvCxnSpPr/>
          <p:nvPr/>
        </p:nvCxnSpPr>
        <p:spPr>
          <a:xfrm>
            <a:off x="10255399" y="2439162"/>
            <a:ext cx="0" cy="3448050"/>
          </a:xfrm>
          <a:prstGeom prst="line">
            <a:avLst/>
          </a:prstGeom>
          <a:ln w="9525" cap="flat">
            <a:solidFill>
              <a:srgbClr val="E6E8F2"/>
            </a:solidFill>
          </a:ln>
        </p:spPr>
      </p:cxnSp>
      <p:cxnSp>
        <p:nvCxnSpPr>
          <p:cNvPr id="21" name="Line 21"/>
          <p:cNvCxnSpPr/>
          <p:nvPr/>
        </p:nvCxnSpPr>
        <p:spPr>
          <a:xfrm>
            <a:off x="10482638" y="2439162"/>
            <a:ext cx="0" cy="3448050"/>
          </a:xfrm>
          <a:prstGeom prst="line">
            <a:avLst/>
          </a:prstGeom>
          <a:ln w="9525" cap="flat">
            <a:solidFill>
              <a:srgbClr val="E6E8F2"/>
            </a:solidFill>
          </a:ln>
        </p:spPr>
      </p:cxnSp>
      <p:cxnSp>
        <p:nvCxnSpPr>
          <p:cNvPr id="22" name="Line 22"/>
          <p:cNvCxnSpPr/>
          <p:nvPr/>
        </p:nvCxnSpPr>
        <p:spPr>
          <a:xfrm>
            <a:off x="10709877" y="2439162"/>
            <a:ext cx="0" cy="3448050"/>
          </a:xfrm>
          <a:prstGeom prst="line">
            <a:avLst/>
          </a:prstGeom>
          <a:ln w="9525" cap="flat">
            <a:solidFill>
              <a:srgbClr val="E6E8F2"/>
            </a:solidFill>
          </a:ln>
        </p:spPr>
      </p:cxnSp>
      <p:cxnSp>
        <p:nvCxnSpPr>
          <p:cNvPr id="23" name="Line 23"/>
          <p:cNvCxnSpPr/>
          <p:nvPr/>
        </p:nvCxnSpPr>
        <p:spPr>
          <a:xfrm>
            <a:off x="10937117" y="2439162"/>
            <a:ext cx="0" cy="3448050"/>
          </a:xfrm>
          <a:prstGeom prst="line">
            <a:avLst/>
          </a:prstGeom>
          <a:ln w="9525" cap="flat">
            <a:solidFill>
              <a:srgbClr val="E6E8F2"/>
            </a:solidFill>
          </a:ln>
        </p:spPr>
      </p:cxnSp>
      <p:cxnSp>
        <p:nvCxnSpPr>
          <p:cNvPr id="24" name="Line 24"/>
          <p:cNvCxnSpPr/>
          <p:nvPr/>
        </p:nvCxnSpPr>
        <p:spPr>
          <a:xfrm>
            <a:off x="11164356" y="2439162"/>
            <a:ext cx="0" cy="3448050"/>
          </a:xfrm>
          <a:prstGeom prst="line">
            <a:avLst/>
          </a:prstGeom>
          <a:ln w="9525" cap="flat">
            <a:solidFill>
              <a:srgbClr val="E6E8F2"/>
            </a:solidFill>
          </a:ln>
        </p:spPr>
      </p:cxnSp>
      <p:cxnSp>
        <p:nvCxnSpPr>
          <p:cNvPr id="25" name="Line 25"/>
          <p:cNvCxnSpPr/>
          <p:nvPr/>
        </p:nvCxnSpPr>
        <p:spPr>
          <a:xfrm>
            <a:off x="11391595" y="2439162"/>
            <a:ext cx="0" cy="3448050"/>
          </a:xfrm>
          <a:prstGeom prst="line">
            <a:avLst/>
          </a:prstGeom>
          <a:ln w="9525" cap="flat">
            <a:solidFill>
              <a:srgbClr val="E6E8F2"/>
            </a:solidFill>
          </a:ln>
        </p:spPr>
      </p:cxnSp>
      <p:cxnSp>
        <p:nvCxnSpPr>
          <p:cNvPr id="26" name="Line 26"/>
          <p:cNvCxnSpPr/>
          <p:nvPr/>
        </p:nvCxnSpPr>
        <p:spPr>
          <a:xfrm>
            <a:off x="8210245" y="5887212"/>
            <a:ext cx="3181350" cy="0"/>
          </a:xfrm>
          <a:prstGeom prst="line">
            <a:avLst/>
          </a:prstGeom>
          <a:ln w="9525" cap="flat">
            <a:solidFill>
              <a:srgbClr val="E6E8F2"/>
            </a:solidFill>
          </a:ln>
        </p:spPr>
      </p:cxnSp>
      <p:cxnSp>
        <p:nvCxnSpPr>
          <p:cNvPr id="27" name="Line 27"/>
          <p:cNvCxnSpPr/>
          <p:nvPr/>
        </p:nvCxnSpPr>
        <p:spPr>
          <a:xfrm>
            <a:off x="8210245" y="5456206"/>
            <a:ext cx="3181350" cy="0"/>
          </a:xfrm>
          <a:prstGeom prst="line">
            <a:avLst/>
          </a:prstGeom>
          <a:ln w="9525" cap="flat">
            <a:solidFill>
              <a:srgbClr val="E6E8F2"/>
            </a:solidFill>
          </a:ln>
        </p:spPr>
      </p:cxnSp>
      <p:cxnSp>
        <p:nvCxnSpPr>
          <p:cNvPr id="28" name="Line 28"/>
          <p:cNvCxnSpPr/>
          <p:nvPr/>
        </p:nvCxnSpPr>
        <p:spPr>
          <a:xfrm>
            <a:off x="8210245" y="5025200"/>
            <a:ext cx="3181350" cy="0"/>
          </a:xfrm>
          <a:prstGeom prst="line">
            <a:avLst/>
          </a:prstGeom>
          <a:ln w="9525" cap="flat">
            <a:solidFill>
              <a:srgbClr val="E6E8F2"/>
            </a:solidFill>
          </a:ln>
        </p:spPr>
      </p:cxnSp>
      <p:cxnSp>
        <p:nvCxnSpPr>
          <p:cNvPr id="29" name="Line 29"/>
          <p:cNvCxnSpPr/>
          <p:nvPr/>
        </p:nvCxnSpPr>
        <p:spPr>
          <a:xfrm>
            <a:off x="8210245" y="4594193"/>
            <a:ext cx="3181350" cy="0"/>
          </a:xfrm>
          <a:prstGeom prst="line">
            <a:avLst/>
          </a:prstGeom>
          <a:ln w="9525" cap="flat">
            <a:solidFill>
              <a:srgbClr val="E6E8F2"/>
            </a:solidFill>
          </a:ln>
        </p:spPr>
      </p:cxnSp>
      <p:cxnSp>
        <p:nvCxnSpPr>
          <p:cNvPr id="30" name="Line 30"/>
          <p:cNvCxnSpPr/>
          <p:nvPr/>
        </p:nvCxnSpPr>
        <p:spPr>
          <a:xfrm>
            <a:off x="8210245" y="4163187"/>
            <a:ext cx="3181350" cy="0"/>
          </a:xfrm>
          <a:prstGeom prst="line">
            <a:avLst/>
          </a:prstGeom>
          <a:ln w="9525" cap="flat">
            <a:solidFill>
              <a:srgbClr val="E6E8F2"/>
            </a:solidFill>
          </a:ln>
        </p:spPr>
      </p:cxnSp>
      <p:cxnSp>
        <p:nvCxnSpPr>
          <p:cNvPr id="31" name="Line 31"/>
          <p:cNvCxnSpPr/>
          <p:nvPr/>
        </p:nvCxnSpPr>
        <p:spPr>
          <a:xfrm>
            <a:off x="8210245" y="3732181"/>
            <a:ext cx="3181350" cy="0"/>
          </a:xfrm>
          <a:prstGeom prst="line">
            <a:avLst/>
          </a:prstGeom>
          <a:ln w="9525" cap="flat">
            <a:solidFill>
              <a:srgbClr val="E6E8F2"/>
            </a:solidFill>
          </a:ln>
        </p:spPr>
      </p:cxnSp>
      <p:cxnSp>
        <p:nvCxnSpPr>
          <p:cNvPr id="32" name="Line 32"/>
          <p:cNvCxnSpPr/>
          <p:nvPr/>
        </p:nvCxnSpPr>
        <p:spPr>
          <a:xfrm>
            <a:off x="8210245" y="3301174"/>
            <a:ext cx="3181350" cy="0"/>
          </a:xfrm>
          <a:prstGeom prst="line">
            <a:avLst/>
          </a:prstGeom>
          <a:ln w="9525" cap="flat">
            <a:solidFill>
              <a:srgbClr val="E6E8F2"/>
            </a:solidFill>
          </a:ln>
        </p:spPr>
      </p:cxnSp>
      <p:cxnSp>
        <p:nvCxnSpPr>
          <p:cNvPr id="33" name="Line 33"/>
          <p:cNvCxnSpPr/>
          <p:nvPr/>
        </p:nvCxnSpPr>
        <p:spPr>
          <a:xfrm>
            <a:off x="8210245" y="2870168"/>
            <a:ext cx="3181350" cy="0"/>
          </a:xfrm>
          <a:prstGeom prst="line">
            <a:avLst/>
          </a:prstGeom>
          <a:ln w="9525" cap="flat">
            <a:solidFill>
              <a:srgbClr val="E6E8F2"/>
            </a:solidFill>
          </a:ln>
        </p:spPr>
      </p:cxnSp>
      <p:cxnSp>
        <p:nvCxnSpPr>
          <p:cNvPr id="34" name="Line 34"/>
          <p:cNvCxnSpPr/>
          <p:nvPr/>
        </p:nvCxnSpPr>
        <p:spPr>
          <a:xfrm>
            <a:off x="8210245" y="2439162"/>
            <a:ext cx="3181350" cy="0"/>
          </a:xfrm>
          <a:prstGeom prst="line">
            <a:avLst/>
          </a:prstGeom>
          <a:ln w="9525" cap="flat">
            <a:solidFill>
              <a:srgbClr val="E6E8F2"/>
            </a:solidFill>
          </a:ln>
        </p:spPr>
      </p:cxnSp>
      <p:cxnSp>
        <p:nvCxnSpPr>
          <p:cNvPr id="35" name="Line 35"/>
          <p:cNvCxnSpPr/>
          <p:nvPr/>
        </p:nvCxnSpPr>
        <p:spPr>
          <a:xfrm>
            <a:off x="8210245" y="2439162"/>
            <a:ext cx="0" cy="3448050"/>
          </a:xfrm>
          <a:prstGeom prst="line">
            <a:avLst/>
          </a:prstGeom>
          <a:ln w="19050" cap="flat">
            <a:solidFill>
              <a:srgbClr val="5F6272"/>
            </a:solidFill>
          </a:ln>
        </p:spPr>
      </p:cxnSp>
      <p:cxnSp>
        <p:nvCxnSpPr>
          <p:cNvPr id="36" name="Line 36"/>
          <p:cNvCxnSpPr/>
          <p:nvPr/>
        </p:nvCxnSpPr>
        <p:spPr>
          <a:xfrm>
            <a:off x="8210245" y="5887212"/>
            <a:ext cx="3181350" cy="0"/>
          </a:xfrm>
          <a:prstGeom prst="line">
            <a:avLst/>
          </a:prstGeom>
          <a:ln w="19050" cap="flat">
            <a:solidFill>
              <a:srgbClr val="5F6272"/>
            </a:solidFill>
          </a:ln>
        </p:spPr>
      </p:cxnSp>
      <p:sp>
        <p:nvSpPr>
          <p:cNvPr id="37" name="Shape 37"/>
          <p:cNvSpPr txBox="1"/>
          <p:nvPr/>
        </p:nvSpPr>
        <p:spPr>
          <a:xfrm>
            <a:off x="7935925"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8" name="Shape 38"/>
          <p:cNvSpPr txBox="1"/>
          <p:nvPr/>
        </p:nvSpPr>
        <p:spPr>
          <a:xfrm>
            <a:off x="8390404"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8844882"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0" name="Shape 40"/>
          <p:cNvSpPr txBox="1"/>
          <p:nvPr/>
        </p:nvSpPr>
        <p:spPr>
          <a:xfrm>
            <a:off x="9299361"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1" name="Shape 41"/>
          <p:cNvSpPr txBox="1"/>
          <p:nvPr/>
        </p:nvSpPr>
        <p:spPr>
          <a:xfrm>
            <a:off x="9753839"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2" name="Shape 42"/>
          <p:cNvSpPr txBox="1"/>
          <p:nvPr/>
        </p:nvSpPr>
        <p:spPr>
          <a:xfrm>
            <a:off x="10208318"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3" name="Shape 43"/>
          <p:cNvSpPr txBox="1"/>
          <p:nvPr/>
        </p:nvSpPr>
        <p:spPr>
          <a:xfrm>
            <a:off x="10662797"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4" name="Shape 44"/>
          <p:cNvSpPr txBox="1"/>
          <p:nvPr/>
        </p:nvSpPr>
        <p:spPr>
          <a:xfrm>
            <a:off x="11117275"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45" name="Shape 45"/>
          <p:cNvSpPr txBox="1"/>
          <p:nvPr/>
        </p:nvSpPr>
        <p:spPr>
          <a:xfrm>
            <a:off x="7643317" y="57957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6" name="Shape 46"/>
          <p:cNvSpPr txBox="1"/>
          <p:nvPr/>
        </p:nvSpPr>
        <p:spPr>
          <a:xfrm>
            <a:off x="7643317" y="53647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47" name="Shape 47"/>
          <p:cNvSpPr txBox="1"/>
          <p:nvPr/>
        </p:nvSpPr>
        <p:spPr>
          <a:xfrm>
            <a:off x="7643317" y="49337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48" name="Shape 48"/>
          <p:cNvSpPr txBox="1"/>
          <p:nvPr/>
        </p:nvSpPr>
        <p:spPr>
          <a:xfrm>
            <a:off x="7643317" y="450275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49" name="Shape 49"/>
          <p:cNvSpPr txBox="1"/>
          <p:nvPr/>
        </p:nvSpPr>
        <p:spPr>
          <a:xfrm>
            <a:off x="7643317" y="407174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0" name="Shape 50"/>
          <p:cNvSpPr txBox="1"/>
          <p:nvPr/>
        </p:nvSpPr>
        <p:spPr>
          <a:xfrm>
            <a:off x="7643317" y="364074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51" name="Shape 51"/>
          <p:cNvSpPr txBox="1"/>
          <p:nvPr/>
        </p:nvSpPr>
        <p:spPr>
          <a:xfrm>
            <a:off x="7643317" y="320973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2" name="Shape 52"/>
          <p:cNvSpPr txBox="1"/>
          <p:nvPr/>
        </p:nvSpPr>
        <p:spPr>
          <a:xfrm>
            <a:off x="7643317" y="27787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70</a:t>
            </a:r>
            <a:endParaRPr lang="en-US" sz="975" dirty="0"/>
          </a:p>
        </p:txBody>
      </p:sp>
      <p:sp>
        <p:nvSpPr>
          <p:cNvPr id="53" name="Shape 53"/>
          <p:cNvSpPr txBox="1"/>
          <p:nvPr/>
        </p:nvSpPr>
        <p:spPr>
          <a:xfrm>
            <a:off x="7643317" y="2347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4" name="Shape 54"/>
          <p:cNvSpPr/>
          <p:nvPr/>
        </p:nvSpPr>
        <p:spPr>
          <a:xfrm>
            <a:off x="8839576" y="367979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8977688" y="348453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(3, 50)</a:t>
            </a:r>
            <a:endParaRPr lang="en-US" sz="1125" dirty="0"/>
          </a:p>
        </p:txBody>
      </p:sp>
      <p:sp>
        <p:nvSpPr>
          <p:cNvPr id="56" name="Shape 56"/>
          <p:cNvSpPr/>
          <p:nvPr/>
        </p:nvSpPr>
        <p:spPr>
          <a:xfrm>
            <a:off x="9066815" y="346429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p:nvPr/>
        </p:nvSpPr>
        <p:spPr>
          <a:xfrm>
            <a:off x="8612336" y="389529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8" name="Line 58"/>
          <p:cNvCxnSpPr/>
          <p:nvPr/>
        </p:nvCxnSpPr>
        <p:spPr>
          <a:xfrm flipV="1">
            <a:off x="8210245" y="2439162"/>
            <a:ext cx="2045154" cy="1939528"/>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fade">
                                      <p:cBhvr>
                                        <p:cTn id="39" dur="500"/>
                                        <p:tgtEl>
                                          <p:spTgt spid="54"/>
                                        </p:tgtEl>
                                      </p:cBhvr>
                                    </p:animEffect>
                                    <p:anim calcmode="lin" valueType="num">
                                      <p:cBhvr>
                                        <p:cTn id="40" dur="500" fill="hold"/>
                                        <p:tgtEl>
                                          <p:spTgt spid="54"/>
                                        </p:tgtEl>
                                        <p:attrNameLst>
                                          <p:attrName>ppt_w</p:attrName>
                                        </p:attrNameLst>
                                      </p:cBhvr>
                                      <p:tavLst>
                                        <p:tav tm="0">
                                          <p:val>
                                            <p:fltVal val="0"/>
                                          </p:val>
                                        </p:tav>
                                        <p:tav tm="100000">
                                          <p:val>
                                            <p:strVal val="#ppt_w"/>
                                          </p:val>
                                        </p:tav>
                                      </p:tavLst>
                                    </p:anim>
                                    <p:anim calcmode="lin" valueType="num">
                                      <p:cBhvr>
                                        <p:cTn id="41" dur="500" fill="hold"/>
                                        <p:tgtEl>
                                          <p:spTgt spid="54"/>
                                        </p:tgtEl>
                                        <p:attrNameLst>
                                          <p:attrName>ppt_h</p:attrName>
                                        </p:attrNameLst>
                                      </p:cBhvr>
                                      <p:tavLst>
                                        <p:tav tm="0">
                                          <p:val>
                                            <p:fltVal val="0"/>
                                          </p:val>
                                        </p:tav>
                                        <p:tav tm="100000">
                                          <p:val>
                                            <p:strVal val="#ppt_h"/>
                                          </p:val>
                                        </p:tav>
                                      </p:tavLst>
                                    </p:anim>
                                  </p:childTnLst>
                                </p:cTn>
                              </p:par>
                              <p:par>
                                <p:cTn id="47" presetID="53" presetClass="entr" presetSubtype="16" fill="hold" nodeType="with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fade">
                                      <p:cBhvr>
                                        <p:cTn id="44" dur="500"/>
                                        <p:tgtEl>
                                          <p:spTgt spid="55"/>
                                        </p:tgtEl>
                                      </p:cBhvr>
                                    </p:animEffect>
                                    <p:anim calcmode="lin" valueType="num">
                                      <p:cBhvr>
                                        <p:cTn id="45" dur="500" fill="hold"/>
                                        <p:tgtEl>
                                          <p:spTgt spid="55"/>
                                        </p:tgtEl>
                                        <p:attrNameLst>
                                          <p:attrName>ppt_w</p:attrName>
                                        </p:attrNameLst>
                                      </p:cBhvr>
                                      <p:tavLst>
                                        <p:tav tm="0">
                                          <p:val>
                                            <p:fltVal val="0"/>
                                          </p:val>
                                        </p:tav>
                                        <p:tav tm="100000">
                                          <p:val>
                                            <p:strVal val="#ppt_w"/>
                                          </p:val>
                                        </p:tav>
                                      </p:tavLst>
                                    </p:anim>
                                    <p:anim calcmode="lin" valueType="num">
                                      <p:cBhvr>
                                        <p:cTn id="46"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56"/>
                                        </p:tgtEl>
                                        <p:attrNameLst>
                                          <p:attrName>style.visibility</p:attrName>
                                        </p:attrNameLst>
                                      </p:cBhvr>
                                      <p:to>
                                        <p:strVal val="visible"/>
                                      </p:to>
                                    </p:set>
                                    <p:animEffect transition="in" filter="fade">
                                      <p:cBhvr>
                                        <p:cTn id="51" dur="500"/>
                                        <p:tgtEl>
                                          <p:spTgt spid="56"/>
                                        </p:tgtEl>
                                      </p:cBhvr>
                                    </p:animEffect>
                                    <p:anim calcmode="lin" valueType="num">
                                      <p:cBhvr>
                                        <p:cTn id="52" dur="500" fill="hold"/>
                                        <p:tgtEl>
                                          <p:spTgt spid="56"/>
                                        </p:tgtEl>
                                        <p:attrNameLst>
                                          <p:attrName>ppt_w</p:attrName>
                                        </p:attrNameLst>
                                      </p:cBhvr>
                                      <p:tavLst>
                                        <p:tav tm="0">
                                          <p:val>
                                            <p:fltVal val="0"/>
                                          </p:val>
                                        </p:tav>
                                        <p:tav tm="100000">
                                          <p:val>
                                            <p:strVal val="#ppt_w"/>
                                          </p:val>
                                        </p:tav>
                                      </p:tavLst>
                                    </p:anim>
                                    <p:anim calcmode="lin" valueType="num">
                                      <p:cBhvr>
                                        <p:cTn id="53" dur="5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1" presetID="53" presetClass="entr" presetSubtype="16" fill="hold" nodeType="clickEffect">
                                  <p:stCondLst>
                                    <p:cond delay="0"/>
                                  </p:stCondLst>
                                  <p:childTnLst>
                                    <p:set>
                                      <p:cBhvr>
                                        <p:cTn id="57" dur="1" fill="hold">
                                          <p:stCondLst>
                                            <p:cond delay="0"/>
                                          </p:stCondLst>
                                        </p:cTn>
                                        <p:tgtEl>
                                          <p:spTgt spid="57"/>
                                        </p:tgtEl>
                                        <p:attrNameLst>
                                          <p:attrName>style.visibility</p:attrName>
                                        </p:attrNameLst>
                                      </p:cBhvr>
                                      <p:to>
                                        <p:strVal val="visible"/>
                                      </p:to>
                                    </p:set>
                                    <p:animEffect transition="in" filter="fade">
                                      <p:cBhvr>
                                        <p:cTn id="58" dur="500"/>
                                        <p:tgtEl>
                                          <p:spTgt spid="57"/>
                                        </p:tgtEl>
                                      </p:cBhvr>
                                    </p:animEffect>
                                    <p:anim calcmode="lin" valueType="num">
                                      <p:cBhvr>
                                        <p:cTn id="59" dur="500" fill="hold"/>
                                        <p:tgtEl>
                                          <p:spTgt spid="57"/>
                                        </p:tgtEl>
                                        <p:attrNameLst>
                                          <p:attrName>ppt_w</p:attrName>
                                        </p:attrNameLst>
                                      </p:cBhvr>
                                      <p:tavLst>
                                        <p:tav tm="0">
                                          <p:val>
                                            <p:fltVal val="0"/>
                                          </p:val>
                                        </p:tav>
                                        <p:tav tm="100000">
                                          <p:val>
                                            <p:strVal val="#ppt_w"/>
                                          </p:val>
                                        </p:tav>
                                      </p:tavLst>
                                    </p:anim>
                                    <p:anim calcmode="lin" valueType="num">
                                      <p:cBhvr>
                                        <p:cTn id="60"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6" presetID="22" presetClass="entr" presetSubtype="8" fill="hold" nodeType="click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wipe(left)">
                                      <p:cBhvr>
                                        <p:cTn id="65" dur="7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5.2 · Question 2 · SE p. 224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Identify the slope and a point, then graph</a:t>
            </a:r>
            <a:endParaRPr lang="en-US" sz="3450" dirty="0"/>
          </a:p>
        </p:txBody>
      </p:sp>
      <p:sp>
        <p:nvSpPr>
          <p:cNvPr id="4" name="Shape 4"/>
          <p:cNvSpPr txBox="1"/>
          <p:nvPr/>
        </p:nvSpPr>
        <p:spPr>
          <a:xfrm>
            <a:off x="685800"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5</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3</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4</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14</a:t>
            </a:r>
            <a:r>
              <a:rPr lang="en-US" sz="2325" dirty="0">
                <a:solidFill>
                  <a:srgbClr val="16171D"/>
                </a:solidFill>
                <a:latin typeface="Cambria"/>
                <a:cs typeface="Cambria"/>
              </a:rPr>
              <a:t xml:space="preserve">)</a:t>
            </a:r>
            <a:endParaRPr lang="en-US" sz="2325" dirty="0"/>
          </a:p>
        </p:txBody>
      </p:sp>
      <p:sp>
        <p:nvSpPr>
          <p:cNvPr id="5" name="Shape 5"/>
          <p:cNvSpPr txBox="1"/>
          <p:nvPr/>
        </p:nvSpPr>
        <p:spPr>
          <a:xfrm>
            <a:off x="685800"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4</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(14, 5)</a:t>
            </a:r>
            <a:r>
              <a:rPr lang="en-US" sz="1575" dirty="0">
                <a:solidFill>
                  <a:srgbClr val="16171D"/>
                </a:solidFill>
                <a:latin typeface="Segoe UI"/>
                <a:cs typeface="Segoe UI"/>
              </a:rPr>
              <a:t xml:space="preserve">. Up 3, left 4.</a:t>
            </a:r>
            <a:endParaRPr lang="en-US" sz="1575" dirty="0"/>
          </a:p>
        </p:txBody>
      </p:sp>
      <p:sp>
        <p:nvSpPr>
          <p:cNvPr id="6" name="Shape 6"/>
          <p:cNvSpPr/>
          <p:nvPr/>
        </p:nvSpPr>
        <p:spPr>
          <a:xfrm>
            <a:off x="685800"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 name="Line 7"/>
          <p:cNvCxnSpPr/>
          <p:nvPr/>
        </p:nvCxnSpPr>
        <p:spPr>
          <a:xfrm>
            <a:off x="1009650" y="2589276"/>
            <a:ext cx="0" cy="2781300"/>
          </a:xfrm>
          <a:prstGeom prst="line">
            <a:avLst/>
          </a:prstGeom>
          <a:ln w="9525" cap="flat">
            <a:solidFill>
              <a:srgbClr val="E6E8F2"/>
            </a:solidFill>
          </a:ln>
        </p:spPr>
      </p:cxnSp>
      <p:cxnSp>
        <p:nvCxnSpPr>
          <p:cNvPr id="8" name="Line 8"/>
          <p:cNvCxnSpPr/>
          <p:nvPr/>
        </p:nvCxnSpPr>
        <p:spPr>
          <a:xfrm>
            <a:off x="1178719" y="2589276"/>
            <a:ext cx="0" cy="2781300"/>
          </a:xfrm>
          <a:prstGeom prst="line">
            <a:avLst/>
          </a:prstGeom>
          <a:ln w="9525" cap="flat">
            <a:solidFill>
              <a:srgbClr val="E6E8F2"/>
            </a:solidFill>
          </a:ln>
        </p:spPr>
      </p:cxnSp>
      <p:cxnSp>
        <p:nvCxnSpPr>
          <p:cNvPr id="9" name="Line 9"/>
          <p:cNvCxnSpPr/>
          <p:nvPr/>
        </p:nvCxnSpPr>
        <p:spPr>
          <a:xfrm>
            <a:off x="1347788" y="2589276"/>
            <a:ext cx="0" cy="2781300"/>
          </a:xfrm>
          <a:prstGeom prst="line">
            <a:avLst/>
          </a:prstGeom>
          <a:ln w="9525" cap="flat">
            <a:solidFill>
              <a:srgbClr val="E6E8F2"/>
            </a:solidFill>
          </a:ln>
        </p:spPr>
      </p:cxnSp>
      <p:cxnSp>
        <p:nvCxnSpPr>
          <p:cNvPr id="10" name="Line 10"/>
          <p:cNvCxnSpPr/>
          <p:nvPr/>
        </p:nvCxnSpPr>
        <p:spPr>
          <a:xfrm>
            <a:off x="1516856" y="2589276"/>
            <a:ext cx="0" cy="2781300"/>
          </a:xfrm>
          <a:prstGeom prst="line">
            <a:avLst/>
          </a:prstGeom>
          <a:ln w="9525" cap="flat">
            <a:solidFill>
              <a:srgbClr val="E6E8F2"/>
            </a:solidFill>
          </a:ln>
        </p:spPr>
      </p:cxnSp>
      <p:cxnSp>
        <p:nvCxnSpPr>
          <p:cNvPr id="11" name="Line 11"/>
          <p:cNvCxnSpPr/>
          <p:nvPr/>
        </p:nvCxnSpPr>
        <p:spPr>
          <a:xfrm>
            <a:off x="1685925" y="2589276"/>
            <a:ext cx="0" cy="2781300"/>
          </a:xfrm>
          <a:prstGeom prst="line">
            <a:avLst/>
          </a:prstGeom>
          <a:ln w="9525" cap="flat">
            <a:solidFill>
              <a:srgbClr val="E6E8F2"/>
            </a:solidFill>
          </a:ln>
        </p:spPr>
      </p:cxnSp>
      <p:cxnSp>
        <p:nvCxnSpPr>
          <p:cNvPr id="12" name="Line 12"/>
          <p:cNvCxnSpPr/>
          <p:nvPr/>
        </p:nvCxnSpPr>
        <p:spPr>
          <a:xfrm>
            <a:off x="1854994" y="2589276"/>
            <a:ext cx="0" cy="2781300"/>
          </a:xfrm>
          <a:prstGeom prst="line">
            <a:avLst/>
          </a:prstGeom>
          <a:ln w="9525" cap="flat">
            <a:solidFill>
              <a:srgbClr val="E6E8F2"/>
            </a:solidFill>
          </a:ln>
        </p:spPr>
      </p:cxnSp>
      <p:cxnSp>
        <p:nvCxnSpPr>
          <p:cNvPr id="13" name="Line 13"/>
          <p:cNvCxnSpPr/>
          <p:nvPr/>
        </p:nvCxnSpPr>
        <p:spPr>
          <a:xfrm>
            <a:off x="2024062" y="2589276"/>
            <a:ext cx="0" cy="2781300"/>
          </a:xfrm>
          <a:prstGeom prst="line">
            <a:avLst/>
          </a:prstGeom>
          <a:ln w="9525" cap="flat">
            <a:solidFill>
              <a:srgbClr val="E6E8F2"/>
            </a:solidFill>
          </a:ln>
        </p:spPr>
      </p:cxnSp>
      <p:cxnSp>
        <p:nvCxnSpPr>
          <p:cNvPr id="14" name="Line 14"/>
          <p:cNvCxnSpPr/>
          <p:nvPr/>
        </p:nvCxnSpPr>
        <p:spPr>
          <a:xfrm>
            <a:off x="2193131" y="2589276"/>
            <a:ext cx="0" cy="2781300"/>
          </a:xfrm>
          <a:prstGeom prst="line">
            <a:avLst/>
          </a:prstGeom>
          <a:ln w="9525" cap="flat">
            <a:solidFill>
              <a:srgbClr val="E6E8F2"/>
            </a:solidFill>
          </a:ln>
        </p:spPr>
      </p:cxnSp>
      <p:cxnSp>
        <p:nvCxnSpPr>
          <p:cNvPr id="15" name="Line 15"/>
          <p:cNvCxnSpPr/>
          <p:nvPr/>
        </p:nvCxnSpPr>
        <p:spPr>
          <a:xfrm>
            <a:off x="2362200" y="2589276"/>
            <a:ext cx="0" cy="2781300"/>
          </a:xfrm>
          <a:prstGeom prst="line">
            <a:avLst/>
          </a:prstGeom>
          <a:ln w="9525" cap="flat">
            <a:solidFill>
              <a:srgbClr val="E6E8F2"/>
            </a:solidFill>
          </a:ln>
        </p:spPr>
      </p:cxnSp>
      <p:cxnSp>
        <p:nvCxnSpPr>
          <p:cNvPr id="16" name="Line 16"/>
          <p:cNvCxnSpPr/>
          <p:nvPr/>
        </p:nvCxnSpPr>
        <p:spPr>
          <a:xfrm>
            <a:off x="2531269" y="2589276"/>
            <a:ext cx="0" cy="2781300"/>
          </a:xfrm>
          <a:prstGeom prst="line">
            <a:avLst/>
          </a:prstGeom>
          <a:ln w="9525" cap="flat">
            <a:solidFill>
              <a:srgbClr val="E6E8F2"/>
            </a:solidFill>
          </a:ln>
        </p:spPr>
      </p:cxnSp>
      <p:cxnSp>
        <p:nvCxnSpPr>
          <p:cNvPr id="17" name="Line 17"/>
          <p:cNvCxnSpPr/>
          <p:nvPr/>
        </p:nvCxnSpPr>
        <p:spPr>
          <a:xfrm>
            <a:off x="2700338" y="2589276"/>
            <a:ext cx="0" cy="2781300"/>
          </a:xfrm>
          <a:prstGeom prst="line">
            <a:avLst/>
          </a:prstGeom>
          <a:ln w="9525" cap="flat">
            <a:solidFill>
              <a:srgbClr val="E6E8F2"/>
            </a:solidFill>
          </a:ln>
        </p:spPr>
      </p:cxnSp>
      <p:cxnSp>
        <p:nvCxnSpPr>
          <p:cNvPr id="18" name="Line 18"/>
          <p:cNvCxnSpPr/>
          <p:nvPr/>
        </p:nvCxnSpPr>
        <p:spPr>
          <a:xfrm>
            <a:off x="2869406" y="2589276"/>
            <a:ext cx="0" cy="2781300"/>
          </a:xfrm>
          <a:prstGeom prst="line">
            <a:avLst/>
          </a:prstGeom>
          <a:ln w="9525" cap="flat">
            <a:solidFill>
              <a:srgbClr val="E6E8F2"/>
            </a:solidFill>
          </a:ln>
        </p:spPr>
      </p:cxnSp>
      <p:cxnSp>
        <p:nvCxnSpPr>
          <p:cNvPr id="19" name="Line 19"/>
          <p:cNvCxnSpPr/>
          <p:nvPr/>
        </p:nvCxnSpPr>
        <p:spPr>
          <a:xfrm>
            <a:off x="3038475" y="2589276"/>
            <a:ext cx="0" cy="2781300"/>
          </a:xfrm>
          <a:prstGeom prst="line">
            <a:avLst/>
          </a:prstGeom>
          <a:ln w="9525" cap="flat">
            <a:solidFill>
              <a:srgbClr val="E6E8F2"/>
            </a:solidFill>
          </a:ln>
        </p:spPr>
      </p:cxnSp>
      <p:cxnSp>
        <p:nvCxnSpPr>
          <p:cNvPr id="20" name="Line 20"/>
          <p:cNvCxnSpPr/>
          <p:nvPr/>
        </p:nvCxnSpPr>
        <p:spPr>
          <a:xfrm>
            <a:off x="3207544" y="2589276"/>
            <a:ext cx="0" cy="2781300"/>
          </a:xfrm>
          <a:prstGeom prst="line">
            <a:avLst/>
          </a:prstGeom>
          <a:ln w="9525" cap="flat">
            <a:solidFill>
              <a:srgbClr val="E6E8F2"/>
            </a:solidFill>
          </a:ln>
        </p:spPr>
      </p:cxnSp>
      <p:cxnSp>
        <p:nvCxnSpPr>
          <p:cNvPr id="21" name="Line 21"/>
          <p:cNvCxnSpPr/>
          <p:nvPr/>
        </p:nvCxnSpPr>
        <p:spPr>
          <a:xfrm>
            <a:off x="3376612" y="2589276"/>
            <a:ext cx="0" cy="2781300"/>
          </a:xfrm>
          <a:prstGeom prst="line">
            <a:avLst/>
          </a:prstGeom>
          <a:ln w="9525" cap="flat">
            <a:solidFill>
              <a:srgbClr val="E6E8F2"/>
            </a:solidFill>
          </a:ln>
        </p:spPr>
      </p:cxnSp>
      <p:cxnSp>
        <p:nvCxnSpPr>
          <p:cNvPr id="22" name="Line 22"/>
          <p:cNvCxnSpPr/>
          <p:nvPr/>
        </p:nvCxnSpPr>
        <p:spPr>
          <a:xfrm>
            <a:off x="3545681" y="2589276"/>
            <a:ext cx="0" cy="2781300"/>
          </a:xfrm>
          <a:prstGeom prst="line">
            <a:avLst/>
          </a:prstGeom>
          <a:ln w="9525" cap="flat">
            <a:solidFill>
              <a:srgbClr val="E6E8F2"/>
            </a:solidFill>
          </a:ln>
        </p:spPr>
      </p:cxnSp>
      <p:cxnSp>
        <p:nvCxnSpPr>
          <p:cNvPr id="23" name="Line 23"/>
          <p:cNvCxnSpPr/>
          <p:nvPr/>
        </p:nvCxnSpPr>
        <p:spPr>
          <a:xfrm>
            <a:off x="3714750" y="2589276"/>
            <a:ext cx="0" cy="2781300"/>
          </a:xfrm>
          <a:prstGeom prst="line">
            <a:avLst/>
          </a:prstGeom>
          <a:ln w="9525" cap="flat">
            <a:solidFill>
              <a:srgbClr val="E6E8F2"/>
            </a:solidFill>
          </a:ln>
        </p:spPr>
      </p:cxnSp>
      <p:cxnSp>
        <p:nvCxnSpPr>
          <p:cNvPr id="24" name="Line 24"/>
          <p:cNvCxnSpPr/>
          <p:nvPr/>
        </p:nvCxnSpPr>
        <p:spPr>
          <a:xfrm>
            <a:off x="1009650" y="5370576"/>
            <a:ext cx="2705100" cy="0"/>
          </a:xfrm>
          <a:prstGeom prst="line">
            <a:avLst/>
          </a:prstGeom>
          <a:ln w="9525" cap="flat">
            <a:solidFill>
              <a:srgbClr val="E6E8F2"/>
            </a:solidFill>
          </a:ln>
        </p:spPr>
      </p:cxnSp>
      <p:cxnSp>
        <p:nvCxnSpPr>
          <p:cNvPr id="25" name="Line 25"/>
          <p:cNvCxnSpPr/>
          <p:nvPr/>
        </p:nvCxnSpPr>
        <p:spPr>
          <a:xfrm>
            <a:off x="1009650" y="5196745"/>
            <a:ext cx="2705100" cy="0"/>
          </a:xfrm>
          <a:prstGeom prst="line">
            <a:avLst/>
          </a:prstGeom>
          <a:ln w="9525" cap="flat">
            <a:solidFill>
              <a:srgbClr val="E6E8F2"/>
            </a:solidFill>
          </a:ln>
        </p:spPr>
      </p:cxnSp>
      <p:cxnSp>
        <p:nvCxnSpPr>
          <p:cNvPr id="26" name="Line 26"/>
          <p:cNvCxnSpPr/>
          <p:nvPr/>
        </p:nvCxnSpPr>
        <p:spPr>
          <a:xfrm>
            <a:off x="1009650" y="5022913"/>
            <a:ext cx="2705100" cy="0"/>
          </a:xfrm>
          <a:prstGeom prst="line">
            <a:avLst/>
          </a:prstGeom>
          <a:ln w="9525" cap="flat">
            <a:solidFill>
              <a:srgbClr val="E6E8F2"/>
            </a:solidFill>
          </a:ln>
        </p:spPr>
      </p:cxnSp>
      <p:cxnSp>
        <p:nvCxnSpPr>
          <p:cNvPr id="27" name="Line 27"/>
          <p:cNvCxnSpPr/>
          <p:nvPr/>
        </p:nvCxnSpPr>
        <p:spPr>
          <a:xfrm>
            <a:off x="1009650" y="4849082"/>
            <a:ext cx="2705100" cy="0"/>
          </a:xfrm>
          <a:prstGeom prst="line">
            <a:avLst/>
          </a:prstGeom>
          <a:ln w="9525" cap="flat">
            <a:solidFill>
              <a:srgbClr val="E6E8F2"/>
            </a:solidFill>
          </a:ln>
        </p:spPr>
      </p:cxnSp>
      <p:cxnSp>
        <p:nvCxnSpPr>
          <p:cNvPr id="28" name="Line 28"/>
          <p:cNvCxnSpPr/>
          <p:nvPr/>
        </p:nvCxnSpPr>
        <p:spPr>
          <a:xfrm>
            <a:off x="1009650" y="4675251"/>
            <a:ext cx="2705100" cy="0"/>
          </a:xfrm>
          <a:prstGeom prst="line">
            <a:avLst/>
          </a:prstGeom>
          <a:ln w="9525" cap="flat">
            <a:solidFill>
              <a:srgbClr val="E6E8F2"/>
            </a:solidFill>
          </a:ln>
        </p:spPr>
      </p:cxnSp>
      <p:cxnSp>
        <p:nvCxnSpPr>
          <p:cNvPr id="29" name="Line 29"/>
          <p:cNvCxnSpPr/>
          <p:nvPr/>
        </p:nvCxnSpPr>
        <p:spPr>
          <a:xfrm>
            <a:off x="1009650" y="4501420"/>
            <a:ext cx="2705100" cy="0"/>
          </a:xfrm>
          <a:prstGeom prst="line">
            <a:avLst/>
          </a:prstGeom>
          <a:ln w="9525" cap="flat">
            <a:solidFill>
              <a:srgbClr val="E6E8F2"/>
            </a:solidFill>
          </a:ln>
        </p:spPr>
      </p:cxnSp>
      <p:cxnSp>
        <p:nvCxnSpPr>
          <p:cNvPr id="30" name="Line 30"/>
          <p:cNvCxnSpPr/>
          <p:nvPr/>
        </p:nvCxnSpPr>
        <p:spPr>
          <a:xfrm>
            <a:off x="1009650" y="4327588"/>
            <a:ext cx="2705100" cy="0"/>
          </a:xfrm>
          <a:prstGeom prst="line">
            <a:avLst/>
          </a:prstGeom>
          <a:ln w="9525" cap="flat">
            <a:solidFill>
              <a:srgbClr val="E6E8F2"/>
            </a:solidFill>
          </a:ln>
        </p:spPr>
      </p:cxnSp>
      <p:cxnSp>
        <p:nvCxnSpPr>
          <p:cNvPr id="31" name="Line 31"/>
          <p:cNvCxnSpPr/>
          <p:nvPr/>
        </p:nvCxnSpPr>
        <p:spPr>
          <a:xfrm>
            <a:off x="1009650" y="4153757"/>
            <a:ext cx="2705100" cy="0"/>
          </a:xfrm>
          <a:prstGeom prst="line">
            <a:avLst/>
          </a:prstGeom>
          <a:ln w="9525" cap="flat">
            <a:solidFill>
              <a:srgbClr val="E6E8F2"/>
            </a:solidFill>
          </a:ln>
        </p:spPr>
      </p:cxnSp>
      <p:cxnSp>
        <p:nvCxnSpPr>
          <p:cNvPr id="32" name="Line 32"/>
          <p:cNvCxnSpPr/>
          <p:nvPr/>
        </p:nvCxnSpPr>
        <p:spPr>
          <a:xfrm>
            <a:off x="1009650" y="3979926"/>
            <a:ext cx="2705100" cy="0"/>
          </a:xfrm>
          <a:prstGeom prst="line">
            <a:avLst/>
          </a:prstGeom>
          <a:ln w="9525" cap="flat">
            <a:solidFill>
              <a:srgbClr val="E6E8F2"/>
            </a:solidFill>
          </a:ln>
        </p:spPr>
      </p:cxnSp>
      <p:cxnSp>
        <p:nvCxnSpPr>
          <p:cNvPr id="33" name="Line 33"/>
          <p:cNvCxnSpPr/>
          <p:nvPr/>
        </p:nvCxnSpPr>
        <p:spPr>
          <a:xfrm>
            <a:off x="1009650" y="3806095"/>
            <a:ext cx="2705100" cy="0"/>
          </a:xfrm>
          <a:prstGeom prst="line">
            <a:avLst/>
          </a:prstGeom>
          <a:ln w="9525" cap="flat">
            <a:solidFill>
              <a:srgbClr val="E6E8F2"/>
            </a:solidFill>
          </a:ln>
        </p:spPr>
      </p:cxnSp>
      <p:cxnSp>
        <p:nvCxnSpPr>
          <p:cNvPr id="34" name="Line 34"/>
          <p:cNvCxnSpPr/>
          <p:nvPr/>
        </p:nvCxnSpPr>
        <p:spPr>
          <a:xfrm>
            <a:off x="1009650" y="3632264"/>
            <a:ext cx="2705100" cy="0"/>
          </a:xfrm>
          <a:prstGeom prst="line">
            <a:avLst/>
          </a:prstGeom>
          <a:ln w="9525" cap="flat">
            <a:solidFill>
              <a:srgbClr val="E6E8F2"/>
            </a:solidFill>
          </a:ln>
        </p:spPr>
      </p:cxnSp>
      <p:cxnSp>
        <p:nvCxnSpPr>
          <p:cNvPr id="35" name="Line 35"/>
          <p:cNvCxnSpPr/>
          <p:nvPr/>
        </p:nvCxnSpPr>
        <p:spPr>
          <a:xfrm>
            <a:off x="1009650" y="3458432"/>
            <a:ext cx="2705100" cy="0"/>
          </a:xfrm>
          <a:prstGeom prst="line">
            <a:avLst/>
          </a:prstGeom>
          <a:ln w="9525" cap="flat">
            <a:solidFill>
              <a:srgbClr val="E6E8F2"/>
            </a:solidFill>
          </a:ln>
        </p:spPr>
      </p:cxnSp>
      <p:cxnSp>
        <p:nvCxnSpPr>
          <p:cNvPr id="36" name="Line 36"/>
          <p:cNvCxnSpPr/>
          <p:nvPr/>
        </p:nvCxnSpPr>
        <p:spPr>
          <a:xfrm>
            <a:off x="1009650" y="3284601"/>
            <a:ext cx="2705100" cy="0"/>
          </a:xfrm>
          <a:prstGeom prst="line">
            <a:avLst/>
          </a:prstGeom>
          <a:ln w="9525" cap="flat">
            <a:solidFill>
              <a:srgbClr val="E6E8F2"/>
            </a:solidFill>
          </a:ln>
        </p:spPr>
      </p:cxnSp>
      <p:cxnSp>
        <p:nvCxnSpPr>
          <p:cNvPr id="37" name="Line 37"/>
          <p:cNvCxnSpPr/>
          <p:nvPr/>
        </p:nvCxnSpPr>
        <p:spPr>
          <a:xfrm>
            <a:off x="1009650" y="3110770"/>
            <a:ext cx="2705100" cy="0"/>
          </a:xfrm>
          <a:prstGeom prst="line">
            <a:avLst/>
          </a:prstGeom>
          <a:ln w="9525" cap="flat">
            <a:solidFill>
              <a:srgbClr val="E6E8F2"/>
            </a:solidFill>
          </a:ln>
        </p:spPr>
      </p:cxnSp>
      <p:cxnSp>
        <p:nvCxnSpPr>
          <p:cNvPr id="38" name="Line 38"/>
          <p:cNvCxnSpPr/>
          <p:nvPr/>
        </p:nvCxnSpPr>
        <p:spPr>
          <a:xfrm>
            <a:off x="1009650" y="2936938"/>
            <a:ext cx="2705100" cy="0"/>
          </a:xfrm>
          <a:prstGeom prst="line">
            <a:avLst/>
          </a:prstGeom>
          <a:ln w="9525" cap="flat">
            <a:solidFill>
              <a:srgbClr val="E6E8F2"/>
            </a:solidFill>
          </a:ln>
        </p:spPr>
      </p:cxnSp>
      <p:cxnSp>
        <p:nvCxnSpPr>
          <p:cNvPr id="39" name="Line 39"/>
          <p:cNvCxnSpPr/>
          <p:nvPr/>
        </p:nvCxnSpPr>
        <p:spPr>
          <a:xfrm>
            <a:off x="1009650" y="2763107"/>
            <a:ext cx="2705100" cy="0"/>
          </a:xfrm>
          <a:prstGeom prst="line">
            <a:avLst/>
          </a:prstGeom>
          <a:ln w="9525" cap="flat">
            <a:solidFill>
              <a:srgbClr val="E6E8F2"/>
            </a:solidFill>
          </a:ln>
        </p:spPr>
      </p:cxnSp>
      <p:cxnSp>
        <p:nvCxnSpPr>
          <p:cNvPr id="40" name="Line 40"/>
          <p:cNvCxnSpPr/>
          <p:nvPr/>
        </p:nvCxnSpPr>
        <p:spPr>
          <a:xfrm>
            <a:off x="1009650" y="2589276"/>
            <a:ext cx="2705100" cy="0"/>
          </a:xfrm>
          <a:prstGeom prst="line">
            <a:avLst/>
          </a:prstGeom>
          <a:ln w="9525" cap="flat">
            <a:solidFill>
              <a:srgbClr val="E6E8F2"/>
            </a:solidFill>
          </a:ln>
        </p:spPr>
      </p:cxnSp>
      <p:cxnSp>
        <p:nvCxnSpPr>
          <p:cNvPr id="41" name="Line 41"/>
          <p:cNvCxnSpPr/>
          <p:nvPr/>
        </p:nvCxnSpPr>
        <p:spPr>
          <a:xfrm>
            <a:off x="1009650" y="2589276"/>
            <a:ext cx="0" cy="2781300"/>
          </a:xfrm>
          <a:prstGeom prst="line">
            <a:avLst/>
          </a:prstGeom>
          <a:ln w="19050" cap="flat">
            <a:solidFill>
              <a:srgbClr val="5F6272"/>
            </a:solidFill>
          </a:ln>
        </p:spPr>
      </p:cxnSp>
      <p:cxnSp>
        <p:nvCxnSpPr>
          <p:cNvPr id="42" name="Line 42"/>
          <p:cNvCxnSpPr/>
          <p:nvPr/>
        </p:nvCxnSpPr>
        <p:spPr>
          <a:xfrm>
            <a:off x="1009650" y="5370576"/>
            <a:ext cx="2705100" cy="0"/>
          </a:xfrm>
          <a:prstGeom prst="line">
            <a:avLst/>
          </a:prstGeom>
          <a:ln w="19050" cap="flat">
            <a:solidFill>
              <a:srgbClr val="5F6272"/>
            </a:solidFill>
          </a:ln>
        </p:spPr>
      </p:cxnSp>
      <p:sp>
        <p:nvSpPr>
          <p:cNvPr id="43" name="Shape 43"/>
          <p:cNvSpPr txBox="1"/>
          <p:nvPr/>
        </p:nvSpPr>
        <p:spPr>
          <a:xfrm>
            <a:off x="7353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4" name="Shape 44"/>
          <p:cNvSpPr txBox="1"/>
          <p:nvPr/>
        </p:nvSpPr>
        <p:spPr>
          <a:xfrm>
            <a:off x="107346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141160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174974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7" name="Shape 47"/>
          <p:cNvSpPr txBox="1"/>
          <p:nvPr/>
        </p:nvSpPr>
        <p:spPr>
          <a:xfrm>
            <a:off x="208788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8" name="Shape 48"/>
          <p:cNvSpPr txBox="1"/>
          <p:nvPr/>
        </p:nvSpPr>
        <p:spPr>
          <a:xfrm>
            <a:off x="242601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9" name="Shape 49"/>
          <p:cNvSpPr txBox="1"/>
          <p:nvPr/>
        </p:nvSpPr>
        <p:spPr>
          <a:xfrm>
            <a:off x="276415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50" name="Shape 50"/>
          <p:cNvSpPr txBox="1"/>
          <p:nvPr/>
        </p:nvSpPr>
        <p:spPr>
          <a:xfrm>
            <a:off x="310229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51" name="Shape 51"/>
          <p:cNvSpPr txBox="1"/>
          <p:nvPr/>
        </p:nvSpPr>
        <p:spPr>
          <a:xfrm>
            <a:off x="34404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52" name="Shape 52"/>
          <p:cNvSpPr txBox="1"/>
          <p:nvPr/>
        </p:nvSpPr>
        <p:spPr>
          <a:xfrm>
            <a:off x="442722"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3" name="Shape 53"/>
          <p:cNvSpPr txBox="1"/>
          <p:nvPr/>
        </p:nvSpPr>
        <p:spPr>
          <a:xfrm>
            <a:off x="442722" y="493147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4" name="Shape 54"/>
          <p:cNvSpPr txBox="1"/>
          <p:nvPr/>
        </p:nvSpPr>
        <p:spPr>
          <a:xfrm>
            <a:off x="442722" y="45838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5" name="Shape 55"/>
          <p:cNvSpPr txBox="1"/>
          <p:nvPr/>
        </p:nvSpPr>
        <p:spPr>
          <a:xfrm>
            <a:off x="442722" y="42361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6" name="Shape 56"/>
          <p:cNvSpPr txBox="1"/>
          <p:nvPr/>
        </p:nvSpPr>
        <p:spPr>
          <a:xfrm>
            <a:off x="442722" y="38884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7" name="Shape 57"/>
          <p:cNvSpPr txBox="1"/>
          <p:nvPr/>
        </p:nvSpPr>
        <p:spPr>
          <a:xfrm>
            <a:off x="442722" y="354082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8" name="Shape 58"/>
          <p:cNvSpPr txBox="1"/>
          <p:nvPr/>
        </p:nvSpPr>
        <p:spPr>
          <a:xfrm>
            <a:off x="442722" y="319316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9" name="Shape 59"/>
          <p:cNvSpPr txBox="1"/>
          <p:nvPr/>
        </p:nvSpPr>
        <p:spPr>
          <a:xfrm>
            <a:off x="442722" y="28454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60" name="Shape 60"/>
          <p:cNvSpPr txBox="1"/>
          <p:nvPr/>
        </p:nvSpPr>
        <p:spPr>
          <a:xfrm>
            <a:off x="442722"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61" name="Shape 61"/>
          <p:cNvSpPr/>
          <p:nvPr/>
        </p:nvSpPr>
        <p:spPr>
          <a:xfrm>
            <a:off x="3324225" y="444903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2" name="Shape 62"/>
          <p:cNvSpPr txBox="1"/>
          <p:nvPr/>
        </p:nvSpPr>
        <p:spPr>
          <a:xfrm>
            <a:off x="3462337" y="425377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(14, 5)</a:t>
            </a:r>
            <a:endParaRPr lang="en-US" sz="1125" dirty="0"/>
          </a:p>
        </p:txBody>
      </p:sp>
      <p:sp>
        <p:nvSpPr>
          <p:cNvPr id="63" name="Shape 63"/>
          <p:cNvSpPr/>
          <p:nvPr/>
        </p:nvSpPr>
        <p:spPr>
          <a:xfrm>
            <a:off x="2647950" y="39275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p:nvPr/>
        </p:nvSpPr>
        <p:spPr>
          <a:xfrm>
            <a:off x="1971675" y="340604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65" name="Line 65"/>
          <p:cNvCxnSpPr/>
          <p:nvPr/>
        </p:nvCxnSpPr>
        <p:spPr>
          <a:xfrm>
            <a:off x="1009650" y="2676192"/>
            <a:ext cx="2705100" cy="2085975"/>
          </a:xfrm>
          <a:prstGeom prst="line">
            <a:avLst/>
          </a:prstGeom>
          <a:ln w="38100" cap="rnd">
            <a:solidFill>
              <a:srgbClr val="16171D"/>
            </a:solidFill>
          </a:ln>
        </p:spPr>
      </p:cxnSp>
      <p:sp>
        <p:nvSpPr>
          <p:cNvPr id="66" name="Shape 66"/>
          <p:cNvSpPr txBox="1"/>
          <p:nvPr/>
        </p:nvSpPr>
        <p:spPr>
          <a:xfrm>
            <a:off x="6286348"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b.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6</a:t>
            </a:r>
            <a:r>
              <a:rPr lang="en-US" sz="2325" dirty="0">
                <a:solidFill>
                  <a:srgbClr val="16171D"/>
                </a:solidFill>
                <a:latin typeface="Cambria"/>
                <a:cs typeface="Cambria"/>
              </a:rPr>
              <a:t xml:space="preserve">)</a:t>
            </a:r>
            <a:endParaRPr lang="en-US" sz="2325" dirty="0"/>
          </a:p>
        </p:txBody>
      </p:sp>
      <p:sp>
        <p:nvSpPr>
          <p:cNvPr id="67" name="Shape 67"/>
          <p:cNvSpPr txBox="1"/>
          <p:nvPr/>
        </p:nvSpPr>
        <p:spPr>
          <a:xfrm>
            <a:off x="6286348"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(−6, −8)</a:t>
            </a:r>
            <a:r>
              <a:rPr lang="en-US" sz="1575" dirty="0">
                <a:solidFill>
                  <a:srgbClr val="16171D"/>
                </a:solidFill>
                <a:latin typeface="Segoe UI"/>
                <a:cs typeface="Segoe UI"/>
              </a:rPr>
              <a:t xml:space="preserve">. Up 1, right 2.</a:t>
            </a:r>
            <a:endParaRPr lang="en-US" sz="1575" dirty="0"/>
          </a:p>
        </p:txBody>
      </p:sp>
      <p:sp>
        <p:nvSpPr>
          <p:cNvPr id="68" name="Shape 68"/>
          <p:cNvSpPr/>
          <p:nvPr/>
        </p:nvSpPr>
        <p:spPr>
          <a:xfrm>
            <a:off x="6286348"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9" name="Line 69"/>
          <p:cNvCxnSpPr/>
          <p:nvPr/>
        </p:nvCxnSpPr>
        <p:spPr>
          <a:xfrm>
            <a:off x="6610198" y="2589276"/>
            <a:ext cx="0" cy="2781300"/>
          </a:xfrm>
          <a:prstGeom prst="line">
            <a:avLst/>
          </a:prstGeom>
          <a:ln w="9525" cap="flat">
            <a:solidFill>
              <a:srgbClr val="E6E8F2"/>
            </a:solidFill>
          </a:ln>
        </p:spPr>
      </p:cxnSp>
      <p:cxnSp>
        <p:nvCxnSpPr>
          <p:cNvPr id="70" name="Line 70"/>
          <p:cNvCxnSpPr/>
          <p:nvPr/>
        </p:nvCxnSpPr>
        <p:spPr>
          <a:xfrm>
            <a:off x="6779266" y="2589276"/>
            <a:ext cx="0" cy="2781300"/>
          </a:xfrm>
          <a:prstGeom prst="line">
            <a:avLst/>
          </a:prstGeom>
          <a:ln w="9525" cap="flat">
            <a:solidFill>
              <a:srgbClr val="E6E8F2"/>
            </a:solidFill>
          </a:ln>
        </p:spPr>
      </p:cxnSp>
      <p:cxnSp>
        <p:nvCxnSpPr>
          <p:cNvPr id="71" name="Line 71"/>
          <p:cNvCxnSpPr/>
          <p:nvPr/>
        </p:nvCxnSpPr>
        <p:spPr>
          <a:xfrm>
            <a:off x="6948335" y="2589276"/>
            <a:ext cx="0" cy="2781300"/>
          </a:xfrm>
          <a:prstGeom prst="line">
            <a:avLst/>
          </a:prstGeom>
          <a:ln w="9525" cap="flat">
            <a:solidFill>
              <a:srgbClr val="E6E8F2"/>
            </a:solidFill>
          </a:ln>
        </p:spPr>
      </p:cxnSp>
      <p:cxnSp>
        <p:nvCxnSpPr>
          <p:cNvPr id="72" name="Line 72"/>
          <p:cNvCxnSpPr/>
          <p:nvPr/>
        </p:nvCxnSpPr>
        <p:spPr>
          <a:xfrm>
            <a:off x="7117404" y="2589276"/>
            <a:ext cx="0" cy="2781300"/>
          </a:xfrm>
          <a:prstGeom prst="line">
            <a:avLst/>
          </a:prstGeom>
          <a:ln w="9525" cap="flat">
            <a:solidFill>
              <a:srgbClr val="E6E8F2"/>
            </a:solidFill>
          </a:ln>
        </p:spPr>
      </p:cxnSp>
      <p:cxnSp>
        <p:nvCxnSpPr>
          <p:cNvPr id="73" name="Line 73"/>
          <p:cNvCxnSpPr/>
          <p:nvPr/>
        </p:nvCxnSpPr>
        <p:spPr>
          <a:xfrm>
            <a:off x="7286473" y="2589276"/>
            <a:ext cx="0" cy="2781300"/>
          </a:xfrm>
          <a:prstGeom prst="line">
            <a:avLst/>
          </a:prstGeom>
          <a:ln w="9525" cap="flat">
            <a:solidFill>
              <a:srgbClr val="E6E8F2"/>
            </a:solidFill>
          </a:ln>
        </p:spPr>
      </p:cxnSp>
      <p:cxnSp>
        <p:nvCxnSpPr>
          <p:cNvPr id="74" name="Line 74"/>
          <p:cNvCxnSpPr/>
          <p:nvPr/>
        </p:nvCxnSpPr>
        <p:spPr>
          <a:xfrm>
            <a:off x="7455541" y="2589276"/>
            <a:ext cx="0" cy="2781300"/>
          </a:xfrm>
          <a:prstGeom prst="line">
            <a:avLst/>
          </a:prstGeom>
          <a:ln w="9525" cap="flat">
            <a:solidFill>
              <a:srgbClr val="E6E8F2"/>
            </a:solidFill>
          </a:ln>
        </p:spPr>
      </p:cxnSp>
      <p:cxnSp>
        <p:nvCxnSpPr>
          <p:cNvPr id="75" name="Line 75"/>
          <p:cNvCxnSpPr/>
          <p:nvPr/>
        </p:nvCxnSpPr>
        <p:spPr>
          <a:xfrm>
            <a:off x="7624610" y="2589276"/>
            <a:ext cx="0" cy="2781300"/>
          </a:xfrm>
          <a:prstGeom prst="line">
            <a:avLst/>
          </a:prstGeom>
          <a:ln w="9525" cap="flat">
            <a:solidFill>
              <a:srgbClr val="E6E8F2"/>
            </a:solidFill>
          </a:ln>
        </p:spPr>
      </p:cxnSp>
      <p:cxnSp>
        <p:nvCxnSpPr>
          <p:cNvPr id="76" name="Line 76"/>
          <p:cNvCxnSpPr/>
          <p:nvPr/>
        </p:nvCxnSpPr>
        <p:spPr>
          <a:xfrm>
            <a:off x="7793679" y="2589276"/>
            <a:ext cx="0" cy="2781300"/>
          </a:xfrm>
          <a:prstGeom prst="line">
            <a:avLst/>
          </a:prstGeom>
          <a:ln w="9525" cap="flat">
            <a:solidFill>
              <a:srgbClr val="E6E8F2"/>
            </a:solidFill>
          </a:ln>
        </p:spPr>
      </p:cxnSp>
      <p:cxnSp>
        <p:nvCxnSpPr>
          <p:cNvPr id="77" name="Line 77"/>
          <p:cNvCxnSpPr/>
          <p:nvPr/>
        </p:nvCxnSpPr>
        <p:spPr>
          <a:xfrm>
            <a:off x="7962748" y="2589276"/>
            <a:ext cx="0" cy="2781300"/>
          </a:xfrm>
          <a:prstGeom prst="line">
            <a:avLst/>
          </a:prstGeom>
          <a:ln w="9525" cap="flat">
            <a:solidFill>
              <a:srgbClr val="E6E8F2"/>
            </a:solidFill>
          </a:ln>
        </p:spPr>
      </p:cxnSp>
      <p:cxnSp>
        <p:nvCxnSpPr>
          <p:cNvPr id="78" name="Line 78"/>
          <p:cNvCxnSpPr/>
          <p:nvPr/>
        </p:nvCxnSpPr>
        <p:spPr>
          <a:xfrm>
            <a:off x="8131816" y="2589276"/>
            <a:ext cx="0" cy="2781300"/>
          </a:xfrm>
          <a:prstGeom prst="line">
            <a:avLst/>
          </a:prstGeom>
          <a:ln w="9525" cap="flat">
            <a:solidFill>
              <a:srgbClr val="E6E8F2"/>
            </a:solidFill>
          </a:ln>
        </p:spPr>
      </p:cxnSp>
      <p:cxnSp>
        <p:nvCxnSpPr>
          <p:cNvPr id="79" name="Line 79"/>
          <p:cNvCxnSpPr/>
          <p:nvPr/>
        </p:nvCxnSpPr>
        <p:spPr>
          <a:xfrm>
            <a:off x="8300885" y="2589276"/>
            <a:ext cx="0" cy="2781300"/>
          </a:xfrm>
          <a:prstGeom prst="line">
            <a:avLst/>
          </a:prstGeom>
          <a:ln w="9525" cap="flat">
            <a:solidFill>
              <a:srgbClr val="E6E8F2"/>
            </a:solidFill>
          </a:ln>
        </p:spPr>
      </p:cxnSp>
      <p:cxnSp>
        <p:nvCxnSpPr>
          <p:cNvPr id="80" name="Line 80"/>
          <p:cNvCxnSpPr/>
          <p:nvPr/>
        </p:nvCxnSpPr>
        <p:spPr>
          <a:xfrm>
            <a:off x="8469954" y="2589276"/>
            <a:ext cx="0" cy="2781300"/>
          </a:xfrm>
          <a:prstGeom prst="line">
            <a:avLst/>
          </a:prstGeom>
          <a:ln w="9525" cap="flat">
            <a:solidFill>
              <a:srgbClr val="E6E8F2"/>
            </a:solidFill>
          </a:ln>
        </p:spPr>
      </p:cxnSp>
      <p:cxnSp>
        <p:nvCxnSpPr>
          <p:cNvPr id="81" name="Line 81"/>
          <p:cNvCxnSpPr/>
          <p:nvPr/>
        </p:nvCxnSpPr>
        <p:spPr>
          <a:xfrm>
            <a:off x="8639023" y="2589276"/>
            <a:ext cx="0" cy="2781300"/>
          </a:xfrm>
          <a:prstGeom prst="line">
            <a:avLst/>
          </a:prstGeom>
          <a:ln w="9525" cap="flat">
            <a:solidFill>
              <a:srgbClr val="E6E8F2"/>
            </a:solidFill>
          </a:ln>
        </p:spPr>
      </p:cxnSp>
      <p:cxnSp>
        <p:nvCxnSpPr>
          <p:cNvPr id="82" name="Line 82"/>
          <p:cNvCxnSpPr/>
          <p:nvPr/>
        </p:nvCxnSpPr>
        <p:spPr>
          <a:xfrm>
            <a:off x="8808091" y="2589276"/>
            <a:ext cx="0" cy="2781300"/>
          </a:xfrm>
          <a:prstGeom prst="line">
            <a:avLst/>
          </a:prstGeom>
          <a:ln w="9525" cap="flat">
            <a:solidFill>
              <a:srgbClr val="E6E8F2"/>
            </a:solidFill>
          </a:ln>
        </p:spPr>
      </p:cxnSp>
      <p:cxnSp>
        <p:nvCxnSpPr>
          <p:cNvPr id="83" name="Line 83"/>
          <p:cNvCxnSpPr/>
          <p:nvPr/>
        </p:nvCxnSpPr>
        <p:spPr>
          <a:xfrm>
            <a:off x="8977160" y="2589276"/>
            <a:ext cx="0" cy="2781300"/>
          </a:xfrm>
          <a:prstGeom prst="line">
            <a:avLst/>
          </a:prstGeom>
          <a:ln w="9525" cap="flat">
            <a:solidFill>
              <a:srgbClr val="E6E8F2"/>
            </a:solidFill>
          </a:ln>
        </p:spPr>
      </p:cxnSp>
      <p:cxnSp>
        <p:nvCxnSpPr>
          <p:cNvPr id="84" name="Line 84"/>
          <p:cNvCxnSpPr/>
          <p:nvPr/>
        </p:nvCxnSpPr>
        <p:spPr>
          <a:xfrm>
            <a:off x="9146229" y="2589276"/>
            <a:ext cx="0" cy="2781300"/>
          </a:xfrm>
          <a:prstGeom prst="line">
            <a:avLst/>
          </a:prstGeom>
          <a:ln w="9525" cap="flat">
            <a:solidFill>
              <a:srgbClr val="E6E8F2"/>
            </a:solidFill>
          </a:ln>
        </p:spPr>
      </p:cxnSp>
      <p:cxnSp>
        <p:nvCxnSpPr>
          <p:cNvPr id="85" name="Line 85"/>
          <p:cNvCxnSpPr/>
          <p:nvPr/>
        </p:nvCxnSpPr>
        <p:spPr>
          <a:xfrm>
            <a:off x="9315298" y="2589276"/>
            <a:ext cx="0" cy="2781300"/>
          </a:xfrm>
          <a:prstGeom prst="line">
            <a:avLst/>
          </a:prstGeom>
          <a:ln w="9525" cap="flat">
            <a:solidFill>
              <a:srgbClr val="E6E8F2"/>
            </a:solidFill>
          </a:ln>
        </p:spPr>
      </p:cxnSp>
      <p:cxnSp>
        <p:nvCxnSpPr>
          <p:cNvPr id="86" name="Line 86"/>
          <p:cNvCxnSpPr/>
          <p:nvPr/>
        </p:nvCxnSpPr>
        <p:spPr>
          <a:xfrm>
            <a:off x="6610198" y="5370576"/>
            <a:ext cx="2705100" cy="0"/>
          </a:xfrm>
          <a:prstGeom prst="line">
            <a:avLst/>
          </a:prstGeom>
          <a:ln w="9525" cap="flat">
            <a:solidFill>
              <a:srgbClr val="E6E8F2"/>
            </a:solidFill>
          </a:ln>
        </p:spPr>
      </p:cxnSp>
      <p:cxnSp>
        <p:nvCxnSpPr>
          <p:cNvPr id="87" name="Line 87"/>
          <p:cNvCxnSpPr/>
          <p:nvPr/>
        </p:nvCxnSpPr>
        <p:spPr>
          <a:xfrm>
            <a:off x="6610198" y="5216059"/>
            <a:ext cx="2705100" cy="0"/>
          </a:xfrm>
          <a:prstGeom prst="line">
            <a:avLst/>
          </a:prstGeom>
          <a:ln w="9525" cap="flat">
            <a:solidFill>
              <a:srgbClr val="E6E8F2"/>
            </a:solidFill>
          </a:ln>
        </p:spPr>
      </p:cxnSp>
      <p:cxnSp>
        <p:nvCxnSpPr>
          <p:cNvPr id="88" name="Line 88"/>
          <p:cNvCxnSpPr/>
          <p:nvPr/>
        </p:nvCxnSpPr>
        <p:spPr>
          <a:xfrm>
            <a:off x="6610198" y="5061543"/>
            <a:ext cx="2705100" cy="0"/>
          </a:xfrm>
          <a:prstGeom prst="line">
            <a:avLst/>
          </a:prstGeom>
          <a:ln w="9525" cap="flat">
            <a:solidFill>
              <a:srgbClr val="E6E8F2"/>
            </a:solidFill>
          </a:ln>
        </p:spPr>
      </p:cxnSp>
      <p:cxnSp>
        <p:nvCxnSpPr>
          <p:cNvPr id="89" name="Line 89"/>
          <p:cNvCxnSpPr/>
          <p:nvPr/>
        </p:nvCxnSpPr>
        <p:spPr>
          <a:xfrm>
            <a:off x="6610198" y="4907026"/>
            <a:ext cx="2705100" cy="0"/>
          </a:xfrm>
          <a:prstGeom prst="line">
            <a:avLst/>
          </a:prstGeom>
          <a:ln w="9525" cap="flat">
            <a:solidFill>
              <a:srgbClr val="E6E8F2"/>
            </a:solidFill>
          </a:ln>
        </p:spPr>
      </p:cxnSp>
      <p:cxnSp>
        <p:nvCxnSpPr>
          <p:cNvPr id="90" name="Line 90"/>
          <p:cNvCxnSpPr/>
          <p:nvPr/>
        </p:nvCxnSpPr>
        <p:spPr>
          <a:xfrm>
            <a:off x="6610198" y="4752509"/>
            <a:ext cx="2705100" cy="0"/>
          </a:xfrm>
          <a:prstGeom prst="line">
            <a:avLst/>
          </a:prstGeom>
          <a:ln w="9525" cap="flat">
            <a:solidFill>
              <a:srgbClr val="E6E8F2"/>
            </a:solidFill>
          </a:ln>
        </p:spPr>
      </p:cxnSp>
      <p:cxnSp>
        <p:nvCxnSpPr>
          <p:cNvPr id="91" name="Line 91"/>
          <p:cNvCxnSpPr/>
          <p:nvPr/>
        </p:nvCxnSpPr>
        <p:spPr>
          <a:xfrm>
            <a:off x="6610198" y="4597993"/>
            <a:ext cx="2705100" cy="0"/>
          </a:xfrm>
          <a:prstGeom prst="line">
            <a:avLst/>
          </a:prstGeom>
          <a:ln w="9525" cap="flat">
            <a:solidFill>
              <a:srgbClr val="E6E8F2"/>
            </a:solidFill>
          </a:ln>
        </p:spPr>
      </p:cxnSp>
      <p:cxnSp>
        <p:nvCxnSpPr>
          <p:cNvPr id="92" name="Line 92"/>
          <p:cNvCxnSpPr/>
          <p:nvPr/>
        </p:nvCxnSpPr>
        <p:spPr>
          <a:xfrm>
            <a:off x="6610198" y="4443476"/>
            <a:ext cx="2705100" cy="0"/>
          </a:xfrm>
          <a:prstGeom prst="line">
            <a:avLst/>
          </a:prstGeom>
          <a:ln w="9525" cap="flat">
            <a:solidFill>
              <a:srgbClr val="E6E8F2"/>
            </a:solidFill>
          </a:ln>
        </p:spPr>
      </p:cxnSp>
      <p:cxnSp>
        <p:nvCxnSpPr>
          <p:cNvPr id="93" name="Line 93"/>
          <p:cNvCxnSpPr/>
          <p:nvPr/>
        </p:nvCxnSpPr>
        <p:spPr>
          <a:xfrm>
            <a:off x="6610198" y="4288959"/>
            <a:ext cx="2705100" cy="0"/>
          </a:xfrm>
          <a:prstGeom prst="line">
            <a:avLst/>
          </a:prstGeom>
          <a:ln w="9525" cap="flat">
            <a:solidFill>
              <a:srgbClr val="E6E8F2"/>
            </a:solidFill>
          </a:ln>
        </p:spPr>
      </p:cxnSp>
      <p:cxnSp>
        <p:nvCxnSpPr>
          <p:cNvPr id="94" name="Line 94"/>
          <p:cNvCxnSpPr/>
          <p:nvPr/>
        </p:nvCxnSpPr>
        <p:spPr>
          <a:xfrm>
            <a:off x="6610198" y="4134443"/>
            <a:ext cx="2705100" cy="0"/>
          </a:xfrm>
          <a:prstGeom prst="line">
            <a:avLst/>
          </a:prstGeom>
          <a:ln w="9525" cap="flat">
            <a:solidFill>
              <a:srgbClr val="E6E8F2"/>
            </a:solidFill>
          </a:ln>
        </p:spPr>
      </p:cxnSp>
      <p:cxnSp>
        <p:nvCxnSpPr>
          <p:cNvPr id="95" name="Line 95"/>
          <p:cNvCxnSpPr/>
          <p:nvPr/>
        </p:nvCxnSpPr>
        <p:spPr>
          <a:xfrm>
            <a:off x="6610198" y="3979926"/>
            <a:ext cx="2705100" cy="0"/>
          </a:xfrm>
          <a:prstGeom prst="line">
            <a:avLst/>
          </a:prstGeom>
          <a:ln w="9525" cap="flat">
            <a:solidFill>
              <a:srgbClr val="E6E8F2"/>
            </a:solidFill>
          </a:ln>
        </p:spPr>
      </p:cxnSp>
      <p:cxnSp>
        <p:nvCxnSpPr>
          <p:cNvPr id="96" name="Line 96"/>
          <p:cNvCxnSpPr/>
          <p:nvPr/>
        </p:nvCxnSpPr>
        <p:spPr>
          <a:xfrm>
            <a:off x="6610198" y="3825409"/>
            <a:ext cx="2705100" cy="0"/>
          </a:xfrm>
          <a:prstGeom prst="line">
            <a:avLst/>
          </a:prstGeom>
          <a:ln w="9525" cap="flat">
            <a:solidFill>
              <a:srgbClr val="E6E8F2"/>
            </a:solidFill>
          </a:ln>
        </p:spPr>
      </p:cxnSp>
      <p:cxnSp>
        <p:nvCxnSpPr>
          <p:cNvPr id="97" name="Line 97"/>
          <p:cNvCxnSpPr/>
          <p:nvPr/>
        </p:nvCxnSpPr>
        <p:spPr>
          <a:xfrm>
            <a:off x="6610198" y="3670893"/>
            <a:ext cx="2705100" cy="0"/>
          </a:xfrm>
          <a:prstGeom prst="line">
            <a:avLst/>
          </a:prstGeom>
          <a:ln w="9525" cap="flat">
            <a:solidFill>
              <a:srgbClr val="E6E8F2"/>
            </a:solidFill>
          </a:ln>
        </p:spPr>
      </p:cxnSp>
      <p:cxnSp>
        <p:nvCxnSpPr>
          <p:cNvPr id="98" name="Line 98"/>
          <p:cNvCxnSpPr/>
          <p:nvPr/>
        </p:nvCxnSpPr>
        <p:spPr>
          <a:xfrm>
            <a:off x="6610198" y="3516376"/>
            <a:ext cx="2705100" cy="0"/>
          </a:xfrm>
          <a:prstGeom prst="line">
            <a:avLst/>
          </a:prstGeom>
          <a:ln w="9525" cap="flat">
            <a:solidFill>
              <a:srgbClr val="E6E8F2"/>
            </a:solidFill>
          </a:ln>
        </p:spPr>
      </p:cxnSp>
      <p:cxnSp>
        <p:nvCxnSpPr>
          <p:cNvPr id="99" name="Line 99"/>
          <p:cNvCxnSpPr/>
          <p:nvPr/>
        </p:nvCxnSpPr>
        <p:spPr>
          <a:xfrm>
            <a:off x="6610198" y="3361859"/>
            <a:ext cx="2705100" cy="0"/>
          </a:xfrm>
          <a:prstGeom prst="line">
            <a:avLst/>
          </a:prstGeom>
          <a:ln w="9525" cap="flat">
            <a:solidFill>
              <a:srgbClr val="E6E8F2"/>
            </a:solidFill>
          </a:ln>
        </p:spPr>
      </p:cxnSp>
      <p:cxnSp>
        <p:nvCxnSpPr>
          <p:cNvPr id="100" name="Line 100"/>
          <p:cNvCxnSpPr/>
          <p:nvPr/>
        </p:nvCxnSpPr>
        <p:spPr>
          <a:xfrm>
            <a:off x="6610198" y="3207343"/>
            <a:ext cx="2705100" cy="0"/>
          </a:xfrm>
          <a:prstGeom prst="line">
            <a:avLst/>
          </a:prstGeom>
          <a:ln w="9525" cap="flat">
            <a:solidFill>
              <a:srgbClr val="E6E8F2"/>
            </a:solidFill>
          </a:ln>
        </p:spPr>
      </p:cxnSp>
      <p:cxnSp>
        <p:nvCxnSpPr>
          <p:cNvPr id="101" name="Line 101"/>
          <p:cNvCxnSpPr/>
          <p:nvPr/>
        </p:nvCxnSpPr>
        <p:spPr>
          <a:xfrm>
            <a:off x="6610198" y="3052826"/>
            <a:ext cx="2705100" cy="0"/>
          </a:xfrm>
          <a:prstGeom prst="line">
            <a:avLst/>
          </a:prstGeom>
          <a:ln w="9525" cap="flat">
            <a:solidFill>
              <a:srgbClr val="E6E8F2"/>
            </a:solidFill>
          </a:ln>
        </p:spPr>
      </p:cxnSp>
      <p:cxnSp>
        <p:nvCxnSpPr>
          <p:cNvPr id="102" name="Line 102"/>
          <p:cNvCxnSpPr/>
          <p:nvPr/>
        </p:nvCxnSpPr>
        <p:spPr>
          <a:xfrm>
            <a:off x="6610198" y="2898309"/>
            <a:ext cx="2705100" cy="0"/>
          </a:xfrm>
          <a:prstGeom prst="line">
            <a:avLst/>
          </a:prstGeom>
          <a:ln w="9525" cap="flat">
            <a:solidFill>
              <a:srgbClr val="E6E8F2"/>
            </a:solidFill>
          </a:ln>
        </p:spPr>
      </p:cxnSp>
      <p:cxnSp>
        <p:nvCxnSpPr>
          <p:cNvPr id="103" name="Line 103"/>
          <p:cNvCxnSpPr/>
          <p:nvPr/>
        </p:nvCxnSpPr>
        <p:spPr>
          <a:xfrm>
            <a:off x="6610198" y="2743793"/>
            <a:ext cx="2705100" cy="0"/>
          </a:xfrm>
          <a:prstGeom prst="line">
            <a:avLst/>
          </a:prstGeom>
          <a:ln w="9525" cap="flat">
            <a:solidFill>
              <a:srgbClr val="E6E8F2"/>
            </a:solidFill>
          </a:ln>
        </p:spPr>
      </p:cxnSp>
      <p:cxnSp>
        <p:nvCxnSpPr>
          <p:cNvPr id="104" name="Line 104"/>
          <p:cNvCxnSpPr/>
          <p:nvPr/>
        </p:nvCxnSpPr>
        <p:spPr>
          <a:xfrm>
            <a:off x="6610198" y="2589276"/>
            <a:ext cx="2705100" cy="0"/>
          </a:xfrm>
          <a:prstGeom prst="line">
            <a:avLst/>
          </a:prstGeom>
          <a:ln w="9525" cap="flat">
            <a:solidFill>
              <a:srgbClr val="E6E8F2"/>
            </a:solidFill>
          </a:ln>
        </p:spPr>
      </p:cxnSp>
      <p:cxnSp>
        <p:nvCxnSpPr>
          <p:cNvPr id="105" name="Line 105"/>
          <p:cNvCxnSpPr/>
          <p:nvPr/>
        </p:nvCxnSpPr>
        <p:spPr>
          <a:xfrm>
            <a:off x="7962748" y="2589276"/>
            <a:ext cx="0" cy="2781300"/>
          </a:xfrm>
          <a:prstGeom prst="line">
            <a:avLst/>
          </a:prstGeom>
          <a:ln w="19050" cap="flat">
            <a:solidFill>
              <a:srgbClr val="5F6272"/>
            </a:solidFill>
          </a:ln>
        </p:spPr>
      </p:cxnSp>
      <p:cxnSp>
        <p:nvCxnSpPr>
          <p:cNvPr id="106" name="Line 106"/>
          <p:cNvCxnSpPr/>
          <p:nvPr/>
        </p:nvCxnSpPr>
        <p:spPr>
          <a:xfrm>
            <a:off x="6610198" y="3825409"/>
            <a:ext cx="2705100" cy="0"/>
          </a:xfrm>
          <a:prstGeom prst="line">
            <a:avLst/>
          </a:prstGeom>
          <a:ln w="19050" cap="flat">
            <a:solidFill>
              <a:srgbClr val="5F6272"/>
            </a:solidFill>
          </a:ln>
        </p:spPr>
      </p:cxnSp>
      <p:sp>
        <p:nvSpPr>
          <p:cNvPr id="107" name="Shape 107"/>
          <p:cNvSpPr txBox="1"/>
          <p:nvPr/>
        </p:nvSpPr>
        <p:spPr>
          <a:xfrm>
            <a:off x="63358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08" name="Shape 108"/>
          <p:cNvSpPr txBox="1"/>
          <p:nvPr/>
        </p:nvSpPr>
        <p:spPr>
          <a:xfrm>
            <a:off x="667401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09" name="Shape 109"/>
          <p:cNvSpPr txBox="1"/>
          <p:nvPr/>
        </p:nvSpPr>
        <p:spPr>
          <a:xfrm>
            <a:off x="701215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0" name="Shape 110"/>
          <p:cNvSpPr txBox="1"/>
          <p:nvPr/>
        </p:nvSpPr>
        <p:spPr>
          <a:xfrm>
            <a:off x="735029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1" name="Shape 111"/>
          <p:cNvSpPr txBox="1"/>
          <p:nvPr/>
        </p:nvSpPr>
        <p:spPr>
          <a:xfrm>
            <a:off x="768842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12" name="Shape 112"/>
          <p:cNvSpPr txBox="1"/>
          <p:nvPr/>
        </p:nvSpPr>
        <p:spPr>
          <a:xfrm>
            <a:off x="802656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3" name="Shape 113"/>
          <p:cNvSpPr txBox="1"/>
          <p:nvPr/>
        </p:nvSpPr>
        <p:spPr>
          <a:xfrm>
            <a:off x="836470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4" name="Shape 114"/>
          <p:cNvSpPr txBox="1"/>
          <p:nvPr/>
        </p:nvSpPr>
        <p:spPr>
          <a:xfrm>
            <a:off x="870284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5" name="Shape 115"/>
          <p:cNvSpPr txBox="1"/>
          <p:nvPr/>
        </p:nvSpPr>
        <p:spPr>
          <a:xfrm>
            <a:off x="90409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6" name="Shape 116"/>
          <p:cNvSpPr txBox="1"/>
          <p:nvPr/>
        </p:nvSpPr>
        <p:spPr>
          <a:xfrm>
            <a:off x="6043270"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117" name="Shape 117"/>
          <p:cNvSpPr txBox="1"/>
          <p:nvPr/>
        </p:nvSpPr>
        <p:spPr>
          <a:xfrm>
            <a:off x="6043270" y="49701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18" name="Shape 118"/>
          <p:cNvSpPr txBox="1"/>
          <p:nvPr/>
        </p:nvSpPr>
        <p:spPr>
          <a:xfrm>
            <a:off x="6043270" y="4661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19" name="Shape 119"/>
          <p:cNvSpPr txBox="1"/>
          <p:nvPr/>
        </p:nvSpPr>
        <p:spPr>
          <a:xfrm>
            <a:off x="6043270" y="43520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0" name="Shape 120"/>
          <p:cNvSpPr txBox="1"/>
          <p:nvPr/>
        </p:nvSpPr>
        <p:spPr>
          <a:xfrm>
            <a:off x="6043270" y="4043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1" name="Shape 121"/>
          <p:cNvSpPr txBox="1"/>
          <p:nvPr/>
        </p:nvSpPr>
        <p:spPr>
          <a:xfrm>
            <a:off x="6043270" y="37339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22" name="Shape 122"/>
          <p:cNvSpPr txBox="1"/>
          <p:nvPr/>
        </p:nvSpPr>
        <p:spPr>
          <a:xfrm>
            <a:off x="6043270" y="34249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3" name="Shape 123"/>
          <p:cNvSpPr txBox="1"/>
          <p:nvPr/>
        </p:nvSpPr>
        <p:spPr>
          <a:xfrm>
            <a:off x="6043270" y="31159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4" name="Shape 124"/>
          <p:cNvSpPr txBox="1"/>
          <p:nvPr/>
        </p:nvSpPr>
        <p:spPr>
          <a:xfrm>
            <a:off x="6043270" y="28068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5" name="Shape 125"/>
          <p:cNvSpPr txBox="1"/>
          <p:nvPr/>
        </p:nvSpPr>
        <p:spPr>
          <a:xfrm>
            <a:off x="6043270"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26" name="Shape 126"/>
          <p:cNvSpPr/>
          <p:nvPr/>
        </p:nvSpPr>
        <p:spPr>
          <a:xfrm>
            <a:off x="6895948" y="500915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7" name="Shape 127"/>
          <p:cNvSpPr txBox="1"/>
          <p:nvPr/>
        </p:nvSpPr>
        <p:spPr>
          <a:xfrm>
            <a:off x="7034060" y="481389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(−6, −8)</a:t>
            </a:r>
            <a:endParaRPr lang="en-US" sz="1125" dirty="0"/>
          </a:p>
        </p:txBody>
      </p:sp>
      <p:sp>
        <p:nvSpPr>
          <p:cNvPr id="128" name="Shape 128"/>
          <p:cNvSpPr/>
          <p:nvPr/>
        </p:nvSpPr>
        <p:spPr>
          <a:xfrm>
            <a:off x="7234085" y="48546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9" name="Shape 129"/>
          <p:cNvSpPr/>
          <p:nvPr/>
        </p:nvSpPr>
        <p:spPr>
          <a:xfrm>
            <a:off x="7572223" y="470012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130" name="Line 130"/>
          <p:cNvCxnSpPr/>
          <p:nvPr/>
        </p:nvCxnSpPr>
        <p:spPr>
          <a:xfrm flipV="1">
            <a:off x="6610198" y="3979926"/>
            <a:ext cx="2705100" cy="1236133"/>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1"/>
                                        </p:tgtEl>
                                        <p:attrNameLst>
                                          <p:attrName>style.visibility</p:attrName>
                                        </p:attrNameLst>
                                      </p:cBhvr>
                                      <p:to>
                                        <p:strVal val="visible"/>
                                      </p:to>
                                    </p:set>
                                    <p:animEffect transition="in" filter="fade">
                                      <p:cBhvr>
                                        <p:cTn id="4" dur="500"/>
                                        <p:tgtEl>
                                          <p:spTgt spid="61"/>
                                        </p:tgtEl>
                                      </p:cBhvr>
                                    </p:animEffect>
                                    <p:anim calcmode="lin" valueType="num">
                                      <p:cBhvr>
                                        <p:cTn id="5" dur="500" fill="hold"/>
                                        <p:tgtEl>
                                          <p:spTgt spid="61"/>
                                        </p:tgtEl>
                                        <p:attrNameLst>
                                          <p:attrName>ppt_w</p:attrName>
                                        </p:attrNameLst>
                                      </p:cBhvr>
                                      <p:tavLst>
                                        <p:tav tm="0">
                                          <p:val>
                                            <p:fltVal val="0"/>
                                          </p:val>
                                        </p:tav>
                                        <p:tav tm="100000">
                                          <p:val>
                                            <p:strVal val="#ppt_w"/>
                                          </p:val>
                                        </p:tav>
                                      </p:tavLst>
                                    </p:anim>
                                    <p:anim calcmode="lin" valueType="num">
                                      <p:cBhvr>
                                        <p:cTn id="6" dur="500" fill="hold"/>
                                        <p:tgtEl>
                                          <p:spTgt spid="61"/>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62"/>
                                        </p:tgtEl>
                                        <p:attrNameLst>
                                          <p:attrName>style.visibility</p:attrName>
                                        </p:attrNameLst>
                                      </p:cBhvr>
                                      <p:to>
                                        <p:strVal val="visible"/>
                                      </p:to>
                                    </p:set>
                                    <p:animEffect transition="in" filter="fade">
                                      <p:cBhvr>
                                        <p:cTn id="9" dur="500"/>
                                        <p:tgtEl>
                                          <p:spTgt spid="62"/>
                                        </p:tgtEl>
                                      </p:cBhvr>
                                    </p:animEffect>
                                    <p:anim calcmode="lin" valueType="num">
                                      <p:cBhvr>
                                        <p:cTn id="10" dur="500" fill="hold"/>
                                        <p:tgtEl>
                                          <p:spTgt spid="62"/>
                                        </p:tgtEl>
                                        <p:attrNameLst>
                                          <p:attrName>ppt_w</p:attrName>
                                        </p:attrNameLst>
                                      </p:cBhvr>
                                      <p:tavLst>
                                        <p:tav tm="0">
                                          <p:val>
                                            <p:fltVal val="0"/>
                                          </p:val>
                                        </p:tav>
                                        <p:tav tm="100000">
                                          <p:val>
                                            <p:strVal val="#ppt_w"/>
                                          </p:val>
                                        </p:tav>
                                      </p:tavLst>
                                    </p:anim>
                                    <p:anim calcmode="lin" valueType="num">
                                      <p:cBhvr>
                                        <p:cTn id="11"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anim calcmode="lin" valueType="num">
                                      <p:cBhvr>
                                        <p:cTn id="17" dur="500" fill="hold"/>
                                        <p:tgtEl>
                                          <p:spTgt spid="63"/>
                                        </p:tgtEl>
                                        <p:attrNameLst>
                                          <p:attrName>ppt_w</p:attrName>
                                        </p:attrNameLst>
                                      </p:cBhvr>
                                      <p:tavLst>
                                        <p:tav tm="0">
                                          <p:val>
                                            <p:fltVal val="0"/>
                                          </p:val>
                                        </p:tav>
                                        <p:tav tm="100000">
                                          <p:val>
                                            <p:strVal val="#ppt_w"/>
                                          </p:val>
                                        </p:tav>
                                      </p:tavLst>
                                    </p:anim>
                                    <p:anim calcmode="lin" valueType="num">
                                      <p:cBhvr>
                                        <p:cTn id="18" dur="500" fill="hold"/>
                                        <p:tgtEl>
                                          <p:spTgt spid="63"/>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anim calcmode="lin" valueType="num">
                                      <p:cBhvr>
                                        <p:cTn id="24" dur="500" fill="hold"/>
                                        <p:tgtEl>
                                          <p:spTgt spid="64"/>
                                        </p:tgtEl>
                                        <p:attrNameLst>
                                          <p:attrName>ppt_w</p:attrName>
                                        </p:attrNameLst>
                                      </p:cBhvr>
                                      <p:tavLst>
                                        <p:tav tm="0">
                                          <p:val>
                                            <p:fltVal val="0"/>
                                          </p:val>
                                        </p:tav>
                                        <p:tav tm="100000">
                                          <p:val>
                                            <p:strVal val="#ppt_w"/>
                                          </p:val>
                                        </p:tav>
                                      </p:tavLst>
                                    </p:anim>
                                    <p:anim calcmode="lin" valueType="num">
                                      <p:cBhvr>
                                        <p:cTn id="25"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wipe(left)">
                                      <p:cBhvr>
                                        <p:cTn id="30" dur="700"/>
                                        <p:tgtEl>
                                          <p:spTgt spid="65"/>
                                        </p:tgtEl>
                                      </p:cBhvr>
                                    </p:animEffect>
                                  </p:childTnLst>
                                </p:cTn>
                              </p:par>
                            </p:childTnLst>
                          </p:cTn>
                        </p:par>
                      </p:childTnLst>
                    </p:cTn>
                  </p:par>
                  <p:par>
                    <p:cTn id="44" fill="hold">
                      <p:stCondLst>
                        <p:cond delay="indefinite"/>
                      </p:stCondLst>
                      <p:childTnLst>
                        <p:par>
                          <p:cTn id="45" fill="hold">
                            <p:stCondLst>
                              <p:cond delay="0"/>
                            </p:stCondLst>
                            <p:childTnLst>
                              <p:par>
                                <p:cTn id="38" presetID="53" presetClass="entr" presetSubtype="16" fill="hold" nodeType="clickEffect">
                                  <p:stCondLst>
                                    <p:cond delay="0"/>
                                  </p:stCondLst>
                                  <p:childTnLst>
                                    <p:set>
                                      <p:cBhvr>
                                        <p:cTn id="34" dur="1" fill="hold">
                                          <p:stCondLst>
                                            <p:cond delay="0"/>
                                          </p:stCondLst>
                                        </p:cTn>
                                        <p:tgtEl>
                                          <p:spTgt spid="126"/>
                                        </p:tgtEl>
                                        <p:attrNameLst>
                                          <p:attrName>style.visibility</p:attrName>
                                        </p:attrNameLst>
                                      </p:cBhvr>
                                      <p:to>
                                        <p:strVal val="visible"/>
                                      </p:to>
                                    </p:set>
                                    <p:animEffect transition="in" filter="fade">
                                      <p:cBhvr>
                                        <p:cTn id="35" dur="500"/>
                                        <p:tgtEl>
                                          <p:spTgt spid="126"/>
                                        </p:tgtEl>
                                      </p:cBhvr>
                                    </p:animEffect>
                                    <p:anim calcmode="lin" valueType="num">
                                      <p:cBhvr>
                                        <p:cTn id="36" dur="500" fill="hold"/>
                                        <p:tgtEl>
                                          <p:spTgt spid="126"/>
                                        </p:tgtEl>
                                        <p:attrNameLst>
                                          <p:attrName>ppt_w</p:attrName>
                                        </p:attrNameLst>
                                      </p:cBhvr>
                                      <p:tavLst>
                                        <p:tav tm="0">
                                          <p:val>
                                            <p:fltVal val="0"/>
                                          </p:val>
                                        </p:tav>
                                        <p:tav tm="100000">
                                          <p:val>
                                            <p:strVal val="#ppt_w"/>
                                          </p:val>
                                        </p:tav>
                                      </p:tavLst>
                                    </p:anim>
                                    <p:anim calcmode="lin" valueType="num">
                                      <p:cBhvr>
                                        <p:cTn id="37" dur="500" fill="hold"/>
                                        <p:tgtEl>
                                          <p:spTgt spid="126"/>
                                        </p:tgtEl>
                                        <p:attrNameLst>
                                          <p:attrName>ppt_h</p:attrName>
                                        </p:attrNameLst>
                                      </p:cBhvr>
                                      <p:tavLst>
                                        <p:tav tm="0">
                                          <p:val>
                                            <p:fltVal val="0"/>
                                          </p:val>
                                        </p:tav>
                                        <p:tav tm="100000">
                                          <p:val>
                                            <p:strVal val="#ppt_h"/>
                                          </p:val>
                                        </p:tav>
                                      </p:tavLst>
                                    </p:anim>
                                  </p:childTnLst>
                                </p:cTn>
                              </p:par>
                              <p:par>
                                <p:cTn id="43" presetID="53" presetClass="entr" presetSubtype="16" fill="hold" nodeType="withEffect">
                                  <p:stCondLst>
                                    <p:cond delay="0"/>
                                  </p:stCondLst>
                                  <p:childTnLst>
                                    <p:set>
                                      <p:cBhvr>
                                        <p:cTn id="39" dur="1" fill="hold">
                                          <p:stCondLst>
                                            <p:cond delay="0"/>
                                          </p:stCondLst>
                                        </p:cTn>
                                        <p:tgtEl>
                                          <p:spTgt spid="127"/>
                                        </p:tgtEl>
                                        <p:attrNameLst>
                                          <p:attrName>style.visibility</p:attrName>
                                        </p:attrNameLst>
                                      </p:cBhvr>
                                      <p:to>
                                        <p:strVal val="visible"/>
                                      </p:to>
                                    </p:set>
                                    <p:animEffect transition="in" filter="fade">
                                      <p:cBhvr>
                                        <p:cTn id="40" dur="500"/>
                                        <p:tgtEl>
                                          <p:spTgt spid="127"/>
                                        </p:tgtEl>
                                      </p:cBhvr>
                                    </p:animEffect>
                                    <p:anim calcmode="lin" valueType="num">
                                      <p:cBhvr>
                                        <p:cTn id="41" dur="500" fill="hold"/>
                                        <p:tgtEl>
                                          <p:spTgt spid="127"/>
                                        </p:tgtEl>
                                        <p:attrNameLst>
                                          <p:attrName>ppt_w</p:attrName>
                                        </p:attrNameLst>
                                      </p:cBhvr>
                                      <p:tavLst>
                                        <p:tav tm="0">
                                          <p:val>
                                            <p:fltVal val="0"/>
                                          </p:val>
                                        </p:tav>
                                        <p:tav tm="100000">
                                          <p:val>
                                            <p:strVal val="#ppt_w"/>
                                          </p:val>
                                        </p:tav>
                                      </p:tavLst>
                                    </p:anim>
                                    <p:anim calcmode="lin" valueType="num">
                                      <p:cBhvr>
                                        <p:cTn id="42" dur="500" fill="hold"/>
                                        <p:tgtEl>
                                          <p:spTgt spid="127"/>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53" presetClass="entr" presetSubtype="16" fill="hold" nodeType="clickEffect">
                                  <p:stCondLst>
                                    <p:cond delay="0"/>
                                  </p:stCondLst>
                                  <p:childTnLst>
                                    <p:set>
                                      <p:cBhvr>
                                        <p:cTn id="46" dur="1" fill="hold">
                                          <p:stCondLst>
                                            <p:cond delay="0"/>
                                          </p:stCondLst>
                                        </p:cTn>
                                        <p:tgtEl>
                                          <p:spTgt spid="128"/>
                                        </p:tgtEl>
                                        <p:attrNameLst>
                                          <p:attrName>style.visibility</p:attrName>
                                        </p:attrNameLst>
                                      </p:cBhvr>
                                      <p:to>
                                        <p:strVal val="visible"/>
                                      </p:to>
                                    </p:set>
                                    <p:animEffect transition="in" filter="fade">
                                      <p:cBhvr>
                                        <p:cTn id="47" dur="500"/>
                                        <p:tgtEl>
                                          <p:spTgt spid="128"/>
                                        </p:tgtEl>
                                      </p:cBhvr>
                                    </p:animEffect>
                                    <p:anim calcmode="lin" valueType="num">
                                      <p:cBhvr>
                                        <p:cTn id="48" dur="500" fill="hold"/>
                                        <p:tgtEl>
                                          <p:spTgt spid="128"/>
                                        </p:tgtEl>
                                        <p:attrNameLst>
                                          <p:attrName>ppt_w</p:attrName>
                                        </p:attrNameLst>
                                      </p:cBhvr>
                                      <p:tavLst>
                                        <p:tav tm="0">
                                          <p:val>
                                            <p:fltVal val="0"/>
                                          </p:val>
                                        </p:tav>
                                        <p:tav tm="100000">
                                          <p:val>
                                            <p:strVal val="#ppt_w"/>
                                          </p:val>
                                        </p:tav>
                                      </p:tavLst>
                                    </p:anim>
                                    <p:anim calcmode="lin" valueType="num">
                                      <p:cBhvr>
                                        <p:cTn id="49" dur="500" fill="hold"/>
                                        <p:tgtEl>
                                          <p:spTgt spid="128"/>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nodeType="clickEffect">
                                  <p:stCondLst>
                                    <p:cond delay="0"/>
                                  </p:stCondLst>
                                  <p:childTnLst>
                                    <p:set>
                                      <p:cBhvr>
                                        <p:cTn id="53" dur="1" fill="hold">
                                          <p:stCondLst>
                                            <p:cond delay="0"/>
                                          </p:stCondLst>
                                        </p:cTn>
                                        <p:tgtEl>
                                          <p:spTgt spid="129"/>
                                        </p:tgtEl>
                                        <p:attrNameLst>
                                          <p:attrName>style.visibility</p:attrName>
                                        </p:attrNameLst>
                                      </p:cBhvr>
                                      <p:to>
                                        <p:strVal val="visible"/>
                                      </p:to>
                                    </p:set>
                                    <p:animEffect transition="in" filter="fade">
                                      <p:cBhvr>
                                        <p:cTn id="54" dur="500"/>
                                        <p:tgtEl>
                                          <p:spTgt spid="129"/>
                                        </p:tgtEl>
                                      </p:cBhvr>
                                    </p:animEffect>
                                    <p:anim calcmode="lin" valueType="num">
                                      <p:cBhvr>
                                        <p:cTn id="55" dur="500" fill="hold"/>
                                        <p:tgtEl>
                                          <p:spTgt spid="129"/>
                                        </p:tgtEl>
                                        <p:attrNameLst>
                                          <p:attrName>ppt_w</p:attrName>
                                        </p:attrNameLst>
                                      </p:cBhvr>
                                      <p:tavLst>
                                        <p:tav tm="0">
                                          <p:val>
                                            <p:fltVal val="0"/>
                                          </p:val>
                                        </p:tav>
                                        <p:tav tm="100000">
                                          <p:val>
                                            <p:strVal val="#ppt_w"/>
                                          </p:val>
                                        </p:tav>
                                      </p:tavLst>
                                    </p:anim>
                                    <p:anim calcmode="lin" valueType="num">
                                      <p:cBhvr>
                                        <p:cTn id="56" dur="500" fill="hold"/>
                                        <p:tgtEl>
                                          <p:spTgt spid="129"/>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2" presetID="22" presetClass="entr" presetSubtype="8" fill="hold" nodeType="clickEffect">
                                  <p:stCondLst>
                                    <p:cond delay="0"/>
                                  </p:stCondLst>
                                  <p:childTnLst>
                                    <p:set>
                                      <p:cBhvr>
                                        <p:cTn id="60" dur="1" fill="hold">
                                          <p:stCondLst>
                                            <p:cond delay="0"/>
                                          </p:stCondLst>
                                        </p:cTn>
                                        <p:tgtEl>
                                          <p:spTgt spid="130"/>
                                        </p:tgtEl>
                                        <p:attrNameLst>
                                          <p:attrName>style.visibility</p:attrName>
                                        </p:attrNameLst>
                                      </p:cBhvr>
                                      <p:to>
                                        <p:strVal val="visible"/>
                                      </p:to>
                                    </p:set>
                                    <p:animEffect transition="in" filter="wipe(left)">
                                      <p:cBhvr>
                                        <p:cTn id="61" dur="7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5.2 · Question 3 · SE p. 225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The underwater ROV</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An ROV is lowered from a boat at </a:t>
            </a:r>
            <a:r>
              <a:rPr lang="en-US" sz="1575" dirty="0" b="1">
                <a:solidFill>
                  <a:srgbClr val="16171D"/>
                </a:solidFill>
                <a:latin typeface="Segoe UI"/>
                <a:cs typeface="Segoe UI"/>
              </a:rPr>
              <a:t xml:space="preserve">0.3 meters per second</a:t>
            </a:r>
            <a:r>
              <a:rPr lang="en-US" sz="1575" dirty="0">
                <a:solidFill>
                  <a:srgbClr val="16171D"/>
                </a:solidFill>
                <a:latin typeface="Segoe UI"/>
                <a:cs typeface="Segoe UI"/>
              </a:rPr>
              <a:t xml:space="preserve">. After </a:t>
            </a:r>
            <a:r>
              <a:rPr lang="en-US" sz="1575" dirty="0" b="1">
                <a:solidFill>
                  <a:srgbClr val="16171D"/>
                </a:solidFill>
                <a:latin typeface="Segoe UI"/>
                <a:cs typeface="Segoe UI"/>
              </a:rPr>
              <a:t xml:space="preserve">90 seconds</a:t>
            </a:r>
            <a:r>
              <a:rPr lang="en-US" sz="1575" dirty="0">
                <a:solidFill>
                  <a:srgbClr val="16171D"/>
                </a:solidFill>
                <a:latin typeface="Segoe UI"/>
                <a:cs typeface="Segoe UI"/>
              </a:rPr>
              <a:t xml:space="preserve">, it is at a depth of </a:t>
            </a:r>
            <a:r>
              <a:rPr lang="en-US" sz="1575" dirty="0" b="1">
                <a:solidFill>
                  <a:srgbClr val="16171D"/>
                </a:solidFill>
                <a:latin typeface="Segoe UI"/>
                <a:cs typeface="Segoe UI"/>
              </a:rPr>
              <a:t xml:space="preserve">−25.8 meters</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084832"/>
            <a:ext cx="66671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time in seconds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depth in meters.</a:t>
            </a:r>
            <a:endParaRPr lang="en-US" sz="1575" dirty="0"/>
          </a:p>
        </p:txBody>
      </p:sp>
      <p:sp>
        <p:nvSpPr>
          <p:cNvPr id="6" name="Shape 6"/>
          <p:cNvSpPr txBox="1"/>
          <p:nvPr/>
        </p:nvSpPr>
        <p:spPr>
          <a:xfrm>
            <a:off x="685800" y="2474976"/>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Going down → </a:t>
            </a:r>
            <a:r>
              <a:rPr lang="en-US" sz="1575" dirty="0" b="1">
                <a:solidFill>
                  <a:srgbClr val="C9561F"/>
                </a:solidFill>
                <a:latin typeface="Segoe UI"/>
                <a:cs typeface="Segoe UI"/>
              </a:rPr>
              <a:t xml:space="preserve">slope −0.3</a:t>
            </a:r>
            <a:r>
              <a:rPr lang="en-US" sz="1575" dirty="0">
                <a:solidFill>
                  <a:srgbClr val="16171D"/>
                </a:solidFill>
                <a:latin typeface="Segoe UI"/>
                <a:cs typeface="Segoe UI"/>
              </a:rPr>
              <a:t xml:space="preserve">. After 90 s at −25.8 m → </a:t>
            </a:r>
            <a:r>
              <a:rPr lang="en-US" sz="1575" dirty="0" b="1">
                <a:solidFill>
                  <a:srgbClr val="3050B8"/>
                </a:solidFill>
                <a:latin typeface="Segoe UI"/>
                <a:cs typeface="Segoe UI"/>
              </a:rPr>
              <a:t xml:space="preserve">point (90, −25.8)</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3105150"/>
            <a:ext cx="66671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−25.8</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−0.3</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90</a:t>
            </a:r>
            <a:r>
              <a:rPr lang="en-US" sz="2325" dirty="0">
                <a:solidFill>
                  <a:srgbClr val="16171D"/>
                </a:solidFill>
                <a:latin typeface="Cambria"/>
                <a:cs typeface="Cambria"/>
              </a:rPr>
              <a:t xml:space="preserve">)</a:t>
            </a:r>
            <a:endParaRPr lang="en-US" sz="2325" dirty="0"/>
          </a:p>
        </p:txBody>
      </p:sp>
      <p:sp>
        <p:nvSpPr>
          <p:cNvPr id="8" name="Shape 8"/>
          <p:cNvSpPr txBox="1"/>
          <p:nvPr/>
        </p:nvSpPr>
        <p:spPr>
          <a:xfrm>
            <a:off x="685800" y="3609594"/>
            <a:ext cx="572707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25.8</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−0.3</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90</a:t>
            </a:r>
            <a:r>
              <a:rPr lang="en-US" sz="2325" dirty="0">
                <a:solidFill>
                  <a:srgbClr val="16171D"/>
                </a:solidFill>
                <a:latin typeface="Cambria"/>
                <a:cs typeface="Cambria"/>
              </a:rPr>
              <a:t xml:space="preserve">)</a:t>
            </a:r>
            <a:endParaRPr lang="en-US" sz="2325" dirty="0"/>
          </a:p>
        </p:txBody>
      </p:sp>
      <p:sp>
        <p:nvSpPr>
          <p:cNvPr id="9" name="Shape 9"/>
          <p:cNvSpPr txBox="1"/>
          <p:nvPr/>
        </p:nvSpPr>
        <p:spPr>
          <a:xfrm>
            <a:off x="685800" y="4223766"/>
            <a:ext cx="66671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To graph, write the slope as </a:t>
            </a:r>
            <a:r>
              <a:rPr lang="en-US" sz="1575" dirty="0" b="1">
                <a:solidFill>
                  <a:srgbClr val="C9561F"/>
                </a:solidFill>
                <a:latin typeface="Cambria"/>
                <a:cs typeface="Cambria"/>
              </a:rPr>
              <a:t xml:space="preserve">−6</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20</a:t>
            </a:r>
            <a:r>
              <a:rPr lang="en-US" sz="1575" dirty="0">
                <a:solidFill>
                  <a:srgbClr val="16171D"/>
                </a:solidFill>
                <a:latin typeface="Segoe UI"/>
                <a:cs typeface="Segoe UI"/>
              </a:rPr>
              <a:t xml:space="preserve">: down 6 m for every 20 s.</a:t>
            </a:r>
            <a:endParaRPr lang="en-US" sz="1575" dirty="0"/>
          </a:p>
        </p:txBody>
      </p:sp>
      <p:sp>
        <p:nvSpPr>
          <p:cNvPr id="10" name="Shape 10"/>
          <p:cNvSpPr/>
          <p:nvPr/>
        </p:nvSpPr>
        <p:spPr>
          <a:xfrm>
            <a:off x="7695895" y="2084832"/>
            <a:ext cx="3810000" cy="3429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019745" y="2199132"/>
            <a:ext cx="0" cy="3067050"/>
          </a:xfrm>
          <a:prstGeom prst="line">
            <a:avLst/>
          </a:prstGeom>
          <a:ln w="9525" cap="flat">
            <a:solidFill>
              <a:srgbClr val="E6E8F2"/>
            </a:solidFill>
          </a:ln>
        </p:spPr>
      </p:cxnSp>
      <p:cxnSp>
        <p:nvCxnSpPr>
          <p:cNvPr id="12" name="Line 12"/>
          <p:cNvCxnSpPr/>
          <p:nvPr/>
        </p:nvCxnSpPr>
        <p:spPr>
          <a:xfrm>
            <a:off x="8207070" y="2199132"/>
            <a:ext cx="0" cy="3067050"/>
          </a:xfrm>
          <a:prstGeom prst="line">
            <a:avLst/>
          </a:prstGeom>
          <a:ln w="9525" cap="flat">
            <a:solidFill>
              <a:srgbClr val="E6E8F2"/>
            </a:solidFill>
          </a:ln>
        </p:spPr>
      </p:cxnSp>
      <p:cxnSp>
        <p:nvCxnSpPr>
          <p:cNvPr id="13" name="Line 13"/>
          <p:cNvCxnSpPr/>
          <p:nvPr/>
        </p:nvCxnSpPr>
        <p:spPr>
          <a:xfrm>
            <a:off x="8394395" y="2199132"/>
            <a:ext cx="0" cy="3067050"/>
          </a:xfrm>
          <a:prstGeom prst="line">
            <a:avLst/>
          </a:prstGeom>
          <a:ln w="9525" cap="flat">
            <a:solidFill>
              <a:srgbClr val="E6E8F2"/>
            </a:solidFill>
          </a:ln>
        </p:spPr>
      </p:cxnSp>
      <p:cxnSp>
        <p:nvCxnSpPr>
          <p:cNvPr id="14" name="Line 14"/>
          <p:cNvCxnSpPr/>
          <p:nvPr/>
        </p:nvCxnSpPr>
        <p:spPr>
          <a:xfrm>
            <a:off x="8581720" y="2199132"/>
            <a:ext cx="0" cy="3067050"/>
          </a:xfrm>
          <a:prstGeom prst="line">
            <a:avLst/>
          </a:prstGeom>
          <a:ln w="9525" cap="flat">
            <a:solidFill>
              <a:srgbClr val="E6E8F2"/>
            </a:solidFill>
          </a:ln>
        </p:spPr>
      </p:cxnSp>
      <p:cxnSp>
        <p:nvCxnSpPr>
          <p:cNvPr id="15" name="Line 15"/>
          <p:cNvCxnSpPr/>
          <p:nvPr/>
        </p:nvCxnSpPr>
        <p:spPr>
          <a:xfrm>
            <a:off x="8769045" y="2199132"/>
            <a:ext cx="0" cy="3067050"/>
          </a:xfrm>
          <a:prstGeom prst="line">
            <a:avLst/>
          </a:prstGeom>
          <a:ln w="9525" cap="flat">
            <a:solidFill>
              <a:srgbClr val="E6E8F2"/>
            </a:solidFill>
          </a:ln>
        </p:spPr>
      </p:cxnSp>
      <p:cxnSp>
        <p:nvCxnSpPr>
          <p:cNvPr id="16" name="Line 16"/>
          <p:cNvCxnSpPr/>
          <p:nvPr/>
        </p:nvCxnSpPr>
        <p:spPr>
          <a:xfrm>
            <a:off x="8956370" y="2199132"/>
            <a:ext cx="0" cy="3067050"/>
          </a:xfrm>
          <a:prstGeom prst="line">
            <a:avLst/>
          </a:prstGeom>
          <a:ln w="9525" cap="flat">
            <a:solidFill>
              <a:srgbClr val="E6E8F2"/>
            </a:solidFill>
          </a:ln>
        </p:spPr>
      </p:cxnSp>
      <p:cxnSp>
        <p:nvCxnSpPr>
          <p:cNvPr id="17" name="Line 17"/>
          <p:cNvCxnSpPr/>
          <p:nvPr/>
        </p:nvCxnSpPr>
        <p:spPr>
          <a:xfrm>
            <a:off x="9143695" y="2199132"/>
            <a:ext cx="0" cy="3067050"/>
          </a:xfrm>
          <a:prstGeom prst="line">
            <a:avLst/>
          </a:prstGeom>
          <a:ln w="9525" cap="flat">
            <a:solidFill>
              <a:srgbClr val="E6E8F2"/>
            </a:solidFill>
          </a:ln>
        </p:spPr>
      </p:cxnSp>
      <p:cxnSp>
        <p:nvCxnSpPr>
          <p:cNvPr id="18" name="Line 18"/>
          <p:cNvCxnSpPr/>
          <p:nvPr/>
        </p:nvCxnSpPr>
        <p:spPr>
          <a:xfrm>
            <a:off x="9331020" y="2199132"/>
            <a:ext cx="0" cy="3067050"/>
          </a:xfrm>
          <a:prstGeom prst="line">
            <a:avLst/>
          </a:prstGeom>
          <a:ln w="9525" cap="flat">
            <a:solidFill>
              <a:srgbClr val="E6E8F2"/>
            </a:solidFill>
          </a:ln>
        </p:spPr>
      </p:cxnSp>
      <p:cxnSp>
        <p:nvCxnSpPr>
          <p:cNvPr id="19" name="Line 19"/>
          <p:cNvCxnSpPr/>
          <p:nvPr/>
        </p:nvCxnSpPr>
        <p:spPr>
          <a:xfrm>
            <a:off x="9518345" y="2199132"/>
            <a:ext cx="0" cy="3067050"/>
          </a:xfrm>
          <a:prstGeom prst="line">
            <a:avLst/>
          </a:prstGeom>
          <a:ln w="9525" cap="flat">
            <a:solidFill>
              <a:srgbClr val="E6E8F2"/>
            </a:solidFill>
          </a:ln>
        </p:spPr>
      </p:cxnSp>
      <p:cxnSp>
        <p:nvCxnSpPr>
          <p:cNvPr id="20" name="Line 20"/>
          <p:cNvCxnSpPr/>
          <p:nvPr/>
        </p:nvCxnSpPr>
        <p:spPr>
          <a:xfrm>
            <a:off x="9705670" y="2199132"/>
            <a:ext cx="0" cy="3067050"/>
          </a:xfrm>
          <a:prstGeom prst="line">
            <a:avLst/>
          </a:prstGeom>
          <a:ln w="9525" cap="flat">
            <a:solidFill>
              <a:srgbClr val="E6E8F2"/>
            </a:solidFill>
          </a:ln>
        </p:spPr>
      </p:cxnSp>
      <p:cxnSp>
        <p:nvCxnSpPr>
          <p:cNvPr id="21" name="Line 21"/>
          <p:cNvCxnSpPr/>
          <p:nvPr/>
        </p:nvCxnSpPr>
        <p:spPr>
          <a:xfrm>
            <a:off x="9892995" y="2199132"/>
            <a:ext cx="0" cy="3067050"/>
          </a:xfrm>
          <a:prstGeom prst="line">
            <a:avLst/>
          </a:prstGeom>
          <a:ln w="9525" cap="flat">
            <a:solidFill>
              <a:srgbClr val="E6E8F2"/>
            </a:solidFill>
          </a:ln>
        </p:spPr>
      </p:cxnSp>
      <p:cxnSp>
        <p:nvCxnSpPr>
          <p:cNvPr id="22" name="Line 22"/>
          <p:cNvCxnSpPr/>
          <p:nvPr/>
        </p:nvCxnSpPr>
        <p:spPr>
          <a:xfrm>
            <a:off x="10080320" y="2199132"/>
            <a:ext cx="0" cy="3067050"/>
          </a:xfrm>
          <a:prstGeom prst="line">
            <a:avLst/>
          </a:prstGeom>
          <a:ln w="9525" cap="flat">
            <a:solidFill>
              <a:srgbClr val="E6E8F2"/>
            </a:solidFill>
          </a:ln>
        </p:spPr>
      </p:cxnSp>
      <p:cxnSp>
        <p:nvCxnSpPr>
          <p:cNvPr id="23" name="Line 23"/>
          <p:cNvCxnSpPr/>
          <p:nvPr/>
        </p:nvCxnSpPr>
        <p:spPr>
          <a:xfrm>
            <a:off x="10267645" y="2199132"/>
            <a:ext cx="0" cy="3067050"/>
          </a:xfrm>
          <a:prstGeom prst="line">
            <a:avLst/>
          </a:prstGeom>
          <a:ln w="9525" cap="flat">
            <a:solidFill>
              <a:srgbClr val="E6E8F2"/>
            </a:solidFill>
          </a:ln>
        </p:spPr>
      </p:cxnSp>
      <p:cxnSp>
        <p:nvCxnSpPr>
          <p:cNvPr id="24" name="Line 24"/>
          <p:cNvCxnSpPr/>
          <p:nvPr/>
        </p:nvCxnSpPr>
        <p:spPr>
          <a:xfrm>
            <a:off x="10454970" y="2199132"/>
            <a:ext cx="0" cy="3067050"/>
          </a:xfrm>
          <a:prstGeom prst="line">
            <a:avLst/>
          </a:prstGeom>
          <a:ln w="9525" cap="flat">
            <a:solidFill>
              <a:srgbClr val="E6E8F2"/>
            </a:solidFill>
          </a:ln>
        </p:spPr>
      </p:cxnSp>
      <p:cxnSp>
        <p:nvCxnSpPr>
          <p:cNvPr id="25" name="Line 25"/>
          <p:cNvCxnSpPr/>
          <p:nvPr/>
        </p:nvCxnSpPr>
        <p:spPr>
          <a:xfrm>
            <a:off x="10642295" y="2199132"/>
            <a:ext cx="0" cy="3067050"/>
          </a:xfrm>
          <a:prstGeom prst="line">
            <a:avLst/>
          </a:prstGeom>
          <a:ln w="9525" cap="flat">
            <a:solidFill>
              <a:srgbClr val="E6E8F2"/>
            </a:solidFill>
          </a:ln>
        </p:spPr>
      </p:cxnSp>
      <p:cxnSp>
        <p:nvCxnSpPr>
          <p:cNvPr id="26" name="Line 26"/>
          <p:cNvCxnSpPr/>
          <p:nvPr/>
        </p:nvCxnSpPr>
        <p:spPr>
          <a:xfrm>
            <a:off x="10829620" y="2199132"/>
            <a:ext cx="0" cy="3067050"/>
          </a:xfrm>
          <a:prstGeom prst="line">
            <a:avLst/>
          </a:prstGeom>
          <a:ln w="9525" cap="flat">
            <a:solidFill>
              <a:srgbClr val="E6E8F2"/>
            </a:solidFill>
          </a:ln>
        </p:spPr>
      </p:cxnSp>
      <p:cxnSp>
        <p:nvCxnSpPr>
          <p:cNvPr id="27" name="Line 27"/>
          <p:cNvCxnSpPr/>
          <p:nvPr/>
        </p:nvCxnSpPr>
        <p:spPr>
          <a:xfrm>
            <a:off x="11016945" y="2199132"/>
            <a:ext cx="0" cy="3067050"/>
          </a:xfrm>
          <a:prstGeom prst="line">
            <a:avLst/>
          </a:prstGeom>
          <a:ln w="9525" cap="flat">
            <a:solidFill>
              <a:srgbClr val="E6E8F2"/>
            </a:solidFill>
          </a:ln>
        </p:spPr>
      </p:cxnSp>
      <p:cxnSp>
        <p:nvCxnSpPr>
          <p:cNvPr id="28" name="Line 28"/>
          <p:cNvCxnSpPr/>
          <p:nvPr/>
        </p:nvCxnSpPr>
        <p:spPr>
          <a:xfrm>
            <a:off x="11204270" y="2199132"/>
            <a:ext cx="0" cy="3067050"/>
          </a:xfrm>
          <a:prstGeom prst="line">
            <a:avLst/>
          </a:prstGeom>
          <a:ln w="9525" cap="flat">
            <a:solidFill>
              <a:srgbClr val="E6E8F2"/>
            </a:solidFill>
          </a:ln>
        </p:spPr>
      </p:cxnSp>
      <p:cxnSp>
        <p:nvCxnSpPr>
          <p:cNvPr id="29" name="Line 29"/>
          <p:cNvCxnSpPr/>
          <p:nvPr/>
        </p:nvCxnSpPr>
        <p:spPr>
          <a:xfrm>
            <a:off x="11391595" y="2199132"/>
            <a:ext cx="0" cy="3067050"/>
          </a:xfrm>
          <a:prstGeom prst="line">
            <a:avLst/>
          </a:prstGeom>
          <a:ln w="9525" cap="flat">
            <a:solidFill>
              <a:srgbClr val="E6E8F2"/>
            </a:solidFill>
          </a:ln>
        </p:spPr>
      </p:cxnSp>
      <p:cxnSp>
        <p:nvCxnSpPr>
          <p:cNvPr id="30" name="Line 30"/>
          <p:cNvCxnSpPr/>
          <p:nvPr/>
        </p:nvCxnSpPr>
        <p:spPr>
          <a:xfrm>
            <a:off x="8019745" y="5266182"/>
            <a:ext cx="3371850" cy="0"/>
          </a:xfrm>
          <a:prstGeom prst="line">
            <a:avLst/>
          </a:prstGeom>
          <a:ln w="9525" cap="flat">
            <a:solidFill>
              <a:srgbClr val="E6E8F2"/>
            </a:solidFill>
          </a:ln>
        </p:spPr>
      </p:cxnSp>
      <p:cxnSp>
        <p:nvCxnSpPr>
          <p:cNvPr id="31" name="Line 31"/>
          <p:cNvCxnSpPr/>
          <p:nvPr/>
        </p:nvCxnSpPr>
        <p:spPr>
          <a:xfrm>
            <a:off x="8019745" y="5074491"/>
            <a:ext cx="3371850" cy="0"/>
          </a:xfrm>
          <a:prstGeom prst="line">
            <a:avLst/>
          </a:prstGeom>
          <a:ln w="9525" cap="flat">
            <a:solidFill>
              <a:srgbClr val="E6E8F2"/>
            </a:solidFill>
          </a:ln>
        </p:spPr>
      </p:cxnSp>
      <p:cxnSp>
        <p:nvCxnSpPr>
          <p:cNvPr id="32" name="Line 32"/>
          <p:cNvCxnSpPr/>
          <p:nvPr/>
        </p:nvCxnSpPr>
        <p:spPr>
          <a:xfrm>
            <a:off x="8019745" y="4882801"/>
            <a:ext cx="3371850" cy="0"/>
          </a:xfrm>
          <a:prstGeom prst="line">
            <a:avLst/>
          </a:prstGeom>
          <a:ln w="9525" cap="flat">
            <a:solidFill>
              <a:srgbClr val="E6E8F2"/>
            </a:solidFill>
          </a:ln>
        </p:spPr>
      </p:cxnSp>
      <p:cxnSp>
        <p:nvCxnSpPr>
          <p:cNvPr id="33" name="Line 33"/>
          <p:cNvCxnSpPr/>
          <p:nvPr/>
        </p:nvCxnSpPr>
        <p:spPr>
          <a:xfrm>
            <a:off x="8019745" y="4691110"/>
            <a:ext cx="3371850" cy="0"/>
          </a:xfrm>
          <a:prstGeom prst="line">
            <a:avLst/>
          </a:prstGeom>
          <a:ln w="9525" cap="flat">
            <a:solidFill>
              <a:srgbClr val="E6E8F2"/>
            </a:solidFill>
          </a:ln>
        </p:spPr>
      </p:cxnSp>
      <p:cxnSp>
        <p:nvCxnSpPr>
          <p:cNvPr id="34" name="Line 34"/>
          <p:cNvCxnSpPr/>
          <p:nvPr/>
        </p:nvCxnSpPr>
        <p:spPr>
          <a:xfrm>
            <a:off x="8019745" y="4499420"/>
            <a:ext cx="3371850" cy="0"/>
          </a:xfrm>
          <a:prstGeom prst="line">
            <a:avLst/>
          </a:prstGeom>
          <a:ln w="9525" cap="flat">
            <a:solidFill>
              <a:srgbClr val="E6E8F2"/>
            </a:solidFill>
          </a:ln>
        </p:spPr>
      </p:cxnSp>
      <p:cxnSp>
        <p:nvCxnSpPr>
          <p:cNvPr id="35" name="Line 35"/>
          <p:cNvCxnSpPr/>
          <p:nvPr/>
        </p:nvCxnSpPr>
        <p:spPr>
          <a:xfrm>
            <a:off x="8019745" y="4307729"/>
            <a:ext cx="3371850" cy="0"/>
          </a:xfrm>
          <a:prstGeom prst="line">
            <a:avLst/>
          </a:prstGeom>
          <a:ln w="9525" cap="flat">
            <a:solidFill>
              <a:srgbClr val="E6E8F2"/>
            </a:solidFill>
          </a:ln>
        </p:spPr>
      </p:cxnSp>
      <p:cxnSp>
        <p:nvCxnSpPr>
          <p:cNvPr id="36" name="Line 36"/>
          <p:cNvCxnSpPr/>
          <p:nvPr/>
        </p:nvCxnSpPr>
        <p:spPr>
          <a:xfrm>
            <a:off x="8019745" y="4116038"/>
            <a:ext cx="3371850" cy="0"/>
          </a:xfrm>
          <a:prstGeom prst="line">
            <a:avLst/>
          </a:prstGeom>
          <a:ln w="9525" cap="flat">
            <a:solidFill>
              <a:srgbClr val="E6E8F2"/>
            </a:solidFill>
          </a:ln>
        </p:spPr>
      </p:cxnSp>
      <p:cxnSp>
        <p:nvCxnSpPr>
          <p:cNvPr id="37" name="Line 37"/>
          <p:cNvCxnSpPr/>
          <p:nvPr/>
        </p:nvCxnSpPr>
        <p:spPr>
          <a:xfrm>
            <a:off x="8019745" y="3924348"/>
            <a:ext cx="3371850" cy="0"/>
          </a:xfrm>
          <a:prstGeom prst="line">
            <a:avLst/>
          </a:prstGeom>
          <a:ln w="9525" cap="flat">
            <a:solidFill>
              <a:srgbClr val="E6E8F2"/>
            </a:solidFill>
          </a:ln>
        </p:spPr>
      </p:cxnSp>
      <p:cxnSp>
        <p:nvCxnSpPr>
          <p:cNvPr id="38" name="Line 38"/>
          <p:cNvCxnSpPr/>
          <p:nvPr/>
        </p:nvCxnSpPr>
        <p:spPr>
          <a:xfrm>
            <a:off x="8019745" y="3732657"/>
            <a:ext cx="3371850" cy="0"/>
          </a:xfrm>
          <a:prstGeom prst="line">
            <a:avLst/>
          </a:prstGeom>
          <a:ln w="9525" cap="flat">
            <a:solidFill>
              <a:srgbClr val="E6E8F2"/>
            </a:solidFill>
          </a:ln>
        </p:spPr>
      </p:cxnSp>
      <p:cxnSp>
        <p:nvCxnSpPr>
          <p:cNvPr id="39" name="Line 39"/>
          <p:cNvCxnSpPr/>
          <p:nvPr/>
        </p:nvCxnSpPr>
        <p:spPr>
          <a:xfrm>
            <a:off x="8019745" y="3540966"/>
            <a:ext cx="3371850" cy="0"/>
          </a:xfrm>
          <a:prstGeom prst="line">
            <a:avLst/>
          </a:prstGeom>
          <a:ln w="9525" cap="flat">
            <a:solidFill>
              <a:srgbClr val="E6E8F2"/>
            </a:solidFill>
          </a:ln>
        </p:spPr>
      </p:cxnSp>
      <p:cxnSp>
        <p:nvCxnSpPr>
          <p:cNvPr id="40" name="Line 40"/>
          <p:cNvCxnSpPr/>
          <p:nvPr/>
        </p:nvCxnSpPr>
        <p:spPr>
          <a:xfrm>
            <a:off x="8019745" y="3349276"/>
            <a:ext cx="3371850" cy="0"/>
          </a:xfrm>
          <a:prstGeom prst="line">
            <a:avLst/>
          </a:prstGeom>
          <a:ln w="9525" cap="flat">
            <a:solidFill>
              <a:srgbClr val="E6E8F2"/>
            </a:solidFill>
          </a:ln>
        </p:spPr>
      </p:cxnSp>
      <p:cxnSp>
        <p:nvCxnSpPr>
          <p:cNvPr id="41" name="Line 41"/>
          <p:cNvCxnSpPr/>
          <p:nvPr/>
        </p:nvCxnSpPr>
        <p:spPr>
          <a:xfrm>
            <a:off x="8019745" y="3157585"/>
            <a:ext cx="3371850" cy="0"/>
          </a:xfrm>
          <a:prstGeom prst="line">
            <a:avLst/>
          </a:prstGeom>
          <a:ln w="9525" cap="flat">
            <a:solidFill>
              <a:srgbClr val="E6E8F2"/>
            </a:solidFill>
          </a:ln>
        </p:spPr>
      </p:cxnSp>
      <p:cxnSp>
        <p:nvCxnSpPr>
          <p:cNvPr id="42" name="Line 42"/>
          <p:cNvCxnSpPr/>
          <p:nvPr/>
        </p:nvCxnSpPr>
        <p:spPr>
          <a:xfrm>
            <a:off x="8019745" y="2965894"/>
            <a:ext cx="3371850" cy="0"/>
          </a:xfrm>
          <a:prstGeom prst="line">
            <a:avLst/>
          </a:prstGeom>
          <a:ln w="9525" cap="flat">
            <a:solidFill>
              <a:srgbClr val="E6E8F2"/>
            </a:solidFill>
          </a:ln>
        </p:spPr>
      </p:cxnSp>
      <p:cxnSp>
        <p:nvCxnSpPr>
          <p:cNvPr id="43" name="Line 43"/>
          <p:cNvCxnSpPr/>
          <p:nvPr/>
        </p:nvCxnSpPr>
        <p:spPr>
          <a:xfrm>
            <a:off x="8019745" y="2774204"/>
            <a:ext cx="3371850" cy="0"/>
          </a:xfrm>
          <a:prstGeom prst="line">
            <a:avLst/>
          </a:prstGeom>
          <a:ln w="9525" cap="flat">
            <a:solidFill>
              <a:srgbClr val="E6E8F2"/>
            </a:solidFill>
          </a:ln>
        </p:spPr>
      </p:cxnSp>
      <p:cxnSp>
        <p:nvCxnSpPr>
          <p:cNvPr id="44" name="Line 44"/>
          <p:cNvCxnSpPr/>
          <p:nvPr/>
        </p:nvCxnSpPr>
        <p:spPr>
          <a:xfrm>
            <a:off x="8019745" y="2582513"/>
            <a:ext cx="3371850" cy="0"/>
          </a:xfrm>
          <a:prstGeom prst="line">
            <a:avLst/>
          </a:prstGeom>
          <a:ln w="9525" cap="flat">
            <a:solidFill>
              <a:srgbClr val="E6E8F2"/>
            </a:solidFill>
          </a:ln>
        </p:spPr>
      </p:cxnSp>
      <p:cxnSp>
        <p:nvCxnSpPr>
          <p:cNvPr id="45" name="Line 45"/>
          <p:cNvCxnSpPr/>
          <p:nvPr/>
        </p:nvCxnSpPr>
        <p:spPr>
          <a:xfrm>
            <a:off x="8019745" y="2390823"/>
            <a:ext cx="3371850" cy="0"/>
          </a:xfrm>
          <a:prstGeom prst="line">
            <a:avLst/>
          </a:prstGeom>
          <a:ln w="9525" cap="flat">
            <a:solidFill>
              <a:srgbClr val="E6E8F2"/>
            </a:solidFill>
          </a:ln>
        </p:spPr>
      </p:cxnSp>
      <p:cxnSp>
        <p:nvCxnSpPr>
          <p:cNvPr id="46" name="Line 46"/>
          <p:cNvCxnSpPr/>
          <p:nvPr/>
        </p:nvCxnSpPr>
        <p:spPr>
          <a:xfrm>
            <a:off x="8019745" y="2199132"/>
            <a:ext cx="3371850" cy="0"/>
          </a:xfrm>
          <a:prstGeom prst="line">
            <a:avLst/>
          </a:prstGeom>
          <a:ln w="9525" cap="flat">
            <a:solidFill>
              <a:srgbClr val="E6E8F2"/>
            </a:solidFill>
          </a:ln>
        </p:spPr>
      </p:cxnSp>
      <p:cxnSp>
        <p:nvCxnSpPr>
          <p:cNvPr id="47" name="Line 47"/>
          <p:cNvCxnSpPr/>
          <p:nvPr/>
        </p:nvCxnSpPr>
        <p:spPr>
          <a:xfrm>
            <a:off x="8019745" y="2199132"/>
            <a:ext cx="0" cy="3067050"/>
          </a:xfrm>
          <a:prstGeom prst="line">
            <a:avLst/>
          </a:prstGeom>
          <a:ln w="19050" cap="flat">
            <a:solidFill>
              <a:srgbClr val="5F6272"/>
            </a:solidFill>
          </a:ln>
        </p:spPr>
      </p:cxnSp>
      <p:cxnSp>
        <p:nvCxnSpPr>
          <p:cNvPr id="48" name="Line 48"/>
          <p:cNvCxnSpPr/>
          <p:nvPr/>
        </p:nvCxnSpPr>
        <p:spPr>
          <a:xfrm>
            <a:off x="8019745" y="2582513"/>
            <a:ext cx="3371850" cy="0"/>
          </a:xfrm>
          <a:prstGeom prst="line">
            <a:avLst/>
          </a:prstGeom>
          <a:ln w="19050" cap="flat">
            <a:solidFill>
              <a:srgbClr val="5F6272"/>
            </a:solidFill>
          </a:ln>
        </p:spPr>
      </p:cxnSp>
      <p:sp>
        <p:nvSpPr>
          <p:cNvPr id="49" name="Shape 49"/>
          <p:cNvSpPr txBox="1"/>
          <p:nvPr/>
        </p:nvSpPr>
        <p:spPr>
          <a:xfrm>
            <a:off x="77454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81200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51" name="Shape 51"/>
          <p:cNvSpPr txBox="1"/>
          <p:nvPr/>
        </p:nvSpPr>
        <p:spPr>
          <a:xfrm>
            <a:off x="84947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40</a:t>
            </a:r>
            <a:endParaRPr lang="en-US" sz="975" dirty="0"/>
          </a:p>
        </p:txBody>
      </p:sp>
      <p:sp>
        <p:nvSpPr>
          <p:cNvPr id="52" name="Shape 52"/>
          <p:cNvSpPr txBox="1"/>
          <p:nvPr/>
        </p:nvSpPr>
        <p:spPr>
          <a:xfrm>
            <a:off x="88693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60</a:t>
            </a:r>
            <a:endParaRPr lang="en-US" sz="975" dirty="0"/>
          </a:p>
        </p:txBody>
      </p:sp>
      <p:sp>
        <p:nvSpPr>
          <p:cNvPr id="53" name="Shape 53"/>
          <p:cNvSpPr txBox="1"/>
          <p:nvPr/>
        </p:nvSpPr>
        <p:spPr>
          <a:xfrm>
            <a:off x="92440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80</a:t>
            </a:r>
            <a:endParaRPr lang="en-US" sz="975" dirty="0"/>
          </a:p>
        </p:txBody>
      </p:sp>
      <p:sp>
        <p:nvSpPr>
          <p:cNvPr id="54" name="Shape 54"/>
          <p:cNvSpPr txBox="1"/>
          <p:nvPr/>
        </p:nvSpPr>
        <p:spPr>
          <a:xfrm>
            <a:off x="96186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100</a:t>
            </a:r>
            <a:endParaRPr lang="en-US" sz="975" dirty="0"/>
          </a:p>
        </p:txBody>
      </p:sp>
      <p:sp>
        <p:nvSpPr>
          <p:cNvPr id="55" name="Shape 55"/>
          <p:cNvSpPr txBox="1"/>
          <p:nvPr/>
        </p:nvSpPr>
        <p:spPr>
          <a:xfrm>
            <a:off x="99933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120</a:t>
            </a:r>
            <a:endParaRPr lang="en-US" sz="975" dirty="0"/>
          </a:p>
        </p:txBody>
      </p:sp>
      <p:sp>
        <p:nvSpPr>
          <p:cNvPr id="56" name="Shape 56"/>
          <p:cNvSpPr txBox="1"/>
          <p:nvPr/>
        </p:nvSpPr>
        <p:spPr>
          <a:xfrm>
            <a:off x="103679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140</a:t>
            </a:r>
            <a:endParaRPr lang="en-US" sz="975" dirty="0"/>
          </a:p>
        </p:txBody>
      </p:sp>
      <p:sp>
        <p:nvSpPr>
          <p:cNvPr id="57" name="Shape 57"/>
          <p:cNvSpPr txBox="1"/>
          <p:nvPr/>
        </p:nvSpPr>
        <p:spPr>
          <a:xfrm>
            <a:off x="1074262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160</a:t>
            </a:r>
            <a:endParaRPr lang="en-US" sz="975" dirty="0"/>
          </a:p>
        </p:txBody>
      </p:sp>
      <p:sp>
        <p:nvSpPr>
          <p:cNvPr id="58" name="Shape 58"/>
          <p:cNvSpPr txBox="1"/>
          <p:nvPr/>
        </p:nvSpPr>
        <p:spPr>
          <a:xfrm>
            <a:off x="11117275" y="52852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180</a:t>
            </a:r>
            <a:endParaRPr lang="en-US" sz="975" dirty="0"/>
          </a:p>
        </p:txBody>
      </p:sp>
      <p:sp>
        <p:nvSpPr>
          <p:cNvPr id="59" name="Shape 59"/>
          <p:cNvSpPr txBox="1"/>
          <p:nvPr/>
        </p:nvSpPr>
        <p:spPr>
          <a:xfrm>
            <a:off x="7452817" y="51747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−70</a:t>
            </a:r>
            <a:endParaRPr lang="en-US" sz="975" dirty="0"/>
          </a:p>
        </p:txBody>
      </p:sp>
      <p:sp>
        <p:nvSpPr>
          <p:cNvPr id="60" name="Shape 60"/>
          <p:cNvSpPr txBox="1"/>
          <p:nvPr/>
        </p:nvSpPr>
        <p:spPr>
          <a:xfrm>
            <a:off x="7452817" y="479136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61" name="Shape 61"/>
          <p:cNvSpPr txBox="1"/>
          <p:nvPr/>
        </p:nvSpPr>
        <p:spPr>
          <a:xfrm>
            <a:off x="7452817" y="44079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2" name="Shape 62"/>
          <p:cNvSpPr txBox="1"/>
          <p:nvPr/>
        </p:nvSpPr>
        <p:spPr>
          <a:xfrm>
            <a:off x="7452817" y="40245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63" name="Shape 63"/>
          <p:cNvSpPr txBox="1"/>
          <p:nvPr/>
        </p:nvSpPr>
        <p:spPr>
          <a:xfrm>
            <a:off x="7452817" y="36412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64" name="Shape 64"/>
          <p:cNvSpPr txBox="1"/>
          <p:nvPr/>
        </p:nvSpPr>
        <p:spPr>
          <a:xfrm>
            <a:off x="7452817" y="325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65" name="Shape 65"/>
          <p:cNvSpPr txBox="1"/>
          <p:nvPr/>
        </p:nvSpPr>
        <p:spPr>
          <a:xfrm>
            <a:off x="7452817" y="287445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66" name="Shape 66"/>
          <p:cNvSpPr txBox="1"/>
          <p:nvPr/>
        </p:nvSpPr>
        <p:spPr>
          <a:xfrm>
            <a:off x="7452817" y="24910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7" name="Shape 67"/>
          <p:cNvSpPr txBox="1"/>
          <p:nvPr/>
        </p:nvSpPr>
        <p:spPr>
          <a:xfrm>
            <a:off x="7452817" y="21076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68" name="Shape 68"/>
          <p:cNvSpPr/>
          <p:nvPr/>
        </p:nvSpPr>
        <p:spPr>
          <a:xfrm>
            <a:off x="9653283" y="351924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9" name="Shape 69"/>
          <p:cNvSpPr txBox="1"/>
          <p:nvPr/>
        </p:nvSpPr>
        <p:spPr>
          <a:xfrm>
            <a:off x="9791395" y="332398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(90, −25.8)</a:t>
            </a:r>
            <a:endParaRPr lang="en-US" sz="1125" dirty="0"/>
          </a:p>
        </p:txBody>
      </p:sp>
      <p:sp>
        <p:nvSpPr>
          <p:cNvPr id="70" name="Shape 70"/>
          <p:cNvSpPr/>
          <p:nvPr/>
        </p:nvSpPr>
        <p:spPr>
          <a:xfrm>
            <a:off x="10027933" y="374927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1" name="Shape 71"/>
          <p:cNvSpPr/>
          <p:nvPr/>
        </p:nvSpPr>
        <p:spPr>
          <a:xfrm>
            <a:off x="9278633" y="328922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72" name="Line 72"/>
          <p:cNvCxnSpPr/>
          <p:nvPr/>
        </p:nvCxnSpPr>
        <p:spPr>
          <a:xfrm>
            <a:off x="8019745" y="2536508"/>
            <a:ext cx="3371850" cy="2070259"/>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19" presetID="22" presetClass="entr" presetSubtype="8"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700"/>
                                        <p:tgtEl>
                                          <p:spTgt spid="7"/>
                                        </p:tgtEl>
                                      </p:cBhvr>
                                    </p:animEffect>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p:cTn id="31" dur="500" fill="hold"/>
                                        <p:tgtEl>
                                          <p:spTgt spid="9"/>
                                        </p:tgtEl>
                                        <p:attrNameLst>
                                          <p:attrName>ppt_x</p:attrName>
                                        </p:attrNameLst>
                                      </p:cBhvr>
                                      <p:tavLst>
                                        <p:tav tm="0">
                                          <p:val>
                                            <p:strVal val="#ppt_x"/>
                                          </p:val>
                                        </p:tav>
                                        <p:tav tm="100000">
                                          <p:val>
                                            <p:strVal val="#ppt_x"/>
                                          </p:val>
                                        </p:tav>
                                      </p:tavLst>
                                    </p:anim>
                                    <p:anim calcmode="lin" valueType="num">
                                      <p:cBhvr>
                                        <p:cTn id="32"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68"/>
                                        </p:tgtEl>
                                        <p:attrNameLst>
                                          <p:attrName>style.visibility</p:attrName>
                                        </p:attrNameLst>
                                      </p:cBhvr>
                                      <p:to>
                                        <p:strVal val="visible"/>
                                      </p:to>
                                    </p:set>
                                    <p:animEffect transition="in" filter="fade">
                                      <p:cBhvr>
                                        <p:cTn id="37" dur="500"/>
                                        <p:tgtEl>
                                          <p:spTgt spid="68"/>
                                        </p:tgtEl>
                                      </p:cBhvr>
                                    </p:animEffect>
                                    <p:anim calcmode="lin" valueType="num">
                                      <p:cBhvr>
                                        <p:cTn id="38" dur="500" fill="hold"/>
                                        <p:tgtEl>
                                          <p:spTgt spid="68"/>
                                        </p:tgtEl>
                                        <p:attrNameLst>
                                          <p:attrName>ppt_w</p:attrName>
                                        </p:attrNameLst>
                                      </p:cBhvr>
                                      <p:tavLst>
                                        <p:tav tm="0">
                                          <p:val>
                                            <p:fltVal val="0"/>
                                          </p:val>
                                        </p:tav>
                                        <p:tav tm="100000">
                                          <p:val>
                                            <p:strVal val="#ppt_w"/>
                                          </p:val>
                                        </p:tav>
                                      </p:tavLst>
                                    </p:anim>
                                    <p:anim calcmode="lin" valueType="num">
                                      <p:cBhvr>
                                        <p:cTn id="39" dur="500" fill="hold"/>
                                        <p:tgtEl>
                                          <p:spTgt spid="68"/>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69"/>
                                        </p:tgtEl>
                                        <p:attrNameLst>
                                          <p:attrName>style.visibility</p:attrName>
                                        </p:attrNameLst>
                                      </p:cBhvr>
                                      <p:to>
                                        <p:strVal val="visible"/>
                                      </p:to>
                                    </p:set>
                                    <p:animEffect transition="in" filter="fade">
                                      <p:cBhvr>
                                        <p:cTn id="42" dur="500"/>
                                        <p:tgtEl>
                                          <p:spTgt spid="69"/>
                                        </p:tgtEl>
                                      </p:cBhvr>
                                    </p:animEffect>
                                    <p:anim calcmode="lin" valueType="num">
                                      <p:cBhvr>
                                        <p:cTn id="43" dur="500" fill="hold"/>
                                        <p:tgtEl>
                                          <p:spTgt spid="69"/>
                                        </p:tgtEl>
                                        <p:attrNameLst>
                                          <p:attrName>ppt_w</p:attrName>
                                        </p:attrNameLst>
                                      </p:cBhvr>
                                      <p:tavLst>
                                        <p:tav tm="0">
                                          <p:val>
                                            <p:fltVal val="0"/>
                                          </p:val>
                                        </p:tav>
                                        <p:tav tm="100000">
                                          <p:val>
                                            <p:strVal val="#ppt_w"/>
                                          </p:val>
                                        </p:tav>
                                      </p:tavLst>
                                    </p:anim>
                                    <p:anim calcmode="lin" valueType="num">
                                      <p:cBhvr>
                                        <p:cTn id="44" dur="500" fill="hold"/>
                                        <p:tgtEl>
                                          <p:spTgt spid="69"/>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2" presetID="53" presetClass="entr" presetSubtype="16" fill="hold" nodeType="clickEffect">
                                  <p:stCondLst>
                                    <p:cond delay="0"/>
                                  </p:stCondLst>
                                  <p:childTnLst>
                                    <p:set>
                                      <p:cBhvr>
                                        <p:cTn id="48" dur="1" fill="hold">
                                          <p:stCondLst>
                                            <p:cond delay="0"/>
                                          </p:stCondLst>
                                        </p:cTn>
                                        <p:tgtEl>
                                          <p:spTgt spid="70"/>
                                        </p:tgtEl>
                                        <p:attrNameLst>
                                          <p:attrName>style.visibility</p:attrName>
                                        </p:attrNameLst>
                                      </p:cBhvr>
                                      <p:to>
                                        <p:strVal val="visible"/>
                                      </p:to>
                                    </p:set>
                                    <p:animEffect transition="in" filter="fade">
                                      <p:cBhvr>
                                        <p:cTn id="49" dur="500"/>
                                        <p:tgtEl>
                                          <p:spTgt spid="70"/>
                                        </p:tgtEl>
                                      </p:cBhvr>
                                    </p:animEffect>
                                    <p:anim calcmode="lin" valueType="num">
                                      <p:cBhvr>
                                        <p:cTn id="50" dur="500" fill="hold"/>
                                        <p:tgtEl>
                                          <p:spTgt spid="70"/>
                                        </p:tgtEl>
                                        <p:attrNameLst>
                                          <p:attrName>ppt_w</p:attrName>
                                        </p:attrNameLst>
                                      </p:cBhvr>
                                      <p:tavLst>
                                        <p:tav tm="0">
                                          <p:val>
                                            <p:fltVal val="0"/>
                                          </p:val>
                                        </p:tav>
                                        <p:tav tm="100000">
                                          <p:val>
                                            <p:strVal val="#ppt_w"/>
                                          </p:val>
                                        </p:tav>
                                      </p:tavLst>
                                    </p:anim>
                                    <p:anim calcmode="lin" valueType="num">
                                      <p:cBhvr>
                                        <p:cTn id="51" dur="500" fill="hold"/>
                                        <p:tgtEl>
                                          <p:spTgt spid="70"/>
                                        </p:tgtEl>
                                        <p:attrNameLst>
                                          <p:attrName>ppt_h</p:attrName>
                                        </p:attrNameLst>
                                      </p:cBhvr>
                                      <p:tavLst>
                                        <p:tav tm="0">
                                          <p:val>
                                            <p:fltVal val="0"/>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59" presetID="53" presetClass="entr" presetSubtype="16" fill="hold" nodeType="clickEffect">
                                  <p:stCondLst>
                                    <p:cond delay="0"/>
                                  </p:stCondLst>
                                  <p:childTnLst>
                                    <p:set>
                                      <p:cBhvr>
                                        <p:cTn id="55" dur="1" fill="hold">
                                          <p:stCondLst>
                                            <p:cond delay="0"/>
                                          </p:stCondLst>
                                        </p:cTn>
                                        <p:tgtEl>
                                          <p:spTgt spid="71"/>
                                        </p:tgtEl>
                                        <p:attrNameLst>
                                          <p:attrName>style.visibility</p:attrName>
                                        </p:attrNameLst>
                                      </p:cBhvr>
                                      <p:to>
                                        <p:strVal val="visible"/>
                                      </p:to>
                                    </p:set>
                                    <p:animEffect transition="in" filter="fade">
                                      <p:cBhvr>
                                        <p:cTn id="56" dur="500"/>
                                        <p:tgtEl>
                                          <p:spTgt spid="71"/>
                                        </p:tgtEl>
                                      </p:cBhvr>
                                    </p:animEffect>
                                    <p:anim calcmode="lin" valueType="num">
                                      <p:cBhvr>
                                        <p:cTn id="57" dur="500" fill="hold"/>
                                        <p:tgtEl>
                                          <p:spTgt spid="71"/>
                                        </p:tgtEl>
                                        <p:attrNameLst>
                                          <p:attrName>ppt_w</p:attrName>
                                        </p:attrNameLst>
                                      </p:cBhvr>
                                      <p:tavLst>
                                        <p:tav tm="0">
                                          <p:val>
                                            <p:fltVal val="0"/>
                                          </p:val>
                                        </p:tav>
                                        <p:tav tm="100000">
                                          <p:val>
                                            <p:strVal val="#ppt_w"/>
                                          </p:val>
                                        </p:tav>
                                      </p:tavLst>
                                    </p:anim>
                                    <p:anim calcmode="lin" valueType="num">
                                      <p:cBhvr>
                                        <p:cTn id="58" dur="500" fill="hold"/>
                                        <p:tgtEl>
                                          <p:spTgt spid="71"/>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4" presetID="22" presetClass="entr" presetSubtype="8" fill="hold" nodeType="clickEffect">
                                  <p:stCondLst>
                                    <p:cond delay="0"/>
                                  </p:stCondLst>
                                  <p:childTnLst>
                                    <p:set>
                                      <p:cBhvr>
                                        <p:cTn id="62" dur="1" fill="hold">
                                          <p:stCondLst>
                                            <p:cond delay="0"/>
                                          </p:stCondLst>
                                        </p:cTn>
                                        <p:tgtEl>
                                          <p:spTgt spid="72"/>
                                        </p:tgtEl>
                                        <p:attrNameLst>
                                          <p:attrName>style.visibility</p:attrName>
                                        </p:attrNameLst>
                                      </p:cBhvr>
                                      <p:to>
                                        <p:strVal val="visible"/>
                                      </p:to>
                                    </p:set>
                                    <p:animEffect transition="in" filter="wipe(left)">
                                      <p:cBhvr>
                                        <p:cTn id="63" dur="7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Standard Form of a Linear Equation · SE p. 226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Tickets for the school play</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Student tickets cost </a:t>
            </a: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adult tickets cost </a:t>
            </a:r>
            <a:r>
              <a:rPr lang="en-US" sz="1575" dirty="0" b="1">
                <a:solidFill>
                  <a:srgbClr val="16171D"/>
                </a:solidFill>
                <a:latin typeface="Segoe UI"/>
                <a:cs typeface="Segoe UI"/>
              </a:rPr>
              <a:t xml:space="preserve">$8</a:t>
            </a:r>
            <a:r>
              <a:rPr lang="en-US" sz="1575" dirty="0">
                <a:solidFill>
                  <a:srgbClr val="16171D"/>
                </a:solidFill>
                <a:latin typeface="Segoe UI"/>
                <a:cs typeface="Segoe UI"/>
              </a:rPr>
              <a:t xml:space="preserve">. Opening night collected </a:t>
            </a:r>
            <a:r>
              <a:rPr lang="en-US" sz="1575" dirty="0" b="1">
                <a:solidFill>
                  <a:srgbClr val="16171D"/>
                </a:solidFill>
                <a:latin typeface="Segoe UI"/>
                <a:cs typeface="Segoe UI"/>
              </a:rPr>
              <a:t xml:space="preserve">$1600</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student tickets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adult tickets.</a:t>
            </a:r>
            <a:endParaRPr lang="en-US" sz="1575" dirty="0"/>
          </a:p>
        </p:txBody>
      </p:sp>
      <p:sp>
        <p:nvSpPr>
          <p:cNvPr id="5" name="Shape 5"/>
          <p:cNvSpPr txBox="1"/>
          <p:nvPr/>
        </p:nvSpPr>
        <p:spPr>
          <a:xfrm>
            <a:off x="685800" y="2324862"/>
            <a:ext cx="5238598"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5</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+ 8</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1600</a:t>
            </a:r>
            <a:endParaRPr lang="en-US" sz="2850" dirty="0"/>
          </a:p>
        </p:txBody>
      </p:sp>
      <p:sp>
        <p:nvSpPr>
          <p:cNvPr id="9" name="Shape 9"/>
          <p:cNvSpPr txBox="1"/>
          <p:nvPr/>
        </p:nvSpPr>
        <p:spPr>
          <a:xfrm>
            <a:off x="685800" y="2909316"/>
            <a:ext cx="52385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6" name="Shape 6"/>
          <p:cNvSpPr txBox="1"/>
          <p:nvPr/>
        </p:nvSpPr>
        <p:spPr>
          <a:xfrm>
            <a:off x="895350" y="3080766"/>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Key term: standard form</a:t>
            </a:r>
            <a:endParaRPr lang="en-US" sz="2100" dirty="0"/>
          </a:p>
        </p:txBody>
      </p:sp>
      <p:sp>
        <p:nvSpPr>
          <p:cNvPr id="7" name="Shape 7"/>
          <p:cNvSpPr txBox="1"/>
          <p:nvPr/>
        </p:nvSpPr>
        <p:spPr>
          <a:xfrm>
            <a:off x="895350" y="3550920"/>
            <a:ext cx="4819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Ax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By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C</a:t>
            </a:r>
            <a:endParaRPr lang="en-US" sz="2325" dirty="0"/>
          </a:p>
        </p:txBody>
      </p:sp>
      <p:sp>
        <p:nvSpPr>
          <p:cNvPr id="8" name="Shape 8"/>
          <p:cNvSpPr txBox="1"/>
          <p:nvPr/>
        </p:nvSpPr>
        <p:spPr>
          <a:xfrm>
            <a:off x="895350" y="4055364"/>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and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 are integers, and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and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are not both zero.</a:t>
            </a:r>
            <a:endParaRPr lang="en-US" sz="1575" dirty="0"/>
          </a:p>
        </p:txBody>
      </p:sp>
      <p:sp>
        <p:nvSpPr>
          <p:cNvPr id="10" name="Shape 10"/>
          <p:cNvSpPr txBox="1"/>
          <p:nvPr/>
        </p:nvSpPr>
        <p:spPr>
          <a:xfrm>
            <a:off x="6267298" y="2324862"/>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money from student tickets ($5 times the number sold)</a:t>
            </a:r>
            <a:endParaRPr lang="en-US" sz="1575" dirty="0"/>
          </a:p>
        </p:txBody>
      </p:sp>
      <p:sp>
        <p:nvSpPr>
          <p:cNvPr id="11" name="Shape 11"/>
          <p:cNvSpPr txBox="1"/>
          <p:nvPr/>
        </p:nvSpPr>
        <p:spPr>
          <a:xfrm>
            <a:off x="6267298" y="2955036"/>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1b.</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8</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money from adult tickets ($8 times the number sold)</a:t>
            </a:r>
            <a:endParaRPr lang="en-US" sz="1575" dirty="0"/>
          </a:p>
        </p:txBody>
      </p:sp>
      <p:sp>
        <p:nvSpPr>
          <p:cNvPr id="12" name="Shape 12"/>
          <p:cNvSpPr txBox="1"/>
          <p:nvPr/>
        </p:nvSpPr>
        <p:spPr>
          <a:xfrm>
            <a:off x="6267298" y="3585210"/>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1c.</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1600</a:t>
            </a:r>
            <a:r>
              <a:rPr lang="en-US" sz="1575" dirty="0">
                <a:solidFill>
                  <a:srgbClr val="16171D"/>
                </a:solidFill>
                <a:latin typeface="Segoe UI"/>
                <a:cs typeface="Segoe UI"/>
              </a:rPr>
              <a:t xml:space="preserve">: the total money collected</a:t>
            </a:r>
            <a:endParaRPr lang="en-US" sz="1575" dirty="0"/>
          </a:p>
        </p:txBody>
      </p:sp>
      <p:sp>
        <p:nvSpPr>
          <p:cNvPr id="13" name="Shape 13"/>
          <p:cNvSpPr txBox="1"/>
          <p:nvPr/>
        </p:nvSpPr>
        <p:spPr>
          <a:xfrm>
            <a:off x="6267298" y="3975354"/>
            <a:ext cx="52385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Either variable could be independent. The number of student tickets could depend on the number of adult tickets, or the other way around.</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500"/>
                                        <p:tgtEl>
                                          <p:spTgt spid="9"/>
                                        </p:tgtEl>
                                      </p:cBhvr>
                                    </p:animEffect>
                                    <p:anim calcmode="lin" valueType="num">
                                      <p:cBhvr>
                                        <p:cTn id="5" dur="500" fill="hold"/>
                                        <p:tgtEl>
                                          <p:spTgt spid="9"/>
                                        </p:tgtEl>
                                        <p:attrNameLst>
                                          <p:attrName>ppt_x</p:attrName>
                                        </p:attrNameLst>
                                      </p:cBhvr>
                                      <p:tavLst>
                                        <p:tav tm="0">
                                          <p:val>
                                            <p:strVal val="#ppt_x"/>
                                          </p:val>
                                        </p:tav>
                                        <p:tav tm="100000">
                                          <p:val>
                                            <p:strVal val="#ppt_x"/>
                                          </p:val>
                                        </p:tav>
                                      </p:tavLst>
                                    </p:anim>
                                    <p:anim calcmode="lin" valueType="num">
                                      <p:cBhvr>
                                        <p:cTn id="6" dur="500" fill="hold"/>
                                        <p:tgtEl>
                                          <p:spTgt spid="9"/>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anim calcmode="lin" valueType="num">
                                      <p:cBhvr>
                                        <p:cTn id="10" dur="500" fill="hold"/>
                                        <p:tgtEl>
                                          <p:spTgt spid="6"/>
                                        </p:tgtEl>
                                        <p:attrNameLst>
                                          <p:attrName>ppt_x</p:attrName>
                                        </p:attrNameLst>
                                      </p:cBhvr>
                                      <p:tavLst>
                                        <p:tav tm="0">
                                          <p:val>
                                            <p:strVal val="#ppt_x"/>
                                          </p:val>
                                        </p:tav>
                                        <p:tav tm="100000">
                                          <p:val>
                                            <p:strVal val="#ppt_x"/>
                                          </p:val>
                                        </p:tav>
                                      </p:tavLst>
                                    </p:anim>
                                    <p:anim calcmode="lin" valueType="num">
                                      <p:cBhvr>
                                        <p:cTn id="11" dur="5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anim calcmode="lin" valueType="num">
                                      <p:cBhvr>
                                        <p:cTn id="15" dur="500" fill="hold"/>
                                        <p:tgtEl>
                                          <p:spTgt spid="7"/>
                                        </p:tgtEl>
                                        <p:attrNameLst>
                                          <p:attrName>ppt_x</p:attrName>
                                        </p:attrNameLst>
                                      </p:cBhvr>
                                      <p:tavLst>
                                        <p:tav tm="0">
                                          <p:val>
                                            <p:strVal val="#ppt_x"/>
                                          </p:val>
                                        </p:tav>
                                        <p:tav tm="100000">
                                          <p:val>
                                            <p:strVal val="#ppt_x"/>
                                          </p:val>
                                        </p:tav>
                                      </p:tavLst>
                                    </p:anim>
                                    <p:anim calcmode="lin" valueType="num">
                                      <p:cBhvr>
                                        <p:cTn id="16" dur="5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p:cTn id="20" dur="500" fill="hold"/>
                                        <p:tgtEl>
                                          <p:spTgt spid="8"/>
                                        </p:tgtEl>
                                        <p:attrNameLst>
                                          <p:attrName>ppt_x</p:attrName>
                                        </p:attrNameLst>
                                      </p:cBhvr>
                                      <p:tavLst>
                                        <p:tav tm="0">
                                          <p:val>
                                            <p:strVal val="#ppt_x"/>
                                          </p:val>
                                        </p:tav>
                                        <p:tav tm="100000">
                                          <p:val>
                                            <p:strVal val="#ppt_x"/>
                                          </p:val>
                                        </p:tav>
                                      </p:tavLst>
                                    </p:anim>
                                    <p:anim calcmode="lin" valueType="num">
                                      <p:cBhvr>
                                        <p:cTn id="21"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anim calcmode="lin" valueType="num">
                                      <p:cBhvr>
                                        <p:cTn id="27" dur="500" fill="hold"/>
                                        <p:tgtEl>
                                          <p:spTgt spid="10"/>
                                        </p:tgtEl>
                                        <p:attrNameLst>
                                          <p:attrName>ppt_x</p:attrName>
                                        </p:attrNameLst>
                                      </p:cBhvr>
                                      <p:tavLst>
                                        <p:tav tm="0">
                                          <p:val>
                                            <p:strVal val="#ppt_x"/>
                                          </p:val>
                                        </p:tav>
                                        <p:tav tm="100000">
                                          <p:val>
                                            <p:strVal val="#ppt_x"/>
                                          </p:val>
                                        </p:tav>
                                      </p:tavLst>
                                    </p:anim>
                                    <p:anim calcmode="lin" valueType="num">
                                      <p:cBhvr>
                                        <p:cTn id="28"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6" presetID="42"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anim calcmode="lin" valueType="num">
                                      <p:cBhvr>
                                        <p:cTn id="34" dur="500" fill="hold"/>
                                        <p:tgtEl>
                                          <p:spTgt spid="11"/>
                                        </p:tgtEl>
                                        <p:attrNameLst>
                                          <p:attrName>ppt_x</p:attrName>
                                        </p:attrNameLst>
                                      </p:cBhvr>
                                      <p:tavLst>
                                        <p:tav tm="0">
                                          <p:val>
                                            <p:strVal val="#ppt_x"/>
                                          </p:val>
                                        </p:tav>
                                        <p:tav tm="100000">
                                          <p:val>
                                            <p:strVal val="#ppt_x"/>
                                          </p:val>
                                        </p:tav>
                                      </p:tavLst>
                                    </p:anim>
                                    <p:anim calcmode="lin" valueType="num">
                                      <p:cBhvr>
                                        <p:cTn id="35"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p:cTn id="41" dur="500" fill="hold"/>
                                        <p:tgtEl>
                                          <p:spTgt spid="12"/>
                                        </p:tgtEl>
                                        <p:attrNameLst>
                                          <p:attrName>ppt_x</p:attrName>
                                        </p:attrNameLst>
                                      </p:cBhvr>
                                      <p:tavLst>
                                        <p:tav tm="0">
                                          <p:val>
                                            <p:strVal val="#ppt_x"/>
                                          </p:val>
                                        </p:tav>
                                        <p:tav tm="100000">
                                          <p:val>
                                            <p:strVal val="#ppt_x"/>
                                          </p:val>
                                        </p:tav>
                                      </p:tavLst>
                                    </p:anim>
                                    <p:anim calcmode="lin" valueType="num">
                                      <p:cBhvr>
                                        <p:cTn id="42"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0" presetID="42"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p:cTn id="48" dur="500" fill="hold"/>
                                        <p:tgtEl>
                                          <p:spTgt spid="13"/>
                                        </p:tgtEl>
                                        <p:attrNameLst>
                                          <p:attrName>ppt_x</p:attrName>
                                        </p:attrNameLst>
                                      </p:cBhvr>
                                      <p:tavLst>
                                        <p:tav tm="0">
                                          <p:val>
                                            <p:strVal val="#ppt_x"/>
                                          </p:val>
                                        </p:tav>
                                        <p:tav tm="100000">
                                          <p:val>
                                            <p:strVal val="#ppt_x"/>
                                          </p:val>
                                        </p:tav>
                                      </p:tavLst>
                                    </p:anim>
                                    <p:anim calcmode="lin" valueType="num">
                                      <p:cBhvr>
                                        <p:cTn id="4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Questions 3–5 · SE p. 227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using the intercepts</a:t>
            </a:r>
            <a:endParaRPr lang="en-US" sz="3450" dirty="0"/>
          </a:p>
        </p:txBody>
      </p:sp>
      <p:sp>
        <p:nvSpPr>
          <p:cNvPr id="4" name="Shape 4"/>
          <p:cNvSpPr txBox="1"/>
          <p:nvPr/>
        </p:nvSpPr>
        <p:spPr>
          <a:xfrm>
            <a:off x="685800" y="1618488"/>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Key term:</a:t>
            </a:r>
            <a:r>
              <a:rPr lang="en-US" sz="1575" dirty="0">
                <a:solidFill>
                  <a:srgbClr val="16171D"/>
                </a:solidFill>
                <a:latin typeface="Segoe UI"/>
                <a:cs typeface="Segoe UI"/>
              </a:rPr>
              <a:t xml:space="preserve"> the </a:t>
            </a:r>
            <a:r>
              <a:rPr lang="en-US" sz="1575" dirty="0" b="1" i="1">
                <a:solidFill>
                  <a:srgbClr val="16171D"/>
                </a:solidFill>
                <a:latin typeface="Segoe UI"/>
                <a:cs typeface="Segoe UI"/>
              </a:rPr>
              <a:t xml:space="preserve">x</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 is where a line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To find it, substitute 0 for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39137"/>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1600</a:t>
            </a:r>
            <a:r>
              <a:rPr lang="en-US" sz="1575" dirty="0">
                <a:solidFill>
                  <a:srgbClr val="16171D"/>
                </a:solidFill>
                <a:latin typeface="Segoe UI"/>
                <a:cs typeface="Segoe UI"/>
              </a:rPr>
              <a:t xml:space="preserve">, so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320</a:t>
            </a:r>
            <a:r>
              <a:rPr lang="en-US" sz="1575" dirty="0">
                <a:solidFill>
                  <a:srgbClr val="16171D"/>
                </a:solidFill>
                <a:latin typeface="Segoe UI"/>
                <a:cs typeface="Segoe UI"/>
              </a:rPr>
              <a:t xml:space="preserve"> → </a:t>
            </a:r>
            <a:r>
              <a:rPr lang="en-US" sz="1575" dirty="0" b="1">
                <a:solidFill>
                  <a:srgbClr val="3050B8"/>
                </a:solidFill>
                <a:latin typeface="Segoe UI"/>
                <a:cs typeface="Segoe UI"/>
              </a:rPr>
              <a:t xml:space="preserve">(320, 0)</a:t>
            </a:r>
            <a:r>
              <a:rPr lang="en-US" sz="1575" dirty="0">
                <a:solidFill>
                  <a:srgbClr val="16171D"/>
                </a:solidFill>
                <a:latin typeface="Segoe UI"/>
                <a:cs typeface="Segoe UI"/>
              </a:rPr>
              <a:t xml:space="preserve">. 320 student tickets and no adult tickets.</a:t>
            </a:r>
            <a:endParaRPr lang="en-US" sz="1575" dirty="0"/>
          </a:p>
        </p:txBody>
      </p:sp>
      <p:sp>
        <p:nvSpPr>
          <p:cNvPr id="6" name="Shape 6"/>
          <p:cNvSpPr txBox="1"/>
          <p:nvPr/>
        </p:nvSpPr>
        <p:spPr>
          <a:xfrm>
            <a:off x="685800" y="2859786"/>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8</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1600</a:t>
            </a:r>
            <a:r>
              <a:rPr lang="en-US" sz="1575" dirty="0">
                <a:solidFill>
                  <a:srgbClr val="16171D"/>
                </a:solidFill>
                <a:latin typeface="Segoe UI"/>
                <a:cs typeface="Segoe UI"/>
              </a:rPr>
              <a:t xml:space="preserve">, so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200</a:t>
            </a:r>
            <a:r>
              <a:rPr lang="en-US" sz="1575" dirty="0">
                <a:solidFill>
                  <a:srgbClr val="16171D"/>
                </a:solidFill>
                <a:latin typeface="Segoe UI"/>
                <a:cs typeface="Segoe UI"/>
              </a:rPr>
              <a:t xml:space="preserve"> → </a:t>
            </a:r>
            <a:r>
              <a:rPr lang="en-US" sz="1575" dirty="0" b="1">
                <a:solidFill>
                  <a:srgbClr val="3050B8"/>
                </a:solidFill>
                <a:latin typeface="Segoe UI"/>
                <a:cs typeface="Segoe UI"/>
              </a:rPr>
              <a:t xml:space="preserve">(0, 200)</a:t>
            </a:r>
            <a:r>
              <a:rPr lang="en-US" sz="1575" dirty="0">
                <a:solidFill>
                  <a:srgbClr val="16171D"/>
                </a:solidFill>
                <a:latin typeface="Segoe UI"/>
                <a:cs typeface="Segoe UI"/>
              </a:rPr>
              <a:t xml:space="preserve">. 200 adult tickets and no student tickets.</a:t>
            </a:r>
            <a:endParaRPr lang="en-US" sz="1575" dirty="0"/>
          </a:p>
        </p:txBody>
      </p:sp>
      <p:sp>
        <p:nvSpPr>
          <p:cNvPr id="7" name="Shape 7"/>
          <p:cNvSpPr txBox="1"/>
          <p:nvPr/>
        </p:nvSpPr>
        <p:spPr>
          <a:xfrm>
            <a:off x="685800" y="3480435"/>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Slope </a:t>
            </a:r>
            <a:r>
              <a:rPr lang="en-US" sz="1575" dirty="0" b="1">
                <a:solidFill>
                  <a:srgbClr val="C9561F"/>
                </a:solidFill>
                <a:latin typeface="Cambria"/>
                <a:cs typeface="Cambria"/>
              </a:rPr>
              <a:t xml:space="preserve">= </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200 − 0</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0 − 320</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 =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8</a:t>
            </a:r>
            <a:r>
              <a:rPr lang="en-US" sz="1575" dirty="0">
                <a:solidFill>
                  <a:srgbClr val="16171D"/>
                </a:solidFill>
                <a:latin typeface="Segoe UI"/>
                <a:cs typeface="Segoe UI"/>
              </a:rPr>
              <a:t xml:space="preserve">. For every 8 more student tickets, 5 fewer adult tickets.</a:t>
            </a:r>
            <a:endParaRPr lang="en-US" sz="1575" dirty="0"/>
          </a:p>
        </p:txBody>
      </p:sp>
      <p:sp>
        <p:nvSpPr>
          <p:cNvPr id="8" name="Shape 8"/>
          <p:cNvSpPr/>
          <p:nvPr/>
        </p:nvSpPr>
        <p:spPr>
          <a:xfrm>
            <a:off x="7695895" y="1618488"/>
            <a:ext cx="38100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8019745" y="1732788"/>
            <a:ext cx="0" cy="3448050"/>
          </a:xfrm>
          <a:prstGeom prst="line">
            <a:avLst/>
          </a:prstGeom>
          <a:ln w="9525" cap="flat">
            <a:solidFill>
              <a:srgbClr val="E6E8F2"/>
            </a:solidFill>
          </a:ln>
        </p:spPr>
      </p:cxnSp>
      <p:cxnSp>
        <p:nvCxnSpPr>
          <p:cNvPr id="10" name="Line 10"/>
          <p:cNvCxnSpPr/>
          <p:nvPr/>
        </p:nvCxnSpPr>
        <p:spPr>
          <a:xfrm>
            <a:off x="8394395" y="1732788"/>
            <a:ext cx="0" cy="3448050"/>
          </a:xfrm>
          <a:prstGeom prst="line">
            <a:avLst/>
          </a:prstGeom>
          <a:ln w="9525" cap="flat">
            <a:solidFill>
              <a:srgbClr val="E6E8F2"/>
            </a:solidFill>
          </a:ln>
        </p:spPr>
      </p:cxnSp>
      <p:cxnSp>
        <p:nvCxnSpPr>
          <p:cNvPr id="11" name="Line 11"/>
          <p:cNvCxnSpPr/>
          <p:nvPr/>
        </p:nvCxnSpPr>
        <p:spPr>
          <a:xfrm>
            <a:off x="8769045" y="1732788"/>
            <a:ext cx="0" cy="3448050"/>
          </a:xfrm>
          <a:prstGeom prst="line">
            <a:avLst/>
          </a:prstGeom>
          <a:ln w="9525" cap="flat">
            <a:solidFill>
              <a:srgbClr val="E6E8F2"/>
            </a:solidFill>
          </a:ln>
        </p:spPr>
      </p:cxnSp>
      <p:cxnSp>
        <p:nvCxnSpPr>
          <p:cNvPr id="12" name="Line 12"/>
          <p:cNvCxnSpPr/>
          <p:nvPr/>
        </p:nvCxnSpPr>
        <p:spPr>
          <a:xfrm>
            <a:off x="9143695" y="1732788"/>
            <a:ext cx="0" cy="3448050"/>
          </a:xfrm>
          <a:prstGeom prst="line">
            <a:avLst/>
          </a:prstGeom>
          <a:ln w="9525" cap="flat">
            <a:solidFill>
              <a:srgbClr val="E6E8F2"/>
            </a:solidFill>
          </a:ln>
        </p:spPr>
      </p:cxnSp>
      <p:cxnSp>
        <p:nvCxnSpPr>
          <p:cNvPr id="13" name="Line 13"/>
          <p:cNvCxnSpPr/>
          <p:nvPr/>
        </p:nvCxnSpPr>
        <p:spPr>
          <a:xfrm>
            <a:off x="9518345" y="1732788"/>
            <a:ext cx="0" cy="3448050"/>
          </a:xfrm>
          <a:prstGeom prst="line">
            <a:avLst/>
          </a:prstGeom>
          <a:ln w="9525" cap="flat">
            <a:solidFill>
              <a:srgbClr val="E6E8F2"/>
            </a:solidFill>
          </a:ln>
        </p:spPr>
      </p:cxnSp>
      <p:cxnSp>
        <p:nvCxnSpPr>
          <p:cNvPr id="14" name="Line 14"/>
          <p:cNvCxnSpPr/>
          <p:nvPr/>
        </p:nvCxnSpPr>
        <p:spPr>
          <a:xfrm>
            <a:off x="9892995" y="1732788"/>
            <a:ext cx="0" cy="3448050"/>
          </a:xfrm>
          <a:prstGeom prst="line">
            <a:avLst/>
          </a:prstGeom>
          <a:ln w="9525" cap="flat">
            <a:solidFill>
              <a:srgbClr val="E6E8F2"/>
            </a:solidFill>
          </a:ln>
        </p:spPr>
      </p:cxnSp>
      <p:cxnSp>
        <p:nvCxnSpPr>
          <p:cNvPr id="15" name="Line 15"/>
          <p:cNvCxnSpPr/>
          <p:nvPr/>
        </p:nvCxnSpPr>
        <p:spPr>
          <a:xfrm>
            <a:off x="10267645" y="1732788"/>
            <a:ext cx="0" cy="3448050"/>
          </a:xfrm>
          <a:prstGeom prst="line">
            <a:avLst/>
          </a:prstGeom>
          <a:ln w="9525" cap="flat">
            <a:solidFill>
              <a:srgbClr val="E6E8F2"/>
            </a:solidFill>
          </a:ln>
        </p:spPr>
      </p:cxnSp>
      <p:cxnSp>
        <p:nvCxnSpPr>
          <p:cNvPr id="16" name="Line 16"/>
          <p:cNvCxnSpPr/>
          <p:nvPr/>
        </p:nvCxnSpPr>
        <p:spPr>
          <a:xfrm>
            <a:off x="10642295" y="1732788"/>
            <a:ext cx="0" cy="3448050"/>
          </a:xfrm>
          <a:prstGeom prst="line">
            <a:avLst/>
          </a:prstGeom>
          <a:ln w="9525" cap="flat">
            <a:solidFill>
              <a:srgbClr val="E6E8F2"/>
            </a:solidFill>
          </a:ln>
        </p:spPr>
      </p:cxnSp>
      <p:cxnSp>
        <p:nvCxnSpPr>
          <p:cNvPr id="17" name="Line 17"/>
          <p:cNvCxnSpPr/>
          <p:nvPr/>
        </p:nvCxnSpPr>
        <p:spPr>
          <a:xfrm>
            <a:off x="11016945" y="1732788"/>
            <a:ext cx="0" cy="3448050"/>
          </a:xfrm>
          <a:prstGeom prst="line">
            <a:avLst/>
          </a:prstGeom>
          <a:ln w="9525" cap="flat">
            <a:solidFill>
              <a:srgbClr val="E6E8F2"/>
            </a:solidFill>
          </a:ln>
        </p:spPr>
      </p:cxnSp>
      <p:cxnSp>
        <p:nvCxnSpPr>
          <p:cNvPr id="18" name="Line 18"/>
          <p:cNvCxnSpPr/>
          <p:nvPr/>
        </p:nvCxnSpPr>
        <p:spPr>
          <a:xfrm>
            <a:off x="11391595" y="1732788"/>
            <a:ext cx="0" cy="3448050"/>
          </a:xfrm>
          <a:prstGeom prst="line">
            <a:avLst/>
          </a:prstGeom>
          <a:ln w="9525" cap="flat">
            <a:solidFill>
              <a:srgbClr val="E6E8F2"/>
            </a:solidFill>
          </a:ln>
        </p:spPr>
      </p:cxnSp>
      <p:cxnSp>
        <p:nvCxnSpPr>
          <p:cNvPr id="19" name="Line 19"/>
          <p:cNvCxnSpPr/>
          <p:nvPr/>
        </p:nvCxnSpPr>
        <p:spPr>
          <a:xfrm>
            <a:off x="8019745" y="5180838"/>
            <a:ext cx="3371850" cy="0"/>
          </a:xfrm>
          <a:prstGeom prst="line">
            <a:avLst/>
          </a:prstGeom>
          <a:ln w="9525" cap="flat">
            <a:solidFill>
              <a:srgbClr val="E6E8F2"/>
            </a:solidFill>
          </a:ln>
        </p:spPr>
      </p:cxnSp>
      <p:cxnSp>
        <p:nvCxnSpPr>
          <p:cNvPr id="20" name="Line 20"/>
          <p:cNvCxnSpPr/>
          <p:nvPr/>
        </p:nvCxnSpPr>
        <p:spPr>
          <a:xfrm>
            <a:off x="8019745" y="4797721"/>
            <a:ext cx="3371850" cy="0"/>
          </a:xfrm>
          <a:prstGeom prst="line">
            <a:avLst/>
          </a:prstGeom>
          <a:ln w="9525" cap="flat">
            <a:solidFill>
              <a:srgbClr val="E6E8F2"/>
            </a:solidFill>
          </a:ln>
        </p:spPr>
      </p:cxnSp>
      <p:cxnSp>
        <p:nvCxnSpPr>
          <p:cNvPr id="21" name="Line 21"/>
          <p:cNvCxnSpPr/>
          <p:nvPr/>
        </p:nvCxnSpPr>
        <p:spPr>
          <a:xfrm>
            <a:off x="8019745" y="4414605"/>
            <a:ext cx="3371850" cy="0"/>
          </a:xfrm>
          <a:prstGeom prst="line">
            <a:avLst/>
          </a:prstGeom>
          <a:ln w="9525" cap="flat">
            <a:solidFill>
              <a:srgbClr val="E6E8F2"/>
            </a:solidFill>
          </a:ln>
        </p:spPr>
      </p:cxnSp>
      <p:cxnSp>
        <p:nvCxnSpPr>
          <p:cNvPr id="22" name="Line 22"/>
          <p:cNvCxnSpPr/>
          <p:nvPr/>
        </p:nvCxnSpPr>
        <p:spPr>
          <a:xfrm>
            <a:off x="8019745" y="4031488"/>
            <a:ext cx="3371850" cy="0"/>
          </a:xfrm>
          <a:prstGeom prst="line">
            <a:avLst/>
          </a:prstGeom>
          <a:ln w="9525" cap="flat">
            <a:solidFill>
              <a:srgbClr val="E6E8F2"/>
            </a:solidFill>
          </a:ln>
        </p:spPr>
      </p:cxnSp>
      <p:cxnSp>
        <p:nvCxnSpPr>
          <p:cNvPr id="23" name="Line 23"/>
          <p:cNvCxnSpPr/>
          <p:nvPr/>
        </p:nvCxnSpPr>
        <p:spPr>
          <a:xfrm>
            <a:off x="8019745" y="3648371"/>
            <a:ext cx="3371850" cy="0"/>
          </a:xfrm>
          <a:prstGeom prst="line">
            <a:avLst/>
          </a:prstGeom>
          <a:ln w="9525" cap="flat">
            <a:solidFill>
              <a:srgbClr val="E6E8F2"/>
            </a:solidFill>
          </a:ln>
        </p:spPr>
      </p:cxnSp>
      <p:cxnSp>
        <p:nvCxnSpPr>
          <p:cNvPr id="24" name="Line 24"/>
          <p:cNvCxnSpPr/>
          <p:nvPr/>
        </p:nvCxnSpPr>
        <p:spPr>
          <a:xfrm>
            <a:off x="8019745" y="3265255"/>
            <a:ext cx="3371850" cy="0"/>
          </a:xfrm>
          <a:prstGeom prst="line">
            <a:avLst/>
          </a:prstGeom>
          <a:ln w="9525" cap="flat">
            <a:solidFill>
              <a:srgbClr val="E6E8F2"/>
            </a:solidFill>
          </a:ln>
        </p:spPr>
      </p:cxnSp>
      <p:cxnSp>
        <p:nvCxnSpPr>
          <p:cNvPr id="25" name="Line 25"/>
          <p:cNvCxnSpPr/>
          <p:nvPr/>
        </p:nvCxnSpPr>
        <p:spPr>
          <a:xfrm>
            <a:off x="8019745" y="2882138"/>
            <a:ext cx="3371850" cy="0"/>
          </a:xfrm>
          <a:prstGeom prst="line">
            <a:avLst/>
          </a:prstGeom>
          <a:ln w="9525" cap="flat">
            <a:solidFill>
              <a:srgbClr val="E6E8F2"/>
            </a:solidFill>
          </a:ln>
        </p:spPr>
      </p:cxnSp>
      <p:cxnSp>
        <p:nvCxnSpPr>
          <p:cNvPr id="26" name="Line 26"/>
          <p:cNvCxnSpPr/>
          <p:nvPr/>
        </p:nvCxnSpPr>
        <p:spPr>
          <a:xfrm>
            <a:off x="8019745" y="2499021"/>
            <a:ext cx="3371850" cy="0"/>
          </a:xfrm>
          <a:prstGeom prst="line">
            <a:avLst/>
          </a:prstGeom>
          <a:ln w="9525" cap="flat">
            <a:solidFill>
              <a:srgbClr val="E6E8F2"/>
            </a:solidFill>
          </a:ln>
        </p:spPr>
      </p:cxnSp>
      <p:cxnSp>
        <p:nvCxnSpPr>
          <p:cNvPr id="27" name="Line 27"/>
          <p:cNvCxnSpPr/>
          <p:nvPr/>
        </p:nvCxnSpPr>
        <p:spPr>
          <a:xfrm>
            <a:off x="8019745" y="2115905"/>
            <a:ext cx="3371850" cy="0"/>
          </a:xfrm>
          <a:prstGeom prst="line">
            <a:avLst/>
          </a:prstGeom>
          <a:ln w="9525" cap="flat">
            <a:solidFill>
              <a:srgbClr val="E6E8F2"/>
            </a:solidFill>
          </a:ln>
        </p:spPr>
      </p:cxnSp>
      <p:cxnSp>
        <p:nvCxnSpPr>
          <p:cNvPr id="28" name="Line 28"/>
          <p:cNvCxnSpPr/>
          <p:nvPr/>
        </p:nvCxnSpPr>
        <p:spPr>
          <a:xfrm>
            <a:off x="8019745" y="1732788"/>
            <a:ext cx="3371850" cy="0"/>
          </a:xfrm>
          <a:prstGeom prst="line">
            <a:avLst/>
          </a:prstGeom>
          <a:ln w="9525" cap="flat">
            <a:solidFill>
              <a:srgbClr val="E6E8F2"/>
            </a:solidFill>
          </a:ln>
        </p:spPr>
      </p:cxnSp>
      <p:cxnSp>
        <p:nvCxnSpPr>
          <p:cNvPr id="29" name="Line 29"/>
          <p:cNvCxnSpPr/>
          <p:nvPr/>
        </p:nvCxnSpPr>
        <p:spPr>
          <a:xfrm>
            <a:off x="8019745" y="1732788"/>
            <a:ext cx="0" cy="3448050"/>
          </a:xfrm>
          <a:prstGeom prst="line">
            <a:avLst/>
          </a:prstGeom>
          <a:ln w="19050" cap="flat">
            <a:solidFill>
              <a:srgbClr val="5F6272"/>
            </a:solidFill>
          </a:ln>
        </p:spPr>
      </p:cxnSp>
      <p:cxnSp>
        <p:nvCxnSpPr>
          <p:cNvPr id="30" name="Line 30"/>
          <p:cNvCxnSpPr/>
          <p:nvPr/>
        </p:nvCxnSpPr>
        <p:spPr>
          <a:xfrm>
            <a:off x="8019745" y="5180838"/>
            <a:ext cx="3371850" cy="0"/>
          </a:xfrm>
          <a:prstGeom prst="line">
            <a:avLst/>
          </a:prstGeom>
          <a:ln w="19050" cap="flat">
            <a:solidFill>
              <a:srgbClr val="5F6272"/>
            </a:solidFill>
          </a:ln>
        </p:spPr>
      </p:cxnSp>
      <p:sp>
        <p:nvSpPr>
          <p:cNvPr id="31" name="Shape 31"/>
          <p:cNvSpPr txBox="1"/>
          <p:nvPr/>
        </p:nvSpPr>
        <p:spPr>
          <a:xfrm>
            <a:off x="77454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2" name="Shape 32"/>
          <p:cNvSpPr txBox="1"/>
          <p:nvPr/>
        </p:nvSpPr>
        <p:spPr>
          <a:xfrm>
            <a:off x="84947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80</a:t>
            </a:r>
            <a:endParaRPr lang="en-US" sz="975" dirty="0"/>
          </a:p>
        </p:txBody>
      </p:sp>
      <p:sp>
        <p:nvSpPr>
          <p:cNvPr id="33" name="Shape 33"/>
          <p:cNvSpPr txBox="1"/>
          <p:nvPr/>
        </p:nvSpPr>
        <p:spPr>
          <a:xfrm>
            <a:off x="92440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160</a:t>
            </a:r>
            <a:endParaRPr lang="en-US" sz="975" dirty="0"/>
          </a:p>
        </p:txBody>
      </p:sp>
      <p:sp>
        <p:nvSpPr>
          <p:cNvPr id="34" name="Shape 34"/>
          <p:cNvSpPr txBox="1"/>
          <p:nvPr/>
        </p:nvSpPr>
        <p:spPr>
          <a:xfrm>
            <a:off x="99933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240</a:t>
            </a:r>
            <a:endParaRPr lang="en-US" sz="975" dirty="0"/>
          </a:p>
        </p:txBody>
      </p:sp>
      <p:sp>
        <p:nvSpPr>
          <p:cNvPr id="35" name="Shape 35"/>
          <p:cNvSpPr txBox="1"/>
          <p:nvPr/>
        </p:nvSpPr>
        <p:spPr>
          <a:xfrm>
            <a:off x="107426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320</a:t>
            </a:r>
            <a:endParaRPr lang="en-US" sz="975" dirty="0"/>
          </a:p>
        </p:txBody>
      </p:sp>
      <p:sp>
        <p:nvSpPr>
          <p:cNvPr id="36" name="Shape 36"/>
          <p:cNvSpPr txBox="1"/>
          <p:nvPr/>
        </p:nvSpPr>
        <p:spPr>
          <a:xfrm>
            <a:off x="7452817" y="5089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7" name="Shape 37"/>
          <p:cNvSpPr txBox="1"/>
          <p:nvPr/>
        </p:nvSpPr>
        <p:spPr>
          <a:xfrm>
            <a:off x="7452817" y="432316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38" name="Shape 38"/>
          <p:cNvSpPr txBox="1"/>
          <p:nvPr/>
        </p:nvSpPr>
        <p:spPr>
          <a:xfrm>
            <a:off x="7452817" y="355693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160</a:t>
            </a:r>
            <a:endParaRPr lang="en-US" sz="975" dirty="0"/>
          </a:p>
        </p:txBody>
      </p:sp>
      <p:sp>
        <p:nvSpPr>
          <p:cNvPr id="39" name="Shape 39"/>
          <p:cNvSpPr txBox="1"/>
          <p:nvPr/>
        </p:nvSpPr>
        <p:spPr>
          <a:xfrm>
            <a:off x="7452817" y="2790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240</a:t>
            </a:r>
            <a:endParaRPr lang="en-US" sz="975" dirty="0"/>
          </a:p>
        </p:txBody>
      </p:sp>
      <p:sp>
        <p:nvSpPr>
          <p:cNvPr id="40" name="Shape 40"/>
          <p:cNvSpPr txBox="1"/>
          <p:nvPr/>
        </p:nvSpPr>
        <p:spPr>
          <a:xfrm>
            <a:off x="7452817" y="202446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320</a:t>
            </a:r>
            <a:endParaRPr lang="en-US" sz="975" dirty="0"/>
          </a:p>
        </p:txBody>
      </p:sp>
      <p:sp>
        <p:nvSpPr>
          <p:cNvPr id="41" name="Shape 41"/>
          <p:cNvSpPr/>
          <p:nvPr/>
        </p:nvSpPr>
        <p:spPr>
          <a:xfrm>
            <a:off x="10964558" y="512845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2" name="Shape 42"/>
          <p:cNvSpPr txBox="1"/>
          <p:nvPr/>
        </p:nvSpPr>
        <p:spPr>
          <a:xfrm>
            <a:off x="11102670" y="493318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(320, 0)</a:t>
            </a:r>
            <a:endParaRPr lang="en-US" sz="1125" dirty="0"/>
          </a:p>
        </p:txBody>
      </p:sp>
      <p:sp>
        <p:nvSpPr>
          <p:cNvPr id="43" name="Shape 43"/>
          <p:cNvSpPr/>
          <p:nvPr/>
        </p:nvSpPr>
        <p:spPr>
          <a:xfrm>
            <a:off x="7967358" y="321286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4" name="Shape 44"/>
          <p:cNvSpPr txBox="1"/>
          <p:nvPr/>
        </p:nvSpPr>
        <p:spPr>
          <a:xfrm>
            <a:off x="8105470" y="301760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(0, 200)</a:t>
            </a:r>
            <a:endParaRPr lang="en-US" sz="1125" dirty="0"/>
          </a:p>
        </p:txBody>
      </p:sp>
      <p:cxnSp>
        <p:nvCxnSpPr>
          <p:cNvPr id="45" name="Line 45"/>
          <p:cNvCxnSpPr/>
          <p:nvPr/>
        </p:nvCxnSpPr>
        <p:spPr>
          <a:xfrm>
            <a:off x="8019745" y="3265255"/>
            <a:ext cx="2997200" cy="1915583"/>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anim calcmode="lin" valueType="num">
                                      <p:cBhvr>
                                        <p:cTn id="26" dur="500" fill="hold"/>
                                        <p:tgtEl>
                                          <p:spTgt spid="41"/>
                                        </p:tgtEl>
                                        <p:attrNameLst>
                                          <p:attrName>ppt_w</p:attrName>
                                        </p:attrNameLst>
                                      </p:cBhvr>
                                      <p:tavLst>
                                        <p:tav tm="0">
                                          <p:val>
                                            <p:fltVal val="0"/>
                                          </p:val>
                                        </p:tav>
                                        <p:tav tm="100000">
                                          <p:val>
                                            <p:strVal val="#ppt_w"/>
                                          </p:val>
                                        </p:tav>
                                      </p:tavLst>
                                    </p:anim>
                                    <p:anim calcmode="lin" valueType="num">
                                      <p:cBhvr>
                                        <p:cTn id="27" dur="500" fill="hold"/>
                                        <p:tgtEl>
                                          <p:spTgt spid="41"/>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anim calcmode="lin" valueType="num">
                                      <p:cBhvr>
                                        <p:cTn id="31" dur="500" fill="hold"/>
                                        <p:tgtEl>
                                          <p:spTgt spid="42"/>
                                        </p:tgtEl>
                                        <p:attrNameLst>
                                          <p:attrName>ppt_w</p:attrName>
                                        </p:attrNameLst>
                                      </p:cBhvr>
                                      <p:tavLst>
                                        <p:tav tm="0">
                                          <p:val>
                                            <p:fltVal val="0"/>
                                          </p:val>
                                        </p:tav>
                                        <p:tav tm="100000">
                                          <p:val>
                                            <p:strVal val="#ppt_w"/>
                                          </p:val>
                                        </p:tav>
                                      </p:tavLst>
                                    </p:anim>
                                    <p:anim calcmode="lin" valueType="num">
                                      <p:cBhvr>
                                        <p:cTn id="32" dur="500" fill="hold"/>
                                        <p:tgtEl>
                                          <p:spTgt spid="42"/>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anim calcmode="lin" valueType="num">
                                      <p:cBhvr>
                                        <p:cTn id="38" dur="500" fill="hold"/>
                                        <p:tgtEl>
                                          <p:spTgt spid="43"/>
                                        </p:tgtEl>
                                        <p:attrNameLst>
                                          <p:attrName>ppt_w</p:attrName>
                                        </p:attrNameLst>
                                      </p:cBhvr>
                                      <p:tavLst>
                                        <p:tav tm="0">
                                          <p:val>
                                            <p:fltVal val="0"/>
                                          </p:val>
                                        </p:tav>
                                        <p:tav tm="100000">
                                          <p:val>
                                            <p:strVal val="#ppt_w"/>
                                          </p:val>
                                        </p:tav>
                                      </p:tavLst>
                                    </p:anim>
                                    <p:anim calcmode="lin" valueType="num">
                                      <p:cBhvr>
                                        <p:cTn id="39" dur="500" fill="hold"/>
                                        <p:tgtEl>
                                          <p:spTgt spid="43"/>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anim calcmode="lin" valueType="num">
                                      <p:cBhvr>
                                        <p:cTn id="43" dur="500" fill="hold"/>
                                        <p:tgtEl>
                                          <p:spTgt spid="44"/>
                                        </p:tgtEl>
                                        <p:attrNameLst>
                                          <p:attrName>ppt_w</p:attrName>
                                        </p:attrNameLst>
                                      </p:cBhvr>
                                      <p:tavLst>
                                        <p:tav tm="0">
                                          <p:val>
                                            <p:fltVal val="0"/>
                                          </p:val>
                                        </p:tav>
                                        <p:tav tm="100000">
                                          <p:val>
                                            <p:strVal val="#ppt_w"/>
                                          </p:val>
                                        </p:tav>
                                      </p:tavLst>
                                    </p:anim>
                                    <p:anim calcmode="lin" valueType="num">
                                      <p:cBhvr>
                                        <p:cTn id="44" dur="500" fill="hold"/>
                                        <p:tgtEl>
                                          <p:spTgt spid="44"/>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22" presetClass="entr" presetSubtype="8" fill="hold" nodeType="click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wipe(left)">
                                      <p:cBhvr>
                                        <p:cTn id="49" dur="7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Questions 6–7 · SE p. 228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Complete the table</a:t>
            </a:r>
            <a:endParaRPr lang="en-US" sz="3450" dirty="0"/>
          </a:p>
        </p:txBody>
      </p:sp>
      <p:sp>
        <p:nvSpPr>
          <p:cNvPr id="4" name="Shape 4"/>
          <p:cNvSpPr txBox="1"/>
          <p:nvPr/>
        </p:nvSpPr>
        <p:spPr>
          <a:xfrm>
            <a:off x="685800" y="1618488"/>
            <a:ext cx="2222754"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Standard form</a:t>
            </a:r>
            <a:endParaRPr lang="en-US" sz="1950" dirty="0"/>
          </a:p>
        </p:txBody>
      </p:sp>
      <p:sp>
        <p:nvSpPr>
          <p:cNvPr id="5" name="Shape 5"/>
          <p:cNvSpPr txBox="1"/>
          <p:nvPr/>
        </p:nvSpPr>
        <p:spPr>
          <a:xfrm>
            <a:off x="2908554" y="1618488"/>
            <a:ext cx="196519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-intercept</a:t>
            </a:r>
            <a:endParaRPr lang="en-US" sz="1950" dirty="0"/>
          </a:p>
        </p:txBody>
      </p:sp>
      <p:sp>
        <p:nvSpPr>
          <p:cNvPr id="6" name="Shape 6"/>
          <p:cNvSpPr txBox="1"/>
          <p:nvPr/>
        </p:nvSpPr>
        <p:spPr>
          <a:xfrm>
            <a:off x="4873752" y="1618488"/>
            <a:ext cx="196519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-intercept</a:t>
            </a:r>
            <a:endParaRPr lang="en-US" sz="1950" dirty="0"/>
          </a:p>
        </p:txBody>
      </p:sp>
      <p:sp>
        <p:nvSpPr>
          <p:cNvPr id="7" name="Shape 7"/>
          <p:cNvSpPr txBox="1"/>
          <p:nvPr/>
        </p:nvSpPr>
        <p:spPr>
          <a:xfrm>
            <a:off x="6838950" y="1618488"/>
            <a:ext cx="119253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Slope</a:t>
            </a:r>
            <a:endParaRPr lang="en-US" sz="1950" dirty="0"/>
          </a:p>
        </p:txBody>
      </p:sp>
      <p:sp>
        <p:nvSpPr>
          <p:cNvPr id="8" name="Shape 8"/>
          <p:cNvSpPr txBox="1"/>
          <p:nvPr/>
        </p:nvSpPr>
        <p:spPr>
          <a:xfrm>
            <a:off x="685800" y="2061972"/>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6</a:t>
            </a:r>
            <a:endParaRPr lang="en-US" sz="1950" dirty="0"/>
          </a:p>
        </p:txBody>
      </p:sp>
      <p:sp>
        <p:nvSpPr>
          <p:cNvPr id="9" name="Shape 9"/>
          <p:cNvSpPr txBox="1"/>
          <p:nvPr/>
        </p:nvSpPr>
        <p:spPr>
          <a:xfrm>
            <a:off x="2908554" y="2061972"/>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0" name="Shape 10"/>
          <p:cNvSpPr txBox="1"/>
          <p:nvPr/>
        </p:nvSpPr>
        <p:spPr>
          <a:xfrm>
            <a:off x="2908554" y="2061972"/>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6</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5</a:t>
            </a:r>
            <a:r>
              <a:rPr lang="en-US" sz="1950" dirty="0">
                <a:solidFill>
                  <a:srgbClr val="16171D"/>
                </a:solidFill>
                <a:latin typeface="Cambria"/>
                <a:cs typeface="Cambria"/>
              </a:rPr>
              <a:t xml:space="preserve">, 0)</a:t>
            </a:r>
            <a:endParaRPr lang="en-US" sz="1950" dirty="0"/>
          </a:p>
        </p:txBody>
      </p:sp>
      <p:sp>
        <p:nvSpPr>
          <p:cNvPr id="11" name="Shape 11"/>
          <p:cNvSpPr txBox="1"/>
          <p:nvPr/>
        </p:nvSpPr>
        <p:spPr>
          <a:xfrm>
            <a:off x="4873752" y="2061972"/>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2" name="Shape 12"/>
          <p:cNvSpPr txBox="1"/>
          <p:nvPr/>
        </p:nvSpPr>
        <p:spPr>
          <a:xfrm>
            <a:off x="4873752" y="2061972"/>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(0, 3)</a:t>
            </a:r>
            <a:endParaRPr lang="en-US" sz="1950" dirty="0"/>
          </a:p>
        </p:txBody>
      </p:sp>
      <p:sp>
        <p:nvSpPr>
          <p:cNvPr id="13" name="Shape 13"/>
          <p:cNvSpPr txBox="1"/>
          <p:nvPr/>
        </p:nvSpPr>
        <p:spPr>
          <a:xfrm>
            <a:off x="6838950" y="2061972"/>
            <a:ext cx="1192530"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4" name="Shape 14"/>
          <p:cNvSpPr txBox="1"/>
          <p:nvPr/>
        </p:nvSpPr>
        <p:spPr>
          <a:xfrm>
            <a:off x="6838950" y="2061972"/>
            <a:ext cx="1192530"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5</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endParaRPr lang="en-US" sz="1950" dirty="0"/>
          </a:p>
        </p:txBody>
      </p:sp>
      <p:sp>
        <p:nvSpPr>
          <p:cNvPr id="15" name="Shape 15"/>
          <p:cNvSpPr txBox="1"/>
          <p:nvPr/>
        </p:nvSpPr>
        <p:spPr>
          <a:xfrm>
            <a:off x="685800" y="2505456"/>
            <a:ext cx="2222754"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6" name="Shape 16"/>
          <p:cNvSpPr txBox="1"/>
          <p:nvPr/>
        </p:nvSpPr>
        <p:spPr>
          <a:xfrm>
            <a:off x="685800" y="2505456"/>
            <a:ext cx="2222754"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7</a:t>
            </a:r>
            <a:endParaRPr lang="en-US" sz="1950" dirty="0"/>
          </a:p>
        </p:txBody>
      </p:sp>
      <p:sp>
        <p:nvSpPr>
          <p:cNvPr id="17" name="Shape 17"/>
          <p:cNvSpPr txBox="1"/>
          <p:nvPr/>
        </p:nvSpPr>
        <p:spPr>
          <a:xfrm>
            <a:off x="2908554" y="2505456"/>
            <a:ext cx="196519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7</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 0)</a:t>
            </a:r>
            <a:endParaRPr lang="en-US" sz="1950" dirty="0"/>
          </a:p>
        </p:txBody>
      </p:sp>
      <p:sp>
        <p:nvSpPr>
          <p:cNvPr id="18" name="Shape 18"/>
          <p:cNvSpPr txBox="1"/>
          <p:nvPr/>
        </p:nvSpPr>
        <p:spPr>
          <a:xfrm>
            <a:off x="4873752" y="2505456"/>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9" name="Shape 19"/>
          <p:cNvSpPr txBox="1"/>
          <p:nvPr/>
        </p:nvSpPr>
        <p:spPr>
          <a:xfrm>
            <a:off x="4873752" y="2505456"/>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 </a:t>
            </a:r>
            <a:r>
              <a:rPr lang="en-US" sz="1950" dirty="0">
                <a:solidFill>
                  <a:srgbClr val="16171D"/>
                </a:solidFill>
                <a:latin typeface="Cambria"/>
                <a:cs typeface="Cambria"/>
              </a:rPr>
              <a:t xml:space="preserve">7</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r>
              <a:rPr lang="en-US" sz="1950" dirty="0">
                <a:solidFill>
                  <a:srgbClr val="16171D"/>
                </a:solidFill>
                <a:latin typeface="Cambria"/>
                <a:cs typeface="Cambria"/>
              </a:rPr>
              <a:t xml:space="preserve">)</a:t>
            </a:r>
            <a:endParaRPr lang="en-US" sz="1950" dirty="0"/>
          </a:p>
        </p:txBody>
      </p:sp>
      <p:sp>
        <p:nvSpPr>
          <p:cNvPr id="20" name="Shape 20"/>
          <p:cNvSpPr txBox="1"/>
          <p:nvPr/>
        </p:nvSpPr>
        <p:spPr>
          <a:xfrm>
            <a:off x="6838950" y="2505456"/>
            <a:ext cx="119253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endParaRPr lang="en-US" sz="1950" dirty="0"/>
          </a:p>
        </p:txBody>
      </p:sp>
      <p:sp>
        <p:nvSpPr>
          <p:cNvPr id="21" name="Shape 21"/>
          <p:cNvSpPr txBox="1"/>
          <p:nvPr/>
        </p:nvSpPr>
        <p:spPr>
          <a:xfrm>
            <a:off x="685800" y="2948940"/>
            <a:ext cx="2222754"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22" name="Shape 22"/>
          <p:cNvSpPr txBox="1"/>
          <p:nvPr/>
        </p:nvSpPr>
        <p:spPr>
          <a:xfrm>
            <a:off x="685800" y="2948940"/>
            <a:ext cx="2222754"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9</a:t>
            </a:r>
            <a:endParaRPr lang="en-US" sz="1950" dirty="0"/>
          </a:p>
        </p:txBody>
      </p:sp>
      <p:sp>
        <p:nvSpPr>
          <p:cNvPr id="23" name="Shape 23"/>
          <p:cNvSpPr txBox="1"/>
          <p:nvPr/>
        </p:nvSpPr>
        <p:spPr>
          <a:xfrm>
            <a:off x="2908554" y="2948940"/>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24" name="Shape 24"/>
          <p:cNvSpPr txBox="1"/>
          <p:nvPr/>
        </p:nvSpPr>
        <p:spPr>
          <a:xfrm>
            <a:off x="2908554" y="2948940"/>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9</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r>
              <a:rPr lang="en-US" sz="1950" dirty="0">
                <a:solidFill>
                  <a:srgbClr val="16171D"/>
                </a:solidFill>
                <a:latin typeface="Cambria"/>
                <a:cs typeface="Cambria"/>
              </a:rPr>
              <a:t xml:space="preserve">, 0)</a:t>
            </a:r>
            <a:endParaRPr lang="en-US" sz="1950" dirty="0"/>
          </a:p>
        </p:txBody>
      </p:sp>
      <p:sp>
        <p:nvSpPr>
          <p:cNvPr id="25" name="Shape 25"/>
          <p:cNvSpPr txBox="1"/>
          <p:nvPr/>
        </p:nvSpPr>
        <p:spPr>
          <a:xfrm>
            <a:off x="4873752" y="2948940"/>
            <a:ext cx="196519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 −3)</a:t>
            </a:r>
            <a:endParaRPr lang="en-US" sz="1950" dirty="0"/>
          </a:p>
        </p:txBody>
      </p:sp>
      <p:sp>
        <p:nvSpPr>
          <p:cNvPr id="26" name="Shape 26"/>
          <p:cNvSpPr txBox="1"/>
          <p:nvPr/>
        </p:nvSpPr>
        <p:spPr>
          <a:xfrm>
            <a:off x="6838950" y="2948940"/>
            <a:ext cx="119253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endParaRPr lang="en-US" sz="1950" dirty="0"/>
          </a:p>
        </p:txBody>
      </p:sp>
      <p:sp>
        <p:nvSpPr>
          <p:cNvPr id="27" name="Shape 27"/>
          <p:cNvSpPr txBox="1"/>
          <p:nvPr/>
        </p:nvSpPr>
        <p:spPr>
          <a:xfrm>
            <a:off x="685800" y="3392424"/>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11</a:t>
            </a:r>
            <a:endParaRPr lang="en-US" sz="1950" dirty="0"/>
          </a:p>
        </p:txBody>
      </p:sp>
      <p:sp>
        <p:nvSpPr>
          <p:cNvPr id="28" name="Shape 28"/>
          <p:cNvSpPr txBox="1"/>
          <p:nvPr/>
        </p:nvSpPr>
        <p:spPr>
          <a:xfrm>
            <a:off x="2908554" y="3392424"/>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29" name="Shape 29"/>
          <p:cNvSpPr txBox="1"/>
          <p:nvPr/>
        </p:nvSpPr>
        <p:spPr>
          <a:xfrm>
            <a:off x="2908554" y="3392424"/>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11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5</a:t>
            </a:r>
            <a:r>
              <a:rPr lang="en-US" sz="1950" dirty="0">
                <a:solidFill>
                  <a:srgbClr val="16171D"/>
                </a:solidFill>
                <a:latin typeface="Cambria"/>
                <a:cs typeface="Cambria"/>
              </a:rPr>
              <a:t xml:space="preserve">, 0)</a:t>
            </a:r>
            <a:endParaRPr lang="en-US" sz="1950" dirty="0"/>
          </a:p>
        </p:txBody>
      </p:sp>
      <p:sp>
        <p:nvSpPr>
          <p:cNvPr id="30" name="Shape 30"/>
          <p:cNvSpPr txBox="1"/>
          <p:nvPr/>
        </p:nvSpPr>
        <p:spPr>
          <a:xfrm>
            <a:off x="4873752" y="3392424"/>
            <a:ext cx="1965198"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31" name="Shape 31"/>
          <p:cNvSpPr txBox="1"/>
          <p:nvPr/>
        </p:nvSpPr>
        <p:spPr>
          <a:xfrm>
            <a:off x="4873752" y="3392424"/>
            <a:ext cx="1965198"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 </a:t>
            </a:r>
            <a:r>
              <a:rPr lang="en-US" sz="1950" dirty="0">
                <a:solidFill>
                  <a:srgbClr val="16171D"/>
                </a:solidFill>
                <a:latin typeface="Cambria"/>
                <a:cs typeface="Cambria"/>
              </a:rPr>
              <a:t xml:space="preserve">11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7</a:t>
            </a:r>
            <a:r>
              <a:rPr lang="en-US" sz="1950" dirty="0">
                <a:solidFill>
                  <a:srgbClr val="16171D"/>
                </a:solidFill>
                <a:latin typeface="Cambria"/>
                <a:cs typeface="Cambria"/>
              </a:rPr>
              <a:t xml:space="preserve">)</a:t>
            </a:r>
            <a:endParaRPr lang="en-US" sz="1950" dirty="0"/>
          </a:p>
        </p:txBody>
      </p:sp>
      <p:sp>
        <p:nvSpPr>
          <p:cNvPr id="32" name="Shape 32"/>
          <p:cNvSpPr txBox="1"/>
          <p:nvPr/>
        </p:nvSpPr>
        <p:spPr>
          <a:xfrm>
            <a:off x="6838950" y="3392424"/>
            <a:ext cx="1192530"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33" name="Shape 33"/>
          <p:cNvSpPr txBox="1"/>
          <p:nvPr/>
        </p:nvSpPr>
        <p:spPr>
          <a:xfrm>
            <a:off x="6838950" y="3392424"/>
            <a:ext cx="1192530"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7</a:t>
            </a:r>
            <a:endParaRPr lang="en-US" sz="1950" dirty="0"/>
          </a:p>
        </p:txBody>
      </p:sp>
      <p:sp>
        <p:nvSpPr>
          <p:cNvPr id="34" name="Shape 34"/>
          <p:cNvSpPr txBox="1"/>
          <p:nvPr/>
        </p:nvSpPr>
        <p:spPr>
          <a:xfrm>
            <a:off x="685800" y="400735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7.</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-intercept </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C</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0)</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a:solidFill>
                  <a:srgbClr val="16171D"/>
                </a:solidFill>
                <a:latin typeface="Cambria"/>
                <a:cs typeface="Cambria"/>
              </a:rPr>
              <a:t xml:space="preserve">(0, </a:t>
            </a:r>
            <a:r>
              <a:rPr lang="en-US" sz="1950" dirty="0" i="1">
                <a:solidFill>
                  <a:srgbClr val="16171D"/>
                </a:solidFill>
                <a:latin typeface="Cambria"/>
                <a:cs typeface="Cambria"/>
              </a:rPr>
              <a:t xml:space="preserve">C</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B</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 slope </a:t>
            </a:r>
            <a:r>
              <a:rPr lang="en-US" sz="1950" dirty="0" b="1">
                <a:solidFill>
                  <a:srgbClr val="C9561F"/>
                </a:solidFill>
                <a:latin typeface="Cambria"/>
                <a:cs typeface="Cambria"/>
              </a:rPr>
              <a:t xml:space="preserve">−</a:t>
            </a:r>
            <a:r>
              <a:rPr lang="en-US" sz="1950" dirty="0" b="1" i="1">
                <a:solidFill>
                  <a:srgbClr val="C9561F"/>
                </a:solidFill>
                <a:latin typeface="Cambria"/>
                <a:cs typeface="Cambria"/>
              </a:rPr>
              <a:t xml:space="preserve">A</a:t>
            </a:r>
            <a:r>
              <a:rPr lang="en-US" sz="1950" dirty="0" b="1">
                <a:solidFill>
                  <a:srgbClr val="C9561F"/>
                </a:solidFill>
                <a:latin typeface="Cambria"/>
                <a:cs typeface="Cambria"/>
              </a:rPr>
              <a:t xml:space="preserve">/</a:t>
            </a:r>
            <a:r>
              <a:rPr lang="en-US" sz="1950" dirty="0" b="1" i="1">
                <a:solidFill>
                  <a:srgbClr val="C9561F"/>
                </a:solidFill>
                <a:latin typeface="Cambria"/>
                <a:cs typeface="Cambria"/>
              </a:rPr>
              <a:t xml:space="preserve">B</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500"/>
                                        <p:tgtEl>
                                          <p:spTgt spid="10"/>
                                        </p:tgtEl>
                                      </p:cBhvr>
                                    </p:animEffect>
                                    <p:anim calcmode="lin" valueType="num">
                                      <p:cBhvr>
                                        <p:cTn id="5" dur="500" fill="hold"/>
                                        <p:tgtEl>
                                          <p:spTgt spid="10"/>
                                        </p:tgtEl>
                                        <p:attrNameLst>
                                          <p:attrName>ppt_x</p:attrName>
                                        </p:attrNameLst>
                                      </p:cBhvr>
                                      <p:tavLst>
                                        <p:tav tm="0">
                                          <p:val>
                                            <p:strVal val="#ppt_x"/>
                                          </p:val>
                                        </p:tav>
                                        <p:tav tm="100000">
                                          <p:val>
                                            <p:strVal val="#ppt_x"/>
                                          </p:val>
                                        </p:tav>
                                      </p:tavLst>
                                    </p:anim>
                                    <p:anim calcmode="lin" valueType="num">
                                      <p:cBhvr>
                                        <p:cTn id="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anim calcmode="lin" valueType="num">
                                      <p:cBhvr>
                                        <p:cTn id="12" dur="500" fill="hold"/>
                                        <p:tgtEl>
                                          <p:spTgt spid="12"/>
                                        </p:tgtEl>
                                        <p:attrNameLst>
                                          <p:attrName>ppt_x</p:attrName>
                                        </p:attrNameLst>
                                      </p:cBhvr>
                                      <p:tavLst>
                                        <p:tav tm="0">
                                          <p:val>
                                            <p:strVal val="#ppt_x"/>
                                          </p:val>
                                        </p:tav>
                                        <p:tav tm="100000">
                                          <p:val>
                                            <p:strVal val="#ppt_x"/>
                                          </p:val>
                                        </p:tav>
                                      </p:tavLst>
                                    </p:anim>
                                    <p:anim calcmode="lin" valueType="num">
                                      <p:cBhvr>
                                        <p:cTn id="13"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anim calcmode="lin" valueType="num">
                                      <p:cBhvr>
                                        <p:cTn id="26" dur="500" fill="hold"/>
                                        <p:tgtEl>
                                          <p:spTgt spid="16"/>
                                        </p:tgtEl>
                                        <p:attrNameLst>
                                          <p:attrName>ppt_x</p:attrName>
                                        </p:attrNameLst>
                                      </p:cBhvr>
                                      <p:tavLst>
                                        <p:tav tm="0">
                                          <p:val>
                                            <p:strVal val="#ppt_x"/>
                                          </p:val>
                                        </p:tav>
                                        <p:tav tm="100000">
                                          <p:val>
                                            <p:strVal val="#ppt_x"/>
                                          </p:val>
                                        </p:tav>
                                      </p:tavLst>
                                    </p:anim>
                                    <p:anim calcmode="lin" valueType="num">
                                      <p:cBhvr>
                                        <p:cTn id="27"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anim calcmode="lin" valueType="num">
                                      <p:cBhvr>
                                        <p:cTn id="33" dur="500" fill="hold"/>
                                        <p:tgtEl>
                                          <p:spTgt spid="19"/>
                                        </p:tgtEl>
                                        <p:attrNameLst>
                                          <p:attrName>ppt_x</p:attrName>
                                        </p:attrNameLst>
                                      </p:cBhvr>
                                      <p:tavLst>
                                        <p:tav tm="0">
                                          <p:val>
                                            <p:strVal val="#ppt_x"/>
                                          </p:val>
                                        </p:tav>
                                        <p:tav tm="100000">
                                          <p:val>
                                            <p:strVal val="#ppt_x"/>
                                          </p:val>
                                        </p:tav>
                                      </p:tavLst>
                                    </p:anim>
                                    <p:anim calcmode="lin" valueType="num">
                                      <p:cBhvr>
                                        <p:cTn id="3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anim calcmode="lin" valueType="num">
                                      <p:cBhvr>
                                        <p:cTn id="40" dur="500" fill="hold"/>
                                        <p:tgtEl>
                                          <p:spTgt spid="22"/>
                                        </p:tgtEl>
                                        <p:attrNameLst>
                                          <p:attrName>ppt_x</p:attrName>
                                        </p:attrNameLst>
                                      </p:cBhvr>
                                      <p:tavLst>
                                        <p:tav tm="0">
                                          <p:val>
                                            <p:strVal val="#ppt_x"/>
                                          </p:val>
                                        </p:tav>
                                        <p:tav tm="100000">
                                          <p:val>
                                            <p:strVal val="#ppt_x"/>
                                          </p:val>
                                        </p:tav>
                                      </p:tavLst>
                                    </p:anim>
                                    <p:anim calcmode="lin" valueType="num">
                                      <p:cBhvr>
                                        <p:cTn id="41"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anim calcmode="lin" valueType="num">
                                      <p:cBhvr>
                                        <p:cTn id="47" dur="500" fill="hold"/>
                                        <p:tgtEl>
                                          <p:spTgt spid="24"/>
                                        </p:tgtEl>
                                        <p:attrNameLst>
                                          <p:attrName>ppt_x</p:attrName>
                                        </p:attrNameLst>
                                      </p:cBhvr>
                                      <p:tavLst>
                                        <p:tav tm="0">
                                          <p:val>
                                            <p:strVal val="#ppt_x"/>
                                          </p:val>
                                        </p:tav>
                                        <p:tav tm="100000">
                                          <p:val>
                                            <p:strVal val="#ppt_x"/>
                                          </p:val>
                                        </p:tav>
                                      </p:tavLst>
                                    </p:anim>
                                    <p:anim calcmode="lin" valueType="num">
                                      <p:cBhvr>
                                        <p:cTn id="48"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anim calcmode="lin" valueType="num">
                                      <p:cBhvr>
                                        <p:cTn id="54" dur="500" fill="hold"/>
                                        <p:tgtEl>
                                          <p:spTgt spid="29"/>
                                        </p:tgtEl>
                                        <p:attrNameLst>
                                          <p:attrName>ppt_x</p:attrName>
                                        </p:attrNameLst>
                                      </p:cBhvr>
                                      <p:tavLst>
                                        <p:tav tm="0">
                                          <p:val>
                                            <p:strVal val="#ppt_x"/>
                                          </p:val>
                                        </p:tav>
                                        <p:tav tm="100000">
                                          <p:val>
                                            <p:strVal val="#ppt_x"/>
                                          </p:val>
                                        </p:tav>
                                      </p:tavLst>
                                    </p:anim>
                                    <p:anim calcmode="lin" valueType="num">
                                      <p:cBhvr>
                                        <p:cTn id="55" dur="5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anim calcmode="lin" valueType="num">
                                      <p:cBhvr>
                                        <p:cTn id="61" dur="500" fill="hold"/>
                                        <p:tgtEl>
                                          <p:spTgt spid="31"/>
                                        </p:tgtEl>
                                        <p:attrNameLst>
                                          <p:attrName>ppt_x</p:attrName>
                                        </p:attrNameLst>
                                      </p:cBhvr>
                                      <p:tavLst>
                                        <p:tav tm="0">
                                          <p:val>
                                            <p:strVal val="#ppt_x"/>
                                          </p:val>
                                        </p:tav>
                                        <p:tav tm="100000">
                                          <p:val>
                                            <p:strVal val="#ppt_x"/>
                                          </p:val>
                                        </p:tav>
                                      </p:tavLst>
                                    </p:anim>
                                    <p:anim calcmode="lin" valueType="num">
                                      <p:cBhvr>
                                        <p:cTn id="62"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500"/>
                                        <p:tgtEl>
                                          <p:spTgt spid="33"/>
                                        </p:tgtEl>
                                      </p:cBhvr>
                                    </p:animEffect>
                                    <p:anim calcmode="lin" valueType="num">
                                      <p:cBhvr>
                                        <p:cTn id="68" dur="500" fill="hold"/>
                                        <p:tgtEl>
                                          <p:spTgt spid="33"/>
                                        </p:tgtEl>
                                        <p:attrNameLst>
                                          <p:attrName>ppt_x</p:attrName>
                                        </p:attrNameLst>
                                      </p:cBhvr>
                                      <p:tavLst>
                                        <p:tav tm="0">
                                          <p:val>
                                            <p:strVal val="#ppt_x"/>
                                          </p:val>
                                        </p:tav>
                                        <p:tav tm="100000">
                                          <p:val>
                                            <p:strVal val="#ppt_x"/>
                                          </p:val>
                                        </p:tav>
                                      </p:tavLst>
                                    </p:anim>
                                    <p:anim calcmode="lin" valueType="num">
                                      <p:cBhvr>
                                        <p:cTn id="69" dur="5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500"/>
                                        <p:tgtEl>
                                          <p:spTgt spid="34"/>
                                        </p:tgtEl>
                                      </p:cBhvr>
                                    </p:animEffect>
                                    <p:anim calcmode="lin" valueType="num">
                                      <p:cBhvr>
                                        <p:cTn id="75" dur="500" fill="hold"/>
                                        <p:tgtEl>
                                          <p:spTgt spid="34"/>
                                        </p:tgtEl>
                                        <p:attrNameLst>
                                          <p:attrName>ppt_x</p:attrName>
                                        </p:attrNameLst>
                                      </p:cBhvr>
                                      <p:tavLst>
                                        <p:tav tm="0">
                                          <p:val>
                                            <p:strVal val="#ppt_x"/>
                                          </p:val>
                                        </p:tav>
                                        <p:tav tm="100000">
                                          <p:val>
                                            <p:strVal val="#ppt_x"/>
                                          </p:val>
                                        </p:tav>
                                      </p:tavLst>
                                    </p:anim>
                                    <p:anim calcmode="lin" valueType="num">
                                      <p:cBhvr>
                                        <p:cTn id="76" dur="5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 8 · SE p. 229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Match each graph with its equation</a:t>
            </a:r>
            <a:endParaRPr lang="en-US" sz="3450" dirty="0"/>
          </a:p>
        </p:txBody>
      </p:sp>
      <p:sp>
        <p:nvSpPr>
          <p:cNvPr id="4" name="Shape 4"/>
          <p:cNvSpPr/>
          <p:nvPr/>
        </p:nvSpPr>
        <p:spPr>
          <a:xfrm>
            <a:off x="685800" y="1618488"/>
            <a:ext cx="36195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 name="Line 5"/>
          <p:cNvCxnSpPr/>
          <p:nvPr/>
        </p:nvCxnSpPr>
        <p:spPr>
          <a:xfrm>
            <a:off x="1009650" y="1732788"/>
            <a:ext cx="0" cy="3638550"/>
          </a:xfrm>
          <a:prstGeom prst="line">
            <a:avLst/>
          </a:prstGeom>
          <a:ln w="9525" cap="flat">
            <a:solidFill>
              <a:srgbClr val="E6E8F2"/>
            </a:solidFill>
          </a:ln>
        </p:spPr>
      </p:cxnSp>
      <p:cxnSp>
        <p:nvCxnSpPr>
          <p:cNvPr id="6" name="Line 6"/>
          <p:cNvCxnSpPr/>
          <p:nvPr/>
        </p:nvCxnSpPr>
        <p:spPr>
          <a:xfrm>
            <a:off x="1363133" y="1732788"/>
            <a:ext cx="0" cy="3638550"/>
          </a:xfrm>
          <a:prstGeom prst="line">
            <a:avLst/>
          </a:prstGeom>
          <a:ln w="9525" cap="flat">
            <a:solidFill>
              <a:srgbClr val="E6E8F2"/>
            </a:solidFill>
          </a:ln>
        </p:spPr>
      </p:cxnSp>
      <p:cxnSp>
        <p:nvCxnSpPr>
          <p:cNvPr id="7" name="Line 7"/>
          <p:cNvCxnSpPr/>
          <p:nvPr/>
        </p:nvCxnSpPr>
        <p:spPr>
          <a:xfrm>
            <a:off x="1716617" y="1732788"/>
            <a:ext cx="0" cy="3638550"/>
          </a:xfrm>
          <a:prstGeom prst="line">
            <a:avLst/>
          </a:prstGeom>
          <a:ln w="9525" cap="flat">
            <a:solidFill>
              <a:srgbClr val="E6E8F2"/>
            </a:solidFill>
          </a:ln>
        </p:spPr>
      </p:cxnSp>
      <p:cxnSp>
        <p:nvCxnSpPr>
          <p:cNvPr id="8" name="Line 8"/>
          <p:cNvCxnSpPr/>
          <p:nvPr/>
        </p:nvCxnSpPr>
        <p:spPr>
          <a:xfrm>
            <a:off x="2070100" y="1732788"/>
            <a:ext cx="0" cy="3638550"/>
          </a:xfrm>
          <a:prstGeom prst="line">
            <a:avLst/>
          </a:prstGeom>
          <a:ln w="9525" cap="flat">
            <a:solidFill>
              <a:srgbClr val="E6E8F2"/>
            </a:solidFill>
          </a:ln>
        </p:spPr>
      </p:cxnSp>
      <p:cxnSp>
        <p:nvCxnSpPr>
          <p:cNvPr id="9" name="Line 9"/>
          <p:cNvCxnSpPr/>
          <p:nvPr/>
        </p:nvCxnSpPr>
        <p:spPr>
          <a:xfrm>
            <a:off x="2423583" y="1732788"/>
            <a:ext cx="0" cy="3638550"/>
          </a:xfrm>
          <a:prstGeom prst="line">
            <a:avLst/>
          </a:prstGeom>
          <a:ln w="9525" cap="flat">
            <a:solidFill>
              <a:srgbClr val="E6E8F2"/>
            </a:solidFill>
          </a:ln>
        </p:spPr>
      </p:cxnSp>
      <p:cxnSp>
        <p:nvCxnSpPr>
          <p:cNvPr id="10" name="Line 10"/>
          <p:cNvCxnSpPr/>
          <p:nvPr/>
        </p:nvCxnSpPr>
        <p:spPr>
          <a:xfrm>
            <a:off x="2777067" y="1732788"/>
            <a:ext cx="0" cy="3638550"/>
          </a:xfrm>
          <a:prstGeom prst="line">
            <a:avLst/>
          </a:prstGeom>
          <a:ln w="9525" cap="flat">
            <a:solidFill>
              <a:srgbClr val="E6E8F2"/>
            </a:solidFill>
          </a:ln>
        </p:spPr>
      </p:cxnSp>
      <p:cxnSp>
        <p:nvCxnSpPr>
          <p:cNvPr id="11" name="Line 11"/>
          <p:cNvCxnSpPr/>
          <p:nvPr/>
        </p:nvCxnSpPr>
        <p:spPr>
          <a:xfrm>
            <a:off x="3130550" y="1732788"/>
            <a:ext cx="0" cy="3638550"/>
          </a:xfrm>
          <a:prstGeom prst="line">
            <a:avLst/>
          </a:prstGeom>
          <a:ln w="9525" cap="flat">
            <a:solidFill>
              <a:srgbClr val="E6E8F2"/>
            </a:solidFill>
          </a:ln>
        </p:spPr>
      </p:cxnSp>
      <p:cxnSp>
        <p:nvCxnSpPr>
          <p:cNvPr id="12" name="Line 12"/>
          <p:cNvCxnSpPr/>
          <p:nvPr/>
        </p:nvCxnSpPr>
        <p:spPr>
          <a:xfrm>
            <a:off x="3484033" y="1732788"/>
            <a:ext cx="0" cy="3638550"/>
          </a:xfrm>
          <a:prstGeom prst="line">
            <a:avLst/>
          </a:prstGeom>
          <a:ln w="9525" cap="flat">
            <a:solidFill>
              <a:srgbClr val="E6E8F2"/>
            </a:solidFill>
          </a:ln>
        </p:spPr>
      </p:cxnSp>
      <p:cxnSp>
        <p:nvCxnSpPr>
          <p:cNvPr id="13" name="Line 13"/>
          <p:cNvCxnSpPr/>
          <p:nvPr/>
        </p:nvCxnSpPr>
        <p:spPr>
          <a:xfrm>
            <a:off x="3837517" y="1732788"/>
            <a:ext cx="0" cy="3638550"/>
          </a:xfrm>
          <a:prstGeom prst="line">
            <a:avLst/>
          </a:prstGeom>
          <a:ln w="9525" cap="flat">
            <a:solidFill>
              <a:srgbClr val="E6E8F2"/>
            </a:solidFill>
          </a:ln>
        </p:spPr>
      </p:cxnSp>
      <p:cxnSp>
        <p:nvCxnSpPr>
          <p:cNvPr id="14" name="Line 14"/>
          <p:cNvCxnSpPr/>
          <p:nvPr/>
        </p:nvCxnSpPr>
        <p:spPr>
          <a:xfrm>
            <a:off x="4191000" y="1732788"/>
            <a:ext cx="0" cy="3638550"/>
          </a:xfrm>
          <a:prstGeom prst="line">
            <a:avLst/>
          </a:prstGeom>
          <a:ln w="9525" cap="flat">
            <a:solidFill>
              <a:srgbClr val="E6E8F2"/>
            </a:solidFill>
          </a:ln>
        </p:spPr>
      </p:cxnSp>
      <p:cxnSp>
        <p:nvCxnSpPr>
          <p:cNvPr id="15" name="Line 15"/>
          <p:cNvCxnSpPr/>
          <p:nvPr/>
        </p:nvCxnSpPr>
        <p:spPr>
          <a:xfrm>
            <a:off x="1009650" y="5371338"/>
            <a:ext cx="3181350" cy="0"/>
          </a:xfrm>
          <a:prstGeom prst="line">
            <a:avLst/>
          </a:prstGeom>
          <a:ln w="9525" cap="flat">
            <a:solidFill>
              <a:srgbClr val="E6E8F2"/>
            </a:solidFill>
          </a:ln>
        </p:spPr>
      </p:cxnSp>
      <p:cxnSp>
        <p:nvCxnSpPr>
          <p:cNvPr id="16" name="Line 16"/>
          <p:cNvCxnSpPr/>
          <p:nvPr/>
        </p:nvCxnSpPr>
        <p:spPr>
          <a:xfrm>
            <a:off x="1009650" y="5068126"/>
            <a:ext cx="3181350" cy="0"/>
          </a:xfrm>
          <a:prstGeom prst="line">
            <a:avLst/>
          </a:prstGeom>
          <a:ln w="9525" cap="flat">
            <a:solidFill>
              <a:srgbClr val="E6E8F2"/>
            </a:solidFill>
          </a:ln>
        </p:spPr>
      </p:cxnSp>
      <p:cxnSp>
        <p:nvCxnSpPr>
          <p:cNvPr id="17" name="Line 17"/>
          <p:cNvCxnSpPr/>
          <p:nvPr/>
        </p:nvCxnSpPr>
        <p:spPr>
          <a:xfrm>
            <a:off x="1009650" y="4764913"/>
            <a:ext cx="3181350" cy="0"/>
          </a:xfrm>
          <a:prstGeom prst="line">
            <a:avLst/>
          </a:prstGeom>
          <a:ln w="9525" cap="flat">
            <a:solidFill>
              <a:srgbClr val="E6E8F2"/>
            </a:solidFill>
          </a:ln>
        </p:spPr>
      </p:cxnSp>
      <p:cxnSp>
        <p:nvCxnSpPr>
          <p:cNvPr id="18" name="Line 18"/>
          <p:cNvCxnSpPr/>
          <p:nvPr/>
        </p:nvCxnSpPr>
        <p:spPr>
          <a:xfrm>
            <a:off x="1009650" y="4461700"/>
            <a:ext cx="3181350" cy="0"/>
          </a:xfrm>
          <a:prstGeom prst="line">
            <a:avLst/>
          </a:prstGeom>
          <a:ln w="9525" cap="flat">
            <a:solidFill>
              <a:srgbClr val="E6E8F2"/>
            </a:solidFill>
          </a:ln>
        </p:spPr>
      </p:cxnSp>
      <p:cxnSp>
        <p:nvCxnSpPr>
          <p:cNvPr id="19" name="Line 19"/>
          <p:cNvCxnSpPr/>
          <p:nvPr/>
        </p:nvCxnSpPr>
        <p:spPr>
          <a:xfrm>
            <a:off x="1009650" y="4158488"/>
            <a:ext cx="3181350" cy="0"/>
          </a:xfrm>
          <a:prstGeom prst="line">
            <a:avLst/>
          </a:prstGeom>
          <a:ln w="9525" cap="flat">
            <a:solidFill>
              <a:srgbClr val="E6E8F2"/>
            </a:solidFill>
          </a:ln>
        </p:spPr>
      </p:cxnSp>
      <p:cxnSp>
        <p:nvCxnSpPr>
          <p:cNvPr id="20" name="Line 20"/>
          <p:cNvCxnSpPr/>
          <p:nvPr/>
        </p:nvCxnSpPr>
        <p:spPr>
          <a:xfrm>
            <a:off x="1009650" y="3855275"/>
            <a:ext cx="3181350" cy="0"/>
          </a:xfrm>
          <a:prstGeom prst="line">
            <a:avLst/>
          </a:prstGeom>
          <a:ln w="9525" cap="flat">
            <a:solidFill>
              <a:srgbClr val="E6E8F2"/>
            </a:solidFill>
          </a:ln>
        </p:spPr>
      </p:cxnSp>
      <p:cxnSp>
        <p:nvCxnSpPr>
          <p:cNvPr id="21" name="Line 21"/>
          <p:cNvCxnSpPr/>
          <p:nvPr/>
        </p:nvCxnSpPr>
        <p:spPr>
          <a:xfrm>
            <a:off x="1009650" y="3552063"/>
            <a:ext cx="3181350" cy="0"/>
          </a:xfrm>
          <a:prstGeom prst="line">
            <a:avLst/>
          </a:prstGeom>
          <a:ln w="9525" cap="flat">
            <a:solidFill>
              <a:srgbClr val="E6E8F2"/>
            </a:solidFill>
          </a:ln>
        </p:spPr>
      </p:cxnSp>
      <p:cxnSp>
        <p:nvCxnSpPr>
          <p:cNvPr id="22" name="Line 22"/>
          <p:cNvCxnSpPr/>
          <p:nvPr/>
        </p:nvCxnSpPr>
        <p:spPr>
          <a:xfrm>
            <a:off x="1009650" y="3248850"/>
            <a:ext cx="3181350" cy="0"/>
          </a:xfrm>
          <a:prstGeom prst="line">
            <a:avLst/>
          </a:prstGeom>
          <a:ln w="9525" cap="flat">
            <a:solidFill>
              <a:srgbClr val="E6E8F2"/>
            </a:solidFill>
          </a:ln>
        </p:spPr>
      </p:cxnSp>
      <p:cxnSp>
        <p:nvCxnSpPr>
          <p:cNvPr id="23" name="Line 23"/>
          <p:cNvCxnSpPr/>
          <p:nvPr/>
        </p:nvCxnSpPr>
        <p:spPr>
          <a:xfrm>
            <a:off x="1009650" y="2945638"/>
            <a:ext cx="3181350" cy="0"/>
          </a:xfrm>
          <a:prstGeom prst="line">
            <a:avLst/>
          </a:prstGeom>
          <a:ln w="9525" cap="flat">
            <a:solidFill>
              <a:srgbClr val="E6E8F2"/>
            </a:solidFill>
          </a:ln>
        </p:spPr>
      </p:cxnSp>
      <p:cxnSp>
        <p:nvCxnSpPr>
          <p:cNvPr id="24" name="Line 24"/>
          <p:cNvCxnSpPr/>
          <p:nvPr/>
        </p:nvCxnSpPr>
        <p:spPr>
          <a:xfrm>
            <a:off x="1009650" y="2642426"/>
            <a:ext cx="3181350" cy="0"/>
          </a:xfrm>
          <a:prstGeom prst="line">
            <a:avLst/>
          </a:prstGeom>
          <a:ln w="9525" cap="flat">
            <a:solidFill>
              <a:srgbClr val="E6E8F2"/>
            </a:solidFill>
          </a:ln>
        </p:spPr>
      </p:cxnSp>
      <p:cxnSp>
        <p:nvCxnSpPr>
          <p:cNvPr id="25" name="Line 25"/>
          <p:cNvCxnSpPr/>
          <p:nvPr/>
        </p:nvCxnSpPr>
        <p:spPr>
          <a:xfrm>
            <a:off x="1009650" y="2339213"/>
            <a:ext cx="3181350" cy="0"/>
          </a:xfrm>
          <a:prstGeom prst="line">
            <a:avLst/>
          </a:prstGeom>
          <a:ln w="9525" cap="flat">
            <a:solidFill>
              <a:srgbClr val="E6E8F2"/>
            </a:solidFill>
          </a:ln>
        </p:spPr>
      </p:cxnSp>
      <p:cxnSp>
        <p:nvCxnSpPr>
          <p:cNvPr id="26" name="Line 26"/>
          <p:cNvCxnSpPr/>
          <p:nvPr/>
        </p:nvCxnSpPr>
        <p:spPr>
          <a:xfrm>
            <a:off x="1009650" y="2036000"/>
            <a:ext cx="3181350" cy="0"/>
          </a:xfrm>
          <a:prstGeom prst="line">
            <a:avLst/>
          </a:prstGeom>
          <a:ln w="9525" cap="flat">
            <a:solidFill>
              <a:srgbClr val="E6E8F2"/>
            </a:solidFill>
          </a:ln>
        </p:spPr>
      </p:cxnSp>
      <p:cxnSp>
        <p:nvCxnSpPr>
          <p:cNvPr id="27" name="Line 27"/>
          <p:cNvCxnSpPr/>
          <p:nvPr/>
        </p:nvCxnSpPr>
        <p:spPr>
          <a:xfrm>
            <a:off x="1009650" y="1732788"/>
            <a:ext cx="3181350" cy="0"/>
          </a:xfrm>
          <a:prstGeom prst="line">
            <a:avLst/>
          </a:prstGeom>
          <a:ln w="9525" cap="flat">
            <a:solidFill>
              <a:srgbClr val="E6E8F2"/>
            </a:solidFill>
          </a:ln>
        </p:spPr>
      </p:cxnSp>
      <p:cxnSp>
        <p:nvCxnSpPr>
          <p:cNvPr id="28" name="Line 28"/>
          <p:cNvCxnSpPr/>
          <p:nvPr/>
        </p:nvCxnSpPr>
        <p:spPr>
          <a:xfrm>
            <a:off x="1716617" y="1732788"/>
            <a:ext cx="0" cy="3638550"/>
          </a:xfrm>
          <a:prstGeom prst="line">
            <a:avLst/>
          </a:prstGeom>
          <a:ln w="19050" cap="flat">
            <a:solidFill>
              <a:srgbClr val="5F6272"/>
            </a:solidFill>
          </a:ln>
        </p:spPr>
      </p:cxnSp>
      <p:cxnSp>
        <p:nvCxnSpPr>
          <p:cNvPr id="29" name="Line 29"/>
          <p:cNvCxnSpPr/>
          <p:nvPr/>
        </p:nvCxnSpPr>
        <p:spPr>
          <a:xfrm>
            <a:off x="1009650" y="5068126"/>
            <a:ext cx="3181350" cy="0"/>
          </a:xfrm>
          <a:prstGeom prst="line">
            <a:avLst/>
          </a:prstGeom>
          <a:ln w="19050" cap="flat">
            <a:solidFill>
              <a:srgbClr val="5F6272"/>
            </a:solidFill>
          </a:ln>
        </p:spPr>
      </p:cxnSp>
      <p:sp>
        <p:nvSpPr>
          <p:cNvPr id="30" name="Shape 30"/>
          <p:cNvSpPr txBox="1"/>
          <p:nvPr/>
        </p:nvSpPr>
        <p:spPr>
          <a:xfrm>
            <a:off x="7353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1" name="Shape 31"/>
          <p:cNvSpPr txBox="1"/>
          <p:nvPr/>
        </p:nvSpPr>
        <p:spPr>
          <a:xfrm>
            <a:off x="1088813"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2" name="Shape 32"/>
          <p:cNvSpPr txBox="1"/>
          <p:nvPr/>
        </p:nvSpPr>
        <p:spPr>
          <a:xfrm>
            <a:off x="1442297"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3" name="Shape 33"/>
          <p:cNvSpPr txBox="1"/>
          <p:nvPr/>
        </p:nvSpPr>
        <p:spPr>
          <a:xfrm>
            <a:off x="179578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4" name="Shape 34"/>
          <p:cNvSpPr txBox="1"/>
          <p:nvPr/>
        </p:nvSpPr>
        <p:spPr>
          <a:xfrm>
            <a:off x="2149263"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5" name="Shape 35"/>
          <p:cNvSpPr txBox="1"/>
          <p:nvPr/>
        </p:nvSpPr>
        <p:spPr>
          <a:xfrm>
            <a:off x="2502747"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6" name="Shape 36"/>
          <p:cNvSpPr txBox="1"/>
          <p:nvPr/>
        </p:nvSpPr>
        <p:spPr>
          <a:xfrm>
            <a:off x="28562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7" name="Shape 37"/>
          <p:cNvSpPr txBox="1"/>
          <p:nvPr/>
        </p:nvSpPr>
        <p:spPr>
          <a:xfrm>
            <a:off x="3209713"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8" name="Shape 38"/>
          <p:cNvSpPr txBox="1"/>
          <p:nvPr/>
        </p:nvSpPr>
        <p:spPr>
          <a:xfrm>
            <a:off x="3563197"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9" name="Shape 39"/>
          <p:cNvSpPr txBox="1"/>
          <p:nvPr/>
        </p:nvSpPr>
        <p:spPr>
          <a:xfrm>
            <a:off x="391668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40" name="Shape 40"/>
          <p:cNvSpPr txBox="1"/>
          <p:nvPr/>
        </p:nvSpPr>
        <p:spPr>
          <a:xfrm>
            <a:off x="442722" y="49766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1" name="Shape 41"/>
          <p:cNvSpPr txBox="1"/>
          <p:nvPr/>
        </p:nvSpPr>
        <p:spPr>
          <a:xfrm>
            <a:off x="442722" y="43702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442722" y="37638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3" name="Shape 43"/>
          <p:cNvSpPr txBox="1"/>
          <p:nvPr/>
        </p:nvSpPr>
        <p:spPr>
          <a:xfrm>
            <a:off x="442722" y="31574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44" name="Shape 44"/>
          <p:cNvSpPr txBox="1"/>
          <p:nvPr/>
        </p:nvSpPr>
        <p:spPr>
          <a:xfrm>
            <a:off x="442722" y="25509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45" name="Shape 45"/>
          <p:cNvSpPr txBox="1"/>
          <p:nvPr/>
        </p:nvSpPr>
        <p:spPr>
          <a:xfrm>
            <a:off x="442722" y="19445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46" name="Line 46"/>
          <p:cNvCxnSpPr/>
          <p:nvPr/>
        </p:nvCxnSpPr>
        <p:spPr>
          <a:xfrm flipV="1">
            <a:off x="1009650" y="1732788"/>
            <a:ext cx="2710039" cy="3486944"/>
          </a:xfrm>
          <a:prstGeom prst="line">
            <a:avLst/>
          </a:prstGeom>
          <a:ln w="38100" cap="rnd">
            <a:solidFill>
              <a:srgbClr val="4F8A3C"/>
            </a:solidFill>
          </a:ln>
        </p:spPr>
      </p:cxnSp>
      <p:sp>
        <p:nvSpPr>
          <p:cNvPr id="47" name="Shape 47"/>
          <p:cNvSpPr txBox="1"/>
          <p:nvPr/>
        </p:nvSpPr>
        <p:spPr>
          <a:xfrm>
            <a:off x="1227949"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Line 1</a:t>
            </a:r>
            <a:endParaRPr lang="en-US" sz="1275" dirty="0"/>
          </a:p>
        </p:txBody>
      </p:sp>
      <p:cxnSp>
        <p:nvCxnSpPr>
          <p:cNvPr id="48" name="Line 48"/>
          <p:cNvCxnSpPr/>
          <p:nvPr/>
        </p:nvCxnSpPr>
        <p:spPr>
          <a:xfrm flipV="1">
            <a:off x="1009650" y="3248850"/>
            <a:ext cx="3181350" cy="1364456"/>
          </a:xfrm>
          <a:prstGeom prst="line">
            <a:avLst/>
          </a:prstGeom>
          <a:ln w="38100" cap="rnd">
            <a:solidFill>
              <a:srgbClr val="7A4FC4"/>
            </a:solidFill>
          </a:ln>
        </p:spPr>
      </p:cxnSp>
      <p:sp>
        <p:nvSpPr>
          <p:cNvPr id="49" name="Shape 49"/>
          <p:cNvSpPr txBox="1"/>
          <p:nvPr/>
        </p:nvSpPr>
        <p:spPr>
          <a:xfrm>
            <a:off x="1699260" y="3267900"/>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Line 2</a:t>
            </a:r>
            <a:endParaRPr lang="en-US" sz="1275" dirty="0"/>
          </a:p>
        </p:txBody>
      </p:sp>
      <p:cxnSp>
        <p:nvCxnSpPr>
          <p:cNvPr id="50" name="Line 50"/>
          <p:cNvCxnSpPr/>
          <p:nvPr/>
        </p:nvCxnSpPr>
        <p:spPr>
          <a:xfrm flipV="1">
            <a:off x="1009650" y="4044783"/>
            <a:ext cx="3181350" cy="341114"/>
          </a:xfrm>
          <a:prstGeom prst="line">
            <a:avLst/>
          </a:prstGeom>
          <a:ln w="38100" cap="rnd">
            <a:solidFill>
              <a:srgbClr val="16171D"/>
            </a:solidFill>
          </a:ln>
        </p:spPr>
      </p:cxnSp>
      <p:sp>
        <p:nvSpPr>
          <p:cNvPr id="51" name="Shape 51"/>
          <p:cNvSpPr txBox="1"/>
          <p:nvPr/>
        </p:nvSpPr>
        <p:spPr>
          <a:xfrm>
            <a:off x="1699260" y="4063833"/>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Line 3</a:t>
            </a:r>
            <a:endParaRPr lang="en-US" sz="1275" dirty="0"/>
          </a:p>
        </p:txBody>
      </p:sp>
      <p:sp>
        <p:nvSpPr>
          <p:cNvPr id="52" name="Shape 52"/>
          <p:cNvSpPr txBox="1"/>
          <p:nvPr/>
        </p:nvSpPr>
        <p:spPr>
          <a:xfrm>
            <a:off x="4686300" y="1618488"/>
            <a:ext cx="6819595"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−60</a:t>
            </a:r>
            <a:endParaRPr lang="en-US" sz="2325" dirty="0"/>
          </a:p>
        </p:txBody>
      </p:sp>
      <p:sp>
        <p:nvSpPr>
          <p:cNvPr id="53" name="Shape 53"/>
          <p:cNvSpPr txBox="1"/>
          <p:nvPr/>
        </p:nvSpPr>
        <p:spPr>
          <a:xfrm>
            <a:off x="4686300" y="2141982"/>
            <a:ext cx="6819595"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b.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−10</a:t>
            </a:r>
            <a:endParaRPr lang="en-US" sz="2325" dirty="0"/>
          </a:p>
        </p:txBody>
      </p:sp>
      <p:sp>
        <p:nvSpPr>
          <p:cNvPr id="54" name="Shape 54"/>
          <p:cNvSpPr txBox="1"/>
          <p:nvPr/>
        </p:nvSpPr>
        <p:spPr>
          <a:xfrm>
            <a:off x="4686300" y="2665476"/>
            <a:ext cx="6819595"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c. 9</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−45</a:t>
            </a:r>
            <a:endParaRPr lang="en-US" sz="2325" dirty="0"/>
          </a:p>
        </p:txBody>
      </p:sp>
      <p:sp>
        <p:nvSpPr>
          <p:cNvPr id="55" name="Shape 55"/>
          <p:cNvSpPr txBox="1"/>
          <p:nvPr/>
        </p:nvSpPr>
        <p:spPr>
          <a:xfrm>
            <a:off x="4686300" y="3188970"/>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All three have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(0, 5), so compare the slopes, </a:t>
            </a:r>
            <a:r>
              <a:rPr lang="en-US" sz="1575" dirty="0" b="1">
                <a:solidFill>
                  <a:srgbClr val="C9561F"/>
                </a:solidFill>
                <a:latin typeface="Cambria"/>
                <a:cs typeface="Cambria"/>
              </a:rPr>
              <a:t xml:space="preserve">−</a:t>
            </a: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a:t>
            </a:r>
            <a:r>
              <a:rPr lang="en-US" sz="1575" dirty="0" b="1" i="1">
                <a:solidFill>
                  <a:srgbClr val="C9561F"/>
                </a:solidFill>
                <a:latin typeface="Cambria"/>
                <a:cs typeface="Cambria"/>
              </a:rPr>
              <a:t xml:space="preserve">B</a:t>
            </a:r>
            <a:r>
              <a:rPr lang="en-US" sz="1575" dirty="0">
                <a:solidFill>
                  <a:srgbClr val="16171D"/>
                </a:solidFill>
                <a:latin typeface="Segoe UI"/>
                <a:cs typeface="Segoe UI"/>
              </a:rPr>
              <a:t xml:space="preserve">:</a:t>
            </a:r>
            <a:endParaRPr lang="en-US" sz="1575" dirty="0"/>
          </a:p>
        </p:txBody>
      </p:sp>
      <p:sp>
        <p:nvSpPr>
          <p:cNvPr id="56" name="Shape 56"/>
          <p:cNvSpPr txBox="1"/>
          <p:nvPr/>
        </p:nvSpPr>
        <p:spPr>
          <a:xfrm>
            <a:off x="4686300" y="3598164"/>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C9561F"/>
                </a:solidFill>
                <a:latin typeface="Cambria"/>
                <a:cs typeface="Cambria"/>
              </a:rPr>
              <a:t xml:space="preserve">1</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4</a:t>
            </a:r>
            <a:r>
              <a:rPr lang="en-US" sz="1575" dirty="0">
                <a:solidFill>
                  <a:srgbClr val="16171D"/>
                </a:solidFill>
                <a:latin typeface="Segoe UI"/>
                <a:cs typeface="Segoe UI"/>
              </a:rPr>
              <a:t xml:space="preserve"> → </a:t>
            </a:r>
            <a:r>
              <a:rPr lang="en-US" sz="1575" dirty="0" b="1">
                <a:solidFill>
                  <a:srgbClr val="16171D"/>
                </a:solidFill>
                <a:latin typeface="Segoe UI"/>
                <a:cs typeface="Segoe UI"/>
              </a:rPr>
              <a:t xml:space="preserve">Line 3</a:t>
            </a:r>
            <a:r>
              <a:rPr lang="en-US" sz="1575" dirty="0">
                <a:solidFill>
                  <a:srgbClr val="16171D"/>
                </a:solidFill>
                <a:latin typeface="Segoe UI"/>
                <a:cs typeface="Segoe UI"/>
              </a:rPr>
              <a:t xml:space="preserve"> (least steep)</a:t>
            </a:r>
            <a:endParaRPr lang="en-US" sz="1575" dirty="0"/>
          </a:p>
        </p:txBody>
      </p:sp>
      <p:sp>
        <p:nvSpPr>
          <p:cNvPr id="57" name="Shape 57"/>
          <p:cNvSpPr txBox="1"/>
          <p:nvPr/>
        </p:nvSpPr>
        <p:spPr>
          <a:xfrm>
            <a:off x="4686300" y="4007358"/>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 </a:t>
            </a:r>
            <a:r>
              <a:rPr lang="en-US" sz="1575" dirty="0" b="1">
                <a:solidFill>
                  <a:srgbClr val="C9561F"/>
                </a:solidFill>
                <a:latin typeface="Cambria"/>
                <a:cs typeface="Cambria"/>
              </a:rPr>
              <a:t xml:space="preserve">3</a:t>
            </a:r>
            <a:r>
              <a:rPr lang="en-US" sz="1575" dirty="0">
                <a:solidFill>
                  <a:srgbClr val="16171D"/>
                </a:solidFill>
                <a:latin typeface="Segoe UI"/>
                <a:cs typeface="Segoe UI"/>
              </a:rPr>
              <a:t xml:space="preserve"> → </a:t>
            </a:r>
            <a:r>
              <a:rPr lang="en-US" sz="1575" dirty="0" b="1">
                <a:solidFill>
                  <a:srgbClr val="16171D"/>
                </a:solidFill>
                <a:latin typeface="Segoe UI"/>
                <a:cs typeface="Segoe UI"/>
              </a:rPr>
              <a:t xml:space="preserve">Line 1</a:t>
            </a:r>
            <a:r>
              <a:rPr lang="en-US" sz="1575" dirty="0">
                <a:solidFill>
                  <a:srgbClr val="16171D"/>
                </a:solidFill>
                <a:latin typeface="Segoe UI"/>
                <a:cs typeface="Segoe UI"/>
              </a:rPr>
              <a:t xml:space="preserve"> (steepest)</a:t>
            </a:r>
            <a:endParaRPr lang="en-US" sz="1575" dirty="0"/>
          </a:p>
        </p:txBody>
      </p:sp>
      <p:sp>
        <p:nvSpPr>
          <p:cNvPr id="58" name="Shape 58"/>
          <p:cNvSpPr txBox="1"/>
          <p:nvPr/>
        </p:nvSpPr>
        <p:spPr>
          <a:xfrm>
            <a:off x="4686300" y="4416552"/>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 </a:t>
            </a:r>
            <a:r>
              <a:rPr lang="en-US" sz="1575" dirty="0" b="1">
                <a:solidFill>
                  <a:srgbClr val="C9561F"/>
                </a:solidFill>
                <a:latin typeface="Cambria"/>
                <a:cs typeface="Cambria"/>
              </a:rPr>
              <a:t xml:space="preserve">1</a:t>
            </a:r>
            <a:r>
              <a:rPr lang="en-US" sz="1575" dirty="0">
                <a:solidFill>
                  <a:srgbClr val="16171D"/>
                </a:solidFill>
                <a:latin typeface="Segoe UI"/>
                <a:cs typeface="Segoe UI"/>
              </a:rPr>
              <a:t xml:space="preserve"> → </a:t>
            </a:r>
            <a:r>
              <a:rPr lang="en-US" sz="1575" dirty="0" b="1">
                <a:solidFill>
                  <a:srgbClr val="16171D"/>
                </a:solidFill>
                <a:latin typeface="Segoe UI"/>
                <a:cs typeface="Segoe UI"/>
              </a:rPr>
              <a:t xml:space="preserve">Line 2</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5"/>
                                        </p:tgtEl>
                                        <p:attrNameLst>
                                          <p:attrName>style.visibility</p:attrName>
                                        </p:attrNameLst>
                                      </p:cBhvr>
                                      <p:to>
                                        <p:strVal val="visible"/>
                                      </p:to>
                                    </p:set>
                                    <p:animEffect transition="in" filter="fade">
                                      <p:cBhvr>
                                        <p:cTn id="4" dur="500"/>
                                        <p:tgtEl>
                                          <p:spTgt spid="55"/>
                                        </p:tgtEl>
                                      </p:cBhvr>
                                    </p:animEffect>
                                    <p:anim calcmode="lin" valueType="num">
                                      <p:cBhvr>
                                        <p:cTn id="5" dur="500" fill="hold"/>
                                        <p:tgtEl>
                                          <p:spTgt spid="55"/>
                                        </p:tgtEl>
                                        <p:attrNameLst>
                                          <p:attrName>ppt_x</p:attrName>
                                        </p:attrNameLst>
                                      </p:cBhvr>
                                      <p:tavLst>
                                        <p:tav tm="0">
                                          <p:val>
                                            <p:strVal val="#ppt_x"/>
                                          </p:val>
                                        </p:tav>
                                        <p:tav tm="100000">
                                          <p:val>
                                            <p:strVal val="#ppt_x"/>
                                          </p:val>
                                        </p:tav>
                                      </p:tavLst>
                                    </p:anim>
                                    <p:anim calcmode="lin" valueType="num">
                                      <p:cBhvr>
                                        <p:cTn id="6" dur="5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fade">
                                      <p:cBhvr>
                                        <p:cTn id="11" dur="500"/>
                                        <p:tgtEl>
                                          <p:spTgt spid="56"/>
                                        </p:tgtEl>
                                      </p:cBhvr>
                                    </p:animEffect>
                                    <p:anim calcmode="lin" valueType="num">
                                      <p:cBhvr>
                                        <p:cTn id="12" dur="500" fill="hold"/>
                                        <p:tgtEl>
                                          <p:spTgt spid="56"/>
                                        </p:tgtEl>
                                        <p:attrNameLst>
                                          <p:attrName>ppt_x</p:attrName>
                                        </p:attrNameLst>
                                      </p:cBhvr>
                                      <p:tavLst>
                                        <p:tav tm="0">
                                          <p:val>
                                            <p:strVal val="#ppt_x"/>
                                          </p:val>
                                        </p:tav>
                                        <p:tav tm="100000">
                                          <p:val>
                                            <p:strVal val="#ppt_x"/>
                                          </p:val>
                                        </p:tav>
                                      </p:tavLst>
                                    </p:anim>
                                    <p:anim calcmode="lin" valueType="num">
                                      <p:cBhvr>
                                        <p:cTn id="13" dur="5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fade">
                                      <p:cBhvr>
                                        <p:cTn id="18" dur="500"/>
                                        <p:tgtEl>
                                          <p:spTgt spid="57"/>
                                        </p:tgtEl>
                                      </p:cBhvr>
                                    </p:animEffect>
                                    <p:anim calcmode="lin" valueType="num">
                                      <p:cBhvr>
                                        <p:cTn id="19" dur="500" fill="hold"/>
                                        <p:tgtEl>
                                          <p:spTgt spid="57"/>
                                        </p:tgtEl>
                                        <p:attrNameLst>
                                          <p:attrName>ppt_x</p:attrName>
                                        </p:attrNameLst>
                                      </p:cBhvr>
                                      <p:tavLst>
                                        <p:tav tm="0">
                                          <p:val>
                                            <p:strVal val="#ppt_x"/>
                                          </p:val>
                                        </p:tav>
                                        <p:tav tm="100000">
                                          <p:val>
                                            <p:strVal val="#ppt_x"/>
                                          </p:val>
                                        </p:tav>
                                      </p:tavLst>
                                    </p:anim>
                                    <p:anim calcmode="lin" valueType="num">
                                      <p:cBhvr>
                                        <p:cTn id="20" dur="5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fade">
                                      <p:cBhvr>
                                        <p:cTn id="25" dur="500"/>
                                        <p:tgtEl>
                                          <p:spTgt spid="58"/>
                                        </p:tgtEl>
                                      </p:cBhvr>
                                    </p:animEffect>
                                    <p:anim calcmode="lin" valueType="num">
                                      <p:cBhvr>
                                        <p:cTn id="26" dur="500" fill="hold"/>
                                        <p:tgtEl>
                                          <p:spTgt spid="58"/>
                                        </p:tgtEl>
                                        <p:attrNameLst>
                                          <p:attrName>ppt_x</p:attrName>
                                        </p:attrNameLst>
                                      </p:cBhvr>
                                      <p:tavLst>
                                        <p:tav tm="0">
                                          <p:val>
                                            <p:strVal val="#ppt_x"/>
                                          </p:val>
                                        </p:tav>
                                        <p:tav tm="100000">
                                          <p:val>
                                            <p:strVal val="#ppt_x"/>
                                          </p:val>
                                        </p:tav>
                                      </p:tavLst>
                                    </p:anim>
                                    <p:anim calcmode="lin" valueType="num">
                                      <p:cBhvr>
                                        <p:cTn id="27" dur="5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Questions 9–10 · SE pp. 229–230</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in standard form, then graph with the intercepts</a:t>
            </a:r>
            <a:endParaRPr lang="en-US" sz="3450" dirty="0"/>
          </a:p>
        </p:txBody>
      </p:sp>
      <p:sp>
        <p:nvSpPr>
          <p:cNvPr id="4" name="Shape 4"/>
          <p:cNvSpPr txBox="1"/>
          <p:nvPr/>
        </p:nvSpPr>
        <p:spPr>
          <a:xfrm>
            <a:off x="685800" y="2144268"/>
            <a:ext cx="52385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9.</a:t>
            </a:r>
            <a:r>
              <a:rPr lang="en-US" sz="1575" dirty="0">
                <a:solidFill>
                  <a:srgbClr val="16171D"/>
                </a:solidFill>
                <a:latin typeface="Segoe UI"/>
                <a:cs typeface="Segoe UI"/>
              </a:rPr>
              <a:t xml:space="preserve"> Nia burns 20 calories per 5 minutes of jump rope and 50 per 5 minutes of running: 500 calories in all.</a:t>
            </a:r>
            <a:endParaRPr lang="en-US" sz="1575" dirty="0"/>
          </a:p>
        </p:txBody>
      </p:sp>
      <p:sp>
        <p:nvSpPr>
          <p:cNvPr id="5" name="Shape 5"/>
          <p:cNvSpPr txBox="1"/>
          <p:nvPr/>
        </p:nvSpPr>
        <p:spPr>
          <a:xfrm>
            <a:off x="685800" y="2995422"/>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5-minute blocks of jump rope,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5-minute blocks of running</a:t>
            </a:r>
            <a:endParaRPr lang="en-US" sz="1575" dirty="0"/>
          </a:p>
        </p:txBody>
      </p:sp>
      <p:sp>
        <p:nvSpPr>
          <p:cNvPr id="6" name="Shape 6"/>
          <p:cNvSpPr txBox="1"/>
          <p:nvPr/>
        </p:nvSpPr>
        <p:spPr>
          <a:xfrm>
            <a:off x="685800" y="360654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20</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+ 50</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500</a:t>
            </a:r>
            <a:endParaRPr lang="en-US" sz="2325" dirty="0"/>
          </a:p>
        </p:txBody>
      </p:sp>
      <p:sp>
        <p:nvSpPr>
          <p:cNvPr id="7" name="Shape 7"/>
          <p:cNvSpPr/>
          <p:nvPr/>
        </p:nvSpPr>
        <p:spPr>
          <a:xfrm>
            <a:off x="685800" y="4201668"/>
            <a:ext cx="3143250" cy="2381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8" name="Line 8"/>
          <p:cNvCxnSpPr/>
          <p:nvPr/>
        </p:nvCxnSpPr>
        <p:spPr>
          <a:xfrm>
            <a:off x="1009650" y="4315968"/>
            <a:ext cx="0" cy="2019300"/>
          </a:xfrm>
          <a:prstGeom prst="line">
            <a:avLst/>
          </a:prstGeom>
          <a:ln w="9525" cap="flat">
            <a:solidFill>
              <a:srgbClr val="E6E8F2"/>
            </a:solidFill>
          </a:ln>
        </p:spPr>
      </p:cxnSp>
      <p:cxnSp>
        <p:nvCxnSpPr>
          <p:cNvPr id="9" name="Line 9"/>
          <p:cNvCxnSpPr/>
          <p:nvPr/>
        </p:nvCxnSpPr>
        <p:spPr>
          <a:xfrm>
            <a:off x="1202871" y="4315968"/>
            <a:ext cx="0" cy="2019300"/>
          </a:xfrm>
          <a:prstGeom prst="line">
            <a:avLst/>
          </a:prstGeom>
          <a:ln w="9525" cap="flat">
            <a:solidFill>
              <a:srgbClr val="E6E8F2"/>
            </a:solidFill>
          </a:ln>
        </p:spPr>
      </p:cxnSp>
      <p:cxnSp>
        <p:nvCxnSpPr>
          <p:cNvPr id="10" name="Line 10"/>
          <p:cNvCxnSpPr/>
          <p:nvPr/>
        </p:nvCxnSpPr>
        <p:spPr>
          <a:xfrm>
            <a:off x="1396093" y="4315968"/>
            <a:ext cx="0" cy="2019300"/>
          </a:xfrm>
          <a:prstGeom prst="line">
            <a:avLst/>
          </a:prstGeom>
          <a:ln w="9525" cap="flat">
            <a:solidFill>
              <a:srgbClr val="E6E8F2"/>
            </a:solidFill>
          </a:ln>
        </p:spPr>
      </p:cxnSp>
      <p:cxnSp>
        <p:nvCxnSpPr>
          <p:cNvPr id="11" name="Line 11"/>
          <p:cNvCxnSpPr/>
          <p:nvPr/>
        </p:nvCxnSpPr>
        <p:spPr>
          <a:xfrm>
            <a:off x="1589314" y="4315968"/>
            <a:ext cx="0" cy="2019300"/>
          </a:xfrm>
          <a:prstGeom prst="line">
            <a:avLst/>
          </a:prstGeom>
          <a:ln w="9525" cap="flat">
            <a:solidFill>
              <a:srgbClr val="E6E8F2"/>
            </a:solidFill>
          </a:ln>
        </p:spPr>
      </p:cxnSp>
      <p:cxnSp>
        <p:nvCxnSpPr>
          <p:cNvPr id="12" name="Line 12"/>
          <p:cNvCxnSpPr/>
          <p:nvPr/>
        </p:nvCxnSpPr>
        <p:spPr>
          <a:xfrm>
            <a:off x="1782536" y="4315968"/>
            <a:ext cx="0" cy="2019300"/>
          </a:xfrm>
          <a:prstGeom prst="line">
            <a:avLst/>
          </a:prstGeom>
          <a:ln w="9525" cap="flat">
            <a:solidFill>
              <a:srgbClr val="E6E8F2"/>
            </a:solidFill>
          </a:ln>
        </p:spPr>
      </p:cxnSp>
      <p:cxnSp>
        <p:nvCxnSpPr>
          <p:cNvPr id="13" name="Line 13"/>
          <p:cNvCxnSpPr/>
          <p:nvPr/>
        </p:nvCxnSpPr>
        <p:spPr>
          <a:xfrm>
            <a:off x="1975757" y="4315968"/>
            <a:ext cx="0" cy="2019300"/>
          </a:xfrm>
          <a:prstGeom prst="line">
            <a:avLst/>
          </a:prstGeom>
          <a:ln w="9525" cap="flat">
            <a:solidFill>
              <a:srgbClr val="E6E8F2"/>
            </a:solidFill>
          </a:ln>
        </p:spPr>
      </p:cxnSp>
      <p:cxnSp>
        <p:nvCxnSpPr>
          <p:cNvPr id="14" name="Line 14"/>
          <p:cNvCxnSpPr/>
          <p:nvPr/>
        </p:nvCxnSpPr>
        <p:spPr>
          <a:xfrm>
            <a:off x="2168979" y="4315968"/>
            <a:ext cx="0" cy="2019300"/>
          </a:xfrm>
          <a:prstGeom prst="line">
            <a:avLst/>
          </a:prstGeom>
          <a:ln w="9525" cap="flat">
            <a:solidFill>
              <a:srgbClr val="E6E8F2"/>
            </a:solidFill>
          </a:ln>
        </p:spPr>
      </p:cxnSp>
      <p:cxnSp>
        <p:nvCxnSpPr>
          <p:cNvPr id="15" name="Line 15"/>
          <p:cNvCxnSpPr/>
          <p:nvPr/>
        </p:nvCxnSpPr>
        <p:spPr>
          <a:xfrm>
            <a:off x="2362200" y="4315968"/>
            <a:ext cx="0" cy="2019300"/>
          </a:xfrm>
          <a:prstGeom prst="line">
            <a:avLst/>
          </a:prstGeom>
          <a:ln w="9525" cap="flat">
            <a:solidFill>
              <a:srgbClr val="E6E8F2"/>
            </a:solidFill>
          </a:ln>
        </p:spPr>
      </p:cxnSp>
      <p:cxnSp>
        <p:nvCxnSpPr>
          <p:cNvPr id="16" name="Line 16"/>
          <p:cNvCxnSpPr/>
          <p:nvPr/>
        </p:nvCxnSpPr>
        <p:spPr>
          <a:xfrm>
            <a:off x="2555421" y="4315968"/>
            <a:ext cx="0" cy="2019300"/>
          </a:xfrm>
          <a:prstGeom prst="line">
            <a:avLst/>
          </a:prstGeom>
          <a:ln w="9525" cap="flat">
            <a:solidFill>
              <a:srgbClr val="E6E8F2"/>
            </a:solidFill>
          </a:ln>
        </p:spPr>
      </p:cxnSp>
      <p:cxnSp>
        <p:nvCxnSpPr>
          <p:cNvPr id="17" name="Line 17"/>
          <p:cNvCxnSpPr/>
          <p:nvPr/>
        </p:nvCxnSpPr>
        <p:spPr>
          <a:xfrm>
            <a:off x="2748643" y="4315968"/>
            <a:ext cx="0" cy="2019300"/>
          </a:xfrm>
          <a:prstGeom prst="line">
            <a:avLst/>
          </a:prstGeom>
          <a:ln w="9525" cap="flat">
            <a:solidFill>
              <a:srgbClr val="E6E8F2"/>
            </a:solidFill>
          </a:ln>
        </p:spPr>
      </p:cxnSp>
      <p:cxnSp>
        <p:nvCxnSpPr>
          <p:cNvPr id="18" name="Line 18"/>
          <p:cNvCxnSpPr/>
          <p:nvPr/>
        </p:nvCxnSpPr>
        <p:spPr>
          <a:xfrm>
            <a:off x="2941864" y="4315968"/>
            <a:ext cx="0" cy="2019300"/>
          </a:xfrm>
          <a:prstGeom prst="line">
            <a:avLst/>
          </a:prstGeom>
          <a:ln w="9525" cap="flat">
            <a:solidFill>
              <a:srgbClr val="E6E8F2"/>
            </a:solidFill>
          </a:ln>
        </p:spPr>
      </p:cxnSp>
      <p:cxnSp>
        <p:nvCxnSpPr>
          <p:cNvPr id="19" name="Line 19"/>
          <p:cNvCxnSpPr/>
          <p:nvPr/>
        </p:nvCxnSpPr>
        <p:spPr>
          <a:xfrm>
            <a:off x="3135086" y="4315968"/>
            <a:ext cx="0" cy="2019300"/>
          </a:xfrm>
          <a:prstGeom prst="line">
            <a:avLst/>
          </a:prstGeom>
          <a:ln w="9525" cap="flat">
            <a:solidFill>
              <a:srgbClr val="E6E8F2"/>
            </a:solidFill>
          </a:ln>
        </p:spPr>
      </p:cxnSp>
      <p:cxnSp>
        <p:nvCxnSpPr>
          <p:cNvPr id="20" name="Line 20"/>
          <p:cNvCxnSpPr/>
          <p:nvPr/>
        </p:nvCxnSpPr>
        <p:spPr>
          <a:xfrm>
            <a:off x="3328307" y="4315968"/>
            <a:ext cx="0" cy="2019300"/>
          </a:xfrm>
          <a:prstGeom prst="line">
            <a:avLst/>
          </a:prstGeom>
          <a:ln w="9525" cap="flat">
            <a:solidFill>
              <a:srgbClr val="E6E8F2"/>
            </a:solidFill>
          </a:ln>
        </p:spPr>
      </p:cxnSp>
      <p:cxnSp>
        <p:nvCxnSpPr>
          <p:cNvPr id="21" name="Line 21"/>
          <p:cNvCxnSpPr/>
          <p:nvPr/>
        </p:nvCxnSpPr>
        <p:spPr>
          <a:xfrm>
            <a:off x="3521529" y="4315968"/>
            <a:ext cx="0" cy="2019300"/>
          </a:xfrm>
          <a:prstGeom prst="line">
            <a:avLst/>
          </a:prstGeom>
          <a:ln w="9525" cap="flat">
            <a:solidFill>
              <a:srgbClr val="E6E8F2"/>
            </a:solidFill>
          </a:ln>
        </p:spPr>
      </p:cxnSp>
      <p:cxnSp>
        <p:nvCxnSpPr>
          <p:cNvPr id="22" name="Line 22"/>
          <p:cNvCxnSpPr/>
          <p:nvPr/>
        </p:nvCxnSpPr>
        <p:spPr>
          <a:xfrm>
            <a:off x="3714750" y="4315968"/>
            <a:ext cx="0" cy="2019300"/>
          </a:xfrm>
          <a:prstGeom prst="line">
            <a:avLst/>
          </a:prstGeom>
          <a:ln w="9525" cap="flat">
            <a:solidFill>
              <a:srgbClr val="E6E8F2"/>
            </a:solidFill>
          </a:ln>
        </p:spPr>
      </p:cxnSp>
      <p:cxnSp>
        <p:nvCxnSpPr>
          <p:cNvPr id="23" name="Line 23"/>
          <p:cNvCxnSpPr/>
          <p:nvPr/>
        </p:nvCxnSpPr>
        <p:spPr>
          <a:xfrm>
            <a:off x="1009650" y="6335268"/>
            <a:ext cx="2705100" cy="0"/>
          </a:xfrm>
          <a:prstGeom prst="line">
            <a:avLst/>
          </a:prstGeom>
          <a:ln w="9525" cap="flat">
            <a:solidFill>
              <a:srgbClr val="E6E8F2"/>
            </a:solidFill>
          </a:ln>
        </p:spPr>
      </p:cxnSp>
      <p:cxnSp>
        <p:nvCxnSpPr>
          <p:cNvPr id="24" name="Line 24"/>
          <p:cNvCxnSpPr/>
          <p:nvPr/>
        </p:nvCxnSpPr>
        <p:spPr>
          <a:xfrm>
            <a:off x="1009650" y="6082856"/>
            <a:ext cx="2705100" cy="0"/>
          </a:xfrm>
          <a:prstGeom prst="line">
            <a:avLst/>
          </a:prstGeom>
          <a:ln w="9525" cap="flat">
            <a:solidFill>
              <a:srgbClr val="E6E8F2"/>
            </a:solidFill>
          </a:ln>
        </p:spPr>
      </p:cxnSp>
      <p:cxnSp>
        <p:nvCxnSpPr>
          <p:cNvPr id="25" name="Line 25"/>
          <p:cNvCxnSpPr/>
          <p:nvPr/>
        </p:nvCxnSpPr>
        <p:spPr>
          <a:xfrm>
            <a:off x="1009650" y="5830443"/>
            <a:ext cx="2705100" cy="0"/>
          </a:xfrm>
          <a:prstGeom prst="line">
            <a:avLst/>
          </a:prstGeom>
          <a:ln w="9525" cap="flat">
            <a:solidFill>
              <a:srgbClr val="E6E8F2"/>
            </a:solidFill>
          </a:ln>
        </p:spPr>
      </p:cxnSp>
      <p:cxnSp>
        <p:nvCxnSpPr>
          <p:cNvPr id="26" name="Line 26"/>
          <p:cNvCxnSpPr/>
          <p:nvPr/>
        </p:nvCxnSpPr>
        <p:spPr>
          <a:xfrm>
            <a:off x="1009650" y="5578030"/>
            <a:ext cx="2705100" cy="0"/>
          </a:xfrm>
          <a:prstGeom prst="line">
            <a:avLst/>
          </a:prstGeom>
          <a:ln w="9525" cap="flat">
            <a:solidFill>
              <a:srgbClr val="E6E8F2"/>
            </a:solidFill>
          </a:ln>
        </p:spPr>
      </p:cxnSp>
      <p:cxnSp>
        <p:nvCxnSpPr>
          <p:cNvPr id="27" name="Line 27"/>
          <p:cNvCxnSpPr/>
          <p:nvPr/>
        </p:nvCxnSpPr>
        <p:spPr>
          <a:xfrm>
            <a:off x="1009650" y="5325618"/>
            <a:ext cx="2705100" cy="0"/>
          </a:xfrm>
          <a:prstGeom prst="line">
            <a:avLst/>
          </a:prstGeom>
          <a:ln w="9525" cap="flat">
            <a:solidFill>
              <a:srgbClr val="E6E8F2"/>
            </a:solidFill>
          </a:ln>
        </p:spPr>
      </p:cxnSp>
      <p:cxnSp>
        <p:nvCxnSpPr>
          <p:cNvPr id="28" name="Line 28"/>
          <p:cNvCxnSpPr/>
          <p:nvPr/>
        </p:nvCxnSpPr>
        <p:spPr>
          <a:xfrm>
            <a:off x="1009650" y="5073206"/>
            <a:ext cx="2705100" cy="0"/>
          </a:xfrm>
          <a:prstGeom prst="line">
            <a:avLst/>
          </a:prstGeom>
          <a:ln w="9525" cap="flat">
            <a:solidFill>
              <a:srgbClr val="E6E8F2"/>
            </a:solidFill>
          </a:ln>
        </p:spPr>
      </p:cxnSp>
      <p:cxnSp>
        <p:nvCxnSpPr>
          <p:cNvPr id="29" name="Line 29"/>
          <p:cNvCxnSpPr/>
          <p:nvPr/>
        </p:nvCxnSpPr>
        <p:spPr>
          <a:xfrm>
            <a:off x="1009650" y="4820793"/>
            <a:ext cx="2705100" cy="0"/>
          </a:xfrm>
          <a:prstGeom prst="line">
            <a:avLst/>
          </a:prstGeom>
          <a:ln w="9525" cap="flat">
            <a:solidFill>
              <a:srgbClr val="E6E8F2"/>
            </a:solidFill>
          </a:ln>
        </p:spPr>
      </p:cxnSp>
      <p:cxnSp>
        <p:nvCxnSpPr>
          <p:cNvPr id="30" name="Line 30"/>
          <p:cNvCxnSpPr/>
          <p:nvPr/>
        </p:nvCxnSpPr>
        <p:spPr>
          <a:xfrm>
            <a:off x="1009650" y="4568380"/>
            <a:ext cx="2705100" cy="0"/>
          </a:xfrm>
          <a:prstGeom prst="line">
            <a:avLst/>
          </a:prstGeom>
          <a:ln w="9525" cap="flat">
            <a:solidFill>
              <a:srgbClr val="E6E8F2"/>
            </a:solidFill>
          </a:ln>
        </p:spPr>
      </p:cxnSp>
      <p:cxnSp>
        <p:nvCxnSpPr>
          <p:cNvPr id="31" name="Line 31"/>
          <p:cNvCxnSpPr/>
          <p:nvPr/>
        </p:nvCxnSpPr>
        <p:spPr>
          <a:xfrm>
            <a:off x="1009650" y="4315968"/>
            <a:ext cx="2705100" cy="0"/>
          </a:xfrm>
          <a:prstGeom prst="line">
            <a:avLst/>
          </a:prstGeom>
          <a:ln w="9525" cap="flat">
            <a:solidFill>
              <a:srgbClr val="E6E8F2"/>
            </a:solidFill>
          </a:ln>
        </p:spPr>
      </p:cxnSp>
      <p:cxnSp>
        <p:nvCxnSpPr>
          <p:cNvPr id="32" name="Line 32"/>
          <p:cNvCxnSpPr/>
          <p:nvPr/>
        </p:nvCxnSpPr>
        <p:spPr>
          <a:xfrm>
            <a:off x="1009650" y="4315968"/>
            <a:ext cx="0" cy="2019300"/>
          </a:xfrm>
          <a:prstGeom prst="line">
            <a:avLst/>
          </a:prstGeom>
          <a:ln w="19050" cap="flat">
            <a:solidFill>
              <a:srgbClr val="5F6272"/>
            </a:solidFill>
          </a:ln>
        </p:spPr>
      </p:cxnSp>
      <p:cxnSp>
        <p:nvCxnSpPr>
          <p:cNvPr id="33" name="Line 33"/>
          <p:cNvCxnSpPr/>
          <p:nvPr/>
        </p:nvCxnSpPr>
        <p:spPr>
          <a:xfrm>
            <a:off x="1009650" y="6335268"/>
            <a:ext cx="2705100" cy="0"/>
          </a:xfrm>
          <a:prstGeom prst="line">
            <a:avLst/>
          </a:prstGeom>
          <a:ln w="19050" cap="flat">
            <a:solidFill>
              <a:srgbClr val="5F6272"/>
            </a:solidFill>
          </a:ln>
        </p:spPr>
      </p:cxnSp>
      <p:sp>
        <p:nvSpPr>
          <p:cNvPr id="34" name="Shape 34"/>
          <p:cNvSpPr txBox="1"/>
          <p:nvPr/>
        </p:nvSpPr>
        <p:spPr>
          <a:xfrm>
            <a:off x="735330"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5" name="Shape 35"/>
          <p:cNvSpPr txBox="1"/>
          <p:nvPr/>
        </p:nvSpPr>
        <p:spPr>
          <a:xfrm>
            <a:off x="1121773"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6" name="Shape 36"/>
          <p:cNvSpPr txBox="1"/>
          <p:nvPr/>
        </p:nvSpPr>
        <p:spPr>
          <a:xfrm>
            <a:off x="1508216"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37" name="Shape 37"/>
          <p:cNvSpPr txBox="1"/>
          <p:nvPr/>
        </p:nvSpPr>
        <p:spPr>
          <a:xfrm>
            <a:off x="1894659"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38" name="Shape 38"/>
          <p:cNvSpPr txBox="1"/>
          <p:nvPr/>
        </p:nvSpPr>
        <p:spPr>
          <a:xfrm>
            <a:off x="2281101"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39" name="Shape 39"/>
          <p:cNvSpPr txBox="1"/>
          <p:nvPr/>
        </p:nvSpPr>
        <p:spPr>
          <a:xfrm>
            <a:off x="2667544"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40" name="Shape 40"/>
          <p:cNvSpPr txBox="1"/>
          <p:nvPr/>
        </p:nvSpPr>
        <p:spPr>
          <a:xfrm>
            <a:off x="3053987"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a:t>
            </a:r>
            <a:endParaRPr lang="en-US" sz="975" dirty="0"/>
          </a:p>
        </p:txBody>
      </p:sp>
      <p:sp>
        <p:nvSpPr>
          <p:cNvPr id="41" name="Shape 41"/>
          <p:cNvSpPr txBox="1"/>
          <p:nvPr/>
        </p:nvSpPr>
        <p:spPr>
          <a:xfrm>
            <a:off x="3440430"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28</a:t>
            </a:r>
            <a:endParaRPr lang="en-US" sz="975" dirty="0"/>
          </a:p>
        </p:txBody>
      </p:sp>
      <p:sp>
        <p:nvSpPr>
          <p:cNvPr id="42" name="Shape 42"/>
          <p:cNvSpPr txBox="1"/>
          <p:nvPr/>
        </p:nvSpPr>
        <p:spPr>
          <a:xfrm>
            <a:off x="442722" y="62438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3" name="Shape 43"/>
          <p:cNvSpPr txBox="1"/>
          <p:nvPr/>
        </p:nvSpPr>
        <p:spPr>
          <a:xfrm>
            <a:off x="442722" y="5739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442722" y="52341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5" name="Shape 45"/>
          <p:cNvSpPr txBox="1"/>
          <p:nvPr/>
        </p:nvSpPr>
        <p:spPr>
          <a:xfrm>
            <a:off x="442722" y="472935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46" name="Shape 46"/>
          <p:cNvSpPr txBox="1"/>
          <p:nvPr/>
        </p:nvSpPr>
        <p:spPr>
          <a:xfrm>
            <a:off x="442722" y="42245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47" name="Shape 47"/>
          <p:cNvSpPr/>
          <p:nvPr/>
        </p:nvSpPr>
        <p:spPr>
          <a:xfrm>
            <a:off x="3372530" y="628288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8" name="Shape 48"/>
          <p:cNvSpPr txBox="1"/>
          <p:nvPr/>
        </p:nvSpPr>
        <p:spPr>
          <a:xfrm>
            <a:off x="3510643" y="608761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(25, 0)</a:t>
            </a:r>
            <a:endParaRPr lang="en-US" sz="1125" dirty="0"/>
          </a:p>
        </p:txBody>
      </p:sp>
      <p:sp>
        <p:nvSpPr>
          <p:cNvPr id="49" name="Shape 49"/>
          <p:cNvSpPr/>
          <p:nvPr/>
        </p:nvSpPr>
        <p:spPr>
          <a:xfrm>
            <a:off x="957262" y="502081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0" name="Shape 50"/>
          <p:cNvSpPr txBox="1"/>
          <p:nvPr/>
        </p:nvSpPr>
        <p:spPr>
          <a:xfrm>
            <a:off x="1095375" y="4825556"/>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(0, 10)</a:t>
            </a:r>
            <a:endParaRPr lang="en-US" sz="1125" dirty="0"/>
          </a:p>
        </p:txBody>
      </p:sp>
      <p:cxnSp>
        <p:nvCxnSpPr>
          <p:cNvPr id="51" name="Line 51"/>
          <p:cNvCxnSpPr/>
          <p:nvPr/>
        </p:nvCxnSpPr>
        <p:spPr>
          <a:xfrm>
            <a:off x="1009650" y="5073206"/>
            <a:ext cx="2415268" cy="1262062"/>
          </a:xfrm>
          <a:prstGeom prst="line">
            <a:avLst/>
          </a:prstGeom>
          <a:ln w="38100" cap="rnd">
            <a:solidFill>
              <a:srgbClr val="16171D"/>
            </a:solidFill>
          </a:ln>
        </p:spPr>
      </p:cxnSp>
      <p:sp>
        <p:nvSpPr>
          <p:cNvPr id="52" name="Shape 52"/>
          <p:cNvSpPr txBox="1"/>
          <p:nvPr/>
        </p:nvSpPr>
        <p:spPr>
          <a:xfrm>
            <a:off x="6267298" y="2144268"/>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10.</a:t>
            </a:r>
            <a:r>
              <a:rPr lang="en-US" sz="1575" dirty="0">
                <a:solidFill>
                  <a:srgbClr val="16171D"/>
                </a:solidFill>
                <a:latin typeface="Segoe UI"/>
                <a:cs typeface="Segoe UI"/>
              </a:rPr>
              <a:t xml:space="preserve"> Show choir tickets: $5 per student, $6 per adult, $270 collected.</a:t>
            </a:r>
            <a:endParaRPr lang="en-US" sz="1575" dirty="0"/>
          </a:p>
        </p:txBody>
      </p:sp>
      <p:sp>
        <p:nvSpPr>
          <p:cNvPr id="53" name="Shape 53"/>
          <p:cNvSpPr txBox="1"/>
          <p:nvPr/>
        </p:nvSpPr>
        <p:spPr>
          <a:xfrm>
            <a:off x="6267298" y="2755392"/>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student tickets,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adult tickets</a:t>
            </a:r>
            <a:endParaRPr lang="en-US" sz="1575" dirty="0"/>
          </a:p>
        </p:txBody>
      </p:sp>
      <p:sp>
        <p:nvSpPr>
          <p:cNvPr id="54" name="Shape 54"/>
          <p:cNvSpPr txBox="1"/>
          <p:nvPr/>
        </p:nvSpPr>
        <p:spPr>
          <a:xfrm>
            <a:off x="6267298" y="3126486"/>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270</a:t>
            </a:r>
            <a:endParaRPr lang="en-US" sz="2325" dirty="0"/>
          </a:p>
        </p:txBody>
      </p:sp>
      <p:sp>
        <p:nvSpPr>
          <p:cNvPr id="55" name="Shape 55"/>
          <p:cNvSpPr/>
          <p:nvPr/>
        </p:nvSpPr>
        <p:spPr>
          <a:xfrm>
            <a:off x="6267298" y="3721608"/>
            <a:ext cx="3143250" cy="2381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6" name="Line 56"/>
          <p:cNvCxnSpPr/>
          <p:nvPr/>
        </p:nvCxnSpPr>
        <p:spPr>
          <a:xfrm>
            <a:off x="6591148" y="3835908"/>
            <a:ext cx="0" cy="2019300"/>
          </a:xfrm>
          <a:prstGeom prst="line">
            <a:avLst/>
          </a:prstGeom>
          <a:ln w="9525" cap="flat">
            <a:solidFill>
              <a:srgbClr val="E6E8F2"/>
            </a:solidFill>
          </a:ln>
        </p:spPr>
      </p:cxnSp>
      <p:cxnSp>
        <p:nvCxnSpPr>
          <p:cNvPr id="57" name="Line 57"/>
          <p:cNvCxnSpPr/>
          <p:nvPr/>
        </p:nvCxnSpPr>
        <p:spPr>
          <a:xfrm>
            <a:off x="6816573" y="3835908"/>
            <a:ext cx="0" cy="2019300"/>
          </a:xfrm>
          <a:prstGeom prst="line">
            <a:avLst/>
          </a:prstGeom>
          <a:ln w="9525" cap="flat">
            <a:solidFill>
              <a:srgbClr val="E6E8F2"/>
            </a:solidFill>
          </a:ln>
        </p:spPr>
      </p:cxnSp>
      <p:cxnSp>
        <p:nvCxnSpPr>
          <p:cNvPr id="58" name="Line 58"/>
          <p:cNvCxnSpPr/>
          <p:nvPr/>
        </p:nvCxnSpPr>
        <p:spPr>
          <a:xfrm>
            <a:off x="7041998" y="3835908"/>
            <a:ext cx="0" cy="2019300"/>
          </a:xfrm>
          <a:prstGeom prst="line">
            <a:avLst/>
          </a:prstGeom>
          <a:ln w="9525" cap="flat">
            <a:solidFill>
              <a:srgbClr val="E6E8F2"/>
            </a:solidFill>
          </a:ln>
        </p:spPr>
      </p:cxnSp>
      <p:cxnSp>
        <p:nvCxnSpPr>
          <p:cNvPr id="59" name="Line 59"/>
          <p:cNvCxnSpPr/>
          <p:nvPr/>
        </p:nvCxnSpPr>
        <p:spPr>
          <a:xfrm>
            <a:off x="7267423" y="3835908"/>
            <a:ext cx="0" cy="2019300"/>
          </a:xfrm>
          <a:prstGeom prst="line">
            <a:avLst/>
          </a:prstGeom>
          <a:ln w="9525" cap="flat">
            <a:solidFill>
              <a:srgbClr val="E6E8F2"/>
            </a:solidFill>
          </a:ln>
        </p:spPr>
      </p:cxnSp>
      <p:cxnSp>
        <p:nvCxnSpPr>
          <p:cNvPr id="60" name="Line 60"/>
          <p:cNvCxnSpPr/>
          <p:nvPr/>
        </p:nvCxnSpPr>
        <p:spPr>
          <a:xfrm>
            <a:off x="7492848" y="3835908"/>
            <a:ext cx="0" cy="2019300"/>
          </a:xfrm>
          <a:prstGeom prst="line">
            <a:avLst/>
          </a:prstGeom>
          <a:ln w="9525" cap="flat">
            <a:solidFill>
              <a:srgbClr val="E6E8F2"/>
            </a:solidFill>
          </a:ln>
        </p:spPr>
      </p:cxnSp>
      <p:cxnSp>
        <p:nvCxnSpPr>
          <p:cNvPr id="61" name="Line 61"/>
          <p:cNvCxnSpPr/>
          <p:nvPr/>
        </p:nvCxnSpPr>
        <p:spPr>
          <a:xfrm>
            <a:off x="7718273" y="3835908"/>
            <a:ext cx="0" cy="2019300"/>
          </a:xfrm>
          <a:prstGeom prst="line">
            <a:avLst/>
          </a:prstGeom>
          <a:ln w="9525" cap="flat">
            <a:solidFill>
              <a:srgbClr val="E6E8F2"/>
            </a:solidFill>
          </a:ln>
        </p:spPr>
      </p:cxnSp>
      <p:cxnSp>
        <p:nvCxnSpPr>
          <p:cNvPr id="62" name="Line 62"/>
          <p:cNvCxnSpPr/>
          <p:nvPr/>
        </p:nvCxnSpPr>
        <p:spPr>
          <a:xfrm>
            <a:off x="7943698" y="3835908"/>
            <a:ext cx="0" cy="2019300"/>
          </a:xfrm>
          <a:prstGeom prst="line">
            <a:avLst/>
          </a:prstGeom>
          <a:ln w="9525" cap="flat">
            <a:solidFill>
              <a:srgbClr val="E6E8F2"/>
            </a:solidFill>
          </a:ln>
        </p:spPr>
      </p:cxnSp>
      <p:cxnSp>
        <p:nvCxnSpPr>
          <p:cNvPr id="63" name="Line 63"/>
          <p:cNvCxnSpPr/>
          <p:nvPr/>
        </p:nvCxnSpPr>
        <p:spPr>
          <a:xfrm>
            <a:off x="8169123" y="3835908"/>
            <a:ext cx="0" cy="2019300"/>
          </a:xfrm>
          <a:prstGeom prst="line">
            <a:avLst/>
          </a:prstGeom>
          <a:ln w="9525" cap="flat">
            <a:solidFill>
              <a:srgbClr val="E6E8F2"/>
            </a:solidFill>
          </a:ln>
        </p:spPr>
      </p:cxnSp>
      <p:cxnSp>
        <p:nvCxnSpPr>
          <p:cNvPr id="64" name="Line 64"/>
          <p:cNvCxnSpPr/>
          <p:nvPr/>
        </p:nvCxnSpPr>
        <p:spPr>
          <a:xfrm>
            <a:off x="8394548" y="3835908"/>
            <a:ext cx="0" cy="2019300"/>
          </a:xfrm>
          <a:prstGeom prst="line">
            <a:avLst/>
          </a:prstGeom>
          <a:ln w="9525" cap="flat">
            <a:solidFill>
              <a:srgbClr val="E6E8F2"/>
            </a:solidFill>
          </a:ln>
        </p:spPr>
      </p:cxnSp>
      <p:cxnSp>
        <p:nvCxnSpPr>
          <p:cNvPr id="65" name="Line 65"/>
          <p:cNvCxnSpPr/>
          <p:nvPr/>
        </p:nvCxnSpPr>
        <p:spPr>
          <a:xfrm>
            <a:off x="8619973" y="3835908"/>
            <a:ext cx="0" cy="2019300"/>
          </a:xfrm>
          <a:prstGeom prst="line">
            <a:avLst/>
          </a:prstGeom>
          <a:ln w="9525" cap="flat">
            <a:solidFill>
              <a:srgbClr val="E6E8F2"/>
            </a:solidFill>
          </a:ln>
        </p:spPr>
      </p:cxnSp>
      <p:cxnSp>
        <p:nvCxnSpPr>
          <p:cNvPr id="66" name="Line 66"/>
          <p:cNvCxnSpPr/>
          <p:nvPr/>
        </p:nvCxnSpPr>
        <p:spPr>
          <a:xfrm>
            <a:off x="8845398" y="3835908"/>
            <a:ext cx="0" cy="2019300"/>
          </a:xfrm>
          <a:prstGeom prst="line">
            <a:avLst/>
          </a:prstGeom>
          <a:ln w="9525" cap="flat">
            <a:solidFill>
              <a:srgbClr val="E6E8F2"/>
            </a:solidFill>
          </a:ln>
        </p:spPr>
      </p:cxnSp>
      <p:cxnSp>
        <p:nvCxnSpPr>
          <p:cNvPr id="67" name="Line 67"/>
          <p:cNvCxnSpPr/>
          <p:nvPr/>
        </p:nvCxnSpPr>
        <p:spPr>
          <a:xfrm>
            <a:off x="9070823" y="3835908"/>
            <a:ext cx="0" cy="2019300"/>
          </a:xfrm>
          <a:prstGeom prst="line">
            <a:avLst/>
          </a:prstGeom>
          <a:ln w="9525" cap="flat">
            <a:solidFill>
              <a:srgbClr val="E6E8F2"/>
            </a:solidFill>
          </a:ln>
        </p:spPr>
      </p:cxnSp>
      <p:cxnSp>
        <p:nvCxnSpPr>
          <p:cNvPr id="68" name="Line 68"/>
          <p:cNvCxnSpPr/>
          <p:nvPr/>
        </p:nvCxnSpPr>
        <p:spPr>
          <a:xfrm>
            <a:off x="9296248" y="3835908"/>
            <a:ext cx="0" cy="2019300"/>
          </a:xfrm>
          <a:prstGeom prst="line">
            <a:avLst/>
          </a:prstGeom>
          <a:ln w="9525" cap="flat">
            <a:solidFill>
              <a:srgbClr val="E6E8F2"/>
            </a:solidFill>
          </a:ln>
        </p:spPr>
      </p:cxnSp>
      <p:cxnSp>
        <p:nvCxnSpPr>
          <p:cNvPr id="69" name="Line 69"/>
          <p:cNvCxnSpPr/>
          <p:nvPr/>
        </p:nvCxnSpPr>
        <p:spPr>
          <a:xfrm>
            <a:off x="6591148" y="5855208"/>
            <a:ext cx="2705100" cy="0"/>
          </a:xfrm>
          <a:prstGeom prst="line">
            <a:avLst/>
          </a:prstGeom>
          <a:ln w="9525" cap="flat">
            <a:solidFill>
              <a:srgbClr val="E6E8F2"/>
            </a:solidFill>
          </a:ln>
        </p:spPr>
      </p:cxnSp>
      <p:cxnSp>
        <p:nvCxnSpPr>
          <p:cNvPr id="70" name="Line 70"/>
          <p:cNvCxnSpPr/>
          <p:nvPr/>
        </p:nvCxnSpPr>
        <p:spPr>
          <a:xfrm>
            <a:off x="6591148" y="5653278"/>
            <a:ext cx="2705100" cy="0"/>
          </a:xfrm>
          <a:prstGeom prst="line">
            <a:avLst/>
          </a:prstGeom>
          <a:ln w="9525" cap="flat">
            <a:solidFill>
              <a:srgbClr val="E6E8F2"/>
            </a:solidFill>
          </a:ln>
        </p:spPr>
      </p:cxnSp>
      <p:cxnSp>
        <p:nvCxnSpPr>
          <p:cNvPr id="71" name="Line 71"/>
          <p:cNvCxnSpPr/>
          <p:nvPr/>
        </p:nvCxnSpPr>
        <p:spPr>
          <a:xfrm>
            <a:off x="6591148" y="5451348"/>
            <a:ext cx="2705100" cy="0"/>
          </a:xfrm>
          <a:prstGeom prst="line">
            <a:avLst/>
          </a:prstGeom>
          <a:ln w="9525" cap="flat">
            <a:solidFill>
              <a:srgbClr val="E6E8F2"/>
            </a:solidFill>
          </a:ln>
        </p:spPr>
      </p:cxnSp>
      <p:cxnSp>
        <p:nvCxnSpPr>
          <p:cNvPr id="72" name="Line 72"/>
          <p:cNvCxnSpPr/>
          <p:nvPr/>
        </p:nvCxnSpPr>
        <p:spPr>
          <a:xfrm>
            <a:off x="6591148" y="5249418"/>
            <a:ext cx="2705100" cy="0"/>
          </a:xfrm>
          <a:prstGeom prst="line">
            <a:avLst/>
          </a:prstGeom>
          <a:ln w="9525" cap="flat">
            <a:solidFill>
              <a:srgbClr val="E6E8F2"/>
            </a:solidFill>
          </a:ln>
        </p:spPr>
      </p:cxnSp>
      <p:cxnSp>
        <p:nvCxnSpPr>
          <p:cNvPr id="73" name="Line 73"/>
          <p:cNvCxnSpPr/>
          <p:nvPr/>
        </p:nvCxnSpPr>
        <p:spPr>
          <a:xfrm>
            <a:off x="6591148" y="5047488"/>
            <a:ext cx="2705100" cy="0"/>
          </a:xfrm>
          <a:prstGeom prst="line">
            <a:avLst/>
          </a:prstGeom>
          <a:ln w="9525" cap="flat">
            <a:solidFill>
              <a:srgbClr val="E6E8F2"/>
            </a:solidFill>
          </a:ln>
        </p:spPr>
      </p:cxnSp>
      <p:cxnSp>
        <p:nvCxnSpPr>
          <p:cNvPr id="74" name="Line 74"/>
          <p:cNvCxnSpPr/>
          <p:nvPr/>
        </p:nvCxnSpPr>
        <p:spPr>
          <a:xfrm>
            <a:off x="6591148" y="4845558"/>
            <a:ext cx="2705100" cy="0"/>
          </a:xfrm>
          <a:prstGeom prst="line">
            <a:avLst/>
          </a:prstGeom>
          <a:ln w="9525" cap="flat">
            <a:solidFill>
              <a:srgbClr val="E6E8F2"/>
            </a:solidFill>
          </a:ln>
        </p:spPr>
      </p:cxnSp>
      <p:cxnSp>
        <p:nvCxnSpPr>
          <p:cNvPr id="75" name="Line 75"/>
          <p:cNvCxnSpPr/>
          <p:nvPr/>
        </p:nvCxnSpPr>
        <p:spPr>
          <a:xfrm>
            <a:off x="6591148" y="4643628"/>
            <a:ext cx="2705100" cy="0"/>
          </a:xfrm>
          <a:prstGeom prst="line">
            <a:avLst/>
          </a:prstGeom>
          <a:ln w="9525" cap="flat">
            <a:solidFill>
              <a:srgbClr val="E6E8F2"/>
            </a:solidFill>
          </a:ln>
        </p:spPr>
      </p:cxnSp>
      <p:cxnSp>
        <p:nvCxnSpPr>
          <p:cNvPr id="76" name="Line 76"/>
          <p:cNvCxnSpPr/>
          <p:nvPr/>
        </p:nvCxnSpPr>
        <p:spPr>
          <a:xfrm>
            <a:off x="6591148" y="4441698"/>
            <a:ext cx="2705100" cy="0"/>
          </a:xfrm>
          <a:prstGeom prst="line">
            <a:avLst/>
          </a:prstGeom>
          <a:ln w="9525" cap="flat">
            <a:solidFill>
              <a:srgbClr val="E6E8F2"/>
            </a:solidFill>
          </a:ln>
        </p:spPr>
      </p:cxnSp>
      <p:cxnSp>
        <p:nvCxnSpPr>
          <p:cNvPr id="77" name="Line 77"/>
          <p:cNvCxnSpPr/>
          <p:nvPr/>
        </p:nvCxnSpPr>
        <p:spPr>
          <a:xfrm>
            <a:off x="6591148" y="4239768"/>
            <a:ext cx="2705100" cy="0"/>
          </a:xfrm>
          <a:prstGeom prst="line">
            <a:avLst/>
          </a:prstGeom>
          <a:ln w="9525" cap="flat">
            <a:solidFill>
              <a:srgbClr val="E6E8F2"/>
            </a:solidFill>
          </a:ln>
        </p:spPr>
      </p:cxnSp>
      <p:cxnSp>
        <p:nvCxnSpPr>
          <p:cNvPr id="78" name="Line 78"/>
          <p:cNvCxnSpPr/>
          <p:nvPr/>
        </p:nvCxnSpPr>
        <p:spPr>
          <a:xfrm>
            <a:off x="6591148" y="4037838"/>
            <a:ext cx="2705100" cy="0"/>
          </a:xfrm>
          <a:prstGeom prst="line">
            <a:avLst/>
          </a:prstGeom>
          <a:ln w="9525" cap="flat">
            <a:solidFill>
              <a:srgbClr val="E6E8F2"/>
            </a:solidFill>
          </a:ln>
        </p:spPr>
      </p:cxnSp>
      <p:cxnSp>
        <p:nvCxnSpPr>
          <p:cNvPr id="79" name="Line 79"/>
          <p:cNvCxnSpPr/>
          <p:nvPr/>
        </p:nvCxnSpPr>
        <p:spPr>
          <a:xfrm>
            <a:off x="6591148" y="3835908"/>
            <a:ext cx="2705100" cy="0"/>
          </a:xfrm>
          <a:prstGeom prst="line">
            <a:avLst/>
          </a:prstGeom>
          <a:ln w="9525" cap="flat">
            <a:solidFill>
              <a:srgbClr val="E6E8F2"/>
            </a:solidFill>
          </a:ln>
        </p:spPr>
      </p:cxnSp>
      <p:cxnSp>
        <p:nvCxnSpPr>
          <p:cNvPr id="80" name="Line 80"/>
          <p:cNvCxnSpPr/>
          <p:nvPr/>
        </p:nvCxnSpPr>
        <p:spPr>
          <a:xfrm>
            <a:off x="6591148" y="3835908"/>
            <a:ext cx="0" cy="2019300"/>
          </a:xfrm>
          <a:prstGeom prst="line">
            <a:avLst/>
          </a:prstGeom>
          <a:ln w="19050" cap="flat">
            <a:solidFill>
              <a:srgbClr val="5F6272"/>
            </a:solidFill>
          </a:ln>
        </p:spPr>
      </p:cxnSp>
      <p:cxnSp>
        <p:nvCxnSpPr>
          <p:cNvPr id="81" name="Line 81"/>
          <p:cNvCxnSpPr/>
          <p:nvPr/>
        </p:nvCxnSpPr>
        <p:spPr>
          <a:xfrm>
            <a:off x="6591148" y="5855208"/>
            <a:ext cx="2705100" cy="0"/>
          </a:xfrm>
          <a:prstGeom prst="line">
            <a:avLst/>
          </a:prstGeom>
          <a:ln w="19050" cap="flat">
            <a:solidFill>
              <a:srgbClr val="5F6272"/>
            </a:solidFill>
          </a:ln>
        </p:spPr>
      </p:cxnSp>
      <p:sp>
        <p:nvSpPr>
          <p:cNvPr id="82" name="Shape 82"/>
          <p:cNvSpPr txBox="1"/>
          <p:nvPr/>
        </p:nvSpPr>
        <p:spPr>
          <a:xfrm>
            <a:off x="63168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83" name="Shape 83"/>
          <p:cNvSpPr txBox="1"/>
          <p:nvPr/>
        </p:nvSpPr>
        <p:spPr>
          <a:xfrm>
            <a:off x="67676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84" name="Shape 84"/>
          <p:cNvSpPr txBox="1"/>
          <p:nvPr/>
        </p:nvSpPr>
        <p:spPr>
          <a:xfrm>
            <a:off x="72185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85" name="Shape 85"/>
          <p:cNvSpPr txBox="1"/>
          <p:nvPr/>
        </p:nvSpPr>
        <p:spPr>
          <a:xfrm>
            <a:off x="76693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30</a:t>
            </a:r>
            <a:endParaRPr lang="en-US" sz="975" dirty="0"/>
          </a:p>
        </p:txBody>
      </p:sp>
      <p:sp>
        <p:nvSpPr>
          <p:cNvPr id="86" name="Shape 86"/>
          <p:cNvSpPr txBox="1"/>
          <p:nvPr/>
        </p:nvSpPr>
        <p:spPr>
          <a:xfrm>
            <a:off x="81202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40</a:t>
            </a:r>
            <a:endParaRPr lang="en-US" sz="975" dirty="0"/>
          </a:p>
        </p:txBody>
      </p:sp>
      <p:sp>
        <p:nvSpPr>
          <p:cNvPr id="87" name="Shape 87"/>
          <p:cNvSpPr txBox="1"/>
          <p:nvPr/>
        </p:nvSpPr>
        <p:spPr>
          <a:xfrm>
            <a:off x="85710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50</a:t>
            </a:r>
            <a:endParaRPr lang="en-US" sz="975" dirty="0"/>
          </a:p>
        </p:txBody>
      </p:sp>
      <p:sp>
        <p:nvSpPr>
          <p:cNvPr id="88" name="Shape 88"/>
          <p:cNvSpPr txBox="1"/>
          <p:nvPr/>
        </p:nvSpPr>
        <p:spPr>
          <a:xfrm>
            <a:off x="90219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60</a:t>
            </a:r>
            <a:endParaRPr lang="en-US" sz="975" dirty="0"/>
          </a:p>
        </p:txBody>
      </p:sp>
      <p:sp>
        <p:nvSpPr>
          <p:cNvPr id="89" name="Shape 89"/>
          <p:cNvSpPr txBox="1"/>
          <p:nvPr/>
        </p:nvSpPr>
        <p:spPr>
          <a:xfrm>
            <a:off x="6024220" y="57637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90" name="Shape 90"/>
          <p:cNvSpPr txBox="1"/>
          <p:nvPr/>
        </p:nvSpPr>
        <p:spPr>
          <a:xfrm>
            <a:off x="6024220" y="535990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91" name="Shape 91"/>
          <p:cNvSpPr txBox="1"/>
          <p:nvPr/>
        </p:nvSpPr>
        <p:spPr>
          <a:xfrm>
            <a:off x="6024220" y="4956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92" name="Shape 92"/>
          <p:cNvSpPr txBox="1"/>
          <p:nvPr/>
        </p:nvSpPr>
        <p:spPr>
          <a:xfrm>
            <a:off x="6024220" y="45521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93" name="Shape 93"/>
          <p:cNvSpPr txBox="1"/>
          <p:nvPr/>
        </p:nvSpPr>
        <p:spPr>
          <a:xfrm>
            <a:off x="6024220" y="41483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94" name="Shape 94"/>
          <p:cNvSpPr txBox="1"/>
          <p:nvPr/>
        </p:nvSpPr>
        <p:spPr>
          <a:xfrm>
            <a:off x="6024220" y="37444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95" name="Shape 95"/>
          <p:cNvSpPr/>
          <p:nvPr/>
        </p:nvSpPr>
        <p:spPr>
          <a:xfrm>
            <a:off x="8973350" y="580282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6" name="Shape 96"/>
          <p:cNvSpPr txBox="1"/>
          <p:nvPr/>
        </p:nvSpPr>
        <p:spPr>
          <a:xfrm>
            <a:off x="9111463" y="560755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(54, 0)</a:t>
            </a:r>
            <a:endParaRPr lang="en-US" sz="1125" dirty="0"/>
          </a:p>
        </p:txBody>
      </p:sp>
      <p:sp>
        <p:nvSpPr>
          <p:cNvPr id="97" name="Shape 97"/>
          <p:cNvSpPr/>
          <p:nvPr/>
        </p:nvSpPr>
        <p:spPr>
          <a:xfrm>
            <a:off x="6538760" y="398545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8" name="Shape 98"/>
          <p:cNvSpPr txBox="1"/>
          <p:nvPr/>
        </p:nvSpPr>
        <p:spPr>
          <a:xfrm>
            <a:off x="6676873" y="379018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(0, 45)</a:t>
            </a:r>
            <a:endParaRPr lang="en-US" sz="1125" dirty="0"/>
          </a:p>
        </p:txBody>
      </p:sp>
      <p:cxnSp>
        <p:nvCxnSpPr>
          <p:cNvPr id="99" name="Line 99"/>
          <p:cNvCxnSpPr/>
          <p:nvPr/>
        </p:nvCxnSpPr>
        <p:spPr>
          <a:xfrm>
            <a:off x="6591148" y="4037838"/>
            <a:ext cx="2434590" cy="181737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anim calcmode="lin" valueType="num">
                                      <p:cBhvr>
                                        <p:cTn id="19" dur="500" fill="hold"/>
                                        <p:tgtEl>
                                          <p:spTgt spid="47"/>
                                        </p:tgtEl>
                                        <p:attrNameLst>
                                          <p:attrName>ppt_w</p:attrName>
                                        </p:attrNameLst>
                                      </p:cBhvr>
                                      <p:tavLst>
                                        <p:tav tm="0">
                                          <p:val>
                                            <p:fltVal val="0"/>
                                          </p:val>
                                        </p:tav>
                                        <p:tav tm="100000">
                                          <p:val>
                                            <p:strVal val="#ppt_w"/>
                                          </p:val>
                                        </p:tav>
                                      </p:tavLst>
                                    </p:anim>
                                    <p:anim calcmode="lin" valueType="num">
                                      <p:cBhvr>
                                        <p:cTn id="20" dur="500" fill="hold"/>
                                        <p:tgtEl>
                                          <p:spTgt spid="47"/>
                                        </p:tgtEl>
                                        <p:attrNameLst>
                                          <p:attrName>ppt_h</p:attrName>
                                        </p:attrNameLst>
                                      </p:cBhvr>
                                      <p:tavLst>
                                        <p:tav tm="0">
                                          <p:val>
                                            <p:fltVal val="0"/>
                                          </p:val>
                                        </p:tav>
                                        <p:tav tm="100000">
                                          <p:val>
                                            <p:strVal val="#ppt_h"/>
                                          </p:val>
                                        </p:tav>
                                      </p:tavLst>
                                    </p:anim>
                                  </p:childTnLst>
                                </p:cTn>
                              </p:par>
                              <p:par>
                                <p:cTn id="26" presetID="53" presetClass="entr" presetSubtype="16"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anim calcmode="lin" valueType="num">
                                      <p:cBhvr>
                                        <p:cTn id="24" dur="500" fill="hold"/>
                                        <p:tgtEl>
                                          <p:spTgt spid="48"/>
                                        </p:tgtEl>
                                        <p:attrNameLst>
                                          <p:attrName>ppt_w</p:attrName>
                                        </p:attrNameLst>
                                      </p:cBhvr>
                                      <p:tavLst>
                                        <p:tav tm="0">
                                          <p:val>
                                            <p:fltVal val="0"/>
                                          </p:val>
                                        </p:tav>
                                        <p:tav tm="100000">
                                          <p:val>
                                            <p:strVal val="#ppt_w"/>
                                          </p:val>
                                        </p:tav>
                                      </p:tavLst>
                                    </p:anim>
                                    <p:anim calcmode="lin" valueType="num">
                                      <p:cBhvr>
                                        <p:cTn id="25" dur="500" fill="hold"/>
                                        <p:tgtEl>
                                          <p:spTgt spid="48"/>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33" presetID="53" presetClass="entr" presetSubtype="16"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anim calcmode="lin" valueType="num">
                                      <p:cBhvr>
                                        <p:cTn id="31" dur="500" fill="hold"/>
                                        <p:tgtEl>
                                          <p:spTgt spid="49"/>
                                        </p:tgtEl>
                                        <p:attrNameLst>
                                          <p:attrName>ppt_w</p:attrName>
                                        </p:attrNameLst>
                                      </p:cBhvr>
                                      <p:tavLst>
                                        <p:tav tm="0">
                                          <p:val>
                                            <p:fltVal val="0"/>
                                          </p:val>
                                        </p:tav>
                                        <p:tav tm="100000">
                                          <p:val>
                                            <p:strVal val="#ppt_w"/>
                                          </p:val>
                                        </p:tav>
                                      </p:tavLst>
                                    </p:anim>
                                    <p:anim calcmode="lin" valueType="num">
                                      <p:cBhvr>
                                        <p:cTn id="32" dur="500" fill="hold"/>
                                        <p:tgtEl>
                                          <p:spTgt spid="49"/>
                                        </p:tgtEl>
                                        <p:attrNameLst>
                                          <p:attrName>ppt_h</p:attrName>
                                        </p:attrNameLst>
                                      </p:cBhvr>
                                      <p:tavLst>
                                        <p:tav tm="0">
                                          <p:val>
                                            <p:fltVal val="0"/>
                                          </p:val>
                                        </p:tav>
                                        <p:tav tm="100000">
                                          <p:val>
                                            <p:strVal val="#ppt_h"/>
                                          </p:val>
                                        </p:tav>
                                      </p:tavLst>
                                    </p:anim>
                                  </p:childTnLst>
                                </p:cTn>
                              </p:par>
                              <p:par>
                                <p:cTn id="38" presetID="53" presetClass="entr" presetSubtype="16" fill="hold" nodeType="with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fade">
                                      <p:cBhvr>
                                        <p:cTn id="35" dur="500"/>
                                        <p:tgtEl>
                                          <p:spTgt spid="50"/>
                                        </p:tgtEl>
                                      </p:cBhvr>
                                    </p:animEffect>
                                    <p:anim calcmode="lin" valueType="num">
                                      <p:cBhvr>
                                        <p:cTn id="36" dur="500" fill="hold"/>
                                        <p:tgtEl>
                                          <p:spTgt spid="50"/>
                                        </p:tgtEl>
                                        <p:attrNameLst>
                                          <p:attrName>ppt_w</p:attrName>
                                        </p:attrNameLst>
                                      </p:cBhvr>
                                      <p:tavLst>
                                        <p:tav tm="0">
                                          <p:val>
                                            <p:fltVal val="0"/>
                                          </p:val>
                                        </p:tav>
                                        <p:tav tm="100000">
                                          <p:val>
                                            <p:strVal val="#ppt_w"/>
                                          </p:val>
                                        </p:tav>
                                      </p:tavLst>
                                    </p:anim>
                                    <p:anim calcmode="lin" valueType="num">
                                      <p:cBhvr>
                                        <p:cTn id="37" dur="500" fill="hold"/>
                                        <p:tgtEl>
                                          <p:spTgt spid="50"/>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3" presetID="22" presetClass="entr" presetSubtype="8" fill="hold" nodeType="click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wipe(left)">
                                      <p:cBhvr>
                                        <p:cTn id="42" dur="700"/>
                                        <p:tgtEl>
                                          <p:spTgt spid="51"/>
                                        </p:tgtEl>
                                      </p:cBhvr>
                                    </p:animEffect>
                                  </p:childTnLst>
                                </p:cTn>
                              </p:par>
                            </p:childTnLst>
                          </p:cTn>
                        </p:par>
                      </p:childTnLst>
                    </p:cTn>
                  </p:par>
                  <p:par>
                    <p:cTn id="51" fill="hold">
                      <p:stCondLst>
                        <p:cond delay="indefinite"/>
                      </p:stCondLst>
                      <p:childTnLst>
                        <p:par>
                          <p:cTn id="52" fill="hold">
                            <p:stCondLst>
                              <p:cond delay="0"/>
                            </p:stCondLst>
                            <p:childTnLst>
                              <p:par>
                                <p:cTn id="50" presetID="42" presetClass="entr" presetSubtype="0" fill="hold" nodeType="click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500"/>
                                        <p:tgtEl>
                                          <p:spTgt spid="53"/>
                                        </p:tgtEl>
                                      </p:cBhvr>
                                    </p:animEffect>
                                    <p:anim calcmode="lin" valueType="num">
                                      <p:cBhvr>
                                        <p:cTn id="48" dur="500" fill="hold"/>
                                        <p:tgtEl>
                                          <p:spTgt spid="53"/>
                                        </p:tgtEl>
                                        <p:attrNameLst>
                                          <p:attrName>ppt_x</p:attrName>
                                        </p:attrNameLst>
                                      </p:cBhvr>
                                      <p:tavLst>
                                        <p:tav tm="0">
                                          <p:val>
                                            <p:strVal val="#ppt_x"/>
                                          </p:val>
                                        </p:tav>
                                        <p:tav tm="100000">
                                          <p:val>
                                            <p:strVal val="#ppt_x"/>
                                          </p:val>
                                        </p:tav>
                                      </p:tavLst>
                                    </p:anim>
                                    <p:anim calcmode="lin" valueType="num">
                                      <p:cBhvr>
                                        <p:cTn id="49" dur="5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nodeType="click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fade">
                                      <p:cBhvr>
                                        <p:cTn id="54" dur="500"/>
                                        <p:tgtEl>
                                          <p:spTgt spid="54"/>
                                        </p:tgtEl>
                                      </p:cBhvr>
                                    </p:animEffect>
                                    <p:anim calcmode="lin" valueType="num">
                                      <p:cBhvr>
                                        <p:cTn id="55" dur="500" fill="hold"/>
                                        <p:tgtEl>
                                          <p:spTgt spid="54"/>
                                        </p:tgtEl>
                                        <p:attrNameLst>
                                          <p:attrName>ppt_w</p:attrName>
                                        </p:attrNameLst>
                                      </p:cBhvr>
                                      <p:tavLst>
                                        <p:tav tm="0">
                                          <p:val>
                                            <p:fltVal val="0"/>
                                          </p:val>
                                        </p:tav>
                                        <p:tav tm="100000">
                                          <p:val>
                                            <p:strVal val="#ppt_w"/>
                                          </p:val>
                                        </p:tav>
                                      </p:tavLst>
                                    </p:anim>
                                    <p:anim calcmode="lin" valueType="num">
                                      <p:cBhvr>
                                        <p:cTn id="56" dur="500" fill="hold"/>
                                        <p:tgtEl>
                                          <p:spTgt spid="54"/>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64" presetID="53" presetClass="entr" presetSubtype="16" fill="hold" nodeType="clickEffect">
                                  <p:stCondLst>
                                    <p:cond delay="0"/>
                                  </p:stCondLst>
                                  <p:childTnLst>
                                    <p:set>
                                      <p:cBhvr>
                                        <p:cTn id="60" dur="1" fill="hold">
                                          <p:stCondLst>
                                            <p:cond delay="0"/>
                                          </p:stCondLst>
                                        </p:cTn>
                                        <p:tgtEl>
                                          <p:spTgt spid="95"/>
                                        </p:tgtEl>
                                        <p:attrNameLst>
                                          <p:attrName>style.visibility</p:attrName>
                                        </p:attrNameLst>
                                      </p:cBhvr>
                                      <p:to>
                                        <p:strVal val="visible"/>
                                      </p:to>
                                    </p:set>
                                    <p:animEffect transition="in" filter="fade">
                                      <p:cBhvr>
                                        <p:cTn id="61" dur="500"/>
                                        <p:tgtEl>
                                          <p:spTgt spid="95"/>
                                        </p:tgtEl>
                                      </p:cBhvr>
                                    </p:animEffect>
                                    <p:anim calcmode="lin" valueType="num">
                                      <p:cBhvr>
                                        <p:cTn id="62" dur="500" fill="hold"/>
                                        <p:tgtEl>
                                          <p:spTgt spid="95"/>
                                        </p:tgtEl>
                                        <p:attrNameLst>
                                          <p:attrName>ppt_w</p:attrName>
                                        </p:attrNameLst>
                                      </p:cBhvr>
                                      <p:tavLst>
                                        <p:tav tm="0">
                                          <p:val>
                                            <p:fltVal val="0"/>
                                          </p:val>
                                        </p:tav>
                                        <p:tav tm="100000">
                                          <p:val>
                                            <p:strVal val="#ppt_w"/>
                                          </p:val>
                                        </p:tav>
                                      </p:tavLst>
                                    </p:anim>
                                    <p:anim calcmode="lin" valueType="num">
                                      <p:cBhvr>
                                        <p:cTn id="63" dur="500" fill="hold"/>
                                        <p:tgtEl>
                                          <p:spTgt spid="95"/>
                                        </p:tgtEl>
                                        <p:attrNameLst>
                                          <p:attrName>ppt_h</p:attrName>
                                        </p:attrNameLst>
                                      </p:cBhvr>
                                      <p:tavLst>
                                        <p:tav tm="0">
                                          <p:val>
                                            <p:fltVal val="0"/>
                                          </p:val>
                                        </p:tav>
                                        <p:tav tm="100000">
                                          <p:val>
                                            <p:strVal val="#ppt_h"/>
                                          </p:val>
                                        </p:tav>
                                      </p:tavLst>
                                    </p:anim>
                                  </p:childTnLst>
                                </p:cTn>
                              </p:par>
                              <p:par>
                                <p:cTn id="69" presetID="53" presetClass="entr" presetSubtype="16" fill="hold" nodeType="withEffect">
                                  <p:stCondLst>
                                    <p:cond delay="0"/>
                                  </p:stCondLst>
                                  <p:childTnLst>
                                    <p:set>
                                      <p:cBhvr>
                                        <p:cTn id="65" dur="1" fill="hold">
                                          <p:stCondLst>
                                            <p:cond delay="0"/>
                                          </p:stCondLst>
                                        </p:cTn>
                                        <p:tgtEl>
                                          <p:spTgt spid="96"/>
                                        </p:tgtEl>
                                        <p:attrNameLst>
                                          <p:attrName>style.visibility</p:attrName>
                                        </p:attrNameLst>
                                      </p:cBhvr>
                                      <p:to>
                                        <p:strVal val="visible"/>
                                      </p:to>
                                    </p:set>
                                    <p:animEffect transition="in" filter="fade">
                                      <p:cBhvr>
                                        <p:cTn id="66" dur="500"/>
                                        <p:tgtEl>
                                          <p:spTgt spid="96"/>
                                        </p:tgtEl>
                                      </p:cBhvr>
                                    </p:animEffect>
                                    <p:anim calcmode="lin" valueType="num">
                                      <p:cBhvr>
                                        <p:cTn id="67" dur="500" fill="hold"/>
                                        <p:tgtEl>
                                          <p:spTgt spid="96"/>
                                        </p:tgtEl>
                                        <p:attrNameLst>
                                          <p:attrName>ppt_w</p:attrName>
                                        </p:attrNameLst>
                                      </p:cBhvr>
                                      <p:tavLst>
                                        <p:tav tm="0">
                                          <p:val>
                                            <p:fltVal val="0"/>
                                          </p:val>
                                        </p:tav>
                                        <p:tav tm="100000">
                                          <p:val>
                                            <p:strVal val="#ppt_w"/>
                                          </p:val>
                                        </p:tav>
                                      </p:tavLst>
                                    </p:anim>
                                    <p:anim calcmode="lin" valueType="num">
                                      <p:cBhvr>
                                        <p:cTn id="68" dur="500" fill="hold"/>
                                        <p:tgtEl>
                                          <p:spTgt spid="96"/>
                                        </p:tgtEl>
                                        <p:attrNameLst>
                                          <p:attrName>ppt_h</p:attrName>
                                        </p:attrNameLst>
                                      </p:cBhvr>
                                      <p:tavLst>
                                        <p:tav tm="0">
                                          <p:val>
                                            <p:fltVal val="0"/>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76" presetID="53" presetClass="entr" presetSubtype="16" fill="hold" nodeType="clickEffect">
                                  <p:stCondLst>
                                    <p:cond delay="0"/>
                                  </p:stCondLst>
                                  <p:childTnLst>
                                    <p:set>
                                      <p:cBhvr>
                                        <p:cTn id="72" dur="1" fill="hold">
                                          <p:stCondLst>
                                            <p:cond delay="0"/>
                                          </p:stCondLst>
                                        </p:cTn>
                                        <p:tgtEl>
                                          <p:spTgt spid="97"/>
                                        </p:tgtEl>
                                        <p:attrNameLst>
                                          <p:attrName>style.visibility</p:attrName>
                                        </p:attrNameLst>
                                      </p:cBhvr>
                                      <p:to>
                                        <p:strVal val="visible"/>
                                      </p:to>
                                    </p:set>
                                    <p:animEffect transition="in" filter="fade">
                                      <p:cBhvr>
                                        <p:cTn id="73" dur="500"/>
                                        <p:tgtEl>
                                          <p:spTgt spid="97"/>
                                        </p:tgtEl>
                                      </p:cBhvr>
                                    </p:animEffect>
                                    <p:anim calcmode="lin" valueType="num">
                                      <p:cBhvr>
                                        <p:cTn id="74" dur="500" fill="hold"/>
                                        <p:tgtEl>
                                          <p:spTgt spid="97"/>
                                        </p:tgtEl>
                                        <p:attrNameLst>
                                          <p:attrName>ppt_w</p:attrName>
                                        </p:attrNameLst>
                                      </p:cBhvr>
                                      <p:tavLst>
                                        <p:tav tm="0">
                                          <p:val>
                                            <p:fltVal val="0"/>
                                          </p:val>
                                        </p:tav>
                                        <p:tav tm="100000">
                                          <p:val>
                                            <p:strVal val="#ppt_w"/>
                                          </p:val>
                                        </p:tav>
                                      </p:tavLst>
                                    </p:anim>
                                    <p:anim calcmode="lin" valueType="num">
                                      <p:cBhvr>
                                        <p:cTn id="75" dur="500" fill="hold"/>
                                        <p:tgtEl>
                                          <p:spTgt spid="97"/>
                                        </p:tgtEl>
                                        <p:attrNameLst>
                                          <p:attrName>ppt_h</p:attrName>
                                        </p:attrNameLst>
                                      </p:cBhvr>
                                      <p:tavLst>
                                        <p:tav tm="0">
                                          <p:val>
                                            <p:fltVal val="0"/>
                                          </p:val>
                                        </p:tav>
                                        <p:tav tm="100000">
                                          <p:val>
                                            <p:strVal val="#ppt_h"/>
                                          </p:val>
                                        </p:tav>
                                      </p:tavLst>
                                    </p:anim>
                                  </p:childTnLst>
                                </p:cTn>
                              </p:par>
                              <p:par>
                                <p:cTn id="81" presetID="53" presetClass="entr" presetSubtype="16" fill="hold" nodeType="withEffect">
                                  <p:stCondLst>
                                    <p:cond delay="0"/>
                                  </p:stCondLst>
                                  <p:childTnLst>
                                    <p:set>
                                      <p:cBhvr>
                                        <p:cTn id="77" dur="1" fill="hold">
                                          <p:stCondLst>
                                            <p:cond delay="0"/>
                                          </p:stCondLst>
                                        </p:cTn>
                                        <p:tgtEl>
                                          <p:spTgt spid="98"/>
                                        </p:tgtEl>
                                        <p:attrNameLst>
                                          <p:attrName>style.visibility</p:attrName>
                                        </p:attrNameLst>
                                      </p:cBhvr>
                                      <p:to>
                                        <p:strVal val="visible"/>
                                      </p:to>
                                    </p:set>
                                    <p:animEffect transition="in" filter="fade">
                                      <p:cBhvr>
                                        <p:cTn id="78" dur="500"/>
                                        <p:tgtEl>
                                          <p:spTgt spid="98"/>
                                        </p:tgtEl>
                                      </p:cBhvr>
                                    </p:animEffect>
                                    <p:anim calcmode="lin" valueType="num">
                                      <p:cBhvr>
                                        <p:cTn id="79" dur="500" fill="hold"/>
                                        <p:tgtEl>
                                          <p:spTgt spid="98"/>
                                        </p:tgtEl>
                                        <p:attrNameLst>
                                          <p:attrName>ppt_w</p:attrName>
                                        </p:attrNameLst>
                                      </p:cBhvr>
                                      <p:tavLst>
                                        <p:tav tm="0">
                                          <p:val>
                                            <p:fltVal val="0"/>
                                          </p:val>
                                        </p:tav>
                                        <p:tav tm="100000">
                                          <p:val>
                                            <p:strVal val="#ppt_w"/>
                                          </p:val>
                                        </p:tav>
                                      </p:tavLst>
                                    </p:anim>
                                    <p:anim calcmode="lin" valueType="num">
                                      <p:cBhvr>
                                        <p:cTn id="80" dur="500" fill="hold"/>
                                        <p:tgtEl>
                                          <p:spTgt spid="98"/>
                                        </p:tgtEl>
                                        <p:attrNameLst>
                                          <p:attrName>ppt_h</p:attrName>
                                        </p:attrNameLst>
                                      </p:cBhvr>
                                      <p:tavLst>
                                        <p:tav tm="0">
                                          <p:val>
                                            <p:fltVal val="0"/>
                                          </p:val>
                                        </p:tav>
                                        <p:tav tm="100000">
                                          <p:val>
                                            <p:strVal val="#ppt_h"/>
                                          </p:val>
                                        </p:tav>
                                      </p:tavLst>
                                    </p:anim>
                                  </p:childTnLst>
                                </p:cTn>
                              </p:par>
                            </p:childTnLst>
                          </p:cTn>
                        </p:par>
                      </p:childTnLst>
                    </p:cTn>
                  </p:par>
                  <p:par>
                    <p:cTn id="87" fill="hold">
                      <p:stCondLst>
                        <p:cond delay="indefinite"/>
                      </p:stCondLst>
                      <p:childTnLst>
                        <p:par>
                          <p:cTn id="88" fill="hold">
                            <p:stCondLst>
                              <p:cond delay="0"/>
                            </p:stCondLst>
                            <p:childTnLst>
                              <p:par>
                                <p:cTn id="86" presetID="22" presetClass="entr" presetSubtype="8" fill="hold" nodeType="clickEffect">
                                  <p:stCondLst>
                                    <p:cond delay="0"/>
                                  </p:stCondLst>
                                  <p:childTnLst>
                                    <p:set>
                                      <p:cBhvr>
                                        <p:cTn id="84" dur="1" fill="hold">
                                          <p:stCondLst>
                                            <p:cond delay="0"/>
                                          </p:stCondLst>
                                        </p:cTn>
                                        <p:tgtEl>
                                          <p:spTgt spid="99"/>
                                        </p:tgtEl>
                                        <p:attrNameLst>
                                          <p:attrName>style.visibility</p:attrName>
                                        </p:attrNameLst>
                                      </p:cBhvr>
                                      <p:to>
                                        <p:strVal val="visible"/>
                                      </p:to>
                                    </p:set>
                                    <p:animEffect transition="in" filter="wipe(left)">
                                      <p:cBhvr>
                                        <p:cTn id="85" dur="7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Worked Example · SE p. 230</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Standard form from two points: (−1, 3) and (−4, −3)</a:t>
            </a:r>
            <a:endParaRPr lang="en-US" sz="3450" dirty="0"/>
          </a:p>
        </p:txBody>
      </p:sp>
      <p:sp>
        <p:nvSpPr>
          <p:cNvPr id="4" name="Shape 4"/>
          <p:cNvSpPr txBox="1"/>
          <p:nvPr/>
        </p:nvSpPr>
        <p:spPr>
          <a:xfrm>
            <a:off x="685800" y="218236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First,</a:t>
            </a:r>
            <a:r>
              <a:rPr lang="en-US" sz="1575" dirty="0">
                <a:solidFill>
                  <a:srgbClr val="16171D"/>
                </a:solidFill>
                <a:latin typeface="Segoe UI"/>
                <a:cs typeface="Segoe UI"/>
              </a:rPr>
              <a:t xml:space="preserve"> find the slope.</a:t>
            </a:r>
            <a:endParaRPr lang="en-US" sz="1575" dirty="0"/>
          </a:p>
        </p:txBody>
      </p:sp>
      <p:sp>
        <p:nvSpPr>
          <p:cNvPr id="5" name="Shape 5"/>
          <p:cNvSpPr txBox="1"/>
          <p:nvPr/>
        </p:nvSpPr>
        <p:spPr>
          <a:xfrm>
            <a:off x="685800" y="2572512"/>
            <a:ext cx="10820095" cy="40919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−3 − 3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−4 − (−1)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endParaRPr lang="en-US" sz="2325" dirty="0"/>
          </a:p>
        </p:txBody>
      </p:sp>
      <p:sp>
        <p:nvSpPr>
          <p:cNvPr id="6" name="Shape 6"/>
          <p:cNvSpPr txBox="1"/>
          <p:nvPr/>
        </p:nvSpPr>
        <p:spPr>
          <a:xfrm>
            <a:off x="685800" y="307695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Next,</a:t>
            </a:r>
            <a:r>
              <a:rPr lang="en-US" sz="1575" dirty="0">
                <a:solidFill>
                  <a:srgbClr val="16171D"/>
                </a:solidFill>
                <a:latin typeface="Segoe UI"/>
                <a:cs typeface="Segoe UI"/>
              </a:rPr>
              <a:t xml:space="preserve"> pick a point and write point-slope form.</a:t>
            </a:r>
            <a:endParaRPr lang="en-US" sz="1575" dirty="0"/>
          </a:p>
        </p:txBody>
      </p:sp>
      <p:sp>
        <p:nvSpPr>
          <p:cNvPr id="7" name="Shape 7"/>
          <p:cNvSpPr txBox="1"/>
          <p:nvPr/>
        </p:nvSpPr>
        <p:spPr>
          <a:xfrm>
            <a:off x="685800" y="3467100"/>
            <a:ext cx="108200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3</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8" name="Shape 8"/>
          <p:cNvSpPr txBox="1"/>
          <p:nvPr/>
        </p:nvSpPr>
        <p:spPr>
          <a:xfrm>
            <a:off x="685800" y="397154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Then,</a:t>
            </a:r>
            <a:r>
              <a:rPr lang="en-US" sz="1575" dirty="0">
                <a:solidFill>
                  <a:srgbClr val="16171D"/>
                </a:solidFill>
                <a:latin typeface="Segoe UI"/>
                <a:cs typeface="Segoe UI"/>
              </a:rPr>
              <a:t xml:space="preserve"> rewrite in standard form.</a:t>
            </a:r>
            <a:endParaRPr lang="en-US" sz="1575" dirty="0"/>
          </a:p>
        </p:txBody>
      </p:sp>
      <p:sp>
        <p:nvSpPr>
          <p:cNvPr id="9" name="Shape 9"/>
          <p:cNvSpPr txBox="1"/>
          <p:nvPr/>
        </p:nvSpPr>
        <p:spPr>
          <a:xfrm>
            <a:off x="685800" y="4361688"/>
            <a:ext cx="108200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0" name="Shape 10"/>
          <p:cNvSpPr txBox="1"/>
          <p:nvPr/>
        </p:nvSpPr>
        <p:spPr>
          <a:xfrm>
            <a:off x="685800" y="486613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700"/>
                                        <p:tgtEl>
                                          <p:spTgt spid="5"/>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4" presetID="22" presetClass="entr" presetSubtype="8"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700"/>
                                        <p:tgtEl>
                                          <p:spTgt spid="7"/>
                                        </p:tgtEl>
                                      </p:cBhvr>
                                    </p:animEffect>
                                  </p:childTnLst>
                                </p:cTn>
                              </p:par>
                            </p:childTnLst>
                          </p:cTn>
                        </p:par>
                      </p:childTnLst>
                    </p:cTn>
                  </p:par>
                  <p:par>
                    <p:cTn id="32" fill="hold">
                      <p:stCondLst>
                        <p:cond delay="indefinite"/>
                      </p:stCondLst>
                      <p:childTnLst>
                        <p:par>
                          <p:cTn id="33" fill="hold">
                            <p:stCondLst>
                              <p:cond delay="0"/>
                            </p:stCondLst>
                            <p:childTnLst>
                              <p:par>
                                <p:cTn id="31" presetID="42"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anim calcmode="lin" valueType="num">
                                      <p:cBhvr>
                                        <p:cTn id="29" dur="500" fill="hold"/>
                                        <p:tgtEl>
                                          <p:spTgt spid="8"/>
                                        </p:tgtEl>
                                        <p:attrNameLst>
                                          <p:attrName>ppt_x</p:attrName>
                                        </p:attrNameLst>
                                      </p:cBhvr>
                                      <p:tavLst>
                                        <p:tav tm="0">
                                          <p:val>
                                            <p:strVal val="#ppt_x"/>
                                          </p:val>
                                        </p:tav>
                                        <p:tav tm="100000">
                                          <p:val>
                                            <p:strVal val="#ppt_x"/>
                                          </p:val>
                                        </p:tav>
                                      </p:tavLst>
                                    </p:anim>
                                    <p:anim calcmode="lin" valueType="num">
                                      <p:cBhvr>
                                        <p:cTn id="3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6" presetID="22" presetClass="entr" presetSubtype="8"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700"/>
                                        <p:tgtEl>
                                          <p:spTgt spid="9"/>
                                        </p:tgtEl>
                                      </p:cBhvr>
                                    </p:animEffect>
                                  </p:childTnLst>
                                </p:cTn>
                              </p:par>
                            </p:childTnLst>
                          </p:cTn>
                        </p:par>
                      </p:childTnLst>
                    </p:cTn>
                  </p:par>
                  <p:par>
                    <p:cTn id="44" fill="hold">
                      <p:stCondLst>
                        <p:cond delay="indefinite"/>
                      </p:stCondLst>
                      <p:childTnLst>
                        <p:par>
                          <p:cTn id="45" fill="hold">
                            <p:stCondLst>
                              <p:cond delay="0"/>
                            </p:stCondLst>
                            <p:childTnLst>
                              <p:par>
                                <p:cTn id="43" presetID="53" presetClass="entr" presetSubtype="16"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anim calcmode="lin" valueType="num">
                                      <p:cBhvr>
                                        <p:cTn id="41" dur="500" fill="hold"/>
                                        <p:tgtEl>
                                          <p:spTgt spid="10"/>
                                        </p:tgtEl>
                                        <p:attrNameLst>
                                          <p:attrName>ppt_w</p:attrName>
                                        </p:attrNameLst>
                                      </p:cBhvr>
                                      <p:tavLst>
                                        <p:tav tm="0">
                                          <p:val>
                                            <p:fltVal val="0"/>
                                          </p:val>
                                        </p:tav>
                                        <p:tav tm="100000">
                                          <p:val>
                                            <p:strVal val="#ppt_w"/>
                                          </p:val>
                                        </p:tav>
                                      </p:tavLst>
                                    </p:anim>
                                    <p:anim calcmode="lin" valueType="num">
                                      <p:cBhvr>
                                        <p:cTn id="42"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5.3 · Question 11 · SE p. 230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Your turn: standard form from two points</a:t>
            </a:r>
            <a:endParaRPr lang="en-US" sz="3450" dirty="0"/>
          </a:p>
        </p:txBody>
      </p:sp>
      <p:sp>
        <p:nvSpPr>
          <p:cNvPr id="7" name="Shape 7"/>
          <p:cNvSpPr txBox="1"/>
          <p:nvPr/>
        </p:nvSpPr>
        <p:spPr>
          <a:xfrm>
            <a:off x="685800" y="1675638"/>
            <a:ext cx="3492398" cy="302666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8470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a. (0, −4) and (2, 2)</a:t>
            </a:r>
            <a:endParaRPr lang="en-US" sz="2100" dirty="0"/>
          </a:p>
        </p:txBody>
      </p:sp>
      <p:sp>
        <p:nvSpPr>
          <p:cNvPr id="5" name="Shape 5"/>
          <p:cNvSpPr txBox="1"/>
          <p:nvPr/>
        </p:nvSpPr>
        <p:spPr>
          <a:xfrm>
            <a:off x="895350" y="231724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Segoe UI"/>
                <a:cs typeface="Segoe UI"/>
              </a:rPr>
              <a:t xml:space="preserve">m</a:t>
            </a:r>
            <a:r>
              <a:rPr lang="en-US" sz="1575" dirty="0" b="1">
                <a:solidFill>
                  <a:srgbClr val="C9561F"/>
                </a:solidFill>
                <a:latin typeface="Segoe UI"/>
                <a:cs typeface="Segoe UI"/>
              </a:rPr>
              <a:t xml:space="preserve"> = </a:t>
            </a:r>
            <a:r>
              <a:rPr lang="en-US" sz="1575" dirty="0" b="1">
                <a:solidFill>
                  <a:srgbClr val="C9561F"/>
                </a:solidFill>
                <a:latin typeface="Segoe UI"/>
                <a:cs typeface="Segoe UI"/>
              </a:rPr>
              <a:t xml:space="preserve">6</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 = 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3</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endParaRPr lang="en-US" sz="1575" dirty="0"/>
          </a:p>
        </p:txBody>
      </p:sp>
      <p:sp>
        <p:nvSpPr>
          <p:cNvPr id="6" name="Shape 6"/>
          <p:cNvSpPr txBox="1"/>
          <p:nvPr/>
        </p:nvSpPr>
        <p:spPr>
          <a:xfrm>
            <a:off x="895350" y="270738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a:t>
            </a:r>
            <a:endParaRPr lang="en-US" sz="2325" dirty="0"/>
          </a:p>
        </p:txBody>
      </p:sp>
      <p:sp>
        <p:nvSpPr>
          <p:cNvPr id="11" name="Shape 11"/>
          <p:cNvSpPr txBox="1"/>
          <p:nvPr/>
        </p:nvSpPr>
        <p:spPr>
          <a:xfrm>
            <a:off x="4349648" y="1675638"/>
            <a:ext cx="3492398" cy="302666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8470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 (1, −5) and (−2, 7)</a:t>
            </a:r>
            <a:endParaRPr lang="en-US" sz="2100" dirty="0"/>
          </a:p>
        </p:txBody>
      </p:sp>
      <p:sp>
        <p:nvSpPr>
          <p:cNvPr id="9" name="Shape 9"/>
          <p:cNvSpPr txBox="1"/>
          <p:nvPr/>
        </p:nvSpPr>
        <p:spPr>
          <a:xfrm>
            <a:off x="4559198" y="231724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Segoe UI"/>
                <a:cs typeface="Segoe UI"/>
              </a:rPr>
              <a:t xml:space="preserve">m</a:t>
            </a:r>
            <a:r>
              <a:rPr lang="en-US" sz="1575" dirty="0" b="1">
                <a:solidFill>
                  <a:srgbClr val="C9561F"/>
                </a:solidFill>
                <a:latin typeface="Segoe UI"/>
                <a:cs typeface="Segoe UI"/>
              </a:rPr>
              <a:t xml:space="preserve"> = </a:t>
            </a:r>
            <a:r>
              <a:rPr lang="en-US" sz="1575" dirty="0" b="1">
                <a:solidFill>
                  <a:srgbClr val="C9561F"/>
                </a:solidFill>
                <a:latin typeface="Segoe UI"/>
                <a:cs typeface="Segoe UI"/>
              </a:rPr>
              <a:t xml:space="preserve">12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 = −4</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−4</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a:t>
            </a:r>
            <a:endParaRPr lang="en-US" sz="1575" dirty="0"/>
          </a:p>
        </p:txBody>
      </p:sp>
      <p:sp>
        <p:nvSpPr>
          <p:cNvPr id="10" name="Shape 10"/>
          <p:cNvSpPr txBox="1"/>
          <p:nvPr/>
        </p:nvSpPr>
        <p:spPr>
          <a:xfrm>
            <a:off x="4559198" y="270738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a:t>
            </a:r>
            <a:endParaRPr lang="en-US" sz="2325" dirty="0"/>
          </a:p>
        </p:txBody>
      </p:sp>
      <p:sp>
        <p:nvSpPr>
          <p:cNvPr id="16" name="Shape 16"/>
          <p:cNvSpPr txBox="1"/>
          <p:nvPr/>
        </p:nvSpPr>
        <p:spPr>
          <a:xfrm>
            <a:off x="8013497" y="1675638"/>
            <a:ext cx="3492398" cy="302666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847088"/>
            <a:ext cx="3073298" cy="69494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 (12, 10) and (16, 12)</a:t>
            </a:r>
            <a:endParaRPr lang="en-US" sz="2100" dirty="0"/>
          </a:p>
        </p:txBody>
      </p:sp>
      <p:sp>
        <p:nvSpPr>
          <p:cNvPr id="13" name="Shape 13"/>
          <p:cNvSpPr txBox="1"/>
          <p:nvPr/>
        </p:nvSpPr>
        <p:spPr>
          <a:xfrm>
            <a:off x="8223047" y="26372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Segoe UI"/>
                <a:cs typeface="Segoe UI"/>
              </a:rPr>
              <a:t xml:space="preserve">m</a:t>
            </a:r>
            <a:r>
              <a:rPr lang="en-US" sz="1575" dirty="0" b="1">
                <a:solidFill>
                  <a:srgbClr val="C9561F"/>
                </a:solidFill>
                <a:latin typeface="Segoe UI"/>
                <a:cs typeface="Segoe UI"/>
              </a:rPr>
              <a:t xml:space="preserve"> = </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4</a:t>
            </a:r>
            <a:r>
              <a:rPr lang="en-US" sz="1575" dirty="0" b="1">
                <a:solidFill>
                  <a:srgbClr val="C9561F"/>
                </a:solidFill>
                <a:latin typeface="Segoe UI"/>
                <a:cs typeface="Segoe UI"/>
              </a:rPr>
              <a:t xml:space="preserve"> = </a:t>
            </a: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a:solidFill>
                  <a:srgbClr val="16171D"/>
                </a:solidFill>
                <a:latin typeface="Cambria"/>
                <a:cs typeface="Cambria"/>
              </a:rPr>
              <a:t xml:space="preserve">1</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2</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endParaRPr lang="en-US" sz="1575" dirty="0"/>
          </a:p>
        </p:txBody>
      </p:sp>
      <p:sp>
        <p:nvSpPr>
          <p:cNvPr id="14" name="Shape 14"/>
          <p:cNvSpPr txBox="1"/>
          <p:nvPr/>
        </p:nvSpPr>
        <p:spPr>
          <a:xfrm>
            <a:off x="8223047" y="302742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Multiply by 2 so every number is an integer: </a:t>
            </a:r>
            <a:r>
              <a:rPr lang="en-US" sz="1575" dirty="0">
                <a:solidFill>
                  <a:srgbClr val="16171D"/>
                </a:solidFill>
                <a:latin typeface="Cambria"/>
                <a:cs typeface="Cambria"/>
              </a:rPr>
              <a:t xml:space="preserve">2</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+ 8</a:t>
            </a:r>
            <a:endParaRPr lang="en-US" sz="1575" dirty="0"/>
          </a:p>
        </p:txBody>
      </p:sp>
      <p:sp>
        <p:nvSpPr>
          <p:cNvPr id="15" name="Shape 15"/>
          <p:cNvSpPr txBox="1"/>
          <p:nvPr/>
        </p:nvSpPr>
        <p:spPr>
          <a:xfrm>
            <a:off x="8223047" y="3657600"/>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−8</a:t>
            </a:r>
            <a:endParaRPr lang="en-US" sz="2325" dirty="0"/>
          </a:p>
        </p:txBody>
      </p:sp>
      <p:sp>
        <p:nvSpPr>
          <p:cNvPr id="17" name="Shape 17"/>
          <p:cNvSpPr txBox="1"/>
          <p:nvPr/>
        </p:nvSpPr>
        <p:spPr>
          <a:xfrm>
            <a:off x="685800" y="4969002"/>
            <a:ext cx="8626770"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In standard form, </a:t>
            </a:r>
            <a:r>
              <a:rPr lang="en-US" sz="1650" dirty="0" i="1">
                <a:solidFill>
                  <a:srgbClr val="16171D"/>
                </a:solidFill>
                <a:latin typeface="Segoe UI"/>
                <a:cs typeface="Segoe UI"/>
              </a:rPr>
              <a:t xml:space="preserve">A</a:t>
            </a:r>
            <a:r>
              <a:rPr lang="en-US" sz="1650" dirty="0">
                <a:solidFill>
                  <a:srgbClr val="16171D"/>
                </a:solidFill>
                <a:latin typeface="Segoe UI"/>
                <a:cs typeface="Segoe UI"/>
              </a:rPr>
              <a:t xml:space="preserve">, </a:t>
            </a:r>
            <a:r>
              <a:rPr lang="en-US" sz="1650" dirty="0" i="1">
                <a:solidFill>
                  <a:srgbClr val="16171D"/>
                </a:solidFill>
                <a:latin typeface="Segoe UI"/>
                <a:cs typeface="Segoe UI"/>
              </a:rPr>
              <a:t xml:space="preserve">B</a:t>
            </a:r>
            <a:r>
              <a:rPr lang="en-US" sz="1650" dirty="0">
                <a:solidFill>
                  <a:srgbClr val="16171D"/>
                </a:solidFill>
                <a:latin typeface="Segoe UI"/>
                <a:cs typeface="Segoe UI"/>
              </a:rPr>
              <a:t xml:space="preserve">, and </a:t>
            </a:r>
            <a:r>
              <a:rPr lang="en-US" sz="1650" dirty="0" i="1">
                <a:solidFill>
                  <a:srgbClr val="16171D"/>
                </a:solidFill>
                <a:latin typeface="Segoe UI"/>
                <a:cs typeface="Segoe UI"/>
              </a:rPr>
              <a:t xml:space="preserve">C</a:t>
            </a:r>
            <a:r>
              <a:rPr lang="en-US" sz="1650" dirty="0">
                <a:solidFill>
                  <a:srgbClr val="16171D"/>
                </a:solidFill>
                <a:latin typeface="Segoe UI"/>
                <a:cs typeface="Segoe UI"/>
              </a:rPr>
              <a:t xml:space="preserve"> must be </a:t>
            </a:r>
            <a:r>
              <a:rPr lang="en-US" sz="1650" dirty="0" b="1">
                <a:solidFill>
                  <a:srgbClr val="16171D"/>
                </a:solidFill>
                <a:latin typeface="Segoe UI"/>
                <a:cs typeface="Segoe UI"/>
              </a:rPr>
              <a:t xml:space="preserve">integers</a:t>
            </a:r>
            <a:r>
              <a:rPr lang="en-US" sz="1650" dirty="0">
                <a:solidFill>
                  <a:srgbClr val="16171D"/>
                </a:solidFill>
                <a:latin typeface="Segoe UI"/>
                <a:cs typeface="Segoe UI"/>
              </a:rPr>
              <a:t xml:space="preserve">. Clear any fractions first.</a:t>
            </a:r>
            <a:endParaRPr lang="en-US" sz="16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ppt_x</p:attrName>
                                        </p:attrNameLst>
                                      </p:cBhvr>
                                      <p:tavLst>
                                        <p:tav tm="0">
                                          <p:val>
                                            <p:strVal val="#ppt_x"/>
                                          </p:val>
                                        </p:tav>
                                        <p:tav tm="100000">
                                          <p:val>
                                            <p:strVal val="#ppt_x"/>
                                          </p:val>
                                        </p:tav>
                                      </p:tavLst>
                                    </p:anim>
                                    <p:anim calcmode="lin" valueType="num">
                                      <p:cBhvr>
                                        <p:cTn id="41"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53" presetClass="entr" presetSubtype="16" fill="hold"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anim calcmode="lin" valueType="num">
                                      <p:cBhvr>
                                        <p:cTn id="47" dur="500" fill="hold"/>
                                        <p:tgtEl>
                                          <p:spTgt spid="15"/>
                                        </p:tgtEl>
                                        <p:attrNameLst>
                                          <p:attrName>ppt_w</p:attrName>
                                        </p:attrNameLst>
                                      </p:cBhvr>
                                      <p:tavLst>
                                        <p:tav tm="0">
                                          <p:val>
                                            <p:fltVal val="0"/>
                                          </p:val>
                                        </p:tav>
                                        <p:tav tm="100000">
                                          <p:val>
                                            <p:strVal val="#ppt_w"/>
                                          </p:val>
                                        </p:tav>
                                      </p:tavLst>
                                    </p:anim>
                                    <p:anim calcmode="lin" valueType="num">
                                      <p:cBhvr>
                                        <p:cTn id="48"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5</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3</a:t>
            </a:r>
            <a:endParaRPr lang="en-US" sz="8250" dirty="0"/>
          </a:p>
        </p:txBody>
      </p:sp>
      <p:sp>
        <p:nvSpPr>
          <p:cNvPr id="4" name="Shape 4"/>
          <p:cNvSpPr txBox="1"/>
          <p:nvPr/>
        </p:nvSpPr>
        <p:spPr>
          <a:xfrm>
            <a:off x="685800" y="3995928"/>
            <a:ext cx="10820095" cy="115214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Is there a more efficient method to graphing a linear relationship? Can you use the equation of a linear relationship to create a graphical representation?</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Bell Work · Review of Day 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-intercepts of </a:t>
            </a: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20</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227)</a:t>
            </a:r>
            <a:endParaRPr lang="en-US" sz="1950" dirty="0"/>
          </a:p>
        </p:txBody>
      </p:sp>
      <p:sp>
        <p:nvSpPr>
          <p:cNvPr id="5" name="Shape 5"/>
          <p:cNvSpPr txBox="1"/>
          <p:nvPr/>
        </p:nvSpPr>
        <p:spPr>
          <a:xfrm>
            <a:off x="685800" y="2458212"/>
            <a:ext cx="489793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(10, 0) and (0, 4)</a:t>
            </a:r>
            <a:endParaRPr lang="en-US" sz="2325" dirty="0"/>
          </a:p>
        </p:txBody>
      </p:sp>
      <p:sp>
        <p:nvSpPr>
          <p:cNvPr id="6" name="Shape 6"/>
          <p:cNvSpPr txBox="1"/>
          <p:nvPr/>
        </p:nvSpPr>
        <p:spPr>
          <a:xfrm>
            <a:off x="685800" y="324383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Slope of </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12</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228)</a:t>
            </a:r>
            <a:endParaRPr lang="en-US" sz="1950" dirty="0"/>
          </a:p>
        </p:txBody>
      </p:sp>
      <p:sp>
        <p:nvSpPr>
          <p:cNvPr id="7" name="Shape 7"/>
          <p:cNvSpPr txBox="1"/>
          <p:nvPr/>
        </p:nvSpPr>
        <p:spPr>
          <a:xfrm>
            <a:off x="685800" y="3729228"/>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Write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2</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in standard form. </a:t>
            </a:r>
            <a:r>
              <a:rPr lang="en-US" sz="1575" dirty="0">
                <a:solidFill>
                  <a:srgbClr val="5F6272"/>
                </a:solidFill>
                <a:latin typeface="Segoe UI"/>
                <a:cs typeface="Segoe UI"/>
              </a:rPr>
              <a:t xml:space="preserve">(SE p. 230)</a:t>
            </a:r>
            <a:endParaRPr lang="en-US" sz="1950" dirty="0"/>
          </a:p>
        </p:txBody>
      </p:sp>
      <p:sp>
        <p:nvSpPr>
          <p:cNvPr id="9" name="Shape 9"/>
          <p:cNvSpPr txBox="1"/>
          <p:nvPr/>
        </p:nvSpPr>
        <p:spPr>
          <a:xfrm>
            <a:off x="6362548" y="245821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Standard form through (0, 6) and (3, 0)? </a:t>
            </a:r>
            <a:r>
              <a:rPr lang="en-US" sz="1575" dirty="0">
                <a:solidFill>
                  <a:srgbClr val="5F6272"/>
                </a:solidFill>
                <a:latin typeface="Segoe UI"/>
                <a:cs typeface="Segoe UI"/>
              </a:rPr>
              <a:t xml:space="preserve">(SE p. 230)</a:t>
            </a:r>
            <a:endParaRPr lang="en-US" sz="1950" dirty="0"/>
          </a:p>
        </p:txBody>
      </p:sp>
      <p:sp>
        <p:nvSpPr>
          <p:cNvPr id="11" name="Shape 11"/>
          <p:cNvSpPr txBox="1"/>
          <p:nvPr/>
        </p:nvSpPr>
        <p:spPr>
          <a:xfrm>
            <a:off x="6362548" y="402640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5.4 · Identifying Slope and y-Intercept · SE p. 231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slope and the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-intercept: 1–5</a:t>
            </a:r>
            <a:endParaRPr lang="en-US" sz="3450" dirty="0"/>
          </a:p>
        </p:txBody>
      </p:sp>
      <p:sp>
        <p:nvSpPr>
          <p:cNvPr id="6" name="Shape 6"/>
          <p:cNvSpPr txBox="1"/>
          <p:nvPr/>
        </p:nvSpPr>
        <p:spPr>
          <a:xfrm>
            <a:off x="685800"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11</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endParaRPr lang="en-US" sz="2325" dirty="0"/>
          </a:p>
        </p:txBody>
      </p:sp>
      <p:sp>
        <p:nvSpPr>
          <p:cNvPr id="5" name="Shape 5"/>
          <p:cNvSpPr txBox="1"/>
          <p:nvPr/>
        </p:nvSpPr>
        <p:spPr>
          <a:xfrm>
            <a:off x="895350"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11</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−9)</a:t>
            </a:r>
            <a:endParaRPr lang="en-US" sz="1575" dirty="0"/>
          </a:p>
        </p:txBody>
      </p:sp>
      <p:sp>
        <p:nvSpPr>
          <p:cNvPr id="9" name="Shape 9"/>
          <p:cNvSpPr txBox="1"/>
          <p:nvPr/>
        </p:nvSpPr>
        <p:spPr>
          <a:xfrm>
            <a:off x="4349648"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270</a:t>
            </a:r>
            <a:endParaRPr lang="en-US" sz="2325" dirty="0"/>
          </a:p>
        </p:txBody>
      </p:sp>
      <p:sp>
        <p:nvSpPr>
          <p:cNvPr id="8" name="Shape 8"/>
          <p:cNvSpPr txBox="1"/>
          <p:nvPr/>
        </p:nvSpPr>
        <p:spPr>
          <a:xfrm>
            <a:off x="4559198"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(0, 45)</a:t>
            </a:r>
            <a:endParaRPr lang="en-US" sz="1575" dirty="0"/>
          </a:p>
        </p:txBody>
      </p:sp>
      <p:sp>
        <p:nvSpPr>
          <p:cNvPr id="12" name="Shape 12"/>
          <p:cNvSpPr txBox="1"/>
          <p:nvPr/>
        </p:nvSpPr>
        <p:spPr>
          <a:xfrm>
            <a:off x="8013497"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endParaRPr lang="en-US" sz="2325" dirty="0"/>
          </a:p>
        </p:txBody>
      </p:sp>
      <p:sp>
        <p:nvSpPr>
          <p:cNvPr id="11" name="Shape 11"/>
          <p:cNvSpPr txBox="1"/>
          <p:nvPr/>
        </p:nvSpPr>
        <p:spPr>
          <a:xfrm>
            <a:off x="8223047" y="229438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10</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− 45</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10</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−45)</a:t>
            </a:r>
            <a:endParaRPr lang="en-US" sz="1575" dirty="0"/>
          </a:p>
        </p:txBody>
      </p:sp>
      <p:sp>
        <p:nvSpPr>
          <p:cNvPr id="15" name="Shape 15"/>
          <p:cNvSpPr txBox="1"/>
          <p:nvPr/>
        </p:nvSpPr>
        <p:spPr>
          <a:xfrm>
            <a:off x="685800" y="311505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895350"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4. 8</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+ 24</a:t>
            </a:r>
            <a:endParaRPr lang="en-US" sz="2325" dirty="0"/>
          </a:p>
        </p:txBody>
      </p:sp>
      <p:sp>
        <p:nvSpPr>
          <p:cNvPr id="14" name="Shape 14"/>
          <p:cNvSpPr txBox="1"/>
          <p:nvPr/>
        </p:nvSpPr>
        <p:spPr>
          <a:xfrm>
            <a:off x="895350" y="3790950"/>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4</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(0, 3)</a:t>
            </a:r>
            <a:endParaRPr lang="en-US" sz="1575" dirty="0"/>
          </a:p>
        </p:txBody>
      </p:sp>
      <p:sp>
        <p:nvSpPr>
          <p:cNvPr id="18" name="Shape 18"/>
          <p:cNvSpPr txBox="1"/>
          <p:nvPr/>
        </p:nvSpPr>
        <p:spPr>
          <a:xfrm>
            <a:off x="4349648" y="311505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4559198"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5.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+ 9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7" name="Shape 17"/>
          <p:cNvSpPr txBox="1"/>
          <p:nvPr/>
        </p:nvSpPr>
        <p:spPr>
          <a:xfrm>
            <a:off x="4559198" y="379095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6</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− 27</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6</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−27)</a:t>
            </a:r>
            <a:endParaRPr lang="en-US" sz="1575" dirty="0"/>
          </a:p>
        </p:txBody>
      </p:sp>
      <p:sp>
        <p:nvSpPr>
          <p:cNvPr id="19" name="Shape 19"/>
          <p:cNvSpPr txBox="1"/>
          <p:nvPr/>
        </p:nvSpPr>
        <p:spPr>
          <a:xfrm>
            <a:off x="685800" y="4668774"/>
            <a:ext cx="1051196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In standard form, the slope is </a:t>
            </a:r>
            <a:r>
              <a:rPr lang="en-US" sz="1650" dirty="0">
                <a:solidFill>
                  <a:srgbClr val="16171D"/>
                </a:solidFill>
                <a:latin typeface="Cambria"/>
                <a:cs typeface="Cambria"/>
              </a:rPr>
              <a:t xml:space="preserve">−</a:t>
            </a:r>
            <a:r>
              <a:rPr lang="en-US" sz="1650" dirty="0" i="1">
                <a:solidFill>
                  <a:srgbClr val="16171D"/>
                </a:solidFill>
                <a:latin typeface="Cambria"/>
                <a:cs typeface="Cambria"/>
              </a:rPr>
              <a:t xml:space="preserve">A</a:t>
            </a:r>
            <a:r>
              <a:rPr lang="en-US" sz="1650" dirty="0">
                <a:solidFill>
                  <a:srgbClr val="16171D"/>
                </a:solidFill>
                <a:latin typeface="Cambria"/>
                <a:cs typeface="Cambria"/>
              </a:rPr>
              <a:t xml:space="preserve">/</a:t>
            </a:r>
            <a:r>
              <a:rPr lang="en-US" sz="1650" dirty="0" i="1">
                <a:solidFill>
                  <a:srgbClr val="16171D"/>
                </a:solidFill>
                <a:latin typeface="Cambria"/>
                <a:cs typeface="Cambria"/>
              </a:rPr>
              <a:t xml:space="preserve">B</a:t>
            </a:r>
            <a:r>
              <a:rPr lang="en-US" sz="1650" dirty="0">
                <a:solidFill>
                  <a:srgbClr val="16171D"/>
                </a:solidFill>
                <a:latin typeface="Segoe UI"/>
                <a:cs typeface="Segoe UI"/>
              </a:rPr>
              <a:t xml:space="preserve">. To find the </a:t>
            </a:r>
            <a:r>
              <a:rPr lang="en-US" sz="1650" dirty="0" i="1">
                <a:solidFill>
                  <a:srgbClr val="16171D"/>
                </a:solidFill>
                <a:latin typeface="Segoe UI"/>
                <a:cs typeface="Segoe UI"/>
              </a:rPr>
              <a:t xml:space="preserve">y</a:t>
            </a:r>
            <a:r>
              <a:rPr lang="en-US" sz="1650" dirty="0">
                <a:solidFill>
                  <a:srgbClr val="16171D"/>
                </a:solidFill>
                <a:latin typeface="Segoe UI"/>
                <a:cs typeface="Segoe UI"/>
              </a:rPr>
              <a:t xml:space="preserve">-intercept in any form, substitute </a:t>
            </a:r>
            <a:r>
              <a:rPr lang="en-US" sz="1650" dirty="0" i="1">
                <a:solidFill>
                  <a:srgbClr val="16171D"/>
                </a:solidFill>
                <a:latin typeface="Cambria"/>
                <a:cs typeface="Cambria"/>
              </a:rPr>
              <a:t xml:space="preserve">x</a:t>
            </a:r>
            <a:r>
              <a:rPr lang="en-US" sz="1650" dirty="0">
                <a:solidFill>
                  <a:srgbClr val="16171D"/>
                </a:solidFill>
                <a:latin typeface="Cambria"/>
                <a:cs typeface="Cambria"/>
              </a:rPr>
              <a:t xml:space="preserve"> = 0</a:t>
            </a:r>
            <a:r>
              <a:rPr lang="en-US" sz="1650" dirty="0">
                <a:solidFill>
                  <a:srgbClr val="16171D"/>
                </a:solidFill>
                <a:latin typeface="Segoe UI"/>
                <a:cs typeface="Segoe UI"/>
              </a:rPr>
              <a:t xml:space="preserve">.</a:t>
            </a:r>
            <a:endParaRPr lang="en-US" sz="16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anim calcmode="lin" valueType="num">
                                      <p:cBhvr>
                                        <p:cTn id="33" dur="500" fill="hold"/>
                                        <p:tgtEl>
                                          <p:spTgt spid="17"/>
                                        </p:tgtEl>
                                        <p:attrNameLst>
                                          <p:attrName>ppt_x</p:attrName>
                                        </p:attrNameLst>
                                      </p:cBhvr>
                                      <p:tavLst>
                                        <p:tav tm="0">
                                          <p:val>
                                            <p:strVal val="#ppt_x"/>
                                          </p:val>
                                        </p:tav>
                                        <p:tav tm="100000">
                                          <p:val>
                                            <p:strVal val="#ppt_x"/>
                                          </p:val>
                                        </p:tav>
                                      </p:tavLst>
                                    </p:anim>
                                    <p:anim calcmode="lin" valueType="num">
                                      <p:cBhvr>
                                        <p:cTn id="34"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p:cTn id="40" dur="500" fill="hold"/>
                                        <p:tgtEl>
                                          <p:spTgt spid="19"/>
                                        </p:tgtEl>
                                        <p:attrNameLst>
                                          <p:attrName>ppt_x</p:attrName>
                                        </p:attrNameLst>
                                      </p:cBhvr>
                                      <p:tavLst>
                                        <p:tav tm="0">
                                          <p:val>
                                            <p:strVal val="#ppt_x"/>
                                          </p:val>
                                        </p:tav>
                                        <p:tav tm="100000">
                                          <p:val>
                                            <p:strVal val="#ppt_x"/>
                                          </p:val>
                                        </p:tav>
                                      </p:tavLst>
                                    </p:anim>
                                    <p:anim calcmode="lin" valueType="num">
                                      <p:cBhvr>
                                        <p:cTn id="41"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5.4 · Identifying Slope and y-Intercept · SE p. 231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slope and the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-intercept: 6–10</a:t>
            </a:r>
            <a:endParaRPr lang="en-US" sz="3450" dirty="0"/>
          </a:p>
        </p:txBody>
      </p:sp>
      <p:sp>
        <p:nvSpPr>
          <p:cNvPr id="6" name="Shape 6"/>
          <p:cNvSpPr txBox="1"/>
          <p:nvPr/>
        </p:nvSpPr>
        <p:spPr>
          <a:xfrm>
            <a:off x="685800"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6.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9</a:t>
            </a:r>
            <a:endParaRPr lang="en-US" sz="2325" dirty="0"/>
          </a:p>
        </p:txBody>
      </p:sp>
      <p:sp>
        <p:nvSpPr>
          <p:cNvPr id="5" name="Shape 5"/>
          <p:cNvSpPr txBox="1"/>
          <p:nvPr/>
        </p:nvSpPr>
        <p:spPr>
          <a:xfrm>
            <a:off x="895350"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0</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(0, 9)</a:t>
            </a:r>
            <a:r>
              <a:rPr lang="en-US" sz="1575" dirty="0">
                <a:solidFill>
                  <a:srgbClr val="16171D"/>
                </a:solidFill>
                <a:latin typeface="Segoe UI"/>
                <a:cs typeface="Segoe UI"/>
              </a:rPr>
              <a:t xml:space="preserve">: horizontal</a:t>
            </a:r>
            <a:endParaRPr lang="en-US" sz="1575" dirty="0"/>
          </a:p>
        </p:txBody>
      </p:sp>
      <p:sp>
        <p:nvSpPr>
          <p:cNvPr id="9" name="Shape 9"/>
          <p:cNvSpPr txBox="1"/>
          <p:nvPr/>
        </p:nvSpPr>
        <p:spPr>
          <a:xfrm>
            <a:off x="4349648"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7. 4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48</a:t>
            </a:r>
            <a:endParaRPr lang="en-US" sz="2325" dirty="0"/>
          </a:p>
        </p:txBody>
      </p:sp>
      <p:sp>
        <p:nvSpPr>
          <p:cNvPr id="8" name="Shape 8"/>
          <p:cNvSpPr txBox="1"/>
          <p:nvPr/>
        </p:nvSpPr>
        <p:spPr>
          <a:xfrm>
            <a:off x="4559198"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−4)</a:t>
            </a:r>
            <a:endParaRPr lang="en-US" sz="1575" dirty="0"/>
          </a:p>
        </p:txBody>
      </p:sp>
      <p:sp>
        <p:nvSpPr>
          <p:cNvPr id="12" name="Shape 12"/>
          <p:cNvSpPr txBox="1"/>
          <p:nvPr/>
        </p:nvSpPr>
        <p:spPr>
          <a:xfrm>
            <a:off x="8013497"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8.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10</a:t>
            </a:r>
            <a:endParaRPr lang="en-US" sz="2325" dirty="0"/>
          </a:p>
        </p:txBody>
      </p:sp>
      <p:sp>
        <p:nvSpPr>
          <p:cNvPr id="11" name="Shape 11"/>
          <p:cNvSpPr txBox="1"/>
          <p:nvPr/>
        </p:nvSpPr>
        <p:spPr>
          <a:xfrm>
            <a:off x="8223047" y="229438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undefined</a:t>
            </a:r>
            <a:r>
              <a:rPr lang="en-US" sz="1575" dirty="0">
                <a:solidFill>
                  <a:srgbClr val="16171D"/>
                </a:solidFill>
                <a:latin typeface="Segoe UI"/>
                <a:cs typeface="Segoe UI"/>
              </a:rPr>
              <a:t xml:space="preserve">, </a:t>
            </a:r>
            <a:r>
              <a:rPr lang="en-US" sz="1575" dirty="0" b="1">
                <a:solidFill>
                  <a:srgbClr val="16171D"/>
                </a:solidFill>
                <a:latin typeface="Segoe UI"/>
                <a:cs typeface="Segoe UI"/>
              </a:rPr>
              <a:t xml:space="preserve">no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vertical</a:t>
            </a:r>
            <a:endParaRPr lang="en-US" sz="1575" dirty="0"/>
          </a:p>
        </p:txBody>
      </p:sp>
      <p:sp>
        <p:nvSpPr>
          <p:cNvPr id="15" name="Shape 15"/>
          <p:cNvSpPr txBox="1"/>
          <p:nvPr/>
        </p:nvSpPr>
        <p:spPr>
          <a:xfrm>
            <a:off x="685800" y="3115056"/>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895350"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9.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14" name="Shape 14"/>
          <p:cNvSpPr txBox="1"/>
          <p:nvPr/>
        </p:nvSpPr>
        <p:spPr>
          <a:xfrm>
            <a:off x="895350" y="379095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3</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+ 7</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(0, 7)</a:t>
            </a:r>
            <a:endParaRPr lang="en-US" sz="1575" dirty="0"/>
          </a:p>
        </p:txBody>
      </p:sp>
      <p:sp>
        <p:nvSpPr>
          <p:cNvPr id="18" name="Shape 18"/>
          <p:cNvSpPr txBox="1"/>
          <p:nvPr/>
        </p:nvSpPr>
        <p:spPr>
          <a:xfrm>
            <a:off x="4349648" y="3115056"/>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4559198"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10.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9 −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endParaRPr lang="en-US" sz="2325" dirty="0"/>
          </a:p>
        </p:txBody>
      </p:sp>
      <p:sp>
        <p:nvSpPr>
          <p:cNvPr id="17" name="Shape 17"/>
          <p:cNvSpPr txBox="1"/>
          <p:nvPr/>
        </p:nvSpPr>
        <p:spPr>
          <a:xfrm>
            <a:off x="4559198" y="379095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(0, 9)</a:t>
            </a:r>
            <a:endParaRPr lang="en-US" sz="1575" dirty="0"/>
          </a:p>
        </p:txBody>
      </p:sp>
      <p:sp>
        <p:nvSpPr>
          <p:cNvPr id="19" name="Shape 19"/>
          <p:cNvSpPr txBox="1"/>
          <p:nvPr/>
        </p:nvSpPr>
        <p:spPr>
          <a:xfrm>
            <a:off x="685800" y="442874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The slope can be read directly from slope-intercept and point-slope form. In standard form, calculate </a:t>
            </a:r>
            <a:r>
              <a:rPr lang="en-US" sz="1575" dirty="0">
                <a:solidFill>
                  <a:srgbClr val="5F6272"/>
                </a:solidFill>
                <a:latin typeface="Cambria"/>
                <a:cs typeface="Cambria"/>
              </a:rPr>
              <a:t xml:space="preserve">−</a:t>
            </a:r>
            <a:r>
              <a:rPr lang="en-US" sz="1575" dirty="0" i="1">
                <a:solidFill>
                  <a:srgbClr val="5F6272"/>
                </a:solidFill>
                <a:latin typeface="Cambria"/>
                <a:cs typeface="Cambria"/>
              </a:rPr>
              <a:t xml:space="preserve">A</a:t>
            </a:r>
            <a:r>
              <a:rPr lang="en-US" sz="1575" dirty="0">
                <a:solidFill>
                  <a:srgbClr val="5F6272"/>
                </a:solidFill>
                <a:latin typeface="Cambria"/>
                <a:cs typeface="Cambria"/>
              </a:rPr>
              <a:t xml:space="preserve">/</a:t>
            </a:r>
            <a:r>
              <a:rPr lang="en-US" sz="1575" dirty="0" i="1">
                <a:solidFill>
                  <a:srgbClr val="5F6272"/>
                </a:solidFill>
                <a:latin typeface="Cambria"/>
                <a:cs typeface="Cambria"/>
              </a:rPr>
              <a:t xml:space="preserve">B</a:t>
            </a:r>
            <a:r>
              <a:rPr lang="en-US" sz="1575" dirty="0">
                <a:solidFill>
                  <a:srgbClr val="5F6272"/>
                </a:solidFill>
                <a:latin typeface="Segoe UI"/>
                <a:cs typeface="Segoe UI"/>
              </a:rPr>
              <a:t xml:space="preserv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anim calcmode="lin" valueType="num">
                                      <p:cBhvr>
                                        <p:cTn id="33" dur="500" fill="hold"/>
                                        <p:tgtEl>
                                          <p:spTgt spid="17"/>
                                        </p:tgtEl>
                                        <p:attrNameLst>
                                          <p:attrName>ppt_x</p:attrName>
                                        </p:attrNameLst>
                                      </p:cBhvr>
                                      <p:tavLst>
                                        <p:tav tm="0">
                                          <p:val>
                                            <p:strVal val="#ppt_x"/>
                                          </p:val>
                                        </p:tav>
                                        <p:tav tm="100000">
                                          <p:val>
                                            <p:strVal val="#ppt_x"/>
                                          </p:val>
                                        </p:tav>
                                      </p:tavLst>
                                    </p:anim>
                                    <p:anim calcmode="lin" valueType="num">
                                      <p:cBhvr>
                                        <p:cTn id="34"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p:cTn id="40" dur="500" fill="hold"/>
                                        <p:tgtEl>
                                          <p:spTgt spid="19"/>
                                        </p:tgtEl>
                                        <p:attrNameLst>
                                          <p:attrName>ppt_x</p:attrName>
                                        </p:attrNameLst>
                                      </p:cBhvr>
                                      <p:tavLst>
                                        <p:tav tm="0">
                                          <p:val>
                                            <p:strVal val="#ppt_x"/>
                                          </p:val>
                                        </p:tav>
                                        <p:tav tm="100000">
                                          <p:val>
                                            <p:strVal val="#ppt_x"/>
                                          </p:val>
                                        </p:tav>
                                      </p:tavLst>
                                    </p:anim>
                                    <p:anim calcmode="lin" valueType="num">
                                      <p:cBhvr>
                                        <p:cTn id="41"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Choose Your Medium · SE p. 232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Joey's math quiz</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2 points for each correct multiple-choice question, 3 points for each correct short answer. Joey earned </a:t>
            </a:r>
            <a:r>
              <a:rPr lang="en-US" sz="1575" dirty="0" b="1">
                <a:solidFill>
                  <a:srgbClr val="16171D"/>
                </a:solidFill>
                <a:latin typeface="Segoe UI"/>
                <a:cs typeface="Segoe UI"/>
              </a:rPr>
              <a:t xml:space="preserve">36 points</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multiple-choice correct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short answer correct.</a:t>
            </a:r>
            <a:endParaRPr lang="en-US" sz="1575" dirty="0"/>
          </a:p>
        </p:txBody>
      </p:sp>
      <p:sp>
        <p:nvSpPr>
          <p:cNvPr id="5" name="Shape 5"/>
          <p:cNvSpPr txBox="1"/>
          <p:nvPr/>
        </p:nvSpPr>
        <p:spPr>
          <a:xfrm>
            <a:off x="685800" y="2324862"/>
            <a:ext cx="4689318"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a:solidFill>
                  <a:srgbClr val="16171D"/>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+ 3</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36</a:t>
            </a:r>
            <a:endParaRPr lang="en-US" sz="2850" dirty="0"/>
          </a:p>
        </p:txBody>
      </p:sp>
      <p:sp>
        <p:nvSpPr>
          <p:cNvPr id="6" name="Shape 6"/>
          <p:cNvSpPr txBox="1"/>
          <p:nvPr/>
        </p:nvSpPr>
        <p:spPr>
          <a:xfrm>
            <a:off x="685800" y="3019044"/>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a:t>
            </a:r>
            <a:r>
              <a:rPr lang="en-US" sz="1575" dirty="0">
                <a:solidFill>
                  <a:srgbClr val="16171D"/>
                </a:solidFill>
                <a:latin typeface="Segoe UI"/>
                <a:cs typeface="Segoe UI"/>
              </a:rPr>
              <a:t xml:space="preserve"> standard form, because the equation comes straight from the context: two kinds of points add up to one total.</a:t>
            </a:r>
            <a:endParaRPr lang="en-US" sz="1575" dirty="0"/>
          </a:p>
        </p:txBody>
      </p:sp>
      <p:sp>
        <p:nvSpPr>
          <p:cNvPr id="7" name="Shape 7"/>
          <p:cNvSpPr txBox="1"/>
          <p:nvPr/>
        </p:nvSpPr>
        <p:spPr>
          <a:xfrm>
            <a:off x="685800" y="3649218"/>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Graph:</a:t>
            </a:r>
            <a:r>
              <a:rPr lang="en-US" sz="1575" dirty="0">
                <a:solidFill>
                  <a:srgbClr val="16171D"/>
                </a:solidFill>
                <a:latin typeface="Segoe UI"/>
                <a:cs typeface="Segoe UI"/>
              </a:rPr>
              <a:t xml:space="preserve"> use the intercepts.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gives </a:t>
            </a:r>
            <a:r>
              <a:rPr lang="en-US" sz="1575" dirty="0" b="1">
                <a:solidFill>
                  <a:srgbClr val="3050B8"/>
                </a:solidFill>
                <a:latin typeface="Segoe UI"/>
                <a:cs typeface="Segoe UI"/>
              </a:rPr>
              <a:t xml:space="preserve">(18, 0)</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gives </a:t>
            </a:r>
            <a:r>
              <a:rPr lang="en-US" sz="1575" dirty="0" b="1">
                <a:solidFill>
                  <a:srgbClr val="3050B8"/>
                </a:solidFill>
                <a:latin typeface="Segoe UI"/>
                <a:cs typeface="Segoe UI"/>
              </a:rPr>
              <a:t xml:space="preserve">(0, 12)</a:t>
            </a:r>
            <a:r>
              <a:rPr lang="en-US" sz="1575" dirty="0">
                <a:solidFill>
                  <a:srgbClr val="16171D"/>
                </a:solidFill>
                <a:latin typeface="Segoe UI"/>
                <a:cs typeface="Segoe UI"/>
              </a:rPr>
              <a:t xml:space="preserve">.</a:t>
            </a:r>
            <a:endParaRPr lang="en-US" sz="1575" dirty="0"/>
          </a:p>
        </p:txBody>
      </p:sp>
      <p:sp>
        <p:nvSpPr>
          <p:cNvPr id="8" name="Shape 8"/>
          <p:cNvSpPr/>
          <p:nvPr/>
        </p:nvSpPr>
        <p:spPr>
          <a:xfrm>
            <a:off x="7886395" y="2324862"/>
            <a:ext cx="36195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8210245" y="2439162"/>
            <a:ext cx="0" cy="2876550"/>
          </a:xfrm>
          <a:prstGeom prst="line">
            <a:avLst/>
          </a:prstGeom>
          <a:ln w="9525" cap="flat">
            <a:solidFill>
              <a:srgbClr val="E6E8F2"/>
            </a:solidFill>
          </a:ln>
        </p:spPr>
      </p:cxnSp>
      <p:cxnSp>
        <p:nvCxnSpPr>
          <p:cNvPr id="10" name="Line 10"/>
          <p:cNvCxnSpPr/>
          <p:nvPr/>
        </p:nvCxnSpPr>
        <p:spPr>
          <a:xfrm>
            <a:off x="8369313" y="2439162"/>
            <a:ext cx="0" cy="2876550"/>
          </a:xfrm>
          <a:prstGeom prst="line">
            <a:avLst/>
          </a:prstGeom>
          <a:ln w="9525" cap="flat">
            <a:solidFill>
              <a:srgbClr val="E6E8F2"/>
            </a:solidFill>
          </a:ln>
        </p:spPr>
      </p:cxnSp>
      <p:cxnSp>
        <p:nvCxnSpPr>
          <p:cNvPr id="11" name="Line 11"/>
          <p:cNvCxnSpPr/>
          <p:nvPr/>
        </p:nvCxnSpPr>
        <p:spPr>
          <a:xfrm>
            <a:off x="8528380" y="2439162"/>
            <a:ext cx="0" cy="2876550"/>
          </a:xfrm>
          <a:prstGeom prst="line">
            <a:avLst/>
          </a:prstGeom>
          <a:ln w="9525" cap="flat">
            <a:solidFill>
              <a:srgbClr val="E6E8F2"/>
            </a:solidFill>
          </a:ln>
        </p:spPr>
      </p:cxnSp>
      <p:cxnSp>
        <p:nvCxnSpPr>
          <p:cNvPr id="12" name="Line 12"/>
          <p:cNvCxnSpPr/>
          <p:nvPr/>
        </p:nvCxnSpPr>
        <p:spPr>
          <a:xfrm>
            <a:off x="8687448" y="2439162"/>
            <a:ext cx="0" cy="2876550"/>
          </a:xfrm>
          <a:prstGeom prst="line">
            <a:avLst/>
          </a:prstGeom>
          <a:ln w="9525" cap="flat">
            <a:solidFill>
              <a:srgbClr val="E6E8F2"/>
            </a:solidFill>
          </a:ln>
        </p:spPr>
      </p:cxnSp>
      <p:cxnSp>
        <p:nvCxnSpPr>
          <p:cNvPr id="13" name="Line 13"/>
          <p:cNvCxnSpPr/>
          <p:nvPr/>
        </p:nvCxnSpPr>
        <p:spPr>
          <a:xfrm>
            <a:off x="8846515" y="2439162"/>
            <a:ext cx="0" cy="2876550"/>
          </a:xfrm>
          <a:prstGeom prst="line">
            <a:avLst/>
          </a:prstGeom>
          <a:ln w="9525" cap="flat">
            <a:solidFill>
              <a:srgbClr val="E6E8F2"/>
            </a:solidFill>
          </a:ln>
        </p:spPr>
      </p:cxnSp>
      <p:cxnSp>
        <p:nvCxnSpPr>
          <p:cNvPr id="14" name="Line 14"/>
          <p:cNvCxnSpPr/>
          <p:nvPr/>
        </p:nvCxnSpPr>
        <p:spPr>
          <a:xfrm>
            <a:off x="9005583" y="2439162"/>
            <a:ext cx="0" cy="2876550"/>
          </a:xfrm>
          <a:prstGeom prst="line">
            <a:avLst/>
          </a:prstGeom>
          <a:ln w="9525" cap="flat">
            <a:solidFill>
              <a:srgbClr val="E6E8F2"/>
            </a:solidFill>
          </a:ln>
        </p:spPr>
      </p:cxnSp>
      <p:cxnSp>
        <p:nvCxnSpPr>
          <p:cNvPr id="15" name="Line 15"/>
          <p:cNvCxnSpPr/>
          <p:nvPr/>
        </p:nvCxnSpPr>
        <p:spPr>
          <a:xfrm>
            <a:off x="9164650" y="2439162"/>
            <a:ext cx="0" cy="2876550"/>
          </a:xfrm>
          <a:prstGeom prst="line">
            <a:avLst/>
          </a:prstGeom>
          <a:ln w="9525" cap="flat">
            <a:solidFill>
              <a:srgbClr val="E6E8F2"/>
            </a:solidFill>
          </a:ln>
        </p:spPr>
      </p:cxnSp>
      <p:cxnSp>
        <p:nvCxnSpPr>
          <p:cNvPr id="16" name="Line 16"/>
          <p:cNvCxnSpPr/>
          <p:nvPr/>
        </p:nvCxnSpPr>
        <p:spPr>
          <a:xfrm>
            <a:off x="9323718" y="2439162"/>
            <a:ext cx="0" cy="2876550"/>
          </a:xfrm>
          <a:prstGeom prst="line">
            <a:avLst/>
          </a:prstGeom>
          <a:ln w="9525" cap="flat">
            <a:solidFill>
              <a:srgbClr val="E6E8F2"/>
            </a:solidFill>
          </a:ln>
        </p:spPr>
      </p:cxnSp>
      <p:cxnSp>
        <p:nvCxnSpPr>
          <p:cNvPr id="17" name="Line 17"/>
          <p:cNvCxnSpPr/>
          <p:nvPr/>
        </p:nvCxnSpPr>
        <p:spPr>
          <a:xfrm>
            <a:off x="9482785" y="2439162"/>
            <a:ext cx="0" cy="2876550"/>
          </a:xfrm>
          <a:prstGeom prst="line">
            <a:avLst/>
          </a:prstGeom>
          <a:ln w="9525" cap="flat">
            <a:solidFill>
              <a:srgbClr val="E6E8F2"/>
            </a:solidFill>
          </a:ln>
        </p:spPr>
      </p:cxnSp>
      <p:cxnSp>
        <p:nvCxnSpPr>
          <p:cNvPr id="18" name="Line 18"/>
          <p:cNvCxnSpPr/>
          <p:nvPr/>
        </p:nvCxnSpPr>
        <p:spPr>
          <a:xfrm>
            <a:off x="9641853" y="2439162"/>
            <a:ext cx="0" cy="2876550"/>
          </a:xfrm>
          <a:prstGeom prst="line">
            <a:avLst/>
          </a:prstGeom>
          <a:ln w="9525" cap="flat">
            <a:solidFill>
              <a:srgbClr val="E6E8F2"/>
            </a:solidFill>
          </a:ln>
        </p:spPr>
      </p:cxnSp>
      <p:cxnSp>
        <p:nvCxnSpPr>
          <p:cNvPr id="19" name="Line 19"/>
          <p:cNvCxnSpPr/>
          <p:nvPr/>
        </p:nvCxnSpPr>
        <p:spPr>
          <a:xfrm>
            <a:off x="9800920" y="2439162"/>
            <a:ext cx="0" cy="2876550"/>
          </a:xfrm>
          <a:prstGeom prst="line">
            <a:avLst/>
          </a:prstGeom>
          <a:ln w="9525" cap="flat">
            <a:solidFill>
              <a:srgbClr val="E6E8F2"/>
            </a:solidFill>
          </a:ln>
        </p:spPr>
      </p:cxnSp>
      <p:cxnSp>
        <p:nvCxnSpPr>
          <p:cNvPr id="20" name="Line 20"/>
          <p:cNvCxnSpPr/>
          <p:nvPr/>
        </p:nvCxnSpPr>
        <p:spPr>
          <a:xfrm>
            <a:off x="9959988" y="2439162"/>
            <a:ext cx="0" cy="2876550"/>
          </a:xfrm>
          <a:prstGeom prst="line">
            <a:avLst/>
          </a:prstGeom>
          <a:ln w="9525" cap="flat">
            <a:solidFill>
              <a:srgbClr val="E6E8F2"/>
            </a:solidFill>
          </a:ln>
        </p:spPr>
      </p:cxnSp>
      <p:cxnSp>
        <p:nvCxnSpPr>
          <p:cNvPr id="21" name="Line 21"/>
          <p:cNvCxnSpPr/>
          <p:nvPr/>
        </p:nvCxnSpPr>
        <p:spPr>
          <a:xfrm>
            <a:off x="10119055" y="2439162"/>
            <a:ext cx="0" cy="2876550"/>
          </a:xfrm>
          <a:prstGeom prst="line">
            <a:avLst/>
          </a:prstGeom>
          <a:ln w="9525" cap="flat">
            <a:solidFill>
              <a:srgbClr val="E6E8F2"/>
            </a:solidFill>
          </a:ln>
        </p:spPr>
      </p:cxnSp>
      <p:cxnSp>
        <p:nvCxnSpPr>
          <p:cNvPr id="22" name="Line 22"/>
          <p:cNvCxnSpPr/>
          <p:nvPr/>
        </p:nvCxnSpPr>
        <p:spPr>
          <a:xfrm>
            <a:off x="10278123" y="2439162"/>
            <a:ext cx="0" cy="2876550"/>
          </a:xfrm>
          <a:prstGeom prst="line">
            <a:avLst/>
          </a:prstGeom>
          <a:ln w="9525" cap="flat">
            <a:solidFill>
              <a:srgbClr val="E6E8F2"/>
            </a:solidFill>
          </a:ln>
        </p:spPr>
      </p:cxnSp>
      <p:cxnSp>
        <p:nvCxnSpPr>
          <p:cNvPr id="23" name="Line 23"/>
          <p:cNvCxnSpPr/>
          <p:nvPr/>
        </p:nvCxnSpPr>
        <p:spPr>
          <a:xfrm>
            <a:off x="10437190" y="2439162"/>
            <a:ext cx="0" cy="2876550"/>
          </a:xfrm>
          <a:prstGeom prst="line">
            <a:avLst/>
          </a:prstGeom>
          <a:ln w="9525" cap="flat">
            <a:solidFill>
              <a:srgbClr val="E6E8F2"/>
            </a:solidFill>
          </a:ln>
        </p:spPr>
      </p:cxnSp>
      <p:cxnSp>
        <p:nvCxnSpPr>
          <p:cNvPr id="24" name="Line 24"/>
          <p:cNvCxnSpPr/>
          <p:nvPr/>
        </p:nvCxnSpPr>
        <p:spPr>
          <a:xfrm>
            <a:off x="10596258" y="2439162"/>
            <a:ext cx="0" cy="2876550"/>
          </a:xfrm>
          <a:prstGeom prst="line">
            <a:avLst/>
          </a:prstGeom>
          <a:ln w="9525" cap="flat">
            <a:solidFill>
              <a:srgbClr val="E6E8F2"/>
            </a:solidFill>
          </a:ln>
        </p:spPr>
      </p:cxnSp>
      <p:cxnSp>
        <p:nvCxnSpPr>
          <p:cNvPr id="25" name="Line 25"/>
          <p:cNvCxnSpPr/>
          <p:nvPr/>
        </p:nvCxnSpPr>
        <p:spPr>
          <a:xfrm>
            <a:off x="10755325" y="2439162"/>
            <a:ext cx="0" cy="2876550"/>
          </a:xfrm>
          <a:prstGeom prst="line">
            <a:avLst/>
          </a:prstGeom>
          <a:ln w="9525" cap="flat">
            <a:solidFill>
              <a:srgbClr val="E6E8F2"/>
            </a:solidFill>
          </a:ln>
        </p:spPr>
      </p:cxnSp>
      <p:cxnSp>
        <p:nvCxnSpPr>
          <p:cNvPr id="26" name="Line 26"/>
          <p:cNvCxnSpPr/>
          <p:nvPr/>
        </p:nvCxnSpPr>
        <p:spPr>
          <a:xfrm>
            <a:off x="10914393" y="2439162"/>
            <a:ext cx="0" cy="2876550"/>
          </a:xfrm>
          <a:prstGeom prst="line">
            <a:avLst/>
          </a:prstGeom>
          <a:ln w="9525" cap="flat">
            <a:solidFill>
              <a:srgbClr val="E6E8F2"/>
            </a:solidFill>
          </a:ln>
        </p:spPr>
      </p:cxnSp>
      <p:cxnSp>
        <p:nvCxnSpPr>
          <p:cNvPr id="27" name="Line 27"/>
          <p:cNvCxnSpPr/>
          <p:nvPr/>
        </p:nvCxnSpPr>
        <p:spPr>
          <a:xfrm>
            <a:off x="11073460" y="2439162"/>
            <a:ext cx="0" cy="2876550"/>
          </a:xfrm>
          <a:prstGeom prst="line">
            <a:avLst/>
          </a:prstGeom>
          <a:ln w="9525" cap="flat">
            <a:solidFill>
              <a:srgbClr val="E6E8F2"/>
            </a:solidFill>
          </a:ln>
        </p:spPr>
      </p:cxnSp>
      <p:cxnSp>
        <p:nvCxnSpPr>
          <p:cNvPr id="28" name="Line 28"/>
          <p:cNvCxnSpPr/>
          <p:nvPr/>
        </p:nvCxnSpPr>
        <p:spPr>
          <a:xfrm>
            <a:off x="11232528" y="2439162"/>
            <a:ext cx="0" cy="2876550"/>
          </a:xfrm>
          <a:prstGeom prst="line">
            <a:avLst/>
          </a:prstGeom>
          <a:ln w="9525" cap="flat">
            <a:solidFill>
              <a:srgbClr val="E6E8F2"/>
            </a:solidFill>
          </a:ln>
        </p:spPr>
      </p:cxnSp>
      <p:cxnSp>
        <p:nvCxnSpPr>
          <p:cNvPr id="29" name="Line 29"/>
          <p:cNvCxnSpPr/>
          <p:nvPr/>
        </p:nvCxnSpPr>
        <p:spPr>
          <a:xfrm>
            <a:off x="11391595" y="2439162"/>
            <a:ext cx="0" cy="2876550"/>
          </a:xfrm>
          <a:prstGeom prst="line">
            <a:avLst/>
          </a:prstGeom>
          <a:ln w="9525" cap="flat">
            <a:solidFill>
              <a:srgbClr val="E6E8F2"/>
            </a:solidFill>
          </a:ln>
        </p:spPr>
      </p:cxnSp>
      <p:cxnSp>
        <p:nvCxnSpPr>
          <p:cNvPr id="30" name="Line 30"/>
          <p:cNvCxnSpPr/>
          <p:nvPr/>
        </p:nvCxnSpPr>
        <p:spPr>
          <a:xfrm>
            <a:off x="8210245" y="5315712"/>
            <a:ext cx="3181350" cy="0"/>
          </a:xfrm>
          <a:prstGeom prst="line">
            <a:avLst/>
          </a:prstGeom>
          <a:ln w="9525" cap="flat">
            <a:solidFill>
              <a:srgbClr val="E6E8F2"/>
            </a:solidFill>
          </a:ln>
        </p:spPr>
      </p:cxnSp>
      <p:cxnSp>
        <p:nvCxnSpPr>
          <p:cNvPr id="31" name="Line 31"/>
          <p:cNvCxnSpPr/>
          <p:nvPr/>
        </p:nvCxnSpPr>
        <p:spPr>
          <a:xfrm>
            <a:off x="8210245" y="5135928"/>
            <a:ext cx="3181350" cy="0"/>
          </a:xfrm>
          <a:prstGeom prst="line">
            <a:avLst/>
          </a:prstGeom>
          <a:ln w="9525" cap="flat">
            <a:solidFill>
              <a:srgbClr val="E6E8F2"/>
            </a:solidFill>
          </a:ln>
        </p:spPr>
      </p:cxnSp>
      <p:cxnSp>
        <p:nvCxnSpPr>
          <p:cNvPr id="32" name="Line 32"/>
          <p:cNvCxnSpPr/>
          <p:nvPr/>
        </p:nvCxnSpPr>
        <p:spPr>
          <a:xfrm>
            <a:off x="8210245" y="4956143"/>
            <a:ext cx="3181350" cy="0"/>
          </a:xfrm>
          <a:prstGeom prst="line">
            <a:avLst/>
          </a:prstGeom>
          <a:ln w="9525" cap="flat">
            <a:solidFill>
              <a:srgbClr val="E6E8F2"/>
            </a:solidFill>
          </a:ln>
        </p:spPr>
      </p:cxnSp>
      <p:cxnSp>
        <p:nvCxnSpPr>
          <p:cNvPr id="33" name="Line 33"/>
          <p:cNvCxnSpPr/>
          <p:nvPr/>
        </p:nvCxnSpPr>
        <p:spPr>
          <a:xfrm>
            <a:off x="8210245" y="4776359"/>
            <a:ext cx="3181350" cy="0"/>
          </a:xfrm>
          <a:prstGeom prst="line">
            <a:avLst/>
          </a:prstGeom>
          <a:ln w="9525" cap="flat">
            <a:solidFill>
              <a:srgbClr val="E6E8F2"/>
            </a:solidFill>
          </a:ln>
        </p:spPr>
      </p:cxnSp>
      <p:cxnSp>
        <p:nvCxnSpPr>
          <p:cNvPr id="34" name="Line 34"/>
          <p:cNvCxnSpPr/>
          <p:nvPr/>
        </p:nvCxnSpPr>
        <p:spPr>
          <a:xfrm>
            <a:off x="8210245" y="4596574"/>
            <a:ext cx="3181350" cy="0"/>
          </a:xfrm>
          <a:prstGeom prst="line">
            <a:avLst/>
          </a:prstGeom>
          <a:ln w="9525" cap="flat">
            <a:solidFill>
              <a:srgbClr val="E6E8F2"/>
            </a:solidFill>
          </a:ln>
        </p:spPr>
      </p:cxnSp>
      <p:cxnSp>
        <p:nvCxnSpPr>
          <p:cNvPr id="35" name="Line 35"/>
          <p:cNvCxnSpPr/>
          <p:nvPr/>
        </p:nvCxnSpPr>
        <p:spPr>
          <a:xfrm>
            <a:off x="8210245" y="4416790"/>
            <a:ext cx="3181350" cy="0"/>
          </a:xfrm>
          <a:prstGeom prst="line">
            <a:avLst/>
          </a:prstGeom>
          <a:ln w="9525" cap="flat">
            <a:solidFill>
              <a:srgbClr val="E6E8F2"/>
            </a:solidFill>
          </a:ln>
        </p:spPr>
      </p:cxnSp>
      <p:cxnSp>
        <p:nvCxnSpPr>
          <p:cNvPr id="36" name="Line 36"/>
          <p:cNvCxnSpPr/>
          <p:nvPr/>
        </p:nvCxnSpPr>
        <p:spPr>
          <a:xfrm>
            <a:off x="8210245" y="4237006"/>
            <a:ext cx="3181350" cy="0"/>
          </a:xfrm>
          <a:prstGeom prst="line">
            <a:avLst/>
          </a:prstGeom>
          <a:ln w="9525" cap="flat">
            <a:solidFill>
              <a:srgbClr val="E6E8F2"/>
            </a:solidFill>
          </a:ln>
        </p:spPr>
      </p:cxnSp>
      <p:cxnSp>
        <p:nvCxnSpPr>
          <p:cNvPr id="37" name="Line 37"/>
          <p:cNvCxnSpPr/>
          <p:nvPr/>
        </p:nvCxnSpPr>
        <p:spPr>
          <a:xfrm>
            <a:off x="8210245" y="4057221"/>
            <a:ext cx="3181350" cy="0"/>
          </a:xfrm>
          <a:prstGeom prst="line">
            <a:avLst/>
          </a:prstGeom>
          <a:ln w="9525" cap="flat">
            <a:solidFill>
              <a:srgbClr val="E6E8F2"/>
            </a:solidFill>
          </a:ln>
        </p:spPr>
      </p:cxnSp>
      <p:cxnSp>
        <p:nvCxnSpPr>
          <p:cNvPr id="38" name="Line 38"/>
          <p:cNvCxnSpPr/>
          <p:nvPr/>
        </p:nvCxnSpPr>
        <p:spPr>
          <a:xfrm>
            <a:off x="8210245" y="3877437"/>
            <a:ext cx="3181350" cy="0"/>
          </a:xfrm>
          <a:prstGeom prst="line">
            <a:avLst/>
          </a:prstGeom>
          <a:ln w="9525" cap="flat">
            <a:solidFill>
              <a:srgbClr val="E6E8F2"/>
            </a:solidFill>
          </a:ln>
        </p:spPr>
      </p:cxnSp>
      <p:cxnSp>
        <p:nvCxnSpPr>
          <p:cNvPr id="39" name="Line 39"/>
          <p:cNvCxnSpPr/>
          <p:nvPr/>
        </p:nvCxnSpPr>
        <p:spPr>
          <a:xfrm>
            <a:off x="8210245" y="3697653"/>
            <a:ext cx="3181350" cy="0"/>
          </a:xfrm>
          <a:prstGeom prst="line">
            <a:avLst/>
          </a:prstGeom>
          <a:ln w="9525" cap="flat">
            <a:solidFill>
              <a:srgbClr val="E6E8F2"/>
            </a:solidFill>
          </a:ln>
        </p:spPr>
      </p:cxnSp>
      <p:cxnSp>
        <p:nvCxnSpPr>
          <p:cNvPr id="40" name="Line 40"/>
          <p:cNvCxnSpPr/>
          <p:nvPr/>
        </p:nvCxnSpPr>
        <p:spPr>
          <a:xfrm>
            <a:off x="8210245" y="3517868"/>
            <a:ext cx="3181350" cy="0"/>
          </a:xfrm>
          <a:prstGeom prst="line">
            <a:avLst/>
          </a:prstGeom>
          <a:ln w="9525" cap="flat">
            <a:solidFill>
              <a:srgbClr val="E6E8F2"/>
            </a:solidFill>
          </a:ln>
        </p:spPr>
      </p:cxnSp>
      <p:cxnSp>
        <p:nvCxnSpPr>
          <p:cNvPr id="41" name="Line 41"/>
          <p:cNvCxnSpPr/>
          <p:nvPr/>
        </p:nvCxnSpPr>
        <p:spPr>
          <a:xfrm>
            <a:off x="8210245" y="3338084"/>
            <a:ext cx="3181350" cy="0"/>
          </a:xfrm>
          <a:prstGeom prst="line">
            <a:avLst/>
          </a:prstGeom>
          <a:ln w="9525" cap="flat">
            <a:solidFill>
              <a:srgbClr val="E6E8F2"/>
            </a:solidFill>
          </a:ln>
        </p:spPr>
      </p:cxnSp>
      <p:cxnSp>
        <p:nvCxnSpPr>
          <p:cNvPr id="42" name="Line 42"/>
          <p:cNvCxnSpPr/>
          <p:nvPr/>
        </p:nvCxnSpPr>
        <p:spPr>
          <a:xfrm>
            <a:off x="8210245" y="3158300"/>
            <a:ext cx="3181350" cy="0"/>
          </a:xfrm>
          <a:prstGeom prst="line">
            <a:avLst/>
          </a:prstGeom>
          <a:ln w="9525" cap="flat">
            <a:solidFill>
              <a:srgbClr val="E6E8F2"/>
            </a:solidFill>
          </a:ln>
        </p:spPr>
      </p:cxnSp>
      <p:cxnSp>
        <p:nvCxnSpPr>
          <p:cNvPr id="43" name="Line 43"/>
          <p:cNvCxnSpPr/>
          <p:nvPr/>
        </p:nvCxnSpPr>
        <p:spPr>
          <a:xfrm>
            <a:off x="8210245" y="2978515"/>
            <a:ext cx="3181350" cy="0"/>
          </a:xfrm>
          <a:prstGeom prst="line">
            <a:avLst/>
          </a:prstGeom>
          <a:ln w="9525" cap="flat">
            <a:solidFill>
              <a:srgbClr val="E6E8F2"/>
            </a:solidFill>
          </a:ln>
        </p:spPr>
      </p:cxnSp>
      <p:cxnSp>
        <p:nvCxnSpPr>
          <p:cNvPr id="44" name="Line 44"/>
          <p:cNvCxnSpPr/>
          <p:nvPr/>
        </p:nvCxnSpPr>
        <p:spPr>
          <a:xfrm>
            <a:off x="8210245" y="2798731"/>
            <a:ext cx="3181350" cy="0"/>
          </a:xfrm>
          <a:prstGeom prst="line">
            <a:avLst/>
          </a:prstGeom>
          <a:ln w="9525" cap="flat">
            <a:solidFill>
              <a:srgbClr val="E6E8F2"/>
            </a:solidFill>
          </a:ln>
        </p:spPr>
      </p:cxnSp>
      <p:cxnSp>
        <p:nvCxnSpPr>
          <p:cNvPr id="45" name="Line 45"/>
          <p:cNvCxnSpPr/>
          <p:nvPr/>
        </p:nvCxnSpPr>
        <p:spPr>
          <a:xfrm>
            <a:off x="8210245" y="2618946"/>
            <a:ext cx="3181350" cy="0"/>
          </a:xfrm>
          <a:prstGeom prst="line">
            <a:avLst/>
          </a:prstGeom>
          <a:ln w="9525" cap="flat">
            <a:solidFill>
              <a:srgbClr val="E6E8F2"/>
            </a:solidFill>
          </a:ln>
        </p:spPr>
      </p:cxnSp>
      <p:cxnSp>
        <p:nvCxnSpPr>
          <p:cNvPr id="46" name="Line 46"/>
          <p:cNvCxnSpPr/>
          <p:nvPr/>
        </p:nvCxnSpPr>
        <p:spPr>
          <a:xfrm>
            <a:off x="8210245" y="2439162"/>
            <a:ext cx="3181350" cy="0"/>
          </a:xfrm>
          <a:prstGeom prst="line">
            <a:avLst/>
          </a:prstGeom>
          <a:ln w="9525" cap="flat">
            <a:solidFill>
              <a:srgbClr val="E6E8F2"/>
            </a:solidFill>
          </a:ln>
        </p:spPr>
      </p:cxnSp>
      <p:cxnSp>
        <p:nvCxnSpPr>
          <p:cNvPr id="47" name="Line 47"/>
          <p:cNvCxnSpPr/>
          <p:nvPr/>
        </p:nvCxnSpPr>
        <p:spPr>
          <a:xfrm>
            <a:off x="8210245" y="2439162"/>
            <a:ext cx="0" cy="2876550"/>
          </a:xfrm>
          <a:prstGeom prst="line">
            <a:avLst/>
          </a:prstGeom>
          <a:ln w="19050" cap="flat">
            <a:solidFill>
              <a:srgbClr val="5F6272"/>
            </a:solidFill>
          </a:ln>
        </p:spPr>
      </p:cxnSp>
      <p:cxnSp>
        <p:nvCxnSpPr>
          <p:cNvPr id="48" name="Line 48"/>
          <p:cNvCxnSpPr/>
          <p:nvPr/>
        </p:nvCxnSpPr>
        <p:spPr>
          <a:xfrm>
            <a:off x="8210245" y="5315712"/>
            <a:ext cx="3181350" cy="0"/>
          </a:xfrm>
          <a:prstGeom prst="line">
            <a:avLst/>
          </a:prstGeom>
          <a:ln w="19050" cap="flat">
            <a:solidFill>
              <a:srgbClr val="5F6272"/>
            </a:solidFill>
          </a:ln>
        </p:spPr>
      </p:cxnSp>
      <p:sp>
        <p:nvSpPr>
          <p:cNvPr id="49" name="Shape 49"/>
          <p:cNvSpPr txBox="1"/>
          <p:nvPr/>
        </p:nvSpPr>
        <p:spPr>
          <a:xfrm>
            <a:off x="793592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825406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1" name="Shape 51"/>
          <p:cNvSpPr txBox="1"/>
          <p:nvPr/>
        </p:nvSpPr>
        <p:spPr>
          <a:xfrm>
            <a:off x="857219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2" name="Shape 52"/>
          <p:cNvSpPr txBox="1"/>
          <p:nvPr/>
        </p:nvSpPr>
        <p:spPr>
          <a:xfrm>
            <a:off x="889033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3" name="Shape 53"/>
          <p:cNvSpPr txBox="1"/>
          <p:nvPr/>
        </p:nvSpPr>
        <p:spPr>
          <a:xfrm>
            <a:off x="920846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4" name="Shape 54"/>
          <p:cNvSpPr txBox="1"/>
          <p:nvPr/>
        </p:nvSpPr>
        <p:spPr>
          <a:xfrm>
            <a:off x="952660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55" name="Shape 55"/>
          <p:cNvSpPr txBox="1"/>
          <p:nvPr/>
        </p:nvSpPr>
        <p:spPr>
          <a:xfrm>
            <a:off x="984473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56" name="Shape 56"/>
          <p:cNvSpPr txBox="1"/>
          <p:nvPr/>
        </p:nvSpPr>
        <p:spPr>
          <a:xfrm>
            <a:off x="1016287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57" name="Shape 57"/>
          <p:cNvSpPr txBox="1"/>
          <p:nvPr/>
        </p:nvSpPr>
        <p:spPr>
          <a:xfrm>
            <a:off x="1048100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58" name="Shape 58"/>
          <p:cNvSpPr txBox="1"/>
          <p:nvPr/>
        </p:nvSpPr>
        <p:spPr>
          <a:xfrm>
            <a:off x="1079914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18</a:t>
            </a:r>
            <a:endParaRPr lang="en-US" sz="975" dirty="0"/>
          </a:p>
        </p:txBody>
      </p:sp>
      <p:sp>
        <p:nvSpPr>
          <p:cNvPr id="59" name="Shape 59"/>
          <p:cNvSpPr txBox="1"/>
          <p:nvPr/>
        </p:nvSpPr>
        <p:spPr>
          <a:xfrm>
            <a:off x="1111727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60" name="Shape 60"/>
          <p:cNvSpPr txBox="1"/>
          <p:nvPr/>
        </p:nvSpPr>
        <p:spPr>
          <a:xfrm>
            <a:off x="7643317" y="52242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1" name="Shape 61"/>
          <p:cNvSpPr txBox="1"/>
          <p:nvPr/>
        </p:nvSpPr>
        <p:spPr>
          <a:xfrm>
            <a:off x="7643317" y="48647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62" name="Shape 62"/>
          <p:cNvSpPr txBox="1"/>
          <p:nvPr/>
        </p:nvSpPr>
        <p:spPr>
          <a:xfrm>
            <a:off x="7643317" y="45051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63" name="Shape 63"/>
          <p:cNvSpPr txBox="1"/>
          <p:nvPr/>
        </p:nvSpPr>
        <p:spPr>
          <a:xfrm>
            <a:off x="7643317" y="4145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64" name="Shape 64"/>
          <p:cNvSpPr txBox="1"/>
          <p:nvPr/>
        </p:nvSpPr>
        <p:spPr>
          <a:xfrm>
            <a:off x="7643317" y="378599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65" name="Shape 65"/>
          <p:cNvSpPr txBox="1"/>
          <p:nvPr/>
        </p:nvSpPr>
        <p:spPr>
          <a:xfrm>
            <a:off x="7643317" y="34264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66" name="Shape 66"/>
          <p:cNvSpPr txBox="1"/>
          <p:nvPr/>
        </p:nvSpPr>
        <p:spPr>
          <a:xfrm>
            <a:off x="7643317" y="30668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67" name="Shape 67"/>
          <p:cNvSpPr txBox="1"/>
          <p:nvPr/>
        </p:nvSpPr>
        <p:spPr>
          <a:xfrm>
            <a:off x="7643317" y="270729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68" name="Shape 68"/>
          <p:cNvSpPr txBox="1"/>
          <p:nvPr/>
        </p:nvSpPr>
        <p:spPr>
          <a:xfrm>
            <a:off x="7643317" y="2347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69" name="Shape 69"/>
          <p:cNvSpPr/>
          <p:nvPr/>
        </p:nvSpPr>
        <p:spPr>
          <a:xfrm>
            <a:off x="11021073" y="52633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0" name="Shape 70"/>
          <p:cNvSpPr txBox="1"/>
          <p:nvPr/>
        </p:nvSpPr>
        <p:spPr>
          <a:xfrm>
            <a:off x="11159185" y="506806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(18, 0)</a:t>
            </a:r>
            <a:endParaRPr lang="en-US" sz="1125" dirty="0"/>
          </a:p>
        </p:txBody>
      </p:sp>
      <p:sp>
        <p:nvSpPr>
          <p:cNvPr id="71" name="Shape 71"/>
          <p:cNvSpPr/>
          <p:nvPr/>
        </p:nvSpPr>
        <p:spPr>
          <a:xfrm>
            <a:off x="8157858" y="310591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2" name="Shape 72"/>
          <p:cNvSpPr txBox="1"/>
          <p:nvPr/>
        </p:nvSpPr>
        <p:spPr>
          <a:xfrm>
            <a:off x="8295970" y="291065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(0, 12)</a:t>
            </a:r>
            <a:endParaRPr lang="en-US" sz="1125" dirty="0"/>
          </a:p>
        </p:txBody>
      </p:sp>
      <p:cxnSp>
        <p:nvCxnSpPr>
          <p:cNvPr id="73" name="Line 73"/>
          <p:cNvCxnSpPr/>
          <p:nvPr/>
        </p:nvCxnSpPr>
        <p:spPr>
          <a:xfrm>
            <a:off x="8210245" y="3158300"/>
            <a:ext cx="2863215" cy="2157412"/>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69"/>
                                        </p:tgtEl>
                                        <p:attrNameLst>
                                          <p:attrName>style.visibility</p:attrName>
                                        </p:attrNameLst>
                                      </p:cBhvr>
                                      <p:to>
                                        <p:strVal val="visible"/>
                                      </p:to>
                                    </p:set>
                                    <p:animEffect transition="in" filter="fade">
                                      <p:cBhvr>
                                        <p:cTn id="25" dur="500"/>
                                        <p:tgtEl>
                                          <p:spTgt spid="69"/>
                                        </p:tgtEl>
                                      </p:cBhvr>
                                    </p:animEffect>
                                    <p:anim calcmode="lin" valueType="num">
                                      <p:cBhvr>
                                        <p:cTn id="26" dur="500" fill="hold"/>
                                        <p:tgtEl>
                                          <p:spTgt spid="69"/>
                                        </p:tgtEl>
                                        <p:attrNameLst>
                                          <p:attrName>ppt_w</p:attrName>
                                        </p:attrNameLst>
                                      </p:cBhvr>
                                      <p:tavLst>
                                        <p:tav tm="0">
                                          <p:val>
                                            <p:fltVal val="0"/>
                                          </p:val>
                                        </p:tav>
                                        <p:tav tm="100000">
                                          <p:val>
                                            <p:strVal val="#ppt_w"/>
                                          </p:val>
                                        </p:tav>
                                      </p:tavLst>
                                    </p:anim>
                                    <p:anim calcmode="lin" valueType="num">
                                      <p:cBhvr>
                                        <p:cTn id="27" dur="500" fill="hold"/>
                                        <p:tgtEl>
                                          <p:spTgt spid="69"/>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70"/>
                                        </p:tgtEl>
                                        <p:attrNameLst>
                                          <p:attrName>style.visibility</p:attrName>
                                        </p:attrNameLst>
                                      </p:cBhvr>
                                      <p:to>
                                        <p:strVal val="visible"/>
                                      </p:to>
                                    </p:set>
                                    <p:animEffect transition="in" filter="fade">
                                      <p:cBhvr>
                                        <p:cTn id="30" dur="500"/>
                                        <p:tgtEl>
                                          <p:spTgt spid="70"/>
                                        </p:tgtEl>
                                      </p:cBhvr>
                                    </p:animEffect>
                                    <p:anim calcmode="lin" valueType="num">
                                      <p:cBhvr>
                                        <p:cTn id="31" dur="500" fill="hold"/>
                                        <p:tgtEl>
                                          <p:spTgt spid="70"/>
                                        </p:tgtEl>
                                        <p:attrNameLst>
                                          <p:attrName>ppt_w</p:attrName>
                                        </p:attrNameLst>
                                      </p:cBhvr>
                                      <p:tavLst>
                                        <p:tav tm="0">
                                          <p:val>
                                            <p:fltVal val="0"/>
                                          </p:val>
                                        </p:tav>
                                        <p:tav tm="100000">
                                          <p:val>
                                            <p:strVal val="#ppt_w"/>
                                          </p:val>
                                        </p:tav>
                                      </p:tavLst>
                                    </p:anim>
                                    <p:anim calcmode="lin" valueType="num">
                                      <p:cBhvr>
                                        <p:cTn id="32" dur="500" fill="hold"/>
                                        <p:tgtEl>
                                          <p:spTgt spid="70"/>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anim calcmode="lin" valueType="num">
                                      <p:cBhvr>
                                        <p:cTn id="38" dur="500" fill="hold"/>
                                        <p:tgtEl>
                                          <p:spTgt spid="71"/>
                                        </p:tgtEl>
                                        <p:attrNameLst>
                                          <p:attrName>ppt_w</p:attrName>
                                        </p:attrNameLst>
                                      </p:cBhvr>
                                      <p:tavLst>
                                        <p:tav tm="0">
                                          <p:val>
                                            <p:fltVal val="0"/>
                                          </p:val>
                                        </p:tav>
                                        <p:tav tm="100000">
                                          <p:val>
                                            <p:strVal val="#ppt_w"/>
                                          </p:val>
                                        </p:tav>
                                      </p:tavLst>
                                    </p:anim>
                                    <p:anim calcmode="lin" valueType="num">
                                      <p:cBhvr>
                                        <p:cTn id="39" dur="500" fill="hold"/>
                                        <p:tgtEl>
                                          <p:spTgt spid="71"/>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72"/>
                                        </p:tgtEl>
                                        <p:attrNameLst>
                                          <p:attrName>style.visibility</p:attrName>
                                        </p:attrNameLst>
                                      </p:cBhvr>
                                      <p:to>
                                        <p:strVal val="visible"/>
                                      </p:to>
                                    </p:set>
                                    <p:animEffect transition="in" filter="fade">
                                      <p:cBhvr>
                                        <p:cTn id="42" dur="500"/>
                                        <p:tgtEl>
                                          <p:spTgt spid="72"/>
                                        </p:tgtEl>
                                      </p:cBhvr>
                                    </p:animEffect>
                                    <p:anim calcmode="lin" valueType="num">
                                      <p:cBhvr>
                                        <p:cTn id="43" dur="500" fill="hold"/>
                                        <p:tgtEl>
                                          <p:spTgt spid="72"/>
                                        </p:tgtEl>
                                        <p:attrNameLst>
                                          <p:attrName>ppt_w</p:attrName>
                                        </p:attrNameLst>
                                      </p:cBhvr>
                                      <p:tavLst>
                                        <p:tav tm="0">
                                          <p:val>
                                            <p:fltVal val="0"/>
                                          </p:val>
                                        </p:tav>
                                        <p:tav tm="100000">
                                          <p:val>
                                            <p:strVal val="#ppt_w"/>
                                          </p:val>
                                        </p:tav>
                                      </p:tavLst>
                                    </p:anim>
                                    <p:anim calcmode="lin" valueType="num">
                                      <p:cBhvr>
                                        <p:cTn id="44" dur="500" fill="hold"/>
                                        <p:tgtEl>
                                          <p:spTgt spid="72"/>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22" presetClass="entr" presetSubtype="8" fill="hold" nodeType="clickEffect">
                                  <p:stCondLst>
                                    <p:cond delay="0"/>
                                  </p:stCondLst>
                                  <p:childTnLst>
                                    <p:set>
                                      <p:cBhvr>
                                        <p:cTn id="48" dur="1" fill="hold">
                                          <p:stCondLst>
                                            <p:cond delay="0"/>
                                          </p:stCondLst>
                                        </p:cTn>
                                        <p:tgtEl>
                                          <p:spTgt spid="73"/>
                                        </p:tgtEl>
                                        <p:attrNameLst>
                                          <p:attrName>style.visibility</p:attrName>
                                        </p:attrNameLst>
                                      </p:cBhvr>
                                      <p:to>
                                        <p:strVal val="visible"/>
                                      </p:to>
                                    </p:set>
                                    <p:animEffect transition="in" filter="wipe(left)">
                                      <p:cBhvr>
                                        <p:cTn id="49" dur="7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Question 2 · SE p. 233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Nicky's savings</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Nicky has </a:t>
            </a:r>
            <a:r>
              <a:rPr lang="en-US" sz="1575" dirty="0" b="1">
                <a:solidFill>
                  <a:srgbClr val="16171D"/>
                </a:solidFill>
                <a:latin typeface="Segoe UI"/>
                <a:cs typeface="Segoe UI"/>
              </a:rPr>
              <a:t xml:space="preserve">$20</a:t>
            </a:r>
            <a:r>
              <a:rPr lang="en-US" sz="1575" dirty="0">
                <a:solidFill>
                  <a:srgbClr val="16171D"/>
                </a:solidFill>
                <a:latin typeface="Segoe UI"/>
                <a:cs typeface="Segoe UI"/>
              </a:rPr>
              <a:t xml:space="preserve"> and plans to save an additional </a:t>
            </a:r>
            <a:r>
              <a:rPr lang="en-US" sz="1575" dirty="0" b="1">
                <a:solidFill>
                  <a:srgbClr val="16171D"/>
                </a:solidFill>
                <a:latin typeface="Segoe UI"/>
                <a:cs typeface="Segoe UI"/>
              </a:rPr>
              <a:t xml:space="preserve">$10 every two weeks</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number of weeks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total savings.</a:t>
            </a:r>
            <a:endParaRPr lang="en-US" sz="1575" dirty="0"/>
          </a:p>
        </p:txBody>
      </p:sp>
      <p:sp>
        <p:nvSpPr>
          <p:cNvPr id="5" name="Shape 5"/>
          <p:cNvSpPr txBox="1"/>
          <p:nvPr/>
        </p:nvSpPr>
        <p:spPr>
          <a:xfrm>
            <a:off x="685800" y="2324862"/>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every 2 weeks is </a:t>
            </a:r>
            <a:r>
              <a:rPr lang="en-US" sz="1575" dirty="0" b="1">
                <a:solidFill>
                  <a:srgbClr val="C9561F"/>
                </a:solidFill>
                <a:latin typeface="Segoe UI"/>
                <a:cs typeface="Segoe UI"/>
              </a:rPr>
              <a:t xml:space="preserve">$5 per week</a:t>
            </a:r>
            <a:r>
              <a:rPr lang="en-US" sz="1575" dirty="0">
                <a:solidFill>
                  <a:srgbClr val="16171D"/>
                </a:solidFill>
                <a:latin typeface="Segoe UI"/>
                <a:cs typeface="Segoe UI"/>
              </a:rPr>
              <a:t xml:space="preserve">. He starts with </a:t>
            </a:r>
            <a:r>
              <a:rPr lang="en-US" sz="1575" dirty="0" b="1">
                <a:solidFill>
                  <a:srgbClr val="3050B8"/>
                </a:solidFill>
                <a:latin typeface="Segoe UI"/>
                <a:cs typeface="Segoe UI"/>
              </a:rPr>
              <a:t xml:space="preserve">$20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715006"/>
            <a:ext cx="4486046"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5</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20</a:t>
            </a:r>
            <a:endParaRPr lang="en-US" sz="2850" dirty="0"/>
          </a:p>
        </p:txBody>
      </p:sp>
      <p:sp>
        <p:nvSpPr>
          <p:cNvPr id="7" name="Shape 7"/>
          <p:cNvSpPr txBox="1"/>
          <p:nvPr/>
        </p:nvSpPr>
        <p:spPr>
          <a:xfrm>
            <a:off x="685800" y="3409188"/>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a:t>
            </a:r>
            <a:r>
              <a:rPr lang="en-US" sz="1575" dirty="0">
                <a:solidFill>
                  <a:srgbClr val="16171D"/>
                </a:solidFill>
                <a:latin typeface="Segoe UI"/>
                <a:cs typeface="Segoe UI"/>
              </a:rPr>
              <a:t xml:space="preserve"> slope-intercept, because the rate and the starting amount are given directly.</a:t>
            </a:r>
            <a:endParaRPr lang="en-US" sz="1575" dirty="0"/>
          </a:p>
        </p:txBody>
      </p:sp>
      <p:sp>
        <p:nvSpPr>
          <p:cNvPr id="8" name="Shape 8"/>
          <p:cNvSpPr txBox="1"/>
          <p:nvPr/>
        </p:nvSpPr>
        <p:spPr>
          <a:xfrm>
            <a:off x="685800" y="4039362"/>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Graph:</a:t>
            </a:r>
            <a:r>
              <a:rPr lang="en-US" sz="1575" dirty="0">
                <a:solidFill>
                  <a:srgbClr val="16171D"/>
                </a:solidFill>
                <a:latin typeface="Segoe UI"/>
                <a:cs typeface="Segoe UI"/>
              </a:rPr>
              <a:t xml:space="preserve"> plot </a:t>
            </a:r>
            <a:r>
              <a:rPr lang="en-US" sz="1575" dirty="0" b="1">
                <a:solidFill>
                  <a:srgbClr val="3050B8"/>
                </a:solidFill>
                <a:latin typeface="Segoe UI"/>
                <a:cs typeface="Segoe UI"/>
              </a:rPr>
              <a:t xml:space="preserve">(0, 20)</a:t>
            </a:r>
            <a:r>
              <a:rPr lang="en-US" sz="1575" dirty="0">
                <a:solidFill>
                  <a:srgbClr val="16171D"/>
                </a:solidFill>
                <a:latin typeface="Segoe UI"/>
                <a:cs typeface="Segoe UI"/>
              </a:rPr>
              <a:t xml:space="preserve">, then use the slope, </a:t>
            </a:r>
            <a:r>
              <a:rPr lang="en-US" sz="1575" dirty="0" b="1">
                <a:solidFill>
                  <a:srgbClr val="C9561F"/>
                </a:solidFill>
                <a:latin typeface="Cambria"/>
                <a:cs typeface="Cambria"/>
              </a:rPr>
              <a:t xml:space="preserve">10</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2</a:t>
            </a:r>
            <a:r>
              <a:rPr lang="en-US" sz="1575" dirty="0">
                <a:solidFill>
                  <a:srgbClr val="16171D"/>
                </a:solidFill>
                <a:latin typeface="Segoe UI"/>
                <a:cs typeface="Segoe UI"/>
              </a:rPr>
              <a:t xml:space="preserve">: up 10, right 2.</a:t>
            </a:r>
            <a:endParaRPr lang="en-US" sz="1575" dirty="0"/>
          </a:p>
        </p:txBody>
      </p:sp>
      <p:sp>
        <p:nvSpPr>
          <p:cNvPr id="9" name="Shape 9"/>
          <p:cNvSpPr/>
          <p:nvPr/>
        </p:nvSpPr>
        <p:spPr>
          <a:xfrm>
            <a:off x="7886395" y="2324862"/>
            <a:ext cx="36195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8210245" y="2439162"/>
            <a:ext cx="0" cy="2876550"/>
          </a:xfrm>
          <a:prstGeom prst="line">
            <a:avLst/>
          </a:prstGeom>
          <a:ln w="9525" cap="flat">
            <a:solidFill>
              <a:srgbClr val="E6E8F2"/>
            </a:solidFill>
          </a:ln>
        </p:spPr>
      </p:cxnSp>
      <p:cxnSp>
        <p:nvCxnSpPr>
          <p:cNvPr id="11" name="Line 11"/>
          <p:cNvCxnSpPr/>
          <p:nvPr/>
        </p:nvCxnSpPr>
        <p:spPr>
          <a:xfrm>
            <a:off x="8528380" y="2439162"/>
            <a:ext cx="0" cy="2876550"/>
          </a:xfrm>
          <a:prstGeom prst="line">
            <a:avLst/>
          </a:prstGeom>
          <a:ln w="9525" cap="flat">
            <a:solidFill>
              <a:srgbClr val="E6E8F2"/>
            </a:solidFill>
          </a:ln>
        </p:spPr>
      </p:cxnSp>
      <p:cxnSp>
        <p:nvCxnSpPr>
          <p:cNvPr id="12" name="Line 12"/>
          <p:cNvCxnSpPr/>
          <p:nvPr/>
        </p:nvCxnSpPr>
        <p:spPr>
          <a:xfrm>
            <a:off x="8846515" y="2439162"/>
            <a:ext cx="0" cy="2876550"/>
          </a:xfrm>
          <a:prstGeom prst="line">
            <a:avLst/>
          </a:prstGeom>
          <a:ln w="9525" cap="flat">
            <a:solidFill>
              <a:srgbClr val="E6E8F2"/>
            </a:solidFill>
          </a:ln>
        </p:spPr>
      </p:cxnSp>
      <p:cxnSp>
        <p:nvCxnSpPr>
          <p:cNvPr id="13" name="Line 13"/>
          <p:cNvCxnSpPr/>
          <p:nvPr/>
        </p:nvCxnSpPr>
        <p:spPr>
          <a:xfrm>
            <a:off x="9164650" y="2439162"/>
            <a:ext cx="0" cy="2876550"/>
          </a:xfrm>
          <a:prstGeom prst="line">
            <a:avLst/>
          </a:prstGeom>
          <a:ln w="9525" cap="flat">
            <a:solidFill>
              <a:srgbClr val="E6E8F2"/>
            </a:solidFill>
          </a:ln>
        </p:spPr>
      </p:cxnSp>
      <p:cxnSp>
        <p:nvCxnSpPr>
          <p:cNvPr id="14" name="Line 14"/>
          <p:cNvCxnSpPr/>
          <p:nvPr/>
        </p:nvCxnSpPr>
        <p:spPr>
          <a:xfrm>
            <a:off x="9482785" y="2439162"/>
            <a:ext cx="0" cy="2876550"/>
          </a:xfrm>
          <a:prstGeom prst="line">
            <a:avLst/>
          </a:prstGeom>
          <a:ln w="9525" cap="flat">
            <a:solidFill>
              <a:srgbClr val="E6E8F2"/>
            </a:solidFill>
          </a:ln>
        </p:spPr>
      </p:cxnSp>
      <p:cxnSp>
        <p:nvCxnSpPr>
          <p:cNvPr id="15" name="Line 15"/>
          <p:cNvCxnSpPr/>
          <p:nvPr/>
        </p:nvCxnSpPr>
        <p:spPr>
          <a:xfrm>
            <a:off x="9800920" y="2439162"/>
            <a:ext cx="0" cy="2876550"/>
          </a:xfrm>
          <a:prstGeom prst="line">
            <a:avLst/>
          </a:prstGeom>
          <a:ln w="9525" cap="flat">
            <a:solidFill>
              <a:srgbClr val="E6E8F2"/>
            </a:solidFill>
          </a:ln>
        </p:spPr>
      </p:cxnSp>
      <p:cxnSp>
        <p:nvCxnSpPr>
          <p:cNvPr id="16" name="Line 16"/>
          <p:cNvCxnSpPr/>
          <p:nvPr/>
        </p:nvCxnSpPr>
        <p:spPr>
          <a:xfrm>
            <a:off x="10119055" y="2439162"/>
            <a:ext cx="0" cy="2876550"/>
          </a:xfrm>
          <a:prstGeom prst="line">
            <a:avLst/>
          </a:prstGeom>
          <a:ln w="9525" cap="flat">
            <a:solidFill>
              <a:srgbClr val="E6E8F2"/>
            </a:solidFill>
          </a:ln>
        </p:spPr>
      </p:cxnSp>
      <p:cxnSp>
        <p:nvCxnSpPr>
          <p:cNvPr id="17" name="Line 17"/>
          <p:cNvCxnSpPr/>
          <p:nvPr/>
        </p:nvCxnSpPr>
        <p:spPr>
          <a:xfrm>
            <a:off x="10437190" y="2439162"/>
            <a:ext cx="0" cy="2876550"/>
          </a:xfrm>
          <a:prstGeom prst="line">
            <a:avLst/>
          </a:prstGeom>
          <a:ln w="9525" cap="flat">
            <a:solidFill>
              <a:srgbClr val="E6E8F2"/>
            </a:solidFill>
          </a:ln>
        </p:spPr>
      </p:cxnSp>
      <p:cxnSp>
        <p:nvCxnSpPr>
          <p:cNvPr id="18" name="Line 18"/>
          <p:cNvCxnSpPr/>
          <p:nvPr/>
        </p:nvCxnSpPr>
        <p:spPr>
          <a:xfrm>
            <a:off x="10755325" y="2439162"/>
            <a:ext cx="0" cy="2876550"/>
          </a:xfrm>
          <a:prstGeom prst="line">
            <a:avLst/>
          </a:prstGeom>
          <a:ln w="9525" cap="flat">
            <a:solidFill>
              <a:srgbClr val="E6E8F2"/>
            </a:solidFill>
          </a:ln>
        </p:spPr>
      </p:cxnSp>
      <p:cxnSp>
        <p:nvCxnSpPr>
          <p:cNvPr id="19" name="Line 19"/>
          <p:cNvCxnSpPr/>
          <p:nvPr/>
        </p:nvCxnSpPr>
        <p:spPr>
          <a:xfrm>
            <a:off x="11073460" y="2439162"/>
            <a:ext cx="0" cy="2876550"/>
          </a:xfrm>
          <a:prstGeom prst="line">
            <a:avLst/>
          </a:prstGeom>
          <a:ln w="9525" cap="flat">
            <a:solidFill>
              <a:srgbClr val="E6E8F2"/>
            </a:solidFill>
          </a:ln>
        </p:spPr>
      </p:cxnSp>
      <p:cxnSp>
        <p:nvCxnSpPr>
          <p:cNvPr id="20" name="Line 20"/>
          <p:cNvCxnSpPr/>
          <p:nvPr/>
        </p:nvCxnSpPr>
        <p:spPr>
          <a:xfrm>
            <a:off x="11391595" y="2439162"/>
            <a:ext cx="0" cy="2876550"/>
          </a:xfrm>
          <a:prstGeom prst="line">
            <a:avLst/>
          </a:prstGeom>
          <a:ln w="9525" cap="flat">
            <a:solidFill>
              <a:srgbClr val="E6E8F2"/>
            </a:solidFill>
          </a:ln>
        </p:spPr>
      </p:cxnSp>
      <p:cxnSp>
        <p:nvCxnSpPr>
          <p:cNvPr id="21" name="Line 21"/>
          <p:cNvCxnSpPr/>
          <p:nvPr/>
        </p:nvCxnSpPr>
        <p:spPr>
          <a:xfrm>
            <a:off x="8210245" y="5315712"/>
            <a:ext cx="3181350" cy="0"/>
          </a:xfrm>
          <a:prstGeom prst="line">
            <a:avLst/>
          </a:prstGeom>
          <a:ln w="9525" cap="flat">
            <a:solidFill>
              <a:srgbClr val="E6E8F2"/>
            </a:solidFill>
          </a:ln>
        </p:spPr>
      </p:cxnSp>
      <p:cxnSp>
        <p:nvCxnSpPr>
          <p:cNvPr id="22" name="Line 22"/>
          <p:cNvCxnSpPr/>
          <p:nvPr/>
        </p:nvCxnSpPr>
        <p:spPr>
          <a:xfrm>
            <a:off x="8210245" y="4956143"/>
            <a:ext cx="3181350" cy="0"/>
          </a:xfrm>
          <a:prstGeom prst="line">
            <a:avLst/>
          </a:prstGeom>
          <a:ln w="9525" cap="flat">
            <a:solidFill>
              <a:srgbClr val="E6E8F2"/>
            </a:solidFill>
          </a:ln>
        </p:spPr>
      </p:cxnSp>
      <p:cxnSp>
        <p:nvCxnSpPr>
          <p:cNvPr id="23" name="Line 23"/>
          <p:cNvCxnSpPr/>
          <p:nvPr/>
        </p:nvCxnSpPr>
        <p:spPr>
          <a:xfrm>
            <a:off x="8210245" y="4596574"/>
            <a:ext cx="3181350" cy="0"/>
          </a:xfrm>
          <a:prstGeom prst="line">
            <a:avLst/>
          </a:prstGeom>
          <a:ln w="9525" cap="flat">
            <a:solidFill>
              <a:srgbClr val="E6E8F2"/>
            </a:solidFill>
          </a:ln>
        </p:spPr>
      </p:cxnSp>
      <p:cxnSp>
        <p:nvCxnSpPr>
          <p:cNvPr id="24" name="Line 24"/>
          <p:cNvCxnSpPr/>
          <p:nvPr/>
        </p:nvCxnSpPr>
        <p:spPr>
          <a:xfrm>
            <a:off x="8210245" y="4237006"/>
            <a:ext cx="3181350" cy="0"/>
          </a:xfrm>
          <a:prstGeom prst="line">
            <a:avLst/>
          </a:prstGeom>
          <a:ln w="9525" cap="flat">
            <a:solidFill>
              <a:srgbClr val="E6E8F2"/>
            </a:solidFill>
          </a:ln>
        </p:spPr>
      </p:cxnSp>
      <p:cxnSp>
        <p:nvCxnSpPr>
          <p:cNvPr id="25" name="Line 25"/>
          <p:cNvCxnSpPr/>
          <p:nvPr/>
        </p:nvCxnSpPr>
        <p:spPr>
          <a:xfrm>
            <a:off x="8210245" y="3877437"/>
            <a:ext cx="3181350" cy="0"/>
          </a:xfrm>
          <a:prstGeom prst="line">
            <a:avLst/>
          </a:prstGeom>
          <a:ln w="9525" cap="flat">
            <a:solidFill>
              <a:srgbClr val="E6E8F2"/>
            </a:solidFill>
          </a:ln>
        </p:spPr>
      </p:cxnSp>
      <p:cxnSp>
        <p:nvCxnSpPr>
          <p:cNvPr id="26" name="Line 26"/>
          <p:cNvCxnSpPr/>
          <p:nvPr/>
        </p:nvCxnSpPr>
        <p:spPr>
          <a:xfrm>
            <a:off x="8210245" y="3517868"/>
            <a:ext cx="3181350" cy="0"/>
          </a:xfrm>
          <a:prstGeom prst="line">
            <a:avLst/>
          </a:prstGeom>
          <a:ln w="9525" cap="flat">
            <a:solidFill>
              <a:srgbClr val="E6E8F2"/>
            </a:solidFill>
          </a:ln>
        </p:spPr>
      </p:cxnSp>
      <p:cxnSp>
        <p:nvCxnSpPr>
          <p:cNvPr id="27" name="Line 27"/>
          <p:cNvCxnSpPr/>
          <p:nvPr/>
        </p:nvCxnSpPr>
        <p:spPr>
          <a:xfrm>
            <a:off x="8210245" y="3158300"/>
            <a:ext cx="3181350" cy="0"/>
          </a:xfrm>
          <a:prstGeom prst="line">
            <a:avLst/>
          </a:prstGeom>
          <a:ln w="9525" cap="flat">
            <a:solidFill>
              <a:srgbClr val="E6E8F2"/>
            </a:solidFill>
          </a:ln>
        </p:spPr>
      </p:cxnSp>
      <p:cxnSp>
        <p:nvCxnSpPr>
          <p:cNvPr id="28" name="Line 28"/>
          <p:cNvCxnSpPr/>
          <p:nvPr/>
        </p:nvCxnSpPr>
        <p:spPr>
          <a:xfrm>
            <a:off x="8210245" y="2798731"/>
            <a:ext cx="3181350" cy="0"/>
          </a:xfrm>
          <a:prstGeom prst="line">
            <a:avLst/>
          </a:prstGeom>
          <a:ln w="9525" cap="flat">
            <a:solidFill>
              <a:srgbClr val="E6E8F2"/>
            </a:solidFill>
          </a:ln>
        </p:spPr>
      </p:cxnSp>
      <p:cxnSp>
        <p:nvCxnSpPr>
          <p:cNvPr id="29" name="Line 29"/>
          <p:cNvCxnSpPr/>
          <p:nvPr/>
        </p:nvCxnSpPr>
        <p:spPr>
          <a:xfrm>
            <a:off x="8210245" y="2439162"/>
            <a:ext cx="3181350" cy="0"/>
          </a:xfrm>
          <a:prstGeom prst="line">
            <a:avLst/>
          </a:prstGeom>
          <a:ln w="9525" cap="flat">
            <a:solidFill>
              <a:srgbClr val="E6E8F2"/>
            </a:solidFill>
          </a:ln>
        </p:spPr>
      </p:cxnSp>
      <p:cxnSp>
        <p:nvCxnSpPr>
          <p:cNvPr id="30" name="Line 30"/>
          <p:cNvCxnSpPr/>
          <p:nvPr/>
        </p:nvCxnSpPr>
        <p:spPr>
          <a:xfrm>
            <a:off x="8210245" y="2439162"/>
            <a:ext cx="0" cy="2876550"/>
          </a:xfrm>
          <a:prstGeom prst="line">
            <a:avLst/>
          </a:prstGeom>
          <a:ln w="19050" cap="flat">
            <a:solidFill>
              <a:srgbClr val="5F6272"/>
            </a:solidFill>
          </a:ln>
        </p:spPr>
      </p:cxnSp>
      <p:cxnSp>
        <p:nvCxnSpPr>
          <p:cNvPr id="31" name="Line 31"/>
          <p:cNvCxnSpPr/>
          <p:nvPr/>
        </p:nvCxnSpPr>
        <p:spPr>
          <a:xfrm>
            <a:off x="8210245" y="5315712"/>
            <a:ext cx="3181350" cy="0"/>
          </a:xfrm>
          <a:prstGeom prst="line">
            <a:avLst/>
          </a:prstGeom>
          <a:ln w="19050" cap="flat">
            <a:solidFill>
              <a:srgbClr val="5F6272"/>
            </a:solidFill>
          </a:ln>
        </p:spPr>
      </p:cxnSp>
      <p:sp>
        <p:nvSpPr>
          <p:cNvPr id="32" name="Shape 32"/>
          <p:cNvSpPr txBox="1"/>
          <p:nvPr/>
        </p:nvSpPr>
        <p:spPr>
          <a:xfrm>
            <a:off x="793592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3" name="Shape 33"/>
          <p:cNvSpPr txBox="1"/>
          <p:nvPr/>
        </p:nvSpPr>
        <p:spPr>
          <a:xfrm>
            <a:off x="825406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4" name="Shape 34"/>
          <p:cNvSpPr txBox="1"/>
          <p:nvPr/>
        </p:nvSpPr>
        <p:spPr>
          <a:xfrm>
            <a:off x="857219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5" name="Shape 35"/>
          <p:cNvSpPr txBox="1"/>
          <p:nvPr/>
        </p:nvSpPr>
        <p:spPr>
          <a:xfrm>
            <a:off x="889033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6" name="Shape 36"/>
          <p:cNvSpPr txBox="1"/>
          <p:nvPr/>
        </p:nvSpPr>
        <p:spPr>
          <a:xfrm>
            <a:off x="920846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7" name="Shape 37"/>
          <p:cNvSpPr txBox="1"/>
          <p:nvPr/>
        </p:nvSpPr>
        <p:spPr>
          <a:xfrm>
            <a:off x="952660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8" name="Shape 38"/>
          <p:cNvSpPr txBox="1"/>
          <p:nvPr/>
        </p:nvSpPr>
        <p:spPr>
          <a:xfrm>
            <a:off x="984473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9" name="Shape 39"/>
          <p:cNvSpPr txBox="1"/>
          <p:nvPr/>
        </p:nvSpPr>
        <p:spPr>
          <a:xfrm>
            <a:off x="1016287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40" name="Shape 40"/>
          <p:cNvSpPr txBox="1"/>
          <p:nvPr/>
        </p:nvSpPr>
        <p:spPr>
          <a:xfrm>
            <a:off x="1048100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1" name="Shape 41"/>
          <p:cNvSpPr txBox="1"/>
          <p:nvPr/>
        </p:nvSpPr>
        <p:spPr>
          <a:xfrm>
            <a:off x="1079914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9</a:t>
            </a:r>
            <a:endParaRPr lang="en-US" sz="975" dirty="0"/>
          </a:p>
        </p:txBody>
      </p:sp>
      <p:sp>
        <p:nvSpPr>
          <p:cNvPr id="42" name="Shape 42"/>
          <p:cNvSpPr txBox="1"/>
          <p:nvPr/>
        </p:nvSpPr>
        <p:spPr>
          <a:xfrm>
            <a:off x="1111727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3" name="Shape 43"/>
          <p:cNvSpPr txBox="1"/>
          <p:nvPr/>
        </p:nvSpPr>
        <p:spPr>
          <a:xfrm>
            <a:off x="7643317" y="52242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4" name="Shape 44"/>
          <p:cNvSpPr txBox="1"/>
          <p:nvPr/>
        </p:nvSpPr>
        <p:spPr>
          <a:xfrm>
            <a:off x="7643317" y="48647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45" name="Shape 45"/>
          <p:cNvSpPr txBox="1"/>
          <p:nvPr/>
        </p:nvSpPr>
        <p:spPr>
          <a:xfrm>
            <a:off x="7643317" y="45051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46" name="Shape 46"/>
          <p:cNvSpPr txBox="1"/>
          <p:nvPr/>
        </p:nvSpPr>
        <p:spPr>
          <a:xfrm>
            <a:off x="7643317" y="4145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47" name="Shape 47"/>
          <p:cNvSpPr txBox="1"/>
          <p:nvPr/>
        </p:nvSpPr>
        <p:spPr>
          <a:xfrm>
            <a:off x="7643317" y="378599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48" name="Shape 48"/>
          <p:cNvSpPr txBox="1"/>
          <p:nvPr/>
        </p:nvSpPr>
        <p:spPr>
          <a:xfrm>
            <a:off x="7643317" y="34264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49" name="Shape 49"/>
          <p:cNvSpPr txBox="1"/>
          <p:nvPr/>
        </p:nvSpPr>
        <p:spPr>
          <a:xfrm>
            <a:off x="7643317" y="30668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0" name="Shape 50"/>
          <p:cNvSpPr txBox="1"/>
          <p:nvPr/>
        </p:nvSpPr>
        <p:spPr>
          <a:xfrm>
            <a:off x="7643317" y="270729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70</a:t>
            </a:r>
            <a:endParaRPr lang="en-US" sz="975" dirty="0"/>
          </a:p>
        </p:txBody>
      </p:sp>
      <p:sp>
        <p:nvSpPr>
          <p:cNvPr id="51" name="Shape 51"/>
          <p:cNvSpPr txBox="1"/>
          <p:nvPr/>
        </p:nvSpPr>
        <p:spPr>
          <a:xfrm>
            <a:off x="7643317" y="2347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2" name="Shape 52"/>
          <p:cNvSpPr/>
          <p:nvPr/>
        </p:nvSpPr>
        <p:spPr>
          <a:xfrm>
            <a:off x="8157858" y="454418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3" name="Shape 53"/>
          <p:cNvSpPr txBox="1"/>
          <p:nvPr/>
        </p:nvSpPr>
        <p:spPr>
          <a:xfrm>
            <a:off x="8295970" y="434892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(0, 20)</a:t>
            </a:r>
            <a:endParaRPr lang="en-US" sz="1125" dirty="0"/>
          </a:p>
        </p:txBody>
      </p:sp>
      <p:sp>
        <p:nvSpPr>
          <p:cNvPr id="54" name="Shape 54"/>
          <p:cNvSpPr/>
          <p:nvPr/>
        </p:nvSpPr>
        <p:spPr>
          <a:xfrm>
            <a:off x="8794128" y="418461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p:nvPr/>
        </p:nvSpPr>
        <p:spPr>
          <a:xfrm>
            <a:off x="9430398" y="382504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6" name="Line 56"/>
          <p:cNvCxnSpPr/>
          <p:nvPr/>
        </p:nvCxnSpPr>
        <p:spPr>
          <a:xfrm flipV="1">
            <a:off x="8210245" y="2798731"/>
            <a:ext cx="3181350" cy="1797844"/>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500"/>
                                        <p:tgtEl>
                                          <p:spTgt spid="52"/>
                                        </p:tgtEl>
                                      </p:cBhvr>
                                    </p:animEffect>
                                    <p:anim calcmode="lin" valueType="num">
                                      <p:cBhvr>
                                        <p:cTn id="33" dur="500" fill="hold"/>
                                        <p:tgtEl>
                                          <p:spTgt spid="52"/>
                                        </p:tgtEl>
                                        <p:attrNameLst>
                                          <p:attrName>ppt_w</p:attrName>
                                        </p:attrNameLst>
                                      </p:cBhvr>
                                      <p:tavLst>
                                        <p:tav tm="0">
                                          <p:val>
                                            <p:fltVal val="0"/>
                                          </p:val>
                                        </p:tav>
                                        <p:tav tm="100000">
                                          <p:val>
                                            <p:strVal val="#ppt_w"/>
                                          </p:val>
                                        </p:tav>
                                      </p:tavLst>
                                    </p:anim>
                                    <p:anim calcmode="lin" valueType="num">
                                      <p:cBhvr>
                                        <p:cTn id="34" dur="500" fill="hold"/>
                                        <p:tgtEl>
                                          <p:spTgt spid="52"/>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anim calcmode="lin" valueType="num">
                                      <p:cBhvr>
                                        <p:cTn id="38" dur="500" fill="hold"/>
                                        <p:tgtEl>
                                          <p:spTgt spid="53"/>
                                        </p:tgtEl>
                                        <p:attrNameLst>
                                          <p:attrName>ppt_w</p:attrName>
                                        </p:attrNameLst>
                                      </p:cBhvr>
                                      <p:tavLst>
                                        <p:tav tm="0">
                                          <p:val>
                                            <p:fltVal val="0"/>
                                          </p:val>
                                        </p:tav>
                                        <p:tav tm="100000">
                                          <p:val>
                                            <p:strVal val="#ppt_w"/>
                                          </p:val>
                                        </p:tav>
                                      </p:tavLst>
                                    </p:anim>
                                    <p:anim calcmode="lin" valueType="num">
                                      <p:cBhvr>
                                        <p:cTn id="39"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47" presetID="53" presetClass="entr" presetSubtype="16" fill="hold" nodeType="clickEffect">
                                  <p:stCondLst>
                                    <p:cond delay="0"/>
                                  </p:stCondLst>
                                  <p:childTnLst>
                                    <p:set>
                                      <p:cBhvr>
                                        <p:cTn id="43" dur="1" fill="hold">
                                          <p:stCondLst>
                                            <p:cond delay="0"/>
                                          </p:stCondLst>
                                        </p:cTn>
                                        <p:tgtEl>
                                          <p:spTgt spid="54"/>
                                        </p:tgtEl>
                                        <p:attrNameLst>
                                          <p:attrName>style.visibility</p:attrName>
                                        </p:attrNameLst>
                                      </p:cBhvr>
                                      <p:to>
                                        <p:strVal val="visible"/>
                                      </p:to>
                                    </p:set>
                                    <p:animEffect transition="in" filter="fade">
                                      <p:cBhvr>
                                        <p:cTn id="44" dur="500"/>
                                        <p:tgtEl>
                                          <p:spTgt spid="54"/>
                                        </p:tgtEl>
                                      </p:cBhvr>
                                    </p:animEffect>
                                    <p:anim calcmode="lin" valueType="num">
                                      <p:cBhvr>
                                        <p:cTn id="45" dur="500" fill="hold"/>
                                        <p:tgtEl>
                                          <p:spTgt spid="54"/>
                                        </p:tgtEl>
                                        <p:attrNameLst>
                                          <p:attrName>ppt_w</p:attrName>
                                        </p:attrNameLst>
                                      </p:cBhvr>
                                      <p:tavLst>
                                        <p:tav tm="0">
                                          <p:val>
                                            <p:fltVal val="0"/>
                                          </p:val>
                                        </p:tav>
                                        <p:tav tm="100000">
                                          <p:val>
                                            <p:strVal val="#ppt_w"/>
                                          </p:val>
                                        </p:tav>
                                      </p:tavLst>
                                    </p:anim>
                                    <p:anim calcmode="lin" valueType="num">
                                      <p:cBhvr>
                                        <p:cTn id="46" dur="500" fill="hold"/>
                                        <p:tgtEl>
                                          <p:spTgt spid="54"/>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55"/>
                                        </p:tgtEl>
                                        <p:attrNameLst>
                                          <p:attrName>style.visibility</p:attrName>
                                        </p:attrNameLst>
                                      </p:cBhvr>
                                      <p:to>
                                        <p:strVal val="visible"/>
                                      </p:to>
                                    </p:set>
                                    <p:animEffect transition="in" filter="fade">
                                      <p:cBhvr>
                                        <p:cTn id="51" dur="500"/>
                                        <p:tgtEl>
                                          <p:spTgt spid="55"/>
                                        </p:tgtEl>
                                      </p:cBhvr>
                                    </p:animEffect>
                                    <p:anim calcmode="lin" valueType="num">
                                      <p:cBhvr>
                                        <p:cTn id="52" dur="500" fill="hold"/>
                                        <p:tgtEl>
                                          <p:spTgt spid="55"/>
                                        </p:tgtEl>
                                        <p:attrNameLst>
                                          <p:attrName>ppt_w</p:attrName>
                                        </p:attrNameLst>
                                      </p:cBhvr>
                                      <p:tavLst>
                                        <p:tav tm="0">
                                          <p:val>
                                            <p:fltVal val="0"/>
                                          </p:val>
                                        </p:tav>
                                        <p:tav tm="100000">
                                          <p:val>
                                            <p:strVal val="#ppt_w"/>
                                          </p:val>
                                        </p:tav>
                                      </p:tavLst>
                                    </p:anim>
                                    <p:anim calcmode="lin" valueType="num">
                                      <p:cBhvr>
                                        <p:cTn id="53"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59" presetID="22" presetClass="entr" presetSubtype="8" fill="hold" nodeType="click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wipe(left)">
                                      <p:cBhvr>
                                        <p:cTn id="58" dur="7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Question 3 · SE pp. 233–234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Advantages and disadvantages of each form</a:t>
            </a:r>
            <a:endParaRPr lang="en-US" sz="3450" dirty="0"/>
          </a:p>
        </p:txBody>
      </p:sp>
      <p:sp>
        <p:nvSpPr>
          <p:cNvPr id="4" name="Shape 4"/>
          <p:cNvSpPr txBox="1"/>
          <p:nvPr/>
        </p:nvSpPr>
        <p:spPr>
          <a:xfrm>
            <a:off x="685800" y="1618488"/>
            <a:ext cx="2164019"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Form</a:t>
            </a:r>
            <a:endParaRPr lang="en-US" sz="1950" dirty="0"/>
          </a:p>
        </p:txBody>
      </p:sp>
      <p:sp>
        <p:nvSpPr>
          <p:cNvPr id="5" name="Shape 5"/>
          <p:cNvSpPr txBox="1"/>
          <p:nvPr/>
        </p:nvSpPr>
        <p:spPr>
          <a:xfrm>
            <a:off x="2849819"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Advantages</a:t>
            </a:r>
            <a:endParaRPr lang="en-US" sz="1950" dirty="0"/>
          </a:p>
        </p:txBody>
      </p:sp>
      <p:sp>
        <p:nvSpPr>
          <p:cNvPr id="6" name="Shape 6"/>
          <p:cNvSpPr txBox="1"/>
          <p:nvPr/>
        </p:nvSpPr>
        <p:spPr>
          <a:xfrm>
            <a:off x="7177857"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Disadvantages</a:t>
            </a:r>
            <a:endParaRPr lang="en-US" sz="1950" dirty="0"/>
          </a:p>
        </p:txBody>
      </p:sp>
      <p:cxnSp>
        <p:nvCxnSpPr>
          <p:cNvPr id="7" name="Line 7"/>
          <p:cNvCxnSpPr/>
          <p:nvPr/>
        </p:nvCxnSpPr>
        <p:spPr>
          <a:xfrm>
            <a:off x="685800" y="2116836"/>
            <a:ext cx="10820095" cy="0"/>
          </a:xfrm>
          <a:prstGeom prst="line">
            <a:avLst/>
          </a:prstGeom>
          <a:ln w="9525" cap="flat">
            <a:solidFill>
              <a:srgbClr val="E3E4EC"/>
            </a:solidFill>
          </a:ln>
        </p:spPr>
      </p:cxnSp>
      <p:sp>
        <p:nvSpPr>
          <p:cNvPr id="8" name="Shape 8"/>
          <p:cNvSpPr txBox="1"/>
          <p:nvPr/>
        </p:nvSpPr>
        <p:spPr>
          <a:xfrm>
            <a:off x="685800" y="2116836"/>
            <a:ext cx="2164019" cy="129844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Slope-intercept</a:t>
            </a:r>
            <a:br>
              <a:rPr lang="en-US" sz="1800" dirty="0">
                <a:solidFill>
                  <a:srgbClr val="16171D"/>
                </a:solidFill>
                <a:latin typeface="Segoe UI"/>
                <a:cs typeface="Segoe UI"/>
              </a:rPr>
            </a:b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mx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b</a:t>
            </a:r>
            <a:endParaRPr lang="en-US" sz="1800" dirty="0"/>
          </a:p>
        </p:txBody>
      </p:sp>
      <p:sp>
        <p:nvSpPr>
          <p:cNvPr id="9" name="Shape 9"/>
          <p:cNvSpPr txBox="1"/>
          <p:nvPr/>
        </p:nvSpPr>
        <p:spPr>
          <a:xfrm>
            <a:off x="2849819" y="2116836"/>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Shows the slope and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 Easy to write from a starting value and a rate. Graph from the intercept and slope.</a:t>
            </a:r>
            <a:endParaRPr lang="en-US" sz="1800" dirty="0"/>
          </a:p>
        </p:txBody>
      </p:sp>
      <p:sp>
        <p:nvSpPr>
          <p:cNvPr id="10" name="Shape 10"/>
          <p:cNvSpPr txBox="1"/>
          <p:nvPr/>
        </p:nvSpPr>
        <p:spPr>
          <a:xfrm>
            <a:off x="7177857" y="2116836"/>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Less helpful if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 doesn't make sense or is off the part of the graph you need.</a:t>
            </a:r>
            <a:endParaRPr lang="en-US" sz="1800" dirty="0"/>
          </a:p>
        </p:txBody>
      </p:sp>
      <p:cxnSp>
        <p:nvCxnSpPr>
          <p:cNvPr id="11" name="Line 11"/>
          <p:cNvCxnSpPr/>
          <p:nvPr/>
        </p:nvCxnSpPr>
        <p:spPr>
          <a:xfrm>
            <a:off x="685800" y="3415284"/>
            <a:ext cx="10820095" cy="0"/>
          </a:xfrm>
          <a:prstGeom prst="line">
            <a:avLst/>
          </a:prstGeom>
          <a:ln w="9525" cap="flat">
            <a:solidFill>
              <a:srgbClr val="E3E4EC"/>
            </a:solidFill>
          </a:ln>
        </p:spPr>
      </p:cxnSp>
      <p:sp>
        <p:nvSpPr>
          <p:cNvPr id="12" name="Shape 12"/>
          <p:cNvSpPr txBox="1"/>
          <p:nvPr/>
        </p:nvSpPr>
        <p:spPr>
          <a:xfrm>
            <a:off x="685800" y="3415284"/>
            <a:ext cx="2164019" cy="129844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Point-slope</a:t>
            </a:r>
            <a:br>
              <a:rPr lang="en-US" sz="1800" dirty="0">
                <a:solidFill>
                  <a:srgbClr val="16171D"/>
                </a:solidFill>
                <a:latin typeface="Segoe UI"/>
                <a:cs typeface="Segoe UI"/>
              </a:rPr>
            </a:b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y</a:t>
            </a:r>
            <a:r>
              <a:rPr lang="en-US" sz="1530" dirty="0" baseline="-25000">
                <a:solidFill>
                  <a:srgbClr val="16171D"/>
                </a:solidFill>
                <a:latin typeface="Cambria"/>
                <a:cs typeface="Cambria"/>
              </a:rPr>
              <a:t xml:space="preserve">1</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m</a:t>
            </a:r>
            <a:r>
              <a:rPr lang="en-US" sz="1800" dirty="0">
                <a:solidFill>
                  <a:srgbClr val="16171D"/>
                </a:solidFill>
                <a:latin typeface="Cambria"/>
                <a:cs typeface="Cambria"/>
              </a:rPr>
              <a:t xml:space="preserve">(</a:t>
            </a:r>
            <a:r>
              <a:rPr lang="en-US" sz="1800" dirty="0" i="1">
                <a:solidFill>
                  <a:srgbClr val="16171D"/>
                </a:solidFill>
                <a:latin typeface="Cambria"/>
                <a:cs typeface="Cambria"/>
              </a:rPr>
              <a:t xml:space="preserve">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x</a:t>
            </a:r>
            <a:r>
              <a:rPr lang="en-US" sz="1530" dirty="0" baseline="-25000">
                <a:solidFill>
                  <a:srgbClr val="16171D"/>
                </a:solidFill>
                <a:latin typeface="Cambria"/>
                <a:cs typeface="Cambria"/>
              </a:rPr>
              <a:t xml:space="preserve">1</a:t>
            </a:r>
            <a:r>
              <a:rPr lang="en-US" sz="1800" dirty="0">
                <a:solidFill>
                  <a:srgbClr val="16171D"/>
                </a:solidFill>
                <a:latin typeface="Cambria"/>
                <a:cs typeface="Cambria"/>
              </a:rPr>
              <a:t xml:space="preserve">)</a:t>
            </a:r>
            <a:endParaRPr lang="en-US" sz="1800" dirty="0"/>
          </a:p>
        </p:txBody>
      </p:sp>
      <p:sp>
        <p:nvSpPr>
          <p:cNvPr id="13" name="Shape 13"/>
          <p:cNvSpPr txBox="1"/>
          <p:nvPr/>
        </p:nvSpPr>
        <p:spPr>
          <a:xfrm>
            <a:off x="2849819" y="3415284"/>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Shows the slope and a point. Easy to write from two points or a point and a rate. Graph from the point and slope.</a:t>
            </a:r>
            <a:endParaRPr lang="en-US" sz="1800" dirty="0"/>
          </a:p>
        </p:txBody>
      </p:sp>
      <p:sp>
        <p:nvSpPr>
          <p:cNvPr id="14" name="Shape 14"/>
          <p:cNvSpPr txBox="1"/>
          <p:nvPr/>
        </p:nvSpPr>
        <p:spPr>
          <a:xfrm>
            <a:off x="7177857" y="3415284"/>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Doesn't show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cxnSp>
        <p:nvCxnSpPr>
          <p:cNvPr id="15" name="Line 15"/>
          <p:cNvCxnSpPr/>
          <p:nvPr/>
        </p:nvCxnSpPr>
        <p:spPr>
          <a:xfrm>
            <a:off x="685800" y="4713732"/>
            <a:ext cx="10820095" cy="0"/>
          </a:xfrm>
          <a:prstGeom prst="line">
            <a:avLst/>
          </a:prstGeom>
          <a:ln w="9525" cap="flat">
            <a:solidFill>
              <a:srgbClr val="E3E4EC"/>
            </a:solidFill>
          </a:ln>
        </p:spPr>
      </p:cxnSp>
      <p:sp>
        <p:nvSpPr>
          <p:cNvPr id="16" name="Shape 16"/>
          <p:cNvSpPr txBox="1"/>
          <p:nvPr/>
        </p:nvSpPr>
        <p:spPr>
          <a:xfrm>
            <a:off x="685800" y="4713732"/>
            <a:ext cx="2164019" cy="102412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Standard</a:t>
            </a:r>
            <a:br>
              <a:rPr lang="en-US" sz="1800" dirty="0">
                <a:solidFill>
                  <a:srgbClr val="16171D"/>
                </a:solidFill>
                <a:latin typeface="Segoe UI"/>
                <a:cs typeface="Segoe UI"/>
              </a:rPr>
            </a:br>
            <a:r>
              <a:rPr lang="en-US" sz="1800" dirty="0" i="1">
                <a:solidFill>
                  <a:srgbClr val="16171D"/>
                </a:solidFill>
                <a:latin typeface="Cambria"/>
                <a:cs typeface="Cambria"/>
              </a:rPr>
              <a:t xml:space="preserve">Ax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By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C</a:t>
            </a:r>
            <a:endParaRPr lang="en-US" sz="1800" dirty="0"/>
          </a:p>
        </p:txBody>
      </p:sp>
      <p:sp>
        <p:nvSpPr>
          <p:cNvPr id="17" name="Shape 17"/>
          <p:cNvSpPr txBox="1"/>
          <p:nvPr/>
        </p:nvSpPr>
        <p:spPr>
          <a:xfrm>
            <a:off x="2849819" y="4713732"/>
            <a:ext cx="4328038" cy="102412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Fits contexts where two amounts add to a total. Both intercepts are easy to find and graph.</a:t>
            </a:r>
            <a:endParaRPr lang="en-US" sz="1800" dirty="0"/>
          </a:p>
        </p:txBody>
      </p:sp>
      <p:sp>
        <p:nvSpPr>
          <p:cNvPr id="18" name="Shape 18"/>
          <p:cNvSpPr txBox="1"/>
          <p:nvPr/>
        </p:nvSpPr>
        <p:spPr>
          <a:xfrm>
            <a:off x="7177857" y="4713732"/>
            <a:ext cx="4328038" cy="102412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You have to calculate the slope.</a:t>
            </a:r>
            <a:endParaRPr lang="en-US" sz="1800" dirty="0"/>
          </a:p>
        </p:txBody>
      </p:sp>
      <p:cxnSp>
        <p:nvCxnSpPr>
          <p:cNvPr id="19" name="Line 19"/>
          <p:cNvCxnSpPr/>
          <p:nvPr/>
        </p:nvCxnSpPr>
        <p:spPr>
          <a:xfrm>
            <a:off x="685800" y="5737860"/>
            <a:ext cx="10820095" cy="0"/>
          </a:xfrm>
          <a:prstGeom prst="line">
            <a:avLst/>
          </a:prstGeom>
          <a:ln w="9525" cap="flat">
            <a:solidFill>
              <a:srgbClr val="E3E4EC"/>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anim calcmode="lin" valueType="num">
                                      <p:cBhvr>
                                        <p:cTn id="10" dur="500" fill="hold"/>
                                        <p:tgtEl>
                                          <p:spTgt spid="9"/>
                                        </p:tgtEl>
                                        <p:attrNameLst>
                                          <p:attrName>ppt_x</p:attrName>
                                        </p:attrNameLst>
                                      </p:cBhvr>
                                      <p:tavLst>
                                        <p:tav tm="0">
                                          <p:val>
                                            <p:strVal val="#ppt_x"/>
                                          </p:val>
                                        </p:tav>
                                        <p:tav tm="100000">
                                          <p:val>
                                            <p:strVal val="#ppt_x"/>
                                          </p:val>
                                        </p:tav>
                                      </p:tavLst>
                                    </p:anim>
                                    <p:anim calcmode="lin" valueType="num">
                                      <p:cBhvr>
                                        <p:cTn id="11" dur="5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anim calcmode="lin" valueType="num">
                                      <p:cBhvr>
                                        <p:cTn id="27" dur="500" fill="hold"/>
                                        <p:tgtEl>
                                          <p:spTgt spid="12"/>
                                        </p:tgtEl>
                                        <p:attrNameLst>
                                          <p:attrName>ppt_x</p:attrName>
                                        </p:attrNameLst>
                                      </p:cBhvr>
                                      <p:tavLst>
                                        <p:tav tm="0">
                                          <p:val>
                                            <p:strVal val="#ppt_x"/>
                                          </p:val>
                                        </p:tav>
                                        <p:tav tm="100000">
                                          <p:val>
                                            <p:strVal val="#ppt_x"/>
                                          </p:val>
                                        </p:tav>
                                      </p:tavLst>
                                    </p:anim>
                                    <p:anim calcmode="lin" valueType="num">
                                      <p:cBhvr>
                                        <p:cTn id="28" dur="5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p:cTn id="32" dur="500" fill="hold"/>
                                        <p:tgtEl>
                                          <p:spTgt spid="13"/>
                                        </p:tgtEl>
                                        <p:attrNameLst>
                                          <p:attrName>ppt_x</p:attrName>
                                        </p:attrNameLst>
                                      </p:cBhvr>
                                      <p:tavLst>
                                        <p:tav tm="0">
                                          <p:val>
                                            <p:strVal val="#ppt_x"/>
                                          </p:val>
                                        </p:tav>
                                        <p:tav tm="100000">
                                          <p:val>
                                            <p:strVal val="#ppt_x"/>
                                          </p:val>
                                        </p:tav>
                                      </p:tavLst>
                                    </p:anim>
                                    <p:anim calcmode="lin" valueType="num">
                                      <p:cBhvr>
                                        <p:cTn id="33" dur="500" fill="hold"/>
                                        <p:tgtEl>
                                          <p:spTgt spid="13"/>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anim calcmode="lin" valueType="num">
                                      <p:cBhvr>
                                        <p:cTn id="37" dur="500" fill="hold"/>
                                        <p:tgtEl>
                                          <p:spTgt spid="14"/>
                                        </p:tgtEl>
                                        <p:attrNameLst>
                                          <p:attrName>ppt_x</p:attrName>
                                        </p:attrNameLst>
                                      </p:cBhvr>
                                      <p:tavLst>
                                        <p:tav tm="0">
                                          <p:val>
                                            <p:strVal val="#ppt_x"/>
                                          </p:val>
                                        </p:tav>
                                        <p:tav tm="100000">
                                          <p:val>
                                            <p:strVal val="#ppt_x"/>
                                          </p:val>
                                        </p:tav>
                                      </p:tavLst>
                                    </p:anim>
                                    <p:anim calcmode="lin" valueType="num">
                                      <p:cBhvr>
                                        <p:cTn id="38" dur="500" fill="hold"/>
                                        <p:tgtEl>
                                          <p:spTgt spid="1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anim calcmode="lin" valueType="num">
                                      <p:cBhvr>
                                        <p:cTn id="49" dur="500" fill="hold"/>
                                        <p:tgtEl>
                                          <p:spTgt spid="16"/>
                                        </p:tgtEl>
                                        <p:attrNameLst>
                                          <p:attrName>ppt_x</p:attrName>
                                        </p:attrNameLst>
                                      </p:cBhvr>
                                      <p:tavLst>
                                        <p:tav tm="0">
                                          <p:val>
                                            <p:strVal val="#ppt_x"/>
                                          </p:val>
                                        </p:tav>
                                        <p:tav tm="100000">
                                          <p:val>
                                            <p:strVal val="#ppt_x"/>
                                          </p:val>
                                        </p:tav>
                                      </p:tavLst>
                                    </p:anim>
                                    <p:anim calcmode="lin" valueType="num">
                                      <p:cBhvr>
                                        <p:cTn id="50" dur="500" fill="hold"/>
                                        <p:tgtEl>
                                          <p:spTgt spid="16"/>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anim calcmode="lin" valueType="num">
                                      <p:cBhvr>
                                        <p:cTn id="59" dur="500" fill="hold"/>
                                        <p:tgtEl>
                                          <p:spTgt spid="18"/>
                                        </p:tgtEl>
                                        <p:attrNameLst>
                                          <p:attrName>ppt_x</p:attrName>
                                        </p:attrNameLst>
                                      </p:cBhvr>
                                      <p:tavLst>
                                        <p:tav tm="0">
                                          <p:val>
                                            <p:strVal val="#ppt_x"/>
                                          </p:val>
                                        </p:tav>
                                        <p:tav tm="100000">
                                          <p:val>
                                            <p:strVal val="#ppt_x"/>
                                          </p:val>
                                        </p:tav>
                                      </p:tavLst>
                                    </p:anim>
                                    <p:anim calcmode="lin" valueType="num">
                                      <p:cBhvr>
                                        <p:cTn id="60" dur="500" fill="hold"/>
                                        <p:tgtEl>
                                          <p:spTgt spid="1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anim calcmode="lin" valueType="num">
                                      <p:cBhvr>
                                        <p:cTn id="64" dur="500" fill="hold"/>
                                        <p:tgtEl>
                                          <p:spTgt spid="19"/>
                                        </p:tgtEl>
                                        <p:attrNameLst>
                                          <p:attrName>ppt_x</p:attrName>
                                        </p:attrNameLst>
                                      </p:cBhvr>
                                      <p:tavLst>
                                        <p:tav tm="0">
                                          <p:val>
                                            <p:strVal val="#ppt_x"/>
                                          </p:val>
                                        </p:tav>
                                        <p:tav tm="100000">
                                          <p:val>
                                            <p:strVal val="#ppt_x"/>
                                          </p:val>
                                        </p:tav>
                                      </p:tavLst>
                                    </p:anim>
                                    <p:anim calcmode="lin" valueType="num">
                                      <p:cBhvr>
                                        <p:cTn id="65"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did we learn?</a:t>
            </a:r>
            <a:endParaRPr lang="en-US" sz="3450" dirty="0"/>
          </a:p>
        </p:txBody>
      </p:sp>
      <p:sp>
        <p:nvSpPr>
          <p:cNvPr id="4" name="Shape 4"/>
          <p:cNvSpPr txBox="1"/>
          <p:nvPr/>
        </p:nvSpPr>
        <p:spPr>
          <a:xfrm>
            <a:off x="685800" y="16756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Yes, there's a faster way.</a:t>
            </a:r>
            <a:r>
              <a:rPr lang="en-US" sz="1950" dirty="0">
                <a:solidFill>
                  <a:srgbClr val="16171D"/>
                </a:solidFill>
                <a:latin typeface="Segoe UI"/>
                <a:cs typeface="Segoe UI"/>
              </a:rPr>
              <a:t xml:space="preserve"> You don't need a table; the equation tells you where to start and how to move.</a:t>
            </a:r>
            <a:endParaRPr lang="en-US" sz="1950" dirty="0"/>
          </a:p>
        </p:txBody>
      </p:sp>
      <p:sp>
        <p:nvSpPr>
          <p:cNvPr id="5" name="Shape 5"/>
          <p:cNvSpPr txBox="1"/>
          <p:nvPr/>
        </p:nvSpPr>
        <p:spPr>
          <a:xfrm>
            <a:off x="685800" y="251536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Slope-intercept:</a:t>
            </a:r>
            <a:r>
              <a:rPr lang="en-US" sz="1950" dirty="0">
                <a:solidFill>
                  <a:srgbClr val="16171D"/>
                </a:solidFill>
                <a:latin typeface="Segoe UI"/>
                <a:cs typeface="Segoe UI"/>
              </a:rPr>
              <a:t xml:space="preserve"> plot </a:t>
            </a:r>
            <a:r>
              <a:rPr lang="en-US" sz="1950" dirty="0" b="1">
                <a:solidFill>
                  <a:srgbClr val="3050B8"/>
                </a:solidFill>
                <a:latin typeface="Segoe UI"/>
                <a:cs typeface="Segoe UI"/>
              </a:rPr>
              <a:t xml:space="preserve">(0, </a:t>
            </a:r>
            <a:r>
              <a:rPr lang="en-US" sz="1950" dirty="0" b="1" i="1">
                <a:solidFill>
                  <a:srgbClr val="3050B8"/>
                </a:solidFill>
                <a:latin typeface="Segoe UI"/>
                <a:cs typeface="Segoe UI"/>
              </a:rPr>
              <a:t xml:space="preserve">b</a:t>
            </a:r>
            <a:r>
              <a:rPr lang="en-US" sz="1950" dirty="0" b="1">
                <a:solidFill>
                  <a:srgbClr val="3050B8"/>
                </a:solidFill>
                <a:latin typeface="Segoe UI"/>
                <a:cs typeface="Segoe UI"/>
              </a:rPr>
              <a:t xml:space="preserve">)</a:t>
            </a:r>
            <a:r>
              <a:rPr lang="en-US" sz="1950" dirty="0">
                <a:solidFill>
                  <a:srgbClr val="16171D"/>
                </a:solidFill>
                <a:latin typeface="Segoe UI"/>
                <a:cs typeface="Segoe UI"/>
              </a:rPr>
              <a:t xml:space="preserve">, then count the slope </a:t>
            </a:r>
            <a:r>
              <a:rPr lang="en-US" sz="1950" dirty="0" b="1" i="1">
                <a:solidFill>
                  <a:srgbClr val="C9561F"/>
                </a:solidFill>
                <a:latin typeface="Segoe UI"/>
                <a:cs typeface="Segoe UI"/>
              </a:rPr>
              <a:t xml:space="preserve">m</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305790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Point-slope:</a:t>
            </a:r>
            <a:r>
              <a:rPr lang="en-US" sz="1950" dirty="0">
                <a:solidFill>
                  <a:srgbClr val="16171D"/>
                </a:solidFill>
                <a:latin typeface="Segoe UI"/>
                <a:cs typeface="Segoe UI"/>
              </a:rPr>
              <a:t xml:space="preserve"> plot </a:t>
            </a:r>
            <a:r>
              <a:rPr lang="en-US" sz="1950" dirty="0" b="1">
                <a:solidFill>
                  <a:srgbClr val="3050B8"/>
                </a:solidFill>
                <a:latin typeface="Segoe UI"/>
                <a:cs typeface="Segoe UI"/>
              </a:rPr>
              <a:t xml:space="preserve">(</a:t>
            </a:r>
            <a:r>
              <a:rPr lang="en-US" sz="1950" dirty="0" b="1" i="1">
                <a:solidFill>
                  <a:srgbClr val="3050B8"/>
                </a:solidFill>
                <a:latin typeface="Segoe UI"/>
                <a:cs typeface="Segoe UI"/>
              </a:rPr>
              <a:t xml:space="preserve">x</a:t>
            </a:r>
            <a:r>
              <a:rPr lang="en-US" sz="1658" dirty="0" b="1" baseline="-25000">
                <a:solidFill>
                  <a:srgbClr val="3050B8"/>
                </a:solidFill>
                <a:latin typeface="Segoe UI"/>
                <a:cs typeface="Segoe UI"/>
              </a:rPr>
              <a:t xml:space="preserve">1</a:t>
            </a:r>
            <a:r>
              <a:rPr lang="en-US" sz="1950" dirty="0" b="1">
                <a:solidFill>
                  <a:srgbClr val="3050B8"/>
                </a:solidFill>
                <a:latin typeface="Segoe UI"/>
                <a:cs typeface="Segoe UI"/>
              </a:rPr>
              <a:t xml:space="preserve">, </a:t>
            </a:r>
            <a:r>
              <a:rPr lang="en-US" sz="1950" dirty="0" b="1" i="1">
                <a:solidFill>
                  <a:srgbClr val="3050B8"/>
                </a:solidFill>
                <a:latin typeface="Segoe UI"/>
                <a:cs typeface="Segoe UI"/>
              </a:rPr>
              <a:t xml:space="preserve">y</a:t>
            </a:r>
            <a:r>
              <a:rPr lang="en-US" sz="1658" dirty="0" b="1" baseline="-25000">
                <a:solidFill>
                  <a:srgbClr val="3050B8"/>
                </a:solidFill>
                <a:latin typeface="Segoe UI"/>
                <a:cs typeface="Segoe UI"/>
              </a:rPr>
              <a:t xml:space="preserve">1</a:t>
            </a:r>
            <a:r>
              <a:rPr lang="en-US" sz="1950" dirty="0" b="1">
                <a:solidFill>
                  <a:srgbClr val="3050B8"/>
                </a:solidFill>
                <a:latin typeface="Segoe UI"/>
                <a:cs typeface="Segoe UI"/>
              </a:rPr>
              <a:t xml:space="preserve">)</a:t>
            </a:r>
            <a:r>
              <a:rPr lang="en-US" sz="1950" dirty="0">
                <a:solidFill>
                  <a:srgbClr val="16171D"/>
                </a:solidFill>
                <a:latin typeface="Segoe UI"/>
                <a:cs typeface="Segoe UI"/>
              </a:rPr>
              <a:t xml:space="preserve">, then count the slope </a:t>
            </a:r>
            <a:r>
              <a:rPr lang="en-US" sz="1950" dirty="0" b="1" i="1">
                <a:solidFill>
                  <a:srgbClr val="C9561F"/>
                </a:solidFill>
                <a:latin typeface="Segoe UI"/>
                <a:cs typeface="Segoe UI"/>
              </a:rPr>
              <a:t xml:space="preserve">m</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60045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Standard form:</a:t>
            </a:r>
            <a:r>
              <a:rPr lang="en-US" sz="1950" dirty="0">
                <a:solidFill>
                  <a:srgbClr val="16171D"/>
                </a:solidFill>
                <a:latin typeface="Segoe UI"/>
                <a:cs typeface="Segoe UI"/>
              </a:rPr>
              <a:t xml:space="preserve"> find both intercepts, </a:t>
            </a:r>
            <a:r>
              <a:rPr lang="en-US" sz="1950" dirty="0" b="1">
                <a:solidFill>
                  <a:srgbClr val="3050B8"/>
                </a:solidFill>
                <a:latin typeface="Segoe UI"/>
                <a:cs typeface="Segoe UI"/>
              </a:rPr>
              <a:t xml:space="preserve">(</a:t>
            </a:r>
            <a:r>
              <a:rPr lang="en-US" sz="1950" dirty="0" b="1" i="1">
                <a:solidFill>
                  <a:srgbClr val="3050B8"/>
                </a:solidFill>
                <a:latin typeface="Segoe UI"/>
                <a:cs typeface="Segoe UI"/>
              </a:rPr>
              <a:t xml:space="preserve">C</a:t>
            </a:r>
            <a:r>
              <a:rPr lang="en-US" sz="1950" dirty="0" b="1">
                <a:solidFill>
                  <a:srgbClr val="3050B8"/>
                </a:solidFill>
                <a:latin typeface="Segoe UI"/>
                <a:cs typeface="Segoe UI"/>
              </a:rPr>
              <a:t xml:space="preserve">/</a:t>
            </a:r>
            <a:r>
              <a:rPr lang="en-US" sz="1950" dirty="0" b="1" i="1">
                <a:solidFill>
                  <a:srgbClr val="3050B8"/>
                </a:solidFill>
                <a:latin typeface="Segoe UI"/>
                <a:cs typeface="Segoe UI"/>
              </a:rPr>
              <a:t xml:space="preserve">A</a:t>
            </a:r>
            <a:r>
              <a:rPr lang="en-US" sz="1950" dirty="0" b="1">
                <a:solidFill>
                  <a:srgbClr val="3050B8"/>
                </a:solidFill>
                <a:latin typeface="Segoe UI"/>
                <a:cs typeface="Segoe UI"/>
              </a:rPr>
              <a:t xml:space="preserve">, 0)</a:t>
            </a:r>
            <a:r>
              <a:rPr lang="en-US" sz="1950" dirty="0">
                <a:solidFill>
                  <a:srgbClr val="16171D"/>
                </a:solidFill>
                <a:latin typeface="Segoe UI"/>
                <a:cs typeface="Segoe UI"/>
              </a:rPr>
              <a:t xml:space="preserve"> and </a:t>
            </a:r>
            <a:r>
              <a:rPr lang="en-US" sz="1950" dirty="0" b="1">
                <a:solidFill>
                  <a:srgbClr val="3050B8"/>
                </a:solidFill>
                <a:latin typeface="Segoe UI"/>
                <a:cs typeface="Segoe UI"/>
              </a:rPr>
              <a:t xml:space="preserve">(0, </a:t>
            </a:r>
            <a:r>
              <a:rPr lang="en-US" sz="1950" dirty="0" b="1" i="1">
                <a:solidFill>
                  <a:srgbClr val="3050B8"/>
                </a:solidFill>
                <a:latin typeface="Segoe UI"/>
                <a:cs typeface="Segoe UI"/>
              </a:rPr>
              <a:t xml:space="preserve">C</a:t>
            </a:r>
            <a:r>
              <a:rPr lang="en-US" sz="1950" dirty="0" b="1">
                <a:solidFill>
                  <a:srgbClr val="3050B8"/>
                </a:solidFill>
                <a:latin typeface="Segoe UI"/>
                <a:cs typeface="Segoe UI"/>
              </a:rPr>
              <a:t xml:space="preserve">/</a:t>
            </a:r>
            <a:r>
              <a:rPr lang="en-US" sz="1950" dirty="0" b="1" i="1">
                <a:solidFill>
                  <a:srgbClr val="3050B8"/>
                </a:solidFill>
                <a:latin typeface="Segoe UI"/>
                <a:cs typeface="Segoe UI"/>
              </a:rPr>
              <a:t xml:space="preserve">B</a:t>
            </a:r>
            <a:r>
              <a:rPr lang="en-US" sz="1950" dirty="0" b="1">
                <a:solidFill>
                  <a:srgbClr val="3050B8"/>
                </a:solidFill>
                <a:latin typeface="Segoe UI"/>
                <a:cs typeface="Segoe UI"/>
              </a:rPr>
              <a:t xml:space="preserve">)</a:t>
            </a:r>
            <a:r>
              <a:rPr lang="en-US" sz="1950" dirty="0">
                <a:solidFill>
                  <a:srgbClr val="16171D"/>
                </a:solidFill>
                <a:latin typeface="Segoe UI"/>
                <a:cs typeface="Segoe UI"/>
              </a:rPr>
              <a:t xml:space="preserve">, and connect them.</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Name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and one more point you would plot to graph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220)</a:t>
            </a:r>
            <a:endParaRPr lang="en-US" sz="1950" dirty="0"/>
          </a:p>
        </p:txBody>
      </p:sp>
      <p:sp>
        <p:nvSpPr>
          <p:cNvPr id="5" name="Shape 5"/>
          <p:cNvSpPr txBox="1"/>
          <p:nvPr/>
        </p:nvSpPr>
        <p:spPr>
          <a:xfrm>
            <a:off x="685800" y="2439162"/>
            <a:ext cx="804864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2), then down 3, right 4: (4, −1)</a:t>
            </a:r>
            <a:endParaRPr lang="en-US" sz="2325" dirty="0"/>
          </a:p>
        </p:txBody>
      </p:sp>
      <p:sp>
        <p:nvSpPr>
          <p:cNvPr id="6" name="Shape 6"/>
          <p:cNvSpPr txBox="1"/>
          <p:nvPr/>
        </p:nvSpPr>
        <p:spPr>
          <a:xfrm>
            <a:off x="685800" y="307238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Find the intercepts of </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12</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227)</a:t>
            </a:r>
            <a:endParaRPr lang="en-US" sz="1950" dirty="0"/>
          </a:p>
        </p:txBody>
      </p:sp>
      <p:sp>
        <p:nvSpPr>
          <p:cNvPr id="7" name="Shape 7"/>
          <p:cNvSpPr txBox="1"/>
          <p:nvPr/>
        </p:nvSpPr>
        <p:spPr>
          <a:xfrm>
            <a:off x="685800" y="3538728"/>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 0) and (0, 6)</a:t>
            </a:r>
            <a:endParaRPr lang="en-US" sz="2325" dirty="0"/>
          </a:p>
        </p:txBody>
      </p:sp>
      <p:sp>
        <p:nvSpPr>
          <p:cNvPr id="8" name="Shape 8"/>
          <p:cNvSpPr txBox="1"/>
          <p:nvPr/>
        </p:nvSpPr>
        <p:spPr>
          <a:xfrm>
            <a:off x="685800" y="417195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Find the slope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231)</a:t>
            </a:r>
            <a:endParaRPr lang="en-US" sz="1950" dirty="0"/>
          </a:p>
        </p:txBody>
      </p:sp>
      <p:sp>
        <p:nvSpPr>
          <p:cNvPr id="9" name="Shape 9"/>
          <p:cNvSpPr txBox="1"/>
          <p:nvPr/>
        </p:nvSpPr>
        <p:spPr>
          <a:xfrm>
            <a:off x="685800" y="4638294"/>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2, (0, 7)</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for Lesson 6 · SE p. 237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Determine the slope between each pair of points</a:t>
            </a:r>
            <a:endParaRPr lang="en-US" sz="3450" dirty="0"/>
          </a:p>
        </p:txBody>
      </p:sp>
      <p:sp>
        <p:nvSpPr>
          <p:cNvPr id="4" name="Shape 4"/>
          <p:cNvSpPr txBox="1"/>
          <p:nvPr/>
        </p:nvSpPr>
        <p:spPr>
          <a:xfrm>
            <a:off x="685800" y="1713738"/>
            <a:ext cx="325109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(0, 10) and (3, 12)</a:t>
            </a:r>
            <a:endParaRPr lang="en-US" sz="2325" dirty="0"/>
          </a:p>
        </p:txBody>
      </p:sp>
      <p:sp>
        <p:nvSpPr>
          <p:cNvPr id="5" name="Shape 5"/>
          <p:cNvSpPr txBox="1"/>
          <p:nvPr/>
        </p:nvSpPr>
        <p:spPr>
          <a:xfrm>
            <a:off x="685800" y="2610612"/>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endParaRPr lang="en-US" sz="2325" dirty="0"/>
          </a:p>
        </p:txBody>
      </p:sp>
      <p:sp>
        <p:nvSpPr>
          <p:cNvPr id="6" name="Shape 6"/>
          <p:cNvSpPr txBox="1"/>
          <p:nvPr/>
        </p:nvSpPr>
        <p:spPr>
          <a:xfrm>
            <a:off x="4470298" y="1713738"/>
            <a:ext cx="325109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(−1, 4.5) and (1, −4.5)</a:t>
            </a:r>
            <a:endParaRPr lang="en-US" sz="2325" dirty="0"/>
          </a:p>
        </p:txBody>
      </p:sp>
      <p:sp>
        <p:nvSpPr>
          <p:cNvPr id="7" name="Shape 7"/>
          <p:cNvSpPr txBox="1"/>
          <p:nvPr/>
        </p:nvSpPr>
        <p:spPr>
          <a:xfrm>
            <a:off x="4470298" y="2610612"/>
            <a:ext cx="32510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−9</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 = −4.5</a:t>
            </a:r>
            <a:endParaRPr lang="en-US" sz="2325" dirty="0"/>
          </a:p>
        </p:txBody>
      </p:sp>
      <p:sp>
        <p:nvSpPr>
          <p:cNvPr id="8" name="Shape 8"/>
          <p:cNvSpPr txBox="1"/>
          <p:nvPr/>
        </p:nvSpPr>
        <p:spPr>
          <a:xfrm>
            <a:off x="8254797" y="1713738"/>
            <a:ext cx="325109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(21, 0) and (0, 12)</a:t>
            </a:r>
            <a:endParaRPr lang="en-US" sz="2325" dirty="0"/>
          </a:p>
        </p:txBody>
      </p:sp>
      <p:sp>
        <p:nvSpPr>
          <p:cNvPr id="9" name="Shape 9"/>
          <p:cNvSpPr txBox="1"/>
          <p:nvPr/>
        </p:nvSpPr>
        <p:spPr>
          <a:xfrm>
            <a:off x="8254797" y="2610612"/>
            <a:ext cx="32510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−21</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4</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7</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Using Linear Equation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34</Slides>
  <Notes>34</Notes>
</Properties>
</file>

<file path=docProps/core.xml><?xml version="1.0" encoding="utf-8"?>
<cp:coreProperties xmlns:cp="http://schemas.openxmlformats.org/package/2006/metadata/core-properties" xmlns:dc="http://purl.org/dc/elements/1.1/">
  <dc:title>Using Linear Equations</dc:title>
  <dc:subject>Bluebonnet Algebra I</dc:subject>
</cp:coreProperties>
</file>