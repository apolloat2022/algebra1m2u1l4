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students graph lines straight from their equations, without making a table first. Same color code as Lesson 4: orange always means slope, blue always means a point. The lesson runs three days, and each day opens with bell work while you take attendance (slide 2 for Day 1, slide 14 for Day 2, slide 26 for Day 3). Day 1 covers Getting Started and Activity 5.1. Day 2 covers Activities 5.2 and 5.3. Day 3 covers Activity 5.4 and Talk the Talk. Materials: straightedges. The links under your name open the multiple-choice bell work for each day, the homework, and the quiz (also on the last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reading the slope and y-intercept from slope-intercept form, reading the slope and point from point-slope form (Lesson 4), solving for y (the Lesson 4 Prepare page), and counting rise over run on a grid. Reveal the answers one at a time. Watch #2: y − 4 = −2(x + 1) means the point is (−1, 4), because the sign inside the parentheses flips. Answer key: 1. y = ½x − 3: m = ½, y-intercept (0, −3). 2. y − 4 = −2(x + 1): m = −2, point (−1, 4). 3. 4x + 2y = 10: 2y = −4x + 10, so y = −2x + 5. 4. From (0, 1), up 3 and right 2 lands on (2, 4).</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two forms do you already know? (slope-intercept and point-slope). Standard form is the new one. Have students write the two new key terms in their notes.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how they would graph y = 2x + 1 right now. Most will say "make a table". That's the method this lesson replaces.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work Questions 1–4 before you reveal anything, then share as a class. The point of this is to see what students already do: most will make a table and plot points. Ask: What is the form of each equation? Identify the y-intercept as a point. For #2, how did you get the signs of the point? (x + 1 means x₁ = −1.) For #4, ask: How could you work with this equation to find its slope or points on it? That question sets up Activity 5.3.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5.1, 25–30 minutes in total. Ask a student to read the introduction aloud. Ask: Why is the slope negative? (Tickets go down as more people ask.) Why −2? (A pair per person.) The sign of the number tells you which way to go. Both ratios equal −2; using both lets you plot points on each side of the starting point. Optional, from the teacher guide: before the Worked Example, let students try graphing the context on their own, then connect their graph to the Worked Example.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explicit instruction: go through it as a class and have students restate each step in their own words. Each click plots one point, in the order of steps 1–3, and the fourth click draws the line. Teacher-guide idea: have students highlight (0, 10) and the two slope ratios in different colors, and mark the matching moves on the graph in the same colors. The line crosses the x-axis at (5, 0): after 5 people ask, Douglas is out of tickets.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1–5, then share. Before graphing, ask: Will this line go up or down from left to right? (Think about the direction before you start.) Each click plots one point; the fourth draws the line. Look for students who don't see that 3/2 is the same as −3/−2. Ask: In which direction do you move with a negative numerator? A negative denominator? How is graphing with the slope related to slope triangles?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guide flags this one: students count grid spaces instead of units. On this grid one square up is 10 units, so a rise of 10 is one square. Each click plots one point; the fourth draws the line. Ask: Why does it help to write the number 10 as a fraction, 10/1?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label the axes with the quantities: Number of Lawns Mowed and Total Savings (dollars). The teacher guide's equation is y = 30 + 15x, which is the same thing. Ask: Why is this graph increasing? Use the graph to show how total savings goes up by 15 for every lawn. Discuss the Ask Yourself: a closed circle at (0, 30) because 0 lawns is possible; an arrow to the right because he can keep mowing. Strictly, only whole numbers of lawns make sense; accept either a ray or points, as long as the reasoning is sound. Each click plots one point, then the line.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a slope of −20 because the depth numbers are negative. Ask: Is the diver going up or down? So is the depth increasing or decreasing? The teacher guide writes it as y = −130 + 20x. The graph lives below the x-axis because depth below sea level is negative. Each click plots one point, then the line. Questions 1–3 are a good check of today's content; for more practice graphing from slope-intercept form, assign Skills Practice Set 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"An equation written in slope-intercept form can be graphed by first plotting the y-intercept and then using the slope to locate two additional points by counting from that initial point." To close Day 1, have students reread the Essential Question and read the activity summary to the class. End of Day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do you graph a line from slope-intercept form?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#1 and #2 review Day 1. #3 reviews reading point-slope form, which Activity 5.2 uses to graph. #4 previews the x-intercept from Activity 5.3: on the x-axis, y is 0. Answer key: 1. y = −⅓x + 4: y-intercept (0, 4); down 1, right 3 gives (3, 3); up 1, left 3 gives (−3, 5). 2. y = 5x + 25 (x = weeks, y = dollars saved). 3. y + 2 = 4(x − 1): m = 4, point (1, −2). 4. Set y = 0: 0 = 2x − 6, so x = 3; the point is (3, 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5.2, 15–20 minutes. Have a student read the introduction aloud. Ask: Why does point-slope form make sense here? (We know a point and a rate, not the starting amount.) The text steps come first; then each click plots a point, (3, 50), (4, 55), (2, 45), and the last click draws the line. Other points include (5, 60) and (6, 65). Ask: How is this the same as and different from graphing from slope-intercept form? (Same counting; you start from the given point instead of the y-intercept.) The line hits the y-axis at 35: the band started with $35.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signs: x + 6 means x₁ = −6, and y + 8 means y₁ = −8. In part a, the grid in the book stops just past 14, so going down 3 and right 4 runs off the grid. Use the equivalent ratio, 3/−4: up 3 and left 4, to (10, 8) and (6, 11). The teacher guide flags this as a common sticking point. Each click plots one point, then the line. Question 2 is a good check of point-slope graphing; for more practice, assign Skills Practice Set B.</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different scales on the x-axis (some students may use minutes); our grid counts seconds by 20. Ask: How did you rewrite the rate to use it as the slope? (Lowered means negative: −0.3, which is −3/10 or −6/20.) Each click plots one point, then the line. Extension: in slope-intercept form, y = −0.3x + 1.2, so the ROV started 1.2 m above the water (on the boat) and reached the surface after 4 seconds. Note: the teacher guide's sample answer says x is in minutes, but the problem gives the rate per second, so use seconds.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5.3, 20–25 minutes. Ask a student to read the introduction and definition aloud. Have pairs work Questions 1–5, then share. Ask: Why can't A and B both be 0? (Then there would be no x or y at all.) Why is standard form a good fit here? (The total comes from adding two kinds of tickets.) Why is it hard to tell which quantity is independent?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y-intercept (0, b) is where x is 0, and the x-intercept (x, 0) is where y is 0. After the text steps, each click plots an intercept and the last click connects them (Question 4). Ask: Use the graph to name another pair that makes sense, such as (160, 100). Slope check: 8 student tickets bring in $40, the same as 5 adult tickets. Look for sign errors when students divide the y-intercept by the x-intercept instead of using the slope formula.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6 and 7, then share. Each click fills one blank, row by row. Common misconception: students think the coefficient of x is always the slope. In 5x + 2y = 6 the slope is −5/2, not 5. Clear this up while sharing Question 6. For row 2, start from the slope −3/4 = −A/B to get A = 3, B = 4, then C = 3 · 7/3 = 7. For row 3, the slope 2/3 gives A = 2, B = −3, and the y-intercept −3 gives C = −3 · −3 = 9. Note: the y-intercept of 3x + 4y = 7 is (0, 7/4); the teacher guide prints 4/3, which is a typo. Challenge: derive the Question 7 patterns by substituting 0 for y, then 0 for x.</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student book the axes have no numbers, so students must reason from structure. Ask: What strategies can you use? Because all three lines share a y-intercept, the slope decides: the greatest slope is the steepest line. Show the steps with −A/B for each: a. −3/−12 = 1/4; b. −6/−2 = 3; c. −9/−9 = 1. Question 8 is a good check of standard form; for more practice, assign Skills Practice Set C.</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Why is standard form appropriate here? (Two kinds of things add up to one total.) Look for different units in Question 9: 20 calories per 5 minutes is also 4 calories per minute. With minutes as the variables, the equation is 4x + 10y = 500, with intercepts (125, 0) and (0, 50). Either is correct if the variables are defined. Is it wrong to swap the axes? No, as long as the labels match. Intercepts: 9: 20x = 500 gives x = 25; 50y = 500 gives y = 10. 10: 5x = 270 gives x = 54; 6y = 270 gives y = 45.</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Analyze the Worked Example together as a class. The last step subtracts 2x from both sides so x and y are on the same side. Ask: Why do we need the slope first? Which form would you prefer when you are given two points? 2x − y = −5 is also correct; it's the same equation multiplied by −1.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 11, then share. Part c is where students leave a fraction in the equation, such as −½x + y = 4; send them back to the definition. Equivalent answers are fine (for a, 3x − y = 4). Stamp the learning, from the teacher guide: "The standard form of a linear equation is Ax + By = C, where A, B, and C are integers and A and B are not both zero. An equation in standard form can be graphed by calculating and graphing the intercepts." To close Day 2, have students reread the Essential Question and read the activity summaries to the class. End of Day 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How do you graph from point-slope form? From standard form?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slope is −A/B = −3/(−4) = 3/4; students who forget the sign of B get −3/4. Answer key: 1. y = 0 gives 2x = 20, x = 10; x = 0 gives 5y = 20, y = 4. Intercepts (10, 0) and (0, 4). 2. m = −A/B = −3/(−4) = 3/4. 3. Multiply by 3: 3y = 2x − 3, so −2x + 3y = −3, or 2x − 3y = 3. 4. m = (0 − 6)/(3 − 0) = −2, so y = −2x + 6, and 2x + y = 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5.4, 20–25 minutes. To begin Day 3, have a student read the Essential Question aloud. Have pairs work Questions 1–10, then share. Write the y-intercepts as ordered pairs. For #5 the trap is reading (3, −9) as the y-intercept; that's just a point. Distribute: y + 9 = 6x − 18, so y = 6x − 27. For #2, ask: How did you find the slope? What's another way? (−A/B = −4/6, or solve for y.) Look for students who drop the sign of B when using −A/B.</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#8: Why doesn't this line have a y-intercept? (It's vertical and never crosses the y-axis; HOY VUX from Lesson 4.) For #10, the terms are in a different order: −½ is still the coefficient of x. For #7, −A/B = −4/(−12) = 1/3. Stamp the learning, from the teacher guide: the slope can be read directly in slope-intercept or point-slope form, calculated with −A/B in standard form, and the y-intercept can be found by substituting x = 0 in any form. Activity 5.4 is a good check; for more practice, assign Skills Practice Set 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For each context students write an equation, name the form and why, graph it, and explain the graphing method. Ask: Does 2x + 3y = 36 or 3x + 2y = 36 represent this? Which axis is which? Reasoning will vary; using the intercepts is natural because the equation is in standard form. Only whole-number points make sense (Joey can't get half a question right), such as (3, 10) and (9, 6). Note: the student book also lists a bullet about matching transformed graphs to f(x); it doesn't apply to these questions, so skip it.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y = 5x + 20 or y = 5x − 20 represent this? Is it in slope-intercept or point-slope form? The trap is a slope of 10: the $10 is every two weeks, so the rate is $5 per week. Writing the slope as 10/2 makes the graph easy: up 10, right 2. Also accept point-slope form, such as y − 30 = 5(x − 2).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answers first, then reveal the sample answers from the teacher guide one row at a time. Accept other reasonable answers. Teacher-guide tip for emergent bilingual students: have pairs make a table comparing the three forms, with one example line written in each form, such as y − 5 = 2(x − 4), y = 2x − 3, and 2x − y = 3, and describe the advantages of each.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and answer the Essential Question on the lesson opener page. Stamp the learning, from the teacher guide: "Different forms of equations, such as standard form, slope-intercept form, and point-slope form can be used to represent linear relationships."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A–D. For #1, up 3 and left 4 to (−4, 5) is also right. For #3, y − 1 = 2x + 6, so y = 2x + 7.</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5 Assignment. Prepares students for Lesson 6. Assign it as homework or use it as a warm-up. Work: 1. (12 − 10)/(3 − 0) = 2/3. 2. (−4.5 − 4.5)/(1 − (−1)) = −9/2. 3. (12 − 0)/(0 − 21) = 12/−21 = −4/7. The Lesson 5 Assignment (SE pp. 235–237) is the practice for this lesson.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Assign the homework after Day 2 or Day 3;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lesson5/lesson5-bellwork-day1.html" TargetMode="External"/><Relationship Id="rId4" Type="http://schemas.openxmlformats.org/officeDocument/2006/relationships/hyperlink" Target="https://algebra1m2u1l4.vercel.app/lesson5/lesson5-bellwork-day2.html" TargetMode="External"/><Relationship Id="rId5" Type="http://schemas.openxmlformats.org/officeDocument/2006/relationships/hyperlink" Target="https://algebra1m2u1l4.vercel.app/lesson5/lesson5-bellwork-day3.html" TargetMode="External"/><Relationship Id="rId6" Type="http://schemas.openxmlformats.org/officeDocument/2006/relationships/hyperlink" Target="https://algebra1m2u1l4.vercel.app/lesson5/lesson5-homework.html" TargetMode="External"/><Relationship Id="rId7" Type="http://schemas.openxmlformats.org/officeDocument/2006/relationships/hyperlink" Target="https://algebra1m2u1l4.vercel.app/lesson5/lesson5-quiz.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algebra1m2u1l4.vercel.app/lesson5/lesson5-bellwork-day1.html" TargetMode="External"/><Relationship Id="rId4" Type="http://schemas.openxmlformats.org/officeDocument/2006/relationships/hyperlink" Target="https://algebra1m2u1l4.vercel.app/lesson5/lesson5-bellwork-day2.html" TargetMode="External"/><Relationship Id="rId5" Type="http://schemas.openxmlformats.org/officeDocument/2006/relationships/hyperlink" Target="https://algebra1m2u1l4.vercel.app/lesson5/lesson5-bellwork-day3.html" TargetMode="External"/><Relationship Id="rId6" Type="http://schemas.openxmlformats.org/officeDocument/2006/relationships/hyperlink" Target="https://algebra1m2u1l4.vercel.app/lesson5/lesson5-homework.html" TargetMode="External"/><Relationship Id="rId7" Type="http://schemas.openxmlformats.org/officeDocument/2006/relationships/hyperlink" Target="https://algebra1m2u1l4.vercel.app/lesson5/lesson5-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5 · Student Edition pp. 217–237</a:t>
            </a:r>
            <a:endParaRPr lang="en-US" sz="1200" dirty="0"/>
          </a:p>
        </p:txBody>
      </p:sp>
      <p:sp>
        <p:nvSpPr>
          <p:cNvPr id="3" name="Shape 3"/>
          <p:cNvSpPr txBox="1"/>
          <p:nvPr/>
        </p:nvSpPr>
        <p:spPr>
          <a:xfrm>
            <a:off x="685800" y="9616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Using Linear</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Equations</a:t>
            </a:r>
            <a:endParaRPr lang="en-US" sz="5700" dirty="0"/>
          </a:p>
        </p:txBody>
      </p:sp>
      <p:sp>
        <p:nvSpPr>
          <p:cNvPr id="4" name="Shape 4"/>
          <p:cNvSpPr txBox="1"/>
          <p:nvPr/>
        </p:nvSpPr>
        <p:spPr>
          <a:xfrm>
            <a:off x="685800" y="300151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y</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x</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Ax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By</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C</a:t>
            </a:r>
            <a:endParaRPr lang="en-US" sz="3000" dirty="0"/>
          </a:p>
        </p:txBody>
      </p:sp>
      <p:sp>
        <p:nvSpPr>
          <p:cNvPr id="5" name="Shape 5"/>
          <p:cNvSpPr txBox="1"/>
          <p:nvPr/>
        </p:nvSpPr>
        <p:spPr>
          <a:xfrm>
            <a:off x="685800" y="37421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6" name="Shape 6"/>
          <p:cNvSpPr txBox="1"/>
          <p:nvPr/>
        </p:nvSpPr>
        <p:spPr>
          <a:xfrm>
            <a:off x="685800" y="42428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(0, −3)</a:t>
            </a:r>
            <a:endParaRPr lang="en-US" sz="2325" dirty="0"/>
          </a:p>
        </p:txBody>
      </p:sp>
      <p:sp>
        <p:nvSpPr>
          <p:cNvPr id="6" name="Shape 6"/>
          <p:cNvSpPr txBox="1"/>
          <p:nvPr/>
        </p:nvSpPr>
        <p:spPr>
          <a:xfrm>
            <a:off x="685800"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(−1, 4)</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for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10</a:t>
            </a:r>
            <a:endParaRPr lang="en-US" sz="1950" dirty="0"/>
          </a:p>
        </p:txBody>
      </p:sp>
      <p:sp>
        <p:nvSpPr>
          <p:cNvPr id="9" name="Shape 9"/>
          <p:cNvSpPr txBox="1"/>
          <p:nvPr/>
        </p:nvSpPr>
        <p:spPr>
          <a:xfrm>
            <a:off x="6362548" y="21610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Start at (0, 1). Go </a:t>
            </a:r>
            <a:r>
              <a:rPr lang="en-US" sz="1950" dirty="0" b="1">
                <a:solidFill>
                  <a:srgbClr val="16171D"/>
                </a:solidFill>
                <a:latin typeface="Segoe UI"/>
                <a:cs typeface="Segoe UI"/>
              </a:rPr>
              <a:t xml:space="preserve">up 3</a:t>
            </a:r>
            <a:r>
              <a:rPr lang="en-US" sz="1950" dirty="0">
                <a:solidFill>
                  <a:srgbClr val="16171D"/>
                </a:solidFill>
                <a:latin typeface="Segoe UI"/>
                <a:cs typeface="Segoe UI"/>
              </a:rPr>
              <a:t xml:space="preserve"> and </a:t>
            </a:r>
            <a:r>
              <a:rPr lang="en-US" sz="1950" dirty="0" b="1">
                <a:solidFill>
                  <a:srgbClr val="16171D"/>
                </a:solidFill>
                <a:latin typeface="Segoe UI"/>
                <a:cs typeface="Segoe UI"/>
              </a:rPr>
              <a:t xml:space="preserve">right 2</a:t>
            </a:r>
            <a:r>
              <a:rPr lang="en-US" sz="1950" dirty="0">
                <a:solidFill>
                  <a:srgbClr val="16171D"/>
                </a:solidFill>
                <a:latin typeface="Segoe UI"/>
                <a:cs typeface="Segoe UI"/>
              </a:rPr>
              <a:t xml:space="preserve">. Where do you land?</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(2, 4)</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 · SE p. 217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9468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1. </a:t>
            </a:r>
            <a:r>
              <a:rPr lang="en-US" sz="2025" dirty="0" b="1">
                <a:solidFill>
                  <a:srgbClr val="16171D"/>
                </a:solidFill>
                <a:latin typeface="Segoe UI"/>
                <a:cs typeface="Segoe UI"/>
              </a:rPr>
              <a:t xml:space="preserve">Construct</a:t>
            </a:r>
            <a:r>
              <a:rPr lang="en-US" sz="2025" dirty="0">
                <a:solidFill>
                  <a:srgbClr val="16171D"/>
                </a:solidFill>
                <a:latin typeface="Segoe UI"/>
                <a:cs typeface="Segoe UI"/>
              </a:rPr>
              <a:t xml:space="preserve"> linear equations to model relationships between two quantities.</a:t>
            </a:r>
            <a:endParaRPr lang="en-US" sz="2025" dirty="0"/>
          </a:p>
        </p:txBody>
      </p:sp>
      <p:sp>
        <p:nvSpPr>
          <p:cNvPr id="5" name="Shape 5"/>
          <p:cNvSpPr txBox="1"/>
          <p:nvPr/>
        </p:nvSpPr>
        <p:spPr>
          <a:xfrm>
            <a:off x="685800" y="2210562"/>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2. Graph lines using </a:t>
            </a:r>
            <a:r>
              <a:rPr lang="en-US" sz="2025" dirty="0" b="1">
                <a:solidFill>
                  <a:srgbClr val="16171D"/>
                </a:solidFill>
                <a:latin typeface="Segoe UI"/>
                <a:cs typeface="Segoe UI"/>
              </a:rPr>
              <a:t xml:space="preserve">slope-intercept form</a:t>
            </a:r>
            <a:r>
              <a:rPr lang="en-US" sz="2025" dirty="0">
                <a:solidFill>
                  <a:srgbClr val="16171D"/>
                </a:solidFill>
                <a:latin typeface="Segoe UI"/>
                <a:cs typeface="Segoe UI"/>
              </a:rPr>
              <a:t xml:space="preserve">.</a:t>
            </a:r>
            <a:endParaRPr lang="en-US" sz="2025" dirty="0"/>
          </a:p>
        </p:txBody>
      </p:sp>
      <p:sp>
        <p:nvSpPr>
          <p:cNvPr id="6" name="Shape 6"/>
          <p:cNvSpPr txBox="1"/>
          <p:nvPr/>
        </p:nvSpPr>
        <p:spPr>
          <a:xfrm>
            <a:off x="685800" y="2726436"/>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3. Graph lines using </a:t>
            </a:r>
            <a:r>
              <a:rPr lang="en-US" sz="2025" dirty="0" b="1">
                <a:solidFill>
                  <a:srgbClr val="16171D"/>
                </a:solidFill>
                <a:latin typeface="Segoe UI"/>
                <a:cs typeface="Segoe UI"/>
              </a:rPr>
              <a:t xml:space="preserve">point-slope form</a:t>
            </a:r>
            <a:r>
              <a:rPr lang="en-US" sz="2025" dirty="0">
                <a:solidFill>
                  <a:srgbClr val="16171D"/>
                </a:solidFill>
                <a:latin typeface="Segoe UI"/>
                <a:cs typeface="Segoe UI"/>
              </a:rPr>
              <a:t xml:space="preserve">.</a:t>
            </a:r>
            <a:endParaRPr lang="en-US" sz="2025" dirty="0"/>
          </a:p>
        </p:txBody>
      </p:sp>
      <p:sp>
        <p:nvSpPr>
          <p:cNvPr id="7" name="Shape 7"/>
          <p:cNvSpPr txBox="1"/>
          <p:nvPr/>
        </p:nvSpPr>
        <p:spPr>
          <a:xfrm>
            <a:off x="685800" y="3242310"/>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4. Graph lines using </a:t>
            </a:r>
            <a:r>
              <a:rPr lang="en-US" sz="2025" dirty="0" b="1">
                <a:solidFill>
                  <a:srgbClr val="16171D"/>
                </a:solidFill>
                <a:latin typeface="Segoe UI"/>
                <a:cs typeface="Segoe UI"/>
              </a:rPr>
              <a:t xml:space="preserve">standard form</a:t>
            </a:r>
            <a:r>
              <a:rPr lang="en-US" sz="2025" dirty="0">
                <a:solidFill>
                  <a:srgbClr val="16171D"/>
                </a:solidFill>
                <a:latin typeface="Segoe UI"/>
                <a:cs typeface="Segoe UI"/>
              </a:rPr>
              <a:t xml:space="preserve">.</a:t>
            </a:r>
            <a:endParaRPr lang="en-US" sz="2025" dirty="0"/>
          </a:p>
        </p:txBody>
      </p:sp>
      <p:sp>
        <p:nvSpPr>
          <p:cNvPr id="8" name="Shape 8"/>
          <p:cNvSpPr txBox="1"/>
          <p:nvPr/>
        </p:nvSpPr>
        <p:spPr>
          <a:xfrm>
            <a:off x="685800" y="3758184"/>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5. </a:t>
            </a:r>
            <a:r>
              <a:rPr lang="en-US" sz="2025" dirty="0" b="1">
                <a:solidFill>
                  <a:srgbClr val="16171D"/>
                </a:solidFill>
                <a:latin typeface="Segoe UI"/>
                <a:cs typeface="Segoe UI"/>
              </a:rPr>
              <a:t xml:space="preserve">Convert</a:t>
            </a:r>
            <a:r>
              <a:rPr lang="en-US" sz="2025" dirty="0">
                <a:solidFill>
                  <a:srgbClr val="16171D"/>
                </a:solidFill>
                <a:latin typeface="Segoe UI"/>
                <a:cs typeface="Segoe UI"/>
              </a:rPr>
              <a:t xml:space="preserve"> equations from point-slope or standard form to slope-intercept form.</a:t>
            </a:r>
            <a:endParaRPr lang="en-US" sz="2025" dirty="0"/>
          </a:p>
        </p:txBody>
      </p:sp>
      <p:sp>
        <p:nvSpPr>
          <p:cNvPr id="9" name="Shape 9"/>
          <p:cNvSpPr txBox="1"/>
          <p:nvPr/>
        </p:nvSpPr>
        <p:spPr>
          <a:xfrm>
            <a:off x="685800" y="427405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6. Discuss the </a:t>
            </a:r>
            <a:r>
              <a:rPr lang="en-US" sz="2025" dirty="0" b="1">
                <a:solidFill>
                  <a:srgbClr val="16171D"/>
                </a:solidFill>
                <a:latin typeface="Segoe UI"/>
                <a:cs typeface="Segoe UI"/>
              </a:rPr>
              <a:t xml:space="preserve">advantages and disadvantages</a:t>
            </a:r>
            <a:r>
              <a:rPr lang="en-US" sz="2025" dirty="0">
                <a:solidFill>
                  <a:srgbClr val="16171D"/>
                </a:solidFill>
                <a:latin typeface="Segoe UI"/>
                <a:cs typeface="Segoe UI"/>
              </a:rPr>
              <a:t xml:space="preserve"> of each form.</a:t>
            </a:r>
            <a:endParaRPr lang="en-US" sz="2025" dirty="0"/>
          </a:p>
        </p:txBody>
      </p:sp>
      <p:sp>
        <p:nvSpPr>
          <p:cNvPr id="10" name="Shape 10"/>
          <p:cNvSpPr txBox="1"/>
          <p:nvPr/>
        </p:nvSpPr>
        <p:spPr>
          <a:xfrm>
            <a:off x="685800" y="480898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standard form</a:t>
            </a:r>
            <a:r>
              <a:rPr lang="en-US" sz="1575" dirty="0">
                <a:solidFill>
                  <a:srgbClr val="5F6272"/>
                </a:solidFill>
                <a:latin typeface="Segoe UI"/>
                <a:cs typeface="Segoe UI"/>
              </a:rPr>
              <a:t xml:space="preserve"> · </a:t>
            </a:r>
            <a:r>
              <a:rPr lang="en-US" sz="1575" dirty="0" b="1" i="1">
                <a:solidFill>
                  <a:srgbClr val="5F6272"/>
                </a:solidFill>
                <a:latin typeface="Segoe UI"/>
                <a:cs typeface="Segoe UI"/>
              </a:rPr>
              <a:t xml:space="preserve">x</a:t>
            </a:r>
            <a:r>
              <a:rPr lang="en-US" sz="1575" dirty="0" b="1">
                <a:solidFill>
                  <a:srgbClr val="5F6272"/>
                </a:solidFill>
                <a:latin typeface="Segoe UI"/>
                <a:cs typeface="Segoe UI"/>
              </a:rPr>
              <a:t xml:space="preserve">-intercept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fill="hold"/>
                                        <p:tgtEl>
                                          <p:spTgt spid="10"/>
                                        </p:tgtEl>
                                        <p:attrNameLst>
                                          <p:attrName>ppt_x</p:attrName>
                                        </p:attrNameLst>
                                      </p:cBhvr>
                                      <p:tavLst>
                                        <p:tav tm="0">
                                          <p:val>
                                            <p:strVal val="#ppt_x"/>
                                          </p:val>
                                        </p:tav>
                                        <p:tav tm="100000">
                                          <p:val>
                                            <p:strVal val="#ppt_x"/>
                                          </p:val>
                                        </p:tav>
                                      </p:tavLst>
                                    </p:anim>
                                    <p:anim calcmode="lin" valueType="num">
                                      <p:cBhvr>
                                        <p:cTn id="4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217</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graphed equations using tables of values.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Is there a </a:t>
            </a:r>
            <a:r>
              <a:rPr lang="en-US" sz="2700" dirty="0" b="1">
                <a:solidFill>
                  <a:srgbClr val="16171D"/>
                </a:solidFill>
                <a:latin typeface="Segoe UI"/>
                <a:cs typeface="Segoe UI"/>
              </a:rPr>
              <a:t xml:space="preserve">more efficient</a:t>
            </a:r>
            <a:r>
              <a:rPr lang="en-US" sz="2700" dirty="0">
                <a:solidFill>
                  <a:srgbClr val="16171D"/>
                </a:solidFill>
                <a:latin typeface="Segoe UI"/>
                <a:cs typeface="Segoe UI"/>
              </a:rPr>
              <a:t xml:space="preserve"> method to graphing a linear relationship?</a:t>
            </a:r>
            <a:endParaRPr lang="en-US" sz="2700" dirty="0"/>
          </a:p>
        </p:txBody>
      </p:sp>
      <p:sp>
        <p:nvSpPr>
          <p:cNvPr id="5" name="Shape 5"/>
          <p:cNvSpPr txBox="1"/>
          <p:nvPr/>
        </p:nvSpPr>
        <p:spPr>
          <a:xfrm>
            <a:off x="685800" y="3688842"/>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Can you use the </a:t>
            </a:r>
            <a:r>
              <a:rPr lang="en-US" sz="2700" dirty="0" b="1">
                <a:solidFill>
                  <a:srgbClr val="16171D"/>
                </a:solidFill>
                <a:latin typeface="Segoe UI"/>
                <a:cs typeface="Segoe UI"/>
              </a:rPr>
              <a:t xml:space="preserve">equation</a:t>
            </a:r>
            <a:r>
              <a:rPr lang="en-US" sz="2700" dirty="0">
                <a:solidFill>
                  <a:srgbClr val="16171D"/>
                </a:solidFill>
                <a:latin typeface="Segoe UI"/>
                <a:cs typeface="Segoe UI"/>
              </a:rPr>
              <a:t xml:space="preserve"> of a linear relationship to create a graphical representation?</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Jump In the Line · SE p. 218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you know from each equation?</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Describe the graph. Then explain how you might graph the line from its equation.</a:t>
            </a:r>
            <a:endParaRPr lang="en-US" sz="1575" dirty="0"/>
          </a:p>
        </p:txBody>
      </p:sp>
      <p:sp>
        <p:nvSpPr>
          <p:cNvPr id="7" name="Shape 7"/>
          <p:cNvSpPr txBox="1"/>
          <p:nvPr/>
        </p:nvSpPr>
        <p:spPr>
          <a:xfrm>
            <a:off x="685800"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6" name="Shape 6"/>
          <p:cNvSpPr txBox="1"/>
          <p:nvPr/>
        </p:nvSpPr>
        <p:spPr>
          <a:xfrm>
            <a:off x="895350"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(0, 7)</a:t>
            </a:r>
            <a:r>
              <a:rPr lang="en-US" sz="1575" dirty="0">
                <a:solidFill>
                  <a:srgbClr val="16171D"/>
                </a:solidFill>
                <a:latin typeface="Segoe UI"/>
                <a:cs typeface="Segoe UI"/>
              </a:rPr>
              <a:t xml:space="preserve">. Start at (0, 7), go up 2 and right 3 to (3, 9).</a:t>
            </a:r>
            <a:endParaRPr lang="en-US" sz="1575" dirty="0"/>
          </a:p>
        </p:txBody>
      </p:sp>
      <p:sp>
        <p:nvSpPr>
          <p:cNvPr id="10" name="Shape 10"/>
          <p:cNvSpPr txBox="1"/>
          <p:nvPr/>
        </p:nvSpPr>
        <p:spPr>
          <a:xfrm>
            <a:off x="685800"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a:t>
            </a:r>
            <a:r>
              <a:rPr lang="en-US" sz="2325" dirty="0" b="1">
                <a:solidFill>
                  <a:srgbClr val="C9561F"/>
                </a:solidFill>
                <a:latin typeface="Cambria"/>
                <a:cs typeface="Cambria"/>
              </a:rPr>
              <a:t xml:space="preserve">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895350"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3)</a:t>
            </a:r>
            <a:r>
              <a:rPr lang="en-US" sz="1575" dirty="0">
                <a:solidFill>
                  <a:srgbClr val="16171D"/>
                </a:solidFill>
                <a:latin typeface="Segoe UI"/>
                <a:cs typeface="Segoe UI"/>
              </a:rPr>
              <a:t xml:space="preserve">. Start at (−1, 3), go up 5 and right 1 to (0, 8).</a:t>
            </a:r>
            <a:endParaRPr lang="en-US" sz="1575" dirty="0"/>
          </a:p>
        </p:txBody>
      </p:sp>
      <p:sp>
        <p:nvSpPr>
          <p:cNvPr id="13" name="Shape 13"/>
          <p:cNvSpPr txBox="1"/>
          <p:nvPr/>
        </p:nvSpPr>
        <p:spPr>
          <a:xfrm>
            <a:off x="6191098"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00648"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2" name="Shape 12"/>
          <p:cNvSpPr txBox="1"/>
          <p:nvPr/>
        </p:nvSpPr>
        <p:spPr>
          <a:xfrm>
            <a:off x="6400648"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(−4, 0). The slope is undefined.</a:t>
            </a:r>
            <a:endParaRPr lang="en-US" sz="1575" dirty="0"/>
          </a:p>
        </p:txBody>
      </p:sp>
      <p:sp>
        <p:nvSpPr>
          <p:cNvPr id="16" name="Shape 16"/>
          <p:cNvSpPr txBox="1"/>
          <p:nvPr/>
        </p:nvSpPr>
        <p:spPr>
          <a:xfrm>
            <a:off x="6191098"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6400648"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15" name="Shape 15"/>
          <p:cNvSpPr txBox="1"/>
          <p:nvPr/>
        </p:nvSpPr>
        <p:spPr>
          <a:xfrm>
            <a:off x="6400648"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aren't easy to see. Make a table: (2, 2) and (10, 5) are on the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Using Slope-Intercept Form to Graph a Line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Douglas's concert tickets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Douglas has </a:t>
            </a:r>
            <a:r>
              <a:rPr lang="en-US" sz="1575" dirty="0" b="1">
                <a:solidFill>
                  <a:srgbClr val="16171D"/>
                </a:solidFill>
                <a:latin typeface="Segoe UI"/>
                <a:cs typeface="Segoe UI"/>
              </a:rPr>
              <a:t xml:space="preserve">10 tickets</a:t>
            </a:r>
            <a:r>
              <a:rPr lang="en-US" sz="1575" dirty="0">
                <a:solidFill>
                  <a:srgbClr val="16171D"/>
                </a:solidFill>
                <a:latin typeface="Segoe UI"/>
                <a:cs typeface="Segoe UI"/>
              </a:rPr>
              <a:t xml:space="preserve"> left. He gives a </a:t>
            </a:r>
            <a:r>
              <a:rPr lang="en-US" sz="1575" dirty="0" b="1">
                <a:solidFill>
                  <a:srgbClr val="16171D"/>
                </a:solidFill>
                <a:latin typeface="Segoe UI"/>
                <a:cs typeface="Segoe UI"/>
              </a:rPr>
              <a:t xml:space="preserve">pair</a:t>
            </a:r>
            <a:r>
              <a:rPr lang="en-US" sz="1575" dirty="0">
                <a:solidFill>
                  <a:srgbClr val="16171D"/>
                </a:solidFill>
                <a:latin typeface="Segoe UI"/>
                <a:cs typeface="Segoe UI"/>
              </a:rPr>
              <a:t xml:space="preserve"> of tickets to each person who asks.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people who ask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tickets left.</a:t>
            </a:r>
            <a:endParaRPr lang="en-US" sz="1575" dirty="0"/>
          </a:p>
        </p:txBody>
      </p:sp>
      <p:sp>
        <p:nvSpPr>
          <p:cNvPr id="5" name="Shape 5"/>
          <p:cNvSpPr txBox="1"/>
          <p:nvPr/>
        </p:nvSpPr>
        <p:spPr>
          <a:xfrm>
            <a:off x="685800" y="23248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endParaRPr lang="en-US" sz="2850" dirty="0"/>
          </a:p>
        </p:txBody>
      </p:sp>
      <p:sp>
        <p:nvSpPr>
          <p:cNvPr id="6" name="Shape 6"/>
          <p:cNvSpPr txBox="1"/>
          <p:nvPr/>
        </p:nvSpPr>
        <p:spPr>
          <a:xfrm>
            <a:off x="685800" y="29855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Segoe UI"/>
                <a:cs typeface="Segoe UI"/>
              </a:rPr>
              <a:t xml:space="preserve">(0, 10)</a:t>
            </a:r>
            <a:r>
              <a:rPr lang="en-US" sz="1950" dirty="0">
                <a:solidFill>
                  <a:srgbClr val="16171D"/>
                </a:solidFill>
                <a:latin typeface="Segoe UI"/>
                <a:cs typeface="Segoe UI"/>
              </a:rPr>
              <a:t xml:space="preserve"> first. Then use the slope to count to more points.</a:t>
            </a:r>
            <a:endParaRPr lang="en-US" sz="1950" dirty="0"/>
          </a:p>
        </p:txBody>
      </p:sp>
      <p:sp>
        <p:nvSpPr>
          <p:cNvPr id="7" name="Shape 7"/>
          <p:cNvSpPr txBox="1"/>
          <p:nvPr/>
        </p:nvSpPr>
        <p:spPr>
          <a:xfrm>
            <a:off x="685800" y="350901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is </a:t>
            </a:r>
            <a:r>
              <a:rPr lang="en-US" sz="1950" dirty="0" b="1">
                <a:solidFill>
                  <a:srgbClr val="16171D"/>
                </a:solidFill>
                <a:latin typeface="Segoe UI"/>
                <a:cs typeface="Segoe UI"/>
              </a:rPr>
              <a:t xml:space="preserve">rise over run</a:t>
            </a:r>
            <a:r>
              <a:rPr lang="en-US" sz="1950" dirty="0">
                <a:solidFill>
                  <a:srgbClr val="16171D"/>
                </a:solidFill>
                <a:latin typeface="Segoe UI"/>
                <a:cs typeface="Segoe UI"/>
              </a:rPr>
              <a:t xml:space="preserve">. You can write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−2</a:t>
            </a:r>
            <a:r>
              <a:rPr lang="en-US" sz="1950" dirty="0">
                <a:solidFill>
                  <a:srgbClr val="16171D"/>
                </a:solidFill>
                <a:latin typeface="Segoe UI"/>
                <a:cs typeface="Segoe UI"/>
              </a:rPr>
              <a:t xml:space="preserve"> as two different ratios:</a:t>
            </a:r>
            <a:endParaRPr lang="en-US" sz="1950" dirty="0"/>
          </a:p>
        </p:txBody>
      </p:sp>
      <p:sp>
        <p:nvSpPr>
          <p:cNvPr id="10" name="Shape 10"/>
          <p:cNvSpPr txBox="1"/>
          <p:nvPr/>
        </p:nvSpPr>
        <p:spPr>
          <a:xfrm>
            <a:off x="685800"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9" name="Shape 9"/>
          <p:cNvSpPr txBox="1"/>
          <p:nvPr/>
        </p:nvSpPr>
        <p:spPr>
          <a:xfrm>
            <a:off x="895350"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negative rise, positive run: </a:t>
            </a:r>
            <a:r>
              <a:rPr lang="en-US" sz="1575" dirty="0" b="1">
                <a:solidFill>
                  <a:srgbClr val="16171D"/>
                </a:solidFill>
                <a:latin typeface="Segoe UI"/>
                <a:cs typeface="Segoe UI"/>
              </a:rPr>
              <a:t xml:space="preserve">down 2, right 1</a:t>
            </a:r>
            <a:endParaRPr lang="en-US" sz="1575" dirty="0"/>
          </a:p>
        </p:txBody>
      </p:sp>
      <p:sp>
        <p:nvSpPr>
          <p:cNvPr id="13" name="Shape 13"/>
          <p:cNvSpPr txBox="1"/>
          <p:nvPr/>
        </p:nvSpPr>
        <p:spPr>
          <a:xfrm>
            <a:off x="6229198"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38748"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12" name="Shape 12"/>
          <p:cNvSpPr txBox="1"/>
          <p:nvPr/>
        </p:nvSpPr>
        <p:spPr>
          <a:xfrm>
            <a:off x="6438748"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positive rise, negative run: </a:t>
            </a:r>
            <a:r>
              <a:rPr lang="en-US" sz="1575" dirty="0" b="1">
                <a:solidFill>
                  <a:srgbClr val="16171D"/>
                </a:solidFill>
                <a:latin typeface="Segoe UI"/>
                <a:cs typeface="Segoe UI"/>
              </a:rPr>
              <a:t xml:space="preserve">up 2, left 1</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strVal val="#ppt_x"/>
                                          </p:val>
                                        </p:tav>
                                        <p:tav tm="100000">
                                          <p:val>
                                            <p:strVal val="#ppt_x"/>
                                          </p:val>
                                        </p:tav>
                                      </p:tavLst>
                                    </p:anim>
                                    <p:anim calcmode="lin" valueType="num">
                                      <p:cBhvr>
                                        <p:cTn id="25"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anim calcmode="lin" valueType="num">
                                      <p:cBhvr>
                                        <p:cTn id="41" dur="500" fill="hold"/>
                                        <p:tgtEl>
                                          <p:spTgt spid="13"/>
                                        </p:tgtEl>
                                        <p:attrNameLst>
                                          <p:attrName>ppt_x</p:attrName>
                                        </p:attrNameLst>
                                      </p:cBhvr>
                                      <p:tavLst>
                                        <p:tav tm="0">
                                          <p:val>
                                            <p:strVal val="#ppt_x"/>
                                          </p:val>
                                        </p:tav>
                                        <p:tav tm="100000">
                                          <p:val>
                                            <p:strVal val="#ppt_x"/>
                                          </p:val>
                                        </p:tav>
                                      </p:tavLst>
                                    </p:anim>
                                    <p:anim calcmode="lin" valueType="num">
                                      <p:cBhvr>
                                        <p:cTn id="42"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Worked Example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10</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(0, 10)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down 2 and right 1: </a:t>
            </a:r>
            <a:r>
              <a:rPr lang="en-US" sz="1950" dirty="0">
                <a:solidFill>
                  <a:srgbClr val="16171D"/>
                </a:solidFill>
                <a:latin typeface="Cambria"/>
                <a:cs typeface="Cambria"/>
              </a:rPr>
              <a:t xml:space="preserve">(1, 8)</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up 2 and left 1: </a:t>
            </a:r>
            <a:r>
              <a:rPr lang="en-US" sz="1950" dirty="0">
                <a:solidFill>
                  <a:srgbClr val="16171D"/>
                </a:solidFill>
                <a:latin typeface="Cambria"/>
                <a:cs typeface="Cambria"/>
              </a:rPr>
              <a:t xml:space="preserve">(−1, 12)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074670"/>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Connect the points to form a straight line.</a:t>
            </a:r>
            <a:endParaRPr lang="en-US" sz="1950" dirty="0"/>
          </a:p>
        </p:txBody>
      </p:sp>
      <p:sp>
        <p:nvSpPr>
          <p:cNvPr id="8" name="Shape 8"/>
          <p:cNvSpPr txBox="1"/>
          <p:nvPr/>
        </p:nvSpPr>
        <p:spPr>
          <a:xfrm>
            <a:off x="685800" y="3560064"/>
            <a:ext cx="6743395" cy="69951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A rule of thumb when graphing a line is to plot at least three points.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607914" y="1732788"/>
            <a:ext cx="0" cy="3829050"/>
          </a:xfrm>
          <a:prstGeom prst="line">
            <a:avLst/>
          </a:prstGeom>
          <a:ln w="9525" cap="flat">
            <a:solidFill>
              <a:srgbClr val="E6E8F2"/>
            </a:solidFill>
          </a:ln>
        </p:spPr>
      </p:cxnSp>
      <p:cxnSp>
        <p:nvCxnSpPr>
          <p:cNvPr id="12" name="Line 12"/>
          <p:cNvCxnSpPr/>
          <p:nvPr/>
        </p:nvCxnSpPr>
        <p:spPr>
          <a:xfrm>
            <a:off x="9005583" y="1732788"/>
            <a:ext cx="0" cy="3829050"/>
          </a:xfrm>
          <a:prstGeom prst="line">
            <a:avLst/>
          </a:prstGeom>
          <a:ln w="9525" cap="flat">
            <a:solidFill>
              <a:srgbClr val="E6E8F2"/>
            </a:solidFill>
          </a:ln>
        </p:spPr>
      </p:cxnSp>
      <p:cxnSp>
        <p:nvCxnSpPr>
          <p:cNvPr id="13" name="Line 13"/>
          <p:cNvCxnSpPr/>
          <p:nvPr/>
        </p:nvCxnSpPr>
        <p:spPr>
          <a:xfrm>
            <a:off x="9403251" y="1732788"/>
            <a:ext cx="0" cy="3829050"/>
          </a:xfrm>
          <a:prstGeom prst="line">
            <a:avLst/>
          </a:prstGeom>
          <a:ln w="9525" cap="flat">
            <a:solidFill>
              <a:srgbClr val="E6E8F2"/>
            </a:solidFill>
          </a:ln>
        </p:spPr>
      </p:cxnSp>
      <p:cxnSp>
        <p:nvCxnSpPr>
          <p:cNvPr id="14" name="Line 14"/>
          <p:cNvCxnSpPr/>
          <p:nvPr/>
        </p:nvCxnSpPr>
        <p:spPr>
          <a:xfrm>
            <a:off x="9800920" y="1732788"/>
            <a:ext cx="0" cy="3829050"/>
          </a:xfrm>
          <a:prstGeom prst="line">
            <a:avLst/>
          </a:prstGeom>
          <a:ln w="9525" cap="flat">
            <a:solidFill>
              <a:srgbClr val="E6E8F2"/>
            </a:solidFill>
          </a:ln>
        </p:spPr>
      </p:cxnSp>
      <p:cxnSp>
        <p:nvCxnSpPr>
          <p:cNvPr id="15" name="Line 15"/>
          <p:cNvCxnSpPr/>
          <p:nvPr/>
        </p:nvCxnSpPr>
        <p:spPr>
          <a:xfrm>
            <a:off x="10198589" y="1732788"/>
            <a:ext cx="0" cy="3829050"/>
          </a:xfrm>
          <a:prstGeom prst="line">
            <a:avLst/>
          </a:prstGeom>
          <a:ln w="9525" cap="flat">
            <a:solidFill>
              <a:srgbClr val="E6E8F2"/>
            </a:solidFill>
          </a:ln>
        </p:spPr>
      </p:cxnSp>
      <p:cxnSp>
        <p:nvCxnSpPr>
          <p:cNvPr id="16" name="Line 16"/>
          <p:cNvCxnSpPr/>
          <p:nvPr/>
        </p:nvCxnSpPr>
        <p:spPr>
          <a:xfrm>
            <a:off x="10596258" y="1732788"/>
            <a:ext cx="0" cy="3829050"/>
          </a:xfrm>
          <a:prstGeom prst="line">
            <a:avLst/>
          </a:prstGeom>
          <a:ln w="9525" cap="flat">
            <a:solidFill>
              <a:srgbClr val="E6E8F2"/>
            </a:solidFill>
          </a:ln>
        </p:spPr>
      </p:cxnSp>
      <p:cxnSp>
        <p:nvCxnSpPr>
          <p:cNvPr id="17" name="Line 17"/>
          <p:cNvCxnSpPr/>
          <p:nvPr/>
        </p:nvCxnSpPr>
        <p:spPr>
          <a:xfrm>
            <a:off x="10993926" y="1732788"/>
            <a:ext cx="0" cy="3829050"/>
          </a:xfrm>
          <a:prstGeom prst="line">
            <a:avLst/>
          </a:prstGeom>
          <a:ln w="9525" cap="flat">
            <a:solidFill>
              <a:srgbClr val="E6E8F2"/>
            </a:solidFill>
          </a:ln>
        </p:spPr>
      </p:cxnSp>
      <p:cxnSp>
        <p:nvCxnSpPr>
          <p:cNvPr id="18" name="Line 18"/>
          <p:cNvCxnSpPr/>
          <p:nvPr/>
        </p:nvCxnSpPr>
        <p:spPr>
          <a:xfrm>
            <a:off x="11391595" y="1732788"/>
            <a:ext cx="0" cy="3829050"/>
          </a:xfrm>
          <a:prstGeom prst="line">
            <a:avLst/>
          </a:prstGeom>
          <a:ln w="9525" cap="flat">
            <a:solidFill>
              <a:srgbClr val="E6E8F2"/>
            </a:solidFill>
          </a:ln>
        </p:spPr>
      </p:cxnSp>
      <p:cxnSp>
        <p:nvCxnSpPr>
          <p:cNvPr id="19" name="Line 19"/>
          <p:cNvCxnSpPr/>
          <p:nvPr/>
        </p:nvCxnSpPr>
        <p:spPr>
          <a:xfrm>
            <a:off x="8210245" y="5561838"/>
            <a:ext cx="3181350" cy="0"/>
          </a:xfrm>
          <a:prstGeom prst="line">
            <a:avLst/>
          </a:prstGeom>
          <a:ln w="9525" cap="flat">
            <a:solidFill>
              <a:srgbClr val="E6E8F2"/>
            </a:solidFill>
          </a:ln>
        </p:spPr>
      </p:cxnSp>
      <p:cxnSp>
        <p:nvCxnSpPr>
          <p:cNvPr id="20" name="Line 20"/>
          <p:cNvCxnSpPr/>
          <p:nvPr/>
        </p:nvCxnSpPr>
        <p:spPr>
          <a:xfrm>
            <a:off x="8210245" y="5322522"/>
            <a:ext cx="3181350" cy="0"/>
          </a:xfrm>
          <a:prstGeom prst="line">
            <a:avLst/>
          </a:prstGeom>
          <a:ln w="9525" cap="flat">
            <a:solidFill>
              <a:srgbClr val="E6E8F2"/>
            </a:solidFill>
          </a:ln>
        </p:spPr>
      </p:cxnSp>
      <p:cxnSp>
        <p:nvCxnSpPr>
          <p:cNvPr id="21" name="Line 21"/>
          <p:cNvCxnSpPr/>
          <p:nvPr/>
        </p:nvCxnSpPr>
        <p:spPr>
          <a:xfrm>
            <a:off x="8210245" y="5083207"/>
            <a:ext cx="3181350" cy="0"/>
          </a:xfrm>
          <a:prstGeom prst="line">
            <a:avLst/>
          </a:prstGeom>
          <a:ln w="9525" cap="flat">
            <a:solidFill>
              <a:srgbClr val="E6E8F2"/>
            </a:solidFill>
          </a:ln>
        </p:spPr>
      </p:cxnSp>
      <p:cxnSp>
        <p:nvCxnSpPr>
          <p:cNvPr id="22" name="Line 22"/>
          <p:cNvCxnSpPr/>
          <p:nvPr/>
        </p:nvCxnSpPr>
        <p:spPr>
          <a:xfrm>
            <a:off x="8210245" y="4843891"/>
            <a:ext cx="3181350" cy="0"/>
          </a:xfrm>
          <a:prstGeom prst="line">
            <a:avLst/>
          </a:prstGeom>
          <a:ln w="9525" cap="flat">
            <a:solidFill>
              <a:srgbClr val="E6E8F2"/>
            </a:solidFill>
          </a:ln>
        </p:spPr>
      </p:cxnSp>
      <p:cxnSp>
        <p:nvCxnSpPr>
          <p:cNvPr id="23" name="Line 23"/>
          <p:cNvCxnSpPr/>
          <p:nvPr/>
        </p:nvCxnSpPr>
        <p:spPr>
          <a:xfrm>
            <a:off x="8210245" y="4604576"/>
            <a:ext cx="3181350" cy="0"/>
          </a:xfrm>
          <a:prstGeom prst="line">
            <a:avLst/>
          </a:prstGeom>
          <a:ln w="9525" cap="flat">
            <a:solidFill>
              <a:srgbClr val="E6E8F2"/>
            </a:solidFill>
          </a:ln>
        </p:spPr>
      </p:cxnSp>
      <p:cxnSp>
        <p:nvCxnSpPr>
          <p:cNvPr id="24" name="Line 24"/>
          <p:cNvCxnSpPr/>
          <p:nvPr/>
        </p:nvCxnSpPr>
        <p:spPr>
          <a:xfrm>
            <a:off x="8210245" y="4365260"/>
            <a:ext cx="3181350" cy="0"/>
          </a:xfrm>
          <a:prstGeom prst="line">
            <a:avLst/>
          </a:prstGeom>
          <a:ln w="9525" cap="flat">
            <a:solidFill>
              <a:srgbClr val="E6E8F2"/>
            </a:solidFill>
          </a:ln>
        </p:spPr>
      </p:cxnSp>
      <p:cxnSp>
        <p:nvCxnSpPr>
          <p:cNvPr id="25" name="Line 25"/>
          <p:cNvCxnSpPr/>
          <p:nvPr/>
        </p:nvCxnSpPr>
        <p:spPr>
          <a:xfrm>
            <a:off x="8210245" y="4125944"/>
            <a:ext cx="3181350" cy="0"/>
          </a:xfrm>
          <a:prstGeom prst="line">
            <a:avLst/>
          </a:prstGeom>
          <a:ln w="9525" cap="flat">
            <a:solidFill>
              <a:srgbClr val="E6E8F2"/>
            </a:solidFill>
          </a:ln>
        </p:spPr>
      </p:cxnSp>
      <p:cxnSp>
        <p:nvCxnSpPr>
          <p:cNvPr id="26" name="Line 26"/>
          <p:cNvCxnSpPr/>
          <p:nvPr/>
        </p:nvCxnSpPr>
        <p:spPr>
          <a:xfrm>
            <a:off x="8210245" y="3886629"/>
            <a:ext cx="3181350" cy="0"/>
          </a:xfrm>
          <a:prstGeom prst="line">
            <a:avLst/>
          </a:prstGeom>
          <a:ln w="9525" cap="flat">
            <a:solidFill>
              <a:srgbClr val="E6E8F2"/>
            </a:solidFill>
          </a:ln>
        </p:spPr>
      </p:cxnSp>
      <p:cxnSp>
        <p:nvCxnSpPr>
          <p:cNvPr id="27" name="Line 27"/>
          <p:cNvCxnSpPr/>
          <p:nvPr/>
        </p:nvCxnSpPr>
        <p:spPr>
          <a:xfrm>
            <a:off x="8210245" y="3647313"/>
            <a:ext cx="3181350" cy="0"/>
          </a:xfrm>
          <a:prstGeom prst="line">
            <a:avLst/>
          </a:prstGeom>
          <a:ln w="9525" cap="flat">
            <a:solidFill>
              <a:srgbClr val="E6E8F2"/>
            </a:solidFill>
          </a:ln>
        </p:spPr>
      </p:cxnSp>
      <p:cxnSp>
        <p:nvCxnSpPr>
          <p:cNvPr id="28" name="Line 28"/>
          <p:cNvCxnSpPr/>
          <p:nvPr/>
        </p:nvCxnSpPr>
        <p:spPr>
          <a:xfrm>
            <a:off x="8210245" y="3407997"/>
            <a:ext cx="3181350" cy="0"/>
          </a:xfrm>
          <a:prstGeom prst="line">
            <a:avLst/>
          </a:prstGeom>
          <a:ln w="9525" cap="flat">
            <a:solidFill>
              <a:srgbClr val="E6E8F2"/>
            </a:solidFill>
          </a:ln>
        </p:spPr>
      </p:cxnSp>
      <p:cxnSp>
        <p:nvCxnSpPr>
          <p:cNvPr id="29" name="Line 29"/>
          <p:cNvCxnSpPr/>
          <p:nvPr/>
        </p:nvCxnSpPr>
        <p:spPr>
          <a:xfrm>
            <a:off x="8210245" y="3168682"/>
            <a:ext cx="3181350" cy="0"/>
          </a:xfrm>
          <a:prstGeom prst="line">
            <a:avLst/>
          </a:prstGeom>
          <a:ln w="9525" cap="flat">
            <a:solidFill>
              <a:srgbClr val="E6E8F2"/>
            </a:solidFill>
          </a:ln>
        </p:spPr>
      </p:cxnSp>
      <p:cxnSp>
        <p:nvCxnSpPr>
          <p:cNvPr id="30" name="Line 30"/>
          <p:cNvCxnSpPr/>
          <p:nvPr/>
        </p:nvCxnSpPr>
        <p:spPr>
          <a:xfrm>
            <a:off x="8210245" y="2929366"/>
            <a:ext cx="3181350" cy="0"/>
          </a:xfrm>
          <a:prstGeom prst="line">
            <a:avLst/>
          </a:prstGeom>
          <a:ln w="9525" cap="flat">
            <a:solidFill>
              <a:srgbClr val="E6E8F2"/>
            </a:solidFill>
          </a:ln>
        </p:spPr>
      </p:cxnSp>
      <p:cxnSp>
        <p:nvCxnSpPr>
          <p:cNvPr id="31" name="Line 31"/>
          <p:cNvCxnSpPr/>
          <p:nvPr/>
        </p:nvCxnSpPr>
        <p:spPr>
          <a:xfrm>
            <a:off x="8210245" y="2690050"/>
            <a:ext cx="3181350" cy="0"/>
          </a:xfrm>
          <a:prstGeom prst="line">
            <a:avLst/>
          </a:prstGeom>
          <a:ln w="9525" cap="flat">
            <a:solidFill>
              <a:srgbClr val="E6E8F2"/>
            </a:solidFill>
          </a:ln>
        </p:spPr>
      </p:cxnSp>
      <p:cxnSp>
        <p:nvCxnSpPr>
          <p:cNvPr id="32" name="Line 32"/>
          <p:cNvCxnSpPr/>
          <p:nvPr/>
        </p:nvCxnSpPr>
        <p:spPr>
          <a:xfrm>
            <a:off x="8210245" y="2450735"/>
            <a:ext cx="3181350" cy="0"/>
          </a:xfrm>
          <a:prstGeom prst="line">
            <a:avLst/>
          </a:prstGeom>
          <a:ln w="9525" cap="flat">
            <a:solidFill>
              <a:srgbClr val="E6E8F2"/>
            </a:solidFill>
          </a:ln>
        </p:spPr>
      </p:cxnSp>
      <p:cxnSp>
        <p:nvCxnSpPr>
          <p:cNvPr id="33" name="Line 33"/>
          <p:cNvCxnSpPr/>
          <p:nvPr/>
        </p:nvCxnSpPr>
        <p:spPr>
          <a:xfrm>
            <a:off x="8210245" y="2211419"/>
            <a:ext cx="3181350" cy="0"/>
          </a:xfrm>
          <a:prstGeom prst="line">
            <a:avLst/>
          </a:prstGeom>
          <a:ln w="9525" cap="flat">
            <a:solidFill>
              <a:srgbClr val="E6E8F2"/>
            </a:solidFill>
          </a:ln>
        </p:spPr>
      </p:cxnSp>
      <p:cxnSp>
        <p:nvCxnSpPr>
          <p:cNvPr id="34" name="Line 34"/>
          <p:cNvCxnSpPr/>
          <p:nvPr/>
        </p:nvCxnSpPr>
        <p:spPr>
          <a:xfrm>
            <a:off x="8210245" y="1972104"/>
            <a:ext cx="3181350" cy="0"/>
          </a:xfrm>
          <a:prstGeom prst="line">
            <a:avLst/>
          </a:prstGeom>
          <a:ln w="9525" cap="flat">
            <a:solidFill>
              <a:srgbClr val="E6E8F2"/>
            </a:solidFill>
          </a:ln>
        </p:spPr>
      </p:cxnSp>
      <p:cxnSp>
        <p:nvCxnSpPr>
          <p:cNvPr id="35" name="Line 35"/>
          <p:cNvCxnSpPr/>
          <p:nvPr/>
        </p:nvCxnSpPr>
        <p:spPr>
          <a:xfrm>
            <a:off x="8210245" y="1732788"/>
            <a:ext cx="3181350" cy="0"/>
          </a:xfrm>
          <a:prstGeom prst="line">
            <a:avLst/>
          </a:prstGeom>
          <a:ln w="9525" cap="flat">
            <a:solidFill>
              <a:srgbClr val="E6E8F2"/>
            </a:solidFill>
          </a:ln>
        </p:spPr>
      </p:cxnSp>
      <p:cxnSp>
        <p:nvCxnSpPr>
          <p:cNvPr id="36" name="Line 36"/>
          <p:cNvCxnSpPr/>
          <p:nvPr/>
        </p:nvCxnSpPr>
        <p:spPr>
          <a:xfrm>
            <a:off x="9005583" y="1732788"/>
            <a:ext cx="0" cy="3829050"/>
          </a:xfrm>
          <a:prstGeom prst="line">
            <a:avLst/>
          </a:prstGeom>
          <a:ln w="19050" cap="flat">
            <a:solidFill>
              <a:srgbClr val="5F6272"/>
            </a:solidFill>
          </a:ln>
        </p:spPr>
      </p:cxnSp>
      <p:cxnSp>
        <p:nvCxnSpPr>
          <p:cNvPr id="37" name="Line 37"/>
          <p:cNvCxnSpPr/>
          <p:nvPr/>
        </p:nvCxnSpPr>
        <p:spPr>
          <a:xfrm>
            <a:off x="8210245" y="5083207"/>
            <a:ext cx="3181350" cy="0"/>
          </a:xfrm>
          <a:prstGeom prst="line">
            <a:avLst/>
          </a:prstGeom>
          <a:ln w="19050" cap="flat">
            <a:solidFill>
              <a:srgbClr val="5F6272"/>
            </a:solidFill>
          </a:ln>
        </p:spPr>
      </p:cxnSp>
      <p:sp>
        <p:nvSpPr>
          <p:cNvPr id="38" name="Shape 38"/>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643317" y="499176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643317" y="4513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643317" y="40345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643317" y="3555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643317" y="3077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643317" y="25986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7643317" y="211997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p:nvPr/>
        </p:nvSpPr>
        <p:spPr>
          <a:xfrm>
            <a:off x="8953195" y="26376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9091308" y="24424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54" name="Shape 54"/>
          <p:cNvSpPr/>
          <p:nvPr/>
        </p:nvSpPr>
        <p:spPr>
          <a:xfrm>
            <a:off x="9350864" y="311629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488976" y="292103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6" name="Shape 56"/>
          <p:cNvSpPr/>
          <p:nvPr/>
        </p:nvSpPr>
        <p:spPr>
          <a:xfrm>
            <a:off x="8555526" y="215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693639" y="196376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12)</a:t>
            </a:r>
            <a:endParaRPr lang="en-US" sz="1125" dirty="0"/>
          </a:p>
        </p:txBody>
      </p:sp>
      <p:cxnSp>
        <p:nvCxnSpPr>
          <p:cNvPr id="58" name="Line 58"/>
          <p:cNvCxnSpPr/>
          <p:nvPr/>
        </p:nvCxnSpPr>
        <p:spPr>
          <a:xfrm>
            <a:off x="8210245" y="1732788"/>
            <a:ext cx="3181350"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2"/>
                                        </p:tgtEl>
                                        <p:attrNameLst>
                                          <p:attrName>style.visibility</p:attrName>
                                        </p:attrNameLst>
                                      </p:cBhvr>
                                      <p:to>
                                        <p:strVal val="visible"/>
                                      </p:to>
                                    </p:set>
                                    <p:animEffect transition="in" filter="fade">
                                      <p:cBhvr>
                                        <p:cTn id="4" dur="500"/>
                                        <p:tgtEl>
                                          <p:spTgt spid="52"/>
                                        </p:tgtEl>
                                      </p:cBhvr>
                                    </p:animEffect>
                                    <p:anim calcmode="lin" valueType="num">
                                      <p:cBhvr>
                                        <p:cTn id="5" dur="500" fill="hold"/>
                                        <p:tgtEl>
                                          <p:spTgt spid="52"/>
                                        </p:tgtEl>
                                        <p:attrNameLst>
                                          <p:attrName>ppt_w</p:attrName>
                                        </p:attrNameLst>
                                      </p:cBhvr>
                                      <p:tavLst>
                                        <p:tav tm="0">
                                          <p:val>
                                            <p:fltVal val="0"/>
                                          </p:val>
                                        </p:tav>
                                        <p:tav tm="100000">
                                          <p:val>
                                            <p:strVal val="#ppt_w"/>
                                          </p:val>
                                        </p:tav>
                                      </p:tavLst>
                                    </p:anim>
                                    <p:anim calcmode="lin" valueType="num">
                                      <p:cBhvr>
                                        <p:cTn id="6" dur="500" fill="hold"/>
                                        <p:tgtEl>
                                          <p:spTgt spid="52"/>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fade">
                                      <p:cBhvr>
                                        <p:cTn id="9" dur="500"/>
                                        <p:tgtEl>
                                          <p:spTgt spid="53"/>
                                        </p:tgtEl>
                                      </p:cBhvr>
                                    </p:animEffect>
                                    <p:anim calcmode="lin" valueType="num">
                                      <p:cBhvr>
                                        <p:cTn id="10" dur="500" fill="hold"/>
                                        <p:tgtEl>
                                          <p:spTgt spid="53"/>
                                        </p:tgtEl>
                                        <p:attrNameLst>
                                          <p:attrName>ppt_w</p:attrName>
                                        </p:attrNameLst>
                                      </p:cBhvr>
                                      <p:tavLst>
                                        <p:tav tm="0">
                                          <p:val>
                                            <p:fltVal val="0"/>
                                          </p:val>
                                        </p:tav>
                                        <p:tav tm="100000">
                                          <p:val>
                                            <p:strVal val="#ppt_w"/>
                                          </p:val>
                                        </p:tav>
                                      </p:tavLst>
                                    </p:anim>
                                    <p:anim calcmode="lin" valueType="num">
                                      <p:cBhvr>
                                        <p:cTn id="11"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anim calcmode="lin" valueType="num">
                                      <p:cBhvr>
                                        <p:cTn id="34" dur="500" fill="hold"/>
                                        <p:tgtEl>
                                          <p:spTgt spid="57"/>
                                        </p:tgtEl>
                                        <p:attrNameLst>
                                          <p:attrName>ppt_w</p:attrName>
                                        </p:attrNameLst>
                                      </p:cBhvr>
                                      <p:tavLst>
                                        <p:tav tm="0">
                                          <p:val>
                                            <p:fltVal val="0"/>
                                          </p:val>
                                        </p:tav>
                                        <p:tav tm="100000">
                                          <p:val>
                                            <p:strVal val="#ppt_w"/>
                                          </p:val>
                                        </p:tav>
                                      </p:tavLst>
                                    </p:anim>
                                    <p:anim calcmode="lin" valueType="num">
                                      <p:cBhvr>
                                        <p:cTn id="3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Questions 1–2 · SE p. 220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Use the equation to graph each line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−1)</a:t>
            </a:r>
            <a:r>
              <a:rPr lang="en-US" sz="1575" dirty="0">
                <a:solidFill>
                  <a:srgbClr val="16171D"/>
                </a:solidFill>
                <a:latin typeface="Segoe UI"/>
                <a:cs typeface="Segoe UI"/>
              </a:rPr>
              <a:t xml:space="preserve">. Up 3, right 2. Or down 3, left 2.</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2362200" y="2589276"/>
            <a:ext cx="0" cy="2781300"/>
          </a:xfrm>
          <a:prstGeom prst="line">
            <a:avLst/>
          </a:prstGeom>
          <a:ln w="19050" cap="flat">
            <a:solidFill>
              <a:srgbClr val="5F6272"/>
            </a:solidFill>
          </a:ln>
        </p:spPr>
      </p:cxnSp>
      <p:cxnSp>
        <p:nvCxnSpPr>
          <p:cNvPr id="42" name="Line 42"/>
          <p:cNvCxnSpPr/>
          <p:nvPr/>
        </p:nvCxnSpPr>
        <p:spPr>
          <a:xfrm>
            <a:off x="1009650" y="397992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1" name="Shape 61"/>
          <p:cNvSpPr/>
          <p:nvPr/>
        </p:nvSpPr>
        <p:spPr>
          <a:xfrm>
            <a:off x="2309812" y="410137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2447925" y="39061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63" name="Shape 63"/>
          <p:cNvSpPr/>
          <p:nvPr/>
        </p:nvSpPr>
        <p:spPr>
          <a:xfrm>
            <a:off x="2647950" y="35798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2786062" y="33846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65" name="Shape 65"/>
          <p:cNvSpPr/>
          <p:nvPr/>
        </p:nvSpPr>
        <p:spPr>
          <a:xfrm>
            <a:off x="1971675" y="46228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txBox="1"/>
          <p:nvPr/>
        </p:nvSpPr>
        <p:spPr>
          <a:xfrm>
            <a:off x="2109788" y="442760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−4)</a:t>
            </a:r>
            <a:endParaRPr lang="en-US" sz="1125" dirty="0"/>
          </a:p>
        </p:txBody>
      </p:sp>
      <p:cxnSp>
        <p:nvCxnSpPr>
          <p:cNvPr id="67" name="Line 67"/>
          <p:cNvCxnSpPr/>
          <p:nvPr/>
        </p:nvCxnSpPr>
        <p:spPr>
          <a:xfrm flipV="1">
            <a:off x="1573212" y="2589276"/>
            <a:ext cx="1803400" cy="2781300"/>
          </a:xfrm>
          <a:prstGeom prst="line">
            <a:avLst/>
          </a:prstGeom>
          <a:ln w="38100" cap="rnd">
            <a:solidFill>
              <a:srgbClr val="16171D"/>
            </a:solidFill>
          </a:ln>
        </p:spPr>
      </p:cxnSp>
      <p:sp>
        <p:nvSpPr>
          <p:cNvPr id="68" name="Shape 6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endParaRPr lang="en-US" sz="2325" dirty="0"/>
          </a:p>
        </p:txBody>
      </p:sp>
      <p:sp>
        <p:nvSpPr>
          <p:cNvPr id="69" name="Shape 69"/>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(0, 3)</a:t>
            </a:r>
            <a:r>
              <a:rPr lang="en-US" sz="1575" dirty="0">
                <a:solidFill>
                  <a:srgbClr val="16171D"/>
                </a:solidFill>
                <a:latin typeface="Segoe UI"/>
                <a:cs typeface="Segoe UI"/>
              </a:rPr>
              <a:t xml:space="preserve">. Down 5, right 2. Or up 5, left 2.</a:t>
            </a:r>
            <a:endParaRPr lang="en-US" sz="1575" dirty="0"/>
          </a:p>
        </p:txBody>
      </p:sp>
      <p:sp>
        <p:nvSpPr>
          <p:cNvPr id="70" name="Shape 70"/>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1" name="Line 71"/>
          <p:cNvCxnSpPr/>
          <p:nvPr/>
        </p:nvCxnSpPr>
        <p:spPr>
          <a:xfrm>
            <a:off x="6610198" y="2589276"/>
            <a:ext cx="0" cy="2781300"/>
          </a:xfrm>
          <a:prstGeom prst="line">
            <a:avLst/>
          </a:prstGeom>
          <a:ln w="9525" cap="flat">
            <a:solidFill>
              <a:srgbClr val="E6E8F2"/>
            </a:solidFill>
          </a:ln>
        </p:spPr>
      </p:cxnSp>
      <p:cxnSp>
        <p:nvCxnSpPr>
          <p:cNvPr id="72" name="Line 72"/>
          <p:cNvCxnSpPr/>
          <p:nvPr/>
        </p:nvCxnSpPr>
        <p:spPr>
          <a:xfrm>
            <a:off x="6779266" y="2589276"/>
            <a:ext cx="0" cy="2781300"/>
          </a:xfrm>
          <a:prstGeom prst="line">
            <a:avLst/>
          </a:prstGeom>
          <a:ln w="9525" cap="flat">
            <a:solidFill>
              <a:srgbClr val="E6E8F2"/>
            </a:solidFill>
          </a:ln>
        </p:spPr>
      </p:cxnSp>
      <p:cxnSp>
        <p:nvCxnSpPr>
          <p:cNvPr id="73" name="Line 73"/>
          <p:cNvCxnSpPr/>
          <p:nvPr/>
        </p:nvCxnSpPr>
        <p:spPr>
          <a:xfrm>
            <a:off x="6948335" y="2589276"/>
            <a:ext cx="0" cy="2781300"/>
          </a:xfrm>
          <a:prstGeom prst="line">
            <a:avLst/>
          </a:prstGeom>
          <a:ln w="9525" cap="flat">
            <a:solidFill>
              <a:srgbClr val="E6E8F2"/>
            </a:solidFill>
          </a:ln>
        </p:spPr>
      </p:cxnSp>
      <p:cxnSp>
        <p:nvCxnSpPr>
          <p:cNvPr id="74" name="Line 74"/>
          <p:cNvCxnSpPr/>
          <p:nvPr/>
        </p:nvCxnSpPr>
        <p:spPr>
          <a:xfrm>
            <a:off x="7117404" y="2589276"/>
            <a:ext cx="0" cy="2781300"/>
          </a:xfrm>
          <a:prstGeom prst="line">
            <a:avLst/>
          </a:prstGeom>
          <a:ln w="9525" cap="flat">
            <a:solidFill>
              <a:srgbClr val="E6E8F2"/>
            </a:solidFill>
          </a:ln>
        </p:spPr>
      </p:cxnSp>
      <p:cxnSp>
        <p:nvCxnSpPr>
          <p:cNvPr id="75" name="Line 75"/>
          <p:cNvCxnSpPr/>
          <p:nvPr/>
        </p:nvCxnSpPr>
        <p:spPr>
          <a:xfrm>
            <a:off x="7286473" y="2589276"/>
            <a:ext cx="0" cy="2781300"/>
          </a:xfrm>
          <a:prstGeom prst="line">
            <a:avLst/>
          </a:prstGeom>
          <a:ln w="9525" cap="flat">
            <a:solidFill>
              <a:srgbClr val="E6E8F2"/>
            </a:solidFill>
          </a:ln>
        </p:spPr>
      </p:cxnSp>
      <p:cxnSp>
        <p:nvCxnSpPr>
          <p:cNvPr id="76" name="Line 76"/>
          <p:cNvCxnSpPr/>
          <p:nvPr/>
        </p:nvCxnSpPr>
        <p:spPr>
          <a:xfrm>
            <a:off x="7455541" y="2589276"/>
            <a:ext cx="0" cy="2781300"/>
          </a:xfrm>
          <a:prstGeom prst="line">
            <a:avLst/>
          </a:prstGeom>
          <a:ln w="9525" cap="flat">
            <a:solidFill>
              <a:srgbClr val="E6E8F2"/>
            </a:solidFill>
          </a:ln>
        </p:spPr>
      </p:cxnSp>
      <p:cxnSp>
        <p:nvCxnSpPr>
          <p:cNvPr id="77" name="Line 77"/>
          <p:cNvCxnSpPr/>
          <p:nvPr/>
        </p:nvCxnSpPr>
        <p:spPr>
          <a:xfrm>
            <a:off x="7624610" y="2589276"/>
            <a:ext cx="0" cy="2781300"/>
          </a:xfrm>
          <a:prstGeom prst="line">
            <a:avLst/>
          </a:prstGeom>
          <a:ln w="9525" cap="flat">
            <a:solidFill>
              <a:srgbClr val="E6E8F2"/>
            </a:solidFill>
          </a:ln>
        </p:spPr>
      </p:cxnSp>
      <p:cxnSp>
        <p:nvCxnSpPr>
          <p:cNvPr id="78" name="Line 78"/>
          <p:cNvCxnSpPr/>
          <p:nvPr/>
        </p:nvCxnSpPr>
        <p:spPr>
          <a:xfrm>
            <a:off x="7793679" y="2589276"/>
            <a:ext cx="0" cy="2781300"/>
          </a:xfrm>
          <a:prstGeom prst="line">
            <a:avLst/>
          </a:prstGeom>
          <a:ln w="9525" cap="flat">
            <a:solidFill>
              <a:srgbClr val="E6E8F2"/>
            </a:solidFill>
          </a:ln>
        </p:spPr>
      </p:cxnSp>
      <p:cxnSp>
        <p:nvCxnSpPr>
          <p:cNvPr id="79" name="Line 79"/>
          <p:cNvCxnSpPr/>
          <p:nvPr/>
        </p:nvCxnSpPr>
        <p:spPr>
          <a:xfrm>
            <a:off x="7962748" y="2589276"/>
            <a:ext cx="0" cy="2781300"/>
          </a:xfrm>
          <a:prstGeom prst="line">
            <a:avLst/>
          </a:prstGeom>
          <a:ln w="9525" cap="flat">
            <a:solidFill>
              <a:srgbClr val="E6E8F2"/>
            </a:solidFill>
          </a:ln>
        </p:spPr>
      </p:cxnSp>
      <p:cxnSp>
        <p:nvCxnSpPr>
          <p:cNvPr id="80" name="Line 80"/>
          <p:cNvCxnSpPr/>
          <p:nvPr/>
        </p:nvCxnSpPr>
        <p:spPr>
          <a:xfrm>
            <a:off x="8131816" y="2589276"/>
            <a:ext cx="0" cy="2781300"/>
          </a:xfrm>
          <a:prstGeom prst="line">
            <a:avLst/>
          </a:prstGeom>
          <a:ln w="9525" cap="flat">
            <a:solidFill>
              <a:srgbClr val="E6E8F2"/>
            </a:solidFill>
          </a:ln>
        </p:spPr>
      </p:cxnSp>
      <p:cxnSp>
        <p:nvCxnSpPr>
          <p:cNvPr id="81" name="Line 81"/>
          <p:cNvCxnSpPr/>
          <p:nvPr/>
        </p:nvCxnSpPr>
        <p:spPr>
          <a:xfrm>
            <a:off x="8300885" y="2589276"/>
            <a:ext cx="0" cy="2781300"/>
          </a:xfrm>
          <a:prstGeom prst="line">
            <a:avLst/>
          </a:prstGeom>
          <a:ln w="9525" cap="flat">
            <a:solidFill>
              <a:srgbClr val="E6E8F2"/>
            </a:solidFill>
          </a:ln>
        </p:spPr>
      </p:cxnSp>
      <p:cxnSp>
        <p:nvCxnSpPr>
          <p:cNvPr id="82" name="Line 82"/>
          <p:cNvCxnSpPr/>
          <p:nvPr/>
        </p:nvCxnSpPr>
        <p:spPr>
          <a:xfrm>
            <a:off x="8469954" y="2589276"/>
            <a:ext cx="0" cy="2781300"/>
          </a:xfrm>
          <a:prstGeom prst="line">
            <a:avLst/>
          </a:prstGeom>
          <a:ln w="9525" cap="flat">
            <a:solidFill>
              <a:srgbClr val="E6E8F2"/>
            </a:solidFill>
          </a:ln>
        </p:spPr>
      </p:cxnSp>
      <p:cxnSp>
        <p:nvCxnSpPr>
          <p:cNvPr id="83" name="Line 83"/>
          <p:cNvCxnSpPr/>
          <p:nvPr/>
        </p:nvCxnSpPr>
        <p:spPr>
          <a:xfrm>
            <a:off x="8639023" y="2589276"/>
            <a:ext cx="0" cy="2781300"/>
          </a:xfrm>
          <a:prstGeom prst="line">
            <a:avLst/>
          </a:prstGeom>
          <a:ln w="9525" cap="flat">
            <a:solidFill>
              <a:srgbClr val="E6E8F2"/>
            </a:solidFill>
          </a:ln>
        </p:spPr>
      </p:cxnSp>
      <p:cxnSp>
        <p:nvCxnSpPr>
          <p:cNvPr id="84" name="Line 84"/>
          <p:cNvCxnSpPr/>
          <p:nvPr/>
        </p:nvCxnSpPr>
        <p:spPr>
          <a:xfrm>
            <a:off x="8808091" y="2589276"/>
            <a:ext cx="0" cy="2781300"/>
          </a:xfrm>
          <a:prstGeom prst="line">
            <a:avLst/>
          </a:prstGeom>
          <a:ln w="9525" cap="flat">
            <a:solidFill>
              <a:srgbClr val="E6E8F2"/>
            </a:solidFill>
          </a:ln>
        </p:spPr>
      </p:cxnSp>
      <p:cxnSp>
        <p:nvCxnSpPr>
          <p:cNvPr id="85" name="Line 85"/>
          <p:cNvCxnSpPr/>
          <p:nvPr/>
        </p:nvCxnSpPr>
        <p:spPr>
          <a:xfrm>
            <a:off x="8977160" y="2589276"/>
            <a:ext cx="0" cy="2781300"/>
          </a:xfrm>
          <a:prstGeom prst="line">
            <a:avLst/>
          </a:prstGeom>
          <a:ln w="9525" cap="flat">
            <a:solidFill>
              <a:srgbClr val="E6E8F2"/>
            </a:solidFill>
          </a:ln>
        </p:spPr>
      </p:cxnSp>
      <p:cxnSp>
        <p:nvCxnSpPr>
          <p:cNvPr id="86" name="Line 86"/>
          <p:cNvCxnSpPr/>
          <p:nvPr/>
        </p:nvCxnSpPr>
        <p:spPr>
          <a:xfrm>
            <a:off x="9146229" y="2589276"/>
            <a:ext cx="0" cy="2781300"/>
          </a:xfrm>
          <a:prstGeom prst="line">
            <a:avLst/>
          </a:prstGeom>
          <a:ln w="9525" cap="flat">
            <a:solidFill>
              <a:srgbClr val="E6E8F2"/>
            </a:solidFill>
          </a:ln>
        </p:spPr>
      </p:cxnSp>
      <p:cxnSp>
        <p:nvCxnSpPr>
          <p:cNvPr id="87" name="Line 87"/>
          <p:cNvCxnSpPr/>
          <p:nvPr/>
        </p:nvCxnSpPr>
        <p:spPr>
          <a:xfrm>
            <a:off x="9315298" y="2589276"/>
            <a:ext cx="0" cy="2781300"/>
          </a:xfrm>
          <a:prstGeom prst="line">
            <a:avLst/>
          </a:prstGeom>
          <a:ln w="9525" cap="flat">
            <a:solidFill>
              <a:srgbClr val="E6E8F2"/>
            </a:solidFill>
          </a:ln>
        </p:spPr>
      </p:cxnSp>
      <p:cxnSp>
        <p:nvCxnSpPr>
          <p:cNvPr id="88" name="Line 88"/>
          <p:cNvCxnSpPr/>
          <p:nvPr/>
        </p:nvCxnSpPr>
        <p:spPr>
          <a:xfrm>
            <a:off x="6610198" y="5370576"/>
            <a:ext cx="2705100" cy="0"/>
          </a:xfrm>
          <a:prstGeom prst="line">
            <a:avLst/>
          </a:prstGeom>
          <a:ln w="9525" cap="flat">
            <a:solidFill>
              <a:srgbClr val="E6E8F2"/>
            </a:solidFill>
          </a:ln>
        </p:spPr>
      </p:cxnSp>
      <p:cxnSp>
        <p:nvCxnSpPr>
          <p:cNvPr id="89" name="Line 89"/>
          <p:cNvCxnSpPr/>
          <p:nvPr/>
        </p:nvCxnSpPr>
        <p:spPr>
          <a:xfrm>
            <a:off x="6610198" y="5216059"/>
            <a:ext cx="2705100" cy="0"/>
          </a:xfrm>
          <a:prstGeom prst="line">
            <a:avLst/>
          </a:prstGeom>
          <a:ln w="9525" cap="flat">
            <a:solidFill>
              <a:srgbClr val="E6E8F2"/>
            </a:solidFill>
          </a:ln>
        </p:spPr>
      </p:cxnSp>
      <p:cxnSp>
        <p:nvCxnSpPr>
          <p:cNvPr id="90" name="Line 90"/>
          <p:cNvCxnSpPr/>
          <p:nvPr/>
        </p:nvCxnSpPr>
        <p:spPr>
          <a:xfrm>
            <a:off x="6610198" y="5061543"/>
            <a:ext cx="2705100" cy="0"/>
          </a:xfrm>
          <a:prstGeom prst="line">
            <a:avLst/>
          </a:prstGeom>
          <a:ln w="9525" cap="flat">
            <a:solidFill>
              <a:srgbClr val="E6E8F2"/>
            </a:solidFill>
          </a:ln>
        </p:spPr>
      </p:cxnSp>
      <p:cxnSp>
        <p:nvCxnSpPr>
          <p:cNvPr id="91" name="Line 91"/>
          <p:cNvCxnSpPr/>
          <p:nvPr/>
        </p:nvCxnSpPr>
        <p:spPr>
          <a:xfrm>
            <a:off x="6610198" y="4907026"/>
            <a:ext cx="2705100" cy="0"/>
          </a:xfrm>
          <a:prstGeom prst="line">
            <a:avLst/>
          </a:prstGeom>
          <a:ln w="9525" cap="flat">
            <a:solidFill>
              <a:srgbClr val="E6E8F2"/>
            </a:solidFill>
          </a:ln>
        </p:spPr>
      </p:cxnSp>
      <p:cxnSp>
        <p:nvCxnSpPr>
          <p:cNvPr id="92" name="Line 92"/>
          <p:cNvCxnSpPr/>
          <p:nvPr/>
        </p:nvCxnSpPr>
        <p:spPr>
          <a:xfrm>
            <a:off x="6610198" y="4752509"/>
            <a:ext cx="2705100" cy="0"/>
          </a:xfrm>
          <a:prstGeom prst="line">
            <a:avLst/>
          </a:prstGeom>
          <a:ln w="9525" cap="flat">
            <a:solidFill>
              <a:srgbClr val="E6E8F2"/>
            </a:solidFill>
          </a:ln>
        </p:spPr>
      </p:cxnSp>
      <p:cxnSp>
        <p:nvCxnSpPr>
          <p:cNvPr id="93" name="Line 93"/>
          <p:cNvCxnSpPr/>
          <p:nvPr/>
        </p:nvCxnSpPr>
        <p:spPr>
          <a:xfrm>
            <a:off x="6610198" y="4597993"/>
            <a:ext cx="2705100" cy="0"/>
          </a:xfrm>
          <a:prstGeom prst="line">
            <a:avLst/>
          </a:prstGeom>
          <a:ln w="9525" cap="flat">
            <a:solidFill>
              <a:srgbClr val="E6E8F2"/>
            </a:solidFill>
          </a:ln>
        </p:spPr>
      </p:cxnSp>
      <p:cxnSp>
        <p:nvCxnSpPr>
          <p:cNvPr id="94" name="Line 94"/>
          <p:cNvCxnSpPr/>
          <p:nvPr/>
        </p:nvCxnSpPr>
        <p:spPr>
          <a:xfrm>
            <a:off x="6610198" y="4443476"/>
            <a:ext cx="2705100" cy="0"/>
          </a:xfrm>
          <a:prstGeom prst="line">
            <a:avLst/>
          </a:prstGeom>
          <a:ln w="9525" cap="flat">
            <a:solidFill>
              <a:srgbClr val="E6E8F2"/>
            </a:solidFill>
          </a:ln>
        </p:spPr>
      </p:cxnSp>
      <p:cxnSp>
        <p:nvCxnSpPr>
          <p:cNvPr id="95" name="Line 95"/>
          <p:cNvCxnSpPr/>
          <p:nvPr/>
        </p:nvCxnSpPr>
        <p:spPr>
          <a:xfrm>
            <a:off x="6610198" y="4288959"/>
            <a:ext cx="2705100" cy="0"/>
          </a:xfrm>
          <a:prstGeom prst="line">
            <a:avLst/>
          </a:prstGeom>
          <a:ln w="9525" cap="flat">
            <a:solidFill>
              <a:srgbClr val="E6E8F2"/>
            </a:solidFill>
          </a:ln>
        </p:spPr>
      </p:cxnSp>
      <p:cxnSp>
        <p:nvCxnSpPr>
          <p:cNvPr id="96" name="Line 96"/>
          <p:cNvCxnSpPr/>
          <p:nvPr/>
        </p:nvCxnSpPr>
        <p:spPr>
          <a:xfrm>
            <a:off x="6610198" y="4134443"/>
            <a:ext cx="2705100" cy="0"/>
          </a:xfrm>
          <a:prstGeom prst="line">
            <a:avLst/>
          </a:prstGeom>
          <a:ln w="9525" cap="flat">
            <a:solidFill>
              <a:srgbClr val="E6E8F2"/>
            </a:solidFill>
          </a:ln>
        </p:spPr>
      </p:cxnSp>
      <p:cxnSp>
        <p:nvCxnSpPr>
          <p:cNvPr id="97" name="Line 97"/>
          <p:cNvCxnSpPr/>
          <p:nvPr/>
        </p:nvCxnSpPr>
        <p:spPr>
          <a:xfrm>
            <a:off x="6610198" y="3979926"/>
            <a:ext cx="2705100" cy="0"/>
          </a:xfrm>
          <a:prstGeom prst="line">
            <a:avLst/>
          </a:prstGeom>
          <a:ln w="9525" cap="flat">
            <a:solidFill>
              <a:srgbClr val="E6E8F2"/>
            </a:solidFill>
          </a:ln>
        </p:spPr>
      </p:cxnSp>
      <p:cxnSp>
        <p:nvCxnSpPr>
          <p:cNvPr id="98" name="Line 98"/>
          <p:cNvCxnSpPr/>
          <p:nvPr/>
        </p:nvCxnSpPr>
        <p:spPr>
          <a:xfrm>
            <a:off x="6610198" y="3825409"/>
            <a:ext cx="2705100" cy="0"/>
          </a:xfrm>
          <a:prstGeom prst="line">
            <a:avLst/>
          </a:prstGeom>
          <a:ln w="9525" cap="flat">
            <a:solidFill>
              <a:srgbClr val="E6E8F2"/>
            </a:solidFill>
          </a:ln>
        </p:spPr>
      </p:cxnSp>
      <p:cxnSp>
        <p:nvCxnSpPr>
          <p:cNvPr id="99" name="Line 99"/>
          <p:cNvCxnSpPr/>
          <p:nvPr/>
        </p:nvCxnSpPr>
        <p:spPr>
          <a:xfrm>
            <a:off x="6610198" y="3670893"/>
            <a:ext cx="2705100" cy="0"/>
          </a:xfrm>
          <a:prstGeom prst="line">
            <a:avLst/>
          </a:prstGeom>
          <a:ln w="9525" cap="flat">
            <a:solidFill>
              <a:srgbClr val="E6E8F2"/>
            </a:solidFill>
          </a:ln>
        </p:spPr>
      </p:cxnSp>
      <p:cxnSp>
        <p:nvCxnSpPr>
          <p:cNvPr id="100" name="Line 100"/>
          <p:cNvCxnSpPr/>
          <p:nvPr/>
        </p:nvCxnSpPr>
        <p:spPr>
          <a:xfrm>
            <a:off x="6610198" y="3516376"/>
            <a:ext cx="2705100" cy="0"/>
          </a:xfrm>
          <a:prstGeom prst="line">
            <a:avLst/>
          </a:prstGeom>
          <a:ln w="9525" cap="flat">
            <a:solidFill>
              <a:srgbClr val="E6E8F2"/>
            </a:solidFill>
          </a:ln>
        </p:spPr>
      </p:cxnSp>
      <p:cxnSp>
        <p:nvCxnSpPr>
          <p:cNvPr id="101" name="Line 101"/>
          <p:cNvCxnSpPr/>
          <p:nvPr/>
        </p:nvCxnSpPr>
        <p:spPr>
          <a:xfrm>
            <a:off x="6610198" y="3361859"/>
            <a:ext cx="2705100" cy="0"/>
          </a:xfrm>
          <a:prstGeom prst="line">
            <a:avLst/>
          </a:prstGeom>
          <a:ln w="9525" cap="flat">
            <a:solidFill>
              <a:srgbClr val="E6E8F2"/>
            </a:solidFill>
          </a:ln>
        </p:spPr>
      </p:cxnSp>
      <p:cxnSp>
        <p:nvCxnSpPr>
          <p:cNvPr id="102" name="Line 102"/>
          <p:cNvCxnSpPr/>
          <p:nvPr/>
        </p:nvCxnSpPr>
        <p:spPr>
          <a:xfrm>
            <a:off x="6610198" y="3207343"/>
            <a:ext cx="2705100" cy="0"/>
          </a:xfrm>
          <a:prstGeom prst="line">
            <a:avLst/>
          </a:prstGeom>
          <a:ln w="9525" cap="flat">
            <a:solidFill>
              <a:srgbClr val="E6E8F2"/>
            </a:solidFill>
          </a:ln>
        </p:spPr>
      </p:cxnSp>
      <p:cxnSp>
        <p:nvCxnSpPr>
          <p:cNvPr id="103" name="Line 103"/>
          <p:cNvCxnSpPr/>
          <p:nvPr/>
        </p:nvCxnSpPr>
        <p:spPr>
          <a:xfrm>
            <a:off x="6610198" y="3052826"/>
            <a:ext cx="2705100" cy="0"/>
          </a:xfrm>
          <a:prstGeom prst="line">
            <a:avLst/>
          </a:prstGeom>
          <a:ln w="9525" cap="flat">
            <a:solidFill>
              <a:srgbClr val="E6E8F2"/>
            </a:solidFill>
          </a:ln>
        </p:spPr>
      </p:cxnSp>
      <p:cxnSp>
        <p:nvCxnSpPr>
          <p:cNvPr id="104" name="Line 104"/>
          <p:cNvCxnSpPr/>
          <p:nvPr/>
        </p:nvCxnSpPr>
        <p:spPr>
          <a:xfrm>
            <a:off x="6610198" y="2898309"/>
            <a:ext cx="2705100" cy="0"/>
          </a:xfrm>
          <a:prstGeom prst="line">
            <a:avLst/>
          </a:prstGeom>
          <a:ln w="9525" cap="flat">
            <a:solidFill>
              <a:srgbClr val="E6E8F2"/>
            </a:solidFill>
          </a:ln>
        </p:spPr>
      </p:cxnSp>
      <p:cxnSp>
        <p:nvCxnSpPr>
          <p:cNvPr id="105" name="Line 105"/>
          <p:cNvCxnSpPr/>
          <p:nvPr/>
        </p:nvCxnSpPr>
        <p:spPr>
          <a:xfrm>
            <a:off x="6610198" y="2743793"/>
            <a:ext cx="2705100" cy="0"/>
          </a:xfrm>
          <a:prstGeom prst="line">
            <a:avLst/>
          </a:prstGeom>
          <a:ln w="9525" cap="flat">
            <a:solidFill>
              <a:srgbClr val="E6E8F2"/>
            </a:solidFill>
          </a:ln>
        </p:spPr>
      </p:cxnSp>
      <p:cxnSp>
        <p:nvCxnSpPr>
          <p:cNvPr id="106" name="Line 106"/>
          <p:cNvCxnSpPr/>
          <p:nvPr/>
        </p:nvCxnSpPr>
        <p:spPr>
          <a:xfrm>
            <a:off x="6610198" y="2589276"/>
            <a:ext cx="2705100" cy="0"/>
          </a:xfrm>
          <a:prstGeom prst="line">
            <a:avLst/>
          </a:prstGeom>
          <a:ln w="9525" cap="flat">
            <a:solidFill>
              <a:srgbClr val="E6E8F2"/>
            </a:solidFill>
          </a:ln>
        </p:spPr>
      </p:cxnSp>
      <p:cxnSp>
        <p:nvCxnSpPr>
          <p:cNvPr id="107" name="Line 107"/>
          <p:cNvCxnSpPr/>
          <p:nvPr/>
        </p:nvCxnSpPr>
        <p:spPr>
          <a:xfrm>
            <a:off x="7962748" y="2589276"/>
            <a:ext cx="0" cy="2781300"/>
          </a:xfrm>
          <a:prstGeom prst="line">
            <a:avLst/>
          </a:prstGeom>
          <a:ln w="19050" cap="flat">
            <a:solidFill>
              <a:srgbClr val="5F6272"/>
            </a:solidFill>
          </a:ln>
        </p:spPr>
      </p:cxnSp>
      <p:cxnSp>
        <p:nvCxnSpPr>
          <p:cNvPr id="108" name="Line 108"/>
          <p:cNvCxnSpPr/>
          <p:nvPr/>
        </p:nvCxnSpPr>
        <p:spPr>
          <a:xfrm>
            <a:off x="6610198" y="4134443"/>
            <a:ext cx="2705100" cy="0"/>
          </a:xfrm>
          <a:prstGeom prst="line">
            <a:avLst/>
          </a:prstGeom>
          <a:ln w="19050" cap="flat">
            <a:solidFill>
              <a:srgbClr val="5F6272"/>
            </a:solidFill>
          </a:ln>
        </p:spPr>
      </p:cxnSp>
      <p:sp>
        <p:nvSpPr>
          <p:cNvPr id="109" name="Shape 109"/>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0" name="Shape 110"/>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1" name="Shape 111"/>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4" name="Shape 114"/>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5" name="Shape 115"/>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6" name="Shape 116"/>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7" name="Shape 117"/>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9" name="Shape 119"/>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0" name="Shape 120"/>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1" name="Shape 121"/>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2" name="Shape 122"/>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3" name="Shape 123"/>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4" name="Shape 124"/>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5" name="Shape 125"/>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6" name="Shape 126"/>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7" name="Shape 127"/>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28" name="Shape 128"/>
          <p:cNvSpPr/>
          <p:nvPr/>
        </p:nvSpPr>
        <p:spPr>
          <a:xfrm>
            <a:off x="7910360" y="361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txBox="1"/>
          <p:nvPr/>
        </p:nvSpPr>
        <p:spPr>
          <a:xfrm>
            <a:off x="8048473" y="342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a:t>
            </a:r>
            <a:endParaRPr lang="en-US" sz="1125" dirty="0"/>
          </a:p>
        </p:txBody>
      </p:sp>
      <p:sp>
        <p:nvSpPr>
          <p:cNvPr id="130" name="Shape 130"/>
          <p:cNvSpPr/>
          <p:nvPr/>
        </p:nvSpPr>
        <p:spPr>
          <a:xfrm>
            <a:off x="8248498" y="43910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1" name="Shape 131"/>
          <p:cNvSpPr txBox="1"/>
          <p:nvPr/>
        </p:nvSpPr>
        <p:spPr>
          <a:xfrm>
            <a:off x="8386610" y="419582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132" name="Shape 132"/>
          <p:cNvSpPr/>
          <p:nvPr/>
        </p:nvSpPr>
        <p:spPr>
          <a:xfrm>
            <a:off x="7572223" y="28459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3" name="Shape 133"/>
          <p:cNvSpPr txBox="1"/>
          <p:nvPr/>
        </p:nvSpPr>
        <p:spPr>
          <a:xfrm>
            <a:off x="7710335" y="265065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8)</a:t>
            </a:r>
            <a:endParaRPr lang="en-US" sz="1125" dirty="0"/>
          </a:p>
        </p:txBody>
      </p:sp>
      <p:cxnSp>
        <p:nvCxnSpPr>
          <p:cNvPr id="134" name="Line 134"/>
          <p:cNvCxnSpPr/>
          <p:nvPr/>
        </p:nvCxnSpPr>
        <p:spPr>
          <a:xfrm>
            <a:off x="7489355" y="2589276"/>
            <a:ext cx="1217295" cy="278130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anim calcmode="lin" valueType="num">
                                      <p:cBhvr>
                                        <p:cTn id="29" dur="500" fill="hold"/>
                                        <p:tgtEl>
                                          <p:spTgt spid="65"/>
                                        </p:tgtEl>
                                        <p:attrNameLst>
                                          <p:attrName>ppt_w</p:attrName>
                                        </p:attrNameLst>
                                      </p:cBhvr>
                                      <p:tavLst>
                                        <p:tav tm="0">
                                          <p:val>
                                            <p:fltVal val="0"/>
                                          </p:val>
                                        </p:tav>
                                        <p:tav tm="100000">
                                          <p:val>
                                            <p:strVal val="#ppt_w"/>
                                          </p:val>
                                        </p:tav>
                                      </p:tavLst>
                                    </p:anim>
                                    <p:anim calcmode="lin" valueType="num">
                                      <p:cBhvr>
                                        <p:cTn id="30" dur="500" fill="hold"/>
                                        <p:tgtEl>
                                          <p:spTgt spid="65"/>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anim calcmode="lin" valueType="num">
                                      <p:cBhvr>
                                        <p:cTn id="34" dur="500" fill="hold"/>
                                        <p:tgtEl>
                                          <p:spTgt spid="66"/>
                                        </p:tgtEl>
                                        <p:attrNameLst>
                                          <p:attrName>ppt_w</p:attrName>
                                        </p:attrNameLst>
                                      </p:cBhvr>
                                      <p:tavLst>
                                        <p:tav tm="0">
                                          <p:val>
                                            <p:fltVal val="0"/>
                                          </p:val>
                                        </p:tav>
                                        <p:tav tm="100000">
                                          <p:val>
                                            <p:strVal val="#ppt_w"/>
                                          </p:val>
                                        </p:tav>
                                      </p:tavLst>
                                    </p:anim>
                                    <p:anim calcmode="lin" valueType="num">
                                      <p:cBhvr>
                                        <p:cTn id="3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700"/>
                                        <p:tgtEl>
                                          <p:spTgt spid="67"/>
                                        </p:tgtEl>
                                      </p:cBhvr>
                                    </p:animEffect>
                                  </p:childTnLst>
                                </p:cTn>
                              </p:par>
                            </p:childTnLst>
                          </p:cTn>
                        </p:par>
                      </p:childTnLst>
                    </p:cTn>
                  </p:par>
                  <p:par>
                    <p:cTn id="54" fill="hold">
                      <p:stCondLst>
                        <p:cond delay="indefinite"/>
                      </p:stCondLst>
                      <p:childTnLst>
                        <p:par>
                          <p:cTn id="55"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fade">
                                      <p:cBhvr>
                                        <p:cTn id="45" dur="500"/>
                                        <p:tgtEl>
                                          <p:spTgt spid="128"/>
                                        </p:tgtEl>
                                      </p:cBhvr>
                                    </p:animEffect>
                                    <p:anim calcmode="lin" valueType="num">
                                      <p:cBhvr>
                                        <p:cTn id="46" dur="500" fill="hold"/>
                                        <p:tgtEl>
                                          <p:spTgt spid="128"/>
                                        </p:tgtEl>
                                        <p:attrNameLst>
                                          <p:attrName>ppt_w</p:attrName>
                                        </p:attrNameLst>
                                      </p:cBhvr>
                                      <p:tavLst>
                                        <p:tav tm="0">
                                          <p:val>
                                            <p:fltVal val="0"/>
                                          </p:val>
                                        </p:tav>
                                        <p:tav tm="100000">
                                          <p:val>
                                            <p:strVal val="#ppt_w"/>
                                          </p:val>
                                        </p:tav>
                                      </p:tavLst>
                                    </p:anim>
                                    <p:anim calcmode="lin" valueType="num">
                                      <p:cBhvr>
                                        <p:cTn id="47" dur="500" fill="hold"/>
                                        <p:tgtEl>
                                          <p:spTgt spid="128"/>
                                        </p:tgtEl>
                                        <p:attrNameLst>
                                          <p:attrName>ppt_h</p:attrName>
                                        </p:attrNameLst>
                                      </p:cBhvr>
                                      <p:tavLst>
                                        <p:tav tm="0">
                                          <p:val>
                                            <p:fltVal val="0"/>
                                          </p:val>
                                        </p:tav>
                                        <p:tav tm="100000">
                                          <p:val>
                                            <p:strVal val="#ppt_h"/>
                                          </p:val>
                                        </p:tav>
                                      </p:tavLst>
                                    </p:anim>
                                  </p:childTnLst>
                                </p:cTn>
                              </p:par>
                              <p:par>
                                <p:cTn id="53" presetID="53" presetClass="entr" presetSubtype="16" fill="hold" nodeType="withEffect">
                                  <p:stCondLst>
                                    <p:cond delay="0"/>
                                  </p:stCondLst>
                                  <p:childTnLst>
                                    <p:set>
                                      <p:cBhvr>
                                        <p:cTn id="49" dur="1" fill="hold">
                                          <p:stCondLst>
                                            <p:cond delay="0"/>
                                          </p:stCondLst>
                                        </p:cTn>
                                        <p:tgtEl>
                                          <p:spTgt spid="129"/>
                                        </p:tgtEl>
                                        <p:attrNameLst>
                                          <p:attrName>style.visibility</p:attrName>
                                        </p:attrNameLst>
                                      </p:cBhvr>
                                      <p:to>
                                        <p:strVal val="visible"/>
                                      </p:to>
                                    </p:set>
                                    <p:animEffect transition="in" filter="fade">
                                      <p:cBhvr>
                                        <p:cTn id="50" dur="500"/>
                                        <p:tgtEl>
                                          <p:spTgt spid="129"/>
                                        </p:tgtEl>
                                      </p:cBhvr>
                                    </p:animEffect>
                                    <p:anim calcmode="lin" valueType="num">
                                      <p:cBhvr>
                                        <p:cTn id="51" dur="500" fill="hold"/>
                                        <p:tgtEl>
                                          <p:spTgt spid="129"/>
                                        </p:tgtEl>
                                        <p:attrNameLst>
                                          <p:attrName>ppt_w</p:attrName>
                                        </p:attrNameLst>
                                      </p:cBhvr>
                                      <p:tavLst>
                                        <p:tav tm="0">
                                          <p:val>
                                            <p:fltVal val="0"/>
                                          </p:val>
                                        </p:tav>
                                        <p:tav tm="100000">
                                          <p:val>
                                            <p:strVal val="#ppt_w"/>
                                          </p:val>
                                        </p:tav>
                                      </p:tavLst>
                                    </p:anim>
                                    <p:anim calcmode="lin" valueType="num">
                                      <p:cBhvr>
                                        <p:cTn id="5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0" presetID="53" presetClass="entr" presetSubtype="16"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anim calcmode="lin" valueType="num">
                                      <p:cBhvr>
                                        <p:cTn id="58" dur="500" fill="hold"/>
                                        <p:tgtEl>
                                          <p:spTgt spid="130"/>
                                        </p:tgtEl>
                                        <p:attrNameLst>
                                          <p:attrName>ppt_w</p:attrName>
                                        </p:attrNameLst>
                                      </p:cBhvr>
                                      <p:tavLst>
                                        <p:tav tm="0">
                                          <p:val>
                                            <p:fltVal val="0"/>
                                          </p:val>
                                        </p:tav>
                                        <p:tav tm="100000">
                                          <p:val>
                                            <p:strVal val="#ppt_w"/>
                                          </p:val>
                                        </p:tav>
                                      </p:tavLst>
                                    </p:anim>
                                    <p:anim calcmode="lin" valueType="num">
                                      <p:cBhvr>
                                        <p:cTn id="59" dur="500" fill="hold"/>
                                        <p:tgtEl>
                                          <p:spTgt spid="130"/>
                                        </p:tgtEl>
                                        <p:attrNameLst>
                                          <p:attrName>ppt_h</p:attrName>
                                        </p:attrNameLst>
                                      </p:cBhvr>
                                      <p:tavLst>
                                        <p:tav tm="0">
                                          <p:val>
                                            <p:fltVal val="0"/>
                                          </p:val>
                                        </p:tav>
                                        <p:tav tm="100000">
                                          <p:val>
                                            <p:strVal val="#ppt_h"/>
                                          </p:val>
                                        </p:tav>
                                      </p:tavLst>
                                    </p:anim>
                                  </p:childTnLst>
                                </p:cTn>
                              </p:par>
                              <p:par>
                                <p:cTn id="65" presetID="53" presetClass="entr" presetSubtype="16" fill="hold" nodeType="with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anim calcmode="lin" valueType="num">
                                      <p:cBhvr>
                                        <p:cTn id="63" dur="500" fill="hold"/>
                                        <p:tgtEl>
                                          <p:spTgt spid="131"/>
                                        </p:tgtEl>
                                        <p:attrNameLst>
                                          <p:attrName>ppt_w</p:attrName>
                                        </p:attrNameLst>
                                      </p:cBhvr>
                                      <p:tavLst>
                                        <p:tav tm="0">
                                          <p:val>
                                            <p:fltVal val="0"/>
                                          </p:val>
                                        </p:tav>
                                        <p:tav tm="100000">
                                          <p:val>
                                            <p:strVal val="#ppt_w"/>
                                          </p:val>
                                        </p:tav>
                                      </p:tavLst>
                                    </p:anim>
                                    <p:anim calcmode="lin" valueType="num">
                                      <p:cBhvr>
                                        <p:cTn id="6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2" presetID="53" presetClass="entr" presetSubtype="16" fill="hold" nodeType="click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fade">
                                      <p:cBhvr>
                                        <p:cTn id="69" dur="500"/>
                                        <p:tgtEl>
                                          <p:spTgt spid="132"/>
                                        </p:tgtEl>
                                      </p:cBhvr>
                                    </p:animEffect>
                                    <p:anim calcmode="lin" valueType="num">
                                      <p:cBhvr>
                                        <p:cTn id="70" dur="500" fill="hold"/>
                                        <p:tgtEl>
                                          <p:spTgt spid="132"/>
                                        </p:tgtEl>
                                        <p:attrNameLst>
                                          <p:attrName>ppt_w</p:attrName>
                                        </p:attrNameLst>
                                      </p:cBhvr>
                                      <p:tavLst>
                                        <p:tav tm="0">
                                          <p:val>
                                            <p:fltVal val="0"/>
                                          </p:val>
                                        </p:tav>
                                        <p:tav tm="100000">
                                          <p:val>
                                            <p:strVal val="#ppt_w"/>
                                          </p:val>
                                        </p:tav>
                                      </p:tavLst>
                                    </p:anim>
                                    <p:anim calcmode="lin" valueType="num">
                                      <p:cBhvr>
                                        <p:cTn id="71" dur="500" fill="hold"/>
                                        <p:tgtEl>
                                          <p:spTgt spid="132"/>
                                        </p:tgtEl>
                                        <p:attrNameLst>
                                          <p:attrName>ppt_h</p:attrName>
                                        </p:attrNameLst>
                                      </p:cBhvr>
                                      <p:tavLst>
                                        <p:tav tm="0">
                                          <p:val>
                                            <p:fltVal val="0"/>
                                          </p:val>
                                        </p:tav>
                                        <p:tav tm="100000">
                                          <p:val>
                                            <p:strVal val="#ppt_h"/>
                                          </p:val>
                                        </p:tav>
                                      </p:tavLst>
                                    </p:anim>
                                  </p:childTnLst>
                                </p:cTn>
                              </p:par>
                              <p:par>
                                <p:cTn id="77" presetID="53" presetClass="entr" presetSubtype="16" fill="hold" nodeType="withEffect">
                                  <p:stCondLst>
                                    <p:cond delay="0"/>
                                  </p:stCondLst>
                                  <p:childTnLst>
                                    <p:set>
                                      <p:cBhvr>
                                        <p:cTn id="73" dur="1" fill="hold">
                                          <p:stCondLst>
                                            <p:cond delay="0"/>
                                          </p:stCondLst>
                                        </p:cTn>
                                        <p:tgtEl>
                                          <p:spTgt spid="133"/>
                                        </p:tgtEl>
                                        <p:attrNameLst>
                                          <p:attrName>style.visibility</p:attrName>
                                        </p:attrNameLst>
                                      </p:cBhvr>
                                      <p:to>
                                        <p:strVal val="visible"/>
                                      </p:to>
                                    </p:set>
                                    <p:animEffect transition="in" filter="fade">
                                      <p:cBhvr>
                                        <p:cTn id="74" dur="500"/>
                                        <p:tgtEl>
                                          <p:spTgt spid="133"/>
                                        </p:tgtEl>
                                      </p:cBhvr>
                                    </p:animEffec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wipe(left)">
                                      <p:cBhvr>
                                        <p:cTn id="81"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3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Watch the scale: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10</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25</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-axis counts by </a:t>
            </a:r>
            <a:r>
              <a:rPr lang="en-US" sz="1950" dirty="0" b="1">
                <a:solidFill>
                  <a:srgbClr val="16171D"/>
                </a:solidFill>
                <a:latin typeface="Segoe UI"/>
                <a:cs typeface="Segoe UI"/>
              </a:rPr>
              <a:t xml:space="preserve">10</a:t>
            </a:r>
            <a:r>
              <a:rPr lang="en-US" sz="1950" dirty="0">
                <a:solidFill>
                  <a:srgbClr val="16171D"/>
                </a:solidFill>
                <a:latin typeface="Segoe UI"/>
                <a:cs typeface="Segoe UI"/>
              </a:rPr>
              <a:t xml:space="preserve">, not by 1.</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at </a:t>
            </a:r>
            <a:r>
              <a:rPr lang="en-US" sz="1950" dirty="0" b="1">
                <a:solidFill>
                  <a:srgbClr val="3050B8"/>
                </a:solidFill>
                <a:latin typeface="Cambria"/>
                <a:cs typeface="Cambria"/>
              </a:rPr>
              <a:t xml:space="preserve">(0, 25)</a:t>
            </a:r>
            <a:r>
              <a:rPr lang="en-US" sz="1950" dirty="0">
                <a:solidFill>
                  <a:srgbClr val="16171D"/>
                </a:solidFill>
                <a:latin typeface="Segoe UI"/>
                <a:cs typeface="Segoe UI"/>
              </a:rPr>
              <a:t xml:space="preserve">, halfway between 20 and 30.</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Write the slope as </a:t>
            </a:r>
            <a:r>
              <a:rPr lang="en-US" sz="1950" dirty="0" b="1">
                <a:solidFill>
                  <a:srgbClr val="C9561F"/>
                </a:solidFill>
                <a:latin typeface="Cambria"/>
                <a:cs typeface="Cambria"/>
              </a:rPr>
              <a:t xml:space="preserve">10</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up 10 units, right 1 unit.</a:t>
            </a:r>
            <a:endParaRPr lang="en-US" sz="1950" dirty="0"/>
          </a:p>
        </p:txBody>
      </p:sp>
      <p:sp>
        <p:nvSpPr>
          <p:cNvPr id="7" name="Shape 7"/>
          <p:cNvSpPr txBox="1"/>
          <p:nvPr/>
        </p:nvSpPr>
        <p:spPr>
          <a:xfrm>
            <a:off x="685800" y="3074670"/>
            <a:ext cx="67433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Count </a:t>
            </a:r>
            <a:r>
              <a:rPr lang="en-US" sz="1650" dirty="0" b="1">
                <a:solidFill>
                  <a:srgbClr val="16171D"/>
                </a:solidFill>
                <a:latin typeface="Segoe UI"/>
                <a:cs typeface="Segoe UI"/>
              </a:rPr>
              <a:t xml:space="preserve">units</a:t>
            </a:r>
            <a:r>
              <a:rPr lang="en-US" sz="1650" dirty="0">
                <a:solidFill>
                  <a:srgbClr val="16171D"/>
                </a:solidFill>
                <a:latin typeface="Segoe UI"/>
                <a:cs typeface="Segoe UI"/>
              </a:rPr>
              <a:t xml:space="preserve">, not grid squares. Up 10 is only one square here.</a:t>
            </a:r>
            <a:endParaRPr lang="en-US" sz="1650" dirty="0"/>
          </a:p>
        </p:txBody>
      </p:sp>
      <p:sp>
        <p:nvSpPr>
          <p:cNvPr id="8" name="Shape 8"/>
          <p:cNvSpPr txBox="1"/>
          <p:nvPr/>
        </p:nvSpPr>
        <p:spPr>
          <a:xfrm>
            <a:off x="685800" y="3605784"/>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Use a straightedge to draw your lines.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409080" y="1732788"/>
            <a:ext cx="0" cy="3829050"/>
          </a:xfrm>
          <a:prstGeom prst="line">
            <a:avLst/>
          </a:prstGeom>
          <a:ln w="9525" cap="flat">
            <a:solidFill>
              <a:srgbClr val="E6E8F2"/>
            </a:solidFill>
          </a:ln>
        </p:spPr>
      </p:cxnSp>
      <p:cxnSp>
        <p:nvCxnSpPr>
          <p:cNvPr id="12" name="Line 12"/>
          <p:cNvCxnSpPr/>
          <p:nvPr/>
        </p:nvCxnSpPr>
        <p:spPr>
          <a:xfrm>
            <a:off x="8607914" y="1732788"/>
            <a:ext cx="0" cy="3829050"/>
          </a:xfrm>
          <a:prstGeom prst="line">
            <a:avLst/>
          </a:prstGeom>
          <a:ln w="9525" cap="flat">
            <a:solidFill>
              <a:srgbClr val="E6E8F2"/>
            </a:solidFill>
          </a:ln>
        </p:spPr>
      </p:cxnSp>
      <p:cxnSp>
        <p:nvCxnSpPr>
          <p:cNvPr id="13" name="Line 13"/>
          <p:cNvCxnSpPr/>
          <p:nvPr/>
        </p:nvCxnSpPr>
        <p:spPr>
          <a:xfrm>
            <a:off x="8806748" y="1732788"/>
            <a:ext cx="0" cy="3829050"/>
          </a:xfrm>
          <a:prstGeom prst="line">
            <a:avLst/>
          </a:prstGeom>
          <a:ln w="9525" cap="flat">
            <a:solidFill>
              <a:srgbClr val="E6E8F2"/>
            </a:solidFill>
          </a:ln>
        </p:spPr>
      </p:cxnSp>
      <p:cxnSp>
        <p:nvCxnSpPr>
          <p:cNvPr id="14" name="Line 14"/>
          <p:cNvCxnSpPr/>
          <p:nvPr/>
        </p:nvCxnSpPr>
        <p:spPr>
          <a:xfrm>
            <a:off x="9005583" y="1732788"/>
            <a:ext cx="0" cy="3829050"/>
          </a:xfrm>
          <a:prstGeom prst="line">
            <a:avLst/>
          </a:prstGeom>
          <a:ln w="9525" cap="flat">
            <a:solidFill>
              <a:srgbClr val="E6E8F2"/>
            </a:solidFill>
          </a:ln>
        </p:spPr>
      </p:cxnSp>
      <p:cxnSp>
        <p:nvCxnSpPr>
          <p:cNvPr id="15" name="Line 15"/>
          <p:cNvCxnSpPr/>
          <p:nvPr/>
        </p:nvCxnSpPr>
        <p:spPr>
          <a:xfrm>
            <a:off x="9204417" y="1732788"/>
            <a:ext cx="0" cy="3829050"/>
          </a:xfrm>
          <a:prstGeom prst="line">
            <a:avLst/>
          </a:prstGeom>
          <a:ln w="9525" cap="flat">
            <a:solidFill>
              <a:srgbClr val="E6E8F2"/>
            </a:solidFill>
          </a:ln>
        </p:spPr>
      </p:cxnSp>
      <p:cxnSp>
        <p:nvCxnSpPr>
          <p:cNvPr id="16" name="Line 16"/>
          <p:cNvCxnSpPr/>
          <p:nvPr/>
        </p:nvCxnSpPr>
        <p:spPr>
          <a:xfrm>
            <a:off x="9403251" y="1732788"/>
            <a:ext cx="0" cy="3829050"/>
          </a:xfrm>
          <a:prstGeom prst="line">
            <a:avLst/>
          </a:prstGeom>
          <a:ln w="9525" cap="flat">
            <a:solidFill>
              <a:srgbClr val="E6E8F2"/>
            </a:solidFill>
          </a:ln>
        </p:spPr>
      </p:cxnSp>
      <p:cxnSp>
        <p:nvCxnSpPr>
          <p:cNvPr id="17" name="Line 17"/>
          <p:cNvCxnSpPr/>
          <p:nvPr/>
        </p:nvCxnSpPr>
        <p:spPr>
          <a:xfrm>
            <a:off x="9602086" y="1732788"/>
            <a:ext cx="0" cy="3829050"/>
          </a:xfrm>
          <a:prstGeom prst="line">
            <a:avLst/>
          </a:prstGeom>
          <a:ln w="9525" cap="flat">
            <a:solidFill>
              <a:srgbClr val="E6E8F2"/>
            </a:solidFill>
          </a:ln>
        </p:spPr>
      </p:cxnSp>
      <p:cxnSp>
        <p:nvCxnSpPr>
          <p:cNvPr id="18" name="Line 18"/>
          <p:cNvCxnSpPr/>
          <p:nvPr/>
        </p:nvCxnSpPr>
        <p:spPr>
          <a:xfrm>
            <a:off x="9800920" y="1732788"/>
            <a:ext cx="0" cy="3829050"/>
          </a:xfrm>
          <a:prstGeom prst="line">
            <a:avLst/>
          </a:prstGeom>
          <a:ln w="9525" cap="flat">
            <a:solidFill>
              <a:srgbClr val="E6E8F2"/>
            </a:solidFill>
          </a:ln>
        </p:spPr>
      </p:cxnSp>
      <p:cxnSp>
        <p:nvCxnSpPr>
          <p:cNvPr id="19" name="Line 19"/>
          <p:cNvCxnSpPr/>
          <p:nvPr/>
        </p:nvCxnSpPr>
        <p:spPr>
          <a:xfrm>
            <a:off x="9999755" y="1732788"/>
            <a:ext cx="0" cy="3829050"/>
          </a:xfrm>
          <a:prstGeom prst="line">
            <a:avLst/>
          </a:prstGeom>
          <a:ln w="9525" cap="flat">
            <a:solidFill>
              <a:srgbClr val="E6E8F2"/>
            </a:solidFill>
          </a:ln>
        </p:spPr>
      </p:cxnSp>
      <p:cxnSp>
        <p:nvCxnSpPr>
          <p:cNvPr id="20" name="Line 20"/>
          <p:cNvCxnSpPr/>
          <p:nvPr/>
        </p:nvCxnSpPr>
        <p:spPr>
          <a:xfrm>
            <a:off x="10198589" y="1732788"/>
            <a:ext cx="0" cy="3829050"/>
          </a:xfrm>
          <a:prstGeom prst="line">
            <a:avLst/>
          </a:prstGeom>
          <a:ln w="9525" cap="flat">
            <a:solidFill>
              <a:srgbClr val="E6E8F2"/>
            </a:solidFill>
          </a:ln>
        </p:spPr>
      </p:cxnSp>
      <p:cxnSp>
        <p:nvCxnSpPr>
          <p:cNvPr id="21" name="Line 21"/>
          <p:cNvCxnSpPr/>
          <p:nvPr/>
        </p:nvCxnSpPr>
        <p:spPr>
          <a:xfrm>
            <a:off x="10397423" y="1732788"/>
            <a:ext cx="0" cy="3829050"/>
          </a:xfrm>
          <a:prstGeom prst="line">
            <a:avLst/>
          </a:prstGeom>
          <a:ln w="9525" cap="flat">
            <a:solidFill>
              <a:srgbClr val="E6E8F2"/>
            </a:solidFill>
          </a:ln>
        </p:spPr>
      </p:cxnSp>
      <p:cxnSp>
        <p:nvCxnSpPr>
          <p:cNvPr id="22" name="Line 22"/>
          <p:cNvCxnSpPr/>
          <p:nvPr/>
        </p:nvCxnSpPr>
        <p:spPr>
          <a:xfrm>
            <a:off x="10596258" y="1732788"/>
            <a:ext cx="0" cy="3829050"/>
          </a:xfrm>
          <a:prstGeom prst="line">
            <a:avLst/>
          </a:prstGeom>
          <a:ln w="9525" cap="flat">
            <a:solidFill>
              <a:srgbClr val="E6E8F2"/>
            </a:solidFill>
          </a:ln>
        </p:spPr>
      </p:cxnSp>
      <p:cxnSp>
        <p:nvCxnSpPr>
          <p:cNvPr id="23" name="Line 23"/>
          <p:cNvCxnSpPr/>
          <p:nvPr/>
        </p:nvCxnSpPr>
        <p:spPr>
          <a:xfrm>
            <a:off x="10795092" y="1732788"/>
            <a:ext cx="0" cy="3829050"/>
          </a:xfrm>
          <a:prstGeom prst="line">
            <a:avLst/>
          </a:prstGeom>
          <a:ln w="9525" cap="flat">
            <a:solidFill>
              <a:srgbClr val="E6E8F2"/>
            </a:solidFill>
          </a:ln>
        </p:spPr>
      </p:cxnSp>
      <p:cxnSp>
        <p:nvCxnSpPr>
          <p:cNvPr id="24" name="Line 24"/>
          <p:cNvCxnSpPr/>
          <p:nvPr/>
        </p:nvCxnSpPr>
        <p:spPr>
          <a:xfrm>
            <a:off x="10993926" y="1732788"/>
            <a:ext cx="0" cy="3829050"/>
          </a:xfrm>
          <a:prstGeom prst="line">
            <a:avLst/>
          </a:prstGeom>
          <a:ln w="9525" cap="flat">
            <a:solidFill>
              <a:srgbClr val="E6E8F2"/>
            </a:solidFill>
          </a:ln>
        </p:spPr>
      </p:cxnSp>
      <p:cxnSp>
        <p:nvCxnSpPr>
          <p:cNvPr id="25" name="Line 25"/>
          <p:cNvCxnSpPr/>
          <p:nvPr/>
        </p:nvCxnSpPr>
        <p:spPr>
          <a:xfrm>
            <a:off x="11192761" y="1732788"/>
            <a:ext cx="0" cy="3829050"/>
          </a:xfrm>
          <a:prstGeom prst="line">
            <a:avLst/>
          </a:prstGeom>
          <a:ln w="9525" cap="flat">
            <a:solidFill>
              <a:srgbClr val="E6E8F2"/>
            </a:solidFill>
          </a:ln>
        </p:spPr>
      </p:cxnSp>
      <p:cxnSp>
        <p:nvCxnSpPr>
          <p:cNvPr id="26" name="Line 26"/>
          <p:cNvCxnSpPr/>
          <p:nvPr/>
        </p:nvCxnSpPr>
        <p:spPr>
          <a:xfrm>
            <a:off x="11391595" y="1732788"/>
            <a:ext cx="0" cy="3829050"/>
          </a:xfrm>
          <a:prstGeom prst="line">
            <a:avLst/>
          </a:prstGeom>
          <a:ln w="9525" cap="flat">
            <a:solidFill>
              <a:srgbClr val="E6E8F2"/>
            </a:solidFill>
          </a:ln>
        </p:spPr>
      </p:cxnSp>
      <p:cxnSp>
        <p:nvCxnSpPr>
          <p:cNvPr id="27" name="Line 27"/>
          <p:cNvCxnSpPr/>
          <p:nvPr/>
        </p:nvCxnSpPr>
        <p:spPr>
          <a:xfrm>
            <a:off x="8210245" y="5561838"/>
            <a:ext cx="3181350" cy="0"/>
          </a:xfrm>
          <a:prstGeom prst="line">
            <a:avLst/>
          </a:prstGeom>
          <a:ln w="9525" cap="flat">
            <a:solidFill>
              <a:srgbClr val="E6E8F2"/>
            </a:solidFill>
          </a:ln>
        </p:spPr>
      </p:cxnSp>
      <p:cxnSp>
        <p:nvCxnSpPr>
          <p:cNvPr id="28" name="Line 28"/>
          <p:cNvCxnSpPr/>
          <p:nvPr/>
        </p:nvCxnSpPr>
        <p:spPr>
          <a:xfrm>
            <a:off x="8210245" y="5136388"/>
            <a:ext cx="3181350" cy="0"/>
          </a:xfrm>
          <a:prstGeom prst="line">
            <a:avLst/>
          </a:prstGeom>
          <a:ln w="9525" cap="flat">
            <a:solidFill>
              <a:srgbClr val="E6E8F2"/>
            </a:solidFill>
          </a:ln>
        </p:spPr>
      </p:cxnSp>
      <p:cxnSp>
        <p:nvCxnSpPr>
          <p:cNvPr id="29" name="Line 29"/>
          <p:cNvCxnSpPr/>
          <p:nvPr/>
        </p:nvCxnSpPr>
        <p:spPr>
          <a:xfrm>
            <a:off x="8210245" y="4710938"/>
            <a:ext cx="3181350" cy="0"/>
          </a:xfrm>
          <a:prstGeom prst="line">
            <a:avLst/>
          </a:prstGeom>
          <a:ln w="9525" cap="flat">
            <a:solidFill>
              <a:srgbClr val="E6E8F2"/>
            </a:solidFill>
          </a:ln>
        </p:spPr>
      </p:cxnSp>
      <p:cxnSp>
        <p:nvCxnSpPr>
          <p:cNvPr id="30" name="Line 30"/>
          <p:cNvCxnSpPr/>
          <p:nvPr/>
        </p:nvCxnSpPr>
        <p:spPr>
          <a:xfrm>
            <a:off x="8210245" y="4285488"/>
            <a:ext cx="3181350" cy="0"/>
          </a:xfrm>
          <a:prstGeom prst="line">
            <a:avLst/>
          </a:prstGeom>
          <a:ln w="9525" cap="flat">
            <a:solidFill>
              <a:srgbClr val="E6E8F2"/>
            </a:solidFill>
          </a:ln>
        </p:spPr>
      </p:cxnSp>
      <p:cxnSp>
        <p:nvCxnSpPr>
          <p:cNvPr id="31" name="Line 31"/>
          <p:cNvCxnSpPr/>
          <p:nvPr/>
        </p:nvCxnSpPr>
        <p:spPr>
          <a:xfrm>
            <a:off x="8210245" y="3860038"/>
            <a:ext cx="3181350" cy="0"/>
          </a:xfrm>
          <a:prstGeom prst="line">
            <a:avLst/>
          </a:prstGeom>
          <a:ln w="9525" cap="flat">
            <a:solidFill>
              <a:srgbClr val="E6E8F2"/>
            </a:solidFill>
          </a:ln>
        </p:spPr>
      </p:cxnSp>
      <p:cxnSp>
        <p:nvCxnSpPr>
          <p:cNvPr id="32" name="Line 32"/>
          <p:cNvCxnSpPr/>
          <p:nvPr/>
        </p:nvCxnSpPr>
        <p:spPr>
          <a:xfrm>
            <a:off x="8210245" y="3434588"/>
            <a:ext cx="3181350" cy="0"/>
          </a:xfrm>
          <a:prstGeom prst="line">
            <a:avLst/>
          </a:prstGeom>
          <a:ln w="9525" cap="flat">
            <a:solidFill>
              <a:srgbClr val="E6E8F2"/>
            </a:solidFill>
          </a:ln>
        </p:spPr>
      </p:cxnSp>
      <p:cxnSp>
        <p:nvCxnSpPr>
          <p:cNvPr id="33" name="Line 33"/>
          <p:cNvCxnSpPr/>
          <p:nvPr/>
        </p:nvCxnSpPr>
        <p:spPr>
          <a:xfrm>
            <a:off x="8210245" y="3009138"/>
            <a:ext cx="3181350" cy="0"/>
          </a:xfrm>
          <a:prstGeom prst="line">
            <a:avLst/>
          </a:prstGeom>
          <a:ln w="9525" cap="flat">
            <a:solidFill>
              <a:srgbClr val="E6E8F2"/>
            </a:solidFill>
          </a:ln>
        </p:spPr>
      </p:cxnSp>
      <p:cxnSp>
        <p:nvCxnSpPr>
          <p:cNvPr id="34" name="Line 34"/>
          <p:cNvCxnSpPr/>
          <p:nvPr/>
        </p:nvCxnSpPr>
        <p:spPr>
          <a:xfrm>
            <a:off x="8210245" y="2583688"/>
            <a:ext cx="3181350" cy="0"/>
          </a:xfrm>
          <a:prstGeom prst="line">
            <a:avLst/>
          </a:prstGeom>
          <a:ln w="9525" cap="flat">
            <a:solidFill>
              <a:srgbClr val="E6E8F2"/>
            </a:solidFill>
          </a:ln>
        </p:spPr>
      </p:cxnSp>
      <p:cxnSp>
        <p:nvCxnSpPr>
          <p:cNvPr id="35" name="Line 35"/>
          <p:cNvCxnSpPr/>
          <p:nvPr/>
        </p:nvCxnSpPr>
        <p:spPr>
          <a:xfrm>
            <a:off x="8210245" y="2158238"/>
            <a:ext cx="3181350" cy="0"/>
          </a:xfrm>
          <a:prstGeom prst="line">
            <a:avLst/>
          </a:prstGeom>
          <a:ln w="9525" cap="flat">
            <a:solidFill>
              <a:srgbClr val="E6E8F2"/>
            </a:solidFill>
          </a:ln>
        </p:spPr>
      </p:cxnSp>
      <p:cxnSp>
        <p:nvCxnSpPr>
          <p:cNvPr id="36" name="Line 36"/>
          <p:cNvCxnSpPr/>
          <p:nvPr/>
        </p:nvCxnSpPr>
        <p:spPr>
          <a:xfrm>
            <a:off x="8210245" y="1732788"/>
            <a:ext cx="3181350" cy="0"/>
          </a:xfrm>
          <a:prstGeom prst="line">
            <a:avLst/>
          </a:prstGeom>
          <a:ln w="9525" cap="flat">
            <a:solidFill>
              <a:srgbClr val="E6E8F2"/>
            </a:solidFill>
          </a:ln>
        </p:spPr>
      </p:cxnSp>
      <p:cxnSp>
        <p:nvCxnSpPr>
          <p:cNvPr id="37" name="Line 37"/>
          <p:cNvCxnSpPr/>
          <p:nvPr/>
        </p:nvCxnSpPr>
        <p:spPr>
          <a:xfrm>
            <a:off x="9800920" y="1732788"/>
            <a:ext cx="0" cy="3829050"/>
          </a:xfrm>
          <a:prstGeom prst="line">
            <a:avLst/>
          </a:prstGeom>
          <a:ln w="19050" cap="flat">
            <a:solidFill>
              <a:srgbClr val="5F6272"/>
            </a:solidFill>
          </a:ln>
        </p:spPr>
      </p:cxnSp>
      <p:cxnSp>
        <p:nvCxnSpPr>
          <p:cNvPr id="38" name="Line 38"/>
          <p:cNvCxnSpPr/>
          <p:nvPr/>
        </p:nvCxnSpPr>
        <p:spPr>
          <a:xfrm>
            <a:off x="8210245" y="5136388"/>
            <a:ext cx="3181350" cy="0"/>
          </a:xfrm>
          <a:prstGeom prst="line">
            <a:avLst/>
          </a:prstGeom>
          <a:ln w="19050" cap="flat">
            <a:solidFill>
              <a:srgbClr val="5F6272"/>
            </a:solidFill>
          </a:ln>
        </p:spPr>
      </p:cxnSp>
      <p:sp>
        <p:nvSpPr>
          <p:cNvPr id="39" name="Shape 39"/>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8333594"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128931"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9924269"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0719606"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7643317" y="50449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7643317" y="4619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1" name="Shape 51"/>
          <p:cNvSpPr txBox="1"/>
          <p:nvPr/>
        </p:nvSpPr>
        <p:spPr>
          <a:xfrm>
            <a:off x="7643317" y="4194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2" name="Shape 52"/>
          <p:cNvSpPr txBox="1"/>
          <p:nvPr/>
        </p:nvSpPr>
        <p:spPr>
          <a:xfrm>
            <a:off x="7643317" y="3768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53" name="Shape 53"/>
          <p:cNvSpPr txBox="1"/>
          <p:nvPr/>
        </p:nvSpPr>
        <p:spPr>
          <a:xfrm>
            <a:off x="7643317" y="3343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917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5" name="Shape 55"/>
          <p:cNvSpPr txBox="1"/>
          <p:nvPr/>
        </p:nvSpPr>
        <p:spPr>
          <a:xfrm>
            <a:off x="7643317" y="24922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20667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7" name="Shape 57"/>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8" name="Shape 58"/>
          <p:cNvSpPr/>
          <p:nvPr/>
        </p:nvSpPr>
        <p:spPr>
          <a:xfrm>
            <a:off x="9748533" y="40203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86645" y="38251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(0, 25)</a:t>
            </a:r>
            <a:endParaRPr lang="en-US" sz="1125" dirty="0"/>
          </a:p>
        </p:txBody>
      </p:sp>
      <p:sp>
        <p:nvSpPr>
          <p:cNvPr id="60" name="Shape 60"/>
          <p:cNvSpPr/>
          <p:nvPr/>
        </p:nvSpPr>
        <p:spPr>
          <a:xfrm>
            <a:off x="9947367" y="35949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10085480" y="33996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(1, 35)</a:t>
            </a:r>
            <a:endParaRPr lang="en-US" sz="1125" dirty="0"/>
          </a:p>
        </p:txBody>
      </p:sp>
      <p:sp>
        <p:nvSpPr>
          <p:cNvPr id="62" name="Shape 62"/>
          <p:cNvSpPr/>
          <p:nvPr/>
        </p:nvSpPr>
        <p:spPr>
          <a:xfrm>
            <a:off x="9549698" y="444582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txBox="1"/>
          <p:nvPr/>
        </p:nvSpPr>
        <p:spPr>
          <a:xfrm>
            <a:off x="9687811" y="42505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15)</a:t>
            </a:r>
            <a:endParaRPr lang="en-US" sz="1125" dirty="0"/>
          </a:p>
        </p:txBody>
      </p:sp>
      <p:cxnSp>
        <p:nvCxnSpPr>
          <p:cNvPr id="64" name="Line 64"/>
          <p:cNvCxnSpPr/>
          <p:nvPr/>
        </p:nvCxnSpPr>
        <p:spPr>
          <a:xfrm flipV="1">
            <a:off x="9105000" y="1732788"/>
            <a:ext cx="1789509"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8"/>
                                        </p:tgtEl>
                                        <p:attrNameLst>
                                          <p:attrName>style.visibility</p:attrName>
                                        </p:attrNameLst>
                                      </p:cBhvr>
                                      <p:to>
                                        <p:strVal val="visible"/>
                                      </p:to>
                                    </p:set>
                                    <p:animEffect transition="in" filter="fade">
                                      <p:cBhvr>
                                        <p:cTn id="4" dur="500"/>
                                        <p:tgtEl>
                                          <p:spTgt spid="58"/>
                                        </p:tgtEl>
                                      </p:cBhvr>
                                    </p:animEffect>
                                    <p:anim calcmode="lin" valueType="num">
                                      <p:cBhvr>
                                        <p:cTn id="5" dur="500" fill="hold"/>
                                        <p:tgtEl>
                                          <p:spTgt spid="58"/>
                                        </p:tgtEl>
                                        <p:attrNameLst>
                                          <p:attrName>ppt_w</p:attrName>
                                        </p:attrNameLst>
                                      </p:cBhvr>
                                      <p:tavLst>
                                        <p:tav tm="0">
                                          <p:val>
                                            <p:fltVal val="0"/>
                                          </p:val>
                                        </p:tav>
                                        <p:tav tm="100000">
                                          <p:val>
                                            <p:strVal val="#ppt_w"/>
                                          </p:val>
                                        </p:tav>
                                      </p:tavLst>
                                    </p:anim>
                                    <p:anim calcmode="lin" valueType="num">
                                      <p:cBhvr>
                                        <p:cTn id="6" dur="500" fill="hold"/>
                                        <p:tgtEl>
                                          <p:spTgt spid="58"/>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9"/>
                                        </p:tgtEl>
                                        <p:attrNameLst>
                                          <p:attrName>style.visibility</p:attrName>
                                        </p:attrNameLst>
                                      </p:cBhvr>
                                      <p:to>
                                        <p:strVal val="visible"/>
                                      </p:to>
                                    </p:set>
                                    <p:animEffect transition="in" filter="fade">
                                      <p:cBhvr>
                                        <p:cTn id="9" dur="500"/>
                                        <p:tgtEl>
                                          <p:spTgt spid="59"/>
                                        </p:tgtEl>
                                      </p:cBhvr>
                                    </p:animEffect>
                                    <p:anim calcmode="lin" valueType="num">
                                      <p:cBhvr>
                                        <p:cTn id="10" dur="500" fill="hold"/>
                                        <p:tgtEl>
                                          <p:spTgt spid="59"/>
                                        </p:tgtEl>
                                        <p:attrNameLst>
                                          <p:attrName>ppt_w</p:attrName>
                                        </p:attrNameLst>
                                      </p:cBhvr>
                                      <p:tavLst>
                                        <p:tav tm="0">
                                          <p:val>
                                            <p:fltVal val="0"/>
                                          </p:val>
                                        </p:tav>
                                        <p:tav tm="100000">
                                          <p:val>
                                            <p:strVal val="#ppt_w"/>
                                          </p:val>
                                        </p:tav>
                                      </p:tavLst>
                                    </p:anim>
                                    <p:anim calcmode="lin" valueType="num">
                                      <p:cBhvr>
                                        <p:cTn id="11"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500"/>
                                        <p:tgtEl>
                                          <p:spTgt spid="60"/>
                                        </p:tgtEl>
                                      </p:cBhvr>
                                    </p:animEffect>
                                    <p:anim calcmode="lin" valueType="num">
                                      <p:cBhvr>
                                        <p:cTn id="17" dur="500" fill="hold"/>
                                        <p:tgtEl>
                                          <p:spTgt spid="60"/>
                                        </p:tgtEl>
                                        <p:attrNameLst>
                                          <p:attrName>ppt_w</p:attrName>
                                        </p:attrNameLst>
                                      </p:cBhvr>
                                      <p:tavLst>
                                        <p:tav tm="0">
                                          <p:val>
                                            <p:fltVal val="0"/>
                                          </p:val>
                                        </p:tav>
                                        <p:tav tm="100000">
                                          <p:val>
                                            <p:strVal val="#ppt_w"/>
                                          </p:val>
                                        </p:tav>
                                      </p:tavLst>
                                    </p:anim>
                                    <p:anim calcmode="lin" valueType="num">
                                      <p:cBhvr>
                                        <p:cTn id="18" dur="500" fill="hold"/>
                                        <p:tgtEl>
                                          <p:spTgt spid="60"/>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500"/>
                                        <p:tgtEl>
                                          <p:spTgt spid="61"/>
                                        </p:tgtEl>
                                      </p:cBhvr>
                                    </p:animEffect>
                                    <p:anim calcmode="lin" valueType="num">
                                      <p:cBhvr>
                                        <p:cTn id="22" dur="500" fill="hold"/>
                                        <p:tgtEl>
                                          <p:spTgt spid="61"/>
                                        </p:tgtEl>
                                        <p:attrNameLst>
                                          <p:attrName>ppt_w</p:attrName>
                                        </p:attrNameLst>
                                      </p:cBhvr>
                                      <p:tavLst>
                                        <p:tav tm="0">
                                          <p:val>
                                            <p:fltVal val="0"/>
                                          </p:val>
                                        </p:tav>
                                        <p:tav tm="100000">
                                          <p:val>
                                            <p:strVal val="#ppt_w"/>
                                          </p:val>
                                        </p:tav>
                                      </p:tavLst>
                                    </p:anim>
                                    <p:anim calcmode="lin" valueType="num">
                                      <p:cBhvr>
                                        <p:cTn id="23" dur="500" fill="hold"/>
                                        <p:tgtEl>
                                          <p:spTgt spid="61"/>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anim calcmode="lin" valueType="num">
                                      <p:cBhvr>
                                        <p:cTn id="29" dur="500" fill="hold"/>
                                        <p:tgtEl>
                                          <p:spTgt spid="62"/>
                                        </p:tgtEl>
                                        <p:attrNameLst>
                                          <p:attrName>ppt_w</p:attrName>
                                        </p:attrNameLst>
                                      </p:cBhvr>
                                      <p:tavLst>
                                        <p:tav tm="0">
                                          <p:val>
                                            <p:fltVal val="0"/>
                                          </p:val>
                                        </p:tav>
                                        <p:tav tm="100000">
                                          <p:val>
                                            <p:strVal val="#ppt_w"/>
                                          </p:val>
                                        </p:tav>
                                      </p:tavLst>
                                    </p:anim>
                                    <p:anim calcmode="lin" valueType="num">
                                      <p:cBhvr>
                                        <p:cTn id="30" dur="500" fill="hold"/>
                                        <p:tgtEl>
                                          <p:spTgt spid="62"/>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ppt_w</p:attrName>
                                        </p:attrNameLst>
                                      </p:cBhvr>
                                      <p:tavLst>
                                        <p:tav tm="0">
                                          <p:val>
                                            <p:fltVal val="0"/>
                                          </p:val>
                                        </p:tav>
                                        <p:tav tm="100000">
                                          <p:val>
                                            <p:strVal val="#ppt_w"/>
                                          </p:val>
                                        </p:tav>
                                      </p:tavLst>
                                    </p:anim>
                                    <p:anim calcmode="lin" valueType="num">
                                      <p:cBhvr>
                                        <p:cTn id="35"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7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4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Avery's headset savings</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Avery has </a:t>
            </a:r>
            <a:r>
              <a:rPr lang="en-US" sz="1575" dirty="0" b="1">
                <a:solidFill>
                  <a:srgbClr val="16171D"/>
                </a:solidFill>
                <a:latin typeface="Segoe UI"/>
                <a:cs typeface="Segoe UI"/>
              </a:rPr>
              <a:t xml:space="preserve">$30</a:t>
            </a:r>
            <a:r>
              <a:rPr lang="en-US" sz="1575" dirty="0">
                <a:solidFill>
                  <a:srgbClr val="16171D"/>
                </a:solidFill>
                <a:latin typeface="Segoe UI"/>
                <a:cs typeface="Segoe UI"/>
              </a:rPr>
              <a:t xml:space="preserve"> saved and plans to mow lawns for </a:t>
            </a:r>
            <a:r>
              <a:rPr lang="en-US" sz="1575" dirty="0" b="1">
                <a:solidFill>
                  <a:srgbClr val="16171D"/>
                </a:solidFill>
                <a:latin typeface="Segoe UI"/>
                <a:cs typeface="Segoe UI"/>
              </a:rPr>
              <a:t xml:space="preserve">$15 each</a:t>
            </a:r>
            <a:r>
              <a:rPr lang="en-US" sz="1575" dirty="0">
                <a:solidFill>
                  <a:srgbClr val="16171D"/>
                </a:solidFill>
                <a:latin typeface="Segoe UI"/>
                <a:cs typeface="Segoe UI"/>
              </a:rPr>
              <a:t xml:space="preserve">. Write an equation, then graph it.</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lawns mowed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 in dollars.</a:t>
            </a:r>
            <a:endParaRPr lang="en-US" sz="1575" dirty="0"/>
          </a:p>
        </p:txBody>
      </p:sp>
      <p:sp>
        <p:nvSpPr>
          <p:cNvPr id="6" name="Shape 6"/>
          <p:cNvSpPr txBox="1"/>
          <p:nvPr/>
        </p:nvSpPr>
        <p:spPr>
          <a:xfrm>
            <a:off x="685800" y="2494026"/>
            <a:ext cx="67433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Starts at $30 → </a:t>
            </a:r>
            <a:r>
              <a:rPr lang="en-US" sz="1950" dirty="0" b="1">
                <a:solidFill>
                  <a:srgbClr val="3050B8"/>
                </a:solidFill>
                <a:latin typeface="Segoe UI"/>
                <a:cs typeface="Segoe UI"/>
              </a:rPr>
              <a:t xml:space="preserve">(0, 30)</a:t>
            </a:r>
            <a:r>
              <a:rPr lang="en-US" sz="1950" dirty="0">
                <a:solidFill>
                  <a:srgbClr val="16171D"/>
                </a:solidFill>
                <a:latin typeface="Segoe UI"/>
                <a:cs typeface="Segoe UI"/>
              </a:rPr>
              <a:t xml:space="preserve">. Earns $15 per lawn → </a:t>
            </a:r>
            <a:r>
              <a:rPr lang="en-US" sz="1950" dirty="0" b="1">
                <a:solidFill>
                  <a:srgbClr val="C9561F"/>
                </a:solidFill>
                <a:latin typeface="Segoe UI"/>
                <a:cs typeface="Segoe UI"/>
              </a:rPr>
              <a:t xml:space="preserve">slope 15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57550"/>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30</a:t>
            </a:r>
            <a:endParaRPr lang="en-US" sz="2850" dirty="0"/>
          </a:p>
        </p:txBody>
      </p:sp>
      <p:sp>
        <p:nvSpPr>
          <p:cNvPr id="8" name="Shape 8"/>
          <p:cNvSpPr txBox="1"/>
          <p:nvPr/>
        </p:nvSpPr>
        <p:spPr>
          <a:xfrm>
            <a:off x="685800" y="397078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30), then up 15 and right 1 for each lawn.</a:t>
            </a:r>
            <a:endParaRPr lang="en-US" sz="1575" dirty="0"/>
          </a:p>
        </p:txBody>
      </p:sp>
      <p:sp>
        <p:nvSpPr>
          <p:cNvPr id="9" name="Shape 9"/>
          <p:cNvSpPr txBox="1"/>
          <p:nvPr/>
        </p:nvSpPr>
        <p:spPr>
          <a:xfrm>
            <a:off x="685800" y="4379976"/>
            <a:ext cx="6743395"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Should the graph have arrows or points on each end? Avery can't mow −1 lawns, so the graph starts at (0, 30) with a closed point.</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28380" y="2199132"/>
            <a:ext cx="0" cy="3448050"/>
          </a:xfrm>
          <a:prstGeom prst="line">
            <a:avLst/>
          </a:prstGeom>
          <a:ln w="9525" cap="flat">
            <a:solidFill>
              <a:srgbClr val="E6E8F2"/>
            </a:solidFill>
          </a:ln>
        </p:spPr>
      </p:cxnSp>
      <p:cxnSp>
        <p:nvCxnSpPr>
          <p:cNvPr id="13" name="Line 13"/>
          <p:cNvCxnSpPr/>
          <p:nvPr/>
        </p:nvCxnSpPr>
        <p:spPr>
          <a:xfrm>
            <a:off x="8846515" y="2199132"/>
            <a:ext cx="0" cy="3448050"/>
          </a:xfrm>
          <a:prstGeom prst="line">
            <a:avLst/>
          </a:prstGeom>
          <a:ln w="9525" cap="flat">
            <a:solidFill>
              <a:srgbClr val="E6E8F2"/>
            </a:solidFill>
          </a:ln>
        </p:spPr>
      </p:cxnSp>
      <p:cxnSp>
        <p:nvCxnSpPr>
          <p:cNvPr id="14" name="Line 14"/>
          <p:cNvCxnSpPr/>
          <p:nvPr/>
        </p:nvCxnSpPr>
        <p:spPr>
          <a:xfrm>
            <a:off x="9164650" y="2199132"/>
            <a:ext cx="0" cy="3448050"/>
          </a:xfrm>
          <a:prstGeom prst="line">
            <a:avLst/>
          </a:prstGeom>
          <a:ln w="9525" cap="flat">
            <a:solidFill>
              <a:srgbClr val="E6E8F2"/>
            </a:solidFill>
          </a:ln>
        </p:spPr>
      </p:cxnSp>
      <p:cxnSp>
        <p:nvCxnSpPr>
          <p:cNvPr id="15" name="Line 15"/>
          <p:cNvCxnSpPr/>
          <p:nvPr/>
        </p:nvCxnSpPr>
        <p:spPr>
          <a:xfrm>
            <a:off x="9482785" y="2199132"/>
            <a:ext cx="0" cy="3448050"/>
          </a:xfrm>
          <a:prstGeom prst="line">
            <a:avLst/>
          </a:prstGeom>
          <a:ln w="9525" cap="flat">
            <a:solidFill>
              <a:srgbClr val="E6E8F2"/>
            </a:solidFill>
          </a:ln>
        </p:spPr>
      </p:cxnSp>
      <p:cxnSp>
        <p:nvCxnSpPr>
          <p:cNvPr id="16" name="Line 16"/>
          <p:cNvCxnSpPr/>
          <p:nvPr/>
        </p:nvCxnSpPr>
        <p:spPr>
          <a:xfrm>
            <a:off x="9800920" y="2199132"/>
            <a:ext cx="0" cy="3448050"/>
          </a:xfrm>
          <a:prstGeom prst="line">
            <a:avLst/>
          </a:prstGeom>
          <a:ln w="9525" cap="flat">
            <a:solidFill>
              <a:srgbClr val="E6E8F2"/>
            </a:solidFill>
          </a:ln>
        </p:spPr>
      </p:cxnSp>
      <p:cxnSp>
        <p:nvCxnSpPr>
          <p:cNvPr id="17" name="Line 17"/>
          <p:cNvCxnSpPr/>
          <p:nvPr/>
        </p:nvCxnSpPr>
        <p:spPr>
          <a:xfrm>
            <a:off x="10119055" y="2199132"/>
            <a:ext cx="0" cy="3448050"/>
          </a:xfrm>
          <a:prstGeom prst="line">
            <a:avLst/>
          </a:prstGeom>
          <a:ln w="9525" cap="flat">
            <a:solidFill>
              <a:srgbClr val="E6E8F2"/>
            </a:solidFill>
          </a:ln>
        </p:spPr>
      </p:cxnSp>
      <p:cxnSp>
        <p:nvCxnSpPr>
          <p:cNvPr id="18" name="Line 18"/>
          <p:cNvCxnSpPr/>
          <p:nvPr/>
        </p:nvCxnSpPr>
        <p:spPr>
          <a:xfrm>
            <a:off x="10437190" y="2199132"/>
            <a:ext cx="0" cy="3448050"/>
          </a:xfrm>
          <a:prstGeom prst="line">
            <a:avLst/>
          </a:prstGeom>
          <a:ln w="9525" cap="flat">
            <a:solidFill>
              <a:srgbClr val="E6E8F2"/>
            </a:solidFill>
          </a:ln>
        </p:spPr>
      </p:cxnSp>
      <p:cxnSp>
        <p:nvCxnSpPr>
          <p:cNvPr id="19" name="Line 19"/>
          <p:cNvCxnSpPr/>
          <p:nvPr/>
        </p:nvCxnSpPr>
        <p:spPr>
          <a:xfrm>
            <a:off x="10755325" y="2199132"/>
            <a:ext cx="0" cy="3448050"/>
          </a:xfrm>
          <a:prstGeom prst="line">
            <a:avLst/>
          </a:prstGeom>
          <a:ln w="9525" cap="flat">
            <a:solidFill>
              <a:srgbClr val="E6E8F2"/>
            </a:solidFill>
          </a:ln>
        </p:spPr>
      </p:cxnSp>
      <p:cxnSp>
        <p:nvCxnSpPr>
          <p:cNvPr id="20" name="Line 20"/>
          <p:cNvCxnSpPr/>
          <p:nvPr/>
        </p:nvCxnSpPr>
        <p:spPr>
          <a:xfrm>
            <a:off x="11073460" y="2199132"/>
            <a:ext cx="0" cy="3448050"/>
          </a:xfrm>
          <a:prstGeom prst="line">
            <a:avLst/>
          </a:prstGeom>
          <a:ln w="9525" cap="flat">
            <a:solidFill>
              <a:srgbClr val="E6E8F2"/>
            </a:solidFill>
          </a:ln>
        </p:spPr>
      </p:cxnSp>
      <p:cxnSp>
        <p:nvCxnSpPr>
          <p:cNvPr id="21" name="Line 21"/>
          <p:cNvCxnSpPr/>
          <p:nvPr/>
        </p:nvCxnSpPr>
        <p:spPr>
          <a:xfrm>
            <a:off x="11391595" y="2199132"/>
            <a:ext cx="0" cy="3448050"/>
          </a:xfrm>
          <a:prstGeom prst="line">
            <a:avLst/>
          </a:prstGeom>
          <a:ln w="9525" cap="flat">
            <a:solidFill>
              <a:srgbClr val="E6E8F2"/>
            </a:solidFill>
          </a:ln>
        </p:spPr>
      </p:cxnSp>
      <p:cxnSp>
        <p:nvCxnSpPr>
          <p:cNvPr id="22" name="Line 22"/>
          <p:cNvCxnSpPr/>
          <p:nvPr/>
        </p:nvCxnSpPr>
        <p:spPr>
          <a:xfrm>
            <a:off x="8210245" y="5647182"/>
            <a:ext cx="3181350" cy="0"/>
          </a:xfrm>
          <a:prstGeom prst="line">
            <a:avLst/>
          </a:prstGeom>
          <a:ln w="9525" cap="flat">
            <a:solidFill>
              <a:srgbClr val="E6E8F2"/>
            </a:solidFill>
          </a:ln>
        </p:spPr>
      </p:cxnSp>
      <p:cxnSp>
        <p:nvCxnSpPr>
          <p:cNvPr id="23" name="Line 23"/>
          <p:cNvCxnSpPr/>
          <p:nvPr/>
        </p:nvCxnSpPr>
        <p:spPr>
          <a:xfrm>
            <a:off x="8210245" y="5431679"/>
            <a:ext cx="3181350" cy="0"/>
          </a:xfrm>
          <a:prstGeom prst="line">
            <a:avLst/>
          </a:prstGeom>
          <a:ln w="9525" cap="flat">
            <a:solidFill>
              <a:srgbClr val="E6E8F2"/>
            </a:solidFill>
          </a:ln>
        </p:spPr>
      </p:cxnSp>
      <p:cxnSp>
        <p:nvCxnSpPr>
          <p:cNvPr id="24" name="Line 24"/>
          <p:cNvCxnSpPr/>
          <p:nvPr/>
        </p:nvCxnSpPr>
        <p:spPr>
          <a:xfrm>
            <a:off x="8210245" y="5216176"/>
            <a:ext cx="3181350" cy="0"/>
          </a:xfrm>
          <a:prstGeom prst="line">
            <a:avLst/>
          </a:prstGeom>
          <a:ln w="9525" cap="flat">
            <a:solidFill>
              <a:srgbClr val="E6E8F2"/>
            </a:solidFill>
          </a:ln>
        </p:spPr>
      </p:cxnSp>
      <p:cxnSp>
        <p:nvCxnSpPr>
          <p:cNvPr id="25" name="Line 25"/>
          <p:cNvCxnSpPr/>
          <p:nvPr/>
        </p:nvCxnSpPr>
        <p:spPr>
          <a:xfrm>
            <a:off x="8210245" y="5000673"/>
            <a:ext cx="3181350" cy="0"/>
          </a:xfrm>
          <a:prstGeom prst="line">
            <a:avLst/>
          </a:prstGeom>
          <a:ln w="9525" cap="flat">
            <a:solidFill>
              <a:srgbClr val="E6E8F2"/>
            </a:solidFill>
          </a:ln>
        </p:spPr>
      </p:cxnSp>
      <p:cxnSp>
        <p:nvCxnSpPr>
          <p:cNvPr id="26" name="Line 26"/>
          <p:cNvCxnSpPr/>
          <p:nvPr/>
        </p:nvCxnSpPr>
        <p:spPr>
          <a:xfrm>
            <a:off x="8210245" y="4785170"/>
            <a:ext cx="3181350" cy="0"/>
          </a:xfrm>
          <a:prstGeom prst="line">
            <a:avLst/>
          </a:prstGeom>
          <a:ln w="9525" cap="flat">
            <a:solidFill>
              <a:srgbClr val="E6E8F2"/>
            </a:solidFill>
          </a:ln>
        </p:spPr>
      </p:cxnSp>
      <p:cxnSp>
        <p:nvCxnSpPr>
          <p:cNvPr id="27" name="Line 27"/>
          <p:cNvCxnSpPr/>
          <p:nvPr/>
        </p:nvCxnSpPr>
        <p:spPr>
          <a:xfrm>
            <a:off x="8210245" y="4569666"/>
            <a:ext cx="3181350" cy="0"/>
          </a:xfrm>
          <a:prstGeom prst="line">
            <a:avLst/>
          </a:prstGeom>
          <a:ln w="9525" cap="flat">
            <a:solidFill>
              <a:srgbClr val="E6E8F2"/>
            </a:solidFill>
          </a:ln>
        </p:spPr>
      </p:cxnSp>
      <p:cxnSp>
        <p:nvCxnSpPr>
          <p:cNvPr id="28" name="Line 28"/>
          <p:cNvCxnSpPr/>
          <p:nvPr/>
        </p:nvCxnSpPr>
        <p:spPr>
          <a:xfrm>
            <a:off x="8210245" y="4354163"/>
            <a:ext cx="3181350" cy="0"/>
          </a:xfrm>
          <a:prstGeom prst="line">
            <a:avLst/>
          </a:prstGeom>
          <a:ln w="9525" cap="flat">
            <a:solidFill>
              <a:srgbClr val="E6E8F2"/>
            </a:solidFill>
          </a:ln>
        </p:spPr>
      </p:cxnSp>
      <p:cxnSp>
        <p:nvCxnSpPr>
          <p:cNvPr id="29" name="Line 29"/>
          <p:cNvCxnSpPr/>
          <p:nvPr/>
        </p:nvCxnSpPr>
        <p:spPr>
          <a:xfrm>
            <a:off x="8210245" y="4138660"/>
            <a:ext cx="3181350" cy="0"/>
          </a:xfrm>
          <a:prstGeom prst="line">
            <a:avLst/>
          </a:prstGeom>
          <a:ln w="9525" cap="flat">
            <a:solidFill>
              <a:srgbClr val="E6E8F2"/>
            </a:solidFill>
          </a:ln>
        </p:spPr>
      </p:cxnSp>
      <p:cxnSp>
        <p:nvCxnSpPr>
          <p:cNvPr id="30" name="Line 30"/>
          <p:cNvCxnSpPr/>
          <p:nvPr/>
        </p:nvCxnSpPr>
        <p:spPr>
          <a:xfrm>
            <a:off x="8210245" y="3923157"/>
            <a:ext cx="3181350" cy="0"/>
          </a:xfrm>
          <a:prstGeom prst="line">
            <a:avLst/>
          </a:prstGeom>
          <a:ln w="9525" cap="flat">
            <a:solidFill>
              <a:srgbClr val="E6E8F2"/>
            </a:solidFill>
          </a:ln>
        </p:spPr>
      </p:cxnSp>
      <p:cxnSp>
        <p:nvCxnSpPr>
          <p:cNvPr id="31" name="Line 31"/>
          <p:cNvCxnSpPr/>
          <p:nvPr/>
        </p:nvCxnSpPr>
        <p:spPr>
          <a:xfrm>
            <a:off x="8210245" y="3707654"/>
            <a:ext cx="3181350" cy="0"/>
          </a:xfrm>
          <a:prstGeom prst="line">
            <a:avLst/>
          </a:prstGeom>
          <a:ln w="9525" cap="flat">
            <a:solidFill>
              <a:srgbClr val="E6E8F2"/>
            </a:solidFill>
          </a:ln>
        </p:spPr>
      </p:cxnSp>
      <p:cxnSp>
        <p:nvCxnSpPr>
          <p:cNvPr id="32" name="Line 32"/>
          <p:cNvCxnSpPr/>
          <p:nvPr/>
        </p:nvCxnSpPr>
        <p:spPr>
          <a:xfrm>
            <a:off x="8210245" y="3492151"/>
            <a:ext cx="3181350" cy="0"/>
          </a:xfrm>
          <a:prstGeom prst="line">
            <a:avLst/>
          </a:prstGeom>
          <a:ln w="9525" cap="flat">
            <a:solidFill>
              <a:srgbClr val="E6E8F2"/>
            </a:solidFill>
          </a:ln>
        </p:spPr>
      </p:cxnSp>
      <p:cxnSp>
        <p:nvCxnSpPr>
          <p:cNvPr id="33" name="Line 33"/>
          <p:cNvCxnSpPr/>
          <p:nvPr/>
        </p:nvCxnSpPr>
        <p:spPr>
          <a:xfrm>
            <a:off x="8210245" y="3276648"/>
            <a:ext cx="3181350" cy="0"/>
          </a:xfrm>
          <a:prstGeom prst="line">
            <a:avLst/>
          </a:prstGeom>
          <a:ln w="9525" cap="flat">
            <a:solidFill>
              <a:srgbClr val="E6E8F2"/>
            </a:solidFill>
          </a:ln>
        </p:spPr>
      </p:cxnSp>
      <p:cxnSp>
        <p:nvCxnSpPr>
          <p:cNvPr id="34" name="Line 34"/>
          <p:cNvCxnSpPr/>
          <p:nvPr/>
        </p:nvCxnSpPr>
        <p:spPr>
          <a:xfrm>
            <a:off x="8210245" y="3061144"/>
            <a:ext cx="3181350" cy="0"/>
          </a:xfrm>
          <a:prstGeom prst="line">
            <a:avLst/>
          </a:prstGeom>
          <a:ln w="9525" cap="flat">
            <a:solidFill>
              <a:srgbClr val="E6E8F2"/>
            </a:solidFill>
          </a:ln>
        </p:spPr>
      </p:cxnSp>
      <p:cxnSp>
        <p:nvCxnSpPr>
          <p:cNvPr id="35" name="Line 35"/>
          <p:cNvCxnSpPr/>
          <p:nvPr/>
        </p:nvCxnSpPr>
        <p:spPr>
          <a:xfrm>
            <a:off x="8210245" y="2845641"/>
            <a:ext cx="3181350" cy="0"/>
          </a:xfrm>
          <a:prstGeom prst="line">
            <a:avLst/>
          </a:prstGeom>
          <a:ln w="9525" cap="flat">
            <a:solidFill>
              <a:srgbClr val="E6E8F2"/>
            </a:solidFill>
          </a:ln>
        </p:spPr>
      </p:cxnSp>
      <p:cxnSp>
        <p:nvCxnSpPr>
          <p:cNvPr id="36" name="Line 36"/>
          <p:cNvCxnSpPr/>
          <p:nvPr/>
        </p:nvCxnSpPr>
        <p:spPr>
          <a:xfrm>
            <a:off x="8210245" y="2630138"/>
            <a:ext cx="3181350" cy="0"/>
          </a:xfrm>
          <a:prstGeom prst="line">
            <a:avLst/>
          </a:prstGeom>
          <a:ln w="9525" cap="flat">
            <a:solidFill>
              <a:srgbClr val="E6E8F2"/>
            </a:solidFill>
          </a:ln>
        </p:spPr>
      </p:cxnSp>
      <p:cxnSp>
        <p:nvCxnSpPr>
          <p:cNvPr id="37" name="Line 37"/>
          <p:cNvCxnSpPr/>
          <p:nvPr/>
        </p:nvCxnSpPr>
        <p:spPr>
          <a:xfrm>
            <a:off x="8210245" y="2414635"/>
            <a:ext cx="3181350" cy="0"/>
          </a:xfrm>
          <a:prstGeom prst="line">
            <a:avLst/>
          </a:prstGeom>
          <a:ln w="9525" cap="flat">
            <a:solidFill>
              <a:srgbClr val="E6E8F2"/>
            </a:solidFill>
          </a:ln>
        </p:spPr>
      </p:cxnSp>
      <p:cxnSp>
        <p:nvCxnSpPr>
          <p:cNvPr id="38" name="Line 38"/>
          <p:cNvCxnSpPr/>
          <p:nvPr/>
        </p:nvCxnSpPr>
        <p:spPr>
          <a:xfrm>
            <a:off x="8210245" y="2199132"/>
            <a:ext cx="3181350" cy="0"/>
          </a:xfrm>
          <a:prstGeom prst="line">
            <a:avLst/>
          </a:prstGeom>
          <a:ln w="9525" cap="flat">
            <a:solidFill>
              <a:srgbClr val="E6E8F2"/>
            </a:solidFill>
          </a:ln>
        </p:spPr>
      </p:cxnSp>
      <p:cxnSp>
        <p:nvCxnSpPr>
          <p:cNvPr id="39" name="Line 39"/>
          <p:cNvCxnSpPr/>
          <p:nvPr/>
        </p:nvCxnSpPr>
        <p:spPr>
          <a:xfrm>
            <a:off x="8210245" y="2199132"/>
            <a:ext cx="0" cy="3448050"/>
          </a:xfrm>
          <a:prstGeom prst="line">
            <a:avLst/>
          </a:prstGeom>
          <a:ln w="19050" cap="flat">
            <a:solidFill>
              <a:srgbClr val="5F6272"/>
            </a:solidFill>
          </a:ln>
        </p:spPr>
      </p:cxnSp>
      <p:cxnSp>
        <p:nvCxnSpPr>
          <p:cNvPr id="40" name="Line 40"/>
          <p:cNvCxnSpPr/>
          <p:nvPr/>
        </p:nvCxnSpPr>
        <p:spPr>
          <a:xfrm>
            <a:off x="8210245" y="5647182"/>
            <a:ext cx="3181350" cy="0"/>
          </a:xfrm>
          <a:prstGeom prst="line">
            <a:avLst/>
          </a:prstGeom>
          <a:ln w="19050" cap="flat">
            <a:solidFill>
              <a:srgbClr val="5F6272"/>
            </a:solidFill>
          </a:ln>
        </p:spPr>
      </p:cxnSp>
      <p:sp>
        <p:nvSpPr>
          <p:cNvPr id="41" name="Shape 41"/>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2" name="Shape 42"/>
          <p:cNvSpPr txBox="1"/>
          <p:nvPr/>
        </p:nvSpPr>
        <p:spPr>
          <a:xfrm>
            <a:off x="825406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3" name="Shape 43"/>
          <p:cNvSpPr txBox="1"/>
          <p:nvPr/>
        </p:nvSpPr>
        <p:spPr>
          <a:xfrm>
            <a:off x="857219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889033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920846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52660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7" name="Shape 47"/>
          <p:cNvSpPr txBox="1"/>
          <p:nvPr/>
        </p:nvSpPr>
        <p:spPr>
          <a:xfrm>
            <a:off x="984473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1016287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9" name="Shape 49"/>
          <p:cNvSpPr txBox="1"/>
          <p:nvPr/>
        </p:nvSpPr>
        <p:spPr>
          <a:xfrm>
            <a:off x="1048100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1079914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51" name="Shape 51"/>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2" name="Shape 52"/>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7643317" y="51247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4" name="Shape 54"/>
          <p:cNvSpPr txBox="1"/>
          <p:nvPr/>
        </p:nvSpPr>
        <p:spPr>
          <a:xfrm>
            <a:off x="7643317" y="469373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5" name="Shape 55"/>
          <p:cNvSpPr txBox="1"/>
          <p:nvPr/>
        </p:nvSpPr>
        <p:spPr>
          <a:xfrm>
            <a:off x="7643317" y="4262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38317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7" name="Shape 57"/>
          <p:cNvSpPr txBox="1"/>
          <p:nvPr/>
        </p:nvSpPr>
        <p:spPr>
          <a:xfrm>
            <a:off x="7643317" y="34007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8" name="Shape 58"/>
          <p:cNvSpPr txBox="1"/>
          <p:nvPr/>
        </p:nvSpPr>
        <p:spPr>
          <a:xfrm>
            <a:off x="7643317" y="29697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9" name="Shape 59"/>
          <p:cNvSpPr txBox="1"/>
          <p:nvPr/>
        </p:nvSpPr>
        <p:spPr>
          <a:xfrm>
            <a:off x="7643317" y="2538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60" name="Shape 60"/>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61" name="Shape 61"/>
          <p:cNvSpPr/>
          <p:nvPr/>
        </p:nvSpPr>
        <p:spPr>
          <a:xfrm>
            <a:off x="8157858" y="49482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8295970" y="475302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(0, 30)</a:t>
            </a:r>
            <a:endParaRPr lang="en-US" sz="1125" dirty="0"/>
          </a:p>
        </p:txBody>
      </p:sp>
      <p:sp>
        <p:nvSpPr>
          <p:cNvPr id="63" name="Shape 63"/>
          <p:cNvSpPr/>
          <p:nvPr/>
        </p:nvSpPr>
        <p:spPr>
          <a:xfrm>
            <a:off x="8475993" y="462503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8794128" y="43017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flipV="1">
            <a:off x="8210245" y="2199132"/>
            <a:ext cx="2757170" cy="280154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500"/>
                                        <p:tgtEl>
                                          <p:spTgt spid="62"/>
                                        </p:tgtEl>
                                      </p:cBhvr>
                                    </p:animEffect>
                                    <p:anim calcmode="lin" valueType="num">
                                      <p:cBhvr>
                                        <p:cTn id="45" dur="500" fill="hold"/>
                                        <p:tgtEl>
                                          <p:spTgt spid="62"/>
                                        </p:tgtEl>
                                        <p:attrNameLst>
                                          <p:attrName>ppt_w</p:attrName>
                                        </p:attrNameLst>
                                      </p:cBhvr>
                                      <p:tavLst>
                                        <p:tav tm="0">
                                          <p:val>
                                            <p:fltVal val="0"/>
                                          </p:val>
                                        </p:tav>
                                        <p:tav tm="100000">
                                          <p:val>
                                            <p:strVal val="#ppt_w"/>
                                          </p:val>
                                        </p:tav>
                                      </p:tavLst>
                                    </p:anim>
                                    <p:anim calcmode="lin" valueType="num">
                                      <p:cBhvr>
                                        <p:cTn id="46"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anim calcmode="lin" valueType="num">
                                      <p:cBhvr>
                                        <p:cTn id="52" dur="500" fill="hold"/>
                                        <p:tgtEl>
                                          <p:spTgt spid="63"/>
                                        </p:tgtEl>
                                        <p:attrNameLst>
                                          <p:attrName>ppt_w</p:attrName>
                                        </p:attrNameLst>
                                      </p:cBhvr>
                                      <p:tavLst>
                                        <p:tav tm="0">
                                          <p:val>
                                            <p:fltVal val="0"/>
                                          </p:val>
                                        </p:tav>
                                        <p:tav tm="100000">
                                          <p:val>
                                            <p:strVal val="#ppt_w"/>
                                          </p:val>
                                        </p:tav>
                                      </p:tavLst>
                                    </p:anim>
                                    <p:anim calcmode="lin" valueType="num">
                                      <p:cBhvr>
                                        <p:cTn id="53"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500"/>
                                        <p:tgtEl>
                                          <p:spTgt spid="64"/>
                                        </p:tgtEl>
                                      </p:cBhvr>
                                    </p:animEffect>
                                    <p:anim calcmode="lin" valueType="num">
                                      <p:cBhvr>
                                        <p:cTn id="59" dur="500" fill="hold"/>
                                        <p:tgtEl>
                                          <p:spTgt spid="64"/>
                                        </p:tgtEl>
                                        <p:attrNameLst>
                                          <p:attrName>ppt_w</p:attrName>
                                        </p:attrNameLst>
                                      </p:cBhvr>
                                      <p:tavLst>
                                        <p:tav tm="0">
                                          <p:val>
                                            <p:fltVal val="0"/>
                                          </p:val>
                                        </p:tav>
                                        <p:tav tm="100000">
                                          <p:val>
                                            <p:strVal val="#ppt_w"/>
                                          </p:val>
                                        </p:tav>
                                      </p:tavLst>
                                    </p:anim>
                                    <p:anim calcmode="lin" valueType="num">
                                      <p:cBhvr>
                                        <p:cTn id="60"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wipe(left)">
                                      <p:cBhvr>
                                        <p:cTn id="65"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5 · SE p. 222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scuba diver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scuba diver is </a:t>
            </a:r>
            <a:r>
              <a:rPr lang="en-US" sz="1575" dirty="0" b="1">
                <a:solidFill>
                  <a:srgbClr val="16171D"/>
                </a:solidFill>
                <a:latin typeface="Segoe UI"/>
                <a:cs typeface="Segoe UI"/>
              </a:rPr>
              <a:t xml:space="preserve">130 feet below sea level</a:t>
            </a:r>
            <a:r>
              <a:rPr lang="en-US" sz="1575" dirty="0">
                <a:solidFill>
                  <a:srgbClr val="16171D"/>
                </a:solidFill>
                <a:latin typeface="Segoe UI"/>
                <a:cs typeface="Segoe UI"/>
              </a:rPr>
              <a:t xml:space="preserve">. The diver ascends at a constant rate of </a:t>
            </a:r>
            <a:r>
              <a:rPr lang="en-US" sz="1575" dirty="0" b="1">
                <a:solidFill>
                  <a:srgbClr val="16171D"/>
                </a:solidFill>
                <a:latin typeface="Segoe UI"/>
                <a:cs typeface="Segoe UI"/>
              </a:rPr>
              <a:t xml:space="preserve">20 feet per minute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minutes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feet.</a:t>
            </a:r>
            <a:endParaRPr lang="en-US" sz="1575" dirty="0"/>
          </a:p>
        </p:txBody>
      </p:sp>
      <p:sp>
        <p:nvSpPr>
          <p:cNvPr id="6" name="Shape 6"/>
          <p:cNvSpPr txBox="1"/>
          <p:nvPr/>
        </p:nvSpPr>
        <p:spPr>
          <a:xfrm>
            <a:off x="685800" y="249402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Below sea level → </a:t>
            </a:r>
            <a:r>
              <a:rPr lang="en-US" sz="1950" dirty="0" b="1">
                <a:solidFill>
                  <a:srgbClr val="3050B8"/>
                </a:solidFill>
                <a:latin typeface="Segoe UI"/>
                <a:cs typeface="Segoe UI"/>
              </a:rPr>
              <a:t xml:space="preserve">(0, −130)</a:t>
            </a:r>
            <a:r>
              <a:rPr lang="en-US" sz="1950" dirty="0">
                <a:solidFill>
                  <a:srgbClr val="16171D"/>
                </a:solidFill>
                <a:latin typeface="Segoe UI"/>
                <a:cs typeface="Segoe UI"/>
              </a:rPr>
              <a:t xml:space="preserve">. Rising → </a:t>
            </a:r>
            <a:r>
              <a:rPr lang="en-US" sz="1950" dirty="0" b="1">
                <a:solidFill>
                  <a:srgbClr val="C9561F"/>
                </a:solidFill>
                <a:latin typeface="Segoe UI"/>
                <a:cs typeface="Segoe UI"/>
              </a:rPr>
              <a:t xml:space="preserve">slope +20</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2960370"/>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20</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130</a:t>
            </a:r>
            <a:endParaRPr lang="en-US" sz="2850" dirty="0"/>
          </a:p>
        </p:txBody>
      </p:sp>
      <p:sp>
        <p:nvSpPr>
          <p:cNvPr id="8" name="Shape 8"/>
          <p:cNvSpPr txBox="1"/>
          <p:nvPr/>
        </p:nvSpPr>
        <p:spPr>
          <a:xfrm>
            <a:off x="685800" y="367360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−130), then up 20 and right 1 each minute.</a:t>
            </a:r>
            <a:endParaRPr lang="en-US" sz="1575" dirty="0"/>
          </a:p>
        </p:txBody>
      </p:sp>
      <p:sp>
        <p:nvSpPr>
          <p:cNvPr id="9" name="Shape 9"/>
          <p:cNvSpPr txBox="1"/>
          <p:nvPr/>
        </p:nvSpPr>
        <p:spPr>
          <a:xfrm>
            <a:off x="685800" y="4082796"/>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diver reaches the surface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after 6.5 minutes.</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63729" y="2199132"/>
            <a:ext cx="0" cy="3448050"/>
          </a:xfrm>
          <a:prstGeom prst="line">
            <a:avLst/>
          </a:prstGeom>
          <a:ln w="9525" cap="flat">
            <a:solidFill>
              <a:srgbClr val="E6E8F2"/>
            </a:solidFill>
          </a:ln>
        </p:spPr>
      </p:cxnSp>
      <p:cxnSp>
        <p:nvCxnSpPr>
          <p:cNvPr id="13" name="Line 13"/>
          <p:cNvCxnSpPr/>
          <p:nvPr/>
        </p:nvCxnSpPr>
        <p:spPr>
          <a:xfrm>
            <a:off x="8917212" y="2199132"/>
            <a:ext cx="0" cy="3448050"/>
          </a:xfrm>
          <a:prstGeom prst="line">
            <a:avLst/>
          </a:prstGeom>
          <a:ln w="9525" cap="flat">
            <a:solidFill>
              <a:srgbClr val="E6E8F2"/>
            </a:solidFill>
          </a:ln>
        </p:spPr>
      </p:cxnSp>
      <p:cxnSp>
        <p:nvCxnSpPr>
          <p:cNvPr id="14" name="Line 14"/>
          <p:cNvCxnSpPr/>
          <p:nvPr/>
        </p:nvCxnSpPr>
        <p:spPr>
          <a:xfrm>
            <a:off x="9270695" y="2199132"/>
            <a:ext cx="0" cy="3448050"/>
          </a:xfrm>
          <a:prstGeom prst="line">
            <a:avLst/>
          </a:prstGeom>
          <a:ln w="9525" cap="flat">
            <a:solidFill>
              <a:srgbClr val="E6E8F2"/>
            </a:solidFill>
          </a:ln>
        </p:spPr>
      </p:cxnSp>
      <p:cxnSp>
        <p:nvCxnSpPr>
          <p:cNvPr id="15" name="Line 15"/>
          <p:cNvCxnSpPr/>
          <p:nvPr/>
        </p:nvCxnSpPr>
        <p:spPr>
          <a:xfrm>
            <a:off x="9624179" y="2199132"/>
            <a:ext cx="0" cy="3448050"/>
          </a:xfrm>
          <a:prstGeom prst="line">
            <a:avLst/>
          </a:prstGeom>
          <a:ln w="9525" cap="flat">
            <a:solidFill>
              <a:srgbClr val="E6E8F2"/>
            </a:solidFill>
          </a:ln>
        </p:spPr>
      </p:cxnSp>
      <p:cxnSp>
        <p:nvCxnSpPr>
          <p:cNvPr id="16" name="Line 16"/>
          <p:cNvCxnSpPr/>
          <p:nvPr/>
        </p:nvCxnSpPr>
        <p:spPr>
          <a:xfrm>
            <a:off x="9977662" y="2199132"/>
            <a:ext cx="0" cy="3448050"/>
          </a:xfrm>
          <a:prstGeom prst="line">
            <a:avLst/>
          </a:prstGeom>
          <a:ln w="9525" cap="flat">
            <a:solidFill>
              <a:srgbClr val="E6E8F2"/>
            </a:solidFill>
          </a:ln>
        </p:spPr>
      </p:cxnSp>
      <p:cxnSp>
        <p:nvCxnSpPr>
          <p:cNvPr id="17" name="Line 17"/>
          <p:cNvCxnSpPr/>
          <p:nvPr/>
        </p:nvCxnSpPr>
        <p:spPr>
          <a:xfrm>
            <a:off x="10331145" y="2199132"/>
            <a:ext cx="0" cy="3448050"/>
          </a:xfrm>
          <a:prstGeom prst="line">
            <a:avLst/>
          </a:prstGeom>
          <a:ln w="9525" cap="flat">
            <a:solidFill>
              <a:srgbClr val="E6E8F2"/>
            </a:solidFill>
          </a:ln>
        </p:spPr>
      </p:cxnSp>
      <p:cxnSp>
        <p:nvCxnSpPr>
          <p:cNvPr id="18" name="Line 18"/>
          <p:cNvCxnSpPr/>
          <p:nvPr/>
        </p:nvCxnSpPr>
        <p:spPr>
          <a:xfrm>
            <a:off x="10684629" y="2199132"/>
            <a:ext cx="0" cy="3448050"/>
          </a:xfrm>
          <a:prstGeom prst="line">
            <a:avLst/>
          </a:prstGeom>
          <a:ln w="9525" cap="flat">
            <a:solidFill>
              <a:srgbClr val="E6E8F2"/>
            </a:solidFill>
          </a:ln>
        </p:spPr>
      </p:cxnSp>
      <p:cxnSp>
        <p:nvCxnSpPr>
          <p:cNvPr id="19" name="Line 19"/>
          <p:cNvCxnSpPr/>
          <p:nvPr/>
        </p:nvCxnSpPr>
        <p:spPr>
          <a:xfrm>
            <a:off x="11038112" y="2199132"/>
            <a:ext cx="0" cy="3448050"/>
          </a:xfrm>
          <a:prstGeom prst="line">
            <a:avLst/>
          </a:prstGeom>
          <a:ln w="9525" cap="flat">
            <a:solidFill>
              <a:srgbClr val="E6E8F2"/>
            </a:solidFill>
          </a:ln>
        </p:spPr>
      </p:cxnSp>
      <p:cxnSp>
        <p:nvCxnSpPr>
          <p:cNvPr id="20" name="Line 20"/>
          <p:cNvCxnSpPr/>
          <p:nvPr/>
        </p:nvCxnSpPr>
        <p:spPr>
          <a:xfrm>
            <a:off x="11391595" y="2199132"/>
            <a:ext cx="0" cy="3448050"/>
          </a:xfrm>
          <a:prstGeom prst="line">
            <a:avLst/>
          </a:prstGeom>
          <a:ln w="9525" cap="flat">
            <a:solidFill>
              <a:srgbClr val="E6E8F2"/>
            </a:solidFill>
          </a:ln>
        </p:spPr>
      </p:cxnSp>
      <p:cxnSp>
        <p:nvCxnSpPr>
          <p:cNvPr id="21" name="Line 21"/>
          <p:cNvCxnSpPr/>
          <p:nvPr/>
        </p:nvCxnSpPr>
        <p:spPr>
          <a:xfrm>
            <a:off x="8210245" y="5647182"/>
            <a:ext cx="3181350" cy="0"/>
          </a:xfrm>
          <a:prstGeom prst="line">
            <a:avLst/>
          </a:prstGeom>
          <a:ln w="9525" cap="flat">
            <a:solidFill>
              <a:srgbClr val="E6E8F2"/>
            </a:solidFill>
          </a:ln>
        </p:spPr>
      </p:cxnSp>
      <p:cxnSp>
        <p:nvCxnSpPr>
          <p:cNvPr id="22" name="Line 22"/>
          <p:cNvCxnSpPr/>
          <p:nvPr/>
        </p:nvCxnSpPr>
        <p:spPr>
          <a:xfrm>
            <a:off x="8210245" y="5400893"/>
            <a:ext cx="3181350" cy="0"/>
          </a:xfrm>
          <a:prstGeom prst="line">
            <a:avLst/>
          </a:prstGeom>
          <a:ln w="9525" cap="flat">
            <a:solidFill>
              <a:srgbClr val="E6E8F2"/>
            </a:solidFill>
          </a:ln>
        </p:spPr>
      </p:cxnSp>
      <p:cxnSp>
        <p:nvCxnSpPr>
          <p:cNvPr id="23" name="Line 23"/>
          <p:cNvCxnSpPr/>
          <p:nvPr/>
        </p:nvCxnSpPr>
        <p:spPr>
          <a:xfrm>
            <a:off x="8210245" y="5154603"/>
            <a:ext cx="3181350" cy="0"/>
          </a:xfrm>
          <a:prstGeom prst="line">
            <a:avLst/>
          </a:prstGeom>
          <a:ln w="9525" cap="flat">
            <a:solidFill>
              <a:srgbClr val="E6E8F2"/>
            </a:solidFill>
          </a:ln>
        </p:spPr>
      </p:cxnSp>
      <p:cxnSp>
        <p:nvCxnSpPr>
          <p:cNvPr id="24" name="Line 24"/>
          <p:cNvCxnSpPr/>
          <p:nvPr/>
        </p:nvCxnSpPr>
        <p:spPr>
          <a:xfrm>
            <a:off x="8210245" y="4908314"/>
            <a:ext cx="3181350" cy="0"/>
          </a:xfrm>
          <a:prstGeom prst="line">
            <a:avLst/>
          </a:prstGeom>
          <a:ln w="9525" cap="flat">
            <a:solidFill>
              <a:srgbClr val="E6E8F2"/>
            </a:solidFill>
          </a:ln>
        </p:spPr>
      </p:cxnSp>
      <p:cxnSp>
        <p:nvCxnSpPr>
          <p:cNvPr id="25" name="Line 25"/>
          <p:cNvCxnSpPr/>
          <p:nvPr/>
        </p:nvCxnSpPr>
        <p:spPr>
          <a:xfrm>
            <a:off x="8210245" y="4662025"/>
            <a:ext cx="3181350" cy="0"/>
          </a:xfrm>
          <a:prstGeom prst="line">
            <a:avLst/>
          </a:prstGeom>
          <a:ln w="9525" cap="flat">
            <a:solidFill>
              <a:srgbClr val="E6E8F2"/>
            </a:solidFill>
          </a:ln>
        </p:spPr>
      </p:cxnSp>
      <p:cxnSp>
        <p:nvCxnSpPr>
          <p:cNvPr id="26" name="Line 26"/>
          <p:cNvCxnSpPr/>
          <p:nvPr/>
        </p:nvCxnSpPr>
        <p:spPr>
          <a:xfrm>
            <a:off x="8210245" y="4415736"/>
            <a:ext cx="3181350" cy="0"/>
          </a:xfrm>
          <a:prstGeom prst="line">
            <a:avLst/>
          </a:prstGeom>
          <a:ln w="9525" cap="flat">
            <a:solidFill>
              <a:srgbClr val="E6E8F2"/>
            </a:solidFill>
          </a:ln>
        </p:spPr>
      </p:cxnSp>
      <p:cxnSp>
        <p:nvCxnSpPr>
          <p:cNvPr id="27" name="Line 27"/>
          <p:cNvCxnSpPr/>
          <p:nvPr/>
        </p:nvCxnSpPr>
        <p:spPr>
          <a:xfrm>
            <a:off x="8210245" y="4169446"/>
            <a:ext cx="3181350" cy="0"/>
          </a:xfrm>
          <a:prstGeom prst="line">
            <a:avLst/>
          </a:prstGeom>
          <a:ln w="9525" cap="flat">
            <a:solidFill>
              <a:srgbClr val="E6E8F2"/>
            </a:solidFill>
          </a:ln>
        </p:spPr>
      </p:cxnSp>
      <p:cxnSp>
        <p:nvCxnSpPr>
          <p:cNvPr id="28" name="Line 28"/>
          <p:cNvCxnSpPr/>
          <p:nvPr/>
        </p:nvCxnSpPr>
        <p:spPr>
          <a:xfrm>
            <a:off x="8210245" y="3923157"/>
            <a:ext cx="3181350" cy="0"/>
          </a:xfrm>
          <a:prstGeom prst="line">
            <a:avLst/>
          </a:prstGeom>
          <a:ln w="9525" cap="flat">
            <a:solidFill>
              <a:srgbClr val="E6E8F2"/>
            </a:solidFill>
          </a:ln>
        </p:spPr>
      </p:cxnSp>
      <p:cxnSp>
        <p:nvCxnSpPr>
          <p:cNvPr id="29" name="Line 29"/>
          <p:cNvCxnSpPr/>
          <p:nvPr/>
        </p:nvCxnSpPr>
        <p:spPr>
          <a:xfrm>
            <a:off x="8210245" y="3676868"/>
            <a:ext cx="3181350" cy="0"/>
          </a:xfrm>
          <a:prstGeom prst="line">
            <a:avLst/>
          </a:prstGeom>
          <a:ln w="9525" cap="flat">
            <a:solidFill>
              <a:srgbClr val="E6E8F2"/>
            </a:solidFill>
          </a:ln>
        </p:spPr>
      </p:cxnSp>
      <p:cxnSp>
        <p:nvCxnSpPr>
          <p:cNvPr id="30" name="Line 30"/>
          <p:cNvCxnSpPr/>
          <p:nvPr/>
        </p:nvCxnSpPr>
        <p:spPr>
          <a:xfrm>
            <a:off x="8210245" y="3430578"/>
            <a:ext cx="3181350" cy="0"/>
          </a:xfrm>
          <a:prstGeom prst="line">
            <a:avLst/>
          </a:prstGeom>
          <a:ln w="9525" cap="flat">
            <a:solidFill>
              <a:srgbClr val="E6E8F2"/>
            </a:solidFill>
          </a:ln>
        </p:spPr>
      </p:cxnSp>
      <p:cxnSp>
        <p:nvCxnSpPr>
          <p:cNvPr id="31" name="Line 31"/>
          <p:cNvCxnSpPr/>
          <p:nvPr/>
        </p:nvCxnSpPr>
        <p:spPr>
          <a:xfrm>
            <a:off x="8210245" y="3184289"/>
            <a:ext cx="3181350" cy="0"/>
          </a:xfrm>
          <a:prstGeom prst="line">
            <a:avLst/>
          </a:prstGeom>
          <a:ln w="9525" cap="flat">
            <a:solidFill>
              <a:srgbClr val="E6E8F2"/>
            </a:solidFill>
          </a:ln>
        </p:spPr>
      </p:cxnSp>
      <p:cxnSp>
        <p:nvCxnSpPr>
          <p:cNvPr id="32" name="Line 32"/>
          <p:cNvCxnSpPr/>
          <p:nvPr/>
        </p:nvCxnSpPr>
        <p:spPr>
          <a:xfrm>
            <a:off x="8210245" y="2938000"/>
            <a:ext cx="3181350" cy="0"/>
          </a:xfrm>
          <a:prstGeom prst="line">
            <a:avLst/>
          </a:prstGeom>
          <a:ln w="9525" cap="flat">
            <a:solidFill>
              <a:srgbClr val="E6E8F2"/>
            </a:solidFill>
          </a:ln>
        </p:spPr>
      </p:cxnSp>
      <p:cxnSp>
        <p:nvCxnSpPr>
          <p:cNvPr id="33" name="Line 33"/>
          <p:cNvCxnSpPr/>
          <p:nvPr/>
        </p:nvCxnSpPr>
        <p:spPr>
          <a:xfrm>
            <a:off x="8210245" y="2691711"/>
            <a:ext cx="3181350" cy="0"/>
          </a:xfrm>
          <a:prstGeom prst="line">
            <a:avLst/>
          </a:prstGeom>
          <a:ln w="9525" cap="flat">
            <a:solidFill>
              <a:srgbClr val="E6E8F2"/>
            </a:solidFill>
          </a:ln>
        </p:spPr>
      </p:cxnSp>
      <p:cxnSp>
        <p:nvCxnSpPr>
          <p:cNvPr id="34" name="Line 34"/>
          <p:cNvCxnSpPr/>
          <p:nvPr/>
        </p:nvCxnSpPr>
        <p:spPr>
          <a:xfrm>
            <a:off x="8210245" y="2445421"/>
            <a:ext cx="3181350" cy="0"/>
          </a:xfrm>
          <a:prstGeom prst="line">
            <a:avLst/>
          </a:prstGeom>
          <a:ln w="9525" cap="flat">
            <a:solidFill>
              <a:srgbClr val="E6E8F2"/>
            </a:solidFill>
          </a:ln>
        </p:spPr>
      </p:cxnSp>
      <p:cxnSp>
        <p:nvCxnSpPr>
          <p:cNvPr id="35" name="Line 35"/>
          <p:cNvCxnSpPr/>
          <p:nvPr/>
        </p:nvCxnSpPr>
        <p:spPr>
          <a:xfrm>
            <a:off x="8210245" y="2199132"/>
            <a:ext cx="3181350" cy="0"/>
          </a:xfrm>
          <a:prstGeom prst="line">
            <a:avLst/>
          </a:prstGeom>
          <a:ln w="9525" cap="flat">
            <a:solidFill>
              <a:srgbClr val="E6E8F2"/>
            </a:solidFill>
          </a:ln>
        </p:spPr>
      </p:cxnSp>
      <p:cxnSp>
        <p:nvCxnSpPr>
          <p:cNvPr id="36" name="Line 36"/>
          <p:cNvCxnSpPr/>
          <p:nvPr/>
        </p:nvCxnSpPr>
        <p:spPr>
          <a:xfrm>
            <a:off x="8210245" y="2199132"/>
            <a:ext cx="0" cy="3448050"/>
          </a:xfrm>
          <a:prstGeom prst="line">
            <a:avLst/>
          </a:prstGeom>
          <a:ln w="19050" cap="flat">
            <a:solidFill>
              <a:srgbClr val="5F6272"/>
            </a:solidFill>
          </a:ln>
        </p:spPr>
      </p:cxnSp>
      <p:cxnSp>
        <p:nvCxnSpPr>
          <p:cNvPr id="37" name="Line 37"/>
          <p:cNvCxnSpPr/>
          <p:nvPr/>
        </p:nvCxnSpPr>
        <p:spPr>
          <a:xfrm>
            <a:off x="8210245" y="2199132"/>
            <a:ext cx="3181350" cy="0"/>
          </a:xfrm>
          <a:prstGeom prst="line">
            <a:avLst/>
          </a:prstGeom>
          <a:ln w="19050" cap="flat">
            <a:solidFill>
              <a:srgbClr val="5F6272"/>
            </a:solidFill>
          </a:ln>
        </p:spPr>
      </p:cxnSp>
      <p:sp>
        <p:nvSpPr>
          <p:cNvPr id="38" name="Shape 38"/>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82894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86428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89963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34985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70334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4" name="Shape 44"/>
          <p:cNvSpPr txBox="1"/>
          <p:nvPr/>
        </p:nvSpPr>
        <p:spPr>
          <a:xfrm>
            <a:off x="100568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04103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6" name="Shape 46"/>
          <p:cNvSpPr txBox="1"/>
          <p:nvPr/>
        </p:nvSpPr>
        <p:spPr>
          <a:xfrm>
            <a:off x="107637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8" name="Shape 48"/>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49" name="Shape 49"/>
          <p:cNvSpPr txBox="1"/>
          <p:nvPr/>
        </p:nvSpPr>
        <p:spPr>
          <a:xfrm>
            <a:off x="7643317" y="506316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0" name="Shape 50"/>
          <p:cNvSpPr txBox="1"/>
          <p:nvPr/>
        </p:nvSpPr>
        <p:spPr>
          <a:xfrm>
            <a:off x="7643317" y="45705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1" name="Shape 51"/>
          <p:cNvSpPr txBox="1"/>
          <p:nvPr/>
        </p:nvSpPr>
        <p:spPr>
          <a:xfrm>
            <a:off x="7643317" y="40780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txBox="1"/>
          <p:nvPr/>
        </p:nvSpPr>
        <p:spPr>
          <a:xfrm>
            <a:off x="7643317" y="3585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7643317" y="309284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60027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5" name="Shape 55"/>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6" name="Shape 56"/>
          <p:cNvSpPr/>
          <p:nvPr/>
        </p:nvSpPr>
        <p:spPr>
          <a:xfrm>
            <a:off x="8157858" y="534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295970" y="515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−130)</a:t>
            </a:r>
            <a:endParaRPr lang="en-US" sz="1125" dirty="0"/>
          </a:p>
        </p:txBody>
      </p:sp>
      <p:sp>
        <p:nvSpPr>
          <p:cNvPr id="58" name="Shape 58"/>
          <p:cNvSpPr/>
          <p:nvPr/>
        </p:nvSpPr>
        <p:spPr>
          <a:xfrm>
            <a:off x="8511341" y="485592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p:nvPr/>
        </p:nvSpPr>
        <p:spPr>
          <a:xfrm>
            <a:off x="8864824" y="43633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0" name="Line 60"/>
          <p:cNvCxnSpPr/>
          <p:nvPr/>
        </p:nvCxnSpPr>
        <p:spPr>
          <a:xfrm flipV="1">
            <a:off x="8210245" y="2199132"/>
            <a:ext cx="2297642" cy="320176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anim calcmode="lin" valueType="num">
                                      <p:cBhvr>
                                        <p:cTn id="40" dur="500" fill="hold"/>
                                        <p:tgtEl>
                                          <p:spTgt spid="56"/>
                                        </p:tgtEl>
                                        <p:attrNameLst>
                                          <p:attrName>ppt_w</p:attrName>
                                        </p:attrNameLst>
                                      </p:cBhvr>
                                      <p:tavLst>
                                        <p:tav tm="0">
                                          <p:val>
                                            <p:fltVal val="0"/>
                                          </p:val>
                                        </p:tav>
                                        <p:tav tm="100000">
                                          <p:val>
                                            <p:strVal val="#ppt_w"/>
                                          </p:val>
                                        </p:tav>
                                      </p:tavLst>
                                    </p:anim>
                                    <p:anim calcmode="lin" valueType="num">
                                      <p:cBhvr>
                                        <p:cTn id="41" dur="500" fill="hold"/>
                                        <p:tgtEl>
                                          <p:spTgt spid="56"/>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500"/>
                                        <p:tgtEl>
                                          <p:spTgt spid="57"/>
                                        </p:tgtEl>
                                      </p:cBhvr>
                                    </p:animEffect>
                                    <p:anim calcmode="lin" valueType="num">
                                      <p:cBhvr>
                                        <p:cTn id="45" dur="500" fill="hold"/>
                                        <p:tgtEl>
                                          <p:spTgt spid="57"/>
                                        </p:tgtEl>
                                        <p:attrNameLst>
                                          <p:attrName>ppt_w</p:attrName>
                                        </p:attrNameLst>
                                      </p:cBhvr>
                                      <p:tavLst>
                                        <p:tav tm="0">
                                          <p:val>
                                            <p:fltVal val="0"/>
                                          </p:val>
                                        </p:tav>
                                        <p:tav tm="100000">
                                          <p:val>
                                            <p:strVal val="#ppt_w"/>
                                          </p:val>
                                        </p:tav>
                                      </p:tavLst>
                                    </p:anim>
                                    <p:anim calcmode="lin" valueType="num">
                                      <p:cBhvr>
                                        <p:cTn id="4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anim calcmode="lin" valueType="num">
                                      <p:cBhvr>
                                        <p:cTn id="52" dur="500" fill="hold"/>
                                        <p:tgtEl>
                                          <p:spTgt spid="58"/>
                                        </p:tgtEl>
                                        <p:attrNameLst>
                                          <p:attrName>ppt_w</p:attrName>
                                        </p:attrNameLst>
                                      </p:cBhvr>
                                      <p:tavLst>
                                        <p:tav tm="0">
                                          <p:val>
                                            <p:fltVal val="0"/>
                                          </p:val>
                                        </p:tav>
                                        <p:tav tm="100000">
                                          <p:val>
                                            <p:strVal val="#ppt_w"/>
                                          </p:val>
                                        </p:tav>
                                      </p:tavLst>
                                    </p:anim>
                                    <p:anim calcmode="lin" valueType="num">
                                      <p:cBhvr>
                                        <p:cTn id="5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500"/>
                                        <p:tgtEl>
                                          <p:spTgt spid="59"/>
                                        </p:tgtEl>
                                      </p:cBhvr>
                                    </p:animEffect>
                                    <p:anim calcmode="lin" valueType="num">
                                      <p:cBhvr>
                                        <p:cTn id="59" dur="500" fill="hold"/>
                                        <p:tgtEl>
                                          <p:spTgt spid="59"/>
                                        </p:tgtEl>
                                        <p:attrNameLst>
                                          <p:attrName>ppt_w</p:attrName>
                                        </p:attrNameLst>
                                      </p:cBhvr>
                                      <p:tavLst>
                                        <p:tav tm="0">
                                          <p:val>
                                            <p:fltVal val="0"/>
                                          </p:val>
                                        </p:tav>
                                        <p:tav tm="100000">
                                          <p:val>
                                            <p:strVal val="#ppt_w"/>
                                          </p:val>
                                        </p:tav>
                                      </p:tavLst>
                                    </p:anim>
                                    <p:anim calcmode="lin" valueType="num">
                                      <p:cBhvr>
                                        <p:cTn id="60"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wipe(left)">
                                      <p:cBhvr>
                                        <p:cTn id="65"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Graphing from slope-intercept form</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a:t>
            </a:r>
            <a:r>
              <a:rPr lang="en-US" sz="1950" dirty="0" b="1" i="1">
                <a:solidFill>
                  <a:srgbClr val="3050B8"/>
                </a:solidFill>
                <a:latin typeface="Cambria"/>
                <a:cs typeface="Cambria"/>
              </a:rPr>
              <a:t xml:space="preserve">b</a:t>
            </a:r>
            <a:r>
              <a:rPr lang="en-US" sz="1950" dirty="0" b="1">
                <a:solidFill>
                  <a:srgbClr val="3050B8"/>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7533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slope </a:t>
            </a:r>
            <a:r>
              <a:rPr lang="en-US" sz="1950" dirty="0" b="1" i="1">
                <a:solidFill>
                  <a:srgbClr val="C9561F"/>
                </a:solidFill>
                <a:latin typeface="Cambria"/>
                <a:cs typeface="Cambria"/>
              </a:rPr>
              <a:t xml:space="preserve">m</a:t>
            </a:r>
            <a:r>
              <a:rPr lang="en-US" sz="1950" dirty="0">
                <a:solidFill>
                  <a:srgbClr val="16171D"/>
                </a:solidFill>
                <a:latin typeface="Segoe UI"/>
                <a:cs typeface="Segoe UI"/>
              </a:rPr>
              <a:t xml:space="preserve"> as a ratio, </a:t>
            </a:r>
            <a:r>
              <a:rPr lang="en-US" sz="1950" dirty="0">
                <a:solidFill>
                  <a:srgbClr val="16171D"/>
                </a:solidFill>
                <a:latin typeface="Cambria"/>
                <a:cs typeface="Cambria"/>
              </a:rPr>
              <a:t xml:space="preserve">rise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run</a:t>
            </a:r>
            <a:r>
              <a:rPr lang="en-US" sz="1950" dirty="0">
                <a:solidFill>
                  <a:srgbClr val="16171D"/>
                </a:solidFill>
                <a:latin typeface="Segoe UI"/>
                <a:cs typeface="Segoe UI"/>
              </a:rPr>
              <a:t xml:space="preserve">. Count from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to plot another point.</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Use the equivalent ratio (both signs flipped) to plot a point on the other side.</a:t>
            </a:r>
            <a:endParaRPr lang="en-US" sz="1950" dirty="0"/>
          </a:p>
        </p:txBody>
      </p:sp>
      <p:sp>
        <p:nvSpPr>
          <p:cNvPr id="7" name="Shape 7"/>
          <p:cNvSpPr txBox="1"/>
          <p:nvPr/>
        </p:nvSpPr>
        <p:spPr>
          <a:xfrm>
            <a:off x="685800" y="369570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Connect at least three points with a straightedge. Check the direction: positive slope rises left to right, negative slope falls.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two more points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4), (3, 3), (−3, 5)</a:t>
            </a:r>
            <a:endParaRPr lang="en-US" sz="2325" dirty="0"/>
          </a:p>
        </p:txBody>
      </p:sp>
      <p:sp>
        <p:nvSpPr>
          <p:cNvPr id="6" name="Shape 6"/>
          <p:cNvSpPr txBox="1"/>
          <p:nvPr/>
        </p:nvSpPr>
        <p:spPr>
          <a:xfrm>
            <a:off x="685800" y="359816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Lena has $25 and saves $5 a week. Write an equation. </a:t>
            </a:r>
            <a:r>
              <a:rPr lang="en-US" sz="1575" dirty="0">
                <a:solidFill>
                  <a:srgbClr val="5F6272"/>
                </a:solidFill>
                <a:latin typeface="Segoe UI"/>
                <a:cs typeface="Segoe UI"/>
              </a:rPr>
              <a:t xml:space="preserve">(SE p. 221)</a:t>
            </a:r>
            <a:endParaRPr lang="en-US" sz="1950" dirty="0"/>
          </a:p>
        </p:txBody>
      </p:sp>
      <p:sp>
        <p:nvSpPr>
          <p:cNvPr id="7" name="Shape 7"/>
          <p:cNvSpPr txBox="1"/>
          <p:nvPr/>
        </p:nvSpPr>
        <p:spPr>
          <a:xfrm>
            <a:off x="685800" y="438073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(Lesson 4)</a:t>
            </a:r>
            <a:endParaRPr lang="en-US" sz="1950" dirty="0"/>
          </a:p>
        </p:txBody>
      </p:sp>
      <p:sp>
        <p:nvSpPr>
          <p:cNvPr id="9" name="Shape 9"/>
          <p:cNvSpPr txBox="1"/>
          <p:nvPr/>
        </p:nvSpPr>
        <p:spPr>
          <a:xfrm>
            <a:off x="6362548"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4, (1, −2)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Where does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Using Point-Slope Form to Graph a Line · SE p. 223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jazz band's account</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already had some money. They sell tickets at </a:t>
            </a:r>
            <a:r>
              <a:rPr lang="en-US" sz="1575" dirty="0" b="1">
                <a:solidFill>
                  <a:srgbClr val="16171D"/>
                </a:solidFill>
                <a:latin typeface="Segoe UI"/>
                <a:cs typeface="Segoe UI"/>
              </a:rPr>
              <a:t xml:space="preserve">$5.00 each</a:t>
            </a:r>
            <a:r>
              <a:rPr lang="en-US" sz="1575" dirty="0">
                <a:solidFill>
                  <a:srgbClr val="16171D"/>
                </a:solidFill>
                <a:latin typeface="Segoe UI"/>
                <a:cs typeface="Segoe UI"/>
              </a:rPr>
              <a:t xml:space="preserve">. After selling </a:t>
            </a:r>
            <a:r>
              <a:rPr lang="en-US" sz="1575" dirty="0" b="1">
                <a:solidFill>
                  <a:srgbClr val="16171D"/>
                </a:solidFill>
                <a:latin typeface="Segoe UI"/>
                <a:cs typeface="Segoe UI"/>
              </a:rPr>
              <a:t xml:space="preserve">3 tickets</a:t>
            </a:r>
            <a:r>
              <a:rPr lang="en-US" sz="1575" dirty="0">
                <a:solidFill>
                  <a:srgbClr val="16171D"/>
                </a:solidFill>
                <a:latin typeface="Segoe UI"/>
                <a:cs typeface="Segoe UI"/>
              </a:rPr>
              <a:t xml:space="preserve">, they had </a:t>
            </a:r>
            <a:r>
              <a:rPr lang="en-US" sz="1575" dirty="0" b="1">
                <a:solidFill>
                  <a:srgbClr val="16171D"/>
                </a:solidFill>
                <a:latin typeface="Segoe UI"/>
                <a:cs typeface="Segoe UI"/>
              </a:rPr>
              <a:t xml:space="preserve">$50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tickets sold,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money in the account.</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$5 per ticket → </a:t>
            </a:r>
            <a:r>
              <a:rPr lang="en-US" sz="1575" dirty="0" b="1">
                <a:solidFill>
                  <a:srgbClr val="C9561F"/>
                </a:solidFill>
                <a:latin typeface="Segoe UI"/>
                <a:cs typeface="Segoe UI"/>
              </a:rPr>
              <a:t xml:space="preserve">slope 5</a:t>
            </a:r>
            <a:r>
              <a:rPr lang="en-US" sz="1575" dirty="0">
                <a:solidFill>
                  <a:srgbClr val="16171D"/>
                </a:solidFill>
                <a:latin typeface="Segoe UI"/>
                <a:cs typeface="Segoe UI"/>
              </a:rPr>
              <a:t xml:space="preserve">. 3 tickets, $50 → </a:t>
            </a:r>
            <a:r>
              <a:rPr lang="en-US" sz="1575" dirty="0" b="1">
                <a:solidFill>
                  <a:srgbClr val="3050B8"/>
                </a:solidFill>
                <a:latin typeface="Segoe UI"/>
                <a:cs typeface="Segoe UI"/>
              </a:rPr>
              <a:t xml:space="preserve">point (3, 50)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5705673"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85800" y="340918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Plot the known point, </a:t>
            </a:r>
            <a:r>
              <a:rPr lang="en-US" sz="1575" dirty="0" b="1">
                <a:solidFill>
                  <a:srgbClr val="3050B8"/>
                </a:solidFill>
                <a:latin typeface="Segoe UI"/>
                <a:cs typeface="Segoe UI"/>
              </a:rPr>
              <a:t xml:space="preserve">(3, 50)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799332"/>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Write the slope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(up 5, right 1) and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(down 5, left 1). Count from the point.</a:t>
            </a:r>
            <a:endParaRPr lang="en-US" sz="1575" dirty="0"/>
          </a:p>
        </p:txBody>
      </p:sp>
      <p:sp>
        <p:nvSpPr>
          <p:cNvPr id="9" name="Shape 9"/>
          <p:cNvSpPr txBox="1"/>
          <p:nvPr/>
        </p:nvSpPr>
        <p:spPr>
          <a:xfrm>
            <a:off x="685800" y="4429506"/>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Plot at least two more points, then connect them.</a:t>
            </a:r>
            <a:endParaRPr lang="en-US" sz="1575" dirty="0"/>
          </a:p>
        </p:txBody>
      </p:sp>
      <p:sp>
        <p:nvSpPr>
          <p:cNvPr id="10" name="Shape 10"/>
          <p:cNvSpPr/>
          <p:nvPr/>
        </p:nvSpPr>
        <p:spPr>
          <a:xfrm>
            <a:off x="7886395" y="232486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439162"/>
            <a:ext cx="0" cy="3448050"/>
          </a:xfrm>
          <a:prstGeom prst="line">
            <a:avLst/>
          </a:prstGeom>
          <a:ln w="9525" cap="flat">
            <a:solidFill>
              <a:srgbClr val="E6E8F2"/>
            </a:solidFill>
          </a:ln>
        </p:spPr>
      </p:cxnSp>
      <p:cxnSp>
        <p:nvCxnSpPr>
          <p:cNvPr id="12" name="Line 12"/>
          <p:cNvCxnSpPr/>
          <p:nvPr/>
        </p:nvCxnSpPr>
        <p:spPr>
          <a:xfrm>
            <a:off x="8437484" y="2439162"/>
            <a:ext cx="0" cy="3448050"/>
          </a:xfrm>
          <a:prstGeom prst="line">
            <a:avLst/>
          </a:prstGeom>
          <a:ln w="9525" cap="flat">
            <a:solidFill>
              <a:srgbClr val="E6E8F2"/>
            </a:solidFill>
          </a:ln>
        </p:spPr>
      </p:cxnSp>
      <p:cxnSp>
        <p:nvCxnSpPr>
          <p:cNvPr id="13" name="Line 13"/>
          <p:cNvCxnSpPr/>
          <p:nvPr/>
        </p:nvCxnSpPr>
        <p:spPr>
          <a:xfrm>
            <a:off x="8664724" y="2439162"/>
            <a:ext cx="0" cy="3448050"/>
          </a:xfrm>
          <a:prstGeom prst="line">
            <a:avLst/>
          </a:prstGeom>
          <a:ln w="9525" cap="flat">
            <a:solidFill>
              <a:srgbClr val="E6E8F2"/>
            </a:solidFill>
          </a:ln>
        </p:spPr>
      </p:cxnSp>
      <p:cxnSp>
        <p:nvCxnSpPr>
          <p:cNvPr id="14" name="Line 14"/>
          <p:cNvCxnSpPr/>
          <p:nvPr/>
        </p:nvCxnSpPr>
        <p:spPr>
          <a:xfrm>
            <a:off x="8891963" y="2439162"/>
            <a:ext cx="0" cy="3448050"/>
          </a:xfrm>
          <a:prstGeom prst="line">
            <a:avLst/>
          </a:prstGeom>
          <a:ln w="9525" cap="flat">
            <a:solidFill>
              <a:srgbClr val="E6E8F2"/>
            </a:solidFill>
          </a:ln>
        </p:spPr>
      </p:cxnSp>
      <p:cxnSp>
        <p:nvCxnSpPr>
          <p:cNvPr id="15" name="Line 15"/>
          <p:cNvCxnSpPr/>
          <p:nvPr/>
        </p:nvCxnSpPr>
        <p:spPr>
          <a:xfrm>
            <a:off x="9119202" y="2439162"/>
            <a:ext cx="0" cy="3448050"/>
          </a:xfrm>
          <a:prstGeom prst="line">
            <a:avLst/>
          </a:prstGeom>
          <a:ln w="9525" cap="flat">
            <a:solidFill>
              <a:srgbClr val="E6E8F2"/>
            </a:solidFill>
          </a:ln>
        </p:spPr>
      </p:cxnSp>
      <p:cxnSp>
        <p:nvCxnSpPr>
          <p:cNvPr id="16" name="Line 16"/>
          <p:cNvCxnSpPr/>
          <p:nvPr/>
        </p:nvCxnSpPr>
        <p:spPr>
          <a:xfrm>
            <a:off x="9346442" y="2439162"/>
            <a:ext cx="0" cy="3448050"/>
          </a:xfrm>
          <a:prstGeom prst="line">
            <a:avLst/>
          </a:prstGeom>
          <a:ln w="9525" cap="flat">
            <a:solidFill>
              <a:srgbClr val="E6E8F2"/>
            </a:solidFill>
          </a:ln>
        </p:spPr>
      </p:cxnSp>
      <p:cxnSp>
        <p:nvCxnSpPr>
          <p:cNvPr id="17" name="Line 17"/>
          <p:cNvCxnSpPr/>
          <p:nvPr/>
        </p:nvCxnSpPr>
        <p:spPr>
          <a:xfrm>
            <a:off x="9573681" y="2439162"/>
            <a:ext cx="0" cy="3448050"/>
          </a:xfrm>
          <a:prstGeom prst="line">
            <a:avLst/>
          </a:prstGeom>
          <a:ln w="9525" cap="flat">
            <a:solidFill>
              <a:srgbClr val="E6E8F2"/>
            </a:solidFill>
          </a:ln>
        </p:spPr>
      </p:cxnSp>
      <p:cxnSp>
        <p:nvCxnSpPr>
          <p:cNvPr id="18" name="Line 18"/>
          <p:cNvCxnSpPr/>
          <p:nvPr/>
        </p:nvCxnSpPr>
        <p:spPr>
          <a:xfrm>
            <a:off x="9800920" y="2439162"/>
            <a:ext cx="0" cy="3448050"/>
          </a:xfrm>
          <a:prstGeom prst="line">
            <a:avLst/>
          </a:prstGeom>
          <a:ln w="9525" cap="flat">
            <a:solidFill>
              <a:srgbClr val="E6E8F2"/>
            </a:solidFill>
          </a:ln>
        </p:spPr>
      </p:cxnSp>
      <p:cxnSp>
        <p:nvCxnSpPr>
          <p:cNvPr id="19" name="Line 19"/>
          <p:cNvCxnSpPr/>
          <p:nvPr/>
        </p:nvCxnSpPr>
        <p:spPr>
          <a:xfrm>
            <a:off x="10028159" y="2439162"/>
            <a:ext cx="0" cy="3448050"/>
          </a:xfrm>
          <a:prstGeom prst="line">
            <a:avLst/>
          </a:prstGeom>
          <a:ln w="9525" cap="flat">
            <a:solidFill>
              <a:srgbClr val="E6E8F2"/>
            </a:solidFill>
          </a:ln>
        </p:spPr>
      </p:cxnSp>
      <p:cxnSp>
        <p:nvCxnSpPr>
          <p:cNvPr id="20" name="Line 20"/>
          <p:cNvCxnSpPr/>
          <p:nvPr/>
        </p:nvCxnSpPr>
        <p:spPr>
          <a:xfrm>
            <a:off x="10255399" y="2439162"/>
            <a:ext cx="0" cy="3448050"/>
          </a:xfrm>
          <a:prstGeom prst="line">
            <a:avLst/>
          </a:prstGeom>
          <a:ln w="9525" cap="flat">
            <a:solidFill>
              <a:srgbClr val="E6E8F2"/>
            </a:solidFill>
          </a:ln>
        </p:spPr>
      </p:cxnSp>
      <p:cxnSp>
        <p:nvCxnSpPr>
          <p:cNvPr id="21" name="Line 21"/>
          <p:cNvCxnSpPr/>
          <p:nvPr/>
        </p:nvCxnSpPr>
        <p:spPr>
          <a:xfrm>
            <a:off x="10482638" y="2439162"/>
            <a:ext cx="0" cy="3448050"/>
          </a:xfrm>
          <a:prstGeom prst="line">
            <a:avLst/>
          </a:prstGeom>
          <a:ln w="9525" cap="flat">
            <a:solidFill>
              <a:srgbClr val="E6E8F2"/>
            </a:solidFill>
          </a:ln>
        </p:spPr>
      </p:cxnSp>
      <p:cxnSp>
        <p:nvCxnSpPr>
          <p:cNvPr id="22" name="Line 22"/>
          <p:cNvCxnSpPr/>
          <p:nvPr/>
        </p:nvCxnSpPr>
        <p:spPr>
          <a:xfrm>
            <a:off x="10709877" y="2439162"/>
            <a:ext cx="0" cy="3448050"/>
          </a:xfrm>
          <a:prstGeom prst="line">
            <a:avLst/>
          </a:prstGeom>
          <a:ln w="9525" cap="flat">
            <a:solidFill>
              <a:srgbClr val="E6E8F2"/>
            </a:solidFill>
          </a:ln>
        </p:spPr>
      </p:cxnSp>
      <p:cxnSp>
        <p:nvCxnSpPr>
          <p:cNvPr id="23" name="Line 23"/>
          <p:cNvCxnSpPr/>
          <p:nvPr/>
        </p:nvCxnSpPr>
        <p:spPr>
          <a:xfrm>
            <a:off x="10937117" y="2439162"/>
            <a:ext cx="0" cy="3448050"/>
          </a:xfrm>
          <a:prstGeom prst="line">
            <a:avLst/>
          </a:prstGeom>
          <a:ln w="9525" cap="flat">
            <a:solidFill>
              <a:srgbClr val="E6E8F2"/>
            </a:solidFill>
          </a:ln>
        </p:spPr>
      </p:cxnSp>
      <p:cxnSp>
        <p:nvCxnSpPr>
          <p:cNvPr id="24" name="Line 24"/>
          <p:cNvCxnSpPr/>
          <p:nvPr/>
        </p:nvCxnSpPr>
        <p:spPr>
          <a:xfrm>
            <a:off x="11164356" y="2439162"/>
            <a:ext cx="0" cy="3448050"/>
          </a:xfrm>
          <a:prstGeom prst="line">
            <a:avLst/>
          </a:prstGeom>
          <a:ln w="9525" cap="flat">
            <a:solidFill>
              <a:srgbClr val="E6E8F2"/>
            </a:solidFill>
          </a:ln>
        </p:spPr>
      </p:cxnSp>
      <p:cxnSp>
        <p:nvCxnSpPr>
          <p:cNvPr id="25" name="Line 25"/>
          <p:cNvCxnSpPr/>
          <p:nvPr/>
        </p:nvCxnSpPr>
        <p:spPr>
          <a:xfrm>
            <a:off x="11391595" y="2439162"/>
            <a:ext cx="0" cy="3448050"/>
          </a:xfrm>
          <a:prstGeom prst="line">
            <a:avLst/>
          </a:prstGeom>
          <a:ln w="9525" cap="flat">
            <a:solidFill>
              <a:srgbClr val="E6E8F2"/>
            </a:solidFill>
          </a:ln>
        </p:spPr>
      </p:cxnSp>
      <p:cxnSp>
        <p:nvCxnSpPr>
          <p:cNvPr id="26" name="Line 26"/>
          <p:cNvCxnSpPr/>
          <p:nvPr/>
        </p:nvCxnSpPr>
        <p:spPr>
          <a:xfrm>
            <a:off x="8210245" y="5887212"/>
            <a:ext cx="3181350" cy="0"/>
          </a:xfrm>
          <a:prstGeom prst="line">
            <a:avLst/>
          </a:prstGeom>
          <a:ln w="9525" cap="flat">
            <a:solidFill>
              <a:srgbClr val="E6E8F2"/>
            </a:solidFill>
          </a:ln>
        </p:spPr>
      </p:cxnSp>
      <p:cxnSp>
        <p:nvCxnSpPr>
          <p:cNvPr id="27" name="Line 27"/>
          <p:cNvCxnSpPr/>
          <p:nvPr/>
        </p:nvCxnSpPr>
        <p:spPr>
          <a:xfrm>
            <a:off x="8210245" y="5456206"/>
            <a:ext cx="3181350" cy="0"/>
          </a:xfrm>
          <a:prstGeom prst="line">
            <a:avLst/>
          </a:prstGeom>
          <a:ln w="9525" cap="flat">
            <a:solidFill>
              <a:srgbClr val="E6E8F2"/>
            </a:solidFill>
          </a:ln>
        </p:spPr>
      </p:cxnSp>
      <p:cxnSp>
        <p:nvCxnSpPr>
          <p:cNvPr id="28" name="Line 28"/>
          <p:cNvCxnSpPr/>
          <p:nvPr/>
        </p:nvCxnSpPr>
        <p:spPr>
          <a:xfrm>
            <a:off x="8210245" y="5025200"/>
            <a:ext cx="3181350" cy="0"/>
          </a:xfrm>
          <a:prstGeom prst="line">
            <a:avLst/>
          </a:prstGeom>
          <a:ln w="9525" cap="flat">
            <a:solidFill>
              <a:srgbClr val="E6E8F2"/>
            </a:solidFill>
          </a:ln>
        </p:spPr>
      </p:cxnSp>
      <p:cxnSp>
        <p:nvCxnSpPr>
          <p:cNvPr id="29" name="Line 29"/>
          <p:cNvCxnSpPr/>
          <p:nvPr/>
        </p:nvCxnSpPr>
        <p:spPr>
          <a:xfrm>
            <a:off x="8210245" y="4594193"/>
            <a:ext cx="3181350" cy="0"/>
          </a:xfrm>
          <a:prstGeom prst="line">
            <a:avLst/>
          </a:prstGeom>
          <a:ln w="9525" cap="flat">
            <a:solidFill>
              <a:srgbClr val="E6E8F2"/>
            </a:solidFill>
          </a:ln>
        </p:spPr>
      </p:cxnSp>
      <p:cxnSp>
        <p:nvCxnSpPr>
          <p:cNvPr id="30" name="Line 30"/>
          <p:cNvCxnSpPr/>
          <p:nvPr/>
        </p:nvCxnSpPr>
        <p:spPr>
          <a:xfrm>
            <a:off x="8210245" y="4163187"/>
            <a:ext cx="3181350" cy="0"/>
          </a:xfrm>
          <a:prstGeom prst="line">
            <a:avLst/>
          </a:prstGeom>
          <a:ln w="9525" cap="flat">
            <a:solidFill>
              <a:srgbClr val="E6E8F2"/>
            </a:solidFill>
          </a:ln>
        </p:spPr>
      </p:cxnSp>
      <p:cxnSp>
        <p:nvCxnSpPr>
          <p:cNvPr id="31" name="Line 31"/>
          <p:cNvCxnSpPr/>
          <p:nvPr/>
        </p:nvCxnSpPr>
        <p:spPr>
          <a:xfrm>
            <a:off x="8210245" y="3732181"/>
            <a:ext cx="3181350" cy="0"/>
          </a:xfrm>
          <a:prstGeom prst="line">
            <a:avLst/>
          </a:prstGeom>
          <a:ln w="9525" cap="flat">
            <a:solidFill>
              <a:srgbClr val="E6E8F2"/>
            </a:solidFill>
          </a:ln>
        </p:spPr>
      </p:cxnSp>
      <p:cxnSp>
        <p:nvCxnSpPr>
          <p:cNvPr id="32" name="Line 32"/>
          <p:cNvCxnSpPr/>
          <p:nvPr/>
        </p:nvCxnSpPr>
        <p:spPr>
          <a:xfrm>
            <a:off x="8210245" y="3301174"/>
            <a:ext cx="3181350" cy="0"/>
          </a:xfrm>
          <a:prstGeom prst="line">
            <a:avLst/>
          </a:prstGeom>
          <a:ln w="9525" cap="flat">
            <a:solidFill>
              <a:srgbClr val="E6E8F2"/>
            </a:solidFill>
          </a:ln>
        </p:spPr>
      </p:cxnSp>
      <p:cxnSp>
        <p:nvCxnSpPr>
          <p:cNvPr id="33" name="Line 33"/>
          <p:cNvCxnSpPr/>
          <p:nvPr/>
        </p:nvCxnSpPr>
        <p:spPr>
          <a:xfrm>
            <a:off x="8210245" y="2870168"/>
            <a:ext cx="3181350" cy="0"/>
          </a:xfrm>
          <a:prstGeom prst="line">
            <a:avLst/>
          </a:prstGeom>
          <a:ln w="9525" cap="flat">
            <a:solidFill>
              <a:srgbClr val="E6E8F2"/>
            </a:solidFill>
          </a:ln>
        </p:spPr>
      </p:cxnSp>
      <p:cxnSp>
        <p:nvCxnSpPr>
          <p:cNvPr id="34" name="Line 34"/>
          <p:cNvCxnSpPr/>
          <p:nvPr/>
        </p:nvCxnSpPr>
        <p:spPr>
          <a:xfrm>
            <a:off x="8210245" y="2439162"/>
            <a:ext cx="3181350" cy="0"/>
          </a:xfrm>
          <a:prstGeom prst="line">
            <a:avLst/>
          </a:prstGeom>
          <a:ln w="9525" cap="flat">
            <a:solidFill>
              <a:srgbClr val="E6E8F2"/>
            </a:solidFill>
          </a:ln>
        </p:spPr>
      </p:cxnSp>
      <p:cxnSp>
        <p:nvCxnSpPr>
          <p:cNvPr id="35" name="Line 35"/>
          <p:cNvCxnSpPr/>
          <p:nvPr/>
        </p:nvCxnSpPr>
        <p:spPr>
          <a:xfrm>
            <a:off x="8210245" y="2439162"/>
            <a:ext cx="0" cy="3448050"/>
          </a:xfrm>
          <a:prstGeom prst="line">
            <a:avLst/>
          </a:prstGeom>
          <a:ln w="19050" cap="flat">
            <a:solidFill>
              <a:srgbClr val="5F6272"/>
            </a:solidFill>
          </a:ln>
        </p:spPr>
      </p:cxnSp>
      <p:cxnSp>
        <p:nvCxnSpPr>
          <p:cNvPr id="36" name="Line 36"/>
          <p:cNvCxnSpPr/>
          <p:nvPr/>
        </p:nvCxnSpPr>
        <p:spPr>
          <a:xfrm>
            <a:off x="8210245" y="5887212"/>
            <a:ext cx="3181350" cy="0"/>
          </a:xfrm>
          <a:prstGeom prst="line">
            <a:avLst/>
          </a:prstGeom>
          <a:ln w="19050" cap="flat">
            <a:solidFill>
              <a:srgbClr val="5F6272"/>
            </a:solidFill>
          </a:ln>
        </p:spPr>
      </p:cxnSp>
      <p:sp>
        <p:nvSpPr>
          <p:cNvPr id="37" name="Shape 37"/>
          <p:cNvSpPr txBox="1"/>
          <p:nvPr/>
        </p:nvSpPr>
        <p:spPr>
          <a:xfrm>
            <a:off x="793592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90404"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844882"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299361"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9753839"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208318"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0662797"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1111727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45" name="Shape 45"/>
          <p:cNvSpPr txBox="1"/>
          <p:nvPr/>
        </p:nvSpPr>
        <p:spPr>
          <a:xfrm>
            <a:off x="7643317" y="57957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7643317" y="53647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7" name="Shape 47"/>
          <p:cNvSpPr txBox="1"/>
          <p:nvPr/>
        </p:nvSpPr>
        <p:spPr>
          <a:xfrm>
            <a:off x="7643317" y="4933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8" name="Shape 48"/>
          <p:cNvSpPr txBox="1"/>
          <p:nvPr/>
        </p:nvSpPr>
        <p:spPr>
          <a:xfrm>
            <a:off x="7643317" y="45027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9" name="Shape 49"/>
          <p:cNvSpPr txBox="1"/>
          <p:nvPr/>
        </p:nvSpPr>
        <p:spPr>
          <a:xfrm>
            <a:off x="7643317" y="407174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0" name="Shape 50"/>
          <p:cNvSpPr txBox="1"/>
          <p:nvPr/>
        </p:nvSpPr>
        <p:spPr>
          <a:xfrm>
            <a:off x="7643317" y="36407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1" name="Shape 51"/>
          <p:cNvSpPr txBox="1"/>
          <p:nvPr/>
        </p:nvSpPr>
        <p:spPr>
          <a:xfrm>
            <a:off x="7643317" y="320973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2" name="Shape 52"/>
          <p:cNvSpPr txBox="1"/>
          <p:nvPr/>
        </p:nvSpPr>
        <p:spPr>
          <a:xfrm>
            <a:off x="7643317" y="2778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3" name="Shape 53"/>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p:nvPr/>
        </p:nvSpPr>
        <p:spPr>
          <a:xfrm>
            <a:off x="8839576" y="36797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8977688" y="348453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(3, 50)</a:t>
            </a:r>
            <a:endParaRPr lang="en-US" sz="1125" dirty="0"/>
          </a:p>
        </p:txBody>
      </p:sp>
      <p:sp>
        <p:nvSpPr>
          <p:cNvPr id="56" name="Shape 56"/>
          <p:cNvSpPr/>
          <p:nvPr/>
        </p:nvSpPr>
        <p:spPr>
          <a:xfrm>
            <a:off x="9066815" y="346429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8612336" y="389529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8" name="Line 58"/>
          <p:cNvCxnSpPr/>
          <p:nvPr/>
        </p:nvCxnSpPr>
        <p:spPr>
          <a:xfrm flipV="1">
            <a:off x="8210245" y="2439162"/>
            <a:ext cx="2045154" cy="1939528"/>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anim calcmode="lin" valueType="num">
                                      <p:cBhvr>
                                        <p:cTn id="52" dur="500" fill="hold"/>
                                        <p:tgtEl>
                                          <p:spTgt spid="56"/>
                                        </p:tgtEl>
                                        <p:attrNameLst>
                                          <p:attrName>ppt_w</p:attrName>
                                        </p:attrNameLst>
                                      </p:cBhvr>
                                      <p:tavLst>
                                        <p:tav tm="0">
                                          <p:val>
                                            <p:fltVal val="0"/>
                                          </p:val>
                                        </p:tav>
                                        <p:tav tm="100000">
                                          <p:val>
                                            <p:strVal val="#ppt_w"/>
                                          </p:val>
                                        </p:tav>
                                      </p:tavLst>
                                    </p:anim>
                                    <p:anim calcmode="lin" valueType="num">
                                      <p:cBhvr>
                                        <p:cTn id="53"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anim calcmode="lin" valueType="num">
                                      <p:cBhvr>
                                        <p:cTn id="59" dur="500" fill="hold"/>
                                        <p:tgtEl>
                                          <p:spTgt spid="57"/>
                                        </p:tgtEl>
                                        <p:attrNameLst>
                                          <p:attrName>ppt_w</p:attrName>
                                        </p:attrNameLst>
                                      </p:cBhvr>
                                      <p:tavLst>
                                        <p:tav tm="0">
                                          <p:val>
                                            <p:fltVal val="0"/>
                                          </p:val>
                                        </p:tav>
                                        <p:tav tm="100000">
                                          <p:val>
                                            <p:strVal val="#ppt_w"/>
                                          </p:val>
                                        </p:tav>
                                      </p:tavLst>
                                    </p:anim>
                                    <p:anim calcmode="lin" valueType="num">
                                      <p:cBhvr>
                                        <p:cTn id="6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wipe(left)">
                                      <p:cBhvr>
                                        <p:cTn id="65"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2 · SE p. 224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Identify the slope and a point, then graph</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14</a:t>
            </a:r>
            <a:r>
              <a:rPr lang="en-US" sz="2325" dirty="0">
                <a:solidFill>
                  <a:srgbClr val="16171D"/>
                </a:solidFill>
                <a:latin typeface="Cambria"/>
                <a:cs typeface="Cambria"/>
              </a:rPr>
              <a:t xml:space="preserve">)</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(14, 5)</a:t>
            </a:r>
            <a:r>
              <a:rPr lang="en-US" sz="1575" dirty="0">
                <a:solidFill>
                  <a:srgbClr val="16171D"/>
                </a:solidFill>
                <a:latin typeface="Segoe UI"/>
                <a:cs typeface="Segoe UI"/>
              </a:rPr>
              <a:t xml:space="preserve">. Up 3, left 4.</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1009650" y="2589276"/>
            <a:ext cx="0" cy="2781300"/>
          </a:xfrm>
          <a:prstGeom prst="line">
            <a:avLst/>
          </a:prstGeom>
          <a:ln w="19050" cap="flat">
            <a:solidFill>
              <a:srgbClr val="5F6272"/>
            </a:solidFill>
          </a:ln>
        </p:spPr>
      </p:cxnSp>
      <p:cxnSp>
        <p:nvCxnSpPr>
          <p:cNvPr id="42" name="Line 42"/>
          <p:cNvCxnSpPr/>
          <p:nvPr/>
        </p:nvCxnSpPr>
        <p:spPr>
          <a:xfrm>
            <a:off x="1009650" y="537057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1" name="Shape 61"/>
          <p:cNvSpPr/>
          <p:nvPr/>
        </p:nvSpPr>
        <p:spPr>
          <a:xfrm>
            <a:off x="3324225" y="444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3462337" y="425377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(14, 5)</a:t>
            </a:r>
            <a:endParaRPr lang="en-US" sz="1125" dirty="0"/>
          </a:p>
        </p:txBody>
      </p:sp>
      <p:sp>
        <p:nvSpPr>
          <p:cNvPr id="63" name="Shape 63"/>
          <p:cNvSpPr/>
          <p:nvPr/>
        </p:nvSpPr>
        <p:spPr>
          <a:xfrm>
            <a:off x="2647950" y="39275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1971675" y="340604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a:off x="1009650" y="2676192"/>
            <a:ext cx="2705100" cy="2085975"/>
          </a:xfrm>
          <a:prstGeom prst="line">
            <a:avLst/>
          </a:prstGeom>
          <a:ln w="38100" cap="rnd">
            <a:solidFill>
              <a:srgbClr val="16171D"/>
            </a:solidFill>
          </a:ln>
        </p:spPr>
      </p:cxnSp>
      <p:sp>
        <p:nvSpPr>
          <p:cNvPr id="66" name="Shape 66"/>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endParaRPr lang="en-US" sz="2325" dirty="0"/>
          </a:p>
        </p:txBody>
      </p:sp>
      <p:sp>
        <p:nvSpPr>
          <p:cNvPr id="67" name="Shape 67"/>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(−6, −8)</a:t>
            </a:r>
            <a:r>
              <a:rPr lang="en-US" sz="1575" dirty="0">
                <a:solidFill>
                  <a:srgbClr val="16171D"/>
                </a:solidFill>
                <a:latin typeface="Segoe UI"/>
                <a:cs typeface="Segoe UI"/>
              </a:rPr>
              <a:t xml:space="preserve">. Up 1, right 2.</a:t>
            </a:r>
            <a:endParaRPr lang="en-US" sz="1575" dirty="0"/>
          </a:p>
        </p:txBody>
      </p:sp>
      <p:sp>
        <p:nvSpPr>
          <p:cNvPr id="68" name="Shape 68"/>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9" name="Line 69"/>
          <p:cNvCxnSpPr/>
          <p:nvPr/>
        </p:nvCxnSpPr>
        <p:spPr>
          <a:xfrm>
            <a:off x="6610198" y="2589276"/>
            <a:ext cx="0" cy="2781300"/>
          </a:xfrm>
          <a:prstGeom prst="line">
            <a:avLst/>
          </a:prstGeom>
          <a:ln w="9525" cap="flat">
            <a:solidFill>
              <a:srgbClr val="E6E8F2"/>
            </a:solidFill>
          </a:ln>
        </p:spPr>
      </p:cxnSp>
      <p:cxnSp>
        <p:nvCxnSpPr>
          <p:cNvPr id="70" name="Line 70"/>
          <p:cNvCxnSpPr/>
          <p:nvPr/>
        </p:nvCxnSpPr>
        <p:spPr>
          <a:xfrm>
            <a:off x="6779266" y="2589276"/>
            <a:ext cx="0" cy="2781300"/>
          </a:xfrm>
          <a:prstGeom prst="line">
            <a:avLst/>
          </a:prstGeom>
          <a:ln w="9525" cap="flat">
            <a:solidFill>
              <a:srgbClr val="E6E8F2"/>
            </a:solidFill>
          </a:ln>
        </p:spPr>
      </p:cxnSp>
      <p:cxnSp>
        <p:nvCxnSpPr>
          <p:cNvPr id="71" name="Line 71"/>
          <p:cNvCxnSpPr/>
          <p:nvPr/>
        </p:nvCxnSpPr>
        <p:spPr>
          <a:xfrm>
            <a:off x="6948335" y="2589276"/>
            <a:ext cx="0" cy="2781300"/>
          </a:xfrm>
          <a:prstGeom prst="line">
            <a:avLst/>
          </a:prstGeom>
          <a:ln w="9525" cap="flat">
            <a:solidFill>
              <a:srgbClr val="E6E8F2"/>
            </a:solidFill>
          </a:ln>
        </p:spPr>
      </p:cxnSp>
      <p:cxnSp>
        <p:nvCxnSpPr>
          <p:cNvPr id="72" name="Line 72"/>
          <p:cNvCxnSpPr/>
          <p:nvPr/>
        </p:nvCxnSpPr>
        <p:spPr>
          <a:xfrm>
            <a:off x="7117404" y="2589276"/>
            <a:ext cx="0" cy="2781300"/>
          </a:xfrm>
          <a:prstGeom prst="line">
            <a:avLst/>
          </a:prstGeom>
          <a:ln w="9525" cap="flat">
            <a:solidFill>
              <a:srgbClr val="E6E8F2"/>
            </a:solidFill>
          </a:ln>
        </p:spPr>
      </p:cxnSp>
      <p:cxnSp>
        <p:nvCxnSpPr>
          <p:cNvPr id="73" name="Line 73"/>
          <p:cNvCxnSpPr/>
          <p:nvPr/>
        </p:nvCxnSpPr>
        <p:spPr>
          <a:xfrm>
            <a:off x="7286473" y="2589276"/>
            <a:ext cx="0" cy="2781300"/>
          </a:xfrm>
          <a:prstGeom prst="line">
            <a:avLst/>
          </a:prstGeom>
          <a:ln w="9525" cap="flat">
            <a:solidFill>
              <a:srgbClr val="E6E8F2"/>
            </a:solidFill>
          </a:ln>
        </p:spPr>
      </p:cxnSp>
      <p:cxnSp>
        <p:nvCxnSpPr>
          <p:cNvPr id="74" name="Line 74"/>
          <p:cNvCxnSpPr/>
          <p:nvPr/>
        </p:nvCxnSpPr>
        <p:spPr>
          <a:xfrm>
            <a:off x="7455541" y="2589276"/>
            <a:ext cx="0" cy="2781300"/>
          </a:xfrm>
          <a:prstGeom prst="line">
            <a:avLst/>
          </a:prstGeom>
          <a:ln w="9525" cap="flat">
            <a:solidFill>
              <a:srgbClr val="E6E8F2"/>
            </a:solidFill>
          </a:ln>
        </p:spPr>
      </p:cxnSp>
      <p:cxnSp>
        <p:nvCxnSpPr>
          <p:cNvPr id="75" name="Line 75"/>
          <p:cNvCxnSpPr/>
          <p:nvPr/>
        </p:nvCxnSpPr>
        <p:spPr>
          <a:xfrm>
            <a:off x="7624610" y="2589276"/>
            <a:ext cx="0" cy="2781300"/>
          </a:xfrm>
          <a:prstGeom prst="line">
            <a:avLst/>
          </a:prstGeom>
          <a:ln w="9525" cap="flat">
            <a:solidFill>
              <a:srgbClr val="E6E8F2"/>
            </a:solidFill>
          </a:ln>
        </p:spPr>
      </p:cxnSp>
      <p:cxnSp>
        <p:nvCxnSpPr>
          <p:cNvPr id="76" name="Line 76"/>
          <p:cNvCxnSpPr/>
          <p:nvPr/>
        </p:nvCxnSpPr>
        <p:spPr>
          <a:xfrm>
            <a:off x="7793679" y="2589276"/>
            <a:ext cx="0" cy="2781300"/>
          </a:xfrm>
          <a:prstGeom prst="line">
            <a:avLst/>
          </a:prstGeom>
          <a:ln w="9525" cap="flat">
            <a:solidFill>
              <a:srgbClr val="E6E8F2"/>
            </a:solidFill>
          </a:ln>
        </p:spPr>
      </p:cxnSp>
      <p:cxnSp>
        <p:nvCxnSpPr>
          <p:cNvPr id="77" name="Line 77"/>
          <p:cNvCxnSpPr/>
          <p:nvPr/>
        </p:nvCxnSpPr>
        <p:spPr>
          <a:xfrm>
            <a:off x="7962748" y="2589276"/>
            <a:ext cx="0" cy="2781300"/>
          </a:xfrm>
          <a:prstGeom prst="line">
            <a:avLst/>
          </a:prstGeom>
          <a:ln w="9525" cap="flat">
            <a:solidFill>
              <a:srgbClr val="E6E8F2"/>
            </a:solidFill>
          </a:ln>
        </p:spPr>
      </p:cxnSp>
      <p:cxnSp>
        <p:nvCxnSpPr>
          <p:cNvPr id="78" name="Line 78"/>
          <p:cNvCxnSpPr/>
          <p:nvPr/>
        </p:nvCxnSpPr>
        <p:spPr>
          <a:xfrm>
            <a:off x="8131816" y="2589276"/>
            <a:ext cx="0" cy="2781300"/>
          </a:xfrm>
          <a:prstGeom prst="line">
            <a:avLst/>
          </a:prstGeom>
          <a:ln w="9525" cap="flat">
            <a:solidFill>
              <a:srgbClr val="E6E8F2"/>
            </a:solidFill>
          </a:ln>
        </p:spPr>
      </p:cxnSp>
      <p:cxnSp>
        <p:nvCxnSpPr>
          <p:cNvPr id="79" name="Line 79"/>
          <p:cNvCxnSpPr/>
          <p:nvPr/>
        </p:nvCxnSpPr>
        <p:spPr>
          <a:xfrm>
            <a:off x="8300885" y="2589276"/>
            <a:ext cx="0" cy="2781300"/>
          </a:xfrm>
          <a:prstGeom prst="line">
            <a:avLst/>
          </a:prstGeom>
          <a:ln w="9525" cap="flat">
            <a:solidFill>
              <a:srgbClr val="E6E8F2"/>
            </a:solidFill>
          </a:ln>
        </p:spPr>
      </p:cxnSp>
      <p:cxnSp>
        <p:nvCxnSpPr>
          <p:cNvPr id="80" name="Line 80"/>
          <p:cNvCxnSpPr/>
          <p:nvPr/>
        </p:nvCxnSpPr>
        <p:spPr>
          <a:xfrm>
            <a:off x="8469954" y="2589276"/>
            <a:ext cx="0" cy="2781300"/>
          </a:xfrm>
          <a:prstGeom prst="line">
            <a:avLst/>
          </a:prstGeom>
          <a:ln w="9525" cap="flat">
            <a:solidFill>
              <a:srgbClr val="E6E8F2"/>
            </a:solidFill>
          </a:ln>
        </p:spPr>
      </p:cxnSp>
      <p:cxnSp>
        <p:nvCxnSpPr>
          <p:cNvPr id="81" name="Line 81"/>
          <p:cNvCxnSpPr/>
          <p:nvPr/>
        </p:nvCxnSpPr>
        <p:spPr>
          <a:xfrm>
            <a:off x="8639023" y="2589276"/>
            <a:ext cx="0" cy="2781300"/>
          </a:xfrm>
          <a:prstGeom prst="line">
            <a:avLst/>
          </a:prstGeom>
          <a:ln w="9525" cap="flat">
            <a:solidFill>
              <a:srgbClr val="E6E8F2"/>
            </a:solidFill>
          </a:ln>
        </p:spPr>
      </p:cxnSp>
      <p:cxnSp>
        <p:nvCxnSpPr>
          <p:cNvPr id="82" name="Line 82"/>
          <p:cNvCxnSpPr/>
          <p:nvPr/>
        </p:nvCxnSpPr>
        <p:spPr>
          <a:xfrm>
            <a:off x="8808091" y="2589276"/>
            <a:ext cx="0" cy="2781300"/>
          </a:xfrm>
          <a:prstGeom prst="line">
            <a:avLst/>
          </a:prstGeom>
          <a:ln w="9525" cap="flat">
            <a:solidFill>
              <a:srgbClr val="E6E8F2"/>
            </a:solidFill>
          </a:ln>
        </p:spPr>
      </p:cxnSp>
      <p:cxnSp>
        <p:nvCxnSpPr>
          <p:cNvPr id="83" name="Line 83"/>
          <p:cNvCxnSpPr/>
          <p:nvPr/>
        </p:nvCxnSpPr>
        <p:spPr>
          <a:xfrm>
            <a:off x="8977160" y="2589276"/>
            <a:ext cx="0" cy="2781300"/>
          </a:xfrm>
          <a:prstGeom prst="line">
            <a:avLst/>
          </a:prstGeom>
          <a:ln w="9525" cap="flat">
            <a:solidFill>
              <a:srgbClr val="E6E8F2"/>
            </a:solidFill>
          </a:ln>
        </p:spPr>
      </p:cxnSp>
      <p:cxnSp>
        <p:nvCxnSpPr>
          <p:cNvPr id="84" name="Line 84"/>
          <p:cNvCxnSpPr/>
          <p:nvPr/>
        </p:nvCxnSpPr>
        <p:spPr>
          <a:xfrm>
            <a:off x="9146229" y="2589276"/>
            <a:ext cx="0" cy="2781300"/>
          </a:xfrm>
          <a:prstGeom prst="line">
            <a:avLst/>
          </a:prstGeom>
          <a:ln w="9525" cap="flat">
            <a:solidFill>
              <a:srgbClr val="E6E8F2"/>
            </a:solidFill>
          </a:ln>
        </p:spPr>
      </p:cxnSp>
      <p:cxnSp>
        <p:nvCxnSpPr>
          <p:cNvPr id="85" name="Line 85"/>
          <p:cNvCxnSpPr/>
          <p:nvPr/>
        </p:nvCxnSpPr>
        <p:spPr>
          <a:xfrm>
            <a:off x="9315298" y="2589276"/>
            <a:ext cx="0" cy="2781300"/>
          </a:xfrm>
          <a:prstGeom prst="line">
            <a:avLst/>
          </a:prstGeom>
          <a:ln w="9525" cap="flat">
            <a:solidFill>
              <a:srgbClr val="E6E8F2"/>
            </a:solidFill>
          </a:ln>
        </p:spPr>
      </p:cxnSp>
      <p:cxnSp>
        <p:nvCxnSpPr>
          <p:cNvPr id="86" name="Line 86"/>
          <p:cNvCxnSpPr/>
          <p:nvPr/>
        </p:nvCxnSpPr>
        <p:spPr>
          <a:xfrm>
            <a:off x="6610198" y="5370576"/>
            <a:ext cx="2705100" cy="0"/>
          </a:xfrm>
          <a:prstGeom prst="line">
            <a:avLst/>
          </a:prstGeom>
          <a:ln w="9525" cap="flat">
            <a:solidFill>
              <a:srgbClr val="E6E8F2"/>
            </a:solidFill>
          </a:ln>
        </p:spPr>
      </p:cxnSp>
      <p:cxnSp>
        <p:nvCxnSpPr>
          <p:cNvPr id="87" name="Line 87"/>
          <p:cNvCxnSpPr/>
          <p:nvPr/>
        </p:nvCxnSpPr>
        <p:spPr>
          <a:xfrm>
            <a:off x="6610198" y="5216059"/>
            <a:ext cx="2705100" cy="0"/>
          </a:xfrm>
          <a:prstGeom prst="line">
            <a:avLst/>
          </a:prstGeom>
          <a:ln w="9525" cap="flat">
            <a:solidFill>
              <a:srgbClr val="E6E8F2"/>
            </a:solidFill>
          </a:ln>
        </p:spPr>
      </p:cxnSp>
      <p:cxnSp>
        <p:nvCxnSpPr>
          <p:cNvPr id="88" name="Line 88"/>
          <p:cNvCxnSpPr/>
          <p:nvPr/>
        </p:nvCxnSpPr>
        <p:spPr>
          <a:xfrm>
            <a:off x="6610198" y="5061543"/>
            <a:ext cx="2705100" cy="0"/>
          </a:xfrm>
          <a:prstGeom prst="line">
            <a:avLst/>
          </a:prstGeom>
          <a:ln w="9525" cap="flat">
            <a:solidFill>
              <a:srgbClr val="E6E8F2"/>
            </a:solidFill>
          </a:ln>
        </p:spPr>
      </p:cxnSp>
      <p:cxnSp>
        <p:nvCxnSpPr>
          <p:cNvPr id="89" name="Line 89"/>
          <p:cNvCxnSpPr/>
          <p:nvPr/>
        </p:nvCxnSpPr>
        <p:spPr>
          <a:xfrm>
            <a:off x="6610198" y="4907026"/>
            <a:ext cx="2705100" cy="0"/>
          </a:xfrm>
          <a:prstGeom prst="line">
            <a:avLst/>
          </a:prstGeom>
          <a:ln w="9525" cap="flat">
            <a:solidFill>
              <a:srgbClr val="E6E8F2"/>
            </a:solidFill>
          </a:ln>
        </p:spPr>
      </p:cxnSp>
      <p:cxnSp>
        <p:nvCxnSpPr>
          <p:cNvPr id="90" name="Line 90"/>
          <p:cNvCxnSpPr/>
          <p:nvPr/>
        </p:nvCxnSpPr>
        <p:spPr>
          <a:xfrm>
            <a:off x="6610198" y="4752509"/>
            <a:ext cx="2705100" cy="0"/>
          </a:xfrm>
          <a:prstGeom prst="line">
            <a:avLst/>
          </a:prstGeom>
          <a:ln w="9525" cap="flat">
            <a:solidFill>
              <a:srgbClr val="E6E8F2"/>
            </a:solidFill>
          </a:ln>
        </p:spPr>
      </p:cxnSp>
      <p:cxnSp>
        <p:nvCxnSpPr>
          <p:cNvPr id="91" name="Line 91"/>
          <p:cNvCxnSpPr/>
          <p:nvPr/>
        </p:nvCxnSpPr>
        <p:spPr>
          <a:xfrm>
            <a:off x="6610198" y="4597993"/>
            <a:ext cx="2705100" cy="0"/>
          </a:xfrm>
          <a:prstGeom prst="line">
            <a:avLst/>
          </a:prstGeom>
          <a:ln w="9525" cap="flat">
            <a:solidFill>
              <a:srgbClr val="E6E8F2"/>
            </a:solidFill>
          </a:ln>
        </p:spPr>
      </p:cxnSp>
      <p:cxnSp>
        <p:nvCxnSpPr>
          <p:cNvPr id="92" name="Line 92"/>
          <p:cNvCxnSpPr/>
          <p:nvPr/>
        </p:nvCxnSpPr>
        <p:spPr>
          <a:xfrm>
            <a:off x="6610198" y="4443476"/>
            <a:ext cx="2705100" cy="0"/>
          </a:xfrm>
          <a:prstGeom prst="line">
            <a:avLst/>
          </a:prstGeom>
          <a:ln w="9525" cap="flat">
            <a:solidFill>
              <a:srgbClr val="E6E8F2"/>
            </a:solidFill>
          </a:ln>
        </p:spPr>
      </p:cxnSp>
      <p:cxnSp>
        <p:nvCxnSpPr>
          <p:cNvPr id="93" name="Line 93"/>
          <p:cNvCxnSpPr/>
          <p:nvPr/>
        </p:nvCxnSpPr>
        <p:spPr>
          <a:xfrm>
            <a:off x="6610198" y="4288959"/>
            <a:ext cx="2705100" cy="0"/>
          </a:xfrm>
          <a:prstGeom prst="line">
            <a:avLst/>
          </a:prstGeom>
          <a:ln w="9525" cap="flat">
            <a:solidFill>
              <a:srgbClr val="E6E8F2"/>
            </a:solidFill>
          </a:ln>
        </p:spPr>
      </p:cxnSp>
      <p:cxnSp>
        <p:nvCxnSpPr>
          <p:cNvPr id="94" name="Line 94"/>
          <p:cNvCxnSpPr/>
          <p:nvPr/>
        </p:nvCxnSpPr>
        <p:spPr>
          <a:xfrm>
            <a:off x="6610198" y="4134443"/>
            <a:ext cx="2705100" cy="0"/>
          </a:xfrm>
          <a:prstGeom prst="line">
            <a:avLst/>
          </a:prstGeom>
          <a:ln w="9525" cap="flat">
            <a:solidFill>
              <a:srgbClr val="E6E8F2"/>
            </a:solidFill>
          </a:ln>
        </p:spPr>
      </p:cxnSp>
      <p:cxnSp>
        <p:nvCxnSpPr>
          <p:cNvPr id="95" name="Line 95"/>
          <p:cNvCxnSpPr/>
          <p:nvPr/>
        </p:nvCxnSpPr>
        <p:spPr>
          <a:xfrm>
            <a:off x="6610198" y="3979926"/>
            <a:ext cx="2705100" cy="0"/>
          </a:xfrm>
          <a:prstGeom prst="line">
            <a:avLst/>
          </a:prstGeom>
          <a:ln w="9525" cap="flat">
            <a:solidFill>
              <a:srgbClr val="E6E8F2"/>
            </a:solidFill>
          </a:ln>
        </p:spPr>
      </p:cxnSp>
      <p:cxnSp>
        <p:nvCxnSpPr>
          <p:cNvPr id="96" name="Line 96"/>
          <p:cNvCxnSpPr/>
          <p:nvPr/>
        </p:nvCxnSpPr>
        <p:spPr>
          <a:xfrm>
            <a:off x="6610198" y="3825409"/>
            <a:ext cx="2705100" cy="0"/>
          </a:xfrm>
          <a:prstGeom prst="line">
            <a:avLst/>
          </a:prstGeom>
          <a:ln w="9525" cap="flat">
            <a:solidFill>
              <a:srgbClr val="E6E8F2"/>
            </a:solidFill>
          </a:ln>
        </p:spPr>
      </p:cxnSp>
      <p:cxnSp>
        <p:nvCxnSpPr>
          <p:cNvPr id="97" name="Line 97"/>
          <p:cNvCxnSpPr/>
          <p:nvPr/>
        </p:nvCxnSpPr>
        <p:spPr>
          <a:xfrm>
            <a:off x="6610198" y="3670893"/>
            <a:ext cx="2705100" cy="0"/>
          </a:xfrm>
          <a:prstGeom prst="line">
            <a:avLst/>
          </a:prstGeom>
          <a:ln w="9525" cap="flat">
            <a:solidFill>
              <a:srgbClr val="E6E8F2"/>
            </a:solidFill>
          </a:ln>
        </p:spPr>
      </p:cxnSp>
      <p:cxnSp>
        <p:nvCxnSpPr>
          <p:cNvPr id="98" name="Line 98"/>
          <p:cNvCxnSpPr/>
          <p:nvPr/>
        </p:nvCxnSpPr>
        <p:spPr>
          <a:xfrm>
            <a:off x="6610198" y="3516376"/>
            <a:ext cx="2705100" cy="0"/>
          </a:xfrm>
          <a:prstGeom prst="line">
            <a:avLst/>
          </a:prstGeom>
          <a:ln w="9525" cap="flat">
            <a:solidFill>
              <a:srgbClr val="E6E8F2"/>
            </a:solidFill>
          </a:ln>
        </p:spPr>
      </p:cxnSp>
      <p:cxnSp>
        <p:nvCxnSpPr>
          <p:cNvPr id="99" name="Line 99"/>
          <p:cNvCxnSpPr/>
          <p:nvPr/>
        </p:nvCxnSpPr>
        <p:spPr>
          <a:xfrm>
            <a:off x="6610198" y="3361859"/>
            <a:ext cx="2705100" cy="0"/>
          </a:xfrm>
          <a:prstGeom prst="line">
            <a:avLst/>
          </a:prstGeom>
          <a:ln w="9525" cap="flat">
            <a:solidFill>
              <a:srgbClr val="E6E8F2"/>
            </a:solidFill>
          </a:ln>
        </p:spPr>
      </p:cxnSp>
      <p:cxnSp>
        <p:nvCxnSpPr>
          <p:cNvPr id="100" name="Line 100"/>
          <p:cNvCxnSpPr/>
          <p:nvPr/>
        </p:nvCxnSpPr>
        <p:spPr>
          <a:xfrm>
            <a:off x="6610198" y="3207343"/>
            <a:ext cx="2705100" cy="0"/>
          </a:xfrm>
          <a:prstGeom prst="line">
            <a:avLst/>
          </a:prstGeom>
          <a:ln w="9525" cap="flat">
            <a:solidFill>
              <a:srgbClr val="E6E8F2"/>
            </a:solidFill>
          </a:ln>
        </p:spPr>
      </p:cxnSp>
      <p:cxnSp>
        <p:nvCxnSpPr>
          <p:cNvPr id="101" name="Line 101"/>
          <p:cNvCxnSpPr/>
          <p:nvPr/>
        </p:nvCxnSpPr>
        <p:spPr>
          <a:xfrm>
            <a:off x="6610198" y="3052826"/>
            <a:ext cx="2705100" cy="0"/>
          </a:xfrm>
          <a:prstGeom prst="line">
            <a:avLst/>
          </a:prstGeom>
          <a:ln w="9525" cap="flat">
            <a:solidFill>
              <a:srgbClr val="E6E8F2"/>
            </a:solidFill>
          </a:ln>
        </p:spPr>
      </p:cxnSp>
      <p:cxnSp>
        <p:nvCxnSpPr>
          <p:cNvPr id="102" name="Line 102"/>
          <p:cNvCxnSpPr/>
          <p:nvPr/>
        </p:nvCxnSpPr>
        <p:spPr>
          <a:xfrm>
            <a:off x="6610198" y="2898309"/>
            <a:ext cx="2705100" cy="0"/>
          </a:xfrm>
          <a:prstGeom prst="line">
            <a:avLst/>
          </a:prstGeom>
          <a:ln w="9525" cap="flat">
            <a:solidFill>
              <a:srgbClr val="E6E8F2"/>
            </a:solidFill>
          </a:ln>
        </p:spPr>
      </p:cxnSp>
      <p:cxnSp>
        <p:nvCxnSpPr>
          <p:cNvPr id="103" name="Line 103"/>
          <p:cNvCxnSpPr/>
          <p:nvPr/>
        </p:nvCxnSpPr>
        <p:spPr>
          <a:xfrm>
            <a:off x="6610198" y="2743793"/>
            <a:ext cx="2705100" cy="0"/>
          </a:xfrm>
          <a:prstGeom prst="line">
            <a:avLst/>
          </a:prstGeom>
          <a:ln w="9525" cap="flat">
            <a:solidFill>
              <a:srgbClr val="E6E8F2"/>
            </a:solidFill>
          </a:ln>
        </p:spPr>
      </p:cxnSp>
      <p:cxnSp>
        <p:nvCxnSpPr>
          <p:cNvPr id="104" name="Line 104"/>
          <p:cNvCxnSpPr/>
          <p:nvPr/>
        </p:nvCxnSpPr>
        <p:spPr>
          <a:xfrm>
            <a:off x="6610198" y="2589276"/>
            <a:ext cx="2705100" cy="0"/>
          </a:xfrm>
          <a:prstGeom prst="line">
            <a:avLst/>
          </a:prstGeom>
          <a:ln w="9525" cap="flat">
            <a:solidFill>
              <a:srgbClr val="E6E8F2"/>
            </a:solidFill>
          </a:ln>
        </p:spPr>
      </p:cxnSp>
      <p:cxnSp>
        <p:nvCxnSpPr>
          <p:cNvPr id="105" name="Line 105"/>
          <p:cNvCxnSpPr/>
          <p:nvPr/>
        </p:nvCxnSpPr>
        <p:spPr>
          <a:xfrm>
            <a:off x="7962748" y="2589276"/>
            <a:ext cx="0" cy="2781300"/>
          </a:xfrm>
          <a:prstGeom prst="line">
            <a:avLst/>
          </a:prstGeom>
          <a:ln w="19050" cap="flat">
            <a:solidFill>
              <a:srgbClr val="5F6272"/>
            </a:solidFill>
          </a:ln>
        </p:spPr>
      </p:cxnSp>
      <p:cxnSp>
        <p:nvCxnSpPr>
          <p:cNvPr id="106" name="Line 106"/>
          <p:cNvCxnSpPr/>
          <p:nvPr/>
        </p:nvCxnSpPr>
        <p:spPr>
          <a:xfrm>
            <a:off x="6610198" y="3825409"/>
            <a:ext cx="2705100" cy="0"/>
          </a:xfrm>
          <a:prstGeom prst="line">
            <a:avLst/>
          </a:prstGeom>
          <a:ln w="19050" cap="flat">
            <a:solidFill>
              <a:srgbClr val="5F6272"/>
            </a:solidFill>
          </a:ln>
        </p:spPr>
      </p:cxnSp>
      <p:sp>
        <p:nvSpPr>
          <p:cNvPr id="107" name="Shape 107"/>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8" name="Shape 108"/>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9" name="Shape 109"/>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0" name="Shape 110"/>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4" name="Shape 114"/>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5" name="Shape 115"/>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6" name="Shape 116"/>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17" name="Shape 117"/>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19" name="Shape 119"/>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0" name="Shape 120"/>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1" name="Shape 121"/>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2" name="Shape 122"/>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3" name="Shape 123"/>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4" name="Shape 124"/>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5" name="Shape 125"/>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6" name="Shape 126"/>
          <p:cNvSpPr/>
          <p:nvPr/>
        </p:nvSpPr>
        <p:spPr>
          <a:xfrm>
            <a:off x="6895948" y="50091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7" name="Shape 127"/>
          <p:cNvSpPr txBox="1"/>
          <p:nvPr/>
        </p:nvSpPr>
        <p:spPr>
          <a:xfrm>
            <a:off x="7034060" y="48138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128" name="Shape 128"/>
          <p:cNvSpPr/>
          <p:nvPr/>
        </p:nvSpPr>
        <p:spPr>
          <a:xfrm>
            <a:off x="7234085" y="48546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p:nvPr/>
        </p:nvSpPr>
        <p:spPr>
          <a:xfrm>
            <a:off x="7572223" y="47001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30" name="Line 130"/>
          <p:cNvCxnSpPr/>
          <p:nvPr/>
        </p:nvCxnSpPr>
        <p:spPr>
          <a:xfrm flipV="1">
            <a:off x="6610198" y="3979926"/>
            <a:ext cx="2705100" cy="123613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anim calcmode="lin" valueType="num">
                                      <p:cBhvr>
                                        <p:cTn id="24" dur="500" fill="hold"/>
                                        <p:tgtEl>
                                          <p:spTgt spid="64"/>
                                        </p:tgtEl>
                                        <p:attrNameLst>
                                          <p:attrName>ppt_w</p:attrName>
                                        </p:attrNameLst>
                                      </p:cBhvr>
                                      <p:tavLst>
                                        <p:tav tm="0">
                                          <p:val>
                                            <p:fltVal val="0"/>
                                          </p:val>
                                        </p:tav>
                                        <p:tav tm="100000">
                                          <p:val>
                                            <p:strVal val="#ppt_w"/>
                                          </p:val>
                                        </p:tav>
                                      </p:tavLst>
                                    </p:anim>
                                    <p:anim calcmode="lin" valueType="num">
                                      <p:cBhvr>
                                        <p:cTn id="25"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700"/>
                                        <p:tgtEl>
                                          <p:spTgt spid="65"/>
                                        </p:tgtEl>
                                      </p:cBhvr>
                                    </p:animEffect>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5" dur="500"/>
                                        <p:tgtEl>
                                          <p:spTgt spid="126"/>
                                        </p:tgtEl>
                                      </p:cBhvr>
                                    </p:animEffec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anim calcmode="lin" valueType="num">
                                      <p:cBhvr>
                                        <p:cTn id="41" dur="500" fill="hold"/>
                                        <p:tgtEl>
                                          <p:spTgt spid="127"/>
                                        </p:tgtEl>
                                        <p:attrNameLst>
                                          <p:attrName>ppt_w</p:attrName>
                                        </p:attrNameLst>
                                      </p:cBhvr>
                                      <p:tavLst>
                                        <p:tav tm="0">
                                          <p:val>
                                            <p:fltVal val="0"/>
                                          </p:val>
                                        </p:tav>
                                        <p:tav tm="100000">
                                          <p:val>
                                            <p:strVal val="#ppt_w"/>
                                          </p:val>
                                        </p:tav>
                                      </p:tavLst>
                                    </p:anim>
                                    <p:anim calcmode="lin" valueType="num">
                                      <p:cBhvr>
                                        <p:cTn id="42" dur="500" fill="hold"/>
                                        <p:tgtEl>
                                          <p:spTgt spid="12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500"/>
                                        <p:tgtEl>
                                          <p:spTgt spid="128"/>
                                        </p:tgtEl>
                                      </p:cBhvr>
                                    </p:animEffect>
                                    <p:anim calcmode="lin" valueType="num">
                                      <p:cBhvr>
                                        <p:cTn id="48" dur="500" fill="hold"/>
                                        <p:tgtEl>
                                          <p:spTgt spid="128"/>
                                        </p:tgtEl>
                                        <p:attrNameLst>
                                          <p:attrName>ppt_w</p:attrName>
                                        </p:attrNameLst>
                                      </p:cBhvr>
                                      <p:tavLst>
                                        <p:tav tm="0">
                                          <p:val>
                                            <p:fltVal val="0"/>
                                          </p:val>
                                        </p:tav>
                                        <p:tav tm="100000">
                                          <p:val>
                                            <p:strVal val="#ppt_w"/>
                                          </p:val>
                                        </p:tav>
                                      </p:tavLst>
                                    </p:anim>
                                    <p:anim calcmode="lin" valueType="num">
                                      <p:cBhvr>
                                        <p:cTn id="49" dur="500" fill="hold"/>
                                        <p:tgtEl>
                                          <p:spTgt spid="12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fade">
                                      <p:cBhvr>
                                        <p:cTn id="54" dur="500"/>
                                        <p:tgtEl>
                                          <p:spTgt spid="129"/>
                                        </p:tgtEl>
                                      </p:cBhvr>
                                    </p:animEffect>
                                    <p:anim calcmode="lin" valueType="num">
                                      <p:cBhvr>
                                        <p:cTn id="55" dur="500" fill="hold"/>
                                        <p:tgtEl>
                                          <p:spTgt spid="129"/>
                                        </p:tgtEl>
                                        <p:attrNameLst>
                                          <p:attrName>ppt_w</p:attrName>
                                        </p:attrNameLst>
                                      </p:cBhvr>
                                      <p:tavLst>
                                        <p:tav tm="0">
                                          <p:val>
                                            <p:fltVal val="0"/>
                                          </p:val>
                                        </p:tav>
                                        <p:tav tm="100000">
                                          <p:val>
                                            <p:strVal val="#ppt_w"/>
                                          </p:val>
                                        </p:tav>
                                      </p:tavLst>
                                    </p:anim>
                                    <p:anim calcmode="lin" valueType="num">
                                      <p:cBhvr>
                                        <p:cTn id="56"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130"/>
                                        </p:tgtEl>
                                        <p:attrNameLst>
                                          <p:attrName>style.visibility</p:attrName>
                                        </p:attrNameLst>
                                      </p:cBhvr>
                                      <p:to>
                                        <p:strVal val="visible"/>
                                      </p:to>
                                    </p:set>
                                    <p:animEffect transition="in" filter="wipe(left)">
                                      <p:cBhvr>
                                        <p:cTn id="61" dur="7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3 · SE p. 225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underwater ROV</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ROV is lowered from a boat at </a:t>
            </a:r>
            <a:r>
              <a:rPr lang="en-US" sz="1575" dirty="0" b="1">
                <a:solidFill>
                  <a:srgbClr val="16171D"/>
                </a:solidFill>
                <a:latin typeface="Segoe UI"/>
                <a:cs typeface="Segoe UI"/>
              </a:rPr>
              <a:t xml:space="preserve">0.3 meters per second</a:t>
            </a:r>
            <a:r>
              <a:rPr lang="en-US" sz="1575" dirty="0">
                <a:solidFill>
                  <a:srgbClr val="16171D"/>
                </a:solidFill>
                <a:latin typeface="Segoe UI"/>
                <a:cs typeface="Segoe UI"/>
              </a:rPr>
              <a:t xml:space="preserve">. After </a:t>
            </a:r>
            <a:r>
              <a:rPr lang="en-US" sz="1575" dirty="0" b="1">
                <a:solidFill>
                  <a:srgbClr val="16171D"/>
                </a:solidFill>
                <a:latin typeface="Segoe UI"/>
                <a:cs typeface="Segoe UI"/>
              </a:rPr>
              <a:t xml:space="preserve">90 seconds</a:t>
            </a:r>
            <a:r>
              <a:rPr lang="en-US" sz="1575" dirty="0">
                <a:solidFill>
                  <a:srgbClr val="16171D"/>
                </a:solidFill>
                <a:latin typeface="Segoe UI"/>
                <a:cs typeface="Segoe UI"/>
              </a:rPr>
              <a:t xml:space="preserve">, it is at a depth of </a:t>
            </a:r>
            <a:r>
              <a:rPr lang="en-US" sz="1575" dirty="0" b="1">
                <a:solidFill>
                  <a:srgbClr val="16171D"/>
                </a:solidFill>
                <a:latin typeface="Segoe UI"/>
                <a:cs typeface="Segoe UI"/>
              </a:rPr>
              <a:t xml:space="preserve">−25.8 meters</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seconds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meters.</a:t>
            </a:r>
            <a:endParaRPr lang="en-US" sz="1575" dirty="0"/>
          </a:p>
        </p:txBody>
      </p:sp>
      <p:sp>
        <p:nvSpPr>
          <p:cNvPr id="6" name="Shape 6"/>
          <p:cNvSpPr txBox="1"/>
          <p:nvPr/>
        </p:nvSpPr>
        <p:spPr>
          <a:xfrm>
            <a:off x="685800" y="247497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Going down → </a:t>
            </a:r>
            <a:r>
              <a:rPr lang="en-US" sz="1575" dirty="0" b="1">
                <a:solidFill>
                  <a:srgbClr val="C9561F"/>
                </a:solidFill>
                <a:latin typeface="Segoe UI"/>
                <a:cs typeface="Segoe UI"/>
              </a:rPr>
              <a:t xml:space="preserve">slope −0.3</a:t>
            </a:r>
            <a:r>
              <a:rPr lang="en-US" sz="1575" dirty="0">
                <a:solidFill>
                  <a:srgbClr val="16171D"/>
                </a:solidFill>
                <a:latin typeface="Segoe UI"/>
                <a:cs typeface="Segoe UI"/>
              </a:rPr>
              <a:t xml:space="preserve">. After 90 s at −25.8 m → </a:t>
            </a:r>
            <a:r>
              <a:rPr lang="en-US" sz="1575" dirty="0" b="1">
                <a:solidFill>
                  <a:srgbClr val="3050B8"/>
                </a:solidFill>
                <a:latin typeface="Segoe UI"/>
                <a:cs typeface="Segoe UI"/>
              </a:rPr>
              <a:t xml:space="preserve">point (90, −25.8)</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105150"/>
            <a:ext cx="66671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8" name="Shape 8"/>
          <p:cNvSpPr txBox="1"/>
          <p:nvPr/>
        </p:nvSpPr>
        <p:spPr>
          <a:xfrm>
            <a:off x="685800" y="3609594"/>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9" name="Shape 9"/>
          <p:cNvSpPr txBox="1"/>
          <p:nvPr/>
        </p:nvSpPr>
        <p:spPr>
          <a:xfrm>
            <a:off x="685800" y="4223766"/>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To graph, write the slope as </a:t>
            </a:r>
            <a:r>
              <a:rPr lang="en-US" sz="1575" dirty="0" b="1">
                <a:solidFill>
                  <a:srgbClr val="C9561F"/>
                </a:solidFill>
                <a:latin typeface="Cambria"/>
                <a:cs typeface="Cambria"/>
              </a:rPr>
              <a:t xml:space="preserve">−6</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a:t>
            </a:r>
            <a:r>
              <a:rPr lang="en-US" sz="1575" dirty="0">
                <a:solidFill>
                  <a:srgbClr val="16171D"/>
                </a:solidFill>
                <a:latin typeface="Segoe UI"/>
                <a:cs typeface="Segoe UI"/>
              </a:rPr>
              <a:t xml:space="preserve">: down 6 m for every 20 s.</a:t>
            </a:r>
            <a:endParaRPr lang="en-US" sz="1575" dirty="0"/>
          </a:p>
        </p:txBody>
      </p:sp>
      <p:sp>
        <p:nvSpPr>
          <p:cNvPr id="10" name="Shape 10"/>
          <p:cNvSpPr/>
          <p:nvPr/>
        </p:nvSpPr>
        <p:spPr>
          <a:xfrm>
            <a:off x="7695895" y="2084832"/>
            <a:ext cx="3810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019745" y="2199132"/>
            <a:ext cx="0" cy="3067050"/>
          </a:xfrm>
          <a:prstGeom prst="line">
            <a:avLst/>
          </a:prstGeom>
          <a:ln w="9525" cap="flat">
            <a:solidFill>
              <a:srgbClr val="E6E8F2"/>
            </a:solidFill>
          </a:ln>
        </p:spPr>
      </p:cxnSp>
      <p:cxnSp>
        <p:nvCxnSpPr>
          <p:cNvPr id="12" name="Line 12"/>
          <p:cNvCxnSpPr/>
          <p:nvPr/>
        </p:nvCxnSpPr>
        <p:spPr>
          <a:xfrm>
            <a:off x="8207070" y="2199132"/>
            <a:ext cx="0" cy="3067050"/>
          </a:xfrm>
          <a:prstGeom prst="line">
            <a:avLst/>
          </a:prstGeom>
          <a:ln w="9525" cap="flat">
            <a:solidFill>
              <a:srgbClr val="E6E8F2"/>
            </a:solidFill>
          </a:ln>
        </p:spPr>
      </p:cxnSp>
      <p:cxnSp>
        <p:nvCxnSpPr>
          <p:cNvPr id="13" name="Line 13"/>
          <p:cNvCxnSpPr/>
          <p:nvPr/>
        </p:nvCxnSpPr>
        <p:spPr>
          <a:xfrm>
            <a:off x="8394395" y="2199132"/>
            <a:ext cx="0" cy="3067050"/>
          </a:xfrm>
          <a:prstGeom prst="line">
            <a:avLst/>
          </a:prstGeom>
          <a:ln w="9525" cap="flat">
            <a:solidFill>
              <a:srgbClr val="E6E8F2"/>
            </a:solidFill>
          </a:ln>
        </p:spPr>
      </p:cxnSp>
      <p:cxnSp>
        <p:nvCxnSpPr>
          <p:cNvPr id="14" name="Line 14"/>
          <p:cNvCxnSpPr/>
          <p:nvPr/>
        </p:nvCxnSpPr>
        <p:spPr>
          <a:xfrm>
            <a:off x="8581720" y="2199132"/>
            <a:ext cx="0" cy="3067050"/>
          </a:xfrm>
          <a:prstGeom prst="line">
            <a:avLst/>
          </a:prstGeom>
          <a:ln w="9525" cap="flat">
            <a:solidFill>
              <a:srgbClr val="E6E8F2"/>
            </a:solidFill>
          </a:ln>
        </p:spPr>
      </p:cxnSp>
      <p:cxnSp>
        <p:nvCxnSpPr>
          <p:cNvPr id="15" name="Line 15"/>
          <p:cNvCxnSpPr/>
          <p:nvPr/>
        </p:nvCxnSpPr>
        <p:spPr>
          <a:xfrm>
            <a:off x="8769045" y="2199132"/>
            <a:ext cx="0" cy="3067050"/>
          </a:xfrm>
          <a:prstGeom prst="line">
            <a:avLst/>
          </a:prstGeom>
          <a:ln w="9525" cap="flat">
            <a:solidFill>
              <a:srgbClr val="E6E8F2"/>
            </a:solidFill>
          </a:ln>
        </p:spPr>
      </p:cxnSp>
      <p:cxnSp>
        <p:nvCxnSpPr>
          <p:cNvPr id="16" name="Line 16"/>
          <p:cNvCxnSpPr/>
          <p:nvPr/>
        </p:nvCxnSpPr>
        <p:spPr>
          <a:xfrm>
            <a:off x="8956370" y="2199132"/>
            <a:ext cx="0" cy="3067050"/>
          </a:xfrm>
          <a:prstGeom prst="line">
            <a:avLst/>
          </a:prstGeom>
          <a:ln w="9525" cap="flat">
            <a:solidFill>
              <a:srgbClr val="E6E8F2"/>
            </a:solidFill>
          </a:ln>
        </p:spPr>
      </p:cxnSp>
      <p:cxnSp>
        <p:nvCxnSpPr>
          <p:cNvPr id="17" name="Line 17"/>
          <p:cNvCxnSpPr/>
          <p:nvPr/>
        </p:nvCxnSpPr>
        <p:spPr>
          <a:xfrm>
            <a:off x="9143695" y="2199132"/>
            <a:ext cx="0" cy="3067050"/>
          </a:xfrm>
          <a:prstGeom prst="line">
            <a:avLst/>
          </a:prstGeom>
          <a:ln w="9525" cap="flat">
            <a:solidFill>
              <a:srgbClr val="E6E8F2"/>
            </a:solidFill>
          </a:ln>
        </p:spPr>
      </p:cxnSp>
      <p:cxnSp>
        <p:nvCxnSpPr>
          <p:cNvPr id="18" name="Line 18"/>
          <p:cNvCxnSpPr/>
          <p:nvPr/>
        </p:nvCxnSpPr>
        <p:spPr>
          <a:xfrm>
            <a:off x="9331020" y="2199132"/>
            <a:ext cx="0" cy="3067050"/>
          </a:xfrm>
          <a:prstGeom prst="line">
            <a:avLst/>
          </a:prstGeom>
          <a:ln w="9525" cap="flat">
            <a:solidFill>
              <a:srgbClr val="E6E8F2"/>
            </a:solidFill>
          </a:ln>
        </p:spPr>
      </p:cxnSp>
      <p:cxnSp>
        <p:nvCxnSpPr>
          <p:cNvPr id="19" name="Line 19"/>
          <p:cNvCxnSpPr/>
          <p:nvPr/>
        </p:nvCxnSpPr>
        <p:spPr>
          <a:xfrm>
            <a:off x="9518345" y="2199132"/>
            <a:ext cx="0" cy="3067050"/>
          </a:xfrm>
          <a:prstGeom prst="line">
            <a:avLst/>
          </a:prstGeom>
          <a:ln w="9525" cap="flat">
            <a:solidFill>
              <a:srgbClr val="E6E8F2"/>
            </a:solidFill>
          </a:ln>
        </p:spPr>
      </p:cxnSp>
      <p:cxnSp>
        <p:nvCxnSpPr>
          <p:cNvPr id="20" name="Line 20"/>
          <p:cNvCxnSpPr/>
          <p:nvPr/>
        </p:nvCxnSpPr>
        <p:spPr>
          <a:xfrm>
            <a:off x="9705670" y="2199132"/>
            <a:ext cx="0" cy="3067050"/>
          </a:xfrm>
          <a:prstGeom prst="line">
            <a:avLst/>
          </a:prstGeom>
          <a:ln w="9525" cap="flat">
            <a:solidFill>
              <a:srgbClr val="E6E8F2"/>
            </a:solidFill>
          </a:ln>
        </p:spPr>
      </p:cxnSp>
      <p:cxnSp>
        <p:nvCxnSpPr>
          <p:cNvPr id="21" name="Line 21"/>
          <p:cNvCxnSpPr/>
          <p:nvPr/>
        </p:nvCxnSpPr>
        <p:spPr>
          <a:xfrm>
            <a:off x="9892995" y="2199132"/>
            <a:ext cx="0" cy="3067050"/>
          </a:xfrm>
          <a:prstGeom prst="line">
            <a:avLst/>
          </a:prstGeom>
          <a:ln w="9525" cap="flat">
            <a:solidFill>
              <a:srgbClr val="E6E8F2"/>
            </a:solidFill>
          </a:ln>
        </p:spPr>
      </p:cxnSp>
      <p:cxnSp>
        <p:nvCxnSpPr>
          <p:cNvPr id="22" name="Line 22"/>
          <p:cNvCxnSpPr/>
          <p:nvPr/>
        </p:nvCxnSpPr>
        <p:spPr>
          <a:xfrm>
            <a:off x="10080320" y="2199132"/>
            <a:ext cx="0" cy="3067050"/>
          </a:xfrm>
          <a:prstGeom prst="line">
            <a:avLst/>
          </a:prstGeom>
          <a:ln w="9525" cap="flat">
            <a:solidFill>
              <a:srgbClr val="E6E8F2"/>
            </a:solidFill>
          </a:ln>
        </p:spPr>
      </p:cxnSp>
      <p:cxnSp>
        <p:nvCxnSpPr>
          <p:cNvPr id="23" name="Line 23"/>
          <p:cNvCxnSpPr/>
          <p:nvPr/>
        </p:nvCxnSpPr>
        <p:spPr>
          <a:xfrm>
            <a:off x="10267645" y="2199132"/>
            <a:ext cx="0" cy="3067050"/>
          </a:xfrm>
          <a:prstGeom prst="line">
            <a:avLst/>
          </a:prstGeom>
          <a:ln w="9525" cap="flat">
            <a:solidFill>
              <a:srgbClr val="E6E8F2"/>
            </a:solidFill>
          </a:ln>
        </p:spPr>
      </p:cxnSp>
      <p:cxnSp>
        <p:nvCxnSpPr>
          <p:cNvPr id="24" name="Line 24"/>
          <p:cNvCxnSpPr/>
          <p:nvPr/>
        </p:nvCxnSpPr>
        <p:spPr>
          <a:xfrm>
            <a:off x="10454970" y="2199132"/>
            <a:ext cx="0" cy="3067050"/>
          </a:xfrm>
          <a:prstGeom prst="line">
            <a:avLst/>
          </a:prstGeom>
          <a:ln w="9525" cap="flat">
            <a:solidFill>
              <a:srgbClr val="E6E8F2"/>
            </a:solidFill>
          </a:ln>
        </p:spPr>
      </p:cxnSp>
      <p:cxnSp>
        <p:nvCxnSpPr>
          <p:cNvPr id="25" name="Line 25"/>
          <p:cNvCxnSpPr/>
          <p:nvPr/>
        </p:nvCxnSpPr>
        <p:spPr>
          <a:xfrm>
            <a:off x="10642295" y="2199132"/>
            <a:ext cx="0" cy="3067050"/>
          </a:xfrm>
          <a:prstGeom prst="line">
            <a:avLst/>
          </a:prstGeom>
          <a:ln w="9525" cap="flat">
            <a:solidFill>
              <a:srgbClr val="E6E8F2"/>
            </a:solidFill>
          </a:ln>
        </p:spPr>
      </p:cxnSp>
      <p:cxnSp>
        <p:nvCxnSpPr>
          <p:cNvPr id="26" name="Line 26"/>
          <p:cNvCxnSpPr/>
          <p:nvPr/>
        </p:nvCxnSpPr>
        <p:spPr>
          <a:xfrm>
            <a:off x="10829620" y="2199132"/>
            <a:ext cx="0" cy="3067050"/>
          </a:xfrm>
          <a:prstGeom prst="line">
            <a:avLst/>
          </a:prstGeom>
          <a:ln w="9525" cap="flat">
            <a:solidFill>
              <a:srgbClr val="E6E8F2"/>
            </a:solidFill>
          </a:ln>
        </p:spPr>
      </p:cxnSp>
      <p:cxnSp>
        <p:nvCxnSpPr>
          <p:cNvPr id="27" name="Line 27"/>
          <p:cNvCxnSpPr/>
          <p:nvPr/>
        </p:nvCxnSpPr>
        <p:spPr>
          <a:xfrm>
            <a:off x="11016945" y="2199132"/>
            <a:ext cx="0" cy="3067050"/>
          </a:xfrm>
          <a:prstGeom prst="line">
            <a:avLst/>
          </a:prstGeom>
          <a:ln w="9525" cap="flat">
            <a:solidFill>
              <a:srgbClr val="E6E8F2"/>
            </a:solidFill>
          </a:ln>
        </p:spPr>
      </p:cxnSp>
      <p:cxnSp>
        <p:nvCxnSpPr>
          <p:cNvPr id="28" name="Line 28"/>
          <p:cNvCxnSpPr/>
          <p:nvPr/>
        </p:nvCxnSpPr>
        <p:spPr>
          <a:xfrm>
            <a:off x="11204270" y="2199132"/>
            <a:ext cx="0" cy="3067050"/>
          </a:xfrm>
          <a:prstGeom prst="line">
            <a:avLst/>
          </a:prstGeom>
          <a:ln w="9525" cap="flat">
            <a:solidFill>
              <a:srgbClr val="E6E8F2"/>
            </a:solidFill>
          </a:ln>
        </p:spPr>
      </p:cxnSp>
      <p:cxnSp>
        <p:nvCxnSpPr>
          <p:cNvPr id="29" name="Line 29"/>
          <p:cNvCxnSpPr/>
          <p:nvPr/>
        </p:nvCxnSpPr>
        <p:spPr>
          <a:xfrm>
            <a:off x="11391595" y="2199132"/>
            <a:ext cx="0" cy="3067050"/>
          </a:xfrm>
          <a:prstGeom prst="line">
            <a:avLst/>
          </a:prstGeom>
          <a:ln w="9525" cap="flat">
            <a:solidFill>
              <a:srgbClr val="E6E8F2"/>
            </a:solidFill>
          </a:ln>
        </p:spPr>
      </p:cxnSp>
      <p:cxnSp>
        <p:nvCxnSpPr>
          <p:cNvPr id="30" name="Line 30"/>
          <p:cNvCxnSpPr/>
          <p:nvPr/>
        </p:nvCxnSpPr>
        <p:spPr>
          <a:xfrm>
            <a:off x="8019745" y="5266182"/>
            <a:ext cx="3371850" cy="0"/>
          </a:xfrm>
          <a:prstGeom prst="line">
            <a:avLst/>
          </a:prstGeom>
          <a:ln w="9525" cap="flat">
            <a:solidFill>
              <a:srgbClr val="E6E8F2"/>
            </a:solidFill>
          </a:ln>
        </p:spPr>
      </p:cxnSp>
      <p:cxnSp>
        <p:nvCxnSpPr>
          <p:cNvPr id="31" name="Line 31"/>
          <p:cNvCxnSpPr/>
          <p:nvPr/>
        </p:nvCxnSpPr>
        <p:spPr>
          <a:xfrm>
            <a:off x="8019745" y="5074491"/>
            <a:ext cx="3371850" cy="0"/>
          </a:xfrm>
          <a:prstGeom prst="line">
            <a:avLst/>
          </a:prstGeom>
          <a:ln w="9525" cap="flat">
            <a:solidFill>
              <a:srgbClr val="E6E8F2"/>
            </a:solidFill>
          </a:ln>
        </p:spPr>
      </p:cxnSp>
      <p:cxnSp>
        <p:nvCxnSpPr>
          <p:cNvPr id="32" name="Line 32"/>
          <p:cNvCxnSpPr/>
          <p:nvPr/>
        </p:nvCxnSpPr>
        <p:spPr>
          <a:xfrm>
            <a:off x="8019745" y="4882801"/>
            <a:ext cx="3371850" cy="0"/>
          </a:xfrm>
          <a:prstGeom prst="line">
            <a:avLst/>
          </a:prstGeom>
          <a:ln w="9525" cap="flat">
            <a:solidFill>
              <a:srgbClr val="E6E8F2"/>
            </a:solidFill>
          </a:ln>
        </p:spPr>
      </p:cxnSp>
      <p:cxnSp>
        <p:nvCxnSpPr>
          <p:cNvPr id="33" name="Line 33"/>
          <p:cNvCxnSpPr/>
          <p:nvPr/>
        </p:nvCxnSpPr>
        <p:spPr>
          <a:xfrm>
            <a:off x="8019745" y="4691110"/>
            <a:ext cx="3371850" cy="0"/>
          </a:xfrm>
          <a:prstGeom prst="line">
            <a:avLst/>
          </a:prstGeom>
          <a:ln w="9525" cap="flat">
            <a:solidFill>
              <a:srgbClr val="E6E8F2"/>
            </a:solidFill>
          </a:ln>
        </p:spPr>
      </p:cxnSp>
      <p:cxnSp>
        <p:nvCxnSpPr>
          <p:cNvPr id="34" name="Line 34"/>
          <p:cNvCxnSpPr/>
          <p:nvPr/>
        </p:nvCxnSpPr>
        <p:spPr>
          <a:xfrm>
            <a:off x="8019745" y="4499420"/>
            <a:ext cx="3371850" cy="0"/>
          </a:xfrm>
          <a:prstGeom prst="line">
            <a:avLst/>
          </a:prstGeom>
          <a:ln w="9525" cap="flat">
            <a:solidFill>
              <a:srgbClr val="E6E8F2"/>
            </a:solidFill>
          </a:ln>
        </p:spPr>
      </p:cxnSp>
      <p:cxnSp>
        <p:nvCxnSpPr>
          <p:cNvPr id="35" name="Line 35"/>
          <p:cNvCxnSpPr/>
          <p:nvPr/>
        </p:nvCxnSpPr>
        <p:spPr>
          <a:xfrm>
            <a:off x="8019745" y="4307729"/>
            <a:ext cx="3371850" cy="0"/>
          </a:xfrm>
          <a:prstGeom prst="line">
            <a:avLst/>
          </a:prstGeom>
          <a:ln w="9525" cap="flat">
            <a:solidFill>
              <a:srgbClr val="E6E8F2"/>
            </a:solidFill>
          </a:ln>
        </p:spPr>
      </p:cxnSp>
      <p:cxnSp>
        <p:nvCxnSpPr>
          <p:cNvPr id="36" name="Line 36"/>
          <p:cNvCxnSpPr/>
          <p:nvPr/>
        </p:nvCxnSpPr>
        <p:spPr>
          <a:xfrm>
            <a:off x="8019745" y="4116038"/>
            <a:ext cx="3371850" cy="0"/>
          </a:xfrm>
          <a:prstGeom prst="line">
            <a:avLst/>
          </a:prstGeom>
          <a:ln w="9525" cap="flat">
            <a:solidFill>
              <a:srgbClr val="E6E8F2"/>
            </a:solidFill>
          </a:ln>
        </p:spPr>
      </p:cxnSp>
      <p:cxnSp>
        <p:nvCxnSpPr>
          <p:cNvPr id="37" name="Line 37"/>
          <p:cNvCxnSpPr/>
          <p:nvPr/>
        </p:nvCxnSpPr>
        <p:spPr>
          <a:xfrm>
            <a:off x="8019745" y="3924348"/>
            <a:ext cx="3371850" cy="0"/>
          </a:xfrm>
          <a:prstGeom prst="line">
            <a:avLst/>
          </a:prstGeom>
          <a:ln w="9525" cap="flat">
            <a:solidFill>
              <a:srgbClr val="E6E8F2"/>
            </a:solidFill>
          </a:ln>
        </p:spPr>
      </p:cxnSp>
      <p:cxnSp>
        <p:nvCxnSpPr>
          <p:cNvPr id="38" name="Line 38"/>
          <p:cNvCxnSpPr/>
          <p:nvPr/>
        </p:nvCxnSpPr>
        <p:spPr>
          <a:xfrm>
            <a:off x="8019745" y="3732657"/>
            <a:ext cx="3371850" cy="0"/>
          </a:xfrm>
          <a:prstGeom prst="line">
            <a:avLst/>
          </a:prstGeom>
          <a:ln w="9525" cap="flat">
            <a:solidFill>
              <a:srgbClr val="E6E8F2"/>
            </a:solidFill>
          </a:ln>
        </p:spPr>
      </p:cxnSp>
      <p:cxnSp>
        <p:nvCxnSpPr>
          <p:cNvPr id="39" name="Line 39"/>
          <p:cNvCxnSpPr/>
          <p:nvPr/>
        </p:nvCxnSpPr>
        <p:spPr>
          <a:xfrm>
            <a:off x="8019745" y="3540966"/>
            <a:ext cx="3371850" cy="0"/>
          </a:xfrm>
          <a:prstGeom prst="line">
            <a:avLst/>
          </a:prstGeom>
          <a:ln w="9525" cap="flat">
            <a:solidFill>
              <a:srgbClr val="E6E8F2"/>
            </a:solidFill>
          </a:ln>
        </p:spPr>
      </p:cxnSp>
      <p:cxnSp>
        <p:nvCxnSpPr>
          <p:cNvPr id="40" name="Line 40"/>
          <p:cNvCxnSpPr/>
          <p:nvPr/>
        </p:nvCxnSpPr>
        <p:spPr>
          <a:xfrm>
            <a:off x="8019745" y="3349276"/>
            <a:ext cx="3371850" cy="0"/>
          </a:xfrm>
          <a:prstGeom prst="line">
            <a:avLst/>
          </a:prstGeom>
          <a:ln w="9525" cap="flat">
            <a:solidFill>
              <a:srgbClr val="E6E8F2"/>
            </a:solidFill>
          </a:ln>
        </p:spPr>
      </p:cxnSp>
      <p:cxnSp>
        <p:nvCxnSpPr>
          <p:cNvPr id="41" name="Line 41"/>
          <p:cNvCxnSpPr/>
          <p:nvPr/>
        </p:nvCxnSpPr>
        <p:spPr>
          <a:xfrm>
            <a:off x="8019745" y="3157585"/>
            <a:ext cx="3371850" cy="0"/>
          </a:xfrm>
          <a:prstGeom prst="line">
            <a:avLst/>
          </a:prstGeom>
          <a:ln w="9525" cap="flat">
            <a:solidFill>
              <a:srgbClr val="E6E8F2"/>
            </a:solidFill>
          </a:ln>
        </p:spPr>
      </p:cxnSp>
      <p:cxnSp>
        <p:nvCxnSpPr>
          <p:cNvPr id="42" name="Line 42"/>
          <p:cNvCxnSpPr/>
          <p:nvPr/>
        </p:nvCxnSpPr>
        <p:spPr>
          <a:xfrm>
            <a:off x="8019745" y="2965894"/>
            <a:ext cx="3371850" cy="0"/>
          </a:xfrm>
          <a:prstGeom prst="line">
            <a:avLst/>
          </a:prstGeom>
          <a:ln w="9525" cap="flat">
            <a:solidFill>
              <a:srgbClr val="E6E8F2"/>
            </a:solidFill>
          </a:ln>
        </p:spPr>
      </p:cxnSp>
      <p:cxnSp>
        <p:nvCxnSpPr>
          <p:cNvPr id="43" name="Line 43"/>
          <p:cNvCxnSpPr/>
          <p:nvPr/>
        </p:nvCxnSpPr>
        <p:spPr>
          <a:xfrm>
            <a:off x="8019745" y="2774204"/>
            <a:ext cx="3371850" cy="0"/>
          </a:xfrm>
          <a:prstGeom prst="line">
            <a:avLst/>
          </a:prstGeom>
          <a:ln w="9525" cap="flat">
            <a:solidFill>
              <a:srgbClr val="E6E8F2"/>
            </a:solidFill>
          </a:ln>
        </p:spPr>
      </p:cxnSp>
      <p:cxnSp>
        <p:nvCxnSpPr>
          <p:cNvPr id="44" name="Line 44"/>
          <p:cNvCxnSpPr/>
          <p:nvPr/>
        </p:nvCxnSpPr>
        <p:spPr>
          <a:xfrm>
            <a:off x="8019745" y="2582513"/>
            <a:ext cx="3371850" cy="0"/>
          </a:xfrm>
          <a:prstGeom prst="line">
            <a:avLst/>
          </a:prstGeom>
          <a:ln w="9525" cap="flat">
            <a:solidFill>
              <a:srgbClr val="E6E8F2"/>
            </a:solidFill>
          </a:ln>
        </p:spPr>
      </p:cxnSp>
      <p:cxnSp>
        <p:nvCxnSpPr>
          <p:cNvPr id="45" name="Line 45"/>
          <p:cNvCxnSpPr/>
          <p:nvPr/>
        </p:nvCxnSpPr>
        <p:spPr>
          <a:xfrm>
            <a:off x="8019745" y="2390823"/>
            <a:ext cx="3371850" cy="0"/>
          </a:xfrm>
          <a:prstGeom prst="line">
            <a:avLst/>
          </a:prstGeom>
          <a:ln w="9525" cap="flat">
            <a:solidFill>
              <a:srgbClr val="E6E8F2"/>
            </a:solidFill>
          </a:ln>
        </p:spPr>
      </p:cxnSp>
      <p:cxnSp>
        <p:nvCxnSpPr>
          <p:cNvPr id="46" name="Line 46"/>
          <p:cNvCxnSpPr/>
          <p:nvPr/>
        </p:nvCxnSpPr>
        <p:spPr>
          <a:xfrm>
            <a:off x="8019745" y="2199132"/>
            <a:ext cx="3371850" cy="0"/>
          </a:xfrm>
          <a:prstGeom prst="line">
            <a:avLst/>
          </a:prstGeom>
          <a:ln w="9525" cap="flat">
            <a:solidFill>
              <a:srgbClr val="E6E8F2"/>
            </a:solidFill>
          </a:ln>
        </p:spPr>
      </p:cxnSp>
      <p:cxnSp>
        <p:nvCxnSpPr>
          <p:cNvPr id="47" name="Line 47"/>
          <p:cNvCxnSpPr/>
          <p:nvPr/>
        </p:nvCxnSpPr>
        <p:spPr>
          <a:xfrm>
            <a:off x="8019745" y="2199132"/>
            <a:ext cx="0" cy="3067050"/>
          </a:xfrm>
          <a:prstGeom prst="line">
            <a:avLst/>
          </a:prstGeom>
          <a:ln w="19050" cap="flat">
            <a:solidFill>
              <a:srgbClr val="5F6272"/>
            </a:solidFill>
          </a:ln>
        </p:spPr>
      </p:cxnSp>
      <p:cxnSp>
        <p:nvCxnSpPr>
          <p:cNvPr id="48" name="Line 48"/>
          <p:cNvCxnSpPr/>
          <p:nvPr/>
        </p:nvCxnSpPr>
        <p:spPr>
          <a:xfrm>
            <a:off x="8019745" y="2582513"/>
            <a:ext cx="3371850" cy="0"/>
          </a:xfrm>
          <a:prstGeom prst="line">
            <a:avLst/>
          </a:prstGeom>
          <a:ln w="19050" cap="flat">
            <a:solidFill>
              <a:srgbClr val="5F6272"/>
            </a:solidFill>
          </a:ln>
        </p:spPr>
      </p:cxnSp>
      <p:sp>
        <p:nvSpPr>
          <p:cNvPr id="49" name="Shape 49"/>
          <p:cNvSpPr txBox="1"/>
          <p:nvPr/>
        </p:nvSpPr>
        <p:spPr>
          <a:xfrm>
            <a:off x="77454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1200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51" name="Shape 51"/>
          <p:cNvSpPr txBox="1"/>
          <p:nvPr/>
        </p:nvSpPr>
        <p:spPr>
          <a:xfrm>
            <a:off x="84947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52" name="Shape 52"/>
          <p:cNvSpPr txBox="1"/>
          <p:nvPr/>
        </p:nvSpPr>
        <p:spPr>
          <a:xfrm>
            <a:off x="88693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92440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txBox="1"/>
          <p:nvPr/>
        </p:nvSpPr>
        <p:spPr>
          <a:xfrm>
            <a:off x="96186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100</a:t>
            </a:r>
            <a:endParaRPr lang="en-US" sz="975" dirty="0"/>
          </a:p>
        </p:txBody>
      </p:sp>
      <p:sp>
        <p:nvSpPr>
          <p:cNvPr id="55" name="Shape 55"/>
          <p:cNvSpPr txBox="1"/>
          <p:nvPr/>
        </p:nvSpPr>
        <p:spPr>
          <a:xfrm>
            <a:off x="99933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120</a:t>
            </a:r>
            <a:endParaRPr lang="en-US" sz="975" dirty="0"/>
          </a:p>
        </p:txBody>
      </p:sp>
      <p:sp>
        <p:nvSpPr>
          <p:cNvPr id="56" name="Shape 56"/>
          <p:cNvSpPr txBox="1"/>
          <p:nvPr/>
        </p:nvSpPr>
        <p:spPr>
          <a:xfrm>
            <a:off x="103679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140</a:t>
            </a:r>
            <a:endParaRPr lang="en-US" sz="975" dirty="0"/>
          </a:p>
        </p:txBody>
      </p:sp>
      <p:sp>
        <p:nvSpPr>
          <p:cNvPr id="57" name="Shape 57"/>
          <p:cNvSpPr txBox="1"/>
          <p:nvPr/>
        </p:nvSpPr>
        <p:spPr>
          <a:xfrm>
            <a:off x="107426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58" name="Shape 58"/>
          <p:cNvSpPr txBox="1"/>
          <p:nvPr/>
        </p:nvSpPr>
        <p:spPr>
          <a:xfrm>
            <a:off x="111172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180</a:t>
            </a:r>
            <a:endParaRPr lang="en-US" sz="975" dirty="0"/>
          </a:p>
        </p:txBody>
      </p:sp>
      <p:sp>
        <p:nvSpPr>
          <p:cNvPr id="59" name="Shape 59"/>
          <p:cNvSpPr txBox="1"/>
          <p:nvPr/>
        </p:nvSpPr>
        <p:spPr>
          <a:xfrm>
            <a:off x="7452817" y="5174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60" name="Shape 60"/>
          <p:cNvSpPr txBox="1"/>
          <p:nvPr/>
        </p:nvSpPr>
        <p:spPr>
          <a:xfrm>
            <a:off x="7452817" y="47913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61" name="Shape 61"/>
          <p:cNvSpPr txBox="1"/>
          <p:nvPr/>
        </p:nvSpPr>
        <p:spPr>
          <a:xfrm>
            <a:off x="7452817" y="44079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2" name="Shape 62"/>
          <p:cNvSpPr txBox="1"/>
          <p:nvPr/>
        </p:nvSpPr>
        <p:spPr>
          <a:xfrm>
            <a:off x="7452817" y="4024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63" name="Shape 63"/>
          <p:cNvSpPr txBox="1"/>
          <p:nvPr/>
        </p:nvSpPr>
        <p:spPr>
          <a:xfrm>
            <a:off x="7452817" y="36412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64" name="Shape 64"/>
          <p:cNvSpPr txBox="1"/>
          <p:nvPr/>
        </p:nvSpPr>
        <p:spPr>
          <a:xfrm>
            <a:off x="7452817" y="325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65" name="Shape 65"/>
          <p:cNvSpPr txBox="1"/>
          <p:nvPr/>
        </p:nvSpPr>
        <p:spPr>
          <a:xfrm>
            <a:off x="7452817" y="28744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452817" y="24910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4528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8" name="Shape 68"/>
          <p:cNvSpPr/>
          <p:nvPr/>
        </p:nvSpPr>
        <p:spPr>
          <a:xfrm>
            <a:off x="9653283" y="35192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9" name="Shape 69"/>
          <p:cNvSpPr txBox="1"/>
          <p:nvPr/>
        </p:nvSpPr>
        <p:spPr>
          <a:xfrm>
            <a:off x="9791395" y="332398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(90, −25.8)</a:t>
            </a:r>
            <a:endParaRPr lang="en-US" sz="1125" dirty="0"/>
          </a:p>
        </p:txBody>
      </p:sp>
      <p:sp>
        <p:nvSpPr>
          <p:cNvPr id="70" name="Shape 70"/>
          <p:cNvSpPr/>
          <p:nvPr/>
        </p:nvSpPr>
        <p:spPr>
          <a:xfrm>
            <a:off x="10027933" y="374927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p:nvPr/>
        </p:nvSpPr>
        <p:spPr>
          <a:xfrm>
            <a:off x="9278633" y="32892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72" name="Line 72"/>
          <p:cNvCxnSpPr/>
          <p:nvPr/>
        </p:nvCxnSpPr>
        <p:spPr>
          <a:xfrm>
            <a:off x="8019745" y="2536508"/>
            <a:ext cx="3371850" cy="2070259"/>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ppt_w</p:attrName>
                                        </p:attrNameLst>
                                      </p:cBhvr>
                                      <p:tavLst>
                                        <p:tav tm="0">
                                          <p:val>
                                            <p:fltVal val="0"/>
                                          </p:val>
                                        </p:tav>
                                        <p:tav tm="100000">
                                          <p:val>
                                            <p:strVal val="#ppt_w"/>
                                          </p:val>
                                        </p:tav>
                                      </p:tavLst>
                                    </p:anim>
                                    <p:anim calcmode="lin" valueType="num">
                                      <p:cBhvr>
                                        <p:cTn id="39" dur="500" fill="hold"/>
                                        <p:tgtEl>
                                          <p:spTgt spid="68"/>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anim calcmode="lin" valueType="num">
                                      <p:cBhvr>
                                        <p:cTn id="43" dur="500" fill="hold"/>
                                        <p:tgtEl>
                                          <p:spTgt spid="69"/>
                                        </p:tgtEl>
                                        <p:attrNameLst>
                                          <p:attrName>ppt_w</p:attrName>
                                        </p:attrNameLst>
                                      </p:cBhvr>
                                      <p:tavLst>
                                        <p:tav tm="0">
                                          <p:val>
                                            <p:fltVal val="0"/>
                                          </p:val>
                                        </p:tav>
                                        <p:tav tm="100000">
                                          <p:val>
                                            <p:strVal val="#ppt_w"/>
                                          </p:val>
                                        </p:tav>
                                      </p:tavLst>
                                    </p:anim>
                                    <p:anim calcmode="lin" valueType="num">
                                      <p:cBhvr>
                                        <p:cTn id="44" dur="5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2" presetID="53" presetClass="entr" presetSubtype="16"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500"/>
                                        <p:tgtEl>
                                          <p:spTgt spid="70"/>
                                        </p:tgtEl>
                                      </p:cBhvr>
                                    </p:animEffect>
                                    <p:anim calcmode="lin" valueType="num">
                                      <p:cBhvr>
                                        <p:cTn id="50" dur="500" fill="hold"/>
                                        <p:tgtEl>
                                          <p:spTgt spid="70"/>
                                        </p:tgtEl>
                                        <p:attrNameLst>
                                          <p:attrName>ppt_w</p:attrName>
                                        </p:attrNameLst>
                                      </p:cBhvr>
                                      <p:tavLst>
                                        <p:tav tm="0">
                                          <p:val>
                                            <p:fltVal val="0"/>
                                          </p:val>
                                        </p:tav>
                                        <p:tav tm="100000">
                                          <p:val>
                                            <p:strVal val="#ppt_w"/>
                                          </p:val>
                                        </p:tav>
                                      </p:tavLst>
                                    </p:anim>
                                    <p:anim calcmode="lin" valueType="num">
                                      <p:cBhvr>
                                        <p:cTn id="51"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53" presetClass="entr" presetSubtype="16" fill="hold" nodeType="click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anim calcmode="lin" valueType="num">
                                      <p:cBhvr>
                                        <p:cTn id="57" dur="500" fill="hold"/>
                                        <p:tgtEl>
                                          <p:spTgt spid="71"/>
                                        </p:tgtEl>
                                        <p:attrNameLst>
                                          <p:attrName>ppt_w</p:attrName>
                                        </p:attrNameLst>
                                      </p:cBhvr>
                                      <p:tavLst>
                                        <p:tav tm="0">
                                          <p:val>
                                            <p:fltVal val="0"/>
                                          </p:val>
                                        </p:tav>
                                        <p:tav tm="100000">
                                          <p:val>
                                            <p:strVal val="#ppt_w"/>
                                          </p:val>
                                        </p:tav>
                                      </p:tavLst>
                                    </p:anim>
                                    <p:anim calcmode="lin" valueType="num">
                                      <p:cBhvr>
                                        <p:cTn id="58"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22" presetClass="entr" presetSubtype="8" fill="hold" nodeType="click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left)">
                                      <p:cBhvr>
                                        <p:cTn id="63" dur="7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Standard Form of a Linear Equation · SE p. 226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Tickets for the school play</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Student tickets cost </a:t>
            </a: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adult tickets cost </a:t>
            </a:r>
            <a:r>
              <a:rPr lang="en-US" sz="1575" dirty="0" b="1">
                <a:solidFill>
                  <a:srgbClr val="16171D"/>
                </a:solidFill>
                <a:latin typeface="Segoe UI"/>
                <a:cs typeface="Segoe UI"/>
              </a:rPr>
              <a:t xml:space="preserve">$8</a:t>
            </a:r>
            <a:r>
              <a:rPr lang="en-US" sz="1575" dirty="0">
                <a:solidFill>
                  <a:srgbClr val="16171D"/>
                </a:solidFill>
                <a:latin typeface="Segoe UI"/>
                <a:cs typeface="Segoe UI"/>
              </a:rPr>
              <a:t xml:space="preserve">. Opening night collected </a:t>
            </a:r>
            <a:r>
              <a:rPr lang="en-US" sz="1575" dirty="0" b="1">
                <a:solidFill>
                  <a:srgbClr val="16171D"/>
                </a:solidFill>
                <a:latin typeface="Segoe UI"/>
                <a:cs typeface="Segoe UI"/>
              </a:rPr>
              <a:t xml:space="preserve">$1600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student tickets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adult tickets.</a:t>
            </a:r>
            <a:endParaRPr lang="en-US" sz="1575" dirty="0"/>
          </a:p>
        </p:txBody>
      </p:sp>
      <p:sp>
        <p:nvSpPr>
          <p:cNvPr id="5" name="Shape 5"/>
          <p:cNvSpPr txBox="1"/>
          <p:nvPr/>
        </p:nvSpPr>
        <p:spPr>
          <a:xfrm>
            <a:off x="685800" y="232486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1600</a:t>
            </a:r>
            <a:endParaRPr lang="en-US" sz="2850" dirty="0"/>
          </a:p>
        </p:txBody>
      </p:sp>
      <p:sp>
        <p:nvSpPr>
          <p:cNvPr id="9" name="Shape 9"/>
          <p:cNvSpPr txBox="1"/>
          <p:nvPr/>
        </p:nvSpPr>
        <p:spPr>
          <a:xfrm>
            <a:off x="685800" y="2909316"/>
            <a:ext cx="52385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 name="Shape 6"/>
          <p:cNvSpPr txBox="1"/>
          <p:nvPr/>
        </p:nvSpPr>
        <p:spPr>
          <a:xfrm>
            <a:off x="895350" y="30807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Key term: standard form</a:t>
            </a:r>
            <a:endParaRPr lang="en-US" sz="2100" dirty="0"/>
          </a:p>
        </p:txBody>
      </p:sp>
      <p:sp>
        <p:nvSpPr>
          <p:cNvPr id="7" name="Shape 7"/>
          <p:cNvSpPr txBox="1"/>
          <p:nvPr/>
        </p:nvSpPr>
        <p:spPr>
          <a:xfrm>
            <a:off x="895350" y="3550920"/>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Ax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By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C</a:t>
            </a:r>
            <a:endParaRPr lang="en-US" sz="2325" dirty="0"/>
          </a:p>
        </p:txBody>
      </p:sp>
      <p:sp>
        <p:nvSpPr>
          <p:cNvPr id="8" name="Shape 8"/>
          <p:cNvSpPr txBox="1"/>
          <p:nvPr/>
        </p:nvSpPr>
        <p:spPr>
          <a:xfrm>
            <a:off x="895350" y="4055364"/>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 and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are not both zero.</a:t>
            </a:r>
            <a:endParaRPr lang="en-US" sz="1575" dirty="0"/>
          </a:p>
        </p:txBody>
      </p:sp>
      <p:sp>
        <p:nvSpPr>
          <p:cNvPr id="10" name="Shape 10"/>
          <p:cNvSpPr txBox="1"/>
          <p:nvPr/>
        </p:nvSpPr>
        <p:spPr>
          <a:xfrm>
            <a:off x="6267298" y="232486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money from student tickets ($5 times the number sold)</a:t>
            </a:r>
            <a:endParaRPr lang="en-US" sz="1575" dirty="0"/>
          </a:p>
        </p:txBody>
      </p:sp>
      <p:sp>
        <p:nvSpPr>
          <p:cNvPr id="11" name="Shape 11"/>
          <p:cNvSpPr txBox="1"/>
          <p:nvPr/>
        </p:nvSpPr>
        <p:spPr>
          <a:xfrm>
            <a:off x="6267298" y="2955036"/>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money from adult tickets ($8 times the number sold)</a:t>
            </a:r>
            <a:endParaRPr lang="en-US" sz="1575" dirty="0"/>
          </a:p>
        </p:txBody>
      </p:sp>
      <p:sp>
        <p:nvSpPr>
          <p:cNvPr id="12" name="Shape 12"/>
          <p:cNvSpPr txBox="1"/>
          <p:nvPr/>
        </p:nvSpPr>
        <p:spPr>
          <a:xfrm>
            <a:off x="6267298" y="358521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1600</a:t>
            </a:r>
            <a:r>
              <a:rPr lang="en-US" sz="1575" dirty="0">
                <a:solidFill>
                  <a:srgbClr val="16171D"/>
                </a:solidFill>
                <a:latin typeface="Segoe UI"/>
                <a:cs typeface="Segoe UI"/>
              </a:rPr>
              <a:t xml:space="preserve">: the total money collected</a:t>
            </a:r>
            <a:endParaRPr lang="en-US" sz="1575" dirty="0"/>
          </a:p>
        </p:txBody>
      </p:sp>
      <p:sp>
        <p:nvSpPr>
          <p:cNvPr id="13" name="Shape 13"/>
          <p:cNvSpPr txBox="1"/>
          <p:nvPr/>
        </p:nvSpPr>
        <p:spPr>
          <a:xfrm>
            <a:off x="6267298" y="3975354"/>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Either variable could be independent. The number of student tickets could depend on the number of adult tickets, or the other way around.</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anim calcmode="lin" valueType="num">
                                      <p:cBhvr>
                                        <p:cTn id="5" dur="500" fill="hold"/>
                                        <p:tgtEl>
                                          <p:spTgt spid="9"/>
                                        </p:tgtEl>
                                        <p:attrNameLst>
                                          <p:attrName>ppt_x</p:attrName>
                                        </p:attrNameLst>
                                      </p:cBhvr>
                                      <p:tavLst>
                                        <p:tav tm="0">
                                          <p:val>
                                            <p:strVal val="#ppt_x"/>
                                          </p:val>
                                        </p:tav>
                                        <p:tav tm="100000">
                                          <p:val>
                                            <p:strVal val="#ppt_x"/>
                                          </p:val>
                                        </p:tav>
                                      </p:tavLst>
                                    </p:anim>
                                    <p:anim calcmode="lin" valueType="num">
                                      <p:cBhvr>
                                        <p:cTn id="6" dur="5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p:cTn id="48" dur="500" fill="hold"/>
                                        <p:tgtEl>
                                          <p:spTgt spid="13"/>
                                        </p:tgtEl>
                                        <p:attrNameLst>
                                          <p:attrName>ppt_x</p:attrName>
                                        </p:attrNameLst>
                                      </p:cBhvr>
                                      <p:tavLst>
                                        <p:tav tm="0">
                                          <p:val>
                                            <p:strVal val="#ppt_x"/>
                                          </p:val>
                                        </p:tav>
                                        <p:tav tm="100000">
                                          <p:val>
                                            <p:strVal val="#ppt_x"/>
                                          </p:val>
                                        </p:tav>
                                      </p:tavLst>
                                    </p:anim>
                                    <p:anim calcmode="lin" valueType="num">
                                      <p:cBhvr>
                                        <p:cTn id="4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3–5 · SE p. 227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using the intercepts</a:t>
            </a:r>
            <a:endParaRPr lang="en-US" sz="3450" dirty="0"/>
          </a:p>
        </p:txBody>
      </p:sp>
      <p:sp>
        <p:nvSpPr>
          <p:cNvPr id="4" name="Shape 4"/>
          <p:cNvSpPr txBox="1"/>
          <p:nvPr/>
        </p:nvSpPr>
        <p:spPr>
          <a:xfrm>
            <a:off x="685800" y="1618488"/>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Key term:</a:t>
            </a:r>
            <a:r>
              <a:rPr lang="en-US" sz="1575" dirty="0">
                <a:solidFill>
                  <a:srgbClr val="16171D"/>
                </a:solidFill>
                <a:latin typeface="Segoe UI"/>
                <a:cs typeface="Segoe UI"/>
              </a:rPr>
              <a:t xml:space="preserve">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is where a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To find it, substitute 0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39137"/>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(320, 0)</a:t>
            </a:r>
            <a:r>
              <a:rPr lang="en-US" sz="1575" dirty="0">
                <a:solidFill>
                  <a:srgbClr val="16171D"/>
                </a:solidFill>
                <a:latin typeface="Segoe UI"/>
                <a:cs typeface="Segoe UI"/>
              </a:rPr>
              <a:t xml:space="preserve">. 320 student tickets and no adult tickets.</a:t>
            </a:r>
            <a:endParaRPr lang="en-US" sz="1575" dirty="0"/>
          </a:p>
        </p:txBody>
      </p:sp>
      <p:sp>
        <p:nvSpPr>
          <p:cNvPr id="6" name="Shape 6"/>
          <p:cNvSpPr txBox="1"/>
          <p:nvPr/>
        </p:nvSpPr>
        <p:spPr>
          <a:xfrm>
            <a:off x="685800" y="285978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200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(0, 200)</a:t>
            </a:r>
            <a:r>
              <a:rPr lang="en-US" sz="1575" dirty="0">
                <a:solidFill>
                  <a:srgbClr val="16171D"/>
                </a:solidFill>
                <a:latin typeface="Segoe UI"/>
                <a:cs typeface="Segoe UI"/>
              </a:rPr>
              <a:t xml:space="preserve">. 200 adult tickets and no student tickets.</a:t>
            </a:r>
            <a:endParaRPr lang="en-US" sz="1575" dirty="0"/>
          </a:p>
        </p:txBody>
      </p:sp>
      <p:sp>
        <p:nvSpPr>
          <p:cNvPr id="7" name="Shape 7"/>
          <p:cNvSpPr txBox="1"/>
          <p:nvPr/>
        </p:nvSpPr>
        <p:spPr>
          <a:xfrm>
            <a:off x="685800" y="3480435"/>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Slope </a:t>
            </a:r>
            <a:r>
              <a:rPr lang="en-US" sz="1575" dirty="0" b="1">
                <a:solidFill>
                  <a:srgbClr val="C9561F"/>
                </a:solidFill>
                <a:latin typeface="Cambria"/>
                <a:cs typeface="Cambria"/>
              </a:rPr>
              <a:t xml:space="preserve">= </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200 − 0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0 − 320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 =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8</a:t>
            </a:r>
            <a:r>
              <a:rPr lang="en-US" sz="1575" dirty="0">
                <a:solidFill>
                  <a:srgbClr val="16171D"/>
                </a:solidFill>
                <a:latin typeface="Segoe UI"/>
                <a:cs typeface="Segoe UI"/>
              </a:rPr>
              <a:t xml:space="preserve">. For every 8 more student tickets, 5 fewer adult tickets.</a:t>
            </a:r>
            <a:endParaRPr lang="en-US" sz="1575" dirty="0"/>
          </a:p>
        </p:txBody>
      </p:sp>
      <p:sp>
        <p:nvSpPr>
          <p:cNvPr id="8" name="Shape 8"/>
          <p:cNvSpPr/>
          <p:nvPr/>
        </p:nvSpPr>
        <p:spPr>
          <a:xfrm>
            <a:off x="7695895"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019745" y="1732788"/>
            <a:ext cx="0" cy="3448050"/>
          </a:xfrm>
          <a:prstGeom prst="line">
            <a:avLst/>
          </a:prstGeom>
          <a:ln w="9525" cap="flat">
            <a:solidFill>
              <a:srgbClr val="E6E8F2"/>
            </a:solidFill>
          </a:ln>
        </p:spPr>
      </p:cxnSp>
      <p:cxnSp>
        <p:nvCxnSpPr>
          <p:cNvPr id="10" name="Line 10"/>
          <p:cNvCxnSpPr/>
          <p:nvPr/>
        </p:nvCxnSpPr>
        <p:spPr>
          <a:xfrm>
            <a:off x="8394395" y="1732788"/>
            <a:ext cx="0" cy="3448050"/>
          </a:xfrm>
          <a:prstGeom prst="line">
            <a:avLst/>
          </a:prstGeom>
          <a:ln w="9525" cap="flat">
            <a:solidFill>
              <a:srgbClr val="E6E8F2"/>
            </a:solidFill>
          </a:ln>
        </p:spPr>
      </p:cxnSp>
      <p:cxnSp>
        <p:nvCxnSpPr>
          <p:cNvPr id="11" name="Line 11"/>
          <p:cNvCxnSpPr/>
          <p:nvPr/>
        </p:nvCxnSpPr>
        <p:spPr>
          <a:xfrm>
            <a:off x="8769045" y="1732788"/>
            <a:ext cx="0" cy="3448050"/>
          </a:xfrm>
          <a:prstGeom prst="line">
            <a:avLst/>
          </a:prstGeom>
          <a:ln w="9525" cap="flat">
            <a:solidFill>
              <a:srgbClr val="E6E8F2"/>
            </a:solidFill>
          </a:ln>
        </p:spPr>
      </p:cxnSp>
      <p:cxnSp>
        <p:nvCxnSpPr>
          <p:cNvPr id="12" name="Line 12"/>
          <p:cNvCxnSpPr/>
          <p:nvPr/>
        </p:nvCxnSpPr>
        <p:spPr>
          <a:xfrm>
            <a:off x="9143695" y="1732788"/>
            <a:ext cx="0" cy="3448050"/>
          </a:xfrm>
          <a:prstGeom prst="line">
            <a:avLst/>
          </a:prstGeom>
          <a:ln w="9525" cap="flat">
            <a:solidFill>
              <a:srgbClr val="E6E8F2"/>
            </a:solidFill>
          </a:ln>
        </p:spPr>
      </p:cxnSp>
      <p:cxnSp>
        <p:nvCxnSpPr>
          <p:cNvPr id="13" name="Line 13"/>
          <p:cNvCxnSpPr/>
          <p:nvPr/>
        </p:nvCxnSpPr>
        <p:spPr>
          <a:xfrm>
            <a:off x="9518345" y="1732788"/>
            <a:ext cx="0" cy="3448050"/>
          </a:xfrm>
          <a:prstGeom prst="line">
            <a:avLst/>
          </a:prstGeom>
          <a:ln w="9525" cap="flat">
            <a:solidFill>
              <a:srgbClr val="E6E8F2"/>
            </a:solidFill>
          </a:ln>
        </p:spPr>
      </p:cxnSp>
      <p:cxnSp>
        <p:nvCxnSpPr>
          <p:cNvPr id="14" name="Line 14"/>
          <p:cNvCxnSpPr/>
          <p:nvPr/>
        </p:nvCxnSpPr>
        <p:spPr>
          <a:xfrm>
            <a:off x="9892995" y="1732788"/>
            <a:ext cx="0" cy="3448050"/>
          </a:xfrm>
          <a:prstGeom prst="line">
            <a:avLst/>
          </a:prstGeom>
          <a:ln w="9525" cap="flat">
            <a:solidFill>
              <a:srgbClr val="E6E8F2"/>
            </a:solidFill>
          </a:ln>
        </p:spPr>
      </p:cxnSp>
      <p:cxnSp>
        <p:nvCxnSpPr>
          <p:cNvPr id="15" name="Line 15"/>
          <p:cNvCxnSpPr/>
          <p:nvPr/>
        </p:nvCxnSpPr>
        <p:spPr>
          <a:xfrm>
            <a:off x="10267645" y="1732788"/>
            <a:ext cx="0" cy="3448050"/>
          </a:xfrm>
          <a:prstGeom prst="line">
            <a:avLst/>
          </a:prstGeom>
          <a:ln w="9525" cap="flat">
            <a:solidFill>
              <a:srgbClr val="E6E8F2"/>
            </a:solidFill>
          </a:ln>
        </p:spPr>
      </p:cxnSp>
      <p:cxnSp>
        <p:nvCxnSpPr>
          <p:cNvPr id="16" name="Line 16"/>
          <p:cNvCxnSpPr/>
          <p:nvPr/>
        </p:nvCxnSpPr>
        <p:spPr>
          <a:xfrm>
            <a:off x="10642295" y="1732788"/>
            <a:ext cx="0" cy="3448050"/>
          </a:xfrm>
          <a:prstGeom prst="line">
            <a:avLst/>
          </a:prstGeom>
          <a:ln w="9525" cap="flat">
            <a:solidFill>
              <a:srgbClr val="E6E8F2"/>
            </a:solidFill>
          </a:ln>
        </p:spPr>
      </p:cxnSp>
      <p:cxnSp>
        <p:nvCxnSpPr>
          <p:cNvPr id="17" name="Line 17"/>
          <p:cNvCxnSpPr/>
          <p:nvPr/>
        </p:nvCxnSpPr>
        <p:spPr>
          <a:xfrm>
            <a:off x="11016945" y="1732788"/>
            <a:ext cx="0" cy="3448050"/>
          </a:xfrm>
          <a:prstGeom prst="line">
            <a:avLst/>
          </a:prstGeom>
          <a:ln w="9525" cap="flat">
            <a:solidFill>
              <a:srgbClr val="E6E8F2"/>
            </a:solidFill>
          </a:ln>
        </p:spPr>
      </p:cxnSp>
      <p:cxnSp>
        <p:nvCxnSpPr>
          <p:cNvPr id="18" name="Line 18"/>
          <p:cNvCxnSpPr/>
          <p:nvPr/>
        </p:nvCxnSpPr>
        <p:spPr>
          <a:xfrm>
            <a:off x="11391595" y="1732788"/>
            <a:ext cx="0" cy="3448050"/>
          </a:xfrm>
          <a:prstGeom prst="line">
            <a:avLst/>
          </a:prstGeom>
          <a:ln w="9525" cap="flat">
            <a:solidFill>
              <a:srgbClr val="E6E8F2"/>
            </a:solidFill>
          </a:ln>
        </p:spPr>
      </p:cxnSp>
      <p:cxnSp>
        <p:nvCxnSpPr>
          <p:cNvPr id="19" name="Line 19"/>
          <p:cNvCxnSpPr/>
          <p:nvPr/>
        </p:nvCxnSpPr>
        <p:spPr>
          <a:xfrm>
            <a:off x="8019745" y="5180838"/>
            <a:ext cx="3371850" cy="0"/>
          </a:xfrm>
          <a:prstGeom prst="line">
            <a:avLst/>
          </a:prstGeom>
          <a:ln w="9525" cap="flat">
            <a:solidFill>
              <a:srgbClr val="E6E8F2"/>
            </a:solidFill>
          </a:ln>
        </p:spPr>
      </p:cxnSp>
      <p:cxnSp>
        <p:nvCxnSpPr>
          <p:cNvPr id="20" name="Line 20"/>
          <p:cNvCxnSpPr/>
          <p:nvPr/>
        </p:nvCxnSpPr>
        <p:spPr>
          <a:xfrm>
            <a:off x="8019745" y="4797721"/>
            <a:ext cx="3371850" cy="0"/>
          </a:xfrm>
          <a:prstGeom prst="line">
            <a:avLst/>
          </a:prstGeom>
          <a:ln w="9525" cap="flat">
            <a:solidFill>
              <a:srgbClr val="E6E8F2"/>
            </a:solidFill>
          </a:ln>
        </p:spPr>
      </p:cxnSp>
      <p:cxnSp>
        <p:nvCxnSpPr>
          <p:cNvPr id="21" name="Line 21"/>
          <p:cNvCxnSpPr/>
          <p:nvPr/>
        </p:nvCxnSpPr>
        <p:spPr>
          <a:xfrm>
            <a:off x="8019745" y="4414605"/>
            <a:ext cx="3371850" cy="0"/>
          </a:xfrm>
          <a:prstGeom prst="line">
            <a:avLst/>
          </a:prstGeom>
          <a:ln w="9525" cap="flat">
            <a:solidFill>
              <a:srgbClr val="E6E8F2"/>
            </a:solidFill>
          </a:ln>
        </p:spPr>
      </p:cxnSp>
      <p:cxnSp>
        <p:nvCxnSpPr>
          <p:cNvPr id="22" name="Line 22"/>
          <p:cNvCxnSpPr/>
          <p:nvPr/>
        </p:nvCxnSpPr>
        <p:spPr>
          <a:xfrm>
            <a:off x="8019745" y="4031488"/>
            <a:ext cx="3371850" cy="0"/>
          </a:xfrm>
          <a:prstGeom prst="line">
            <a:avLst/>
          </a:prstGeom>
          <a:ln w="9525" cap="flat">
            <a:solidFill>
              <a:srgbClr val="E6E8F2"/>
            </a:solidFill>
          </a:ln>
        </p:spPr>
      </p:cxnSp>
      <p:cxnSp>
        <p:nvCxnSpPr>
          <p:cNvPr id="23" name="Line 23"/>
          <p:cNvCxnSpPr/>
          <p:nvPr/>
        </p:nvCxnSpPr>
        <p:spPr>
          <a:xfrm>
            <a:off x="8019745" y="3648371"/>
            <a:ext cx="3371850" cy="0"/>
          </a:xfrm>
          <a:prstGeom prst="line">
            <a:avLst/>
          </a:prstGeom>
          <a:ln w="9525" cap="flat">
            <a:solidFill>
              <a:srgbClr val="E6E8F2"/>
            </a:solidFill>
          </a:ln>
        </p:spPr>
      </p:cxnSp>
      <p:cxnSp>
        <p:nvCxnSpPr>
          <p:cNvPr id="24" name="Line 24"/>
          <p:cNvCxnSpPr/>
          <p:nvPr/>
        </p:nvCxnSpPr>
        <p:spPr>
          <a:xfrm>
            <a:off x="8019745" y="3265255"/>
            <a:ext cx="3371850" cy="0"/>
          </a:xfrm>
          <a:prstGeom prst="line">
            <a:avLst/>
          </a:prstGeom>
          <a:ln w="9525" cap="flat">
            <a:solidFill>
              <a:srgbClr val="E6E8F2"/>
            </a:solidFill>
          </a:ln>
        </p:spPr>
      </p:cxnSp>
      <p:cxnSp>
        <p:nvCxnSpPr>
          <p:cNvPr id="25" name="Line 25"/>
          <p:cNvCxnSpPr/>
          <p:nvPr/>
        </p:nvCxnSpPr>
        <p:spPr>
          <a:xfrm>
            <a:off x="8019745" y="2882138"/>
            <a:ext cx="3371850" cy="0"/>
          </a:xfrm>
          <a:prstGeom prst="line">
            <a:avLst/>
          </a:prstGeom>
          <a:ln w="9525" cap="flat">
            <a:solidFill>
              <a:srgbClr val="E6E8F2"/>
            </a:solidFill>
          </a:ln>
        </p:spPr>
      </p:cxnSp>
      <p:cxnSp>
        <p:nvCxnSpPr>
          <p:cNvPr id="26" name="Line 26"/>
          <p:cNvCxnSpPr/>
          <p:nvPr/>
        </p:nvCxnSpPr>
        <p:spPr>
          <a:xfrm>
            <a:off x="8019745" y="2499021"/>
            <a:ext cx="3371850" cy="0"/>
          </a:xfrm>
          <a:prstGeom prst="line">
            <a:avLst/>
          </a:prstGeom>
          <a:ln w="9525" cap="flat">
            <a:solidFill>
              <a:srgbClr val="E6E8F2"/>
            </a:solidFill>
          </a:ln>
        </p:spPr>
      </p:cxnSp>
      <p:cxnSp>
        <p:nvCxnSpPr>
          <p:cNvPr id="27" name="Line 27"/>
          <p:cNvCxnSpPr/>
          <p:nvPr/>
        </p:nvCxnSpPr>
        <p:spPr>
          <a:xfrm>
            <a:off x="8019745" y="2115905"/>
            <a:ext cx="3371850" cy="0"/>
          </a:xfrm>
          <a:prstGeom prst="line">
            <a:avLst/>
          </a:prstGeom>
          <a:ln w="9525" cap="flat">
            <a:solidFill>
              <a:srgbClr val="E6E8F2"/>
            </a:solidFill>
          </a:ln>
        </p:spPr>
      </p:cxnSp>
      <p:cxnSp>
        <p:nvCxnSpPr>
          <p:cNvPr id="28" name="Line 28"/>
          <p:cNvCxnSpPr/>
          <p:nvPr/>
        </p:nvCxnSpPr>
        <p:spPr>
          <a:xfrm>
            <a:off x="8019745" y="1732788"/>
            <a:ext cx="3371850" cy="0"/>
          </a:xfrm>
          <a:prstGeom prst="line">
            <a:avLst/>
          </a:prstGeom>
          <a:ln w="9525" cap="flat">
            <a:solidFill>
              <a:srgbClr val="E6E8F2"/>
            </a:solidFill>
          </a:ln>
        </p:spPr>
      </p:cxnSp>
      <p:cxnSp>
        <p:nvCxnSpPr>
          <p:cNvPr id="29" name="Line 29"/>
          <p:cNvCxnSpPr/>
          <p:nvPr/>
        </p:nvCxnSpPr>
        <p:spPr>
          <a:xfrm>
            <a:off x="8019745" y="1732788"/>
            <a:ext cx="0" cy="3448050"/>
          </a:xfrm>
          <a:prstGeom prst="line">
            <a:avLst/>
          </a:prstGeom>
          <a:ln w="19050" cap="flat">
            <a:solidFill>
              <a:srgbClr val="5F6272"/>
            </a:solidFill>
          </a:ln>
        </p:spPr>
      </p:cxnSp>
      <p:cxnSp>
        <p:nvCxnSpPr>
          <p:cNvPr id="30" name="Line 30"/>
          <p:cNvCxnSpPr/>
          <p:nvPr/>
        </p:nvCxnSpPr>
        <p:spPr>
          <a:xfrm>
            <a:off x="8019745" y="5180838"/>
            <a:ext cx="3371850" cy="0"/>
          </a:xfrm>
          <a:prstGeom prst="line">
            <a:avLst/>
          </a:prstGeom>
          <a:ln w="19050" cap="flat">
            <a:solidFill>
              <a:srgbClr val="5F6272"/>
            </a:solidFill>
          </a:ln>
        </p:spPr>
      </p:cxnSp>
      <p:sp>
        <p:nvSpPr>
          <p:cNvPr id="31" name="Shape 31"/>
          <p:cNvSpPr txBox="1"/>
          <p:nvPr/>
        </p:nvSpPr>
        <p:spPr>
          <a:xfrm>
            <a:off x="7745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84947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33" name="Shape 33"/>
          <p:cNvSpPr txBox="1"/>
          <p:nvPr/>
        </p:nvSpPr>
        <p:spPr>
          <a:xfrm>
            <a:off x="92440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34" name="Shape 34"/>
          <p:cNvSpPr txBox="1"/>
          <p:nvPr/>
        </p:nvSpPr>
        <p:spPr>
          <a:xfrm>
            <a:off x="9993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107426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320</a:t>
            </a:r>
            <a:endParaRPr lang="en-US" sz="975" dirty="0"/>
          </a:p>
        </p:txBody>
      </p:sp>
      <p:sp>
        <p:nvSpPr>
          <p:cNvPr id="36" name="Shape 36"/>
          <p:cNvSpPr txBox="1"/>
          <p:nvPr/>
        </p:nvSpPr>
        <p:spPr>
          <a:xfrm>
            <a:off x="7452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452817" y="43231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8" name="Shape 38"/>
          <p:cNvSpPr txBox="1"/>
          <p:nvPr/>
        </p:nvSpPr>
        <p:spPr>
          <a:xfrm>
            <a:off x="7452817" y="35569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39" name="Shape 39"/>
          <p:cNvSpPr txBox="1"/>
          <p:nvPr/>
        </p:nvSpPr>
        <p:spPr>
          <a:xfrm>
            <a:off x="7452817"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40" name="Shape 40"/>
          <p:cNvSpPr txBox="1"/>
          <p:nvPr/>
        </p:nvSpPr>
        <p:spPr>
          <a:xfrm>
            <a:off x="7452817" y="20244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320</a:t>
            </a:r>
            <a:endParaRPr lang="en-US" sz="975" dirty="0"/>
          </a:p>
        </p:txBody>
      </p:sp>
      <p:sp>
        <p:nvSpPr>
          <p:cNvPr id="41" name="Shape 41"/>
          <p:cNvSpPr/>
          <p:nvPr/>
        </p:nvSpPr>
        <p:spPr>
          <a:xfrm>
            <a:off x="10964558" y="5128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2" name="Shape 42"/>
          <p:cNvSpPr txBox="1"/>
          <p:nvPr/>
        </p:nvSpPr>
        <p:spPr>
          <a:xfrm>
            <a:off x="11102670" y="4933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(320, 0)</a:t>
            </a:r>
            <a:endParaRPr lang="en-US" sz="1125" dirty="0"/>
          </a:p>
        </p:txBody>
      </p:sp>
      <p:sp>
        <p:nvSpPr>
          <p:cNvPr id="43" name="Shape 43"/>
          <p:cNvSpPr/>
          <p:nvPr/>
        </p:nvSpPr>
        <p:spPr>
          <a:xfrm>
            <a:off x="7967358" y="321286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8105470" y="301760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(0, 200)</a:t>
            </a:r>
            <a:endParaRPr lang="en-US" sz="1125" dirty="0"/>
          </a:p>
        </p:txBody>
      </p:sp>
      <p:cxnSp>
        <p:nvCxnSpPr>
          <p:cNvPr id="45" name="Line 45"/>
          <p:cNvCxnSpPr/>
          <p:nvPr/>
        </p:nvCxnSpPr>
        <p:spPr>
          <a:xfrm>
            <a:off x="8019745" y="3265255"/>
            <a:ext cx="2997200" cy="191558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7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6–7 · SE p. 228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Complete the table</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Standard form</a:t>
            </a:r>
            <a:endParaRPr lang="en-US" sz="1950" dirty="0"/>
          </a:p>
        </p:txBody>
      </p:sp>
      <p:sp>
        <p:nvSpPr>
          <p:cNvPr id="5" name="Shape 5"/>
          <p:cNvSpPr txBox="1"/>
          <p:nvPr/>
        </p:nvSpPr>
        <p:spPr>
          <a:xfrm>
            <a:off x="2908554"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-intercept</a:t>
            </a:r>
            <a:endParaRPr lang="en-US" sz="1950" dirty="0"/>
          </a:p>
        </p:txBody>
      </p:sp>
      <p:sp>
        <p:nvSpPr>
          <p:cNvPr id="6" name="Shape 6"/>
          <p:cNvSpPr txBox="1"/>
          <p:nvPr/>
        </p:nvSpPr>
        <p:spPr>
          <a:xfrm>
            <a:off x="4873752"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-intercept</a:t>
            </a:r>
            <a:endParaRPr lang="en-US" sz="1950" dirty="0"/>
          </a:p>
        </p:txBody>
      </p:sp>
      <p:sp>
        <p:nvSpPr>
          <p:cNvPr id="7" name="Shape 7"/>
          <p:cNvSpPr txBox="1"/>
          <p:nvPr/>
        </p:nvSpPr>
        <p:spPr>
          <a:xfrm>
            <a:off x="6838950" y="1618488"/>
            <a:ext cx="119253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Slope</a:t>
            </a:r>
            <a:endParaRPr lang="en-US" sz="1950" dirty="0"/>
          </a:p>
        </p:txBody>
      </p:sp>
      <p:sp>
        <p:nvSpPr>
          <p:cNvPr id="8" name="Shape 8"/>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endParaRPr lang="en-US" sz="1950" dirty="0"/>
          </a:p>
        </p:txBody>
      </p:sp>
      <p:sp>
        <p:nvSpPr>
          <p:cNvPr id="9" name="Shape 9"/>
          <p:cNvSpPr txBox="1"/>
          <p:nvPr/>
        </p:nvSpPr>
        <p:spPr>
          <a:xfrm>
            <a:off x="2908554"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0" name="Shape 10"/>
          <p:cNvSpPr txBox="1"/>
          <p:nvPr/>
        </p:nvSpPr>
        <p:spPr>
          <a:xfrm>
            <a:off x="2908554"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6</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11" name="Shape 11"/>
          <p:cNvSpPr txBox="1"/>
          <p:nvPr/>
        </p:nvSpPr>
        <p:spPr>
          <a:xfrm>
            <a:off x="4873752"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2" name="Shape 12"/>
          <p:cNvSpPr txBox="1"/>
          <p:nvPr/>
        </p:nvSpPr>
        <p:spPr>
          <a:xfrm>
            <a:off x="4873752"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13" name="Shape 13"/>
          <p:cNvSpPr txBox="1"/>
          <p:nvPr/>
        </p:nvSpPr>
        <p:spPr>
          <a:xfrm>
            <a:off x="6838950" y="2061972"/>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4" name="Shape 14"/>
          <p:cNvSpPr txBox="1"/>
          <p:nvPr/>
        </p:nvSpPr>
        <p:spPr>
          <a:xfrm>
            <a:off x="6838950" y="2061972"/>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15" name="Shape 15"/>
          <p:cNvSpPr txBox="1"/>
          <p:nvPr/>
        </p:nvSpPr>
        <p:spPr>
          <a:xfrm>
            <a:off x="685800" y="2505456"/>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6" name="Shape 16"/>
          <p:cNvSpPr txBox="1"/>
          <p:nvPr/>
        </p:nvSpPr>
        <p:spPr>
          <a:xfrm>
            <a:off x="685800" y="2505456"/>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7</a:t>
            </a:r>
            <a:endParaRPr lang="en-US" sz="1950" dirty="0"/>
          </a:p>
        </p:txBody>
      </p:sp>
      <p:sp>
        <p:nvSpPr>
          <p:cNvPr id="17" name="Shape 17"/>
          <p:cNvSpPr txBox="1"/>
          <p:nvPr/>
        </p:nvSpPr>
        <p:spPr>
          <a:xfrm>
            <a:off x="2908554" y="2505456"/>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0)</a:t>
            </a:r>
            <a:endParaRPr lang="en-US" sz="1950" dirty="0"/>
          </a:p>
        </p:txBody>
      </p:sp>
      <p:sp>
        <p:nvSpPr>
          <p:cNvPr id="18" name="Shape 18"/>
          <p:cNvSpPr txBox="1"/>
          <p:nvPr/>
        </p:nvSpPr>
        <p:spPr>
          <a:xfrm>
            <a:off x="4873752" y="2505456"/>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9" name="Shape 19"/>
          <p:cNvSpPr txBox="1"/>
          <p:nvPr/>
        </p:nvSpPr>
        <p:spPr>
          <a:xfrm>
            <a:off x="4873752" y="2505456"/>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a:solidFill>
                  <a:srgbClr val="16171D"/>
                </a:solidFill>
                <a:latin typeface="Cambria"/>
                <a:cs typeface="Cambria"/>
              </a:rPr>
              <a:t xml:space="preserve">)</a:t>
            </a:r>
            <a:endParaRPr lang="en-US" sz="1950" dirty="0"/>
          </a:p>
        </p:txBody>
      </p:sp>
      <p:sp>
        <p:nvSpPr>
          <p:cNvPr id="20" name="Shape 20"/>
          <p:cNvSpPr txBox="1"/>
          <p:nvPr/>
        </p:nvSpPr>
        <p:spPr>
          <a:xfrm>
            <a:off x="6838950" y="2505456"/>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21" name="Shape 21"/>
          <p:cNvSpPr txBox="1"/>
          <p:nvPr/>
        </p:nvSpPr>
        <p:spPr>
          <a:xfrm>
            <a:off x="685800" y="2948940"/>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2" name="Shape 22"/>
          <p:cNvSpPr txBox="1"/>
          <p:nvPr/>
        </p:nvSpPr>
        <p:spPr>
          <a:xfrm>
            <a:off x="685800" y="2948940"/>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9</a:t>
            </a:r>
            <a:endParaRPr lang="en-US" sz="1950" dirty="0"/>
          </a:p>
        </p:txBody>
      </p:sp>
      <p:sp>
        <p:nvSpPr>
          <p:cNvPr id="23" name="Shape 23"/>
          <p:cNvSpPr txBox="1"/>
          <p:nvPr/>
        </p:nvSpPr>
        <p:spPr>
          <a:xfrm>
            <a:off x="2908554" y="2948940"/>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4" name="Shape 24"/>
          <p:cNvSpPr txBox="1"/>
          <p:nvPr/>
        </p:nvSpPr>
        <p:spPr>
          <a:xfrm>
            <a:off x="2908554" y="2948940"/>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9</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0)</a:t>
            </a:r>
            <a:endParaRPr lang="en-US" sz="1950" dirty="0"/>
          </a:p>
        </p:txBody>
      </p:sp>
      <p:sp>
        <p:nvSpPr>
          <p:cNvPr id="25" name="Shape 25"/>
          <p:cNvSpPr txBox="1"/>
          <p:nvPr/>
        </p:nvSpPr>
        <p:spPr>
          <a:xfrm>
            <a:off x="4873752" y="2948940"/>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26" name="Shape 26"/>
          <p:cNvSpPr txBox="1"/>
          <p:nvPr/>
        </p:nvSpPr>
        <p:spPr>
          <a:xfrm>
            <a:off x="6838950" y="2948940"/>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endParaRPr lang="en-US" sz="1950" dirty="0"/>
          </a:p>
        </p:txBody>
      </p:sp>
      <p:sp>
        <p:nvSpPr>
          <p:cNvPr id="27" name="Shape 27"/>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endParaRPr lang="en-US" sz="1950" dirty="0"/>
          </a:p>
        </p:txBody>
      </p:sp>
      <p:sp>
        <p:nvSpPr>
          <p:cNvPr id="28" name="Shape 28"/>
          <p:cNvSpPr txBox="1"/>
          <p:nvPr/>
        </p:nvSpPr>
        <p:spPr>
          <a:xfrm>
            <a:off x="2908554"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9" name="Shape 29"/>
          <p:cNvSpPr txBox="1"/>
          <p:nvPr/>
        </p:nvSpPr>
        <p:spPr>
          <a:xfrm>
            <a:off x="2908554"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30" name="Shape 30"/>
          <p:cNvSpPr txBox="1"/>
          <p:nvPr/>
        </p:nvSpPr>
        <p:spPr>
          <a:xfrm>
            <a:off x="4873752"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1" name="Shape 31"/>
          <p:cNvSpPr txBox="1"/>
          <p:nvPr/>
        </p:nvSpPr>
        <p:spPr>
          <a:xfrm>
            <a:off x="4873752"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endParaRPr lang="en-US" sz="1950" dirty="0"/>
          </a:p>
        </p:txBody>
      </p:sp>
      <p:sp>
        <p:nvSpPr>
          <p:cNvPr id="32" name="Shape 32"/>
          <p:cNvSpPr txBox="1"/>
          <p:nvPr/>
        </p:nvSpPr>
        <p:spPr>
          <a:xfrm>
            <a:off x="6838950" y="3392424"/>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3" name="Shape 33"/>
          <p:cNvSpPr txBox="1"/>
          <p:nvPr/>
        </p:nvSpPr>
        <p:spPr>
          <a:xfrm>
            <a:off x="6838950" y="3392424"/>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endParaRPr lang="en-US" sz="1950" dirty="0"/>
          </a:p>
        </p:txBody>
      </p:sp>
      <p:sp>
        <p:nvSpPr>
          <p:cNvPr id="34" name="Shape 34"/>
          <p:cNvSpPr txBox="1"/>
          <p:nvPr/>
        </p:nvSpPr>
        <p:spPr>
          <a:xfrm>
            <a:off x="685800" y="400735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7.</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(0,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B</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 slope </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A</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B</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strVal val="#ppt_x"/>
                                          </p:val>
                                        </p:tav>
                                        <p:tav tm="100000">
                                          <p:val>
                                            <p:strVal val="#ppt_x"/>
                                          </p:val>
                                        </p:tav>
                                      </p:tavLst>
                                    </p:anim>
                                    <p:anim calcmode="lin" valueType="num">
                                      <p:cBhvr>
                                        <p:cTn id="4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anim calcmode="lin" valueType="num">
                                      <p:cBhvr>
                                        <p:cTn id="47" dur="500" fill="hold"/>
                                        <p:tgtEl>
                                          <p:spTgt spid="24"/>
                                        </p:tgtEl>
                                        <p:attrNameLst>
                                          <p:attrName>ppt_x</p:attrName>
                                        </p:attrNameLst>
                                      </p:cBhvr>
                                      <p:tavLst>
                                        <p:tav tm="0">
                                          <p:val>
                                            <p:strVal val="#ppt_x"/>
                                          </p:val>
                                        </p:tav>
                                        <p:tav tm="100000">
                                          <p:val>
                                            <p:strVal val="#ppt_x"/>
                                          </p:val>
                                        </p:tav>
                                      </p:tavLst>
                                    </p:anim>
                                    <p:anim calcmode="lin" valueType="num">
                                      <p:cBhvr>
                                        <p:cTn id="48"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anim calcmode="lin" valueType="num">
                                      <p:cBhvr>
                                        <p:cTn id="54" dur="500" fill="hold"/>
                                        <p:tgtEl>
                                          <p:spTgt spid="29"/>
                                        </p:tgtEl>
                                        <p:attrNameLst>
                                          <p:attrName>ppt_x</p:attrName>
                                        </p:attrNameLst>
                                      </p:cBhvr>
                                      <p:tavLst>
                                        <p:tav tm="0">
                                          <p:val>
                                            <p:strVal val="#ppt_x"/>
                                          </p:val>
                                        </p:tav>
                                        <p:tav tm="100000">
                                          <p:val>
                                            <p:strVal val="#ppt_x"/>
                                          </p:val>
                                        </p:tav>
                                      </p:tavLst>
                                    </p:anim>
                                    <p:anim calcmode="lin" valueType="num">
                                      <p:cBhvr>
                                        <p:cTn id="55"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anim calcmode="lin" valueType="num">
                                      <p:cBhvr>
                                        <p:cTn id="61" dur="500" fill="hold"/>
                                        <p:tgtEl>
                                          <p:spTgt spid="31"/>
                                        </p:tgtEl>
                                        <p:attrNameLst>
                                          <p:attrName>ppt_x</p:attrName>
                                        </p:attrNameLst>
                                      </p:cBhvr>
                                      <p:tavLst>
                                        <p:tav tm="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anim calcmode="lin" valueType="num">
                                      <p:cBhvr>
                                        <p:cTn id="68" dur="500" fill="hold"/>
                                        <p:tgtEl>
                                          <p:spTgt spid="33"/>
                                        </p:tgtEl>
                                        <p:attrNameLst>
                                          <p:attrName>ppt_x</p:attrName>
                                        </p:attrNameLst>
                                      </p:cBhvr>
                                      <p:tavLst>
                                        <p:tav tm="0">
                                          <p:val>
                                            <p:strVal val="#ppt_x"/>
                                          </p:val>
                                        </p:tav>
                                        <p:tav tm="100000">
                                          <p:val>
                                            <p:strVal val="#ppt_x"/>
                                          </p:val>
                                        </p:tav>
                                      </p:tavLst>
                                    </p:anim>
                                    <p:anim calcmode="lin" valueType="num">
                                      <p:cBhvr>
                                        <p:cTn id="69"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anim calcmode="lin" valueType="num">
                                      <p:cBhvr>
                                        <p:cTn id="75" dur="500" fill="hold"/>
                                        <p:tgtEl>
                                          <p:spTgt spid="34"/>
                                        </p:tgtEl>
                                        <p:attrNameLst>
                                          <p:attrName>ppt_x</p:attrName>
                                        </p:attrNameLst>
                                      </p:cBhvr>
                                      <p:tavLst>
                                        <p:tav tm="0">
                                          <p:val>
                                            <p:strVal val="#ppt_x"/>
                                          </p:val>
                                        </p:tav>
                                        <p:tav tm="100000">
                                          <p:val>
                                            <p:strVal val="#ppt_x"/>
                                          </p:val>
                                        </p:tav>
                                      </p:tavLst>
                                    </p:anim>
                                    <p:anim calcmode="lin" valueType="num">
                                      <p:cBhvr>
                                        <p:cTn id="76"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8 · SE p. 229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with its equation</a:t>
            </a:r>
            <a:endParaRPr lang="en-US" sz="3450" dirty="0"/>
          </a:p>
        </p:txBody>
      </p:sp>
      <p:sp>
        <p:nvSpPr>
          <p:cNvPr id="4" name="Shape 4"/>
          <p:cNvSpPr/>
          <p:nvPr/>
        </p:nvSpPr>
        <p:spPr>
          <a:xfrm>
            <a:off x="685800" y="1618488"/>
            <a:ext cx="36195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63133" y="1732788"/>
            <a:ext cx="0" cy="3638550"/>
          </a:xfrm>
          <a:prstGeom prst="line">
            <a:avLst/>
          </a:prstGeom>
          <a:ln w="9525" cap="flat">
            <a:solidFill>
              <a:srgbClr val="E6E8F2"/>
            </a:solidFill>
          </a:ln>
        </p:spPr>
      </p:cxnSp>
      <p:cxnSp>
        <p:nvCxnSpPr>
          <p:cNvPr id="7" name="Line 7"/>
          <p:cNvCxnSpPr/>
          <p:nvPr/>
        </p:nvCxnSpPr>
        <p:spPr>
          <a:xfrm>
            <a:off x="1716617" y="1732788"/>
            <a:ext cx="0" cy="3638550"/>
          </a:xfrm>
          <a:prstGeom prst="line">
            <a:avLst/>
          </a:prstGeom>
          <a:ln w="9525" cap="flat">
            <a:solidFill>
              <a:srgbClr val="E6E8F2"/>
            </a:solidFill>
          </a:ln>
        </p:spPr>
      </p:cxnSp>
      <p:cxnSp>
        <p:nvCxnSpPr>
          <p:cNvPr id="8" name="Line 8"/>
          <p:cNvCxnSpPr/>
          <p:nvPr/>
        </p:nvCxnSpPr>
        <p:spPr>
          <a:xfrm>
            <a:off x="2070100" y="1732788"/>
            <a:ext cx="0" cy="3638550"/>
          </a:xfrm>
          <a:prstGeom prst="line">
            <a:avLst/>
          </a:prstGeom>
          <a:ln w="9525" cap="flat">
            <a:solidFill>
              <a:srgbClr val="E6E8F2"/>
            </a:solidFill>
          </a:ln>
        </p:spPr>
      </p:cxnSp>
      <p:cxnSp>
        <p:nvCxnSpPr>
          <p:cNvPr id="9" name="Line 9"/>
          <p:cNvCxnSpPr/>
          <p:nvPr/>
        </p:nvCxnSpPr>
        <p:spPr>
          <a:xfrm>
            <a:off x="2423583" y="1732788"/>
            <a:ext cx="0" cy="3638550"/>
          </a:xfrm>
          <a:prstGeom prst="line">
            <a:avLst/>
          </a:prstGeom>
          <a:ln w="9525" cap="flat">
            <a:solidFill>
              <a:srgbClr val="E6E8F2"/>
            </a:solidFill>
          </a:ln>
        </p:spPr>
      </p:cxnSp>
      <p:cxnSp>
        <p:nvCxnSpPr>
          <p:cNvPr id="10" name="Line 10"/>
          <p:cNvCxnSpPr/>
          <p:nvPr/>
        </p:nvCxnSpPr>
        <p:spPr>
          <a:xfrm>
            <a:off x="2777067" y="1732788"/>
            <a:ext cx="0" cy="3638550"/>
          </a:xfrm>
          <a:prstGeom prst="line">
            <a:avLst/>
          </a:prstGeom>
          <a:ln w="9525" cap="flat">
            <a:solidFill>
              <a:srgbClr val="E6E8F2"/>
            </a:solidFill>
          </a:ln>
        </p:spPr>
      </p:cxnSp>
      <p:cxnSp>
        <p:nvCxnSpPr>
          <p:cNvPr id="11" name="Line 11"/>
          <p:cNvCxnSpPr/>
          <p:nvPr/>
        </p:nvCxnSpPr>
        <p:spPr>
          <a:xfrm>
            <a:off x="3130550" y="1732788"/>
            <a:ext cx="0" cy="3638550"/>
          </a:xfrm>
          <a:prstGeom prst="line">
            <a:avLst/>
          </a:prstGeom>
          <a:ln w="9525" cap="flat">
            <a:solidFill>
              <a:srgbClr val="E6E8F2"/>
            </a:solidFill>
          </a:ln>
        </p:spPr>
      </p:cxnSp>
      <p:cxnSp>
        <p:nvCxnSpPr>
          <p:cNvPr id="12" name="Line 12"/>
          <p:cNvCxnSpPr/>
          <p:nvPr/>
        </p:nvCxnSpPr>
        <p:spPr>
          <a:xfrm>
            <a:off x="3484033" y="1732788"/>
            <a:ext cx="0" cy="3638550"/>
          </a:xfrm>
          <a:prstGeom prst="line">
            <a:avLst/>
          </a:prstGeom>
          <a:ln w="9525" cap="flat">
            <a:solidFill>
              <a:srgbClr val="E6E8F2"/>
            </a:solidFill>
          </a:ln>
        </p:spPr>
      </p:cxnSp>
      <p:cxnSp>
        <p:nvCxnSpPr>
          <p:cNvPr id="13" name="Line 13"/>
          <p:cNvCxnSpPr/>
          <p:nvPr/>
        </p:nvCxnSpPr>
        <p:spPr>
          <a:xfrm>
            <a:off x="3837517" y="1732788"/>
            <a:ext cx="0" cy="3638550"/>
          </a:xfrm>
          <a:prstGeom prst="line">
            <a:avLst/>
          </a:prstGeom>
          <a:ln w="9525" cap="flat">
            <a:solidFill>
              <a:srgbClr val="E6E8F2"/>
            </a:solidFill>
          </a:ln>
        </p:spPr>
      </p:cxnSp>
      <p:cxnSp>
        <p:nvCxnSpPr>
          <p:cNvPr id="14" name="Line 14"/>
          <p:cNvCxnSpPr/>
          <p:nvPr/>
        </p:nvCxnSpPr>
        <p:spPr>
          <a:xfrm>
            <a:off x="4191000" y="1732788"/>
            <a:ext cx="0" cy="3638550"/>
          </a:xfrm>
          <a:prstGeom prst="line">
            <a:avLst/>
          </a:prstGeom>
          <a:ln w="9525" cap="flat">
            <a:solidFill>
              <a:srgbClr val="E6E8F2"/>
            </a:solidFill>
          </a:ln>
        </p:spPr>
      </p:cxnSp>
      <p:cxnSp>
        <p:nvCxnSpPr>
          <p:cNvPr id="15" name="Line 15"/>
          <p:cNvCxnSpPr/>
          <p:nvPr/>
        </p:nvCxnSpPr>
        <p:spPr>
          <a:xfrm>
            <a:off x="1009650" y="5371338"/>
            <a:ext cx="3181350" cy="0"/>
          </a:xfrm>
          <a:prstGeom prst="line">
            <a:avLst/>
          </a:prstGeom>
          <a:ln w="9525" cap="flat">
            <a:solidFill>
              <a:srgbClr val="E6E8F2"/>
            </a:solidFill>
          </a:ln>
        </p:spPr>
      </p:cxnSp>
      <p:cxnSp>
        <p:nvCxnSpPr>
          <p:cNvPr id="16" name="Line 16"/>
          <p:cNvCxnSpPr/>
          <p:nvPr/>
        </p:nvCxnSpPr>
        <p:spPr>
          <a:xfrm>
            <a:off x="1009650" y="5068126"/>
            <a:ext cx="3181350" cy="0"/>
          </a:xfrm>
          <a:prstGeom prst="line">
            <a:avLst/>
          </a:prstGeom>
          <a:ln w="9525" cap="flat">
            <a:solidFill>
              <a:srgbClr val="E6E8F2"/>
            </a:solidFill>
          </a:ln>
        </p:spPr>
      </p:cxnSp>
      <p:cxnSp>
        <p:nvCxnSpPr>
          <p:cNvPr id="17" name="Line 17"/>
          <p:cNvCxnSpPr/>
          <p:nvPr/>
        </p:nvCxnSpPr>
        <p:spPr>
          <a:xfrm>
            <a:off x="1009650" y="4764913"/>
            <a:ext cx="3181350" cy="0"/>
          </a:xfrm>
          <a:prstGeom prst="line">
            <a:avLst/>
          </a:prstGeom>
          <a:ln w="9525" cap="flat">
            <a:solidFill>
              <a:srgbClr val="E6E8F2"/>
            </a:solidFill>
          </a:ln>
        </p:spPr>
      </p:cxnSp>
      <p:cxnSp>
        <p:nvCxnSpPr>
          <p:cNvPr id="18" name="Line 18"/>
          <p:cNvCxnSpPr/>
          <p:nvPr/>
        </p:nvCxnSpPr>
        <p:spPr>
          <a:xfrm>
            <a:off x="1009650" y="4461700"/>
            <a:ext cx="3181350" cy="0"/>
          </a:xfrm>
          <a:prstGeom prst="line">
            <a:avLst/>
          </a:prstGeom>
          <a:ln w="9525" cap="flat">
            <a:solidFill>
              <a:srgbClr val="E6E8F2"/>
            </a:solidFill>
          </a:ln>
        </p:spPr>
      </p:cxnSp>
      <p:cxnSp>
        <p:nvCxnSpPr>
          <p:cNvPr id="19" name="Line 19"/>
          <p:cNvCxnSpPr/>
          <p:nvPr/>
        </p:nvCxnSpPr>
        <p:spPr>
          <a:xfrm>
            <a:off x="1009650" y="4158488"/>
            <a:ext cx="3181350" cy="0"/>
          </a:xfrm>
          <a:prstGeom prst="line">
            <a:avLst/>
          </a:prstGeom>
          <a:ln w="9525" cap="flat">
            <a:solidFill>
              <a:srgbClr val="E6E8F2"/>
            </a:solidFill>
          </a:ln>
        </p:spPr>
      </p:cxnSp>
      <p:cxnSp>
        <p:nvCxnSpPr>
          <p:cNvPr id="20" name="Line 20"/>
          <p:cNvCxnSpPr/>
          <p:nvPr/>
        </p:nvCxnSpPr>
        <p:spPr>
          <a:xfrm>
            <a:off x="1009650" y="3855275"/>
            <a:ext cx="3181350" cy="0"/>
          </a:xfrm>
          <a:prstGeom prst="line">
            <a:avLst/>
          </a:prstGeom>
          <a:ln w="9525" cap="flat">
            <a:solidFill>
              <a:srgbClr val="E6E8F2"/>
            </a:solidFill>
          </a:ln>
        </p:spPr>
      </p:cxnSp>
      <p:cxnSp>
        <p:nvCxnSpPr>
          <p:cNvPr id="21" name="Line 21"/>
          <p:cNvCxnSpPr/>
          <p:nvPr/>
        </p:nvCxnSpPr>
        <p:spPr>
          <a:xfrm>
            <a:off x="1009650" y="3552063"/>
            <a:ext cx="3181350" cy="0"/>
          </a:xfrm>
          <a:prstGeom prst="line">
            <a:avLst/>
          </a:prstGeom>
          <a:ln w="9525" cap="flat">
            <a:solidFill>
              <a:srgbClr val="E6E8F2"/>
            </a:solidFill>
          </a:ln>
        </p:spPr>
      </p:cxnSp>
      <p:cxnSp>
        <p:nvCxnSpPr>
          <p:cNvPr id="22" name="Line 22"/>
          <p:cNvCxnSpPr/>
          <p:nvPr/>
        </p:nvCxnSpPr>
        <p:spPr>
          <a:xfrm>
            <a:off x="1009650" y="3248850"/>
            <a:ext cx="3181350" cy="0"/>
          </a:xfrm>
          <a:prstGeom prst="line">
            <a:avLst/>
          </a:prstGeom>
          <a:ln w="9525" cap="flat">
            <a:solidFill>
              <a:srgbClr val="E6E8F2"/>
            </a:solidFill>
          </a:ln>
        </p:spPr>
      </p:cxnSp>
      <p:cxnSp>
        <p:nvCxnSpPr>
          <p:cNvPr id="23" name="Line 23"/>
          <p:cNvCxnSpPr/>
          <p:nvPr/>
        </p:nvCxnSpPr>
        <p:spPr>
          <a:xfrm>
            <a:off x="1009650" y="2945638"/>
            <a:ext cx="3181350" cy="0"/>
          </a:xfrm>
          <a:prstGeom prst="line">
            <a:avLst/>
          </a:prstGeom>
          <a:ln w="9525" cap="flat">
            <a:solidFill>
              <a:srgbClr val="E6E8F2"/>
            </a:solidFill>
          </a:ln>
        </p:spPr>
      </p:cxnSp>
      <p:cxnSp>
        <p:nvCxnSpPr>
          <p:cNvPr id="24" name="Line 24"/>
          <p:cNvCxnSpPr/>
          <p:nvPr/>
        </p:nvCxnSpPr>
        <p:spPr>
          <a:xfrm>
            <a:off x="1009650" y="2642426"/>
            <a:ext cx="3181350" cy="0"/>
          </a:xfrm>
          <a:prstGeom prst="line">
            <a:avLst/>
          </a:prstGeom>
          <a:ln w="9525" cap="flat">
            <a:solidFill>
              <a:srgbClr val="E6E8F2"/>
            </a:solidFill>
          </a:ln>
        </p:spPr>
      </p:cxnSp>
      <p:cxnSp>
        <p:nvCxnSpPr>
          <p:cNvPr id="25" name="Line 25"/>
          <p:cNvCxnSpPr/>
          <p:nvPr/>
        </p:nvCxnSpPr>
        <p:spPr>
          <a:xfrm>
            <a:off x="1009650" y="2339213"/>
            <a:ext cx="3181350" cy="0"/>
          </a:xfrm>
          <a:prstGeom prst="line">
            <a:avLst/>
          </a:prstGeom>
          <a:ln w="9525" cap="flat">
            <a:solidFill>
              <a:srgbClr val="E6E8F2"/>
            </a:solidFill>
          </a:ln>
        </p:spPr>
      </p:cxnSp>
      <p:cxnSp>
        <p:nvCxnSpPr>
          <p:cNvPr id="26" name="Line 26"/>
          <p:cNvCxnSpPr/>
          <p:nvPr/>
        </p:nvCxnSpPr>
        <p:spPr>
          <a:xfrm>
            <a:off x="1009650" y="2036000"/>
            <a:ext cx="3181350" cy="0"/>
          </a:xfrm>
          <a:prstGeom prst="line">
            <a:avLst/>
          </a:prstGeom>
          <a:ln w="9525" cap="flat">
            <a:solidFill>
              <a:srgbClr val="E6E8F2"/>
            </a:solidFill>
          </a:ln>
        </p:spPr>
      </p:cxnSp>
      <p:cxnSp>
        <p:nvCxnSpPr>
          <p:cNvPr id="27" name="Line 27"/>
          <p:cNvCxnSpPr/>
          <p:nvPr/>
        </p:nvCxnSpPr>
        <p:spPr>
          <a:xfrm>
            <a:off x="1009650" y="1732788"/>
            <a:ext cx="3181350" cy="0"/>
          </a:xfrm>
          <a:prstGeom prst="line">
            <a:avLst/>
          </a:prstGeom>
          <a:ln w="9525" cap="flat">
            <a:solidFill>
              <a:srgbClr val="E6E8F2"/>
            </a:solidFill>
          </a:ln>
        </p:spPr>
      </p:cxnSp>
      <p:cxnSp>
        <p:nvCxnSpPr>
          <p:cNvPr id="28" name="Line 28"/>
          <p:cNvCxnSpPr/>
          <p:nvPr/>
        </p:nvCxnSpPr>
        <p:spPr>
          <a:xfrm>
            <a:off x="1716617" y="1732788"/>
            <a:ext cx="0" cy="3638550"/>
          </a:xfrm>
          <a:prstGeom prst="line">
            <a:avLst/>
          </a:prstGeom>
          <a:ln w="19050" cap="flat">
            <a:solidFill>
              <a:srgbClr val="5F6272"/>
            </a:solidFill>
          </a:ln>
        </p:spPr>
      </p:cxnSp>
      <p:cxnSp>
        <p:nvCxnSpPr>
          <p:cNvPr id="29" name="Line 29"/>
          <p:cNvCxnSpPr/>
          <p:nvPr/>
        </p:nvCxnSpPr>
        <p:spPr>
          <a:xfrm>
            <a:off x="1009650" y="5068126"/>
            <a:ext cx="3181350" cy="0"/>
          </a:xfrm>
          <a:prstGeom prst="line">
            <a:avLst/>
          </a:prstGeom>
          <a:ln w="19050" cap="flat">
            <a:solidFill>
              <a:srgbClr val="5F6272"/>
            </a:solidFill>
          </a:ln>
        </p:spPr>
      </p:cxnSp>
      <p:sp>
        <p:nvSpPr>
          <p:cNvPr id="30" name="Shape 30"/>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1" name="Shape 31"/>
          <p:cNvSpPr txBox="1"/>
          <p:nvPr/>
        </p:nvSpPr>
        <p:spPr>
          <a:xfrm>
            <a:off x="10888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2" name="Shape 32"/>
          <p:cNvSpPr txBox="1"/>
          <p:nvPr/>
        </p:nvSpPr>
        <p:spPr>
          <a:xfrm>
            <a:off x="14422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17957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214926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250274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2856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32097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35631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39166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442722" y="49766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442722" y="43702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442722" y="37638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442722" y="31574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2550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5" name="Shape 45"/>
          <p:cNvSpPr txBox="1"/>
          <p:nvPr/>
        </p:nvSpPr>
        <p:spPr>
          <a:xfrm>
            <a:off x="442722" y="19445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46" name="Line 46"/>
          <p:cNvCxnSpPr/>
          <p:nvPr/>
        </p:nvCxnSpPr>
        <p:spPr>
          <a:xfrm flipV="1">
            <a:off x="1009650" y="1732788"/>
            <a:ext cx="2710039" cy="3486944"/>
          </a:xfrm>
          <a:prstGeom prst="line">
            <a:avLst/>
          </a:prstGeom>
          <a:ln w="38100" cap="rnd">
            <a:solidFill>
              <a:srgbClr val="4F8A3C"/>
            </a:solidFill>
          </a:ln>
        </p:spPr>
      </p:cxnSp>
      <p:sp>
        <p:nvSpPr>
          <p:cNvPr id="47" name="Shape 47"/>
          <p:cNvSpPr txBox="1"/>
          <p:nvPr/>
        </p:nvSpPr>
        <p:spPr>
          <a:xfrm>
            <a:off x="122794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1</a:t>
            </a:r>
            <a:endParaRPr lang="en-US" sz="1275" dirty="0"/>
          </a:p>
        </p:txBody>
      </p:sp>
      <p:cxnSp>
        <p:nvCxnSpPr>
          <p:cNvPr id="48" name="Line 48"/>
          <p:cNvCxnSpPr/>
          <p:nvPr/>
        </p:nvCxnSpPr>
        <p:spPr>
          <a:xfrm flipV="1">
            <a:off x="1009650" y="3248850"/>
            <a:ext cx="3181350" cy="1364456"/>
          </a:xfrm>
          <a:prstGeom prst="line">
            <a:avLst/>
          </a:prstGeom>
          <a:ln w="38100" cap="rnd">
            <a:solidFill>
              <a:srgbClr val="7A4FC4"/>
            </a:solidFill>
          </a:ln>
        </p:spPr>
      </p:cxnSp>
      <p:sp>
        <p:nvSpPr>
          <p:cNvPr id="49" name="Shape 49"/>
          <p:cNvSpPr txBox="1"/>
          <p:nvPr/>
        </p:nvSpPr>
        <p:spPr>
          <a:xfrm>
            <a:off x="1699260" y="326790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2</a:t>
            </a:r>
            <a:endParaRPr lang="en-US" sz="1275" dirty="0"/>
          </a:p>
        </p:txBody>
      </p:sp>
      <p:cxnSp>
        <p:nvCxnSpPr>
          <p:cNvPr id="50" name="Line 50"/>
          <p:cNvCxnSpPr/>
          <p:nvPr/>
        </p:nvCxnSpPr>
        <p:spPr>
          <a:xfrm flipV="1">
            <a:off x="1009650" y="4044783"/>
            <a:ext cx="3181350" cy="341114"/>
          </a:xfrm>
          <a:prstGeom prst="line">
            <a:avLst/>
          </a:prstGeom>
          <a:ln w="38100" cap="rnd">
            <a:solidFill>
              <a:srgbClr val="16171D"/>
            </a:solidFill>
          </a:ln>
        </p:spPr>
      </p:cxnSp>
      <p:sp>
        <p:nvSpPr>
          <p:cNvPr id="51" name="Shape 51"/>
          <p:cNvSpPr txBox="1"/>
          <p:nvPr/>
        </p:nvSpPr>
        <p:spPr>
          <a:xfrm>
            <a:off x="1699260" y="406383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3</a:t>
            </a:r>
            <a:endParaRPr lang="en-US" sz="1275" dirty="0"/>
          </a:p>
        </p:txBody>
      </p:sp>
      <p:sp>
        <p:nvSpPr>
          <p:cNvPr id="52" name="Shape 52"/>
          <p:cNvSpPr txBox="1"/>
          <p:nvPr/>
        </p:nvSpPr>
        <p:spPr>
          <a:xfrm>
            <a:off x="4686300" y="1618488"/>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−60</a:t>
            </a:r>
            <a:endParaRPr lang="en-US" sz="2325" dirty="0"/>
          </a:p>
        </p:txBody>
      </p:sp>
      <p:sp>
        <p:nvSpPr>
          <p:cNvPr id="53" name="Shape 53"/>
          <p:cNvSpPr txBox="1"/>
          <p:nvPr/>
        </p:nvSpPr>
        <p:spPr>
          <a:xfrm>
            <a:off x="4686300" y="2141982"/>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54" name="Shape 54"/>
          <p:cNvSpPr txBox="1"/>
          <p:nvPr/>
        </p:nvSpPr>
        <p:spPr>
          <a:xfrm>
            <a:off x="4686300" y="2665476"/>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9</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−45</a:t>
            </a:r>
            <a:endParaRPr lang="en-US" sz="2325" dirty="0"/>
          </a:p>
        </p:txBody>
      </p:sp>
      <p:sp>
        <p:nvSpPr>
          <p:cNvPr id="55" name="Shape 55"/>
          <p:cNvSpPr txBox="1"/>
          <p:nvPr/>
        </p:nvSpPr>
        <p:spPr>
          <a:xfrm>
            <a:off x="4686300" y="3188970"/>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have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5), so compare the slopes, </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6" name="Shape 56"/>
          <p:cNvSpPr txBox="1"/>
          <p:nvPr/>
        </p:nvSpPr>
        <p:spPr>
          <a:xfrm>
            <a:off x="4686300" y="3598164"/>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C9561F"/>
                </a:solidFill>
                <a:latin typeface="Cambria"/>
                <a:cs typeface="Cambria"/>
              </a:rPr>
              <a:t xml:space="preserve">1</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4</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3</a:t>
            </a:r>
            <a:r>
              <a:rPr lang="en-US" sz="1575" dirty="0">
                <a:solidFill>
                  <a:srgbClr val="16171D"/>
                </a:solidFill>
                <a:latin typeface="Segoe UI"/>
                <a:cs typeface="Segoe UI"/>
              </a:rPr>
              <a:t xml:space="preserve"> (least steep)</a:t>
            </a:r>
            <a:endParaRPr lang="en-US" sz="1575" dirty="0"/>
          </a:p>
        </p:txBody>
      </p:sp>
      <p:sp>
        <p:nvSpPr>
          <p:cNvPr id="57" name="Shape 57"/>
          <p:cNvSpPr txBox="1"/>
          <p:nvPr/>
        </p:nvSpPr>
        <p:spPr>
          <a:xfrm>
            <a:off x="4686300" y="400735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 </a:t>
            </a:r>
            <a:r>
              <a:rPr lang="en-US" sz="1575" dirty="0" b="1">
                <a:solidFill>
                  <a:srgbClr val="C9561F"/>
                </a:solidFill>
                <a:latin typeface="Cambria"/>
                <a:cs typeface="Cambria"/>
              </a:rPr>
              <a:t xml:space="preserve">3</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1</a:t>
            </a:r>
            <a:r>
              <a:rPr lang="en-US" sz="1575" dirty="0">
                <a:solidFill>
                  <a:srgbClr val="16171D"/>
                </a:solidFill>
                <a:latin typeface="Segoe UI"/>
                <a:cs typeface="Segoe UI"/>
              </a:rPr>
              <a:t xml:space="preserve"> (steepest)</a:t>
            </a:r>
            <a:endParaRPr lang="en-US" sz="1575" dirty="0"/>
          </a:p>
        </p:txBody>
      </p:sp>
      <p:sp>
        <p:nvSpPr>
          <p:cNvPr id="58" name="Shape 58"/>
          <p:cNvSpPr txBox="1"/>
          <p:nvPr/>
        </p:nvSpPr>
        <p:spPr>
          <a:xfrm>
            <a:off x="4686300" y="441655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 </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2</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fade">
                                      <p:cBhvr>
                                        <p:cTn id="4" dur="500"/>
                                        <p:tgtEl>
                                          <p:spTgt spid="55"/>
                                        </p:tgtEl>
                                      </p:cBhvr>
                                    </p:animEffect>
                                    <p:anim calcmode="lin" valueType="num">
                                      <p:cBhvr>
                                        <p:cTn id="5" dur="500" fill="hold"/>
                                        <p:tgtEl>
                                          <p:spTgt spid="55"/>
                                        </p:tgtEl>
                                        <p:attrNameLst>
                                          <p:attrName>ppt_x</p:attrName>
                                        </p:attrNameLst>
                                      </p:cBhvr>
                                      <p:tavLst>
                                        <p:tav tm="0">
                                          <p:val>
                                            <p:strVal val="#ppt_x"/>
                                          </p:val>
                                        </p:tav>
                                        <p:tav tm="100000">
                                          <p:val>
                                            <p:strVal val="#ppt_x"/>
                                          </p:val>
                                        </p:tav>
                                      </p:tavLst>
                                    </p:anim>
                                    <p:anim calcmode="lin" valueType="num">
                                      <p:cBhvr>
                                        <p:cTn id="6" dur="5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500"/>
                                        <p:tgtEl>
                                          <p:spTgt spid="56"/>
                                        </p:tgtEl>
                                      </p:cBhvr>
                                    </p:animEffect>
                                    <p:anim calcmode="lin" valueType="num">
                                      <p:cBhvr>
                                        <p:cTn id="12" dur="500" fill="hold"/>
                                        <p:tgtEl>
                                          <p:spTgt spid="56"/>
                                        </p:tgtEl>
                                        <p:attrNameLst>
                                          <p:attrName>ppt_x</p:attrName>
                                        </p:attrNameLst>
                                      </p:cBhvr>
                                      <p:tavLst>
                                        <p:tav tm="0">
                                          <p:val>
                                            <p:strVal val="#ppt_x"/>
                                          </p:val>
                                        </p:tav>
                                        <p:tav tm="100000">
                                          <p:val>
                                            <p:strVal val="#ppt_x"/>
                                          </p:val>
                                        </p:tav>
                                      </p:tavLst>
                                    </p:anim>
                                    <p:anim calcmode="lin" valueType="num">
                                      <p:cBhvr>
                                        <p:cTn id="13" dur="5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anim calcmode="lin" valueType="num">
                                      <p:cBhvr>
                                        <p:cTn id="19" dur="500" fill="hold"/>
                                        <p:tgtEl>
                                          <p:spTgt spid="57"/>
                                        </p:tgtEl>
                                        <p:attrNameLst>
                                          <p:attrName>ppt_x</p:attrName>
                                        </p:attrNameLst>
                                      </p:cBhvr>
                                      <p:tavLst>
                                        <p:tav tm="0">
                                          <p:val>
                                            <p:strVal val="#ppt_x"/>
                                          </p:val>
                                        </p:tav>
                                        <p:tav tm="100000">
                                          <p:val>
                                            <p:strVal val="#ppt_x"/>
                                          </p:val>
                                        </p:tav>
                                      </p:tavLst>
                                    </p:anim>
                                    <p:anim calcmode="lin" valueType="num">
                                      <p:cBhvr>
                                        <p:cTn id="20" dur="5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500"/>
                                        <p:tgtEl>
                                          <p:spTgt spid="58"/>
                                        </p:tgtEl>
                                      </p:cBhvr>
                                    </p:animEffect>
                                    <p:anim calcmode="lin" valueType="num">
                                      <p:cBhvr>
                                        <p:cTn id="26" dur="500" fill="hold"/>
                                        <p:tgtEl>
                                          <p:spTgt spid="58"/>
                                        </p:tgtEl>
                                        <p:attrNameLst>
                                          <p:attrName>ppt_x</p:attrName>
                                        </p:attrNameLst>
                                      </p:cBhvr>
                                      <p:tavLst>
                                        <p:tav tm="0">
                                          <p:val>
                                            <p:strVal val="#ppt_x"/>
                                          </p:val>
                                        </p:tav>
                                        <p:tav tm="100000">
                                          <p:val>
                                            <p:strVal val="#ppt_x"/>
                                          </p:val>
                                        </p:tav>
                                      </p:tavLst>
                                    </p:anim>
                                    <p:anim calcmode="lin" valueType="num">
                                      <p:cBhvr>
                                        <p:cTn id="27"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9–10 · SE pp. 229–230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in standard form, then graph with the intercepts</a:t>
            </a:r>
            <a:endParaRPr lang="en-US" sz="3450" dirty="0"/>
          </a:p>
        </p:txBody>
      </p:sp>
      <p:sp>
        <p:nvSpPr>
          <p:cNvPr id="4" name="Shape 4"/>
          <p:cNvSpPr txBox="1"/>
          <p:nvPr/>
        </p:nvSpPr>
        <p:spPr>
          <a:xfrm>
            <a:off x="685800" y="2144268"/>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9.</a:t>
            </a:r>
            <a:r>
              <a:rPr lang="en-US" sz="1575" dirty="0">
                <a:solidFill>
                  <a:srgbClr val="16171D"/>
                </a:solidFill>
                <a:latin typeface="Segoe UI"/>
                <a:cs typeface="Segoe UI"/>
              </a:rPr>
              <a:t xml:space="preserve"> Nia burns 20 calories per 5 minutes of jump rope and 50 per 5 minutes of running: 500 calories in all.</a:t>
            </a:r>
            <a:endParaRPr lang="en-US" sz="1575" dirty="0"/>
          </a:p>
        </p:txBody>
      </p:sp>
      <p:sp>
        <p:nvSpPr>
          <p:cNvPr id="5" name="Shape 5"/>
          <p:cNvSpPr txBox="1"/>
          <p:nvPr/>
        </p:nvSpPr>
        <p:spPr>
          <a:xfrm>
            <a:off x="685800" y="299542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5-minute blocks of jump rope,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5-minute blocks of running</a:t>
            </a:r>
            <a:endParaRPr lang="en-US" sz="1575" dirty="0"/>
          </a:p>
        </p:txBody>
      </p:sp>
      <p:sp>
        <p:nvSpPr>
          <p:cNvPr id="6" name="Shape 6"/>
          <p:cNvSpPr txBox="1"/>
          <p:nvPr/>
        </p:nvSpPr>
        <p:spPr>
          <a:xfrm>
            <a:off x="685800" y="360654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+ 50</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500</a:t>
            </a:r>
            <a:endParaRPr lang="en-US" sz="2325" dirty="0"/>
          </a:p>
        </p:txBody>
      </p:sp>
      <p:sp>
        <p:nvSpPr>
          <p:cNvPr id="7" name="Shape 7"/>
          <p:cNvSpPr/>
          <p:nvPr/>
        </p:nvSpPr>
        <p:spPr>
          <a:xfrm>
            <a:off x="685800" y="420166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 name="Line 8"/>
          <p:cNvCxnSpPr/>
          <p:nvPr/>
        </p:nvCxnSpPr>
        <p:spPr>
          <a:xfrm>
            <a:off x="1009650" y="4315968"/>
            <a:ext cx="0" cy="2019300"/>
          </a:xfrm>
          <a:prstGeom prst="line">
            <a:avLst/>
          </a:prstGeom>
          <a:ln w="9525" cap="flat">
            <a:solidFill>
              <a:srgbClr val="E6E8F2"/>
            </a:solidFill>
          </a:ln>
        </p:spPr>
      </p:cxnSp>
      <p:cxnSp>
        <p:nvCxnSpPr>
          <p:cNvPr id="9" name="Line 9"/>
          <p:cNvCxnSpPr/>
          <p:nvPr/>
        </p:nvCxnSpPr>
        <p:spPr>
          <a:xfrm>
            <a:off x="1202871" y="4315968"/>
            <a:ext cx="0" cy="2019300"/>
          </a:xfrm>
          <a:prstGeom prst="line">
            <a:avLst/>
          </a:prstGeom>
          <a:ln w="9525" cap="flat">
            <a:solidFill>
              <a:srgbClr val="E6E8F2"/>
            </a:solidFill>
          </a:ln>
        </p:spPr>
      </p:cxnSp>
      <p:cxnSp>
        <p:nvCxnSpPr>
          <p:cNvPr id="10" name="Line 10"/>
          <p:cNvCxnSpPr/>
          <p:nvPr/>
        </p:nvCxnSpPr>
        <p:spPr>
          <a:xfrm>
            <a:off x="1396093" y="4315968"/>
            <a:ext cx="0" cy="2019300"/>
          </a:xfrm>
          <a:prstGeom prst="line">
            <a:avLst/>
          </a:prstGeom>
          <a:ln w="9525" cap="flat">
            <a:solidFill>
              <a:srgbClr val="E6E8F2"/>
            </a:solidFill>
          </a:ln>
        </p:spPr>
      </p:cxnSp>
      <p:cxnSp>
        <p:nvCxnSpPr>
          <p:cNvPr id="11" name="Line 11"/>
          <p:cNvCxnSpPr/>
          <p:nvPr/>
        </p:nvCxnSpPr>
        <p:spPr>
          <a:xfrm>
            <a:off x="1589314" y="4315968"/>
            <a:ext cx="0" cy="2019300"/>
          </a:xfrm>
          <a:prstGeom prst="line">
            <a:avLst/>
          </a:prstGeom>
          <a:ln w="9525" cap="flat">
            <a:solidFill>
              <a:srgbClr val="E6E8F2"/>
            </a:solidFill>
          </a:ln>
        </p:spPr>
      </p:cxnSp>
      <p:cxnSp>
        <p:nvCxnSpPr>
          <p:cNvPr id="12" name="Line 12"/>
          <p:cNvCxnSpPr/>
          <p:nvPr/>
        </p:nvCxnSpPr>
        <p:spPr>
          <a:xfrm>
            <a:off x="1782536" y="4315968"/>
            <a:ext cx="0" cy="2019300"/>
          </a:xfrm>
          <a:prstGeom prst="line">
            <a:avLst/>
          </a:prstGeom>
          <a:ln w="9525" cap="flat">
            <a:solidFill>
              <a:srgbClr val="E6E8F2"/>
            </a:solidFill>
          </a:ln>
        </p:spPr>
      </p:cxnSp>
      <p:cxnSp>
        <p:nvCxnSpPr>
          <p:cNvPr id="13" name="Line 13"/>
          <p:cNvCxnSpPr/>
          <p:nvPr/>
        </p:nvCxnSpPr>
        <p:spPr>
          <a:xfrm>
            <a:off x="1975757" y="4315968"/>
            <a:ext cx="0" cy="2019300"/>
          </a:xfrm>
          <a:prstGeom prst="line">
            <a:avLst/>
          </a:prstGeom>
          <a:ln w="9525" cap="flat">
            <a:solidFill>
              <a:srgbClr val="E6E8F2"/>
            </a:solidFill>
          </a:ln>
        </p:spPr>
      </p:cxnSp>
      <p:cxnSp>
        <p:nvCxnSpPr>
          <p:cNvPr id="14" name="Line 14"/>
          <p:cNvCxnSpPr/>
          <p:nvPr/>
        </p:nvCxnSpPr>
        <p:spPr>
          <a:xfrm>
            <a:off x="2168979" y="4315968"/>
            <a:ext cx="0" cy="2019300"/>
          </a:xfrm>
          <a:prstGeom prst="line">
            <a:avLst/>
          </a:prstGeom>
          <a:ln w="9525" cap="flat">
            <a:solidFill>
              <a:srgbClr val="E6E8F2"/>
            </a:solidFill>
          </a:ln>
        </p:spPr>
      </p:cxnSp>
      <p:cxnSp>
        <p:nvCxnSpPr>
          <p:cNvPr id="15" name="Line 15"/>
          <p:cNvCxnSpPr/>
          <p:nvPr/>
        </p:nvCxnSpPr>
        <p:spPr>
          <a:xfrm>
            <a:off x="2362200" y="4315968"/>
            <a:ext cx="0" cy="2019300"/>
          </a:xfrm>
          <a:prstGeom prst="line">
            <a:avLst/>
          </a:prstGeom>
          <a:ln w="9525" cap="flat">
            <a:solidFill>
              <a:srgbClr val="E6E8F2"/>
            </a:solidFill>
          </a:ln>
        </p:spPr>
      </p:cxnSp>
      <p:cxnSp>
        <p:nvCxnSpPr>
          <p:cNvPr id="16" name="Line 16"/>
          <p:cNvCxnSpPr/>
          <p:nvPr/>
        </p:nvCxnSpPr>
        <p:spPr>
          <a:xfrm>
            <a:off x="2555421" y="4315968"/>
            <a:ext cx="0" cy="2019300"/>
          </a:xfrm>
          <a:prstGeom prst="line">
            <a:avLst/>
          </a:prstGeom>
          <a:ln w="9525" cap="flat">
            <a:solidFill>
              <a:srgbClr val="E6E8F2"/>
            </a:solidFill>
          </a:ln>
        </p:spPr>
      </p:cxnSp>
      <p:cxnSp>
        <p:nvCxnSpPr>
          <p:cNvPr id="17" name="Line 17"/>
          <p:cNvCxnSpPr/>
          <p:nvPr/>
        </p:nvCxnSpPr>
        <p:spPr>
          <a:xfrm>
            <a:off x="2748643" y="4315968"/>
            <a:ext cx="0" cy="2019300"/>
          </a:xfrm>
          <a:prstGeom prst="line">
            <a:avLst/>
          </a:prstGeom>
          <a:ln w="9525" cap="flat">
            <a:solidFill>
              <a:srgbClr val="E6E8F2"/>
            </a:solidFill>
          </a:ln>
        </p:spPr>
      </p:cxnSp>
      <p:cxnSp>
        <p:nvCxnSpPr>
          <p:cNvPr id="18" name="Line 18"/>
          <p:cNvCxnSpPr/>
          <p:nvPr/>
        </p:nvCxnSpPr>
        <p:spPr>
          <a:xfrm>
            <a:off x="2941864" y="4315968"/>
            <a:ext cx="0" cy="2019300"/>
          </a:xfrm>
          <a:prstGeom prst="line">
            <a:avLst/>
          </a:prstGeom>
          <a:ln w="9525" cap="flat">
            <a:solidFill>
              <a:srgbClr val="E6E8F2"/>
            </a:solidFill>
          </a:ln>
        </p:spPr>
      </p:cxnSp>
      <p:cxnSp>
        <p:nvCxnSpPr>
          <p:cNvPr id="19" name="Line 19"/>
          <p:cNvCxnSpPr/>
          <p:nvPr/>
        </p:nvCxnSpPr>
        <p:spPr>
          <a:xfrm>
            <a:off x="3135086" y="4315968"/>
            <a:ext cx="0" cy="2019300"/>
          </a:xfrm>
          <a:prstGeom prst="line">
            <a:avLst/>
          </a:prstGeom>
          <a:ln w="9525" cap="flat">
            <a:solidFill>
              <a:srgbClr val="E6E8F2"/>
            </a:solidFill>
          </a:ln>
        </p:spPr>
      </p:cxnSp>
      <p:cxnSp>
        <p:nvCxnSpPr>
          <p:cNvPr id="20" name="Line 20"/>
          <p:cNvCxnSpPr/>
          <p:nvPr/>
        </p:nvCxnSpPr>
        <p:spPr>
          <a:xfrm>
            <a:off x="3328307" y="4315968"/>
            <a:ext cx="0" cy="2019300"/>
          </a:xfrm>
          <a:prstGeom prst="line">
            <a:avLst/>
          </a:prstGeom>
          <a:ln w="9525" cap="flat">
            <a:solidFill>
              <a:srgbClr val="E6E8F2"/>
            </a:solidFill>
          </a:ln>
        </p:spPr>
      </p:cxnSp>
      <p:cxnSp>
        <p:nvCxnSpPr>
          <p:cNvPr id="21" name="Line 21"/>
          <p:cNvCxnSpPr/>
          <p:nvPr/>
        </p:nvCxnSpPr>
        <p:spPr>
          <a:xfrm>
            <a:off x="3521529" y="4315968"/>
            <a:ext cx="0" cy="2019300"/>
          </a:xfrm>
          <a:prstGeom prst="line">
            <a:avLst/>
          </a:prstGeom>
          <a:ln w="9525" cap="flat">
            <a:solidFill>
              <a:srgbClr val="E6E8F2"/>
            </a:solidFill>
          </a:ln>
        </p:spPr>
      </p:cxnSp>
      <p:cxnSp>
        <p:nvCxnSpPr>
          <p:cNvPr id="22" name="Line 22"/>
          <p:cNvCxnSpPr/>
          <p:nvPr/>
        </p:nvCxnSpPr>
        <p:spPr>
          <a:xfrm>
            <a:off x="3714750" y="4315968"/>
            <a:ext cx="0" cy="2019300"/>
          </a:xfrm>
          <a:prstGeom prst="line">
            <a:avLst/>
          </a:prstGeom>
          <a:ln w="9525" cap="flat">
            <a:solidFill>
              <a:srgbClr val="E6E8F2"/>
            </a:solidFill>
          </a:ln>
        </p:spPr>
      </p:cxnSp>
      <p:cxnSp>
        <p:nvCxnSpPr>
          <p:cNvPr id="23" name="Line 23"/>
          <p:cNvCxnSpPr/>
          <p:nvPr/>
        </p:nvCxnSpPr>
        <p:spPr>
          <a:xfrm>
            <a:off x="1009650" y="6335268"/>
            <a:ext cx="2705100" cy="0"/>
          </a:xfrm>
          <a:prstGeom prst="line">
            <a:avLst/>
          </a:prstGeom>
          <a:ln w="9525" cap="flat">
            <a:solidFill>
              <a:srgbClr val="E6E8F2"/>
            </a:solidFill>
          </a:ln>
        </p:spPr>
      </p:cxnSp>
      <p:cxnSp>
        <p:nvCxnSpPr>
          <p:cNvPr id="24" name="Line 24"/>
          <p:cNvCxnSpPr/>
          <p:nvPr/>
        </p:nvCxnSpPr>
        <p:spPr>
          <a:xfrm>
            <a:off x="1009650" y="6082856"/>
            <a:ext cx="2705100" cy="0"/>
          </a:xfrm>
          <a:prstGeom prst="line">
            <a:avLst/>
          </a:prstGeom>
          <a:ln w="9525" cap="flat">
            <a:solidFill>
              <a:srgbClr val="E6E8F2"/>
            </a:solidFill>
          </a:ln>
        </p:spPr>
      </p:cxnSp>
      <p:cxnSp>
        <p:nvCxnSpPr>
          <p:cNvPr id="25" name="Line 25"/>
          <p:cNvCxnSpPr/>
          <p:nvPr/>
        </p:nvCxnSpPr>
        <p:spPr>
          <a:xfrm>
            <a:off x="1009650" y="5830443"/>
            <a:ext cx="2705100" cy="0"/>
          </a:xfrm>
          <a:prstGeom prst="line">
            <a:avLst/>
          </a:prstGeom>
          <a:ln w="9525" cap="flat">
            <a:solidFill>
              <a:srgbClr val="E6E8F2"/>
            </a:solidFill>
          </a:ln>
        </p:spPr>
      </p:cxnSp>
      <p:cxnSp>
        <p:nvCxnSpPr>
          <p:cNvPr id="26" name="Line 26"/>
          <p:cNvCxnSpPr/>
          <p:nvPr/>
        </p:nvCxnSpPr>
        <p:spPr>
          <a:xfrm>
            <a:off x="1009650" y="5578030"/>
            <a:ext cx="2705100" cy="0"/>
          </a:xfrm>
          <a:prstGeom prst="line">
            <a:avLst/>
          </a:prstGeom>
          <a:ln w="9525" cap="flat">
            <a:solidFill>
              <a:srgbClr val="E6E8F2"/>
            </a:solidFill>
          </a:ln>
        </p:spPr>
      </p:cxnSp>
      <p:cxnSp>
        <p:nvCxnSpPr>
          <p:cNvPr id="27" name="Line 27"/>
          <p:cNvCxnSpPr/>
          <p:nvPr/>
        </p:nvCxnSpPr>
        <p:spPr>
          <a:xfrm>
            <a:off x="1009650" y="5325618"/>
            <a:ext cx="2705100" cy="0"/>
          </a:xfrm>
          <a:prstGeom prst="line">
            <a:avLst/>
          </a:prstGeom>
          <a:ln w="9525" cap="flat">
            <a:solidFill>
              <a:srgbClr val="E6E8F2"/>
            </a:solidFill>
          </a:ln>
        </p:spPr>
      </p:cxnSp>
      <p:cxnSp>
        <p:nvCxnSpPr>
          <p:cNvPr id="28" name="Line 28"/>
          <p:cNvCxnSpPr/>
          <p:nvPr/>
        </p:nvCxnSpPr>
        <p:spPr>
          <a:xfrm>
            <a:off x="1009650" y="5073206"/>
            <a:ext cx="2705100" cy="0"/>
          </a:xfrm>
          <a:prstGeom prst="line">
            <a:avLst/>
          </a:prstGeom>
          <a:ln w="9525" cap="flat">
            <a:solidFill>
              <a:srgbClr val="E6E8F2"/>
            </a:solidFill>
          </a:ln>
        </p:spPr>
      </p:cxnSp>
      <p:cxnSp>
        <p:nvCxnSpPr>
          <p:cNvPr id="29" name="Line 29"/>
          <p:cNvCxnSpPr/>
          <p:nvPr/>
        </p:nvCxnSpPr>
        <p:spPr>
          <a:xfrm>
            <a:off x="1009650" y="4820793"/>
            <a:ext cx="2705100" cy="0"/>
          </a:xfrm>
          <a:prstGeom prst="line">
            <a:avLst/>
          </a:prstGeom>
          <a:ln w="9525" cap="flat">
            <a:solidFill>
              <a:srgbClr val="E6E8F2"/>
            </a:solidFill>
          </a:ln>
        </p:spPr>
      </p:cxnSp>
      <p:cxnSp>
        <p:nvCxnSpPr>
          <p:cNvPr id="30" name="Line 30"/>
          <p:cNvCxnSpPr/>
          <p:nvPr/>
        </p:nvCxnSpPr>
        <p:spPr>
          <a:xfrm>
            <a:off x="1009650" y="4568380"/>
            <a:ext cx="2705100" cy="0"/>
          </a:xfrm>
          <a:prstGeom prst="line">
            <a:avLst/>
          </a:prstGeom>
          <a:ln w="9525" cap="flat">
            <a:solidFill>
              <a:srgbClr val="E6E8F2"/>
            </a:solidFill>
          </a:ln>
        </p:spPr>
      </p:cxnSp>
      <p:cxnSp>
        <p:nvCxnSpPr>
          <p:cNvPr id="31" name="Line 31"/>
          <p:cNvCxnSpPr/>
          <p:nvPr/>
        </p:nvCxnSpPr>
        <p:spPr>
          <a:xfrm>
            <a:off x="1009650" y="4315968"/>
            <a:ext cx="2705100" cy="0"/>
          </a:xfrm>
          <a:prstGeom prst="line">
            <a:avLst/>
          </a:prstGeom>
          <a:ln w="9525" cap="flat">
            <a:solidFill>
              <a:srgbClr val="E6E8F2"/>
            </a:solidFill>
          </a:ln>
        </p:spPr>
      </p:cxnSp>
      <p:cxnSp>
        <p:nvCxnSpPr>
          <p:cNvPr id="32" name="Line 32"/>
          <p:cNvCxnSpPr/>
          <p:nvPr/>
        </p:nvCxnSpPr>
        <p:spPr>
          <a:xfrm>
            <a:off x="1009650" y="4315968"/>
            <a:ext cx="0" cy="2019300"/>
          </a:xfrm>
          <a:prstGeom prst="line">
            <a:avLst/>
          </a:prstGeom>
          <a:ln w="19050" cap="flat">
            <a:solidFill>
              <a:srgbClr val="5F6272"/>
            </a:solidFill>
          </a:ln>
        </p:spPr>
      </p:cxnSp>
      <p:cxnSp>
        <p:nvCxnSpPr>
          <p:cNvPr id="33" name="Line 33"/>
          <p:cNvCxnSpPr/>
          <p:nvPr/>
        </p:nvCxnSpPr>
        <p:spPr>
          <a:xfrm>
            <a:off x="1009650" y="6335268"/>
            <a:ext cx="2705100" cy="0"/>
          </a:xfrm>
          <a:prstGeom prst="line">
            <a:avLst/>
          </a:prstGeom>
          <a:ln w="19050" cap="flat">
            <a:solidFill>
              <a:srgbClr val="5F6272"/>
            </a:solidFill>
          </a:ln>
        </p:spPr>
      </p:cxnSp>
      <p:sp>
        <p:nvSpPr>
          <p:cNvPr id="34" name="Shape 34"/>
          <p:cNvSpPr txBox="1"/>
          <p:nvPr/>
        </p:nvSpPr>
        <p:spPr>
          <a:xfrm>
            <a:off x="7353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1121773"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1508216"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7" name="Shape 37"/>
          <p:cNvSpPr txBox="1"/>
          <p:nvPr/>
        </p:nvSpPr>
        <p:spPr>
          <a:xfrm>
            <a:off x="1894659"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8" name="Shape 38"/>
          <p:cNvSpPr txBox="1"/>
          <p:nvPr/>
        </p:nvSpPr>
        <p:spPr>
          <a:xfrm>
            <a:off x="2281101"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39" name="Shape 39"/>
          <p:cNvSpPr txBox="1"/>
          <p:nvPr/>
        </p:nvSpPr>
        <p:spPr>
          <a:xfrm>
            <a:off x="2667544"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40" name="Shape 40"/>
          <p:cNvSpPr txBox="1"/>
          <p:nvPr/>
        </p:nvSpPr>
        <p:spPr>
          <a:xfrm>
            <a:off x="3053987"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41" name="Shape 41"/>
          <p:cNvSpPr txBox="1"/>
          <p:nvPr/>
        </p:nvSpPr>
        <p:spPr>
          <a:xfrm>
            <a:off x="34404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28</a:t>
            </a:r>
            <a:endParaRPr lang="en-US" sz="975" dirty="0"/>
          </a:p>
        </p:txBody>
      </p:sp>
      <p:sp>
        <p:nvSpPr>
          <p:cNvPr id="42" name="Shape 42"/>
          <p:cNvSpPr txBox="1"/>
          <p:nvPr/>
        </p:nvSpPr>
        <p:spPr>
          <a:xfrm>
            <a:off x="442722" y="6243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442722" y="5739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442722" y="5234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442722" y="47293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442722" y="42245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7" name="Shape 47"/>
          <p:cNvSpPr/>
          <p:nvPr/>
        </p:nvSpPr>
        <p:spPr>
          <a:xfrm>
            <a:off x="3372530" y="628288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3510643" y="608761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(25, 0)</a:t>
            </a:r>
            <a:endParaRPr lang="en-US" sz="1125" dirty="0"/>
          </a:p>
        </p:txBody>
      </p:sp>
      <p:sp>
        <p:nvSpPr>
          <p:cNvPr id="49" name="Shape 49"/>
          <p:cNvSpPr/>
          <p:nvPr/>
        </p:nvSpPr>
        <p:spPr>
          <a:xfrm>
            <a:off x="957262" y="50208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1095375" y="482555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cxnSp>
        <p:nvCxnSpPr>
          <p:cNvPr id="51" name="Line 51"/>
          <p:cNvCxnSpPr/>
          <p:nvPr/>
        </p:nvCxnSpPr>
        <p:spPr>
          <a:xfrm>
            <a:off x="1009650" y="5073206"/>
            <a:ext cx="2415268" cy="1262062"/>
          </a:xfrm>
          <a:prstGeom prst="line">
            <a:avLst/>
          </a:prstGeom>
          <a:ln w="38100" cap="rnd">
            <a:solidFill>
              <a:srgbClr val="16171D"/>
            </a:solidFill>
          </a:ln>
        </p:spPr>
      </p:cxnSp>
      <p:sp>
        <p:nvSpPr>
          <p:cNvPr id="52" name="Shape 52"/>
          <p:cNvSpPr txBox="1"/>
          <p:nvPr/>
        </p:nvSpPr>
        <p:spPr>
          <a:xfrm>
            <a:off x="6267298" y="2144268"/>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10.</a:t>
            </a:r>
            <a:r>
              <a:rPr lang="en-US" sz="1575" dirty="0">
                <a:solidFill>
                  <a:srgbClr val="16171D"/>
                </a:solidFill>
                <a:latin typeface="Segoe UI"/>
                <a:cs typeface="Segoe UI"/>
              </a:rPr>
              <a:t xml:space="preserve"> Show choir tickets: $5 per student, $6 per adult, $270 collected.</a:t>
            </a:r>
            <a:endParaRPr lang="en-US" sz="1575" dirty="0"/>
          </a:p>
        </p:txBody>
      </p:sp>
      <p:sp>
        <p:nvSpPr>
          <p:cNvPr id="53" name="Shape 53"/>
          <p:cNvSpPr txBox="1"/>
          <p:nvPr/>
        </p:nvSpPr>
        <p:spPr>
          <a:xfrm>
            <a:off x="6267298" y="2755392"/>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student tickets,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adult tickets</a:t>
            </a:r>
            <a:endParaRPr lang="en-US" sz="1575" dirty="0"/>
          </a:p>
        </p:txBody>
      </p:sp>
      <p:sp>
        <p:nvSpPr>
          <p:cNvPr id="54" name="Shape 54"/>
          <p:cNvSpPr txBox="1"/>
          <p:nvPr/>
        </p:nvSpPr>
        <p:spPr>
          <a:xfrm>
            <a:off x="6267298" y="3126486"/>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55" name="Shape 55"/>
          <p:cNvSpPr/>
          <p:nvPr/>
        </p:nvSpPr>
        <p:spPr>
          <a:xfrm>
            <a:off x="6267298" y="372160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6591148" y="3835908"/>
            <a:ext cx="0" cy="2019300"/>
          </a:xfrm>
          <a:prstGeom prst="line">
            <a:avLst/>
          </a:prstGeom>
          <a:ln w="9525" cap="flat">
            <a:solidFill>
              <a:srgbClr val="E6E8F2"/>
            </a:solidFill>
          </a:ln>
        </p:spPr>
      </p:cxnSp>
      <p:cxnSp>
        <p:nvCxnSpPr>
          <p:cNvPr id="57" name="Line 57"/>
          <p:cNvCxnSpPr/>
          <p:nvPr/>
        </p:nvCxnSpPr>
        <p:spPr>
          <a:xfrm>
            <a:off x="6816573" y="3835908"/>
            <a:ext cx="0" cy="2019300"/>
          </a:xfrm>
          <a:prstGeom prst="line">
            <a:avLst/>
          </a:prstGeom>
          <a:ln w="9525" cap="flat">
            <a:solidFill>
              <a:srgbClr val="E6E8F2"/>
            </a:solidFill>
          </a:ln>
        </p:spPr>
      </p:cxnSp>
      <p:cxnSp>
        <p:nvCxnSpPr>
          <p:cNvPr id="58" name="Line 58"/>
          <p:cNvCxnSpPr/>
          <p:nvPr/>
        </p:nvCxnSpPr>
        <p:spPr>
          <a:xfrm>
            <a:off x="7041998" y="3835908"/>
            <a:ext cx="0" cy="2019300"/>
          </a:xfrm>
          <a:prstGeom prst="line">
            <a:avLst/>
          </a:prstGeom>
          <a:ln w="9525" cap="flat">
            <a:solidFill>
              <a:srgbClr val="E6E8F2"/>
            </a:solidFill>
          </a:ln>
        </p:spPr>
      </p:cxnSp>
      <p:cxnSp>
        <p:nvCxnSpPr>
          <p:cNvPr id="59" name="Line 59"/>
          <p:cNvCxnSpPr/>
          <p:nvPr/>
        </p:nvCxnSpPr>
        <p:spPr>
          <a:xfrm>
            <a:off x="7267423" y="3835908"/>
            <a:ext cx="0" cy="2019300"/>
          </a:xfrm>
          <a:prstGeom prst="line">
            <a:avLst/>
          </a:prstGeom>
          <a:ln w="9525" cap="flat">
            <a:solidFill>
              <a:srgbClr val="E6E8F2"/>
            </a:solidFill>
          </a:ln>
        </p:spPr>
      </p:cxnSp>
      <p:cxnSp>
        <p:nvCxnSpPr>
          <p:cNvPr id="60" name="Line 60"/>
          <p:cNvCxnSpPr/>
          <p:nvPr/>
        </p:nvCxnSpPr>
        <p:spPr>
          <a:xfrm>
            <a:off x="7492848" y="3835908"/>
            <a:ext cx="0" cy="2019300"/>
          </a:xfrm>
          <a:prstGeom prst="line">
            <a:avLst/>
          </a:prstGeom>
          <a:ln w="9525" cap="flat">
            <a:solidFill>
              <a:srgbClr val="E6E8F2"/>
            </a:solidFill>
          </a:ln>
        </p:spPr>
      </p:cxnSp>
      <p:cxnSp>
        <p:nvCxnSpPr>
          <p:cNvPr id="61" name="Line 61"/>
          <p:cNvCxnSpPr/>
          <p:nvPr/>
        </p:nvCxnSpPr>
        <p:spPr>
          <a:xfrm>
            <a:off x="7718273" y="3835908"/>
            <a:ext cx="0" cy="2019300"/>
          </a:xfrm>
          <a:prstGeom prst="line">
            <a:avLst/>
          </a:prstGeom>
          <a:ln w="9525" cap="flat">
            <a:solidFill>
              <a:srgbClr val="E6E8F2"/>
            </a:solidFill>
          </a:ln>
        </p:spPr>
      </p:cxnSp>
      <p:cxnSp>
        <p:nvCxnSpPr>
          <p:cNvPr id="62" name="Line 62"/>
          <p:cNvCxnSpPr/>
          <p:nvPr/>
        </p:nvCxnSpPr>
        <p:spPr>
          <a:xfrm>
            <a:off x="7943698" y="3835908"/>
            <a:ext cx="0" cy="2019300"/>
          </a:xfrm>
          <a:prstGeom prst="line">
            <a:avLst/>
          </a:prstGeom>
          <a:ln w="9525" cap="flat">
            <a:solidFill>
              <a:srgbClr val="E6E8F2"/>
            </a:solidFill>
          </a:ln>
        </p:spPr>
      </p:cxnSp>
      <p:cxnSp>
        <p:nvCxnSpPr>
          <p:cNvPr id="63" name="Line 63"/>
          <p:cNvCxnSpPr/>
          <p:nvPr/>
        </p:nvCxnSpPr>
        <p:spPr>
          <a:xfrm>
            <a:off x="8169123" y="3835908"/>
            <a:ext cx="0" cy="2019300"/>
          </a:xfrm>
          <a:prstGeom prst="line">
            <a:avLst/>
          </a:prstGeom>
          <a:ln w="9525" cap="flat">
            <a:solidFill>
              <a:srgbClr val="E6E8F2"/>
            </a:solidFill>
          </a:ln>
        </p:spPr>
      </p:cxnSp>
      <p:cxnSp>
        <p:nvCxnSpPr>
          <p:cNvPr id="64" name="Line 64"/>
          <p:cNvCxnSpPr/>
          <p:nvPr/>
        </p:nvCxnSpPr>
        <p:spPr>
          <a:xfrm>
            <a:off x="8394548" y="3835908"/>
            <a:ext cx="0" cy="2019300"/>
          </a:xfrm>
          <a:prstGeom prst="line">
            <a:avLst/>
          </a:prstGeom>
          <a:ln w="9525" cap="flat">
            <a:solidFill>
              <a:srgbClr val="E6E8F2"/>
            </a:solidFill>
          </a:ln>
        </p:spPr>
      </p:cxnSp>
      <p:cxnSp>
        <p:nvCxnSpPr>
          <p:cNvPr id="65" name="Line 65"/>
          <p:cNvCxnSpPr/>
          <p:nvPr/>
        </p:nvCxnSpPr>
        <p:spPr>
          <a:xfrm>
            <a:off x="8619973" y="3835908"/>
            <a:ext cx="0" cy="2019300"/>
          </a:xfrm>
          <a:prstGeom prst="line">
            <a:avLst/>
          </a:prstGeom>
          <a:ln w="9525" cap="flat">
            <a:solidFill>
              <a:srgbClr val="E6E8F2"/>
            </a:solidFill>
          </a:ln>
        </p:spPr>
      </p:cxnSp>
      <p:cxnSp>
        <p:nvCxnSpPr>
          <p:cNvPr id="66" name="Line 66"/>
          <p:cNvCxnSpPr/>
          <p:nvPr/>
        </p:nvCxnSpPr>
        <p:spPr>
          <a:xfrm>
            <a:off x="8845398" y="3835908"/>
            <a:ext cx="0" cy="2019300"/>
          </a:xfrm>
          <a:prstGeom prst="line">
            <a:avLst/>
          </a:prstGeom>
          <a:ln w="9525" cap="flat">
            <a:solidFill>
              <a:srgbClr val="E6E8F2"/>
            </a:solidFill>
          </a:ln>
        </p:spPr>
      </p:cxnSp>
      <p:cxnSp>
        <p:nvCxnSpPr>
          <p:cNvPr id="67" name="Line 67"/>
          <p:cNvCxnSpPr/>
          <p:nvPr/>
        </p:nvCxnSpPr>
        <p:spPr>
          <a:xfrm>
            <a:off x="9070823" y="3835908"/>
            <a:ext cx="0" cy="2019300"/>
          </a:xfrm>
          <a:prstGeom prst="line">
            <a:avLst/>
          </a:prstGeom>
          <a:ln w="9525" cap="flat">
            <a:solidFill>
              <a:srgbClr val="E6E8F2"/>
            </a:solidFill>
          </a:ln>
        </p:spPr>
      </p:cxnSp>
      <p:cxnSp>
        <p:nvCxnSpPr>
          <p:cNvPr id="68" name="Line 68"/>
          <p:cNvCxnSpPr/>
          <p:nvPr/>
        </p:nvCxnSpPr>
        <p:spPr>
          <a:xfrm>
            <a:off x="9296248" y="3835908"/>
            <a:ext cx="0" cy="2019300"/>
          </a:xfrm>
          <a:prstGeom prst="line">
            <a:avLst/>
          </a:prstGeom>
          <a:ln w="9525" cap="flat">
            <a:solidFill>
              <a:srgbClr val="E6E8F2"/>
            </a:solidFill>
          </a:ln>
        </p:spPr>
      </p:cxnSp>
      <p:cxnSp>
        <p:nvCxnSpPr>
          <p:cNvPr id="69" name="Line 69"/>
          <p:cNvCxnSpPr/>
          <p:nvPr/>
        </p:nvCxnSpPr>
        <p:spPr>
          <a:xfrm>
            <a:off x="6591148" y="5855208"/>
            <a:ext cx="2705100" cy="0"/>
          </a:xfrm>
          <a:prstGeom prst="line">
            <a:avLst/>
          </a:prstGeom>
          <a:ln w="9525" cap="flat">
            <a:solidFill>
              <a:srgbClr val="E6E8F2"/>
            </a:solidFill>
          </a:ln>
        </p:spPr>
      </p:cxnSp>
      <p:cxnSp>
        <p:nvCxnSpPr>
          <p:cNvPr id="70" name="Line 70"/>
          <p:cNvCxnSpPr/>
          <p:nvPr/>
        </p:nvCxnSpPr>
        <p:spPr>
          <a:xfrm>
            <a:off x="6591148" y="5653278"/>
            <a:ext cx="2705100" cy="0"/>
          </a:xfrm>
          <a:prstGeom prst="line">
            <a:avLst/>
          </a:prstGeom>
          <a:ln w="9525" cap="flat">
            <a:solidFill>
              <a:srgbClr val="E6E8F2"/>
            </a:solidFill>
          </a:ln>
        </p:spPr>
      </p:cxnSp>
      <p:cxnSp>
        <p:nvCxnSpPr>
          <p:cNvPr id="71" name="Line 71"/>
          <p:cNvCxnSpPr/>
          <p:nvPr/>
        </p:nvCxnSpPr>
        <p:spPr>
          <a:xfrm>
            <a:off x="6591148" y="5451348"/>
            <a:ext cx="2705100" cy="0"/>
          </a:xfrm>
          <a:prstGeom prst="line">
            <a:avLst/>
          </a:prstGeom>
          <a:ln w="9525" cap="flat">
            <a:solidFill>
              <a:srgbClr val="E6E8F2"/>
            </a:solidFill>
          </a:ln>
        </p:spPr>
      </p:cxnSp>
      <p:cxnSp>
        <p:nvCxnSpPr>
          <p:cNvPr id="72" name="Line 72"/>
          <p:cNvCxnSpPr/>
          <p:nvPr/>
        </p:nvCxnSpPr>
        <p:spPr>
          <a:xfrm>
            <a:off x="6591148" y="5249418"/>
            <a:ext cx="2705100" cy="0"/>
          </a:xfrm>
          <a:prstGeom prst="line">
            <a:avLst/>
          </a:prstGeom>
          <a:ln w="9525" cap="flat">
            <a:solidFill>
              <a:srgbClr val="E6E8F2"/>
            </a:solidFill>
          </a:ln>
        </p:spPr>
      </p:cxnSp>
      <p:cxnSp>
        <p:nvCxnSpPr>
          <p:cNvPr id="73" name="Line 73"/>
          <p:cNvCxnSpPr/>
          <p:nvPr/>
        </p:nvCxnSpPr>
        <p:spPr>
          <a:xfrm>
            <a:off x="6591148" y="5047488"/>
            <a:ext cx="2705100" cy="0"/>
          </a:xfrm>
          <a:prstGeom prst="line">
            <a:avLst/>
          </a:prstGeom>
          <a:ln w="9525" cap="flat">
            <a:solidFill>
              <a:srgbClr val="E6E8F2"/>
            </a:solidFill>
          </a:ln>
        </p:spPr>
      </p:cxnSp>
      <p:cxnSp>
        <p:nvCxnSpPr>
          <p:cNvPr id="74" name="Line 74"/>
          <p:cNvCxnSpPr/>
          <p:nvPr/>
        </p:nvCxnSpPr>
        <p:spPr>
          <a:xfrm>
            <a:off x="6591148" y="4845558"/>
            <a:ext cx="2705100" cy="0"/>
          </a:xfrm>
          <a:prstGeom prst="line">
            <a:avLst/>
          </a:prstGeom>
          <a:ln w="9525" cap="flat">
            <a:solidFill>
              <a:srgbClr val="E6E8F2"/>
            </a:solidFill>
          </a:ln>
        </p:spPr>
      </p:cxnSp>
      <p:cxnSp>
        <p:nvCxnSpPr>
          <p:cNvPr id="75" name="Line 75"/>
          <p:cNvCxnSpPr/>
          <p:nvPr/>
        </p:nvCxnSpPr>
        <p:spPr>
          <a:xfrm>
            <a:off x="6591148" y="4643628"/>
            <a:ext cx="2705100" cy="0"/>
          </a:xfrm>
          <a:prstGeom prst="line">
            <a:avLst/>
          </a:prstGeom>
          <a:ln w="9525" cap="flat">
            <a:solidFill>
              <a:srgbClr val="E6E8F2"/>
            </a:solidFill>
          </a:ln>
        </p:spPr>
      </p:cxnSp>
      <p:cxnSp>
        <p:nvCxnSpPr>
          <p:cNvPr id="76" name="Line 76"/>
          <p:cNvCxnSpPr/>
          <p:nvPr/>
        </p:nvCxnSpPr>
        <p:spPr>
          <a:xfrm>
            <a:off x="6591148" y="4441698"/>
            <a:ext cx="2705100" cy="0"/>
          </a:xfrm>
          <a:prstGeom prst="line">
            <a:avLst/>
          </a:prstGeom>
          <a:ln w="9525" cap="flat">
            <a:solidFill>
              <a:srgbClr val="E6E8F2"/>
            </a:solidFill>
          </a:ln>
        </p:spPr>
      </p:cxnSp>
      <p:cxnSp>
        <p:nvCxnSpPr>
          <p:cNvPr id="77" name="Line 77"/>
          <p:cNvCxnSpPr/>
          <p:nvPr/>
        </p:nvCxnSpPr>
        <p:spPr>
          <a:xfrm>
            <a:off x="6591148" y="4239768"/>
            <a:ext cx="2705100" cy="0"/>
          </a:xfrm>
          <a:prstGeom prst="line">
            <a:avLst/>
          </a:prstGeom>
          <a:ln w="9525" cap="flat">
            <a:solidFill>
              <a:srgbClr val="E6E8F2"/>
            </a:solidFill>
          </a:ln>
        </p:spPr>
      </p:cxnSp>
      <p:cxnSp>
        <p:nvCxnSpPr>
          <p:cNvPr id="78" name="Line 78"/>
          <p:cNvCxnSpPr/>
          <p:nvPr/>
        </p:nvCxnSpPr>
        <p:spPr>
          <a:xfrm>
            <a:off x="6591148" y="4037838"/>
            <a:ext cx="2705100" cy="0"/>
          </a:xfrm>
          <a:prstGeom prst="line">
            <a:avLst/>
          </a:prstGeom>
          <a:ln w="9525" cap="flat">
            <a:solidFill>
              <a:srgbClr val="E6E8F2"/>
            </a:solidFill>
          </a:ln>
        </p:spPr>
      </p:cxnSp>
      <p:cxnSp>
        <p:nvCxnSpPr>
          <p:cNvPr id="79" name="Line 79"/>
          <p:cNvCxnSpPr/>
          <p:nvPr/>
        </p:nvCxnSpPr>
        <p:spPr>
          <a:xfrm>
            <a:off x="6591148" y="3835908"/>
            <a:ext cx="2705100" cy="0"/>
          </a:xfrm>
          <a:prstGeom prst="line">
            <a:avLst/>
          </a:prstGeom>
          <a:ln w="9525" cap="flat">
            <a:solidFill>
              <a:srgbClr val="E6E8F2"/>
            </a:solidFill>
          </a:ln>
        </p:spPr>
      </p:cxnSp>
      <p:cxnSp>
        <p:nvCxnSpPr>
          <p:cNvPr id="80" name="Line 80"/>
          <p:cNvCxnSpPr/>
          <p:nvPr/>
        </p:nvCxnSpPr>
        <p:spPr>
          <a:xfrm>
            <a:off x="6591148" y="3835908"/>
            <a:ext cx="0" cy="2019300"/>
          </a:xfrm>
          <a:prstGeom prst="line">
            <a:avLst/>
          </a:prstGeom>
          <a:ln w="19050" cap="flat">
            <a:solidFill>
              <a:srgbClr val="5F6272"/>
            </a:solidFill>
          </a:ln>
        </p:spPr>
      </p:cxnSp>
      <p:cxnSp>
        <p:nvCxnSpPr>
          <p:cNvPr id="81" name="Line 81"/>
          <p:cNvCxnSpPr/>
          <p:nvPr/>
        </p:nvCxnSpPr>
        <p:spPr>
          <a:xfrm>
            <a:off x="6591148" y="5855208"/>
            <a:ext cx="2705100" cy="0"/>
          </a:xfrm>
          <a:prstGeom prst="line">
            <a:avLst/>
          </a:prstGeom>
          <a:ln w="19050" cap="flat">
            <a:solidFill>
              <a:srgbClr val="5F6272"/>
            </a:solidFill>
          </a:ln>
        </p:spPr>
      </p:cxnSp>
      <p:sp>
        <p:nvSpPr>
          <p:cNvPr id="82" name="Shape 82"/>
          <p:cNvSpPr txBox="1"/>
          <p:nvPr/>
        </p:nvSpPr>
        <p:spPr>
          <a:xfrm>
            <a:off x="63168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3" name="Shape 83"/>
          <p:cNvSpPr txBox="1"/>
          <p:nvPr/>
        </p:nvSpPr>
        <p:spPr>
          <a:xfrm>
            <a:off x="67676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4" name="Shape 84"/>
          <p:cNvSpPr txBox="1"/>
          <p:nvPr/>
        </p:nvSpPr>
        <p:spPr>
          <a:xfrm>
            <a:off x="72185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85" name="Shape 85"/>
          <p:cNvSpPr txBox="1"/>
          <p:nvPr/>
        </p:nvSpPr>
        <p:spPr>
          <a:xfrm>
            <a:off x="76693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30</a:t>
            </a:r>
            <a:endParaRPr lang="en-US" sz="975" dirty="0"/>
          </a:p>
        </p:txBody>
      </p:sp>
      <p:sp>
        <p:nvSpPr>
          <p:cNvPr id="86" name="Shape 86"/>
          <p:cNvSpPr txBox="1"/>
          <p:nvPr/>
        </p:nvSpPr>
        <p:spPr>
          <a:xfrm>
            <a:off x="81202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87" name="Shape 87"/>
          <p:cNvSpPr txBox="1"/>
          <p:nvPr/>
        </p:nvSpPr>
        <p:spPr>
          <a:xfrm>
            <a:off x="85710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50</a:t>
            </a:r>
            <a:endParaRPr lang="en-US" sz="975" dirty="0"/>
          </a:p>
        </p:txBody>
      </p:sp>
      <p:sp>
        <p:nvSpPr>
          <p:cNvPr id="88" name="Shape 88"/>
          <p:cNvSpPr txBox="1"/>
          <p:nvPr/>
        </p:nvSpPr>
        <p:spPr>
          <a:xfrm>
            <a:off x="90219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89" name="Shape 89"/>
          <p:cNvSpPr txBox="1"/>
          <p:nvPr/>
        </p:nvSpPr>
        <p:spPr>
          <a:xfrm>
            <a:off x="6024220" y="5763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0" name="Shape 90"/>
          <p:cNvSpPr txBox="1"/>
          <p:nvPr/>
        </p:nvSpPr>
        <p:spPr>
          <a:xfrm>
            <a:off x="6024220" y="53599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1" name="Shape 91"/>
          <p:cNvSpPr txBox="1"/>
          <p:nvPr/>
        </p:nvSpPr>
        <p:spPr>
          <a:xfrm>
            <a:off x="6024220" y="4956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92" name="Shape 92"/>
          <p:cNvSpPr txBox="1"/>
          <p:nvPr/>
        </p:nvSpPr>
        <p:spPr>
          <a:xfrm>
            <a:off x="6024220"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93" name="Shape 93"/>
          <p:cNvSpPr txBox="1"/>
          <p:nvPr/>
        </p:nvSpPr>
        <p:spPr>
          <a:xfrm>
            <a:off x="6024220" y="41483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94" name="Shape 94"/>
          <p:cNvSpPr txBox="1"/>
          <p:nvPr/>
        </p:nvSpPr>
        <p:spPr>
          <a:xfrm>
            <a:off x="6024220" y="37444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95" name="Shape 95"/>
          <p:cNvSpPr/>
          <p:nvPr/>
        </p:nvSpPr>
        <p:spPr>
          <a:xfrm>
            <a:off x="8973350" y="580282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6" name="Shape 96"/>
          <p:cNvSpPr txBox="1"/>
          <p:nvPr/>
        </p:nvSpPr>
        <p:spPr>
          <a:xfrm>
            <a:off x="9111463" y="56075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(54, 0)</a:t>
            </a:r>
            <a:endParaRPr lang="en-US" sz="1125" dirty="0"/>
          </a:p>
        </p:txBody>
      </p:sp>
      <p:sp>
        <p:nvSpPr>
          <p:cNvPr id="97" name="Shape 97"/>
          <p:cNvSpPr/>
          <p:nvPr/>
        </p:nvSpPr>
        <p:spPr>
          <a:xfrm>
            <a:off x="6538760" y="3985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8" name="Shape 98"/>
          <p:cNvSpPr txBox="1"/>
          <p:nvPr/>
        </p:nvSpPr>
        <p:spPr>
          <a:xfrm>
            <a:off x="6676873" y="3790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cxnSp>
        <p:nvCxnSpPr>
          <p:cNvPr id="99" name="Line 99"/>
          <p:cNvCxnSpPr/>
          <p:nvPr/>
        </p:nvCxnSpPr>
        <p:spPr>
          <a:xfrm>
            <a:off x="6591148" y="4037838"/>
            <a:ext cx="2434590" cy="181737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anim calcmode="lin" valueType="num">
                                      <p:cBhvr>
                                        <p:cTn id="31" dur="500" fill="hold"/>
                                        <p:tgtEl>
                                          <p:spTgt spid="49"/>
                                        </p:tgtEl>
                                        <p:attrNameLst>
                                          <p:attrName>ppt_w</p:attrName>
                                        </p:attrNameLst>
                                      </p:cBhvr>
                                      <p:tavLst>
                                        <p:tav tm="0">
                                          <p:val>
                                            <p:fltVal val="0"/>
                                          </p:val>
                                        </p:tav>
                                        <p:tav tm="100000">
                                          <p:val>
                                            <p:strVal val="#ppt_w"/>
                                          </p:val>
                                        </p:tav>
                                      </p:tavLst>
                                    </p:anim>
                                    <p:anim calcmode="lin" valueType="num">
                                      <p:cBhvr>
                                        <p:cTn id="32" dur="500" fill="hold"/>
                                        <p:tgtEl>
                                          <p:spTgt spid="49"/>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left)">
                                      <p:cBhvr>
                                        <p:cTn id="42" dur="7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anim calcmode="lin" valueType="num">
                                      <p:cBhvr>
                                        <p:cTn id="48" dur="500" fill="hold"/>
                                        <p:tgtEl>
                                          <p:spTgt spid="53"/>
                                        </p:tgtEl>
                                        <p:attrNameLst>
                                          <p:attrName>ppt_x</p:attrName>
                                        </p:attrNameLst>
                                      </p:cBhvr>
                                      <p:tavLst>
                                        <p:tav tm="0">
                                          <p:val>
                                            <p:strVal val="#ppt_x"/>
                                          </p:val>
                                        </p:tav>
                                        <p:tav tm="100000">
                                          <p:val>
                                            <p:strVal val="#ppt_x"/>
                                          </p:val>
                                        </p:tav>
                                      </p:tavLst>
                                    </p:anim>
                                    <p:anim calcmode="lin" valueType="num">
                                      <p:cBhvr>
                                        <p:cTn id="4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fade">
                                      <p:cBhvr>
                                        <p:cTn id="61" dur="500"/>
                                        <p:tgtEl>
                                          <p:spTgt spid="95"/>
                                        </p:tgtEl>
                                      </p:cBhvr>
                                    </p:animEffect>
                                    <p:anim calcmode="lin" valueType="num">
                                      <p:cBhvr>
                                        <p:cTn id="62" dur="500" fill="hold"/>
                                        <p:tgtEl>
                                          <p:spTgt spid="95"/>
                                        </p:tgtEl>
                                        <p:attrNameLst>
                                          <p:attrName>ppt_w</p:attrName>
                                        </p:attrNameLst>
                                      </p:cBhvr>
                                      <p:tavLst>
                                        <p:tav tm="0">
                                          <p:val>
                                            <p:fltVal val="0"/>
                                          </p:val>
                                        </p:tav>
                                        <p:tav tm="100000">
                                          <p:val>
                                            <p:strVal val="#ppt_w"/>
                                          </p:val>
                                        </p:tav>
                                      </p:tavLst>
                                    </p:anim>
                                    <p:anim calcmode="lin" valueType="num">
                                      <p:cBhvr>
                                        <p:cTn id="63" dur="500" fill="hold"/>
                                        <p:tgtEl>
                                          <p:spTgt spid="95"/>
                                        </p:tgtEl>
                                        <p:attrNameLst>
                                          <p:attrName>ppt_h</p:attrName>
                                        </p:attrNameLst>
                                      </p:cBhvr>
                                      <p:tavLst>
                                        <p:tav tm="0">
                                          <p:val>
                                            <p:fltVal val="0"/>
                                          </p:val>
                                        </p:tav>
                                        <p:tav tm="100000">
                                          <p:val>
                                            <p:strVal val="#ppt_h"/>
                                          </p:val>
                                        </p:tav>
                                      </p:tavLst>
                                    </p:anim>
                                  </p:childTnLst>
                                </p:cTn>
                              </p:par>
                              <p:par>
                                <p:cTn id="69" presetID="53" presetClass="entr" presetSubtype="16" fill="hold"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fade">
                                      <p:cBhvr>
                                        <p:cTn id="66" dur="500"/>
                                        <p:tgtEl>
                                          <p:spTgt spid="96"/>
                                        </p:tgtEl>
                                      </p:cBhvr>
                                    </p:animEffec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76" presetID="53" presetClass="entr" presetSubtype="16" fill="hold" nodeType="click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500"/>
                                        <p:tgtEl>
                                          <p:spTgt spid="97"/>
                                        </p:tgtEl>
                                      </p:cBhvr>
                                    </p:animEffect>
                                    <p:anim calcmode="lin" valueType="num">
                                      <p:cBhvr>
                                        <p:cTn id="74" dur="500" fill="hold"/>
                                        <p:tgtEl>
                                          <p:spTgt spid="97"/>
                                        </p:tgtEl>
                                        <p:attrNameLst>
                                          <p:attrName>ppt_w</p:attrName>
                                        </p:attrNameLst>
                                      </p:cBhvr>
                                      <p:tavLst>
                                        <p:tav tm="0">
                                          <p:val>
                                            <p:fltVal val="0"/>
                                          </p:val>
                                        </p:tav>
                                        <p:tav tm="100000">
                                          <p:val>
                                            <p:strVal val="#ppt_w"/>
                                          </p:val>
                                        </p:tav>
                                      </p:tavLst>
                                    </p:anim>
                                    <p:anim calcmode="lin" valueType="num">
                                      <p:cBhvr>
                                        <p:cTn id="75" dur="500" fill="hold"/>
                                        <p:tgtEl>
                                          <p:spTgt spid="97"/>
                                        </p:tgtEl>
                                        <p:attrNameLst>
                                          <p:attrName>ppt_h</p:attrName>
                                        </p:attrNameLst>
                                      </p:cBhvr>
                                      <p:tavLst>
                                        <p:tav tm="0">
                                          <p:val>
                                            <p:fltVal val="0"/>
                                          </p:val>
                                        </p:tav>
                                        <p:tav tm="100000">
                                          <p:val>
                                            <p:strVal val="#ppt_h"/>
                                          </p:val>
                                        </p:tav>
                                      </p:tavLst>
                                    </p:anim>
                                  </p:childTnLst>
                                </p:cTn>
                              </p:par>
                              <p:par>
                                <p:cTn id="81" presetID="53" presetClass="entr" presetSubtype="16" fill="hold"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anim calcmode="lin" valueType="num">
                                      <p:cBhvr>
                                        <p:cTn id="79" dur="500" fill="hold"/>
                                        <p:tgtEl>
                                          <p:spTgt spid="98"/>
                                        </p:tgtEl>
                                        <p:attrNameLst>
                                          <p:attrName>ppt_w</p:attrName>
                                        </p:attrNameLst>
                                      </p:cBhvr>
                                      <p:tavLst>
                                        <p:tav tm="0">
                                          <p:val>
                                            <p:fltVal val="0"/>
                                          </p:val>
                                        </p:tav>
                                        <p:tav tm="100000">
                                          <p:val>
                                            <p:strVal val="#ppt_w"/>
                                          </p:val>
                                        </p:tav>
                                      </p:tavLst>
                                    </p:anim>
                                    <p:anim calcmode="lin" valueType="num">
                                      <p:cBhvr>
                                        <p:cTn id="80" dur="5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6" presetID="22" presetClass="entr" presetSubtype="8" fill="hold" nodeType="click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Worked Example · SE p. 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Standard form from two points: (−1, 3) and (−4, −3)</a:t>
            </a:r>
            <a:endParaRPr lang="en-US" sz="3450" dirty="0"/>
          </a:p>
        </p:txBody>
      </p:sp>
      <p:sp>
        <p:nvSpPr>
          <p:cNvPr id="4" name="Shape 4"/>
          <p:cNvSpPr txBox="1"/>
          <p:nvPr/>
        </p:nvSpPr>
        <p:spPr>
          <a:xfrm>
            <a:off x="685800" y="218236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find the slope.</a:t>
            </a:r>
            <a:endParaRPr lang="en-US" sz="1575" dirty="0"/>
          </a:p>
        </p:txBody>
      </p:sp>
      <p:sp>
        <p:nvSpPr>
          <p:cNvPr id="5" name="Shape 5"/>
          <p:cNvSpPr txBox="1"/>
          <p:nvPr/>
        </p:nvSpPr>
        <p:spPr>
          <a:xfrm>
            <a:off x="685800" y="2572512"/>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−3 − 3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endParaRPr lang="en-US" sz="2325" dirty="0"/>
          </a:p>
        </p:txBody>
      </p:sp>
      <p:sp>
        <p:nvSpPr>
          <p:cNvPr id="6" name="Shape 6"/>
          <p:cNvSpPr txBox="1"/>
          <p:nvPr/>
        </p:nvSpPr>
        <p:spPr>
          <a:xfrm>
            <a:off x="685800" y="307695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pick a point and write point-slope form.</a:t>
            </a:r>
            <a:endParaRPr lang="en-US" sz="1575" dirty="0"/>
          </a:p>
        </p:txBody>
      </p:sp>
      <p:sp>
        <p:nvSpPr>
          <p:cNvPr id="7" name="Shape 7"/>
          <p:cNvSpPr txBox="1"/>
          <p:nvPr/>
        </p:nvSpPr>
        <p:spPr>
          <a:xfrm>
            <a:off x="685800" y="3467100"/>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685800" y="39715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rewrite in standard form.</a:t>
            </a:r>
            <a:endParaRPr lang="en-US" sz="1575" dirty="0"/>
          </a:p>
        </p:txBody>
      </p:sp>
      <p:sp>
        <p:nvSpPr>
          <p:cNvPr id="9" name="Shape 9"/>
          <p:cNvSpPr txBox="1"/>
          <p:nvPr/>
        </p:nvSpPr>
        <p:spPr>
          <a:xfrm>
            <a:off x="685800" y="4361688"/>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85800" y="48661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700"/>
                                        <p:tgtEl>
                                          <p:spTgt spid="9"/>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11 · SE p. 230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standard form from two points</a:t>
            </a:r>
            <a:endParaRPr lang="en-US" sz="3450" dirty="0"/>
          </a:p>
        </p:txBody>
      </p:sp>
      <p:sp>
        <p:nvSpPr>
          <p:cNvPr id="7" name="Shape 7"/>
          <p:cNvSpPr txBox="1"/>
          <p:nvPr/>
        </p:nvSpPr>
        <p:spPr>
          <a:xfrm>
            <a:off x="685800"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 (0, −4) and (2, 2)</a:t>
            </a:r>
            <a:endParaRPr lang="en-US" sz="2100" dirty="0"/>
          </a:p>
        </p:txBody>
      </p:sp>
      <p:sp>
        <p:nvSpPr>
          <p:cNvPr id="5" name="Shape 5"/>
          <p:cNvSpPr txBox="1"/>
          <p:nvPr/>
        </p:nvSpPr>
        <p:spPr>
          <a:xfrm>
            <a:off x="895350"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6</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 =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6" name="Shape 6"/>
          <p:cNvSpPr txBox="1"/>
          <p:nvPr/>
        </p:nvSpPr>
        <p:spPr>
          <a:xfrm>
            <a:off x="895350"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endParaRPr lang="en-US" sz="2325" dirty="0"/>
          </a:p>
        </p:txBody>
      </p:sp>
      <p:sp>
        <p:nvSpPr>
          <p:cNvPr id="11" name="Shape 11"/>
          <p:cNvSpPr txBox="1"/>
          <p:nvPr/>
        </p:nvSpPr>
        <p:spPr>
          <a:xfrm>
            <a:off x="4349648"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 (1, −5) and (−2, 7)</a:t>
            </a:r>
            <a:endParaRPr lang="en-US" sz="2100" dirty="0"/>
          </a:p>
        </p:txBody>
      </p:sp>
      <p:sp>
        <p:nvSpPr>
          <p:cNvPr id="9" name="Shape 9"/>
          <p:cNvSpPr txBox="1"/>
          <p:nvPr/>
        </p:nvSpPr>
        <p:spPr>
          <a:xfrm>
            <a:off x="4559198"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 =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endParaRPr lang="en-US" sz="1575" dirty="0"/>
          </a:p>
        </p:txBody>
      </p:sp>
      <p:sp>
        <p:nvSpPr>
          <p:cNvPr id="10" name="Shape 10"/>
          <p:cNvSpPr txBox="1"/>
          <p:nvPr/>
        </p:nvSpPr>
        <p:spPr>
          <a:xfrm>
            <a:off x="4559198"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a:t>
            </a:r>
            <a:endParaRPr lang="en-US" sz="2325" dirty="0"/>
          </a:p>
        </p:txBody>
      </p:sp>
      <p:sp>
        <p:nvSpPr>
          <p:cNvPr id="16" name="Shape 16"/>
          <p:cNvSpPr txBox="1"/>
          <p:nvPr/>
        </p:nvSpPr>
        <p:spPr>
          <a:xfrm>
            <a:off x="8013497"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4708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 (12, 10) and (16, 12)</a:t>
            </a:r>
            <a:endParaRPr lang="en-US" sz="2100" dirty="0"/>
          </a:p>
        </p:txBody>
      </p:sp>
      <p:sp>
        <p:nvSpPr>
          <p:cNvPr id="13" name="Shape 13"/>
          <p:cNvSpPr txBox="1"/>
          <p:nvPr/>
        </p:nvSpPr>
        <p:spPr>
          <a:xfrm>
            <a:off x="8223047" y="26372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14" name="Shape 14"/>
          <p:cNvSpPr txBox="1"/>
          <p:nvPr/>
        </p:nvSpPr>
        <p:spPr>
          <a:xfrm>
            <a:off x="8223047" y="302742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Multiply by 2 so every number is an integer: </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+ 8</a:t>
            </a:r>
            <a:endParaRPr lang="en-US" sz="1575" dirty="0"/>
          </a:p>
        </p:txBody>
      </p:sp>
      <p:sp>
        <p:nvSpPr>
          <p:cNvPr id="15" name="Shape 15"/>
          <p:cNvSpPr txBox="1"/>
          <p:nvPr/>
        </p:nvSpPr>
        <p:spPr>
          <a:xfrm>
            <a:off x="8223047" y="3657600"/>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7" name="Shape 17"/>
          <p:cNvSpPr txBox="1"/>
          <p:nvPr/>
        </p:nvSpPr>
        <p:spPr>
          <a:xfrm>
            <a:off x="685800" y="4969002"/>
            <a:ext cx="8626770"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a:t>
            </a:r>
            <a:r>
              <a:rPr lang="en-US" sz="1650" dirty="0" i="1">
                <a:solidFill>
                  <a:srgbClr val="16171D"/>
                </a:solidFill>
                <a:latin typeface="Segoe UI"/>
                <a:cs typeface="Segoe UI"/>
              </a:rPr>
              <a:t xml:space="preserve">A</a:t>
            </a:r>
            <a:r>
              <a:rPr lang="en-US" sz="1650" dirty="0">
                <a:solidFill>
                  <a:srgbClr val="16171D"/>
                </a:solidFill>
                <a:latin typeface="Segoe UI"/>
                <a:cs typeface="Segoe UI"/>
              </a:rPr>
              <a:t xml:space="preserve">, </a:t>
            </a:r>
            <a:r>
              <a:rPr lang="en-US" sz="1650" dirty="0" i="1">
                <a:solidFill>
                  <a:srgbClr val="16171D"/>
                </a:solidFill>
                <a:latin typeface="Segoe UI"/>
                <a:cs typeface="Segoe UI"/>
              </a:rPr>
              <a:t xml:space="preserve">B</a:t>
            </a:r>
            <a:r>
              <a:rPr lang="en-US" sz="1650" dirty="0">
                <a:solidFill>
                  <a:srgbClr val="16171D"/>
                </a:solidFill>
                <a:latin typeface="Segoe UI"/>
                <a:cs typeface="Segoe UI"/>
              </a:rPr>
              <a:t xml:space="preserve">, and </a:t>
            </a:r>
            <a:r>
              <a:rPr lang="en-US" sz="1650" dirty="0" i="1">
                <a:solidFill>
                  <a:srgbClr val="16171D"/>
                </a:solidFill>
                <a:latin typeface="Segoe UI"/>
                <a:cs typeface="Segoe UI"/>
              </a:rPr>
              <a:t xml:space="preserve">C</a:t>
            </a:r>
            <a:r>
              <a:rPr lang="en-US" sz="1650" dirty="0">
                <a:solidFill>
                  <a:srgbClr val="16171D"/>
                </a:solidFill>
                <a:latin typeface="Segoe UI"/>
                <a:cs typeface="Segoe UI"/>
              </a:rPr>
              <a:t xml:space="preserve"> must be </a:t>
            </a:r>
            <a:r>
              <a:rPr lang="en-US" sz="1650" dirty="0" b="1">
                <a:solidFill>
                  <a:srgbClr val="16171D"/>
                </a:solidFill>
                <a:latin typeface="Segoe UI"/>
                <a:cs typeface="Segoe UI"/>
              </a:rPr>
              <a:t xml:space="preserve">integers</a:t>
            </a:r>
            <a:r>
              <a:rPr lang="en-US" sz="1650" dirty="0">
                <a:solidFill>
                  <a:srgbClr val="16171D"/>
                </a:solidFill>
                <a:latin typeface="Segoe UI"/>
                <a:cs typeface="Segoe UI"/>
              </a:rPr>
              <a:t xml:space="preserve">. Clear any fractions first.</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-intercepts of </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5" name="Shape 5"/>
          <p:cNvSpPr txBox="1"/>
          <p:nvPr/>
        </p:nvSpPr>
        <p:spPr>
          <a:xfrm>
            <a:off x="685800" y="245821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0) and (0, 4)</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228)</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in standard form. </a:t>
            </a:r>
            <a:r>
              <a:rPr lang="en-US" sz="1575" dirty="0">
                <a:solidFill>
                  <a:srgbClr val="5F6272"/>
                </a:solidFill>
                <a:latin typeface="Segoe UI"/>
                <a:cs typeface="Segoe UI"/>
              </a:rPr>
              <a:t xml:space="preserve">(SE p. 230)</a:t>
            </a:r>
            <a:endParaRPr lang="en-US" sz="1950" dirty="0"/>
          </a:p>
        </p:txBody>
      </p:sp>
      <p:sp>
        <p:nvSpPr>
          <p:cNvPr id="9" name="Shape 9"/>
          <p:cNvSpPr txBox="1"/>
          <p:nvPr/>
        </p:nvSpPr>
        <p:spPr>
          <a:xfrm>
            <a:off x="6362548" y="245821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Standard form through (0, 6) and (3, 0)? </a:t>
            </a:r>
            <a:r>
              <a:rPr lang="en-US" sz="1575" dirty="0">
                <a:solidFill>
                  <a:srgbClr val="5F6272"/>
                </a:solidFill>
                <a:latin typeface="Segoe UI"/>
                <a:cs typeface="Segoe UI"/>
              </a:rPr>
              <a:t xml:space="preserve">(SE p. 230)</a:t>
            </a:r>
            <a:endParaRPr lang="en-US" sz="1950" dirty="0"/>
          </a:p>
        </p:txBody>
      </p:sp>
      <p:sp>
        <p:nvSpPr>
          <p:cNvPr id="11" name="Shape 11"/>
          <p:cNvSpPr txBox="1"/>
          <p:nvPr/>
        </p:nvSpPr>
        <p:spPr>
          <a:xfrm>
            <a:off x="6362548" y="402640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1–5</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11</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10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5" name="Shape 15"/>
          <p:cNvSpPr txBox="1"/>
          <p:nvPr/>
        </p:nvSpPr>
        <p:spPr>
          <a:xfrm>
            <a:off x="685800"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14" name="Shape 14"/>
          <p:cNvSpPr txBox="1"/>
          <p:nvPr/>
        </p:nvSpPr>
        <p:spPr>
          <a:xfrm>
            <a:off x="895350" y="379095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(0, 3)</a:t>
            </a:r>
            <a:endParaRPr lang="en-US" sz="1575" dirty="0"/>
          </a:p>
        </p:txBody>
      </p:sp>
      <p:sp>
        <p:nvSpPr>
          <p:cNvPr id="18" name="Shape 18"/>
          <p:cNvSpPr txBox="1"/>
          <p:nvPr/>
        </p:nvSpPr>
        <p:spPr>
          <a:xfrm>
            <a:off x="4349648"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6</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6</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−27)</a:t>
            </a:r>
            <a:endParaRPr lang="en-US" sz="1575" dirty="0"/>
          </a:p>
        </p:txBody>
      </p:sp>
      <p:sp>
        <p:nvSpPr>
          <p:cNvPr id="19" name="Shape 19"/>
          <p:cNvSpPr txBox="1"/>
          <p:nvPr/>
        </p:nvSpPr>
        <p:spPr>
          <a:xfrm>
            <a:off x="685800" y="4668774"/>
            <a:ext cx="1051196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the slope is </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A</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B</a:t>
            </a:r>
            <a:r>
              <a:rPr lang="en-US" sz="1650" dirty="0">
                <a:solidFill>
                  <a:srgbClr val="16171D"/>
                </a:solidFill>
                <a:latin typeface="Segoe UI"/>
                <a:cs typeface="Segoe UI"/>
              </a:rPr>
              <a:t xml:space="preserve">. To find the </a:t>
            </a:r>
            <a:r>
              <a:rPr lang="en-US" sz="1650" dirty="0" i="1">
                <a:solidFill>
                  <a:srgbClr val="16171D"/>
                </a:solidFill>
                <a:latin typeface="Segoe UI"/>
                <a:cs typeface="Segoe UI"/>
              </a:rPr>
              <a:t xml:space="preserve">y</a:t>
            </a:r>
            <a:r>
              <a:rPr lang="en-US" sz="1650" dirty="0">
                <a:solidFill>
                  <a:srgbClr val="16171D"/>
                </a:solidFill>
                <a:latin typeface="Segoe UI"/>
                <a:cs typeface="Segoe UI"/>
              </a:rPr>
              <a:t xml:space="preserve">-intercept in any form, substitute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0</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6–10</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r>
              <a:rPr lang="en-US" sz="1575" dirty="0">
                <a:solidFill>
                  <a:srgbClr val="16171D"/>
                </a:solidFill>
                <a:latin typeface="Segoe UI"/>
                <a:cs typeface="Segoe UI"/>
              </a:rPr>
              <a:t xml:space="preserve">: horizontal</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7. 4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48</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vertical</a:t>
            </a:r>
            <a:endParaRPr lang="en-US" sz="1575" dirty="0"/>
          </a:p>
        </p:txBody>
      </p:sp>
      <p:sp>
        <p:nvSpPr>
          <p:cNvPr id="15" name="Shape 15"/>
          <p:cNvSpPr txBox="1"/>
          <p:nvPr/>
        </p:nvSpPr>
        <p:spPr>
          <a:xfrm>
            <a:off x="685800"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9.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4" name="Shape 14"/>
          <p:cNvSpPr txBox="1"/>
          <p:nvPr/>
        </p:nvSpPr>
        <p:spPr>
          <a:xfrm>
            <a:off x="895350"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(0, 7)</a:t>
            </a:r>
            <a:endParaRPr lang="en-US" sz="1575" dirty="0"/>
          </a:p>
        </p:txBody>
      </p:sp>
      <p:sp>
        <p:nvSpPr>
          <p:cNvPr id="18" name="Shape 18"/>
          <p:cNvSpPr txBox="1"/>
          <p:nvPr/>
        </p:nvSpPr>
        <p:spPr>
          <a:xfrm>
            <a:off x="4349648"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19" name="Shape 19"/>
          <p:cNvSpPr txBox="1"/>
          <p:nvPr/>
        </p:nvSpPr>
        <p:spPr>
          <a:xfrm>
            <a:off x="685800" y="44287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The slope can be read directly from slope-intercept and point-slope form. In standard form, calculate </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A</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Choose Your Medium · SE p. 232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Joey's math quiz</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points for each correct multiple-choice question, 3 points for each correct short answer. Joey earned </a:t>
            </a:r>
            <a:r>
              <a:rPr lang="en-US" sz="1575" dirty="0" b="1">
                <a:solidFill>
                  <a:srgbClr val="16171D"/>
                </a:solidFill>
                <a:latin typeface="Segoe UI"/>
                <a:cs typeface="Segoe UI"/>
              </a:rPr>
              <a:t xml:space="preserve">36 points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multiple-choice correct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short answer correct.</a:t>
            </a:r>
            <a:endParaRPr lang="en-US" sz="1575" dirty="0"/>
          </a:p>
        </p:txBody>
      </p:sp>
      <p:sp>
        <p:nvSpPr>
          <p:cNvPr id="5" name="Shape 5"/>
          <p:cNvSpPr txBox="1"/>
          <p:nvPr/>
        </p:nvSpPr>
        <p:spPr>
          <a:xfrm>
            <a:off x="685800" y="2324862"/>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36</a:t>
            </a:r>
            <a:endParaRPr lang="en-US" sz="2850" dirty="0"/>
          </a:p>
        </p:txBody>
      </p:sp>
      <p:sp>
        <p:nvSpPr>
          <p:cNvPr id="6" name="Shape 6"/>
          <p:cNvSpPr txBox="1"/>
          <p:nvPr/>
        </p:nvSpPr>
        <p:spPr>
          <a:xfrm>
            <a:off x="685800" y="3019044"/>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standard form, because the equation comes straight from the context: two kinds of points add up to one total.</a:t>
            </a:r>
            <a:endParaRPr lang="en-US" sz="1575" dirty="0"/>
          </a:p>
        </p:txBody>
      </p:sp>
      <p:sp>
        <p:nvSpPr>
          <p:cNvPr id="7" name="Shape 7"/>
          <p:cNvSpPr txBox="1"/>
          <p:nvPr/>
        </p:nvSpPr>
        <p:spPr>
          <a:xfrm>
            <a:off x="685800" y="364921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use the intercepts.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(18, 0)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(0, 12)</a:t>
            </a:r>
            <a:r>
              <a:rPr lang="en-US" sz="1575" dirty="0">
                <a:solidFill>
                  <a:srgbClr val="16171D"/>
                </a:solidFill>
                <a:latin typeface="Segoe UI"/>
                <a:cs typeface="Segoe UI"/>
              </a:rPr>
              <a:t xml:space="preserve">.</a:t>
            </a:r>
            <a:endParaRPr lang="en-US" sz="1575" dirty="0"/>
          </a:p>
        </p:txBody>
      </p:sp>
      <p:sp>
        <p:nvSpPr>
          <p:cNvPr id="8" name="Shape 8"/>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210245" y="2439162"/>
            <a:ext cx="0" cy="2876550"/>
          </a:xfrm>
          <a:prstGeom prst="line">
            <a:avLst/>
          </a:prstGeom>
          <a:ln w="9525" cap="flat">
            <a:solidFill>
              <a:srgbClr val="E6E8F2"/>
            </a:solidFill>
          </a:ln>
        </p:spPr>
      </p:cxnSp>
      <p:cxnSp>
        <p:nvCxnSpPr>
          <p:cNvPr id="10" name="Line 10"/>
          <p:cNvCxnSpPr/>
          <p:nvPr/>
        </p:nvCxnSpPr>
        <p:spPr>
          <a:xfrm>
            <a:off x="8369313"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687448" y="2439162"/>
            <a:ext cx="0" cy="2876550"/>
          </a:xfrm>
          <a:prstGeom prst="line">
            <a:avLst/>
          </a:prstGeom>
          <a:ln w="9525" cap="flat">
            <a:solidFill>
              <a:srgbClr val="E6E8F2"/>
            </a:solidFill>
          </a:ln>
        </p:spPr>
      </p:cxnSp>
      <p:cxnSp>
        <p:nvCxnSpPr>
          <p:cNvPr id="13" name="Line 13"/>
          <p:cNvCxnSpPr/>
          <p:nvPr/>
        </p:nvCxnSpPr>
        <p:spPr>
          <a:xfrm>
            <a:off x="8846515" y="2439162"/>
            <a:ext cx="0" cy="2876550"/>
          </a:xfrm>
          <a:prstGeom prst="line">
            <a:avLst/>
          </a:prstGeom>
          <a:ln w="9525" cap="flat">
            <a:solidFill>
              <a:srgbClr val="E6E8F2"/>
            </a:solidFill>
          </a:ln>
        </p:spPr>
      </p:cxnSp>
      <p:cxnSp>
        <p:nvCxnSpPr>
          <p:cNvPr id="14" name="Line 14"/>
          <p:cNvCxnSpPr/>
          <p:nvPr/>
        </p:nvCxnSpPr>
        <p:spPr>
          <a:xfrm>
            <a:off x="9005583" y="2439162"/>
            <a:ext cx="0" cy="2876550"/>
          </a:xfrm>
          <a:prstGeom prst="line">
            <a:avLst/>
          </a:prstGeom>
          <a:ln w="9525" cap="flat">
            <a:solidFill>
              <a:srgbClr val="E6E8F2"/>
            </a:solidFill>
          </a:ln>
        </p:spPr>
      </p:cxnSp>
      <p:cxnSp>
        <p:nvCxnSpPr>
          <p:cNvPr id="15" name="Line 15"/>
          <p:cNvCxnSpPr/>
          <p:nvPr/>
        </p:nvCxnSpPr>
        <p:spPr>
          <a:xfrm>
            <a:off x="9164650" y="2439162"/>
            <a:ext cx="0" cy="2876550"/>
          </a:xfrm>
          <a:prstGeom prst="line">
            <a:avLst/>
          </a:prstGeom>
          <a:ln w="9525" cap="flat">
            <a:solidFill>
              <a:srgbClr val="E6E8F2"/>
            </a:solidFill>
          </a:ln>
        </p:spPr>
      </p:cxnSp>
      <p:cxnSp>
        <p:nvCxnSpPr>
          <p:cNvPr id="16" name="Line 16"/>
          <p:cNvCxnSpPr/>
          <p:nvPr/>
        </p:nvCxnSpPr>
        <p:spPr>
          <a:xfrm>
            <a:off x="9323718" y="2439162"/>
            <a:ext cx="0" cy="2876550"/>
          </a:xfrm>
          <a:prstGeom prst="line">
            <a:avLst/>
          </a:prstGeom>
          <a:ln w="9525" cap="flat">
            <a:solidFill>
              <a:srgbClr val="E6E8F2"/>
            </a:solidFill>
          </a:ln>
        </p:spPr>
      </p:cxnSp>
      <p:cxnSp>
        <p:nvCxnSpPr>
          <p:cNvPr id="17" name="Line 17"/>
          <p:cNvCxnSpPr/>
          <p:nvPr/>
        </p:nvCxnSpPr>
        <p:spPr>
          <a:xfrm>
            <a:off x="9482785" y="2439162"/>
            <a:ext cx="0" cy="2876550"/>
          </a:xfrm>
          <a:prstGeom prst="line">
            <a:avLst/>
          </a:prstGeom>
          <a:ln w="9525" cap="flat">
            <a:solidFill>
              <a:srgbClr val="E6E8F2"/>
            </a:solidFill>
          </a:ln>
        </p:spPr>
      </p:cxnSp>
      <p:cxnSp>
        <p:nvCxnSpPr>
          <p:cNvPr id="18" name="Line 18"/>
          <p:cNvCxnSpPr/>
          <p:nvPr/>
        </p:nvCxnSpPr>
        <p:spPr>
          <a:xfrm>
            <a:off x="9641853" y="2439162"/>
            <a:ext cx="0" cy="2876550"/>
          </a:xfrm>
          <a:prstGeom prst="line">
            <a:avLst/>
          </a:prstGeom>
          <a:ln w="9525" cap="flat">
            <a:solidFill>
              <a:srgbClr val="E6E8F2"/>
            </a:solidFill>
          </a:ln>
        </p:spPr>
      </p:cxnSp>
      <p:cxnSp>
        <p:nvCxnSpPr>
          <p:cNvPr id="19" name="Line 19"/>
          <p:cNvCxnSpPr/>
          <p:nvPr/>
        </p:nvCxnSpPr>
        <p:spPr>
          <a:xfrm>
            <a:off x="9800920" y="2439162"/>
            <a:ext cx="0" cy="2876550"/>
          </a:xfrm>
          <a:prstGeom prst="line">
            <a:avLst/>
          </a:prstGeom>
          <a:ln w="9525" cap="flat">
            <a:solidFill>
              <a:srgbClr val="E6E8F2"/>
            </a:solidFill>
          </a:ln>
        </p:spPr>
      </p:cxnSp>
      <p:cxnSp>
        <p:nvCxnSpPr>
          <p:cNvPr id="20" name="Line 20"/>
          <p:cNvCxnSpPr/>
          <p:nvPr/>
        </p:nvCxnSpPr>
        <p:spPr>
          <a:xfrm>
            <a:off x="9959988" y="2439162"/>
            <a:ext cx="0" cy="2876550"/>
          </a:xfrm>
          <a:prstGeom prst="line">
            <a:avLst/>
          </a:prstGeom>
          <a:ln w="9525" cap="flat">
            <a:solidFill>
              <a:srgbClr val="E6E8F2"/>
            </a:solidFill>
          </a:ln>
        </p:spPr>
      </p:cxnSp>
      <p:cxnSp>
        <p:nvCxnSpPr>
          <p:cNvPr id="21" name="Line 21"/>
          <p:cNvCxnSpPr/>
          <p:nvPr/>
        </p:nvCxnSpPr>
        <p:spPr>
          <a:xfrm>
            <a:off x="10119055" y="2439162"/>
            <a:ext cx="0" cy="2876550"/>
          </a:xfrm>
          <a:prstGeom prst="line">
            <a:avLst/>
          </a:prstGeom>
          <a:ln w="9525" cap="flat">
            <a:solidFill>
              <a:srgbClr val="E6E8F2"/>
            </a:solidFill>
          </a:ln>
        </p:spPr>
      </p:cxnSp>
      <p:cxnSp>
        <p:nvCxnSpPr>
          <p:cNvPr id="22" name="Line 22"/>
          <p:cNvCxnSpPr/>
          <p:nvPr/>
        </p:nvCxnSpPr>
        <p:spPr>
          <a:xfrm>
            <a:off x="10278123" y="2439162"/>
            <a:ext cx="0" cy="2876550"/>
          </a:xfrm>
          <a:prstGeom prst="line">
            <a:avLst/>
          </a:prstGeom>
          <a:ln w="9525" cap="flat">
            <a:solidFill>
              <a:srgbClr val="E6E8F2"/>
            </a:solidFill>
          </a:ln>
        </p:spPr>
      </p:cxnSp>
      <p:cxnSp>
        <p:nvCxnSpPr>
          <p:cNvPr id="23" name="Line 23"/>
          <p:cNvCxnSpPr/>
          <p:nvPr/>
        </p:nvCxnSpPr>
        <p:spPr>
          <a:xfrm>
            <a:off x="10437190" y="2439162"/>
            <a:ext cx="0" cy="2876550"/>
          </a:xfrm>
          <a:prstGeom prst="line">
            <a:avLst/>
          </a:prstGeom>
          <a:ln w="9525" cap="flat">
            <a:solidFill>
              <a:srgbClr val="E6E8F2"/>
            </a:solidFill>
          </a:ln>
        </p:spPr>
      </p:cxnSp>
      <p:cxnSp>
        <p:nvCxnSpPr>
          <p:cNvPr id="24" name="Line 24"/>
          <p:cNvCxnSpPr/>
          <p:nvPr/>
        </p:nvCxnSpPr>
        <p:spPr>
          <a:xfrm>
            <a:off x="10596258" y="2439162"/>
            <a:ext cx="0" cy="2876550"/>
          </a:xfrm>
          <a:prstGeom prst="line">
            <a:avLst/>
          </a:prstGeom>
          <a:ln w="9525" cap="flat">
            <a:solidFill>
              <a:srgbClr val="E6E8F2"/>
            </a:solidFill>
          </a:ln>
        </p:spPr>
      </p:cxnSp>
      <p:cxnSp>
        <p:nvCxnSpPr>
          <p:cNvPr id="25" name="Line 25"/>
          <p:cNvCxnSpPr/>
          <p:nvPr/>
        </p:nvCxnSpPr>
        <p:spPr>
          <a:xfrm>
            <a:off x="10755325" y="2439162"/>
            <a:ext cx="0" cy="2876550"/>
          </a:xfrm>
          <a:prstGeom prst="line">
            <a:avLst/>
          </a:prstGeom>
          <a:ln w="9525" cap="flat">
            <a:solidFill>
              <a:srgbClr val="E6E8F2"/>
            </a:solidFill>
          </a:ln>
        </p:spPr>
      </p:cxnSp>
      <p:cxnSp>
        <p:nvCxnSpPr>
          <p:cNvPr id="26" name="Line 26"/>
          <p:cNvCxnSpPr/>
          <p:nvPr/>
        </p:nvCxnSpPr>
        <p:spPr>
          <a:xfrm>
            <a:off x="10914393" y="2439162"/>
            <a:ext cx="0" cy="2876550"/>
          </a:xfrm>
          <a:prstGeom prst="line">
            <a:avLst/>
          </a:prstGeom>
          <a:ln w="9525" cap="flat">
            <a:solidFill>
              <a:srgbClr val="E6E8F2"/>
            </a:solidFill>
          </a:ln>
        </p:spPr>
      </p:cxnSp>
      <p:cxnSp>
        <p:nvCxnSpPr>
          <p:cNvPr id="27" name="Line 27"/>
          <p:cNvCxnSpPr/>
          <p:nvPr/>
        </p:nvCxnSpPr>
        <p:spPr>
          <a:xfrm>
            <a:off x="11073460" y="2439162"/>
            <a:ext cx="0" cy="2876550"/>
          </a:xfrm>
          <a:prstGeom prst="line">
            <a:avLst/>
          </a:prstGeom>
          <a:ln w="9525" cap="flat">
            <a:solidFill>
              <a:srgbClr val="E6E8F2"/>
            </a:solidFill>
          </a:ln>
        </p:spPr>
      </p:cxnSp>
      <p:cxnSp>
        <p:nvCxnSpPr>
          <p:cNvPr id="28" name="Line 28"/>
          <p:cNvCxnSpPr/>
          <p:nvPr/>
        </p:nvCxnSpPr>
        <p:spPr>
          <a:xfrm>
            <a:off x="11232528" y="2439162"/>
            <a:ext cx="0" cy="2876550"/>
          </a:xfrm>
          <a:prstGeom prst="line">
            <a:avLst/>
          </a:prstGeom>
          <a:ln w="9525" cap="flat">
            <a:solidFill>
              <a:srgbClr val="E6E8F2"/>
            </a:solidFill>
          </a:ln>
        </p:spPr>
      </p:cxnSp>
      <p:cxnSp>
        <p:nvCxnSpPr>
          <p:cNvPr id="29" name="Line 29"/>
          <p:cNvCxnSpPr/>
          <p:nvPr/>
        </p:nvCxnSpPr>
        <p:spPr>
          <a:xfrm>
            <a:off x="11391595" y="2439162"/>
            <a:ext cx="0" cy="2876550"/>
          </a:xfrm>
          <a:prstGeom prst="line">
            <a:avLst/>
          </a:prstGeom>
          <a:ln w="9525" cap="flat">
            <a:solidFill>
              <a:srgbClr val="E6E8F2"/>
            </a:solidFill>
          </a:ln>
        </p:spPr>
      </p:cxnSp>
      <p:cxnSp>
        <p:nvCxnSpPr>
          <p:cNvPr id="30" name="Line 30"/>
          <p:cNvCxnSpPr/>
          <p:nvPr/>
        </p:nvCxnSpPr>
        <p:spPr>
          <a:xfrm>
            <a:off x="8210245" y="5315712"/>
            <a:ext cx="3181350" cy="0"/>
          </a:xfrm>
          <a:prstGeom prst="line">
            <a:avLst/>
          </a:prstGeom>
          <a:ln w="9525" cap="flat">
            <a:solidFill>
              <a:srgbClr val="E6E8F2"/>
            </a:solidFill>
          </a:ln>
        </p:spPr>
      </p:cxnSp>
      <p:cxnSp>
        <p:nvCxnSpPr>
          <p:cNvPr id="31" name="Line 31"/>
          <p:cNvCxnSpPr/>
          <p:nvPr/>
        </p:nvCxnSpPr>
        <p:spPr>
          <a:xfrm>
            <a:off x="8210245" y="5135928"/>
            <a:ext cx="3181350" cy="0"/>
          </a:xfrm>
          <a:prstGeom prst="line">
            <a:avLst/>
          </a:prstGeom>
          <a:ln w="9525" cap="flat">
            <a:solidFill>
              <a:srgbClr val="E6E8F2"/>
            </a:solidFill>
          </a:ln>
        </p:spPr>
      </p:cxnSp>
      <p:cxnSp>
        <p:nvCxnSpPr>
          <p:cNvPr id="32" name="Line 32"/>
          <p:cNvCxnSpPr/>
          <p:nvPr/>
        </p:nvCxnSpPr>
        <p:spPr>
          <a:xfrm>
            <a:off x="8210245" y="4956143"/>
            <a:ext cx="3181350" cy="0"/>
          </a:xfrm>
          <a:prstGeom prst="line">
            <a:avLst/>
          </a:prstGeom>
          <a:ln w="9525" cap="flat">
            <a:solidFill>
              <a:srgbClr val="E6E8F2"/>
            </a:solidFill>
          </a:ln>
        </p:spPr>
      </p:cxnSp>
      <p:cxnSp>
        <p:nvCxnSpPr>
          <p:cNvPr id="33" name="Line 33"/>
          <p:cNvCxnSpPr/>
          <p:nvPr/>
        </p:nvCxnSpPr>
        <p:spPr>
          <a:xfrm>
            <a:off x="8210245" y="4776359"/>
            <a:ext cx="3181350" cy="0"/>
          </a:xfrm>
          <a:prstGeom prst="line">
            <a:avLst/>
          </a:prstGeom>
          <a:ln w="9525" cap="flat">
            <a:solidFill>
              <a:srgbClr val="E6E8F2"/>
            </a:solidFill>
          </a:ln>
        </p:spPr>
      </p:cxnSp>
      <p:cxnSp>
        <p:nvCxnSpPr>
          <p:cNvPr id="34" name="Line 34"/>
          <p:cNvCxnSpPr/>
          <p:nvPr/>
        </p:nvCxnSpPr>
        <p:spPr>
          <a:xfrm>
            <a:off x="8210245" y="4596574"/>
            <a:ext cx="3181350" cy="0"/>
          </a:xfrm>
          <a:prstGeom prst="line">
            <a:avLst/>
          </a:prstGeom>
          <a:ln w="9525" cap="flat">
            <a:solidFill>
              <a:srgbClr val="E6E8F2"/>
            </a:solidFill>
          </a:ln>
        </p:spPr>
      </p:cxnSp>
      <p:cxnSp>
        <p:nvCxnSpPr>
          <p:cNvPr id="35" name="Line 35"/>
          <p:cNvCxnSpPr/>
          <p:nvPr/>
        </p:nvCxnSpPr>
        <p:spPr>
          <a:xfrm>
            <a:off x="8210245" y="4416790"/>
            <a:ext cx="3181350" cy="0"/>
          </a:xfrm>
          <a:prstGeom prst="line">
            <a:avLst/>
          </a:prstGeom>
          <a:ln w="9525" cap="flat">
            <a:solidFill>
              <a:srgbClr val="E6E8F2"/>
            </a:solidFill>
          </a:ln>
        </p:spPr>
      </p:cxnSp>
      <p:cxnSp>
        <p:nvCxnSpPr>
          <p:cNvPr id="36" name="Line 36"/>
          <p:cNvCxnSpPr/>
          <p:nvPr/>
        </p:nvCxnSpPr>
        <p:spPr>
          <a:xfrm>
            <a:off x="8210245" y="4237006"/>
            <a:ext cx="3181350" cy="0"/>
          </a:xfrm>
          <a:prstGeom prst="line">
            <a:avLst/>
          </a:prstGeom>
          <a:ln w="9525" cap="flat">
            <a:solidFill>
              <a:srgbClr val="E6E8F2"/>
            </a:solidFill>
          </a:ln>
        </p:spPr>
      </p:cxnSp>
      <p:cxnSp>
        <p:nvCxnSpPr>
          <p:cNvPr id="37" name="Line 37"/>
          <p:cNvCxnSpPr/>
          <p:nvPr/>
        </p:nvCxnSpPr>
        <p:spPr>
          <a:xfrm>
            <a:off x="8210245" y="4057221"/>
            <a:ext cx="3181350" cy="0"/>
          </a:xfrm>
          <a:prstGeom prst="line">
            <a:avLst/>
          </a:prstGeom>
          <a:ln w="9525" cap="flat">
            <a:solidFill>
              <a:srgbClr val="E6E8F2"/>
            </a:solidFill>
          </a:ln>
        </p:spPr>
      </p:cxnSp>
      <p:cxnSp>
        <p:nvCxnSpPr>
          <p:cNvPr id="38" name="Line 38"/>
          <p:cNvCxnSpPr/>
          <p:nvPr/>
        </p:nvCxnSpPr>
        <p:spPr>
          <a:xfrm>
            <a:off x="8210245" y="3877437"/>
            <a:ext cx="3181350" cy="0"/>
          </a:xfrm>
          <a:prstGeom prst="line">
            <a:avLst/>
          </a:prstGeom>
          <a:ln w="9525" cap="flat">
            <a:solidFill>
              <a:srgbClr val="E6E8F2"/>
            </a:solidFill>
          </a:ln>
        </p:spPr>
      </p:cxnSp>
      <p:cxnSp>
        <p:nvCxnSpPr>
          <p:cNvPr id="39" name="Line 39"/>
          <p:cNvCxnSpPr/>
          <p:nvPr/>
        </p:nvCxnSpPr>
        <p:spPr>
          <a:xfrm>
            <a:off x="8210245" y="3697653"/>
            <a:ext cx="3181350" cy="0"/>
          </a:xfrm>
          <a:prstGeom prst="line">
            <a:avLst/>
          </a:prstGeom>
          <a:ln w="9525" cap="flat">
            <a:solidFill>
              <a:srgbClr val="E6E8F2"/>
            </a:solidFill>
          </a:ln>
        </p:spPr>
      </p:cxnSp>
      <p:cxnSp>
        <p:nvCxnSpPr>
          <p:cNvPr id="40" name="Line 40"/>
          <p:cNvCxnSpPr/>
          <p:nvPr/>
        </p:nvCxnSpPr>
        <p:spPr>
          <a:xfrm>
            <a:off x="8210245" y="3517868"/>
            <a:ext cx="3181350" cy="0"/>
          </a:xfrm>
          <a:prstGeom prst="line">
            <a:avLst/>
          </a:prstGeom>
          <a:ln w="9525" cap="flat">
            <a:solidFill>
              <a:srgbClr val="E6E8F2"/>
            </a:solidFill>
          </a:ln>
        </p:spPr>
      </p:cxnSp>
      <p:cxnSp>
        <p:nvCxnSpPr>
          <p:cNvPr id="41" name="Line 41"/>
          <p:cNvCxnSpPr/>
          <p:nvPr/>
        </p:nvCxnSpPr>
        <p:spPr>
          <a:xfrm>
            <a:off x="8210245" y="3338084"/>
            <a:ext cx="3181350" cy="0"/>
          </a:xfrm>
          <a:prstGeom prst="line">
            <a:avLst/>
          </a:prstGeom>
          <a:ln w="9525" cap="flat">
            <a:solidFill>
              <a:srgbClr val="E6E8F2"/>
            </a:solidFill>
          </a:ln>
        </p:spPr>
      </p:cxnSp>
      <p:cxnSp>
        <p:nvCxnSpPr>
          <p:cNvPr id="42" name="Line 42"/>
          <p:cNvCxnSpPr/>
          <p:nvPr/>
        </p:nvCxnSpPr>
        <p:spPr>
          <a:xfrm>
            <a:off x="8210245" y="3158300"/>
            <a:ext cx="3181350" cy="0"/>
          </a:xfrm>
          <a:prstGeom prst="line">
            <a:avLst/>
          </a:prstGeom>
          <a:ln w="9525" cap="flat">
            <a:solidFill>
              <a:srgbClr val="E6E8F2"/>
            </a:solidFill>
          </a:ln>
        </p:spPr>
      </p:cxnSp>
      <p:cxnSp>
        <p:nvCxnSpPr>
          <p:cNvPr id="43" name="Line 43"/>
          <p:cNvCxnSpPr/>
          <p:nvPr/>
        </p:nvCxnSpPr>
        <p:spPr>
          <a:xfrm>
            <a:off x="8210245" y="2978515"/>
            <a:ext cx="3181350" cy="0"/>
          </a:xfrm>
          <a:prstGeom prst="line">
            <a:avLst/>
          </a:prstGeom>
          <a:ln w="9525" cap="flat">
            <a:solidFill>
              <a:srgbClr val="E6E8F2"/>
            </a:solidFill>
          </a:ln>
        </p:spPr>
      </p:cxnSp>
      <p:cxnSp>
        <p:nvCxnSpPr>
          <p:cNvPr id="44" name="Line 44"/>
          <p:cNvCxnSpPr/>
          <p:nvPr/>
        </p:nvCxnSpPr>
        <p:spPr>
          <a:xfrm>
            <a:off x="8210245" y="2798731"/>
            <a:ext cx="3181350" cy="0"/>
          </a:xfrm>
          <a:prstGeom prst="line">
            <a:avLst/>
          </a:prstGeom>
          <a:ln w="9525" cap="flat">
            <a:solidFill>
              <a:srgbClr val="E6E8F2"/>
            </a:solidFill>
          </a:ln>
        </p:spPr>
      </p:cxnSp>
      <p:cxnSp>
        <p:nvCxnSpPr>
          <p:cNvPr id="45" name="Line 45"/>
          <p:cNvCxnSpPr/>
          <p:nvPr/>
        </p:nvCxnSpPr>
        <p:spPr>
          <a:xfrm>
            <a:off x="8210245" y="2618946"/>
            <a:ext cx="3181350" cy="0"/>
          </a:xfrm>
          <a:prstGeom prst="line">
            <a:avLst/>
          </a:prstGeom>
          <a:ln w="9525" cap="flat">
            <a:solidFill>
              <a:srgbClr val="E6E8F2"/>
            </a:solidFill>
          </a:ln>
        </p:spPr>
      </p:cxnSp>
      <p:cxnSp>
        <p:nvCxnSpPr>
          <p:cNvPr id="46" name="Line 46"/>
          <p:cNvCxnSpPr/>
          <p:nvPr/>
        </p:nvCxnSpPr>
        <p:spPr>
          <a:xfrm>
            <a:off x="8210245" y="2439162"/>
            <a:ext cx="3181350" cy="0"/>
          </a:xfrm>
          <a:prstGeom prst="line">
            <a:avLst/>
          </a:prstGeom>
          <a:ln w="9525" cap="flat">
            <a:solidFill>
              <a:srgbClr val="E6E8F2"/>
            </a:solidFill>
          </a:ln>
        </p:spPr>
      </p:cxnSp>
      <p:cxnSp>
        <p:nvCxnSpPr>
          <p:cNvPr id="47" name="Line 47"/>
          <p:cNvCxnSpPr/>
          <p:nvPr/>
        </p:nvCxnSpPr>
        <p:spPr>
          <a:xfrm>
            <a:off x="8210245" y="2439162"/>
            <a:ext cx="0" cy="2876550"/>
          </a:xfrm>
          <a:prstGeom prst="line">
            <a:avLst/>
          </a:prstGeom>
          <a:ln w="19050" cap="flat">
            <a:solidFill>
              <a:srgbClr val="5F6272"/>
            </a:solidFill>
          </a:ln>
        </p:spPr>
      </p:cxnSp>
      <p:cxnSp>
        <p:nvCxnSpPr>
          <p:cNvPr id="48" name="Line 48"/>
          <p:cNvCxnSpPr/>
          <p:nvPr/>
        </p:nvCxnSpPr>
        <p:spPr>
          <a:xfrm>
            <a:off x="8210245" y="5315712"/>
            <a:ext cx="3181350" cy="0"/>
          </a:xfrm>
          <a:prstGeom prst="line">
            <a:avLst/>
          </a:prstGeom>
          <a:ln w="19050" cap="flat">
            <a:solidFill>
              <a:srgbClr val="5F6272"/>
            </a:solidFill>
          </a:ln>
        </p:spPr>
      </p:cxnSp>
      <p:sp>
        <p:nvSpPr>
          <p:cNvPr id="49" name="Shape 49"/>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4" name="Shape 54"/>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5" name="Shape 55"/>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6" name="Shape 56"/>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7" name="Shape 57"/>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8" name="Shape 58"/>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a:t>
            </a:r>
            <a:endParaRPr lang="en-US" sz="975" dirty="0"/>
          </a:p>
        </p:txBody>
      </p:sp>
      <p:sp>
        <p:nvSpPr>
          <p:cNvPr id="59" name="Shape 59"/>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60" name="Shape 60"/>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2" name="Shape 62"/>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4" name="Shape 64"/>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5" name="Shape 65"/>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67" name="Shape 67"/>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8" name="Shape 68"/>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9" name="Shape 69"/>
          <p:cNvSpPr/>
          <p:nvPr/>
        </p:nvSpPr>
        <p:spPr>
          <a:xfrm>
            <a:off x="11021073" y="5263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11159185" y="50680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(18, 0)</a:t>
            </a:r>
            <a:endParaRPr lang="en-US" sz="1125" dirty="0"/>
          </a:p>
        </p:txBody>
      </p:sp>
      <p:sp>
        <p:nvSpPr>
          <p:cNvPr id="71" name="Shape 71"/>
          <p:cNvSpPr/>
          <p:nvPr/>
        </p:nvSpPr>
        <p:spPr>
          <a:xfrm>
            <a:off x="8157858" y="310591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2" name="Shape 72"/>
          <p:cNvSpPr txBox="1"/>
          <p:nvPr/>
        </p:nvSpPr>
        <p:spPr>
          <a:xfrm>
            <a:off x="8295970" y="29106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(0, 12)</a:t>
            </a:r>
            <a:endParaRPr lang="en-US" sz="1125" dirty="0"/>
          </a:p>
        </p:txBody>
      </p:sp>
      <p:cxnSp>
        <p:nvCxnSpPr>
          <p:cNvPr id="73" name="Line 73"/>
          <p:cNvCxnSpPr/>
          <p:nvPr/>
        </p:nvCxnSpPr>
        <p:spPr>
          <a:xfrm>
            <a:off x="8210245" y="3158300"/>
            <a:ext cx="2863215" cy="2157412"/>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anim calcmode="lin" valueType="num">
                                      <p:cBhvr>
                                        <p:cTn id="26" dur="500" fill="hold"/>
                                        <p:tgtEl>
                                          <p:spTgt spid="69"/>
                                        </p:tgtEl>
                                        <p:attrNameLst>
                                          <p:attrName>ppt_w</p:attrName>
                                        </p:attrNameLst>
                                      </p:cBhvr>
                                      <p:tavLst>
                                        <p:tav tm="0">
                                          <p:val>
                                            <p:fltVal val="0"/>
                                          </p:val>
                                        </p:tav>
                                        <p:tav tm="100000">
                                          <p:val>
                                            <p:strVal val="#ppt_w"/>
                                          </p:val>
                                        </p:tav>
                                      </p:tavLst>
                                    </p:anim>
                                    <p:anim calcmode="lin" valueType="num">
                                      <p:cBhvr>
                                        <p:cTn id="27" dur="500" fill="hold"/>
                                        <p:tgtEl>
                                          <p:spTgt spid="69"/>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500"/>
                                        <p:tgtEl>
                                          <p:spTgt spid="70"/>
                                        </p:tgtEl>
                                      </p:cBhvr>
                                    </p:animEffect>
                                    <p:anim calcmode="lin" valueType="num">
                                      <p:cBhvr>
                                        <p:cTn id="31" dur="500" fill="hold"/>
                                        <p:tgtEl>
                                          <p:spTgt spid="70"/>
                                        </p:tgtEl>
                                        <p:attrNameLst>
                                          <p:attrName>ppt_w</p:attrName>
                                        </p:attrNameLst>
                                      </p:cBhvr>
                                      <p:tavLst>
                                        <p:tav tm="0">
                                          <p:val>
                                            <p:fltVal val="0"/>
                                          </p:val>
                                        </p:tav>
                                        <p:tav tm="100000">
                                          <p:val>
                                            <p:strVal val="#ppt_w"/>
                                          </p:val>
                                        </p:tav>
                                      </p:tavLst>
                                    </p:anim>
                                    <p:anim calcmode="lin" valueType="num">
                                      <p:cBhvr>
                                        <p:cTn id="32"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anim calcmode="lin" valueType="num">
                                      <p:cBhvr>
                                        <p:cTn id="43" dur="500" fill="hold"/>
                                        <p:tgtEl>
                                          <p:spTgt spid="72"/>
                                        </p:tgtEl>
                                        <p:attrNameLst>
                                          <p:attrName>ppt_w</p:attrName>
                                        </p:attrNameLst>
                                      </p:cBhvr>
                                      <p:tavLst>
                                        <p:tav tm="0">
                                          <p:val>
                                            <p:fltVal val="0"/>
                                          </p:val>
                                        </p:tav>
                                        <p:tav tm="100000">
                                          <p:val>
                                            <p:strVal val="#ppt_w"/>
                                          </p:val>
                                        </p:tav>
                                      </p:tavLst>
                                    </p:anim>
                                    <p:anim calcmode="lin" valueType="num">
                                      <p:cBhvr>
                                        <p:cTn id="44" dur="5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 233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Nicky's savings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Nicky has </a:t>
            </a:r>
            <a:r>
              <a:rPr lang="en-US" sz="1575" dirty="0" b="1">
                <a:solidFill>
                  <a:srgbClr val="16171D"/>
                </a:solidFill>
                <a:latin typeface="Segoe UI"/>
                <a:cs typeface="Segoe UI"/>
              </a:rPr>
              <a:t xml:space="preserve">$20</a:t>
            </a:r>
            <a:r>
              <a:rPr lang="en-US" sz="1575" dirty="0">
                <a:solidFill>
                  <a:srgbClr val="16171D"/>
                </a:solidFill>
                <a:latin typeface="Segoe UI"/>
                <a:cs typeface="Segoe UI"/>
              </a:rPr>
              <a:t xml:space="preserve"> and plans to save an additional </a:t>
            </a:r>
            <a:r>
              <a:rPr lang="en-US" sz="1575" dirty="0" b="1">
                <a:solidFill>
                  <a:srgbClr val="16171D"/>
                </a:solidFill>
                <a:latin typeface="Segoe UI"/>
                <a:cs typeface="Segoe UI"/>
              </a:rPr>
              <a:t xml:space="preserve">$10 every two weeks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number of weeks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every 2 weeks is </a:t>
            </a:r>
            <a:r>
              <a:rPr lang="en-US" sz="1575" dirty="0" b="1">
                <a:solidFill>
                  <a:srgbClr val="C9561F"/>
                </a:solidFill>
                <a:latin typeface="Segoe UI"/>
                <a:cs typeface="Segoe UI"/>
              </a:rPr>
              <a:t xml:space="preserve">$5 per week</a:t>
            </a:r>
            <a:r>
              <a:rPr lang="en-US" sz="1575" dirty="0">
                <a:solidFill>
                  <a:srgbClr val="16171D"/>
                </a:solidFill>
                <a:latin typeface="Segoe UI"/>
                <a:cs typeface="Segoe UI"/>
              </a:rPr>
              <a:t xml:space="preserve">. He starts with </a:t>
            </a:r>
            <a:r>
              <a:rPr lang="en-US" sz="1575" dirty="0" b="1">
                <a:solidFill>
                  <a:srgbClr val="3050B8"/>
                </a:solidFill>
                <a:latin typeface="Segoe UI"/>
                <a:cs typeface="Segoe UI"/>
              </a:rPr>
              <a:t xml:space="preserve">$20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4486046"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endParaRPr lang="en-US" sz="2850" dirty="0"/>
          </a:p>
        </p:txBody>
      </p:sp>
      <p:sp>
        <p:nvSpPr>
          <p:cNvPr id="7" name="Shape 7"/>
          <p:cNvSpPr txBox="1"/>
          <p:nvPr/>
        </p:nvSpPr>
        <p:spPr>
          <a:xfrm>
            <a:off x="685800" y="3409188"/>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slope-intercept, because the rate and the starting amount are given directly.</a:t>
            </a:r>
            <a:endParaRPr lang="en-US" sz="1575" dirty="0"/>
          </a:p>
        </p:txBody>
      </p:sp>
      <p:sp>
        <p:nvSpPr>
          <p:cNvPr id="8" name="Shape 8"/>
          <p:cNvSpPr txBox="1"/>
          <p:nvPr/>
        </p:nvSpPr>
        <p:spPr>
          <a:xfrm>
            <a:off x="685800" y="40393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plot </a:t>
            </a:r>
            <a:r>
              <a:rPr lang="en-US" sz="1575" dirty="0" b="1">
                <a:solidFill>
                  <a:srgbClr val="3050B8"/>
                </a:solidFill>
                <a:latin typeface="Segoe UI"/>
                <a:cs typeface="Segoe UI"/>
              </a:rPr>
              <a:t xml:space="preserve">(0, 20)</a:t>
            </a:r>
            <a:r>
              <a:rPr lang="en-US" sz="1575" dirty="0">
                <a:solidFill>
                  <a:srgbClr val="16171D"/>
                </a:solidFill>
                <a:latin typeface="Segoe UI"/>
                <a:cs typeface="Segoe UI"/>
              </a:rPr>
              <a:t xml:space="preserve">, then use the slope, </a:t>
            </a:r>
            <a:r>
              <a:rPr lang="en-US" sz="1575" dirty="0" b="1">
                <a:solidFill>
                  <a:srgbClr val="C9561F"/>
                </a:solidFill>
                <a:latin typeface="Cambria"/>
                <a:cs typeface="Cambria"/>
              </a:rPr>
              <a:t xml:space="preserve">10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a:t>
            </a:r>
            <a:r>
              <a:rPr lang="en-US" sz="1575" dirty="0">
                <a:solidFill>
                  <a:srgbClr val="16171D"/>
                </a:solidFill>
                <a:latin typeface="Segoe UI"/>
                <a:cs typeface="Segoe UI"/>
              </a:rPr>
              <a:t xml:space="preserve">: up 10, right 2.</a:t>
            </a:r>
            <a:endParaRPr lang="en-US" sz="1575" dirty="0"/>
          </a:p>
        </p:txBody>
      </p:sp>
      <p:sp>
        <p:nvSpPr>
          <p:cNvPr id="9" name="Shape 9"/>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846515" y="2439162"/>
            <a:ext cx="0" cy="2876550"/>
          </a:xfrm>
          <a:prstGeom prst="line">
            <a:avLst/>
          </a:prstGeom>
          <a:ln w="9525" cap="flat">
            <a:solidFill>
              <a:srgbClr val="E6E8F2"/>
            </a:solidFill>
          </a:ln>
        </p:spPr>
      </p:cxnSp>
      <p:cxnSp>
        <p:nvCxnSpPr>
          <p:cNvPr id="13" name="Line 13"/>
          <p:cNvCxnSpPr/>
          <p:nvPr/>
        </p:nvCxnSpPr>
        <p:spPr>
          <a:xfrm>
            <a:off x="9164650" y="2439162"/>
            <a:ext cx="0" cy="2876550"/>
          </a:xfrm>
          <a:prstGeom prst="line">
            <a:avLst/>
          </a:prstGeom>
          <a:ln w="9525" cap="flat">
            <a:solidFill>
              <a:srgbClr val="E6E8F2"/>
            </a:solidFill>
          </a:ln>
        </p:spPr>
      </p:cxnSp>
      <p:cxnSp>
        <p:nvCxnSpPr>
          <p:cNvPr id="14" name="Line 14"/>
          <p:cNvCxnSpPr/>
          <p:nvPr/>
        </p:nvCxnSpPr>
        <p:spPr>
          <a:xfrm>
            <a:off x="9482785" y="2439162"/>
            <a:ext cx="0" cy="2876550"/>
          </a:xfrm>
          <a:prstGeom prst="line">
            <a:avLst/>
          </a:prstGeom>
          <a:ln w="9525" cap="flat">
            <a:solidFill>
              <a:srgbClr val="E6E8F2"/>
            </a:solidFill>
          </a:ln>
        </p:spPr>
      </p:cxnSp>
      <p:cxnSp>
        <p:nvCxnSpPr>
          <p:cNvPr id="15" name="Line 15"/>
          <p:cNvCxnSpPr/>
          <p:nvPr/>
        </p:nvCxnSpPr>
        <p:spPr>
          <a:xfrm>
            <a:off x="9800920" y="2439162"/>
            <a:ext cx="0" cy="2876550"/>
          </a:xfrm>
          <a:prstGeom prst="line">
            <a:avLst/>
          </a:prstGeom>
          <a:ln w="9525" cap="flat">
            <a:solidFill>
              <a:srgbClr val="E6E8F2"/>
            </a:solidFill>
          </a:ln>
        </p:spPr>
      </p:cxnSp>
      <p:cxnSp>
        <p:nvCxnSpPr>
          <p:cNvPr id="16" name="Line 16"/>
          <p:cNvCxnSpPr/>
          <p:nvPr/>
        </p:nvCxnSpPr>
        <p:spPr>
          <a:xfrm>
            <a:off x="10119055" y="2439162"/>
            <a:ext cx="0" cy="2876550"/>
          </a:xfrm>
          <a:prstGeom prst="line">
            <a:avLst/>
          </a:prstGeom>
          <a:ln w="9525" cap="flat">
            <a:solidFill>
              <a:srgbClr val="E6E8F2"/>
            </a:solidFill>
          </a:ln>
        </p:spPr>
      </p:cxnSp>
      <p:cxnSp>
        <p:nvCxnSpPr>
          <p:cNvPr id="17" name="Line 17"/>
          <p:cNvCxnSpPr/>
          <p:nvPr/>
        </p:nvCxnSpPr>
        <p:spPr>
          <a:xfrm>
            <a:off x="10437190" y="2439162"/>
            <a:ext cx="0" cy="2876550"/>
          </a:xfrm>
          <a:prstGeom prst="line">
            <a:avLst/>
          </a:prstGeom>
          <a:ln w="9525" cap="flat">
            <a:solidFill>
              <a:srgbClr val="E6E8F2"/>
            </a:solidFill>
          </a:ln>
        </p:spPr>
      </p:cxnSp>
      <p:cxnSp>
        <p:nvCxnSpPr>
          <p:cNvPr id="18" name="Line 18"/>
          <p:cNvCxnSpPr/>
          <p:nvPr/>
        </p:nvCxnSpPr>
        <p:spPr>
          <a:xfrm>
            <a:off x="10755325" y="2439162"/>
            <a:ext cx="0" cy="2876550"/>
          </a:xfrm>
          <a:prstGeom prst="line">
            <a:avLst/>
          </a:prstGeom>
          <a:ln w="9525" cap="flat">
            <a:solidFill>
              <a:srgbClr val="E6E8F2"/>
            </a:solidFill>
          </a:ln>
        </p:spPr>
      </p:cxnSp>
      <p:cxnSp>
        <p:nvCxnSpPr>
          <p:cNvPr id="19" name="Line 19"/>
          <p:cNvCxnSpPr/>
          <p:nvPr/>
        </p:nvCxnSpPr>
        <p:spPr>
          <a:xfrm>
            <a:off x="11073460" y="2439162"/>
            <a:ext cx="0" cy="2876550"/>
          </a:xfrm>
          <a:prstGeom prst="line">
            <a:avLst/>
          </a:prstGeom>
          <a:ln w="9525" cap="flat">
            <a:solidFill>
              <a:srgbClr val="E6E8F2"/>
            </a:solidFill>
          </a:ln>
        </p:spPr>
      </p:cxnSp>
      <p:cxnSp>
        <p:nvCxnSpPr>
          <p:cNvPr id="20" name="Line 20"/>
          <p:cNvCxnSpPr/>
          <p:nvPr/>
        </p:nvCxnSpPr>
        <p:spPr>
          <a:xfrm>
            <a:off x="11391595" y="2439162"/>
            <a:ext cx="0" cy="2876550"/>
          </a:xfrm>
          <a:prstGeom prst="line">
            <a:avLst/>
          </a:prstGeom>
          <a:ln w="9525" cap="flat">
            <a:solidFill>
              <a:srgbClr val="E6E8F2"/>
            </a:solidFill>
          </a:ln>
        </p:spPr>
      </p:cxnSp>
      <p:cxnSp>
        <p:nvCxnSpPr>
          <p:cNvPr id="21" name="Line 21"/>
          <p:cNvCxnSpPr/>
          <p:nvPr/>
        </p:nvCxnSpPr>
        <p:spPr>
          <a:xfrm>
            <a:off x="8210245" y="5315712"/>
            <a:ext cx="3181350" cy="0"/>
          </a:xfrm>
          <a:prstGeom prst="line">
            <a:avLst/>
          </a:prstGeom>
          <a:ln w="9525" cap="flat">
            <a:solidFill>
              <a:srgbClr val="E6E8F2"/>
            </a:solidFill>
          </a:ln>
        </p:spPr>
      </p:cxnSp>
      <p:cxnSp>
        <p:nvCxnSpPr>
          <p:cNvPr id="22" name="Line 22"/>
          <p:cNvCxnSpPr/>
          <p:nvPr/>
        </p:nvCxnSpPr>
        <p:spPr>
          <a:xfrm>
            <a:off x="8210245" y="4956143"/>
            <a:ext cx="3181350" cy="0"/>
          </a:xfrm>
          <a:prstGeom prst="line">
            <a:avLst/>
          </a:prstGeom>
          <a:ln w="9525" cap="flat">
            <a:solidFill>
              <a:srgbClr val="E6E8F2"/>
            </a:solidFill>
          </a:ln>
        </p:spPr>
      </p:cxnSp>
      <p:cxnSp>
        <p:nvCxnSpPr>
          <p:cNvPr id="23" name="Line 23"/>
          <p:cNvCxnSpPr/>
          <p:nvPr/>
        </p:nvCxnSpPr>
        <p:spPr>
          <a:xfrm>
            <a:off x="8210245" y="4596574"/>
            <a:ext cx="3181350" cy="0"/>
          </a:xfrm>
          <a:prstGeom prst="line">
            <a:avLst/>
          </a:prstGeom>
          <a:ln w="9525" cap="flat">
            <a:solidFill>
              <a:srgbClr val="E6E8F2"/>
            </a:solidFill>
          </a:ln>
        </p:spPr>
      </p:cxnSp>
      <p:cxnSp>
        <p:nvCxnSpPr>
          <p:cNvPr id="24" name="Line 24"/>
          <p:cNvCxnSpPr/>
          <p:nvPr/>
        </p:nvCxnSpPr>
        <p:spPr>
          <a:xfrm>
            <a:off x="8210245" y="4237006"/>
            <a:ext cx="3181350" cy="0"/>
          </a:xfrm>
          <a:prstGeom prst="line">
            <a:avLst/>
          </a:prstGeom>
          <a:ln w="9525" cap="flat">
            <a:solidFill>
              <a:srgbClr val="E6E8F2"/>
            </a:solidFill>
          </a:ln>
        </p:spPr>
      </p:cxnSp>
      <p:cxnSp>
        <p:nvCxnSpPr>
          <p:cNvPr id="25" name="Line 25"/>
          <p:cNvCxnSpPr/>
          <p:nvPr/>
        </p:nvCxnSpPr>
        <p:spPr>
          <a:xfrm>
            <a:off x="8210245" y="3877437"/>
            <a:ext cx="3181350" cy="0"/>
          </a:xfrm>
          <a:prstGeom prst="line">
            <a:avLst/>
          </a:prstGeom>
          <a:ln w="9525" cap="flat">
            <a:solidFill>
              <a:srgbClr val="E6E8F2"/>
            </a:solidFill>
          </a:ln>
        </p:spPr>
      </p:cxnSp>
      <p:cxnSp>
        <p:nvCxnSpPr>
          <p:cNvPr id="26" name="Line 26"/>
          <p:cNvCxnSpPr/>
          <p:nvPr/>
        </p:nvCxnSpPr>
        <p:spPr>
          <a:xfrm>
            <a:off x="8210245" y="3517868"/>
            <a:ext cx="3181350" cy="0"/>
          </a:xfrm>
          <a:prstGeom prst="line">
            <a:avLst/>
          </a:prstGeom>
          <a:ln w="9525" cap="flat">
            <a:solidFill>
              <a:srgbClr val="E6E8F2"/>
            </a:solidFill>
          </a:ln>
        </p:spPr>
      </p:cxnSp>
      <p:cxnSp>
        <p:nvCxnSpPr>
          <p:cNvPr id="27" name="Line 27"/>
          <p:cNvCxnSpPr/>
          <p:nvPr/>
        </p:nvCxnSpPr>
        <p:spPr>
          <a:xfrm>
            <a:off x="8210245" y="3158300"/>
            <a:ext cx="3181350" cy="0"/>
          </a:xfrm>
          <a:prstGeom prst="line">
            <a:avLst/>
          </a:prstGeom>
          <a:ln w="9525" cap="flat">
            <a:solidFill>
              <a:srgbClr val="E6E8F2"/>
            </a:solidFill>
          </a:ln>
        </p:spPr>
      </p:cxnSp>
      <p:cxnSp>
        <p:nvCxnSpPr>
          <p:cNvPr id="28" name="Line 28"/>
          <p:cNvCxnSpPr/>
          <p:nvPr/>
        </p:nvCxnSpPr>
        <p:spPr>
          <a:xfrm>
            <a:off x="8210245" y="2798731"/>
            <a:ext cx="3181350" cy="0"/>
          </a:xfrm>
          <a:prstGeom prst="line">
            <a:avLst/>
          </a:prstGeom>
          <a:ln w="9525" cap="flat">
            <a:solidFill>
              <a:srgbClr val="E6E8F2"/>
            </a:solidFill>
          </a:ln>
        </p:spPr>
      </p:cxnSp>
      <p:cxnSp>
        <p:nvCxnSpPr>
          <p:cNvPr id="29" name="Line 29"/>
          <p:cNvCxnSpPr/>
          <p:nvPr/>
        </p:nvCxnSpPr>
        <p:spPr>
          <a:xfrm>
            <a:off x="8210245" y="2439162"/>
            <a:ext cx="3181350" cy="0"/>
          </a:xfrm>
          <a:prstGeom prst="line">
            <a:avLst/>
          </a:prstGeom>
          <a:ln w="9525" cap="flat">
            <a:solidFill>
              <a:srgbClr val="E6E8F2"/>
            </a:solidFill>
          </a:ln>
        </p:spPr>
      </p:cxnSp>
      <p:cxnSp>
        <p:nvCxnSpPr>
          <p:cNvPr id="30" name="Line 30"/>
          <p:cNvCxnSpPr/>
          <p:nvPr/>
        </p:nvCxnSpPr>
        <p:spPr>
          <a:xfrm>
            <a:off x="8210245" y="2439162"/>
            <a:ext cx="0" cy="2876550"/>
          </a:xfrm>
          <a:prstGeom prst="line">
            <a:avLst/>
          </a:prstGeom>
          <a:ln w="19050" cap="flat">
            <a:solidFill>
              <a:srgbClr val="5F6272"/>
            </a:solidFill>
          </a:ln>
        </p:spPr>
      </p:cxnSp>
      <p:cxnSp>
        <p:nvCxnSpPr>
          <p:cNvPr id="31" name="Line 31"/>
          <p:cNvCxnSpPr/>
          <p:nvPr/>
        </p:nvCxnSpPr>
        <p:spPr>
          <a:xfrm>
            <a:off x="8210245" y="5315712"/>
            <a:ext cx="3181350" cy="0"/>
          </a:xfrm>
          <a:prstGeom prst="line">
            <a:avLst/>
          </a:prstGeom>
          <a:ln w="19050" cap="flat">
            <a:solidFill>
              <a:srgbClr val="5F6272"/>
            </a:solidFill>
          </a:ln>
        </p:spPr>
      </p:cxnSp>
      <p:sp>
        <p:nvSpPr>
          <p:cNvPr id="32" name="Shape 32"/>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1" name="Shape 41"/>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2" name="Shape 42"/>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6" name="Shape 46"/>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7" name="Shape 47"/>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48" name="Shape 48"/>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49" name="Shape 49"/>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0" name="Shape 50"/>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1" name="Shape 51"/>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p:nvPr/>
        </p:nvSpPr>
        <p:spPr>
          <a:xfrm>
            <a:off x="8157858" y="454418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8295970" y="434892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a:t>
            </a:r>
            <a:endParaRPr lang="en-US" sz="1125" dirty="0"/>
          </a:p>
        </p:txBody>
      </p:sp>
      <p:sp>
        <p:nvSpPr>
          <p:cNvPr id="54" name="Shape 54"/>
          <p:cNvSpPr/>
          <p:nvPr/>
        </p:nvSpPr>
        <p:spPr>
          <a:xfrm>
            <a:off x="8794128" y="41846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430398" y="38250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8210245" y="2798731"/>
            <a:ext cx="3181350" cy="1797844"/>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anim calcmode="lin" valueType="num">
                                      <p:cBhvr>
                                        <p:cTn id="38" dur="500" fill="hold"/>
                                        <p:tgtEl>
                                          <p:spTgt spid="53"/>
                                        </p:tgtEl>
                                        <p:attrNameLst>
                                          <p:attrName>ppt_w</p:attrName>
                                        </p:attrNameLst>
                                      </p:cBhvr>
                                      <p:tavLst>
                                        <p:tav tm="0">
                                          <p:val>
                                            <p:fltVal val="0"/>
                                          </p:val>
                                        </p:tav>
                                        <p:tav tm="100000">
                                          <p:val>
                                            <p:strVal val="#ppt_w"/>
                                          </p:val>
                                        </p:tav>
                                      </p:tavLst>
                                    </p:anim>
                                    <p:anim calcmode="lin" valueType="num">
                                      <p:cBhvr>
                                        <p:cTn id="39"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anim calcmode="lin" valueType="num">
                                      <p:cBhvr>
                                        <p:cTn id="45" dur="500" fill="hold"/>
                                        <p:tgtEl>
                                          <p:spTgt spid="54"/>
                                        </p:tgtEl>
                                        <p:attrNameLst>
                                          <p:attrName>ppt_w</p:attrName>
                                        </p:attrNameLst>
                                      </p:cBhvr>
                                      <p:tavLst>
                                        <p:tav tm="0">
                                          <p:val>
                                            <p:fltVal val="0"/>
                                          </p:val>
                                        </p:tav>
                                        <p:tav tm="100000">
                                          <p:val>
                                            <p:strVal val="#ppt_w"/>
                                          </p:val>
                                        </p:tav>
                                      </p:tavLst>
                                    </p:anim>
                                    <p:anim calcmode="lin" valueType="num">
                                      <p:cBhvr>
                                        <p:cTn id="4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22" presetClass="entr" presetSubtype="8"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left)">
                                      <p:cBhvr>
                                        <p:cTn id="58" dur="7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SE pp. 233–234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Advantages and disadvantages of each form</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Form</a:t>
            </a: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Advantages</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Disadvantages</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a:t>
            </a:r>
            <a:endParaRPr lang="en-US" sz="1800" dirty="0"/>
          </a:p>
        </p:txBody>
      </p:sp>
      <p:sp>
        <p:nvSpPr>
          <p:cNvPr id="9" name="Shape 9"/>
          <p:cNvSpPr txBox="1"/>
          <p:nvPr/>
        </p:nvSpPr>
        <p:spPr>
          <a:xfrm>
            <a:off x="2849819"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Easy to write from a starting value and a rate. Graph from the intercept and slope.</a:t>
            </a:r>
            <a:endParaRPr lang="en-US" sz="1800" dirty="0"/>
          </a:p>
        </p:txBody>
      </p:sp>
      <p:sp>
        <p:nvSpPr>
          <p:cNvPr id="10" name="Shape 10"/>
          <p:cNvSpPr txBox="1"/>
          <p:nvPr/>
        </p:nvSpPr>
        <p:spPr>
          <a:xfrm>
            <a:off x="7177857"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Less helpful if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doesn't make sense or is off the part of the graph you need.</a:t>
            </a:r>
            <a:endParaRPr lang="en-US" sz="1800" dirty="0"/>
          </a:p>
        </p:txBody>
      </p:sp>
      <p:cxnSp>
        <p:nvCxnSpPr>
          <p:cNvPr id="11" name="Line 11"/>
          <p:cNvCxnSpPr/>
          <p:nvPr/>
        </p:nvCxnSpPr>
        <p:spPr>
          <a:xfrm>
            <a:off x="685800" y="3415284"/>
            <a:ext cx="10820095" cy="0"/>
          </a:xfrm>
          <a:prstGeom prst="line">
            <a:avLst/>
          </a:prstGeom>
          <a:ln w="9525" cap="flat">
            <a:solidFill>
              <a:srgbClr val="E3E4EC"/>
            </a:solidFill>
          </a:ln>
        </p:spPr>
      </p:cxnSp>
      <p:sp>
        <p:nvSpPr>
          <p:cNvPr id="12" name="Shape 12"/>
          <p:cNvSpPr txBox="1"/>
          <p:nvPr/>
        </p:nvSpPr>
        <p:spPr>
          <a:xfrm>
            <a:off x="685800" y="3415284"/>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y</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x</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a:t>
            </a:r>
            <a:endParaRPr lang="en-US" sz="1800" dirty="0"/>
          </a:p>
        </p:txBody>
      </p:sp>
      <p:sp>
        <p:nvSpPr>
          <p:cNvPr id="13" name="Shape 13"/>
          <p:cNvSpPr txBox="1"/>
          <p:nvPr/>
        </p:nvSpPr>
        <p:spPr>
          <a:xfrm>
            <a:off x="2849819"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 point. Easy to write from two points or a point and a rate. Graph from the point and slope.</a:t>
            </a:r>
            <a:endParaRPr lang="en-US" sz="1800" dirty="0"/>
          </a:p>
        </p:txBody>
      </p:sp>
      <p:sp>
        <p:nvSpPr>
          <p:cNvPr id="14" name="Shape 14"/>
          <p:cNvSpPr txBox="1"/>
          <p:nvPr/>
        </p:nvSpPr>
        <p:spPr>
          <a:xfrm>
            <a:off x="7177857"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Doesn't show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15" name="Line 15"/>
          <p:cNvCxnSpPr/>
          <p:nvPr/>
        </p:nvCxnSpPr>
        <p:spPr>
          <a:xfrm>
            <a:off x="685800" y="4713732"/>
            <a:ext cx="10820095" cy="0"/>
          </a:xfrm>
          <a:prstGeom prst="line">
            <a:avLst/>
          </a:prstGeom>
          <a:ln w="9525" cap="flat">
            <a:solidFill>
              <a:srgbClr val="E3E4EC"/>
            </a:solidFill>
          </a:ln>
        </p:spPr>
      </p:cxnSp>
      <p:sp>
        <p:nvSpPr>
          <p:cNvPr id="16" name="Shape 16"/>
          <p:cNvSpPr txBox="1"/>
          <p:nvPr/>
        </p:nvSpPr>
        <p:spPr>
          <a:xfrm>
            <a:off x="685800" y="4713732"/>
            <a:ext cx="2164019" cy="102412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Standard</a:t>
            </a:r>
            <a:br>
              <a:rPr lang="en-US" sz="1800" dirty="0">
                <a:solidFill>
                  <a:srgbClr val="16171D"/>
                </a:solidFill>
                <a:latin typeface="Segoe UI"/>
                <a:cs typeface="Segoe UI"/>
              </a:rPr>
            </a:br>
            <a:r>
              <a:rPr lang="en-US" sz="1800" dirty="0" i="1">
                <a:solidFill>
                  <a:srgbClr val="16171D"/>
                </a:solidFill>
                <a:latin typeface="Cambria"/>
                <a:cs typeface="Cambria"/>
              </a:rPr>
              <a:t xml:space="preserve">Ax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C</a:t>
            </a:r>
            <a:endParaRPr lang="en-US" sz="1800" dirty="0"/>
          </a:p>
        </p:txBody>
      </p:sp>
      <p:sp>
        <p:nvSpPr>
          <p:cNvPr id="17" name="Shape 17"/>
          <p:cNvSpPr txBox="1"/>
          <p:nvPr/>
        </p:nvSpPr>
        <p:spPr>
          <a:xfrm>
            <a:off x="2849819"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Fits contexts where two amounts add to a total. Both intercepts are easy to find and graph.</a:t>
            </a:r>
            <a:endParaRPr lang="en-US" sz="1800" dirty="0"/>
          </a:p>
        </p:txBody>
      </p:sp>
      <p:sp>
        <p:nvSpPr>
          <p:cNvPr id="18" name="Shape 18"/>
          <p:cNvSpPr txBox="1"/>
          <p:nvPr/>
        </p:nvSpPr>
        <p:spPr>
          <a:xfrm>
            <a:off x="7177857"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You have to calculate the slope.</a:t>
            </a:r>
            <a:endParaRPr lang="en-US" sz="1800" dirty="0"/>
          </a:p>
        </p:txBody>
      </p:sp>
      <p:cxnSp>
        <p:nvCxnSpPr>
          <p:cNvPr id="19" name="Line 19"/>
          <p:cNvCxnSpPr/>
          <p:nvPr/>
        </p:nvCxnSpPr>
        <p:spPr>
          <a:xfrm>
            <a:off x="685800" y="5737860"/>
            <a:ext cx="10820095" cy="0"/>
          </a:xfrm>
          <a:prstGeom prst="line">
            <a:avLst/>
          </a:prstGeom>
          <a:ln w="9525" cap="flat">
            <a:solidFill>
              <a:srgbClr val="E3E4E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 faster way.</a:t>
            </a:r>
            <a:r>
              <a:rPr lang="en-US" sz="1950" dirty="0">
                <a:solidFill>
                  <a:srgbClr val="16171D"/>
                </a:solidFill>
                <a:latin typeface="Segoe UI"/>
                <a:cs typeface="Segoe UI"/>
              </a:rPr>
              <a:t xml:space="preserve"> You don't need a table; the equation tells you where to start and how to move.</a:t>
            </a:r>
            <a:endParaRPr lang="en-US" sz="1950" dirty="0"/>
          </a:p>
        </p:txBody>
      </p:sp>
      <p:sp>
        <p:nvSpPr>
          <p:cNvPr id="5" name="Shape 5"/>
          <p:cNvSpPr txBox="1"/>
          <p:nvPr/>
        </p:nvSpPr>
        <p:spPr>
          <a:xfrm>
            <a:off x="685800" y="25153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Slope-intercept:</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30579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Point-slope:</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x</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 </a:t>
            </a:r>
            <a:r>
              <a:rPr lang="en-US" sz="1950" dirty="0" b="1" i="1">
                <a:solidFill>
                  <a:srgbClr val="3050B8"/>
                </a:solidFill>
                <a:latin typeface="Segoe UI"/>
                <a:cs typeface="Segoe UI"/>
              </a:rPr>
              <a:t xml:space="preserve">y</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004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Standard form:</a:t>
            </a:r>
            <a:r>
              <a:rPr lang="en-US" sz="1950" dirty="0">
                <a:solidFill>
                  <a:srgbClr val="16171D"/>
                </a:solidFill>
                <a:latin typeface="Segoe UI"/>
                <a:cs typeface="Segoe UI"/>
              </a:rPr>
              <a:t xml:space="preserve"> find both intercepts,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A</a:t>
            </a:r>
            <a:r>
              <a:rPr lang="en-US" sz="1950" dirty="0" b="1">
                <a:solidFill>
                  <a:srgbClr val="3050B8"/>
                </a:solidFill>
                <a:latin typeface="Segoe UI"/>
                <a:cs typeface="Segoe UI"/>
              </a:rPr>
              <a:t xml:space="preserve">, 0)</a:t>
            </a:r>
            <a:r>
              <a:rPr lang="en-US" sz="1950" dirty="0">
                <a:solidFill>
                  <a:srgbClr val="16171D"/>
                </a:solidFill>
                <a:latin typeface="Segoe UI"/>
                <a:cs typeface="Segoe UI"/>
              </a:rPr>
              <a:t xml:space="preserve"> and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and connect them.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one more point you would plot to graph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39162"/>
            <a:ext cx="804864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2), then down 3, right 4: (4, −1)</a:t>
            </a:r>
            <a:endParaRPr lang="en-US" sz="2325" dirty="0"/>
          </a:p>
        </p:txBody>
      </p:sp>
      <p:sp>
        <p:nvSpPr>
          <p:cNvPr id="6" name="Shape 6"/>
          <p:cNvSpPr txBox="1"/>
          <p:nvPr/>
        </p:nvSpPr>
        <p:spPr>
          <a:xfrm>
            <a:off x="685800" y="307238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Find the intercepts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7" name="Shape 7"/>
          <p:cNvSpPr txBox="1"/>
          <p:nvPr/>
        </p:nvSpPr>
        <p:spPr>
          <a:xfrm>
            <a:off x="685800" y="353872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 0) and (0, 6)</a:t>
            </a:r>
            <a:endParaRPr lang="en-US" sz="2325" dirty="0"/>
          </a:p>
        </p:txBody>
      </p:sp>
      <p:sp>
        <p:nvSpPr>
          <p:cNvPr id="8" name="Shape 8"/>
          <p:cNvSpPr txBox="1"/>
          <p:nvPr/>
        </p:nvSpPr>
        <p:spPr>
          <a:xfrm>
            <a:off x="685800" y="41719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Find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231)</a:t>
            </a:r>
            <a:endParaRPr lang="en-US" sz="1950" dirty="0"/>
          </a:p>
        </p:txBody>
      </p:sp>
      <p:sp>
        <p:nvSpPr>
          <p:cNvPr id="9" name="Shape 9"/>
          <p:cNvSpPr txBox="1"/>
          <p:nvPr/>
        </p:nvSpPr>
        <p:spPr>
          <a:xfrm>
            <a:off x="685800" y="463829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(0, 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6 · SE p. 237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Determine the slope between each pair of points</a:t>
            </a:r>
            <a:endParaRPr lang="en-US" sz="3450" dirty="0"/>
          </a:p>
        </p:txBody>
      </p:sp>
      <p:sp>
        <p:nvSpPr>
          <p:cNvPr id="4" name="Shape 4"/>
          <p:cNvSpPr txBox="1"/>
          <p:nvPr/>
        </p:nvSpPr>
        <p:spPr>
          <a:xfrm>
            <a:off x="685800"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(0, 10) and (3, 12)</a:t>
            </a:r>
            <a:endParaRPr lang="en-US" sz="2325" dirty="0"/>
          </a:p>
        </p:txBody>
      </p:sp>
      <p:sp>
        <p:nvSpPr>
          <p:cNvPr id="5" name="Shape 5"/>
          <p:cNvSpPr txBox="1"/>
          <p:nvPr/>
        </p:nvSpPr>
        <p:spPr>
          <a:xfrm>
            <a:off x="685800" y="261061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4470298"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(−1, 4.5) and (1, −4.5)</a:t>
            </a:r>
            <a:endParaRPr lang="en-US" sz="2325" dirty="0"/>
          </a:p>
        </p:txBody>
      </p:sp>
      <p:sp>
        <p:nvSpPr>
          <p:cNvPr id="7" name="Shape 7"/>
          <p:cNvSpPr txBox="1"/>
          <p:nvPr/>
        </p:nvSpPr>
        <p:spPr>
          <a:xfrm>
            <a:off x="4470298"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−4.5</a:t>
            </a:r>
            <a:endParaRPr lang="en-US" sz="2325" dirty="0"/>
          </a:p>
        </p:txBody>
      </p:sp>
      <p:sp>
        <p:nvSpPr>
          <p:cNvPr id="8" name="Shape 8"/>
          <p:cNvSpPr txBox="1"/>
          <p:nvPr/>
        </p:nvSpPr>
        <p:spPr>
          <a:xfrm>
            <a:off x="8254797"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(21, 0) and (0, 12)</a:t>
            </a:r>
            <a:endParaRPr lang="en-US" sz="2325" dirty="0"/>
          </a:p>
        </p:txBody>
      </p:sp>
      <p:sp>
        <p:nvSpPr>
          <p:cNvPr id="9" name="Shape 9"/>
          <p:cNvSpPr txBox="1"/>
          <p:nvPr/>
        </p:nvSpPr>
        <p:spPr>
          <a:xfrm>
            <a:off x="8254797"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−21</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5 Assignment (SE pp. 235–237); the quiz covers SE pp. 219–231.</a:t>
            </a:r>
            <a:endParaRPr lang="en-US" sz="1575" dirty="0"/>
          </a:p>
        </p:txBody>
      </p:sp>
    </p:spTree>
  </p:cSld>
  <p:clrMapOvr>
    <a:masterClrMapping/>
  </p:clrMapOvr>
  <p:transition spd="med">
    <p:fade/>
  </p:transition>
</p:sld>
</file>

<file path=ppt/theme/theme1.xml><?xml version="1.0" encoding="utf-8"?>
<a:theme xmlns:a="http://schemas.openxmlformats.org/drawingml/2006/main" name="Using Linear Equa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35</Slides>
  <Notes>35</Notes>
</Properties>
</file>

<file path=docProps/core.xml><?xml version="1.0" encoding="utf-8"?>
<cp:coreProperties xmlns:cp="http://schemas.openxmlformats.org/package/2006/metadata/core-properties" xmlns:dc="http://purl.org/dc/elements/1.1/">
  <dc:title>Using Linear Equations</dc:title>
  <dc:subject>Bluebonnet Algebra I</dc:subject>
</cp:coreProperties>
</file>