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75"/>
  </p:notesMasterIdLst>
  <p:sldIdLst>
    <p:sldId id="329" r:id="rId8"/>
    <p:sldId id="300" r:id="rId9"/>
    <p:sldId id="363" r:id="rId10"/>
    <p:sldId id="365" r:id="rId11"/>
    <p:sldId id="366" r:id="rId12"/>
    <p:sldId id="360" r:id="rId13"/>
    <p:sldId id="334" r:id="rId14"/>
    <p:sldId id="376" r:id="rId15"/>
    <p:sldId id="377" r:id="rId16"/>
    <p:sldId id="359" r:id="rId17"/>
    <p:sldId id="474" r:id="rId18"/>
    <p:sldId id="567" r:id="rId19"/>
    <p:sldId id="540" r:id="rId20"/>
    <p:sldId id="541" r:id="rId21"/>
    <p:sldId id="568" r:id="rId22"/>
    <p:sldId id="569" r:id="rId23"/>
    <p:sldId id="570" r:id="rId24"/>
    <p:sldId id="571" r:id="rId25"/>
    <p:sldId id="479" r:id="rId26"/>
    <p:sldId id="480" r:id="rId27"/>
    <p:sldId id="572" r:id="rId28"/>
    <p:sldId id="573" r:id="rId29"/>
    <p:sldId id="473" r:id="rId30"/>
    <p:sldId id="368" r:id="rId31"/>
    <p:sldId id="574" r:id="rId32"/>
    <p:sldId id="575" r:id="rId33"/>
    <p:sldId id="576" r:id="rId34"/>
    <p:sldId id="577" r:id="rId35"/>
    <p:sldId id="578" r:id="rId36"/>
    <p:sldId id="378" r:id="rId37"/>
    <p:sldId id="353" r:id="rId38"/>
    <p:sldId id="361" r:id="rId39"/>
    <p:sldId id="371" r:id="rId40"/>
    <p:sldId id="579" r:id="rId41"/>
    <p:sldId id="580" r:id="rId42"/>
    <p:sldId id="581" r:id="rId43"/>
    <p:sldId id="582" r:id="rId44"/>
    <p:sldId id="583" r:id="rId45"/>
    <p:sldId id="584" r:id="rId46"/>
    <p:sldId id="585" r:id="rId47"/>
    <p:sldId id="586" r:id="rId48"/>
    <p:sldId id="588" r:id="rId49"/>
    <p:sldId id="589" r:id="rId50"/>
    <p:sldId id="590" r:id="rId51"/>
    <p:sldId id="591" r:id="rId52"/>
    <p:sldId id="592" r:id="rId53"/>
    <p:sldId id="372" r:id="rId54"/>
    <p:sldId id="355" r:id="rId55"/>
    <p:sldId id="593" r:id="rId56"/>
    <p:sldId id="594" r:id="rId57"/>
    <p:sldId id="595" r:id="rId58"/>
    <p:sldId id="596" r:id="rId59"/>
    <p:sldId id="599" r:id="rId60"/>
    <p:sldId id="597" r:id="rId61"/>
    <p:sldId id="598" r:id="rId62"/>
    <p:sldId id="362" r:id="rId63"/>
    <p:sldId id="328" r:id="rId64"/>
    <p:sldId id="600" r:id="rId65"/>
    <p:sldId id="601" r:id="rId66"/>
    <p:sldId id="602" r:id="rId67"/>
    <p:sldId id="603" r:id="rId68"/>
    <p:sldId id="373" r:id="rId69"/>
    <p:sldId id="356" r:id="rId70"/>
    <p:sldId id="374" r:id="rId71"/>
    <p:sldId id="375" r:id="rId72"/>
    <p:sldId id="357" r:id="rId73"/>
    <p:sldId id="294" r:id="rId74"/>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3"/>
            <p14:sldId id="365"/>
            <p14:sldId id="366"/>
            <p14:sldId id="360"/>
            <p14:sldId id="334"/>
            <p14:sldId id="376"/>
            <p14:sldId id="377"/>
            <p14:sldId id="359"/>
            <p14:sldId id="474"/>
            <p14:sldId id="567"/>
            <p14:sldId id="540"/>
            <p14:sldId id="541"/>
            <p14:sldId id="568"/>
            <p14:sldId id="569"/>
            <p14:sldId id="570"/>
            <p14:sldId id="571"/>
            <p14:sldId id="479"/>
            <p14:sldId id="480"/>
            <p14:sldId id="572"/>
            <p14:sldId id="573"/>
            <p14:sldId id="473"/>
            <p14:sldId id="368"/>
            <p14:sldId id="574"/>
            <p14:sldId id="575"/>
            <p14:sldId id="576"/>
            <p14:sldId id="577"/>
            <p14:sldId id="578"/>
            <p14:sldId id="378"/>
            <p14:sldId id="353"/>
            <p14:sldId id="361"/>
            <p14:sldId id="371"/>
            <p14:sldId id="579"/>
            <p14:sldId id="580"/>
            <p14:sldId id="581"/>
            <p14:sldId id="582"/>
            <p14:sldId id="583"/>
            <p14:sldId id="584"/>
            <p14:sldId id="585"/>
            <p14:sldId id="586"/>
            <p14:sldId id="588"/>
            <p14:sldId id="589"/>
            <p14:sldId id="590"/>
            <p14:sldId id="591"/>
            <p14:sldId id="592"/>
            <p14:sldId id="372"/>
            <p14:sldId id="355"/>
            <p14:sldId id="593"/>
            <p14:sldId id="594"/>
            <p14:sldId id="595"/>
            <p14:sldId id="596"/>
            <p14:sldId id="599"/>
            <p14:sldId id="597"/>
            <p14:sldId id="598"/>
            <p14:sldId id="362"/>
            <p14:sldId id="328"/>
            <p14:sldId id="600"/>
            <p14:sldId id="601"/>
            <p14:sldId id="602"/>
            <p14:sldId id="603"/>
            <p14:sldId id="373"/>
            <p14:sldId id="356"/>
            <p14:sldId id="374"/>
            <p14:sldId id="375"/>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8F4C"/>
    <a:srgbClr val="2B8147"/>
    <a:srgbClr val="236739"/>
    <a:srgbClr val="0084AC"/>
    <a:srgbClr val="61449B"/>
    <a:srgbClr val="143965"/>
    <a:srgbClr val="242E61"/>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E7A74B-53E0-4B4E-8A04-6E91EC29BB93}" v="1" dt="2025-05-28T18:51:22.2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83"/>
    <p:restoredTop sz="64309" autoAdjust="0"/>
  </p:normalViewPr>
  <p:slideViewPr>
    <p:cSldViewPr snapToGrid="0">
      <p:cViewPr varScale="1">
        <p:scale>
          <a:sx n="43" d="100"/>
          <a:sy n="43" d="100"/>
        </p:scale>
        <p:origin x="1536" y="2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slide" Target="slides/slide61.xml"/><Relationship Id="rId76"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4.xml"/><Relationship Id="rId82"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2DF5424F-84B6-44E0-9E85-E1FB6C016FBF}"/>
    <pc:docChg chg="delSld modSld modSection">
      <pc:chgData name="Moyer Montague, Kristina" userId="63c103e5-6141-480e-825f-260f173eba02" providerId="ADAL" clId="{2DF5424F-84B6-44E0-9E85-E1FB6C016FBF}" dt="2025-05-07T15:08:00.107" v="18" actId="114"/>
      <pc:docMkLst>
        <pc:docMk/>
      </pc:docMkLst>
      <pc:sldChg chg="modNotesTx">
        <pc:chgData name="Moyer Montague, Kristina" userId="63c103e5-6141-480e-825f-260f173eba02" providerId="ADAL" clId="{2DF5424F-84B6-44E0-9E85-E1FB6C016FBF}" dt="2025-05-06T20:17:41.455" v="0" actId="6549"/>
        <pc:sldMkLst>
          <pc:docMk/>
          <pc:sldMk cId="3398606512" sldId="300"/>
        </pc:sldMkLst>
      </pc:sldChg>
      <pc:sldChg chg="modSp mod">
        <pc:chgData name="Moyer Montague, Kristina" userId="63c103e5-6141-480e-825f-260f173eba02" providerId="ADAL" clId="{2DF5424F-84B6-44E0-9E85-E1FB6C016FBF}" dt="2025-05-06T20:24:43.557" v="3" actId="255"/>
        <pc:sldMkLst>
          <pc:docMk/>
          <pc:sldMk cId="1013618624" sldId="474"/>
        </pc:sldMkLst>
        <pc:spChg chg="mod">
          <ac:chgData name="Moyer Montague, Kristina" userId="63c103e5-6141-480e-825f-260f173eba02" providerId="ADAL" clId="{2DF5424F-84B6-44E0-9E85-E1FB6C016FBF}" dt="2025-05-06T20:24:43.557" v="3" actId="255"/>
          <ac:spMkLst>
            <pc:docMk/>
            <pc:sldMk cId="1013618624" sldId="474"/>
            <ac:spMk id="4" creationId="{3A0AB5A9-D584-51C7-B955-DAA1F9C7EB67}"/>
          </ac:spMkLst>
        </pc:spChg>
      </pc:sldChg>
      <pc:sldChg chg="modSp mod">
        <pc:chgData name="Moyer Montague, Kristina" userId="63c103e5-6141-480e-825f-260f173eba02" providerId="ADAL" clId="{2DF5424F-84B6-44E0-9E85-E1FB6C016FBF}" dt="2025-05-06T20:25:35.813" v="11" actId="255"/>
        <pc:sldMkLst>
          <pc:docMk/>
          <pc:sldMk cId="35134944" sldId="479"/>
        </pc:sldMkLst>
        <pc:spChg chg="mod">
          <ac:chgData name="Moyer Montague, Kristina" userId="63c103e5-6141-480e-825f-260f173eba02" providerId="ADAL" clId="{2DF5424F-84B6-44E0-9E85-E1FB6C016FBF}" dt="2025-05-06T20:25:35.813" v="11" actId="255"/>
          <ac:spMkLst>
            <pc:docMk/>
            <pc:sldMk cId="35134944" sldId="479"/>
            <ac:spMk id="4" creationId="{634ACACA-A6D5-E759-1A13-2360BC16F1B8}"/>
          </ac:spMkLst>
        </pc:spChg>
      </pc:sldChg>
      <pc:sldChg chg="modSp mod">
        <pc:chgData name="Moyer Montague, Kristina" userId="63c103e5-6141-480e-825f-260f173eba02" providerId="ADAL" clId="{2DF5424F-84B6-44E0-9E85-E1FB6C016FBF}" dt="2025-05-06T20:25:41.392" v="12" actId="255"/>
        <pc:sldMkLst>
          <pc:docMk/>
          <pc:sldMk cId="1534852779" sldId="480"/>
        </pc:sldMkLst>
        <pc:spChg chg="mod">
          <ac:chgData name="Moyer Montague, Kristina" userId="63c103e5-6141-480e-825f-260f173eba02" providerId="ADAL" clId="{2DF5424F-84B6-44E0-9E85-E1FB6C016FBF}" dt="2025-05-06T20:25:41.392" v="12" actId="255"/>
          <ac:spMkLst>
            <pc:docMk/>
            <pc:sldMk cId="1534852779" sldId="480"/>
            <ac:spMk id="4" creationId="{5C434BC3-FD62-B3CE-3671-F121D6D37CAA}"/>
          </ac:spMkLst>
        </pc:spChg>
      </pc:sldChg>
      <pc:sldChg chg="modSp mod">
        <pc:chgData name="Moyer Montague, Kristina" userId="63c103e5-6141-480e-825f-260f173eba02" providerId="ADAL" clId="{2DF5424F-84B6-44E0-9E85-E1FB6C016FBF}" dt="2025-05-06T20:24:55.867" v="5" actId="255"/>
        <pc:sldMkLst>
          <pc:docMk/>
          <pc:sldMk cId="885489928" sldId="540"/>
        </pc:sldMkLst>
        <pc:spChg chg="mod">
          <ac:chgData name="Moyer Montague, Kristina" userId="63c103e5-6141-480e-825f-260f173eba02" providerId="ADAL" clId="{2DF5424F-84B6-44E0-9E85-E1FB6C016FBF}" dt="2025-05-06T20:24:55.867" v="5" actId="255"/>
          <ac:spMkLst>
            <pc:docMk/>
            <pc:sldMk cId="885489928" sldId="540"/>
            <ac:spMk id="4" creationId="{A9C9396B-BEEF-2233-D775-E7488E505F6B}"/>
          </ac:spMkLst>
        </pc:spChg>
      </pc:sldChg>
      <pc:sldChg chg="modSp mod modNotesTx">
        <pc:chgData name="Moyer Montague, Kristina" userId="63c103e5-6141-480e-825f-260f173eba02" providerId="ADAL" clId="{2DF5424F-84B6-44E0-9E85-E1FB6C016FBF}" dt="2025-05-06T20:25:01.116" v="6" actId="255"/>
        <pc:sldMkLst>
          <pc:docMk/>
          <pc:sldMk cId="2670571418" sldId="541"/>
        </pc:sldMkLst>
        <pc:spChg chg="mod">
          <ac:chgData name="Moyer Montague, Kristina" userId="63c103e5-6141-480e-825f-260f173eba02" providerId="ADAL" clId="{2DF5424F-84B6-44E0-9E85-E1FB6C016FBF}" dt="2025-05-06T20:25:01.116" v="6" actId="255"/>
          <ac:spMkLst>
            <pc:docMk/>
            <pc:sldMk cId="2670571418" sldId="541"/>
            <ac:spMk id="4" creationId="{1EEABC25-9969-3E66-373E-DF1E6751943A}"/>
          </ac:spMkLst>
        </pc:spChg>
      </pc:sldChg>
      <pc:sldChg chg="del">
        <pc:chgData name="Moyer Montague, Kristina" userId="63c103e5-6141-480e-825f-260f173eba02" providerId="ADAL" clId="{2DF5424F-84B6-44E0-9E85-E1FB6C016FBF}" dt="2025-05-07T14:03:59.927" v="15" actId="47"/>
        <pc:sldMkLst>
          <pc:docMk/>
          <pc:sldMk cId="3385507707" sldId="566"/>
        </pc:sldMkLst>
      </pc:sldChg>
      <pc:sldChg chg="modSp mod">
        <pc:chgData name="Moyer Montague, Kristina" userId="63c103e5-6141-480e-825f-260f173eba02" providerId="ADAL" clId="{2DF5424F-84B6-44E0-9E85-E1FB6C016FBF}" dt="2025-05-06T20:24:50.865" v="4" actId="255"/>
        <pc:sldMkLst>
          <pc:docMk/>
          <pc:sldMk cId="750486281" sldId="567"/>
        </pc:sldMkLst>
        <pc:spChg chg="mod">
          <ac:chgData name="Moyer Montague, Kristina" userId="63c103e5-6141-480e-825f-260f173eba02" providerId="ADAL" clId="{2DF5424F-84B6-44E0-9E85-E1FB6C016FBF}" dt="2025-05-06T20:24:50.865" v="4" actId="255"/>
          <ac:spMkLst>
            <pc:docMk/>
            <pc:sldMk cId="750486281" sldId="567"/>
            <ac:spMk id="4" creationId="{E9425E7B-C1EE-9D19-7337-300BBED4939B}"/>
          </ac:spMkLst>
        </pc:spChg>
      </pc:sldChg>
      <pc:sldChg chg="modSp mod">
        <pc:chgData name="Moyer Montague, Kristina" userId="63c103e5-6141-480e-825f-260f173eba02" providerId="ADAL" clId="{2DF5424F-84B6-44E0-9E85-E1FB6C016FBF}" dt="2025-05-06T20:25:07.411" v="7" actId="255"/>
        <pc:sldMkLst>
          <pc:docMk/>
          <pc:sldMk cId="1086037658" sldId="568"/>
        </pc:sldMkLst>
        <pc:spChg chg="mod">
          <ac:chgData name="Moyer Montague, Kristina" userId="63c103e5-6141-480e-825f-260f173eba02" providerId="ADAL" clId="{2DF5424F-84B6-44E0-9E85-E1FB6C016FBF}" dt="2025-05-06T20:25:07.411" v="7" actId="255"/>
          <ac:spMkLst>
            <pc:docMk/>
            <pc:sldMk cId="1086037658" sldId="568"/>
            <ac:spMk id="4" creationId="{B9E7C0A2-2B72-5151-AD40-00146768E342}"/>
          </ac:spMkLst>
        </pc:spChg>
      </pc:sldChg>
      <pc:sldChg chg="modSp mod">
        <pc:chgData name="Moyer Montague, Kristina" userId="63c103e5-6141-480e-825f-260f173eba02" providerId="ADAL" clId="{2DF5424F-84B6-44E0-9E85-E1FB6C016FBF}" dt="2025-05-06T20:25:16.787" v="8" actId="255"/>
        <pc:sldMkLst>
          <pc:docMk/>
          <pc:sldMk cId="2233772374" sldId="569"/>
        </pc:sldMkLst>
        <pc:spChg chg="mod">
          <ac:chgData name="Moyer Montague, Kristina" userId="63c103e5-6141-480e-825f-260f173eba02" providerId="ADAL" clId="{2DF5424F-84B6-44E0-9E85-E1FB6C016FBF}" dt="2025-05-06T20:25:16.787" v="8" actId="255"/>
          <ac:spMkLst>
            <pc:docMk/>
            <pc:sldMk cId="2233772374" sldId="569"/>
            <ac:spMk id="4" creationId="{B1FC5BD8-D424-0016-9DAC-A2CEE00D038E}"/>
          </ac:spMkLst>
        </pc:spChg>
      </pc:sldChg>
      <pc:sldChg chg="modSp mod">
        <pc:chgData name="Moyer Montague, Kristina" userId="63c103e5-6141-480e-825f-260f173eba02" providerId="ADAL" clId="{2DF5424F-84B6-44E0-9E85-E1FB6C016FBF}" dt="2025-05-06T20:25:23.997" v="9" actId="255"/>
        <pc:sldMkLst>
          <pc:docMk/>
          <pc:sldMk cId="1596592061" sldId="570"/>
        </pc:sldMkLst>
        <pc:spChg chg="mod">
          <ac:chgData name="Moyer Montague, Kristina" userId="63c103e5-6141-480e-825f-260f173eba02" providerId="ADAL" clId="{2DF5424F-84B6-44E0-9E85-E1FB6C016FBF}" dt="2025-05-06T20:25:23.997" v="9" actId="255"/>
          <ac:spMkLst>
            <pc:docMk/>
            <pc:sldMk cId="1596592061" sldId="570"/>
            <ac:spMk id="4" creationId="{3C91AA5B-D1CF-A654-A49E-005C1A53CAF6}"/>
          </ac:spMkLst>
        </pc:spChg>
      </pc:sldChg>
      <pc:sldChg chg="modSp mod">
        <pc:chgData name="Moyer Montague, Kristina" userId="63c103e5-6141-480e-825f-260f173eba02" providerId="ADAL" clId="{2DF5424F-84B6-44E0-9E85-E1FB6C016FBF}" dt="2025-05-06T20:25:29.617" v="10" actId="255"/>
        <pc:sldMkLst>
          <pc:docMk/>
          <pc:sldMk cId="2074852096" sldId="571"/>
        </pc:sldMkLst>
        <pc:spChg chg="mod">
          <ac:chgData name="Moyer Montague, Kristina" userId="63c103e5-6141-480e-825f-260f173eba02" providerId="ADAL" clId="{2DF5424F-84B6-44E0-9E85-E1FB6C016FBF}" dt="2025-05-06T20:25:29.617" v="10" actId="255"/>
          <ac:spMkLst>
            <pc:docMk/>
            <pc:sldMk cId="2074852096" sldId="571"/>
            <ac:spMk id="4" creationId="{688080EC-1385-C813-83C4-0AD377C6714D}"/>
          </ac:spMkLst>
        </pc:spChg>
      </pc:sldChg>
      <pc:sldChg chg="modSp mod">
        <pc:chgData name="Moyer Montague, Kristina" userId="63c103e5-6141-480e-825f-260f173eba02" providerId="ADAL" clId="{2DF5424F-84B6-44E0-9E85-E1FB6C016FBF}" dt="2025-05-07T15:08:00.107" v="18" actId="114"/>
        <pc:sldMkLst>
          <pc:docMk/>
          <pc:sldMk cId="3480515410" sldId="581"/>
        </pc:sldMkLst>
        <pc:spChg chg="mod">
          <ac:chgData name="Moyer Montague, Kristina" userId="63c103e5-6141-480e-825f-260f173eba02" providerId="ADAL" clId="{2DF5424F-84B6-44E0-9E85-E1FB6C016FBF}" dt="2025-05-07T15:08:00.107" v="18" actId="114"/>
          <ac:spMkLst>
            <pc:docMk/>
            <pc:sldMk cId="3480515410" sldId="581"/>
            <ac:spMk id="9" creationId="{98917A7B-A823-0270-0F5C-7B611E1D38C1}"/>
          </ac:spMkLst>
        </pc:spChg>
      </pc:sldChg>
      <pc:sldChg chg="modSp">
        <pc:chgData name="Moyer Montague, Kristina" userId="63c103e5-6141-480e-825f-260f173eba02" providerId="ADAL" clId="{2DF5424F-84B6-44E0-9E85-E1FB6C016FBF}" dt="2025-05-06T20:29:40.052" v="14" actId="20577"/>
        <pc:sldMkLst>
          <pc:docMk/>
          <pc:sldMk cId="1875621954" sldId="591"/>
        </pc:sldMkLst>
        <pc:spChg chg="mod">
          <ac:chgData name="Moyer Montague, Kristina" userId="63c103e5-6141-480e-825f-260f173eba02" providerId="ADAL" clId="{2DF5424F-84B6-44E0-9E85-E1FB6C016FBF}" dt="2025-05-06T20:29:40.052" v="14" actId="20577"/>
          <ac:spMkLst>
            <pc:docMk/>
            <pc:sldMk cId="1875621954" sldId="591"/>
            <ac:spMk id="6" creationId="{FAD907B5-A69A-7E22-1734-38BD299815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5/28/25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three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A.1C: select tools, including real objects, manipulatives, paper and pencil, and technology as appropriate, and techniques, including mental math, estimation, and number sense as appropriate, to solve problems.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A.1F: analyze mathematical relationships to connect and communicate mathematical ideas.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A.2B: write linear equations in two variables in various forms, including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𝑚𝑥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𝑏</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𝐴𝑥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𝐵𝑦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𝐶</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 </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sSub>
                      <m:sSub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sSubPr>
                      <m:e>
                        <m:r>
                          <a:rPr lang="en-US" sz="1200" b="0" i="1" u="none" strike="noStrike" baseline="0" smtClean="0">
                            <a:solidFill>
                              <a:srgbClr val="000000"/>
                            </a:solidFill>
                            <a:latin typeface="Cambria Math" panose="02040503050406030204" pitchFamily="18" charset="0"/>
                            <a:cs typeface="Calibri" panose="020F0502020204030204" pitchFamily="34" charset="0"/>
                          </a:rPr>
                          <m:t>𝑦</m:t>
                        </m:r>
                      </m:e>
                      <m:sub>
                        <m:r>
                          <a:rPr lang="en-US" sz="1200" b="0" i="1" u="none" strike="noStrike" baseline="0" smtClean="0">
                            <a:solidFill>
                              <a:srgbClr val="000000"/>
                            </a:solidFill>
                            <a:latin typeface="Cambria Math" panose="02040503050406030204" pitchFamily="18" charset="0"/>
                            <a:cs typeface="Calibri" panose="020F0502020204030204" pitchFamily="34" charset="0"/>
                          </a:rPr>
                          <m:t>1</m:t>
                        </m:r>
                      </m:sub>
                    </m:sSub>
                    <m:r>
                      <a:rPr lang="en-US" sz="1200" b="0" i="1" u="none" strike="noStrike" baseline="0" smtClean="0">
                        <a:solidFill>
                          <a:srgbClr val="000000"/>
                        </a:solidFill>
                        <a:latin typeface="Cambria Math" panose="02040503050406030204" pitchFamily="18"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cs typeface="Calibri" panose="020F0502020204030204" pitchFamily="34" charset="0"/>
                      </a:rPr>
                      <m:t>𝑚</m:t>
                    </m:r>
                    <m:r>
                      <a:rPr lang="en-US" sz="1200" b="0" i="1" u="none" strike="noStrike" baseline="0" smtClean="0">
                        <a:solidFill>
                          <a:srgbClr val="000000"/>
                        </a:solidFill>
                        <a:latin typeface="Cambria Math" panose="02040503050406030204" pitchFamily="18"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cs typeface="Calibri" panose="020F0502020204030204" pitchFamily="34" charset="0"/>
                      </a:rPr>
                      <m:t>−</m:t>
                    </m:r>
                    <m:sSub>
                      <m:sSub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sSubPr>
                      <m:e>
                        <m:r>
                          <a:rPr lang="en-US" sz="1200" b="0" i="1" u="none" strike="noStrike" baseline="0" smtClean="0">
                            <a:solidFill>
                              <a:srgbClr val="000000"/>
                            </a:solidFill>
                            <a:latin typeface="Cambria Math" panose="02040503050406030204" pitchFamily="18" charset="0"/>
                            <a:cs typeface="Calibri" panose="020F0502020204030204" pitchFamily="34" charset="0"/>
                          </a:rPr>
                          <m:t>𝑥</m:t>
                        </m:r>
                      </m:e>
                      <m:sub>
                        <m:r>
                          <a:rPr lang="en-US" sz="1200" b="0" i="1" u="none" strike="noStrike" baseline="0" smtClean="0">
                            <a:solidFill>
                              <a:srgbClr val="000000"/>
                            </a:solidFill>
                            <a:latin typeface="Cambria Math" panose="02040503050406030204" pitchFamily="18" charset="0"/>
                            <a:cs typeface="Calibri" panose="020F0502020204030204" pitchFamily="34" charset="0"/>
                          </a:rPr>
                          <m:t>1</m:t>
                        </m:r>
                      </m:sub>
                    </m:sSub>
                    <m:r>
                      <a:rPr lang="en-US" sz="1200" b="0" i="1" u="none" strike="noStrike" baseline="0" smtClean="0">
                        <a:solidFill>
                          <a:srgbClr val="000000"/>
                        </a:solidFill>
                        <a:latin typeface="Cambria Math" panose="02040503050406030204" pitchFamily="18" charset="0"/>
                        <a:cs typeface="Calibri" panose="020F0502020204030204" pitchFamily="34" charset="0"/>
                      </a:rPr>
                      <m:t>)</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given one point and the slope and given two points.</a:t>
                </a: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A.2C:</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write linear equations in two variables given a table of values, a graph, and a verbal description.</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A.3A: determine the slope of a line given a table of values, a graph, two points on the line, and an equation written in various forms, including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𝑚𝑥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𝑏</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𝐴𝑥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𝐵𝑦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𝐶</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sSub>
                      <m:sSub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sSubPr>
                      <m:e>
                        <m:r>
                          <a:rPr lang="en-US" sz="1200" b="0" i="1" u="none" strike="noStrike" baseline="0" smtClean="0">
                            <a:solidFill>
                              <a:srgbClr val="000000"/>
                            </a:solidFill>
                            <a:latin typeface="Cambria Math" panose="02040503050406030204" pitchFamily="18" charset="0"/>
                            <a:cs typeface="Calibri" panose="020F0502020204030204" pitchFamily="34" charset="0"/>
                          </a:rPr>
                          <m:t>𝑦</m:t>
                        </m:r>
                      </m:e>
                      <m:sub>
                        <m:r>
                          <a:rPr lang="en-US" sz="1200" b="0" i="1" u="none" strike="noStrike" baseline="0" smtClean="0">
                            <a:solidFill>
                              <a:srgbClr val="000000"/>
                            </a:solidFill>
                            <a:latin typeface="Cambria Math" panose="02040503050406030204" pitchFamily="18" charset="0"/>
                            <a:cs typeface="Calibri" panose="020F0502020204030204" pitchFamily="34" charset="0"/>
                          </a:rPr>
                          <m:t>1</m:t>
                        </m:r>
                      </m:sub>
                    </m:sSub>
                    <m:r>
                      <a:rPr lang="en-US" sz="1200" b="0" i="1" u="none" strike="noStrike" baseline="0" smtClean="0">
                        <a:solidFill>
                          <a:srgbClr val="000000"/>
                        </a:solidFill>
                        <a:latin typeface="Cambria Math" panose="02040503050406030204" pitchFamily="18" charset="0"/>
                        <a:cs typeface="Calibri" panose="020F0502020204030204" pitchFamily="34" charset="0"/>
                      </a:rPr>
                      <m:t>=</m:t>
                    </m:r>
                    <m:r>
                      <a:rPr lang="en-US" sz="1200" b="0" i="1" u="none" strike="noStrike" baseline="0" smtClean="0">
                        <a:solidFill>
                          <a:srgbClr val="000000"/>
                        </a:solidFill>
                        <a:latin typeface="Cambria Math" panose="02040503050406030204" pitchFamily="18" charset="0"/>
                        <a:cs typeface="Calibri" panose="020F0502020204030204" pitchFamily="34" charset="0"/>
                      </a:rPr>
                      <m:t>𝑚</m:t>
                    </m:r>
                    <m:d>
                      <m:d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dPr>
                      <m:e>
                        <m:r>
                          <a:rPr lang="en-US" sz="1200" b="0" i="1" u="none" strike="noStrike" baseline="0" smtClean="0">
                            <a:solidFill>
                              <a:srgbClr val="000000"/>
                            </a:solidFill>
                            <a:latin typeface="Cambria Math" panose="02040503050406030204" pitchFamily="18"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cs typeface="Calibri" panose="020F0502020204030204" pitchFamily="34" charset="0"/>
                          </a:rPr>
                          <m:t>−</m:t>
                        </m:r>
                        <m:sSub>
                          <m:sSubPr>
                            <m:ctrlPr>
                              <a:rPr lang="en-US" sz="1200" b="0" i="1" u="none" strike="noStrike" baseline="0" smtClean="0">
                                <a:solidFill>
                                  <a:srgbClr val="000000"/>
                                </a:solidFill>
                                <a:latin typeface="Cambria Math" panose="02040503050406030204" pitchFamily="18" charset="0"/>
                                <a:cs typeface="Calibri" panose="020F0502020204030204" pitchFamily="34" charset="0"/>
                              </a:rPr>
                            </m:ctrlPr>
                          </m:sSubPr>
                          <m:e>
                            <m:r>
                              <a:rPr lang="en-US" sz="1200" b="0" i="1" u="none" strike="noStrike" baseline="0" smtClean="0">
                                <a:solidFill>
                                  <a:srgbClr val="000000"/>
                                </a:solidFill>
                                <a:latin typeface="Cambria Math" panose="02040503050406030204" pitchFamily="18" charset="0"/>
                                <a:cs typeface="Calibri" panose="020F0502020204030204" pitchFamily="34" charset="0"/>
                              </a:rPr>
                              <m:t>𝑥</m:t>
                            </m:r>
                          </m:e>
                          <m:sub>
                            <m:r>
                              <a:rPr lang="en-US" sz="1200" b="0" i="1" u="none" strike="noStrike" baseline="0" smtClean="0">
                                <a:solidFill>
                                  <a:srgbClr val="000000"/>
                                </a:solidFill>
                                <a:latin typeface="Cambria Math" panose="02040503050406030204" pitchFamily="18" charset="0"/>
                                <a:cs typeface="Calibri" panose="020F0502020204030204" pitchFamily="34" charset="0"/>
                              </a:rPr>
                              <m:t>1</m:t>
                            </m:r>
                          </m:sub>
                        </m:sSub>
                      </m:e>
                    </m:d>
                    <m:r>
                      <a:rPr lang="en-US" sz="1200" b="0" i="0" u="none" strike="noStrike" baseline="0" smtClean="0">
                        <a:solidFill>
                          <a:srgbClr val="000000"/>
                        </a:solidFill>
                        <a:latin typeface="Cambria Math" panose="02040503050406030204" pitchFamily="18" charset="0"/>
                        <a:cs typeface="Calibri" panose="020F0502020204030204" pitchFamily="34" charset="0"/>
                      </a:rPr>
                      <m:t>.</m:t>
                    </m:r>
                  </m:oMath>
                </a14:m>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A.3C:</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graph linear functions on the coordinate plane and identify key features, including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p>
              <a:p>
                <a:pPr algn="l"/>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1.D: speak using learning strategies such as requesting assistance, employing non-verbal cues, and using synonyms and circumlocution (conveying ideas by defining or describing when exact English words are not known).</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3.B: expand and internalize initial English vocabulary by learning and using high-frequency English words necessary for identifying and describing people, places, and objects, by retelling simple stories and basic information represented or supported by pictures, and by learning and using routine language needed for classroom communication.</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4.F: use visual and contextual support and support from peers and teachers to read grade-appropriate content area text, enhance and confirm understanding, and develop vocabulary, grasp of language structures, and background knowledge needed to comprehend increasingly challenging language.</a:t>
                </a:r>
              </a:p>
            </p:txBody>
          </p:sp>
        </mc:Choice>
        <mc:Fallback xmlns="">
          <p:sp>
            <p:nvSpPr>
              <p:cNvPr id="3" name="Notes Placeholder 2"/>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TEKS: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1.D: communicate mathematical ideas, reasoning, and their implications using multiple representations, including symbols, diagrams, graphs, and language as appropriate.</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1.F: analyze mathematical relationships to connect and communicate mathematical ideas.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1.G: display, explain, and justify mathematical ideas and arguments using precise mathematical language in written or oral communication.</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2.A: determine the domain and range of a linear function in mathematical problems; determine reasonable domain and range values for real-world situations, both continuous and discrete; and represent domain and range using inequalities.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2.B: write linear equations in two variables in various forms, including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𝑦=𝑚𝑥+𝑏</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𝐴𝑥+𝐵𝑦=𝐶</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and</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 𝑦−</a:t>
                </a:r>
                <a:r>
                  <a:rPr lang="en-US" sz="1200" b="0" i="0" u="none" strike="noStrike" baseline="0">
                    <a:latin typeface="Cambria Math" panose="02040503050406030204" pitchFamily="18" charset="0"/>
                    <a:cs typeface="Calibri" panose="020F0502020204030204" pitchFamily="34" charset="0"/>
                  </a:rPr>
                  <a:t>𝑦_1=𝑚(𝑥−𝑥_1)</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given one point and the slope and given two points.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2.C: write linear equations in two variables given a table of values, a graph, and a verbal description.</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3.A: determine the slope of a line given a table of values, a graph, two points on the line, and an equation written in various forms, including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𝑦=𝑚𝑥+𝑏</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𝐴𝑥+𝐵𝑦=𝐶</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and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a:t>
                </a:r>
                <a:r>
                  <a:rPr lang="en-US" sz="1200" b="0" i="0" u="none" strike="noStrike" baseline="0">
                    <a:latin typeface="Cambria Math" panose="02040503050406030204" pitchFamily="18" charset="0"/>
                    <a:cs typeface="Calibri" panose="020F0502020204030204" pitchFamily="34" charset="0"/>
                  </a:rPr>
                  <a:t>𝑦_1=𝑚(𝑥−𝑥_1)</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3.B: calculate the rate of change of a linear function represented tabularly, graphically, or algebraically in context of mathematical and real-world problems.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4.12: write a formula for the nth term of arithmetic and geometric sequences, given the value of several of their terms.</a:t>
                </a:r>
              </a:p>
              <a:p>
                <a:pPr algn="l"/>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4.A: learn relationships between sounds and letters of the English language and decode (sound out) words using a combination of skills such as recognizing sound-letter relationships and identifying cognates, affixes, roots and base words.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4.K: </a:t>
                </a:r>
                <a:r>
                  <a:rPr lang="en-US" sz="1200" b="0" i="0" u="none" strike="noStrike" baseline="0" dirty="0" err="1">
                    <a:latin typeface="Calibri" panose="020F0502020204030204" pitchFamily="34" charset="0"/>
                    <a:ea typeface="Calibri" panose="020F0502020204030204" pitchFamily="34" charset="0"/>
                    <a:cs typeface="Calibri" panose="020F0502020204030204" pitchFamily="34" charset="0"/>
                  </a:rPr>
                  <a:t>emonstrate</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English comprehension and expand reading skills by employing analytical skills such as evaluating written information and performing critical analyses commensurate with content area and grade-level needs.</a:t>
                </a:r>
              </a:p>
              <a:p>
                <a:pPr algn="l"/>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Standard form is introduced on Day 2.</a:t>
            </a: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58624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10-15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as a point.</a:t>
                </a: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form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signs of the point that lies on this line.</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several points on this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work with this equation to determine its slope or any points that lie on it?</a:t>
                </a: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would you describe the structure of this equation?</a:t>
                </a:r>
              </a:p>
            </p:txBody>
          </p:sp>
        </mc:Choice>
        <mc:Fallback xmlns="">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800" b="0" i="0" u="none" strike="noStrike" baseline="0" dirty="0">
                    <a:latin typeface="Lato-Regular"/>
                  </a:rPr>
                  <a:t>Why is the slope negative?</a:t>
                </a:r>
              </a:p>
              <a:p>
                <a:pPr marL="285750" indent="-285750" algn="l">
                  <a:buFont typeface="Arial" panose="020B0604020202020204" pitchFamily="34" charset="0"/>
                  <a:buChar char="•"/>
                </a:pPr>
                <a:r>
                  <a:rPr lang="en-US" sz="1800" b="0" i="0" u="none" strike="noStrike" baseline="0" dirty="0">
                    <a:latin typeface="Lato-Regular"/>
                  </a:rPr>
                  <a:t>Why might someone prefer to write the equation as </a:t>
                </a:r>
                <a:r>
                  <a:rPr lang="en-US" sz="1800" b="0" i="0" u="none" strike="noStrike" baseline="0">
                    <a:latin typeface="Cambria Math" panose="02040503050406030204" pitchFamily="18" charset="0"/>
                  </a:rPr>
                  <a:t>𝑦=14−3𝑥 </a:t>
                </a:r>
                <a:r>
                  <a:rPr lang="en-US" sz="1800" b="0" i="0" u="none" strike="noStrike" baseline="0" dirty="0">
                    <a:latin typeface="Lato-Regular"/>
                  </a:rPr>
                  <a:t>rather than </a:t>
                </a:r>
                <a:r>
                  <a:rPr lang="en-US" sz="1800" b="0" i="0" u="none" strike="noStrike" baseline="0">
                    <a:latin typeface="Cambria Math" panose="02040503050406030204" pitchFamily="18" charset="0"/>
                  </a:rPr>
                  <a:t>𝑦=3𝑥−14</a:t>
                </a:r>
                <a:r>
                  <a:rPr lang="en-US" sz="1800" b="0" i="0" u="none" strike="noStrike" baseline="0" dirty="0">
                    <a:latin typeface="Lato-Regular"/>
                  </a:rPr>
                  <a:t>?</a:t>
                </a:r>
              </a:p>
              <a:p>
                <a:pPr marL="0" indent="0" algn="l">
                  <a:buFont typeface="Arial" panose="020B0604020202020204" pitchFamily="34" charset="0"/>
                  <a:buNone/>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How did you determine the initial water level at Pool </a:t>
                </a:r>
                <a:r>
                  <a:rPr lang="en-US" sz="1800" b="0" i="1" u="none" strike="noStrike" baseline="0" dirty="0">
                    <a:latin typeface="Lato-Regular"/>
                  </a:rPr>
                  <a:t>B</a:t>
                </a:r>
                <a:r>
                  <a:rPr lang="en-US" sz="1800" b="0" i="0" u="none" strike="noStrike" baseline="0" dirty="0">
                    <a:latin typeface="Lato-Regular"/>
                  </a:rPr>
                  <a: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What does the 18 in your equation represent?</a:t>
                </a:r>
              </a:p>
              <a:p>
                <a:pPr marL="285750" indent="-285750" algn="l">
                  <a:buFont typeface="Arial" panose="020B0604020202020204" pitchFamily="34" charset="0"/>
                  <a:buChar char="•"/>
                </a:pPr>
                <a:endParaRPr lang="en-US" sz="12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800" b="0" i="0" u="none" strike="noStrike" baseline="0" dirty="0">
                    <a:latin typeface="Lato-Regular"/>
                  </a:rPr>
                  <a:t>What is the general equation you used to write the equations for these lines?</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Lato-Regular"/>
                  </a:rPr>
                  <a:t>How did you identify the slope and y-intercept in each situation?</a:t>
                </a:r>
                <a:endParaRPr lang="en-US"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Getting Started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Characteristics of linear relationships can be identified when their equations are written in different forms such slope-intercept form, point-slope form, and standard form.</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Calibri" panose="020F0502020204030204" pitchFamily="34" charset="0"/>
                  </a:rPr>
                  <a:t>Getting Started Summary:</a:t>
                </a:r>
              </a:p>
              <a:p>
                <a:pPr algn="l"/>
                <a:r>
                  <a:rPr lang="en-US" sz="1800" b="0" i="0" u="none" strike="noStrike" baseline="0" dirty="0">
                    <a:latin typeface="Lato-Regular"/>
                  </a:rPr>
                  <a:t>Real-world situations modeling linear relationships can be expressed as an equation written in slope-intercept form, </a:t>
                </a:r>
                <a:r>
                  <a:rPr lang="en-US" sz="1800" b="0" i="0" u="none" strike="noStrike" baseline="0">
                    <a:latin typeface="Cambria Math" panose="02040503050406030204" pitchFamily="18" charset="0"/>
                  </a:rPr>
                  <a:t>𝑦=𝑚𝑥+𝑏</a:t>
                </a:r>
                <a:r>
                  <a:rPr lang="en-US" sz="1800" b="0" i="0" u="none" strike="noStrike" baseline="0" dirty="0">
                    <a:latin typeface="Lato-Regular"/>
                  </a:rPr>
                  <a:t>, where </a:t>
                </a:r>
                <a:r>
                  <a:rPr lang="en-US" sz="1800" b="0" i="1" u="none" strike="noStrike" baseline="0" dirty="0">
                    <a:latin typeface="Lato-Regular"/>
                  </a:rPr>
                  <a:t>m</a:t>
                </a:r>
                <a:r>
                  <a:rPr lang="en-US" sz="1800" b="0" i="0" u="none" strike="noStrike" baseline="0" dirty="0">
                    <a:latin typeface="Lato-Regular"/>
                  </a:rPr>
                  <a:t> is the slope and </a:t>
                </a:r>
                <a:r>
                  <a:rPr lang="en-US" sz="1800" b="0" i="1" u="none" strike="noStrike" baseline="0" dirty="0">
                    <a:latin typeface="Lato-Regular"/>
                  </a:rPr>
                  <a:t>b</a:t>
                </a:r>
                <a:r>
                  <a:rPr lang="en-US" sz="1800" b="0" i="0" u="none" strike="noStrike" baseline="0" dirty="0">
                    <a:latin typeface="Lato-Regular"/>
                  </a:rPr>
                  <a:t> is the </a:t>
                </a:r>
                <a:r>
                  <a:rPr lang="en-US" sz="1800" b="0" i="1" u="none" strike="noStrike" baseline="0" dirty="0">
                    <a:latin typeface="Lato-Regular"/>
                  </a:rPr>
                  <a:t>y</a:t>
                </a:r>
                <a:r>
                  <a:rPr lang="en-US" sz="1800" b="0" i="0" u="none" strike="noStrike" baseline="0" dirty="0">
                    <a:latin typeface="Lato-Regular"/>
                  </a:rPr>
                  <a:t>-intercept.</a:t>
                </a:r>
                <a:endParaRPr lang="en-US" dirty="0"/>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1358106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E756F-5BCD-5F0E-50DE-F455BAB70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505E5-9555-3EE7-F6B5-4EA6CF48C7F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ABDD3FB-24FD-C56A-5580-E2643958EA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Note: </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E6625B32-F81E-4B83-0030-801E342A4341}"/>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2325991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5.1.</a:t>
            </a:r>
          </a:p>
        </p:txBody>
      </p:sp>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A7867-FA48-9991-46CF-8B0D665CA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BB26A-A014-329F-216C-2479C4690BE0}"/>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430FE16-AC29-A2F7-FDB1-48FCDC9015C2}"/>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F430FE16-AC29-A2F7-FDB1-48FCDC9015C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What information was substituted into the slope formula?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Why do you think it is more efficient to substitute (x, y) for </a:t>
                </a:r>
                <a:r>
                  <a:rPr lang="en-US" sz="1800" b="0" i="0" u="none" strike="noStrike" baseline="0">
                    <a:latin typeface="Cambria Math" panose="02040503050406030204" pitchFamily="18" charset="0"/>
                  </a:rPr>
                  <a:t>(𝑥_2,</a:t>
                </a:r>
                <a:r>
                  <a:rPr lang="en-US" sz="1800" b="0" i="0" u="none" strike="noStrike" baseline="0" dirty="0">
                    <a:latin typeface="Lato-Regular"/>
                  </a:rPr>
                  <a:t> </a:t>
                </a:r>
                <a:r>
                  <a:rPr lang="en-US" sz="1800" b="0" i="0" u="none" strike="noStrike" baseline="0">
                    <a:latin typeface="Cambria Math" panose="02040503050406030204" pitchFamily="18" charset="0"/>
                  </a:rPr>
                  <a:t>𝑦_2)?</a:t>
                </a:r>
                <a:endParaRPr lang="en-US" sz="1800" b="0" i="0" u="none" strike="noStrike" baseline="0" dirty="0">
                  <a:latin typeface="Lato-Regular"/>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What algebra steps were used to rewrite </a:t>
                </a:r>
                <a:r>
                  <a:rPr lang="en-US" sz="1800" b="0" i="0" u="none" strike="noStrike" baseline="0">
                    <a:latin typeface="Cambria Math" panose="02040503050406030204" pitchFamily="18" charset="0"/>
                    <a:ea typeface="Cambria Math" panose="02040503050406030204" pitchFamily="18" charset="0"/>
                  </a:rPr>
                  <a:t>−1/2 (𝑥−2)=𝑦−6</a:t>
                </a:r>
                <a:r>
                  <a:rPr lang="en-US" sz="1800" b="0" i="0" u="none" strike="noStrike" baseline="0" dirty="0">
                    <a:latin typeface="Lato-Regular"/>
                  </a:rPr>
                  <a:t>?</a:t>
                </a:r>
              </a:p>
              <a:p>
                <a:pPr marL="285750" indent="-285750" algn="l">
                  <a:buFont typeface="Arial" panose="020B0604020202020204" pitchFamily="34" charset="0"/>
                  <a:buChar char="•"/>
                </a:pPr>
                <a:endParaRPr lang="en-US" sz="1800" b="0" i="0" u="none" strike="noStrike" baseline="0" dirty="0">
                  <a:latin typeface="Lato-Regular"/>
                </a:endParaRP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Why do you think this form is the point-slope form?</a:t>
                </a:r>
              </a:p>
              <a:p>
                <a:pPr marL="285750" indent="-285750" algn="l">
                  <a:buFont typeface="Arial" panose="020B0604020202020204" pitchFamily="34" charset="0"/>
                  <a:buChar char="•"/>
                </a:pPr>
                <a:endParaRPr lang="en-US" sz="1200" b="0" i="0" u="none" strike="noStrike" baseline="0" dirty="0">
                  <a:latin typeface="Lato-Regular"/>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Lato-Regular"/>
                  </a:rPr>
                  <a:t>If the equation was </a:t>
                </a:r>
                <a:r>
                  <a:rPr lang="en-US" sz="1200" b="0" i="0" u="none" strike="noStrike" baseline="0">
                    <a:latin typeface="Cambria Math" panose="02040503050406030204" pitchFamily="18" charset="0"/>
                  </a:rPr>
                  <a:t>𝑦+6=</a:t>
                </a:r>
                <a:r>
                  <a:rPr lang="en-US" sz="1200" b="0" i="0" u="none" strike="noStrike" baseline="0">
                    <a:latin typeface="Cambria Math" panose="02040503050406030204" pitchFamily="18" charset="0"/>
                    <a:ea typeface="Cambria Math" panose="02040503050406030204" pitchFamily="18" charset="0"/>
                  </a:rPr>
                  <a:t>−1/2(𝑥+2)</a:t>
                </a:r>
                <a:r>
                  <a:rPr lang="en-US" sz="1200" b="0" i="0" u="none" strike="noStrike" baseline="0" dirty="0">
                    <a:latin typeface="Lato-Regular"/>
                  </a:rPr>
                  <a:t>, what is the slope? The point? How can you tell?</a:t>
                </a:r>
              </a:p>
              <a:p>
                <a:pPr marL="0" indent="0" algn="l">
                  <a:buFont typeface="Arial" panose="020B0604020202020204" pitchFamily="34" charset="0"/>
                  <a:buNone/>
                </a:pPr>
                <a:endParaRPr lang="en-US" sz="1200" b="0" i="0" u="none" strike="noStrike" baseline="0" dirty="0">
                  <a:latin typeface="Lato-Regular"/>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10802114-82B5-4F69-78C2-B45053E6AC87}"/>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744284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DAA7-C37F-CD1C-F9E7-B541BED4C7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D0345-B50C-C2E4-EB95-62C9CB487F4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D46DAB-29D8-46CE-B552-3A98ED7FA7F1}"/>
              </a:ext>
            </a:extLst>
          </p:cNvPr>
          <p:cNvSpPr>
            <a:spLocks noGrp="1"/>
          </p:cNvSpPr>
          <p:nvPr>
            <p:ph type="body" idx="1"/>
          </p:nvPr>
        </p:nvSpPr>
        <p:spPr/>
        <p:txBody>
          <a:bodyPr/>
          <a:lstStyle/>
          <a:p>
            <a:pPr marL="0" indent="0" algn="l">
              <a:buFont typeface="Arial" panose="020B0604020202020204" pitchFamily="34" charset="0"/>
              <a:buNone/>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426DAAE-831A-E9CD-011C-99EB2DA6261C}"/>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3438445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A17A-4CFB-41DA-C2F3-779A708A7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2D87A-F02C-0D57-FE3D-31D23EEA75DA}"/>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2D2337A-2571-707B-5327-9474AC3CEDDB}"/>
                  </a:ext>
                </a:extLst>
              </p:cNvPr>
              <p:cNvSpPr>
                <a:spLocks noGrp="1"/>
              </p:cNvSpPr>
              <p:nvPr>
                <p:ph type="body" idx="1"/>
              </p:nvPr>
            </p:nvSpPr>
            <p:spPr/>
            <p:txBody>
              <a:bodyPr/>
              <a:lstStyle/>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E2D2337A-2571-707B-5327-9474AC3CEDD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What information was substituted into the slope formula?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Why do you think it is more efficient to substitute (x, y) for </a:t>
                </a:r>
                <a:r>
                  <a:rPr lang="en-US" sz="1800" b="0" i="0" u="none" strike="noStrike" baseline="0">
                    <a:latin typeface="Cambria Math" panose="02040503050406030204" pitchFamily="18" charset="0"/>
                  </a:rPr>
                  <a:t>(𝑥_2,</a:t>
                </a:r>
                <a:r>
                  <a:rPr lang="en-US" sz="1800" b="0" i="0" u="none" strike="noStrike" baseline="0" dirty="0">
                    <a:latin typeface="Lato-Regular"/>
                  </a:rPr>
                  <a:t> </a:t>
                </a:r>
                <a:r>
                  <a:rPr lang="en-US" sz="1800" b="0" i="0" u="none" strike="noStrike" baseline="0">
                    <a:latin typeface="Cambria Math" panose="02040503050406030204" pitchFamily="18" charset="0"/>
                  </a:rPr>
                  <a:t>𝑦_2)?</a:t>
                </a:r>
                <a:endParaRPr lang="en-US" sz="1800" b="0" i="0" u="none" strike="noStrike" baseline="0" dirty="0">
                  <a:latin typeface="Lato-Regular"/>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What algebra steps were used to rewrite </a:t>
                </a:r>
                <a:r>
                  <a:rPr lang="en-US" sz="1800" b="0" i="0" u="none" strike="noStrike" baseline="0">
                    <a:latin typeface="Cambria Math" panose="02040503050406030204" pitchFamily="18" charset="0"/>
                    <a:ea typeface="Cambria Math" panose="02040503050406030204" pitchFamily="18" charset="0"/>
                  </a:rPr>
                  <a:t>−1/2=(𝑦−6)/(𝑥−2)</a:t>
                </a:r>
                <a:r>
                  <a:rPr lang="en-US" sz="1800" b="0" i="0" u="none" strike="noStrike" baseline="0" dirty="0">
                    <a:latin typeface="Lato-Regular"/>
                  </a:rPr>
                  <a:t> as </a:t>
                </a:r>
                <a:r>
                  <a:rPr lang="en-US" sz="1800" b="0" i="0" u="none" strike="noStrike" baseline="0">
                    <a:latin typeface="Cambria Math" panose="02040503050406030204" pitchFamily="18" charset="0"/>
                    <a:ea typeface="Cambria Math" panose="02040503050406030204" pitchFamily="18" charset="0"/>
                  </a:rPr>
                  <a:t>−1/2 (𝑥−2)=𝑦−6</a:t>
                </a:r>
                <a:r>
                  <a:rPr lang="en-US" sz="1800" b="0" i="0" u="none" strike="noStrike" baseline="0" dirty="0">
                    <a:latin typeface="Lato-Regular"/>
                  </a:rPr>
                  <a:t>?</a:t>
                </a:r>
              </a:p>
              <a:p>
                <a:pPr marL="285750" indent="-285750" algn="l">
                  <a:buFont typeface="Arial" panose="020B0604020202020204" pitchFamily="34" charset="0"/>
                  <a:buChar char="•"/>
                </a:pPr>
                <a:endParaRPr lang="en-US" sz="1800" b="0" i="0" u="none" strike="noStrike" baseline="0" dirty="0">
                  <a:latin typeface="Lato-Regular"/>
                </a:endParaRP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Why do you think this form is the point-slope form?</a:t>
                </a:r>
              </a:p>
              <a:p>
                <a:pPr marL="285750" indent="-285750" algn="l">
                  <a:buFont typeface="Arial" panose="020B0604020202020204" pitchFamily="34" charset="0"/>
                  <a:buChar char="•"/>
                </a:pPr>
                <a:endParaRPr lang="en-US" sz="1200" b="0" i="0" u="none" strike="noStrike" baseline="0" dirty="0">
                  <a:latin typeface="Lato-Regular"/>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Lato-Regular"/>
                  </a:rPr>
                  <a:t>If the equation was </a:t>
                </a:r>
                <a:r>
                  <a:rPr lang="en-US" sz="1200" b="0" i="0" u="none" strike="noStrike" baseline="0">
                    <a:latin typeface="Cambria Math" panose="02040503050406030204" pitchFamily="18" charset="0"/>
                  </a:rPr>
                  <a:t>𝑦+6=−</a:t>
                </a:r>
                <a:r>
                  <a:rPr lang="en-US" sz="1200" b="0" i="0" u="none" strike="noStrike" baseline="0">
                    <a:latin typeface="Cambria Math" panose="02040503050406030204" pitchFamily="18" charset="0"/>
                    <a:ea typeface="Cambria Math" panose="02040503050406030204" pitchFamily="18" charset="0"/>
                  </a:rPr>
                  <a:t>1/2(𝑥+2)</a:t>
                </a:r>
                <a:r>
                  <a:rPr lang="en-US" sz="1200" b="0" i="0" u="none" strike="noStrike" baseline="0" dirty="0">
                    <a:latin typeface="Lato-Regular"/>
                  </a:rPr>
                  <a:t>, what is the slope? The point? How can you tell?</a:t>
                </a:r>
              </a:p>
              <a:p>
                <a:pPr marL="0" indent="0" algn="l">
                  <a:buFont typeface="Arial" panose="020B0604020202020204" pitchFamily="34" charset="0"/>
                  <a:buNone/>
                </a:pPr>
                <a:endParaRPr lang="en-US" sz="1200" b="0" i="0" u="none" strike="noStrike" baseline="0" dirty="0">
                  <a:latin typeface="Lato-Regular"/>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FE056786-BBDB-7D6A-1EAC-468CA52F4437}"/>
              </a:ext>
            </a:extLst>
          </p:cNvPr>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933116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F70B4-C15E-964E-F45D-26ED0BC3ED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11145-C4E8-7B67-FEBA-24801C072C34}"/>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8059458-1D30-29FD-FF6A-FA20107BF5F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E8059458-1D30-29FD-FF6A-FA20107BF5F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What information was substituted into the slope formula?</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Why do you think it is more efficient to substitute (x, y) for </a:t>
                </a:r>
                <a:r>
                  <a:rPr lang="en-US" sz="1800" b="0" i="0" u="none" strike="noStrike" baseline="0">
                    <a:latin typeface="Cambria Math" panose="02040503050406030204" pitchFamily="18" charset="0"/>
                  </a:rPr>
                  <a:t>(𝑥_2,</a:t>
                </a:r>
                <a:r>
                  <a:rPr lang="en-US" sz="1800" b="0" i="0" u="none" strike="noStrike" baseline="0" dirty="0">
                    <a:latin typeface="Lato-Regular"/>
                  </a:rPr>
                  <a:t> </a:t>
                </a:r>
                <a:r>
                  <a:rPr lang="en-US" sz="1800" b="0" i="0" u="none" strike="noStrike" baseline="0">
                    <a:latin typeface="Cambria Math" panose="02040503050406030204" pitchFamily="18" charset="0"/>
                  </a:rPr>
                  <a:t>𝑦_2)?</a:t>
                </a:r>
                <a:endParaRPr lang="en-US" sz="1800" b="0" i="0" u="none" strike="noStrike" baseline="0" dirty="0">
                  <a:latin typeface="Lato-Regular"/>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baseline="0" dirty="0">
                    <a:latin typeface="Lato-Regular"/>
                  </a:rPr>
                  <a:t>What algebra steps were used to rewrite </a:t>
                </a:r>
                <a:r>
                  <a:rPr lang="en-US" sz="1800" b="0" i="0" u="none" strike="noStrike" baseline="0">
                    <a:latin typeface="Cambria Math" panose="02040503050406030204" pitchFamily="18" charset="0"/>
                    <a:ea typeface="Cambria Math" panose="02040503050406030204" pitchFamily="18" charset="0"/>
                  </a:rPr>
                  <a:t>−1/2=(𝑦−6)/(𝑥−2)</a:t>
                </a:r>
                <a:r>
                  <a:rPr lang="en-US" sz="1800" b="0" i="0" u="none" strike="noStrike" baseline="0" dirty="0">
                    <a:latin typeface="Lato-Regular"/>
                  </a:rPr>
                  <a:t> as </a:t>
                </a:r>
                <a:r>
                  <a:rPr lang="en-US" sz="1800" b="0" i="0" u="none" strike="noStrike" baseline="0">
                    <a:latin typeface="Cambria Math" panose="02040503050406030204" pitchFamily="18" charset="0"/>
                    <a:ea typeface="Cambria Math" panose="02040503050406030204" pitchFamily="18" charset="0"/>
                  </a:rPr>
                  <a:t>−1/2 (𝑥−2)=𝑦−6</a:t>
                </a:r>
                <a:r>
                  <a:rPr lang="en-US" sz="1800" b="0" i="0" u="none" strike="noStrike" baseline="0" dirty="0">
                    <a:latin typeface="Lato-Regular"/>
                  </a:rPr>
                  <a:t>?</a:t>
                </a:r>
              </a:p>
              <a:p>
                <a:pPr marL="285750" indent="-285750" algn="l">
                  <a:buFont typeface="Arial" panose="020B0604020202020204" pitchFamily="34" charset="0"/>
                  <a:buChar char="•"/>
                </a:pPr>
                <a:endParaRPr lang="en-US" sz="1800" b="0" i="0" u="none" strike="noStrike" baseline="0" dirty="0">
                  <a:latin typeface="Lato-Regular"/>
                </a:endParaRP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Why do you think this form is the point-slope form?</a:t>
                </a:r>
              </a:p>
              <a:p>
                <a:pPr marL="285750" indent="-285750" algn="l">
                  <a:buFont typeface="Arial" panose="020B0604020202020204" pitchFamily="34" charset="0"/>
                  <a:buChar char="•"/>
                </a:pPr>
                <a:endParaRPr lang="en-US" sz="1200" b="0" i="0" u="none" strike="noStrike" baseline="0" dirty="0">
                  <a:latin typeface="Lato-Regular"/>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Lato-Regular"/>
                  </a:rPr>
                  <a:t>If the equation was </a:t>
                </a:r>
                <a:r>
                  <a:rPr lang="en-US" sz="1200" b="0" i="0" u="none" strike="noStrike" baseline="0">
                    <a:latin typeface="Cambria Math" panose="02040503050406030204" pitchFamily="18" charset="0"/>
                  </a:rPr>
                  <a:t>𝑦+6=−</a:t>
                </a:r>
                <a:r>
                  <a:rPr lang="en-US" sz="1200" b="0" i="0" u="none" strike="noStrike" baseline="0">
                    <a:latin typeface="Cambria Math" panose="02040503050406030204" pitchFamily="18" charset="0"/>
                    <a:ea typeface="Cambria Math" panose="02040503050406030204" pitchFamily="18" charset="0"/>
                  </a:rPr>
                  <a:t>1/2(𝑥+2)</a:t>
                </a:r>
                <a:r>
                  <a:rPr lang="en-US" sz="1200" b="0" i="0" u="none" strike="noStrike" baseline="0" dirty="0">
                    <a:latin typeface="Lato-Regular"/>
                  </a:rPr>
                  <a:t>, what is the slope? The point? How can you tell?</a:t>
                </a:r>
              </a:p>
              <a:p>
                <a:pPr marL="0" indent="0" algn="l">
                  <a:buFont typeface="Arial" panose="020B0604020202020204" pitchFamily="34" charset="0"/>
                  <a:buNone/>
                </a:pPr>
                <a:endParaRPr lang="en-US" sz="1200" b="0" i="0" u="none" strike="noStrike" baseline="0" dirty="0">
                  <a:latin typeface="Lato-Regular"/>
                </a:endParaRP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CE853603-5CBB-41E4-5D34-B9D84CA73E9C}"/>
              </a:ext>
            </a:extLst>
          </p:cNvPr>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1997443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91589-9FD3-9547-DA4D-742C8981C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F7187-D2E9-C32A-53AF-EBF0C4B4DCB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3796DE0-2A89-8C4A-1862-09AA444645E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23796DE0-2A89-8C4A-1862-09AA444645E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Which point did you plot first? Where did you locate it?</a:t>
                </a:r>
              </a:p>
              <a:p>
                <a:pPr marL="285750" indent="-285750" algn="l">
                  <a:buFont typeface="Arial" panose="020B0604020202020204" pitchFamily="34" charset="0"/>
                  <a:buChar char="•"/>
                </a:pPr>
                <a:r>
                  <a:rPr lang="en-US" sz="1800" b="0" i="0" u="none" strike="noStrike" baseline="0" dirty="0">
                    <a:latin typeface="Lato-Regular"/>
                  </a:rPr>
                  <a:t>How did you apply the slope </a:t>
                </a:r>
                <a:r>
                  <a:rPr lang="en-US" sz="1800" b="0" i="0" u="none" strike="noStrike" baseline="0">
                    <a:latin typeface="Cambria Math" panose="02040503050406030204" pitchFamily="18" charset="0"/>
                  </a:rPr>
                  <a:t>2/3</a:t>
                </a:r>
                <a:r>
                  <a:rPr lang="en-US" sz="1800" b="0" i="0" u="none" strike="noStrike" baseline="0" dirty="0">
                    <a:latin typeface="Lato-Regular"/>
                  </a:rPr>
                  <a:t>to plot an additional point?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How is graphing using the slope related to slope triangles?</a:t>
                </a:r>
              </a:p>
              <a:p>
                <a:pPr marL="285750" indent="-285750" algn="l">
                  <a:buFont typeface="Arial" panose="020B0604020202020204" pitchFamily="34" charset="0"/>
                  <a:buChar char="•"/>
                </a:pPr>
                <a:r>
                  <a:rPr lang="en-US" sz="1200" b="0" i="0" u="none" strike="noStrike" baseline="0" dirty="0">
                    <a:latin typeface="Lato-Regular"/>
                  </a:rPr>
                  <a:t>In which direction do you move with a positive numerator? A negative numerator? A positive denominator? A negative denominator?</a:t>
                </a:r>
              </a:p>
              <a:p>
                <a:pPr marL="285750" indent="-285750" algn="l">
                  <a:buFont typeface="Arial" panose="020B0604020202020204" pitchFamily="34" charset="0"/>
                  <a:buChar char="•"/>
                </a:pPr>
                <a:r>
                  <a:rPr lang="en-US" sz="1200" b="0" i="0" u="none" strike="noStrike" baseline="0" dirty="0">
                    <a:latin typeface="Lato-Regular"/>
                  </a:rPr>
                  <a:t>How do you know the direction of the line is correct?</a:t>
                </a:r>
              </a:p>
              <a:p>
                <a:pPr marL="285750" indent="-285750" algn="l">
                  <a:buFont typeface="Arial" panose="020B0604020202020204" pitchFamily="34" charset="0"/>
                  <a:buChar char="•"/>
                </a:pPr>
                <a:r>
                  <a:rPr lang="en-US" sz="1200" b="0" i="0" u="none" strike="noStrike" baseline="0" dirty="0">
                    <a:latin typeface="Lato-Regular"/>
                  </a:rPr>
                  <a:t>Why does it help to write the number 10 as a fraction?</a:t>
                </a:r>
              </a:p>
              <a:p>
                <a:pPr marL="285750" indent="-285750" algn="l">
                  <a:buFont typeface="Arial" panose="020B0604020202020204" pitchFamily="34" charset="0"/>
                  <a:buChar char="•"/>
                </a:pPr>
                <a:r>
                  <a:rPr lang="en-US" sz="1200" b="0" i="0" u="none" strike="noStrike" baseline="0" dirty="0">
                    <a:latin typeface="Lato-Regular"/>
                  </a:rPr>
                  <a:t>Why is this graph increasing?</a:t>
                </a:r>
              </a:p>
              <a:p>
                <a:pPr marL="285750" indent="-285750" algn="l">
                  <a:buFont typeface="Arial" panose="020B0604020202020204" pitchFamily="34" charset="0"/>
                  <a:buChar char="•"/>
                </a:pPr>
                <a:r>
                  <a:rPr lang="en-US" sz="1200" b="0" i="0" u="none" strike="noStrike" baseline="0" dirty="0">
                    <a:latin typeface="Lato-Regular"/>
                  </a:rPr>
                  <a:t>Use the graph to show how the total savings increases by 15 for every one lawn mowed?</a:t>
                </a:r>
              </a:p>
              <a:p>
                <a:pPr marL="285750" indent="-285750" algn="l">
                  <a:buFont typeface="Arial" panose="020B0604020202020204" pitchFamily="34" charset="0"/>
                  <a:buChar char="•"/>
                </a:pPr>
                <a:r>
                  <a:rPr lang="en-US" sz="1200" b="0" i="0" u="none" strike="noStrike" baseline="0" dirty="0">
                    <a:latin typeface="Lato-Regular"/>
                  </a:rPr>
                  <a:t>Why is this graph decreasing?</a:t>
                </a:r>
              </a:p>
              <a:p>
                <a:pPr marL="285750" indent="-285750" algn="l">
                  <a:buFont typeface="Arial" panose="020B0604020202020204" pitchFamily="34" charset="0"/>
                  <a:buChar char="•"/>
                </a:pPr>
                <a:r>
                  <a:rPr lang="en-US" sz="1200" b="0" i="0" u="none" strike="noStrike" baseline="0" dirty="0">
                    <a:latin typeface="Lato-Regular"/>
                  </a:rPr>
                  <a:t>Use the graph to show how the amount owed decreased by 10 for every one week.</a:t>
                </a: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920C4FA5-1A67-98B1-A1D6-6BA73B41E05C}"/>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45239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2AD6D-4626-9611-C358-B0716A7A2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50D19-BCCC-AACD-9D66-46898CFF61A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4A4C1486-5CEA-D3EB-1356-17CA64BE480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4A4C1486-5CEA-D3EB-1356-17CA64BE480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Which point did you plot first? Where did you locate it?</a:t>
                </a:r>
              </a:p>
              <a:p>
                <a:pPr marL="285750" indent="-285750" algn="l">
                  <a:buFont typeface="Arial" panose="020B0604020202020204" pitchFamily="34" charset="0"/>
                  <a:buChar char="•"/>
                </a:pPr>
                <a:r>
                  <a:rPr lang="en-US" sz="1800" b="0" i="0" u="none" strike="noStrike" baseline="0" dirty="0">
                    <a:latin typeface="Lato-Regular"/>
                  </a:rPr>
                  <a:t>How did you apply the slope </a:t>
                </a:r>
                <a:r>
                  <a:rPr lang="en-US" sz="1800" b="0" i="0" u="none" strike="noStrike" baseline="0">
                    <a:latin typeface="Cambria Math" panose="02040503050406030204" pitchFamily="18" charset="0"/>
                  </a:rPr>
                  <a:t>2/3</a:t>
                </a:r>
                <a:r>
                  <a:rPr lang="en-US" sz="1800" b="0" i="0" u="none" strike="noStrike" baseline="0" dirty="0">
                    <a:latin typeface="Lato-Regular"/>
                  </a:rPr>
                  <a:t>to plot an additional point?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How is graphing using the slope related to slope triangles?</a:t>
                </a:r>
              </a:p>
              <a:p>
                <a:pPr marL="285750" indent="-285750" algn="l">
                  <a:buFont typeface="Arial" panose="020B0604020202020204" pitchFamily="34" charset="0"/>
                  <a:buChar char="•"/>
                </a:pPr>
                <a:r>
                  <a:rPr lang="en-US" sz="1200" b="0" i="0" u="none" strike="noStrike" baseline="0" dirty="0">
                    <a:latin typeface="Lato-Regular"/>
                  </a:rPr>
                  <a:t>In which direction do you move with a positive numerator? A negative numerator? A positive denominator? A negative denominator?</a:t>
                </a:r>
              </a:p>
              <a:p>
                <a:pPr marL="285750" indent="-285750" algn="l">
                  <a:buFont typeface="Arial" panose="020B0604020202020204" pitchFamily="34" charset="0"/>
                  <a:buChar char="•"/>
                </a:pPr>
                <a:r>
                  <a:rPr lang="en-US" sz="1200" b="0" i="0" u="none" strike="noStrike" baseline="0" dirty="0">
                    <a:latin typeface="Lato-Regular"/>
                  </a:rPr>
                  <a:t>How do you know the direction of the line is correct?</a:t>
                </a:r>
              </a:p>
              <a:p>
                <a:pPr marL="285750" indent="-285750" algn="l">
                  <a:buFont typeface="Arial" panose="020B0604020202020204" pitchFamily="34" charset="0"/>
                  <a:buChar char="•"/>
                </a:pPr>
                <a:r>
                  <a:rPr lang="en-US" sz="1200" b="0" i="0" u="none" strike="noStrike" baseline="0" dirty="0">
                    <a:latin typeface="Lato-Regular"/>
                  </a:rPr>
                  <a:t>Why does it help to write the number 10 as a fraction?</a:t>
                </a:r>
              </a:p>
              <a:p>
                <a:pPr marL="285750" indent="-285750" algn="l">
                  <a:buFont typeface="Arial" panose="020B0604020202020204" pitchFamily="34" charset="0"/>
                  <a:buChar char="•"/>
                </a:pPr>
                <a:r>
                  <a:rPr lang="en-US" sz="1200" b="0" i="0" u="none" strike="noStrike" baseline="0" dirty="0">
                    <a:latin typeface="Lato-Regular"/>
                  </a:rPr>
                  <a:t>Why is this graph increasing?</a:t>
                </a:r>
              </a:p>
              <a:p>
                <a:pPr marL="285750" indent="-285750" algn="l">
                  <a:buFont typeface="Arial" panose="020B0604020202020204" pitchFamily="34" charset="0"/>
                  <a:buChar char="•"/>
                </a:pPr>
                <a:r>
                  <a:rPr lang="en-US" sz="1200" b="0" i="0" u="none" strike="noStrike" baseline="0" dirty="0">
                    <a:latin typeface="Lato-Regular"/>
                  </a:rPr>
                  <a:t>Use the graph to show how the total savings increases by 15 for every one lawn mowed?</a:t>
                </a:r>
              </a:p>
              <a:p>
                <a:pPr marL="285750" indent="-285750" algn="l">
                  <a:buFont typeface="Arial" panose="020B0604020202020204" pitchFamily="34" charset="0"/>
                  <a:buChar char="•"/>
                </a:pPr>
                <a:r>
                  <a:rPr lang="en-US" sz="1200" b="0" i="0" u="none" strike="noStrike" baseline="0" dirty="0">
                    <a:latin typeface="Lato-Regular"/>
                  </a:rPr>
                  <a:t>Why is this graph decreasing?</a:t>
                </a:r>
              </a:p>
              <a:p>
                <a:pPr marL="285750" indent="-285750" algn="l">
                  <a:buFont typeface="Arial" panose="020B0604020202020204" pitchFamily="34" charset="0"/>
                  <a:buChar char="•"/>
                </a:pPr>
                <a:r>
                  <a:rPr lang="en-US" sz="1200" b="0" i="0" u="none" strike="noStrike" baseline="0" dirty="0">
                    <a:latin typeface="Lato-Regular"/>
                  </a:rPr>
                  <a:t>Use the graph to show how the amount owed decreased by 10 for every one week.</a:t>
                </a: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AA1EFFEA-CBD9-A322-A6B6-CB633F5B6452}"/>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2656555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E350A-6D5D-AB08-281E-A75659933E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C1997-C8F5-1219-7751-08FC9972F8CD}"/>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60039D8-71AD-05BD-D871-4139B0239B7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260039D8-71AD-05BD-D871-4139B0239B7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Which point did you plot first? Where did you locate it?</a:t>
                </a:r>
              </a:p>
              <a:p>
                <a:pPr marL="285750" indent="-285750" algn="l">
                  <a:buFont typeface="Arial" panose="020B0604020202020204" pitchFamily="34" charset="0"/>
                  <a:buChar char="•"/>
                </a:pPr>
                <a:r>
                  <a:rPr lang="en-US" sz="1800" b="0" i="0" u="none" strike="noStrike" baseline="0" dirty="0">
                    <a:latin typeface="Lato-Regular"/>
                  </a:rPr>
                  <a:t>How did you apply the slope </a:t>
                </a:r>
                <a:r>
                  <a:rPr lang="en-US" sz="1800" b="0" i="0" u="none" strike="noStrike" baseline="0">
                    <a:latin typeface="Cambria Math" panose="02040503050406030204" pitchFamily="18" charset="0"/>
                  </a:rPr>
                  <a:t>2/3</a:t>
                </a:r>
                <a:r>
                  <a:rPr lang="en-US" sz="1800" b="0" i="0" u="none" strike="noStrike" baseline="0" dirty="0">
                    <a:latin typeface="Lato-Regular"/>
                  </a:rPr>
                  <a:t>to plot an additional point?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How is graphing using the slope related to slope triangles?</a:t>
                </a:r>
              </a:p>
              <a:p>
                <a:pPr marL="285750" indent="-285750" algn="l">
                  <a:buFont typeface="Arial" panose="020B0604020202020204" pitchFamily="34" charset="0"/>
                  <a:buChar char="•"/>
                </a:pPr>
                <a:r>
                  <a:rPr lang="en-US" sz="1200" b="0" i="0" u="none" strike="noStrike" baseline="0" dirty="0">
                    <a:latin typeface="Lato-Regular"/>
                  </a:rPr>
                  <a:t>In which direction do you move with a positive numerator? A negative numerator? A positive denominator? A negative denominator?</a:t>
                </a:r>
              </a:p>
              <a:p>
                <a:pPr marL="285750" indent="-285750" algn="l">
                  <a:buFont typeface="Arial" panose="020B0604020202020204" pitchFamily="34" charset="0"/>
                  <a:buChar char="•"/>
                </a:pPr>
                <a:r>
                  <a:rPr lang="en-US" sz="1200" b="0" i="0" u="none" strike="noStrike" baseline="0" dirty="0">
                    <a:latin typeface="Lato-Regular"/>
                  </a:rPr>
                  <a:t>How do you know the direction of the line is correct?</a:t>
                </a:r>
              </a:p>
              <a:p>
                <a:pPr marL="285750" indent="-285750" algn="l">
                  <a:buFont typeface="Arial" panose="020B0604020202020204" pitchFamily="34" charset="0"/>
                  <a:buChar char="•"/>
                </a:pPr>
                <a:r>
                  <a:rPr lang="en-US" sz="1200" b="0" i="0" u="none" strike="noStrike" baseline="0" dirty="0">
                    <a:latin typeface="Lato-Regular"/>
                  </a:rPr>
                  <a:t>Why does it help to write the number 10 as a fraction?</a:t>
                </a:r>
              </a:p>
              <a:p>
                <a:pPr marL="285750" indent="-285750" algn="l">
                  <a:buFont typeface="Arial" panose="020B0604020202020204" pitchFamily="34" charset="0"/>
                  <a:buChar char="•"/>
                </a:pPr>
                <a:r>
                  <a:rPr lang="en-US" sz="1200" b="0" i="0" u="none" strike="noStrike" baseline="0" dirty="0">
                    <a:latin typeface="Lato-Regular"/>
                  </a:rPr>
                  <a:t>Why is this graph increasing?</a:t>
                </a:r>
              </a:p>
              <a:p>
                <a:pPr marL="285750" indent="-285750" algn="l">
                  <a:buFont typeface="Arial" panose="020B0604020202020204" pitchFamily="34" charset="0"/>
                  <a:buChar char="•"/>
                </a:pPr>
                <a:r>
                  <a:rPr lang="en-US" sz="1200" b="0" i="0" u="none" strike="noStrike" baseline="0" dirty="0">
                    <a:latin typeface="Lato-Regular"/>
                  </a:rPr>
                  <a:t>Use the graph to show how the total savings increases by 15 for every one lawn mowed?</a:t>
                </a:r>
              </a:p>
              <a:p>
                <a:pPr marL="285750" indent="-285750" algn="l">
                  <a:buFont typeface="Arial" panose="020B0604020202020204" pitchFamily="34" charset="0"/>
                  <a:buChar char="•"/>
                </a:pPr>
                <a:r>
                  <a:rPr lang="en-US" sz="1200" b="0" i="0" u="none" strike="noStrike" baseline="0" dirty="0">
                    <a:latin typeface="Lato-Regular"/>
                  </a:rPr>
                  <a:t>Why is this graph decreasing?</a:t>
                </a:r>
              </a:p>
              <a:p>
                <a:pPr marL="285750" indent="-285750" algn="l">
                  <a:buFont typeface="Arial" panose="020B0604020202020204" pitchFamily="34" charset="0"/>
                  <a:buChar char="•"/>
                </a:pPr>
                <a:r>
                  <a:rPr lang="en-US" sz="1200" b="0" i="0" u="none" strike="noStrike" baseline="0" dirty="0">
                    <a:latin typeface="Lato-Regular"/>
                  </a:rPr>
                  <a:t>Use the graph to show how the amount owed decreased by 10 for every one week.</a:t>
                </a: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E1BE8A86-09C5-8E40-E36E-708B4D955507}"/>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436040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F09C0-E65D-675A-84F5-F0A4F7F94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9CF5F-4289-0BF1-20E6-CD6AF667380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10E8A4D-5F66-706A-E2D4-E6A0C1638D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point did you plot first? Where did you locate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apply the slope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rPr>
                        </m:ctrlPr>
                      </m:fPr>
                      <m:num>
                        <m:r>
                          <a:rPr lang="en-US" sz="1200" b="0" i="1" u="none" strike="noStrike" baseline="0" smtClean="0">
                            <a:solidFill>
                              <a:srgbClr val="000000"/>
                            </a:solidFill>
                            <a:latin typeface="Cambria Math" panose="02040503050406030204" pitchFamily="18" charset="0"/>
                          </a:rPr>
                          <m:t>2</m:t>
                        </m:r>
                      </m:num>
                      <m:den>
                        <m:r>
                          <a:rPr lang="en-US" sz="1200" b="0" i="1" u="none" strike="noStrike" baseline="0" smtClean="0">
                            <a:solidFill>
                              <a:srgbClr val="000000"/>
                            </a:solidFill>
                            <a:latin typeface="Cambria Math" panose="02040503050406030204" pitchFamily="18" charset="0"/>
                          </a:rPr>
                          <m:t>3</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 plot an additional point?</a:t>
                </a:r>
              </a:p>
              <a:p>
                <a:pPr marL="285750" indent="-285750" algn="l">
                  <a:buFont typeface="Arial" panose="020B0604020202020204" pitchFamily="34" charset="0"/>
                  <a:buChar char="•"/>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is graphing using the slope related to slope triangles?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 which direction do you move with a positive numerator? A negative numerator? A positive denominator? A negative denominator?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help to write the number 10 as a fraction?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total savings increases by 15 for every one lawn mowed?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decreasing?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amount owed decreased by 10 for every one week.</a:t>
                </a:r>
              </a:p>
            </p:txBody>
          </p:sp>
        </mc:Choice>
        <mc:Fallback xmlns="">
          <p:sp>
            <p:nvSpPr>
              <p:cNvPr id="3" name="Notes Placeholder 2">
                <a:extLst>
                  <a:ext uri="{FF2B5EF4-FFF2-40B4-BE49-F238E27FC236}">
                    <a16:creationId xmlns:a16="http://schemas.microsoft.com/office/drawing/2014/main" id="{510E8A4D-5F66-706A-E2D4-E6A0C1638D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800" b="0" i="0" u="none" strike="noStrike" baseline="0" dirty="0">
                    <a:latin typeface="Lato-Regular"/>
                  </a:rPr>
                  <a:t>Which point did you plot first? Where did you locate it?</a:t>
                </a:r>
              </a:p>
              <a:p>
                <a:pPr marL="285750" indent="-285750" algn="l">
                  <a:buFont typeface="Arial" panose="020B0604020202020204" pitchFamily="34" charset="0"/>
                  <a:buChar char="•"/>
                </a:pPr>
                <a:r>
                  <a:rPr lang="en-US" sz="1800" b="0" i="0" u="none" strike="noStrike" baseline="0" dirty="0">
                    <a:latin typeface="Lato-Regular"/>
                  </a:rPr>
                  <a:t>How did you apply the slope </a:t>
                </a:r>
                <a:r>
                  <a:rPr lang="en-US" sz="1800" b="0" i="0" u="none" strike="noStrike" baseline="0">
                    <a:latin typeface="Cambria Math" panose="02040503050406030204" pitchFamily="18" charset="0"/>
                  </a:rPr>
                  <a:t>2/3</a:t>
                </a:r>
                <a:r>
                  <a:rPr lang="en-US" sz="1800" b="0" i="0" u="none" strike="noStrike" baseline="0" dirty="0">
                    <a:latin typeface="Lato-Regular"/>
                  </a:rPr>
                  <a:t>to plot an additional point?</a:t>
                </a:r>
              </a:p>
              <a:p>
                <a:pPr marL="285750" indent="-285750" algn="l">
                  <a:buFont typeface="Arial" panose="020B0604020202020204" pitchFamily="34" charset="0"/>
                  <a:buChar char="•"/>
                </a:pPr>
                <a:endParaRPr lang="en-US" sz="1800" b="0" i="0" u="none" strike="noStrike" baseline="0" dirty="0">
                  <a:latin typeface="Lato-Regular"/>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285750" indent="-285750" algn="l">
                  <a:buFont typeface="Arial" panose="020B0604020202020204" pitchFamily="34" charset="0"/>
                  <a:buChar char="•"/>
                </a:pPr>
                <a:r>
                  <a:rPr lang="en-US" sz="1200" b="0" i="0" u="none" strike="noStrike" baseline="0" dirty="0">
                    <a:latin typeface="Lato-Regular"/>
                  </a:rPr>
                  <a:t>How is graphing using the slope related to slope triangles?</a:t>
                </a:r>
              </a:p>
              <a:p>
                <a:pPr marL="285750" indent="-285750" algn="l">
                  <a:buFont typeface="Arial" panose="020B0604020202020204" pitchFamily="34" charset="0"/>
                  <a:buChar char="•"/>
                </a:pPr>
                <a:r>
                  <a:rPr lang="en-US" sz="1200" b="0" i="0" u="none" strike="noStrike" baseline="0" dirty="0">
                    <a:latin typeface="Lato-Regular"/>
                  </a:rPr>
                  <a:t>In which direction do you move with a positive numerator? A negative numerator? A positive denominator? A negative denominator?</a:t>
                </a:r>
              </a:p>
              <a:p>
                <a:pPr marL="285750" indent="-285750" algn="l">
                  <a:buFont typeface="Arial" panose="020B0604020202020204" pitchFamily="34" charset="0"/>
                  <a:buChar char="•"/>
                </a:pPr>
                <a:r>
                  <a:rPr lang="en-US" sz="1200" b="0" i="0" u="none" strike="noStrike" baseline="0" dirty="0">
                    <a:latin typeface="Lato-Regular"/>
                  </a:rPr>
                  <a:t>How do you know the direction of the line is correct?</a:t>
                </a:r>
              </a:p>
              <a:p>
                <a:pPr marL="285750" indent="-285750" algn="l">
                  <a:buFont typeface="Arial" panose="020B0604020202020204" pitchFamily="34" charset="0"/>
                  <a:buChar char="•"/>
                </a:pPr>
                <a:r>
                  <a:rPr lang="en-US" sz="1200" b="0" i="0" u="none" strike="noStrike" baseline="0" dirty="0">
                    <a:latin typeface="Lato-Regular"/>
                  </a:rPr>
                  <a:t>Why does it help to write the number 10 as a fraction?</a:t>
                </a:r>
              </a:p>
              <a:p>
                <a:pPr marL="285750" indent="-285750" algn="l">
                  <a:buFont typeface="Arial" panose="020B0604020202020204" pitchFamily="34" charset="0"/>
                  <a:buChar char="•"/>
                </a:pPr>
                <a:r>
                  <a:rPr lang="en-US" sz="1200" b="0" i="0" u="none" strike="noStrike" baseline="0" dirty="0">
                    <a:latin typeface="Lato-Regular"/>
                  </a:rPr>
                  <a:t>Why is this graph increasing?</a:t>
                </a:r>
              </a:p>
              <a:p>
                <a:pPr marL="285750" indent="-285750" algn="l">
                  <a:buFont typeface="Arial" panose="020B0604020202020204" pitchFamily="34" charset="0"/>
                  <a:buChar char="•"/>
                </a:pPr>
                <a:r>
                  <a:rPr lang="en-US" sz="1200" b="0" i="0" u="none" strike="noStrike" baseline="0" dirty="0">
                    <a:latin typeface="Lato-Regular"/>
                  </a:rPr>
                  <a:t>Use the graph to show how the total savings increases by 15 for every one lawn mowed?</a:t>
                </a:r>
              </a:p>
              <a:p>
                <a:pPr marL="285750" indent="-285750" algn="l">
                  <a:buFont typeface="Arial" panose="020B0604020202020204" pitchFamily="34" charset="0"/>
                  <a:buChar char="•"/>
                </a:pPr>
                <a:r>
                  <a:rPr lang="en-US" sz="1200" b="0" i="0" u="none" strike="noStrike" baseline="0" dirty="0">
                    <a:latin typeface="Lato-Regular"/>
                  </a:rPr>
                  <a:t>Why is this graph decreasing?</a:t>
                </a:r>
              </a:p>
              <a:p>
                <a:pPr marL="285750" indent="-285750" algn="l">
                  <a:buFont typeface="Arial" panose="020B0604020202020204" pitchFamily="34" charset="0"/>
                  <a:buChar char="•"/>
                </a:pPr>
                <a:r>
                  <a:rPr lang="en-US" sz="1200" b="0" i="0" u="none" strike="noStrike" baseline="0" dirty="0">
                    <a:latin typeface="Lato-Regular"/>
                  </a:rPr>
                  <a:t>Use the graph to show how the amount owed decreased by 10 for every one week.</a:t>
                </a:r>
              </a:p>
              <a:p>
                <a:pPr marL="0" indent="0" algn="l">
                  <a:buFont typeface="Arial" panose="020B0604020202020204" pitchFamily="34" charset="0"/>
                  <a:buNone/>
                </a:pPr>
                <a:endParaRPr lang="en-US" sz="120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5C350FA1-5694-D695-DAB1-C3D99C42E2D4}"/>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429215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40FBA-3506-801F-77FB-8AF47ADB8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77B06-F48F-D602-C50C-D24085F6C3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87569EC-2C58-1704-A827-72EAF7189BB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5.1 Summary: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 equation written in slope-intercept form can be graphed by first plotting the </a:t>
                </a:r>
                <a:r>
                  <a:rPr lang="en-US" sz="1200" b="0" i="1"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y</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-intercept and then using the slope to locate two additional points by counting from that initial point.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787569EC-2C58-1704-A827-72EAF7189BB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Note:</a:t>
                </a:r>
                <a:r>
                  <a:rPr lang="en-US" sz="1200" b="0" dirty="0">
                    <a:latin typeface="Calibri" panose="020F0502020204030204" pitchFamily="34" charset="0"/>
                    <a:ea typeface="Calibri" panose="020F0502020204030204" pitchFamily="34" charset="0"/>
                    <a:cs typeface="Calibri" panose="020F0502020204030204" pitchFamily="34" charset="0"/>
                  </a:rPr>
                  <a:t> To close Day 1, have students reread the Essential Question and then read the Stamp the Learning summary aloud.</a:t>
                </a: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1"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Activity 3.1 Summary: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All sequences are functions. All arithmetic sequences are linear functions. The explicit formula of an arithmetic sequence can be rewritten as a linear function. The common difference of an arithmetic sequence is the same as the slope of its linear function. The value of </a:t>
                </a:r>
                <a:r>
                  <a:rPr lang="en-US" sz="1200" b="0" i="0" u="none" strike="noStrike">
                    <a:solidFill>
                      <a:srgbClr val="000000"/>
                    </a:solidFill>
                    <a:effectLst/>
                    <a:latin typeface="Cambria Math" panose="02040503050406030204" pitchFamily="18" charset="0"/>
                  </a:rPr>
                  <a:t>𝑎_1</a:t>
                </a:r>
                <a:r>
                  <a:rPr lang="en-US" sz="1200" b="0" i="0" u="none" strike="noStrike" dirty="0">
                    <a:solidFill>
                      <a:srgbClr val="000000"/>
                    </a:solidFill>
                    <a:effectLst/>
                    <a:latin typeface="Calibri" panose="020F0502020204030204" pitchFamily="34" charset="0"/>
                  </a:rPr>
                  <a:t>of a sequence is equal to </a:t>
                </a:r>
                <a:r>
                  <a:rPr lang="en-US" sz="1200" b="0" i="0" u="none" strike="noStrike" dirty="0">
                    <a:solidFill>
                      <a:srgbClr val="000000"/>
                    </a:solidFill>
                    <a:effectLst/>
                    <a:latin typeface="Cambria Math" panose="02040503050406030204" pitchFamily="18" charset="0"/>
                  </a:rPr>
                  <a:t>𝑓(1) </a:t>
                </a:r>
                <a:r>
                  <a:rPr lang="en-US" sz="1200" b="0" i="0" u="none" strike="noStrike" dirty="0">
                    <a:solidFill>
                      <a:srgbClr val="000000"/>
                    </a:solidFill>
                    <a:effectLst/>
                    <a:latin typeface="Calibri" panose="020F0502020204030204" pitchFamily="34" charset="0"/>
                  </a:rPr>
                  <a:t>of its linear function.</a:t>
                </a:r>
                <a:endParaRPr lang="en-US" dirty="0"/>
              </a:p>
            </p:txBody>
          </p:sp>
        </mc:Fallback>
      </mc:AlternateContent>
      <p:sp>
        <p:nvSpPr>
          <p:cNvPr id="4" name="Slide Number Placeholder 3">
            <a:extLst>
              <a:ext uri="{FF2B5EF4-FFF2-40B4-BE49-F238E27FC236}">
                <a16:creationId xmlns:a16="http://schemas.microsoft.com/office/drawing/2014/main" id="{3B123B4E-1179-99E9-868A-00DA33A6BA4D}"/>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1284918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E3CC3-1005-B560-774A-613EEC3BF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78F45-373D-EDAC-EF0C-A2FF131119E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0AB30D5-0727-9755-A84A-0EB217820E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AA651E8-3BAB-90A2-0A7E-A69240115A12}"/>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2837802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AEAA9-EAA2-393D-1AF8-CA349F47C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DE1BD-96E0-F04E-04F2-67090E0B46A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A16CE72-B3C4-6F9C-452E-B8BDA8E422D0}"/>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2 is 45 minutes.</a:t>
            </a:r>
          </a:p>
        </p:txBody>
      </p:sp>
      <p:sp>
        <p:nvSpPr>
          <p:cNvPr id="4" name="Slide Number Placeholder 3">
            <a:extLst>
              <a:ext uri="{FF2B5EF4-FFF2-40B4-BE49-F238E27FC236}">
                <a16:creationId xmlns:a16="http://schemas.microsoft.com/office/drawing/2014/main" id="{CDBFF8BD-8CD3-0498-7E9D-88CF15D0474A}"/>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748990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A02D4-66A5-7350-8FD2-380B0C111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A3588-9B04-64CA-1FF5-5FC7A1EA8C9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821CBFF-D73A-2060-EEDE-21E5C49BA9B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CA7C89A-E479-9C01-76C0-083698293B43}"/>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2988846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F77C1-C9E8-ACB9-0AE9-C765C7DF5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25A2E-C70B-BE83-B622-B165F4D6A79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D6DED6B-2583-3B9C-3671-68DE4AE0910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5.2.</a:t>
            </a:r>
          </a:p>
        </p:txBody>
      </p:sp>
      <p:sp>
        <p:nvSpPr>
          <p:cNvPr id="4" name="Slide Number Placeholder 3">
            <a:extLst>
              <a:ext uri="{FF2B5EF4-FFF2-40B4-BE49-F238E27FC236}">
                <a16:creationId xmlns:a16="http://schemas.microsoft.com/office/drawing/2014/main" id="{DD1DCAEA-EAD2-6DA6-F7A8-CF8385F5F0D1}"/>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2865319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could you rewrite this equation in </a:t>
                </a:r>
                <a:r>
                  <a:rPr lang="en-US" b="0" i="0">
                    <a:latin typeface="Cambria Math" panose="02040503050406030204" pitchFamily="18" charset="0"/>
                    <a:ea typeface="Calibri" panose="020F0502020204030204" pitchFamily="34" charset="0"/>
                    <a:cs typeface="Calibri" panose="020F0502020204030204" pitchFamily="34" charset="0"/>
                  </a:rPr>
                  <a:t>𝑦=𝑚𝑥+𝑏 </a:t>
                </a:r>
                <a:r>
                  <a:rPr lang="en-US" dirty="0">
                    <a:latin typeface="Calibri" panose="020F0502020204030204" pitchFamily="34" charset="0"/>
                    <a:ea typeface="Calibri" panose="020F0502020204030204" pitchFamily="34" charset="0"/>
                    <a:cs typeface="Calibri" panose="020F0502020204030204" pitchFamily="34" charset="0"/>
                  </a:rPr>
                  <a:t>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this graph has a </a:t>
                </a:r>
                <a:r>
                  <a:rPr lang="en-US" i="1" dirty="0">
                    <a:latin typeface="Calibri" panose="020F0502020204030204" pitchFamily="34" charset="0"/>
                    <a:ea typeface="Calibri" panose="020F0502020204030204" pitchFamily="34" charset="0"/>
                    <a:cs typeface="Calibri" panose="020F0502020204030204" pitchFamily="34" charset="0"/>
                  </a:rPr>
                  <a:t>y</a:t>
                </a:r>
                <a:r>
                  <a:rPr lang="en-US" dirty="0">
                    <a:latin typeface="Calibri" panose="020F0502020204030204" pitchFamily="34" charset="0"/>
                    <a:ea typeface="Calibri" panose="020F0502020204030204" pitchFamily="34" charset="0"/>
                    <a:cs typeface="Calibri" panose="020F0502020204030204" pitchFamily="34" charset="0"/>
                  </a:rPr>
                  <a:t>-intercept?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Does the graph of this line pass through (0, -6) or (-6,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When given ordered pairs, how do you know what variable and value to use for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can’t you write this equation in </a:t>
                </a:r>
                <a:r>
                  <a:rPr lang="en-US" b="0" i="0">
                    <a:latin typeface="Cambria Math" panose="02040503050406030204" pitchFamily="18" charset="0"/>
                    <a:ea typeface="Calibri" panose="020F0502020204030204" pitchFamily="34" charset="0"/>
                    <a:cs typeface="Calibri" panose="020F0502020204030204" pitchFamily="34" charset="0"/>
                  </a:rPr>
                  <a:t>𝑦=𝑚𝑥+𝑏 </a:t>
                </a:r>
                <a:r>
                  <a:rPr lang="en-US" dirty="0">
                    <a:latin typeface="Calibri" panose="020F0502020204030204" pitchFamily="34" charset="0"/>
                    <a:ea typeface="Calibri" panose="020F0502020204030204" pitchFamily="34" charset="0"/>
                    <a:cs typeface="Calibri" panose="020F0502020204030204" pitchFamily="34" charset="0"/>
                  </a:rPr>
                  <a:t>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does it make sense that the slope is undefined?</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When given ordered pairs, how do you know which variable and value to use for your equation?</a:t>
                </a: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F301B-195C-A763-B666-831C8F03E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BB39A-1B60-DF08-B455-E31325F07D7A}"/>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8CEABAA-A82E-3243-EAA3-CC61736540D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08CEABAA-A82E-3243-EAA3-CC61736540D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7F9779CE-60B5-CB4B-0BFC-B92B1D8C8042}"/>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3981416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D4217-BE7F-3C71-27BD-3D4515C3C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43860-5B52-B8C5-7B6F-F1E7DA753509}"/>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5D08E4CD-D865-751B-6893-7A063391D0E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5D08E4CD-D865-751B-6893-7A063391D0E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811699B9-48C1-0158-52FE-54D94C636A37}"/>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378485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BAD49-8F6F-BA62-2BBA-8363684FC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45D07-1C15-A4C4-829F-CD68D8D9A68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DAC8E3A-6A00-9DFC-14DF-B1D1088C210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2DAC8E3A-6A00-9DFC-14DF-B1D1088C210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3F93CEAF-F7B0-A53A-B043-C98A1ADE2187}"/>
              </a:ext>
            </a:extLst>
          </p:cNvPr>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967091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7EF71-8380-86B7-4032-927694BE0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8E18E-6FD3-6184-EA90-C6786DD6F11A}"/>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5913735-090D-7C05-036C-7CF3E4E902A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D5913735-090D-7C05-036C-7CF3E4E902A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76A6065F-1EF3-18F0-84E2-7403BAC6E167}"/>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13551396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1EB8A-1D96-011B-D1D6-D8A906533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FD055-4FE9-A747-A713-1658842E6C1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20C761F-C7BE-4CA4-13FD-DCC6C8A61B5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What other way did you express the slope </a:t>
                </a:r>
                <a14:m>
                  <m:oMath xmlns:m="http://schemas.openxmlformats.org/officeDocument/2006/math">
                    <m:f>
                      <m:fPr>
                        <m:ctrlPr>
                          <a:rPr lang="en-US" b="0" i="1" smtClean="0">
                            <a:solidFill>
                              <a:srgbClr val="000000"/>
                            </a:solidFill>
                            <a:latin typeface="Cambria Math" panose="02040503050406030204" pitchFamily="18" charset="0"/>
                            <a:cs typeface="Calibri" panose="020F0502020204030204" pitchFamily="34" charset="0"/>
                          </a:rPr>
                        </m:ctrlPr>
                      </m:fPr>
                      <m:num>
                        <m:r>
                          <a:rPr lang="en-US" b="0" i="1" smtClean="0">
                            <a:solidFill>
                              <a:srgbClr val="000000"/>
                            </a:solidFill>
                            <a:latin typeface="Cambria Math" panose="02040503050406030204" pitchFamily="18" charset="0"/>
                            <a:cs typeface="Calibri" panose="020F0502020204030204" pitchFamily="34" charset="0"/>
                          </a:rPr>
                          <m:t>5</m:t>
                        </m:r>
                      </m:num>
                      <m:den>
                        <m:r>
                          <a:rPr lang="en-US" b="0" i="1" smtClean="0">
                            <a:solidFill>
                              <a:srgbClr val="000000"/>
                            </a:solidFill>
                            <a:latin typeface="Cambria Math" panose="02040503050406030204" pitchFamily="18" charset="0"/>
                            <a:cs typeface="Calibri" panose="020F0502020204030204" pitchFamily="34" charset="0"/>
                          </a:rPr>
                          <m:t>1</m:t>
                        </m:r>
                      </m:den>
                    </m:f>
                  </m:oMath>
                </a14:m>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 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A20C761F-C7BE-4CA4-13FD-DCC6C8A61B5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did it make sense to use the point-slope form for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b="0" dirty="0">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latin typeface="Calibri" panose="020F0502020204030204" pitchFamily="34" charset="0"/>
                    <a:ea typeface="Calibri" panose="020F0502020204030204" pitchFamily="34" charset="0"/>
                    <a:cs typeface="Calibri" panose="020F0502020204030204" pitchFamily="34" charset="0"/>
                  </a:rPr>
                  <a:t>What other way did you express the slope </a:t>
                </a:r>
                <a:r>
                  <a:rPr lang="en-US" b="0" i="0">
                    <a:latin typeface="Cambria Math" panose="02040503050406030204" pitchFamily="18" charset="0"/>
                    <a:cs typeface="Calibri" panose="020F0502020204030204" pitchFamily="34" charset="0"/>
                  </a:rPr>
                  <a:t>5/1</a:t>
                </a:r>
                <a:r>
                  <a:rPr lang="en-US" b="0" dirty="0">
                    <a:latin typeface="Calibri" panose="020F0502020204030204" pitchFamily="34" charset="0"/>
                    <a:ea typeface="Calibri" panose="020F0502020204030204" pitchFamily="34" charset="0"/>
                    <a:cs typeface="Calibri" panose="020F0502020204030204" pitchFamily="34" charset="0"/>
                  </a:rPr>
                  <a:t>to graph points on the other side of (3, 50)?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is this process the same and different from graphing a point in slope-intercept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is the known point?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What are the two different ways you expressed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do you know that the direction of the line is correct?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How did you rewrite the given rate to substitute the value for the slope in your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Why is this graph increasing?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alibri" panose="020F0502020204030204" pitchFamily="34" charset="0"/>
                    <a:ea typeface="Calibri" panose="020F0502020204030204" pitchFamily="34" charset="0"/>
                    <a:cs typeface="Calibri" panose="020F0502020204030204" pitchFamily="34" charset="0"/>
                  </a:rPr>
                  <a:t>Use the graph to show how the number of bracelets increased by 14 for every 1 hour.</a:t>
                </a:r>
                <a:endParaRPr lang="en-US" b="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338BA9D8-477D-90FA-20B4-8CE73E4DBB9E}"/>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7711289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C6340-076B-A446-F7C4-8FC2BCA04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18D01-4F74-2BCD-9963-6FEA7D28087A}"/>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9D98E0F-731A-6F2C-41C3-C041DC8EA1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5.2 Summary: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 equation written in point-slope form can be graphed by first plotting the coordinates of the known point and then using the slope to locate two additional points by counting from that initial point.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F9D98E0F-731A-6F2C-41C3-C041DC8EA1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Activity 3.2 Summary: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Calibri" panose="020F0502020204030204" pitchFamily="34" charset="0"/>
                  </a:rPr>
                  <a:t>The expression </a:t>
                </a:r>
                <a:r>
                  <a:rPr lang="en-US" sz="1200" b="0" i="0" u="none" strike="noStrike">
                    <a:solidFill>
                      <a:srgbClr val="000000"/>
                    </a:solidFill>
                    <a:effectLst/>
                    <a:latin typeface="Cambria Math" panose="02040503050406030204" pitchFamily="18" charset="0"/>
                  </a:rPr>
                  <a:t>𝑎_𝑛=𝑎_1+𝑑(𝑛−1)</a:t>
                </a:r>
                <a:r>
                  <a:rPr lang="en-US" sz="1200" b="0" i="0" u="none" strike="noStrike" dirty="0">
                    <a:solidFill>
                      <a:srgbClr val="000000"/>
                    </a:solidFill>
                    <a:effectLst/>
                    <a:latin typeface="Calibri" panose="020F0502020204030204" pitchFamily="34" charset="0"/>
                  </a:rPr>
                  <a:t> can be rewritten as  </a:t>
                </a:r>
                <a:r>
                  <a:rPr lang="en-US" sz="1200" b="0" i="0" u="none" strike="noStrike">
                    <a:solidFill>
                      <a:srgbClr val="000000"/>
                    </a:solidFill>
                    <a:effectLst/>
                    <a:latin typeface="Cambria Math" panose="02040503050406030204" pitchFamily="18" charset="0"/>
                  </a:rPr>
                  <a:t>𝑎_𝑛=𝑎_0+𝑑𝑛</a:t>
                </a:r>
                <a:r>
                  <a:rPr lang="en-US" sz="1200" b="0" i="0" u="none" strike="noStrike" dirty="0">
                    <a:solidFill>
                      <a:srgbClr val="000000"/>
                    </a:solidFill>
                    <a:effectLst/>
                    <a:latin typeface="Calibri" panose="020F0502020204030204" pitchFamily="34" charset="0"/>
                  </a:rPr>
                  <a:t>, where </a:t>
                </a:r>
                <a:r>
                  <a:rPr lang="en-US" sz="1200" b="0" i="0" u="none" strike="noStrike" dirty="0">
                    <a:solidFill>
                      <a:srgbClr val="000000"/>
                    </a:solidFill>
                    <a:effectLst/>
                    <a:latin typeface="Cambria Math" panose="02040503050406030204" pitchFamily="18" charset="0"/>
                  </a:rPr>
                  <a:t>𝑎_0</a:t>
                </a:r>
                <a:r>
                  <a:rPr lang="en-US" sz="1200" b="0" i="0" u="none" strike="noStrike" dirty="0">
                    <a:solidFill>
                      <a:srgbClr val="000000"/>
                    </a:solidFill>
                    <a:effectLst/>
                    <a:latin typeface="Calibri" panose="020F0502020204030204" pitchFamily="34" charset="0"/>
                  </a:rPr>
                  <a:t> represents the </a:t>
                </a:r>
                <a:r>
                  <a:rPr lang="en-US" sz="1200" b="0" i="1" u="none" strike="noStrike" dirty="0">
                    <a:solidFill>
                      <a:srgbClr val="000000"/>
                    </a:solidFill>
                    <a:effectLst/>
                    <a:latin typeface="Calibri" panose="020F0502020204030204" pitchFamily="34" charset="0"/>
                  </a:rPr>
                  <a:t>y</a:t>
                </a:r>
                <a:r>
                  <a:rPr lang="en-US" sz="1200" b="0" i="0" u="none" strike="noStrike" dirty="0">
                    <a:solidFill>
                      <a:srgbClr val="000000"/>
                    </a:solidFill>
                    <a:effectLst/>
                    <a:latin typeface="Calibri" panose="020F0502020204030204" pitchFamily="34" charset="0"/>
                  </a:rPr>
                  <a:t>-intercept. First differences is a strategy to determine whether a table of values represents a linear function.</a:t>
                </a:r>
                <a:endParaRPr lang="en-US" dirty="0"/>
              </a:p>
            </p:txBody>
          </p:sp>
        </mc:Fallback>
      </mc:AlternateContent>
      <p:sp>
        <p:nvSpPr>
          <p:cNvPr id="4" name="Slide Number Placeholder 3">
            <a:extLst>
              <a:ext uri="{FF2B5EF4-FFF2-40B4-BE49-F238E27FC236}">
                <a16:creationId xmlns:a16="http://schemas.microsoft.com/office/drawing/2014/main" id="{314818C9-7782-D2CD-3EFA-47505985518B}"/>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41527379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65AEA-130B-6736-50D0-E8E2F7A1B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E1D73-731D-34B3-F878-DCCAF3C8DA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47752122-E447-28BE-C2DB-563DBB54703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804E39F-7316-A03F-6CD9-D3A3D26408EE}"/>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24881993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5.3.</a:t>
            </a:r>
          </a:p>
        </p:txBody>
      </p:sp>
      <p:sp>
        <p:nvSpPr>
          <p:cNvPr id="4" name="Slide Number Placeholder 3"/>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27793328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39992721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60E95-011E-9461-BF28-D971C0859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D7C15-DCAF-6B8A-F3D1-40504B78763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6DC000C-82FC-3658-585E-733A348CA08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DE107DF-B7D4-AABC-79A6-7B1524097C3B}"/>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16466918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E9E2C-6D51-3D18-19E9-36137E9E6A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FE2CD-2A98-6DD0-AFE9-A799A181F11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AEA1848-8022-172F-D5BB-EBB75F790FD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B6B6B9A-D17A-F700-8E69-8A8443036BFD}"/>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15456709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E4AF3-AA14-BE64-61D9-BCE00731E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61ABD-7837-DD7B-4B81-ABB4D7411AF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950057F-1F4A-010F-7DCD-3D953D824C7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2EA7387-1DE0-FC44-52A3-17A93DA67FED}"/>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23233371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C42C9-DED8-C48E-5C03-38B76E89F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F1878-B170-3879-58BF-EB3D7AB82C7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306EF32-1AC4-7E73-E0A6-12B32512425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51B64C8-E576-3F4D-E3D6-CC83D691934C}"/>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17808221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31F0E-491A-37FB-21CC-B5043BAE8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933C1-3BC6-D324-FDF3-750F2FAF2FE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CEAAF7E-7140-E808-D75B-B8D224A8E8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C45FDB9-7EC9-018D-3886-009574933A0B}"/>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38491285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35F2-78A9-3F9E-FFAC-208D6A10C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F70C1-A34C-7ECC-6114-FAAF119F8C9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0561D0E-DC67-0CA7-D0EB-4E59E3F2D41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can’t both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be 0?</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standard form appropriate to use for this problem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is it difficult to tell which quantity is independent and which quantity is dependent?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4A617CA-C345-9644-231A-F0BCE2E73FE9}"/>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30291900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CDD84-F9F9-E955-3511-1ACB283DD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2CADB7-2D97-C57D-5BCC-D7BEBE97D36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214C99-19D0-9D93-225B-9B4FF687F58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integers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in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Label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and slope with the variables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 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9506250-1440-3943-023C-DD3787D7963F}"/>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17049970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A20DD-1355-2656-DB1D-EE03B3087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D39B2C-9E5B-22EF-4FDA-508A558177D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C794BA2-B10C-2988-4A74-45C68C894BC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slope.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integers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in this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Label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and slope with the variables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 B</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131A801-2B9A-DA43-C8A7-F61E67626FAE}"/>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10263405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CE7D4-1161-F2E3-5921-27526C2F7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B046A-1667-FFAD-3638-B59759C9796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0912073-BA98-880A-DDCD-6F24A0E7F19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Show the steps using the formula in Question 8 to identify the slope of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slopes to identify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it incorrect to reverse the axes on your graph? Why not?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B4904DB-387B-F071-3488-3A75D6CA1635}"/>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8113968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6477-B821-E0DF-62A1-D1421D315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173B8-BCD1-3399-985A-4148BE53EF3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D198633-D2F0-713E-DB25-183FD9072BA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Show the steps using the formula in Question 8 to identify the slope of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slopes to identify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it incorrect to reverse the axes on your graph? Why not?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B5484E6-547F-4B5D-F10D-A68A03DC4EB2}"/>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36728867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1A587-CF5B-E0BE-86DC-9DBC232DB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84848-08A7-038E-1E11-04C1C69669D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65CEB83-BC6A-448F-2057-5E08F66000F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Show the steps using the formula in Question 8 to identify the slope of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slopes to identify each line?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Use the graph to identify another coordinate pair that makes sense in this situation.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Is it incorrect to reverse the axes on your graph? Why not?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AE22D98-EEB3-69AE-1357-608C8FD4C2A1}"/>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898727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4D393-DE49-4E66-0562-E5D06D633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5B4F7-3233-E032-FAD3-3B3E04FC328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CC1095-B4B8-2E2D-8875-C094F91DD40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FEA6CAC-7C60-7090-D4B3-BADF64F83E39}"/>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27562466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04E92-BF87-4B0C-315E-CCFDE54BF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EF519-565F-4902-4DB9-FA9FF6448F9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C32F956-5956-F98E-9604-B18368D5863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equation for the standard form of a linear equation?</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use the other forms of linear equations to write the equation in standard form?</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slope of the line? Why do you need to determine the slope?</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of a linear equation do you prefer to write when given two points? Explain your reasoning.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F7CE953-EA0E-19E2-0677-E6E05B5344EA}"/>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7694650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reread the Essential Question and then read the Stamp the Learning summary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5.3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The standard form of a linear equation is </a:t>
                </a:r>
                <a14:m>
                  <m:oMath xmlns:m="http://schemas.openxmlformats.org/officeDocument/2006/math">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𝐴𝑥</m:t>
                    </m:r>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𝐵𝑦</m:t>
                    </m:r>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dirty="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𝐶</m:t>
                    </m:r>
                  </m:oMath>
                </a14:m>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 B</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are integers and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are not both zero. An equation in standard form can be graphed by calculating and graphing the intercepts.</a:t>
                </a:r>
              </a:p>
            </p:txBody>
          </p:sp>
        </mc:Choice>
        <mc:Fallback xmlns="">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Activity 2.3 Summary:</a:t>
                </a:r>
              </a:p>
              <a:p>
                <a:r>
                  <a:rPr lang="en-US" sz="1200" b="0" dirty="0">
                    <a:latin typeface="Calibri" panose="020F0502020204030204" pitchFamily="34" charset="0"/>
                    <a:ea typeface="Calibri" panose="020F0502020204030204" pitchFamily="34" charset="0"/>
                    <a:cs typeface="Calibri" panose="020F0502020204030204" pitchFamily="34" charset="0"/>
                  </a:rPr>
                  <a:t>The </a:t>
                </a:r>
                <a:r>
                  <a:rPr lang="en-US" sz="1200" b="0" i="1" dirty="0" err="1">
                    <a:latin typeface="Calibri" panose="020F0502020204030204" pitchFamily="34" charset="0"/>
                    <a:ea typeface="Calibri" panose="020F0502020204030204" pitchFamily="34" charset="0"/>
                    <a:cs typeface="Calibri" panose="020F0502020204030204" pitchFamily="34" charset="0"/>
                  </a:rPr>
                  <a:t>r</a:t>
                </a:r>
                <a:r>
                  <a:rPr lang="en-US" sz="1200" b="0" dirty="0" err="1">
                    <a:latin typeface="Calibri" panose="020F0502020204030204" pitchFamily="34" charset="0"/>
                    <a:ea typeface="Calibri" panose="020F0502020204030204" pitchFamily="34" charset="0"/>
                    <a:cs typeface="Calibri" panose="020F0502020204030204" pitchFamily="34" charset="0"/>
                  </a:rPr>
                  <a:t>-value</a:t>
                </a:r>
                <a:r>
                  <a:rPr lang="en-US" sz="1200" b="0" dirty="0">
                    <a:latin typeface="Calibri" panose="020F0502020204030204" pitchFamily="34" charset="0"/>
                    <a:ea typeface="Calibri" panose="020F0502020204030204" pitchFamily="34" charset="0"/>
                    <a:cs typeface="Calibri" panose="020F0502020204030204" pitchFamily="34" charset="0"/>
                  </a:rPr>
                  <a:t>, </a:t>
                </a:r>
                <a:r>
                  <a:rPr lang="en-US" sz="1200" b="0" i="0">
                    <a:latin typeface="Cambria Math" panose="02040503050406030204" pitchFamily="18" charset="0"/>
                    <a:cs typeface="Calibri" panose="020F0502020204030204" pitchFamily="34" charset="0"/>
                  </a:rPr>
                  <a:t>𝑟^2</a:t>
                </a:r>
                <a:r>
                  <a:rPr lang="en-US" sz="1200" b="0" dirty="0">
                    <a:latin typeface="Calibri" panose="020F0502020204030204" pitchFamily="34" charset="0"/>
                    <a:ea typeface="Calibri" panose="020F0502020204030204" pitchFamily="34" charset="0"/>
                    <a:cs typeface="Calibri" panose="020F0502020204030204" pitchFamily="34" charset="0"/>
                  </a:rPr>
                  <a:t>-value, table of values, scatterplot, and context are all helpful in determining the function that best fits a data set.</a:t>
                </a:r>
              </a:p>
            </p:txBody>
          </p:sp>
        </mc:Fallback>
      </mc:AlternateContent>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76DE-4F58-7BE3-3A90-A2D8C7803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C9036-CE18-2364-D32A-2BF98FB1133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35DCFE0D-1E66-5115-6D51-6675F00F0E4B}"/>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7621767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3AAA2-0667-31CB-4EA7-C5564A72A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2D795-534F-677F-25A1-E6C8D27EA9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4F183E2-7CBC-C5E9-357C-4CBC4276FB1A}"/>
              </a:ext>
            </a:extLst>
          </p:cNvPr>
          <p:cNvSpPr>
            <a:spLocks noGrp="1"/>
          </p:cNvSpPr>
          <p:nvPr>
            <p:ph type="body" idx="1"/>
          </p:nvPr>
        </p:nvSpPr>
        <p:spPr/>
        <p:txBody>
          <a:bodyPr/>
          <a:lstStyle/>
          <a:p>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Total suggested pacing for Day 3 is 45 minutes.</a:t>
            </a:r>
          </a:p>
        </p:txBody>
      </p:sp>
      <p:sp>
        <p:nvSpPr>
          <p:cNvPr id="4" name="Slide Number Placeholder 3">
            <a:extLst>
              <a:ext uri="{FF2B5EF4-FFF2-40B4-BE49-F238E27FC236}">
                <a16:creationId xmlns:a16="http://schemas.microsoft.com/office/drawing/2014/main" id="{470C0F93-8F88-CC50-103F-617F3A39CB07}"/>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16101546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7B8A3-1984-6509-4D72-855EF556F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2C0BD-03E5-B363-64B4-0D093071F8F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0B4F4E-B77B-A62E-235D-897C0EF3D01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3,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BFD4EC7-ED0C-379C-471B-9D26512F6223}"/>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5809710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1652D-BE66-CB6F-B52B-E6E4E42E1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57545-57DC-381A-1F6E-AFB9390D626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FBB5055-1850-3C11-5D99-206936129C3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Activity 5.4.</a:t>
            </a:r>
          </a:p>
        </p:txBody>
      </p:sp>
      <p:sp>
        <p:nvSpPr>
          <p:cNvPr id="4" name="Slide Number Placeholder 3">
            <a:extLst>
              <a:ext uri="{FF2B5EF4-FFF2-40B4-BE49-F238E27FC236}">
                <a16:creationId xmlns:a16="http://schemas.microsoft.com/office/drawing/2014/main" id="{F7FD51F7-15FE-3832-FEDF-D80519868549}"/>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15857058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CDC5B-DF78-2B54-5BBC-71AAF50ACE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15105C-8B47-220C-CD3E-7D4BFC203D2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5706C1D-128A-E560-E820-1AABB253922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What is another way?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this line have a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5337388-4A3E-854E-3C81-964CB6A49E4A}"/>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9090807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1E88-F598-8CED-E50A-892C2F3B65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036E1-13A5-A332-A819-ECA2DE15FFF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F72B0AC-7853-11E6-AF53-7E9E0A1788C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slope? What is another way?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 What is another way?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Why doesn’t this line have a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615A924-4E3E-75D3-A14B-B7AEA34239B3}"/>
              </a:ext>
            </a:extLst>
          </p:cNvPr>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29611191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4D845-9359-FD38-27D0-ECF095693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7EC20-0985-38C2-897F-7FBEF1C6829C}"/>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AF20499-E696-4FE7-34CE-1CC1E972A66C}"/>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5.4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The slope of an equation can be identified directly when equations are written in slope-intercept or point-slope form; it can be calculated using </a:t>
                </a:r>
                <a14:m>
                  <m:oMath xmlns:m="http://schemas.openxmlformats.org/officeDocument/2006/math">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f>
                      <m:fPr>
                        <m:ctrlPr>
                          <a:rPr lang="en-US" sz="1200" b="0" i="1" smtClean="0">
                            <a:solidFill>
                              <a:srgbClr val="000000"/>
                            </a:solidFill>
                            <a:latin typeface="Cambria Math" panose="02040503050406030204" pitchFamily="18" charset="0"/>
                            <a:cs typeface="Calibri" panose="020F0502020204030204" pitchFamily="34" charset="0"/>
                          </a:rPr>
                        </m:ctrlPr>
                      </m:fPr>
                      <m:num>
                        <m:r>
                          <a:rPr lang="en-US" sz="1200" b="0" i="1" smtClean="0">
                            <a:solidFill>
                              <a:srgbClr val="000000"/>
                            </a:solidFill>
                            <a:latin typeface="Cambria Math" panose="02040503050406030204" pitchFamily="18" charset="0"/>
                            <a:cs typeface="Calibri" panose="020F0502020204030204" pitchFamily="34" charset="0"/>
                          </a:rPr>
                          <m:t>𝐴</m:t>
                        </m:r>
                      </m:num>
                      <m:den>
                        <m:r>
                          <a:rPr lang="en-US" sz="1200" b="0" i="1" smtClean="0">
                            <a:solidFill>
                              <a:srgbClr val="000000"/>
                            </a:solidFill>
                            <a:latin typeface="Cambria Math" panose="02040503050406030204" pitchFamily="18" charset="0"/>
                            <a:cs typeface="Calibri" panose="020F0502020204030204" pitchFamily="34" charset="0"/>
                          </a:rPr>
                          <m:t>𝐵</m:t>
                        </m:r>
                      </m:den>
                    </m:f>
                  </m:oMath>
                </a14:m>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in the standard form equation, </a:t>
                </a:r>
                <a14:m>
                  <m:oMath xmlns:m="http://schemas.openxmlformats.org/officeDocument/2006/math">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𝐴𝑥</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𝐵𝑦</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𝐶</m:t>
                    </m:r>
                  </m:oMath>
                </a14:m>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The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can be identified by using substitution of </a:t>
                </a:r>
                <a14:m>
                  <m:oMath xmlns:m="http://schemas.openxmlformats.org/officeDocument/2006/math">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=0 </m:t>
                    </m:r>
                  </m:oMath>
                </a14:m>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in any form.</a:t>
                </a:r>
              </a:p>
            </p:txBody>
          </p:sp>
        </mc:Choice>
        <mc:Fallback xmlns="">
          <p:sp>
            <p:nvSpPr>
              <p:cNvPr id="3" name="Notes Placeholder 2">
                <a:extLst>
                  <a:ext uri="{FF2B5EF4-FFF2-40B4-BE49-F238E27FC236}">
                    <a16:creationId xmlns:a16="http://schemas.microsoft.com/office/drawing/2014/main" id="{17B60FF0-C0F6-23FE-57A2-75D5CC22599C}"/>
                  </a:ext>
                </a:extLst>
              </p:cNvPr>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Activity 2.3 Summary:</a:t>
                </a:r>
              </a:p>
              <a:p>
                <a:r>
                  <a:rPr lang="en-US" sz="1200" b="0" dirty="0">
                    <a:latin typeface="Calibri" panose="020F0502020204030204" pitchFamily="34" charset="0"/>
                    <a:ea typeface="Calibri" panose="020F0502020204030204" pitchFamily="34" charset="0"/>
                    <a:cs typeface="Calibri" panose="020F0502020204030204" pitchFamily="34" charset="0"/>
                  </a:rPr>
                  <a:t>The </a:t>
                </a:r>
                <a:r>
                  <a:rPr lang="en-US" sz="1200" b="0" i="1" dirty="0" err="1">
                    <a:latin typeface="Calibri" panose="020F0502020204030204" pitchFamily="34" charset="0"/>
                    <a:ea typeface="Calibri" panose="020F0502020204030204" pitchFamily="34" charset="0"/>
                    <a:cs typeface="Calibri" panose="020F0502020204030204" pitchFamily="34" charset="0"/>
                  </a:rPr>
                  <a:t>r</a:t>
                </a:r>
                <a:r>
                  <a:rPr lang="en-US" sz="1200" b="0" dirty="0" err="1">
                    <a:latin typeface="Calibri" panose="020F0502020204030204" pitchFamily="34" charset="0"/>
                    <a:ea typeface="Calibri" panose="020F0502020204030204" pitchFamily="34" charset="0"/>
                    <a:cs typeface="Calibri" panose="020F0502020204030204" pitchFamily="34" charset="0"/>
                  </a:rPr>
                  <a:t>-value</a:t>
                </a:r>
                <a:r>
                  <a:rPr lang="en-US" sz="1200" b="0" dirty="0">
                    <a:latin typeface="Calibri" panose="020F0502020204030204" pitchFamily="34" charset="0"/>
                    <a:ea typeface="Calibri" panose="020F0502020204030204" pitchFamily="34" charset="0"/>
                    <a:cs typeface="Calibri" panose="020F0502020204030204" pitchFamily="34" charset="0"/>
                  </a:rPr>
                  <a:t>, </a:t>
                </a:r>
                <a:r>
                  <a:rPr lang="en-US" sz="1200" b="0" i="0">
                    <a:latin typeface="Cambria Math" panose="02040503050406030204" pitchFamily="18" charset="0"/>
                    <a:cs typeface="Calibri" panose="020F0502020204030204" pitchFamily="34" charset="0"/>
                  </a:rPr>
                  <a:t>𝑟^2</a:t>
                </a:r>
                <a:r>
                  <a:rPr lang="en-US" sz="1200" b="0" dirty="0">
                    <a:latin typeface="Calibri" panose="020F0502020204030204" pitchFamily="34" charset="0"/>
                    <a:ea typeface="Calibri" panose="020F0502020204030204" pitchFamily="34" charset="0"/>
                    <a:cs typeface="Calibri" panose="020F0502020204030204" pitchFamily="34" charset="0"/>
                  </a:rPr>
                  <a:t>-value, table of values, scatterplot, and context are all helpful in determining the function that best fits a data set.</a:t>
                </a:r>
              </a:p>
            </p:txBody>
          </p:sp>
        </mc:Fallback>
      </mc:AlternateContent>
      <p:sp>
        <p:nvSpPr>
          <p:cNvPr id="4" name="Slide Number Placeholder 3">
            <a:extLst>
              <a:ext uri="{FF2B5EF4-FFF2-40B4-BE49-F238E27FC236}">
                <a16:creationId xmlns:a16="http://schemas.microsoft.com/office/drawing/2014/main" id="{E79A5FD4-1656-AC52-1EC4-52FB1DC284AF}"/>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36254629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4186B-C358-B549-BC6E-63F520442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D69C9-4BF5-15A7-2441-2AA73C0868E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A347F3E-26EB-9583-D07C-0E247F2498A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This slide is blank for optional use with displaying work.</a:t>
            </a:r>
          </a:p>
        </p:txBody>
      </p:sp>
      <p:sp>
        <p:nvSpPr>
          <p:cNvPr id="4" name="Slide Number Placeholder 3">
            <a:extLst>
              <a:ext uri="{FF2B5EF4-FFF2-40B4-BE49-F238E27FC236}">
                <a16:creationId xmlns:a16="http://schemas.microsoft.com/office/drawing/2014/main" id="{9A4FB015-1A07-0917-025F-745653539C7B}"/>
              </a:ext>
            </a:extLst>
          </p:cNvPr>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9462505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20-25 minutes allotted for the Talk the Talk.</a:t>
            </a:r>
          </a:p>
        </p:txBody>
      </p:sp>
      <p:sp>
        <p:nvSpPr>
          <p:cNvPr id="4" name="Slide Number Placeholder 3"/>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4533257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equations are in the same form? How can you tell?</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part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in slope-intercept form? How could you rewrite it as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𝑦=𝑚𝑥+𝑏</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part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in slope-intercept form? How could you rewrite it as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𝑦=𝑚𝑥+𝑏</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How could you rewrite the equation in part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c</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so that all substitutions in the point-slope form are visible? Which point can you identify from this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Rewrite the equation in part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c</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in slope-intercept form. What is the </a:t>
                </a:r>
                <a:r>
                  <a:rPr lang="en-US" sz="12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a:t>
                </a: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25124483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084A3-DD61-16AC-F18C-83C2BE8EF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474C7-D21F-956D-5C05-9865A879B54E}"/>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14926FD-71F4-5C76-8768-98F845A2A6E4}"/>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written in slope-intercept form or point-slope form?</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Choice>
        <mc:Fallback xmlns="">
          <p:sp>
            <p:nvSpPr>
              <p:cNvPr id="3" name="Notes Placeholder 2">
                <a:extLst>
                  <a:ext uri="{FF2B5EF4-FFF2-40B4-BE49-F238E27FC236}">
                    <a16:creationId xmlns:a16="http://schemas.microsoft.com/office/drawing/2014/main" id="{F14926FD-71F4-5C76-8768-98F845A2A6E4}"/>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2𝑥+3𝑦=36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3𝑥+2𝑦=36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written in slope-intercept form or point-intercept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Fallback>
      </mc:AlternateContent>
      <p:sp>
        <p:nvSpPr>
          <p:cNvPr id="4" name="Slide Number Placeholder 3">
            <a:extLst>
              <a:ext uri="{FF2B5EF4-FFF2-40B4-BE49-F238E27FC236}">
                <a16:creationId xmlns:a16="http://schemas.microsoft.com/office/drawing/2014/main" id="{89D3EDD5-7594-63DD-4A0D-E2BCD9D93D53}"/>
              </a:ext>
            </a:extLst>
          </p:cNvPr>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379109663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3864B-9696-A4FA-C879-A2957ED4B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DBA05-7952-9C60-6B55-C169CDBEFCC9}"/>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1A8750C-2F66-5D57-0A37-F8405710185E}"/>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written in slope-intercept form or point-slope form?</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Choice>
        <mc:Fallback xmlns="">
          <p:sp>
            <p:nvSpPr>
              <p:cNvPr id="3" name="Notes Placeholder 2">
                <a:extLst>
                  <a:ext uri="{FF2B5EF4-FFF2-40B4-BE49-F238E27FC236}">
                    <a16:creationId xmlns:a16="http://schemas.microsoft.com/office/drawing/2014/main" id="{F1A8750C-2F66-5D57-0A37-F8405710185E}"/>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2𝑥+3𝑦=36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3𝑥+2𝑦=36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written in slope-intercept form or point-intercept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Fallback>
      </mc:AlternateContent>
      <p:sp>
        <p:nvSpPr>
          <p:cNvPr id="4" name="Slide Number Placeholder 3">
            <a:extLst>
              <a:ext uri="{FF2B5EF4-FFF2-40B4-BE49-F238E27FC236}">
                <a16:creationId xmlns:a16="http://schemas.microsoft.com/office/drawing/2014/main" id="{B73F594B-5324-00B6-7587-8FEAEC040293}"/>
              </a:ext>
            </a:extLst>
          </p:cNvPr>
          <p:cNvSpPr>
            <a:spLocks noGrp="1"/>
          </p:cNvSpPr>
          <p:nvPr>
            <p:ph type="sldNum" sz="quarter" idx="5"/>
          </p:nvPr>
        </p:nvSpPr>
        <p:spPr/>
        <p:txBody>
          <a:bodyPr/>
          <a:lstStyle/>
          <a:p>
            <a:fld id="{BB5E49A5-4136-284D-997B-48E1D791AD67}" type="slidenum">
              <a:rPr lang="en-US" smtClean="0"/>
              <a:t>59</a:t>
            </a:fld>
            <a:endParaRPr lang="en-US"/>
          </a:p>
        </p:txBody>
      </p:sp>
    </p:spTree>
    <p:extLst>
      <p:ext uri="{BB962C8B-B14F-4D97-AF65-F5344CB8AC3E}">
        <p14:creationId xmlns:p14="http://schemas.microsoft.com/office/powerpoint/2010/main" val="22143960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595C0-3AAD-0B7F-826B-81CDE02C4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02BD8-3E6D-4801-1EED-76EC6ED35FF9}"/>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7AD5879-C56C-19BA-0DB6-436F18480AE0}"/>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written in slope-intercept form or point-slope form?</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Choice>
        <mc:Fallback xmlns="">
          <p:sp>
            <p:nvSpPr>
              <p:cNvPr id="3" name="Notes Placeholder 2">
                <a:extLst>
                  <a:ext uri="{FF2B5EF4-FFF2-40B4-BE49-F238E27FC236}">
                    <a16:creationId xmlns:a16="http://schemas.microsoft.com/office/drawing/2014/main" id="{A7AD5879-C56C-19BA-0DB6-436F18480AE0}"/>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2𝑥+3𝑦=36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3𝑥+2𝑦=36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written in slope-intercept form or point-intercept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Fallback>
      </mc:AlternateContent>
      <p:sp>
        <p:nvSpPr>
          <p:cNvPr id="4" name="Slide Number Placeholder 3">
            <a:extLst>
              <a:ext uri="{FF2B5EF4-FFF2-40B4-BE49-F238E27FC236}">
                <a16:creationId xmlns:a16="http://schemas.microsoft.com/office/drawing/2014/main" id="{3F0127D9-670E-69B4-AFBD-1B5F07B99197}"/>
              </a:ext>
            </a:extLst>
          </p:cNvPr>
          <p:cNvSpPr>
            <a:spLocks noGrp="1"/>
          </p:cNvSpPr>
          <p:nvPr>
            <p:ph type="sldNum" sz="quarter" idx="5"/>
          </p:nvPr>
        </p:nvSpPr>
        <p:spPr/>
        <p:txBody>
          <a:bodyPr/>
          <a:lstStyle/>
          <a:p>
            <a:fld id="{BB5E49A5-4136-284D-997B-48E1D791AD67}" type="slidenum">
              <a:rPr lang="en-US" smtClean="0"/>
              <a:t>60</a:t>
            </a:fld>
            <a:endParaRPr lang="en-US"/>
          </a:p>
        </p:txBody>
      </p:sp>
    </p:spTree>
    <p:extLst>
      <p:ext uri="{BB962C8B-B14F-4D97-AF65-F5344CB8AC3E}">
        <p14:creationId xmlns:p14="http://schemas.microsoft.com/office/powerpoint/2010/main" val="340498242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C806B-48E6-EA1E-AAF8-8F68DDD29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E2A54-A892-065E-095F-DF4F119533E2}"/>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FD6D98D-0693-288B-14F8-BFF615DF5966}"/>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=36</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Does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or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represent this situation?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Is </a:t>
                </a:r>
                <a14:m>
                  <m:oMath xmlns:m="http://schemas.openxmlformats.org/officeDocument/2006/math">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=5</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𝑥</m:t>
                    </m:r>
                    <m: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+20</m:t>
                    </m:r>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written in slope-intercept form or point-slope form?</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Choice>
        <mc:Fallback xmlns="">
          <p:sp>
            <p:nvSpPr>
              <p:cNvPr id="3" name="Notes Placeholder 2">
                <a:extLst>
                  <a:ext uri="{FF2B5EF4-FFF2-40B4-BE49-F238E27FC236}">
                    <a16:creationId xmlns:a16="http://schemas.microsoft.com/office/drawing/2014/main" id="{0FD6D98D-0693-288B-14F8-BFF615DF5966}"/>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2𝑥+3𝑦=36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3𝑥+2𝑦=36</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correct multiple-choice questions, and which represents the number of correct short answer questions?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Does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represent this situation?</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Is </a:t>
                </a:r>
                <a:r>
                  <a:rPr lang="en-US" sz="1200" b="0" i="0" u="none" strike="noStrike" baseline="0">
                    <a:latin typeface="Cambria Math" panose="02040503050406030204" pitchFamily="18" charset="0"/>
                    <a:ea typeface="Calibri" panose="020F0502020204030204" pitchFamily="34" charset="0"/>
                    <a:cs typeface="Calibri" panose="020F0502020204030204" pitchFamily="34" charset="0"/>
                  </a:rPr>
                  <a:t>𝑦=5𝑥+20</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 written in slope-intercept form or point-intercept form?</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Which axis represents the number of weeks, and which represents the total savings?</a:t>
                </a:r>
              </a:p>
              <a:p>
                <a:pPr marL="285750" indent="-285750" algn="l">
                  <a:buFont typeface="Arial" panose="020B0604020202020204" pitchFamily="34" charset="0"/>
                  <a:buChar char="•"/>
                </a:pP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What are the coordinates of the intercepts in each situation?</a:t>
                </a:r>
              </a:p>
            </p:txBody>
          </p:sp>
        </mc:Fallback>
      </mc:AlternateContent>
      <p:sp>
        <p:nvSpPr>
          <p:cNvPr id="4" name="Slide Number Placeholder 3">
            <a:extLst>
              <a:ext uri="{FF2B5EF4-FFF2-40B4-BE49-F238E27FC236}">
                <a16:creationId xmlns:a16="http://schemas.microsoft.com/office/drawing/2014/main" id="{57D4F78A-2D8C-6077-FAE8-053890583042}"/>
              </a:ext>
            </a:extLst>
          </p:cNvPr>
          <p:cNvSpPr>
            <a:spLocks noGrp="1"/>
          </p:cNvSpPr>
          <p:nvPr>
            <p:ph type="sldNum" sz="quarter" idx="5"/>
          </p:nvPr>
        </p:nvSpPr>
        <p:spPr/>
        <p:txBody>
          <a:bodyPr/>
          <a:lstStyle/>
          <a:p>
            <a:fld id="{BB5E49A5-4136-284D-997B-48E1D791AD67}" type="slidenum">
              <a:rPr lang="en-US" smtClean="0"/>
              <a:t>61</a:t>
            </a:fld>
            <a:endParaRPr lang="en-US"/>
          </a:p>
        </p:txBody>
      </p:sp>
    </p:spTree>
    <p:extLst>
      <p:ext uri="{BB962C8B-B14F-4D97-AF65-F5344CB8AC3E}">
        <p14:creationId xmlns:p14="http://schemas.microsoft.com/office/powerpoint/2010/main" val="41824666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3,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The point-slope form of a linear equation is </a:t>
                </a:r>
                <a14:m>
                  <m:oMath xmlns:m="http://schemas.openxmlformats.org/officeDocument/2006/math">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𝑦</m:t>
                    </m:r>
                    <m:r>
                      <a:rPr lang="en-US" sz="12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sSub>
                      <m:sSubPr>
                        <m:ctrlPr>
                          <a:rPr lang="en-US" sz="1200" b="0" i="1" smtClean="0">
                            <a:solidFill>
                              <a:srgbClr val="000000"/>
                            </a:solidFill>
                            <a:latin typeface="Cambria Math" panose="02040503050406030204" pitchFamily="18" charset="0"/>
                            <a:cs typeface="Calibri" panose="020F0502020204030204" pitchFamily="34" charset="0"/>
                          </a:rPr>
                        </m:ctrlPr>
                      </m:sSubPr>
                      <m:e>
                        <m:r>
                          <a:rPr lang="en-US" sz="1200" b="0" i="1" smtClean="0">
                            <a:solidFill>
                              <a:srgbClr val="000000"/>
                            </a:solidFill>
                            <a:latin typeface="Cambria Math" panose="02040503050406030204" pitchFamily="18" charset="0"/>
                            <a:cs typeface="Calibri" panose="020F0502020204030204" pitchFamily="34" charset="0"/>
                          </a:rPr>
                          <m:t>𝑦</m:t>
                        </m:r>
                      </m:e>
                      <m:sub>
                        <m:r>
                          <a:rPr lang="en-US" sz="1200" b="0" i="1" smtClean="0">
                            <a:solidFill>
                              <a:srgbClr val="000000"/>
                            </a:solidFill>
                            <a:latin typeface="Cambria Math" panose="02040503050406030204" pitchFamily="18" charset="0"/>
                            <a:cs typeface="Calibri" panose="020F0502020204030204" pitchFamily="34" charset="0"/>
                          </a:rPr>
                          <m:t>1</m:t>
                        </m:r>
                      </m:sub>
                    </m:sSub>
                    <m:r>
                      <a:rPr lang="en-US" sz="1200" b="0" i="1" smtClean="0">
                        <a:solidFill>
                          <a:srgbClr val="000000"/>
                        </a:solidFill>
                        <a:latin typeface="Cambria Math" panose="02040503050406030204" pitchFamily="18" charset="0"/>
                        <a:cs typeface="Calibri" panose="020F0502020204030204" pitchFamily="34" charset="0"/>
                      </a:rPr>
                      <m:t>=</m:t>
                    </m:r>
                    <m:r>
                      <a:rPr lang="en-US" sz="1200" b="0" i="1" smtClean="0">
                        <a:solidFill>
                          <a:srgbClr val="000000"/>
                        </a:solidFill>
                        <a:latin typeface="Cambria Math" panose="02040503050406030204" pitchFamily="18" charset="0"/>
                        <a:cs typeface="Calibri" panose="020F0502020204030204" pitchFamily="34" charset="0"/>
                      </a:rPr>
                      <m:t>𝑚</m:t>
                    </m:r>
                    <m:r>
                      <a:rPr lang="en-US" sz="1200" b="0" i="1" smtClean="0">
                        <a:solidFill>
                          <a:srgbClr val="000000"/>
                        </a:solidFill>
                        <a:latin typeface="Cambria Math" panose="02040503050406030204" pitchFamily="18" charset="0"/>
                        <a:cs typeface="Calibri" panose="020F0502020204030204" pitchFamily="34" charset="0"/>
                      </a:rPr>
                      <m:t>(</m:t>
                    </m:r>
                    <m:r>
                      <a:rPr lang="en-US" sz="1200" b="0" i="1" smtClean="0">
                        <a:solidFill>
                          <a:srgbClr val="000000"/>
                        </a:solidFill>
                        <a:latin typeface="Cambria Math" panose="02040503050406030204" pitchFamily="18" charset="0"/>
                        <a:cs typeface="Calibri" panose="020F0502020204030204" pitchFamily="34" charset="0"/>
                      </a:rPr>
                      <m:t>𝑥</m:t>
                    </m:r>
                    <m:r>
                      <a:rPr lang="en-US" sz="1200" b="0" i="1" smtClean="0">
                        <a:solidFill>
                          <a:srgbClr val="000000"/>
                        </a:solidFill>
                        <a:latin typeface="Cambria Math" panose="02040503050406030204" pitchFamily="18" charset="0"/>
                        <a:cs typeface="Calibri" panose="020F0502020204030204" pitchFamily="34" charset="0"/>
                      </a:rPr>
                      <m:t>−</m:t>
                    </m:r>
                    <m:sSub>
                      <m:sSubPr>
                        <m:ctrlPr>
                          <a:rPr lang="en-US" sz="1200" b="0" i="1" smtClean="0">
                            <a:solidFill>
                              <a:srgbClr val="000000"/>
                            </a:solidFill>
                            <a:latin typeface="Cambria Math" panose="02040503050406030204" pitchFamily="18" charset="0"/>
                            <a:cs typeface="Calibri" panose="020F0502020204030204" pitchFamily="34" charset="0"/>
                          </a:rPr>
                        </m:ctrlPr>
                      </m:sSubPr>
                      <m:e>
                        <m:r>
                          <a:rPr lang="en-US" sz="1200" b="0" i="1" smtClean="0">
                            <a:solidFill>
                              <a:srgbClr val="000000"/>
                            </a:solidFill>
                            <a:latin typeface="Cambria Math" panose="02040503050406030204" pitchFamily="18" charset="0"/>
                            <a:cs typeface="Calibri" panose="020F0502020204030204" pitchFamily="34" charset="0"/>
                          </a:rPr>
                          <m:t>𝑥</m:t>
                        </m:r>
                      </m:e>
                      <m:sub>
                        <m:r>
                          <a:rPr lang="en-US" sz="1200" b="0" i="1" smtClean="0">
                            <a:solidFill>
                              <a:srgbClr val="000000"/>
                            </a:solidFill>
                            <a:latin typeface="Cambria Math" panose="02040503050406030204" pitchFamily="18" charset="0"/>
                            <a:cs typeface="Calibri" panose="020F0502020204030204" pitchFamily="34" charset="0"/>
                          </a:rPr>
                          <m:t>1</m:t>
                        </m:r>
                      </m:sub>
                    </m:sSub>
                    <m:r>
                      <a:rPr lang="en-US" sz="1200" b="0" i="1" smtClean="0">
                        <a:solidFill>
                          <a:srgbClr val="000000"/>
                        </a:solidFill>
                        <a:latin typeface="Cambria Math" panose="02040503050406030204" pitchFamily="18" charset="0"/>
                        <a:cs typeface="Calibri" panose="020F0502020204030204" pitchFamily="34" charset="0"/>
                      </a:rPr>
                      <m:t>)</m:t>
                    </m:r>
                  </m:oMath>
                </a14:m>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1200" b="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 is the slope of the line</a:t>
                </a:r>
                <a:r>
                  <a:rPr lang="en-US" sz="1200" b="0" i="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US" sz="1200" b="0" i="1"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m:t>
                    </m:r>
                    <m:sSub>
                      <m:sSubPr>
                        <m:ctrlPr>
                          <a:rPr lang="en-US" sz="1200" b="0" i="1" baseline="0" smtClean="0">
                            <a:solidFill>
                              <a:srgbClr val="000000"/>
                            </a:solidFill>
                            <a:latin typeface="Cambria Math" panose="02040503050406030204" pitchFamily="18" charset="0"/>
                            <a:cs typeface="Calibri" panose="020F0502020204030204" pitchFamily="34" charset="0"/>
                          </a:rPr>
                        </m:ctrlPr>
                      </m:sSubPr>
                      <m:e>
                        <m:r>
                          <a:rPr lang="en-US" sz="1200" b="0" i="1" baseline="0" smtClean="0">
                            <a:solidFill>
                              <a:srgbClr val="000000"/>
                            </a:solidFill>
                            <a:latin typeface="Cambria Math" panose="02040503050406030204" pitchFamily="18" charset="0"/>
                            <a:cs typeface="Calibri" panose="020F0502020204030204" pitchFamily="34" charset="0"/>
                          </a:rPr>
                          <m:t>𝑥</m:t>
                        </m:r>
                      </m:e>
                      <m:sub>
                        <m:r>
                          <a:rPr lang="en-US" sz="1200" b="0" i="1" baseline="0" smtClean="0">
                            <a:solidFill>
                              <a:srgbClr val="000000"/>
                            </a:solidFill>
                            <a:latin typeface="Cambria Math" panose="02040503050406030204" pitchFamily="18" charset="0"/>
                            <a:cs typeface="Calibri" panose="020F0502020204030204" pitchFamily="34" charset="0"/>
                          </a:rPr>
                          <m:t>`1, </m:t>
                        </m:r>
                      </m:sub>
                    </m:sSub>
                    <m:sSub>
                      <m:sSubPr>
                        <m:ctrlPr>
                          <a:rPr lang="en-US" sz="1200" b="0" i="1" baseline="0" smtClean="0">
                            <a:solidFill>
                              <a:srgbClr val="000000"/>
                            </a:solidFill>
                            <a:latin typeface="Cambria Math" panose="02040503050406030204" pitchFamily="18" charset="0"/>
                            <a:cs typeface="Calibri" panose="020F0502020204030204" pitchFamily="34" charset="0"/>
                          </a:rPr>
                        </m:ctrlPr>
                      </m:sSubPr>
                      <m:e>
                        <m:r>
                          <a:rPr lang="en-US" sz="1200" b="0" i="1" baseline="0" smtClean="0">
                            <a:solidFill>
                              <a:srgbClr val="000000"/>
                            </a:solidFill>
                            <a:latin typeface="Cambria Math" panose="02040503050406030204" pitchFamily="18" charset="0"/>
                            <a:cs typeface="Calibri" panose="020F0502020204030204" pitchFamily="34" charset="0"/>
                          </a:rPr>
                          <m:t>𝑦</m:t>
                        </m:r>
                      </m:e>
                      <m:sub>
                        <m:r>
                          <a:rPr lang="en-US" sz="1200" b="0" i="1" baseline="0" smtClean="0">
                            <a:solidFill>
                              <a:srgbClr val="000000"/>
                            </a:solidFill>
                            <a:latin typeface="Cambria Math" panose="02040503050406030204" pitchFamily="18" charset="0"/>
                            <a:cs typeface="Calibri" panose="020F0502020204030204" pitchFamily="34" charset="0"/>
                          </a:rPr>
                          <m:t>1</m:t>
                        </m:r>
                      </m:sub>
                    </m:sSub>
                  </m:oMath>
                </a14:m>
                <a:r>
                  <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rPr>
                  <a:t>) is a point on the line.</a:t>
                </a:r>
                <a:r>
                  <a:rPr lang="en-US" sz="1200" b="0" i="0"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The slope of a horizontal line is 0. The slope of a vertical line is undefined. </a:t>
                </a:r>
                <a:endPar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0" i="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Different forms of equations, such as standard form, slope-intercept form, and point-slope form can be used to represent linear relationships.</a:t>
                </a:r>
              </a:p>
            </p:txBody>
          </p:sp>
        </mc:Choice>
        <mc:Fallback xmlns="">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latin typeface="Calibri" panose="020F0502020204030204" pitchFamily="34" charset="0"/>
                    <a:ea typeface="Calibri" panose="020F0502020204030204" pitchFamily="34" charset="0"/>
                    <a:cs typeface="Calibri" panose="020F0502020204030204" pitchFamily="34" charset="0"/>
                  </a:rPr>
                  <a:t>Note:</a:t>
                </a:r>
                <a:r>
                  <a:rPr lang="en-US" sz="1200" b="0" dirty="0">
                    <a:latin typeface="Calibri" panose="020F0502020204030204" pitchFamily="34" charset="0"/>
                    <a:ea typeface="Calibri" panose="020F0502020204030204" pitchFamily="34" charset="0"/>
                    <a:cs typeface="Calibri" panose="020F0502020204030204" pitchFamily="34" charset="0"/>
                  </a:rPr>
                  <a:t> To close Day 4,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Essential Question:</a:t>
                </a:r>
              </a:p>
              <a:p>
                <a:r>
                  <a:rPr lang="en-US" sz="1200" b="0" dirty="0">
                    <a:latin typeface="Calibri" panose="020F0502020204030204" pitchFamily="34" charset="0"/>
                    <a:ea typeface="Calibri" panose="020F0502020204030204" pitchFamily="34" charset="0"/>
                    <a:cs typeface="Calibri" panose="020F0502020204030204" pitchFamily="34" charset="0"/>
                  </a:rPr>
                  <a:t>Sample answer: All sequences describe functions. The explicit formula for an arithmetic sequence is </a:t>
                </a:r>
                <a:r>
                  <a:rPr lang="en-US" sz="1200" b="0" i="0">
                    <a:latin typeface="Cambria Math" panose="02040503050406030204" pitchFamily="18" charset="0"/>
                    <a:cs typeface="Calibri" panose="020F0502020204030204" pitchFamily="34" charset="0"/>
                  </a:rPr>
                  <a:t>𝑎_𝑛= 𝑎_1+𝑑(𝑛−1), </a:t>
                </a:r>
                <a:r>
                  <a:rPr lang="en-US" sz="1200" b="0" dirty="0">
                    <a:latin typeface="Calibri" panose="020F0502020204030204" pitchFamily="34" charset="0"/>
                    <a:ea typeface="Calibri" panose="020F0502020204030204" pitchFamily="34" charset="0"/>
                    <a:cs typeface="Calibri" panose="020F0502020204030204" pitchFamily="34" charset="0"/>
                  </a:rPr>
                  <a:t>where</a:t>
                </a:r>
                <a:r>
                  <a:rPr lang="en-US" sz="1200" b="0" baseline="0" dirty="0">
                    <a:latin typeface="Calibri" panose="020F0502020204030204" pitchFamily="34" charset="0"/>
                    <a:ea typeface="Calibri" panose="020F0502020204030204" pitchFamily="34" charset="0"/>
                    <a:cs typeface="Calibri" panose="020F0502020204030204" pitchFamily="34" charset="0"/>
                  </a:rPr>
                  <a:t> </a:t>
                </a:r>
                <a:r>
                  <a:rPr lang="en-US" sz="1200" b="0" i="1" baseline="0" dirty="0">
                    <a:latin typeface="Calibri" panose="020F0502020204030204" pitchFamily="34" charset="0"/>
                    <a:ea typeface="Calibri" panose="020F0502020204030204" pitchFamily="34" charset="0"/>
                    <a:cs typeface="Calibri" panose="020F0502020204030204" pitchFamily="34" charset="0"/>
                  </a:rPr>
                  <a:t>n </a:t>
                </a:r>
                <a:r>
                  <a:rPr lang="en-US" sz="1200" b="0" i="0" baseline="0" dirty="0">
                    <a:latin typeface="Calibri" panose="020F0502020204030204" pitchFamily="34" charset="0"/>
                    <a:ea typeface="Calibri" panose="020F0502020204030204" pitchFamily="34" charset="0"/>
                    <a:cs typeface="Calibri" panose="020F0502020204030204" pitchFamily="34" charset="0"/>
                  </a:rPr>
                  <a:t>is the term number, </a:t>
                </a:r>
                <a:r>
                  <a:rPr lang="en-US" sz="1200" b="0" i="0" baseline="0">
                    <a:latin typeface="Cambria Math" panose="02040503050406030204" pitchFamily="18" charset="0"/>
                    <a:cs typeface="Calibri" panose="020F0502020204030204" pitchFamily="34" charset="0"/>
                  </a:rPr>
                  <a:t>𝑎_1  </a:t>
                </a:r>
                <a:r>
                  <a:rPr lang="en-US" sz="1200" b="0" i="0" dirty="0">
                    <a:latin typeface="Calibri" panose="020F0502020204030204" pitchFamily="34" charset="0"/>
                    <a:ea typeface="Calibri" panose="020F0502020204030204" pitchFamily="34" charset="0"/>
                    <a:cs typeface="Calibri" panose="020F0502020204030204" pitchFamily="34" charset="0"/>
                  </a:rPr>
                  <a:t>is</a:t>
                </a:r>
                <a:r>
                  <a:rPr lang="en-US" sz="1200" b="0" i="0" baseline="0" dirty="0">
                    <a:latin typeface="Calibri" panose="020F0502020204030204" pitchFamily="34" charset="0"/>
                    <a:ea typeface="Calibri" panose="020F0502020204030204" pitchFamily="34" charset="0"/>
                    <a:cs typeface="Calibri" panose="020F0502020204030204" pitchFamily="34" charset="0"/>
                  </a:rPr>
                  <a:t> the first term in the sequence</a:t>
                </a:r>
                <a:r>
                  <a:rPr lang="en-US" sz="1200" b="1" i="1" baseline="0" dirty="0">
                    <a:latin typeface="Calibri" panose="020F0502020204030204" pitchFamily="34" charset="0"/>
                    <a:ea typeface="Calibri" panose="020F0502020204030204" pitchFamily="34" charset="0"/>
                    <a:cs typeface="Calibri" panose="020F0502020204030204" pitchFamily="34" charset="0"/>
                  </a:rPr>
                  <a:t>, </a:t>
                </a:r>
                <a:r>
                  <a:rPr lang="en-US" sz="1200" b="0" i="1" baseline="0" dirty="0">
                    <a:latin typeface="Calibri" panose="020F0502020204030204" pitchFamily="34" charset="0"/>
                    <a:ea typeface="Calibri" panose="020F0502020204030204" pitchFamily="34" charset="0"/>
                    <a:cs typeface="Calibri" panose="020F0502020204030204" pitchFamily="34" charset="0"/>
                  </a:rPr>
                  <a:t>n</a:t>
                </a:r>
                <a:r>
                  <a:rPr lang="en-US" sz="1200" b="0" i="0" baseline="0" dirty="0">
                    <a:latin typeface="Calibri" panose="020F0502020204030204" pitchFamily="34" charset="0"/>
                    <a:ea typeface="Calibri" panose="020F0502020204030204" pitchFamily="34" charset="0"/>
                    <a:cs typeface="Calibri" panose="020F0502020204030204" pitchFamily="34" charset="0"/>
                  </a:rPr>
                  <a:t> is the nth term in the sequence, and d is the common difference. The explicit formula for a geometric sequence is </a:t>
                </a:r>
                <a:r>
                  <a:rPr lang="en-US" sz="1200" b="0" i="1" baseline="0" dirty="0">
                    <a:latin typeface="Calibri" panose="020F0502020204030204" pitchFamily="34" charset="0"/>
                    <a:ea typeface="Calibri" panose="020F0502020204030204" pitchFamily="34" charset="0"/>
                    <a:cs typeface="Calibri" panose="020F0502020204030204" pitchFamily="34" charset="0"/>
                  </a:rPr>
                  <a:t> </a:t>
                </a:r>
                <a:r>
                  <a:rPr lang="en-US" sz="1200" b="0" i="0">
                    <a:latin typeface="Cambria Math" panose="02040503050406030204" pitchFamily="18" charset="0"/>
                    <a:cs typeface="Calibri" panose="020F0502020204030204" pitchFamily="34" charset="0"/>
                  </a:rPr>
                  <a:t>𝑎_𝑛= 𝑎_1</a:t>
                </a:r>
                <a:r>
                  <a:rPr lang="en-US" sz="1200" b="0" i="1" dirty="0">
                    <a:latin typeface="Calibri" panose="020F0502020204030204" pitchFamily="34" charset="0"/>
                    <a:ea typeface="Calibri" panose="020F0502020204030204" pitchFamily="34" charset="0"/>
                    <a:cs typeface="Calibri" panose="020F0502020204030204" pitchFamily="34" charset="0"/>
                  </a:rPr>
                  <a:t> </a:t>
                </a:r>
                <a:r>
                  <a:rPr lang="en-US" sz="1200" b="0" i="0" dirty="0">
                    <a:latin typeface="Cambria Math" panose="02040503050406030204" pitchFamily="18" charset="0"/>
                    <a:ea typeface="Cambria Math" panose="02040503050406030204" pitchFamily="18" charset="0"/>
                    <a:cs typeface="Calibri" panose="020F0502020204030204" pitchFamily="34" charset="0"/>
                  </a:rPr>
                  <a:t>∙𝑟^((𝑛−1))</a:t>
                </a:r>
                <a:r>
                  <a:rPr lang="en-US" sz="1200" b="0" i="1" dirty="0">
                    <a:latin typeface="Calibri" panose="020F0502020204030204" pitchFamily="34" charset="0"/>
                    <a:ea typeface="Calibri" panose="020F0502020204030204" pitchFamily="34" charset="0"/>
                    <a:cs typeface="Calibri" panose="020F0502020204030204" pitchFamily="34" charset="0"/>
                  </a:rPr>
                  <a:t>, </a:t>
                </a:r>
                <a:r>
                  <a:rPr lang="en-US" sz="1200" b="0" i="0" dirty="0">
                    <a:latin typeface="Calibri" panose="020F0502020204030204" pitchFamily="34" charset="0"/>
                    <a:ea typeface="Calibri" panose="020F0502020204030204" pitchFamily="34" charset="0"/>
                    <a:cs typeface="Calibri" panose="020F0502020204030204" pitchFamily="34" charset="0"/>
                  </a:rPr>
                  <a:t>where</a:t>
                </a:r>
                <a:r>
                  <a:rPr lang="en-US" sz="1200" b="0" i="1" dirty="0">
                    <a:latin typeface="Calibri" panose="020F0502020204030204" pitchFamily="34" charset="0"/>
                    <a:ea typeface="Calibri" panose="020F0502020204030204" pitchFamily="34" charset="0"/>
                    <a:cs typeface="Calibri" panose="020F0502020204030204" pitchFamily="34" charset="0"/>
                  </a:rPr>
                  <a:t> n </a:t>
                </a:r>
                <a:r>
                  <a:rPr lang="en-US" sz="1200" b="0" i="0" dirty="0">
                    <a:latin typeface="Calibri" panose="020F0502020204030204" pitchFamily="34" charset="0"/>
                    <a:ea typeface="Calibri" panose="020F0502020204030204" pitchFamily="34" charset="0"/>
                    <a:cs typeface="Calibri" panose="020F0502020204030204" pitchFamily="34" charset="0"/>
                  </a:rPr>
                  <a:t>is the term number</a:t>
                </a:r>
                <a:r>
                  <a:rPr lang="en-US" sz="1200" b="0" i="1" dirty="0">
                    <a:latin typeface="Calibri" panose="020F0502020204030204" pitchFamily="34" charset="0"/>
                    <a:ea typeface="Calibri" panose="020F0502020204030204" pitchFamily="34" charset="0"/>
                    <a:cs typeface="Calibri" panose="020F0502020204030204" pitchFamily="34" charset="0"/>
                  </a:rPr>
                  <a:t>,</a:t>
                </a:r>
                <a:r>
                  <a:rPr lang="en-US" sz="1200" b="0" i="1" baseline="0" dirty="0">
                    <a:latin typeface="Calibri" panose="020F0502020204030204" pitchFamily="34" charset="0"/>
                    <a:ea typeface="Calibri" panose="020F0502020204030204" pitchFamily="34" charset="0"/>
                    <a:cs typeface="Calibri" panose="020F0502020204030204" pitchFamily="34" charset="0"/>
                  </a:rPr>
                  <a:t> </a:t>
                </a:r>
                <a:r>
                  <a:rPr lang="en-US" sz="1200" b="0" i="0" baseline="0">
                    <a:latin typeface="Cambria Math" panose="02040503050406030204" pitchFamily="18" charset="0"/>
                    <a:cs typeface="Calibri" panose="020F0502020204030204" pitchFamily="34" charset="0"/>
                  </a:rPr>
                  <a:t>𝑎_1  </a:t>
                </a:r>
                <a:r>
                  <a:rPr lang="en-US" sz="1200" b="0" i="0" dirty="0">
                    <a:latin typeface="Calibri" panose="020F0502020204030204" pitchFamily="34" charset="0"/>
                    <a:ea typeface="Calibri" panose="020F0502020204030204" pitchFamily="34" charset="0"/>
                    <a:cs typeface="Calibri" panose="020F0502020204030204" pitchFamily="34" charset="0"/>
                  </a:rPr>
                  <a:t>is the</a:t>
                </a:r>
                <a:r>
                  <a:rPr lang="en-US" sz="1200" b="0" i="0" baseline="0" dirty="0">
                    <a:latin typeface="Calibri" panose="020F0502020204030204" pitchFamily="34" charset="0"/>
                    <a:ea typeface="Calibri" panose="020F0502020204030204" pitchFamily="34" charset="0"/>
                    <a:cs typeface="Calibri" panose="020F0502020204030204" pitchFamily="34" charset="0"/>
                  </a:rPr>
                  <a:t> first term in the sequence, </a:t>
                </a:r>
                <a:r>
                  <a:rPr lang="en-US" sz="1200" b="0" i="0">
                    <a:latin typeface="Cambria Math" panose="02040503050406030204" pitchFamily="18" charset="0"/>
                    <a:cs typeface="Calibri" panose="020F0502020204030204" pitchFamily="34" charset="0"/>
                  </a:rPr>
                  <a:t>𝑎_𝑛</a:t>
                </a:r>
                <a:r>
                  <a:rPr lang="en-US" sz="1200" b="0" i="1" dirty="0">
                    <a:latin typeface="Calibri" panose="020F0502020204030204" pitchFamily="34" charset="0"/>
                    <a:ea typeface="Calibri" panose="020F0502020204030204" pitchFamily="34" charset="0"/>
                    <a:cs typeface="Calibri" panose="020F0502020204030204" pitchFamily="34" charset="0"/>
                  </a:rPr>
                  <a:t> </a:t>
                </a:r>
                <a:r>
                  <a:rPr lang="en-US" sz="1200" b="0" i="0" dirty="0">
                    <a:latin typeface="Calibri" panose="020F0502020204030204" pitchFamily="34" charset="0"/>
                    <a:ea typeface="Calibri" panose="020F0502020204030204" pitchFamily="34" charset="0"/>
                    <a:cs typeface="Calibri" panose="020F0502020204030204" pitchFamily="34" charset="0"/>
                  </a:rPr>
                  <a:t>is the </a:t>
                </a:r>
                <a:r>
                  <a:rPr lang="en-US" sz="1200" b="0" i="1" dirty="0">
                    <a:latin typeface="Calibri" panose="020F0502020204030204" pitchFamily="34" charset="0"/>
                    <a:ea typeface="Calibri" panose="020F0502020204030204" pitchFamily="34" charset="0"/>
                    <a:cs typeface="Calibri" panose="020F0502020204030204" pitchFamily="34" charset="0"/>
                  </a:rPr>
                  <a:t>n</a:t>
                </a:r>
                <a:r>
                  <a:rPr lang="en-US" sz="1200" b="0" i="0" dirty="0">
                    <a:latin typeface="Calibri" panose="020F0502020204030204" pitchFamily="34" charset="0"/>
                    <a:ea typeface="Calibri" panose="020F0502020204030204" pitchFamily="34" charset="0"/>
                    <a:cs typeface="Calibri" panose="020F0502020204030204" pitchFamily="34" charset="0"/>
                  </a:rPr>
                  <a:t>th term in the sequence,</a:t>
                </a:r>
                <a:r>
                  <a:rPr lang="en-US" sz="1200" b="0" i="0" baseline="0" dirty="0">
                    <a:latin typeface="Calibri" panose="020F0502020204030204" pitchFamily="34" charset="0"/>
                    <a:ea typeface="Calibri" panose="020F0502020204030204" pitchFamily="34" charset="0"/>
                    <a:cs typeface="Calibri" panose="020F0502020204030204" pitchFamily="34" charset="0"/>
                  </a:rPr>
                  <a:t> and </a:t>
                </a:r>
                <a:r>
                  <a:rPr lang="en-US" sz="1200" b="0" i="1" baseline="0" dirty="0">
                    <a:latin typeface="Calibri" panose="020F0502020204030204" pitchFamily="34" charset="0"/>
                    <a:ea typeface="Calibri" panose="020F0502020204030204" pitchFamily="34" charset="0"/>
                    <a:cs typeface="Calibri" panose="020F0502020204030204" pitchFamily="34" charset="0"/>
                  </a:rPr>
                  <a:t>r </a:t>
                </a:r>
                <a:r>
                  <a:rPr lang="en-US" sz="1200" b="0" i="0" baseline="0" dirty="0">
                    <a:latin typeface="Calibri" panose="020F0502020204030204" pitchFamily="34" charset="0"/>
                    <a:ea typeface="Calibri" panose="020F0502020204030204" pitchFamily="34" charset="0"/>
                    <a:cs typeface="Calibri" panose="020F0502020204030204" pitchFamily="34" charset="0"/>
                  </a:rPr>
                  <a:t>is the common ratio.</a:t>
                </a:r>
              </a:p>
              <a:p>
                <a:endParaRPr lang="en-US" sz="1200" b="0" i="0" dirty="0">
                  <a:latin typeface="Calibri" panose="020F0502020204030204" pitchFamily="34" charset="0"/>
                  <a:ea typeface="Calibri" panose="020F0502020204030204" pitchFamily="34" charset="0"/>
                  <a:cs typeface="Calibri" panose="020F0502020204030204" pitchFamily="34" charset="0"/>
                </a:endParaRPr>
              </a:p>
              <a:p>
                <a:r>
                  <a:rPr lang="en-US" sz="1200" b="1" dirty="0">
                    <a:latin typeface="Calibri" panose="020F0502020204030204" pitchFamily="34" charset="0"/>
                    <a:ea typeface="Calibri" panose="020F0502020204030204" pitchFamily="34" charset="0"/>
                    <a:cs typeface="Calibri" panose="020F0502020204030204" pitchFamily="34" charset="0"/>
                  </a:rPr>
                  <a:t>Talk the Talk Summary: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There are advantages and disadvantages to using either an explicit or recursive formula to represent an arithmetic or geometric sequence.</a:t>
                </a:r>
              </a:p>
            </p:txBody>
          </p:sp>
        </mc:Fallback>
      </mc:AlternateContent>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62</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63</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64</a:t>
            </a:fld>
            <a:endParaRPr lang="en-US"/>
          </a:p>
        </p:txBody>
      </p:sp>
    </p:spTree>
    <p:extLst>
      <p:ext uri="{BB962C8B-B14F-4D97-AF65-F5344CB8AC3E}">
        <p14:creationId xmlns:p14="http://schemas.microsoft.com/office/powerpoint/2010/main" val="11947931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5294-F897-70EF-D10E-AF9CFE145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D65B6-500E-9C24-23DA-5854FF62C81D}"/>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E5F22DD-FFA2-9C87-4A7D-F7CA29096CE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B2A398D-9730-D1C3-AAF7-0F03D4B776E7}"/>
              </a:ext>
            </a:extLst>
          </p:cNvPr>
          <p:cNvSpPr>
            <a:spLocks noGrp="1"/>
          </p:cNvSpPr>
          <p:nvPr>
            <p:ph type="sldNum" sz="quarter" idx="5"/>
          </p:nvPr>
        </p:nvSpPr>
        <p:spPr/>
        <p:txBody>
          <a:bodyPr/>
          <a:lstStyle/>
          <a:p>
            <a:fld id="{BB5E49A5-4136-284D-997B-48E1D791AD67}" type="slidenum">
              <a:rPr lang="en-US" smtClean="0"/>
              <a:t>65</a:t>
            </a:fld>
            <a:endParaRPr lang="en-US"/>
          </a:p>
        </p:txBody>
      </p:sp>
    </p:spTree>
    <p:extLst>
      <p:ext uri="{BB962C8B-B14F-4D97-AF65-F5344CB8AC3E}">
        <p14:creationId xmlns:p14="http://schemas.microsoft.com/office/powerpoint/2010/main" val="35813901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66</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67</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2.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2.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34.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54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1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5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53.xml"/><Relationship Id="rId1" Type="http://schemas.openxmlformats.org/officeDocument/2006/relationships/slideLayout" Target="../slideLayouts/slideLayout1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0" y="1616529"/>
            <a:ext cx="12192003" cy="1812471"/>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6000" b="1" i="0" u="none" strike="noStrike" kern="1200" cap="none" spc="0" normalizeH="0" baseline="0" noProof="0" dirty="0">
                <a:ln>
                  <a:noFill/>
                </a:ln>
                <a:solidFill>
                  <a:srgbClr val="236739"/>
                </a:solidFill>
                <a:effectLst/>
                <a:uLnTx/>
                <a:uFillTx/>
                <a:latin typeface="+mn-lt"/>
                <a:ea typeface="+mn-ea"/>
                <a:cs typeface="+mn-cs"/>
              </a:rPr>
              <a:t>Using Linear Equations</a:t>
            </a: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2 | Topic 1 | Lesson 5</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7406" y="1608364"/>
            <a:ext cx="9833315" cy="4717131"/>
          </a:xfrm>
        </p:spPr>
        <p:txBody>
          <a:bodyPr/>
          <a:lstStyle/>
          <a:p>
            <a:pPr marL="457200" indent="-457200" algn="l">
              <a:buFont typeface="Arial" panose="020B0604020202020204" pitchFamily="34" charset="0"/>
              <a:buChar char="•"/>
            </a:pPr>
            <a:r>
              <a:rPr lang="en-US" sz="2800" b="0" i="0" u="none" strike="noStrike" baseline="0" dirty="0">
                <a:solidFill>
                  <a:srgbClr val="000000"/>
                </a:solidFill>
              </a:rPr>
              <a:t>Construct linear equations to model relationships between</a:t>
            </a:r>
            <a:br>
              <a:rPr lang="en-US" sz="2800" b="0" i="0" u="none" strike="noStrike" baseline="0" dirty="0">
                <a:solidFill>
                  <a:srgbClr val="000000"/>
                </a:solidFill>
              </a:rPr>
            </a:br>
            <a:r>
              <a:rPr lang="en-US" sz="2800" b="0" i="0" u="none" strike="noStrike" baseline="0" dirty="0">
                <a:solidFill>
                  <a:srgbClr val="000000"/>
                </a:solidFill>
              </a:rPr>
              <a:t>two quantities.</a:t>
            </a:r>
          </a:p>
          <a:p>
            <a:pPr marL="457200" indent="-457200" algn="l">
              <a:buFont typeface="Arial" panose="020B0604020202020204" pitchFamily="34" charset="0"/>
              <a:buChar char="•"/>
            </a:pPr>
            <a:r>
              <a:rPr lang="en-US" sz="2800" dirty="0">
                <a:solidFill>
                  <a:srgbClr val="000000"/>
                </a:solidFill>
              </a:rPr>
              <a:t>Graph lines using the slope-intercept form of a linear equation.</a:t>
            </a:r>
          </a:p>
          <a:p>
            <a:pPr marL="457200" indent="-457200" algn="l">
              <a:buFont typeface="Arial" panose="020B0604020202020204" pitchFamily="34" charset="0"/>
              <a:buChar char="•"/>
            </a:pPr>
            <a:r>
              <a:rPr lang="en-US" sz="2800" dirty="0">
                <a:solidFill>
                  <a:srgbClr val="000000"/>
                </a:solidFill>
              </a:rPr>
              <a:t>Graph lines using the point-slope form of a linear equation.</a:t>
            </a:r>
          </a:p>
          <a:p>
            <a:pPr marL="457200" indent="-457200" algn="l">
              <a:buFont typeface="Arial" panose="020B0604020202020204" pitchFamily="34" charset="0"/>
              <a:buChar char="•"/>
            </a:pPr>
            <a:r>
              <a:rPr lang="en-US" sz="2800" dirty="0">
                <a:solidFill>
                  <a:srgbClr val="000000"/>
                </a:solidFill>
              </a:rPr>
              <a:t>Graph lines using the standard form of a linear equation.</a:t>
            </a:r>
          </a:p>
          <a:p>
            <a:pPr marL="457200" indent="-457200" algn="l">
              <a:buFont typeface="Arial" panose="020B0604020202020204" pitchFamily="34" charset="0"/>
              <a:buChar char="•"/>
            </a:pPr>
            <a:r>
              <a:rPr lang="en-US" sz="2800" dirty="0">
                <a:solidFill>
                  <a:srgbClr val="000000"/>
                </a:solidFill>
              </a:rPr>
              <a:t>Convert equations from point-slope or standard form to</a:t>
            </a:r>
            <a:br>
              <a:rPr lang="en-US" sz="2800" dirty="0">
                <a:solidFill>
                  <a:srgbClr val="000000"/>
                </a:solidFill>
              </a:rPr>
            </a:br>
            <a:r>
              <a:rPr lang="en-US" sz="2800" dirty="0">
                <a:solidFill>
                  <a:srgbClr val="000000"/>
                </a:solidFill>
              </a:rPr>
              <a:t>slope-intercept form.</a:t>
            </a:r>
          </a:p>
          <a:p>
            <a:pPr marL="457200" indent="-457200" algn="l">
              <a:buFont typeface="Arial" panose="020B0604020202020204" pitchFamily="34" charset="0"/>
              <a:buChar char="•"/>
            </a:pPr>
            <a:r>
              <a:rPr lang="en-US" sz="2800" dirty="0">
                <a:solidFill>
                  <a:srgbClr val="000000"/>
                </a:solidFill>
              </a:rPr>
              <a:t>Discuss the advantages and disadvantages of slope-intercept, point-slope, and standard form.</a:t>
            </a: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0F2F3-8205-D13B-F2FC-C7F18E6181C0}"/>
              </a:ext>
            </a:extLst>
          </p:cNvPr>
          <p:cNvSpPr>
            <a:spLocks noGrp="1"/>
          </p:cNvSpPr>
          <p:nvPr>
            <p:ph type="title"/>
          </p:nvPr>
        </p:nvSpPr>
        <p:spPr/>
        <p:txBody>
          <a:bodyPr/>
          <a:lstStyle/>
          <a:p>
            <a:pPr algn="l"/>
            <a:r>
              <a:rPr lang="en-US" b="1" dirty="0"/>
              <a:t>Key Terms </a:t>
            </a:r>
            <a:r>
              <a:rPr lang="en-US" sz="2000" b="1" dirty="0">
                <a:solidFill>
                  <a:schemeClr val="bg1"/>
                </a:solidFill>
              </a:rPr>
              <a:t>(1 of 2)</a:t>
            </a:r>
          </a:p>
        </p:txBody>
      </p:sp>
      <p:sp>
        <p:nvSpPr>
          <p:cNvPr id="10" name="Text Placeholder 1">
            <a:extLst>
              <a:ext uri="{FF2B5EF4-FFF2-40B4-BE49-F238E27FC236}">
                <a16:creationId xmlns:a16="http://schemas.microsoft.com/office/drawing/2014/main" id="{F7EC44D6-1E06-D576-D850-80AC0AC8A2DD}"/>
              </a:ext>
            </a:extLst>
          </p:cNvPr>
          <p:cNvSpPr txBox="1">
            <a:spLocks/>
          </p:cNvSpPr>
          <p:nvPr/>
        </p:nvSpPr>
        <p:spPr>
          <a:xfrm>
            <a:off x="777239" y="1608365"/>
            <a:ext cx="10456817" cy="182063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00000"/>
                </a:solidFill>
              </a:rPr>
              <a:t>standard form</a:t>
            </a:r>
            <a:r>
              <a:rPr lang="en-US" dirty="0">
                <a:solidFill>
                  <a:srgbClr val="000000"/>
                </a:solidFill>
              </a:rPr>
              <a:t>: the standard form of a linear equation is </a:t>
            </a:r>
            <a:r>
              <a:rPr lang="en-US" i="1" dirty="0">
                <a:solidFill>
                  <a:srgbClr val="000000"/>
                </a:solidFill>
              </a:rPr>
              <a:t>Ax</a:t>
            </a:r>
            <a:r>
              <a:rPr lang="en-US" dirty="0">
                <a:solidFill>
                  <a:srgbClr val="000000"/>
                </a:solidFill>
              </a:rPr>
              <a:t> + </a:t>
            </a:r>
            <a:r>
              <a:rPr lang="en-US" i="1" dirty="0">
                <a:solidFill>
                  <a:srgbClr val="000000"/>
                </a:solidFill>
              </a:rPr>
              <a:t>By</a:t>
            </a:r>
            <a:r>
              <a:rPr lang="en-US" dirty="0">
                <a:solidFill>
                  <a:srgbClr val="000000"/>
                </a:solidFill>
              </a:rPr>
              <a:t> = </a:t>
            </a:r>
            <a:r>
              <a:rPr lang="en-US" i="1" dirty="0">
                <a:solidFill>
                  <a:srgbClr val="000000"/>
                </a:solidFill>
              </a:rPr>
              <a:t>C</a:t>
            </a:r>
            <a:r>
              <a:rPr lang="en-US" dirty="0">
                <a:solidFill>
                  <a:srgbClr val="000000"/>
                </a:solidFill>
              </a:rPr>
              <a:t>, where </a:t>
            </a:r>
            <a:r>
              <a:rPr lang="en-US" i="1" dirty="0">
                <a:solidFill>
                  <a:srgbClr val="000000"/>
                </a:solidFill>
              </a:rPr>
              <a:t>A, B, </a:t>
            </a:r>
            <a:r>
              <a:rPr lang="en-US" dirty="0">
                <a:solidFill>
                  <a:srgbClr val="000000"/>
                </a:solidFill>
              </a:rPr>
              <a:t>and</a:t>
            </a:r>
            <a:r>
              <a:rPr lang="en-US" i="1" dirty="0">
                <a:solidFill>
                  <a:srgbClr val="000000"/>
                </a:solidFill>
              </a:rPr>
              <a:t> C</a:t>
            </a:r>
            <a:r>
              <a:rPr lang="en-US" dirty="0">
                <a:solidFill>
                  <a:srgbClr val="000000"/>
                </a:solidFill>
              </a:rPr>
              <a:t> are integers and </a:t>
            </a:r>
            <a:r>
              <a:rPr lang="en-US" i="1" dirty="0">
                <a:solidFill>
                  <a:srgbClr val="000000"/>
                </a:solidFill>
              </a:rPr>
              <a:t>A</a:t>
            </a:r>
            <a:r>
              <a:rPr lang="en-US" dirty="0">
                <a:solidFill>
                  <a:srgbClr val="000000"/>
                </a:solidFill>
              </a:rPr>
              <a:t> and </a:t>
            </a:r>
            <a:r>
              <a:rPr lang="en-US" i="1" dirty="0">
                <a:solidFill>
                  <a:srgbClr val="000000"/>
                </a:solidFill>
              </a:rPr>
              <a:t>B</a:t>
            </a:r>
            <a:r>
              <a:rPr lang="en-US" dirty="0">
                <a:solidFill>
                  <a:srgbClr val="000000"/>
                </a:solidFill>
              </a:rPr>
              <a:t> are not both zero</a:t>
            </a:r>
            <a:endParaRPr lang="en-US" i="1" dirty="0">
              <a:solidFill>
                <a:srgbClr val="000000"/>
              </a:solidFill>
            </a:endParaRPr>
          </a:p>
        </p:txBody>
      </p:sp>
      <p:sp>
        <p:nvSpPr>
          <p:cNvPr id="2" name="Text Placeholder 1">
            <a:extLst>
              <a:ext uri="{FF2B5EF4-FFF2-40B4-BE49-F238E27FC236}">
                <a16:creationId xmlns:a16="http://schemas.microsoft.com/office/drawing/2014/main" id="{4D8866C6-41DC-5A7F-2F25-3524BBA09408}"/>
              </a:ext>
            </a:extLst>
          </p:cNvPr>
          <p:cNvSpPr txBox="1">
            <a:spLocks/>
          </p:cNvSpPr>
          <p:nvPr/>
        </p:nvSpPr>
        <p:spPr>
          <a:xfrm>
            <a:off x="777238" y="3429000"/>
            <a:ext cx="10456817" cy="1801585"/>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00000"/>
                </a:solidFill>
              </a:rPr>
              <a:t>Example</a:t>
            </a:r>
          </a:p>
          <a:p>
            <a:endParaRPr lang="en-US" b="1" i="1" dirty="0">
              <a:solidFill>
                <a:srgbClr val="000000"/>
              </a:solidFill>
            </a:endParaRPr>
          </a:p>
          <a:p>
            <a:pPr marL="457200" lvl="1" indent="0">
              <a:buNone/>
            </a:pPr>
            <a:r>
              <a:rPr lang="en-US" sz="2800" dirty="0">
                <a:solidFill>
                  <a:srgbClr val="000000"/>
                </a:solidFill>
              </a:rPr>
              <a:t>5</a:t>
            </a:r>
            <a:r>
              <a:rPr lang="en-US" sz="2800" i="1" dirty="0">
                <a:solidFill>
                  <a:srgbClr val="000000"/>
                </a:solidFill>
              </a:rPr>
              <a:t>x</a:t>
            </a:r>
            <a:r>
              <a:rPr lang="en-US" sz="2800" dirty="0">
                <a:solidFill>
                  <a:srgbClr val="000000"/>
                </a:solidFill>
              </a:rPr>
              <a:t> + 8</a:t>
            </a:r>
            <a:r>
              <a:rPr lang="en-US" sz="2800" i="1" dirty="0">
                <a:solidFill>
                  <a:srgbClr val="000000"/>
                </a:solidFill>
              </a:rPr>
              <a:t>y</a:t>
            </a:r>
            <a:r>
              <a:rPr lang="en-US" sz="2800" dirty="0">
                <a:solidFill>
                  <a:srgbClr val="000000"/>
                </a:solidFill>
              </a:rPr>
              <a:t> = 1600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p:txBody>
          <a:bodyPr/>
          <a:lstStyle/>
          <a:p>
            <a:pPr algn="l"/>
            <a:r>
              <a:rPr lang="en-US" b="1" dirty="0"/>
              <a:t>Essential Question </a:t>
            </a:r>
            <a:r>
              <a:rPr lang="en-US" sz="2000" b="1" dirty="0">
                <a:solidFill>
                  <a:schemeClr val="bg1"/>
                </a:solidFill>
              </a:rPr>
              <a:t>(1 of 3)</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77240" y="1600199"/>
            <a:ext cx="10077226" cy="433557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graphed equations using tables of values. </a:t>
            </a: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Is there a more efficient method to graphing a linear relationship? Can you use the equation of a linear relationship to create a  graphical representation?</a:t>
            </a:r>
          </a:p>
        </p:txBody>
      </p:sp>
    </p:spTree>
    <p:extLst>
      <p:ext uri="{BB962C8B-B14F-4D97-AF65-F5344CB8AC3E}">
        <p14:creationId xmlns:p14="http://schemas.microsoft.com/office/powerpoint/2010/main" val="2493083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302080"/>
            <a:ext cx="10514013" cy="302079"/>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334736"/>
            <a:ext cx="10514013" cy="334736"/>
          </a:xfrm>
          <a:prstGeom prst="rect">
            <a:avLst/>
          </a:prstGeom>
        </p:spPr>
        <p:txBody>
          <a:bodyPr anchor="b"/>
          <a:lstStyle/>
          <a:p>
            <a:r>
              <a:rPr lang="en-US" sz="2000" dirty="0">
                <a:solidFill>
                  <a:schemeClr val="bg2"/>
                </a:solidFill>
              </a:rPr>
              <a:t>Getting Started</a:t>
            </a:r>
          </a:p>
        </p:txBody>
      </p:sp>
      <p:sp>
        <p:nvSpPr>
          <p:cNvPr id="2" name="Text Placeholder 1" descr="10 to 15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14990" y="5781873"/>
            <a:ext cx="863947" cy="795338"/>
          </a:xfrm>
        </p:spPr>
        <p:txBody>
          <a:bodyPr/>
          <a:lstStyle/>
          <a:p>
            <a:r>
              <a:rPr lang="en-US" b="1" dirty="0"/>
              <a:t>10–15</a:t>
            </a:r>
          </a:p>
        </p:txBody>
      </p:sp>
    </p:spTree>
    <p:extLst>
      <p:ext uri="{BB962C8B-B14F-4D97-AF65-F5344CB8AC3E}">
        <p14:creationId xmlns:p14="http://schemas.microsoft.com/office/powerpoint/2010/main" val="371961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p:txBody>
          <a:bodyPr/>
          <a:lstStyle/>
          <a:p>
            <a:pPr algn="l"/>
            <a:r>
              <a:rPr lang="en-US" b="1" dirty="0"/>
              <a:t>Jump In the Line </a:t>
            </a:r>
            <a:r>
              <a:rPr lang="en-US" sz="2000" b="1" dirty="0">
                <a:solidFill>
                  <a:schemeClr val="bg1"/>
                </a:solidFill>
              </a:rPr>
              <a:t>(1 of 3)</a:t>
            </a:r>
          </a:p>
        </p:txBody>
      </p:sp>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777240" y="1642750"/>
            <a:ext cx="9885317" cy="131960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Describe what you know about the graph of each relationship by analyzing each equation. Then, explain how you might graph each line given its equation.</a:t>
            </a:r>
            <a:endParaRPr lang="en-US" sz="2600" dirty="0">
              <a:solidFill>
                <a:srgbClr val="000000"/>
              </a:solidFill>
            </a:endParaRP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BC2C39DA-38A3-9F64-9A83-B905A9466A64}"/>
                  </a:ext>
                </a:extLst>
              </p:cNvPr>
              <p:cNvSpPr txBox="1">
                <a:spLocks/>
              </p:cNvSpPr>
              <p:nvPr/>
            </p:nvSpPr>
            <p:spPr>
              <a:xfrm>
                <a:off x="777240" y="3099513"/>
                <a:ext cx="3030967" cy="6589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a:pPr>
                <a:r>
                  <a:rPr lang="en-US" sz="2600" b="0" dirty="0">
                    <a:solidFill>
                      <a:srgbClr val="000000"/>
                    </a:solidFill>
                  </a:rPr>
                  <a:t> </a:t>
                </a:r>
                <a14:m>
                  <m:oMath xmlns:m="http://schemas.openxmlformats.org/officeDocument/2006/math">
                    <m:r>
                      <a:rPr lang="en-US" sz="2600" b="0" i="1" smtClean="0">
                        <a:solidFill>
                          <a:srgbClr val="000000"/>
                        </a:solidFill>
                        <a:latin typeface="Cambria Math" panose="02040503050406030204" pitchFamily="18" charset="0"/>
                      </a:rPr>
                      <m:t>𝑦</m:t>
                    </m:r>
                    <m:r>
                      <a:rPr lang="en-US" sz="2600" b="0" i="1" smtClean="0">
                        <a:solidFill>
                          <a:srgbClr val="000000"/>
                        </a:solidFill>
                        <a:latin typeface="Cambria Math" panose="02040503050406030204" pitchFamily="18" charset="0"/>
                      </a:rPr>
                      <m:t>=</m:t>
                    </m:r>
                    <m:f>
                      <m:fPr>
                        <m:ctrlPr>
                          <a:rPr lang="en-US" sz="2600" b="0" i="1" smtClean="0">
                            <a:solidFill>
                              <a:srgbClr val="000000"/>
                            </a:solidFill>
                            <a:latin typeface="Cambria Math" panose="02040503050406030204" pitchFamily="18" charset="0"/>
                          </a:rPr>
                        </m:ctrlPr>
                      </m:fPr>
                      <m:num>
                        <m:r>
                          <a:rPr lang="en-US" sz="2600" b="0" i="1" smtClean="0">
                            <a:solidFill>
                              <a:srgbClr val="000000"/>
                            </a:solidFill>
                            <a:latin typeface="Cambria Math" panose="02040503050406030204" pitchFamily="18" charset="0"/>
                          </a:rPr>
                          <m:t>2</m:t>
                        </m:r>
                      </m:num>
                      <m:den>
                        <m:r>
                          <a:rPr lang="en-US" sz="2600" b="0" i="1" smtClean="0">
                            <a:solidFill>
                              <a:srgbClr val="000000"/>
                            </a:solidFill>
                            <a:latin typeface="Cambria Math" panose="02040503050406030204" pitchFamily="18" charset="0"/>
                          </a:rPr>
                          <m:t>3</m:t>
                        </m:r>
                      </m:den>
                    </m:f>
                    <m:r>
                      <a:rPr lang="en-US" sz="2600" b="0" i="1" smtClean="0">
                        <a:solidFill>
                          <a:srgbClr val="000000"/>
                        </a:solidFill>
                        <a:latin typeface="Cambria Math" panose="02040503050406030204" pitchFamily="18" charset="0"/>
                      </a:rPr>
                      <m:t>𝑥</m:t>
                    </m:r>
                    <m:r>
                      <a:rPr lang="en-US" sz="2600" b="0" i="1" smtClean="0">
                        <a:solidFill>
                          <a:srgbClr val="000000"/>
                        </a:solidFill>
                        <a:latin typeface="Cambria Math" panose="02040503050406030204" pitchFamily="18" charset="0"/>
                      </a:rPr>
                      <m:t>+7</m:t>
                    </m:r>
                  </m:oMath>
                </a14:m>
                <a:endParaRPr lang="en-US" sz="2600" dirty="0">
                  <a:solidFill>
                    <a:srgbClr val="000000"/>
                  </a:solidFill>
                </a:endParaRPr>
              </a:p>
            </p:txBody>
          </p:sp>
        </mc:Choice>
        <mc:Fallback xmlns="">
          <p:sp>
            <p:nvSpPr>
              <p:cNvPr id="2" name="Text Placeholder 2">
                <a:extLst>
                  <a:ext uri="{FF2B5EF4-FFF2-40B4-BE49-F238E27FC236}">
                    <a16:creationId xmlns:a16="http://schemas.microsoft.com/office/drawing/2014/main" id="{BC2C39DA-38A3-9F64-9A83-B905A9466A64}"/>
                  </a:ext>
                </a:extLst>
              </p:cNvPr>
              <p:cNvSpPr txBox="1">
                <a:spLocks noRot="1" noChangeAspect="1" noMove="1" noResize="1" noEditPoints="1" noAdjustHandles="1" noChangeArrowheads="1" noChangeShapeType="1" noTextEdit="1"/>
              </p:cNvSpPr>
              <p:nvPr/>
            </p:nvSpPr>
            <p:spPr>
              <a:xfrm>
                <a:off x="777240" y="3099513"/>
                <a:ext cx="3030967" cy="658973"/>
              </a:xfrm>
              <a:prstGeom prst="rect">
                <a:avLst/>
              </a:prstGeom>
              <a:blipFill>
                <a:blip r:embed="rId3"/>
                <a:stretch>
                  <a:fillRect l="-3823" b="-110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C324C5F4-E204-64CA-3F88-746A9E695FB4}"/>
                  </a:ext>
                </a:extLst>
              </p:cNvPr>
              <p:cNvSpPr txBox="1">
                <a:spLocks/>
              </p:cNvSpPr>
              <p:nvPr/>
            </p:nvSpPr>
            <p:spPr>
              <a:xfrm>
                <a:off x="6095206" y="3099513"/>
                <a:ext cx="2867043" cy="6589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3"/>
                </a:pPr>
                <a:r>
                  <a:rPr lang="en-US" sz="2600" dirty="0">
                    <a:solidFill>
                      <a:srgbClr val="000000"/>
                    </a:solidFill>
                  </a:rPr>
                  <a:t> </a:t>
                </a:r>
                <a14:m>
                  <m:oMath xmlns:m="http://schemas.openxmlformats.org/officeDocument/2006/math">
                    <m:r>
                      <a:rPr lang="en-US" sz="2600" b="0" i="1" smtClean="0">
                        <a:solidFill>
                          <a:srgbClr val="000000"/>
                        </a:solidFill>
                        <a:latin typeface="Cambria Math" panose="02040503050406030204" pitchFamily="18" charset="0"/>
                      </a:rPr>
                      <m:t>𝑥</m:t>
                    </m:r>
                    <m:r>
                      <a:rPr lang="en-US" sz="2600" b="0" i="1" smtClean="0">
                        <a:solidFill>
                          <a:srgbClr val="000000"/>
                        </a:solidFill>
                        <a:latin typeface="Cambria Math" panose="02040503050406030204" pitchFamily="18" charset="0"/>
                      </a:rPr>
                      <m:t>=−4</m:t>
                    </m:r>
                  </m:oMath>
                </a14:m>
                <a:endParaRPr lang="en-US" sz="2600" dirty="0">
                  <a:solidFill>
                    <a:srgbClr val="000000"/>
                  </a:solidFill>
                </a:endParaRPr>
              </a:p>
            </p:txBody>
          </p:sp>
        </mc:Choice>
        <mc:Fallback xmlns="">
          <p:sp>
            <p:nvSpPr>
              <p:cNvPr id="6" name="Text Placeholder 2">
                <a:extLst>
                  <a:ext uri="{FF2B5EF4-FFF2-40B4-BE49-F238E27FC236}">
                    <a16:creationId xmlns:a16="http://schemas.microsoft.com/office/drawing/2014/main" id="{C324C5F4-E204-64CA-3F88-746A9E695FB4}"/>
                  </a:ext>
                </a:extLst>
              </p:cNvPr>
              <p:cNvSpPr txBox="1">
                <a:spLocks noRot="1" noChangeAspect="1" noMove="1" noResize="1" noEditPoints="1" noAdjustHandles="1" noChangeArrowheads="1" noChangeShapeType="1" noTextEdit="1"/>
              </p:cNvSpPr>
              <p:nvPr/>
            </p:nvSpPr>
            <p:spPr>
              <a:xfrm>
                <a:off x="6095206" y="3099513"/>
                <a:ext cx="2867043" cy="658973"/>
              </a:xfrm>
              <a:prstGeom prst="rect">
                <a:avLst/>
              </a:prstGeom>
              <a:blipFill>
                <a:blip r:embed="rId4"/>
                <a:stretch>
                  <a:fillRect l="-4043" t="-82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Placeholder 2">
                <a:extLst>
                  <a:ext uri="{FF2B5EF4-FFF2-40B4-BE49-F238E27FC236}">
                    <a16:creationId xmlns:a16="http://schemas.microsoft.com/office/drawing/2014/main" id="{E3C0A8BC-9C14-05C2-4D70-C554015E8469}"/>
                  </a:ext>
                </a:extLst>
              </p:cNvPr>
              <p:cNvSpPr txBox="1">
                <a:spLocks/>
              </p:cNvSpPr>
              <p:nvPr/>
            </p:nvSpPr>
            <p:spPr>
              <a:xfrm>
                <a:off x="777241" y="4556278"/>
                <a:ext cx="3773244" cy="6589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2"/>
                </a:pPr>
                <a:r>
                  <a:rPr lang="en-US" sz="2600" b="0" dirty="0">
                    <a:solidFill>
                      <a:srgbClr val="000000"/>
                    </a:solidFill>
                  </a:rPr>
                  <a:t> </a:t>
                </a:r>
                <a14:m>
                  <m:oMath xmlns:m="http://schemas.openxmlformats.org/officeDocument/2006/math">
                    <m:r>
                      <a:rPr lang="en-US" sz="2600" b="0" i="1" smtClean="0">
                        <a:solidFill>
                          <a:srgbClr val="000000"/>
                        </a:solidFill>
                        <a:latin typeface="Cambria Math" panose="02040503050406030204" pitchFamily="18" charset="0"/>
                      </a:rPr>
                      <m:t>𝑦</m:t>
                    </m:r>
                    <m:r>
                      <a:rPr lang="en-US" sz="2600" b="0" i="1" smtClean="0">
                        <a:solidFill>
                          <a:srgbClr val="000000"/>
                        </a:solidFill>
                        <a:latin typeface="Cambria Math" panose="02040503050406030204" pitchFamily="18" charset="0"/>
                      </a:rPr>
                      <m:t>−3=5(</m:t>
                    </m:r>
                    <m:r>
                      <a:rPr lang="en-US" sz="2600" b="0" i="1" smtClean="0">
                        <a:solidFill>
                          <a:srgbClr val="000000"/>
                        </a:solidFill>
                        <a:latin typeface="Cambria Math" panose="02040503050406030204" pitchFamily="18" charset="0"/>
                      </a:rPr>
                      <m:t>𝑥</m:t>
                    </m:r>
                    <m:r>
                      <a:rPr lang="en-US" sz="2600" b="0" i="1" smtClean="0">
                        <a:solidFill>
                          <a:srgbClr val="000000"/>
                        </a:solidFill>
                        <a:latin typeface="Cambria Math" panose="02040503050406030204" pitchFamily="18" charset="0"/>
                      </a:rPr>
                      <m:t>+1)</m:t>
                    </m:r>
                  </m:oMath>
                </a14:m>
                <a:endParaRPr lang="en-US" sz="2600" dirty="0">
                  <a:solidFill>
                    <a:srgbClr val="000000"/>
                  </a:solidFill>
                </a:endParaRPr>
              </a:p>
            </p:txBody>
          </p:sp>
        </mc:Choice>
        <mc:Fallback xmlns="">
          <p:sp>
            <p:nvSpPr>
              <p:cNvPr id="7" name="Text Placeholder 2">
                <a:extLst>
                  <a:ext uri="{FF2B5EF4-FFF2-40B4-BE49-F238E27FC236}">
                    <a16:creationId xmlns:a16="http://schemas.microsoft.com/office/drawing/2014/main" id="{E3C0A8BC-9C14-05C2-4D70-C554015E8469}"/>
                  </a:ext>
                </a:extLst>
              </p:cNvPr>
              <p:cNvSpPr txBox="1">
                <a:spLocks noRot="1" noChangeAspect="1" noMove="1" noResize="1" noEditPoints="1" noAdjustHandles="1" noChangeArrowheads="1" noChangeShapeType="1" noTextEdit="1"/>
              </p:cNvSpPr>
              <p:nvPr/>
            </p:nvSpPr>
            <p:spPr>
              <a:xfrm>
                <a:off x="777241" y="4556278"/>
                <a:ext cx="3773244" cy="658973"/>
              </a:xfrm>
              <a:prstGeom prst="rect">
                <a:avLst/>
              </a:prstGeom>
              <a:blipFill>
                <a:blip r:embed="rId5"/>
                <a:stretch>
                  <a:fillRect l="-3074" t="-82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Placeholder 2">
                <a:extLst>
                  <a:ext uri="{FF2B5EF4-FFF2-40B4-BE49-F238E27FC236}">
                    <a16:creationId xmlns:a16="http://schemas.microsoft.com/office/drawing/2014/main" id="{42CCEDCA-E9E7-AA74-674D-33024A6A2437}"/>
                  </a:ext>
                </a:extLst>
              </p:cNvPr>
              <p:cNvSpPr txBox="1">
                <a:spLocks/>
              </p:cNvSpPr>
              <p:nvPr/>
            </p:nvSpPr>
            <p:spPr>
              <a:xfrm>
                <a:off x="6095206" y="4556278"/>
                <a:ext cx="3609322" cy="6589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buFont typeface="+mj-lt"/>
                  <a:buAutoNum type="arabicPeriod" startAt="4"/>
                </a:pPr>
                <a:r>
                  <a:rPr lang="en-US" sz="2600" b="0" dirty="0">
                    <a:solidFill>
                      <a:srgbClr val="000000"/>
                    </a:solidFill>
                  </a:rPr>
                  <a:t> </a:t>
                </a:r>
                <a14:m>
                  <m:oMath xmlns:m="http://schemas.openxmlformats.org/officeDocument/2006/math">
                    <m:r>
                      <a:rPr lang="en-US" sz="2600" b="0" i="1" smtClean="0">
                        <a:solidFill>
                          <a:srgbClr val="000000"/>
                        </a:solidFill>
                        <a:latin typeface="Cambria Math" panose="02040503050406030204" pitchFamily="18" charset="0"/>
                      </a:rPr>
                      <m:t>−3</m:t>
                    </m:r>
                    <m:r>
                      <a:rPr lang="en-US" sz="2600" b="0" i="1" smtClean="0">
                        <a:solidFill>
                          <a:srgbClr val="000000"/>
                        </a:solidFill>
                        <a:latin typeface="Cambria Math" panose="02040503050406030204" pitchFamily="18" charset="0"/>
                      </a:rPr>
                      <m:t>𝑥</m:t>
                    </m:r>
                    <m:r>
                      <a:rPr lang="en-US" sz="2600" b="0" i="1" smtClean="0">
                        <a:solidFill>
                          <a:srgbClr val="000000"/>
                        </a:solidFill>
                        <a:latin typeface="Cambria Math" panose="02040503050406030204" pitchFamily="18" charset="0"/>
                      </a:rPr>
                      <m:t>+8</m:t>
                    </m:r>
                    <m:r>
                      <a:rPr lang="en-US" sz="2600" b="0" i="1" smtClean="0">
                        <a:solidFill>
                          <a:srgbClr val="000000"/>
                        </a:solidFill>
                        <a:latin typeface="Cambria Math" panose="02040503050406030204" pitchFamily="18" charset="0"/>
                      </a:rPr>
                      <m:t>𝑦</m:t>
                    </m:r>
                    <m:r>
                      <a:rPr lang="en-US" sz="2600" b="0" i="1" smtClean="0">
                        <a:solidFill>
                          <a:srgbClr val="000000"/>
                        </a:solidFill>
                        <a:latin typeface="Cambria Math" panose="02040503050406030204" pitchFamily="18" charset="0"/>
                      </a:rPr>
                      <m:t>=10</m:t>
                    </m:r>
                  </m:oMath>
                </a14:m>
                <a:endParaRPr lang="en-US" sz="2600" dirty="0">
                  <a:solidFill>
                    <a:srgbClr val="000000"/>
                  </a:solidFill>
                </a:endParaRPr>
              </a:p>
            </p:txBody>
          </p:sp>
        </mc:Choice>
        <mc:Fallback xmlns="">
          <p:sp>
            <p:nvSpPr>
              <p:cNvPr id="8" name="Text Placeholder 2">
                <a:extLst>
                  <a:ext uri="{FF2B5EF4-FFF2-40B4-BE49-F238E27FC236}">
                    <a16:creationId xmlns:a16="http://schemas.microsoft.com/office/drawing/2014/main" id="{42CCEDCA-E9E7-AA74-674D-33024A6A2437}"/>
                  </a:ext>
                </a:extLst>
              </p:cNvPr>
              <p:cNvSpPr txBox="1">
                <a:spLocks noRot="1" noChangeAspect="1" noMove="1" noResize="1" noEditPoints="1" noAdjustHandles="1" noChangeArrowheads="1" noChangeShapeType="1" noTextEdit="1"/>
              </p:cNvSpPr>
              <p:nvPr/>
            </p:nvSpPr>
            <p:spPr>
              <a:xfrm>
                <a:off x="6095206" y="4556278"/>
                <a:ext cx="3609322" cy="658973"/>
              </a:xfrm>
              <a:prstGeom prst="rect">
                <a:avLst/>
              </a:prstGeom>
              <a:blipFill>
                <a:blip r:embed="rId6"/>
                <a:stretch>
                  <a:fillRect l="-3209" t="-8257"/>
                </a:stretch>
              </a:blipFill>
            </p:spPr>
            <p:txBody>
              <a:bodyPr/>
              <a:lstStyle/>
              <a:p>
                <a:r>
                  <a:rPr lang="en-US">
                    <a:noFill/>
                  </a:rPr>
                  <a:t> </a:t>
                </a:r>
              </a:p>
            </p:txBody>
          </p:sp>
        </mc:Fallback>
      </mc:AlternateContent>
    </p:spTree>
    <p:extLst>
      <p:ext uri="{BB962C8B-B14F-4D97-AF65-F5344CB8AC3E}">
        <p14:creationId xmlns:p14="http://schemas.microsoft.com/office/powerpoint/2010/main" val="2582309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CF19ED-EB54-2053-8BFC-91BD6113A4E0}"/>
              </a:ext>
            </a:extLst>
          </p:cNvPr>
          <p:cNvSpPr>
            <a:spLocks noGrp="1"/>
          </p:cNvSpPr>
          <p:nvPr>
            <p:ph type="title"/>
          </p:nvPr>
        </p:nvSpPr>
        <p:spPr/>
        <p:txBody>
          <a:bodyPr/>
          <a:lstStyle/>
          <a:p>
            <a:r>
              <a:rPr lang="en-US" b="1" dirty="0"/>
              <a:t>Jump In the Line </a:t>
            </a:r>
            <a:r>
              <a:rPr lang="en-US" sz="2000" b="1" dirty="0">
                <a:solidFill>
                  <a:schemeClr val="bg1"/>
                </a:solidFill>
              </a:rPr>
              <a:t>(2 of 3)</a:t>
            </a:r>
            <a:endParaRPr lang="en-US" dirty="0">
              <a:solidFill>
                <a:schemeClr val="bg1"/>
              </a:solidFill>
            </a:endParaRPr>
          </a:p>
        </p:txBody>
      </p:sp>
      <p:sp>
        <p:nvSpPr>
          <p:cNvPr id="2" name="Text Placeholder 1">
            <a:extLst>
              <a:ext uri="{FF2B5EF4-FFF2-40B4-BE49-F238E27FC236}">
                <a16:creationId xmlns:a16="http://schemas.microsoft.com/office/drawing/2014/main" id="{580608E9-9191-76A8-2684-97A9D38867F6}"/>
              </a:ext>
            </a:extLst>
          </p:cNvPr>
          <p:cNvSpPr>
            <a:spLocks noGrp="1"/>
          </p:cNvSpPr>
          <p:nvPr>
            <p:ph type="body" sz="quarter" idx="10"/>
          </p:nvPr>
        </p:nvSpPr>
        <p:spPr>
          <a:xfrm>
            <a:off x="777240" y="1616529"/>
            <a:ext cx="10590848" cy="4160327"/>
          </a:xfrm>
        </p:spPr>
        <p:txBody>
          <a:bodyPr/>
          <a:lstStyle/>
          <a:p>
            <a:r>
              <a:rPr lang="en-US" b="0" i="0" u="none" strike="noStrike" dirty="0">
                <a:solidFill>
                  <a:srgbClr val="000000"/>
                </a:solidFill>
                <a:effectLst/>
              </a:rPr>
              <a:t>Let’s summarize our learning from the Getting Started!</a:t>
            </a:r>
            <a:endParaRPr lang="en-US" dirty="0">
              <a:solidFill>
                <a:srgbClr val="000000"/>
              </a:solidFill>
            </a:endParaRPr>
          </a:p>
          <a:p>
            <a:endParaRPr lang="en-US" dirty="0"/>
          </a:p>
        </p:txBody>
      </p:sp>
      <p:pic>
        <p:nvPicPr>
          <p:cNvPr id="5" name="Picture 4">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632128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7A27-F591-3AF5-7DE3-D65EDD16C5A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EF7741-7E0B-5C7F-7593-7823C1FFDA3A}"/>
              </a:ext>
            </a:extLst>
          </p:cNvPr>
          <p:cNvSpPr>
            <a:spLocks noGrp="1"/>
          </p:cNvSpPr>
          <p:nvPr>
            <p:ph type="title"/>
          </p:nvPr>
        </p:nvSpPr>
        <p:spPr/>
        <p:txBody>
          <a:bodyPr/>
          <a:lstStyle/>
          <a:p>
            <a:r>
              <a:rPr lang="en-US" b="1" dirty="0"/>
              <a:t>Jump In the Line </a:t>
            </a:r>
            <a:r>
              <a:rPr lang="en-US" sz="2000" b="1" dirty="0">
                <a:solidFill>
                  <a:schemeClr val="bg1"/>
                </a:solidFill>
              </a:rPr>
              <a:t>(3 of 3)</a:t>
            </a:r>
            <a:endParaRPr lang="en-US" dirty="0">
              <a:solidFill>
                <a:schemeClr val="bg1"/>
              </a:solidFill>
            </a:endParaRPr>
          </a:p>
        </p:txBody>
      </p:sp>
    </p:spTree>
    <p:extLst>
      <p:ext uri="{BB962C8B-B14F-4D97-AF65-F5344CB8AC3E}">
        <p14:creationId xmlns:p14="http://schemas.microsoft.com/office/powerpoint/2010/main" val="3632785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342900"/>
            <a:ext cx="10514013" cy="342900"/>
          </a:xfrm>
          <a:prstGeom prst="rect">
            <a:avLst/>
          </a:prstGeom>
        </p:spPr>
        <p:txBody>
          <a:bodyPr anchor="b"/>
          <a:lstStyle/>
          <a:p>
            <a:r>
              <a:rPr lang="en-US" sz="2000" dirty="0">
                <a:solidFill>
                  <a:schemeClr val="bg2"/>
                </a:solidFill>
              </a:rPr>
              <a:t>Activity 5.1</a:t>
            </a:r>
          </a:p>
        </p:txBody>
      </p:sp>
      <p:sp>
        <p:nvSpPr>
          <p:cNvPr id="3" name="Text Placeholder 2" descr="25 to 30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1873"/>
            <a:ext cx="863947" cy="795338"/>
          </a:xfrm>
        </p:spPr>
        <p:txBody>
          <a:bodyPr/>
          <a:lstStyle/>
          <a:p>
            <a:r>
              <a:rPr lang="en-US" b="1" dirty="0"/>
              <a:t>25–30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5.1</a:t>
            </a:r>
          </a:p>
        </p:txBody>
      </p:sp>
    </p:spTree>
    <p:extLst>
      <p:ext uri="{BB962C8B-B14F-4D97-AF65-F5344CB8AC3E}">
        <p14:creationId xmlns:p14="http://schemas.microsoft.com/office/powerpoint/2010/main" val="425045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C1C9-FFFC-9F65-F833-486F41CB1C8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A0AB5A9-D584-51C7-B955-DAA1F9C7EB67}"/>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(1 of 10)</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DB041376-B7BD-78B3-7016-2069BFEAFE79}"/>
                  </a:ext>
                </a:extLst>
              </p:cNvPr>
              <p:cNvSpPr txBox="1">
                <a:spLocks/>
              </p:cNvSpPr>
              <p:nvPr/>
            </p:nvSpPr>
            <p:spPr>
              <a:xfrm>
                <a:off x="777240" y="1583871"/>
                <a:ext cx="10791553" cy="512454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As you learned previously, the slope-intercept form of a linear equation is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𝑚𝑥</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𝑏</m:t>
                    </m:r>
                  </m:oMath>
                </a14:m>
                <a:r>
                  <a:rPr lang="en-US" sz="2800" dirty="0">
                    <a:solidFill>
                      <a:srgbClr val="000000"/>
                    </a:solidFill>
                  </a:rPr>
                  <a:t>, where </a:t>
                </a:r>
                <a:r>
                  <a:rPr lang="en-US" sz="2800" i="1" dirty="0">
                    <a:solidFill>
                      <a:srgbClr val="000000"/>
                    </a:solidFill>
                  </a:rPr>
                  <a:t>m</a:t>
                </a:r>
                <a:r>
                  <a:rPr lang="en-US" sz="2800" dirty="0">
                    <a:solidFill>
                      <a:srgbClr val="000000"/>
                    </a:solidFill>
                  </a:rPr>
                  <a:t> is the slope of the line and (0, </a:t>
                </a:r>
                <a:r>
                  <a:rPr lang="en-US" sz="2800" i="1" dirty="0">
                    <a:solidFill>
                      <a:srgbClr val="000000"/>
                    </a:solidFill>
                  </a:rPr>
                  <a:t>b</a:t>
                </a:r>
                <a:r>
                  <a:rPr lang="en-US" sz="2800" dirty="0">
                    <a:solidFill>
                      <a:srgbClr val="000000"/>
                    </a:solidFill>
                  </a:rPr>
                  <a:t>) is the </a:t>
                </a:r>
                <a:r>
                  <a:rPr lang="en-US" sz="2800" i="1" dirty="0">
                    <a:solidFill>
                      <a:srgbClr val="000000"/>
                    </a:solidFill>
                  </a:rPr>
                  <a:t>y</a:t>
                </a:r>
                <a:r>
                  <a:rPr lang="en-US" sz="2800" dirty="0">
                    <a:solidFill>
                      <a:srgbClr val="000000"/>
                    </a:solidFill>
                  </a:rPr>
                  <a:t>-intercept. You can use the equation to graph the relationship without first creating a table of values using the </a:t>
                </a:r>
                <a:r>
                  <a:rPr lang="en-US" sz="2800" i="1" dirty="0">
                    <a:solidFill>
                      <a:srgbClr val="000000"/>
                    </a:solidFill>
                  </a:rPr>
                  <a:t>y</a:t>
                </a:r>
                <a:r>
                  <a:rPr lang="en-US" sz="2800" dirty="0">
                    <a:solidFill>
                      <a:srgbClr val="000000"/>
                    </a:solidFill>
                  </a:rPr>
                  <a:t>-intercept and the slope. </a:t>
                </a:r>
              </a:p>
              <a:p>
                <a:pPr marL="0" indent="0">
                  <a:spcAft>
                    <a:spcPts val="1200"/>
                  </a:spcAft>
                  <a:buNone/>
                </a:pPr>
                <a:r>
                  <a:rPr lang="en-US" sz="2800" dirty="0">
                    <a:solidFill>
                      <a:srgbClr val="000000"/>
                    </a:solidFill>
                  </a:rPr>
                  <a:t>Douglas is giving away tickets to a concert that he won from a radio station contest. Currently, he has 10 tickets remaining. He gives a pair</a:t>
                </a:r>
                <a:br>
                  <a:rPr lang="en-US" sz="2800" dirty="0">
                    <a:solidFill>
                      <a:srgbClr val="000000"/>
                    </a:solidFill>
                  </a:rPr>
                </a:br>
                <a:r>
                  <a:rPr lang="en-US" sz="2800" dirty="0">
                    <a:solidFill>
                      <a:srgbClr val="000000"/>
                    </a:solidFill>
                  </a:rPr>
                  <a:t>of tickets to each person who asks for them.</a:t>
                </a:r>
              </a:p>
              <a:p>
                <a:pPr marL="0" indent="0">
                  <a:buNone/>
                </a:pPr>
                <a:r>
                  <a:rPr lang="en-US" sz="2800" dirty="0">
                    <a:solidFill>
                      <a:srgbClr val="000000"/>
                    </a:solidFill>
                  </a:rPr>
                  <a:t>This situation can be modeled by the equation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=−2</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+10</m:t>
                    </m:r>
                  </m:oMath>
                </a14:m>
                <a:r>
                  <a:rPr lang="en-US" sz="2800" dirty="0">
                    <a:solidFill>
                      <a:srgbClr val="000000"/>
                    </a:solidFill>
                  </a:rPr>
                  <a:t>, where </a:t>
                </a:r>
                <a:r>
                  <a:rPr lang="en-US" sz="2800" i="1" dirty="0">
                    <a:solidFill>
                      <a:srgbClr val="000000"/>
                    </a:solidFill>
                  </a:rPr>
                  <a:t>x</a:t>
                </a:r>
                <a:r>
                  <a:rPr lang="en-US" sz="2800" dirty="0">
                    <a:solidFill>
                      <a:srgbClr val="000000"/>
                    </a:solidFill>
                  </a:rPr>
                  <a:t> represents the number of people who request tickets and </a:t>
                </a:r>
                <a:r>
                  <a:rPr lang="en-US" sz="2800" i="1" dirty="0">
                    <a:solidFill>
                      <a:srgbClr val="000000"/>
                    </a:solidFill>
                  </a:rPr>
                  <a:t>y</a:t>
                </a:r>
                <a:r>
                  <a:rPr lang="en-US" sz="2800" dirty="0">
                    <a:solidFill>
                      <a:srgbClr val="000000"/>
                    </a:solidFill>
                  </a:rPr>
                  <a:t> represents the number of tickets available.</a:t>
                </a:r>
              </a:p>
            </p:txBody>
          </p:sp>
        </mc:Choice>
        <mc:Fallback xmlns="">
          <p:sp>
            <p:nvSpPr>
              <p:cNvPr id="2" name="Text Placeholder 2">
                <a:extLst>
                  <a:ext uri="{FF2B5EF4-FFF2-40B4-BE49-F238E27FC236}">
                    <a16:creationId xmlns:a16="http://schemas.microsoft.com/office/drawing/2014/main" id="{DB041376-B7BD-78B3-7016-2069BFEAFE79}"/>
                  </a:ext>
                </a:extLst>
              </p:cNvPr>
              <p:cNvSpPr txBox="1">
                <a:spLocks noRot="1" noChangeAspect="1" noMove="1" noResize="1" noEditPoints="1" noAdjustHandles="1" noChangeArrowheads="1" noChangeShapeType="1" noTextEdit="1"/>
              </p:cNvSpPr>
              <p:nvPr/>
            </p:nvSpPr>
            <p:spPr>
              <a:xfrm>
                <a:off x="777240" y="1583871"/>
                <a:ext cx="10791553" cy="5124549"/>
              </a:xfrm>
              <a:prstGeom prst="rect">
                <a:avLst/>
              </a:prstGeom>
              <a:blipFill>
                <a:blip r:embed="rId3"/>
                <a:stretch>
                  <a:fillRect l="-1186" t="-1190" r="-1582"/>
                </a:stretch>
              </a:blipFill>
            </p:spPr>
            <p:txBody>
              <a:bodyPr/>
              <a:lstStyle/>
              <a:p>
                <a:r>
                  <a:rPr lang="en-US">
                    <a:noFill/>
                  </a:rPr>
                  <a:t> </a:t>
                </a:r>
              </a:p>
            </p:txBody>
          </p:sp>
        </mc:Fallback>
      </mc:AlternateContent>
    </p:spTree>
    <p:extLst>
      <p:ext uri="{BB962C8B-B14F-4D97-AF65-F5344CB8AC3E}">
        <p14:creationId xmlns:p14="http://schemas.microsoft.com/office/powerpoint/2010/main" val="1013618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9AA66-81E0-EF1E-03C1-EBFF269FB38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425E7B-C1EE-9D19-7337-300BBED4939B}"/>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(2 of 10)</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754ABCE6-BEE6-01A3-4ECF-F5DF25A59CEB}"/>
                  </a:ext>
                </a:extLst>
              </p:cNvPr>
              <p:cNvSpPr txBox="1">
                <a:spLocks/>
              </p:cNvSpPr>
              <p:nvPr/>
            </p:nvSpPr>
            <p:spPr>
              <a:xfrm>
                <a:off x="777240" y="1387929"/>
                <a:ext cx="9367221" cy="53204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To graph the equation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=−2</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+10</m:t>
                    </m:r>
                  </m:oMath>
                </a14:m>
                <a:r>
                  <a:rPr lang="en-US" sz="2800" dirty="0">
                    <a:solidFill>
                      <a:srgbClr val="000000"/>
                    </a:solidFill>
                  </a:rPr>
                  <a:t>, you will first plot the</a:t>
                </a:r>
                <a:br>
                  <a:rPr lang="en-US" sz="2800" dirty="0">
                    <a:solidFill>
                      <a:srgbClr val="000000"/>
                    </a:solidFill>
                  </a:rPr>
                </a:br>
                <a:r>
                  <a:rPr lang="en-US" sz="2800" i="1" dirty="0">
                    <a:solidFill>
                      <a:srgbClr val="000000"/>
                    </a:solidFill>
                  </a:rPr>
                  <a:t>y</a:t>
                </a:r>
                <a:r>
                  <a:rPr lang="en-US" sz="2800" dirty="0">
                    <a:solidFill>
                      <a:srgbClr val="000000"/>
                    </a:solidFill>
                  </a:rPr>
                  <a:t>-intercept, (0, 10), and then use the slope, </a:t>
                </a:r>
                <a14:m>
                  <m:oMath xmlns:m="http://schemas.openxmlformats.org/officeDocument/2006/math">
                    <m:r>
                      <a:rPr lang="en-US" sz="2800" i="1">
                        <a:solidFill>
                          <a:srgbClr val="000000"/>
                        </a:solidFill>
                        <a:latin typeface="Cambria Math" panose="02040503050406030204" pitchFamily="18" charset="0"/>
                      </a:rPr>
                      <m:t>−2</m:t>
                    </m:r>
                  </m:oMath>
                </a14:m>
                <a:r>
                  <a:rPr lang="en-US" sz="2800" dirty="0">
                    <a:solidFill>
                      <a:srgbClr val="000000"/>
                    </a:solidFill>
                  </a:rPr>
                  <a:t>, to plot two more points. Remember, slope describes the steepness and direction of a line. Slope is the ratio of the change in </a:t>
                </a:r>
                <a:r>
                  <a:rPr lang="en-US" sz="2800" i="1" dirty="0">
                    <a:solidFill>
                      <a:srgbClr val="000000"/>
                    </a:solidFill>
                  </a:rPr>
                  <a:t>y</a:t>
                </a:r>
                <a:r>
                  <a:rPr lang="en-US" sz="2800" dirty="0">
                    <a:solidFill>
                      <a:srgbClr val="000000"/>
                    </a:solidFill>
                  </a:rPr>
                  <a:t>-values to the change in </a:t>
                </a:r>
                <a:r>
                  <a:rPr lang="en-US" sz="2800" i="1" dirty="0">
                    <a:solidFill>
                      <a:srgbClr val="000000"/>
                    </a:solidFill>
                  </a:rPr>
                  <a:t>x</a:t>
                </a:r>
                <a:r>
                  <a:rPr lang="en-US" sz="2800" dirty="0">
                    <a:solidFill>
                      <a:srgbClr val="000000"/>
                    </a:solidFill>
                  </a:rPr>
                  <a:t>-values, commonly referred to as rise over run. In this equation, you can think of </a:t>
                </a:r>
                <a14:m>
                  <m:oMath xmlns:m="http://schemas.openxmlformats.org/officeDocument/2006/math">
                    <m:r>
                      <a:rPr lang="en-US" sz="2800" b="0" i="1" smtClean="0">
                        <a:solidFill>
                          <a:srgbClr val="000000"/>
                        </a:solidFill>
                        <a:latin typeface="Cambria Math" panose="02040503050406030204" pitchFamily="18" charset="0"/>
                      </a:rPr>
                      <m:t>𝑚</m:t>
                    </m:r>
                    <m:r>
                      <a:rPr lang="en-US" sz="2800" b="0" i="1" smtClean="0">
                        <a:solidFill>
                          <a:srgbClr val="000000"/>
                        </a:solidFill>
                        <a:latin typeface="Cambria Math" panose="02040503050406030204" pitchFamily="18" charset="0"/>
                      </a:rPr>
                      <m:t>=−2 </m:t>
                    </m:r>
                  </m:oMath>
                </a14:m>
                <a:r>
                  <a:rPr lang="en-US" sz="2800" dirty="0">
                    <a:solidFill>
                      <a:srgbClr val="000000"/>
                    </a:solidFill>
                  </a:rPr>
                  <a:t>as two different ratios: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−2</m:t>
                        </m:r>
                      </m:num>
                      <m:den>
                        <m:r>
                          <a:rPr lang="en-US" sz="2800" b="0" i="1" smtClean="0">
                            <a:solidFill>
                              <a:srgbClr val="000000"/>
                            </a:solidFill>
                            <a:latin typeface="Cambria Math" panose="02040503050406030204" pitchFamily="18" charset="0"/>
                          </a:rPr>
                          <m:t>1</m:t>
                        </m:r>
                      </m:den>
                    </m:f>
                  </m:oMath>
                </a14:m>
                <a:r>
                  <a:rPr lang="en-US" sz="2800" dirty="0">
                    <a:solidFill>
                      <a:srgbClr val="000000"/>
                    </a:solidFill>
                  </a:rPr>
                  <a:t>  or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num>
                      <m:den>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1</m:t>
                        </m:r>
                      </m:den>
                    </m:f>
                  </m:oMath>
                </a14:m>
                <a:r>
                  <a:rPr lang="en-US" sz="2800" dirty="0">
                    <a:solidFill>
                      <a:srgbClr val="000000"/>
                    </a:solidFill>
                  </a:rPr>
                  <a:t>. The sign of the number tells you the direction to go to plot a new point. The ratio </a:t>
                </a:r>
                <a14:m>
                  <m:oMath xmlns:m="http://schemas.openxmlformats.org/officeDocument/2006/math">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num>
                      <m:den>
                        <m:r>
                          <a:rPr lang="en-US" sz="2800" i="1">
                            <a:solidFill>
                              <a:srgbClr val="000000"/>
                            </a:solidFill>
                            <a:latin typeface="Cambria Math" panose="02040503050406030204" pitchFamily="18" charset="0"/>
                          </a:rPr>
                          <m:t>1</m:t>
                        </m:r>
                      </m:den>
                    </m:f>
                    <m:r>
                      <a:rPr lang="en-US" sz="2800" i="1">
                        <a:solidFill>
                          <a:srgbClr val="000000"/>
                        </a:solidFill>
                        <a:latin typeface="Cambria Math" panose="02040503050406030204" pitchFamily="18" charset="0"/>
                      </a:rPr>
                      <m:t> </m:t>
                    </m:r>
                    <m:r>
                      <a:rPr lang="en-US" sz="2800" b="0" i="0" smtClean="0">
                        <a:solidFill>
                          <a:srgbClr val="000000"/>
                        </a:solidFill>
                        <a:latin typeface="Cambria Math" panose="02040503050406030204" pitchFamily="18" charset="0"/>
                      </a:rPr>
                      <m:t> </m:t>
                    </m:r>
                  </m:oMath>
                </a14:m>
                <a:r>
                  <a:rPr lang="en-US" sz="2800" dirty="0">
                    <a:solidFill>
                      <a:srgbClr val="000000"/>
                    </a:solidFill>
                  </a:rPr>
                  <a:t>has a negative rise and</a:t>
                </a:r>
                <a:br>
                  <a:rPr lang="en-US" sz="2800" dirty="0">
                    <a:solidFill>
                      <a:srgbClr val="000000"/>
                    </a:solidFill>
                  </a:rPr>
                </a:br>
                <a:r>
                  <a:rPr lang="en-US" sz="2800" dirty="0">
                    <a:solidFill>
                      <a:srgbClr val="000000"/>
                    </a:solidFill>
                  </a:rPr>
                  <a:t>a positive run. It is interpreted as down 2 units and to the right 1 unit. The ratio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2</m:t>
                        </m:r>
                      </m:num>
                      <m:den>
                        <m:r>
                          <a:rPr lang="en-US" sz="2800" b="0" i="1" smtClean="0">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1</m:t>
                        </m:r>
                      </m:den>
                    </m:f>
                    <m:r>
                      <a:rPr lang="en-US" sz="2800" i="1">
                        <a:solidFill>
                          <a:srgbClr val="000000"/>
                        </a:solidFill>
                        <a:latin typeface="Cambria Math" panose="02040503050406030204" pitchFamily="18" charset="0"/>
                      </a:rPr>
                      <m:t> </m:t>
                    </m:r>
                  </m:oMath>
                </a14:m>
                <a:r>
                  <a:rPr lang="en-US" sz="2800" dirty="0">
                    <a:solidFill>
                      <a:srgbClr val="000000"/>
                    </a:solidFill>
                  </a:rPr>
                  <a:t> has a positive rise and a negative run. It is interpreted as up 2 units and to the left 1 unit.</a:t>
                </a:r>
              </a:p>
            </p:txBody>
          </p:sp>
        </mc:Choice>
        <mc:Fallback xmlns="">
          <p:sp>
            <p:nvSpPr>
              <p:cNvPr id="2" name="Text Placeholder 2">
                <a:extLst>
                  <a:ext uri="{FF2B5EF4-FFF2-40B4-BE49-F238E27FC236}">
                    <a16:creationId xmlns:a16="http://schemas.microsoft.com/office/drawing/2014/main" id="{754ABCE6-BEE6-01A3-4ECF-F5DF25A59CEB}"/>
                  </a:ext>
                </a:extLst>
              </p:cNvPr>
              <p:cNvSpPr txBox="1">
                <a:spLocks noRot="1" noChangeAspect="1" noMove="1" noResize="1" noEditPoints="1" noAdjustHandles="1" noChangeArrowheads="1" noChangeShapeType="1" noTextEdit="1"/>
              </p:cNvSpPr>
              <p:nvPr/>
            </p:nvSpPr>
            <p:spPr>
              <a:xfrm>
                <a:off x="777240" y="1387929"/>
                <a:ext cx="9367221" cy="5320491"/>
              </a:xfrm>
              <a:prstGeom prst="rect">
                <a:avLst/>
              </a:prstGeom>
              <a:blipFill>
                <a:blip r:embed="rId3"/>
                <a:stretch>
                  <a:fillRect l="-1367" t="-1147" r="-1888" b="-389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3D8AB17C-AA3A-18ED-FD6E-3242BF5E4C76}"/>
              </a:ext>
            </a:extLst>
          </p:cNvPr>
          <p:cNvSpPr txBox="1"/>
          <p:nvPr/>
        </p:nvSpPr>
        <p:spPr>
          <a:xfrm>
            <a:off x="10144461" y="1571465"/>
            <a:ext cx="1710466" cy="2135121"/>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A rule of thumb when graphing</a:t>
            </a:r>
            <a:br>
              <a:rPr lang="en-US" sz="2000" dirty="0">
                <a:solidFill>
                  <a:srgbClr val="000000"/>
                </a:solidFill>
              </a:rPr>
            </a:br>
            <a:r>
              <a:rPr lang="en-US" sz="2000" dirty="0">
                <a:solidFill>
                  <a:srgbClr val="000000"/>
                </a:solidFill>
              </a:rPr>
              <a:t>a line is to plot at least three points.</a:t>
            </a:r>
          </a:p>
        </p:txBody>
      </p:sp>
    </p:spTree>
    <p:extLst>
      <p:ext uri="{BB962C8B-B14F-4D97-AF65-F5344CB8AC3E}">
        <p14:creationId xmlns:p14="http://schemas.microsoft.com/office/powerpoint/2010/main" val="750486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A0A57-E42B-46CA-5EFA-9E803FBC31C6}"/>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D36F833-79E1-B3E1-BE69-055F7A58C8F1}"/>
              </a:ext>
              <a:ext uri="{C183D7F6-B498-43B3-948B-1728B52AA6E4}">
                <adec:decorative xmlns:adec="http://schemas.microsoft.com/office/drawing/2017/decorative" val="1"/>
              </a:ext>
            </a:extLst>
          </p:cNvPr>
          <p:cNvSpPr/>
          <p:nvPr/>
        </p:nvSpPr>
        <p:spPr>
          <a:xfrm>
            <a:off x="1182150" y="1969145"/>
            <a:ext cx="10105811" cy="4453219"/>
          </a:xfrm>
          <a:prstGeom prst="roundRect">
            <a:avLst/>
          </a:prstGeom>
          <a:solidFill>
            <a:schemeClr val="bg1"/>
          </a:solidFill>
          <a:ln w="50800" cmpd="dbl">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9C9396B-BEEF-2233-D775-E7488E505F6B}"/>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(3 of 10)</a:t>
            </a:r>
          </a:p>
        </p:txBody>
      </p:sp>
      <p:pic>
        <p:nvPicPr>
          <p:cNvPr id="7" name="Picture 6" descr="Worked Example">
            <a:extLst>
              <a:ext uri="{FF2B5EF4-FFF2-40B4-BE49-F238E27FC236}">
                <a16:creationId xmlns:a16="http://schemas.microsoft.com/office/drawing/2014/main" id="{E4DBB93D-1A16-6C73-CF65-E4A1BAD2AD1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899188" y="1755766"/>
            <a:ext cx="2758679" cy="426757"/>
          </a:xfrm>
          <a:prstGeom prst="rect">
            <a:avLst/>
          </a:prstGeom>
        </p:spPr>
      </p:pic>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AA67F1F5-DF32-783C-70A8-F1FFDF3A5605}"/>
                  </a:ext>
                </a:extLst>
              </p:cNvPr>
              <p:cNvSpPr txBox="1">
                <a:spLocks/>
              </p:cNvSpPr>
              <p:nvPr/>
            </p:nvSpPr>
            <p:spPr>
              <a:xfrm>
                <a:off x="1780833" y="2253345"/>
                <a:ext cx="6497752" cy="381272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a:solidFill>
                      <a:srgbClr val="000000"/>
                    </a:solidFill>
                  </a:rPr>
                  <a:t>Graph </a:t>
                </a:r>
                <a14:m>
                  <m:oMath xmlns:m="http://schemas.openxmlformats.org/officeDocument/2006/math">
                    <m:r>
                      <a:rPr lang="en-US" sz="2400" b="0" i="1" smtClean="0">
                        <a:solidFill>
                          <a:srgbClr val="000000"/>
                        </a:solidFill>
                        <a:latin typeface="Cambria Math" panose="02040503050406030204" pitchFamily="18" charset="0"/>
                      </a:rPr>
                      <m:t>𝑦</m:t>
                    </m:r>
                    <m:r>
                      <a:rPr lang="en-US" sz="2400" b="0" i="1" smtClean="0">
                        <a:solidFill>
                          <a:srgbClr val="000000"/>
                        </a:solidFill>
                        <a:latin typeface="Cambria Math" panose="02040503050406030204" pitchFamily="18" charset="0"/>
                      </a:rPr>
                      <m:t>=−2</m:t>
                    </m:r>
                    <m:r>
                      <a:rPr lang="en-US" sz="2400" b="0" i="1" smtClean="0">
                        <a:solidFill>
                          <a:srgbClr val="000000"/>
                        </a:solidFill>
                        <a:latin typeface="Cambria Math" panose="02040503050406030204" pitchFamily="18" charset="0"/>
                      </a:rPr>
                      <m:t>𝑥</m:t>
                    </m:r>
                    <m:r>
                      <a:rPr lang="en-US" sz="2400" b="0" i="1" smtClean="0">
                        <a:solidFill>
                          <a:srgbClr val="000000"/>
                        </a:solidFill>
                        <a:latin typeface="Cambria Math" panose="02040503050406030204" pitchFamily="18" charset="0"/>
                      </a:rPr>
                      <m:t>+10</m:t>
                    </m:r>
                  </m:oMath>
                </a14:m>
                <a:r>
                  <a:rPr lang="en-US" sz="2400" dirty="0">
                    <a:solidFill>
                      <a:srgbClr val="000000"/>
                    </a:solidFill>
                  </a:rPr>
                  <a:t>. </a:t>
                </a:r>
              </a:p>
              <a:p>
                <a:pPr marL="0" indent="0">
                  <a:buNone/>
                </a:pPr>
                <a:r>
                  <a:rPr lang="en-US" sz="2400" dirty="0">
                    <a:solidFill>
                      <a:srgbClr val="000000"/>
                    </a:solidFill>
                  </a:rPr>
                  <a:t>Begin by plotting the </a:t>
                </a:r>
                <a:r>
                  <a:rPr lang="en-US" sz="2400" i="1" dirty="0">
                    <a:solidFill>
                      <a:srgbClr val="000000"/>
                    </a:solidFill>
                  </a:rPr>
                  <a:t>y</a:t>
                </a:r>
                <a:r>
                  <a:rPr lang="en-US" sz="2400" dirty="0">
                    <a:solidFill>
                      <a:srgbClr val="000000"/>
                    </a:solidFill>
                  </a:rPr>
                  <a:t>-intercept, (0, 10). </a:t>
                </a:r>
              </a:p>
              <a:p>
                <a:pPr marL="0" indent="0">
                  <a:buNone/>
                </a:pPr>
                <a:r>
                  <a:rPr lang="en-US" sz="2400" dirty="0">
                    <a:solidFill>
                      <a:srgbClr val="000000"/>
                    </a:solidFill>
                  </a:rPr>
                  <a:t>Use the slope and count from the </a:t>
                </a:r>
                <a:r>
                  <a:rPr lang="en-US" sz="2400" i="1" dirty="0">
                    <a:solidFill>
                      <a:srgbClr val="000000"/>
                    </a:solidFill>
                  </a:rPr>
                  <a:t>y</a:t>
                </a:r>
                <a:r>
                  <a:rPr lang="en-US" sz="2400" dirty="0">
                    <a:solidFill>
                      <a:srgbClr val="000000"/>
                    </a:solidFill>
                  </a:rPr>
                  <a:t>-intercept to graph two more points on the line.</a:t>
                </a:r>
              </a:p>
              <a:p>
                <a:r>
                  <a:rPr lang="en-US" sz="2400" dirty="0">
                    <a:solidFill>
                      <a:srgbClr val="000000"/>
                    </a:solidFill>
                  </a:rPr>
                  <a:t>For </a:t>
                </a:r>
                <a14:m>
                  <m:oMath xmlns:m="http://schemas.openxmlformats.org/officeDocument/2006/math">
                    <m:r>
                      <a:rPr lang="en-US" sz="2400" b="0" i="1" smtClean="0">
                        <a:solidFill>
                          <a:srgbClr val="000000"/>
                        </a:solidFill>
                        <a:latin typeface="Cambria Math" panose="02040503050406030204" pitchFamily="18" charset="0"/>
                      </a:rPr>
                      <m:t>𝑚</m:t>
                    </m:r>
                    <m:r>
                      <a:rPr lang="en-US" sz="2400" b="0" i="1"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−2</m:t>
                        </m:r>
                      </m:num>
                      <m:den>
                        <m:r>
                          <a:rPr lang="en-US" sz="2400" b="0" i="1" smtClean="0">
                            <a:solidFill>
                              <a:srgbClr val="000000"/>
                            </a:solidFill>
                            <a:latin typeface="Cambria Math" panose="02040503050406030204" pitchFamily="18" charset="0"/>
                          </a:rPr>
                          <m:t>1</m:t>
                        </m:r>
                      </m:den>
                    </m:f>
                  </m:oMath>
                </a14:m>
                <a:r>
                  <a:rPr lang="en-US" sz="2400" dirty="0">
                    <a:solidFill>
                      <a:srgbClr val="000000"/>
                    </a:solidFill>
                  </a:rPr>
                  <a:t>, go down 2 units and to the right</a:t>
                </a:r>
                <a:br>
                  <a:rPr lang="en-US" sz="2400" dirty="0">
                    <a:solidFill>
                      <a:srgbClr val="000000"/>
                    </a:solidFill>
                  </a:rPr>
                </a:br>
                <a:r>
                  <a:rPr lang="en-US" sz="2400" dirty="0">
                    <a:solidFill>
                      <a:srgbClr val="000000"/>
                    </a:solidFill>
                  </a:rPr>
                  <a:t>1 unit.</a:t>
                </a:r>
              </a:p>
              <a:p>
                <a:r>
                  <a:rPr lang="en-US" sz="2400" dirty="0">
                    <a:solidFill>
                      <a:srgbClr val="000000"/>
                    </a:solidFill>
                  </a:rPr>
                  <a:t>For </a:t>
                </a:r>
                <a14:m>
                  <m:oMath xmlns:m="http://schemas.openxmlformats.org/officeDocument/2006/math">
                    <m:r>
                      <a:rPr lang="en-US" sz="2400" b="0" i="1" smtClean="0">
                        <a:solidFill>
                          <a:srgbClr val="000000"/>
                        </a:solidFill>
                        <a:latin typeface="Cambria Math" panose="02040503050406030204" pitchFamily="18" charset="0"/>
                      </a:rPr>
                      <m:t>𝑚</m:t>
                    </m:r>
                    <m:r>
                      <a:rPr lang="en-US" sz="2400" b="0" i="1" smtClean="0">
                        <a:solidFill>
                          <a:srgbClr val="000000"/>
                        </a:solidFill>
                        <a:latin typeface="Cambria Math" panose="02040503050406030204" pitchFamily="18" charset="0"/>
                      </a:rPr>
                      <m:t>=</m:t>
                    </m:r>
                    <m:f>
                      <m:fPr>
                        <m:ctrlPr>
                          <a:rPr lang="en-US" sz="2400" b="0" i="1" smtClean="0">
                            <a:solidFill>
                              <a:srgbClr val="000000"/>
                            </a:solidFill>
                            <a:latin typeface="Cambria Math" panose="02040503050406030204" pitchFamily="18" charset="0"/>
                          </a:rPr>
                        </m:ctrlPr>
                      </m:fPr>
                      <m:num>
                        <m:r>
                          <a:rPr lang="en-US" sz="2400" b="0" i="1" smtClean="0">
                            <a:solidFill>
                              <a:srgbClr val="000000"/>
                            </a:solidFill>
                            <a:latin typeface="Cambria Math" panose="02040503050406030204" pitchFamily="18" charset="0"/>
                          </a:rPr>
                          <m:t>2</m:t>
                        </m:r>
                      </m:num>
                      <m:den>
                        <m:r>
                          <a:rPr lang="en-US" sz="2400" b="0" i="1" smtClean="0">
                            <a:solidFill>
                              <a:srgbClr val="000000"/>
                            </a:solidFill>
                            <a:latin typeface="Cambria Math" panose="02040503050406030204" pitchFamily="18" charset="0"/>
                          </a:rPr>
                          <m:t>−1</m:t>
                        </m:r>
                      </m:den>
                    </m:f>
                  </m:oMath>
                </a14:m>
                <a:r>
                  <a:rPr lang="en-US" sz="2400" dirty="0">
                    <a:solidFill>
                      <a:srgbClr val="000000"/>
                    </a:solidFill>
                  </a:rPr>
                  <a:t>, go up 2 units and to the left 1 unit.</a:t>
                </a:r>
              </a:p>
              <a:p>
                <a:pPr marL="0" indent="0">
                  <a:buNone/>
                </a:pPr>
                <a:r>
                  <a:rPr lang="en-US" sz="2400" dirty="0">
                    <a:solidFill>
                      <a:srgbClr val="000000"/>
                    </a:solidFill>
                  </a:rPr>
                  <a:t>Connect the points to form a straight line.</a:t>
                </a:r>
              </a:p>
            </p:txBody>
          </p:sp>
        </mc:Choice>
        <mc:Fallback xmlns="">
          <p:sp>
            <p:nvSpPr>
              <p:cNvPr id="5" name="Text Placeholder 2">
                <a:extLst>
                  <a:ext uri="{FF2B5EF4-FFF2-40B4-BE49-F238E27FC236}">
                    <a16:creationId xmlns:a16="http://schemas.microsoft.com/office/drawing/2014/main" id="{AA67F1F5-DF32-783C-70A8-F1FFDF3A5605}"/>
                  </a:ext>
                </a:extLst>
              </p:cNvPr>
              <p:cNvSpPr txBox="1">
                <a:spLocks noRot="1" noChangeAspect="1" noMove="1" noResize="1" noEditPoints="1" noAdjustHandles="1" noChangeArrowheads="1" noChangeShapeType="1" noTextEdit="1"/>
              </p:cNvSpPr>
              <p:nvPr/>
            </p:nvSpPr>
            <p:spPr>
              <a:xfrm>
                <a:off x="1780833" y="2253345"/>
                <a:ext cx="6497752" cy="3812722"/>
              </a:xfrm>
              <a:prstGeom prst="rect">
                <a:avLst/>
              </a:prstGeom>
              <a:blipFill>
                <a:blip r:embed="rId4"/>
                <a:stretch>
                  <a:fillRect l="-1407" t="-1280" b="-2560"/>
                </a:stretch>
              </a:blipFill>
            </p:spPr>
            <p:txBody>
              <a:bodyPr/>
              <a:lstStyle/>
              <a:p>
                <a:r>
                  <a:rPr lang="en-US">
                    <a:noFill/>
                  </a:rPr>
                  <a:t> </a:t>
                </a:r>
              </a:p>
            </p:txBody>
          </p:sp>
        </mc:Fallback>
      </mc:AlternateContent>
      <p:pic>
        <p:nvPicPr>
          <p:cNvPr id="18" name="Picture 17" descr="A graph of a line on the coordinate plane. The x axis represents number of people who request tickets, and the y axis represents number of tickets remaining. The line falls from left to right through the points (negative 1, 12) and (0, 10) and (1, 8). Between two consecutive points, the vertical distance is 2 and the horizontal distance is 1.">
            <a:extLst>
              <a:ext uri="{FF2B5EF4-FFF2-40B4-BE49-F238E27FC236}">
                <a16:creationId xmlns:a16="http://schemas.microsoft.com/office/drawing/2014/main" id="{15B03A7E-6FEE-53CC-F32B-2330758B983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8262257" y="2601366"/>
            <a:ext cx="2551020" cy="3188775"/>
          </a:xfrm>
          <a:prstGeom prst="rect">
            <a:avLst/>
          </a:prstGeom>
        </p:spPr>
      </p:pic>
    </p:spTree>
    <p:extLst>
      <p:ext uri="{BB962C8B-B14F-4D97-AF65-F5344CB8AC3E}">
        <p14:creationId xmlns:p14="http://schemas.microsoft.com/office/powerpoint/2010/main" val="885489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4380F-A220-D203-716D-18F844F3D6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EABC25-9969-3E66-373E-DF1E6751943A}"/>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(4 of 10)</a:t>
            </a:r>
          </a:p>
        </p:txBody>
      </p: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77A8627F-5657-5662-D443-BB733F5992F7}"/>
                  </a:ext>
                </a:extLst>
              </p:cNvPr>
              <p:cNvSpPr txBox="1">
                <a:spLocks/>
              </p:cNvSpPr>
              <p:nvPr/>
            </p:nvSpPr>
            <p:spPr>
              <a:xfrm>
                <a:off x="3339192" y="1489105"/>
                <a:ext cx="5852871" cy="148910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Use the equations to graph each line.</a:t>
                </a:r>
              </a:p>
              <a:p>
                <a:pPr marL="514350" indent="-514350">
                  <a:buFont typeface="+mj-lt"/>
                  <a:buAutoNum type="arabicPeriod"/>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3</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77A8627F-5657-5662-D443-BB733F5992F7}"/>
                  </a:ext>
                </a:extLst>
              </p:cNvPr>
              <p:cNvSpPr txBox="1">
                <a:spLocks noRot="1" noChangeAspect="1" noMove="1" noResize="1" noEditPoints="1" noAdjustHandles="1" noChangeArrowheads="1" noChangeShapeType="1" noTextEdit="1"/>
              </p:cNvSpPr>
              <p:nvPr/>
            </p:nvSpPr>
            <p:spPr>
              <a:xfrm>
                <a:off x="3339192" y="1489105"/>
                <a:ext cx="5852871" cy="1489104"/>
              </a:xfrm>
              <a:prstGeom prst="rect">
                <a:avLst/>
              </a:prstGeom>
              <a:blipFill>
                <a:blip r:embed="rId3"/>
                <a:stretch>
                  <a:fillRect l="-2188" t="-3673"/>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ECCA42A-0B50-968F-79A7-A77BBF87EA16}"/>
              </a:ext>
            </a:extLst>
          </p:cNvPr>
          <p:cNvSpPr txBox="1"/>
          <p:nvPr/>
        </p:nvSpPr>
        <p:spPr>
          <a:xfrm>
            <a:off x="777240" y="3924009"/>
            <a:ext cx="2135738" cy="1771650"/>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Think about the direction of the  line before you  start graphing.</a:t>
            </a:r>
          </a:p>
        </p:txBody>
      </p:sp>
      <p:pic>
        <p:nvPicPr>
          <p:cNvPr id="7" name="Picture 6" descr="A coordinate plane.">
            <a:extLst>
              <a:ext uri="{FF2B5EF4-FFF2-40B4-BE49-F238E27FC236}">
                <a16:creationId xmlns:a16="http://schemas.microsoft.com/office/drawing/2014/main" id="{30B30CBC-B295-8E46-4413-9FA22AF8CD2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118978" y="2978209"/>
            <a:ext cx="3952456" cy="3663251"/>
          </a:xfrm>
          <a:prstGeom prst="rect">
            <a:avLst/>
          </a:prstGeom>
        </p:spPr>
      </p:pic>
    </p:spTree>
    <p:extLst>
      <p:ext uri="{BB962C8B-B14F-4D97-AF65-F5344CB8AC3E}">
        <p14:creationId xmlns:p14="http://schemas.microsoft.com/office/powerpoint/2010/main" val="2670571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24031-8A82-E0BF-D45A-B6BE248B81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E7C0A2-2B72-5151-AD40-00146768E342}"/>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(5 of 10)</a:t>
            </a:r>
          </a:p>
        </p:txBody>
      </p: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09D02AB1-B4C8-39C8-D5AD-1D5793C0A904}"/>
                  </a:ext>
                </a:extLst>
              </p:cNvPr>
              <p:cNvSpPr txBox="1">
                <a:spLocks/>
              </p:cNvSpPr>
              <p:nvPr/>
            </p:nvSpPr>
            <p:spPr>
              <a:xfrm>
                <a:off x="777241" y="1608364"/>
                <a:ext cx="5361342" cy="91802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 </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5</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0" smtClean="0">
                        <a:solidFill>
                          <a:srgbClr val="000000"/>
                        </a:solidFill>
                        <a:latin typeface="Cambria Math" panose="02040503050406030204" pitchFamily="18" charset="0"/>
                      </a:rPr>
                      <m:t>3</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09D02AB1-B4C8-39C8-D5AD-1D5793C0A904}"/>
                  </a:ext>
                </a:extLst>
              </p:cNvPr>
              <p:cNvSpPr txBox="1">
                <a:spLocks noRot="1" noChangeAspect="1" noMove="1" noResize="1" noEditPoints="1" noAdjustHandles="1" noChangeArrowheads="1" noChangeShapeType="1" noTextEdit="1"/>
              </p:cNvSpPr>
              <p:nvPr/>
            </p:nvSpPr>
            <p:spPr>
              <a:xfrm>
                <a:off x="777241" y="1608364"/>
                <a:ext cx="5361342" cy="918021"/>
              </a:xfrm>
              <a:prstGeom prst="rect">
                <a:avLst/>
              </a:prstGeom>
              <a:blipFill>
                <a:blip r:embed="rId3"/>
                <a:stretch>
                  <a:fillRect l="-2389"/>
                </a:stretch>
              </a:blipFill>
            </p:spPr>
            <p:txBody>
              <a:bodyPr/>
              <a:lstStyle/>
              <a:p>
                <a:r>
                  <a:rPr lang="en-US">
                    <a:noFill/>
                  </a:rPr>
                  <a:t> </a:t>
                </a:r>
              </a:p>
            </p:txBody>
          </p:sp>
        </mc:Fallback>
      </mc:AlternateContent>
      <p:pic>
        <p:nvPicPr>
          <p:cNvPr id="7" name="Picture 6" descr="A coordinate plane.">
            <a:extLst>
              <a:ext uri="{FF2B5EF4-FFF2-40B4-BE49-F238E27FC236}">
                <a16:creationId xmlns:a16="http://schemas.microsoft.com/office/drawing/2014/main" id="{8B1407E5-5E34-365C-DFCC-CE7D16400C8F}"/>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481684" y="2499990"/>
            <a:ext cx="3952456" cy="3663251"/>
          </a:xfrm>
          <a:prstGeom prst="rect">
            <a:avLst/>
          </a:prstGeom>
        </p:spPr>
      </p:pic>
    </p:spTree>
    <p:extLst>
      <p:ext uri="{BB962C8B-B14F-4D97-AF65-F5344CB8AC3E}">
        <p14:creationId xmlns:p14="http://schemas.microsoft.com/office/powerpoint/2010/main" val="108603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E025D-3361-3CC0-1A1D-F06FC337089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FC5BD8-D424-0016-9DAC-A2CEE00D038E}"/>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(6 of 10)</a:t>
            </a:r>
          </a:p>
        </p:txBody>
      </p: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B9F31AEF-0835-CF9A-9EE0-E5ECA822E4F5}"/>
                  </a:ext>
                </a:extLst>
              </p:cNvPr>
              <p:cNvSpPr txBox="1">
                <a:spLocks/>
              </p:cNvSpPr>
              <p:nvPr/>
            </p:nvSpPr>
            <p:spPr>
              <a:xfrm>
                <a:off x="777241" y="1602062"/>
                <a:ext cx="5361342" cy="6431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 </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=10</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r>
                      <a:rPr lang="en-US" sz="2800" b="0" i="0" smtClean="0">
                        <a:solidFill>
                          <a:srgbClr val="000000"/>
                        </a:solidFill>
                        <a:latin typeface="Cambria Math" panose="02040503050406030204" pitchFamily="18" charset="0"/>
                      </a:rPr>
                      <m:t>25</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B9F31AEF-0835-CF9A-9EE0-E5ECA822E4F5}"/>
                  </a:ext>
                </a:extLst>
              </p:cNvPr>
              <p:cNvSpPr txBox="1">
                <a:spLocks noRot="1" noChangeAspect="1" noMove="1" noResize="1" noEditPoints="1" noAdjustHandles="1" noChangeArrowheads="1" noChangeShapeType="1" noTextEdit="1"/>
              </p:cNvSpPr>
              <p:nvPr/>
            </p:nvSpPr>
            <p:spPr>
              <a:xfrm>
                <a:off x="777241" y="1602062"/>
                <a:ext cx="5361342" cy="643117"/>
              </a:xfrm>
              <a:prstGeom prst="rect">
                <a:avLst/>
              </a:prstGeom>
              <a:blipFill>
                <a:blip r:embed="rId3"/>
                <a:stretch>
                  <a:fillRect l="-2389" t="-10476" b="-8571"/>
                </a:stretch>
              </a:blipFill>
            </p:spPr>
            <p:txBody>
              <a:bodyPr/>
              <a:lstStyle/>
              <a:p>
                <a:r>
                  <a:rPr lang="en-US">
                    <a:noFill/>
                  </a:rPr>
                  <a:t> </a:t>
                </a:r>
              </a:p>
            </p:txBody>
          </p:sp>
        </mc:Fallback>
      </mc:AlternateContent>
      <p:pic>
        <p:nvPicPr>
          <p:cNvPr id="6" name="Picture 5" descr="A coordinate plane.">
            <a:extLst>
              <a:ext uri="{FF2B5EF4-FFF2-40B4-BE49-F238E27FC236}">
                <a16:creationId xmlns:a16="http://schemas.microsoft.com/office/drawing/2014/main" id="{47E9D599-4CB9-767A-990E-60022A1F551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470564" y="2358136"/>
            <a:ext cx="4162786" cy="3733361"/>
          </a:xfrm>
          <a:prstGeom prst="rect">
            <a:avLst/>
          </a:prstGeom>
        </p:spPr>
      </p:pic>
      <p:sp>
        <p:nvSpPr>
          <p:cNvPr id="8" name="TextBox 7">
            <a:extLst>
              <a:ext uri="{FF2B5EF4-FFF2-40B4-BE49-F238E27FC236}">
                <a16:creationId xmlns:a16="http://schemas.microsoft.com/office/drawing/2014/main" id="{A58EA86C-DCEC-07C3-B54C-A99EA35FC5C9}"/>
              </a:ext>
            </a:extLst>
          </p:cNvPr>
          <p:cNvSpPr txBox="1"/>
          <p:nvPr/>
        </p:nvSpPr>
        <p:spPr>
          <a:xfrm>
            <a:off x="8988150" y="1576230"/>
            <a:ext cx="2425022" cy="904375"/>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Use a straightedge to draw your lines.</a:t>
            </a:r>
          </a:p>
        </p:txBody>
      </p:sp>
      <p:sp>
        <p:nvSpPr>
          <p:cNvPr id="9" name="Speech Bubble: Rectangle with Corners Rounded 1">
            <a:extLst>
              <a:ext uri="{FF2B5EF4-FFF2-40B4-BE49-F238E27FC236}">
                <a16:creationId xmlns:a16="http://schemas.microsoft.com/office/drawing/2014/main" id="{A7273084-995C-E0EE-09D9-DDF5CB2BE217}"/>
              </a:ext>
            </a:extLst>
          </p:cNvPr>
          <p:cNvSpPr/>
          <p:nvPr/>
        </p:nvSpPr>
        <p:spPr>
          <a:xfrm>
            <a:off x="8966495" y="3243261"/>
            <a:ext cx="2468331" cy="3037890"/>
          </a:xfrm>
          <a:prstGeom prst="wedgeRoundRectCallout">
            <a:avLst>
              <a:gd name="adj1" fmla="val -34041"/>
              <a:gd name="adj2" fmla="val -59481"/>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Should each graph have arrows or points on each end? When using a point, how do you know whether to use an open circle or a  closed circle?</a:t>
            </a:r>
          </a:p>
        </p:txBody>
      </p:sp>
    </p:spTree>
    <p:extLst>
      <p:ext uri="{BB962C8B-B14F-4D97-AF65-F5344CB8AC3E}">
        <p14:creationId xmlns:p14="http://schemas.microsoft.com/office/powerpoint/2010/main" val="2233772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392B3-D596-AECE-7564-D03DBFEC8CC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91AA5B-D1CF-A654-A49E-005C1A53CAF6}"/>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(7 of 10)</a:t>
            </a:r>
          </a:p>
        </p:txBody>
      </p:sp>
      <p:sp>
        <p:nvSpPr>
          <p:cNvPr id="5" name="Text Placeholder 2">
            <a:extLst>
              <a:ext uri="{FF2B5EF4-FFF2-40B4-BE49-F238E27FC236}">
                <a16:creationId xmlns:a16="http://schemas.microsoft.com/office/drawing/2014/main" id="{6E696D11-E485-F813-9354-D36360FE1998}"/>
              </a:ext>
            </a:extLst>
          </p:cNvPr>
          <p:cNvSpPr txBox="1">
            <a:spLocks/>
          </p:cNvSpPr>
          <p:nvPr/>
        </p:nvSpPr>
        <p:spPr>
          <a:xfrm>
            <a:off x="854471" y="1379764"/>
            <a:ext cx="9808086" cy="204923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Write an equation for each problem situation. Then, graph</a:t>
            </a:r>
            <a:br>
              <a:rPr lang="en-US" sz="2800" dirty="0">
                <a:solidFill>
                  <a:srgbClr val="000000"/>
                </a:solidFill>
              </a:rPr>
            </a:br>
            <a:r>
              <a:rPr lang="en-US" sz="2800" dirty="0">
                <a:solidFill>
                  <a:srgbClr val="000000"/>
                </a:solidFill>
              </a:rPr>
              <a:t>each equation.</a:t>
            </a:r>
          </a:p>
          <a:p>
            <a:pPr marL="514350" indent="-514350">
              <a:buFont typeface="+mj-lt"/>
              <a:buAutoNum type="arabicPeriod" startAt="4"/>
            </a:pPr>
            <a:r>
              <a:rPr lang="en-US" sz="2800" dirty="0">
                <a:solidFill>
                  <a:srgbClr val="000000"/>
                </a:solidFill>
              </a:rPr>
              <a:t>Avery wants to buy a virtual reality headset. He already</a:t>
            </a:r>
            <a:br>
              <a:rPr lang="en-US" sz="2800" dirty="0">
                <a:solidFill>
                  <a:srgbClr val="000000"/>
                </a:solidFill>
              </a:rPr>
            </a:br>
            <a:r>
              <a:rPr lang="en-US" sz="2800" dirty="0">
                <a:solidFill>
                  <a:srgbClr val="000000"/>
                </a:solidFill>
              </a:rPr>
              <a:t>has $30 saved and plans to mow lawns for $15 each.</a:t>
            </a:r>
          </a:p>
        </p:txBody>
      </p:sp>
      <p:pic>
        <p:nvPicPr>
          <p:cNvPr id="7" name="Picture 6" descr="A coordinate plane.">
            <a:extLst>
              <a:ext uri="{FF2B5EF4-FFF2-40B4-BE49-F238E27FC236}">
                <a16:creationId xmlns:a16="http://schemas.microsoft.com/office/drawing/2014/main" id="{5432F828-0746-FA89-2D3E-78CFC50B36CF}"/>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4041888" y="3540095"/>
            <a:ext cx="4106636" cy="3216729"/>
          </a:xfrm>
          <a:prstGeom prst="rect">
            <a:avLst/>
          </a:prstGeom>
        </p:spPr>
      </p:pic>
      <p:sp>
        <p:nvSpPr>
          <p:cNvPr id="8" name="TextBox 7">
            <a:extLst>
              <a:ext uri="{FF2B5EF4-FFF2-40B4-BE49-F238E27FC236}">
                <a16:creationId xmlns:a16="http://schemas.microsoft.com/office/drawing/2014/main" id="{45C778A5-307D-D949-B3C7-993BE749788A}"/>
              </a:ext>
            </a:extLst>
          </p:cNvPr>
          <p:cNvSpPr txBox="1"/>
          <p:nvPr/>
        </p:nvSpPr>
        <p:spPr>
          <a:xfrm>
            <a:off x="9074902" y="4208688"/>
            <a:ext cx="2425022" cy="1691562"/>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Remember to</a:t>
            </a:r>
            <a:br>
              <a:rPr lang="en-US" sz="2000" dirty="0">
                <a:solidFill>
                  <a:srgbClr val="000000"/>
                </a:solidFill>
              </a:rPr>
            </a:br>
            <a:r>
              <a:rPr lang="en-US" sz="2000" dirty="0">
                <a:solidFill>
                  <a:srgbClr val="000000"/>
                </a:solidFill>
              </a:rPr>
              <a:t>label the axes with the appropriate variable quantities.</a:t>
            </a:r>
          </a:p>
        </p:txBody>
      </p:sp>
    </p:spTree>
    <p:extLst>
      <p:ext uri="{BB962C8B-B14F-4D97-AF65-F5344CB8AC3E}">
        <p14:creationId xmlns:p14="http://schemas.microsoft.com/office/powerpoint/2010/main" val="1596592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FE01E-BA47-493D-F6E8-7862CA6A46E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8080EC-1385-C813-83C4-0AD377C6714D}"/>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(8 of 10)</a:t>
            </a:r>
          </a:p>
        </p:txBody>
      </p:sp>
      <p:sp>
        <p:nvSpPr>
          <p:cNvPr id="5" name="Text Placeholder 2">
            <a:extLst>
              <a:ext uri="{FF2B5EF4-FFF2-40B4-BE49-F238E27FC236}">
                <a16:creationId xmlns:a16="http://schemas.microsoft.com/office/drawing/2014/main" id="{276AC7A8-937F-614A-4F0A-C2AEBBE698CA}"/>
              </a:ext>
            </a:extLst>
          </p:cNvPr>
          <p:cNvSpPr txBox="1">
            <a:spLocks/>
          </p:cNvSpPr>
          <p:nvPr/>
        </p:nvSpPr>
        <p:spPr>
          <a:xfrm>
            <a:off x="777240" y="1600200"/>
            <a:ext cx="9893481" cy="115209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dirty="0">
                <a:solidFill>
                  <a:srgbClr val="000000"/>
                </a:solidFill>
              </a:rPr>
              <a:t>A scuba diver is 130 feet below sea level. The diver ascends at a constant rate of 20 feet per minute.</a:t>
            </a:r>
          </a:p>
        </p:txBody>
      </p:sp>
      <p:pic>
        <p:nvPicPr>
          <p:cNvPr id="6" name="Picture 5" descr="A coordinate plane.">
            <a:extLst>
              <a:ext uri="{FF2B5EF4-FFF2-40B4-BE49-F238E27FC236}">
                <a16:creationId xmlns:a16="http://schemas.microsoft.com/office/drawing/2014/main" id="{63A507BB-F5BA-A296-F23B-881BDD4AE65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952023" y="2596887"/>
            <a:ext cx="4373117" cy="3803472"/>
          </a:xfrm>
          <a:prstGeom prst="rect">
            <a:avLst/>
          </a:prstGeom>
        </p:spPr>
      </p:pic>
    </p:spTree>
    <p:extLst>
      <p:ext uri="{BB962C8B-B14F-4D97-AF65-F5344CB8AC3E}">
        <p14:creationId xmlns:p14="http://schemas.microsoft.com/office/powerpoint/2010/main" val="2074852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41359-D318-1CFD-200E-C172F88B44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4ACACA-A6D5-E759-1A13-2360BC16F1B8}"/>
              </a:ext>
            </a:extLst>
          </p:cNvPr>
          <p:cNvSpPr>
            <a:spLocks noGrp="1"/>
          </p:cNvSpPr>
          <p:nvPr>
            <p:ph type="title"/>
          </p:nvPr>
        </p:nvSpPr>
        <p:spPr/>
        <p:txBody>
          <a:bodyPr/>
          <a:lstStyle/>
          <a:p>
            <a:r>
              <a:rPr lang="en-US" b="1" dirty="0"/>
              <a:t>Using Slope-Intercept Form to Graph a Line </a:t>
            </a:r>
            <a:r>
              <a:rPr lang="en-US" b="1" dirty="0">
                <a:solidFill>
                  <a:schemeClr val="bg1"/>
                </a:solidFill>
              </a:rPr>
              <a:t>(9 of 10)</a:t>
            </a:r>
            <a:endParaRPr lang="en-US" dirty="0">
              <a:solidFill>
                <a:schemeClr val="bg1"/>
              </a:solidFill>
            </a:endParaRPr>
          </a:p>
        </p:txBody>
      </p:sp>
      <p:sp>
        <p:nvSpPr>
          <p:cNvPr id="2" name="Text Placeholder 1">
            <a:extLst>
              <a:ext uri="{FF2B5EF4-FFF2-40B4-BE49-F238E27FC236}">
                <a16:creationId xmlns:a16="http://schemas.microsoft.com/office/drawing/2014/main" id="{AA8C68BE-9DF6-8D67-44E5-56524DEE4036}"/>
              </a:ext>
            </a:extLst>
          </p:cNvPr>
          <p:cNvSpPr>
            <a:spLocks noGrp="1"/>
          </p:cNvSpPr>
          <p:nvPr>
            <p:ph type="body" sz="quarter" idx="10"/>
          </p:nvPr>
        </p:nvSpPr>
        <p:spPr>
          <a:xfrm>
            <a:off x="852488" y="1652588"/>
            <a:ext cx="10266961" cy="4124268"/>
          </a:xfrm>
        </p:spPr>
        <p:txBody>
          <a:bodyPr/>
          <a:lstStyle/>
          <a:p>
            <a:pPr marL="0" indent="0" algn="l">
              <a:buNone/>
            </a:pPr>
            <a:r>
              <a:rPr lang="en-US" sz="2800" b="0" i="0" u="none" strike="noStrike" baseline="0" dirty="0">
                <a:solidFill>
                  <a:srgbClr val="000000"/>
                </a:solidFill>
              </a:rPr>
              <a:t>Let’s revisit the Essential </a:t>
            </a:r>
            <a:r>
              <a:rPr lang="en-US" dirty="0">
                <a:solidFill>
                  <a:srgbClr val="000000"/>
                </a:solidFill>
              </a:rPr>
              <a:t>Q</a:t>
            </a:r>
            <a:r>
              <a:rPr lang="en-US" sz="2800" b="0" i="0" u="none" strike="noStrike" baseline="0" dirty="0">
                <a:solidFill>
                  <a:srgbClr val="000000"/>
                </a:solidFill>
              </a:rPr>
              <a:t>uestion and summarize our learning from Activity 5.1!</a:t>
            </a:r>
          </a:p>
          <a:p>
            <a:pPr marL="0" indent="0" algn="l">
              <a:buNone/>
            </a:pPr>
            <a:endParaRPr lang="en-US" dirty="0">
              <a:solidFill>
                <a:srgbClr val="000000"/>
              </a:solidFill>
            </a:endParaRPr>
          </a:p>
          <a:p>
            <a:pPr marL="0" indent="0" algn="l">
              <a:buNone/>
            </a:pPr>
            <a:endParaRPr lang="en-US" sz="2800" b="0" i="0" u="none" strike="noStrike" baseline="0" dirty="0">
              <a:solidFill>
                <a:srgbClr val="000000"/>
              </a:solidFill>
            </a:endParaRPr>
          </a:p>
          <a:p>
            <a:endParaRPr lang="en-US" b="1" dirty="0">
              <a:solidFill>
                <a:srgbClr val="000000"/>
              </a:solidFill>
            </a:endParaRPr>
          </a:p>
          <a:p>
            <a:r>
              <a:rPr lang="en-US" b="1" dirty="0">
                <a:solidFill>
                  <a:srgbClr val="000000"/>
                </a:solidFill>
              </a:rPr>
              <a:t>Essential Question: </a:t>
            </a:r>
            <a:r>
              <a:rPr lang="en-US" sz="2800" dirty="0">
                <a:solidFill>
                  <a:srgbClr val="000000"/>
                </a:solidFill>
              </a:rPr>
              <a:t>Is there a more efficient method to graphing a linear relationship? Can you use the equation of a linear relationship to create a  graphical representation?</a:t>
            </a:r>
          </a:p>
          <a:p>
            <a:endParaRPr lang="en-US" dirty="0"/>
          </a:p>
          <a:p>
            <a:endParaRPr lang="en-US" dirty="0">
              <a:solidFill>
                <a:srgbClr val="000000"/>
              </a:solidFill>
            </a:endParaRPr>
          </a:p>
        </p:txBody>
      </p:sp>
      <p:pic>
        <p:nvPicPr>
          <p:cNvPr id="3" name="Picture 2">
            <a:extLst>
              <a:ext uri="{FF2B5EF4-FFF2-40B4-BE49-F238E27FC236}">
                <a16:creationId xmlns:a16="http://schemas.microsoft.com/office/drawing/2014/main" id="{1D9AB348-6D31-825A-022A-C924AAC39AA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66688" y="372494"/>
            <a:ext cx="1501270" cy="518205"/>
          </a:xfrm>
          <a:prstGeom prst="rect">
            <a:avLst/>
          </a:prstGeom>
        </p:spPr>
      </p:pic>
    </p:spTree>
    <p:extLst>
      <p:ext uri="{BB962C8B-B14F-4D97-AF65-F5344CB8AC3E}">
        <p14:creationId xmlns:p14="http://schemas.microsoft.com/office/powerpoint/2010/main" val="35134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311D1-032C-B88C-1707-5CFF374CDDB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434BC3-FD62-B3CE-3671-F121D6D37CAA}"/>
              </a:ext>
            </a:extLst>
          </p:cNvPr>
          <p:cNvSpPr>
            <a:spLocks noGrp="1"/>
          </p:cNvSpPr>
          <p:nvPr>
            <p:ph type="title"/>
          </p:nvPr>
        </p:nvSpPr>
        <p:spPr/>
        <p:txBody>
          <a:bodyPr/>
          <a:lstStyle/>
          <a:p>
            <a:pPr algn="l"/>
            <a:r>
              <a:rPr lang="en-US" b="1" dirty="0"/>
              <a:t>Using Slope-Intercept Form to Graph a Line </a:t>
            </a:r>
            <a:r>
              <a:rPr lang="en-US" b="1" dirty="0">
                <a:solidFill>
                  <a:schemeClr val="bg1"/>
                </a:solidFill>
              </a:rPr>
              <a:t>(10 of 10)</a:t>
            </a:r>
          </a:p>
        </p:txBody>
      </p:sp>
      <p:sp>
        <p:nvSpPr>
          <p:cNvPr id="9" name="Text Placeholder 2">
            <a:extLst>
              <a:ext uri="{FF2B5EF4-FFF2-40B4-BE49-F238E27FC236}">
                <a16:creationId xmlns:a16="http://schemas.microsoft.com/office/drawing/2014/main" id="{ACFF7D6B-5A83-5CA8-382C-FA5C43C578B0}"/>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1534852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1DCE7-C4CE-CAC8-70AC-AEEEB3FDE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78AA4-1CC1-11F1-7BFB-5E12AE597868}"/>
              </a:ext>
            </a:extLst>
          </p:cNvPr>
          <p:cNvSpPr>
            <a:spLocks noGrp="1"/>
          </p:cNvSpPr>
          <p:nvPr>
            <p:ph type="title" idx="4294967295"/>
          </p:nvPr>
        </p:nvSpPr>
        <p:spPr>
          <a:xfrm>
            <a:off x="838200" y="-310552"/>
            <a:ext cx="10514013" cy="310551"/>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B67D07E7-A752-8007-1F27-729508A9B04F}"/>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4207490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44D8C-D76E-6752-D62E-9113AAECC4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A1D78A-47B3-5F5A-4D78-1AA7425A07F4}"/>
              </a:ext>
            </a:extLst>
          </p:cNvPr>
          <p:cNvSpPr>
            <a:spLocks noGrp="1"/>
          </p:cNvSpPr>
          <p:nvPr>
            <p:ph type="title"/>
          </p:nvPr>
        </p:nvSpPr>
        <p:spPr/>
        <p:txBody>
          <a:bodyPr/>
          <a:lstStyle/>
          <a:p>
            <a:pPr algn="l"/>
            <a:r>
              <a:rPr lang="en-US" b="1" dirty="0"/>
              <a:t>Essential Question </a:t>
            </a:r>
            <a:r>
              <a:rPr lang="en-US" sz="2000" b="1" dirty="0">
                <a:solidFill>
                  <a:schemeClr val="bg1"/>
                </a:solidFill>
              </a:rPr>
              <a:t>(2 of 3)</a:t>
            </a:r>
          </a:p>
        </p:txBody>
      </p:sp>
      <p:sp>
        <p:nvSpPr>
          <p:cNvPr id="2" name="Text Placeholder 2">
            <a:extLst>
              <a:ext uri="{FF2B5EF4-FFF2-40B4-BE49-F238E27FC236}">
                <a16:creationId xmlns:a16="http://schemas.microsoft.com/office/drawing/2014/main" id="{236D68ED-CF87-2D02-0795-23ECC924669B}"/>
              </a:ext>
            </a:extLst>
          </p:cNvPr>
          <p:cNvSpPr txBox="1">
            <a:spLocks/>
          </p:cNvSpPr>
          <p:nvPr/>
        </p:nvSpPr>
        <p:spPr>
          <a:xfrm>
            <a:off x="777240" y="1608364"/>
            <a:ext cx="10220053" cy="435897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Is there a more efficient method to graphing a linear relationship? Can you use the equation of a linear relationship to create a  graphical representation?</a:t>
            </a:r>
          </a:p>
          <a:p>
            <a:endParaRPr lang="en-US" sz="2400" dirty="0"/>
          </a:p>
          <a:p>
            <a:pPr marL="0" indent="0" algn="l">
              <a:buNone/>
            </a:pPr>
            <a:endParaRPr lang="en-US" sz="2800" b="0" i="0" u="none" strike="noStrike" baseline="0" dirty="0">
              <a:solidFill>
                <a:srgbClr val="000000"/>
              </a:solidFill>
            </a:endParaRPr>
          </a:p>
        </p:txBody>
      </p:sp>
    </p:spTree>
    <p:extLst>
      <p:ext uri="{BB962C8B-B14F-4D97-AF65-F5344CB8AC3E}">
        <p14:creationId xmlns:p14="http://schemas.microsoft.com/office/powerpoint/2010/main" val="4214270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7405-4307-90E4-BCD9-418C75A6CD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ECB753-0C95-8A45-09C3-1A43D2D9937A}"/>
              </a:ext>
            </a:extLst>
          </p:cNvPr>
          <p:cNvSpPr>
            <a:spLocks noGrp="1"/>
          </p:cNvSpPr>
          <p:nvPr>
            <p:ph type="title" idx="4294967295"/>
          </p:nvPr>
        </p:nvSpPr>
        <p:spPr>
          <a:xfrm>
            <a:off x="838200" y="-362309"/>
            <a:ext cx="10514013" cy="362309"/>
          </a:xfrm>
          <a:prstGeom prst="rect">
            <a:avLst/>
          </a:prstGeom>
        </p:spPr>
        <p:txBody>
          <a:bodyPr anchor="b"/>
          <a:lstStyle/>
          <a:p>
            <a:r>
              <a:rPr lang="en-US" sz="2000" dirty="0">
                <a:solidFill>
                  <a:schemeClr val="bg2"/>
                </a:solidFill>
              </a:rPr>
              <a:t>Activity 5.2</a:t>
            </a:r>
          </a:p>
        </p:txBody>
      </p:sp>
      <p:sp>
        <p:nvSpPr>
          <p:cNvPr id="3" name="Text Placeholder 2" descr="15 to 20 minutes">
            <a:extLst>
              <a:ext uri="{FF2B5EF4-FFF2-40B4-BE49-F238E27FC236}">
                <a16:creationId xmlns:a16="http://schemas.microsoft.com/office/drawing/2014/main" id="{34CEFA25-EE06-38BF-B0AB-0832D4CF6BCC}"/>
              </a:ext>
            </a:extLst>
          </p:cNvPr>
          <p:cNvSpPr>
            <a:spLocks noGrp="1"/>
          </p:cNvSpPr>
          <p:nvPr>
            <p:ph type="body" sz="quarter" idx="12"/>
          </p:nvPr>
        </p:nvSpPr>
        <p:spPr>
          <a:xfrm>
            <a:off x="10614990" y="5780025"/>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05AD4CD9-B917-53D4-279A-7B81488E3B19}"/>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5.2</a:t>
            </a:r>
          </a:p>
        </p:txBody>
      </p:sp>
    </p:spTree>
    <p:extLst>
      <p:ext uri="{BB962C8B-B14F-4D97-AF65-F5344CB8AC3E}">
        <p14:creationId xmlns:p14="http://schemas.microsoft.com/office/powerpoint/2010/main" val="3623884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(1 of 8)</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1" y="1604512"/>
                <a:ext cx="10350834" cy="487159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In the previous lesson, you learned that the point-slope form of a linear equation is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m:t>
                    </m:r>
                    <m:sSub>
                      <m:sSubPr>
                        <m:ctrlPr>
                          <a:rPr lang="en-US" sz="2800" b="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𝑦</m:t>
                        </m:r>
                      </m:e>
                      <m:sub>
                        <m:r>
                          <a:rPr lang="en-US" sz="2800" b="0" i="1" smtClean="0">
                            <a:solidFill>
                              <a:srgbClr val="000000"/>
                            </a:solidFill>
                            <a:latin typeface="Cambria Math" panose="02040503050406030204" pitchFamily="18" charset="0"/>
                          </a:rPr>
                          <m:t>1</m:t>
                        </m:r>
                      </m:sub>
                    </m:sSub>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𝑚</m:t>
                    </m:r>
                    <m:d>
                      <m:dPr>
                        <m:ctrlPr>
                          <a:rPr lang="en-US" sz="2800" b="0" i="1" smtClean="0">
                            <a:solidFill>
                              <a:srgbClr val="000000"/>
                            </a:solidFill>
                            <a:latin typeface="Cambria Math" panose="02040503050406030204" pitchFamily="18" charset="0"/>
                          </a:rPr>
                        </m:ctrlPr>
                      </m:dPr>
                      <m:e>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m:t>
                        </m:r>
                        <m:sSub>
                          <m:sSubPr>
                            <m:ctrlPr>
                              <a:rPr lang="en-US" sz="2800" b="0" i="1" smtClean="0">
                                <a:solidFill>
                                  <a:srgbClr val="000000"/>
                                </a:solidFill>
                                <a:latin typeface="Cambria Math" panose="02040503050406030204" pitchFamily="18" charset="0"/>
                              </a:rPr>
                            </m:ctrlPr>
                          </m:sSubPr>
                          <m:e>
                            <m:r>
                              <a:rPr lang="en-US" sz="2800" b="0" i="1" smtClean="0">
                                <a:solidFill>
                                  <a:srgbClr val="000000"/>
                                </a:solidFill>
                                <a:latin typeface="Cambria Math" panose="02040503050406030204" pitchFamily="18" charset="0"/>
                              </a:rPr>
                              <m:t>𝑥</m:t>
                            </m:r>
                          </m:e>
                          <m:sub>
                            <m:r>
                              <a:rPr lang="en-US" sz="2800" b="0" i="1" smtClean="0">
                                <a:solidFill>
                                  <a:srgbClr val="000000"/>
                                </a:solidFill>
                                <a:latin typeface="Cambria Math" panose="02040503050406030204" pitchFamily="18" charset="0"/>
                              </a:rPr>
                              <m:t>1</m:t>
                            </m:r>
                          </m:sub>
                        </m:sSub>
                      </m:e>
                    </m:d>
                  </m:oMath>
                </a14:m>
                <a:r>
                  <a:rPr lang="en-US" sz="2800" dirty="0">
                    <a:solidFill>
                      <a:srgbClr val="000000"/>
                    </a:solidFill>
                  </a:rPr>
                  <a:t> where </a:t>
                </a:r>
                <a:r>
                  <a:rPr lang="en-US" sz="2800" i="1" dirty="0">
                    <a:solidFill>
                      <a:srgbClr val="000000"/>
                    </a:solidFill>
                  </a:rPr>
                  <a:t>m</a:t>
                </a:r>
                <a:r>
                  <a:rPr lang="en-US" sz="2800" dirty="0">
                    <a:solidFill>
                      <a:srgbClr val="000000"/>
                    </a:solidFill>
                  </a:rPr>
                  <a:t> is the slope of the line and </a:t>
                </a:r>
                <a14:m>
                  <m:oMath xmlns:m="http://schemas.openxmlformats.org/officeDocument/2006/math">
                    <m:r>
                      <a:rPr lang="en-US" sz="2800" b="0" i="0" smtClean="0">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oMath>
                </a14:m>
                <a:r>
                  <a:rPr lang="en-US" sz="2800" dirty="0">
                    <a:solidFill>
                      <a:srgbClr val="000000"/>
                    </a:solidFill>
                  </a:rPr>
                  <a:t>, </a:t>
                </a:r>
                <a14:m>
                  <m:oMath xmlns:m="http://schemas.openxmlformats.org/officeDocument/2006/math">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𝑦</m:t>
                        </m:r>
                      </m:e>
                      <m:sub>
                        <m:r>
                          <a:rPr lang="en-US" sz="2800" i="1">
                            <a:solidFill>
                              <a:srgbClr val="000000"/>
                            </a:solidFill>
                            <a:latin typeface="Cambria Math" panose="02040503050406030204" pitchFamily="18" charset="0"/>
                          </a:rPr>
                          <m:t>1</m:t>
                        </m:r>
                      </m:sub>
                    </m:sSub>
                    <m:r>
                      <a:rPr lang="en-US" sz="2800" b="0" i="1" smtClean="0">
                        <a:solidFill>
                          <a:srgbClr val="000000"/>
                        </a:solidFill>
                        <a:latin typeface="Cambria Math" panose="02040503050406030204" pitchFamily="18" charset="0"/>
                      </a:rPr>
                      <m:t>)</m:t>
                    </m:r>
                  </m:oMath>
                </a14:m>
                <a:r>
                  <a:rPr lang="en-US" sz="2800" dirty="0">
                    <a:solidFill>
                      <a:srgbClr val="000000"/>
                    </a:solidFill>
                  </a:rPr>
                  <a:t> is a point on the line. Use this form of a linear equation for the next problem situation.</a:t>
                </a:r>
              </a:p>
              <a:p>
                <a:pPr marL="0" indent="0">
                  <a:buNone/>
                </a:pPr>
                <a:endParaRPr lang="en-US" sz="2800" dirty="0">
                  <a:solidFill>
                    <a:srgbClr val="000000"/>
                  </a:solidFill>
                </a:endParaRPr>
              </a:p>
              <a:p>
                <a:pPr marL="0" indent="0">
                  <a:buNone/>
                </a:pPr>
                <a:r>
                  <a:rPr lang="en-US" sz="2800" dirty="0">
                    <a:solidFill>
                      <a:srgbClr val="000000"/>
                    </a:solidFill>
                  </a:rPr>
                  <a:t>The jazz band is selling tickets to raise money for new music stands. They already had some money in their account when they started selling tickets at $5.00 each. After selling 3 tickets, the band had a total of $50 in their account.</a:t>
                </a:r>
              </a:p>
              <a:p>
                <a:pPr marL="457200" indent="-457200">
                  <a:buFont typeface="+mj-lt"/>
                  <a:buAutoNum type="arabicPeriod" startAt="2"/>
                </a:pPr>
                <a:endParaRPr lang="en-US" sz="2400" dirty="0">
                  <a:solidFill>
                    <a:srgbClr val="000000"/>
                  </a:solidFill>
                </a:endParaRPr>
              </a:p>
              <a:p>
                <a:pPr marL="457200" indent="-457200">
                  <a:buFont typeface="+mj-lt"/>
                  <a:buAutoNum type="arabicPeriod" startAt="2"/>
                </a:pPr>
                <a:endParaRPr lang="en-US" sz="2400" dirty="0">
                  <a:solidFill>
                    <a:srgbClr val="000000"/>
                  </a:solidFill>
                </a:endParaRPr>
              </a:p>
              <a:p>
                <a:pPr marL="0" indent="0">
                  <a:buNone/>
                </a:pPr>
                <a:endParaRPr lang="en-US" sz="2400" dirty="0">
                  <a:solidFill>
                    <a:srgbClr val="000000"/>
                  </a:solidFill>
                </a:endParaRPr>
              </a:p>
              <a:p>
                <a:pPr marL="457200" indent="-457200">
                  <a:buFont typeface="+mj-lt"/>
                  <a:buAutoNum type="arabicPeriod"/>
                </a:pPr>
                <a:endParaRPr lang="en-US" sz="2400" dirty="0">
                  <a:solidFill>
                    <a:srgbClr val="000000"/>
                  </a:solidFill>
                </a:endParaRPr>
              </a:p>
              <a:p>
                <a:pPr marL="0" indent="0">
                  <a:buNone/>
                </a:pPr>
                <a:endParaRPr lang="en-US" sz="24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70C1E34C-7E62-1005-A795-8E05218D3CB1}"/>
                  </a:ext>
                </a:extLst>
              </p:cNvPr>
              <p:cNvSpPr txBox="1">
                <a:spLocks noRot="1" noChangeAspect="1" noMove="1" noResize="1" noEditPoints="1" noAdjustHandles="1" noChangeArrowheads="1" noChangeShapeType="1" noTextEdit="1"/>
              </p:cNvSpPr>
              <p:nvPr/>
            </p:nvSpPr>
            <p:spPr>
              <a:xfrm>
                <a:off x="777241" y="1604512"/>
                <a:ext cx="10350834" cy="4871591"/>
              </a:xfrm>
              <a:prstGeom prst="rect">
                <a:avLst/>
              </a:prstGeom>
              <a:blipFill>
                <a:blip r:embed="rId3"/>
                <a:stretch>
                  <a:fillRect l="-1237" t="-1126"/>
                </a:stretch>
              </a:blipFill>
            </p:spPr>
            <p:txBody>
              <a:bodyPr/>
              <a:lstStyle/>
              <a:p>
                <a:r>
                  <a:rPr lang="en-US">
                    <a:noFill/>
                  </a:rPr>
                  <a:t> </a:t>
                </a:r>
              </a:p>
            </p:txBody>
          </p:sp>
        </mc:Fallback>
      </mc:AlternateContent>
    </p:spTree>
    <p:extLst>
      <p:ext uri="{BB962C8B-B14F-4D97-AF65-F5344CB8AC3E}">
        <p14:creationId xmlns:p14="http://schemas.microsoft.com/office/powerpoint/2010/main" val="2064367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3BB37-A63B-BED2-34E2-4A8D5F5AB4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BC2423-DC2A-5BEE-B124-9630E68FB80D}"/>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(2 of 8)</a:t>
            </a:r>
          </a:p>
        </p:txBody>
      </p:sp>
      <p:sp>
        <p:nvSpPr>
          <p:cNvPr id="2" name="Text Placeholder 2">
            <a:extLst>
              <a:ext uri="{FF2B5EF4-FFF2-40B4-BE49-F238E27FC236}">
                <a16:creationId xmlns:a16="http://schemas.microsoft.com/office/drawing/2014/main" id="{6875DDB9-CDA4-D13A-D004-7DAA0A240284}"/>
              </a:ext>
            </a:extLst>
          </p:cNvPr>
          <p:cNvSpPr txBox="1">
            <a:spLocks/>
          </p:cNvSpPr>
          <p:nvPr/>
        </p:nvSpPr>
        <p:spPr>
          <a:xfrm>
            <a:off x="777240" y="1595886"/>
            <a:ext cx="9867756" cy="48802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indent="-517525">
              <a:spcAft>
                <a:spcPts val="600"/>
              </a:spcAft>
              <a:buFont typeface="+mj-lt"/>
              <a:buAutoNum type="arabicPeriod"/>
            </a:pPr>
            <a:r>
              <a:rPr lang="en-US" sz="2800" dirty="0">
                <a:solidFill>
                  <a:srgbClr val="000000"/>
                </a:solidFill>
              </a:rPr>
              <a:t>Let </a:t>
            </a:r>
            <a:r>
              <a:rPr lang="en-US" sz="2800" i="1" dirty="0">
                <a:solidFill>
                  <a:srgbClr val="000000"/>
                </a:solidFill>
              </a:rPr>
              <a:t>x</a:t>
            </a:r>
            <a:r>
              <a:rPr lang="en-US" sz="2800" dirty="0">
                <a:solidFill>
                  <a:srgbClr val="000000"/>
                </a:solidFill>
              </a:rPr>
              <a:t> = the number of tickets sold, and let </a:t>
            </a:r>
            <a:r>
              <a:rPr lang="en-US" sz="2800" i="1" dirty="0">
                <a:solidFill>
                  <a:srgbClr val="000000"/>
                </a:solidFill>
              </a:rPr>
              <a:t>y</a:t>
            </a:r>
            <a:r>
              <a:rPr lang="en-US" sz="2800" dirty="0">
                <a:solidFill>
                  <a:srgbClr val="000000"/>
                </a:solidFill>
              </a:rPr>
              <a:t> = the total amount of money in the jazz band’s account.</a:t>
            </a:r>
          </a:p>
          <a:p>
            <a:pPr marL="1027113" lvl="1" indent="-506413">
              <a:buFont typeface="+mj-lt"/>
              <a:buAutoNum type="alphaLcPeriod"/>
            </a:pPr>
            <a:r>
              <a:rPr lang="en-US" dirty="0">
                <a:solidFill>
                  <a:srgbClr val="000000"/>
                </a:solidFill>
              </a:rPr>
              <a:t>Write an equation in point-slope form.</a:t>
            </a:r>
          </a:p>
          <a:p>
            <a:pPr marL="457200" indent="-457200">
              <a:buFont typeface="+mj-lt"/>
              <a:buAutoNum type="arabicPeriod"/>
            </a:pPr>
            <a:endParaRPr lang="en-US" sz="2400" dirty="0">
              <a:solidFill>
                <a:srgbClr val="000000"/>
              </a:solidFill>
            </a:endParaRPr>
          </a:p>
          <a:p>
            <a:pPr marL="457200" indent="-457200">
              <a:buFont typeface="+mj-lt"/>
              <a:buAutoNum type="arabicPeriod"/>
            </a:pPr>
            <a:endParaRPr lang="en-US" sz="2400" dirty="0">
              <a:solidFill>
                <a:srgbClr val="000000"/>
              </a:solidFill>
            </a:endParaRPr>
          </a:p>
          <a:p>
            <a:pPr marL="0" indent="0">
              <a:buNone/>
            </a:pPr>
            <a:endParaRPr lang="en-US" sz="2400" dirty="0">
              <a:solidFill>
                <a:srgbClr val="000000"/>
              </a:solidFill>
            </a:endParaRPr>
          </a:p>
          <a:p>
            <a:pPr marL="457200" indent="-457200">
              <a:buFont typeface="+mj-lt"/>
              <a:buAutoNum type="arabicPeriod"/>
            </a:pPr>
            <a:endParaRPr lang="en-US" sz="2400" dirty="0">
              <a:solidFill>
                <a:srgbClr val="000000"/>
              </a:solidFill>
            </a:endParaRPr>
          </a:p>
          <a:p>
            <a:pPr marL="0" indent="0">
              <a:buNone/>
            </a:pPr>
            <a:endParaRPr lang="en-US" sz="2400" dirty="0">
              <a:solidFill>
                <a:srgbClr val="000000"/>
              </a:solidFill>
            </a:endParaRPr>
          </a:p>
          <a:p>
            <a:pPr marL="0" indent="0">
              <a:buNone/>
            </a:pPr>
            <a:endParaRPr lang="en-US" sz="2800" dirty="0">
              <a:solidFill>
                <a:srgbClr val="000000"/>
              </a:solidFill>
            </a:endParaRPr>
          </a:p>
        </p:txBody>
      </p:sp>
    </p:spTree>
    <p:extLst>
      <p:ext uri="{BB962C8B-B14F-4D97-AF65-F5344CB8AC3E}">
        <p14:creationId xmlns:p14="http://schemas.microsoft.com/office/powerpoint/2010/main" val="1719473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18B62-523F-7D94-6457-94397755FC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91CA76-12A0-0CA6-5B92-592C4D2C27C5}"/>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(3 of 8)</a:t>
            </a:r>
          </a:p>
        </p:txBody>
      </p:sp>
      <p:sp>
        <p:nvSpPr>
          <p:cNvPr id="2" name="Text Placeholder 2">
            <a:extLst>
              <a:ext uri="{FF2B5EF4-FFF2-40B4-BE49-F238E27FC236}">
                <a16:creationId xmlns:a16="http://schemas.microsoft.com/office/drawing/2014/main" id="{C7BA7432-B3F1-5A4B-122E-F5EF2780AF48}"/>
              </a:ext>
            </a:extLst>
          </p:cNvPr>
          <p:cNvSpPr txBox="1">
            <a:spLocks/>
          </p:cNvSpPr>
          <p:nvPr/>
        </p:nvSpPr>
        <p:spPr>
          <a:xfrm>
            <a:off x="777239" y="1483743"/>
            <a:ext cx="7717153" cy="527936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lvl="1" indent="-515938">
              <a:spcAft>
                <a:spcPts val="600"/>
              </a:spcAft>
              <a:buFont typeface="+mj-lt"/>
              <a:buAutoNum type="alphaLcPeriod" startAt="2"/>
            </a:pPr>
            <a:r>
              <a:rPr lang="en-US" dirty="0">
                <a:solidFill>
                  <a:srgbClr val="000000"/>
                </a:solidFill>
              </a:rPr>
              <a:t>Use the point-slope form to graph the equation.</a:t>
            </a:r>
          </a:p>
          <a:p>
            <a:pPr marL="914400" lvl="2" indent="-404813">
              <a:spcBef>
                <a:spcPts val="26"/>
              </a:spcBef>
            </a:pPr>
            <a:r>
              <a:rPr lang="en-US" sz="2800" dirty="0">
                <a:solidFill>
                  <a:srgbClr val="000000"/>
                </a:solidFill>
              </a:rPr>
              <a:t>Write the coordinates for the known point. Plot the point on the coordinate plane.</a:t>
            </a:r>
          </a:p>
          <a:p>
            <a:pPr marL="914400" lvl="2" indent="-403225">
              <a:spcBef>
                <a:spcPts val="26"/>
              </a:spcBef>
            </a:pPr>
            <a:r>
              <a:rPr lang="en-US" sz="2800" dirty="0">
                <a:solidFill>
                  <a:srgbClr val="000000"/>
                </a:solidFill>
              </a:rPr>
              <a:t>Write the slope as a ratio. Then, use the slope and count from the point. To identify another point on the graph, start at the point and count either down (negative) or up (positive) for the rise. Then, count either left(negative) or right (positive) for the run.</a:t>
            </a:r>
          </a:p>
          <a:p>
            <a:pPr marL="914400" lvl="2" indent="-403225">
              <a:spcBef>
                <a:spcPts val="26"/>
              </a:spcBef>
            </a:pPr>
            <a:r>
              <a:rPr lang="en-US" sz="2800" dirty="0">
                <a:solidFill>
                  <a:srgbClr val="000000"/>
                </a:solidFill>
              </a:rPr>
              <a:t>Continue the counting process to plot at least two more points.</a:t>
            </a:r>
          </a:p>
          <a:p>
            <a:pPr marL="914400" lvl="2" indent="-403225">
              <a:spcBef>
                <a:spcPts val="26"/>
              </a:spcBef>
            </a:pPr>
            <a:r>
              <a:rPr lang="en-US" sz="2800" dirty="0">
                <a:solidFill>
                  <a:srgbClr val="000000"/>
                </a:solidFill>
              </a:rPr>
              <a:t>Connect the points to form a straight line.</a:t>
            </a:r>
          </a:p>
          <a:p>
            <a:pPr marL="457200" indent="-457200">
              <a:buFont typeface="+mj-lt"/>
              <a:buAutoNum type="arabicPeriod"/>
            </a:pPr>
            <a:endParaRPr lang="en-US" sz="2800" dirty="0">
              <a:solidFill>
                <a:srgbClr val="000000"/>
              </a:solidFill>
            </a:endParaRPr>
          </a:p>
          <a:p>
            <a:pPr marL="0" indent="0">
              <a:buNone/>
            </a:pPr>
            <a:endParaRPr lang="en-US" sz="2800" dirty="0">
              <a:solidFill>
                <a:srgbClr val="000000"/>
              </a:solidFill>
            </a:endParaRPr>
          </a:p>
          <a:p>
            <a:pPr marL="0" indent="0">
              <a:buNone/>
            </a:pPr>
            <a:endParaRPr lang="en-US" sz="2800" dirty="0">
              <a:solidFill>
                <a:srgbClr val="000000"/>
              </a:solidFill>
            </a:endParaRPr>
          </a:p>
        </p:txBody>
      </p:sp>
      <p:pic>
        <p:nvPicPr>
          <p:cNvPr id="5" name="Picture 4" descr="A coordinate plane.">
            <a:extLst>
              <a:ext uri="{FF2B5EF4-FFF2-40B4-BE49-F238E27FC236}">
                <a16:creationId xmlns:a16="http://schemas.microsoft.com/office/drawing/2014/main" id="{995B6145-85B1-84F2-D97C-F6400CF85F7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8494393" y="1892673"/>
            <a:ext cx="3696020" cy="4077054"/>
          </a:xfrm>
          <a:prstGeom prst="rect">
            <a:avLst/>
          </a:prstGeom>
        </p:spPr>
      </p:pic>
    </p:spTree>
    <p:extLst>
      <p:ext uri="{BB962C8B-B14F-4D97-AF65-F5344CB8AC3E}">
        <p14:creationId xmlns:p14="http://schemas.microsoft.com/office/powerpoint/2010/main" val="3077963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460E6-3786-88CB-BCBB-13229288618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AD8885E-F251-15BA-7F35-84BEA0F76192}"/>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(4 of 8)</a:t>
            </a:r>
          </a:p>
        </p:txBody>
      </p:sp>
      <p:sp>
        <p:nvSpPr>
          <p:cNvPr id="3" name="TextBox 2">
            <a:extLst>
              <a:ext uri="{FF2B5EF4-FFF2-40B4-BE49-F238E27FC236}">
                <a16:creationId xmlns:a16="http://schemas.microsoft.com/office/drawing/2014/main" id="{EE202D79-E47F-68BC-6F86-ABF67EB3BB72}"/>
              </a:ext>
            </a:extLst>
          </p:cNvPr>
          <p:cNvSpPr txBox="1"/>
          <p:nvPr/>
        </p:nvSpPr>
        <p:spPr>
          <a:xfrm>
            <a:off x="777240" y="1564968"/>
            <a:ext cx="2224753" cy="1989116"/>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Remember, start with the given point and then use the slope to plot two more points.</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0A0FD9E5-7699-3E9E-692A-21BF18A26A5E}"/>
                  </a:ext>
                </a:extLst>
              </p:cNvPr>
              <p:cNvSpPr txBox="1">
                <a:spLocks/>
              </p:cNvSpPr>
              <p:nvPr/>
            </p:nvSpPr>
            <p:spPr>
              <a:xfrm>
                <a:off x="3243532" y="1384248"/>
                <a:ext cx="8546848" cy="250198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lvl="1" indent="-514350">
                  <a:buFont typeface="+mj-lt"/>
                  <a:buAutoNum type="arabicPeriod" startAt="2"/>
                </a:pPr>
                <a:r>
                  <a:rPr lang="en-US" dirty="0">
                    <a:solidFill>
                      <a:srgbClr val="000000"/>
                    </a:solidFill>
                  </a:rPr>
                  <a:t>Identify the slope and a point on the line from the given equation. Then, graph each line. Be careful to take into account the scales on the axes and the signs of the points given in the equation.</a:t>
                </a:r>
              </a:p>
              <a:p>
                <a:pPr marL="1027113" lvl="2" indent="-514350">
                  <a:buFont typeface="+mj-lt"/>
                  <a:buAutoNum type="alphaLcPeriod"/>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−5=−</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3</m:t>
                        </m:r>
                      </m:num>
                      <m:den>
                        <m:r>
                          <a:rPr lang="en-US" sz="2800" b="0" i="1" smtClean="0">
                            <a:solidFill>
                              <a:srgbClr val="000000"/>
                            </a:solidFill>
                            <a:latin typeface="Cambria Math" panose="02040503050406030204" pitchFamily="18" charset="0"/>
                          </a:rPr>
                          <m:t>4</m:t>
                        </m:r>
                      </m:den>
                    </m:f>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−14)</m:t>
                    </m:r>
                  </m:oMath>
                </a14:m>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0A0FD9E5-7699-3E9E-692A-21BF18A26A5E}"/>
                  </a:ext>
                </a:extLst>
              </p:cNvPr>
              <p:cNvSpPr txBox="1">
                <a:spLocks noRot="1" noChangeAspect="1" noMove="1" noResize="1" noEditPoints="1" noAdjustHandles="1" noChangeArrowheads="1" noChangeShapeType="1" noTextEdit="1"/>
              </p:cNvSpPr>
              <p:nvPr/>
            </p:nvSpPr>
            <p:spPr>
              <a:xfrm>
                <a:off x="3243532" y="1384248"/>
                <a:ext cx="8546848" cy="2501984"/>
              </a:xfrm>
              <a:prstGeom prst="rect">
                <a:avLst/>
              </a:prstGeom>
              <a:blipFill>
                <a:blip r:embed="rId3"/>
                <a:stretch>
                  <a:fillRect l="-1427" t="-2676" r="-713" b="-4380"/>
                </a:stretch>
              </a:blipFill>
            </p:spPr>
            <p:txBody>
              <a:bodyPr/>
              <a:lstStyle/>
              <a:p>
                <a:r>
                  <a:rPr lang="en-US">
                    <a:noFill/>
                  </a:rPr>
                  <a:t> </a:t>
                </a:r>
              </a:p>
            </p:txBody>
          </p:sp>
        </mc:Fallback>
      </mc:AlternateContent>
      <p:pic>
        <p:nvPicPr>
          <p:cNvPr id="7" name="Picture 6" descr="A coordinate plane.">
            <a:extLst>
              <a:ext uri="{FF2B5EF4-FFF2-40B4-BE49-F238E27FC236}">
                <a16:creationId xmlns:a16="http://schemas.microsoft.com/office/drawing/2014/main" id="{704B31B5-4CE9-422B-D47A-A3E8D5CCCA54}"/>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366474" y="3191773"/>
            <a:ext cx="3750889" cy="3554083"/>
          </a:xfrm>
          <a:prstGeom prst="rect">
            <a:avLst/>
          </a:prstGeom>
        </p:spPr>
      </p:pic>
    </p:spTree>
    <p:extLst>
      <p:ext uri="{BB962C8B-B14F-4D97-AF65-F5344CB8AC3E}">
        <p14:creationId xmlns:p14="http://schemas.microsoft.com/office/powerpoint/2010/main" val="21349513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9249-ED7D-378C-B361-9A92C331A5D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0CD162A-777F-F92B-1952-3700F46EEF5E}"/>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(5 of 8)</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E951C5D6-E99F-8BFC-6ABC-97957C635C96}"/>
                  </a:ext>
                </a:extLst>
              </p:cNvPr>
              <p:cNvSpPr txBox="1">
                <a:spLocks/>
              </p:cNvSpPr>
              <p:nvPr/>
            </p:nvSpPr>
            <p:spPr>
              <a:xfrm>
                <a:off x="777241" y="1595887"/>
                <a:ext cx="5317966" cy="108692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lvl="1" indent="-514350">
                  <a:buFont typeface="+mj-lt"/>
                  <a:buAutoNum type="alphaLcPeriod" startAt="2"/>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+8=</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+6)</m:t>
                    </m:r>
                  </m:oMath>
                </a14:m>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E951C5D6-E99F-8BFC-6ABC-97957C635C96}"/>
                  </a:ext>
                </a:extLst>
              </p:cNvPr>
              <p:cNvSpPr txBox="1">
                <a:spLocks noRot="1" noChangeAspect="1" noMove="1" noResize="1" noEditPoints="1" noAdjustHandles="1" noChangeArrowheads="1" noChangeShapeType="1" noTextEdit="1"/>
              </p:cNvSpPr>
              <p:nvPr/>
            </p:nvSpPr>
            <p:spPr>
              <a:xfrm>
                <a:off x="777241" y="1595887"/>
                <a:ext cx="5317966" cy="1086929"/>
              </a:xfrm>
              <a:prstGeom prst="rect">
                <a:avLst/>
              </a:prstGeom>
              <a:blipFill>
                <a:blip r:embed="rId3"/>
                <a:stretch>
                  <a:fillRect l="-2294"/>
                </a:stretch>
              </a:blipFill>
            </p:spPr>
            <p:txBody>
              <a:bodyPr/>
              <a:lstStyle/>
              <a:p>
                <a:r>
                  <a:rPr lang="en-US">
                    <a:noFill/>
                  </a:rPr>
                  <a:t> </a:t>
                </a:r>
              </a:p>
            </p:txBody>
          </p:sp>
        </mc:Fallback>
      </mc:AlternateContent>
      <p:pic>
        <p:nvPicPr>
          <p:cNvPr id="6" name="Picture 5" descr="A coordinate plane.">
            <a:extLst>
              <a:ext uri="{FF2B5EF4-FFF2-40B4-BE49-F238E27FC236}">
                <a16:creationId xmlns:a16="http://schemas.microsoft.com/office/drawing/2014/main" id="{257B5C40-3B2F-FC90-4E25-4AF05E56E8B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019495" y="2449903"/>
            <a:ext cx="4007223" cy="3770990"/>
          </a:xfrm>
          <a:prstGeom prst="rect">
            <a:avLst/>
          </a:prstGeom>
        </p:spPr>
      </p:pic>
    </p:spTree>
    <p:extLst>
      <p:ext uri="{BB962C8B-B14F-4D97-AF65-F5344CB8AC3E}">
        <p14:creationId xmlns:p14="http://schemas.microsoft.com/office/powerpoint/2010/main" val="701632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70837-54A6-5393-5579-7D24D21CFA4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A1C23B-2113-58AD-22FC-03BA4C87AFA4}"/>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(6 of 8)</a:t>
            </a:r>
          </a:p>
        </p:txBody>
      </p:sp>
      <p:sp>
        <p:nvSpPr>
          <p:cNvPr id="2" name="Text Placeholder 2">
            <a:extLst>
              <a:ext uri="{FF2B5EF4-FFF2-40B4-BE49-F238E27FC236}">
                <a16:creationId xmlns:a16="http://schemas.microsoft.com/office/drawing/2014/main" id="{EA55AE6E-1423-19C0-C0DA-21C547AF1153}"/>
              </a:ext>
            </a:extLst>
          </p:cNvPr>
          <p:cNvSpPr txBox="1">
            <a:spLocks/>
          </p:cNvSpPr>
          <p:nvPr/>
        </p:nvSpPr>
        <p:spPr>
          <a:xfrm>
            <a:off x="777241" y="1263193"/>
            <a:ext cx="6693234" cy="493057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lvl="2" indent="-517525">
              <a:buFont typeface="+mj-lt"/>
              <a:buAutoNum type="arabicPeriod" startAt="3"/>
            </a:pPr>
            <a:r>
              <a:rPr lang="en-US" sz="2800" dirty="0">
                <a:solidFill>
                  <a:srgbClr val="000000"/>
                </a:solidFill>
              </a:rPr>
              <a:t>An underwater remote operated vehicle (ROV) is lowered from a boat at a constant rate of 0.3 meters per second. After 90 seconds, the ROV is at a depth of −25.8 meters.</a:t>
            </a:r>
            <a:br>
              <a:rPr lang="en-US" sz="2000" dirty="0">
                <a:solidFill>
                  <a:srgbClr val="000000"/>
                </a:solidFill>
              </a:rPr>
            </a:br>
            <a:br>
              <a:rPr lang="en-US" sz="2000" dirty="0">
                <a:solidFill>
                  <a:srgbClr val="000000"/>
                </a:solidFill>
              </a:rPr>
            </a:br>
            <a:r>
              <a:rPr lang="en-US" sz="2800" dirty="0">
                <a:solidFill>
                  <a:srgbClr val="000000"/>
                </a:solidFill>
              </a:rPr>
              <a:t>Define your variables and units. Then, write and graph an equation for the depth of the submarine over time.</a:t>
            </a:r>
          </a:p>
        </p:txBody>
      </p:sp>
      <p:pic>
        <p:nvPicPr>
          <p:cNvPr id="5" name="Picture 4" descr="A coordinate plane.">
            <a:extLst>
              <a:ext uri="{FF2B5EF4-FFF2-40B4-BE49-F238E27FC236}">
                <a16:creationId xmlns:a16="http://schemas.microsoft.com/office/drawing/2014/main" id="{42FA2408-A6A8-1BE9-0A59-532F2C3ACBC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7674236" y="1547649"/>
            <a:ext cx="4324725" cy="3762701"/>
          </a:xfrm>
          <a:prstGeom prst="rect">
            <a:avLst/>
          </a:prstGeom>
        </p:spPr>
      </p:pic>
    </p:spTree>
    <p:extLst>
      <p:ext uri="{BB962C8B-B14F-4D97-AF65-F5344CB8AC3E}">
        <p14:creationId xmlns:p14="http://schemas.microsoft.com/office/powerpoint/2010/main" val="1915481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60D63-F406-2117-DD81-C70BE0C170F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042836-7A2D-5DE0-C6F1-40BE68ED7775}"/>
              </a:ext>
            </a:extLst>
          </p:cNvPr>
          <p:cNvSpPr>
            <a:spLocks noGrp="1"/>
          </p:cNvSpPr>
          <p:nvPr>
            <p:ph type="title"/>
          </p:nvPr>
        </p:nvSpPr>
        <p:spPr/>
        <p:txBody>
          <a:bodyPr/>
          <a:lstStyle/>
          <a:p>
            <a:r>
              <a:rPr lang="en-US" b="1" dirty="0"/>
              <a:t>Using Point-Slope Form to Graph a Line </a:t>
            </a:r>
            <a:r>
              <a:rPr lang="en-US" sz="2000" b="1" dirty="0">
                <a:solidFill>
                  <a:schemeClr val="bg1"/>
                </a:solidFill>
              </a:rPr>
              <a:t>(7 of 8)</a:t>
            </a:r>
            <a:endParaRPr lang="en-US" sz="2000" dirty="0">
              <a:solidFill>
                <a:schemeClr val="bg1"/>
              </a:solidFill>
            </a:endParaRPr>
          </a:p>
        </p:txBody>
      </p:sp>
      <p:sp>
        <p:nvSpPr>
          <p:cNvPr id="2" name="Text Placeholder 1">
            <a:extLst>
              <a:ext uri="{FF2B5EF4-FFF2-40B4-BE49-F238E27FC236}">
                <a16:creationId xmlns:a16="http://schemas.microsoft.com/office/drawing/2014/main" id="{689E771E-442C-C76B-215E-D34854A0A949}"/>
              </a:ext>
            </a:extLst>
          </p:cNvPr>
          <p:cNvSpPr>
            <a:spLocks noGrp="1"/>
          </p:cNvSpPr>
          <p:nvPr>
            <p:ph type="body" sz="quarter" idx="10"/>
          </p:nvPr>
        </p:nvSpPr>
        <p:spPr>
          <a:xfrm>
            <a:off x="777240" y="1635686"/>
            <a:ext cx="10590848" cy="4141170"/>
          </a:xfrm>
        </p:spPr>
        <p:txBody>
          <a:bodyPr/>
          <a:lstStyle/>
          <a:p>
            <a:pPr marL="0" indent="0" algn="l">
              <a:buNone/>
            </a:pPr>
            <a:r>
              <a:rPr lang="en-US" sz="2800" b="0" i="0" u="none" strike="noStrike" baseline="0" dirty="0">
                <a:solidFill>
                  <a:srgbClr val="000000"/>
                </a:solidFill>
              </a:rPr>
              <a:t>Let’s summarize our learning from Activity 5.2!</a:t>
            </a:r>
          </a:p>
          <a:p>
            <a:endParaRPr lang="en-US" dirty="0"/>
          </a:p>
          <a:p>
            <a:endParaRPr lang="en-US" dirty="0"/>
          </a:p>
          <a:p>
            <a:endParaRPr lang="en-US" dirty="0">
              <a:solidFill>
                <a:srgbClr val="000000"/>
              </a:solidFill>
            </a:endParaRPr>
          </a:p>
        </p:txBody>
      </p:sp>
      <p:pic>
        <p:nvPicPr>
          <p:cNvPr id="3" name="Picture 2">
            <a:extLst>
              <a:ext uri="{FF2B5EF4-FFF2-40B4-BE49-F238E27FC236}">
                <a16:creationId xmlns:a16="http://schemas.microsoft.com/office/drawing/2014/main" id="{98440FB1-39B9-061D-40CB-0A334D95640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10419" y="372494"/>
            <a:ext cx="1501270" cy="518205"/>
          </a:xfrm>
          <a:prstGeom prst="rect">
            <a:avLst/>
          </a:prstGeom>
        </p:spPr>
      </p:pic>
    </p:spTree>
    <p:extLst>
      <p:ext uri="{BB962C8B-B14F-4D97-AF65-F5344CB8AC3E}">
        <p14:creationId xmlns:p14="http://schemas.microsoft.com/office/powerpoint/2010/main" val="2164574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A2B8-E7A5-239A-AB90-27F851486FF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31D3B88-0F9E-47D9-4A39-F7295D961309}"/>
              </a:ext>
            </a:extLst>
          </p:cNvPr>
          <p:cNvSpPr>
            <a:spLocks noGrp="1"/>
          </p:cNvSpPr>
          <p:nvPr>
            <p:ph type="title"/>
          </p:nvPr>
        </p:nvSpPr>
        <p:spPr/>
        <p:txBody>
          <a:bodyPr/>
          <a:lstStyle/>
          <a:p>
            <a:pPr algn="l"/>
            <a:r>
              <a:rPr lang="en-US" b="1" dirty="0"/>
              <a:t>Using Point-Slope Form to Graph a Line </a:t>
            </a:r>
            <a:r>
              <a:rPr lang="en-US" sz="2000" b="1" dirty="0">
                <a:solidFill>
                  <a:schemeClr val="bg1"/>
                </a:solidFill>
              </a:rPr>
              <a:t>(8 of 8)</a:t>
            </a:r>
          </a:p>
        </p:txBody>
      </p:sp>
      <p:sp>
        <p:nvSpPr>
          <p:cNvPr id="9" name="Text Placeholder 2">
            <a:extLst>
              <a:ext uri="{FF2B5EF4-FFF2-40B4-BE49-F238E27FC236}">
                <a16:creationId xmlns:a16="http://schemas.microsoft.com/office/drawing/2014/main" id="{1E3F3D64-7D3E-6B78-AAE0-10266D78BD13}"/>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8880718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A8CAF8-33A1-73A0-1DF9-85DF59BD096A}"/>
              </a:ext>
            </a:extLst>
          </p:cNvPr>
          <p:cNvSpPr>
            <a:spLocks noGrp="1"/>
          </p:cNvSpPr>
          <p:nvPr>
            <p:ph type="title" idx="4294967295"/>
          </p:nvPr>
        </p:nvSpPr>
        <p:spPr>
          <a:xfrm>
            <a:off x="838200" y="-336430"/>
            <a:ext cx="10514013" cy="336430"/>
          </a:xfrm>
          <a:prstGeom prst="rect">
            <a:avLst/>
          </a:prstGeom>
        </p:spPr>
        <p:txBody>
          <a:bodyPr anchor="b"/>
          <a:lstStyle/>
          <a:p>
            <a:r>
              <a:rPr lang="en-US" sz="2000" dirty="0">
                <a:solidFill>
                  <a:schemeClr val="bg2"/>
                </a:solidFill>
              </a:rPr>
              <a:t>Activity 5.3</a:t>
            </a:r>
          </a:p>
        </p:txBody>
      </p:sp>
      <p:sp>
        <p:nvSpPr>
          <p:cNvPr id="3" name="Text Placeholder 2" descr="20 to 25 minutes">
            <a:extLst>
              <a:ext uri="{FF2B5EF4-FFF2-40B4-BE49-F238E27FC236}">
                <a16:creationId xmlns:a16="http://schemas.microsoft.com/office/drawing/2014/main" id="{3CD62AF3-8219-7AEB-1717-BB4B2CD0985B}"/>
              </a:ext>
            </a:extLst>
          </p:cNvPr>
          <p:cNvSpPr>
            <a:spLocks noGrp="1"/>
          </p:cNvSpPr>
          <p:nvPr>
            <p:ph type="body" sz="quarter" idx="12"/>
          </p:nvPr>
        </p:nvSpPr>
        <p:spPr>
          <a:xfrm>
            <a:off x="10614990" y="5780025"/>
            <a:ext cx="863947" cy="795338"/>
          </a:xfrm>
        </p:spPr>
        <p:txBody>
          <a:bodyPr/>
          <a:lstStyle/>
          <a:p>
            <a:r>
              <a:rPr lang="en-US" b="1" dirty="0"/>
              <a:t>20–25</a:t>
            </a:r>
          </a:p>
        </p:txBody>
      </p:sp>
      <p:sp>
        <p:nvSpPr>
          <p:cNvPr id="2" name="Text Placeholder 1">
            <a:extLst>
              <a:ext uri="{FF2B5EF4-FFF2-40B4-BE49-F238E27FC236}">
                <a16:creationId xmlns:a16="http://schemas.microsoft.com/office/drawing/2014/main" id="{7EB81C6C-A8E6-CE4C-2D52-7AD639B7578C}"/>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5.3</a:t>
            </a:r>
          </a:p>
        </p:txBody>
      </p:sp>
    </p:spTree>
    <p:extLst>
      <p:ext uri="{BB962C8B-B14F-4D97-AF65-F5344CB8AC3E}">
        <p14:creationId xmlns:p14="http://schemas.microsoft.com/office/powerpoint/2010/main" val="219159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983A4-8492-2C9C-D996-B3BFF1B99F1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5877F1F-DE5E-2323-C42F-CE4647D83A89}"/>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 of 16)</a:t>
            </a:r>
          </a:p>
        </p:txBody>
      </p:sp>
      <p:sp>
        <p:nvSpPr>
          <p:cNvPr id="9" name="Text Placeholder 2">
            <a:extLst>
              <a:ext uri="{FF2B5EF4-FFF2-40B4-BE49-F238E27FC236}">
                <a16:creationId xmlns:a16="http://schemas.microsoft.com/office/drawing/2014/main" id="{D28EB160-9377-ACC1-A928-EF37BD5EBB9D}"/>
              </a:ext>
            </a:extLst>
          </p:cNvPr>
          <p:cNvSpPr txBox="1">
            <a:spLocks/>
          </p:cNvSpPr>
          <p:nvPr/>
        </p:nvSpPr>
        <p:spPr>
          <a:xfrm>
            <a:off x="785004" y="1587259"/>
            <a:ext cx="10351698" cy="498606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Tickets for a school play cost $5.00 for students and $8.00 for adults. On opening night, $1600 is collected in ticket sales.</a:t>
            </a:r>
          </a:p>
          <a:p>
            <a:pPr marL="0" indent="0">
              <a:buNone/>
            </a:pPr>
            <a:r>
              <a:rPr lang="en-US" sz="2800" dirty="0">
                <a:solidFill>
                  <a:srgbClr val="000000"/>
                </a:solidFill>
              </a:rPr>
              <a:t>This situation can be modeled by the equation 5</a:t>
            </a:r>
            <a:r>
              <a:rPr lang="en-US" sz="2800" i="1" dirty="0">
                <a:solidFill>
                  <a:srgbClr val="000000"/>
                </a:solidFill>
              </a:rPr>
              <a:t>x</a:t>
            </a:r>
            <a:r>
              <a:rPr lang="en-US" sz="2800" dirty="0">
                <a:solidFill>
                  <a:srgbClr val="000000"/>
                </a:solidFill>
              </a:rPr>
              <a:t> + 8</a:t>
            </a:r>
            <a:r>
              <a:rPr lang="en-US" sz="2800" i="1" dirty="0">
                <a:solidFill>
                  <a:srgbClr val="000000"/>
                </a:solidFill>
              </a:rPr>
              <a:t>y</a:t>
            </a:r>
            <a:r>
              <a:rPr lang="en-US" sz="2800" dirty="0">
                <a:solidFill>
                  <a:srgbClr val="000000"/>
                </a:solidFill>
              </a:rPr>
              <a:t> = 1600.</a:t>
            </a:r>
            <a:br>
              <a:rPr lang="en-US" sz="2800" dirty="0">
                <a:solidFill>
                  <a:srgbClr val="000000"/>
                </a:solidFill>
              </a:rPr>
            </a:br>
            <a:r>
              <a:rPr lang="en-US" sz="2800" dirty="0">
                <a:solidFill>
                  <a:srgbClr val="000000"/>
                </a:solidFill>
              </a:rPr>
              <a:t>You can define the variables as shown.</a:t>
            </a:r>
          </a:p>
          <a:p>
            <a:pPr marL="0" indent="0">
              <a:buNone/>
            </a:pPr>
            <a:r>
              <a:rPr lang="en-US" sz="2800" dirty="0">
                <a:solidFill>
                  <a:srgbClr val="000000"/>
                </a:solidFill>
              </a:rPr>
              <a:t>	</a:t>
            </a:r>
            <a:r>
              <a:rPr lang="en-US" sz="2800" i="1" dirty="0">
                <a:solidFill>
                  <a:srgbClr val="000000"/>
                </a:solidFill>
              </a:rPr>
              <a:t>x</a:t>
            </a:r>
            <a:r>
              <a:rPr lang="en-US" sz="2800" dirty="0">
                <a:solidFill>
                  <a:srgbClr val="000000"/>
                </a:solidFill>
              </a:rPr>
              <a:t> = number of student tickets sold </a:t>
            </a:r>
          </a:p>
          <a:p>
            <a:pPr marL="0" indent="0">
              <a:spcAft>
                <a:spcPts val="1200"/>
              </a:spcAft>
              <a:buNone/>
            </a:pPr>
            <a:r>
              <a:rPr lang="en-US" sz="2800" dirty="0">
                <a:solidFill>
                  <a:srgbClr val="000000"/>
                </a:solidFill>
              </a:rPr>
              <a:t>	</a:t>
            </a:r>
            <a:r>
              <a:rPr lang="en-US" sz="2800" i="1" dirty="0">
                <a:solidFill>
                  <a:srgbClr val="000000"/>
                </a:solidFill>
              </a:rPr>
              <a:t>y</a:t>
            </a:r>
            <a:r>
              <a:rPr lang="en-US" sz="2800" dirty="0">
                <a:solidFill>
                  <a:srgbClr val="000000"/>
                </a:solidFill>
              </a:rPr>
              <a:t> = number of adult tickets sold</a:t>
            </a:r>
          </a:p>
          <a:p>
            <a:pPr marL="0" indent="0">
              <a:buNone/>
            </a:pPr>
            <a:r>
              <a:rPr lang="en-US" sz="2800" dirty="0">
                <a:solidFill>
                  <a:srgbClr val="000000"/>
                </a:solidFill>
              </a:rPr>
              <a:t>This equation is not written in slope-intercept form or in point-slope form. It is written in </a:t>
            </a:r>
            <a:r>
              <a:rPr lang="en-US" sz="2800" i="1" dirty="0">
                <a:solidFill>
                  <a:srgbClr val="000000"/>
                </a:solidFill>
              </a:rPr>
              <a:t>standard form</a:t>
            </a:r>
            <a:r>
              <a:rPr lang="en-US" sz="2800" dirty="0">
                <a:solidFill>
                  <a:srgbClr val="000000"/>
                </a:solidFill>
              </a:rPr>
              <a:t>. The </a:t>
            </a:r>
            <a:r>
              <a:rPr lang="en-US" sz="2800" b="1" dirty="0">
                <a:solidFill>
                  <a:srgbClr val="000000"/>
                </a:solidFill>
              </a:rPr>
              <a:t>standard form </a:t>
            </a:r>
            <a:r>
              <a:rPr lang="en-US" sz="2800" dirty="0">
                <a:solidFill>
                  <a:srgbClr val="000000"/>
                </a:solidFill>
              </a:rPr>
              <a:t>of a linear equation is </a:t>
            </a:r>
            <a:r>
              <a:rPr lang="en-US" sz="2800" i="1" dirty="0">
                <a:solidFill>
                  <a:srgbClr val="000000"/>
                </a:solidFill>
              </a:rPr>
              <a:t>Ax</a:t>
            </a:r>
            <a:r>
              <a:rPr lang="en-US" sz="2800" dirty="0">
                <a:solidFill>
                  <a:srgbClr val="000000"/>
                </a:solidFill>
              </a:rPr>
              <a:t> + </a:t>
            </a:r>
            <a:r>
              <a:rPr lang="en-US" sz="2800" i="1" dirty="0">
                <a:solidFill>
                  <a:srgbClr val="000000"/>
                </a:solidFill>
              </a:rPr>
              <a:t>By</a:t>
            </a:r>
            <a:r>
              <a:rPr lang="en-US" sz="2800" dirty="0">
                <a:solidFill>
                  <a:srgbClr val="000000"/>
                </a:solidFill>
              </a:rPr>
              <a:t> = </a:t>
            </a:r>
            <a:r>
              <a:rPr lang="en-US" sz="2800" i="1" dirty="0">
                <a:solidFill>
                  <a:srgbClr val="000000"/>
                </a:solidFill>
              </a:rPr>
              <a:t>C</a:t>
            </a:r>
            <a:r>
              <a:rPr lang="en-US" sz="2800" dirty="0">
                <a:solidFill>
                  <a:srgbClr val="000000"/>
                </a:solidFill>
              </a:rPr>
              <a:t>, where </a:t>
            </a:r>
            <a:r>
              <a:rPr lang="en-US" sz="2800" i="1" dirty="0">
                <a:solidFill>
                  <a:srgbClr val="000000"/>
                </a:solidFill>
              </a:rPr>
              <a:t>A</a:t>
            </a:r>
            <a:r>
              <a:rPr lang="en-US" sz="2800" dirty="0">
                <a:solidFill>
                  <a:srgbClr val="000000"/>
                </a:solidFill>
              </a:rPr>
              <a:t>, </a:t>
            </a:r>
            <a:r>
              <a:rPr lang="en-US" sz="2800" i="1" dirty="0">
                <a:solidFill>
                  <a:srgbClr val="000000"/>
                </a:solidFill>
              </a:rPr>
              <a:t>B,</a:t>
            </a:r>
            <a:r>
              <a:rPr lang="en-US" sz="2800" dirty="0">
                <a:solidFill>
                  <a:srgbClr val="000000"/>
                </a:solidFill>
              </a:rPr>
              <a:t> and </a:t>
            </a:r>
            <a:r>
              <a:rPr lang="en-US" sz="2800" i="1" dirty="0">
                <a:solidFill>
                  <a:srgbClr val="000000"/>
                </a:solidFill>
              </a:rPr>
              <a:t>C</a:t>
            </a:r>
            <a:r>
              <a:rPr lang="en-US" sz="2800" dirty="0">
                <a:solidFill>
                  <a:srgbClr val="000000"/>
                </a:solidFill>
              </a:rPr>
              <a:t> are integers and </a:t>
            </a:r>
            <a:r>
              <a:rPr lang="en-US" sz="2800" i="1" dirty="0">
                <a:solidFill>
                  <a:srgbClr val="000000"/>
                </a:solidFill>
              </a:rPr>
              <a:t>A </a:t>
            </a:r>
            <a:r>
              <a:rPr lang="en-US" sz="2800" dirty="0">
                <a:solidFill>
                  <a:srgbClr val="000000"/>
                </a:solidFill>
              </a:rPr>
              <a:t>and </a:t>
            </a:r>
            <a:r>
              <a:rPr lang="en-US" sz="2800" i="1" dirty="0">
                <a:solidFill>
                  <a:srgbClr val="000000"/>
                </a:solidFill>
              </a:rPr>
              <a:t>B</a:t>
            </a:r>
            <a:r>
              <a:rPr lang="en-US" sz="2800" dirty="0">
                <a:solidFill>
                  <a:srgbClr val="000000"/>
                </a:solidFill>
              </a:rPr>
              <a:t> are not both zero.</a:t>
            </a:r>
          </a:p>
        </p:txBody>
      </p:sp>
    </p:spTree>
    <p:extLst>
      <p:ext uri="{BB962C8B-B14F-4D97-AF65-F5344CB8AC3E}">
        <p14:creationId xmlns:p14="http://schemas.microsoft.com/office/powerpoint/2010/main" val="1300832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942AF-1806-C30E-C012-912C0FED57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233A9B6-BE1B-EC61-84FC-F8B64A151E71}"/>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(2 of 16)</a:t>
            </a:r>
          </a:p>
        </p:txBody>
      </p:sp>
      <p:sp>
        <p:nvSpPr>
          <p:cNvPr id="9" name="Text Placeholder 2">
            <a:extLst>
              <a:ext uri="{FF2B5EF4-FFF2-40B4-BE49-F238E27FC236}">
                <a16:creationId xmlns:a16="http://schemas.microsoft.com/office/drawing/2014/main" id="{9366B449-6A48-F987-DF26-B20CA1740BD8}"/>
              </a:ext>
            </a:extLst>
          </p:cNvPr>
          <p:cNvSpPr txBox="1">
            <a:spLocks/>
          </p:cNvSpPr>
          <p:nvPr/>
        </p:nvSpPr>
        <p:spPr>
          <a:xfrm>
            <a:off x="785004" y="1571515"/>
            <a:ext cx="9894498" cy="108562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Explain what each term of the equation represents in the problem situation.</a:t>
            </a:r>
          </a:p>
        </p:txBody>
      </p:sp>
      <p:sp>
        <p:nvSpPr>
          <p:cNvPr id="2" name="Text Placeholder 2">
            <a:extLst>
              <a:ext uri="{FF2B5EF4-FFF2-40B4-BE49-F238E27FC236}">
                <a16:creationId xmlns:a16="http://schemas.microsoft.com/office/drawing/2014/main" id="{CC36CC26-E0AE-E65B-E67C-D7E9FE2F03E7}"/>
              </a:ext>
            </a:extLst>
          </p:cNvPr>
          <p:cNvSpPr txBox="1">
            <a:spLocks/>
          </p:cNvSpPr>
          <p:nvPr/>
        </p:nvSpPr>
        <p:spPr>
          <a:xfrm>
            <a:off x="1325612" y="2767631"/>
            <a:ext cx="1030960" cy="73689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a.  5</a:t>
            </a:r>
            <a:r>
              <a:rPr lang="en-US" sz="2800" i="1" dirty="0">
                <a:solidFill>
                  <a:srgbClr val="000000"/>
                </a:solidFill>
              </a:rPr>
              <a:t>x</a:t>
            </a:r>
          </a:p>
        </p:txBody>
      </p:sp>
      <p:sp>
        <p:nvSpPr>
          <p:cNvPr id="3" name="Text Placeholder 2">
            <a:extLst>
              <a:ext uri="{FF2B5EF4-FFF2-40B4-BE49-F238E27FC236}">
                <a16:creationId xmlns:a16="http://schemas.microsoft.com/office/drawing/2014/main" id="{77D8BFE9-C5E3-305F-4187-47BE07CEE185}"/>
              </a:ext>
            </a:extLst>
          </p:cNvPr>
          <p:cNvSpPr txBox="1">
            <a:spLocks/>
          </p:cNvSpPr>
          <p:nvPr/>
        </p:nvSpPr>
        <p:spPr>
          <a:xfrm>
            <a:off x="6095206" y="2767631"/>
            <a:ext cx="1030960" cy="73689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b.  8</a:t>
            </a:r>
            <a:r>
              <a:rPr lang="en-US" sz="2800" i="1" dirty="0">
                <a:solidFill>
                  <a:srgbClr val="000000"/>
                </a:solidFill>
              </a:rPr>
              <a:t>y</a:t>
            </a:r>
          </a:p>
        </p:txBody>
      </p:sp>
      <p:sp>
        <p:nvSpPr>
          <p:cNvPr id="5" name="Text Placeholder 2">
            <a:extLst>
              <a:ext uri="{FF2B5EF4-FFF2-40B4-BE49-F238E27FC236}">
                <a16:creationId xmlns:a16="http://schemas.microsoft.com/office/drawing/2014/main" id="{557ECAEE-439F-95C0-14A9-1824FA19197B}"/>
              </a:ext>
            </a:extLst>
          </p:cNvPr>
          <p:cNvSpPr txBox="1">
            <a:spLocks/>
          </p:cNvSpPr>
          <p:nvPr/>
        </p:nvSpPr>
        <p:spPr>
          <a:xfrm>
            <a:off x="1325612" y="4408759"/>
            <a:ext cx="1521381" cy="73689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c.  1600</a:t>
            </a:r>
          </a:p>
        </p:txBody>
      </p:sp>
    </p:spTree>
    <p:extLst>
      <p:ext uri="{BB962C8B-B14F-4D97-AF65-F5344CB8AC3E}">
        <p14:creationId xmlns:p14="http://schemas.microsoft.com/office/powerpoint/2010/main" val="1815796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CBB41-3E3C-EE83-4FAB-BC4DF4666CC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66CFA25-DC48-6DFE-58CD-D31C2E3098B6}"/>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(3 of 16)</a:t>
            </a:r>
          </a:p>
        </p:txBody>
      </p:sp>
      <p:sp>
        <p:nvSpPr>
          <p:cNvPr id="9" name="Text Placeholder 2">
            <a:extLst>
              <a:ext uri="{FF2B5EF4-FFF2-40B4-BE49-F238E27FC236}">
                <a16:creationId xmlns:a16="http://schemas.microsoft.com/office/drawing/2014/main" id="{FEFA7D99-36C2-03D2-F389-DEF085ADD9F1}"/>
              </a:ext>
            </a:extLst>
          </p:cNvPr>
          <p:cNvSpPr txBox="1">
            <a:spLocks/>
          </p:cNvSpPr>
          <p:nvPr/>
        </p:nvSpPr>
        <p:spPr>
          <a:xfrm>
            <a:off x="785004" y="1604513"/>
            <a:ext cx="9877245" cy="105262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What is the independent variable? What is the dependent variable? Explain your reasoning.</a:t>
            </a:r>
          </a:p>
        </p:txBody>
      </p:sp>
    </p:spTree>
    <p:extLst>
      <p:ext uri="{BB962C8B-B14F-4D97-AF65-F5344CB8AC3E}">
        <p14:creationId xmlns:p14="http://schemas.microsoft.com/office/powerpoint/2010/main" val="2352965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04388-3AD3-F80F-FCAC-9D7CA3B683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4E0CC8-2B5E-F339-7F64-925907A17F2C}"/>
              </a:ext>
            </a:extLst>
          </p:cNvPr>
          <p:cNvSpPr>
            <a:spLocks noGrp="1"/>
          </p:cNvSpPr>
          <p:nvPr>
            <p:ph type="title"/>
          </p:nvPr>
        </p:nvSpPr>
        <p:spPr>
          <a:xfrm>
            <a:off x="776377" y="1"/>
            <a:ext cx="11426345" cy="1263192"/>
          </a:xfrm>
        </p:spPr>
        <p:txBody>
          <a:bodyPr/>
          <a:lstStyle/>
          <a:p>
            <a:pPr algn="l"/>
            <a:r>
              <a:rPr lang="en-US" b="1" dirty="0"/>
              <a:t>Standard Form of a Linear Equation </a:t>
            </a:r>
            <a:r>
              <a:rPr lang="en-US" sz="2000" b="1" dirty="0">
                <a:solidFill>
                  <a:schemeClr val="bg1"/>
                </a:solidFill>
              </a:rPr>
              <a:t>(4 of 16)</a:t>
            </a:r>
          </a:p>
        </p:txBody>
      </p:sp>
      <p:sp>
        <p:nvSpPr>
          <p:cNvPr id="9" name="Text Placeholder 2">
            <a:extLst>
              <a:ext uri="{FF2B5EF4-FFF2-40B4-BE49-F238E27FC236}">
                <a16:creationId xmlns:a16="http://schemas.microsoft.com/office/drawing/2014/main" id="{98917A7B-A823-0270-0F5C-7B611E1D38C1}"/>
              </a:ext>
            </a:extLst>
          </p:cNvPr>
          <p:cNvSpPr txBox="1">
            <a:spLocks/>
          </p:cNvSpPr>
          <p:nvPr/>
        </p:nvSpPr>
        <p:spPr>
          <a:xfrm>
            <a:off x="776378" y="1595887"/>
            <a:ext cx="9894498" cy="326343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Remember, the </a:t>
            </a:r>
            <a:r>
              <a:rPr lang="en-US" sz="2800" i="1" dirty="0">
                <a:solidFill>
                  <a:srgbClr val="000000"/>
                </a:solidFill>
              </a:rPr>
              <a:t>y</a:t>
            </a:r>
            <a:r>
              <a:rPr lang="en-US" sz="2800" dirty="0">
                <a:solidFill>
                  <a:srgbClr val="000000"/>
                </a:solidFill>
              </a:rPr>
              <a:t>-intercept, (0, </a:t>
            </a:r>
            <a:r>
              <a:rPr lang="en-US" sz="2800" i="1" dirty="0">
                <a:solidFill>
                  <a:srgbClr val="000000"/>
                </a:solidFill>
              </a:rPr>
              <a:t>b</a:t>
            </a:r>
            <a:r>
              <a:rPr lang="en-US" sz="2800" dirty="0">
                <a:solidFill>
                  <a:srgbClr val="000000"/>
                </a:solidFill>
              </a:rPr>
              <a:t>) is where a line crosses the </a:t>
            </a:r>
            <a:r>
              <a:rPr lang="en-US" sz="2800" i="1" dirty="0">
                <a:solidFill>
                  <a:srgbClr val="000000"/>
                </a:solidFill>
              </a:rPr>
              <a:t>y</a:t>
            </a:r>
            <a:r>
              <a:rPr lang="en-US" sz="2800" dirty="0">
                <a:solidFill>
                  <a:srgbClr val="000000"/>
                </a:solidFill>
              </a:rPr>
              <a:t>-axis, so the value of </a:t>
            </a:r>
            <a:r>
              <a:rPr lang="en-US" sz="2800" i="1" dirty="0">
                <a:solidFill>
                  <a:srgbClr val="000000"/>
                </a:solidFill>
              </a:rPr>
              <a:t>x</a:t>
            </a:r>
            <a:r>
              <a:rPr lang="en-US" sz="2800" dirty="0">
                <a:solidFill>
                  <a:srgbClr val="000000"/>
                </a:solidFill>
              </a:rPr>
              <a:t> is 0. To calculate a </a:t>
            </a:r>
            <a:r>
              <a:rPr lang="en-US" sz="2800" i="1" dirty="0">
                <a:solidFill>
                  <a:srgbClr val="000000"/>
                </a:solidFill>
              </a:rPr>
              <a:t>y</a:t>
            </a:r>
            <a:r>
              <a:rPr lang="en-US" sz="2800" dirty="0">
                <a:solidFill>
                  <a:srgbClr val="000000"/>
                </a:solidFill>
              </a:rPr>
              <a:t>-intercept, substitute 0 for</a:t>
            </a:r>
            <a:r>
              <a:rPr lang="en-US" sz="2800" i="1" dirty="0">
                <a:solidFill>
                  <a:srgbClr val="000000"/>
                </a:solidFill>
              </a:rPr>
              <a:t> x </a:t>
            </a:r>
            <a:r>
              <a:rPr lang="en-US" sz="2800" dirty="0">
                <a:solidFill>
                  <a:srgbClr val="000000"/>
                </a:solidFill>
              </a:rPr>
              <a:t>and solve the equation for </a:t>
            </a:r>
            <a:r>
              <a:rPr lang="en-US" sz="2800" i="1" dirty="0">
                <a:solidFill>
                  <a:srgbClr val="000000"/>
                </a:solidFill>
              </a:rPr>
              <a:t>b.</a:t>
            </a:r>
          </a:p>
          <a:p>
            <a:pPr marL="0" indent="0">
              <a:buNone/>
            </a:pPr>
            <a:endParaRPr lang="en-US" sz="2800" i="1" dirty="0">
              <a:solidFill>
                <a:srgbClr val="000000"/>
              </a:solidFill>
            </a:endParaRPr>
          </a:p>
          <a:p>
            <a:pPr marL="0" indent="0">
              <a:buNone/>
            </a:pPr>
            <a:r>
              <a:rPr lang="en-US" sz="2800" dirty="0">
                <a:solidFill>
                  <a:srgbClr val="000000"/>
                </a:solidFill>
              </a:rPr>
              <a:t>The</a:t>
            </a:r>
            <a:r>
              <a:rPr lang="en-US" sz="2800" b="1" dirty="0">
                <a:solidFill>
                  <a:srgbClr val="000000"/>
                </a:solidFill>
              </a:rPr>
              <a:t> </a:t>
            </a:r>
            <a:r>
              <a:rPr lang="en-US" sz="2800" i="1" dirty="0">
                <a:solidFill>
                  <a:srgbClr val="000000"/>
                </a:solidFill>
              </a:rPr>
              <a:t>x-intercept</a:t>
            </a:r>
            <a:r>
              <a:rPr lang="en-US" sz="2800" dirty="0">
                <a:solidFill>
                  <a:srgbClr val="000000"/>
                </a:solidFill>
              </a:rPr>
              <a:t>, (</a:t>
            </a:r>
            <a:r>
              <a:rPr lang="en-US" sz="2800" i="1" dirty="0">
                <a:solidFill>
                  <a:srgbClr val="000000"/>
                </a:solidFill>
              </a:rPr>
              <a:t>x</a:t>
            </a:r>
            <a:r>
              <a:rPr lang="en-US" sz="2800" dirty="0">
                <a:solidFill>
                  <a:srgbClr val="000000"/>
                </a:solidFill>
              </a:rPr>
              <a:t>, 0), is where the line crosses the </a:t>
            </a:r>
            <a:r>
              <a:rPr lang="en-US" sz="2800" i="1" dirty="0">
                <a:solidFill>
                  <a:srgbClr val="000000"/>
                </a:solidFill>
              </a:rPr>
              <a:t>x</a:t>
            </a:r>
            <a:r>
              <a:rPr lang="en-US" sz="2800" dirty="0">
                <a:solidFill>
                  <a:srgbClr val="000000"/>
                </a:solidFill>
              </a:rPr>
              <a:t>-axis, so the  value of </a:t>
            </a:r>
            <a:r>
              <a:rPr lang="en-US" sz="2800" i="1" dirty="0">
                <a:solidFill>
                  <a:srgbClr val="000000"/>
                </a:solidFill>
              </a:rPr>
              <a:t>y</a:t>
            </a:r>
            <a:r>
              <a:rPr lang="en-US" sz="2800" dirty="0">
                <a:solidFill>
                  <a:srgbClr val="000000"/>
                </a:solidFill>
              </a:rPr>
              <a:t> is 0. To calculate an </a:t>
            </a:r>
            <a:r>
              <a:rPr lang="en-US" sz="2800" i="1" dirty="0">
                <a:solidFill>
                  <a:srgbClr val="000000"/>
                </a:solidFill>
              </a:rPr>
              <a:t>x</a:t>
            </a:r>
            <a:r>
              <a:rPr lang="en-US" sz="2800" dirty="0">
                <a:solidFill>
                  <a:srgbClr val="000000"/>
                </a:solidFill>
              </a:rPr>
              <a:t>-intercept, substitute 0 for </a:t>
            </a:r>
            <a:r>
              <a:rPr lang="en-US" sz="2800" i="1" dirty="0">
                <a:solidFill>
                  <a:srgbClr val="000000"/>
                </a:solidFill>
              </a:rPr>
              <a:t>y</a:t>
            </a:r>
            <a:r>
              <a:rPr lang="en-US" sz="2800" dirty="0">
                <a:solidFill>
                  <a:srgbClr val="000000"/>
                </a:solidFill>
              </a:rPr>
              <a:t> and solve the equation for </a:t>
            </a:r>
            <a:r>
              <a:rPr lang="en-US" sz="2800" i="1" dirty="0">
                <a:solidFill>
                  <a:srgbClr val="000000"/>
                </a:solidFill>
              </a:rPr>
              <a:t>x</a:t>
            </a:r>
            <a:r>
              <a:rPr lang="en-US" sz="2800" dirty="0">
                <a:solidFill>
                  <a:srgbClr val="000000"/>
                </a:solidFill>
              </a:rPr>
              <a:t>.</a:t>
            </a:r>
          </a:p>
        </p:txBody>
      </p:sp>
    </p:spTree>
    <p:extLst>
      <p:ext uri="{BB962C8B-B14F-4D97-AF65-F5344CB8AC3E}">
        <p14:creationId xmlns:p14="http://schemas.microsoft.com/office/powerpoint/2010/main" val="3480515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BFC33-9B38-592C-94CC-B7A9DA375B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2D4430-1A2F-DCDE-00F9-A23F20EA2905}"/>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(5 of 16)</a:t>
            </a:r>
          </a:p>
        </p:txBody>
      </p:sp>
      <p:sp>
        <p:nvSpPr>
          <p:cNvPr id="9" name="Text Placeholder 2">
            <a:extLst>
              <a:ext uri="{FF2B5EF4-FFF2-40B4-BE49-F238E27FC236}">
                <a16:creationId xmlns:a16="http://schemas.microsoft.com/office/drawing/2014/main" id="{C31E9831-87E7-16DF-C0D0-933BCB7AC047}"/>
              </a:ext>
            </a:extLst>
          </p:cNvPr>
          <p:cNvSpPr txBox="1">
            <a:spLocks/>
          </p:cNvSpPr>
          <p:nvPr/>
        </p:nvSpPr>
        <p:spPr>
          <a:xfrm>
            <a:off x="785004" y="1613140"/>
            <a:ext cx="9894498" cy="324617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Calculate and interpret the meanings of the </a:t>
            </a:r>
            <a:r>
              <a:rPr lang="en-US" sz="2800" i="1" dirty="0">
                <a:solidFill>
                  <a:srgbClr val="000000"/>
                </a:solidFill>
              </a:rPr>
              <a:t>x</a:t>
            </a:r>
            <a:r>
              <a:rPr lang="en-US" sz="2800" dirty="0">
                <a:solidFill>
                  <a:srgbClr val="000000"/>
                </a:solidFill>
              </a:rPr>
              <a:t>-intercept and</a:t>
            </a:r>
            <a:br>
              <a:rPr lang="en-US" sz="2800" dirty="0">
                <a:solidFill>
                  <a:srgbClr val="000000"/>
                </a:solidFill>
              </a:rPr>
            </a:br>
            <a:r>
              <a:rPr lang="en-US" sz="2800" i="1" dirty="0">
                <a:solidFill>
                  <a:srgbClr val="000000"/>
                </a:solidFill>
              </a:rPr>
              <a:t>y</a:t>
            </a:r>
            <a:r>
              <a:rPr lang="en-US" sz="2800" dirty="0">
                <a:solidFill>
                  <a:srgbClr val="000000"/>
                </a:solidFill>
              </a:rPr>
              <a:t>-intercept for this equation.</a:t>
            </a:r>
          </a:p>
        </p:txBody>
      </p:sp>
    </p:spTree>
    <p:extLst>
      <p:ext uri="{BB962C8B-B14F-4D97-AF65-F5344CB8AC3E}">
        <p14:creationId xmlns:p14="http://schemas.microsoft.com/office/powerpoint/2010/main" val="1854515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A6CDE-27D4-A07B-461A-2A4765DF42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8A5B51B-72B5-716C-852A-2819C64CAFE9}"/>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(6 of 16)</a:t>
            </a:r>
          </a:p>
        </p:txBody>
      </p:sp>
      <p:sp>
        <p:nvSpPr>
          <p:cNvPr id="9" name="Text Placeholder 2">
            <a:extLst>
              <a:ext uri="{FF2B5EF4-FFF2-40B4-BE49-F238E27FC236}">
                <a16:creationId xmlns:a16="http://schemas.microsoft.com/office/drawing/2014/main" id="{DA4A6FB3-CC17-E0DE-7CD8-12508E1C6050}"/>
              </a:ext>
            </a:extLst>
          </p:cNvPr>
          <p:cNvSpPr txBox="1">
            <a:spLocks/>
          </p:cNvSpPr>
          <p:nvPr/>
        </p:nvSpPr>
        <p:spPr>
          <a:xfrm>
            <a:off x="785004" y="1595888"/>
            <a:ext cx="10736436" cy="91439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dirty="0">
                <a:solidFill>
                  <a:srgbClr val="000000"/>
                </a:solidFill>
              </a:rPr>
              <a:t>Use the </a:t>
            </a:r>
            <a:r>
              <a:rPr lang="en-US" sz="2800" i="1" dirty="0">
                <a:solidFill>
                  <a:srgbClr val="000000"/>
                </a:solidFill>
              </a:rPr>
              <a:t>x</a:t>
            </a:r>
            <a:r>
              <a:rPr lang="en-US" sz="2800" dirty="0">
                <a:solidFill>
                  <a:srgbClr val="000000"/>
                </a:solidFill>
              </a:rPr>
              <a:t>-intercept and </a:t>
            </a:r>
            <a:r>
              <a:rPr lang="en-US" sz="2800" i="1" dirty="0">
                <a:solidFill>
                  <a:srgbClr val="000000"/>
                </a:solidFill>
              </a:rPr>
              <a:t>y</a:t>
            </a:r>
            <a:r>
              <a:rPr lang="en-US" sz="2800" dirty="0">
                <a:solidFill>
                  <a:srgbClr val="000000"/>
                </a:solidFill>
              </a:rPr>
              <a:t>-intercept to graph the equation of the line.</a:t>
            </a:r>
          </a:p>
        </p:txBody>
      </p:sp>
      <p:pic>
        <p:nvPicPr>
          <p:cNvPr id="3" name="Picture 2" descr="A coordinate plane. The x axis represents number of student tickets sold, and the y axis represents number of adult tickets sold.">
            <a:extLst>
              <a:ext uri="{FF2B5EF4-FFF2-40B4-BE49-F238E27FC236}">
                <a16:creationId xmlns:a16="http://schemas.microsoft.com/office/drawing/2014/main" id="{8912CCE2-137E-7329-1C91-B1BD488C270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851683" y="2510287"/>
            <a:ext cx="4487045" cy="4154022"/>
          </a:xfrm>
          <a:prstGeom prst="rect">
            <a:avLst/>
          </a:prstGeom>
        </p:spPr>
      </p:pic>
    </p:spTree>
    <p:extLst>
      <p:ext uri="{BB962C8B-B14F-4D97-AF65-F5344CB8AC3E}">
        <p14:creationId xmlns:p14="http://schemas.microsoft.com/office/powerpoint/2010/main" val="3106305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93D46-A66B-58F1-0661-39BA938A7EB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99173F-E853-ED53-352D-EE48CE27228E}"/>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(7 of 16)</a:t>
            </a:r>
          </a:p>
        </p:txBody>
      </p:sp>
      <p:sp>
        <p:nvSpPr>
          <p:cNvPr id="9" name="Text Placeholder 2">
            <a:extLst>
              <a:ext uri="{FF2B5EF4-FFF2-40B4-BE49-F238E27FC236}">
                <a16:creationId xmlns:a16="http://schemas.microsoft.com/office/drawing/2014/main" id="{4A396786-AE0E-E65C-A81A-BBEC362FEC5A}"/>
              </a:ext>
            </a:extLst>
          </p:cNvPr>
          <p:cNvSpPr txBox="1">
            <a:spLocks/>
          </p:cNvSpPr>
          <p:nvPr/>
        </p:nvSpPr>
        <p:spPr>
          <a:xfrm>
            <a:off x="785004" y="1604514"/>
            <a:ext cx="9885871" cy="153672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dirty="0">
                <a:solidFill>
                  <a:srgbClr val="000000"/>
                </a:solidFill>
              </a:rPr>
              <a:t>Determine the slope of this line. Interpret the meaning of the slope in this problem situation. </a:t>
            </a:r>
          </a:p>
        </p:txBody>
      </p:sp>
    </p:spTree>
    <p:extLst>
      <p:ext uri="{BB962C8B-B14F-4D97-AF65-F5344CB8AC3E}">
        <p14:creationId xmlns:p14="http://schemas.microsoft.com/office/powerpoint/2010/main" val="14606418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EF4C8-ACDE-C3CD-2140-4620E29E0EC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F257A7A-EE32-6913-958F-B2804DEB85A2}"/>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(8 of 16)</a:t>
            </a:r>
          </a:p>
        </p:txBody>
      </p:sp>
      <p:sp>
        <p:nvSpPr>
          <p:cNvPr id="9" name="Text Placeholder 2">
            <a:extLst>
              <a:ext uri="{FF2B5EF4-FFF2-40B4-BE49-F238E27FC236}">
                <a16:creationId xmlns:a16="http://schemas.microsoft.com/office/drawing/2014/main" id="{A19B70B2-4C49-C72F-25D8-2E45ED5FD137}"/>
              </a:ext>
            </a:extLst>
          </p:cNvPr>
          <p:cNvSpPr txBox="1">
            <a:spLocks/>
          </p:cNvSpPr>
          <p:nvPr/>
        </p:nvSpPr>
        <p:spPr>
          <a:xfrm>
            <a:off x="785004" y="1604514"/>
            <a:ext cx="10736436" cy="67286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6"/>
            </a:pPr>
            <a:r>
              <a:rPr lang="en-US" sz="2800" dirty="0">
                <a:solidFill>
                  <a:srgbClr val="000000"/>
                </a:solidFill>
              </a:rPr>
              <a:t>Complete the table. </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BED855A-1A6D-4ACA-E6F9-F92D6B60402B}"/>
                  </a:ext>
                </a:extLst>
              </p:cNvPr>
              <p:cNvGraphicFramePr>
                <a:graphicFrameLocks noGrp="1"/>
              </p:cNvGraphicFramePr>
              <p:nvPr>
                <p:extLst>
                  <p:ext uri="{D42A27DB-BD31-4B8C-83A1-F6EECF244321}">
                    <p14:modId xmlns:p14="http://schemas.microsoft.com/office/powerpoint/2010/main" val="15922052"/>
                  </p:ext>
                </p:extLst>
              </p:nvPr>
            </p:nvGraphicFramePr>
            <p:xfrm>
              <a:off x="1442110" y="2430720"/>
              <a:ext cx="7153835" cy="324516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443017902"/>
                        </a:ext>
                      </a:extLst>
                    </a:gridCol>
                    <a:gridCol w="1710466">
                      <a:extLst>
                        <a:ext uri="{9D8B030D-6E8A-4147-A177-3AD203B41FA5}">
                          <a16:colId xmlns:a16="http://schemas.microsoft.com/office/drawing/2014/main" val="3373542504"/>
                        </a:ext>
                      </a:extLst>
                    </a:gridCol>
                    <a:gridCol w="1731981">
                      <a:extLst>
                        <a:ext uri="{9D8B030D-6E8A-4147-A177-3AD203B41FA5}">
                          <a16:colId xmlns:a16="http://schemas.microsoft.com/office/drawing/2014/main" val="3987726208"/>
                        </a:ext>
                      </a:extLst>
                    </a:gridCol>
                    <a:gridCol w="1699708">
                      <a:extLst>
                        <a:ext uri="{9D8B030D-6E8A-4147-A177-3AD203B41FA5}">
                          <a16:colId xmlns:a16="http://schemas.microsoft.com/office/drawing/2014/main" val="1465956765"/>
                        </a:ext>
                      </a:extLst>
                    </a:gridCol>
                  </a:tblGrid>
                  <a:tr h="548640">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algn="ct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-Intercept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-Intercept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Slope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extLst>
                      <a:ext uri="{0D108BD9-81ED-4DB2-BD59-A6C34878D82A}">
                        <a16:rowId xmlns:a16="http://schemas.microsoft.com/office/drawing/2014/main" val="4005156431"/>
                      </a:ext>
                    </a:extLst>
                  </a:tr>
                  <a:tr h="640080">
                    <a:tc>
                      <a:txBody>
                        <a:bodyPr/>
                        <a:lstStyle/>
                        <a:p>
                          <a:pPr algn="ctr"/>
                          <a:r>
                            <a:rPr lang="en-US" sz="2000" b="0" dirty="0">
                              <a:solidFill>
                                <a:srgbClr val="000000"/>
                              </a:solidFill>
                            </a:rPr>
                            <a:t>5</a:t>
                          </a:r>
                          <a:r>
                            <a:rPr lang="en-US" sz="2000" b="0" i="1" dirty="0">
                              <a:solidFill>
                                <a:srgbClr val="000000"/>
                              </a:solidFill>
                            </a:rPr>
                            <a:t>x</a:t>
                          </a:r>
                          <a:r>
                            <a:rPr lang="en-US" sz="2000" b="0" dirty="0">
                              <a:solidFill>
                                <a:srgbClr val="000000"/>
                              </a:solidFill>
                            </a:rPr>
                            <a:t> + 2</a:t>
                          </a:r>
                          <a:r>
                            <a:rPr lang="en-US" sz="2000" b="0" i="1" dirty="0">
                              <a:solidFill>
                                <a:srgbClr val="000000"/>
                              </a:solidFill>
                            </a:rPr>
                            <a:t>y</a:t>
                          </a:r>
                          <a:r>
                            <a:rPr lang="en-US" sz="2000" b="0" dirty="0">
                              <a:solidFill>
                                <a:srgbClr val="000000"/>
                              </a:solidFill>
                            </a:rPr>
                            <a:t> = 6</a:t>
                          </a: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2527263"/>
                      </a:ext>
                    </a:extLst>
                  </a:tr>
                  <a:tr h="640080">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d>
                                  <m:dPr>
                                    <m:ctrlPr>
                                      <a:rPr lang="en-US" sz="2000" i="1" smtClean="0">
                                        <a:solidFill>
                                          <a:srgbClr val="000000"/>
                                        </a:solidFill>
                                        <a:latin typeface="Cambria Math" panose="02040503050406030204" pitchFamily="18" charset="0"/>
                                      </a:rPr>
                                    </m:ctrlPr>
                                  </m:dPr>
                                  <m:e>
                                    <m:f>
                                      <m:fPr>
                                        <m:ctrlPr>
                                          <a:rPr lang="en-US" sz="200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7</m:t>
                                        </m:r>
                                      </m:num>
                                      <m:den>
                                        <m:r>
                                          <a:rPr lang="en-US" sz="2000" b="0" i="1" smtClean="0">
                                            <a:solidFill>
                                              <a:srgbClr val="000000"/>
                                            </a:solidFill>
                                            <a:latin typeface="Cambria Math" panose="02040503050406030204" pitchFamily="18" charset="0"/>
                                          </a:rPr>
                                          <m:t>3</m:t>
                                        </m:r>
                                      </m:den>
                                    </m:f>
                                    <m:r>
                                      <a:rPr lang="en-US" sz="2000" b="0" i="1" smtClean="0">
                                        <a:solidFill>
                                          <a:srgbClr val="000000"/>
                                        </a:solidFill>
                                        <a:latin typeface="Cambria Math" panose="02040503050406030204" pitchFamily="18" charset="0"/>
                                      </a:rPr>
                                      <m:t>, 0</m:t>
                                    </m:r>
                                  </m:e>
                                </m:d>
                              </m:oMath>
                            </m:oMathPara>
                          </a14:m>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baseline="0" dirty="0">
                              <a:solidFill>
                                <a:srgbClr val="000000"/>
                              </a:solidFill>
                            </a:rPr>
                            <a:t>m</a:t>
                          </a:r>
                          <a:r>
                            <a:rPr lang="en-US" sz="2000" b="0" baseline="0" dirty="0">
                              <a:solidFill>
                                <a:srgbClr val="000000"/>
                              </a:solidFill>
                            </a:rPr>
                            <a:t> = </a:t>
                          </a:r>
                          <a14:m>
                            <m:oMath xmlns:m="http://schemas.openxmlformats.org/officeDocument/2006/math">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3</m:t>
                                  </m:r>
                                </m:num>
                                <m:den>
                                  <m:r>
                                    <a:rPr lang="en-US" sz="2000" b="0" i="1" smtClean="0">
                                      <a:solidFill>
                                        <a:srgbClr val="000000"/>
                                      </a:solidFill>
                                      <a:latin typeface="Cambria Math" panose="02040503050406030204" pitchFamily="18" charset="0"/>
                                    </a:rPr>
                                    <m:t>4</m:t>
                                  </m:r>
                                </m:den>
                              </m:f>
                            </m:oMath>
                          </a14:m>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2366635"/>
                      </a:ext>
                    </a:extLst>
                  </a:tr>
                  <a:tr h="640080">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rPr>
                            <a:t>(0, 23)</a:t>
                          </a: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rPr>
                            <a:t>m</a:t>
                          </a:r>
                          <a:r>
                            <a:rPr lang="en-US" sz="2000" b="0" baseline="0" dirty="0">
                              <a:solidFill>
                                <a:srgbClr val="000000"/>
                              </a:solidFill>
                            </a:rPr>
                            <a:t> = </a:t>
                          </a:r>
                          <a14:m>
                            <m:oMath xmlns:m="http://schemas.openxmlformats.org/officeDocument/2006/math">
                              <m:f>
                                <m:fPr>
                                  <m:ctrlPr>
                                    <a:rPr lang="en-US" sz="2000" b="0" i="1" smtClean="0">
                                      <a:solidFill>
                                        <a:srgbClr val="000000"/>
                                      </a:solidFill>
                                      <a:latin typeface="Cambria Math" panose="02040503050406030204" pitchFamily="18" charset="0"/>
                                    </a:rPr>
                                  </m:ctrlPr>
                                </m:fPr>
                                <m:num>
                                  <m:r>
                                    <a:rPr lang="en-US" sz="2000" b="0" i="1" smtClean="0">
                                      <a:solidFill>
                                        <a:srgbClr val="000000"/>
                                      </a:solidFill>
                                      <a:latin typeface="Cambria Math" panose="02040503050406030204" pitchFamily="18" charset="0"/>
                                    </a:rPr>
                                    <m:t>2</m:t>
                                  </m:r>
                                </m:num>
                                <m:den>
                                  <m:r>
                                    <a:rPr lang="en-US" sz="2000" b="0" i="1" smtClean="0">
                                      <a:solidFill>
                                        <a:srgbClr val="000000"/>
                                      </a:solidFill>
                                      <a:latin typeface="Cambria Math" panose="02040503050406030204" pitchFamily="18" charset="0"/>
                                    </a:rPr>
                                    <m:t>3</m:t>
                                  </m:r>
                                </m:den>
                              </m:f>
                            </m:oMath>
                          </a14:m>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9793154"/>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−5</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+ 7</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84198"/>
                      </a:ext>
                    </a:extLst>
                  </a:tr>
                </a:tbl>
              </a:graphicData>
            </a:graphic>
          </p:graphicFrame>
        </mc:Choice>
        <mc:Fallback xmlns="">
          <p:graphicFrame>
            <p:nvGraphicFramePr>
              <p:cNvPr id="2" name="Table 1">
                <a:extLst>
                  <a:ext uri="{FF2B5EF4-FFF2-40B4-BE49-F238E27FC236}">
                    <a16:creationId xmlns:a16="http://schemas.microsoft.com/office/drawing/2014/main" id="{EBED855A-1A6D-4ACA-E6F9-F92D6B60402B}"/>
                  </a:ext>
                </a:extLst>
              </p:cNvPr>
              <p:cNvGraphicFramePr>
                <a:graphicFrameLocks noGrp="1"/>
              </p:cNvGraphicFramePr>
              <p:nvPr>
                <p:extLst>
                  <p:ext uri="{D42A27DB-BD31-4B8C-83A1-F6EECF244321}">
                    <p14:modId xmlns:p14="http://schemas.microsoft.com/office/powerpoint/2010/main" val="15922052"/>
                  </p:ext>
                </p:extLst>
              </p:nvPr>
            </p:nvGraphicFramePr>
            <p:xfrm>
              <a:off x="1442110" y="2430720"/>
              <a:ext cx="7153835" cy="324516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443017902"/>
                        </a:ext>
                      </a:extLst>
                    </a:gridCol>
                    <a:gridCol w="1710466">
                      <a:extLst>
                        <a:ext uri="{9D8B030D-6E8A-4147-A177-3AD203B41FA5}">
                          <a16:colId xmlns:a16="http://schemas.microsoft.com/office/drawing/2014/main" val="3373542504"/>
                        </a:ext>
                      </a:extLst>
                    </a:gridCol>
                    <a:gridCol w="1731981">
                      <a:extLst>
                        <a:ext uri="{9D8B030D-6E8A-4147-A177-3AD203B41FA5}">
                          <a16:colId xmlns:a16="http://schemas.microsoft.com/office/drawing/2014/main" val="3987726208"/>
                        </a:ext>
                      </a:extLst>
                    </a:gridCol>
                    <a:gridCol w="1699708">
                      <a:extLst>
                        <a:ext uri="{9D8B030D-6E8A-4147-A177-3AD203B41FA5}">
                          <a16:colId xmlns:a16="http://schemas.microsoft.com/office/drawing/2014/main" val="1465956765"/>
                        </a:ext>
                      </a:extLst>
                    </a:gridCol>
                  </a:tblGrid>
                  <a:tr h="548640">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Standard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algn="ctr"/>
                          <a:r>
                            <a:rPr lang="en-US" sz="2000" i="1" dirty="0">
                              <a:latin typeface="Calibri" panose="020F0502020204030204" pitchFamily="34" charset="0"/>
                              <a:ea typeface="Calibri" panose="020F0502020204030204" pitchFamily="34" charset="0"/>
                              <a:cs typeface="Calibri" panose="020F0502020204030204" pitchFamily="34" charset="0"/>
                            </a:rPr>
                            <a:t>x</a:t>
                          </a:r>
                          <a:r>
                            <a:rPr lang="en-US" sz="2000" dirty="0">
                              <a:latin typeface="Calibri" panose="020F0502020204030204" pitchFamily="34" charset="0"/>
                              <a:ea typeface="Calibri" panose="020F0502020204030204" pitchFamily="34" charset="0"/>
                              <a:cs typeface="Calibri" panose="020F0502020204030204" pitchFamily="34" charset="0"/>
                            </a:rPr>
                            <a:t>-Intercept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i="1" dirty="0">
                              <a:latin typeface="Calibri" panose="020F0502020204030204" pitchFamily="34" charset="0"/>
                              <a:ea typeface="Calibri" panose="020F0502020204030204" pitchFamily="34" charset="0"/>
                              <a:cs typeface="Calibri" panose="020F0502020204030204" pitchFamily="34" charset="0"/>
                            </a:rPr>
                            <a:t>y</a:t>
                          </a:r>
                          <a:r>
                            <a:rPr lang="en-US" sz="2000" dirty="0">
                              <a:latin typeface="Calibri" panose="020F0502020204030204" pitchFamily="34" charset="0"/>
                              <a:ea typeface="Calibri" panose="020F0502020204030204" pitchFamily="34" charset="0"/>
                              <a:cs typeface="Calibri" panose="020F0502020204030204" pitchFamily="34" charset="0"/>
                            </a:rPr>
                            <a:t>-Intercept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Slope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8F4C"/>
                        </a:solidFill>
                      </a:tcPr>
                    </a:tc>
                    <a:extLst>
                      <a:ext uri="{0D108BD9-81ED-4DB2-BD59-A6C34878D82A}">
                        <a16:rowId xmlns:a16="http://schemas.microsoft.com/office/drawing/2014/main" val="4005156431"/>
                      </a:ext>
                    </a:extLst>
                  </a:tr>
                  <a:tr h="640080">
                    <a:tc>
                      <a:txBody>
                        <a:bodyPr/>
                        <a:lstStyle/>
                        <a:p>
                          <a:pPr algn="ctr"/>
                          <a:r>
                            <a:rPr lang="en-US" sz="2000" b="0" dirty="0">
                              <a:solidFill>
                                <a:srgbClr val="000000"/>
                              </a:solidFill>
                            </a:rPr>
                            <a:t>5</a:t>
                          </a:r>
                          <a:r>
                            <a:rPr lang="en-US" sz="2000" b="0" i="1" dirty="0">
                              <a:solidFill>
                                <a:srgbClr val="000000"/>
                              </a:solidFill>
                            </a:rPr>
                            <a:t>x</a:t>
                          </a:r>
                          <a:r>
                            <a:rPr lang="en-US" sz="2000" b="0" dirty="0">
                              <a:solidFill>
                                <a:srgbClr val="000000"/>
                              </a:solidFill>
                            </a:rPr>
                            <a:t> + 2</a:t>
                          </a:r>
                          <a:r>
                            <a:rPr lang="en-US" sz="2000" b="0" i="1" dirty="0">
                              <a:solidFill>
                                <a:srgbClr val="000000"/>
                              </a:solidFill>
                            </a:rPr>
                            <a:t>y</a:t>
                          </a:r>
                          <a:r>
                            <a:rPr lang="en-US" sz="2000" b="0" dirty="0">
                              <a:solidFill>
                                <a:srgbClr val="000000"/>
                              </a:solidFill>
                            </a:rPr>
                            <a:t> = 6</a:t>
                          </a: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2527263"/>
                      </a:ext>
                    </a:extLst>
                  </a:tr>
                  <a:tr h="776288">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17794" t="-155118" r="-201423" b="-167717"/>
                          </a:stretch>
                        </a:blip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21505" t="-155118" r="-717" b="-167717"/>
                          </a:stretch>
                        </a:blipFill>
                      </a:tcPr>
                    </a:tc>
                    <a:extLst>
                      <a:ext uri="{0D108BD9-81ED-4DB2-BD59-A6C34878D82A}">
                        <a16:rowId xmlns:a16="http://schemas.microsoft.com/office/drawing/2014/main" val="4182366635"/>
                      </a:ext>
                    </a:extLst>
                  </a:tr>
                  <a:tr h="640080">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rPr>
                            <a:t>(0, 23)</a:t>
                          </a: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321505" t="-305660" r="-717" b="-100943"/>
                          </a:stretch>
                        </a:blipFill>
                      </a:tcPr>
                    </a:tc>
                    <a:extLst>
                      <a:ext uri="{0D108BD9-81ED-4DB2-BD59-A6C34878D82A}">
                        <a16:rowId xmlns:a16="http://schemas.microsoft.com/office/drawing/2014/main" val="2459793154"/>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−5</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+ 7</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84198"/>
                      </a:ext>
                    </a:extLst>
                  </a:tr>
                </a:tbl>
              </a:graphicData>
            </a:graphic>
          </p:graphicFrame>
        </mc:Fallback>
      </mc:AlternateContent>
    </p:spTree>
    <p:extLst>
      <p:ext uri="{BB962C8B-B14F-4D97-AF65-F5344CB8AC3E}">
        <p14:creationId xmlns:p14="http://schemas.microsoft.com/office/powerpoint/2010/main" val="2156797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FCAA0-A3F4-1D36-7AF6-45DD8E44CC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3D39D3-0C49-C2D6-F8CE-0C4B45BB875C}"/>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(9 of 16)</a:t>
            </a:r>
          </a:p>
        </p:txBody>
      </p:sp>
      <p:sp>
        <p:nvSpPr>
          <p:cNvPr id="9" name="Text Placeholder 2">
            <a:extLst>
              <a:ext uri="{FF2B5EF4-FFF2-40B4-BE49-F238E27FC236}">
                <a16:creationId xmlns:a16="http://schemas.microsoft.com/office/drawing/2014/main" id="{48BB10A7-DC14-18A9-9D3E-3D666E9EE2AE}"/>
              </a:ext>
            </a:extLst>
          </p:cNvPr>
          <p:cNvSpPr txBox="1">
            <a:spLocks/>
          </p:cNvSpPr>
          <p:nvPr/>
        </p:nvSpPr>
        <p:spPr>
          <a:xfrm>
            <a:off x="785004" y="1604513"/>
            <a:ext cx="10015268" cy="456337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Aft>
                <a:spcPts val="600"/>
              </a:spcAft>
              <a:buFont typeface="+mj-lt"/>
              <a:buAutoNum type="arabicPeriod" startAt="7"/>
            </a:pPr>
            <a:r>
              <a:rPr lang="en-US" sz="2800" dirty="0">
                <a:solidFill>
                  <a:srgbClr val="000000"/>
                </a:solidFill>
              </a:rPr>
              <a:t>What do you notice about the relationship between the integers </a:t>
            </a:r>
            <a:r>
              <a:rPr lang="en-US" sz="2800" i="1" dirty="0">
                <a:solidFill>
                  <a:srgbClr val="000000"/>
                </a:solidFill>
              </a:rPr>
              <a:t>A</a:t>
            </a:r>
            <a:r>
              <a:rPr lang="en-US" sz="2800" dirty="0">
                <a:solidFill>
                  <a:srgbClr val="000000"/>
                </a:solidFill>
              </a:rPr>
              <a:t>, </a:t>
            </a:r>
            <a:r>
              <a:rPr lang="en-US" sz="2800" i="1" dirty="0">
                <a:solidFill>
                  <a:srgbClr val="000000"/>
                </a:solidFill>
              </a:rPr>
              <a:t>B</a:t>
            </a:r>
            <a:r>
              <a:rPr lang="en-US" sz="2800" dirty="0">
                <a:solidFill>
                  <a:srgbClr val="000000"/>
                </a:solidFill>
              </a:rPr>
              <a:t>, and </a:t>
            </a:r>
            <a:r>
              <a:rPr lang="en-US" sz="2800" i="1" dirty="0">
                <a:solidFill>
                  <a:srgbClr val="000000"/>
                </a:solidFill>
              </a:rPr>
              <a:t>C</a:t>
            </a:r>
            <a:r>
              <a:rPr lang="en-US" sz="2800" dirty="0">
                <a:solidFill>
                  <a:srgbClr val="000000"/>
                </a:solidFill>
              </a:rPr>
              <a:t> from the standard form and</a:t>
            </a:r>
          </a:p>
          <a:p>
            <a:pPr marL="1027113" lvl="1" indent="-514350">
              <a:buFont typeface="+mj-lt"/>
              <a:buAutoNum type="alphaLcPeriod"/>
            </a:pPr>
            <a:r>
              <a:rPr lang="en-US" dirty="0">
                <a:solidFill>
                  <a:srgbClr val="000000"/>
                </a:solidFill>
              </a:rPr>
              <a:t>the </a:t>
            </a:r>
            <a:r>
              <a:rPr lang="en-US" i="1" dirty="0">
                <a:solidFill>
                  <a:srgbClr val="000000"/>
                </a:solidFill>
              </a:rPr>
              <a:t>x</a:t>
            </a:r>
            <a:r>
              <a:rPr lang="en-US" dirty="0">
                <a:solidFill>
                  <a:srgbClr val="000000"/>
                </a:solidFill>
              </a:rPr>
              <a:t>-intercepts?</a:t>
            </a:r>
            <a:br>
              <a:rPr lang="en-US" dirty="0">
                <a:solidFill>
                  <a:srgbClr val="000000"/>
                </a:solidFill>
              </a:rPr>
            </a:br>
            <a:br>
              <a:rPr lang="en-US" dirty="0">
                <a:solidFill>
                  <a:srgbClr val="000000"/>
                </a:solidFill>
              </a:rPr>
            </a:br>
            <a:endParaRPr lang="en-US" dirty="0">
              <a:solidFill>
                <a:srgbClr val="000000"/>
              </a:solidFill>
            </a:endParaRPr>
          </a:p>
          <a:p>
            <a:pPr marL="1027113" lvl="1" indent="-514350">
              <a:buFont typeface="+mj-lt"/>
              <a:buAutoNum type="alphaLcPeriod"/>
            </a:pPr>
            <a:r>
              <a:rPr lang="en-US" dirty="0">
                <a:solidFill>
                  <a:srgbClr val="000000"/>
                </a:solidFill>
              </a:rPr>
              <a:t>the </a:t>
            </a:r>
            <a:r>
              <a:rPr lang="en-US" i="1" dirty="0">
                <a:solidFill>
                  <a:srgbClr val="000000"/>
                </a:solidFill>
              </a:rPr>
              <a:t>y</a:t>
            </a:r>
            <a:r>
              <a:rPr lang="en-US" dirty="0">
                <a:solidFill>
                  <a:srgbClr val="000000"/>
                </a:solidFill>
              </a:rPr>
              <a:t>-intercepts?</a:t>
            </a:r>
            <a:br>
              <a:rPr lang="en-US" dirty="0">
                <a:solidFill>
                  <a:srgbClr val="000000"/>
                </a:solidFill>
              </a:rPr>
            </a:br>
            <a:br>
              <a:rPr lang="en-US" dirty="0">
                <a:solidFill>
                  <a:srgbClr val="000000"/>
                </a:solidFill>
              </a:rPr>
            </a:br>
            <a:endParaRPr lang="en-US" dirty="0">
              <a:solidFill>
                <a:srgbClr val="000000"/>
              </a:solidFill>
            </a:endParaRPr>
          </a:p>
          <a:p>
            <a:pPr marL="1027113" lvl="1" indent="-514350">
              <a:buFont typeface="+mj-lt"/>
              <a:buAutoNum type="alphaLcPeriod"/>
            </a:pPr>
            <a:r>
              <a:rPr lang="en-US" dirty="0">
                <a:solidFill>
                  <a:srgbClr val="000000"/>
                </a:solidFill>
              </a:rPr>
              <a:t>the slope?</a:t>
            </a:r>
          </a:p>
        </p:txBody>
      </p:sp>
    </p:spTree>
    <p:extLst>
      <p:ext uri="{BB962C8B-B14F-4D97-AF65-F5344CB8AC3E}">
        <p14:creationId xmlns:p14="http://schemas.microsoft.com/office/powerpoint/2010/main" val="18869741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35A2D-21D3-597A-4792-D17D2F68279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549A3AD-605C-59FB-797A-1E7D04519B27}"/>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(10 of 16)</a:t>
            </a:r>
          </a:p>
        </p:txBody>
      </p:sp>
      <p:sp>
        <p:nvSpPr>
          <p:cNvPr id="9" name="Text Placeholder 2">
            <a:extLst>
              <a:ext uri="{FF2B5EF4-FFF2-40B4-BE49-F238E27FC236}">
                <a16:creationId xmlns:a16="http://schemas.microsoft.com/office/drawing/2014/main" id="{0C69950E-0AC9-6912-7EC8-C1467489CF42}"/>
              </a:ext>
            </a:extLst>
          </p:cNvPr>
          <p:cNvSpPr txBox="1">
            <a:spLocks/>
          </p:cNvSpPr>
          <p:nvPr/>
        </p:nvSpPr>
        <p:spPr>
          <a:xfrm>
            <a:off x="785004" y="1587260"/>
            <a:ext cx="8154600" cy="117976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8"/>
            </a:pPr>
            <a:r>
              <a:rPr lang="en-US" sz="2800" dirty="0">
                <a:solidFill>
                  <a:srgbClr val="000000"/>
                </a:solidFill>
              </a:rPr>
              <a:t>Match each graph with the correct equation written in standard form. Explain your reasoning.</a:t>
            </a:r>
          </a:p>
        </p:txBody>
      </p:sp>
      <p:sp>
        <p:nvSpPr>
          <p:cNvPr id="6" name="Text Placeholder 2">
            <a:extLst>
              <a:ext uri="{FF2B5EF4-FFF2-40B4-BE49-F238E27FC236}">
                <a16:creationId xmlns:a16="http://schemas.microsoft.com/office/drawing/2014/main" id="{82E97E72-F252-61DF-564A-F413755D78AC}"/>
              </a:ext>
            </a:extLst>
          </p:cNvPr>
          <p:cNvSpPr txBox="1">
            <a:spLocks/>
          </p:cNvSpPr>
          <p:nvPr/>
        </p:nvSpPr>
        <p:spPr>
          <a:xfrm>
            <a:off x="785004" y="2898290"/>
            <a:ext cx="3885014" cy="298255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27113" indent="-514350">
              <a:buFont typeface="+mj-lt"/>
              <a:buAutoNum type="alphaLcPeriod"/>
            </a:pPr>
            <a:r>
              <a:rPr lang="en-US" sz="2800" b="0" dirty="0">
                <a:solidFill>
                  <a:srgbClr val="000000"/>
                </a:solidFill>
              </a:rPr>
              <a:t>3</a:t>
            </a:r>
            <a:r>
              <a:rPr lang="en-US" sz="2800" b="0" i="1" dirty="0">
                <a:solidFill>
                  <a:srgbClr val="000000"/>
                </a:solidFill>
              </a:rPr>
              <a:t>x</a:t>
            </a:r>
            <a:r>
              <a:rPr lang="en-US" sz="2800" b="0" dirty="0">
                <a:solidFill>
                  <a:srgbClr val="000000"/>
                </a:solidFill>
              </a:rPr>
              <a:t> – 12</a:t>
            </a:r>
            <a:r>
              <a:rPr lang="en-US" sz="2800" b="0" i="1" dirty="0">
                <a:solidFill>
                  <a:srgbClr val="000000"/>
                </a:solidFill>
              </a:rPr>
              <a:t>y</a:t>
            </a:r>
            <a:r>
              <a:rPr lang="en-US" sz="2800" b="0" dirty="0">
                <a:solidFill>
                  <a:srgbClr val="000000"/>
                </a:solidFill>
              </a:rPr>
              <a:t> = −60</a:t>
            </a:r>
          </a:p>
          <a:p>
            <a:pPr marL="514350" indent="-514350">
              <a:buFont typeface="+mj-lt"/>
              <a:buAutoNum type="alphaLcPeriod"/>
            </a:pPr>
            <a:endParaRPr lang="en-US" sz="2800" b="0" dirty="0">
              <a:solidFill>
                <a:srgbClr val="000000"/>
              </a:solidFill>
            </a:endParaRPr>
          </a:p>
          <a:p>
            <a:pPr marL="1027113" indent="-514350">
              <a:buFont typeface="+mj-lt"/>
              <a:buAutoNum type="alphaLcPeriod"/>
            </a:pPr>
            <a:r>
              <a:rPr lang="en-US" sz="2800" b="0" dirty="0">
                <a:solidFill>
                  <a:srgbClr val="000000"/>
                </a:solidFill>
              </a:rPr>
              <a:t>6</a:t>
            </a:r>
            <a:r>
              <a:rPr lang="en-US" sz="2800" b="0" i="1" dirty="0">
                <a:solidFill>
                  <a:srgbClr val="000000"/>
                </a:solidFill>
              </a:rPr>
              <a:t>x</a:t>
            </a:r>
            <a:r>
              <a:rPr lang="en-US" sz="2800" b="0" dirty="0">
                <a:solidFill>
                  <a:srgbClr val="000000"/>
                </a:solidFill>
              </a:rPr>
              <a:t> – </a:t>
            </a:r>
            <a:r>
              <a:rPr lang="en-US" sz="2800" dirty="0">
                <a:solidFill>
                  <a:srgbClr val="000000"/>
                </a:solidFill>
              </a:rPr>
              <a:t>2</a:t>
            </a:r>
            <a:r>
              <a:rPr lang="en-US" sz="2800" i="1" dirty="0">
                <a:solidFill>
                  <a:srgbClr val="000000"/>
                </a:solidFill>
              </a:rPr>
              <a:t>y</a:t>
            </a:r>
            <a:r>
              <a:rPr lang="en-US" sz="2800" dirty="0">
                <a:solidFill>
                  <a:srgbClr val="000000"/>
                </a:solidFill>
              </a:rPr>
              <a:t> = −10</a:t>
            </a:r>
            <a:endParaRPr lang="en-US" sz="2800" b="0" dirty="0">
              <a:solidFill>
                <a:srgbClr val="000000"/>
              </a:solidFill>
            </a:endParaRPr>
          </a:p>
          <a:p>
            <a:pPr marL="0" indent="0">
              <a:buNone/>
            </a:pPr>
            <a:endParaRPr lang="en-US" sz="2800" b="0" dirty="0">
              <a:solidFill>
                <a:srgbClr val="000000"/>
              </a:solidFill>
            </a:endParaRPr>
          </a:p>
          <a:p>
            <a:pPr marL="1027113" indent="-514350">
              <a:buFont typeface="+mj-lt"/>
              <a:buAutoNum type="alphaLcPeriod" startAt="3"/>
            </a:pPr>
            <a:r>
              <a:rPr lang="en-US" sz="2800" dirty="0">
                <a:solidFill>
                  <a:srgbClr val="000000"/>
                </a:solidFill>
              </a:rPr>
              <a:t>9</a:t>
            </a:r>
            <a:r>
              <a:rPr lang="en-US" sz="2800" i="1" dirty="0">
                <a:solidFill>
                  <a:srgbClr val="000000"/>
                </a:solidFill>
              </a:rPr>
              <a:t>x</a:t>
            </a:r>
            <a:r>
              <a:rPr lang="en-US" sz="2800" dirty="0">
                <a:solidFill>
                  <a:srgbClr val="000000"/>
                </a:solidFill>
              </a:rPr>
              <a:t> – 9</a:t>
            </a:r>
            <a:r>
              <a:rPr lang="en-US" sz="2800" i="1" dirty="0">
                <a:solidFill>
                  <a:srgbClr val="000000"/>
                </a:solidFill>
              </a:rPr>
              <a:t>y</a:t>
            </a:r>
            <a:r>
              <a:rPr lang="en-US" sz="2800" dirty="0">
                <a:solidFill>
                  <a:srgbClr val="000000"/>
                </a:solidFill>
              </a:rPr>
              <a:t> = −45</a:t>
            </a:r>
          </a:p>
          <a:p>
            <a:pPr marL="514350" indent="-514350">
              <a:buFont typeface="+mj-lt"/>
              <a:buAutoNum type="alphaLcPeriod" startAt="3"/>
            </a:pPr>
            <a:endParaRPr lang="en-US" sz="2800" dirty="0">
              <a:solidFill>
                <a:srgbClr val="000000"/>
              </a:solidFill>
            </a:endParaRPr>
          </a:p>
        </p:txBody>
      </p:sp>
      <p:pic>
        <p:nvPicPr>
          <p:cNvPr id="3" name="Picture 2" descr="A graph of 3 lines on the coordinate plane. The lines rise from left to right through the same point on the y-axis. Line 1 is the steepest. Line 3 is the shallowest. Line 2 is between lines 1 and 3.">
            <a:extLst>
              <a:ext uri="{FF2B5EF4-FFF2-40B4-BE49-F238E27FC236}">
                <a16:creationId xmlns:a16="http://schemas.microsoft.com/office/drawing/2014/main" id="{29A7C47E-DDFC-A004-CAC5-03B317507D2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435755" y="2767023"/>
            <a:ext cx="3333277" cy="3065792"/>
          </a:xfrm>
          <a:prstGeom prst="rect">
            <a:avLst/>
          </a:prstGeom>
        </p:spPr>
      </p:pic>
      <p:sp>
        <p:nvSpPr>
          <p:cNvPr id="5" name="TextBox 4">
            <a:extLst>
              <a:ext uri="{FF2B5EF4-FFF2-40B4-BE49-F238E27FC236}">
                <a16:creationId xmlns:a16="http://schemas.microsoft.com/office/drawing/2014/main" id="{2D1FD084-2B5F-5926-1FA1-8B70CCDA741B}"/>
              </a:ext>
            </a:extLst>
          </p:cNvPr>
          <p:cNvSpPr txBox="1"/>
          <p:nvPr/>
        </p:nvSpPr>
        <p:spPr>
          <a:xfrm>
            <a:off x="9187132" y="1742535"/>
            <a:ext cx="2346385" cy="2647033"/>
          </a:xfrm>
          <a:prstGeom prst="rect">
            <a:avLst/>
          </a:prstGeom>
          <a:noFill/>
          <a:ln w="31750">
            <a:solidFill>
              <a:srgbClr val="008F4C"/>
            </a:solidFill>
            <a:prstDash val="sysDot"/>
          </a:ln>
        </p:spPr>
        <p:txBody>
          <a:bodyPr wrap="square" lIns="182880" rtlCol="0" anchor="ctr" anchorCtr="0">
            <a:noAutofit/>
          </a:bodyPr>
          <a:lstStyle/>
          <a:p>
            <a:r>
              <a:rPr lang="en-US" sz="2000" dirty="0">
                <a:solidFill>
                  <a:srgbClr val="000000"/>
                </a:solidFill>
              </a:rPr>
              <a:t>Notice that there are no values on the </a:t>
            </a:r>
            <a:r>
              <a:rPr lang="en-US" sz="2000" i="1" dirty="0">
                <a:solidFill>
                  <a:srgbClr val="000000"/>
                </a:solidFill>
              </a:rPr>
              <a:t>x</a:t>
            </a:r>
            <a:r>
              <a:rPr lang="en-US" sz="2000" dirty="0">
                <a:solidFill>
                  <a:srgbClr val="000000"/>
                </a:solidFill>
              </a:rPr>
              <a:t>- and </a:t>
            </a:r>
            <a:r>
              <a:rPr lang="en-US" sz="2000" i="1" dirty="0">
                <a:solidFill>
                  <a:srgbClr val="000000"/>
                </a:solidFill>
              </a:rPr>
              <a:t>y</a:t>
            </a:r>
            <a:r>
              <a:rPr lang="en-US" sz="2000" dirty="0">
                <a:solidFill>
                  <a:srgbClr val="000000"/>
                </a:solidFill>
              </a:rPr>
              <a:t>-axis. What strategies</a:t>
            </a:r>
            <a:br>
              <a:rPr lang="en-US" sz="2000" dirty="0">
                <a:solidFill>
                  <a:srgbClr val="000000"/>
                </a:solidFill>
              </a:rPr>
            </a:br>
            <a:r>
              <a:rPr lang="en-US" sz="2000" dirty="0">
                <a:solidFill>
                  <a:srgbClr val="000000"/>
                </a:solidFill>
              </a:rPr>
              <a:t>can you use to determine which graph goes with which equation?</a:t>
            </a:r>
          </a:p>
        </p:txBody>
      </p:sp>
    </p:spTree>
    <p:extLst>
      <p:ext uri="{BB962C8B-B14F-4D97-AF65-F5344CB8AC3E}">
        <p14:creationId xmlns:p14="http://schemas.microsoft.com/office/powerpoint/2010/main" val="13344188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A380C-6167-281E-E54D-C84E71F4FB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357E6B-1ECC-9318-214D-DB0477EB7603}"/>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(11 of 16)</a:t>
            </a:r>
          </a:p>
        </p:txBody>
      </p:sp>
      <p:sp>
        <p:nvSpPr>
          <p:cNvPr id="9" name="Text Placeholder 2">
            <a:extLst>
              <a:ext uri="{FF2B5EF4-FFF2-40B4-BE49-F238E27FC236}">
                <a16:creationId xmlns:a16="http://schemas.microsoft.com/office/drawing/2014/main" id="{3F8E293D-48DB-12BA-BCEF-1913A520CA2B}"/>
              </a:ext>
            </a:extLst>
          </p:cNvPr>
          <p:cNvSpPr txBox="1">
            <a:spLocks/>
          </p:cNvSpPr>
          <p:nvPr/>
        </p:nvSpPr>
        <p:spPr>
          <a:xfrm>
            <a:off x="925156" y="1380225"/>
            <a:ext cx="6648836" cy="489117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1200"/>
              </a:spcAft>
              <a:buNone/>
            </a:pPr>
            <a:r>
              <a:rPr lang="en-US" sz="2800" dirty="0">
                <a:solidFill>
                  <a:srgbClr val="000000"/>
                </a:solidFill>
              </a:rPr>
              <a:t>Define variables for each problem situation. Then, write an equation in standard form and use the intercepts to graph the linear relationship. </a:t>
            </a:r>
          </a:p>
          <a:p>
            <a:pPr marL="514350" indent="-514350">
              <a:buFont typeface="+mj-lt"/>
              <a:buAutoNum type="arabicPeriod" startAt="9"/>
            </a:pPr>
            <a:r>
              <a:rPr lang="en-US" sz="2800" dirty="0">
                <a:solidFill>
                  <a:srgbClr val="000000"/>
                </a:solidFill>
              </a:rPr>
              <a:t>Nia burns 20 calories for every 5 minutes she jumps rope and 50 calories for every 5 minutes she runs. On Tuesday, Nia burned a total of 500 calories.</a:t>
            </a:r>
          </a:p>
        </p:txBody>
      </p:sp>
      <p:pic>
        <p:nvPicPr>
          <p:cNvPr id="7" name="Picture 6" descr="A coordinate plane.">
            <a:extLst>
              <a:ext uri="{FF2B5EF4-FFF2-40B4-BE49-F238E27FC236}">
                <a16:creationId xmlns:a16="http://schemas.microsoft.com/office/drawing/2014/main" id="{7ECD88E6-F3EF-1E19-1357-E66CAC1009A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7985602" y="3959525"/>
            <a:ext cx="3549534" cy="2668779"/>
          </a:xfrm>
          <a:prstGeom prst="rect">
            <a:avLst/>
          </a:prstGeom>
        </p:spPr>
      </p:pic>
      <p:sp>
        <p:nvSpPr>
          <p:cNvPr id="8" name="Speech Bubble: Rectangle with Corners Rounded 1">
            <a:extLst>
              <a:ext uri="{FF2B5EF4-FFF2-40B4-BE49-F238E27FC236}">
                <a16:creationId xmlns:a16="http://schemas.microsoft.com/office/drawing/2014/main" id="{2E939660-3D2E-4312-D589-783DEEA4FD29}"/>
              </a:ext>
            </a:extLst>
          </p:cNvPr>
          <p:cNvSpPr/>
          <p:nvPr/>
        </p:nvSpPr>
        <p:spPr>
          <a:xfrm>
            <a:off x="8255480" y="1733911"/>
            <a:ext cx="3009778" cy="2001328"/>
          </a:xfrm>
          <a:prstGeom prst="wedgeRoundRectCallout">
            <a:avLst>
              <a:gd name="adj1" fmla="val -32691"/>
              <a:gd name="adj2" fmla="val -60705"/>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Why is the standard form of a linear equation appropriate to represent this situation?</a:t>
            </a:r>
          </a:p>
        </p:txBody>
      </p:sp>
    </p:spTree>
    <p:extLst>
      <p:ext uri="{BB962C8B-B14F-4D97-AF65-F5344CB8AC3E}">
        <p14:creationId xmlns:p14="http://schemas.microsoft.com/office/powerpoint/2010/main" val="2170634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F359-2EC4-9DEF-2A8A-2D30817A85E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6C48AA-1CFE-C890-3722-023A8767ED86}"/>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(12 of 16)</a:t>
            </a:r>
          </a:p>
        </p:txBody>
      </p:sp>
      <p:sp>
        <p:nvSpPr>
          <p:cNvPr id="9" name="Text Placeholder 2">
            <a:extLst>
              <a:ext uri="{FF2B5EF4-FFF2-40B4-BE49-F238E27FC236}">
                <a16:creationId xmlns:a16="http://schemas.microsoft.com/office/drawing/2014/main" id="{ED4A4A16-396A-B919-E5B8-08518092D2E2}"/>
              </a:ext>
            </a:extLst>
          </p:cNvPr>
          <p:cNvSpPr txBox="1">
            <a:spLocks/>
          </p:cNvSpPr>
          <p:nvPr/>
        </p:nvSpPr>
        <p:spPr>
          <a:xfrm>
            <a:off x="871369" y="1671984"/>
            <a:ext cx="10265334" cy="147665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10"/>
            </a:pPr>
            <a:r>
              <a:rPr lang="en-US" sz="2800" dirty="0">
                <a:solidFill>
                  <a:srgbClr val="000000"/>
                </a:solidFill>
              </a:rPr>
              <a:t>For the show choir’s holiday performance, they are selling tickets for $5 per student and $6.00 per adult. On the night of their final performance, they collect $270 in ticket sales.</a:t>
            </a:r>
          </a:p>
        </p:txBody>
      </p:sp>
      <p:pic>
        <p:nvPicPr>
          <p:cNvPr id="3" name="Picture 2" descr="A coordinate plane.">
            <a:extLst>
              <a:ext uri="{FF2B5EF4-FFF2-40B4-BE49-F238E27FC236}">
                <a16:creationId xmlns:a16="http://schemas.microsoft.com/office/drawing/2014/main" id="{4A5161D7-98A4-5C17-66D4-654DCA8CAD3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74506" y="3148642"/>
            <a:ext cx="3659060" cy="3068078"/>
          </a:xfrm>
          <a:prstGeom prst="rect">
            <a:avLst/>
          </a:prstGeom>
        </p:spPr>
      </p:pic>
    </p:spTree>
    <p:extLst>
      <p:ext uri="{BB962C8B-B14F-4D97-AF65-F5344CB8AC3E}">
        <p14:creationId xmlns:p14="http://schemas.microsoft.com/office/powerpoint/2010/main" val="9985030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93DAF-5540-BA22-28F1-479C2EC4152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009C310-06BB-57BE-DB68-56A1FFE213DD}"/>
              </a:ext>
              <a:ext uri="{C183D7F6-B498-43B3-948B-1728B52AA6E4}">
                <adec:decorative xmlns:adec="http://schemas.microsoft.com/office/drawing/2017/decorative" val="1"/>
              </a:ext>
            </a:extLst>
          </p:cNvPr>
          <p:cNvSpPr/>
          <p:nvPr/>
        </p:nvSpPr>
        <p:spPr>
          <a:xfrm>
            <a:off x="989704" y="1578634"/>
            <a:ext cx="10176734" cy="5048077"/>
          </a:xfrm>
          <a:prstGeom prst="roundRect">
            <a:avLst/>
          </a:prstGeom>
          <a:solidFill>
            <a:schemeClr val="bg1"/>
          </a:solidFill>
          <a:ln w="50800" cmpd="dbl">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3">
            <a:extLst>
              <a:ext uri="{FF2B5EF4-FFF2-40B4-BE49-F238E27FC236}">
                <a16:creationId xmlns:a16="http://schemas.microsoft.com/office/drawing/2014/main" id="{6615E649-3F19-B8BD-9EBB-6731440A07FF}"/>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(13 of 16)</a:t>
            </a:r>
          </a:p>
        </p:txBody>
      </p:sp>
      <p:pic>
        <p:nvPicPr>
          <p:cNvPr id="12" name="Picture 11" descr="Worked Example">
            <a:extLst>
              <a:ext uri="{FF2B5EF4-FFF2-40B4-BE49-F238E27FC236}">
                <a16:creationId xmlns:a16="http://schemas.microsoft.com/office/drawing/2014/main" id="{97AB622C-0277-B4EA-A960-E4615CD67A0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791513" y="1365255"/>
            <a:ext cx="2758679" cy="426757"/>
          </a:xfrm>
          <a:prstGeom prst="rect">
            <a:avLst/>
          </a:prstGeom>
        </p:spPr>
      </p:pic>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FAD907B5-A69A-7E22-1734-38BD299815D4}"/>
                  </a:ext>
                </a:extLst>
              </p:cNvPr>
              <p:cNvSpPr txBox="1">
                <a:spLocks/>
              </p:cNvSpPr>
              <p:nvPr/>
            </p:nvSpPr>
            <p:spPr>
              <a:xfrm>
                <a:off x="1506578" y="1802920"/>
                <a:ext cx="9142986" cy="475477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Aft>
                    <a:spcPts val="600"/>
                  </a:spcAft>
                  <a:buNone/>
                </a:pPr>
                <a:r>
                  <a:rPr lang="en-US" sz="2200" dirty="0">
                    <a:solidFill>
                      <a:srgbClr val="000000"/>
                    </a:solidFill>
                  </a:rPr>
                  <a:t>Write a linear equation in standard form, </a:t>
                </a:r>
                <a14:m>
                  <m:oMath xmlns:m="http://schemas.openxmlformats.org/officeDocument/2006/math">
                    <m:r>
                      <a:rPr lang="en-US" sz="2200" b="0" i="1" smtClean="0">
                        <a:solidFill>
                          <a:srgbClr val="000000"/>
                        </a:solidFill>
                        <a:latin typeface="Cambria Math" panose="02040503050406030204" pitchFamily="18" charset="0"/>
                      </a:rPr>
                      <m:t>𝐴𝑥</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𝐵𝑦</m:t>
                    </m:r>
                    <m:r>
                      <a:rPr lang="en-US" sz="2200" b="0" i="1"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𝐶</m:t>
                    </m:r>
                  </m:oMath>
                </a14:m>
                <a:r>
                  <a:rPr lang="en-US" sz="2200" dirty="0">
                    <a:solidFill>
                      <a:srgbClr val="000000"/>
                    </a:solidFill>
                  </a:rPr>
                  <a:t>, that goes through the points (</a:t>
                </a:r>
                <a14:m>
                  <m:oMath xmlns:m="http://schemas.openxmlformats.org/officeDocument/2006/math">
                    <m:r>
                      <a:rPr lang="en-US" sz="2200" b="0" i="1" dirty="0" smtClean="0">
                        <a:solidFill>
                          <a:srgbClr val="000000"/>
                        </a:solidFill>
                        <a:latin typeface="Cambria Math" panose="02040503050406030204" pitchFamily="18" charset="0"/>
                      </a:rPr>
                      <m:t>−1, 3</m:t>
                    </m:r>
                  </m:oMath>
                </a14:m>
                <a:r>
                  <a:rPr lang="en-US" sz="2200" dirty="0">
                    <a:solidFill>
                      <a:srgbClr val="000000"/>
                    </a:solidFill>
                  </a:rPr>
                  <a:t>) and (</a:t>
                </a:r>
                <a14:m>
                  <m:oMath xmlns:m="http://schemas.openxmlformats.org/officeDocument/2006/math">
                    <m:r>
                      <a:rPr lang="en-US" sz="2200" i="1" dirty="0">
                        <a:solidFill>
                          <a:srgbClr val="000000"/>
                        </a:solidFill>
                        <a:latin typeface="Cambria Math" panose="02040503050406030204" pitchFamily="18" charset="0"/>
                      </a:rPr>
                      <m:t>−</m:t>
                    </m:r>
                    <m:r>
                      <a:rPr lang="en-US" sz="2200" b="0" i="1" dirty="0" smtClean="0">
                        <a:solidFill>
                          <a:srgbClr val="000000"/>
                        </a:solidFill>
                        <a:latin typeface="Cambria Math" panose="02040503050406030204" pitchFamily="18" charset="0"/>
                      </a:rPr>
                      <m:t>4</m:t>
                    </m:r>
                    <m:r>
                      <a:rPr lang="en-US" sz="2200" i="1" dirty="0">
                        <a:solidFill>
                          <a:srgbClr val="000000"/>
                        </a:solidFill>
                        <a:latin typeface="Cambria Math" panose="02040503050406030204" pitchFamily="18" charset="0"/>
                      </a:rPr>
                      <m:t>,</m:t>
                    </m:r>
                    <m:r>
                      <a:rPr lang="en-US" sz="2200" b="0" i="1" dirty="0" smtClean="0">
                        <a:solidFill>
                          <a:srgbClr val="000000"/>
                        </a:solidFill>
                        <a:latin typeface="Cambria Math" panose="02040503050406030204" pitchFamily="18" charset="0"/>
                      </a:rPr>
                      <m:t>−</m:t>
                    </m:r>
                    <m:r>
                      <a:rPr lang="en-US" sz="2200" i="1" dirty="0">
                        <a:solidFill>
                          <a:srgbClr val="000000"/>
                        </a:solidFill>
                        <a:latin typeface="Cambria Math" panose="02040503050406030204" pitchFamily="18" charset="0"/>
                      </a:rPr>
                      <m:t> 3</m:t>
                    </m:r>
                  </m:oMath>
                </a14:m>
                <a:r>
                  <a:rPr lang="en-US" sz="2200" dirty="0">
                    <a:solidFill>
                      <a:srgbClr val="000000"/>
                    </a:solidFill>
                  </a:rPr>
                  <a:t>).</a:t>
                </a:r>
              </a:p>
              <a:p>
                <a:pPr marL="0" indent="0">
                  <a:buNone/>
                </a:pPr>
                <a:r>
                  <a:rPr lang="en-US" sz="2200" dirty="0">
                    <a:solidFill>
                      <a:srgbClr val="000000"/>
                    </a:solidFill>
                  </a:rPr>
                  <a:t>Begin by determining the slope of the line.</a:t>
                </a:r>
              </a:p>
              <a:p>
                <a:pPr marL="0" indent="0">
                  <a:spcAft>
                    <a:spcPts val="600"/>
                  </a:spcAft>
                  <a:buNone/>
                </a:pPr>
                <a14:m>
                  <m:oMathPara xmlns:m="http://schemas.openxmlformats.org/officeDocument/2006/math">
                    <m:oMathParaPr>
                      <m:jc m:val="left"/>
                    </m:oMathParaPr>
                    <m:oMath xmlns:m="http://schemas.openxmlformats.org/officeDocument/2006/math">
                      <m:r>
                        <a:rPr lang="en-US" sz="2200" b="0" i="1" smtClean="0">
                          <a:solidFill>
                            <a:srgbClr val="000000"/>
                          </a:solidFill>
                          <a:latin typeface="Cambria Math" panose="02040503050406030204" pitchFamily="18" charset="0"/>
                        </a:rPr>
                        <m:t>𝑚</m:t>
                      </m:r>
                      <m:r>
                        <a:rPr lang="en-US" sz="2200" b="0" i="1" smtClean="0">
                          <a:solidFill>
                            <a:srgbClr val="000000"/>
                          </a:solidFill>
                          <a:latin typeface="Cambria Math" panose="02040503050406030204" pitchFamily="18" charset="0"/>
                        </a:rPr>
                        <m:t>=</m:t>
                      </m:r>
                      <m:f>
                        <m:fPr>
                          <m:ctrlPr>
                            <a:rPr lang="en-US" sz="2200" b="0" i="1" smtClean="0">
                              <a:solidFill>
                                <a:srgbClr val="000000"/>
                              </a:solidFill>
                              <a:latin typeface="Cambria Math" panose="02040503050406030204" pitchFamily="18" charset="0"/>
                            </a:rPr>
                          </m:ctrlPr>
                        </m:fPr>
                        <m:num>
                          <m:r>
                            <a:rPr lang="en-US" sz="2200" b="0" i="1" smtClean="0">
                              <a:solidFill>
                                <a:srgbClr val="000000"/>
                              </a:solidFill>
                              <a:latin typeface="Cambria Math" panose="02040503050406030204" pitchFamily="18" charset="0"/>
                            </a:rPr>
                            <m:t>(−3−3)</m:t>
                          </m:r>
                        </m:num>
                        <m:den>
                          <m:d>
                            <m:dPr>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−4−(−1)</m:t>
                              </m:r>
                            </m:e>
                          </m:d>
                        </m:den>
                      </m:f>
                      <m:r>
                        <a:rPr lang="en-US" sz="2200" b="0" i="1" smtClean="0">
                          <a:solidFill>
                            <a:srgbClr val="000000"/>
                          </a:solidFill>
                          <a:latin typeface="Cambria Math" panose="02040503050406030204" pitchFamily="18" charset="0"/>
                        </a:rPr>
                        <m:t>=</m:t>
                      </m:r>
                      <m:f>
                        <m:fPr>
                          <m:ctrlPr>
                            <a:rPr lang="en-US" sz="2200" b="0" i="1" smtClean="0">
                              <a:solidFill>
                                <a:srgbClr val="000000"/>
                              </a:solidFill>
                              <a:latin typeface="Cambria Math" panose="02040503050406030204" pitchFamily="18" charset="0"/>
                            </a:rPr>
                          </m:ctrlPr>
                        </m:fPr>
                        <m:num>
                          <m:r>
                            <a:rPr lang="en-US" sz="2200" b="0" i="1" smtClean="0">
                              <a:solidFill>
                                <a:srgbClr val="000000"/>
                              </a:solidFill>
                              <a:latin typeface="Cambria Math" panose="02040503050406030204" pitchFamily="18" charset="0"/>
                            </a:rPr>
                            <m:t>(−6)</m:t>
                          </m:r>
                        </m:num>
                        <m:den>
                          <m:r>
                            <a:rPr lang="en-US" sz="2200" b="0" i="1" smtClean="0">
                              <a:solidFill>
                                <a:srgbClr val="000000"/>
                              </a:solidFill>
                              <a:latin typeface="Cambria Math" panose="02040503050406030204" pitchFamily="18" charset="0"/>
                            </a:rPr>
                            <m:t>(−3)</m:t>
                          </m:r>
                        </m:den>
                      </m:f>
                      <m:r>
                        <a:rPr lang="en-US" sz="2200" b="0" i="1" smtClean="0">
                          <a:solidFill>
                            <a:srgbClr val="000000"/>
                          </a:solidFill>
                          <a:latin typeface="Cambria Math" panose="02040503050406030204" pitchFamily="18" charset="0"/>
                        </a:rPr>
                        <m:t>=2</m:t>
                      </m:r>
                    </m:oMath>
                  </m:oMathPara>
                </a14:m>
                <a:endParaRPr lang="en-US" sz="2200" dirty="0">
                  <a:solidFill>
                    <a:srgbClr val="000000"/>
                  </a:solidFill>
                </a:endParaRPr>
              </a:p>
              <a:p>
                <a:pPr marL="0" indent="0">
                  <a:buNone/>
                </a:pPr>
                <a:r>
                  <a:rPr lang="en-US" sz="2200" dirty="0">
                    <a:solidFill>
                      <a:srgbClr val="000000"/>
                    </a:solidFill>
                  </a:rPr>
                  <a:t>Pick one of the points and write an equation in point-slope form for the line.</a:t>
                </a:r>
              </a:p>
              <a:p>
                <a:pPr marL="0" indent="0">
                  <a:buNone/>
                </a:pPr>
                <a14:m>
                  <m:oMathPara xmlns:m="http://schemas.openxmlformats.org/officeDocument/2006/math">
                    <m:oMathParaPr>
                      <m:jc m:val="left"/>
                    </m:oMathParaPr>
                    <m:oMath xmlns:m="http://schemas.openxmlformats.org/officeDocument/2006/math">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−3=2</m:t>
                      </m:r>
                      <m:d>
                        <m:dPr>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m:t>
                          </m:r>
                          <m:d>
                            <m:dPr>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−1</m:t>
                              </m:r>
                            </m:e>
                          </m:d>
                        </m:e>
                      </m:d>
                    </m:oMath>
                  </m:oMathPara>
                </a14:m>
                <a:endParaRPr lang="en-US" sz="2200" b="0" dirty="0">
                  <a:solidFill>
                    <a:srgbClr val="000000"/>
                  </a:solidFill>
                </a:endParaRPr>
              </a:p>
              <a:p>
                <a:pPr marL="0" indent="0">
                  <a:spcAft>
                    <a:spcPts val="600"/>
                  </a:spcAft>
                  <a:buNone/>
                </a:pPr>
                <a14:m>
                  <m:oMathPara xmlns:m="http://schemas.openxmlformats.org/officeDocument/2006/math">
                    <m:oMathParaPr>
                      <m:jc m:val="left"/>
                    </m:oMathParaPr>
                    <m:oMath xmlns:m="http://schemas.openxmlformats.org/officeDocument/2006/math">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−3=2</m:t>
                      </m:r>
                      <m:d>
                        <m:dPr>
                          <m:ctrlPr>
                            <a:rPr lang="en-US" sz="2200" b="0" i="1" smtClean="0">
                              <a:solidFill>
                                <a:srgbClr val="000000"/>
                              </a:solidFill>
                              <a:latin typeface="Cambria Math" panose="02040503050406030204" pitchFamily="18" charset="0"/>
                            </a:rPr>
                          </m:ctrlPr>
                        </m:dPr>
                        <m:e>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+1</m:t>
                          </m:r>
                        </m:e>
                      </m:d>
                    </m:oMath>
                  </m:oMathPara>
                </a14:m>
                <a:endParaRPr lang="en-US" sz="2200" b="0" dirty="0">
                  <a:solidFill>
                    <a:srgbClr val="000000"/>
                  </a:solidFill>
                </a:endParaRPr>
              </a:p>
              <a:p>
                <a:pPr marL="0" indent="0">
                  <a:buNone/>
                </a:pPr>
                <a:r>
                  <a:rPr lang="en-US" sz="2200" b="0" dirty="0">
                    <a:solidFill>
                      <a:srgbClr val="000000"/>
                    </a:solidFill>
                  </a:rPr>
                  <a:t>Rewrite the equation in standard form.</a:t>
                </a:r>
              </a:p>
              <a:p>
                <a:pPr marL="0" indent="0">
                  <a:buNone/>
                </a:pPr>
                <a:r>
                  <a:rPr lang="en-US" sz="2200" b="0" dirty="0">
                    <a:solidFill>
                      <a:srgbClr val="000000"/>
                    </a:solidFill>
                  </a:rPr>
                  <a:t>      </a:t>
                </a:r>
                <a14:m>
                  <m:oMath xmlns:m="http://schemas.openxmlformats.org/officeDocument/2006/math">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−3=2</m:t>
                    </m:r>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+2</m:t>
                    </m:r>
                  </m:oMath>
                </a14:m>
                <a:endParaRPr lang="en-US" sz="2200" b="0" dirty="0">
                  <a:solidFill>
                    <a:srgbClr val="000000"/>
                  </a:solidFill>
                </a:endParaRPr>
              </a:p>
              <a:p>
                <a:pPr marL="0" indent="0">
                  <a:buNone/>
                </a:pPr>
                <a14:m>
                  <m:oMathPara xmlns:m="http://schemas.openxmlformats.org/officeDocument/2006/math">
                    <m:oMathParaPr>
                      <m:jc m:val="left"/>
                    </m:oMathParaPr>
                    <m:oMath xmlns:m="http://schemas.openxmlformats.org/officeDocument/2006/math">
                      <m:r>
                        <a:rPr lang="en-US" sz="2200" b="0" i="1" smtClean="0">
                          <a:solidFill>
                            <a:srgbClr val="000000"/>
                          </a:solidFill>
                          <a:latin typeface="Cambria Math" panose="02040503050406030204" pitchFamily="18" charset="0"/>
                        </a:rPr>
                        <m:t>              </m:t>
                      </m:r>
                      <m:r>
                        <a:rPr lang="en-US" sz="2200" b="0" i="1" smtClean="0">
                          <a:solidFill>
                            <a:srgbClr val="000000"/>
                          </a:solidFill>
                          <a:latin typeface="Cambria Math" panose="02040503050406030204" pitchFamily="18" charset="0"/>
                        </a:rPr>
                        <m:t>𝑦</m:t>
                      </m:r>
                      <m:r>
                        <a:rPr lang="en-US" sz="2200" b="0" i="1" smtClean="0">
                          <a:solidFill>
                            <a:srgbClr val="000000"/>
                          </a:solidFill>
                          <a:latin typeface="Cambria Math" panose="02040503050406030204" pitchFamily="18" charset="0"/>
                        </a:rPr>
                        <m:t>=2</m:t>
                      </m:r>
                      <m:r>
                        <a:rPr lang="en-US" sz="2200" b="0" i="1" smtClean="0">
                          <a:solidFill>
                            <a:srgbClr val="000000"/>
                          </a:solidFill>
                          <a:latin typeface="Cambria Math" panose="02040503050406030204" pitchFamily="18" charset="0"/>
                        </a:rPr>
                        <m:t>𝑥</m:t>
                      </m:r>
                      <m:r>
                        <a:rPr lang="en-US" sz="2200" b="0" i="1" smtClean="0">
                          <a:solidFill>
                            <a:srgbClr val="000000"/>
                          </a:solidFill>
                          <a:latin typeface="Cambria Math" panose="02040503050406030204" pitchFamily="18" charset="0"/>
                        </a:rPr>
                        <m:t>+5</m:t>
                      </m:r>
                    </m:oMath>
                  </m:oMathPara>
                </a14:m>
                <a:endParaRPr lang="en-US" sz="2200" b="0" i="1" dirty="0">
                  <a:solidFill>
                    <a:srgbClr val="000000"/>
                  </a:solidFill>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200" b="0" i="0" smtClean="0">
                          <a:solidFill>
                            <a:srgbClr val="000000"/>
                          </a:solidFill>
                          <a:latin typeface="Cambria Math" panose="02040503050406030204" pitchFamily="18" charset="0"/>
                        </a:rPr>
                        <m:t>−2</m:t>
                      </m:r>
                      <m:r>
                        <a:rPr lang="en-US" sz="2200" b="0" i="1" smtClean="0">
                          <a:solidFill>
                            <a:srgbClr val="000000"/>
                          </a:solidFill>
                          <a:latin typeface="Cambria Math" panose="02040503050406030204" pitchFamily="18" charset="0"/>
                        </a:rPr>
                        <m:t>𝑥</m:t>
                      </m:r>
                      <m:r>
                        <a:rPr lang="en-US" sz="2200" b="0" i="0" smtClean="0">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𝑦</m:t>
                      </m:r>
                      <m:r>
                        <a:rPr lang="en-US" sz="2200" b="0" i="0" smtClean="0">
                          <a:solidFill>
                            <a:srgbClr val="000000"/>
                          </a:solidFill>
                          <a:latin typeface="Cambria Math" panose="02040503050406030204" pitchFamily="18" charset="0"/>
                        </a:rPr>
                        <m:t>=5</m:t>
                      </m:r>
                    </m:oMath>
                  </m:oMathPara>
                </a14:m>
                <a:endParaRPr lang="en-US" sz="2200" dirty="0">
                  <a:solidFill>
                    <a:srgbClr val="000000"/>
                  </a:solidFill>
                </a:endParaRPr>
              </a:p>
            </p:txBody>
          </p:sp>
        </mc:Choice>
        <mc:Fallback xmlns="">
          <p:sp>
            <p:nvSpPr>
              <p:cNvPr id="6" name="Text Placeholder 2">
                <a:extLst>
                  <a:ext uri="{FF2B5EF4-FFF2-40B4-BE49-F238E27FC236}">
                    <a16:creationId xmlns:a16="http://schemas.microsoft.com/office/drawing/2014/main" id="{FAD907B5-A69A-7E22-1734-38BD299815D4}"/>
                  </a:ext>
                </a:extLst>
              </p:cNvPr>
              <p:cNvSpPr txBox="1">
                <a:spLocks noRot="1" noChangeAspect="1" noMove="1" noResize="1" noEditPoints="1" noAdjustHandles="1" noChangeArrowheads="1" noChangeShapeType="1" noTextEdit="1"/>
              </p:cNvSpPr>
              <p:nvPr/>
            </p:nvSpPr>
            <p:spPr>
              <a:xfrm>
                <a:off x="1506578" y="1802920"/>
                <a:ext cx="9142986" cy="4754779"/>
              </a:xfrm>
              <a:prstGeom prst="rect">
                <a:avLst/>
              </a:prstGeom>
              <a:blipFill>
                <a:blip r:embed="rId4"/>
                <a:stretch>
                  <a:fillRect l="-867" t="-897" r="-267"/>
                </a:stretch>
              </a:blipFill>
            </p:spPr>
            <p:txBody>
              <a:bodyPr/>
              <a:lstStyle/>
              <a:p>
                <a:r>
                  <a:rPr lang="en-US">
                    <a:noFill/>
                  </a:rPr>
                  <a:t> </a:t>
                </a:r>
              </a:p>
            </p:txBody>
          </p:sp>
        </mc:Fallback>
      </mc:AlternateContent>
    </p:spTree>
    <p:extLst>
      <p:ext uri="{BB962C8B-B14F-4D97-AF65-F5344CB8AC3E}">
        <p14:creationId xmlns:p14="http://schemas.microsoft.com/office/powerpoint/2010/main" val="18756219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83110-E03A-2FE1-FC45-B51633CBDED6}"/>
            </a:ext>
          </a:extLst>
        </p:cNvPr>
        <p:cNvGrpSpPr/>
        <p:nvPr/>
      </p:nvGrpSpPr>
      <p:grpSpPr>
        <a:xfrm>
          <a:off x="0" y="0"/>
          <a:ext cx="0" cy="0"/>
          <a:chOff x="0" y="0"/>
          <a:chExt cx="0" cy="0"/>
        </a:xfrm>
      </p:grpSpPr>
      <p:sp>
        <p:nvSpPr>
          <p:cNvPr id="11" name="Title 3">
            <a:extLst>
              <a:ext uri="{FF2B5EF4-FFF2-40B4-BE49-F238E27FC236}">
                <a16:creationId xmlns:a16="http://schemas.microsoft.com/office/drawing/2014/main" id="{878D028F-9DAD-9103-F8DA-4CBFD9FDE1F0}"/>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(14 of 16)</a:t>
            </a:r>
          </a:p>
        </p:txBody>
      </p:sp>
      <p:sp>
        <p:nvSpPr>
          <p:cNvPr id="10" name="TextBox 9">
            <a:extLst>
              <a:ext uri="{FF2B5EF4-FFF2-40B4-BE49-F238E27FC236}">
                <a16:creationId xmlns:a16="http://schemas.microsoft.com/office/drawing/2014/main" id="{D42D4BE2-42EF-B1A7-E3D4-6093EC7DA05B}"/>
              </a:ext>
            </a:extLst>
          </p:cNvPr>
          <p:cNvSpPr txBox="1"/>
          <p:nvPr/>
        </p:nvSpPr>
        <p:spPr>
          <a:xfrm>
            <a:off x="785003" y="1671984"/>
            <a:ext cx="2168969" cy="1565240"/>
          </a:xfrm>
          <a:prstGeom prst="rect">
            <a:avLst/>
          </a:prstGeom>
          <a:noFill/>
          <a:ln w="31750">
            <a:solidFill>
              <a:srgbClr val="008F4C"/>
            </a:solidFill>
            <a:prstDash val="sysDot"/>
          </a:ln>
        </p:spPr>
        <p:txBody>
          <a:bodyPr wrap="square" lIns="182880" rtlCol="0" anchor="ctr" anchorCtr="0">
            <a:noAutofit/>
          </a:bodyPr>
          <a:lstStyle/>
          <a:p>
            <a:r>
              <a:rPr lang="en-US" sz="2400" dirty="0">
                <a:solidFill>
                  <a:srgbClr val="000000"/>
                </a:solidFill>
              </a:rPr>
              <a:t>In standard form, </a:t>
            </a:r>
            <a:r>
              <a:rPr lang="en-US" sz="2400" i="1" dirty="0">
                <a:solidFill>
                  <a:srgbClr val="000000"/>
                </a:solidFill>
              </a:rPr>
              <a:t>A</a:t>
            </a:r>
            <a:r>
              <a:rPr lang="en-US" sz="2400" dirty="0">
                <a:solidFill>
                  <a:srgbClr val="000000"/>
                </a:solidFill>
              </a:rPr>
              <a:t>, </a:t>
            </a:r>
            <a:r>
              <a:rPr lang="en-US" sz="2400" i="1" dirty="0">
                <a:solidFill>
                  <a:srgbClr val="000000"/>
                </a:solidFill>
              </a:rPr>
              <a:t>B</a:t>
            </a:r>
            <a:r>
              <a:rPr lang="en-US" sz="2400" dirty="0">
                <a:solidFill>
                  <a:srgbClr val="000000"/>
                </a:solidFill>
              </a:rPr>
              <a:t>, and</a:t>
            </a:r>
            <a:br>
              <a:rPr lang="en-US" sz="2400" dirty="0">
                <a:solidFill>
                  <a:srgbClr val="000000"/>
                </a:solidFill>
              </a:rPr>
            </a:br>
            <a:r>
              <a:rPr lang="en-US" sz="2400" i="1" dirty="0">
                <a:solidFill>
                  <a:srgbClr val="000000"/>
                </a:solidFill>
              </a:rPr>
              <a:t>C</a:t>
            </a:r>
            <a:r>
              <a:rPr lang="en-US" sz="2400" dirty="0">
                <a:solidFill>
                  <a:srgbClr val="000000"/>
                </a:solidFill>
              </a:rPr>
              <a:t> are integers.</a:t>
            </a:r>
          </a:p>
        </p:txBody>
      </p:sp>
      <p:sp>
        <p:nvSpPr>
          <p:cNvPr id="6" name="Text Placeholder 2">
            <a:extLst>
              <a:ext uri="{FF2B5EF4-FFF2-40B4-BE49-F238E27FC236}">
                <a16:creationId xmlns:a16="http://schemas.microsoft.com/office/drawing/2014/main" id="{CE808695-A684-FE08-5FCA-BA9F068A5EAF}"/>
              </a:ext>
            </a:extLst>
          </p:cNvPr>
          <p:cNvSpPr txBox="1">
            <a:spLocks/>
          </p:cNvSpPr>
          <p:nvPr/>
        </p:nvSpPr>
        <p:spPr>
          <a:xfrm>
            <a:off x="3338423" y="1499861"/>
            <a:ext cx="8258317" cy="46421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indent="-517525">
              <a:buFont typeface="+mj-lt"/>
              <a:buAutoNum type="arabicPeriod" startAt="11"/>
            </a:pPr>
            <a:r>
              <a:rPr lang="en-US" sz="2800" dirty="0">
                <a:solidFill>
                  <a:srgbClr val="000000"/>
                </a:solidFill>
              </a:rPr>
              <a:t>Write a linear equation in standard form given two points on the line.</a:t>
            </a:r>
            <a:br>
              <a:rPr lang="en-US" sz="2800" dirty="0">
                <a:solidFill>
                  <a:srgbClr val="000000"/>
                </a:solidFill>
              </a:rPr>
            </a:br>
            <a:br>
              <a:rPr lang="en-US" sz="2800" dirty="0">
                <a:solidFill>
                  <a:srgbClr val="000000"/>
                </a:solidFill>
              </a:rPr>
            </a:br>
            <a:r>
              <a:rPr lang="en-US" sz="2800" dirty="0">
                <a:solidFill>
                  <a:srgbClr val="000000"/>
                </a:solidFill>
              </a:rPr>
              <a:t>a.  (0, −4) and (2, 2)</a:t>
            </a:r>
            <a:br>
              <a:rPr lang="en-US" sz="2800" dirty="0">
                <a:solidFill>
                  <a:srgbClr val="000000"/>
                </a:solidFill>
              </a:rPr>
            </a:br>
            <a:br>
              <a:rPr lang="en-US" sz="2800" dirty="0">
                <a:solidFill>
                  <a:srgbClr val="000000"/>
                </a:solidFill>
              </a:rPr>
            </a:br>
            <a:endParaRPr lang="en-US" sz="2800" dirty="0">
              <a:solidFill>
                <a:srgbClr val="000000"/>
              </a:solidFill>
            </a:endParaRPr>
          </a:p>
          <a:p>
            <a:pPr marL="517525" indent="0">
              <a:buNone/>
            </a:pPr>
            <a:r>
              <a:rPr lang="en-US" sz="2800" dirty="0">
                <a:solidFill>
                  <a:srgbClr val="000000"/>
                </a:solidFill>
              </a:rPr>
              <a:t>b.  (1, −5) and (−2, 7)</a:t>
            </a:r>
            <a:br>
              <a:rPr lang="en-US" sz="2800" dirty="0">
                <a:solidFill>
                  <a:srgbClr val="000000"/>
                </a:solidFill>
              </a:rPr>
            </a:br>
            <a:endParaRPr lang="en-US" sz="2800" dirty="0">
              <a:solidFill>
                <a:srgbClr val="000000"/>
              </a:solidFill>
            </a:endParaRPr>
          </a:p>
          <a:p>
            <a:pPr marL="517525" indent="0">
              <a:buNone/>
            </a:pPr>
            <a:br>
              <a:rPr lang="en-US" sz="2800" dirty="0">
                <a:solidFill>
                  <a:srgbClr val="000000"/>
                </a:solidFill>
              </a:rPr>
            </a:br>
            <a:r>
              <a:rPr lang="en-US" sz="2800" dirty="0">
                <a:solidFill>
                  <a:srgbClr val="000000"/>
                </a:solidFill>
              </a:rPr>
              <a:t>c.  (12, 10) and (16, 12)</a:t>
            </a:r>
            <a:br>
              <a:rPr lang="en-US" sz="2800" dirty="0">
                <a:solidFill>
                  <a:srgbClr val="000000"/>
                </a:solidFill>
              </a:rPr>
            </a:br>
            <a:br>
              <a:rPr lang="en-US" sz="2800" dirty="0">
                <a:solidFill>
                  <a:srgbClr val="000000"/>
                </a:solidFill>
              </a:rPr>
            </a:br>
            <a:endParaRPr lang="en-US" sz="2800" dirty="0">
              <a:solidFill>
                <a:srgbClr val="000000"/>
              </a:solidFill>
            </a:endParaRPr>
          </a:p>
          <a:p>
            <a:pPr marL="0" indent="0">
              <a:buNone/>
            </a:pPr>
            <a:endParaRPr lang="en-US" sz="2800" dirty="0">
              <a:solidFill>
                <a:srgbClr val="000000"/>
              </a:solidFill>
            </a:endParaRPr>
          </a:p>
        </p:txBody>
      </p:sp>
    </p:spTree>
    <p:extLst>
      <p:ext uri="{BB962C8B-B14F-4D97-AF65-F5344CB8AC3E}">
        <p14:creationId xmlns:p14="http://schemas.microsoft.com/office/powerpoint/2010/main" val="30847253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10" name="Title 3">
            <a:extLst>
              <a:ext uri="{FF2B5EF4-FFF2-40B4-BE49-F238E27FC236}">
                <a16:creationId xmlns:a16="http://schemas.microsoft.com/office/drawing/2014/main" id="{1098021A-A852-91BE-380E-A6B675DD96B1}"/>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(15 of 16)</a:t>
            </a:r>
          </a:p>
        </p:txBody>
      </p:sp>
      <p:sp>
        <p:nvSpPr>
          <p:cNvPr id="9" name="Text Placeholder 2">
            <a:extLst>
              <a:ext uri="{FF2B5EF4-FFF2-40B4-BE49-F238E27FC236}">
                <a16:creationId xmlns:a16="http://schemas.microsoft.com/office/drawing/2014/main" id="{9F9E8E2B-B0E8-EF16-E503-9ECCF4F164D5}"/>
              </a:ext>
            </a:extLst>
          </p:cNvPr>
          <p:cNvSpPr txBox="1">
            <a:spLocks/>
          </p:cNvSpPr>
          <p:nvPr/>
        </p:nvSpPr>
        <p:spPr>
          <a:xfrm>
            <a:off x="777240" y="1616140"/>
            <a:ext cx="1005753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a:t>
            </a:r>
            <a:r>
              <a:rPr lang="en-US" sz="2800" dirty="0">
                <a:solidFill>
                  <a:srgbClr val="000000"/>
                </a:solidFill>
              </a:rPr>
              <a:t>Q</a:t>
            </a:r>
            <a:r>
              <a:rPr lang="en-US" sz="2800" b="0" i="0" u="none" strike="noStrike" baseline="0" dirty="0">
                <a:solidFill>
                  <a:srgbClr val="000000"/>
                </a:solidFill>
              </a:rPr>
              <a:t>uestion and summarize our learning from Activity 5.3!</a:t>
            </a:r>
          </a:p>
          <a:p>
            <a:pPr marL="0" indent="0" algn="l">
              <a:buNone/>
            </a:pPr>
            <a:endParaRPr lang="en-US" sz="2400" dirty="0">
              <a:solidFill>
                <a:srgbClr val="000000"/>
              </a:solidFill>
            </a:endParaRPr>
          </a:p>
          <a:p>
            <a:pPr marL="0" indent="0" algn="l">
              <a:buNone/>
            </a:pPr>
            <a:endParaRPr lang="en-US" sz="2800" b="0" i="0" u="none" strike="noStrike" baseline="0" dirty="0">
              <a:solidFill>
                <a:srgbClr val="000000"/>
              </a:solidFill>
            </a:endParaRPr>
          </a:p>
          <a:p>
            <a:pPr marL="0" indent="0" algn="l">
              <a:buNone/>
            </a:pPr>
            <a:endParaRPr lang="en-US" sz="24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Is there a more efficient method to graphing a linear relationship? Can you use the equation of a linear relationship to create a  graphical representation?</a:t>
            </a:r>
          </a:p>
          <a:p>
            <a:pPr marL="0" indent="0">
              <a:buNone/>
            </a:pPr>
            <a:endParaRPr lang="en-US" sz="2800" dirty="0">
              <a:solidFill>
                <a:srgbClr val="000000"/>
              </a:solidFill>
            </a:endParaRPr>
          </a:p>
        </p:txBody>
      </p:sp>
      <p:pic>
        <p:nvPicPr>
          <p:cNvPr id="2" name="Picture 1">
            <a:extLst>
              <a:ext uri="{FF2B5EF4-FFF2-40B4-BE49-F238E27FC236}">
                <a16:creationId xmlns:a16="http://schemas.microsoft.com/office/drawing/2014/main" id="{412BAF3C-C3E1-4231-B8AF-8D51322A576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36366" y="372494"/>
            <a:ext cx="1501270" cy="518205"/>
          </a:xfrm>
          <a:prstGeom prst="rect">
            <a:avLst/>
          </a:prstGeom>
        </p:spPr>
      </p:pic>
    </p:spTree>
    <p:extLst>
      <p:ext uri="{BB962C8B-B14F-4D97-AF65-F5344CB8AC3E}">
        <p14:creationId xmlns:p14="http://schemas.microsoft.com/office/powerpoint/2010/main" val="13935781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122D0-0CED-9ED5-5F4E-6007E33F1A30}"/>
            </a:ext>
          </a:extLst>
        </p:cNvPr>
        <p:cNvGrpSpPr/>
        <p:nvPr/>
      </p:nvGrpSpPr>
      <p:grpSpPr>
        <a:xfrm>
          <a:off x="0" y="0"/>
          <a:ext cx="0" cy="0"/>
          <a:chOff x="0" y="0"/>
          <a:chExt cx="0" cy="0"/>
        </a:xfrm>
      </p:grpSpPr>
      <p:sp>
        <p:nvSpPr>
          <p:cNvPr id="9" name="Text Placeholder 2">
            <a:extLst>
              <a:ext uri="{FF2B5EF4-FFF2-40B4-BE49-F238E27FC236}">
                <a16:creationId xmlns:a16="http://schemas.microsoft.com/office/drawing/2014/main" id="{9F9E8E2B-B0E8-EF16-E503-9ECCF4F164D5}"/>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5" name="Title 3">
            <a:extLst>
              <a:ext uri="{FF2B5EF4-FFF2-40B4-BE49-F238E27FC236}">
                <a16:creationId xmlns:a16="http://schemas.microsoft.com/office/drawing/2014/main" id="{0DBCCC05-1F45-86C1-93A1-73E795BE8ACE}"/>
              </a:ext>
            </a:extLst>
          </p:cNvPr>
          <p:cNvSpPr>
            <a:spLocks noGrp="1"/>
          </p:cNvSpPr>
          <p:nvPr>
            <p:ph type="title"/>
          </p:nvPr>
        </p:nvSpPr>
        <p:spPr>
          <a:xfrm>
            <a:off x="785004" y="1"/>
            <a:ext cx="11417718" cy="1263192"/>
          </a:xfrm>
        </p:spPr>
        <p:txBody>
          <a:bodyPr/>
          <a:lstStyle/>
          <a:p>
            <a:pPr algn="l"/>
            <a:r>
              <a:rPr lang="en-US" b="1" dirty="0"/>
              <a:t>Standard Form of a Linear Equation </a:t>
            </a:r>
            <a:r>
              <a:rPr lang="en-US" sz="2000" b="1" dirty="0">
                <a:solidFill>
                  <a:schemeClr val="bg1"/>
                </a:solidFill>
              </a:rPr>
              <a:t>(16 of 16)</a:t>
            </a:r>
          </a:p>
        </p:txBody>
      </p:sp>
    </p:spTree>
    <p:extLst>
      <p:ext uri="{BB962C8B-B14F-4D97-AF65-F5344CB8AC3E}">
        <p14:creationId xmlns:p14="http://schemas.microsoft.com/office/powerpoint/2010/main" val="25551480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09662-5239-6684-D617-2165411F5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0966E-547C-7996-D8C2-33982F34C60C}"/>
              </a:ext>
            </a:extLst>
          </p:cNvPr>
          <p:cNvSpPr>
            <a:spLocks noGrp="1"/>
          </p:cNvSpPr>
          <p:nvPr>
            <p:ph type="title" idx="4294967295"/>
          </p:nvPr>
        </p:nvSpPr>
        <p:spPr>
          <a:xfrm>
            <a:off x="838200" y="-336430"/>
            <a:ext cx="10514013" cy="336430"/>
          </a:xfrm>
          <a:prstGeom prst="rect">
            <a:avLst/>
          </a:prstGeom>
        </p:spPr>
        <p:txBody>
          <a:bodyPr anchor="b"/>
          <a:lstStyle/>
          <a:p>
            <a:r>
              <a:rPr lang="en-US" sz="2000" dirty="0">
                <a:solidFill>
                  <a:schemeClr val="bg2"/>
                </a:solidFill>
              </a:rPr>
              <a:t>Day 3</a:t>
            </a:r>
          </a:p>
        </p:txBody>
      </p:sp>
      <p:sp>
        <p:nvSpPr>
          <p:cNvPr id="4" name="Text Placeholder 3">
            <a:extLst>
              <a:ext uri="{FF2B5EF4-FFF2-40B4-BE49-F238E27FC236}">
                <a16:creationId xmlns:a16="http://schemas.microsoft.com/office/drawing/2014/main" id="{71BC10F4-C1E5-C00E-8AD8-9CB94F30FDC5}"/>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3</a:t>
            </a:r>
          </a:p>
        </p:txBody>
      </p:sp>
    </p:spTree>
    <p:extLst>
      <p:ext uri="{BB962C8B-B14F-4D97-AF65-F5344CB8AC3E}">
        <p14:creationId xmlns:p14="http://schemas.microsoft.com/office/powerpoint/2010/main" val="27911213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9E3CF-EB43-9CCB-2EF2-6B530938E92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869038-3893-CDD8-9AB6-97B97A6029C4}"/>
              </a:ext>
            </a:extLst>
          </p:cNvPr>
          <p:cNvSpPr>
            <a:spLocks noGrp="1"/>
          </p:cNvSpPr>
          <p:nvPr>
            <p:ph type="title"/>
          </p:nvPr>
        </p:nvSpPr>
        <p:spPr/>
        <p:txBody>
          <a:bodyPr/>
          <a:lstStyle/>
          <a:p>
            <a:pPr algn="l"/>
            <a:r>
              <a:rPr lang="en-US" b="1" dirty="0"/>
              <a:t>Essential Question </a:t>
            </a:r>
            <a:r>
              <a:rPr lang="en-US" sz="2000" b="1" dirty="0">
                <a:solidFill>
                  <a:schemeClr val="bg1"/>
                </a:solidFill>
              </a:rPr>
              <a:t>(3 of 3)</a:t>
            </a:r>
          </a:p>
        </p:txBody>
      </p:sp>
      <p:sp>
        <p:nvSpPr>
          <p:cNvPr id="2" name="Text Placeholder 2">
            <a:extLst>
              <a:ext uri="{FF2B5EF4-FFF2-40B4-BE49-F238E27FC236}">
                <a16:creationId xmlns:a16="http://schemas.microsoft.com/office/drawing/2014/main" id="{41ACBD4B-C767-13F6-1D4D-F042BB0340B8}"/>
              </a:ext>
            </a:extLst>
          </p:cNvPr>
          <p:cNvSpPr txBox="1">
            <a:spLocks/>
          </p:cNvSpPr>
          <p:nvPr/>
        </p:nvSpPr>
        <p:spPr>
          <a:xfrm>
            <a:off x="777240" y="1616140"/>
            <a:ext cx="9901646" cy="4351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Is there a more efficient method to graphing a linear relationship? Can you use the equation of a linear relationship to create a  graphical representation?</a:t>
            </a:r>
          </a:p>
          <a:p>
            <a:endParaRPr lang="en-US" sz="2400" dirty="0"/>
          </a:p>
          <a:p>
            <a:pPr marL="0" indent="0" algn="l">
              <a:buNone/>
            </a:pPr>
            <a:endParaRPr lang="en-US" sz="2800" b="0" i="0" u="none" strike="noStrike" baseline="0" dirty="0">
              <a:solidFill>
                <a:srgbClr val="000000"/>
              </a:solidFill>
            </a:endParaRPr>
          </a:p>
        </p:txBody>
      </p:sp>
    </p:spTree>
    <p:extLst>
      <p:ext uri="{BB962C8B-B14F-4D97-AF65-F5344CB8AC3E}">
        <p14:creationId xmlns:p14="http://schemas.microsoft.com/office/powerpoint/2010/main" val="6548951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477CD-7341-DC3A-4E1E-7A158BFBF2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C36D08-E49E-356E-1DC8-2F69DA131122}"/>
              </a:ext>
            </a:extLst>
          </p:cNvPr>
          <p:cNvSpPr>
            <a:spLocks noGrp="1"/>
          </p:cNvSpPr>
          <p:nvPr>
            <p:ph type="title" idx="4294967295"/>
          </p:nvPr>
        </p:nvSpPr>
        <p:spPr>
          <a:xfrm>
            <a:off x="838200" y="-336430"/>
            <a:ext cx="10514013" cy="336430"/>
          </a:xfrm>
          <a:prstGeom prst="rect">
            <a:avLst/>
          </a:prstGeom>
        </p:spPr>
        <p:txBody>
          <a:bodyPr anchor="b"/>
          <a:lstStyle/>
          <a:p>
            <a:r>
              <a:rPr lang="en-US" sz="2000" dirty="0">
                <a:solidFill>
                  <a:schemeClr val="bg2"/>
                </a:solidFill>
              </a:rPr>
              <a:t>Activity 5.4</a:t>
            </a:r>
          </a:p>
        </p:txBody>
      </p:sp>
      <p:sp>
        <p:nvSpPr>
          <p:cNvPr id="3" name="Text Placeholder 2" descr="20 to 25 minutes">
            <a:extLst>
              <a:ext uri="{FF2B5EF4-FFF2-40B4-BE49-F238E27FC236}">
                <a16:creationId xmlns:a16="http://schemas.microsoft.com/office/drawing/2014/main" id="{6E5EAB47-58FD-CC6E-EC2D-427C7050F902}"/>
              </a:ext>
            </a:extLst>
          </p:cNvPr>
          <p:cNvSpPr>
            <a:spLocks noGrp="1"/>
          </p:cNvSpPr>
          <p:nvPr>
            <p:ph type="body" sz="quarter" idx="12"/>
          </p:nvPr>
        </p:nvSpPr>
        <p:spPr>
          <a:xfrm>
            <a:off x="10614990" y="5780025"/>
            <a:ext cx="863947" cy="795338"/>
          </a:xfrm>
        </p:spPr>
        <p:txBody>
          <a:bodyPr/>
          <a:lstStyle/>
          <a:p>
            <a:r>
              <a:rPr lang="en-US" b="1" dirty="0"/>
              <a:t>20–25</a:t>
            </a:r>
          </a:p>
        </p:txBody>
      </p:sp>
      <p:sp>
        <p:nvSpPr>
          <p:cNvPr id="2" name="Text Placeholder 1">
            <a:extLst>
              <a:ext uri="{FF2B5EF4-FFF2-40B4-BE49-F238E27FC236}">
                <a16:creationId xmlns:a16="http://schemas.microsoft.com/office/drawing/2014/main" id="{75C48829-4224-2FC3-9AE5-362A54E52523}"/>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5.4</a:t>
            </a:r>
          </a:p>
        </p:txBody>
      </p:sp>
    </p:spTree>
    <p:extLst>
      <p:ext uri="{BB962C8B-B14F-4D97-AF65-F5344CB8AC3E}">
        <p14:creationId xmlns:p14="http://schemas.microsoft.com/office/powerpoint/2010/main" val="307615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93B5D-79D1-081A-1B62-E97EB36481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862F90-E403-A82A-EE5A-E1863A4876D6}"/>
              </a:ext>
            </a:extLst>
          </p:cNvPr>
          <p:cNvSpPr>
            <a:spLocks noGrp="1"/>
          </p:cNvSpPr>
          <p:nvPr>
            <p:ph type="title"/>
          </p:nvPr>
        </p:nvSpPr>
        <p:spPr>
          <a:xfrm>
            <a:off x="774551" y="1"/>
            <a:ext cx="11428171" cy="1263192"/>
          </a:xfrm>
        </p:spPr>
        <p:txBody>
          <a:bodyPr/>
          <a:lstStyle/>
          <a:p>
            <a:pPr algn="l"/>
            <a:r>
              <a:rPr lang="en-US" b="1" dirty="0"/>
              <a:t>Identifying Slope and </a:t>
            </a:r>
            <a:r>
              <a:rPr lang="en-US" b="1" i="1" dirty="0"/>
              <a:t>y</a:t>
            </a:r>
            <a:r>
              <a:rPr lang="en-US" b="1" dirty="0"/>
              <a:t>-Intercept </a:t>
            </a:r>
            <a:r>
              <a:rPr lang="en-US" sz="2000" b="1" dirty="0">
                <a:solidFill>
                  <a:schemeClr val="bg1"/>
                </a:solidFill>
              </a:rPr>
              <a:t>(1 of 4)</a:t>
            </a:r>
          </a:p>
        </p:txBody>
      </p:sp>
      <p:sp>
        <p:nvSpPr>
          <p:cNvPr id="6" name="Text Placeholder 2">
            <a:extLst>
              <a:ext uri="{FF2B5EF4-FFF2-40B4-BE49-F238E27FC236}">
                <a16:creationId xmlns:a16="http://schemas.microsoft.com/office/drawing/2014/main" id="{E294CFE6-F47A-784E-7E82-1D2492579DD0}"/>
              </a:ext>
            </a:extLst>
          </p:cNvPr>
          <p:cNvSpPr txBox="1">
            <a:spLocks/>
          </p:cNvSpPr>
          <p:nvPr/>
        </p:nvSpPr>
        <p:spPr>
          <a:xfrm>
            <a:off x="871368" y="1574899"/>
            <a:ext cx="10041047" cy="13544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Each equation represents a linear relationship. Examine each and determine the slope and the </a:t>
            </a:r>
            <a:r>
              <a:rPr lang="en-US" sz="2800" i="1" dirty="0">
                <a:solidFill>
                  <a:srgbClr val="000000"/>
                </a:solidFill>
              </a:rPr>
              <a:t>y</a:t>
            </a:r>
            <a:r>
              <a:rPr lang="en-US" sz="2800" dirty="0">
                <a:solidFill>
                  <a:srgbClr val="000000"/>
                </a:solidFill>
              </a:rPr>
              <a:t>-intercept. Write the </a:t>
            </a:r>
            <a:r>
              <a:rPr lang="en-US" sz="2800" i="1" dirty="0">
                <a:solidFill>
                  <a:srgbClr val="000000"/>
                </a:solidFill>
              </a:rPr>
              <a:t>y</a:t>
            </a:r>
            <a:r>
              <a:rPr lang="en-US" sz="2800" dirty="0">
                <a:solidFill>
                  <a:srgbClr val="000000"/>
                </a:solidFill>
              </a:rPr>
              <a:t>-intercept as an ordered pair.</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13CAAA9-3EF5-AEED-88CF-815E6A965BBE}"/>
                  </a:ext>
                </a:extLst>
              </p:cNvPr>
              <p:cNvSpPr txBox="1">
                <a:spLocks/>
              </p:cNvSpPr>
              <p:nvPr/>
            </p:nvSpPr>
            <p:spPr>
              <a:xfrm>
                <a:off x="871369" y="3072334"/>
                <a:ext cx="3559784"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=11</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−9</m:t>
                    </m:r>
                  </m:oMath>
                </a14:m>
                <a:endParaRPr lang="en-US" sz="2800" dirty="0">
                  <a:solidFill>
                    <a:srgbClr val="000000"/>
                  </a:solidFill>
                </a:endParaRPr>
              </a:p>
            </p:txBody>
          </p:sp>
        </mc:Choice>
        <mc:Fallback xmlns="">
          <p:sp>
            <p:nvSpPr>
              <p:cNvPr id="3" name="Text Placeholder 2">
                <a:extLst>
                  <a:ext uri="{FF2B5EF4-FFF2-40B4-BE49-F238E27FC236}">
                    <a16:creationId xmlns:a16="http://schemas.microsoft.com/office/drawing/2014/main" id="{113CAAA9-3EF5-AEED-88CF-815E6A965BBE}"/>
                  </a:ext>
                </a:extLst>
              </p:cNvPr>
              <p:cNvSpPr txBox="1">
                <a:spLocks noRot="1" noChangeAspect="1" noMove="1" noResize="1" noEditPoints="1" noAdjustHandles="1" noChangeArrowheads="1" noChangeShapeType="1" noTextEdit="1"/>
              </p:cNvSpPr>
              <p:nvPr/>
            </p:nvSpPr>
            <p:spPr>
              <a:xfrm>
                <a:off x="871369" y="3072334"/>
                <a:ext cx="3559784" cy="567882"/>
              </a:xfrm>
              <a:prstGeom prst="rect">
                <a:avLst/>
              </a:prstGeom>
              <a:blipFill>
                <a:blip r:embed="rId3"/>
                <a:stretch>
                  <a:fillRect l="-3596"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346CABEC-BBA4-45F3-0581-FD5095C5BA3B}"/>
                  </a:ext>
                </a:extLst>
              </p:cNvPr>
              <p:cNvSpPr txBox="1">
                <a:spLocks/>
              </p:cNvSpPr>
              <p:nvPr/>
            </p:nvSpPr>
            <p:spPr>
              <a:xfrm>
                <a:off x="6184382" y="3072334"/>
                <a:ext cx="3226295"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b="0" dirty="0">
                    <a:solidFill>
                      <a:srgbClr val="000000"/>
                    </a:solidFill>
                  </a:rPr>
                  <a:t> </a:t>
                </a:r>
                <a14:m>
                  <m:oMath xmlns:m="http://schemas.openxmlformats.org/officeDocument/2006/math">
                    <m:r>
                      <a:rPr lang="en-US" sz="2800" b="0" i="0" smtClean="0">
                        <a:solidFill>
                          <a:srgbClr val="000000"/>
                        </a:solidFill>
                        <a:latin typeface="Cambria Math" panose="02040503050406030204" pitchFamily="18" charset="0"/>
                      </a:rPr>
                      <m:t>4</m:t>
                    </m:r>
                    <m:r>
                      <a:rPr lang="en-US" sz="2800" b="0" i="1" smtClean="0">
                        <a:solidFill>
                          <a:srgbClr val="000000"/>
                        </a:solidFill>
                        <a:latin typeface="Cambria Math" panose="02040503050406030204" pitchFamily="18" charset="0"/>
                      </a:rPr>
                      <m:t>𝑥</m:t>
                    </m:r>
                    <m:r>
                      <a:rPr lang="en-US" sz="2800" b="0" i="0" smtClean="0">
                        <a:solidFill>
                          <a:srgbClr val="000000"/>
                        </a:solidFill>
                        <a:latin typeface="Cambria Math" panose="02040503050406030204" pitchFamily="18" charset="0"/>
                      </a:rPr>
                      <m:t>+6</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=270</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346CABEC-BBA4-45F3-0581-FD5095C5BA3B}"/>
                  </a:ext>
                </a:extLst>
              </p:cNvPr>
              <p:cNvSpPr txBox="1">
                <a:spLocks noRot="1" noChangeAspect="1" noMove="1" noResize="1" noEditPoints="1" noAdjustHandles="1" noChangeArrowheads="1" noChangeShapeType="1" noTextEdit="1"/>
              </p:cNvSpPr>
              <p:nvPr/>
            </p:nvSpPr>
            <p:spPr>
              <a:xfrm>
                <a:off x="6184382" y="3072334"/>
                <a:ext cx="3226295" cy="567882"/>
              </a:xfrm>
              <a:prstGeom prst="rect">
                <a:avLst/>
              </a:prstGeom>
              <a:blipFill>
                <a:blip r:embed="rId4"/>
                <a:stretch>
                  <a:fillRect l="-3962"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Placeholder 2">
                <a:extLst>
                  <a:ext uri="{FF2B5EF4-FFF2-40B4-BE49-F238E27FC236}">
                    <a16:creationId xmlns:a16="http://schemas.microsoft.com/office/drawing/2014/main" id="{5FC41C9F-8DD0-9707-D2D4-6A6638FE952E}"/>
                  </a:ext>
                </a:extLst>
              </p:cNvPr>
              <p:cNvSpPr txBox="1">
                <a:spLocks/>
              </p:cNvSpPr>
              <p:nvPr/>
            </p:nvSpPr>
            <p:spPr>
              <a:xfrm>
                <a:off x="871368" y="4790257"/>
                <a:ext cx="3559783"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=5(2</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−9)</m:t>
                    </m:r>
                  </m:oMath>
                </a14:m>
                <a:endParaRPr lang="en-US" sz="2800" dirty="0">
                  <a:solidFill>
                    <a:srgbClr val="000000"/>
                  </a:solidFill>
                </a:endParaRPr>
              </a:p>
            </p:txBody>
          </p:sp>
        </mc:Choice>
        <mc:Fallback xmlns="">
          <p:sp>
            <p:nvSpPr>
              <p:cNvPr id="11" name="Text Placeholder 2">
                <a:extLst>
                  <a:ext uri="{FF2B5EF4-FFF2-40B4-BE49-F238E27FC236}">
                    <a16:creationId xmlns:a16="http://schemas.microsoft.com/office/drawing/2014/main" id="{5FC41C9F-8DD0-9707-D2D4-6A6638FE952E}"/>
                  </a:ext>
                </a:extLst>
              </p:cNvPr>
              <p:cNvSpPr txBox="1">
                <a:spLocks noRot="1" noChangeAspect="1" noMove="1" noResize="1" noEditPoints="1" noAdjustHandles="1" noChangeArrowheads="1" noChangeShapeType="1" noTextEdit="1"/>
              </p:cNvSpPr>
              <p:nvPr/>
            </p:nvSpPr>
            <p:spPr>
              <a:xfrm>
                <a:off x="871368" y="4790257"/>
                <a:ext cx="3559783" cy="567882"/>
              </a:xfrm>
              <a:prstGeom prst="rect">
                <a:avLst/>
              </a:prstGeom>
              <a:blipFill>
                <a:blip r:embed="rId5"/>
                <a:stretch>
                  <a:fillRect l="-3596"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 Placeholder 2">
                <a:extLst>
                  <a:ext uri="{FF2B5EF4-FFF2-40B4-BE49-F238E27FC236}">
                    <a16:creationId xmlns:a16="http://schemas.microsoft.com/office/drawing/2014/main" id="{06236DBF-A09E-EAB3-E150-AC54F31E8D14}"/>
                  </a:ext>
                </a:extLst>
              </p:cNvPr>
              <p:cNvSpPr txBox="1">
                <a:spLocks/>
              </p:cNvSpPr>
              <p:nvPr/>
            </p:nvSpPr>
            <p:spPr>
              <a:xfrm>
                <a:off x="6184382" y="4790257"/>
                <a:ext cx="3226295"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4"/>
                </a:pPr>
                <a:r>
                  <a:rPr lang="en-US" sz="2800" b="0" dirty="0">
                    <a:solidFill>
                      <a:srgbClr val="000000"/>
                    </a:solidFill>
                  </a:rPr>
                  <a:t> </a:t>
                </a:r>
                <a14:m>
                  <m:oMath xmlns:m="http://schemas.openxmlformats.org/officeDocument/2006/math">
                    <m:r>
                      <a:rPr lang="en-US" sz="2800" b="0" i="0" smtClean="0">
                        <a:solidFill>
                          <a:srgbClr val="000000"/>
                        </a:solidFill>
                        <a:latin typeface="Cambria Math" panose="02040503050406030204" pitchFamily="18" charset="0"/>
                      </a:rPr>
                      <m:t>8</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=−6</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+24</m:t>
                    </m:r>
                  </m:oMath>
                </a14:m>
                <a:endParaRPr lang="en-US" sz="2800" dirty="0">
                  <a:solidFill>
                    <a:srgbClr val="000000"/>
                  </a:solidFill>
                </a:endParaRPr>
              </a:p>
            </p:txBody>
          </p:sp>
        </mc:Choice>
        <mc:Fallback xmlns="">
          <p:sp>
            <p:nvSpPr>
              <p:cNvPr id="12" name="Text Placeholder 2">
                <a:extLst>
                  <a:ext uri="{FF2B5EF4-FFF2-40B4-BE49-F238E27FC236}">
                    <a16:creationId xmlns:a16="http://schemas.microsoft.com/office/drawing/2014/main" id="{06236DBF-A09E-EAB3-E150-AC54F31E8D14}"/>
                  </a:ext>
                </a:extLst>
              </p:cNvPr>
              <p:cNvSpPr txBox="1">
                <a:spLocks noRot="1" noChangeAspect="1" noMove="1" noResize="1" noEditPoints="1" noAdjustHandles="1" noChangeArrowheads="1" noChangeShapeType="1" noTextEdit="1"/>
              </p:cNvSpPr>
              <p:nvPr/>
            </p:nvSpPr>
            <p:spPr>
              <a:xfrm>
                <a:off x="6184382" y="4790257"/>
                <a:ext cx="3226295" cy="567882"/>
              </a:xfrm>
              <a:prstGeom prst="rect">
                <a:avLst/>
              </a:prstGeom>
              <a:blipFill>
                <a:blip r:embed="rId6"/>
                <a:stretch>
                  <a:fillRect l="-3962" t="-11828" b="-22581"/>
                </a:stretch>
              </a:blipFill>
            </p:spPr>
            <p:txBody>
              <a:bodyPr/>
              <a:lstStyle/>
              <a:p>
                <a:r>
                  <a:rPr lang="en-US">
                    <a:noFill/>
                  </a:rPr>
                  <a:t> </a:t>
                </a:r>
              </a:p>
            </p:txBody>
          </p:sp>
        </mc:Fallback>
      </mc:AlternateContent>
    </p:spTree>
    <p:extLst>
      <p:ext uri="{BB962C8B-B14F-4D97-AF65-F5344CB8AC3E}">
        <p14:creationId xmlns:p14="http://schemas.microsoft.com/office/powerpoint/2010/main" val="22582128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CD1B7-054C-A5AD-AB15-EA5FB89F94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0DA40A-931C-A440-6AD4-8FB9C12E5414}"/>
              </a:ext>
            </a:extLst>
          </p:cNvPr>
          <p:cNvSpPr>
            <a:spLocks noGrp="1"/>
          </p:cNvSpPr>
          <p:nvPr>
            <p:ph type="title"/>
          </p:nvPr>
        </p:nvSpPr>
        <p:spPr>
          <a:xfrm>
            <a:off x="763793" y="1"/>
            <a:ext cx="11438929" cy="1263192"/>
          </a:xfrm>
        </p:spPr>
        <p:txBody>
          <a:bodyPr/>
          <a:lstStyle/>
          <a:p>
            <a:pPr algn="l"/>
            <a:r>
              <a:rPr lang="en-US" b="1" dirty="0"/>
              <a:t>Identifying Slope and </a:t>
            </a:r>
            <a:r>
              <a:rPr lang="en-US" b="1" i="1" dirty="0"/>
              <a:t>y</a:t>
            </a:r>
            <a:r>
              <a:rPr lang="en-US" b="1" dirty="0"/>
              <a:t>-Intercept </a:t>
            </a:r>
            <a:r>
              <a:rPr lang="en-US" sz="2000" b="1" dirty="0">
                <a:solidFill>
                  <a:schemeClr val="bg1"/>
                </a:solidFill>
              </a:rPr>
              <a:t>(2 of 4)</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2B3FBD0-1E67-DF08-853B-D88A68B50DCC}"/>
                  </a:ext>
                </a:extLst>
              </p:cNvPr>
              <p:cNvSpPr txBox="1">
                <a:spLocks/>
              </p:cNvSpPr>
              <p:nvPr/>
            </p:nvSpPr>
            <p:spPr>
              <a:xfrm>
                <a:off x="763793" y="1591027"/>
                <a:ext cx="3894267"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+9=6(</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−3)</m:t>
                    </m:r>
                  </m:oMath>
                </a14:m>
                <a:endParaRPr lang="en-US" sz="2800" dirty="0">
                  <a:solidFill>
                    <a:srgbClr val="000000"/>
                  </a:solidFill>
                </a:endParaRPr>
              </a:p>
            </p:txBody>
          </p:sp>
        </mc:Choice>
        <mc:Fallback xmlns="">
          <p:sp>
            <p:nvSpPr>
              <p:cNvPr id="3" name="Text Placeholder 2">
                <a:extLst>
                  <a:ext uri="{FF2B5EF4-FFF2-40B4-BE49-F238E27FC236}">
                    <a16:creationId xmlns:a16="http://schemas.microsoft.com/office/drawing/2014/main" id="{62B3FBD0-1E67-DF08-853B-D88A68B50DCC}"/>
                  </a:ext>
                </a:extLst>
              </p:cNvPr>
              <p:cNvSpPr txBox="1">
                <a:spLocks noRot="1" noChangeAspect="1" noMove="1" noResize="1" noEditPoints="1" noAdjustHandles="1" noChangeArrowheads="1" noChangeShapeType="1" noTextEdit="1"/>
              </p:cNvSpPr>
              <p:nvPr/>
            </p:nvSpPr>
            <p:spPr>
              <a:xfrm>
                <a:off x="763793" y="1591027"/>
                <a:ext cx="3894267" cy="567882"/>
              </a:xfrm>
              <a:prstGeom prst="rect">
                <a:avLst/>
              </a:prstGeom>
              <a:blipFill>
                <a:blip r:embed="rId3"/>
                <a:stretch>
                  <a:fillRect l="-3286"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0D53B3DC-7C8D-10BF-2071-75BCDEC37F77}"/>
                  </a:ext>
                </a:extLst>
              </p:cNvPr>
              <p:cNvSpPr txBox="1">
                <a:spLocks/>
              </p:cNvSpPr>
              <p:nvPr/>
            </p:nvSpPr>
            <p:spPr>
              <a:xfrm>
                <a:off x="6095206" y="1586167"/>
                <a:ext cx="4200655"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6"/>
                </a:pPr>
                <a:r>
                  <a:rPr lang="en-US" sz="2800" b="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=9</m:t>
                    </m:r>
                  </m:oMath>
                </a14:m>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0D53B3DC-7C8D-10BF-2071-75BCDEC37F77}"/>
                  </a:ext>
                </a:extLst>
              </p:cNvPr>
              <p:cNvSpPr txBox="1">
                <a:spLocks noRot="1" noChangeAspect="1" noMove="1" noResize="1" noEditPoints="1" noAdjustHandles="1" noChangeArrowheads="1" noChangeShapeType="1" noTextEdit="1"/>
              </p:cNvSpPr>
              <p:nvPr/>
            </p:nvSpPr>
            <p:spPr>
              <a:xfrm>
                <a:off x="6095206" y="1586167"/>
                <a:ext cx="4200655" cy="567882"/>
              </a:xfrm>
              <a:prstGeom prst="rect">
                <a:avLst/>
              </a:prstGeom>
              <a:blipFill>
                <a:blip r:embed="rId4"/>
                <a:stretch>
                  <a:fillRect l="-3048" t="-11828" b="-236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Placeholder 2">
                <a:extLst>
                  <a:ext uri="{FF2B5EF4-FFF2-40B4-BE49-F238E27FC236}">
                    <a16:creationId xmlns:a16="http://schemas.microsoft.com/office/drawing/2014/main" id="{959EFBB3-7B1A-545B-F68B-628152BCE95C}"/>
                  </a:ext>
                </a:extLst>
              </p:cNvPr>
              <p:cNvSpPr txBox="1">
                <a:spLocks/>
              </p:cNvSpPr>
              <p:nvPr/>
            </p:nvSpPr>
            <p:spPr>
              <a:xfrm>
                <a:off x="763794" y="3259943"/>
                <a:ext cx="3667356"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7"/>
                </a:pPr>
                <a:r>
                  <a:rPr lang="en-US" sz="280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4</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−12</m:t>
                    </m:r>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=48</m:t>
                    </m:r>
                  </m:oMath>
                </a14:m>
                <a:endParaRPr lang="en-US" sz="2800" dirty="0">
                  <a:solidFill>
                    <a:srgbClr val="000000"/>
                  </a:solidFill>
                </a:endParaRPr>
              </a:p>
            </p:txBody>
          </p:sp>
        </mc:Choice>
        <mc:Fallback xmlns="">
          <p:sp>
            <p:nvSpPr>
              <p:cNvPr id="11" name="Text Placeholder 2">
                <a:extLst>
                  <a:ext uri="{FF2B5EF4-FFF2-40B4-BE49-F238E27FC236}">
                    <a16:creationId xmlns:a16="http://schemas.microsoft.com/office/drawing/2014/main" id="{959EFBB3-7B1A-545B-F68B-628152BCE95C}"/>
                  </a:ext>
                </a:extLst>
              </p:cNvPr>
              <p:cNvSpPr txBox="1">
                <a:spLocks noRot="1" noChangeAspect="1" noMove="1" noResize="1" noEditPoints="1" noAdjustHandles="1" noChangeArrowheads="1" noChangeShapeType="1" noTextEdit="1"/>
              </p:cNvSpPr>
              <p:nvPr/>
            </p:nvSpPr>
            <p:spPr>
              <a:xfrm>
                <a:off x="763794" y="3259943"/>
                <a:ext cx="3667356" cy="567882"/>
              </a:xfrm>
              <a:prstGeom prst="rect">
                <a:avLst/>
              </a:prstGeom>
              <a:blipFill>
                <a:blip r:embed="rId5"/>
                <a:stretch>
                  <a:fillRect l="-3488"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 Placeholder 2">
                <a:extLst>
                  <a:ext uri="{FF2B5EF4-FFF2-40B4-BE49-F238E27FC236}">
                    <a16:creationId xmlns:a16="http://schemas.microsoft.com/office/drawing/2014/main" id="{64104057-62A5-A6FB-79A6-F6D149F64F86}"/>
                  </a:ext>
                </a:extLst>
              </p:cNvPr>
              <p:cNvSpPr txBox="1">
                <a:spLocks/>
              </p:cNvSpPr>
              <p:nvPr/>
            </p:nvSpPr>
            <p:spPr>
              <a:xfrm>
                <a:off x="6095207" y="3259943"/>
                <a:ext cx="4200654"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8"/>
                </a:pPr>
                <a:r>
                  <a:rPr lang="en-US" sz="2800" b="0" dirty="0">
                    <a:solidFill>
                      <a:srgbClr val="000000"/>
                    </a:solidFill>
                  </a:rPr>
                  <a:t> </a:t>
                </a:r>
                <a14:m>
                  <m:oMath xmlns:m="http://schemas.openxmlformats.org/officeDocument/2006/math">
                    <m:r>
                      <a:rPr lang="en-US" sz="2800" i="1">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=10</m:t>
                    </m:r>
                  </m:oMath>
                </a14:m>
                <a:endParaRPr lang="en-US" sz="2800" dirty="0">
                  <a:solidFill>
                    <a:srgbClr val="000000"/>
                  </a:solidFill>
                </a:endParaRPr>
              </a:p>
            </p:txBody>
          </p:sp>
        </mc:Choice>
        <mc:Fallback xmlns="">
          <p:sp>
            <p:nvSpPr>
              <p:cNvPr id="12" name="Text Placeholder 2">
                <a:extLst>
                  <a:ext uri="{FF2B5EF4-FFF2-40B4-BE49-F238E27FC236}">
                    <a16:creationId xmlns:a16="http://schemas.microsoft.com/office/drawing/2014/main" id="{64104057-62A5-A6FB-79A6-F6D149F64F86}"/>
                  </a:ext>
                </a:extLst>
              </p:cNvPr>
              <p:cNvSpPr txBox="1">
                <a:spLocks noRot="1" noChangeAspect="1" noMove="1" noResize="1" noEditPoints="1" noAdjustHandles="1" noChangeArrowheads="1" noChangeShapeType="1" noTextEdit="1"/>
              </p:cNvSpPr>
              <p:nvPr/>
            </p:nvSpPr>
            <p:spPr>
              <a:xfrm>
                <a:off x="6095207" y="3259943"/>
                <a:ext cx="4200654" cy="567882"/>
              </a:xfrm>
              <a:prstGeom prst="rect">
                <a:avLst/>
              </a:prstGeom>
              <a:blipFill>
                <a:blip r:embed="rId6"/>
                <a:stretch>
                  <a:fillRect l="-3048"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Placeholder 2">
                <a:extLst>
                  <a:ext uri="{FF2B5EF4-FFF2-40B4-BE49-F238E27FC236}">
                    <a16:creationId xmlns:a16="http://schemas.microsoft.com/office/drawing/2014/main" id="{59962A1E-F401-F9D3-64D7-36B805DEF26D}"/>
                  </a:ext>
                </a:extLst>
              </p:cNvPr>
              <p:cNvSpPr txBox="1">
                <a:spLocks/>
              </p:cNvSpPr>
              <p:nvPr/>
            </p:nvSpPr>
            <p:spPr>
              <a:xfrm>
                <a:off x="871368" y="5099333"/>
                <a:ext cx="3894270"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9"/>
                </a:pPr>
                <a:r>
                  <a:rPr lang="en-US" sz="280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−4=3(</m:t>
                    </m:r>
                    <m:r>
                      <a:rPr lang="en-US" sz="2800" b="0" i="1" smtClean="0">
                        <a:solidFill>
                          <a:srgbClr val="000000"/>
                        </a:solidFill>
                        <a:latin typeface="Cambria Math" panose="02040503050406030204" pitchFamily="18" charset="0"/>
                      </a:rPr>
                      <m:t>𝑥</m:t>
                    </m:r>
                    <m:r>
                      <a:rPr lang="en-US" sz="2800" b="0" i="1" smtClean="0">
                        <a:solidFill>
                          <a:srgbClr val="000000"/>
                        </a:solidFill>
                        <a:latin typeface="Cambria Math" panose="02040503050406030204" pitchFamily="18" charset="0"/>
                      </a:rPr>
                      <m:t>+1)</m:t>
                    </m:r>
                  </m:oMath>
                </a14:m>
                <a:endParaRPr lang="en-US" sz="2800" dirty="0">
                  <a:solidFill>
                    <a:srgbClr val="000000"/>
                  </a:solidFill>
                </a:endParaRPr>
              </a:p>
            </p:txBody>
          </p:sp>
        </mc:Choice>
        <mc:Fallback xmlns="">
          <p:sp>
            <p:nvSpPr>
              <p:cNvPr id="8" name="Text Placeholder 2">
                <a:extLst>
                  <a:ext uri="{FF2B5EF4-FFF2-40B4-BE49-F238E27FC236}">
                    <a16:creationId xmlns:a16="http://schemas.microsoft.com/office/drawing/2014/main" id="{59962A1E-F401-F9D3-64D7-36B805DEF26D}"/>
                  </a:ext>
                </a:extLst>
              </p:cNvPr>
              <p:cNvSpPr txBox="1">
                <a:spLocks noRot="1" noChangeAspect="1" noMove="1" noResize="1" noEditPoints="1" noAdjustHandles="1" noChangeArrowheads="1" noChangeShapeType="1" noTextEdit="1"/>
              </p:cNvSpPr>
              <p:nvPr/>
            </p:nvSpPr>
            <p:spPr>
              <a:xfrm>
                <a:off x="871368" y="5099333"/>
                <a:ext cx="3894270" cy="567882"/>
              </a:xfrm>
              <a:prstGeom prst="rect">
                <a:avLst/>
              </a:prstGeom>
              <a:blipFill>
                <a:blip r:embed="rId7"/>
                <a:stretch>
                  <a:fillRect l="-3286" t="-1182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Placeholder 2">
                <a:extLst>
                  <a:ext uri="{FF2B5EF4-FFF2-40B4-BE49-F238E27FC236}">
                    <a16:creationId xmlns:a16="http://schemas.microsoft.com/office/drawing/2014/main" id="{F429D0F6-F5EB-B7CF-6090-B1CFD2AD7D1A}"/>
                  </a:ext>
                </a:extLst>
              </p:cNvPr>
              <p:cNvSpPr txBox="1">
                <a:spLocks/>
              </p:cNvSpPr>
              <p:nvPr/>
            </p:nvSpPr>
            <p:spPr>
              <a:xfrm>
                <a:off x="6095206" y="5099333"/>
                <a:ext cx="4535144" cy="567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10"/>
                </a:pPr>
                <a:r>
                  <a:rPr lang="en-US" sz="2800" dirty="0">
                    <a:solidFill>
                      <a:srgbClr val="000000"/>
                    </a:solidFill>
                  </a:rPr>
                  <a:t> </a:t>
                </a:r>
                <a14:m>
                  <m:oMath xmlns:m="http://schemas.openxmlformats.org/officeDocument/2006/math">
                    <m:r>
                      <a:rPr lang="en-US" sz="2800" b="0" i="1" smtClean="0">
                        <a:solidFill>
                          <a:srgbClr val="000000"/>
                        </a:solidFill>
                        <a:latin typeface="Cambria Math" panose="02040503050406030204" pitchFamily="18" charset="0"/>
                      </a:rPr>
                      <m:t>𝑦</m:t>
                    </m:r>
                    <m:r>
                      <a:rPr lang="en-US" sz="2800" b="0" i="1" smtClean="0">
                        <a:solidFill>
                          <a:srgbClr val="000000"/>
                        </a:solidFill>
                        <a:latin typeface="Cambria Math" panose="02040503050406030204" pitchFamily="18" charset="0"/>
                      </a:rPr>
                      <m:t>=9−</m:t>
                    </m:r>
                    <m:f>
                      <m:fPr>
                        <m:ctrlPr>
                          <a:rPr lang="en-US" sz="2800" b="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𝑥</m:t>
                    </m:r>
                  </m:oMath>
                </a14:m>
                <a:endParaRPr lang="en-US" sz="2800" dirty="0">
                  <a:solidFill>
                    <a:srgbClr val="000000"/>
                  </a:solidFill>
                </a:endParaRPr>
              </a:p>
            </p:txBody>
          </p:sp>
        </mc:Choice>
        <mc:Fallback xmlns="">
          <p:sp>
            <p:nvSpPr>
              <p:cNvPr id="10" name="Text Placeholder 2">
                <a:extLst>
                  <a:ext uri="{FF2B5EF4-FFF2-40B4-BE49-F238E27FC236}">
                    <a16:creationId xmlns:a16="http://schemas.microsoft.com/office/drawing/2014/main" id="{F429D0F6-F5EB-B7CF-6090-B1CFD2AD7D1A}"/>
                  </a:ext>
                </a:extLst>
              </p:cNvPr>
              <p:cNvSpPr txBox="1">
                <a:spLocks noRot="1" noChangeAspect="1" noMove="1" noResize="1" noEditPoints="1" noAdjustHandles="1" noChangeArrowheads="1" noChangeShapeType="1" noTextEdit="1"/>
              </p:cNvSpPr>
              <p:nvPr/>
            </p:nvSpPr>
            <p:spPr>
              <a:xfrm>
                <a:off x="6095206" y="5099333"/>
                <a:ext cx="4535144" cy="567882"/>
              </a:xfrm>
              <a:prstGeom prst="rect">
                <a:avLst/>
              </a:prstGeom>
              <a:blipFill>
                <a:blip r:embed="rId8"/>
                <a:stretch>
                  <a:fillRect l="-2823" b="-38710"/>
                </a:stretch>
              </a:blipFill>
            </p:spPr>
            <p:txBody>
              <a:bodyPr/>
              <a:lstStyle/>
              <a:p>
                <a:r>
                  <a:rPr lang="en-US">
                    <a:noFill/>
                  </a:rPr>
                  <a:t> </a:t>
                </a:r>
              </a:p>
            </p:txBody>
          </p:sp>
        </mc:Fallback>
      </mc:AlternateContent>
    </p:spTree>
    <p:extLst>
      <p:ext uri="{BB962C8B-B14F-4D97-AF65-F5344CB8AC3E}">
        <p14:creationId xmlns:p14="http://schemas.microsoft.com/office/powerpoint/2010/main" val="7378094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C1846-D7F7-5325-D835-8429B04E1A76}"/>
            </a:ext>
          </a:extLst>
        </p:cNvPr>
        <p:cNvGrpSpPr/>
        <p:nvPr/>
      </p:nvGrpSpPr>
      <p:grpSpPr>
        <a:xfrm>
          <a:off x="0" y="0"/>
          <a:ext cx="0" cy="0"/>
          <a:chOff x="0" y="0"/>
          <a:chExt cx="0" cy="0"/>
        </a:xfrm>
      </p:grpSpPr>
      <p:sp>
        <p:nvSpPr>
          <p:cNvPr id="6" name="Title 3">
            <a:extLst>
              <a:ext uri="{FF2B5EF4-FFF2-40B4-BE49-F238E27FC236}">
                <a16:creationId xmlns:a16="http://schemas.microsoft.com/office/drawing/2014/main" id="{C8BA3631-40FC-D052-B09B-7BB646584073}"/>
              </a:ext>
            </a:extLst>
          </p:cNvPr>
          <p:cNvSpPr>
            <a:spLocks noGrp="1"/>
          </p:cNvSpPr>
          <p:nvPr>
            <p:ph type="title"/>
          </p:nvPr>
        </p:nvSpPr>
        <p:spPr>
          <a:xfrm>
            <a:off x="763793" y="1"/>
            <a:ext cx="11438929" cy="1263192"/>
          </a:xfrm>
        </p:spPr>
        <p:txBody>
          <a:bodyPr/>
          <a:lstStyle/>
          <a:p>
            <a:pPr algn="l"/>
            <a:r>
              <a:rPr lang="en-US" b="1" dirty="0"/>
              <a:t>Identifying Slope and </a:t>
            </a:r>
            <a:r>
              <a:rPr lang="en-US" b="1" i="1" dirty="0"/>
              <a:t>y</a:t>
            </a:r>
            <a:r>
              <a:rPr lang="en-US" b="1" dirty="0"/>
              <a:t>-Intercept </a:t>
            </a:r>
            <a:r>
              <a:rPr lang="en-US" sz="2000" b="1" dirty="0">
                <a:solidFill>
                  <a:schemeClr val="bg1"/>
                </a:solidFill>
              </a:rPr>
              <a:t>(3 of 4)</a:t>
            </a:r>
          </a:p>
        </p:txBody>
      </p:sp>
      <p:sp>
        <p:nvSpPr>
          <p:cNvPr id="9" name="Text Placeholder 2">
            <a:extLst>
              <a:ext uri="{FF2B5EF4-FFF2-40B4-BE49-F238E27FC236}">
                <a16:creationId xmlns:a16="http://schemas.microsoft.com/office/drawing/2014/main" id="{9914A196-CAE6-7FBC-48E3-F34569A5990A}"/>
              </a:ext>
            </a:extLst>
          </p:cNvPr>
          <p:cNvSpPr txBox="1">
            <a:spLocks/>
          </p:cNvSpPr>
          <p:nvPr/>
        </p:nvSpPr>
        <p:spPr>
          <a:xfrm>
            <a:off x="763792" y="1616140"/>
            <a:ext cx="990716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5.4!</a:t>
            </a:r>
          </a:p>
          <a:p>
            <a:pPr marL="0" indent="0" algn="l">
              <a:buNone/>
            </a:pPr>
            <a:endParaRPr lang="en-US" sz="2400" dirty="0">
              <a:solidFill>
                <a:srgbClr val="000000"/>
              </a:solidFill>
            </a:endParaRPr>
          </a:p>
          <a:p>
            <a:pPr marL="0" indent="0" algn="l">
              <a:buNone/>
            </a:pPr>
            <a:endParaRPr lang="en-US" sz="2800" b="0" i="0" u="none" strike="noStrike" baseline="0" dirty="0">
              <a:solidFill>
                <a:srgbClr val="000000"/>
              </a:solidFill>
            </a:endParaRPr>
          </a:p>
          <a:p>
            <a:pPr marL="0" indent="0" algn="l">
              <a:buNone/>
            </a:pPr>
            <a:endParaRPr lang="en-US" sz="2400" dirty="0">
              <a:solidFill>
                <a:srgbClr val="000000"/>
              </a:solidFill>
            </a:endParaRPr>
          </a:p>
          <a:p>
            <a:pPr marL="0" indent="0">
              <a:buNone/>
            </a:pPr>
            <a:endParaRPr lang="en-US" sz="2800" dirty="0">
              <a:solidFill>
                <a:srgbClr val="000000"/>
              </a:solidFill>
            </a:endParaRPr>
          </a:p>
        </p:txBody>
      </p:sp>
      <p:pic>
        <p:nvPicPr>
          <p:cNvPr id="2" name="Picture 1">
            <a:extLst>
              <a:ext uri="{FF2B5EF4-FFF2-40B4-BE49-F238E27FC236}">
                <a16:creationId xmlns:a16="http://schemas.microsoft.com/office/drawing/2014/main" id="{469F302A-DBD5-2529-AA53-9EF486B8AF9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419114" y="372494"/>
            <a:ext cx="1501270" cy="518205"/>
          </a:xfrm>
          <a:prstGeom prst="rect">
            <a:avLst/>
          </a:prstGeom>
        </p:spPr>
      </p:pic>
    </p:spTree>
    <p:extLst>
      <p:ext uri="{BB962C8B-B14F-4D97-AF65-F5344CB8AC3E}">
        <p14:creationId xmlns:p14="http://schemas.microsoft.com/office/powerpoint/2010/main" val="23733913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6D97F-0A02-BEF9-2AED-2CABE40363B4}"/>
            </a:ext>
          </a:extLst>
        </p:cNvPr>
        <p:cNvGrpSpPr/>
        <p:nvPr/>
      </p:nvGrpSpPr>
      <p:grpSpPr>
        <a:xfrm>
          <a:off x="0" y="0"/>
          <a:ext cx="0" cy="0"/>
          <a:chOff x="0" y="0"/>
          <a:chExt cx="0" cy="0"/>
        </a:xfrm>
      </p:grpSpPr>
      <p:sp>
        <p:nvSpPr>
          <p:cNvPr id="9" name="Text Placeholder 2">
            <a:extLst>
              <a:ext uri="{FF2B5EF4-FFF2-40B4-BE49-F238E27FC236}">
                <a16:creationId xmlns:a16="http://schemas.microsoft.com/office/drawing/2014/main" id="{97A3057A-AEED-D4CF-F3CB-DEB779AED74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
        <p:nvSpPr>
          <p:cNvPr id="6" name="Title 3">
            <a:extLst>
              <a:ext uri="{FF2B5EF4-FFF2-40B4-BE49-F238E27FC236}">
                <a16:creationId xmlns:a16="http://schemas.microsoft.com/office/drawing/2014/main" id="{47E8D78A-BD97-04DD-F1CD-2CE62DB0D5D7}"/>
              </a:ext>
            </a:extLst>
          </p:cNvPr>
          <p:cNvSpPr>
            <a:spLocks noGrp="1"/>
          </p:cNvSpPr>
          <p:nvPr>
            <p:ph type="title"/>
          </p:nvPr>
        </p:nvSpPr>
        <p:spPr>
          <a:xfrm>
            <a:off x="763793" y="1"/>
            <a:ext cx="11438929" cy="1263192"/>
          </a:xfrm>
        </p:spPr>
        <p:txBody>
          <a:bodyPr/>
          <a:lstStyle/>
          <a:p>
            <a:pPr algn="l"/>
            <a:r>
              <a:rPr lang="en-US" b="1" dirty="0"/>
              <a:t>Identifying Slope and </a:t>
            </a:r>
            <a:r>
              <a:rPr lang="en-US" b="1" i="1" dirty="0"/>
              <a:t>y</a:t>
            </a:r>
            <a:r>
              <a:rPr lang="en-US" b="1" dirty="0"/>
              <a:t>-Intercept </a:t>
            </a:r>
            <a:r>
              <a:rPr lang="en-US" sz="2000" b="1" dirty="0">
                <a:solidFill>
                  <a:schemeClr val="bg1"/>
                </a:solidFill>
              </a:rPr>
              <a:t>(4 of 4)</a:t>
            </a:r>
          </a:p>
        </p:txBody>
      </p:sp>
    </p:spTree>
    <p:extLst>
      <p:ext uri="{BB962C8B-B14F-4D97-AF65-F5344CB8AC3E}">
        <p14:creationId xmlns:p14="http://schemas.microsoft.com/office/powerpoint/2010/main" val="25650121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7B6D8E-F178-63BB-4647-BBEE59CD62FD}"/>
              </a:ext>
            </a:extLst>
          </p:cNvPr>
          <p:cNvSpPr>
            <a:spLocks noGrp="1"/>
          </p:cNvSpPr>
          <p:nvPr>
            <p:ph type="title" idx="4294967295"/>
          </p:nvPr>
        </p:nvSpPr>
        <p:spPr>
          <a:xfrm>
            <a:off x="838200" y="-345058"/>
            <a:ext cx="10514013" cy="345057"/>
          </a:xfrm>
          <a:prstGeom prst="rect">
            <a:avLst/>
          </a:prstGeom>
        </p:spPr>
        <p:txBody>
          <a:bodyPr anchor="b"/>
          <a:lstStyle/>
          <a:p>
            <a:r>
              <a:rPr lang="en-US" sz="2000" dirty="0">
                <a:solidFill>
                  <a:schemeClr val="bg2"/>
                </a:solidFill>
              </a:rPr>
              <a:t>Talk the Talk</a:t>
            </a:r>
          </a:p>
        </p:txBody>
      </p:sp>
      <p:sp>
        <p:nvSpPr>
          <p:cNvPr id="2" name="Text Placeholder 1" descr="20 to 25 minutes">
            <a:extLst>
              <a:ext uri="{FF2B5EF4-FFF2-40B4-BE49-F238E27FC236}">
                <a16:creationId xmlns:a16="http://schemas.microsoft.com/office/drawing/2014/main" id="{FC210BF6-188A-C9CF-0312-B6DC4E6EE108}"/>
              </a:ext>
            </a:extLst>
          </p:cNvPr>
          <p:cNvSpPr>
            <a:spLocks noGrp="1"/>
          </p:cNvSpPr>
          <p:nvPr>
            <p:ph type="body" sz="quarter" idx="12"/>
          </p:nvPr>
        </p:nvSpPr>
        <p:spPr>
          <a:xfrm>
            <a:off x="10614990" y="5780025"/>
            <a:ext cx="863947" cy="795338"/>
          </a:xfrm>
        </p:spPr>
        <p:txBody>
          <a:bodyPr/>
          <a:lstStyle/>
          <a:p>
            <a:r>
              <a:rPr lang="en-US" b="1" dirty="0"/>
              <a:t>20–25</a:t>
            </a:r>
          </a:p>
        </p:txBody>
      </p:sp>
    </p:spTree>
    <p:extLst>
      <p:ext uri="{BB962C8B-B14F-4D97-AF65-F5344CB8AC3E}">
        <p14:creationId xmlns:p14="http://schemas.microsoft.com/office/powerpoint/2010/main" val="33522238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AD9A1-EF00-2824-80BA-7958E44682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450E22-BA7A-1EB0-C485-009C18ABD8EA}"/>
              </a:ext>
            </a:extLst>
          </p:cNvPr>
          <p:cNvSpPr>
            <a:spLocks noGrp="1"/>
          </p:cNvSpPr>
          <p:nvPr>
            <p:ph type="title"/>
          </p:nvPr>
        </p:nvSpPr>
        <p:spPr/>
        <p:txBody>
          <a:bodyPr/>
          <a:lstStyle/>
          <a:p>
            <a:pPr algn="l"/>
            <a:r>
              <a:rPr lang="en-US" b="1" dirty="0"/>
              <a:t>Choose Your Medium </a:t>
            </a:r>
            <a:r>
              <a:rPr lang="en-US" sz="2000" b="1" dirty="0">
                <a:solidFill>
                  <a:schemeClr val="bg1"/>
                </a:solidFill>
              </a:rPr>
              <a:t>(1 of 7)</a:t>
            </a:r>
          </a:p>
        </p:txBody>
      </p:sp>
      <p:sp>
        <p:nvSpPr>
          <p:cNvPr id="6" name="Speech Bubble: Rectangle with Corners Rounded 1">
            <a:extLst>
              <a:ext uri="{FF2B5EF4-FFF2-40B4-BE49-F238E27FC236}">
                <a16:creationId xmlns:a16="http://schemas.microsoft.com/office/drawing/2014/main" id="{C8669D1A-F09F-C6C5-4A98-1412D4FC84CD}"/>
              </a:ext>
            </a:extLst>
          </p:cNvPr>
          <p:cNvSpPr/>
          <p:nvPr/>
        </p:nvSpPr>
        <p:spPr>
          <a:xfrm>
            <a:off x="777240" y="1844936"/>
            <a:ext cx="2086982" cy="2190523"/>
          </a:xfrm>
          <a:prstGeom prst="wedgeRoundRectCallout">
            <a:avLst>
              <a:gd name="adj1" fmla="val -35695"/>
              <a:gd name="adj2" fmla="val -64318"/>
              <a:gd name="adj3" fmla="val 16667"/>
            </a:avLst>
          </a:prstGeom>
          <a:ln>
            <a:solidFill>
              <a:srgbClr val="008F4C"/>
            </a:solidFill>
          </a:ln>
        </p:spPr>
        <p:style>
          <a:lnRef idx="2">
            <a:schemeClr val="accent6"/>
          </a:lnRef>
          <a:fillRef idx="1">
            <a:schemeClr val="lt1"/>
          </a:fillRef>
          <a:effectRef idx="0">
            <a:schemeClr val="accent6"/>
          </a:effectRef>
          <a:fontRef idx="minor">
            <a:schemeClr val="dk1"/>
          </a:fontRef>
        </p:style>
        <p:txBody>
          <a:bodyPr rtlCol="0" anchor="ctr"/>
          <a:lstStyle/>
          <a:p>
            <a:r>
              <a:rPr lang="en-US" sz="2000" b="1" dirty="0">
                <a:solidFill>
                  <a:srgbClr val="2B8147"/>
                </a:solidFill>
              </a:rPr>
              <a:t>Ask Yourself…</a:t>
            </a:r>
          </a:p>
          <a:p>
            <a:r>
              <a:rPr lang="en-US" sz="2000" dirty="0">
                <a:solidFill>
                  <a:srgbClr val="000000"/>
                </a:solidFill>
              </a:rPr>
              <a:t>What tools or strategies can you use to solve this problem?</a:t>
            </a:r>
          </a:p>
        </p:txBody>
      </p:sp>
      <p:sp>
        <p:nvSpPr>
          <p:cNvPr id="2" name="Text Placeholder 2">
            <a:extLst>
              <a:ext uri="{FF2B5EF4-FFF2-40B4-BE49-F238E27FC236}">
                <a16:creationId xmlns:a16="http://schemas.microsoft.com/office/drawing/2014/main" id="{CF98868E-CF1A-012A-B512-A5075F4E512C}"/>
              </a:ext>
            </a:extLst>
          </p:cNvPr>
          <p:cNvSpPr txBox="1">
            <a:spLocks/>
          </p:cNvSpPr>
          <p:nvPr/>
        </p:nvSpPr>
        <p:spPr>
          <a:xfrm>
            <a:off x="3355675" y="1595886"/>
            <a:ext cx="8285892" cy="492324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For each context, complete each task:</a:t>
            </a:r>
          </a:p>
          <a:p>
            <a:r>
              <a:rPr lang="en-US" sz="2800" dirty="0">
                <a:solidFill>
                  <a:srgbClr val="000000"/>
                </a:solidFill>
              </a:rPr>
              <a:t>Write an equation in slope-intercept, point-slope, or standard form.</a:t>
            </a:r>
          </a:p>
          <a:p>
            <a:r>
              <a:rPr lang="en-US" sz="2800" dirty="0">
                <a:solidFill>
                  <a:srgbClr val="000000"/>
                </a:solidFill>
              </a:rPr>
              <a:t>State the form of the equation you used and your reason for using it.</a:t>
            </a:r>
          </a:p>
          <a:p>
            <a:r>
              <a:rPr lang="en-US" sz="2800" dirty="0">
                <a:solidFill>
                  <a:srgbClr val="000000"/>
                </a:solidFill>
              </a:rPr>
              <a:t>Graph the line using any method.</a:t>
            </a:r>
          </a:p>
          <a:p>
            <a:r>
              <a:rPr lang="en-US" sz="2800" dirty="0">
                <a:solidFill>
                  <a:srgbClr val="000000"/>
                </a:solidFill>
              </a:rPr>
              <a:t>Explain the graphing method you used and your reason for using it.</a:t>
            </a:r>
          </a:p>
          <a:p>
            <a:r>
              <a:rPr lang="en-US" sz="2800" dirty="0">
                <a:solidFill>
                  <a:srgbClr val="000000"/>
                </a:solidFill>
              </a:rPr>
              <a:t>Match each transformed graph to the equation in the table, written in terms of </a:t>
            </a: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a:t>
            </a:r>
          </a:p>
        </p:txBody>
      </p:sp>
    </p:spTree>
    <p:extLst>
      <p:ext uri="{BB962C8B-B14F-4D97-AF65-F5344CB8AC3E}">
        <p14:creationId xmlns:p14="http://schemas.microsoft.com/office/powerpoint/2010/main" val="10433019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7BF8E-6FC7-2B4E-06D1-71A4E9BA3A4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A0688D9-F5C8-2B14-F12F-D3B23D4E3B7B}"/>
              </a:ext>
            </a:extLst>
          </p:cNvPr>
          <p:cNvSpPr>
            <a:spLocks noGrp="1"/>
          </p:cNvSpPr>
          <p:nvPr>
            <p:ph type="title"/>
          </p:nvPr>
        </p:nvSpPr>
        <p:spPr/>
        <p:txBody>
          <a:bodyPr/>
          <a:lstStyle/>
          <a:p>
            <a:pPr algn="l"/>
            <a:r>
              <a:rPr lang="en-US" b="1" dirty="0"/>
              <a:t>Choose Your Medium </a:t>
            </a:r>
            <a:r>
              <a:rPr lang="en-US" sz="2000" b="1" dirty="0">
                <a:solidFill>
                  <a:schemeClr val="bg1"/>
                </a:solidFill>
              </a:rPr>
              <a:t>(2 of 7)</a:t>
            </a:r>
          </a:p>
        </p:txBody>
      </p:sp>
      <p:sp>
        <p:nvSpPr>
          <p:cNvPr id="2" name="Text Placeholder 2">
            <a:extLst>
              <a:ext uri="{FF2B5EF4-FFF2-40B4-BE49-F238E27FC236}">
                <a16:creationId xmlns:a16="http://schemas.microsoft.com/office/drawing/2014/main" id="{E6024343-C5E9-C804-670E-3B6B97021553}"/>
              </a:ext>
            </a:extLst>
          </p:cNvPr>
          <p:cNvSpPr txBox="1">
            <a:spLocks/>
          </p:cNvSpPr>
          <p:nvPr/>
        </p:nvSpPr>
        <p:spPr>
          <a:xfrm>
            <a:off x="777240" y="1604513"/>
            <a:ext cx="9885009" cy="247578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Aft>
                <a:spcPts val="600"/>
              </a:spcAft>
              <a:buFont typeface="+mj-lt"/>
              <a:buAutoNum type="arabicPeriod"/>
            </a:pPr>
            <a:r>
              <a:rPr lang="en-US" sz="2800" dirty="0">
                <a:solidFill>
                  <a:srgbClr val="000000"/>
                </a:solidFill>
              </a:rPr>
              <a:t>On a math quiz, students earned 2 points for every correct multiple-choice question and 3 points for every correct short answer question. Joey earned a total of 36 points on the quiz.</a:t>
            </a:r>
          </a:p>
          <a:p>
            <a:pPr marL="517525" lvl="1" indent="0">
              <a:buNone/>
            </a:pPr>
            <a:r>
              <a:rPr lang="en-US" dirty="0">
                <a:solidFill>
                  <a:srgbClr val="000000"/>
                </a:solidFill>
              </a:rPr>
              <a:t>Let </a:t>
            </a:r>
            <a:r>
              <a:rPr lang="en-US" i="1" dirty="0">
                <a:solidFill>
                  <a:srgbClr val="000000"/>
                </a:solidFill>
              </a:rPr>
              <a:t>x</a:t>
            </a:r>
            <a:r>
              <a:rPr lang="en-US" dirty="0">
                <a:solidFill>
                  <a:srgbClr val="000000"/>
                </a:solidFill>
              </a:rPr>
              <a:t> = number of correct multiple-choice questions</a:t>
            </a:r>
            <a:br>
              <a:rPr lang="en-US" dirty="0">
                <a:solidFill>
                  <a:srgbClr val="000000"/>
                </a:solidFill>
              </a:rPr>
            </a:br>
            <a:r>
              <a:rPr lang="en-US" dirty="0">
                <a:solidFill>
                  <a:srgbClr val="000000"/>
                </a:solidFill>
              </a:rPr>
              <a:t>Let </a:t>
            </a:r>
            <a:r>
              <a:rPr lang="en-US" i="1" dirty="0">
                <a:solidFill>
                  <a:srgbClr val="000000"/>
                </a:solidFill>
              </a:rPr>
              <a:t>y</a:t>
            </a:r>
            <a:r>
              <a:rPr lang="en-US" dirty="0">
                <a:solidFill>
                  <a:srgbClr val="000000"/>
                </a:solidFill>
              </a:rPr>
              <a:t> = number of correct short answer questions</a:t>
            </a:r>
          </a:p>
        </p:txBody>
      </p:sp>
    </p:spTree>
    <p:extLst>
      <p:ext uri="{BB962C8B-B14F-4D97-AF65-F5344CB8AC3E}">
        <p14:creationId xmlns:p14="http://schemas.microsoft.com/office/powerpoint/2010/main" val="2191847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E5E8E-54A6-E95E-3BF5-B8B44CC402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D9907F8-07ED-2906-5E9E-C86566E68504}"/>
              </a:ext>
            </a:extLst>
          </p:cNvPr>
          <p:cNvSpPr>
            <a:spLocks noGrp="1"/>
          </p:cNvSpPr>
          <p:nvPr>
            <p:ph type="title"/>
          </p:nvPr>
        </p:nvSpPr>
        <p:spPr/>
        <p:txBody>
          <a:bodyPr/>
          <a:lstStyle/>
          <a:p>
            <a:pPr algn="l"/>
            <a:r>
              <a:rPr lang="en-US" b="1" dirty="0"/>
              <a:t>Choose Your Medium </a:t>
            </a:r>
            <a:r>
              <a:rPr lang="en-US" sz="2000" b="1" dirty="0">
                <a:solidFill>
                  <a:schemeClr val="bg1"/>
                </a:solidFill>
              </a:rPr>
              <a:t>(3 of 7)</a:t>
            </a:r>
          </a:p>
        </p:txBody>
      </p:sp>
      <p:sp>
        <p:nvSpPr>
          <p:cNvPr id="2" name="Text Placeholder 2">
            <a:extLst>
              <a:ext uri="{FF2B5EF4-FFF2-40B4-BE49-F238E27FC236}">
                <a16:creationId xmlns:a16="http://schemas.microsoft.com/office/drawing/2014/main" id="{111B4241-ACAB-52B1-3575-50E5FB37B31F}"/>
              </a:ext>
            </a:extLst>
          </p:cNvPr>
          <p:cNvSpPr txBox="1">
            <a:spLocks/>
          </p:cNvSpPr>
          <p:nvPr/>
        </p:nvSpPr>
        <p:spPr>
          <a:xfrm>
            <a:off x="777240" y="1671985"/>
            <a:ext cx="2665207"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Equation:</a:t>
            </a:r>
          </a:p>
        </p:txBody>
      </p:sp>
      <p:sp>
        <p:nvSpPr>
          <p:cNvPr id="3" name="Text Placeholder 2">
            <a:extLst>
              <a:ext uri="{FF2B5EF4-FFF2-40B4-BE49-F238E27FC236}">
                <a16:creationId xmlns:a16="http://schemas.microsoft.com/office/drawing/2014/main" id="{287CB1F8-F39A-FBA2-69AF-64C1DFC8E4B7}"/>
              </a:ext>
            </a:extLst>
          </p:cNvPr>
          <p:cNvSpPr txBox="1">
            <a:spLocks/>
          </p:cNvSpPr>
          <p:nvPr/>
        </p:nvSpPr>
        <p:spPr>
          <a:xfrm>
            <a:off x="6095206" y="1671985"/>
            <a:ext cx="2889223"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Reasoning:</a:t>
            </a:r>
          </a:p>
        </p:txBody>
      </p:sp>
      <p:pic>
        <p:nvPicPr>
          <p:cNvPr id="7" name="Picture 6" descr="A coordinate plane.">
            <a:extLst>
              <a:ext uri="{FF2B5EF4-FFF2-40B4-BE49-F238E27FC236}">
                <a16:creationId xmlns:a16="http://schemas.microsoft.com/office/drawing/2014/main" id="{E504C739-F9EC-7385-CE17-22805DA4ECF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99602" y="2302136"/>
            <a:ext cx="4338061" cy="3809949"/>
          </a:xfrm>
          <a:prstGeom prst="rect">
            <a:avLst/>
          </a:prstGeom>
        </p:spPr>
      </p:pic>
      <p:sp>
        <p:nvSpPr>
          <p:cNvPr id="6" name="Text Placeholder 2">
            <a:extLst>
              <a:ext uri="{FF2B5EF4-FFF2-40B4-BE49-F238E27FC236}">
                <a16:creationId xmlns:a16="http://schemas.microsoft.com/office/drawing/2014/main" id="{8038D150-0A46-A834-DA1C-55B17EBFCE22}"/>
              </a:ext>
            </a:extLst>
          </p:cNvPr>
          <p:cNvSpPr txBox="1">
            <a:spLocks/>
          </p:cNvSpPr>
          <p:nvPr/>
        </p:nvSpPr>
        <p:spPr>
          <a:xfrm>
            <a:off x="6095205" y="3429000"/>
            <a:ext cx="2889223"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Reasoning:</a:t>
            </a:r>
          </a:p>
        </p:txBody>
      </p:sp>
    </p:spTree>
    <p:extLst>
      <p:ext uri="{BB962C8B-B14F-4D97-AF65-F5344CB8AC3E}">
        <p14:creationId xmlns:p14="http://schemas.microsoft.com/office/powerpoint/2010/main" val="27642239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8F56E-A48C-2CD2-8B4E-D342F0CD626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E4F4B-692A-4FCB-3B72-4FBD9953E0E2}"/>
              </a:ext>
            </a:extLst>
          </p:cNvPr>
          <p:cNvSpPr>
            <a:spLocks noGrp="1"/>
          </p:cNvSpPr>
          <p:nvPr>
            <p:ph type="title"/>
          </p:nvPr>
        </p:nvSpPr>
        <p:spPr/>
        <p:txBody>
          <a:bodyPr/>
          <a:lstStyle/>
          <a:p>
            <a:pPr algn="l"/>
            <a:r>
              <a:rPr lang="en-US" b="1" dirty="0"/>
              <a:t>Choose Your Medium </a:t>
            </a:r>
            <a:r>
              <a:rPr lang="en-US" sz="2000" b="1" dirty="0">
                <a:solidFill>
                  <a:schemeClr val="bg1"/>
                </a:solidFill>
              </a:rPr>
              <a:t>(4 of 7)</a:t>
            </a:r>
          </a:p>
        </p:txBody>
      </p:sp>
      <p:sp>
        <p:nvSpPr>
          <p:cNvPr id="2" name="Text Placeholder 2">
            <a:extLst>
              <a:ext uri="{FF2B5EF4-FFF2-40B4-BE49-F238E27FC236}">
                <a16:creationId xmlns:a16="http://schemas.microsoft.com/office/drawing/2014/main" id="{D0C72965-E243-5B24-3C6C-D441A14D13AE}"/>
              </a:ext>
            </a:extLst>
          </p:cNvPr>
          <p:cNvSpPr txBox="1">
            <a:spLocks/>
          </p:cNvSpPr>
          <p:nvPr/>
        </p:nvSpPr>
        <p:spPr>
          <a:xfrm>
            <a:off x="777240" y="1400869"/>
            <a:ext cx="11131475" cy="150462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spcAft>
                <a:spcPts val="600"/>
              </a:spcAft>
              <a:buFont typeface="+mj-lt"/>
              <a:buAutoNum type="arabicPeriod" startAt="2"/>
            </a:pPr>
            <a:r>
              <a:rPr lang="en-US" sz="2800" b="0" i="0" u="none" strike="noStrike" baseline="0" dirty="0">
                <a:solidFill>
                  <a:srgbClr val="000000"/>
                </a:solidFill>
              </a:rPr>
              <a:t>Nicky has $20, and he plans to save an additional $10 every two weeks.</a:t>
            </a:r>
            <a:endParaRPr lang="en-US" sz="2800" dirty="0">
              <a:solidFill>
                <a:srgbClr val="000000"/>
              </a:solidFill>
            </a:endParaRPr>
          </a:p>
          <a:p>
            <a:pPr marL="517525" lvl="1" indent="0">
              <a:buNone/>
            </a:pPr>
            <a:r>
              <a:rPr lang="en-US" b="0" i="0" u="none" strike="noStrike" baseline="0" dirty="0">
                <a:solidFill>
                  <a:srgbClr val="000000"/>
                </a:solidFill>
              </a:rPr>
              <a:t>Let </a:t>
            </a:r>
            <a:r>
              <a:rPr lang="en-US" b="0" i="1" u="none" strike="noStrike" baseline="0" dirty="0">
                <a:solidFill>
                  <a:srgbClr val="000000"/>
                </a:solidFill>
              </a:rPr>
              <a:t>x = </a:t>
            </a:r>
            <a:r>
              <a:rPr lang="en-US" b="0" i="0" u="none" strike="noStrike" baseline="0" dirty="0">
                <a:solidFill>
                  <a:srgbClr val="000000"/>
                </a:solidFill>
              </a:rPr>
              <a:t>number of weeks</a:t>
            </a:r>
            <a:br>
              <a:rPr lang="en-US" b="0" i="0" u="none" strike="noStrike" baseline="0" dirty="0">
                <a:solidFill>
                  <a:srgbClr val="000000"/>
                </a:solidFill>
              </a:rPr>
            </a:br>
            <a:r>
              <a:rPr lang="en-US" b="0" i="0" u="none" strike="noStrike" baseline="0" dirty="0">
                <a:solidFill>
                  <a:srgbClr val="000000"/>
                </a:solidFill>
              </a:rPr>
              <a:t>Let </a:t>
            </a:r>
            <a:r>
              <a:rPr lang="en-US" b="0" i="1" u="none" strike="noStrike" baseline="0" dirty="0">
                <a:solidFill>
                  <a:srgbClr val="000000"/>
                </a:solidFill>
              </a:rPr>
              <a:t>y = </a:t>
            </a:r>
            <a:r>
              <a:rPr lang="en-US" b="0" i="0" u="none" strike="noStrike" baseline="0" dirty="0">
                <a:solidFill>
                  <a:srgbClr val="000000"/>
                </a:solidFill>
              </a:rPr>
              <a:t>Nicky’s total savings</a:t>
            </a:r>
            <a:endParaRPr lang="en-US" dirty="0">
              <a:solidFill>
                <a:srgbClr val="000000"/>
              </a:solidFill>
            </a:endParaRPr>
          </a:p>
        </p:txBody>
      </p:sp>
      <p:sp>
        <p:nvSpPr>
          <p:cNvPr id="6" name="Text Placeholder 2">
            <a:extLst>
              <a:ext uri="{FF2B5EF4-FFF2-40B4-BE49-F238E27FC236}">
                <a16:creationId xmlns:a16="http://schemas.microsoft.com/office/drawing/2014/main" id="{E83D67FC-75A6-412C-7615-BAB6DCB949EA}"/>
              </a:ext>
            </a:extLst>
          </p:cNvPr>
          <p:cNvSpPr txBox="1">
            <a:spLocks/>
          </p:cNvSpPr>
          <p:nvPr/>
        </p:nvSpPr>
        <p:spPr>
          <a:xfrm>
            <a:off x="777240" y="2931373"/>
            <a:ext cx="2618143"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7525" indent="0">
              <a:buNone/>
            </a:pPr>
            <a:r>
              <a:rPr lang="en-US" sz="2800" dirty="0">
                <a:solidFill>
                  <a:srgbClr val="000000"/>
                </a:solidFill>
              </a:rPr>
              <a:t>Equation:</a:t>
            </a:r>
          </a:p>
        </p:txBody>
      </p:sp>
      <p:sp>
        <p:nvSpPr>
          <p:cNvPr id="3" name="Text Placeholder 2">
            <a:extLst>
              <a:ext uri="{FF2B5EF4-FFF2-40B4-BE49-F238E27FC236}">
                <a16:creationId xmlns:a16="http://schemas.microsoft.com/office/drawing/2014/main" id="{DAC7D785-08A6-F381-976F-E76DA44A09D0}"/>
              </a:ext>
            </a:extLst>
          </p:cNvPr>
          <p:cNvSpPr txBox="1">
            <a:spLocks/>
          </p:cNvSpPr>
          <p:nvPr/>
        </p:nvSpPr>
        <p:spPr>
          <a:xfrm>
            <a:off x="6095206" y="2931373"/>
            <a:ext cx="2871947"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Reasoning:</a:t>
            </a:r>
          </a:p>
        </p:txBody>
      </p:sp>
      <p:pic>
        <p:nvPicPr>
          <p:cNvPr id="9" name="Picture 8" descr="A coordinate plane.">
            <a:extLst>
              <a:ext uri="{FF2B5EF4-FFF2-40B4-BE49-F238E27FC236}">
                <a16:creationId xmlns:a16="http://schemas.microsoft.com/office/drawing/2014/main" id="{4BBFD497-1A53-896C-EC43-B28778AAC345}"/>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95965" y="3549973"/>
            <a:ext cx="4046483" cy="3308026"/>
          </a:xfrm>
          <a:prstGeom prst="rect">
            <a:avLst/>
          </a:prstGeom>
        </p:spPr>
      </p:pic>
      <p:sp>
        <p:nvSpPr>
          <p:cNvPr id="7" name="Text Placeholder 2">
            <a:extLst>
              <a:ext uri="{FF2B5EF4-FFF2-40B4-BE49-F238E27FC236}">
                <a16:creationId xmlns:a16="http://schemas.microsoft.com/office/drawing/2014/main" id="{80B2533F-9F58-7D05-AB33-8EBE39362FD2}"/>
              </a:ext>
            </a:extLst>
          </p:cNvPr>
          <p:cNvSpPr txBox="1">
            <a:spLocks/>
          </p:cNvSpPr>
          <p:nvPr/>
        </p:nvSpPr>
        <p:spPr>
          <a:xfrm>
            <a:off x="6095206" y="4573835"/>
            <a:ext cx="2871947" cy="63015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Reasoning:</a:t>
            </a:r>
          </a:p>
        </p:txBody>
      </p:sp>
    </p:spTree>
    <p:extLst>
      <p:ext uri="{BB962C8B-B14F-4D97-AF65-F5344CB8AC3E}">
        <p14:creationId xmlns:p14="http://schemas.microsoft.com/office/powerpoint/2010/main" val="10460137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E00C1-9340-4D10-847F-63A30FC8A9B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1DED5D7-3C11-7FA3-0F35-CCB03527ED23}"/>
              </a:ext>
            </a:extLst>
          </p:cNvPr>
          <p:cNvSpPr>
            <a:spLocks noGrp="1"/>
          </p:cNvSpPr>
          <p:nvPr>
            <p:ph type="title"/>
          </p:nvPr>
        </p:nvSpPr>
        <p:spPr/>
        <p:txBody>
          <a:bodyPr/>
          <a:lstStyle/>
          <a:p>
            <a:pPr algn="l"/>
            <a:r>
              <a:rPr lang="en-US" b="1" dirty="0"/>
              <a:t>Choose Your Medium </a:t>
            </a:r>
            <a:r>
              <a:rPr lang="en-US" sz="2000" b="1" dirty="0">
                <a:solidFill>
                  <a:schemeClr val="bg1"/>
                </a:solidFill>
              </a:rPr>
              <a:t>(5 of 7)</a:t>
            </a:r>
          </a:p>
        </p:txBody>
      </p:sp>
      <p:sp>
        <p:nvSpPr>
          <p:cNvPr id="2" name="Text Placeholder 2">
            <a:extLst>
              <a:ext uri="{FF2B5EF4-FFF2-40B4-BE49-F238E27FC236}">
                <a16:creationId xmlns:a16="http://schemas.microsoft.com/office/drawing/2014/main" id="{BF8B0E03-96C1-57BD-D42D-A0B6A406DD25}"/>
              </a:ext>
            </a:extLst>
          </p:cNvPr>
          <p:cNvSpPr txBox="1">
            <a:spLocks/>
          </p:cNvSpPr>
          <p:nvPr/>
        </p:nvSpPr>
        <p:spPr>
          <a:xfrm>
            <a:off x="925158" y="1400869"/>
            <a:ext cx="9745717" cy="520432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lgn="l">
              <a:spcAft>
                <a:spcPts val="600"/>
              </a:spcAft>
              <a:buFont typeface="+mj-lt"/>
              <a:buAutoNum type="arabicPeriod" startAt="3"/>
            </a:pPr>
            <a:r>
              <a:rPr lang="en-US" sz="2800" b="0" i="0" u="none" strike="noStrike" baseline="0" dirty="0">
                <a:solidFill>
                  <a:srgbClr val="000000"/>
                </a:solidFill>
              </a:rPr>
              <a:t>What are the advantages and disadvantages of using each form of a linear equation?</a:t>
            </a:r>
          </a:p>
          <a:p>
            <a:pPr marL="1027113" lvl="1" indent="-514350">
              <a:buFont typeface="+mj-lt"/>
              <a:buAutoNum type="alphaLcPeriod"/>
            </a:pPr>
            <a:r>
              <a:rPr lang="en-US" dirty="0">
                <a:solidFill>
                  <a:srgbClr val="000000"/>
                </a:solidFill>
              </a:rPr>
              <a:t>Slope-intercept form</a:t>
            </a:r>
          </a:p>
          <a:p>
            <a:pPr marL="914400" lvl="1" indent="-514350">
              <a:buFont typeface="+mj-lt"/>
              <a:buAutoNum type="alphaLcPeriod"/>
            </a:pPr>
            <a:endParaRPr lang="en-US" dirty="0">
              <a:solidFill>
                <a:srgbClr val="000000"/>
              </a:solidFill>
            </a:endParaRPr>
          </a:p>
          <a:p>
            <a:pPr marL="914400" lvl="1" indent="-514350">
              <a:buFont typeface="+mj-lt"/>
              <a:buAutoNum type="alphaLcPeriod"/>
            </a:pPr>
            <a:endParaRPr lang="en-US" dirty="0">
              <a:solidFill>
                <a:srgbClr val="000000"/>
              </a:solidFill>
            </a:endParaRPr>
          </a:p>
          <a:p>
            <a:pPr marL="1027113" lvl="1" indent="-514350">
              <a:buFont typeface="+mj-lt"/>
              <a:buAutoNum type="alphaLcPeriod"/>
            </a:pPr>
            <a:r>
              <a:rPr lang="en-US" dirty="0">
                <a:solidFill>
                  <a:srgbClr val="000000"/>
                </a:solidFill>
              </a:rPr>
              <a:t>Point-slope form</a:t>
            </a:r>
          </a:p>
          <a:p>
            <a:pPr marL="914400" lvl="1" indent="-514350">
              <a:buFont typeface="+mj-lt"/>
              <a:buAutoNum type="alphaLcPeriod"/>
            </a:pPr>
            <a:endParaRPr lang="en-US" dirty="0">
              <a:solidFill>
                <a:srgbClr val="000000"/>
              </a:solidFill>
            </a:endParaRPr>
          </a:p>
          <a:p>
            <a:pPr marL="914400" lvl="1" indent="-514350">
              <a:buFont typeface="+mj-lt"/>
              <a:buAutoNum type="alphaLcPeriod"/>
            </a:pPr>
            <a:endParaRPr lang="en-US" dirty="0">
              <a:solidFill>
                <a:srgbClr val="000000"/>
              </a:solidFill>
            </a:endParaRPr>
          </a:p>
          <a:p>
            <a:pPr marL="1027113" lvl="1" indent="-514350">
              <a:buFont typeface="+mj-lt"/>
              <a:buAutoNum type="alphaLcPeriod"/>
            </a:pPr>
            <a:r>
              <a:rPr lang="en-US" dirty="0">
                <a:solidFill>
                  <a:srgbClr val="000000"/>
                </a:solidFill>
              </a:rPr>
              <a:t>Standard form</a:t>
            </a:r>
          </a:p>
        </p:txBody>
      </p:sp>
    </p:spTree>
    <p:extLst>
      <p:ext uri="{BB962C8B-B14F-4D97-AF65-F5344CB8AC3E}">
        <p14:creationId xmlns:p14="http://schemas.microsoft.com/office/powerpoint/2010/main" val="561950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Choose Your Medium </a:t>
            </a:r>
            <a:r>
              <a:rPr lang="en-US" sz="2000" b="1" dirty="0">
                <a:solidFill>
                  <a:schemeClr val="bg1"/>
                </a:solidFill>
              </a:rPr>
              <a:t>(6 of 7)</a:t>
            </a: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969753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Is there a more efficient method to graphing a linear relationship? Can you use the equation of a linear relationship to create a  graphical representation?</a:t>
            </a:r>
          </a:p>
          <a:p>
            <a:pPr marL="0" indent="0">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91275" y="372494"/>
            <a:ext cx="1501270" cy="518205"/>
          </a:xfrm>
          <a:prstGeom prst="rect">
            <a:avLst/>
          </a:prstGeom>
        </p:spPr>
      </p:pic>
    </p:spTree>
    <p:extLst>
      <p:ext uri="{BB962C8B-B14F-4D97-AF65-F5344CB8AC3E}">
        <p14:creationId xmlns:p14="http://schemas.microsoft.com/office/powerpoint/2010/main" val="5830144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Choose Your Medium </a:t>
            </a:r>
            <a:r>
              <a:rPr lang="en-US" sz="2000" b="1" dirty="0">
                <a:solidFill>
                  <a:schemeClr val="bg1"/>
                </a:solidFill>
              </a:rPr>
              <a:t>(7 of 7)</a:t>
            </a: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6526A4E-430A-7F6C-63B6-E74740858B16}"/>
              </a:ext>
            </a:extLst>
          </p:cNvPr>
          <p:cNvSpPr>
            <a:spLocks noGrp="1"/>
          </p:cNvSpPr>
          <p:nvPr>
            <p:ph type="title" idx="4294967295"/>
          </p:nvPr>
        </p:nvSpPr>
        <p:spPr>
          <a:xfrm>
            <a:off x="838200" y="-327804"/>
            <a:ext cx="10514013" cy="327804"/>
          </a:xfrm>
          <a:prstGeom prst="rect">
            <a:avLst/>
          </a:prstGeom>
        </p:spPr>
        <p:txBody>
          <a:bodyPr anchor="b"/>
          <a:lstStyle/>
          <a:p>
            <a:r>
              <a:rPr lang="en-US" sz="2000" dirty="0">
                <a:solidFill>
                  <a:schemeClr val="bg2"/>
                </a:solidFill>
              </a:rPr>
              <a:t>Prepare</a:t>
            </a:r>
          </a:p>
        </p:txBody>
      </p:sp>
    </p:spTree>
    <p:extLst>
      <p:ext uri="{BB962C8B-B14F-4D97-AF65-F5344CB8AC3E}">
        <p14:creationId xmlns:p14="http://schemas.microsoft.com/office/powerpoint/2010/main" val="7845629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C6DF-139C-D914-CA27-404349037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9A76E7-5405-452B-A5DD-6B559DABE30F}"/>
              </a:ext>
            </a:extLst>
          </p:cNvPr>
          <p:cNvSpPr>
            <a:spLocks noGrp="1"/>
          </p:cNvSpPr>
          <p:nvPr>
            <p:ph type="title"/>
          </p:nvPr>
        </p:nvSpPr>
        <p:spPr/>
        <p:txBody>
          <a:bodyPr/>
          <a:lstStyle/>
          <a:p>
            <a:pPr algn="l"/>
            <a:r>
              <a:rPr lang="en-US" b="1" dirty="0"/>
              <a:t>Prepare for Module 2 Topic 1 Lesson 6</a:t>
            </a:r>
          </a:p>
        </p:txBody>
      </p:sp>
      <p:sp>
        <p:nvSpPr>
          <p:cNvPr id="2" name="Text Placeholder 2">
            <a:extLst>
              <a:ext uri="{FF2B5EF4-FFF2-40B4-BE49-F238E27FC236}">
                <a16:creationId xmlns:a16="http://schemas.microsoft.com/office/drawing/2014/main" id="{06890774-7848-58D0-0262-B11B4D8F7BE9}"/>
              </a:ext>
            </a:extLst>
          </p:cNvPr>
          <p:cNvSpPr txBox="1">
            <a:spLocks/>
          </p:cNvSpPr>
          <p:nvPr/>
        </p:nvSpPr>
        <p:spPr>
          <a:xfrm>
            <a:off x="777240" y="1587259"/>
            <a:ext cx="10937838" cy="510483"/>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Determine the slope of the line between each pair of points.</a:t>
            </a:r>
          </a:p>
        </p:txBody>
      </p:sp>
      <p:sp>
        <p:nvSpPr>
          <p:cNvPr id="3" name="Text Placeholder 2">
            <a:extLst>
              <a:ext uri="{FF2B5EF4-FFF2-40B4-BE49-F238E27FC236}">
                <a16:creationId xmlns:a16="http://schemas.microsoft.com/office/drawing/2014/main" id="{EF6F8613-AFA4-2212-39F9-C47AE632D60E}"/>
              </a:ext>
            </a:extLst>
          </p:cNvPr>
          <p:cNvSpPr txBox="1">
            <a:spLocks/>
          </p:cNvSpPr>
          <p:nvPr/>
        </p:nvSpPr>
        <p:spPr>
          <a:xfrm>
            <a:off x="777240" y="2421808"/>
            <a:ext cx="3939289" cy="810928"/>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rgbClr val="000000"/>
                </a:solidFill>
              </a:rPr>
              <a:t>(0, 10) and (3, 12)</a:t>
            </a:r>
          </a:p>
        </p:txBody>
      </p:sp>
      <p:sp>
        <p:nvSpPr>
          <p:cNvPr id="7" name="Text Placeholder 2">
            <a:extLst>
              <a:ext uri="{FF2B5EF4-FFF2-40B4-BE49-F238E27FC236}">
                <a16:creationId xmlns:a16="http://schemas.microsoft.com/office/drawing/2014/main" id="{70E4BE6A-3602-15E3-B33D-AC53F58C50C1}"/>
              </a:ext>
            </a:extLst>
          </p:cNvPr>
          <p:cNvSpPr txBox="1">
            <a:spLocks/>
          </p:cNvSpPr>
          <p:nvPr/>
        </p:nvSpPr>
        <p:spPr>
          <a:xfrm>
            <a:off x="777239" y="3844084"/>
            <a:ext cx="3939289" cy="618271"/>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2"/>
            </a:pPr>
            <a:r>
              <a:rPr lang="en-US" sz="2800" dirty="0">
                <a:solidFill>
                  <a:srgbClr val="000000"/>
                </a:solidFill>
              </a:rPr>
              <a:t>(−1, 4.5) and (1, −4.5)</a:t>
            </a:r>
          </a:p>
        </p:txBody>
      </p:sp>
      <p:sp>
        <p:nvSpPr>
          <p:cNvPr id="5" name="Text Placeholder 2">
            <a:extLst>
              <a:ext uri="{FF2B5EF4-FFF2-40B4-BE49-F238E27FC236}">
                <a16:creationId xmlns:a16="http://schemas.microsoft.com/office/drawing/2014/main" id="{C6A19225-2B7C-C09C-66BC-46C09DE8FED0}"/>
              </a:ext>
            </a:extLst>
          </p:cNvPr>
          <p:cNvSpPr txBox="1">
            <a:spLocks/>
          </p:cNvSpPr>
          <p:nvPr/>
        </p:nvSpPr>
        <p:spPr>
          <a:xfrm>
            <a:off x="777239" y="5270741"/>
            <a:ext cx="3939289" cy="810928"/>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(21, 0) and (0, 12)</a:t>
            </a:r>
          </a:p>
          <a:p>
            <a:pPr marL="0" indent="0">
              <a:buNone/>
            </a:pPr>
            <a:endParaRPr lang="en-US" sz="2800" dirty="0">
              <a:solidFill>
                <a:srgbClr val="000000"/>
              </a:solidFill>
            </a:endParaRPr>
          </a:p>
        </p:txBody>
      </p:sp>
    </p:spTree>
    <p:extLst>
      <p:ext uri="{BB962C8B-B14F-4D97-AF65-F5344CB8AC3E}">
        <p14:creationId xmlns:p14="http://schemas.microsoft.com/office/powerpoint/2010/main" val="349278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53683"/>
            <a:ext cx="10514013" cy="353683"/>
          </a:xfrm>
          <a:prstGeom prst="rect">
            <a:avLst/>
          </a:prstGeom>
        </p:spPr>
        <p:txBody>
          <a:bodyPr anchor="b"/>
          <a:lstStyle/>
          <a:p>
            <a:r>
              <a:rPr lang="en-US" sz="2000" dirty="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8155889" y="4975063"/>
            <a:ext cx="3431356"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BLMATH_AlgI_M2_T1_L5_DCS_ENG</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0A32-31E8-4858-87A9-973F15D55D2C}">
  <ds:schemaRefs>
    <ds:schemaRef ds:uri="http://schemas.microsoft.com/sharepoint/v3/contenttype/forms"/>
  </ds:schemaRefs>
</ds:datastoreItem>
</file>

<file path=customXml/itemProps2.xml><?xml version="1.0" encoding="utf-8"?>
<ds:datastoreItem xmlns:ds="http://schemas.openxmlformats.org/officeDocument/2006/customXml" ds:itemID="{788DFB36-FBAE-42FF-A732-AA8F5E6D15D5}">
  <ds:schemaRefs>
    <ds:schemaRef ds:uri="http://purl.org/dc/elements/1.1/"/>
    <ds:schemaRef ds:uri="http://schemas.microsoft.com/office/2006/metadata/properties"/>
    <ds:schemaRef ds:uri="http://purl.org/dc/terms/"/>
    <ds:schemaRef ds:uri="5aa991ed-cfdb-45f0-90fe-74f6c83d7f1e"/>
    <ds:schemaRef ds:uri="http://schemas.microsoft.com/office/infopath/2007/PartnerControls"/>
    <ds:schemaRef ds:uri="http://schemas.microsoft.com/office/2006/documentManagement/types"/>
    <ds:schemaRef ds:uri="http://schemas.openxmlformats.org/package/2006/metadata/core-properties"/>
    <ds:schemaRef ds:uri="33e0dbe9-2ee3-4e40-8d2a-c14405aa398e"/>
    <ds:schemaRef ds:uri="http://www.w3.org/XML/1998/namespace"/>
    <ds:schemaRef ds:uri="http://purl.org/dc/dcmitype/"/>
  </ds:schemaRefs>
</ds:datastoreItem>
</file>

<file path=customXml/itemProps3.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11573</TotalTime>
  <Words>7393</Words>
  <Application>Microsoft Office PowerPoint</Application>
  <PresentationFormat>Custom</PresentationFormat>
  <Paragraphs>738</Paragraphs>
  <Slides>67</Slides>
  <Notes>67</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67</vt:i4>
      </vt:variant>
    </vt:vector>
  </HeadingPairs>
  <TitlesOfParts>
    <vt:vector size="75" baseType="lpstr">
      <vt:lpstr>Arial</vt:lpstr>
      <vt:lpstr>Calibri</vt:lpstr>
      <vt:lpstr>Cambria Math</vt:lpstr>
      <vt:lpstr>Wingdings</vt:lpstr>
      <vt:lpstr>A1_green</vt:lpstr>
      <vt:lpstr>G7_navy</vt:lpstr>
      <vt:lpstr>G8_purple</vt:lpstr>
      <vt:lpstr>G6_teal</vt:lpstr>
      <vt:lpstr>Using Linear Equations</vt:lpstr>
      <vt:lpstr>Objectives</vt:lpstr>
      <vt:lpstr>Key Terms (1 of 2)</vt:lpstr>
      <vt:lpstr>Essential Question (1 of 3)</vt:lpstr>
      <vt:lpstr>Day 1</vt:lpstr>
      <vt:lpstr>Getting Started</vt:lpstr>
      <vt:lpstr>Jump In the Line (1 of 3)</vt:lpstr>
      <vt:lpstr>Jump In the Line (2 of 3)</vt:lpstr>
      <vt:lpstr>Jump In the Line (3 of 3)</vt:lpstr>
      <vt:lpstr>Activity 5.1</vt:lpstr>
      <vt:lpstr>Using Slope-Intercept Form to Graph a Line (1 of 10)</vt:lpstr>
      <vt:lpstr>Using Slope-Intercept Form to Graph a Line (2 of 10)</vt:lpstr>
      <vt:lpstr>Using Slope-Intercept Form to Graph a Line (3 of 10)</vt:lpstr>
      <vt:lpstr>Using Slope-Intercept Form to Graph a Line (4 of 10)</vt:lpstr>
      <vt:lpstr>Using Slope-Intercept Form to Graph a Line (5 of 10)</vt:lpstr>
      <vt:lpstr>Using Slope-Intercept Form to Graph a Line (6 of 10)</vt:lpstr>
      <vt:lpstr>Using Slope-Intercept Form to Graph a Line (7 of 10)</vt:lpstr>
      <vt:lpstr>Using Slope-Intercept Form to Graph a Line (8 of 10)</vt:lpstr>
      <vt:lpstr>Using Slope-Intercept Form to Graph a Line (9 of 10)</vt:lpstr>
      <vt:lpstr>Using Slope-Intercept Form to Graph a Line (10 of 10)</vt:lpstr>
      <vt:lpstr>Day 2</vt:lpstr>
      <vt:lpstr>Essential Question (2 of 3)</vt:lpstr>
      <vt:lpstr>Activity 5.2</vt:lpstr>
      <vt:lpstr>Using Point-Slope Form to Graph a Line (1 of 8)</vt:lpstr>
      <vt:lpstr>Using Point-Slope Form to Graph a Line (2 of 8)</vt:lpstr>
      <vt:lpstr>Using Point-Slope Form to Graph a Line (3 of 8)</vt:lpstr>
      <vt:lpstr>Using Point-Slope Form to Graph a Line (4 of 8)</vt:lpstr>
      <vt:lpstr>Using Point-Slope Form to Graph a Line (5 of 8)</vt:lpstr>
      <vt:lpstr>Using Point-Slope Form to Graph a Line (6 of 8)</vt:lpstr>
      <vt:lpstr>Using Point-Slope Form to Graph a Line (7 of 8)</vt:lpstr>
      <vt:lpstr>Using Point-Slope Form to Graph a Line (8 of 8)</vt:lpstr>
      <vt:lpstr>Activity 5.3</vt:lpstr>
      <vt:lpstr>Standard Form of a Linear Equation (1 of 16)</vt:lpstr>
      <vt:lpstr>Standard Form of a Linear Equation (2 of 16)</vt:lpstr>
      <vt:lpstr>Standard Form of a Linear Equation (3 of 16)</vt:lpstr>
      <vt:lpstr>Standard Form of a Linear Equation (4 of 16)</vt:lpstr>
      <vt:lpstr>Standard Form of a Linear Equation (5 of 16)</vt:lpstr>
      <vt:lpstr>Standard Form of a Linear Equation (6 of 16)</vt:lpstr>
      <vt:lpstr>Standard Form of a Linear Equation (7 of 16)</vt:lpstr>
      <vt:lpstr>Standard Form of a Linear Equation (8 of 16)</vt:lpstr>
      <vt:lpstr>Standard Form of a Linear Equation (9 of 16)</vt:lpstr>
      <vt:lpstr>Standard Form of a Linear Equation (10 of 16)</vt:lpstr>
      <vt:lpstr>Standard Form of a Linear Equation (11 of 16)</vt:lpstr>
      <vt:lpstr>Standard Form of a Linear Equation (12 of 16)</vt:lpstr>
      <vt:lpstr>Standard Form of a Linear Equation (13 of 16)</vt:lpstr>
      <vt:lpstr>Standard Form of a Linear Equation (14 of 16)</vt:lpstr>
      <vt:lpstr>Standard Form of a Linear Equation (15 of 16)</vt:lpstr>
      <vt:lpstr>Standard Form of a Linear Equation (16 of 16)</vt:lpstr>
      <vt:lpstr>Day 3</vt:lpstr>
      <vt:lpstr>Essential Question (3 of 3)</vt:lpstr>
      <vt:lpstr>Activity 5.4</vt:lpstr>
      <vt:lpstr>Identifying Slope and y-Intercept (1 of 4)</vt:lpstr>
      <vt:lpstr>Identifying Slope and y-Intercept (2 of 4)</vt:lpstr>
      <vt:lpstr>Identifying Slope and y-Intercept (3 of 4)</vt:lpstr>
      <vt:lpstr>Identifying Slope and y-Intercept (4 of 4)</vt:lpstr>
      <vt:lpstr>Talk the Talk</vt:lpstr>
      <vt:lpstr>Choose Your Medium (1 of 7)</vt:lpstr>
      <vt:lpstr>Choose Your Medium (2 of 7)</vt:lpstr>
      <vt:lpstr>Choose Your Medium (3 of 7)</vt:lpstr>
      <vt:lpstr>Choose Your Medium (4 of 7)</vt:lpstr>
      <vt:lpstr>Choose Your Medium (5 of 7)</vt:lpstr>
      <vt:lpstr>Choose Your Medium (6 of 7)</vt:lpstr>
      <vt:lpstr>Choose Your Medium (7 of 7)</vt:lpstr>
      <vt:lpstr>Prepare</vt:lpstr>
      <vt:lpstr>Prepare for Module 2 Topic 1 Lesson 6</vt:lpstr>
      <vt:lpstr>Acknowledgment and Notice</vt:lpstr>
      <vt:lpstr>BLMATH_AlgI_M2_T1_L5_DCS_ENG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Gann, Nickole</cp:lastModifiedBy>
  <cp:revision>187</cp:revision>
  <dcterms:created xsi:type="dcterms:W3CDTF">2024-02-22T09:58:00Z</dcterms:created>
  <dcterms:modified xsi:type="dcterms:W3CDTF">2025-05-28T18:51:32Z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