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theme/theme2.xml" ContentType="application/vnd.openxmlformats-officedocument.theme+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theme/theme3.xml" ContentType="application/vnd.openxmlformats-officedocument.theme+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68.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80" r:id="rId4"/>
    <p:sldMasterId id="2147483779" r:id="rId5"/>
    <p:sldMasterId id="2147483799" r:id="rId6"/>
    <p:sldMasterId id="2147483819" r:id="rId7"/>
  </p:sldMasterIdLst>
  <p:notesMasterIdLst>
    <p:notesMasterId r:id="rId75"/>
  </p:notesMasterIdLst>
  <p:sldIdLst>
    <p:sldId id="329" r:id="rId8"/>
    <p:sldId id="300" r:id="rId9"/>
    <p:sldId id="363" r:id="rId10"/>
    <p:sldId id="365" r:id="rId11"/>
    <p:sldId id="366" r:id="rId12"/>
    <p:sldId id="360" r:id="rId13"/>
    <p:sldId id="334" r:id="rId14"/>
    <p:sldId id="376" r:id="rId15"/>
    <p:sldId id="377" r:id="rId16"/>
    <p:sldId id="359" r:id="rId17"/>
    <p:sldId id="474" r:id="rId18"/>
    <p:sldId id="567" r:id="rId19"/>
    <p:sldId id="540" r:id="rId20"/>
    <p:sldId id="541" r:id="rId21"/>
    <p:sldId id="568" r:id="rId22"/>
    <p:sldId id="569" r:id="rId23"/>
    <p:sldId id="570" r:id="rId24"/>
    <p:sldId id="571" r:id="rId25"/>
    <p:sldId id="479" r:id="rId26"/>
    <p:sldId id="480" r:id="rId27"/>
    <p:sldId id="572" r:id="rId28"/>
    <p:sldId id="573" r:id="rId29"/>
    <p:sldId id="473" r:id="rId30"/>
    <p:sldId id="368" r:id="rId31"/>
    <p:sldId id="574" r:id="rId32"/>
    <p:sldId id="575" r:id="rId33"/>
    <p:sldId id="576" r:id="rId34"/>
    <p:sldId id="577" r:id="rId35"/>
    <p:sldId id="578" r:id="rId36"/>
    <p:sldId id="378" r:id="rId37"/>
    <p:sldId id="353" r:id="rId38"/>
    <p:sldId id="361" r:id="rId39"/>
    <p:sldId id="371" r:id="rId40"/>
    <p:sldId id="579" r:id="rId41"/>
    <p:sldId id="580" r:id="rId42"/>
    <p:sldId id="581" r:id="rId43"/>
    <p:sldId id="582" r:id="rId44"/>
    <p:sldId id="583" r:id="rId45"/>
    <p:sldId id="584" r:id="rId46"/>
    <p:sldId id="585" r:id="rId47"/>
    <p:sldId id="586" r:id="rId48"/>
    <p:sldId id="588" r:id="rId49"/>
    <p:sldId id="589" r:id="rId50"/>
    <p:sldId id="590" r:id="rId51"/>
    <p:sldId id="591" r:id="rId52"/>
    <p:sldId id="592" r:id="rId53"/>
    <p:sldId id="372" r:id="rId54"/>
    <p:sldId id="355" r:id="rId55"/>
    <p:sldId id="593" r:id="rId56"/>
    <p:sldId id="594" r:id="rId57"/>
    <p:sldId id="595" r:id="rId58"/>
    <p:sldId id="596" r:id="rId59"/>
    <p:sldId id="599" r:id="rId60"/>
    <p:sldId id="597" r:id="rId61"/>
    <p:sldId id="598" r:id="rId62"/>
    <p:sldId id="362" r:id="rId63"/>
    <p:sldId id="328" r:id="rId64"/>
    <p:sldId id="600" r:id="rId65"/>
    <p:sldId id="601" r:id="rId66"/>
    <p:sldId id="602" r:id="rId67"/>
    <p:sldId id="603" r:id="rId68"/>
    <p:sldId id="373" r:id="rId69"/>
    <p:sldId id="356" r:id="rId70"/>
    <p:sldId id="374" r:id="rId71"/>
    <p:sldId id="375" r:id="rId72"/>
    <p:sldId id="604" r:id="rId83"/>
    <p:sldId id="357" r:id="rId73"/>
    <p:sldId id="294" r:id="rId74"/>
  </p:sldIdLst>
  <p:sldSz cx="12190413"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4C325DA1-0459-4F8C-ADD2-2F71BA12DE8E}">
          <p14:sldIdLst>
            <p14:sldId id="329"/>
            <p14:sldId id="300"/>
            <p14:sldId id="363"/>
            <p14:sldId id="365"/>
            <p14:sldId id="366"/>
            <p14:sldId id="360"/>
            <p14:sldId id="334"/>
            <p14:sldId id="376"/>
            <p14:sldId id="377"/>
            <p14:sldId id="359"/>
            <p14:sldId id="474"/>
            <p14:sldId id="567"/>
            <p14:sldId id="540"/>
            <p14:sldId id="541"/>
            <p14:sldId id="568"/>
            <p14:sldId id="569"/>
            <p14:sldId id="570"/>
            <p14:sldId id="571"/>
            <p14:sldId id="479"/>
            <p14:sldId id="480"/>
            <p14:sldId id="572"/>
            <p14:sldId id="573"/>
            <p14:sldId id="473"/>
            <p14:sldId id="368"/>
            <p14:sldId id="574"/>
            <p14:sldId id="575"/>
            <p14:sldId id="576"/>
            <p14:sldId id="577"/>
            <p14:sldId id="578"/>
            <p14:sldId id="378"/>
            <p14:sldId id="353"/>
            <p14:sldId id="361"/>
            <p14:sldId id="371"/>
            <p14:sldId id="579"/>
            <p14:sldId id="580"/>
            <p14:sldId id="581"/>
            <p14:sldId id="582"/>
            <p14:sldId id="583"/>
            <p14:sldId id="584"/>
            <p14:sldId id="585"/>
            <p14:sldId id="586"/>
            <p14:sldId id="588"/>
            <p14:sldId id="589"/>
            <p14:sldId id="590"/>
            <p14:sldId id="591"/>
            <p14:sldId id="592"/>
            <p14:sldId id="372"/>
            <p14:sldId id="355"/>
            <p14:sldId id="593"/>
            <p14:sldId id="594"/>
            <p14:sldId id="595"/>
            <p14:sldId id="596"/>
            <p14:sldId id="599"/>
            <p14:sldId id="597"/>
            <p14:sldId id="598"/>
            <p14:sldId id="362"/>
            <p14:sldId id="328"/>
            <p14:sldId id="600"/>
            <p14:sldId id="601"/>
            <p14:sldId id="602"/>
            <p14:sldId id="603"/>
            <p14:sldId id="373"/>
            <p14:sldId id="356"/>
            <p14:sldId id="374"/>
            <p14:sldId id="375"/>
            <p14:sldId id="357"/>
            <p14:sldId id="294"/>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928DC81B-4C28-527E-885E-9B2AED89ECFE}" name="Melissa Elias" initials="ME" userId="S::Melissa.Elias@greatminds.org::e7d7a35f-474b-4e63-8079-946b19bb5503" providerId="AD"/>
  <p188:author id="{C99B7E20-C849-7B22-A7A7-103B5A04F691}" name="Seidman, Peter" initials="PS" userId="S::pseidman@pcgus.com::ff44f5d8-e3d0-428b-b9dd-4e94c9627a04" providerId="AD"/>
  <p188:author id="{86DFD92F-4DE3-A83D-6DF7-63FE6F0E1BD1}" name="Hanna, Whitney" initials="HW" userId="S::whanna@pcgus.com::3c096e95-afb8-40fa-be4f-086ecf1c96e8" providerId="AD"/>
  <p188:author id="{D9382532-E0D8-1FFA-47B6-DA50BC81D150}" name="Johnson, Todd" initials="TJ" userId="S::tjohnson@carnegielearning.com::1d57ac6d-5688-4915-9324-719f9ae41858" providerId="AD"/>
  <p188:author id="{065EFF33-37C5-A205-D5AA-889922E9D811}" name="Amanda Roose" initials="" userId="S::amanda.roose@greatminds.org::7db39d93-b694-49c7-b4bd-248f45df22ce" providerId="AD"/>
  <p188:author id="{988EB554-08BA-14AA-D6CF-C08243099DC1}" name="Gomez1, Lauren" initials="GL" userId="S::lauren.gomez1@tea.texas.gov::a90766d5-07f7-4ca5-8968-79b6619a6150" providerId="AD"/>
  <p188:author id="{002C6C79-BE9A-0D70-2E77-61ECDD33941B}" name="Hammock, Jenny" initials="JH" userId="S::jhammock@pcgus.com::15029899-d5e2-409a-961b-cfbdbd993f94" providerId="AD"/>
  <p188:author id="{C7BE2D7E-998E-A4E0-AD02-4BBA80009BAC}" name="Christina Ducoing" initials="CD" userId="S::Christina.Ducoing@greatminds.org::81b6c2ec-3d44-4fb5-ae4f-fe9b81a5cc7a" providerId="AD"/>
  <p188:author id="{94FF968A-DC53-8678-529B-6C704B5A2CA3}" name="Hanna, Whitney" initials="WH" userId="S::WHanna@pcgus.com::3c096e95-afb8-40fa-be4f-086ecf1c96e8" providerId="AD"/>
  <p188:author id="{11B319B1-D9A7-B492-301D-12240F429F30}" name="Hanna, Whitney" initials="HW" userId="S::whanna_pcgus.com#ext#@texasedu.onmicrosoft.com::7f18c26a-2264-4c3d-9f52-29dc121134d3" providerId="AD"/>
  <p188:author id="{B79159B2-0C77-EFD3-021B-B4143BBE19B1}" name="Christina Ducoing" initials="CD" userId="S::christina.ducoing@greatminds.org::81b6c2ec-3d44-4fb5-ae4f-fe9b81a5cc7a" providerId="AD"/>
  <p188:author id="{66455CB8-CF59-3D20-181D-433FF248BDED}" name="Smart, Martha" initials="SM" userId="S::martha.smart@tea.texas.gov::f37755a5-ea91-4589-9c56-edd64412883a" providerId="AD"/>
  <p188:author id="{D3473FEC-4EDE-E801-D969-22C5DB952E2C}" name="Bala, Kelly" initials="BK" userId="S::kelly.bala@tea.texas.gov::ca818e28-acbd-4039-adec-acd623c9d087"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008F4C"/>
    <a:srgbClr val="2B8147"/>
    <a:srgbClr val="236739"/>
    <a:srgbClr val="0084AC"/>
    <a:srgbClr val="61449B"/>
    <a:srgbClr val="143965"/>
    <a:srgbClr val="242E61"/>
    <a:srgbClr val="1449B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FE7A74B-53E0-4B4E-8A04-6E91EC29BB93}" v="1" dt="2025-05-28T18:51:22.24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4483"/>
    <p:restoredTop sz="64309" autoAdjust="0"/>
  </p:normalViewPr>
  <p:slideViewPr>
    <p:cSldViewPr snapToGrid="0">
      <p:cViewPr varScale="1">
        <p:scale>
          <a:sx n="43" d="100"/>
          <a:sy n="43" d="100"/>
        </p:scale>
        <p:origin x="1536" y="24"/>
      </p:cViewPr>
      <p:guideLst>
        <p:guide orient="horz" pos="2160"/>
        <p:guide pos="3840"/>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38100" cy="38100"/>
</p:viewPr>
</file>

<file path=ppt/_rels/presentation.xml.rels><?xml version="1.0" encoding="UTF-8" standalone="yes"?>
<Relationships xmlns="http://schemas.openxmlformats.org/package/2006/relationships"><Relationship Id="rId13" Type="http://schemas.openxmlformats.org/officeDocument/2006/relationships/slide" Target="slides/slide6.xml"/><Relationship Id="rId18" Type="http://schemas.openxmlformats.org/officeDocument/2006/relationships/slide" Target="slides/slide11.xml"/><Relationship Id="rId26" Type="http://schemas.openxmlformats.org/officeDocument/2006/relationships/slide" Target="slides/slide19.xml"/><Relationship Id="rId39" Type="http://schemas.openxmlformats.org/officeDocument/2006/relationships/slide" Target="slides/slide32.xml"/><Relationship Id="rId21" Type="http://schemas.openxmlformats.org/officeDocument/2006/relationships/slide" Target="slides/slide14.xml"/><Relationship Id="rId34" Type="http://schemas.openxmlformats.org/officeDocument/2006/relationships/slide" Target="slides/slide27.xml"/><Relationship Id="rId42" Type="http://schemas.openxmlformats.org/officeDocument/2006/relationships/slide" Target="slides/slide35.xml"/><Relationship Id="rId47" Type="http://schemas.openxmlformats.org/officeDocument/2006/relationships/slide" Target="slides/slide40.xml"/><Relationship Id="rId50" Type="http://schemas.openxmlformats.org/officeDocument/2006/relationships/slide" Target="slides/slide43.xml"/><Relationship Id="rId55" Type="http://schemas.openxmlformats.org/officeDocument/2006/relationships/slide" Target="slides/slide48.xml"/><Relationship Id="rId63" Type="http://schemas.openxmlformats.org/officeDocument/2006/relationships/slide" Target="slides/slide56.xml"/><Relationship Id="rId68" Type="http://schemas.openxmlformats.org/officeDocument/2006/relationships/slide" Target="slides/slide61.xml"/><Relationship Id="rId76" Type="http://schemas.openxmlformats.org/officeDocument/2006/relationships/presProps" Target="presProps.xml"/><Relationship Id="rId7" Type="http://schemas.openxmlformats.org/officeDocument/2006/relationships/slideMaster" Target="slideMasters/slideMaster4.xml"/><Relationship Id="rId71" Type="http://schemas.openxmlformats.org/officeDocument/2006/relationships/slide" Target="slides/slide64.xml"/><Relationship Id="rId2" Type="http://schemas.openxmlformats.org/officeDocument/2006/relationships/customXml" Target="../customXml/item2.xml"/><Relationship Id="rId16" Type="http://schemas.openxmlformats.org/officeDocument/2006/relationships/slide" Target="slides/slide9.xml"/><Relationship Id="rId29" Type="http://schemas.openxmlformats.org/officeDocument/2006/relationships/slide" Target="slides/slide22.xml"/><Relationship Id="rId11" Type="http://schemas.openxmlformats.org/officeDocument/2006/relationships/slide" Target="slides/slide4.xml"/><Relationship Id="rId24" Type="http://schemas.openxmlformats.org/officeDocument/2006/relationships/slide" Target="slides/slide17.xml"/><Relationship Id="rId32" Type="http://schemas.openxmlformats.org/officeDocument/2006/relationships/slide" Target="slides/slide25.xml"/><Relationship Id="rId37" Type="http://schemas.openxmlformats.org/officeDocument/2006/relationships/slide" Target="slides/slide30.xml"/><Relationship Id="rId40" Type="http://schemas.openxmlformats.org/officeDocument/2006/relationships/slide" Target="slides/slide33.xml"/><Relationship Id="rId45" Type="http://schemas.openxmlformats.org/officeDocument/2006/relationships/slide" Target="slides/slide38.xml"/><Relationship Id="rId53" Type="http://schemas.openxmlformats.org/officeDocument/2006/relationships/slide" Target="slides/slide46.xml"/><Relationship Id="rId58" Type="http://schemas.openxmlformats.org/officeDocument/2006/relationships/slide" Target="slides/slide51.xml"/><Relationship Id="rId66" Type="http://schemas.openxmlformats.org/officeDocument/2006/relationships/slide" Target="slides/slide59.xml"/><Relationship Id="rId74" Type="http://schemas.openxmlformats.org/officeDocument/2006/relationships/slide" Target="slides/slide67.xml"/><Relationship Id="rId79" Type="http://schemas.openxmlformats.org/officeDocument/2006/relationships/tableStyles" Target="tableStyles.xml"/><Relationship Id="rId5" Type="http://schemas.openxmlformats.org/officeDocument/2006/relationships/slideMaster" Target="slideMasters/slideMaster2.xml"/><Relationship Id="rId61" Type="http://schemas.openxmlformats.org/officeDocument/2006/relationships/slide" Target="slides/slide54.xml"/><Relationship Id="rId82" Type="http://schemas.microsoft.com/office/2018/10/relationships/authors" Target="authors.xml"/><Relationship Id="rId10" Type="http://schemas.openxmlformats.org/officeDocument/2006/relationships/slide" Target="slides/slide3.xml"/><Relationship Id="rId19" Type="http://schemas.openxmlformats.org/officeDocument/2006/relationships/slide" Target="slides/slide12.xml"/><Relationship Id="rId31" Type="http://schemas.openxmlformats.org/officeDocument/2006/relationships/slide" Target="slides/slide24.xml"/><Relationship Id="rId44" Type="http://schemas.openxmlformats.org/officeDocument/2006/relationships/slide" Target="slides/slide37.xml"/><Relationship Id="rId52" Type="http://schemas.openxmlformats.org/officeDocument/2006/relationships/slide" Target="slides/slide45.xml"/><Relationship Id="rId60" Type="http://schemas.openxmlformats.org/officeDocument/2006/relationships/slide" Target="slides/slide53.xml"/><Relationship Id="rId65" Type="http://schemas.openxmlformats.org/officeDocument/2006/relationships/slide" Target="slides/slide58.xml"/><Relationship Id="rId73" Type="http://schemas.openxmlformats.org/officeDocument/2006/relationships/slide" Target="slides/slide66.xml"/><Relationship Id="rId78" Type="http://schemas.openxmlformats.org/officeDocument/2006/relationships/theme" Target="theme/theme1.xml"/><Relationship Id="rId81" Type="http://schemas.microsoft.com/office/2015/10/relationships/revisionInfo" Target="revisionInfo.xml"/><Relationship Id="rId4" Type="http://schemas.openxmlformats.org/officeDocument/2006/relationships/slideMaster" Target="slideMasters/slideMaster1.xml"/><Relationship Id="rId9" Type="http://schemas.openxmlformats.org/officeDocument/2006/relationships/slide" Target="slides/slide2.xml"/><Relationship Id="rId14" Type="http://schemas.openxmlformats.org/officeDocument/2006/relationships/slide" Target="slides/slide7.xml"/><Relationship Id="rId22" Type="http://schemas.openxmlformats.org/officeDocument/2006/relationships/slide" Target="slides/slide15.xml"/><Relationship Id="rId27" Type="http://schemas.openxmlformats.org/officeDocument/2006/relationships/slide" Target="slides/slide20.xml"/><Relationship Id="rId30" Type="http://schemas.openxmlformats.org/officeDocument/2006/relationships/slide" Target="slides/slide23.xml"/><Relationship Id="rId35" Type="http://schemas.openxmlformats.org/officeDocument/2006/relationships/slide" Target="slides/slide28.xml"/><Relationship Id="rId43" Type="http://schemas.openxmlformats.org/officeDocument/2006/relationships/slide" Target="slides/slide36.xml"/><Relationship Id="rId48" Type="http://schemas.openxmlformats.org/officeDocument/2006/relationships/slide" Target="slides/slide41.xml"/><Relationship Id="rId56" Type="http://schemas.openxmlformats.org/officeDocument/2006/relationships/slide" Target="slides/slide49.xml"/><Relationship Id="rId64" Type="http://schemas.openxmlformats.org/officeDocument/2006/relationships/slide" Target="slides/slide57.xml"/><Relationship Id="rId69" Type="http://schemas.openxmlformats.org/officeDocument/2006/relationships/slide" Target="slides/slide62.xml"/><Relationship Id="rId77" Type="http://schemas.openxmlformats.org/officeDocument/2006/relationships/viewProps" Target="viewProps.xml"/><Relationship Id="rId8" Type="http://schemas.openxmlformats.org/officeDocument/2006/relationships/slide" Target="slides/slide1.xml"/><Relationship Id="rId51" Type="http://schemas.openxmlformats.org/officeDocument/2006/relationships/slide" Target="slides/slide44.xml"/><Relationship Id="rId72" Type="http://schemas.openxmlformats.org/officeDocument/2006/relationships/slide" Target="slides/slide65.xml"/><Relationship Id="rId80" Type="http://schemas.microsoft.com/office/2016/11/relationships/changesInfo" Target="changesInfos/changesInfo1.xml"/><Relationship Id="rId3" Type="http://schemas.openxmlformats.org/officeDocument/2006/relationships/customXml" Target="../customXml/item3.xml"/><Relationship Id="rId12" Type="http://schemas.openxmlformats.org/officeDocument/2006/relationships/slide" Target="slides/slide5.xml"/><Relationship Id="rId17" Type="http://schemas.openxmlformats.org/officeDocument/2006/relationships/slide" Target="slides/slide10.xml"/><Relationship Id="rId25" Type="http://schemas.openxmlformats.org/officeDocument/2006/relationships/slide" Target="slides/slide18.xml"/><Relationship Id="rId33" Type="http://schemas.openxmlformats.org/officeDocument/2006/relationships/slide" Target="slides/slide26.xml"/><Relationship Id="rId38" Type="http://schemas.openxmlformats.org/officeDocument/2006/relationships/slide" Target="slides/slide31.xml"/><Relationship Id="rId46" Type="http://schemas.openxmlformats.org/officeDocument/2006/relationships/slide" Target="slides/slide39.xml"/><Relationship Id="rId59" Type="http://schemas.openxmlformats.org/officeDocument/2006/relationships/slide" Target="slides/slide52.xml"/><Relationship Id="rId67" Type="http://schemas.openxmlformats.org/officeDocument/2006/relationships/slide" Target="slides/slide60.xml"/><Relationship Id="rId20" Type="http://schemas.openxmlformats.org/officeDocument/2006/relationships/slide" Target="slides/slide13.xml"/><Relationship Id="rId41" Type="http://schemas.openxmlformats.org/officeDocument/2006/relationships/slide" Target="slides/slide34.xml"/><Relationship Id="rId54" Type="http://schemas.openxmlformats.org/officeDocument/2006/relationships/slide" Target="slides/slide47.xml"/><Relationship Id="rId62" Type="http://schemas.openxmlformats.org/officeDocument/2006/relationships/slide" Target="slides/slide55.xml"/><Relationship Id="rId70" Type="http://schemas.openxmlformats.org/officeDocument/2006/relationships/slide" Target="slides/slide63.xml"/><Relationship Id="rId75" Type="http://schemas.openxmlformats.org/officeDocument/2006/relationships/notesMaster" Target="notesMasters/notesMaster1.xml"/><Relationship Id="rId1" Type="http://schemas.openxmlformats.org/officeDocument/2006/relationships/customXml" Target="../customXml/item1.xml"/><Relationship Id="rId6" Type="http://schemas.openxmlformats.org/officeDocument/2006/relationships/slideMaster" Target="slideMasters/slideMaster3.xml"/><Relationship Id="rId15" Type="http://schemas.openxmlformats.org/officeDocument/2006/relationships/slide" Target="slides/slide8.xml"/><Relationship Id="rId23" Type="http://schemas.openxmlformats.org/officeDocument/2006/relationships/slide" Target="slides/slide16.xml"/><Relationship Id="rId28" Type="http://schemas.openxmlformats.org/officeDocument/2006/relationships/slide" Target="slides/slide21.xml"/><Relationship Id="rId36" Type="http://schemas.openxmlformats.org/officeDocument/2006/relationships/slide" Target="slides/slide29.xml"/><Relationship Id="rId49" Type="http://schemas.openxmlformats.org/officeDocument/2006/relationships/slide" Target="slides/slide42.xml"/><Relationship Id="rId57" Type="http://schemas.openxmlformats.org/officeDocument/2006/relationships/slide" Target="slides/slide50.xml"/><Relationship Id="rId83" Type="http://schemas.openxmlformats.org/officeDocument/2006/relationships/slide" Target="slides/slide6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oyer Montague, Kristina" userId="63c103e5-6141-480e-825f-260f173eba02" providerId="ADAL" clId="{2DF5424F-84B6-44E0-9E85-E1FB6C016FBF}"/>
    <pc:docChg chg="delSld modSld modSection">
      <pc:chgData name="Moyer Montague, Kristina" userId="63c103e5-6141-480e-825f-260f173eba02" providerId="ADAL" clId="{2DF5424F-84B6-44E0-9E85-E1FB6C016FBF}" dt="2025-05-07T15:08:00.107" v="18" actId="114"/>
      <pc:docMkLst>
        <pc:docMk/>
      </pc:docMkLst>
      <pc:sldChg chg="modNotesTx">
        <pc:chgData name="Moyer Montague, Kristina" userId="63c103e5-6141-480e-825f-260f173eba02" providerId="ADAL" clId="{2DF5424F-84B6-44E0-9E85-E1FB6C016FBF}" dt="2025-05-06T20:17:41.455" v="0" actId="6549"/>
        <pc:sldMkLst>
          <pc:docMk/>
          <pc:sldMk cId="3398606512" sldId="300"/>
        </pc:sldMkLst>
      </pc:sldChg>
      <pc:sldChg chg="modSp mod">
        <pc:chgData name="Moyer Montague, Kristina" userId="63c103e5-6141-480e-825f-260f173eba02" providerId="ADAL" clId="{2DF5424F-84B6-44E0-9E85-E1FB6C016FBF}" dt="2025-05-06T20:24:43.557" v="3" actId="255"/>
        <pc:sldMkLst>
          <pc:docMk/>
          <pc:sldMk cId="1013618624" sldId="474"/>
        </pc:sldMkLst>
        <pc:spChg chg="mod">
          <ac:chgData name="Moyer Montague, Kristina" userId="63c103e5-6141-480e-825f-260f173eba02" providerId="ADAL" clId="{2DF5424F-84B6-44E0-9E85-E1FB6C016FBF}" dt="2025-05-06T20:24:43.557" v="3" actId="255"/>
          <ac:spMkLst>
            <pc:docMk/>
            <pc:sldMk cId="1013618624" sldId="474"/>
            <ac:spMk id="4" creationId="{3A0AB5A9-D584-51C7-B955-DAA1F9C7EB67}"/>
          </ac:spMkLst>
        </pc:spChg>
      </pc:sldChg>
      <pc:sldChg chg="modSp mod">
        <pc:chgData name="Moyer Montague, Kristina" userId="63c103e5-6141-480e-825f-260f173eba02" providerId="ADAL" clId="{2DF5424F-84B6-44E0-9E85-E1FB6C016FBF}" dt="2025-05-06T20:25:35.813" v="11" actId="255"/>
        <pc:sldMkLst>
          <pc:docMk/>
          <pc:sldMk cId="35134944" sldId="479"/>
        </pc:sldMkLst>
        <pc:spChg chg="mod">
          <ac:chgData name="Moyer Montague, Kristina" userId="63c103e5-6141-480e-825f-260f173eba02" providerId="ADAL" clId="{2DF5424F-84B6-44E0-9E85-E1FB6C016FBF}" dt="2025-05-06T20:25:35.813" v="11" actId="255"/>
          <ac:spMkLst>
            <pc:docMk/>
            <pc:sldMk cId="35134944" sldId="479"/>
            <ac:spMk id="4" creationId="{634ACACA-A6D5-E759-1A13-2360BC16F1B8}"/>
          </ac:spMkLst>
        </pc:spChg>
      </pc:sldChg>
      <pc:sldChg chg="modSp mod">
        <pc:chgData name="Moyer Montague, Kristina" userId="63c103e5-6141-480e-825f-260f173eba02" providerId="ADAL" clId="{2DF5424F-84B6-44E0-9E85-E1FB6C016FBF}" dt="2025-05-06T20:25:41.392" v="12" actId="255"/>
        <pc:sldMkLst>
          <pc:docMk/>
          <pc:sldMk cId="1534852779" sldId="480"/>
        </pc:sldMkLst>
        <pc:spChg chg="mod">
          <ac:chgData name="Moyer Montague, Kristina" userId="63c103e5-6141-480e-825f-260f173eba02" providerId="ADAL" clId="{2DF5424F-84B6-44E0-9E85-E1FB6C016FBF}" dt="2025-05-06T20:25:41.392" v="12" actId="255"/>
          <ac:spMkLst>
            <pc:docMk/>
            <pc:sldMk cId="1534852779" sldId="480"/>
            <ac:spMk id="4" creationId="{5C434BC3-FD62-B3CE-3671-F121D6D37CAA}"/>
          </ac:spMkLst>
        </pc:spChg>
      </pc:sldChg>
      <pc:sldChg chg="modSp mod">
        <pc:chgData name="Moyer Montague, Kristina" userId="63c103e5-6141-480e-825f-260f173eba02" providerId="ADAL" clId="{2DF5424F-84B6-44E0-9E85-E1FB6C016FBF}" dt="2025-05-06T20:24:55.867" v="5" actId="255"/>
        <pc:sldMkLst>
          <pc:docMk/>
          <pc:sldMk cId="885489928" sldId="540"/>
        </pc:sldMkLst>
        <pc:spChg chg="mod">
          <ac:chgData name="Moyer Montague, Kristina" userId="63c103e5-6141-480e-825f-260f173eba02" providerId="ADAL" clId="{2DF5424F-84B6-44E0-9E85-E1FB6C016FBF}" dt="2025-05-06T20:24:55.867" v="5" actId="255"/>
          <ac:spMkLst>
            <pc:docMk/>
            <pc:sldMk cId="885489928" sldId="540"/>
            <ac:spMk id="4" creationId="{A9C9396B-BEEF-2233-D775-E7488E505F6B}"/>
          </ac:spMkLst>
        </pc:spChg>
      </pc:sldChg>
      <pc:sldChg chg="modSp mod modNotesTx">
        <pc:chgData name="Moyer Montague, Kristina" userId="63c103e5-6141-480e-825f-260f173eba02" providerId="ADAL" clId="{2DF5424F-84B6-44E0-9E85-E1FB6C016FBF}" dt="2025-05-06T20:25:01.116" v="6" actId="255"/>
        <pc:sldMkLst>
          <pc:docMk/>
          <pc:sldMk cId="2670571418" sldId="541"/>
        </pc:sldMkLst>
        <pc:spChg chg="mod">
          <ac:chgData name="Moyer Montague, Kristina" userId="63c103e5-6141-480e-825f-260f173eba02" providerId="ADAL" clId="{2DF5424F-84B6-44E0-9E85-E1FB6C016FBF}" dt="2025-05-06T20:25:01.116" v="6" actId="255"/>
          <ac:spMkLst>
            <pc:docMk/>
            <pc:sldMk cId="2670571418" sldId="541"/>
            <ac:spMk id="4" creationId="{1EEABC25-9969-3E66-373E-DF1E6751943A}"/>
          </ac:spMkLst>
        </pc:spChg>
      </pc:sldChg>
      <pc:sldChg chg="del">
        <pc:chgData name="Moyer Montague, Kristina" userId="63c103e5-6141-480e-825f-260f173eba02" providerId="ADAL" clId="{2DF5424F-84B6-44E0-9E85-E1FB6C016FBF}" dt="2025-05-07T14:03:59.927" v="15" actId="47"/>
        <pc:sldMkLst>
          <pc:docMk/>
          <pc:sldMk cId="3385507707" sldId="566"/>
        </pc:sldMkLst>
      </pc:sldChg>
      <pc:sldChg chg="modSp mod">
        <pc:chgData name="Moyer Montague, Kristina" userId="63c103e5-6141-480e-825f-260f173eba02" providerId="ADAL" clId="{2DF5424F-84B6-44E0-9E85-E1FB6C016FBF}" dt="2025-05-06T20:24:50.865" v="4" actId="255"/>
        <pc:sldMkLst>
          <pc:docMk/>
          <pc:sldMk cId="750486281" sldId="567"/>
        </pc:sldMkLst>
        <pc:spChg chg="mod">
          <ac:chgData name="Moyer Montague, Kristina" userId="63c103e5-6141-480e-825f-260f173eba02" providerId="ADAL" clId="{2DF5424F-84B6-44E0-9E85-E1FB6C016FBF}" dt="2025-05-06T20:24:50.865" v="4" actId="255"/>
          <ac:spMkLst>
            <pc:docMk/>
            <pc:sldMk cId="750486281" sldId="567"/>
            <ac:spMk id="4" creationId="{E9425E7B-C1EE-9D19-7337-300BBED4939B}"/>
          </ac:spMkLst>
        </pc:spChg>
      </pc:sldChg>
      <pc:sldChg chg="modSp mod">
        <pc:chgData name="Moyer Montague, Kristina" userId="63c103e5-6141-480e-825f-260f173eba02" providerId="ADAL" clId="{2DF5424F-84B6-44E0-9E85-E1FB6C016FBF}" dt="2025-05-06T20:25:07.411" v="7" actId="255"/>
        <pc:sldMkLst>
          <pc:docMk/>
          <pc:sldMk cId="1086037658" sldId="568"/>
        </pc:sldMkLst>
        <pc:spChg chg="mod">
          <ac:chgData name="Moyer Montague, Kristina" userId="63c103e5-6141-480e-825f-260f173eba02" providerId="ADAL" clId="{2DF5424F-84B6-44E0-9E85-E1FB6C016FBF}" dt="2025-05-06T20:25:07.411" v="7" actId="255"/>
          <ac:spMkLst>
            <pc:docMk/>
            <pc:sldMk cId="1086037658" sldId="568"/>
            <ac:spMk id="4" creationId="{B9E7C0A2-2B72-5151-AD40-00146768E342}"/>
          </ac:spMkLst>
        </pc:spChg>
      </pc:sldChg>
      <pc:sldChg chg="modSp mod">
        <pc:chgData name="Moyer Montague, Kristina" userId="63c103e5-6141-480e-825f-260f173eba02" providerId="ADAL" clId="{2DF5424F-84B6-44E0-9E85-E1FB6C016FBF}" dt="2025-05-06T20:25:16.787" v="8" actId="255"/>
        <pc:sldMkLst>
          <pc:docMk/>
          <pc:sldMk cId="2233772374" sldId="569"/>
        </pc:sldMkLst>
        <pc:spChg chg="mod">
          <ac:chgData name="Moyer Montague, Kristina" userId="63c103e5-6141-480e-825f-260f173eba02" providerId="ADAL" clId="{2DF5424F-84B6-44E0-9E85-E1FB6C016FBF}" dt="2025-05-06T20:25:16.787" v="8" actId="255"/>
          <ac:spMkLst>
            <pc:docMk/>
            <pc:sldMk cId="2233772374" sldId="569"/>
            <ac:spMk id="4" creationId="{B1FC5BD8-D424-0016-9DAC-A2CEE00D038E}"/>
          </ac:spMkLst>
        </pc:spChg>
      </pc:sldChg>
      <pc:sldChg chg="modSp mod">
        <pc:chgData name="Moyer Montague, Kristina" userId="63c103e5-6141-480e-825f-260f173eba02" providerId="ADAL" clId="{2DF5424F-84B6-44E0-9E85-E1FB6C016FBF}" dt="2025-05-06T20:25:23.997" v="9" actId="255"/>
        <pc:sldMkLst>
          <pc:docMk/>
          <pc:sldMk cId="1596592061" sldId="570"/>
        </pc:sldMkLst>
        <pc:spChg chg="mod">
          <ac:chgData name="Moyer Montague, Kristina" userId="63c103e5-6141-480e-825f-260f173eba02" providerId="ADAL" clId="{2DF5424F-84B6-44E0-9E85-E1FB6C016FBF}" dt="2025-05-06T20:25:23.997" v="9" actId="255"/>
          <ac:spMkLst>
            <pc:docMk/>
            <pc:sldMk cId="1596592061" sldId="570"/>
            <ac:spMk id="4" creationId="{3C91AA5B-D1CF-A654-A49E-005C1A53CAF6}"/>
          </ac:spMkLst>
        </pc:spChg>
      </pc:sldChg>
      <pc:sldChg chg="modSp mod">
        <pc:chgData name="Moyer Montague, Kristina" userId="63c103e5-6141-480e-825f-260f173eba02" providerId="ADAL" clId="{2DF5424F-84B6-44E0-9E85-E1FB6C016FBF}" dt="2025-05-06T20:25:29.617" v="10" actId="255"/>
        <pc:sldMkLst>
          <pc:docMk/>
          <pc:sldMk cId="2074852096" sldId="571"/>
        </pc:sldMkLst>
        <pc:spChg chg="mod">
          <ac:chgData name="Moyer Montague, Kristina" userId="63c103e5-6141-480e-825f-260f173eba02" providerId="ADAL" clId="{2DF5424F-84B6-44E0-9E85-E1FB6C016FBF}" dt="2025-05-06T20:25:29.617" v="10" actId="255"/>
          <ac:spMkLst>
            <pc:docMk/>
            <pc:sldMk cId="2074852096" sldId="571"/>
            <ac:spMk id="4" creationId="{688080EC-1385-C813-83C4-0AD377C6714D}"/>
          </ac:spMkLst>
        </pc:spChg>
      </pc:sldChg>
      <pc:sldChg chg="modSp mod">
        <pc:chgData name="Moyer Montague, Kristina" userId="63c103e5-6141-480e-825f-260f173eba02" providerId="ADAL" clId="{2DF5424F-84B6-44E0-9E85-E1FB6C016FBF}" dt="2025-05-07T15:08:00.107" v="18" actId="114"/>
        <pc:sldMkLst>
          <pc:docMk/>
          <pc:sldMk cId="3480515410" sldId="581"/>
        </pc:sldMkLst>
        <pc:spChg chg="mod">
          <ac:chgData name="Moyer Montague, Kristina" userId="63c103e5-6141-480e-825f-260f173eba02" providerId="ADAL" clId="{2DF5424F-84B6-44E0-9E85-E1FB6C016FBF}" dt="2025-05-07T15:08:00.107" v="18" actId="114"/>
          <ac:spMkLst>
            <pc:docMk/>
            <pc:sldMk cId="3480515410" sldId="581"/>
            <ac:spMk id="9" creationId="{98917A7B-A823-0270-0F5C-7B611E1D38C1}"/>
          </ac:spMkLst>
        </pc:spChg>
      </pc:sldChg>
      <pc:sldChg chg="modSp">
        <pc:chgData name="Moyer Montague, Kristina" userId="63c103e5-6141-480e-825f-260f173eba02" providerId="ADAL" clId="{2DF5424F-84B6-44E0-9E85-E1FB6C016FBF}" dt="2025-05-06T20:29:40.052" v="14" actId="20577"/>
        <pc:sldMkLst>
          <pc:docMk/>
          <pc:sldMk cId="1875621954" sldId="591"/>
        </pc:sldMkLst>
        <pc:spChg chg="mod">
          <ac:chgData name="Moyer Montague, Kristina" userId="63c103e5-6141-480e-825f-260f173eba02" providerId="ADAL" clId="{2DF5424F-84B6-44E0-9E85-E1FB6C016FBF}" dt="2025-05-06T20:29:40.052" v="14" actId="20577"/>
          <ac:spMkLst>
            <pc:docMk/>
            <pc:sldMk cId="1875621954" sldId="591"/>
            <ac:spMk id="6" creationId="{FAD907B5-A69A-7E22-1734-38BD299815D4}"/>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5/28/25</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23DE13-B41D-3707-0F63-98FF6B547AB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E90164-D8B6-9B96-17F1-E4BEEAECC00F}"/>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801B017C-0EB2-59BB-93AF-C7FDDD863E9B}"/>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Total suggested pacing for this lesson is three 45-minute sessions.</a:t>
            </a:r>
          </a:p>
        </p:txBody>
      </p:sp>
      <p:sp>
        <p:nvSpPr>
          <p:cNvPr id="4" name="Slide Number Placeholder 3">
            <a:extLst>
              <a:ext uri="{FF2B5EF4-FFF2-40B4-BE49-F238E27FC236}">
                <a16:creationId xmlns:a16="http://schemas.microsoft.com/office/drawing/2014/main" id="{3B0F8F5D-2E1F-DFCE-F030-3FF9914FEF64}"/>
              </a:ext>
            </a:extLst>
          </p:cNvPr>
          <p:cNvSpPr>
            <a:spLocks noGrp="1"/>
          </p:cNvSpPr>
          <p:nvPr>
            <p:ph type="sldNum" sz="quarter" idx="5"/>
          </p:nvPr>
        </p:nvSpPr>
        <p:spPr/>
        <p:txBody>
          <a:bodyPr/>
          <a:lstStyle/>
          <a:p>
            <a:fld id="{BB5E49A5-4136-284D-997B-48E1D791AD67}" type="slidenum">
              <a:rPr lang="en-US" smtClean="0"/>
              <a:t>1</a:t>
            </a:fld>
            <a:endParaRPr lang="en-US"/>
          </a:p>
        </p:txBody>
      </p:sp>
    </p:spTree>
    <p:extLst>
      <p:ext uri="{BB962C8B-B14F-4D97-AF65-F5344CB8AC3E}">
        <p14:creationId xmlns:p14="http://schemas.microsoft.com/office/powerpoint/2010/main" val="269108926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TEKS:</a:t>
                </a:r>
              </a:p>
              <a:p>
                <a:pPr algn="l"/>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A.1C: select tools, including real objects, manipulatives, paper and pencil, and technology as appropriate, and techniques, including mental math, estimation, and number sense as appropriate, to solve problems.</a:t>
                </a:r>
              </a:p>
              <a:p>
                <a:pPr algn="l"/>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A.1F: analyze mathematical relationships to connect and communicate mathematical ideas.</a:t>
                </a:r>
              </a:p>
              <a:p>
                <a:pPr algn="l"/>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A.2B: write linear equations in two variables in various forms, including  </a:t>
                </a:r>
                <a14:m>
                  <m:oMath xmlns:m="http://schemas.openxmlformats.org/officeDocument/2006/math">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𝑦</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𝑚𝑥</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𝑏</m:t>
                    </m:r>
                  </m:oMath>
                </a14:m>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14:m>
                  <m:oMath xmlns:m="http://schemas.openxmlformats.org/officeDocument/2006/math">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𝐴𝑥</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𝐵𝑦</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𝐶</m:t>
                    </m:r>
                  </m:oMath>
                </a14:m>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and</a:t>
                </a:r>
                <a14:m>
                  <m:oMath xmlns:m="http://schemas.openxmlformats.org/officeDocument/2006/math">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 </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𝑦</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m:t>
                    </m:r>
                    <m:sSub>
                      <m:sSubPr>
                        <m:ctrlPr>
                          <a:rPr lang="en-US" sz="1200" b="0" i="1" u="none" strike="noStrike" baseline="0" smtClean="0">
                            <a:solidFill>
                              <a:srgbClr val="000000"/>
                            </a:solidFill>
                            <a:latin typeface="Cambria Math" panose="02040503050406030204" pitchFamily="18" charset="0"/>
                            <a:cs typeface="Calibri" panose="020F0502020204030204" pitchFamily="34" charset="0"/>
                          </a:rPr>
                        </m:ctrlPr>
                      </m:sSubPr>
                      <m:e>
                        <m:r>
                          <a:rPr lang="en-US" sz="1200" b="0" i="1" u="none" strike="noStrike" baseline="0" smtClean="0">
                            <a:solidFill>
                              <a:srgbClr val="000000"/>
                            </a:solidFill>
                            <a:latin typeface="Cambria Math" panose="02040503050406030204" pitchFamily="18" charset="0"/>
                            <a:cs typeface="Calibri" panose="020F0502020204030204" pitchFamily="34" charset="0"/>
                          </a:rPr>
                          <m:t>𝑦</m:t>
                        </m:r>
                      </m:e>
                      <m:sub>
                        <m:r>
                          <a:rPr lang="en-US" sz="1200" b="0" i="1" u="none" strike="noStrike" baseline="0" smtClean="0">
                            <a:solidFill>
                              <a:srgbClr val="000000"/>
                            </a:solidFill>
                            <a:latin typeface="Cambria Math" panose="02040503050406030204" pitchFamily="18" charset="0"/>
                            <a:cs typeface="Calibri" panose="020F0502020204030204" pitchFamily="34" charset="0"/>
                          </a:rPr>
                          <m:t>1</m:t>
                        </m:r>
                      </m:sub>
                    </m:sSub>
                    <m:r>
                      <a:rPr lang="en-US" sz="1200" b="0" i="1" u="none" strike="noStrike" baseline="0" smtClean="0">
                        <a:solidFill>
                          <a:srgbClr val="000000"/>
                        </a:solidFill>
                        <a:latin typeface="Cambria Math" panose="02040503050406030204" pitchFamily="18" charset="0"/>
                        <a:cs typeface="Calibri" panose="020F0502020204030204" pitchFamily="34" charset="0"/>
                      </a:rPr>
                      <m:t>=</m:t>
                    </m:r>
                    <m:r>
                      <a:rPr lang="en-US" sz="1200" b="0" i="1" u="none" strike="noStrike" baseline="0" smtClean="0">
                        <a:solidFill>
                          <a:srgbClr val="000000"/>
                        </a:solidFill>
                        <a:latin typeface="Cambria Math" panose="02040503050406030204" pitchFamily="18" charset="0"/>
                        <a:cs typeface="Calibri" panose="020F0502020204030204" pitchFamily="34" charset="0"/>
                      </a:rPr>
                      <m:t>𝑚</m:t>
                    </m:r>
                    <m:r>
                      <a:rPr lang="en-US" sz="1200" b="0" i="1" u="none" strike="noStrike" baseline="0" smtClean="0">
                        <a:solidFill>
                          <a:srgbClr val="000000"/>
                        </a:solidFill>
                        <a:latin typeface="Cambria Math" panose="02040503050406030204" pitchFamily="18" charset="0"/>
                        <a:cs typeface="Calibri" panose="020F0502020204030204" pitchFamily="34" charset="0"/>
                      </a:rPr>
                      <m:t>(</m:t>
                    </m:r>
                    <m:r>
                      <a:rPr lang="en-US" sz="1200" b="0" i="1" u="none" strike="noStrike" baseline="0" smtClean="0">
                        <a:solidFill>
                          <a:srgbClr val="000000"/>
                        </a:solidFill>
                        <a:latin typeface="Cambria Math" panose="02040503050406030204" pitchFamily="18" charset="0"/>
                        <a:cs typeface="Calibri" panose="020F0502020204030204" pitchFamily="34" charset="0"/>
                      </a:rPr>
                      <m:t>𝑥</m:t>
                    </m:r>
                    <m:r>
                      <a:rPr lang="en-US" sz="1200" b="0" i="1" u="none" strike="noStrike" baseline="0" smtClean="0">
                        <a:solidFill>
                          <a:srgbClr val="000000"/>
                        </a:solidFill>
                        <a:latin typeface="Cambria Math" panose="02040503050406030204" pitchFamily="18" charset="0"/>
                        <a:cs typeface="Calibri" panose="020F0502020204030204" pitchFamily="34" charset="0"/>
                      </a:rPr>
                      <m:t>−</m:t>
                    </m:r>
                    <m:sSub>
                      <m:sSubPr>
                        <m:ctrlPr>
                          <a:rPr lang="en-US" sz="1200" b="0" i="1" u="none" strike="noStrike" baseline="0" smtClean="0">
                            <a:solidFill>
                              <a:srgbClr val="000000"/>
                            </a:solidFill>
                            <a:latin typeface="Cambria Math" panose="02040503050406030204" pitchFamily="18" charset="0"/>
                            <a:cs typeface="Calibri" panose="020F0502020204030204" pitchFamily="34" charset="0"/>
                          </a:rPr>
                        </m:ctrlPr>
                      </m:sSubPr>
                      <m:e>
                        <m:r>
                          <a:rPr lang="en-US" sz="1200" b="0" i="1" u="none" strike="noStrike" baseline="0" smtClean="0">
                            <a:solidFill>
                              <a:srgbClr val="000000"/>
                            </a:solidFill>
                            <a:latin typeface="Cambria Math" panose="02040503050406030204" pitchFamily="18" charset="0"/>
                            <a:cs typeface="Calibri" panose="020F0502020204030204" pitchFamily="34" charset="0"/>
                          </a:rPr>
                          <m:t>𝑥</m:t>
                        </m:r>
                      </m:e>
                      <m:sub>
                        <m:r>
                          <a:rPr lang="en-US" sz="1200" b="0" i="1" u="none" strike="noStrike" baseline="0" smtClean="0">
                            <a:solidFill>
                              <a:srgbClr val="000000"/>
                            </a:solidFill>
                            <a:latin typeface="Cambria Math" panose="02040503050406030204" pitchFamily="18" charset="0"/>
                            <a:cs typeface="Calibri" panose="020F0502020204030204" pitchFamily="34" charset="0"/>
                          </a:rPr>
                          <m:t>1</m:t>
                        </m:r>
                      </m:sub>
                    </m:sSub>
                    <m:r>
                      <a:rPr lang="en-US" sz="1200" b="0" i="1" u="none" strike="noStrike" baseline="0" smtClean="0">
                        <a:solidFill>
                          <a:srgbClr val="000000"/>
                        </a:solidFill>
                        <a:latin typeface="Cambria Math" panose="02040503050406030204" pitchFamily="18" charset="0"/>
                        <a:cs typeface="Calibri" panose="020F0502020204030204" pitchFamily="34" charset="0"/>
                      </a:rPr>
                      <m:t>)</m:t>
                    </m:r>
                  </m:oMath>
                </a14:m>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given one point and the slope and given two points.</a:t>
                </a:r>
              </a:p>
              <a:p>
                <a:pPr algn="l"/>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A.2C:</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write linear equations in two variables given a table of values, a graph, and a verbal description.</a:t>
                </a:r>
              </a:p>
              <a:p>
                <a:pPr algn="l"/>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A.3A: determine the slope of a line given a table of values, a graph, two points on the line, and an equation written in various forms, including  </a:t>
                </a:r>
                <a14:m>
                  <m:oMath xmlns:m="http://schemas.openxmlformats.org/officeDocument/2006/math">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𝑦</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𝑚𝑥</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𝑏</m:t>
                    </m:r>
                  </m:oMath>
                </a14:m>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14:m>
                  <m:oMath xmlns:m="http://schemas.openxmlformats.org/officeDocument/2006/math">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𝐴𝑥</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𝐵𝑦</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𝐶</m:t>
                    </m:r>
                  </m:oMath>
                </a14:m>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14:m>
                  <m:oMath xmlns:m="http://schemas.openxmlformats.org/officeDocument/2006/math">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𝑦</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m:t>
                    </m:r>
                    <m:sSub>
                      <m:sSubPr>
                        <m:ctrlPr>
                          <a:rPr lang="en-US" sz="1200" b="0" i="1" u="none" strike="noStrike" baseline="0" smtClean="0">
                            <a:solidFill>
                              <a:srgbClr val="000000"/>
                            </a:solidFill>
                            <a:latin typeface="Cambria Math" panose="02040503050406030204" pitchFamily="18" charset="0"/>
                            <a:cs typeface="Calibri" panose="020F0502020204030204" pitchFamily="34" charset="0"/>
                          </a:rPr>
                        </m:ctrlPr>
                      </m:sSubPr>
                      <m:e>
                        <m:r>
                          <a:rPr lang="en-US" sz="1200" b="0" i="1" u="none" strike="noStrike" baseline="0" smtClean="0">
                            <a:solidFill>
                              <a:srgbClr val="000000"/>
                            </a:solidFill>
                            <a:latin typeface="Cambria Math" panose="02040503050406030204" pitchFamily="18" charset="0"/>
                            <a:cs typeface="Calibri" panose="020F0502020204030204" pitchFamily="34" charset="0"/>
                          </a:rPr>
                          <m:t>𝑦</m:t>
                        </m:r>
                      </m:e>
                      <m:sub>
                        <m:r>
                          <a:rPr lang="en-US" sz="1200" b="0" i="1" u="none" strike="noStrike" baseline="0" smtClean="0">
                            <a:solidFill>
                              <a:srgbClr val="000000"/>
                            </a:solidFill>
                            <a:latin typeface="Cambria Math" panose="02040503050406030204" pitchFamily="18" charset="0"/>
                            <a:cs typeface="Calibri" panose="020F0502020204030204" pitchFamily="34" charset="0"/>
                          </a:rPr>
                          <m:t>1</m:t>
                        </m:r>
                      </m:sub>
                    </m:sSub>
                    <m:r>
                      <a:rPr lang="en-US" sz="1200" b="0" i="1" u="none" strike="noStrike" baseline="0" smtClean="0">
                        <a:solidFill>
                          <a:srgbClr val="000000"/>
                        </a:solidFill>
                        <a:latin typeface="Cambria Math" panose="02040503050406030204" pitchFamily="18" charset="0"/>
                        <a:cs typeface="Calibri" panose="020F0502020204030204" pitchFamily="34" charset="0"/>
                      </a:rPr>
                      <m:t>=</m:t>
                    </m:r>
                    <m:r>
                      <a:rPr lang="en-US" sz="1200" b="0" i="1" u="none" strike="noStrike" baseline="0" smtClean="0">
                        <a:solidFill>
                          <a:srgbClr val="000000"/>
                        </a:solidFill>
                        <a:latin typeface="Cambria Math" panose="02040503050406030204" pitchFamily="18" charset="0"/>
                        <a:cs typeface="Calibri" panose="020F0502020204030204" pitchFamily="34" charset="0"/>
                      </a:rPr>
                      <m:t>𝑚</m:t>
                    </m:r>
                    <m:d>
                      <m:dPr>
                        <m:ctrlPr>
                          <a:rPr lang="en-US" sz="1200" b="0" i="1" u="none" strike="noStrike" baseline="0" smtClean="0">
                            <a:solidFill>
                              <a:srgbClr val="000000"/>
                            </a:solidFill>
                            <a:latin typeface="Cambria Math" panose="02040503050406030204" pitchFamily="18" charset="0"/>
                            <a:cs typeface="Calibri" panose="020F0502020204030204" pitchFamily="34" charset="0"/>
                          </a:rPr>
                        </m:ctrlPr>
                      </m:dPr>
                      <m:e>
                        <m:r>
                          <a:rPr lang="en-US" sz="1200" b="0" i="1" u="none" strike="noStrike" baseline="0" smtClean="0">
                            <a:solidFill>
                              <a:srgbClr val="000000"/>
                            </a:solidFill>
                            <a:latin typeface="Cambria Math" panose="02040503050406030204" pitchFamily="18" charset="0"/>
                            <a:cs typeface="Calibri" panose="020F0502020204030204" pitchFamily="34" charset="0"/>
                          </a:rPr>
                          <m:t>𝑥</m:t>
                        </m:r>
                        <m:r>
                          <a:rPr lang="en-US" sz="1200" b="0" i="1" u="none" strike="noStrike" baseline="0" smtClean="0">
                            <a:solidFill>
                              <a:srgbClr val="000000"/>
                            </a:solidFill>
                            <a:latin typeface="Cambria Math" panose="02040503050406030204" pitchFamily="18" charset="0"/>
                            <a:cs typeface="Calibri" panose="020F0502020204030204" pitchFamily="34" charset="0"/>
                          </a:rPr>
                          <m:t>−</m:t>
                        </m:r>
                        <m:sSub>
                          <m:sSubPr>
                            <m:ctrlPr>
                              <a:rPr lang="en-US" sz="1200" b="0" i="1" u="none" strike="noStrike" baseline="0" smtClean="0">
                                <a:solidFill>
                                  <a:srgbClr val="000000"/>
                                </a:solidFill>
                                <a:latin typeface="Cambria Math" panose="02040503050406030204" pitchFamily="18" charset="0"/>
                                <a:cs typeface="Calibri" panose="020F0502020204030204" pitchFamily="34" charset="0"/>
                              </a:rPr>
                            </m:ctrlPr>
                          </m:sSubPr>
                          <m:e>
                            <m:r>
                              <a:rPr lang="en-US" sz="1200" b="0" i="1" u="none" strike="noStrike" baseline="0" smtClean="0">
                                <a:solidFill>
                                  <a:srgbClr val="000000"/>
                                </a:solidFill>
                                <a:latin typeface="Cambria Math" panose="02040503050406030204" pitchFamily="18" charset="0"/>
                                <a:cs typeface="Calibri" panose="020F0502020204030204" pitchFamily="34" charset="0"/>
                              </a:rPr>
                              <m:t>𝑥</m:t>
                            </m:r>
                          </m:e>
                          <m:sub>
                            <m:r>
                              <a:rPr lang="en-US" sz="1200" b="0" i="1" u="none" strike="noStrike" baseline="0" smtClean="0">
                                <a:solidFill>
                                  <a:srgbClr val="000000"/>
                                </a:solidFill>
                                <a:latin typeface="Cambria Math" panose="02040503050406030204" pitchFamily="18" charset="0"/>
                                <a:cs typeface="Calibri" panose="020F0502020204030204" pitchFamily="34" charset="0"/>
                              </a:rPr>
                              <m:t>1</m:t>
                            </m:r>
                          </m:sub>
                        </m:sSub>
                      </m:e>
                    </m:d>
                    <m:r>
                      <a:rPr lang="en-US" sz="1200" b="0" i="0" u="none" strike="noStrike" baseline="0" smtClean="0">
                        <a:solidFill>
                          <a:srgbClr val="000000"/>
                        </a:solidFill>
                        <a:latin typeface="Cambria Math" panose="02040503050406030204" pitchFamily="18" charset="0"/>
                        <a:cs typeface="Calibri" panose="020F0502020204030204" pitchFamily="34" charset="0"/>
                      </a:rPr>
                      <m:t>.</m:t>
                    </m:r>
                  </m:oMath>
                </a14:m>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algn="l"/>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A.3C:</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graph linear functions on the coordinate plane and identify key features, including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-intercept,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-intercept, zeros, and slope, in mathematical and real-world problems.</a:t>
                </a:r>
              </a:p>
              <a:p>
                <a:pPr algn="l"/>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algn="l"/>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ELPS:</a:t>
                </a:r>
              </a:p>
              <a:p>
                <a:pPr algn="l"/>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1.D: speak using learning strategies such as requesting assistance, employing non-verbal cues, and using synonyms and circumlocution (conveying ideas by defining or describing when exact English words are not known).</a:t>
                </a:r>
              </a:p>
              <a:p>
                <a:pPr algn="l"/>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3.B: expand and internalize initial English vocabulary by learning and using high-frequency English words necessary for identifying and describing people, places, and objects, by retelling simple stories and basic information represented or supported by pictures, and by learning and using routine language needed for classroom communication.</a:t>
                </a:r>
              </a:p>
              <a:p>
                <a:pPr algn="l"/>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4.F: use visual and contextual support and support from peers and teachers to read grade-appropriate content area text, enhance and confirm understanding, and develop vocabulary, grasp of language structures, and background knowledge needed to comprehend increasingly challenging language.</a:t>
                </a:r>
              </a:p>
            </p:txBody>
          </p:sp>
        </mc:Choice>
        <mc:Fallback xmlns="">
          <p:sp>
            <p:nvSpPr>
              <p:cNvPr id="3" name="Notes Placeholder 2"/>
              <p:cNvSpPr>
                <a:spLocks noGrp="1"/>
              </p:cNvSpPr>
              <p:nvPr>
                <p:ph type="body" idx="1"/>
              </p:nvPr>
            </p:nvSpPr>
            <p:spPr/>
            <p:txBody>
              <a:bodyPr/>
              <a:lstStyle/>
              <a:p>
                <a:r>
                  <a:rPr lang="en-US" sz="1200" b="1" dirty="0">
                    <a:latin typeface="Calibri" panose="020F0502020204030204" pitchFamily="34" charset="0"/>
                    <a:ea typeface="Calibri" panose="020F0502020204030204" pitchFamily="34" charset="0"/>
                    <a:cs typeface="Calibri" panose="020F0502020204030204" pitchFamily="34" charset="0"/>
                  </a:rPr>
                  <a:t>TEKS:</a:t>
                </a:r>
              </a:p>
              <a:p>
                <a:pPr algn="l"/>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1.D: communicate mathematical ideas, reasoning, and their implications using multiple representations, including symbols, diagrams, graphs, and language as appropriate.</a:t>
                </a:r>
              </a:p>
              <a:p>
                <a:pPr algn="l"/>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1.F: analyze mathematical relationships to connect and communicate mathematical ideas.</a:t>
                </a:r>
              </a:p>
              <a:p>
                <a:pPr algn="l"/>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1.G: display, explain, and justify mathematical ideas and arguments using precise mathematical language in written or oral communication.</a:t>
                </a:r>
              </a:p>
              <a:p>
                <a:pPr algn="l"/>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2.A: determine the domain and range of a linear function in mathematical problems; determine reasonable domain and range values for real-world situations, both continuous and discrete; and represent domain and range using inequalities.</a:t>
                </a:r>
              </a:p>
              <a:p>
                <a:pPr algn="l"/>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2.B: write linear equations in two variables in various forms, including  </a:t>
                </a:r>
                <a:r>
                  <a:rPr lang="en-US" sz="1200" b="0" i="0" u="none" strike="noStrike" baseline="0">
                    <a:latin typeface="Cambria Math" panose="02040503050406030204" pitchFamily="18" charset="0"/>
                    <a:ea typeface="Calibri" panose="020F0502020204030204" pitchFamily="34" charset="0"/>
                    <a:cs typeface="Calibri" panose="020F0502020204030204" pitchFamily="34" charset="0"/>
                  </a:rPr>
                  <a:t>𝑦=𝑚𝑥+𝑏</a:t>
                </a: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 </a:t>
                </a:r>
                <a:r>
                  <a:rPr lang="en-US" sz="1200" b="0" i="0" u="none" strike="noStrike" baseline="0">
                    <a:latin typeface="Cambria Math" panose="02040503050406030204" pitchFamily="18" charset="0"/>
                    <a:ea typeface="Calibri" panose="020F0502020204030204" pitchFamily="34" charset="0"/>
                    <a:cs typeface="Calibri" panose="020F0502020204030204" pitchFamily="34" charset="0"/>
                  </a:rPr>
                  <a:t>𝐴𝑥+𝐵𝑦=𝐶</a:t>
                </a: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 and</a:t>
                </a:r>
                <a:r>
                  <a:rPr lang="en-US" sz="1200" b="0" i="0" u="none" strike="noStrike" baseline="0">
                    <a:latin typeface="Cambria Math" panose="02040503050406030204" pitchFamily="18" charset="0"/>
                    <a:ea typeface="Calibri" panose="020F0502020204030204" pitchFamily="34" charset="0"/>
                    <a:cs typeface="Calibri" panose="020F0502020204030204" pitchFamily="34" charset="0"/>
                  </a:rPr>
                  <a:t> 𝑦−</a:t>
                </a:r>
                <a:r>
                  <a:rPr lang="en-US" sz="1200" b="0" i="0" u="none" strike="noStrike" baseline="0">
                    <a:latin typeface="Cambria Math" panose="02040503050406030204" pitchFamily="18" charset="0"/>
                    <a:cs typeface="Calibri" panose="020F0502020204030204" pitchFamily="34" charset="0"/>
                  </a:rPr>
                  <a:t>𝑦_1=𝑚(𝑥−𝑥_1)</a:t>
                </a: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 given one point and the slope and given two points.</a:t>
                </a:r>
              </a:p>
              <a:p>
                <a:pPr algn="l"/>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2.C: write linear equations in two variables given a table of values, a graph, and a verbal description.</a:t>
                </a:r>
              </a:p>
              <a:p>
                <a:pPr algn="l"/>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3.A: determine the slope of a line given a table of values, a graph, two points on the line, and an equation written in various forms, including  </a:t>
                </a:r>
                <a:r>
                  <a:rPr lang="en-US" sz="1200" b="0" i="0" u="none" strike="noStrike" baseline="0">
                    <a:latin typeface="Cambria Math" panose="02040503050406030204" pitchFamily="18" charset="0"/>
                    <a:ea typeface="Calibri" panose="020F0502020204030204" pitchFamily="34" charset="0"/>
                    <a:cs typeface="Calibri" panose="020F0502020204030204" pitchFamily="34" charset="0"/>
                  </a:rPr>
                  <a:t>𝑦=𝑚𝑥+𝑏</a:t>
                </a: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 </a:t>
                </a:r>
                <a:r>
                  <a:rPr lang="en-US" sz="1200" b="0" i="0" u="none" strike="noStrike" baseline="0">
                    <a:latin typeface="Cambria Math" panose="02040503050406030204" pitchFamily="18" charset="0"/>
                    <a:ea typeface="Calibri" panose="020F0502020204030204" pitchFamily="34" charset="0"/>
                    <a:cs typeface="Calibri" panose="020F0502020204030204" pitchFamily="34" charset="0"/>
                  </a:rPr>
                  <a:t>𝐴𝑥+𝐵𝑦=𝐶</a:t>
                </a: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 and </a:t>
                </a:r>
                <a:r>
                  <a:rPr lang="en-US" sz="1200" b="0" i="0" u="none" strike="noStrike" baseline="0">
                    <a:latin typeface="Cambria Math" panose="02040503050406030204" pitchFamily="18" charset="0"/>
                    <a:ea typeface="Calibri" panose="020F0502020204030204" pitchFamily="34" charset="0"/>
                    <a:cs typeface="Calibri" panose="020F0502020204030204" pitchFamily="34" charset="0"/>
                  </a:rPr>
                  <a:t>𝑦−</a:t>
                </a:r>
                <a:r>
                  <a:rPr lang="en-US" sz="1200" b="0" i="0" u="none" strike="noStrike" baseline="0">
                    <a:latin typeface="Cambria Math" panose="02040503050406030204" pitchFamily="18" charset="0"/>
                    <a:cs typeface="Calibri" panose="020F0502020204030204" pitchFamily="34" charset="0"/>
                  </a:rPr>
                  <a:t>𝑦_1=𝑚(𝑥−𝑥_1)</a:t>
                </a: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a:t>
                </a:r>
              </a:p>
              <a:p>
                <a:pPr algn="l"/>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3.B: calculate the rate of change of a linear function represented tabularly, graphically, or algebraically in context of mathematical and real-world problems.</a:t>
                </a:r>
              </a:p>
              <a:p>
                <a:pPr algn="l"/>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4.12: write a formula for the nth term of arithmetic and geometric sequences, given the value of several of their terms.</a:t>
                </a:r>
              </a:p>
              <a:p>
                <a:pPr algn="l"/>
                <a:endParaRPr lang="en-US" sz="1200" b="0" i="0" u="none" strike="noStrike" baseline="0" dirty="0">
                  <a:latin typeface="Calibri" panose="020F0502020204030204" pitchFamily="34" charset="0"/>
                  <a:ea typeface="Calibri" panose="020F0502020204030204" pitchFamily="34" charset="0"/>
                  <a:cs typeface="Calibri" panose="020F0502020204030204" pitchFamily="34" charset="0"/>
                </a:endParaRPr>
              </a:p>
              <a:p>
                <a:pPr algn="l"/>
                <a:r>
                  <a:rPr lang="en-US" sz="1200" b="1" i="0" u="none" strike="noStrike" baseline="0" dirty="0">
                    <a:latin typeface="Calibri" panose="020F0502020204030204" pitchFamily="34" charset="0"/>
                    <a:ea typeface="Calibri" panose="020F0502020204030204" pitchFamily="34" charset="0"/>
                    <a:cs typeface="Calibri" panose="020F0502020204030204" pitchFamily="34" charset="0"/>
                  </a:rPr>
                  <a:t>ELPS:</a:t>
                </a:r>
              </a:p>
              <a:p>
                <a:pPr algn="l"/>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4.A: learn relationships between sounds and letters of the English language and decode (sound out) words using a combination of skills such as recognizing sound-letter relationships and identifying cognates, affixes, roots and base words.</a:t>
                </a:r>
              </a:p>
              <a:p>
                <a:pPr algn="l"/>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4.K: </a:t>
                </a:r>
                <a:r>
                  <a:rPr lang="en-US" sz="1200" b="0" i="0" u="none" strike="noStrike" baseline="0" dirty="0" err="1">
                    <a:latin typeface="Calibri" panose="020F0502020204030204" pitchFamily="34" charset="0"/>
                    <a:ea typeface="Calibri" panose="020F0502020204030204" pitchFamily="34" charset="0"/>
                    <a:cs typeface="Calibri" panose="020F0502020204030204" pitchFamily="34" charset="0"/>
                  </a:rPr>
                  <a:t>emonstrate</a:t>
                </a: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 English comprehension and expand reading skills by employing analytical skills such as evaluating written information and performing critical analyses commensurate with content area and grade-level needs.</a:t>
                </a:r>
              </a:p>
              <a:p>
                <a:pPr algn="l"/>
                <a:endParaRPr lang="en-US" sz="1200" b="0" i="0" u="none" strike="noStrike" baseline="0" dirty="0">
                  <a:latin typeface="Calibri" panose="020F0502020204030204" pitchFamily="34" charset="0"/>
                  <a:ea typeface="Calibri" panose="020F0502020204030204" pitchFamily="34" charset="0"/>
                  <a:cs typeface="Calibri" panose="020F0502020204030204" pitchFamily="34" charset="0"/>
                </a:endParaRPr>
              </a:p>
            </p:txBody>
          </p:sp>
        </mc:Fallback>
      </mc:AlternateContent>
      <p:sp>
        <p:nvSpPr>
          <p:cNvPr id="4" name="Slide Number Placeholder 3"/>
          <p:cNvSpPr>
            <a:spLocks noGrp="1"/>
          </p:cNvSpPr>
          <p:nvPr>
            <p:ph type="sldNum" sz="quarter" idx="5"/>
          </p:nvPr>
        </p:nvSpPr>
        <p:spPr/>
        <p:txBody>
          <a:bodyPr/>
          <a:lstStyle/>
          <a:p>
            <a:fld id="{BB5E49A5-4136-284D-997B-48E1D791AD67}" type="slidenum">
              <a:rPr lang="en-US" smtClean="0"/>
              <a:t>2</a:t>
            </a:fld>
            <a:endParaRPr lang="en-US"/>
          </a:p>
        </p:txBody>
      </p:sp>
    </p:spTree>
    <p:extLst>
      <p:ext uri="{BB962C8B-B14F-4D97-AF65-F5344CB8AC3E}">
        <p14:creationId xmlns:p14="http://schemas.microsoft.com/office/powerpoint/2010/main" val="31580775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Standard form is introduced on Day 2.</a:t>
            </a:r>
          </a:p>
        </p:txBody>
      </p:sp>
      <p:sp>
        <p:nvSpPr>
          <p:cNvPr id="4" name="Slide Number Placeholder 3"/>
          <p:cNvSpPr>
            <a:spLocks noGrp="1"/>
          </p:cNvSpPr>
          <p:nvPr>
            <p:ph type="sldNum" sz="quarter" idx="5"/>
          </p:nvPr>
        </p:nvSpPr>
        <p:spPr/>
        <p:txBody>
          <a:bodyPr/>
          <a:lstStyle/>
          <a:p>
            <a:fld id="{BB5E49A5-4136-284D-997B-48E1D791AD67}" type="slidenum">
              <a:rPr lang="en-US" smtClean="0"/>
              <a:t>3</a:t>
            </a:fld>
            <a:endParaRPr lang="en-US"/>
          </a:p>
        </p:txBody>
      </p:sp>
    </p:spTree>
    <p:extLst>
      <p:ext uri="{BB962C8B-B14F-4D97-AF65-F5344CB8AC3E}">
        <p14:creationId xmlns:p14="http://schemas.microsoft.com/office/powerpoint/2010/main" val="58624703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Setting the Stage:</a:t>
            </a:r>
          </a:p>
          <a:p>
            <a:pPr marL="171450" indent="-171450" algn="l">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Tap into your student’s prior learning by reading the narrative statement.</a:t>
            </a:r>
          </a:p>
          <a:p>
            <a:pPr marL="171450" indent="-171450" algn="l">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Provide a sense of direction by reading the Essential Question.</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r>
              <a:rPr lang="en-US" b="1" dirty="0"/>
              <a:t>TE correction: the TE's sample answer is copied from Lesson 4 (point-slope form, slopes of horizontal and vertical lines). It does not answer this lesson's question about graphing from an equation.</a:t>
            </a:r>
          </a:p>
        </p:txBody>
      </p:sp>
      <p:sp>
        <p:nvSpPr>
          <p:cNvPr id="4" name="Slide Number Placeholder 3"/>
          <p:cNvSpPr>
            <a:spLocks noGrp="1"/>
          </p:cNvSpPr>
          <p:nvPr>
            <p:ph type="sldNum" sz="quarter" idx="5"/>
          </p:nvPr>
        </p:nvSpPr>
        <p:spPr/>
        <p:txBody>
          <a:bodyPr/>
          <a:lstStyle/>
          <a:p>
            <a:fld id="{BB5E49A5-4136-284D-997B-48E1D791AD67}" type="slidenum">
              <a:rPr lang="en-US" smtClean="0"/>
              <a:t>4</a:t>
            </a:fld>
            <a:endParaRPr lang="en-US"/>
          </a:p>
        </p:txBody>
      </p:sp>
    </p:spTree>
    <p:extLst>
      <p:ext uri="{BB962C8B-B14F-4D97-AF65-F5344CB8AC3E}">
        <p14:creationId xmlns:p14="http://schemas.microsoft.com/office/powerpoint/2010/main" val="406172522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Total suggested pacing for Day 1 is 45 minutes.</a:t>
            </a:r>
          </a:p>
        </p:txBody>
      </p:sp>
      <p:sp>
        <p:nvSpPr>
          <p:cNvPr id="4" name="Slide Number Placeholder 3"/>
          <p:cNvSpPr>
            <a:spLocks noGrp="1"/>
          </p:cNvSpPr>
          <p:nvPr>
            <p:ph type="sldNum" sz="quarter" idx="5"/>
          </p:nvPr>
        </p:nvSpPr>
        <p:spPr/>
        <p:txBody>
          <a:bodyPr/>
          <a:lstStyle/>
          <a:p>
            <a:fld id="{BB5E49A5-4136-284D-997B-48E1D791AD67}" type="slidenum">
              <a:rPr lang="en-US" smtClean="0"/>
              <a:t>5</a:t>
            </a:fld>
            <a:endParaRPr lang="en-US"/>
          </a:p>
        </p:txBody>
      </p:sp>
    </p:spTree>
    <p:extLst>
      <p:ext uri="{BB962C8B-B14F-4D97-AF65-F5344CB8AC3E}">
        <p14:creationId xmlns:p14="http://schemas.microsoft.com/office/powerpoint/2010/main" val="338873776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Total time of 10-15 minutes allotted for the Getting Started.</a:t>
            </a:r>
          </a:p>
        </p:txBody>
      </p:sp>
      <p:sp>
        <p:nvSpPr>
          <p:cNvPr id="4" name="Slide Number Placeholder 3"/>
          <p:cNvSpPr>
            <a:spLocks noGrp="1"/>
          </p:cNvSpPr>
          <p:nvPr>
            <p:ph type="sldNum" sz="quarter" idx="5"/>
          </p:nvPr>
        </p:nvSpPr>
        <p:spPr/>
        <p:txBody>
          <a:bodyPr/>
          <a:lstStyle/>
          <a:p>
            <a:fld id="{BB5E49A5-4136-284D-997B-48E1D791AD67}" type="slidenum">
              <a:rPr lang="en-US" smtClean="0"/>
              <a:t>6</a:t>
            </a:fld>
            <a:endParaRPr lang="en-US"/>
          </a:p>
        </p:txBody>
      </p:sp>
    </p:spTree>
    <p:extLst>
      <p:ext uri="{BB962C8B-B14F-4D97-AF65-F5344CB8AC3E}">
        <p14:creationId xmlns:p14="http://schemas.microsoft.com/office/powerpoint/2010/main" val="315758708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Identify the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-intercept as a point.</a:t>
                </a:r>
              </a:p>
              <a:p>
                <a:pPr marL="0" indent="0" algn="l">
                  <a:buFont typeface="Arial" panose="020B0604020202020204" pitchFamily="34" charset="0"/>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What is the form of this equation?</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how you determined the signs of the point that lies on this line.</a:t>
                </a:r>
              </a:p>
              <a:p>
                <a:pPr marL="285750" indent="-285750" algn="l">
                  <a:buFont typeface="Arial" panose="020B0604020202020204" pitchFamily="34" charset="0"/>
                  <a:buChar char="•"/>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What are the coordinates of several points on this line?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could you work with this equation to determine its slope or any points that lie on it?</a:t>
                </a:r>
              </a:p>
              <a:p>
                <a:pPr marL="0" indent="0" algn="l">
                  <a:buFont typeface="Arial" panose="020B0604020202020204" pitchFamily="34" charset="0"/>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would you describe the structure of this equation?</a:t>
                </a:r>
              </a:p>
            </p:txBody>
          </p:sp>
        </mc:Choice>
        <mc:Fallback xmlns="">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285750" indent="-285750" algn="l">
                  <a:buFont typeface="Arial" panose="020B0604020202020204" pitchFamily="34" charset="0"/>
                  <a:buChar char="•"/>
                </a:pPr>
                <a:r>
                  <a:rPr lang="en-US" sz="1800" b="0" i="0" u="none" strike="noStrike" baseline="0" dirty="0">
                    <a:latin typeface="Lato-Regular"/>
                  </a:rPr>
                  <a:t>Why is the slope negative?</a:t>
                </a:r>
              </a:p>
              <a:p>
                <a:pPr marL="285750" indent="-285750" algn="l">
                  <a:buFont typeface="Arial" panose="020B0604020202020204" pitchFamily="34" charset="0"/>
                  <a:buChar char="•"/>
                </a:pPr>
                <a:r>
                  <a:rPr lang="en-US" sz="1800" b="0" i="0" u="none" strike="noStrike" baseline="0" dirty="0">
                    <a:latin typeface="Lato-Regular"/>
                  </a:rPr>
                  <a:t>Why might someone prefer to write the equation as </a:t>
                </a:r>
                <a:r>
                  <a:rPr lang="en-US" sz="1800" b="0" i="0" u="none" strike="noStrike" baseline="0">
                    <a:latin typeface="Cambria Math" panose="02040503050406030204" pitchFamily="18" charset="0"/>
                  </a:rPr>
                  <a:t>𝑦=14−3𝑥 </a:t>
                </a:r>
                <a:r>
                  <a:rPr lang="en-US" sz="1800" b="0" i="0" u="none" strike="noStrike" baseline="0" dirty="0">
                    <a:latin typeface="Lato-Regular"/>
                  </a:rPr>
                  <a:t>rather than </a:t>
                </a:r>
                <a:r>
                  <a:rPr lang="en-US" sz="1800" b="0" i="0" u="none" strike="noStrike" baseline="0">
                    <a:latin typeface="Cambria Math" panose="02040503050406030204" pitchFamily="18" charset="0"/>
                  </a:rPr>
                  <a:t>𝑦=3𝑥−14</a:t>
                </a:r>
                <a:r>
                  <a:rPr lang="en-US" sz="1800" b="0" i="0" u="none" strike="noStrike" baseline="0" dirty="0">
                    <a:latin typeface="Lato-Regular"/>
                  </a:rPr>
                  <a:t>?</a:t>
                </a:r>
              </a:p>
              <a:p>
                <a:pPr marL="0" indent="0" algn="l">
                  <a:buFont typeface="Arial" panose="020B0604020202020204" pitchFamily="34" charset="0"/>
                  <a:buNone/>
                </a:pPr>
                <a:endParaRPr lang="en-US" sz="1800" b="0" i="0" u="none" strike="noStrike" baseline="0" dirty="0">
                  <a:latin typeface="Lato-Regular"/>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285750" indent="-285750" algn="l">
                  <a:buFont typeface="Arial" panose="020B0604020202020204" pitchFamily="34" charset="0"/>
                  <a:buChar char="•"/>
                </a:pPr>
                <a:r>
                  <a:rPr lang="en-US" sz="1800" b="0" i="0" u="none" strike="noStrike" baseline="0" dirty="0">
                    <a:latin typeface="Lato-Regular"/>
                  </a:rPr>
                  <a:t>How did you determine the initial water level at Pool </a:t>
                </a:r>
                <a:r>
                  <a:rPr lang="en-US" sz="1800" b="0" i="1" u="none" strike="noStrike" baseline="0" dirty="0">
                    <a:latin typeface="Lato-Regular"/>
                  </a:rPr>
                  <a:t>B</a:t>
                </a:r>
                <a:r>
                  <a:rPr lang="en-US" sz="1800" b="0" i="0" u="none" strike="noStrike" baseline="0" dirty="0">
                    <a:latin typeface="Lato-Regular"/>
                  </a:rPr>
                  <a:t>?</a:t>
                </a:r>
              </a:p>
              <a:p>
                <a:pPr marL="285750" indent="-285750" algn="l">
                  <a:buFont typeface="Arial" panose="020B0604020202020204" pitchFamily="34" charset="0"/>
                  <a:buChar char="•"/>
                </a:pPr>
                <a:endParaRPr lang="en-US" sz="1800" b="0" i="0" u="none" strike="noStrike" baseline="0" dirty="0">
                  <a:latin typeface="Lato-Regular"/>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285750" indent="-285750" algn="l">
                  <a:buFont typeface="Arial" panose="020B0604020202020204" pitchFamily="34" charset="0"/>
                  <a:buChar char="•"/>
                </a:pPr>
                <a:r>
                  <a:rPr lang="en-US" sz="1200" b="0" i="0" u="none" strike="noStrike" baseline="0" dirty="0">
                    <a:latin typeface="Lato-Regular"/>
                  </a:rPr>
                  <a:t>What does the 18 in your equation represent?</a:t>
                </a:r>
              </a:p>
              <a:p>
                <a:pPr marL="285750" indent="-285750" algn="l">
                  <a:buFont typeface="Arial" panose="020B0604020202020204" pitchFamily="34" charset="0"/>
                  <a:buChar char="•"/>
                </a:pPr>
                <a:endParaRPr lang="en-US" sz="1200" b="0" i="0" u="none" strike="noStrike" baseline="0" dirty="0">
                  <a:latin typeface="Lato-Regular"/>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285750" indent="-285750" algn="l">
                  <a:buFont typeface="Arial" panose="020B0604020202020204" pitchFamily="34" charset="0"/>
                  <a:buChar char="•"/>
                </a:pPr>
                <a:r>
                  <a:rPr lang="en-US" sz="1800" b="0" i="0" u="none" strike="noStrike" baseline="0" dirty="0">
                    <a:latin typeface="Lato-Regular"/>
                  </a:rPr>
                  <a:t>What is the general equation you used to write the equations for these lines?</a:t>
                </a:r>
              </a:p>
              <a:p>
                <a:pPr marL="285750" indent="-285750" algn="l">
                  <a:buFont typeface="Arial" panose="020B0604020202020204" pitchFamily="34" charset="0"/>
                  <a:buChar char="•"/>
                </a:pPr>
                <a:endParaRPr lang="en-US" sz="1800" b="0" i="0" u="none" strike="noStrike" baseline="0" dirty="0">
                  <a:latin typeface="Lato-Regular"/>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285750" indent="-285750" algn="l">
                  <a:buFont typeface="Arial" panose="020B0604020202020204" pitchFamily="34" charset="0"/>
                  <a:buChar char="•"/>
                </a:pPr>
                <a:r>
                  <a:rPr lang="en-US" sz="1200" b="0" i="0" u="none" strike="noStrike" baseline="0" dirty="0">
                    <a:latin typeface="Lato-Regular"/>
                  </a:rPr>
                  <a:t>How did you identify the slope and y-intercept in each situation?</a:t>
                </a:r>
                <a:endParaRPr lang="en-US" dirty="0">
                  <a:latin typeface="Calibri" panose="020F0502020204030204" pitchFamily="34" charset="0"/>
                  <a:ea typeface="Calibri" panose="020F0502020204030204" pitchFamily="34" charset="0"/>
                  <a:cs typeface="Calibri" panose="020F0502020204030204" pitchFamily="34" charset="0"/>
                </a:endParaRPr>
              </a:p>
            </p:txBody>
          </p:sp>
        </mc:Fallback>
      </mc:AlternateContent>
      <p:sp>
        <p:nvSpPr>
          <p:cNvPr id="4" name="Slide Number Placeholder 3"/>
          <p:cNvSpPr>
            <a:spLocks noGrp="1"/>
          </p:cNvSpPr>
          <p:nvPr>
            <p:ph type="sldNum" sz="quarter" idx="5"/>
          </p:nvPr>
        </p:nvSpPr>
        <p:spPr/>
        <p:txBody>
          <a:bodyPr/>
          <a:lstStyle/>
          <a:p>
            <a:fld id="{BB5E49A5-4136-284D-997B-48E1D791AD67}" type="slidenum">
              <a:rPr lang="en-US" smtClean="0"/>
              <a:t>7</a:t>
            </a:fld>
            <a:endParaRPr lang="en-US"/>
          </a:p>
        </p:txBody>
      </p:sp>
    </p:spTree>
    <p:extLst>
      <p:ext uri="{BB962C8B-B14F-4D97-AF65-F5344CB8AC3E}">
        <p14:creationId xmlns:p14="http://schemas.microsoft.com/office/powerpoint/2010/main" val="361198708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200" b="1"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Getting Started Summary:</a:t>
                </a:r>
              </a:p>
              <a:p>
                <a:pPr algn="l"/>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Characteristics of linear relationships can be identified when their equations are written in different forms such slope-intercept form, point-slope form, and standard form.</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200" b="1" i="0" u="none" strike="noStrike" dirty="0">
                    <a:solidFill>
                      <a:srgbClr val="000000"/>
                    </a:solidFill>
                    <a:effectLst/>
                    <a:latin typeface="Calibri" panose="020F0502020204030204" pitchFamily="34" charset="0"/>
                  </a:rPr>
                  <a:t>Getting Started Summary:</a:t>
                </a:r>
              </a:p>
              <a:p>
                <a:pPr algn="l"/>
                <a:r>
                  <a:rPr lang="en-US" sz="1800" b="0" i="0" u="none" strike="noStrike" baseline="0" dirty="0">
                    <a:latin typeface="Lato-Regular"/>
                  </a:rPr>
                  <a:t>Real-world situations modeling linear relationships can be expressed as an equation written in slope-intercept form, </a:t>
                </a:r>
                <a:r>
                  <a:rPr lang="en-US" sz="1800" b="0" i="0" u="none" strike="noStrike" baseline="0">
                    <a:latin typeface="Cambria Math" panose="02040503050406030204" pitchFamily="18" charset="0"/>
                  </a:rPr>
                  <a:t>𝑦=𝑚𝑥+𝑏</a:t>
                </a:r>
                <a:r>
                  <a:rPr lang="en-US" sz="1800" b="0" i="0" u="none" strike="noStrike" baseline="0" dirty="0">
                    <a:latin typeface="Lato-Regular"/>
                  </a:rPr>
                  <a:t>, where </a:t>
                </a:r>
                <a:r>
                  <a:rPr lang="en-US" sz="1800" b="0" i="1" u="none" strike="noStrike" baseline="0" dirty="0">
                    <a:latin typeface="Lato-Regular"/>
                  </a:rPr>
                  <a:t>m</a:t>
                </a:r>
                <a:r>
                  <a:rPr lang="en-US" sz="1800" b="0" i="0" u="none" strike="noStrike" baseline="0" dirty="0">
                    <a:latin typeface="Lato-Regular"/>
                  </a:rPr>
                  <a:t> is the slope and </a:t>
                </a:r>
                <a:r>
                  <a:rPr lang="en-US" sz="1800" b="0" i="1" u="none" strike="noStrike" baseline="0" dirty="0">
                    <a:latin typeface="Lato-Regular"/>
                  </a:rPr>
                  <a:t>b</a:t>
                </a:r>
                <a:r>
                  <a:rPr lang="en-US" sz="1800" b="0" i="0" u="none" strike="noStrike" baseline="0" dirty="0">
                    <a:latin typeface="Lato-Regular"/>
                  </a:rPr>
                  <a:t> is the </a:t>
                </a:r>
                <a:r>
                  <a:rPr lang="en-US" sz="1800" b="0" i="1" u="none" strike="noStrike" baseline="0" dirty="0">
                    <a:latin typeface="Lato-Regular"/>
                  </a:rPr>
                  <a:t>y</a:t>
                </a:r>
                <a:r>
                  <a:rPr lang="en-US" sz="1800" b="0" i="0" u="none" strike="noStrike" baseline="0" dirty="0">
                    <a:latin typeface="Lato-Regular"/>
                  </a:rPr>
                  <a:t>-intercept.</a:t>
                </a:r>
                <a:endParaRPr lang="en-US" dirty="0"/>
              </a:p>
            </p:txBody>
          </p:sp>
        </mc:Fallback>
      </mc:AlternateContent>
      <p:sp>
        <p:nvSpPr>
          <p:cNvPr id="4" name="Slide Number Placeholder 3"/>
          <p:cNvSpPr>
            <a:spLocks noGrp="1"/>
          </p:cNvSpPr>
          <p:nvPr>
            <p:ph type="sldNum" sz="quarter" idx="5"/>
          </p:nvPr>
        </p:nvSpPr>
        <p:spPr/>
        <p:txBody>
          <a:bodyPr/>
          <a:lstStyle/>
          <a:p>
            <a:fld id="{BB5E49A5-4136-284D-997B-48E1D791AD67}" type="slidenum">
              <a:rPr lang="en-US" smtClean="0"/>
              <a:t>8</a:t>
            </a:fld>
            <a:endParaRPr lang="en-US"/>
          </a:p>
        </p:txBody>
      </p:sp>
    </p:spTree>
    <p:extLst>
      <p:ext uri="{BB962C8B-B14F-4D97-AF65-F5344CB8AC3E}">
        <p14:creationId xmlns:p14="http://schemas.microsoft.com/office/powerpoint/2010/main" val="135810661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FE756F-5BCD-5F0E-50DE-F455BAB709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5505E5-9555-3EE7-F6B5-4EA6CF48C7F7}"/>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6ABDD3FB-24FD-C56A-5580-E2643958EAC5}"/>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200" b="1"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Note: </a:t>
            </a:r>
            <a:r>
              <a:rPr lang="en-US" sz="120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This slide is blank for optional use with displaying work.</a:t>
            </a:r>
            <a:endParaRPr lang="en-US"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endParaRPr lang="en-US" dirty="0"/>
          </a:p>
        </p:txBody>
      </p:sp>
      <p:sp>
        <p:nvSpPr>
          <p:cNvPr id="4" name="Slide Number Placeholder 3">
            <a:extLst>
              <a:ext uri="{FF2B5EF4-FFF2-40B4-BE49-F238E27FC236}">
                <a16:creationId xmlns:a16="http://schemas.microsoft.com/office/drawing/2014/main" id="{E6625B32-F81E-4B83-0030-801E342A4341}"/>
              </a:ext>
            </a:extLst>
          </p:cNvPr>
          <p:cNvSpPr>
            <a:spLocks noGrp="1"/>
          </p:cNvSpPr>
          <p:nvPr>
            <p:ph type="sldNum" sz="quarter" idx="5"/>
          </p:nvPr>
        </p:nvSpPr>
        <p:spPr/>
        <p:txBody>
          <a:bodyPr/>
          <a:lstStyle/>
          <a:p>
            <a:fld id="{BB5E49A5-4136-284D-997B-48E1D791AD67}" type="slidenum">
              <a:rPr lang="en-US" smtClean="0"/>
              <a:t>9</a:t>
            </a:fld>
            <a:endParaRPr lang="en-US"/>
          </a:p>
        </p:txBody>
      </p:sp>
    </p:spTree>
    <p:extLst>
      <p:ext uri="{BB962C8B-B14F-4D97-AF65-F5344CB8AC3E}">
        <p14:creationId xmlns:p14="http://schemas.microsoft.com/office/powerpoint/2010/main" val="232599124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Total time of 25-30 minutes allotted for Activity 5.1.</a:t>
            </a:r>
          </a:p>
        </p:txBody>
      </p:sp>
      <p:sp>
        <p:nvSpPr>
          <p:cNvPr id="4" name="Slide Number Placeholder 3"/>
          <p:cNvSpPr>
            <a:spLocks noGrp="1"/>
          </p:cNvSpPr>
          <p:nvPr>
            <p:ph type="sldNum" sz="quarter" idx="5"/>
          </p:nvPr>
        </p:nvSpPr>
        <p:spPr/>
        <p:txBody>
          <a:bodyPr/>
          <a:lstStyle/>
          <a:p>
            <a:fld id="{BB5E49A5-4136-284D-997B-48E1D791AD67}" type="slidenum">
              <a:rPr lang="en-US" smtClean="0"/>
              <a:t>10</a:t>
            </a:fld>
            <a:endParaRPr lang="en-US"/>
          </a:p>
        </p:txBody>
      </p:sp>
    </p:spTree>
    <p:extLst>
      <p:ext uri="{BB962C8B-B14F-4D97-AF65-F5344CB8AC3E}">
        <p14:creationId xmlns:p14="http://schemas.microsoft.com/office/powerpoint/2010/main" val="16146531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BA7867-FA48-9991-46CF-8B0D665CA6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25BB26A-A014-329F-216C-2479C4690BE0}"/>
              </a:ext>
            </a:extLst>
          </p:cNvPr>
          <p:cNvSpPr>
            <a:spLocks noGrp="1" noRot="1" noChangeAspect="1"/>
          </p:cNvSpPr>
          <p:nvPr>
            <p:ph type="sldImg"/>
          </p:nvPr>
        </p:nvSpPr>
        <p:spPr>
          <a:xfrm>
            <a:off x="382588" y="685800"/>
            <a:ext cx="6092825" cy="3429000"/>
          </a:xfrm>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F430FE16-AC29-A2F7-FDB1-48FCDC9015C2}"/>
                  </a:ext>
                </a:extLst>
              </p:cNvPr>
              <p:cNvSpPr>
                <a:spLocks noGrp="1"/>
              </p:cNvSpPr>
              <p:nvPr>
                <p:ph type="body" idx="1"/>
              </p:nvPr>
            </p:nvSpPr>
            <p:spPr/>
            <p:txBody>
              <a:bodyPr/>
              <a:lstStyle/>
              <a:p>
                <a:pPr marL="0" indent="0" algn="l">
                  <a:buFont typeface="Arial" panose="020B0604020202020204" pitchFamily="34" charset="0"/>
                  <a:buNone/>
                </a:pP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 name="Notes Placeholder 2">
                <a:extLst>
                  <a:ext uri="{FF2B5EF4-FFF2-40B4-BE49-F238E27FC236}">
                    <a16:creationId xmlns:a16="http://schemas.microsoft.com/office/drawing/2014/main" id="{F430FE16-AC29-A2F7-FDB1-48FCDC9015C2}"/>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285750" indent="-285750" algn="l">
                  <a:buFont typeface="Arial" panose="020B0604020202020204" pitchFamily="34" charset="0"/>
                  <a:buChar char="•"/>
                </a:pPr>
                <a:r>
                  <a:rPr lang="en-US" sz="1800" b="0" i="0" u="none" strike="noStrike" baseline="0" dirty="0">
                    <a:latin typeface="Lato-Regular"/>
                  </a:rPr>
                  <a:t>What information was substituted into the slope formula?</a:t>
                </a: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800" b="0" i="0" u="none" strike="noStrike" baseline="0" dirty="0">
                    <a:latin typeface="Lato-Regular"/>
                  </a:rPr>
                  <a:t>Why do you think it is more efficient to substitute (x, y) for </a:t>
                </a:r>
                <a:r>
                  <a:rPr lang="en-US" sz="1800" b="0" i="0" u="none" strike="noStrike" baseline="0">
                    <a:latin typeface="Cambria Math" panose="02040503050406030204" pitchFamily="18" charset="0"/>
                  </a:rPr>
                  <a:t>(𝑥_2,</a:t>
                </a:r>
                <a:r>
                  <a:rPr lang="en-US" sz="1800" b="0" i="0" u="none" strike="noStrike" baseline="0" dirty="0">
                    <a:latin typeface="Lato-Regular"/>
                  </a:rPr>
                  <a:t> </a:t>
                </a:r>
                <a:r>
                  <a:rPr lang="en-US" sz="1800" b="0" i="0" u="none" strike="noStrike" baseline="0">
                    <a:latin typeface="Cambria Math" panose="02040503050406030204" pitchFamily="18" charset="0"/>
                  </a:rPr>
                  <a:t>𝑦_2)?</a:t>
                </a:r>
                <a:endParaRPr lang="en-US" sz="1800" b="0" i="0" u="none" strike="noStrike" baseline="0" dirty="0">
                  <a:latin typeface="Lato-Regular"/>
                </a:endParaRP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800" b="0" i="0" u="none" strike="noStrike" baseline="0" dirty="0">
                    <a:latin typeface="Lato-Regular"/>
                  </a:rPr>
                  <a:t>What algebra steps were used to rewrite </a:t>
                </a:r>
                <a:r>
                  <a:rPr lang="en-US" sz="1800" b="0" i="0" u="none" strike="noStrike" baseline="0">
                    <a:latin typeface="Cambria Math" panose="02040503050406030204" pitchFamily="18" charset="0"/>
                    <a:ea typeface="Cambria Math" panose="02040503050406030204" pitchFamily="18" charset="0"/>
                  </a:rPr>
                  <a:t>−1/2 (𝑥−2)=𝑦−6</a:t>
                </a:r>
                <a:r>
                  <a:rPr lang="en-US" sz="1800" b="0" i="0" u="none" strike="noStrike" baseline="0" dirty="0">
                    <a:latin typeface="Lato-Regular"/>
                  </a:rPr>
                  <a:t>?</a:t>
                </a:r>
              </a:p>
              <a:p>
                <a:pPr marL="285750" indent="-285750" algn="l">
                  <a:buFont typeface="Arial" panose="020B0604020202020204" pitchFamily="34" charset="0"/>
                  <a:buChar char="•"/>
                </a:pPr>
                <a:endParaRPr lang="en-US" sz="1800" b="0" i="0" u="none" strike="noStrike" baseline="0" dirty="0">
                  <a:latin typeface="Lato-Regular"/>
                </a:endParaRPr>
              </a:p>
              <a:p>
                <a:pPr marL="285750" indent="-285750" algn="l">
                  <a:buFont typeface="Arial" panose="020B0604020202020204" pitchFamily="34" charset="0"/>
                  <a:buChar char="•"/>
                </a:pPr>
                <a:endParaRPr lang="en-US" sz="1800" b="0" i="0" u="none" strike="noStrike" baseline="0" dirty="0">
                  <a:latin typeface="Lato-Regular"/>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285750" indent="-285750" algn="l">
                  <a:buFont typeface="Arial" panose="020B0604020202020204" pitchFamily="34" charset="0"/>
                  <a:buChar char="•"/>
                </a:pPr>
                <a:r>
                  <a:rPr lang="en-US" sz="1200" b="0" i="0" u="none" strike="noStrike" baseline="0" dirty="0">
                    <a:latin typeface="Lato-Regular"/>
                  </a:rPr>
                  <a:t>Why do you think this form is the point-slope form?</a:t>
                </a:r>
              </a:p>
              <a:p>
                <a:pPr marL="285750" indent="-285750" algn="l">
                  <a:buFont typeface="Arial" panose="020B0604020202020204" pitchFamily="34" charset="0"/>
                  <a:buChar char="•"/>
                </a:pPr>
                <a:endParaRPr lang="en-US" sz="1200" b="0" i="0" u="none" strike="noStrike" baseline="0" dirty="0">
                  <a:latin typeface="Lato-Regular"/>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285750" indent="-285750" algn="l">
                  <a:buFont typeface="Arial" panose="020B0604020202020204" pitchFamily="34" charset="0"/>
                  <a:buChar char="•"/>
                </a:pPr>
                <a:r>
                  <a:rPr lang="en-US" sz="1200" b="0" i="0" u="none" strike="noStrike" baseline="0" dirty="0">
                    <a:latin typeface="Lato-Regular"/>
                  </a:rPr>
                  <a:t>If the equation was </a:t>
                </a:r>
                <a:r>
                  <a:rPr lang="en-US" sz="1200" b="0" i="0" u="none" strike="noStrike" baseline="0">
                    <a:latin typeface="Cambria Math" panose="02040503050406030204" pitchFamily="18" charset="0"/>
                  </a:rPr>
                  <a:t>𝑦+6=</a:t>
                </a:r>
                <a:r>
                  <a:rPr lang="en-US" sz="1200" b="0" i="0" u="none" strike="noStrike" baseline="0">
                    <a:latin typeface="Cambria Math" panose="02040503050406030204" pitchFamily="18" charset="0"/>
                    <a:ea typeface="Cambria Math" panose="02040503050406030204" pitchFamily="18" charset="0"/>
                  </a:rPr>
                  <a:t>−1/2(𝑥+2)</a:t>
                </a:r>
                <a:r>
                  <a:rPr lang="en-US" sz="1200" b="0" i="0" u="none" strike="noStrike" baseline="0" dirty="0">
                    <a:latin typeface="Lato-Regular"/>
                  </a:rPr>
                  <a:t>, what is the slope? The point? How can you tell?</a:t>
                </a:r>
              </a:p>
              <a:p>
                <a:pPr marL="0" indent="0" algn="l">
                  <a:buFont typeface="Arial" panose="020B0604020202020204" pitchFamily="34" charset="0"/>
                  <a:buNone/>
                </a:pPr>
                <a:endParaRPr lang="en-US" sz="1200" b="0" i="0" u="none" strike="noStrike" baseline="0" dirty="0">
                  <a:latin typeface="Lato-Regular"/>
                </a:endParaRPr>
              </a:p>
              <a:p>
                <a:pPr marL="0" indent="0" algn="l">
                  <a:buFont typeface="Arial" panose="020B0604020202020204" pitchFamily="34" charset="0"/>
                  <a:buNone/>
                </a:pPr>
                <a:endParaRPr lang="en-US" sz="1200" dirty="0">
                  <a:latin typeface="Calibri" panose="020F0502020204030204" pitchFamily="34" charset="0"/>
                  <a:ea typeface="Calibri" panose="020F0502020204030204" pitchFamily="34" charset="0"/>
                  <a:cs typeface="Calibri" panose="020F0502020204030204" pitchFamily="34" charset="0"/>
                </a:endParaRPr>
              </a:p>
            </p:txBody>
          </p:sp>
        </mc:Fallback>
      </mc:AlternateContent>
      <p:sp>
        <p:nvSpPr>
          <p:cNvPr id="4" name="Slide Number Placeholder 3">
            <a:extLst>
              <a:ext uri="{FF2B5EF4-FFF2-40B4-BE49-F238E27FC236}">
                <a16:creationId xmlns:a16="http://schemas.microsoft.com/office/drawing/2014/main" id="{10802114-82B5-4F69-78C2-B45053E6AC87}"/>
              </a:ext>
            </a:extLst>
          </p:cNvPr>
          <p:cNvSpPr>
            <a:spLocks noGrp="1"/>
          </p:cNvSpPr>
          <p:nvPr>
            <p:ph type="sldNum" sz="quarter" idx="5"/>
          </p:nvPr>
        </p:nvSpPr>
        <p:spPr/>
        <p:txBody>
          <a:bodyPr/>
          <a:lstStyle/>
          <a:p>
            <a:fld id="{BB5E49A5-4136-284D-997B-48E1D791AD67}" type="slidenum">
              <a:rPr lang="en-US" smtClean="0"/>
              <a:t>11</a:t>
            </a:fld>
            <a:endParaRPr lang="en-US"/>
          </a:p>
        </p:txBody>
      </p:sp>
    </p:spTree>
    <p:extLst>
      <p:ext uri="{BB962C8B-B14F-4D97-AF65-F5344CB8AC3E}">
        <p14:creationId xmlns:p14="http://schemas.microsoft.com/office/powerpoint/2010/main" val="74428428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A4DAA7-C37F-CD1C-F9E7-B541BED4C7F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5D0345-B50C-C2E4-EB95-62C9CB487F40}"/>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89D46DAB-29D8-46CE-B552-3A98ED7FA7F1}"/>
              </a:ext>
            </a:extLst>
          </p:cNvPr>
          <p:cNvSpPr>
            <a:spLocks noGrp="1"/>
          </p:cNvSpPr>
          <p:nvPr>
            <p:ph type="body" idx="1"/>
          </p:nvPr>
        </p:nvSpPr>
        <p:spPr/>
        <p:txBody>
          <a:bodyPr/>
          <a:lstStyle/>
          <a:p>
            <a:pPr marL="0" indent="0" algn="l">
              <a:buFont typeface="Arial" panose="020B0604020202020204" pitchFamily="34" charset="0"/>
              <a:buNone/>
            </a:pP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5426DAAE-831A-E9CD-011C-99EB2DA6261C}"/>
              </a:ext>
            </a:extLst>
          </p:cNvPr>
          <p:cNvSpPr>
            <a:spLocks noGrp="1"/>
          </p:cNvSpPr>
          <p:nvPr>
            <p:ph type="sldNum" sz="quarter" idx="5"/>
          </p:nvPr>
        </p:nvSpPr>
        <p:spPr/>
        <p:txBody>
          <a:bodyPr/>
          <a:lstStyle/>
          <a:p>
            <a:fld id="{BB5E49A5-4136-284D-997B-48E1D791AD67}" type="slidenum">
              <a:rPr lang="en-US" smtClean="0"/>
              <a:t>12</a:t>
            </a:fld>
            <a:endParaRPr lang="en-US"/>
          </a:p>
        </p:txBody>
      </p:sp>
    </p:spTree>
    <p:extLst>
      <p:ext uri="{BB962C8B-B14F-4D97-AF65-F5344CB8AC3E}">
        <p14:creationId xmlns:p14="http://schemas.microsoft.com/office/powerpoint/2010/main" val="343844514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90A17A-4CFB-41DA-C2F3-779A708A7CC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D2D87A-F02C-0D57-FE3D-31D23EEA75DA}"/>
              </a:ext>
            </a:extLst>
          </p:cNvPr>
          <p:cNvSpPr>
            <a:spLocks noGrp="1" noRot="1" noChangeAspect="1"/>
          </p:cNvSpPr>
          <p:nvPr>
            <p:ph type="sldImg"/>
          </p:nvPr>
        </p:nvSpPr>
        <p:spPr>
          <a:xfrm>
            <a:off x="382588" y="685800"/>
            <a:ext cx="6092825" cy="3429000"/>
          </a:xfrm>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E2D2337A-2571-707B-5327-9474AC3CEDDB}"/>
                  </a:ext>
                </a:extLst>
              </p:cNvPr>
              <p:cNvSpPr>
                <a:spLocks noGrp="1"/>
              </p:cNvSpPr>
              <p:nvPr>
                <p:ph type="body" idx="1"/>
              </p:nvPr>
            </p:nvSpPr>
            <p:spPr/>
            <p:txBody>
              <a:bodyPr/>
              <a:lstStyle/>
              <a:p>
                <a:pPr marL="0" indent="0" algn="l">
                  <a:buFont typeface="Arial" panose="020B0604020202020204" pitchFamily="34" charset="0"/>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 name="Notes Placeholder 2">
                <a:extLst>
                  <a:ext uri="{FF2B5EF4-FFF2-40B4-BE49-F238E27FC236}">
                    <a16:creationId xmlns:a16="http://schemas.microsoft.com/office/drawing/2014/main" id="{E2D2337A-2571-707B-5327-9474AC3CEDDB}"/>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285750" indent="-285750" algn="l">
                  <a:buFont typeface="Arial" panose="020B0604020202020204" pitchFamily="34" charset="0"/>
                  <a:buChar char="•"/>
                </a:pPr>
                <a:r>
                  <a:rPr lang="en-US" sz="1800" b="0" i="0" u="none" strike="noStrike" baseline="0" dirty="0">
                    <a:latin typeface="Lato-Regular"/>
                  </a:rPr>
                  <a:t>What information was substituted into the slope formula?</a:t>
                </a: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800" b="0" i="0" u="none" strike="noStrike" baseline="0" dirty="0">
                    <a:latin typeface="Lato-Regular"/>
                  </a:rPr>
                  <a:t>Why do you think it is more efficient to substitute (x, y) for </a:t>
                </a:r>
                <a:r>
                  <a:rPr lang="en-US" sz="1800" b="0" i="0" u="none" strike="noStrike" baseline="0">
                    <a:latin typeface="Cambria Math" panose="02040503050406030204" pitchFamily="18" charset="0"/>
                  </a:rPr>
                  <a:t>(𝑥_2,</a:t>
                </a:r>
                <a:r>
                  <a:rPr lang="en-US" sz="1800" b="0" i="0" u="none" strike="noStrike" baseline="0" dirty="0">
                    <a:latin typeface="Lato-Regular"/>
                  </a:rPr>
                  <a:t> </a:t>
                </a:r>
                <a:r>
                  <a:rPr lang="en-US" sz="1800" b="0" i="0" u="none" strike="noStrike" baseline="0">
                    <a:latin typeface="Cambria Math" panose="02040503050406030204" pitchFamily="18" charset="0"/>
                  </a:rPr>
                  <a:t>𝑦_2)?</a:t>
                </a:r>
                <a:endParaRPr lang="en-US" sz="1800" b="0" i="0" u="none" strike="noStrike" baseline="0" dirty="0">
                  <a:latin typeface="Lato-Regular"/>
                </a:endParaRP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800" b="0" i="0" u="none" strike="noStrike" baseline="0" dirty="0">
                    <a:latin typeface="Lato-Regular"/>
                  </a:rPr>
                  <a:t>What algebra steps were used to rewrite </a:t>
                </a:r>
                <a:r>
                  <a:rPr lang="en-US" sz="1800" b="0" i="0" u="none" strike="noStrike" baseline="0">
                    <a:latin typeface="Cambria Math" panose="02040503050406030204" pitchFamily="18" charset="0"/>
                    <a:ea typeface="Cambria Math" panose="02040503050406030204" pitchFamily="18" charset="0"/>
                  </a:rPr>
                  <a:t>−1/2=(𝑦−6)/(𝑥−2)</a:t>
                </a:r>
                <a:r>
                  <a:rPr lang="en-US" sz="1800" b="0" i="0" u="none" strike="noStrike" baseline="0" dirty="0">
                    <a:latin typeface="Lato-Regular"/>
                  </a:rPr>
                  <a:t> as </a:t>
                </a:r>
                <a:r>
                  <a:rPr lang="en-US" sz="1800" b="0" i="0" u="none" strike="noStrike" baseline="0">
                    <a:latin typeface="Cambria Math" panose="02040503050406030204" pitchFamily="18" charset="0"/>
                    <a:ea typeface="Cambria Math" panose="02040503050406030204" pitchFamily="18" charset="0"/>
                  </a:rPr>
                  <a:t>−1/2 (𝑥−2)=𝑦−6</a:t>
                </a:r>
                <a:r>
                  <a:rPr lang="en-US" sz="1800" b="0" i="0" u="none" strike="noStrike" baseline="0" dirty="0">
                    <a:latin typeface="Lato-Regular"/>
                  </a:rPr>
                  <a:t>?</a:t>
                </a:r>
              </a:p>
              <a:p>
                <a:pPr marL="285750" indent="-285750" algn="l">
                  <a:buFont typeface="Arial" panose="020B0604020202020204" pitchFamily="34" charset="0"/>
                  <a:buChar char="•"/>
                </a:pPr>
                <a:endParaRPr lang="en-US" sz="1800" b="0" i="0" u="none" strike="noStrike" baseline="0" dirty="0">
                  <a:latin typeface="Lato-Regular"/>
                </a:endParaRPr>
              </a:p>
              <a:p>
                <a:pPr marL="285750" indent="-285750" algn="l">
                  <a:buFont typeface="Arial" panose="020B0604020202020204" pitchFamily="34" charset="0"/>
                  <a:buChar char="•"/>
                </a:pPr>
                <a:endParaRPr lang="en-US" sz="1800" b="0" i="0" u="none" strike="noStrike" baseline="0" dirty="0">
                  <a:latin typeface="Lato-Regular"/>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285750" indent="-285750" algn="l">
                  <a:buFont typeface="Arial" panose="020B0604020202020204" pitchFamily="34" charset="0"/>
                  <a:buChar char="•"/>
                </a:pPr>
                <a:r>
                  <a:rPr lang="en-US" sz="1200" b="0" i="0" u="none" strike="noStrike" baseline="0" dirty="0">
                    <a:latin typeface="Lato-Regular"/>
                  </a:rPr>
                  <a:t>Why do you think this form is the point-slope form?</a:t>
                </a:r>
              </a:p>
              <a:p>
                <a:pPr marL="285750" indent="-285750" algn="l">
                  <a:buFont typeface="Arial" panose="020B0604020202020204" pitchFamily="34" charset="0"/>
                  <a:buChar char="•"/>
                </a:pPr>
                <a:endParaRPr lang="en-US" sz="1200" b="0" i="0" u="none" strike="noStrike" baseline="0" dirty="0">
                  <a:latin typeface="Lato-Regular"/>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285750" indent="-285750" algn="l">
                  <a:buFont typeface="Arial" panose="020B0604020202020204" pitchFamily="34" charset="0"/>
                  <a:buChar char="•"/>
                </a:pPr>
                <a:r>
                  <a:rPr lang="en-US" sz="1200" b="0" i="0" u="none" strike="noStrike" baseline="0" dirty="0">
                    <a:latin typeface="Lato-Regular"/>
                  </a:rPr>
                  <a:t>If the equation was </a:t>
                </a:r>
                <a:r>
                  <a:rPr lang="en-US" sz="1200" b="0" i="0" u="none" strike="noStrike" baseline="0">
                    <a:latin typeface="Cambria Math" panose="02040503050406030204" pitchFamily="18" charset="0"/>
                  </a:rPr>
                  <a:t>𝑦+6=−</a:t>
                </a:r>
                <a:r>
                  <a:rPr lang="en-US" sz="1200" b="0" i="0" u="none" strike="noStrike" baseline="0">
                    <a:latin typeface="Cambria Math" panose="02040503050406030204" pitchFamily="18" charset="0"/>
                    <a:ea typeface="Cambria Math" panose="02040503050406030204" pitchFamily="18" charset="0"/>
                  </a:rPr>
                  <a:t>1/2(𝑥+2)</a:t>
                </a:r>
                <a:r>
                  <a:rPr lang="en-US" sz="1200" b="0" i="0" u="none" strike="noStrike" baseline="0" dirty="0">
                    <a:latin typeface="Lato-Regular"/>
                  </a:rPr>
                  <a:t>, what is the slope? The point? How can you tell?</a:t>
                </a:r>
              </a:p>
              <a:p>
                <a:pPr marL="0" indent="0" algn="l">
                  <a:buFont typeface="Arial" panose="020B0604020202020204" pitchFamily="34" charset="0"/>
                  <a:buNone/>
                </a:pPr>
                <a:endParaRPr lang="en-US" sz="1200" b="0" i="0" u="none" strike="noStrike" baseline="0" dirty="0">
                  <a:latin typeface="Lato-Regular"/>
                </a:endParaRPr>
              </a:p>
              <a:p>
                <a:pPr marL="0" indent="0" algn="l">
                  <a:buFont typeface="Arial" panose="020B0604020202020204" pitchFamily="34" charset="0"/>
                  <a:buNone/>
                </a:pPr>
                <a:endParaRPr lang="en-US" sz="1200" dirty="0">
                  <a:latin typeface="Calibri" panose="020F0502020204030204" pitchFamily="34" charset="0"/>
                  <a:ea typeface="Calibri" panose="020F0502020204030204" pitchFamily="34" charset="0"/>
                  <a:cs typeface="Calibri" panose="020F0502020204030204" pitchFamily="34" charset="0"/>
                </a:endParaRPr>
              </a:p>
            </p:txBody>
          </p:sp>
        </mc:Fallback>
      </mc:AlternateContent>
      <p:sp>
        <p:nvSpPr>
          <p:cNvPr id="4" name="Slide Number Placeholder 3">
            <a:extLst>
              <a:ext uri="{FF2B5EF4-FFF2-40B4-BE49-F238E27FC236}">
                <a16:creationId xmlns:a16="http://schemas.microsoft.com/office/drawing/2014/main" id="{FE056786-BBDB-7D6A-1EAC-468CA52F4437}"/>
              </a:ext>
            </a:extLst>
          </p:cNvPr>
          <p:cNvSpPr>
            <a:spLocks noGrp="1"/>
          </p:cNvSpPr>
          <p:nvPr>
            <p:ph type="sldNum" sz="quarter" idx="5"/>
          </p:nvPr>
        </p:nvSpPr>
        <p:spPr/>
        <p:txBody>
          <a:bodyPr/>
          <a:lstStyle/>
          <a:p>
            <a:fld id="{BB5E49A5-4136-284D-997B-48E1D791AD67}" type="slidenum">
              <a:rPr lang="en-US" smtClean="0"/>
              <a:t>13</a:t>
            </a:fld>
            <a:endParaRPr lang="en-US"/>
          </a:p>
        </p:txBody>
      </p:sp>
    </p:spTree>
    <p:extLst>
      <p:ext uri="{BB962C8B-B14F-4D97-AF65-F5344CB8AC3E}">
        <p14:creationId xmlns:p14="http://schemas.microsoft.com/office/powerpoint/2010/main" val="93311627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CF70B4-C15E-964E-F45D-26ED0BC3EDD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4011145-C4E8-7B67-FEBA-24801C072C34}"/>
              </a:ext>
            </a:extLst>
          </p:cNvPr>
          <p:cNvSpPr>
            <a:spLocks noGrp="1" noRot="1" noChangeAspect="1"/>
          </p:cNvSpPr>
          <p:nvPr>
            <p:ph type="sldImg"/>
          </p:nvPr>
        </p:nvSpPr>
        <p:spPr>
          <a:xfrm>
            <a:off x="382588" y="685800"/>
            <a:ext cx="6092825" cy="3429000"/>
          </a:xfrm>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E8059458-1D30-29FD-FF6A-FA20107BF5F7}"/>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endPar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Which point did you plot first? Where did you locate it?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apply the slope </a:t>
                </a:r>
                <a14:m>
                  <m:oMath xmlns:m="http://schemas.openxmlformats.org/officeDocument/2006/math">
                    <m:f>
                      <m:fPr>
                        <m:ctrlPr>
                          <a:rPr lang="en-US" sz="1200" b="0" i="1" u="none" strike="noStrike" baseline="0" smtClean="0">
                            <a:solidFill>
                              <a:srgbClr val="000000"/>
                            </a:solidFill>
                            <a:latin typeface="Cambria Math" panose="02040503050406030204" pitchFamily="18" charset="0"/>
                          </a:rPr>
                        </m:ctrlPr>
                      </m:fPr>
                      <m:num>
                        <m:r>
                          <a:rPr lang="en-US" sz="1200" b="0" i="1" u="none" strike="noStrike" baseline="0" smtClean="0">
                            <a:solidFill>
                              <a:srgbClr val="000000"/>
                            </a:solidFill>
                            <a:latin typeface="Cambria Math" panose="02040503050406030204" pitchFamily="18" charset="0"/>
                          </a:rPr>
                          <m:t>2</m:t>
                        </m:r>
                      </m:num>
                      <m:den>
                        <m:r>
                          <a:rPr lang="en-US" sz="1200" b="0" i="1" u="none" strike="noStrike" baseline="0" smtClean="0">
                            <a:solidFill>
                              <a:srgbClr val="000000"/>
                            </a:solidFill>
                            <a:latin typeface="Cambria Math" panose="02040503050406030204" pitchFamily="18" charset="0"/>
                          </a:rPr>
                          <m:t>3</m:t>
                        </m:r>
                      </m:den>
                    </m:f>
                  </m:oMath>
                </a14:m>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to plot an additional point?</a:t>
                </a:r>
              </a:p>
              <a:p>
                <a:pPr marL="285750" indent="-285750" algn="l">
                  <a:buFont typeface="Arial" panose="020B0604020202020204" pitchFamily="34" charset="0"/>
                  <a:buChar char="•"/>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is graphing using the slope related to slope triangles?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In which direction do you move with a positive numerator? A negative numerator? A positive denominator? A negative denominator?</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know the direction of the line is correct?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Why does it help to write the number 10 as a fraction?</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Why is this graph increasing?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Use the graph to show how the total savings increases by 15 for every one lawn mowed.</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Why is this graph decreasing?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Use the graph to show how the amount owed decreased by 10 for every one week.</a:t>
                </a:r>
              </a:p>
            </p:txBody>
          </p:sp>
        </mc:Choice>
        <mc:Fallback xmlns="">
          <p:sp>
            <p:nvSpPr>
              <p:cNvPr id="3" name="Notes Placeholder 2">
                <a:extLst>
                  <a:ext uri="{FF2B5EF4-FFF2-40B4-BE49-F238E27FC236}">
                    <a16:creationId xmlns:a16="http://schemas.microsoft.com/office/drawing/2014/main" id="{E8059458-1D30-29FD-FF6A-FA20107BF5F7}"/>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285750" indent="-285750" algn="l">
                  <a:buFont typeface="Arial" panose="020B0604020202020204" pitchFamily="34" charset="0"/>
                  <a:buChar char="•"/>
                </a:pPr>
                <a:r>
                  <a:rPr lang="en-US" sz="1800" b="0" i="0" u="none" strike="noStrike" baseline="0" dirty="0">
                    <a:latin typeface="Lato-Regular"/>
                  </a:rPr>
                  <a:t>What information was substituted into the slope formula?</a:t>
                </a: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800" b="0" i="0" u="none" strike="noStrike" baseline="0" dirty="0">
                    <a:latin typeface="Lato-Regular"/>
                  </a:rPr>
                  <a:t>Why do you think it is more efficient to substitute (x, y) for </a:t>
                </a:r>
                <a:r>
                  <a:rPr lang="en-US" sz="1800" b="0" i="0" u="none" strike="noStrike" baseline="0">
                    <a:latin typeface="Cambria Math" panose="02040503050406030204" pitchFamily="18" charset="0"/>
                  </a:rPr>
                  <a:t>(𝑥_2,</a:t>
                </a:r>
                <a:r>
                  <a:rPr lang="en-US" sz="1800" b="0" i="0" u="none" strike="noStrike" baseline="0" dirty="0">
                    <a:latin typeface="Lato-Regular"/>
                  </a:rPr>
                  <a:t> </a:t>
                </a:r>
                <a:r>
                  <a:rPr lang="en-US" sz="1800" b="0" i="0" u="none" strike="noStrike" baseline="0">
                    <a:latin typeface="Cambria Math" panose="02040503050406030204" pitchFamily="18" charset="0"/>
                  </a:rPr>
                  <a:t>𝑦_2)?</a:t>
                </a:r>
                <a:endParaRPr lang="en-US" sz="1800" b="0" i="0" u="none" strike="noStrike" baseline="0" dirty="0">
                  <a:latin typeface="Lato-Regular"/>
                </a:endParaRP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800" b="0" i="0" u="none" strike="noStrike" baseline="0" dirty="0">
                    <a:latin typeface="Lato-Regular"/>
                  </a:rPr>
                  <a:t>What algebra steps were used to rewrite </a:t>
                </a:r>
                <a:r>
                  <a:rPr lang="en-US" sz="1800" b="0" i="0" u="none" strike="noStrike" baseline="0">
                    <a:latin typeface="Cambria Math" panose="02040503050406030204" pitchFamily="18" charset="0"/>
                    <a:ea typeface="Cambria Math" panose="02040503050406030204" pitchFamily="18" charset="0"/>
                  </a:rPr>
                  <a:t>−1/2=(𝑦−6)/(𝑥−2)</a:t>
                </a:r>
                <a:r>
                  <a:rPr lang="en-US" sz="1800" b="0" i="0" u="none" strike="noStrike" baseline="0" dirty="0">
                    <a:latin typeface="Lato-Regular"/>
                  </a:rPr>
                  <a:t> as </a:t>
                </a:r>
                <a:r>
                  <a:rPr lang="en-US" sz="1800" b="0" i="0" u="none" strike="noStrike" baseline="0">
                    <a:latin typeface="Cambria Math" panose="02040503050406030204" pitchFamily="18" charset="0"/>
                    <a:ea typeface="Cambria Math" panose="02040503050406030204" pitchFamily="18" charset="0"/>
                  </a:rPr>
                  <a:t>−1/2 (𝑥−2)=𝑦−6</a:t>
                </a:r>
                <a:r>
                  <a:rPr lang="en-US" sz="1800" b="0" i="0" u="none" strike="noStrike" baseline="0" dirty="0">
                    <a:latin typeface="Lato-Regular"/>
                  </a:rPr>
                  <a:t>?</a:t>
                </a:r>
              </a:p>
              <a:p>
                <a:pPr marL="285750" indent="-285750" algn="l">
                  <a:buFont typeface="Arial" panose="020B0604020202020204" pitchFamily="34" charset="0"/>
                  <a:buChar char="•"/>
                </a:pPr>
                <a:endParaRPr lang="en-US" sz="1800" b="0" i="0" u="none" strike="noStrike" baseline="0" dirty="0">
                  <a:latin typeface="Lato-Regular"/>
                </a:endParaRPr>
              </a:p>
              <a:p>
                <a:pPr marL="285750" indent="-285750" algn="l">
                  <a:buFont typeface="Arial" panose="020B0604020202020204" pitchFamily="34" charset="0"/>
                  <a:buChar char="•"/>
                </a:pPr>
                <a:endParaRPr lang="en-US" sz="1800" b="0" i="0" u="none" strike="noStrike" baseline="0" dirty="0">
                  <a:latin typeface="Lato-Regular"/>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285750" indent="-285750" algn="l">
                  <a:buFont typeface="Arial" panose="020B0604020202020204" pitchFamily="34" charset="0"/>
                  <a:buChar char="•"/>
                </a:pPr>
                <a:r>
                  <a:rPr lang="en-US" sz="1200" b="0" i="0" u="none" strike="noStrike" baseline="0" dirty="0">
                    <a:latin typeface="Lato-Regular"/>
                  </a:rPr>
                  <a:t>Why do you think this form is the point-slope form?</a:t>
                </a:r>
              </a:p>
              <a:p>
                <a:pPr marL="285750" indent="-285750" algn="l">
                  <a:buFont typeface="Arial" panose="020B0604020202020204" pitchFamily="34" charset="0"/>
                  <a:buChar char="•"/>
                </a:pPr>
                <a:endParaRPr lang="en-US" sz="1200" b="0" i="0" u="none" strike="noStrike" baseline="0" dirty="0">
                  <a:latin typeface="Lato-Regular"/>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285750" indent="-285750" algn="l">
                  <a:buFont typeface="Arial" panose="020B0604020202020204" pitchFamily="34" charset="0"/>
                  <a:buChar char="•"/>
                </a:pPr>
                <a:r>
                  <a:rPr lang="en-US" sz="1200" b="0" i="0" u="none" strike="noStrike" baseline="0" dirty="0">
                    <a:latin typeface="Lato-Regular"/>
                  </a:rPr>
                  <a:t>If the equation was </a:t>
                </a:r>
                <a:r>
                  <a:rPr lang="en-US" sz="1200" b="0" i="0" u="none" strike="noStrike" baseline="0">
                    <a:latin typeface="Cambria Math" panose="02040503050406030204" pitchFamily="18" charset="0"/>
                  </a:rPr>
                  <a:t>𝑦+6=−</a:t>
                </a:r>
                <a:r>
                  <a:rPr lang="en-US" sz="1200" b="0" i="0" u="none" strike="noStrike" baseline="0">
                    <a:latin typeface="Cambria Math" panose="02040503050406030204" pitchFamily="18" charset="0"/>
                    <a:ea typeface="Cambria Math" panose="02040503050406030204" pitchFamily="18" charset="0"/>
                  </a:rPr>
                  <a:t>1/2(𝑥+2)</a:t>
                </a:r>
                <a:r>
                  <a:rPr lang="en-US" sz="1200" b="0" i="0" u="none" strike="noStrike" baseline="0" dirty="0">
                    <a:latin typeface="Lato-Regular"/>
                  </a:rPr>
                  <a:t>, what is the slope? The point? How can you tell?</a:t>
                </a:r>
              </a:p>
              <a:p>
                <a:pPr marL="0" indent="0" algn="l">
                  <a:buFont typeface="Arial" panose="020B0604020202020204" pitchFamily="34" charset="0"/>
                  <a:buNone/>
                </a:pPr>
                <a:endParaRPr lang="en-US" sz="1200" b="0" i="0" u="none" strike="noStrike" baseline="0" dirty="0">
                  <a:latin typeface="Lato-Regular"/>
                </a:endParaRPr>
              </a:p>
              <a:p>
                <a:pPr marL="0" indent="0" algn="l">
                  <a:buFont typeface="Arial" panose="020B0604020202020204" pitchFamily="34" charset="0"/>
                  <a:buNone/>
                </a:pPr>
                <a:endParaRPr lang="en-US" sz="1200" dirty="0">
                  <a:latin typeface="Calibri" panose="020F0502020204030204" pitchFamily="34" charset="0"/>
                  <a:ea typeface="Calibri" panose="020F0502020204030204" pitchFamily="34" charset="0"/>
                  <a:cs typeface="Calibri" panose="020F0502020204030204" pitchFamily="34" charset="0"/>
                </a:endParaRPr>
              </a:p>
            </p:txBody>
          </p:sp>
        </mc:Fallback>
      </mc:AlternateContent>
      <p:sp>
        <p:nvSpPr>
          <p:cNvPr id="4" name="Slide Number Placeholder 3">
            <a:extLst>
              <a:ext uri="{FF2B5EF4-FFF2-40B4-BE49-F238E27FC236}">
                <a16:creationId xmlns:a16="http://schemas.microsoft.com/office/drawing/2014/main" id="{CE853603-5CBB-41E4-5D34-B9D84CA73E9C}"/>
              </a:ext>
            </a:extLst>
          </p:cNvPr>
          <p:cNvSpPr>
            <a:spLocks noGrp="1"/>
          </p:cNvSpPr>
          <p:nvPr>
            <p:ph type="sldNum" sz="quarter" idx="5"/>
          </p:nvPr>
        </p:nvSpPr>
        <p:spPr/>
        <p:txBody>
          <a:bodyPr/>
          <a:lstStyle/>
          <a:p>
            <a:fld id="{BB5E49A5-4136-284D-997B-48E1D791AD67}" type="slidenum">
              <a:rPr lang="en-US" smtClean="0"/>
              <a:t>14</a:t>
            </a:fld>
            <a:endParaRPr lang="en-US"/>
          </a:p>
        </p:txBody>
      </p:sp>
    </p:spTree>
    <p:extLst>
      <p:ext uri="{BB962C8B-B14F-4D97-AF65-F5344CB8AC3E}">
        <p14:creationId xmlns:p14="http://schemas.microsoft.com/office/powerpoint/2010/main" val="199744335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91589-9FD3-9547-DA4D-742C8981CED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1CF7187-D2E9-C32A-53AF-EBF0C4B4DCBC}"/>
              </a:ext>
            </a:extLst>
          </p:cNvPr>
          <p:cNvSpPr>
            <a:spLocks noGrp="1" noRot="1" noChangeAspect="1"/>
          </p:cNvSpPr>
          <p:nvPr>
            <p:ph type="sldImg"/>
          </p:nvPr>
        </p:nvSpPr>
        <p:spPr>
          <a:xfrm>
            <a:off x="382588" y="685800"/>
            <a:ext cx="6092825" cy="3429000"/>
          </a:xfrm>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23796DE0-2A89-8C4A-1862-09AA444645EE}"/>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endPar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Which point did you plot first? Where did you locate it?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apply the slope </a:t>
                </a:r>
                <a14:m>
                  <m:oMath xmlns:m="http://schemas.openxmlformats.org/officeDocument/2006/math">
                    <m:f>
                      <m:fPr>
                        <m:ctrlPr>
                          <a:rPr lang="en-US" sz="1200" b="0" i="1" u="none" strike="noStrike" baseline="0" smtClean="0">
                            <a:solidFill>
                              <a:srgbClr val="000000"/>
                            </a:solidFill>
                            <a:latin typeface="Cambria Math" panose="02040503050406030204" pitchFamily="18" charset="0"/>
                          </a:rPr>
                        </m:ctrlPr>
                      </m:fPr>
                      <m:num>
                        <m:r>
                          <a:rPr lang="en-US" sz="1200" b="0" i="1" u="none" strike="noStrike" baseline="0" smtClean="0">
                            <a:solidFill>
                              <a:srgbClr val="000000"/>
                            </a:solidFill>
                            <a:latin typeface="Cambria Math" panose="02040503050406030204" pitchFamily="18" charset="0"/>
                          </a:rPr>
                          <m:t>2</m:t>
                        </m:r>
                      </m:num>
                      <m:den>
                        <m:r>
                          <a:rPr lang="en-US" sz="1200" b="0" i="1" u="none" strike="noStrike" baseline="0" smtClean="0">
                            <a:solidFill>
                              <a:srgbClr val="000000"/>
                            </a:solidFill>
                            <a:latin typeface="Cambria Math" panose="02040503050406030204" pitchFamily="18" charset="0"/>
                          </a:rPr>
                          <m:t>3</m:t>
                        </m:r>
                      </m:den>
                    </m:f>
                  </m:oMath>
                </a14:m>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to plot an additional point?</a:t>
                </a:r>
              </a:p>
              <a:p>
                <a:pPr marL="285750" indent="-285750" algn="l">
                  <a:buFont typeface="Arial" panose="020B0604020202020204" pitchFamily="34" charset="0"/>
                  <a:buChar char="•"/>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is graphing using the slope related to slope triangles?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In which direction do you move with a positive numerator? A negative numerator? A positive denominator? A negative denominator?</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know the direction of the line is correct?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Why does it help to write the number 10 as a fraction?</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Why is this graph increasing?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Use the graph to show how the total savings increases by 15 for every one lawn mowed?</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Why is this graph decreasing?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Use the graph to show how the amount owed decreased by 10 for every one week.</a:t>
                </a:r>
              </a:p>
            </p:txBody>
          </p:sp>
        </mc:Choice>
        <mc:Fallback xmlns="">
          <p:sp>
            <p:nvSpPr>
              <p:cNvPr id="3" name="Notes Placeholder 2">
                <a:extLst>
                  <a:ext uri="{FF2B5EF4-FFF2-40B4-BE49-F238E27FC236}">
                    <a16:creationId xmlns:a16="http://schemas.microsoft.com/office/drawing/2014/main" id="{23796DE0-2A89-8C4A-1862-09AA444645EE}"/>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285750" indent="-285750" algn="l">
                  <a:buFont typeface="Arial" panose="020B0604020202020204" pitchFamily="34" charset="0"/>
                  <a:buChar char="•"/>
                </a:pPr>
                <a:r>
                  <a:rPr lang="en-US" sz="1800" b="0" i="0" u="none" strike="noStrike" baseline="0" dirty="0">
                    <a:latin typeface="Lato-Regular"/>
                  </a:rPr>
                  <a:t>Which point did you plot first? Where did you locate it?</a:t>
                </a:r>
              </a:p>
              <a:p>
                <a:pPr marL="285750" indent="-285750" algn="l">
                  <a:buFont typeface="Arial" panose="020B0604020202020204" pitchFamily="34" charset="0"/>
                  <a:buChar char="•"/>
                </a:pPr>
                <a:r>
                  <a:rPr lang="en-US" sz="1800" b="0" i="0" u="none" strike="noStrike" baseline="0" dirty="0">
                    <a:latin typeface="Lato-Regular"/>
                  </a:rPr>
                  <a:t>How did you apply the slope </a:t>
                </a:r>
                <a:r>
                  <a:rPr lang="en-US" sz="1800" b="0" i="0" u="none" strike="noStrike" baseline="0">
                    <a:latin typeface="Cambria Math" panose="02040503050406030204" pitchFamily="18" charset="0"/>
                  </a:rPr>
                  <a:t>2/3</a:t>
                </a:r>
                <a:r>
                  <a:rPr lang="en-US" sz="1800" b="0" i="0" u="none" strike="noStrike" baseline="0" dirty="0">
                    <a:latin typeface="Lato-Regular"/>
                  </a:rPr>
                  <a:t>to plot an additional point?</a:t>
                </a:r>
              </a:p>
              <a:p>
                <a:pPr marL="285750" indent="-285750" algn="l">
                  <a:buFont typeface="Arial" panose="020B0604020202020204" pitchFamily="34" charset="0"/>
                  <a:buChar char="•"/>
                </a:pPr>
                <a:endParaRPr lang="en-US" sz="1800" b="0" i="0" u="none" strike="noStrike" baseline="0" dirty="0">
                  <a:latin typeface="Lato-Regular"/>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285750" indent="-285750" algn="l">
                  <a:buFont typeface="Arial" panose="020B0604020202020204" pitchFamily="34" charset="0"/>
                  <a:buChar char="•"/>
                </a:pPr>
                <a:r>
                  <a:rPr lang="en-US" sz="1200" b="0" i="0" u="none" strike="noStrike" baseline="0" dirty="0">
                    <a:latin typeface="Lato-Regular"/>
                  </a:rPr>
                  <a:t>How is graphing using the slope related to slope triangles?</a:t>
                </a:r>
              </a:p>
              <a:p>
                <a:pPr marL="285750" indent="-285750" algn="l">
                  <a:buFont typeface="Arial" panose="020B0604020202020204" pitchFamily="34" charset="0"/>
                  <a:buChar char="•"/>
                </a:pPr>
                <a:r>
                  <a:rPr lang="en-US" sz="1200" b="0" i="0" u="none" strike="noStrike" baseline="0" dirty="0">
                    <a:latin typeface="Lato-Regular"/>
                  </a:rPr>
                  <a:t>In which direction do you move with a positive numerator? A negative numerator? A positive denominator? A negative denominator?</a:t>
                </a:r>
              </a:p>
              <a:p>
                <a:pPr marL="285750" indent="-285750" algn="l">
                  <a:buFont typeface="Arial" panose="020B0604020202020204" pitchFamily="34" charset="0"/>
                  <a:buChar char="•"/>
                </a:pPr>
                <a:r>
                  <a:rPr lang="en-US" sz="1200" b="0" i="0" u="none" strike="noStrike" baseline="0" dirty="0">
                    <a:latin typeface="Lato-Regular"/>
                  </a:rPr>
                  <a:t>How do you know the direction of the line is correct?</a:t>
                </a:r>
              </a:p>
              <a:p>
                <a:pPr marL="285750" indent="-285750" algn="l">
                  <a:buFont typeface="Arial" panose="020B0604020202020204" pitchFamily="34" charset="0"/>
                  <a:buChar char="•"/>
                </a:pPr>
                <a:r>
                  <a:rPr lang="en-US" sz="1200" b="0" i="0" u="none" strike="noStrike" baseline="0" dirty="0">
                    <a:latin typeface="Lato-Regular"/>
                  </a:rPr>
                  <a:t>Why does it help to write the number 10 as a fraction?</a:t>
                </a:r>
              </a:p>
              <a:p>
                <a:pPr marL="285750" indent="-285750" algn="l">
                  <a:buFont typeface="Arial" panose="020B0604020202020204" pitchFamily="34" charset="0"/>
                  <a:buChar char="•"/>
                </a:pPr>
                <a:r>
                  <a:rPr lang="en-US" sz="1200" b="0" i="0" u="none" strike="noStrike" baseline="0" dirty="0">
                    <a:latin typeface="Lato-Regular"/>
                  </a:rPr>
                  <a:t>Why is this graph increasing?</a:t>
                </a:r>
              </a:p>
              <a:p>
                <a:pPr marL="285750" indent="-285750" algn="l">
                  <a:buFont typeface="Arial" panose="020B0604020202020204" pitchFamily="34" charset="0"/>
                  <a:buChar char="•"/>
                </a:pPr>
                <a:r>
                  <a:rPr lang="en-US" sz="1200" b="0" i="0" u="none" strike="noStrike" baseline="0" dirty="0">
                    <a:latin typeface="Lato-Regular"/>
                  </a:rPr>
                  <a:t>Use the graph to show how the total savings increases by 15 for every one lawn mowed?</a:t>
                </a:r>
              </a:p>
              <a:p>
                <a:pPr marL="285750" indent="-285750" algn="l">
                  <a:buFont typeface="Arial" panose="020B0604020202020204" pitchFamily="34" charset="0"/>
                  <a:buChar char="•"/>
                </a:pPr>
                <a:r>
                  <a:rPr lang="en-US" sz="1200" b="0" i="0" u="none" strike="noStrike" baseline="0" dirty="0">
                    <a:latin typeface="Lato-Regular"/>
                  </a:rPr>
                  <a:t>Why is this graph decreasing?</a:t>
                </a:r>
              </a:p>
              <a:p>
                <a:pPr marL="285750" indent="-285750" algn="l">
                  <a:buFont typeface="Arial" panose="020B0604020202020204" pitchFamily="34" charset="0"/>
                  <a:buChar char="•"/>
                </a:pPr>
                <a:r>
                  <a:rPr lang="en-US" sz="1200" b="0" i="0" u="none" strike="noStrike" baseline="0" dirty="0">
                    <a:latin typeface="Lato-Regular"/>
                  </a:rPr>
                  <a:t>Use the graph to show how the amount owed decreased by 10 for every one week.</a:t>
                </a:r>
              </a:p>
              <a:p>
                <a:pPr marL="0" indent="0" algn="l">
                  <a:buFont typeface="Arial" panose="020B0604020202020204" pitchFamily="34" charset="0"/>
                  <a:buNone/>
                </a:pPr>
                <a:endParaRPr lang="en-US" sz="1200" dirty="0">
                  <a:latin typeface="Calibri" panose="020F0502020204030204" pitchFamily="34" charset="0"/>
                  <a:ea typeface="Calibri" panose="020F0502020204030204" pitchFamily="34" charset="0"/>
                  <a:cs typeface="Calibri" panose="020F0502020204030204" pitchFamily="34" charset="0"/>
                </a:endParaRPr>
              </a:p>
            </p:txBody>
          </p:sp>
        </mc:Fallback>
      </mc:AlternateContent>
      <p:sp>
        <p:nvSpPr>
          <p:cNvPr id="4" name="Slide Number Placeholder 3">
            <a:extLst>
              <a:ext uri="{FF2B5EF4-FFF2-40B4-BE49-F238E27FC236}">
                <a16:creationId xmlns:a16="http://schemas.microsoft.com/office/drawing/2014/main" id="{920C4FA5-1A67-98B1-A1D6-6BA73B41E05C}"/>
              </a:ext>
            </a:extLst>
          </p:cNvPr>
          <p:cNvSpPr>
            <a:spLocks noGrp="1"/>
          </p:cNvSpPr>
          <p:nvPr>
            <p:ph type="sldNum" sz="quarter" idx="5"/>
          </p:nvPr>
        </p:nvSpPr>
        <p:spPr/>
        <p:txBody>
          <a:bodyPr/>
          <a:lstStyle/>
          <a:p>
            <a:fld id="{BB5E49A5-4136-284D-997B-48E1D791AD67}" type="slidenum">
              <a:rPr lang="en-US" smtClean="0"/>
              <a:t>15</a:t>
            </a:fld>
            <a:endParaRPr lang="en-US"/>
          </a:p>
        </p:txBody>
      </p:sp>
    </p:spTree>
    <p:extLst>
      <p:ext uri="{BB962C8B-B14F-4D97-AF65-F5344CB8AC3E}">
        <p14:creationId xmlns:p14="http://schemas.microsoft.com/office/powerpoint/2010/main" val="4523983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82AD6D-4626-9611-C358-B0716A7A2E6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EF50D19-BCCC-AACD-9D66-46898CFF61A7}"/>
              </a:ext>
            </a:extLst>
          </p:cNvPr>
          <p:cNvSpPr>
            <a:spLocks noGrp="1" noRot="1" noChangeAspect="1"/>
          </p:cNvSpPr>
          <p:nvPr>
            <p:ph type="sldImg"/>
          </p:nvPr>
        </p:nvSpPr>
        <p:spPr>
          <a:xfrm>
            <a:off x="382588" y="685800"/>
            <a:ext cx="6092825" cy="3429000"/>
          </a:xfrm>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4A4C1486-5CEA-D3EB-1356-17CA64BE4804}"/>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endPar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Which point did you plot first? Where did you locate it?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apply the slope </a:t>
                </a:r>
                <a14:m>
                  <m:oMath xmlns:m="http://schemas.openxmlformats.org/officeDocument/2006/math">
                    <m:f>
                      <m:fPr>
                        <m:ctrlPr>
                          <a:rPr lang="en-US" sz="1200" b="0" i="1" u="none" strike="noStrike" baseline="0" smtClean="0">
                            <a:solidFill>
                              <a:srgbClr val="000000"/>
                            </a:solidFill>
                            <a:latin typeface="Cambria Math" panose="02040503050406030204" pitchFamily="18" charset="0"/>
                          </a:rPr>
                        </m:ctrlPr>
                      </m:fPr>
                      <m:num>
                        <m:r>
                          <a:rPr lang="en-US" sz="1200" b="0" i="1" u="none" strike="noStrike" baseline="0" smtClean="0">
                            <a:solidFill>
                              <a:srgbClr val="000000"/>
                            </a:solidFill>
                            <a:latin typeface="Cambria Math" panose="02040503050406030204" pitchFamily="18" charset="0"/>
                          </a:rPr>
                          <m:t>2</m:t>
                        </m:r>
                      </m:num>
                      <m:den>
                        <m:r>
                          <a:rPr lang="en-US" sz="1200" b="0" i="1" u="none" strike="noStrike" baseline="0" smtClean="0">
                            <a:solidFill>
                              <a:srgbClr val="000000"/>
                            </a:solidFill>
                            <a:latin typeface="Cambria Math" panose="02040503050406030204" pitchFamily="18" charset="0"/>
                          </a:rPr>
                          <m:t>3</m:t>
                        </m:r>
                      </m:den>
                    </m:f>
                  </m:oMath>
                </a14:m>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to plot an additional point?</a:t>
                </a:r>
              </a:p>
              <a:p>
                <a:pPr marL="285750" indent="-285750" algn="l">
                  <a:buFont typeface="Arial" panose="020B0604020202020204" pitchFamily="34" charset="0"/>
                  <a:buChar char="•"/>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is graphing using the slope related to slope triangles?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In which direction do you move with a positive numerator? A negative numerator? A positive denominator? A negative denominator?</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know the direction of the line is correct?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Why does it help to write the number 10 as a fraction?</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Why is this graph increasing?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Use the graph to show how the total savings increases by 15 for every one lawn mowed?</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Why is this graph decreasing?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Use the graph to show how the amount owed decreased by 10 for every one week.</a:t>
                </a:r>
              </a:p>
            </p:txBody>
          </p:sp>
        </mc:Choice>
        <mc:Fallback xmlns="">
          <p:sp>
            <p:nvSpPr>
              <p:cNvPr id="3" name="Notes Placeholder 2">
                <a:extLst>
                  <a:ext uri="{FF2B5EF4-FFF2-40B4-BE49-F238E27FC236}">
                    <a16:creationId xmlns:a16="http://schemas.microsoft.com/office/drawing/2014/main" id="{4A4C1486-5CEA-D3EB-1356-17CA64BE4804}"/>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285750" indent="-285750" algn="l">
                  <a:buFont typeface="Arial" panose="020B0604020202020204" pitchFamily="34" charset="0"/>
                  <a:buChar char="•"/>
                </a:pPr>
                <a:r>
                  <a:rPr lang="en-US" sz="1800" b="0" i="0" u="none" strike="noStrike" baseline="0" dirty="0">
                    <a:latin typeface="Lato-Regular"/>
                  </a:rPr>
                  <a:t>Which point did you plot first? Where did you locate it?</a:t>
                </a:r>
              </a:p>
              <a:p>
                <a:pPr marL="285750" indent="-285750" algn="l">
                  <a:buFont typeface="Arial" panose="020B0604020202020204" pitchFamily="34" charset="0"/>
                  <a:buChar char="•"/>
                </a:pPr>
                <a:r>
                  <a:rPr lang="en-US" sz="1800" b="0" i="0" u="none" strike="noStrike" baseline="0" dirty="0">
                    <a:latin typeface="Lato-Regular"/>
                  </a:rPr>
                  <a:t>How did you apply the slope </a:t>
                </a:r>
                <a:r>
                  <a:rPr lang="en-US" sz="1800" b="0" i="0" u="none" strike="noStrike" baseline="0">
                    <a:latin typeface="Cambria Math" panose="02040503050406030204" pitchFamily="18" charset="0"/>
                  </a:rPr>
                  <a:t>2/3</a:t>
                </a:r>
                <a:r>
                  <a:rPr lang="en-US" sz="1800" b="0" i="0" u="none" strike="noStrike" baseline="0" dirty="0">
                    <a:latin typeface="Lato-Regular"/>
                  </a:rPr>
                  <a:t>to plot an additional point?</a:t>
                </a:r>
              </a:p>
              <a:p>
                <a:pPr marL="285750" indent="-285750" algn="l">
                  <a:buFont typeface="Arial" panose="020B0604020202020204" pitchFamily="34" charset="0"/>
                  <a:buChar char="•"/>
                </a:pPr>
                <a:endParaRPr lang="en-US" sz="1800" b="0" i="0" u="none" strike="noStrike" baseline="0" dirty="0">
                  <a:latin typeface="Lato-Regular"/>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285750" indent="-285750" algn="l">
                  <a:buFont typeface="Arial" panose="020B0604020202020204" pitchFamily="34" charset="0"/>
                  <a:buChar char="•"/>
                </a:pPr>
                <a:r>
                  <a:rPr lang="en-US" sz="1200" b="0" i="0" u="none" strike="noStrike" baseline="0" dirty="0">
                    <a:latin typeface="Lato-Regular"/>
                  </a:rPr>
                  <a:t>How is graphing using the slope related to slope triangles?</a:t>
                </a:r>
              </a:p>
              <a:p>
                <a:pPr marL="285750" indent="-285750" algn="l">
                  <a:buFont typeface="Arial" panose="020B0604020202020204" pitchFamily="34" charset="0"/>
                  <a:buChar char="•"/>
                </a:pPr>
                <a:r>
                  <a:rPr lang="en-US" sz="1200" b="0" i="0" u="none" strike="noStrike" baseline="0" dirty="0">
                    <a:latin typeface="Lato-Regular"/>
                  </a:rPr>
                  <a:t>In which direction do you move with a positive numerator? A negative numerator? A positive denominator? A negative denominator?</a:t>
                </a:r>
              </a:p>
              <a:p>
                <a:pPr marL="285750" indent="-285750" algn="l">
                  <a:buFont typeface="Arial" panose="020B0604020202020204" pitchFamily="34" charset="0"/>
                  <a:buChar char="•"/>
                </a:pPr>
                <a:r>
                  <a:rPr lang="en-US" sz="1200" b="0" i="0" u="none" strike="noStrike" baseline="0" dirty="0">
                    <a:latin typeface="Lato-Regular"/>
                  </a:rPr>
                  <a:t>How do you know the direction of the line is correct?</a:t>
                </a:r>
              </a:p>
              <a:p>
                <a:pPr marL="285750" indent="-285750" algn="l">
                  <a:buFont typeface="Arial" panose="020B0604020202020204" pitchFamily="34" charset="0"/>
                  <a:buChar char="•"/>
                </a:pPr>
                <a:r>
                  <a:rPr lang="en-US" sz="1200" b="0" i="0" u="none" strike="noStrike" baseline="0" dirty="0">
                    <a:latin typeface="Lato-Regular"/>
                  </a:rPr>
                  <a:t>Why does it help to write the number 10 as a fraction?</a:t>
                </a:r>
              </a:p>
              <a:p>
                <a:pPr marL="285750" indent="-285750" algn="l">
                  <a:buFont typeface="Arial" panose="020B0604020202020204" pitchFamily="34" charset="0"/>
                  <a:buChar char="•"/>
                </a:pPr>
                <a:r>
                  <a:rPr lang="en-US" sz="1200" b="0" i="0" u="none" strike="noStrike" baseline="0" dirty="0">
                    <a:latin typeface="Lato-Regular"/>
                  </a:rPr>
                  <a:t>Why is this graph increasing?</a:t>
                </a:r>
              </a:p>
              <a:p>
                <a:pPr marL="285750" indent="-285750" algn="l">
                  <a:buFont typeface="Arial" panose="020B0604020202020204" pitchFamily="34" charset="0"/>
                  <a:buChar char="•"/>
                </a:pPr>
                <a:r>
                  <a:rPr lang="en-US" sz="1200" b="0" i="0" u="none" strike="noStrike" baseline="0" dirty="0">
                    <a:latin typeface="Lato-Regular"/>
                  </a:rPr>
                  <a:t>Use the graph to show how the total savings increases by 15 for every one lawn mowed?</a:t>
                </a:r>
              </a:p>
              <a:p>
                <a:pPr marL="285750" indent="-285750" algn="l">
                  <a:buFont typeface="Arial" panose="020B0604020202020204" pitchFamily="34" charset="0"/>
                  <a:buChar char="•"/>
                </a:pPr>
                <a:r>
                  <a:rPr lang="en-US" sz="1200" b="0" i="0" u="none" strike="noStrike" baseline="0" dirty="0">
                    <a:latin typeface="Lato-Regular"/>
                  </a:rPr>
                  <a:t>Why is this graph decreasing?</a:t>
                </a:r>
              </a:p>
              <a:p>
                <a:pPr marL="285750" indent="-285750" algn="l">
                  <a:buFont typeface="Arial" panose="020B0604020202020204" pitchFamily="34" charset="0"/>
                  <a:buChar char="•"/>
                </a:pPr>
                <a:r>
                  <a:rPr lang="en-US" sz="1200" b="0" i="0" u="none" strike="noStrike" baseline="0" dirty="0">
                    <a:latin typeface="Lato-Regular"/>
                  </a:rPr>
                  <a:t>Use the graph to show how the amount owed decreased by 10 for every one week.</a:t>
                </a:r>
              </a:p>
              <a:p>
                <a:pPr marL="0" indent="0" algn="l">
                  <a:buFont typeface="Arial" panose="020B0604020202020204" pitchFamily="34" charset="0"/>
                  <a:buNone/>
                </a:pPr>
                <a:endParaRPr lang="en-US" sz="1200" dirty="0">
                  <a:latin typeface="Calibri" panose="020F0502020204030204" pitchFamily="34" charset="0"/>
                  <a:ea typeface="Calibri" panose="020F0502020204030204" pitchFamily="34" charset="0"/>
                  <a:cs typeface="Calibri" panose="020F0502020204030204" pitchFamily="34" charset="0"/>
                </a:endParaRPr>
              </a:p>
            </p:txBody>
          </p:sp>
        </mc:Fallback>
      </mc:AlternateContent>
      <p:sp>
        <p:nvSpPr>
          <p:cNvPr id="4" name="Slide Number Placeholder 3">
            <a:extLst>
              <a:ext uri="{FF2B5EF4-FFF2-40B4-BE49-F238E27FC236}">
                <a16:creationId xmlns:a16="http://schemas.microsoft.com/office/drawing/2014/main" id="{AA1EFFEA-CBD9-A322-A6B6-CB633F5B6452}"/>
              </a:ext>
            </a:extLst>
          </p:cNvPr>
          <p:cNvSpPr>
            <a:spLocks noGrp="1"/>
          </p:cNvSpPr>
          <p:nvPr>
            <p:ph type="sldNum" sz="quarter" idx="5"/>
          </p:nvPr>
        </p:nvSpPr>
        <p:spPr/>
        <p:txBody>
          <a:bodyPr/>
          <a:lstStyle/>
          <a:p>
            <a:fld id="{BB5E49A5-4136-284D-997B-48E1D791AD67}" type="slidenum">
              <a:rPr lang="en-US" smtClean="0"/>
              <a:t>16</a:t>
            </a:fld>
            <a:endParaRPr lang="en-US"/>
          </a:p>
        </p:txBody>
      </p:sp>
    </p:spTree>
    <p:extLst>
      <p:ext uri="{BB962C8B-B14F-4D97-AF65-F5344CB8AC3E}">
        <p14:creationId xmlns:p14="http://schemas.microsoft.com/office/powerpoint/2010/main" val="265655559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2E350A-6D5D-AB08-281E-A75659933E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D5C1997-C8F5-1219-7751-08FC9972F8CD}"/>
              </a:ext>
            </a:extLst>
          </p:cNvPr>
          <p:cNvSpPr>
            <a:spLocks noGrp="1" noRot="1" noChangeAspect="1"/>
          </p:cNvSpPr>
          <p:nvPr>
            <p:ph type="sldImg"/>
          </p:nvPr>
        </p:nvSpPr>
        <p:spPr>
          <a:xfrm>
            <a:off x="382588" y="685800"/>
            <a:ext cx="6092825" cy="3429000"/>
          </a:xfrm>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260039D8-71AD-05BD-D871-4139B0239B77}"/>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endPar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Which point did you plot first? Where did you locate it?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apply the slope </a:t>
                </a:r>
                <a14:m>
                  <m:oMath xmlns:m="http://schemas.openxmlformats.org/officeDocument/2006/math">
                    <m:f>
                      <m:fPr>
                        <m:ctrlPr>
                          <a:rPr lang="en-US" sz="1200" b="0" i="1" u="none" strike="noStrike" baseline="0" smtClean="0">
                            <a:solidFill>
                              <a:srgbClr val="000000"/>
                            </a:solidFill>
                            <a:latin typeface="Cambria Math" panose="02040503050406030204" pitchFamily="18" charset="0"/>
                          </a:rPr>
                        </m:ctrlPr>
                      </m:fPr>
                      <m:num>
                        <m:r>
                          <a:rPr lang="en-US" sz="1200" b="0" i="1" u="none" strike="noStrike" baseline="0" smtClean="0">
                            <a:solidFill>
                              <a:srgbClr val="000000"/>
                            </a:solidFill>
                            <a:latin typeface="Cambria Math" panose="02040503050406030204" pitchFamily="18" charset="0"/>
                          </a:rPr>
                          <m:t>2</m:t>
                        </m:r>
                      </m:num>
                      <m:den>
                        <m:r>
                          <a:rPr lang="en-US" sz="1200" b="0" i="1" u="none" strike="noStrike" baseline="0" smtClean="0">
                            <a:solidFill>
                              <a:srgbClr val="000000"/>
                            </a:solidFill>
                            <a:latin typeface="Cambria Math" panose="02040503050406030204" pitchFamily="18" charset="0"/>
                          </a:rPr>
                          <m:t>3</m:t>
                        </m:r>
                      </m:den>
                    </m:f>
                  </m:oMath>
                </a14:m>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to plot an additional point?</a:t>
                </a:r>
              </a:p>
              <a:p>
                <a:pPr marL="285750" indent="-285750" algn="l">
                  <a:buFont typeface="Arial" panose="020B0604020202020204" pitchFamily="34" charset="0"/>
                  <a:buChar char="•"/>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is graphing using the slope related to slope triangles?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In which direction do you move with a positive numerator? A negative numerator? A positive denominator? A negative denominator?</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know the direction of the line is correct?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Why does it help to write the number 10 as a fraction?</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Why is this graph increasing?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Use the graph to show how the total savings increases by 15 for every one lawn mowed?</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Why is this graph decreasing?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Use the graph to show how the amount owed decreased by 10 for every one week.</a:t>
                </a:r>
              </a:p>
              <a:p>
                <a:r>
                  <a:rPr lang="en-US" b="1" dirty="0"/>
                  <a:t>The TE writes y = 30 + 15x; same line. Only whole lawns make sense, so the solutions are whole-number points.</a:t>
                </a:r>
              </a:p>
            </p:txBody>
          </p:sp>
        </mc:Choice>
        <mc:Fallback xmlns="">
          <p:sp>
            <p:nvSpPr>
              <p:cNvPr id="3" name="Notes Placeholder 2">
                <a:extLst>
                  <a:ext uri="{FF2B5EF4-FFF2-40B4-BE49-F238E27FC236}">
                    <a16:creationId xmlns:a16="http://schemas.microsoft.com/office/drawing/2014/main" id="{260039D8-71AD-05BD-D871-4139B0239B77}"/>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285750" indent="-285750" algn="l">
                  <a:buFont typeface="Arial" panose="020B0604020202020204" pitchFamily="34" charset="0"/>
                  <a:buChar char="•"/>
                </a:pPr>
                <a:r>
                  <a:rPr lang="en-US" sz="1800" b="0" i="0" u="none" strike="noStrike" baseline="0" dirty="0">
                    <a:latin typeface="Lato-Regular"/>
                  </a:rPr>
                  <a:t>Which point did you plot first? Where did you locate it?</a:t>
                </a:r>
              </a:p>
              <a:p>
                <a:pPr marL="285750" indent="-285750" algn="l">
                  <a:buFont typeface="Arial" panose="020B0604020202020204" pitchFamily="34" charset="0"/>
                  <a:buChar char="•"/>
                </a:pPr>
                <a:r>
                  <a:rPr lang="en-US" sz="1800" b="0" i="0" u="none" strike="noStrike" baseline="0" dirty="0">
                    <a:latin typeface="Lato-Regular"/>
                  </a:rPr>
                  <a:t>How did you apply the slope </a:t>
                </a:r>
                <a:r>
                  <a:rPr lang="en-US" sz="1800" b="0" i="0" u="none" strike="noStrike" baseline="0">
                    <a:latin typeface="Cambria Math" panose="02040503050406030204" pitchFamily="18" charset="0"/>
                  </a:rPr>
                  <a:t>2/3</a:t>
                </a:r>
                <a:r>
                  <a:rPr lang="en-US" sz="1800" b="0" i="0" u="none" strike="noStrike" baseline="0" dirty="0">
                    <a:latin typeface="Lato-Regular"/>
                  </a:rPr>
                  <a:t>to plot an additional point?</a:t>
                </a:r>
              </a:p>
              <a:p>
                <a:pPr marL="285750" indent="-285750" algn="l">
                  <a:buFont typeface="Arial" panose="020B0604020202020204" pitchFamily="34" charset="0"/>
                  <a:buChar char="•"/>
                </a:pPr>
                <a:endParaRPr lang="en-US" sz="1800" b="0" i="0" u="none" strike="noStrike" baseline="0" dirty="0">
                  <a:latin typeface="Lato-Regular"/>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285750" indent="-285750" algn="l">
                  <a:buFont typeface="Arial" panose="020B0604020202020204" pitchFamily="34" charset="0"/>
                  <a:buChar char="•"/>
                </a:pPr>
                <a:r>
                  <a:rPr lang="en-US" sz="1200" b="0" i="0" u="none" strike="noStrike" baseline="0" dirty="0">
                    <a:latin typeface="Lato-Regular"/>
                  </a:rPr>
                  <a:t>How is graphing using the slope related to slope triangles?</a:t>
                </a:r>
              </a:p>
              <a:p>
                <a:pPr marL="285750" indent="-285750" algn="l">
                  <a:buFont typeface="Arial" panose="020B0604020202020204" pitchFamily="34" charset="0"/>
                  <a:buChar char="•"/>
                </a:pPr>
                <a:r>
                  <a:rPr lang="en-US" sz="1200" b="0" i="0" u="none" strike="noStrike" baseline="0" dirty="0">
                    <a:latin typeface="Lato-Regular"/>
                  </a:rPr>
                  <a:t>In which direction do you move with a positive numerator? A negative numerator? A positive denominator? A negative denominator?</a:t>
                </a:r>
              </a:p>
              <a:p>
                <a:pPr marL="285750" indent="-285750" algn="l">
                  <a:buFont typeface="Arial" panose="020B0604020202020204" pitchFamily="34" charset="0"/>
                  <a:buChar char="•"/>
                </a:pPr>
                <a:r>
                  <a:rPr lang="en-US" sz="1200" b="0" i="0" u="none" strike="noStrike" baseline="0" dirty="0">
                    <a:latin typeface="Lato-Regular"/>
                  </a:rPr>
                  <a:t>How do you know the direction of the line is correct?</a:t>
                </a:r>
              </a:p>
              <a:p>
                <a:pPr marL="285750" indent="-285750" algn="l">
                  <a:buFont typeface="Arial" panose="020B0604020202020204" pitchFamily="34" charset="0"/>
                  <a:buChar char="•"/>
                </a:pPr>
                <a:r>
                  <a:rPr lang="en-US" sz="1200" b="0" i="0" u="none" strike="noStrike" baseline="0" dirty="0">
                    <a:latin typeface="Lato-Regular"/>
                  </a:rPr>
                  <a:t>Why does it help to write the number 10 as a fraction?</a:t>
                </a:r>
              </a:p>
              <a:p>
                <a:pPr marL="285750" indent="-285750" algn="l">
                  <a:buFont typeface="Arial" panose="020B0604020202020204" pitchFamily="34" charset="0"/>
                  <a:buChar char="•"/>
                </a:pPr>
                <a:r>
                  <a:rPr lang="en-US" sz="1200" b="0" i="0" u="none" strike="noStrike" baseline="0" dirty="0">
                    <a:latin typeface="Lato-Regular"/>
                  </a:rPr>
                  <a:t>Why is this graph increasing?</a:t>
                </a:r>
              </a:p>
              <a:p>
                <a:pPr marL="285750" indent="-285750" algn="l">
                  <a:buFont typeface="Arial" panose="020B0604020202020204" pitchFamily="34" charset="0"/>
                  <a:buChar char="•"/>
                </a:pPr>
                <a:r>
                  <a:rPr lang="en-US" sz="1200" b="0" i="0" u="none" strike="noStrike" baseline="0" dirty="0">
                    <a:latin typeface="Lato-Regular"/>
                  </a:rPr>
                  <a:t>Use the graph to show how the total savings increases by 15 for every one lawn mowed?</a:t>
                </a:r>
              </a:p>
              <a:p>
                <a:pPr marL="285750" indent="-285750" algn="l">
                  <a:buFont typeface="Arial" panose="020B0604020202020204" pitchFamily="34" charset="0"/>
                  <a:buChar char="•"/>
                </a:pPr>
                <a:r>
                  <a:rPr lang="en-US" sz="1200" b="0" i="0" u="none" strike="noStrike" baseline="0" dirty="0">
                    <a:latin typeface="Lato-Regular"/>
                  </a:rPr>
                  <a:t>Why is this graph decreasing?</a:t>
                </a:r>
              </a:p>
              <a:p>
                <a:pPr marL="285750" indent="-285750" algn="l">
                  <a:buFont typeface="Arial" panose="020B0604020202020204" pitchFamily="34" charset="0"/>
                  <a:buChar char="•"/>
                </a:pPr>
                <a:r>
                  <a:rPr lang="en-US" sz="1200" b="0" i="0" u="none" strike="noStrike" baseline="0" dirty="0">
                    <a:latin typeface="Lato-Regular"/>
                  </a:rPr>
                  <a:t>Use the graph to show how the amount owed decreased by 10 for every one week.</a:t>
                </a:r>
              </a:p>
              <a:p>
                <a:pPr marL="0" indent="0" algn="l">
                  <a:buFont typeface="Arial" panose="020B0604020202020204" pitchFamily="34" charset="0"/>
                  <a:buNone/>
                </a:pPr>
                <a:endParaRPr lang="en-US" sz="1200" dirty="0">
                  <a:latin typeface="Calibri" panose="020F0502020204030204" pitchFamily="34" charset="0"/>
                  <a:ea typeface="Calibri" panose="020F0502020204030204" pitchFamily="34" charset="0"/>
                  <a:cs typeface="Calibri" panose="020F0502020204030204" pitchFamily="34" charset="0"/>
                </a:endParaRPr>
              </a:p>
            </p:txBody>
          </p:sp>
        </mc:Fallback>
      </mc:AlternateContent>
      <p:sp>
        <p:nvSpPr>
          <p:cNvPr id="4" name="Slide Number Placeholder 3">
            <a:extLst>
              <a:ext uri="{FF2B5EF4-FFF2-40B4-BE49-F238E27FC236}">
                <a16:creationId xmlns:a16="http://schemas.microsoft.com/office/drawing/2014/main" id="{E1BE8A86-09C5-8E40-E36E-708B4D955507}"/>
              </a:ext>
            </a:extLst>
          </p:cNvPr>
          <p:cNvSpPr>
            <a:spLocks noGrp="1"/>
          </p:cNvSpPr>
          <p:nvPr>
            <p:ph type="sldNum" sz="quarter" idx="5"/>
          </p:nvPr>
        </p:nvSpPr>
        <p:spPr/>
        <p:txBody>
          <a:bodyPr/>
          <a:lstStyle/>
          <a:p>
            <a:fld id="{BB5E49A5-4136-284D-997B-48E1D791AD67}" type="slidenum">
              <a:rPr lang="en-US" smtClean="0"/>
              <a:t>17</a:t>
            </a:fld>
            <a:endParaRPr lang="en-US"/>
          </a:p>
        </p:txBody>
      </p:sp>
    </p:spTree>
    <p:extLst>
      <p:ext uri="{BB962C8B-B14F-4D97-AF65-F5344CB8AC3E}">
        <p14:creationId xmlns:p14="http://schemas.microsoft.com/office/powerpoint/2010/main" val="143604083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EF09C0-E65D-675A-84F5-F0A4F7F94EF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EA9CF5F-4289-0BF1-20E6-CD6AF6673801}"/>
              </a:ext>
            </a:extLst>
          </p:cNvPr>
          <p:cNvSpPr>
            <a:spLocks noGrp="1" noRot="1" noChangeAspect="1"/>
          </p:cNvSpPr>
          <p:nvPr>
            <p:ph type="sldImg"/>
          </p:nvPr>
        </p:nvSpPr>
        <p:spPr>
          <a:xfrm>
            <a:off x="382588" y="685800"/>
            <a:ext cx="6092825" cy="3429000"/>
          </a:xfrm>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510E8A4D-5F66-706A-E2D4-E6A0C1638D9B}"/>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endPar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Which point did you plot first? Where did you locate it?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apply the slope </a:t>
                </a:r>
                <a14:m>
                  <m:oMath xmlns:m="http://schemas.openxmlformats.org/officeDocument/2006/math">
                    <m:f>
                      <m:fPr>
                        <m:ctrlPr>
                          <a:rPr lang="en-US" sz="1200" b="0" i="1" u="none" strike="noStrike" baseline="0" smtClean="0">
                            <a:solidFill>
                              <a:srgbClr val="000000"/>
                            </a:solidFill>
                            <a:latin typeface="Cambria Math" panose="02040503050406030204" pitchFamily="18" charset="0"/>
                          </a:rPr>
                        </m:ctrlPr>
                      </m:fPr>
                      <m:num>
                        <m:r>
                          <a:rPr lang="en-US" sz="1200" b="0" i="1" u="none" strike="noStrike" baseline="0" smtClean="0">
                            <a:solidFill>
                              <a:srgbClr val="000000"/>
                            </a:solidFill>
                            <a:latin typeface="Cambria Math" panose="02040503050406030204" pitchFamily="18" charset="0"/>
                          </a:rPr>
                          <m:t>2</m:t>
                        </m:r>
                      </m:num>
                      <m:den>
                        <m:r>
                          <a:rPr lang="en-US" sz="1200" b="0" i="1" u="none" strike="noStrike" baseline="0" smtClean="0">
                            <a:solidFill>
                              <a:srgbClr val="000000"/>
                            </a:solidFill>
                            <a:latin typeface="Cambria Math" panose="02040503050406030204" pitchFamily="18" charset="0"/>
                          </a:rPr>
                          <m:t>3</m:t>
                        </m:r>
                      </m:den>
                    </m:f>
                  </m:oMath>
                </a14:m>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to plot an additional point?</a:t>
                </a:r>
              </a:p>
              <a:p>
                <a:pPr marL="285750" indent="-285750" algn="l">
                  <a:buFont typeface="Arial" panose="020B0604020202020204" pitchFamily="34" charset="0"/>
                  <a:buChar char="•"/>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is graphing using the slope related to slope triangles?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In which direction do you move with a positive numerator? A negative numerator? A positive denominator? A negative denominator?</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know the direction of the line is correct?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Why does it help to write the number 10 as a fraction?</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Why is this graph increasing?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Use the graph to show how the total savings increases by 15 for every one lawn mowed?</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Why is this graph decreasing?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Use the graph to show how the amount owed decreased by 10 for every one week.</a:t>
                </a:r>
              </a:p>
            </p:txBody>
          </p:sp>
        </mc:Choice>
        <mc:Fallback xmlns="">
          <p:sp>
            <p:nvSpPr>
              <p:cNvPr id="3" name="Notes Placeholder 2">
                <a:extLst>
                  <a:ext uri="{FF2B5EF4-FFF2-40B4-BE49-F238E27FC236}">
                    <a16:creationId xmlns:a16="http://schemas.microsoft.com/office/drawing/2014/main" id="{510E8A4D-5F66-706A-E2D4-E6A0C1638D9B}"/>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285750" indent="-285750" algn="l">
                  <a:buFont typeface="Arial" panose="020B0604020202020204" pitchFamily="34" charset="0"/>
                  <a:buChar char="•"/>
                </a:pPr>
                <a:r>
                  <a:rPr lang="en-US" sz="1800" b="0" i="0" u="none" strike="noStrike" baseline="0" dirty="0">
                    <a:latin typeface="Lato-Regular"/>
                  </a:rPr>
                  <a:t>Which point did you plot first? Where did you locate it?</a:t>
                </a:r>
              </a:p>
              <a:p>
                <a:pPr marL="285750" indent="-285750" algn="l">
                  <a:buFont typeface="Arial" panose="020B0604020202020204" pitchFamily="34" charset="0"/>
                  <a:buChar char="•"/>
                </a:pPr>
                <a:r>
                  <a:rPr lang="en-US" sz="1800" b="0" i="0" u="none" strike="noStrike" baseline="0" dirty="0">
                    <a:latin typeface="Lato-Regular"/>
                  </a:rPr>
                  <a:t>How did you apply the slope </a:t>
                </a:r>
                <a:r>
                  <a:rPr lang="en-US" sz="1800" b="0" i="0" u="none" strike="noStrike" baseline="0">
                    <a:latin typeface="Cambria Math" panose="02040503050406030204" pitchFamily="18" charset="0"/>
                  </a:rPr>
                  <a:t>2/3</a:t>
                </a:r>
                <a:r>
                  <a:rPr lang="en-US" sz="1800" b="0" i="0" u="none" strike="noStrike" baseline="0" dirty="0">
                    <a:latin typeface="Lato-Regular"/>
                  </a:rPr>
                  <a:t>to plot an additional point?</a:t>
                </a:r>
              </a:p>
              <a:p>
                <a:pPr marL="285750" indent="-285750" algn="l">
                  <a:buFont typeface="Arial" panose="020B0604020202020204" pitchFamily="34" charset="0"/>
                  <a:buChar char="•"/>
                </a:pPr>
                <a:endParaRPr lang="en-US" sz="1800" b="0" i="0" u="none" strike="noStrike" baseline="0" dirty="0">
                  <a:latin typeface="Lato-Regular"/>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285750" indent="-285750" algn="l">
                  <a:buFont typeface="Arial" panose="020B0604020202020204" pitchFamily="34" charset="0"/>
                  <a:buChar char="•"/>
                </a:pPr>
                <a:r>
                  <a:rPr lang="en-US" sz="1200" b="0" i="0" u="none" strike="noStrike" baseline="0" dirty="0">
                    <a:latin typeface="Lato-Regular"/>
                  </a:rPr>
                  <a:t>How is graphing using the slope related to slope triangles?</a:t>
                </a:r>
              </a:p>
              <a:p>
                <a:pPr marL="285750" indent="-285750" algn="l">
                  <a:buFont typeface="Arial" panose="020B0604020202020204" pitchFamily="34" charset="0"/>
                  <a:buChar char="•"/>
                </a:pPr>
                <a:r>
                  <a:rPr lang="en-US" sz="1200" b="0" i="0" u="none" strike="noStrike" baseline="0" dirty="0">
                    <a:latin typeface="Lato-Regular"/>
                  </a:rPr>
                  <a:t>In which direction do you move with a positive numerator? A negative numerator? A positive denominator? A negative denominator?</a:t>
                </a:r>
              </a:p>
              <a:p>
                <a:pPr marL="285750" indent="-285750" algn="l">
                  <a:buFont typeface="Arial" panose="020B0604020202020204" pitchFamily="34" charset="0"/>
                  <a:buChar char="•"/>
                </a:pPr>
                <a:r>
                  <a:rPr lang="en-US" sz="1200" b="0" i="0" u="none" strike="noStrike" baseline="0" dirty="0">
                    <a:latin typeface="Lato-Regular"/>
                  </a:rPr>
                  <a:t>How do you know the direction of the line is correct?</a:t>
                </a:r>
              </a:p>
              <a:p>
                <a:pPr marL="285750" indent="-285750" algn="l">
                  <a:buFont typeface="Arial" panose="020B0604020202020204" pitchFamily="34" charset="0"/>
                  <a:buChar char="•"/>
                </a:pPr>
                <a:r>
                  <a:rPr lang="en-US" sz="1200" b="0" i="0" u="none" strike="noStrike" baseline="0" dirty="0">
                    <a:latin typeface="Lato-Regular"/>
                  </a:rPr>
                  <a:t>Why does it help to write the number 10 as a fraction?</a:t>
                </a:r>
              </a:p>
              <a:p>
                <a:pPr marL="285750" indent="-285750" algn="l">
                  <a:buFont typeface="Arial" panose="020B0604020202020204" pitchFamily="34" charset="0"/>
                  <a:buChar char="•"/>
                </a:pPr>
                <a:r>
                  <a:rPr lang="en-US" sz="1200" b="0" i="0" u="none" strike="noStrike" baseline="0" dirty="0">
                    <a:latin typeface="Lato-Regular"/>
                  </a:rPr>
                  <a:t>Why is this graph increasing?</a:t>
                </a:r>
              </a:p>
              <a:p>
                <a:pPr marL="285750" indent="-285750" algn="l">
                  <a:buFont typeface="Arial" panose="020B0604020202020204" pitchFamily="34" charset="0"/>
                  <a:buChar char="•"/>
                </a:pPr>
                <a:r>
                  <a:rPr lang="en-US" sz="1200" b="0" i="0" u="none" strike="noStrike" baseline="0" dirty="0">
                    <a:latin typeface="Lato-Regular"/>
                  </a:rPr>
                  <a:t>Use the graph to show how the total savings increases by 15 for every one lawn mowed?</a:t>
                </a:r>
              </a:p>
              <a:p>
                <a:pPr marL="285750" indent="-285750" algn="l">
                  <a:buFont typeface="Arial" panose="020B0604020202020204" pitchFamily="34" charset="0"/>
                  <a:buChar char="•"/>
                </a:pPr>
                <a:r>
                  <a:rPr lang="en-US" sz="1200" b="0" i="0" u="none" strike="noStrike" baseline="0" dirty="0">
                    <a:latin typeface="Lato-Regular"/>
                  </a:rPr>
                  <a:t>Why is this graph decreasing?</a:t>
                </a:r>
              </a:p>
              <a:p>
                <a:pPr marL="285750" indent="-285750" algn="l">
                  <a:buFont typeface="Arial" panose="020B0604020202020204" pitchFamily="34" charset="0"/>
                  <a:buChar char="•"/>
                </a:pPr>
                <a:r>
                  <a:rPr lang="en-US" sz="1200" b="0" i="0" u="none" strike="noStrike" baseline="0" dirty="0">
                    <a:latin typeface="Lato-Regular"/>
                  </a:rPr>
                  <a:t>Use the graph to show how the amount owed decreased by 10 for every one week.</a:t>
                </a:r>
              </a:p>
              <a:p>
                <a:pPr marL="0" indent="0" algn="l">
                  <a:buFont typeface="Arial" panose="020B0604020202020204" pitchFamily="34" charset="0"/>
                  <a:buNone/>
                </a:pPr>
                <a:endParaRPr lang="en-US" sz="1200" dirty="0">
                  <a:latin typeface="Calibri" panose="020F0502020204030204" pitchFamily="34" charset="0"/>
                  <a:ea typeface="Calibri" panose="020F0502020204030204" pitchFamily="34" charset="0"/>
                  <a:cs typeface="Calibri" panose="020F0502020204030204" pitchFamily="34" charset="0"/>
                </a:endParaRPr>
              </a:p>
            </p:txBody>
          </p:sp>
        </mc:Fallback>
      </mc:AlternateContent>
      <p:sp>
        <p:nvSpPr>
          <p:cNvPr id="4" name="Slide Number Placeholder 3">
            <a:extLst>
              <a:ext uri="{FF2B5EF4-FFF2-40B4-BE49-F238E27FC236}">
                <a16:creationId xmlns:a16="http://schemas.microsoft.com/office/drawing/2014/main" id="{5C350FA1-5694-D695-DAB1-C3D99C42E2D4}"/>
              </a:ext>
            </a:extLst>
          </p:cNvPr>
          <p:cNvSpPr>
            <a:spLocks noGrp="1"/>
          </p:cNvSpPr>
          <p:nvPr>
            <p:ph type="sldNum" sz="quarter" idx="5"/>
          </p:nvPr>
        </p:nvSpPr>
        <p:spPr/>
        <p:txBody>
          <a:bodyPr/>
          <a:lstStyle/>
          <a:p>
            <a:fld id="{BB5E49A5-4136-284D-997B-48E1D791AD67}" type="slidenum">
              <a:rPr lang="en-US" smtClean="0"/>
              <a:t>18</a:t>
            </a:fld>
            <a:endParaRPr lang="en-US"/>
          </a:p>
        </p:txBody>
      </p:sp>
    </p:spTree>
    <p:extLst>
      <p:ext uri="{BB962C8B-B14F-4D97-AF65-F5344CB8AC3E}">
        <p14:creationId xmlns:p14="http://schemas.microsoft.com/office/powerpoint/2010/main" val="4292159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240FBA-3506-801F-77FB-8AF47ADB84A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A277B06-F48F-D602-C50C-D24085F6C3B6}"/>
              </a:ext>
            </a:extLst>
          </p:cNvPr>
          <p:cNvSpPr>
            <a:spLocks noGrp="1" noRot="1" noChangeAspect="1"/>
          </p:cNvSpPr>
          <p:nvPr>
            <p:ph type="sldImg"/>
          </p:nvPr>
        </p:nvSpPr>
        <p:spPr>
          <a:xfrm>
            <a:off x="382588" y="685800"/>
            <a:ext cx="6092825" cy="3429000"/>
          </a:xfrm>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787569EC-2C58-1704-A827-72EAF7189BB3}"/>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rPr>
                  <a:t> To close Day 1, have students reread the Essential Question and then read the Stamp the Learning summary aloud.</a:t>
                </a: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Activity 5.1 Summary:</a:t>
                </a:r>
              </a:p>
              <a:p>
                <a:pPr marL="0" marR="0" lvl="0" indent="0" algn="l" defTabSz="457200" rtl="0" eaLnBrk="1" fontAlgn="auto" latinLnBrk="0" hangingPunct="1">
                  <a:lnSpc>
                    <a:spcPct val="100000"/>
                  </a:lnSpc>
                  <a:spcBef>
                    <a:spcPts val="0"/>
                  </a:spcBef>
                  <a:spcAft>
                    <a:spcPts val="0"/>
                  </a:spcAft>
                  <a:buClrTx/>
                  <a:buSzTx/>
                  <a:buFontTx/>
                  <a:buNone/>
                  <a:tabLst/>
                  <a:defRPr/>
                </a:pPr>
                <a:r>
                  <a:rPr lang="en-US" sz="120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An equation written in slope-intercept form can be graphed by first plotting the </a:t>
                </a:r>
                <a:r>
                  <a:rPr lang="en-US" sz="1200" b="0" i="1"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y</a:t>
                </a:r>
                <a:r>
                  <a:rPr lang="en-US" sz="120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-intercept and then using the slope to locate two additional points by counting from that initial point.</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 name="Notes Placeholder 2">
                <a:extLst>
                  <a:ext uri="{FF2B5EF4-FFF2-40B4-BE49-F238E27FC236}">
                    <a16:creationId xmlns:a16="http://schemas.microsoft.com/office/drawing/2014/main" id="{787569EC-2C58-1704-A827-72EAF7189BB3}"/>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200" b="1" dirty="0">
                    <a:latin typeface="Calibri" panose="020F0502020204030204" pitchFamily="34" charset="0"/>
                    <a:ea typeface="Calibri" panose="020F0502020204030204" pitchFamily="34" charset="0"/>
                    <a:cs typeface="Calibri" panose="020F0502020204030204" pitchFamily="34" charset="0"/>
                  </a:rPr>
                  <a:t>Note:</a:t>
                </a:r>
                <a:r>
                  <a:rPr lang="en-US" sz="1200" b="0" dirty="0">
                    <a:latin typeface="Calibri" panose="020F0502020204030204" pitchFamily="34" charset="0"/>
                    <a:ea typeface="Calibri" panose="020F0502020204030204" pitchFamily="34" charset="0"/>
                    <a:cs typeface="Calibri" panose="020F0502020204030204" pitchFamily="34" charset="0"/>
                  </a:rPr>
                  <a:t> To close Day 1, have students reread the Essential Question and then read the Stamp the Learning summary aloud.</a:t>
                </a:r>
                <a:endParaRPr lang="en-US" sz="1200" b="1" dirty="0">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endParaRPr lang="en-US" sz="1200" b="1" dirty="0">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sz="1200" b="1" dirty="0">
                    <a:latin typeface="Calibri" panose="020F0502020204030204" pitchFamily="34" charset="0"/>
                    <a:ea typeface="Calibri" panose="020F0502020204030204" pitchFamily="34" charset="0"/>
                    <a:cs typeface="Calibri" panose="020F0502020204030204" pitchFamily="34" charset="0"/>
                  </a:rPr>
                  <a:t>Activity 3.1 Summary:</a:t>
                </a:r>
              </a:p>
              <a:p>
                <a:pPr marL="0" marR="0" lvl="0" indent="0" algn="l" defTabSz="457200" rtl="0" eaLnBrk="1" fontAlgn="auto" latinLnBrk="0" hangingPunct="1">
                  <a:lnSpc>
                    <a:spcPct val="100000"/>
                  </a:lnSpc>
                  <a:spcBef>
                    <a:spcPts val="0"/>
                  </a:spcBef>
                  <a:spcAft>
                    <a:spcPts val="0"/>
                  </a:spcAft>
                  <a:buClrTx/>
                  <a:buSzTx/>
                  <a:buFontTx/>
                  <a:buNone/>
                  <a:tabLst/>
                  <a:defRPr/>
                </a:pPr>
                <a:r>
                  <a:rPr lang="en-US" sz="1200" b="0" i="0" u="none" strike="noStrike" dirty="0">
                    <a:solidFill>
                      <a:srgbClr val="000000"/>
                    </a:solidFill>
                    <a:effectLst/>
                    <a:latin typeface="Calibri" panose="020F0502020204030204" pitchFamily="34" charset="0"/>
                  </a:rPr>
                  <a:t>All sequences are functions. All arithmetic sequences are linear functions. The explicit formula of an arithmetic sequence can be rewritten as a linear function. The common difference of an arithmetic sequence is the same as the slope of its linear function. The value of </a:t>
                </a:r>
                <a:r>
                  <a:rPr lang="en-US" sz="1200" b="0" i="0" u="none" strike="noStrike">
                    <a:solidFill>
                      <a:srgbClr val="000000"/>
                    </a:solidFill>
                    <a:effectLst/>
                    <a:latin typeface="Cambria Math" panose="02040503050406030204" pitchFamily="18" charset="0"/>
                  </a:rPr>
                  <a:t>𝑎_1</a:t>
                </a:r>
                <a:r>
                  <a:rPr lang="en-US" sz="1200" b="0" i="0" u="none" strike="noStrike" dirty="0">
                    <a:solidFill>
                      <a:srgbClr val="000000"/>
                    </a:solidFill>
                    <a:effectLst/>
                    <a:latin typeface="Calibri" panose="020F0502020204030204" pitchFamily="34" charset="0"/>
                  </a:rPr>
                  <a:t>of a sequence is equal to </a:t>
                </a:r>
                <a:r>
                  <a:rPr lang="en-US" sz="1200" b="0" i="0" u="none" strike="noStrike" dirty="0">
                    <a:solidFill>
                      <a:srgbClr val="000000"/>
                    </a:solidFill>
                    <a:effectLst/>
                    <a:latin typeface="Cambria Math" panose="02040503050406030204" pitchFamily="18" charset="0"/>
                  </a:rPr>
                  <a:t>𝑓(1) </a:t>
                </a:r>
                <a:r>
                  <a:rPr lang="en-US" sz="1200" b="0" i="0" u="none" strike="noStrike" dirty="0">
                    <a:solidFill>
                      <a:srgbClr val="000000"/>
                    </a:solidFill>
                    <a:effectLst/>
                    <a:latin typeface="Calibri" panose="020F0502020204030204" pitchFamily="34" charset="0"/>
                  </a:rPr>
                  <a:t>of its linear function.</a:t>
                </a:r>
                <a:endParaRPr lang="en-US" dirty="0"/>
              </a:p>
            </p:txBody>
          </p:sp>
        </mc:Fallback>
      </mc:AlternateContent>
      <p:sp>
        <p:nvSpPr>
          <p:cNvPr id="4" name="Slide Number Placeholder 3">
            <a:extLst>
              <a:ext uri="{FF2B5EF4-FFF2-40B4-BE49-F238E27FC236}">
                <a16:creationId xmlns:a16="http://schemas.microsoft.com/office/drawing/2014/main" id="{3B123B4E-1179-99E9-868A-00DA33A6BA4D}"/>
              </a:ext>
            </a:extLst>
          </p:cNvPr>
          <p:cNvSpPr>
            <a:spLocks noGrp="1"/>
          </p:cNvSpPr>
          <p:nvPr>
            <p:ph type="sldNum" sz="quarter" idx="5"/>
          </p:nvPr>
        </p:nvSpPr>
        <p:spPr/>
        <p:txBody>
          <a:bodyPr/>
          <a:lstStyle/>
          <a:p>
            <a:fld id="{BB5E49A5-4136-284D-997B-48E1D791AD67}" type="slidenum">
              <a:rPr lang="en-US" smtClean="0"/>
              <a:t>19</a:t>
            </a:fld>
            <a:endParaRPr lang="en-US"/>
          </a:p>
        </p:txBody>
      </p:sp>
    </p:spTree>
    <p:extLst>
      <p:ext uri="{BB962C8B-B14F-4D97-AF65-F5344CB8AC3E}">
        <p14:creationId xmlns:p14="http://schemas.microsoft.com/office/powerpoint/2010/main" val="128491829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2E3CC3-1005-B560-774A-613EEC3BF3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178F45-373D-EDAC-EF0C-A2FF131119EC}"/>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D0AB30D5-0727-9755-A84A-0EB217820E07}"/>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 </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This slide is blank for optional use with displaying work.</a:t>
            </a:r>
            <a:endParaRPr lang="en-US"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0AA651E8-3BAB-90A2-0A7E-A69240115A12}"/>
              </a:ext>
            </a:extLst>
          </p:cNvPr>
          <p:cNvSpPr>
            <a:spLocks noGrp="1"/>
          </p:cNvSpPr>
          <p:nvPr>
            <p:ph type="sldNum" sz="quarter" idx="5"/>
          </p:nvPr>
        </p:nvSpPr>
        <p:spPr/>
        <p:txBody>
          <a:bodyPr/>
          <a:lstStyle/>
          <a:p>
            <a:fld id="{BB5E49A5-4136-284D-997B-48E1D791AD67}" type="slidenum">
              <a:rPr lang="en-US" smtClean="0"/>
              <a:t>20</a:t>
            </a:fld>
            <a:endParaRPr lang="en-US"/>
          </a:p>
        </p:txBody>
      </p:sp>
    </p:spTree>
    <p:extLst>
      <p:ext uri="{BB962C8B-B14F-4D97-AF65-F5344CB8AC3E}">
        <p14:creationId xmlns:p14="http://schemas.microsoft.com/office/powerpoint/2010/main" val="283780245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9AEAA9-EAA2-393D-1AF8-CA349F47CC7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B8DE1BD-96E0-F04E-04F2-67090E0B46A1}"/>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AA16CE72-B3C4-6F9C-452E-B8BDA8E422D0}"/>
              </a:ext>
            </a:extLst>
          </p:cNvPr>
          <p:cNvSpPr>
            <a:spLocks noGrp="1"/>
          </p:cNvSpPr>
          <p:nvPr>
            <p:ph type="body" idx="1"/>
          </p:nvPr>
        </p:nvSpPr>
        <p:spPr/>
        <p:txBody>
          <a:bodyPr/>
          <a:lstStyle/>
          <a:p>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 </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Total suggested pacing for Day 2 is 45 minutes.</a:t>
            </a:r>
          </a:p>
        </p:txBody>
      </p:sp>
      <p:sp>
        <p:nvSpPr>
          <p:cNvPr id="4" name="Slide Number Placeholder 3">
            <a:extLst>
              <a:ext uri="{FF2B5EF4-FFF2-40B4-BE49-F238E27FC236}">
                <a16:creationId xmlns:a16="http://schemas.microsoft.com/office/drawing/2014/main" id="{CDBFF8BD-8CD3-0498-7E9D-88CF15D0474A}"/>
              </a:ext>
            </a:extLst>
          </p:cNvPr>
          <p:cNvSpPr>
            <a:spLocks noGrp="1"/>
          </p:cNvSpPr>
          <p:nvPr>
            <p:ph type="sldNum" sz="quarter" idx="5"/>
          </p:nvPr>
        </p:nvSpPr>
        <p:spPr/>
        <p:txBody>
          <a:bodyPr/>
          <a:lstStyle/>
          <a:p>
            <a:fld id="{BB5E49A5-4136-284D-997B-48E1D791AD67}" type="slidenum">
              <a:rPr lang="en-US" smtClean="0"/>
              <a:t>21</a:t>
            </a:fld>
            <a:endParaRPr lang="en-US"/>
          </a:p>
        </p:txBody>
      </p:sp>
    </p:spTree>
    <p:extLst>
      <p:ext uri="{BB962C8B-B14F-4D97-AF65-F5344CB8AC3E}">
        <p14:creationId xmlns:p14="http://schemas.microsoft.com/office/powerpoint/2010/main" val="74899027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FA02D4-66A5-7350-8FD2-380B0C111BE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7EA3588-9B04-64CA-1FF5-5FC7A1EA8C9B}"/>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E821CBFF-D73A-2060-EEDE-21E5C49BA9BC}"/>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Note: </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To begin Day 2, have a student read the Essential Question aloud.</a:t>
            </a: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DCA7C89A-E479-9C01-76C0-083698293B43}"/>
              </a:ext>
            </a:extLst>
          </p:cNvPr>
          <p:cNvSpPr>
            <a:spLocks noGrp="1"/>
          </p:cNvSpPr>
          <p:nvPr>
            <p:ph type="sldNum" sz="quarter" idx="5"/>
          </p:nvPr>
        </p:nvSpPr>
        <p:spPr/>
        <p:txBody>
          <a:bodyPr/>
          <a:lstStyle/>
          <a:p>
            <a:fld id="{BB5E49A5-4136-284D-997B-48E1D791AD67}" type="slidenum">
              <a:rPr lang="en-US" smtClean="0"/>
              <a:t>22</a:t>
            </a:fld>
            <a:endParaRPr lang="en-US"/>
          </a:p>
        </p:txBody>
      </p:sp>
    </p:spTree>
    <p:extLst>
      <p:ext uri="{BB962C8B-B14F-4D97-AF65-F5344CB8AC3E}">
        <p14:creationId xmlns:p14="http://schemas.microsoft.com/office/powerpoint/2010/main" val="29888466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3F77C1-C9E8-ACB9-0AE9-C765C7DF56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6425A2E-C70B-BE83-B622-B165F4D6A79E}"/>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1D6DED6B-2583-3B9C-3671-68DE4AE0910C}"/>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Total time of 15-20 minutes allotted for Activity 5.2.</a:t>
            </a:r>
          </a:p>
        </p:txBody>
      </p:sp>
      <p:sp>
        <p:nvSpPr>
          <p:cNvPr id="4" name="Slide Number Placeholder 3">
            <a:extLst>
              <a:ext uri="{FF2B5EF4-FFF2-40B4-BE49-F238E27FC236}">
                <a16:creationId xmlns:a16="http://schemas.microsoft.com/office/drawing/2014/main" id="{DD1DCAEA-EAD2-6DA6-F7A8-CF8385F5F0D1}"/>
              </a:ext>
            </a:extLst>
          </p:cNvPr>
          <p:cNvSpPr>
            <a:spLocks noGrp="1"/>
          </p:cNvSpPr>
          <p:nvPr>
            <p:ph type="sldNum" sz="quarter" idx="5"/>
          </p:nvPr>
        </p:nvSpPr>
        <p:spPr/>
        <p:txBody>
          <a:bodyPr/>
          <a:lstStyle/>
          <a:p>
            <a:fld id="{BB5E49A5-4136-284D-997B-48E1D791AD67}" type="slidenum">
              <a:rPr lang="en-US" smtClean="0"/>
              <a:t>23</a:t>
            </a:fld>
            <a:endParaRPr lang="en-US"/>
          </a:p>
        </p:txBody>
      </p:sp>
    </p:spTree>
    <p:extLst>
      <p:ext uri="{BB962C8B-B14F-4D97-AF65-F5344CB8AC3E}">
        <p14:creationId xmlns:p14="http://schemas.microsoft.com/office/powerpoint/2010/main" val="286531982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lang="en-US"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latin typeface="Calibri" panose="020F0502020204030204" pitchFamily="34" charset="0"/>
                    <a:ea typeface="Calibri" panose="020F0502020204030204" pitchFamily="34" charset="0"/>
                    <a:cs typeface="Calibri" panose="020F0502020204030204" pitchFamily="34" charset="0"/>
                  </a:rPr>
                  <a:t>How could you rewrite this equation in </a:t>
                </a:r>
                <a:r>
                  <a:rPr lang="en-US" b="0" i="0">
                    <a:latin typeface="Cambria Math" panose="02040503050406030204" pitchFamily="18" charset="0"/>
                    <a:ea typeface="Calibri" panose="020F0502020204030204" pitchFamily="34" charset="0"/>
                    <a:cs typeface="Calibri" panose="020F0502020204030204" pitchFamily="34" charset="0"/>
                  </a:rPr>
                  <a:t>𝑦=𝑚𝑥+𝑏 </a:t>
                </a:r>
                <a:r>
                  <a:rPr lang="en-US" dirty="0">
                    <a:latin typeface="Calibri" panose="020F0502020204030204" pitchFamily="34" charset="0"/>
                    <a:ea typeface="Calibri" panose="020F0502020204030204" pitchFamily="34" charset="0"/>
                    <a:cs typeface="Calibri" panose="020F0502020204030204" pitchFamily="34" charset="0"/>
                  </a:rPr>
                  <a:t>form?</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latin typeface="Calibri" panose="020F0502020204030204" pitchFamily="34" charset="0"/>
                    <a:ea typeface="Calibri" panose="020F0502020204030204" pitchFamily="34" charset="0"/>
                    <a:cs typeface="Calibri" panose="020F0502020204030204" pitchFamily="34" charset="0"/>
                  </a:rPr>
                  <a:t>How do you know that this graph has a </a:t>
                </a:r>
                <a:r>
                  <a:rPr lang="en-US" i="1" dirty="0">
                    <a:latin typeface="Calibri" panose="020F0502020204030204" pitchFamily="34" charset="0"/>
                    <a:ea typeface="Calibri" panose="020F0502020204030204" pitchFamily="34" charset="0"/>
                    <a:cs typeface="Calibri" panose="020F0502020204030204" pitchFamily="34" charset="0"/>
                  </a:rPr>
                  <a:t>y</a:t>
                </a:r>
                <a:r>
                  <a:rPr lang="en-US" dirty="0">
                    <a:latin typeface="Calibri" panose="020F0502020204030204" pitchFamily="34" charset="0"/>
                    <a:ea typeface="Calibri" panose="020F0502020204030204" pitchFamily="34" charset="0"/>
                    <a:cs typeface="Calibri" panose="020F0502020204030204" pitchFamily="34" charset="0"/>
                  </a:rPr>
                  <a:t>-intercept?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latin typeface="Calibri" panose="020F0502020204030204" pitchFamily="34" charset="0"/>
                    <a:ea typeface="Calibri" panose="020F0502020204030204" pitchFamily="34" charset="0"/>
                    <a:cs typeface="Calibri" panose="020F0502020204030204" pitchFamily="34" charset="0"/>
                  </a:rPr>
                  <a:t>Does the graph of this line pass through (0, -6) or (-6, 0)?</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latin typeface="Calibri" panose="020F0502020204030204" pitchFamily="34" charset="0"/>
                    <a:ea typeface="Calibri" panose="020F0502020204030204" pitchFamily="34" charset="0"/>
                    <a:cs typeface="Calibri" panose="020F0502020204030204" pitchFamily="34" charset="0"/>
                  </a:rPr>
                  <a:t>When given ordered pairs, how do you know what variable and value to use for your equation?</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latin typeface="Calibri" panose="020F0502020204030204" pitchFamily="34" charset="0"/>
                    <a:ea typeface="Calibri" panose="020F0502020204030204" pitchFamily="34" charset="0"/>
                    <a:cs typeface="Calibri" panose="020F0502020204030204" pitchFamily="34" charset="0"/>
                  </a:rPr>
                  <a:t>Why can’t you write this equation in </a:t>
                </a:r>
                <a:r>
                  <a:rPr lang="en-US" b="0" i="0">
                    <a:latin typeface="Cambria Math" panose="02040503050406030204" pitchFamily="18" charset="0"/>
                    <a:ea typeface="Calibri" panose="020F0502020204030204" pitchFamily="34" charset="0"/>
                    <a:cs typeface="Calibri" panose="020F0502020204030204" pitchFamily="34" charset="0"/>
                  </a:rPr>
                  <a:t>𝑦=𝑚𝑥+𝑏 </a:t>
                </a:r>
                <a:r>
                  <a:rPr lang="en-US" dirty="0">
                    <a:latin typeface="Calibri" panose="020F0502020204030204" pitchFamily="34" charset="0"/>
                    <a:ea typeface="Calibri" panose="020F0502020204030204" pitchFamily="34" charset="0"/>
                    <a:cs typeface="Calibri" panose="020F0502020204030204" pitchFamily="34" charset="0"/>
                  </a:rPr>
                  <a:t>form?</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latin typeface="Calibri" panose="020F0502020204030204" pitchFamily="34" charset="0"/>
                    <a:ea typeface="Calibri" panose="020F0502020204030204" pitchFamily="34" charset="0"/>
                    <a:cs typeface="Calibri" panose="020F0502020204030204" pitchFamily="34" charset="0"/>
                  </a:rPr>
                  <a:t>Why does it make sense that the slope is undefined?</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sz="1200" dirty="0">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Gathering:</a:t>
                </a:r>
                <a:endParaRPr lang="en-US" b="0" dirty="0">
                  <a:latin typeface="Calibri" panose="020F0502020204030204" pitchFamily="34" charset="0"/>
                  <a:ea typeface="Calibri" panose="020F0502020204030204" pitchFamily="34" charset="0"/>
                  <a:cs typeface="Calibri" panose="020F0502020204030204" pitchFamily="34" charset="0"/>
                </a:endParaRP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b="0" dirty="0">
                    <a:latin typeface="Calibri" panose="020F0502020204030204" pitchFamily="34" charset="0"/>
                    <a:ea typeface="Calibri" panose="020F0502020204030204" pitchFamily="34" charset="0"/>
                    <a:cs typeface="Calibri" panose="020F0502020204030204" pitchFamily="34" charset="0"/>
                  </a:rPr>
                  <a:t>When given ordered pairs, how do you know which variable and value to use for your equation?</a:t>
                </a:r>
              </a:p>
            </p:txBody>
          </p:sp>
        </mc:Fallback>
      </mc:AlternateContent>
      <p:sp>
        <p:nvSpPr>
          <p:cNvPr id="4" name="Slide Number Placeholder 3"/>
          <p:cNvSpPr>
            <a:spLocks noGrp="1"/>
          </p:cNvSpPr>
          <p:nvPr>
            <p:ph type="sldNum" sz="quarter" idx="5"/>
          </p:nvPr>
        </p:nvSpPr>
        <p:spPr/>
        <p:txBody>
          <a:bodyPr/>
          <a:lstStyle/>
          <a:p>
            <a:fld id="{BB5E49A5-4136-284D-997B-48E1D791AD67}" type="slidenum">
              <a:rPr lang="en-US" smtClean="0"/>
              <a:t>24</a:t>
            </a:fld>
            <a:endParaRPr lang="en-US"/>
          </a:p>
        </p:txBody>
      </p:sp>
    </p:spTree>
    <p:extLst>
      <p:ext uri="{BB962C8B-B14F-4D97-AF65-F5344CB8AC3E}">
        <p14:creationId xmlns:p14="http://schemas.microsoft.com/office/powerpoint/2010/main" val="183361949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9F301B-195C-A763-B666-831C8F03EB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7BB39A-1B60-DF08-B455-E31325F07D7A}"/>
              </a:ext>
            </a:extLst>
          </p:cNvPr>
          <p:cNvSpPr>
            <a:spLocks noGrp="1" noRot="1" noChangeAspect="1"/>
          </p:cNvSpPr>
          <p:nvPr>
            <p:ph type="sldImg"/>
          </p:nvPr>
        </p:nvSpPr>
        <p:spPr>
          <a:xfrm>
            <a:off x="382588" y="685800"/>
            <a:ext cx="6092825" cy="3429000"/>
          </a:xfrm>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08CEABAA-A82E-3243-EAA3-CC61736540D6}"/>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Why did it make sense to use the point-slope form for this situation?</a:t>
                </a: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endParaRPr lang="en-US"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b="0" dirty="0">
                    <a:solidFill>
                      <a:srgbClr val="000000"/>
                    </a:solidFill>
                    <a:latin typeface="Calibri" panose="020F0502020204030204" pitchFamily="34" charset="0"/>
                    <a:ea typeface="Calibri" panose="020F0502020204030204" pitchFamily="34" charset="0"/>
                    <a:cs typeface="Calibri" panose="020F0502020204030204" pitchFamily="34" charset="0"/>
                  </a:rPr>
                  <a:t>What other way did you express the slope </a:t>
                </a:r>
                <a14:m>
                  <m:oMath xmlns:m="http://schemas.openxmlformats.org/officeDocument/2006/math">
                    <m:f>
                      <m:fPr>
                        <m:ctrlPr>
                          <a:rPr lang="en-US" b="0" i="1" smtClean="0">
                            <a:solidFill>
                              <a:srgbClr val="000000"/>
                            </a:solidFill>
                            <a:latin typeface="Cambria Math" panose="02040503050406030204" pitchFamily="18" charset="0"/>
                            <a:cs typeface="Calibri" panose="020F0502020204030204" pitchFamily="34" charset="0"/>
                          </a:rPr>
                        </m:ctrlPr>
                      </m:fPr>
                      <m:num>
                        <m:r>
                          <a:rPr lang="en-US" b="0" i="1" smtClean="0">
                            <a:solidFill>
                              <a:srgbClr val="000000"/>
                            </a:solidFill>
                            <a:latin typeface="Cambria Math" panose="02040503050406030204" pitchFamily="18" charset="0"/>
                            <a:cs typeface="Calibri" panose="020F0502020204030204" pitchFamily="34" charset="0"/>
                          </a:rPr>
                          <m:t>5</m:t>
                        </m:r>
                      </m:num>
                      <m:den>
                        <m:r>
                          <a:rPr lang="en-US" b="0" i="1" smtClean="0">
                            <a:solidFill>
                              <a:srgbClr val="000000"/>
                            </a:solidFill>
                            <a:latin typeface="Cambria Math" panose="02040503050406030204" pitchFamily="18" charset="0"/>
                            <a:cs typeface="Calibri" panose="020F0502020204030204" pitchFamily="34" charset="0"/>
                          </a:rPr>
                          <m:t>1</m:t>
                        </m:r>
                      </m:den>
                    </m:f>
                  </m:oMath>
                </a14:m>
                <a:r>
                  <a:rPr lang="en-US" b="0" dirty="0">
                    <a:solidFill>
                      <a:srgbClr val="000000"/>
                    </a:solidFill>
                    <a:latin typeface="Calibri" panose="020F0502020204030204" pitchFamily="34" charset="0"/>
                    <a:ea typeface="Calibri" panose="020F0502020204030204" pitchFamily="34" charset="0"/>
                    <a:cs typeface="Calibri" panose="020F0502020204030204" pitchFamily="34" charset="0"/>
                  </a:rPr>
                  <a:t> to graph points on the other side of (3, 50)?</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is this process the same and different from graphing a point in slope-intercept form?</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What is the known point?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What are the two different ways you expressed the slope?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Reflecting and Justifying: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know that the direction of the line is correct?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rewrite the given rate to substitute the value for the slope in your equation?</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Reflecting and Justifying: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Why is this graph increasing?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Use the graph to show how the number of bracelets increased by 14 for every 1 hour.</a:t>
                </a:r>
                <a:endParaRPr lang="en-US"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 name="Notes Placeholder 2">
                <a:extLst>
                  <a:ext uri="{FF2B5EF4-FFF2-40B4-BE49-F238E27FC236}">
                    <a16:creationId xmlns:a16="http://schemas.microsoft.com/office/drawing/2014/main" id="{08CEABAA-A82E-3243-EAA3-CC61736540D6}"/>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latin typeface="Calibri" panose="020F0502020204030204" pitchFamily="34" charset="0"/>
                    <a:ea typeface="Calibri" panose="020F0502020204030204" pitchFamily="34" charset="0"/>
                    <a:cs typeface="Calibri" panose="020F0502020204030204" pitchFamily="34" charset="0"/>
                  </a:rPr>
                  <a:t>Why did it make sense to use the point-slope form for this situation?</a:t>
                </a: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sz="1200" dirty="0">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Probing:</a:t>
                </a:r>
                <a:endParaRPr lang="en-US" b="0" dirty="0">
                  <a:latin typeface="Calibri" panose="020F0502020204030204" pitchFamily="34" charset="0"/>
                  <a:ea typeface="Calibri" panose="020F0502020204030204" pitchFamily="34" charset="0"/>
                  <a:cs typeface="Calibri" panose="020F0502020204030204" pitchFamily="34" charset="0"/>
                </a:endParaRP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b="0" dirty="0">
                    <a:latin typeface="Calibri" panose="020F0502020204030204" pitchFamily="34" charset="0"/>
                    <a:ea typeface="Calibri" panose="020F0502020204030204" pitchFamily="34" charset="0"/>
                    <a:cs typeface="Calibri" panose="020F0502020204030204" pitchFamily="34" charset="0"/>
                  </a:rPr>
                  <a:t>What other way did you express the slope </a:t>
                </a:r>
                <a:r>
                  <a:rPr lang="en-US" b="0" i="0">
                    <a:latin typeface="Cambria Math" panose="02040503050406030204" pitchFamily="18" charset="0"/>
                    <a:cs typeface="Calibri" panose="020F0502020204030204" pitchFamily="34" charset="0"/>
                  </a:rPr>
                  <a:t>5/1</a:t>
                </a:r>
                <a:r>
                  <a:rPr lang="en-US" b="0" dirty="0">
                    <a:latin typeface="Calibri" panose="020F0502020204030204" pitchFamily="34" charset="0"/>
                    <a:ea typeface="Calibri" panose="020F0502020204030204" pitchFamily="34" charset="0"/>
                    <a:cs typeface="Calibri" panose="020F0502020204030204" pitchFamily="34" charset="0"/>
                  </a:rPr>
                  <a:t>to graph points on the other side of (3, 50)?</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b="0" dirty="0">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latin typeface="Calibri" panose="020F0502020204030204" pitchFamily="34" charset="0"/>
                    <a:ea typeface="Calibri" panose="020F0502020204030204" pitchFamily="34" charset="0"/>
                    <a:cs typeface="Calibri" panose="020F0502020204030204" pitchFamily="34" charset="0"/>
                  </a:rPr>
                  <a:t>How is this process the same and different from graphing a point in slope-intercept form?</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b="0" dirty="0">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latin typeface="Calibri" panose="020F0502020204030204" pitchFamily="34" charset="0"/>
                    <a:ea typeface="Calibri" panose="020F0502020204030204" pitchFamily="34" charset="0"/>
                    <a:cs typeface="Calibri" panose="020F0502020204030204" pitchFamily="34" charset="0"/>
                  </a:rPr>
                  <a:t>What is the known point?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latin typeface="Calibri" panose="020F0502020204030204" pitchFamily="34" charset="0"/>
                    <a:ea typeface="Calibri" panose="020F0502020204030204" pitchFamily="34" charset="0"/>
                    <a:cs typeface="Calibri" panose="020F0502020204030204" pitchFamily="34" charset="0"/>
                  </a:rPr>
                  <a:t>What are the two different ways you expressed the slope?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b="0" dirty="0">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Reflecting and justifying: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latin typeface="Calibri" panose="020F0502020204030204" pitchFamily="34" charset="0"/>
                    <a:ea typeface="Calibri" panose="020F0502020204030204" pitchFamily="34" charset="0"/>
                    <a:cs typeface="Calibri" panose="020F0502020204030204" pitchFamily="34" charset="0"/>
                  </a:rPr>
                  <a:t>How do you know that the direction of the line is correct?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b="0" dirty="0">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latin typeface="Calibri" panose="020F0502020204030204" pitchFamily="34" charset="0"/>
                    <a:ea typeface="Calibri" panose="020F0502020204030204" pitchFamily="34" charset="0"/>
                    <a:cs typeface="Calibri" panose="020F0502020204030204" pitchFamily="34" charset="0"/>
                  </a:rPr>
                  <a:t>How did you rewrite the given rate to substitute the value for the slope in your equation?</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b="0" dirty="0">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Reflecting and justifying: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latin typeface="Calibri" panose="020F0502020204030204" pitchFamily="34" charset="0"/>
                    <a:ea typeface="Calibri" panose="020F0502020204030204" pitchFamily="34" charset="0"/>
                    <a:cs typeface="Calibri" panose="020F0502020204030204" pitchFamily="34" charset="0"/>
                  </a:rPr>
                  <a:t>Why is this graph increasing?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latin typeface="Calibri" panose="020F0502020204030204" pitchFamily="34" charset="0"/>
                    <a:ea typeface="Calibri" panose="020F0502020204030204" pitchFamily="34" charset="0"/>
                    <a:cs typeface="Calibri" panose="020F0502020204030204" pitchFamily="34" charset="0"/>
                  </a:rPr>
                  <a:t>Use the graph to show how the number of bracelets increased by 14 for every 1 hour.</a:t>
                </a:r>
                <a:endParaRPr lang="en-US" b="0" dirty="0">
                  <a:latin typeface="Calibri" panose="020F0502020204030204" pitchFamily="34" charset="0"/>
                  <a:ea typeface="Calibri" panose="020F0502020204030204" pitchFamily="34" charset="0"/>
                  <a:cs typeface="Calibri" panose="020F0502020204030204" pitchFamily="34" charset="0"/>
                </a:endParaRPr>
              </a:p>
            </p:txBody>
          </p:sp>
        </mc:Fallback>
      </mc:AlternateContent>
      <p:sp>
        <p:nvSpPr>
          <p:cNvPr id="4" name="Slide Number Placeholder 3">
            <a:extLst>
              <a:ext uri="{FF2B5EF4-FFF2-40B4-BE49-F238E27FC236}">
                <a16:creationId xmlns:a16="http://schemas.microsoft.com/office/drawing/2014/main" id="{7F9779CE-60B5-CB4B-0BFC-B92B1D8C8042}"/>
              </a:ext>
            </a:extLst>
          </p:cNvPr>
          <p:cNvSpPr>
            <a:spLocks noGrp="1"/>
          </p:cNvSpPr>
          <p:nvPr>
            <p:ph type="sldNum" sz="quarter" idx="5"/>
          </p:nvPr>
        </p:nvSpPr>
        <p:spPr/>
        <p:txBody>
          <a:bodyPr/>
          <a:lstStyle/>
          <a:p>
            <a:fld id="{BB5E49A5-4136-284D-997B-48E1D791AD67}" type="slidenum">
              <a:rPr lang="en-US" smtClean="0"/>
              <a:t>25</a:t>
            </a:fld>
            <a:endParaRPr lang="en-US"/>
          </a:p>
        </p:txBody>
      </p:sp>
    </p:spTree>
    <p:extLst>
      <p:ext uri="{BB962C8B-B14F-4D97-AF65-F5344CB8AC3E}">
        <p14:creationId xmlns:p14="http://schemas.microsoft.com/office/powerpoint/2010/main" val="398141656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AD4217-BE7F-3C71-27BD-3D4515C3CBF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B43860-5B52-B8C5-7B6F-F1E7DA753509}"/>
              </a:ext>
            </a:extLst>
          </p:cNvPr>
          <p:cNvSpPr>
            <a:spLocks noGrp="1" noRot="1" noChangeAspect="1"/>
          </p:cNvSpPr>
          <p:nvPr>
            <p:ph type="sldImg"/>
          </p:nvPr>
        </p:nvSpPr>
        <p:spPr>
          <a:xfrm>
            <a:off x="382588" y="685800"/>
            <a:ext cx="6092825" cy="3429000"/>
          </a:xfrm>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5D08E4CD-D865-751B-6893-7A063391D0E1}"/>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Why did it make sense to use the point-slope form for this situation?</a:t>
                </a: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endParaRPr lang="en-US"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b="0" dirty="0">
                    <a:solidFill>
                      <a:srgbClr val="000000"/>
                    </a:solidFill>
                    <a:latin typeface="Calibri" panose="020F0502020204030204" pitchFamily="34" charset="0"/>
                    <a:ea typeface="Calibri" panose="020F0502020204030204" pitchFamily="34" charset="0"/>
                    <a:cs typeface="Calibri" panose="020F0502020204030204" pitchFamily="34" charset="0"/>
                  </a:rPr>
                  <a:t>What other way did you express the slope </a:t>
                </a:r>
                <a14:m>
                  <m:oMath xmlns:m="http://schemas.openxmlformats.org/officeDocument/2006/math">
                    <m:f>
                      <m:fPr>
                        <m:ctrlPr>
                          <a:rPr lang="en-US" b="0" i="1" smtClean="0">
                            <a:solidFill>
                              <a:srgbClr val="000000"/>
                            </a:solidFill>
                            <a:latin typeface="Cambria Math" panose="02040503050406030204" pitchFamily="18" charset="0"/>
                            <a:cs typeface="Calibri" panose="020F0502020204030204" pitchFamily="34" charset="0"/>
                          </a:rPr>
                        </m:ctrlPr>
                      </m:fPr>
                      <m:num>
                        <m:r>
                          <a:rPr lang="en-US" b="0" i="1" smtClean="0">
                            <a:solidFill>
                              <a:srgbClr val="000000"/>
                            </a:solidFill>
                            <a:latin typeface="Cambria Math" panose="02040503050406030204" pitchFamily="18" charset="0"/>
                            <a:cs typeface="Calibri" panose="020F0502020204030204" pitchFamily="34" charset="0"/>
                          </a:rPr>
                          <m:t>5</m:t>
                        </m:r>
                      </m:num>
                      <m:den>
                        <m:r>
                          <a:rPr lang="en-US" b="0" i="1" smtClean="0">
                            <a:solidFill>
                              <a:srgbClr val="000000"/>
                            </a:solidFill>
                            <a:latin typeface="Cambria Math" panose="02040503050406030204" pitchFamily="18" charset="0"/>
                            <a:cs typeface="Calibri" panose="020F0502020204030204" pitchFamily="34" charset="0"/>
                          </a:rPr>
                          <m:t>1</m:t>
                        </m:r>
                      </m:den>
                    </m:f>
                  </m:oMath>
                </a14:m>
                <a:r>
                  <a:rPr lang="en-US" b="0" dirty="0">
                    <a:solidFill>
                      <a:srgbClr val="000000"/>
                    </a:solidFill>
                    <a:latin typeface="Calibri" panose="020F0502020204030204" pitchFamily="34" charset="0"/>
                    <a:ea typeface="Calibri" panose="020F0502020204030204" pitchFamily="34" charset="0"/>
                    <a:cs typeface="Calibri" panose="020F0502020204030204" pitchFamily="34" charset="0"/>
                  </a:rPr>
                  <a:t> to graph points on the other side of (3, 50)?</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is this process the same and different from graphing a point in slope-intercept form?</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What is the known point?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What are the two different ways you expressed the slope?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Reflecting and Justifying: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know that the direction of the line is correct?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rewrite the given rate to substitute the value for the slope in your equation?</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Reflecting and Justifying: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Why is this graph increasing?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Use the graph to show how the number of bracelets increased by 14 for every 1 hour.</a:t>
                </a:r>
                <a:endParaRPr lang="en-US"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 name="Notes Placeholder 2">
                <a:extLst>
                  <a:ext uri="{FF2B5EF4-FFF2-40B4-BE49-F238E27FC236}">
                    <a16:creationId xmlns:a16="http://schemas.microsoft.com/office/drawing/2014/main" id="{5D08E4CD-D865-751B-6893-7A063391D0E1}"/>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latin typeface="Calibri" panose="020F0502020204030204" pitchFamily="34" charset="0"/>
                    <a:ea typeface="Calibri" panose="020F0502020204030204" pitchFamily="34" charset="0"/>
                    <a:cs typeface="Calibri" panose="020F0502020204030204" pitchFamily="34" charset="0"/>
                  </a:rPr>
                  <a:t>Why did it make sense to use the point-slope form for this situation?</a:t>
                </a: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sz="1200" dirty="0">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Probing:</a:t>
                </a:r>
                <a:endParaRPr lang="en-US" b="0" dirty="0">
                  <a:latin typeface="Calibri" panose="020F0502020204030204" pitchFamily="34" charset="0"/>
                  <a:ea typeface="Calibri" panose="020F0502020204030204" pitchFamily="34" charset="0"/>
                  <a:cs typeface="Calibri" panose="020F0502020204030204" pitchFamily="34" charset="0"/>
                </a:endParaRP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b="0" dirty="0">
                    <a:latin typeface="Calibri" panose="020F0502020204030204" pitchFamily="34" charset="0"/>
                    <a:ea typeface="Calibri" panose="020F0502020204030204" pitchFamily="34" charset="0"/>
                    <a:cs typeface="Calibri" panose="020F0502020204030204" pitchFamily="34" charset="0"/>
                  </a:rPr>
                  <a:t>What other way did you express the slope </a:t>
                </a:r>
                <a:r>
                  <a:rPr lang="en-US" b="0" i="0">
                    <a:latin typeface="Cambria Math" panose="02040503050406030204" pitchFamily="18" charset="0"/>
                    <a:cs typeface="Calibri" panose="020F0502020204030204" pitchFamily="34" charset="0"/>
                  </a:rPr>
                  <a:t>5/1</a:t>
                </a:r>
                <a:r>
                  <a:rPr lang="en-US" b="0" dirty="0">
                    <a:latin typeface="Calibri" panose="020F0502020204030204" pitchFamily="34" charset="0"/>
                    <a:ea typeface="Calibri" panose="020F0502020204030204" pitchFamily="34" charset="0"/>
                    <a:cs typeface="Calibri" panose="020F0502020204030204" pitchFamily="34" charset="0"/>
                  </a:rPr>
                  <a:t>to graph points on the other side of (3, 50)?</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b="0" dirty="0">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latin typeface="Calibri" panose="020F0502020204030204" pitchFamily="34" charset="0"/>
                    <a:ea typeface="Calibri" panose="020F0502020204030204" pitchFamily="34" charset="0"/>
                    <a:cs typeface="Calibri" panose="020F0502020204030204" pitchFamily="34" charset="0"/>
                  </a:rPr>
                  <a:t>How is this process the same and different from graphing a point in slope-intercept form?</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b="0" dirty="0">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latin typeface="Calibri" panose="020F0502020204030204" pitchFamily="34" charset="0"/>
                    <a:ea typeface="Calibri" panose="020F0502020204030204" pitchFamily="34" charset="0"/>
                    <a:cs typeface="Calibri" panose="020F0502020204030204" pitchFamily="34" charset="0"/>
                  </a:rPr>
                  <a:t>What is the known point?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latin typeface="Calibri" panose="020F0502020204030204" pitchFamily="34" charset="0"/>
                    <a:ea typeface="Calibri" panose="020F0502020204030204" pitchFamily="34" charset="0"/>
                    <a:cs typeface="Calibri" panose="020F0502020204030204" pitchFamily="34" charset="0"/>
                  </a:rPr>
                  <a:t>What are the two different ways you expressed the slope?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b="0" dirty="0">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Reflecting and justifying: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latin typeface="Calibri" panose="020F0502020204030204" pitchFamily="34" charset="0"/>
                    <a:ea typeface="Calibri" panose="020F0502020204030204" pitchFamily="34" charset="0"/>
                    <a:cs typeface="Calibri" panose="020F0502020204030204" pitchFamily="34" charset="0"/>
                  </a:rPr>
                  <a:t>How do you know that the direction of the line is correct?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b="0" dirty="0">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latin typeface="Calibri" panose="020F0502020204030204" pitchFamily="34" charset="0"/>
                    <a:ea typeface="Calibri" panose="020F0502020204030204" pitchFamily="34" charset="0"/>
                    <a:cs typeface="Calibri" panose="020F0502020204030204" pitchFamily="34" charset="0"/>
                  </a:rPr>
                  <a:t>How did you rewrite the given rate to substitute the value for the slope in your equation?</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b="0" dirty="0">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Reflecting and justifying: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latin typeface="Calibri" panose="020F0502020204030204" pitchFamily="34" charset="0"/>
                    <a:ea typeface="Calibri" panose="020F0502020204030204" pitchFamily="34" charset="0"/>
                    <a:cs typeface="Calibri" panose="020F0502020204030204" pitchFamily="34" charset="0"/>
                  </a:rPr>
                  <a:t>Why is this graph increasing?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latin typeface="Calibri" panose="020F0502020204030204" pitchFamily="34" charset="0"/>
                    <a:ea typeface="Calibri" panose="020F0502020204030204" pitchFamily="34" charset="0"/>
                    <a:cs typeface="Calibri" panose="020F0502020204030204" pitchFamily="34" charset="0"/>
                  </a:rPr>
                  <a:t>Use the graph to show how the number of bracelets increased by 14 for every 1 hour.</a:t>
                </a:r>
                <a:endParaRPr lang="en-US" b="0" dirty="0">
                  <a:latin typeface="Calibri" panose="020F0502020204030204" pitchFamily="34" charset="0"/>
                  <a:ea typeface="Calibri" panose="020F0502020204030204" pitchFamily="34" charset="0"/>
                  <a:cs typeface="Calibri" panose="020F0502020204030204" pitchFamily="34" charset="0"/>
                </a:endParaRPr>
              </a:p>
            </p:txBody>
          </p:sp>
        </mc:Fallback>
      </mc:AlternateContent>
      <p:sp>
        <p:nvSpPr>
          <p:cNvPr id="4" name="Slide Number Placeholder 3">
            <a:extLst>
              <a:ext uri="{FF2B5EF4-FFF2-40B4-BE49-F238E27FC236}">
                <a16:creationId xmlns:a16="http://schemas.microsoft.com/office/drawing/2014/main" id="{811699B9-48C1-0158-52FE-54D94C636A37}"/>
              </a:ext>
            </a:extLst>
          </p:cNvPr>
          <p:cNvSpPr>
            <a:spLocks noGrp="1"/>
          </p:cNvSpPr>
          <p:nvPr>
            <p:ph type="sldNum" sz="quarter" idx="5"/>
          </p:nvPr>
        </p:nvSpPr>
        <p:spPr/>
        <p:txBody>
          <a:bodyPr/>
          <a:lstStyle/>
          <a:p>
            <a:fld id="{BB5E49A5-4136-284D-997B-48E1D791AD67}" type="slidenum">
              <a:rPr lang="en-US" smtClean="0"/>
              <a:t>26</a:t>
            </a:fld>
            <a:endParaRPr lang="en-US"/>
          </a:p>
        </p:txBody>
      </p:sp>
    </p:spTree>
    <p:extLst>
      <p:ext uri="{BB962C8B-B14F-4D97-AF65-F5344CB8AC3E}">
        <p14:creationId xmlns:p14="http://schemas.microsoft.com/office/powerpoint/2010/main" val="37848555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8BAD49-8F6F-BA62-2BBA-8363684FCD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645D07-1C15-A4C4-829F-CD68D8D9A68C}"/>
              </a:ext>
            </a:extLst>
          </p:cNvPr>
          <p:cNvSpPr>
            <a:spLocks noGrp="1" noRot="1" noChangeAspect="1"/>
          </p:cNvSpPr>
          <p:nvPr>
            <p:ph type="sldImg"/>
          </p:nvPr>
        </p:nvSpPr>
        <p:spPr>
          <a:xfrm>
            <a:off x="382588" y="685800"/>
            <a:ext cx="6092825" cy="3429000"/>
          </a:xfrm>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2DAC8E3A-6A00-9DFC-14DF-B1D1088C2102}"/>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Why did it make sense to use the point-slope form for this situation?</a:t>
                </a: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endParaRPr lang="en-US"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b="0" dirty="0">
                    <a:solidFill>
                      <a:srgbClr val="000000"/>
                    </a:solidFill>
                    <a:latin typeface="Calibri" panose="020F0502020204030204" pitchFamily="34" charset="0"/>
                    <a:ea typeface="Calibri" panose="020F0502020204030204" pitchFamily="34" charset="0"/>
                    <a:cs typeface="Calibri" panose="020F0502020204030204" pitchFamily="34" charset="0"/>
                  </a:rPr>
                  <a:t>What other way did you express the slope </a:t>
                </a:r>
                <a14:m>
                  <m:oMath xmlns:m="http://schemas.openxmlformats.org/officeDocument/2006/math">
                    <m:f>
                      <m:fPr>
                        <m:ctrlPr>
                          <a:rPr lang="en-US" b="0" i="1" smtClean="0">
                            <a:solidFill>
                              <a:srgbClr val="000000"/>
                            </a:solidFill>
                            <a:latin typeface="Cambria Math" panose="02040503050406030204" pitchFamily="18" charset="0"/>
                            <a:cs typeface="Calibri" panose="020F0502020204030204" pitchFamily="34" charset="0"/>
                          </a:rPr>
                        </m:ctrlPr>
                      </m:fPr>
                      <m:num>
                        <m:r>
                          <a:rPr lang="en-US" b="0" i="1" smtClean="0">
                            <a:solidFill>
                              <a:srgbClr val="000000"/>
                            </a:solidFill>
                            <a:latin typeface="Cambria Math" panose="02040503050406030204" pitchFamily="18" charset="0"/>
                            <a:cs typeface="Calibri" panose="020F0502020204030204" pitchFamily="34" charset="0"/>
                          </a:rPr>
                          <m:t>5</m:t>
                        </m:r>
                      </m:num>
                      <m:den>
                        <m:r>
                          <a:rPr lang="en-US" b="0" i="1" smtClean="0">
                            <a:solidFill>
                              <a:srgbClr val="000000"/>
                            </a:solidFill>
                            <a:latin typeface="Cambria Math" panose="02040503050406030204" pitchFamily="18" charset="0"/>
                            <a:cs typeface="Calibri" panose="020F0502020204030204" pitchFamily="34" charset="0"/>
                          </a:rPr>
                          <m:t>1</m:t>
                        </m:r>
                      </m:den>
                    </m:f>
                  </m:oMath>
                </a14:m>
                <a:r>
                  <a:rPr lang="en-US" b="0" dirty="0">
                    <a:solidFill>
                      <a:srgbClr val="000000"/>
                    </a:solidFill>
                    <a:latin typeface="Calibri" panose="020F0502020204030204" pitchFamily="34" charset="0"/>
                    <a:ea typeface="Calibri" panose="020F0502020204030204" pitchFamily="34" charset="0"/>
                    <a:cs typeface="Calibri" panose="020F0502020204030204" pitchFamily="34" charset="0"/>
                  </a:rPr>
                  <a:t> to graph points on the other side of (3, 50)?</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is this process the same and different from graphing a point in slope-intercept form?</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What is the known point?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What are the two different ways you expressed the slope?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Reflecting and Justifying: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know that the direction of the line is correct?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rewrite the given rate to substitute the value for the slope in your equation?</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Reflecting and Justifying: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Why is this graph increasing?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Use the graph to show how the number of bracelets increased by 14 for every 1 hour.</a:t>
                </a:r>
                <a:endParaRPr lang="en-US"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 name="Notes Placeholder 2">
                <a:extLst>
                  <a:ext uri="{FF2B5EF4-FFF2-40B4-BE49-F238E27FC236}">
                    <a16:creationId xmlns:a16="http://schemas.microsoft.com/office/drawing/2014/main" id="{2DAC8E3A-6A00-9DFC-14DF-B1D1088C2102}"/>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latin typeface="Calibri" panose="020F0502020204030204" pitchFamily="34" charset="0"/>
                    <a:ea typeface="Calibri" panose="020F0502020204030204" pitchFamily="34" charset="0"/>
                    <a:cs typeface="Calibri" panose="020F0502020204030204" pitchFamily="34" charset="0"/>
                  </a:rPr>
                  <a:t>Why did it make sense to use the point-slope form for this situation?</a:t>
                </a: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sz="1200" dirty="0">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Probing:</a:t>
                </a:r>
                <a:endParaRPr lang="en-US" b="0" dirty="0">
                  <a:latin typeface="Calibri" panose="020F0502020204030204" pitchFamily="34" charset="0"/>
                  <a:ea typeface="Calibri" panose="020F0502020204030204" pitchFamily="34" charset="0"/>
                  <a:cs typeface="Calibri" panose="020F0502020204030204" pitchFamily="34" charset="0"/>
                </a:endParaRP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b="0" dirty="0">
                    <a:latin typeface="Calibri" panose="020F0502020204030204" pitchFamily="34" charset="0"/>
                    <a:ea typeface="Calibri" panose="020F0502020204030204" pitchFamily="34" charset="0"/>
                    <a:cs typeface="Calibri" panose="020F0502020204030204" pitchFamily="34" charset="0"/>
                  </a:rPr>
                  <a:t>What other way did you express the slope </a:t>
                </a:r>
                <a:r>
                  <a:rPr lang="en-US" b="0" i="0">
                    <a:latin typeface="Cambria Math" panose="02040503050406030204" pitchFamily="18" charset="0"/>
                    <a:cs typeface="Calibri" panose="020F0502020204030204" pitchFamily="34" charset="0"/>
                  </a:rPr>
                  <a:t>5/1</a:t>
                </a:r>
                <a:r>
                  <a:rPr lang="en-US" b="0" dirty="0">
                    <a:latin typeface="Calibri" panose="020F0502020204030204" pitchFamily="34" charset="0"/>
                    <a:ea typeface="Calibri" panose="020F0502020204030204" pitchFamily="34" charset="0"/>
                    <a:cs typeface="Calibri" panose="020F0502020204030204" pitchFamily="34" charset="0"/>
                  </a:rPr>
                  <a:t>to graph points on the other side of (3, 50)?</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b="0" dirty="0">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latin typeface="Calibri" panose="020F0502020204030204" pitchFamily="34" charset="0"/>
                    <a:ea typeface="Calibri" panose="020F0502020204030204" pitchFamily="34" charset="0"/>
                    <a:cs typeface="Calibri" panose="020F0502020204030204" pitchFamily="34" charset="0"/>
                  </a:rPr>
                  <a:t>How is this process the same and different from graphing a point in slope-intercept form?</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b="0" dirty="0">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latin typeface="Calibri" panose="020F0502020204030204" pitchFamily="34" charset="0"/>
                    <a:ea typeface="Calibri" panose="020F0502020204030204" pitchFamily="34" charset="0"/>
                    <a:cs typeface="Calibri" panose="020F0502020204030204" pitchFamily="34" charset="0"/>
                  </a:rPr>
                  <a:t>What is the known point?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latin typeface="Calibri" panose="020F0502020204030204" pitchFamily="34" charset="0"/>
                    <a:ea typeface="Calibri" panose="020F0502020204030204" pitchFamily="34" charset="0"/>
                    <a:cs typeface="Calibri" panose="020F0502020204030204" pitchFamily="34" charset="0"/>
                  </a:rPr>
                  <a:t>What are the two different ways you expressed the slope?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b="0" dirty="0">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Reflecting and justifying: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latin typeface="Calibri" panose="020F0502020204030204" pitchFamily="34" charset="0"/>
                    <a:ea typeface="Calibri" panose="020F0502020204030204" pitchFamily="34" charset="0"/>
                    <a:cs typeface="Calibri" panose="020F0502020204030204" pitchFamily="34" charset="0"/>
                  </a:rPr>
                  <a:t>How do you know that the direction of the line is correct?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b="0" dirty="0">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latin typeface="Calibri" panose="020F0502020204030204" pitchFamily="34" charset="0"/>
                    <a:ea typeface="Calibri" panose="020F0502020204030204" pitchFamily="34" charset="0"/>
                    <a:cs typeface="Calibri" panose="020F0502020204030204" pitchFamily="34" charset="0"/>
                  </a:rPr>
                  <a:t>How did you rewrite the given rate to substitute the value for the slope in your equation?</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b="0" dirty="0">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Reflecting and justifying: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latin typeface="Calibri" panose="020F0502020204030204" pitchFamily="34" charset="0"/>
                    <a:ea typeface="Calibri" panose="020F0502020204030204" pitchFamily="34" charset="0"/>
                    <a:cs typeface="Calibri" panose="020F0502020204030204" pitchFamily="34" charset="0"/>
                  </a:rPr>
                  <a:t>Why is this graph increasing?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latin typeface="Calibri" panose="020F0502020204030204" pitchFamily="34" charset="0"/>
                    <a:ea typeface="Calibri" panose="020F0502020204030204" pitchFamily="34" charset="0"/>
                    <a:cs typeface="Calibri" panose="020F0502020204030204" pitchFamily="34" charset="0"/>
                  </a:rPr>
                  <a:t>Use the graph to show how the number of bracelets increased by 14 for every 1 hour.</a:t>
                </a:r>
                <a:endParaRPr lang="en-US" b="0" dirty="0">
                  <a:latin typeface="Calibri" panose="020F0502020204030204" pitchFamily="34" charset="0"/>
                  <a:ea typeface="Calibri" panose="020F0502020204030204" pitchFamily="34" charset="0"/>
                  <a:cs typeface="Calibri" panose="020F0502020204030204" pitchFamily="34" charset="0"/>
                </a:endParaRPr>
              </a:p>
            </p:txBody>
          </p:sp>
        </mc:Fallback>
      </mc:AlternateContent>
      <p:sp>
        <p:nvSpPr>
          <p:cNvPr id="4" name="Slide Number Placeholder 3">
            <a:extLst>
              <a:ext uri="{FF2B5EF4-FFF2-40B4-BE49-F238E27FC236}">
                <a16:creationId xmlns:a16="http://schemas.microsoft.com/office/drawing/2014/main" id="{3F93CEAF-F7B0-A53A-B043-C98A1ADE2187}"/>
              </a:ext>
            </a:extLst>
          </p:cNvPr>
          <p:cNvSpPr>
            <a:spLocks noGrp="1"/>
          </p:cNvSpPr>
          <p:nvPr>
            <p:ph type="sldNum" sz="quarter" idx="5"/>
          </p:nvPr>
        </p:nvSpPr>
        <p:spPr/>
        <p:txBody>
          <a:bodyPr/>
          <a:lstStyle/>
          <a:p>
            <a:fld id="{BB5E49A5-4136-284D-997B-48E1D791AD67}" type="slidenum">
              <a:rPr lang="en-US" smtClean="0"/>
              <a:t>27</a:t>
            </a:fld>
            <a:endParaRPr lang="en-US"/>
          </a:p>
        </p:txBody>
      </p:sp>
    </p:spTree>
    <p:extLst>
      <p:ext uri="{BB962C8B-B14F-4D97-AF65-F5344CB8AC3E}">
        <p14:creationId xmlns:p14="http://schemas.microsoft.com/office/powerpoint/2010/main" val="96709134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A7EF71-8380-86B7-4032-927694BE0B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E88E18E-6FD3-6184-EA90-C6786DD6F11A}"/>
              </a:ext>
            </a:extLst>
          </p:cNvPr>
          <p:cNvSpPr>
            <a:spLocks noGrp="1" noRot="1" noChangeAspect="1"/>
          </p:cNvSpPr>
          <p:nvPr>
            <p:ph type="sldImg"/>
          </p:nvPr>
        </p:nvSpPr>
        <p:spPr>
          <a:xfrm>
            <a:off x="382588" y="685800"/>
            <a:ext cx="6092825" cy="3429000"/>
          </a:xfrm>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D5913735-090D-7C05-036C-7CF3E4E902AA}"/>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Why did it make sense to use the point-slope form for this situation?</a:t>
                </a: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endParaRPr lang="en-US"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b="0" dirty="0">
                    <a:solidFill>
                      <a:srgbClr val="000000"/>
                    </a:solidFill>
                    <a:latin typeface="Calibri" panose="020F0502020204030204" pitchFamily="34" charset="0"/>
                    <a:ea typeface="Calibri" panose="020F0502020204030204" pitchFamily="34" charset="0"/>
                    <a:cs typeface="Calibri" panose="020F0502020204030204" pitchFamily="34" charset="0"/>
                  </a:rPr>
                  <a:t>What other way did you express the slope </a:t>
                </a:r>
                <a14:m>
                  <m:oMath xmlns:m="http://schemas.openxmlformats.org/officeDocument/2006/math">
                    <m:f>
                      <m:fPr>
                        <m:ctrlPr>
                          <a:rPr lang="en-US" b="0" i="1" smtClean="0">
                            <a:solidFill>
                              <a:srgbClr val="000000"/>
                            </a:solidFill>
                            <a:latin typeface="Cambria Math" panose="02040503050406030204" pitchFamily="18" charset="0"/>
                            <a:cs typeface="Calibri" panose="020F0502020204030204" pitchFamily="34" charset="0"/>
                          </a:rPr>
                        </m:ctrlPr>
                      </m:fPr>
                      <m:num>
                        <m:r>
                          <a:rPr lang="en-US" b="0" i="1" smtClean="0">
                            <a:solidFill>
                              <a:srgbClr val="000000"/>
                            </a:solidFill>
                            <a:latin typeface="Cambria Math" panose="02040503050406030204" pitchFamily="18" charset="0"/>
                            <a:cs typeface="Calibri" panose="020F0502020204030204" pitchFamily="34" charset="0"/>
                          </a:rPr>
                          <m:t>5</m:t>
                        </m:r>
                      </m:num>
                      <m:den>
                        <m:r>
                          <a:rPr lang="en-US" b="0" i="1" smtClean="0">
                            <a:solidFill>
                              <a:srgbClr val="000000"/>
                            </a:solidFill>
                            <a:latin typeface="Cambria Math" panose="02040503050406030204" pitchFamily="18" charset="0"/>
                            <a:cs typeface="Calibri" panose="020F0502020204030204" pitchFamily="34" charset="0"/>
                          </a:rPr>
                          <m:t>1</m:t>
                        </m:r>
                      </m:den>
                    </m:f>
                  </m:oMath>
                </a14:m>
                <a:r>
                  <a:rPr lang="en-US" b="0" dirty="0">
                    <a:solidFill>
                      <a:srgbClr val="000000"/>
                    </a:solidFill>
                    <a:latin typeface="Calibri" panose="020F0502020204030204" pitchFamily="34" charset="0"/>
                    <a:ea typeface="Calibri" panose="020F0502020204030204" pitchFamily="34" charset="0"/>
                    <a:cs typeface="Calibri" panose="020F0502020204030204" pitchFamily="34" charset="0"/>
                  </a:rPr>
                  <a:t> to graph points on the other side of (3, 50)?</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is this process the same and different from graphing a point in slope-intercept form?</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What is the known point?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What are the two different ways you expressed the slope?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Reflecting and Justifying: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know that the direction of the line is correct?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rewrite the given rate to substitute the value for the slope in your equation?</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Reflecting and Justifying: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Why is this graph increasing?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Use the graph to show how the number of bracelets increased by 14 for every 1 hour.</a:t>
                </a:r>
                <a:endParaRPr lang="en-US"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 name="Notes Placeholder 2">
                <a:extLst>
                  <a:ext uri="{FF2B5EF4-FFF2-40B4-BE49-F238E27FC236}">
                    <a16:creationId xmlns:a16="http://schemas.microsoft.com/office/drawing/2014/main" id="{D5913735-090D-7C05-036C-7CF3E4E902AA}"/>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latin typeface="Calibri" panose="020F0502020204030204" pitchFamily="34" charset="0"/>
                    <a:ea typeface="Calibri" panose="020F0502020204030204" pitchFamily="34" charset="0"/>
                    <a:cs typeface="Calibri" panose="020F0502020204030204" pitchFamily="34" charset="0"/>
                  </a:rPr>
                  <a:t>Why did it make sense to use the point-slope form for this situation?</a:t>
                </a: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sz="1200" dirty="0">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Probing:</a:t>
                </a:r>
                <a:endParaRPr lang="en-US" b="0" dirty="0">
                  <a:latin typeface="Calibri" panose="020F0502020204030204" pitchFamily="34" charset="0"/>
                  <a:ea typeface="Calibri" panose="020F0502020204030204" pitchFamily="34" charset="0"/>
                  <a:cs typeface="Calibri" panose="020F0502020204030204" pitchFamily="34" charset="0"/>
                </a:endParaRP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b="0" dirty="0">
                    <a:latin typeface="Calibri" panose="020F0502020204030204" pitchFamily="34" charset="0"/>
                    <a:ea typeface="Calibri" panose="020F0502020204030204" pitchFamily="34" charset="0"/>
                    <a:cs typeface="Calibri" panose="020F0502020204030204" pitchFamily="34" charset="0"/>
                  </a:rPr>
                  <a:t>What other way did you express the slope </a:t>
                </a:r>
                <a:r>
                  <a:rPr lang="en-US" b="0" i="0">
                    <a:latin typeface="Cambria Math" panose="02040503050406030204" pitchFamily="18" charset="0"/>
                    <a:cs typeface="Calibri" panose="020F0502020204030204" pitchFamily="34" charset="0"/>
                  </a:rPr>
                  <a:t>5/1</a:t>
                </a:r>
                <a:r>
                  <a:rPr lang="en-US" b="0" dirty="0">
                    <a:latin typeface="Calibri" panose="020F0502020204030204" pitchFamily="34" charset="0"/>
                    <a:ea typeface="Calibri" panose="020F0502020204030204" pitchFamily="34" charset="0"/>
                    <a:cs typeface="Calibri" panose="020F0502020204030204" pitchFamily="34" charset="0"/>
                  </a:rPr>
                  <a:t>to graph points on the other side of (3, 50)?</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b="0" dirty="0">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latin typeface="Calibri" panose="020F0502020204030204" pitchFamily="34" charset="0"/>
                    <a:ea typeface="Calibri" panose="020F0502020204030204" pitchFamily="34" charset="0"/>
                    <a:cs typeface="Calibri" panose="020F0502020204030204" pitchFamily="34" charset="0"/>
                  </a:rPr>
                  <a:t>How is this process the same and different from graphing a point in slope-intercept form?</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b="0" dirty="0">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latin typeface="Calibri" panose="020F0502020204030204" pitchFamily="34" charset="0"/>
                    <a:ea typeface="Calibri" panose="020F0502020204030204" pitchFamily="34" charset="0"/>
                    <a:cs typeface="Calibri" panose="020F0502020204030204" pitchFamily="34" charset="0"/>
                  </a:rPr>
                  <a:t>What is the known point?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latin typeface="Calibri" panose="020F0502020204030204" pitchFamily="34" charset="0"/>
                    <a:ea typeface="Calibri" panose="020F0502020204030204" pitchFamily="34" charset="0"/>
                    <a:cs typeface="Calibri" panose="020F0502020204030204" pitchFamily="34" charset="0"/>
                  </a:rPr>
                  <a:t>What are the two different ways you expressed the slope?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b="0" dirty="0">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Reflecting and justifying: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latin typeface="Calibri" panose="020F0502020204030204" pitchFamily="34" charset="0"/>
                    <a:ea typeface="Calibri" panose="020F0502020204030204" pitchFamily="34" charset="0"/>
                    <a:cs typeface="Calibri" panose="020F0502020204030204" pitchFamily="34" charset="0"/>
                  </a:rPr>
                  <a:t>How do you know that the direction of the line is correct?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b="0" dirty="0">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latin typeface="Calibri" panose="020F0502020204030204" pitchFamily="34" charset="0"/>
                    <a:ea typeface="Calibri" panose="020F0502020204030204" pitchFamily="34" charset="0"/>
                    <a:cs typeface="Calibri" panose="020F0502020204030204" pitchFamily="34" charset="0"/>
                  </a:rPr>
                  <a:t>How did you rewrite the given rate to substitute the value for the slope in your equation?</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b="0" dirty="0">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Reflecting and justifying: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latin typeface="Calibri" panose="020F0502020204030204" pitchFamily="34" charset="0"/>
                    <a:ea typeface="Calibri" panose="020F0502020204030204" pitchFamily="34" charset="0"/>
                    <a:cs typeface="Calibri" panose="020F0502020204030204" pitchFamily="34" charset="0"/>
                  </a:rPr>
                  <a:t>Why is this graph increasing?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latin typeface="Calibri" panose="020F0502020204030204" pitchFamily="34" charset="0"/>
                    <a:ea typeface="Calibri" panose="020F0502020204030204" pitchFamily="34" charset="0"/>
                    <a:cs typeface="Calibri" panose="020F0502020204030204" pitchFamily="34" charset="0"/>
                  </a:rPr>
                  <a:t>Use the graph to show how the number of bracelets increased by 14 for every 1 hour.</a:t>
                </a:r>
                <a:endParaRPr lang="en-US" b="0" dirty="0">
                  <a:latin typeface="Calibri" panose="020F0502020204030204" pitchFamily="34" charset="0"/>
                  <a:ea typeface="Calibri" panose="020F0502020204030204" pitchFamily="34" charset="0"/>
                  <a:cs typeface="Calibri" panose="020F0502020204030204" pitchFamily="34" charset="0"/>
                </a:endParaRPr>
              </a:p>
            </p:txBody>
          </p:sp>
        </mc:Fallback>
      </mc:AlternateContent>
      <p:sp>
        <p:nvSpPr>
          <p:cNvPr id="4" name="Slide Number Placeholder 3">
            <a:extLst>
              <a:ext uri="{FF2B5EF4-FFF2-40B4-BE49-F238E27FC236}">
                <a16:creationId xmlns:a16="http://schemas.microsoft.com/office/drawing/2014/main" id="{76A6065F-1EF3-18F0-84E2-7403BAC6E167}"/>
              </a:ext>
            </a:extLst>
          </p:cNvPr>
          <p:cNvSpPr>
            <a:spLocks noGrp="1"/>
          </p:cNvSpPr>
          <p:nvPr>
            <p:ph type="sldNum" sz="quarter" idx="5"/>
          </p:nvPr>
        </p:nvSpPr>
        <p:spPr/>
        <p:txBody>
          <a:bodyPr/>
          <a:lstStyle/>
          <a:p>
            <a:fld id="{BB5E49A5-4136-284D-997B-48E1D791AD67}" type="slidenum">
              <a:rPr lang="en-US" smtClean="0"/>
              <a:t>28</a:t>
            </a:fld>
            <a:endParaRPr lang="en-US"/>
          </a:p>
        </p:txBody>
      </p:sp>
    </p:spTree>
    <p:extLst>
      <p:ext uri="{BB962C8B-B14F-4D97-AF65-F5344CB8AC3E}">
        <p14:creationId xmlns:p14="http://schemas.microsoft.com/office/powerpoint/2010/main" val="135513966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21EB8A-1D96-011B-D1D6-D8A906533B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51FD055-4FE9-A747-A713-1658842E6C1C}"/>
              </a:ext>
            </a:extLst>
          </p:cNvPr>
          <p:cNvSpPr>
            <a:spLocks noGrp="1" noRot="1" noChangeAspect="1"/>
          </p:cNvSpPr>
          <p:nvPr>
            <p:ph type="sldImg"/>
          </p:nvPr>
        </p:nvSpPr>
        <p:spPr>
          <a:xfrm>
            <a:off x="382588" y="685800"/>
            <a:ext cx="6092825" cy="3429000"/>
          </a:xfrm>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A20C761F-C7BE-4CA4-13FD-DCC6C8A61B5C}"/>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Why did it make sense to use the point-slope form for this situation?</a:t>
                </a: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endParaRPr lang="en-US"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b="0" dirty="0">
                    <a:solidFill>
                      <a:srgbClr val="000000"/>
                    </a:solidFill>
                    <a:latin typeface="Calibri" panose="020F0502020204030204" pitchFamily="34" charset="0"/>
                    <a:ea typeface="Calibri" panose="020F0502020204030204" pitchFamily="34" charset="0"/>
                    <a:cs typeface="Calibri" panose="020F0502020204030204" pitchFamily="34" charset="0"/>
                  </a:rPr>
                  <a:t>What other way did you express the slope </a:t>
                </a:r>
                <a14:m>
                  <m:oMath xmlns:m="http://schemas.openxmlformats.org/officeDocument/2006/math">
                    <m:f>
                      <m:fPr>
                        <m:ctrlPr>
                          <a:rPr lang="en-US" b="0" i="1" smtClean="0">
                            <a:solidFill>
                              <a:srgbClr val="000000"/>
                            </a:solidFill>
                            <a:latin typeface="Cambria Math" panose="02040503050406030204" pitchFamily="18" charset="0"/>
                            <a:cs typeface="Calibri" panose="020F0502020204030204" pitchFamily="34" charset="0"/>
                          </a:rPr>
                        </m:ctrlPr>
                      </m:fPr>
                      <m:num>
                        <m:r>
                          <a:rPr lang="en-US" b="0" i="1" smtClean="0">
                            <a:solidFill>
                              <a:srgbClr val="000000"/>
                            </a:solidFill>
                            <a:latin typeface="Cambria Math" panose="02040503050406030204" pitchFamily="18" charset="0"/>
                            <a:cs typeface="Calibri" panose="020F0502020204030204" pitchFamily="34" charset="0"/>
                          </a:rPr>
                          <m:t>5</m:t>
                        </m:r>
                      </m:num>
                      <m:den>
                        <m:r>
                          <a:rPr lang="en-US" b="0" i="1" smtClean="0">
                            <a:solidFill>
                              <a:srgbClr val="000000"/>
                            </a:solidFill>
                            <a:latin typeface="Cambria Math" panose="02040503050406030204" pitchFamily="18" charset="0"/>
                            <a:cs typeface="Calibri" panose="020F0502020204030204" pitchFamily="34" charset="0"/>
                          </a:rPr>
                          <m:t>1</m:t>
                        </m:r>
                      </m:den>
                    </m:f>
                  </m:oMath>
                </a14:m>
                <a:r>
                  <a:rPr lang="en-US" b="0" dirty="0">
                    <a:solidFill>
                      <a:srgbClr val="000000"/>
                    </a:solidFill>
                    <a:latin typeface="Calibri" panose="020F0502020204030204" pitchFamily="34" charset="0"/>
                    <a:ea typeface="Calibri" panose="020F0502020204030204" pitchFamily="34" charset="0"/>
                    <a:cs typeface="Calibri" panose="020F0502020204030204" pitchFamily="34" charset="0"/>
                  </a:rPr>
                  <a:t> to graph points on the other side of (3, 50)?</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is this process the same and different from graphing a point in slope-intercept form?</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What is the known point?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What are the two different ways you expressed the slope?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Reflecting and Justifying: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know that the direction of the line is correct?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rewrite the given rate to substitute the value for the slope in your equation?</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Reflecting and Justifying: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Why is this graph increasing?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Use the graph to show how the number of bracelets increased by 14 for every 1 hour.</a:t>
                </a:r>
                <a:endParaRPr lang="en-US"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r>
                  <a:rPr lang="en-US" b="1" dirty="0"/>
                  <a:t>TE correction: the TE defines x as time in minutes; the rate (0.3 m per second) and the 90 seconds make x seconds. Also note the y-intercept (0, 1.2): the ROV starts 1.2 m above the water, on the boat. The problem says 'submarine' but means the ROV.</a:t>
                </a:r>
              </a:p>
            </p:txBody>
          </p:sp>
        </mc:Choice>
        <mc:Fallback xmlns="">
          <p:sp>
            <p:nvSpPr>
              <p:cNvPr id="3" name="Notes Placeholder 2">
                <a:extLst>
                  <a:ext uri="{FF2B5EF4-FFF2-40B4-BE49-F238E27FC236}">
                    <a16:creationId xmlns:a16="http://schemas.microsoft.com/office/drawing/2014/main" id="{A20C761F-C7BE-4CA4-13FD-DCC6C8A61B5C}"/>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latin typeface="Calibri" panose="020F0502020204030204" pitchFamily="34" charset="0"/>
                    <a:ea typeface="Calibri" panose="020F0502020204030204" pitchFamily="34" charset="0"/>
                    <a:cs typeface="Calibri" panose="020F0502020204030204" pitchFamily="34" charset="0"/>
                  </a:rPr>
                  <a:t>Why did it make sense to use the point-slope form for this situation?</a:t>
                </a: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sz="1200" dirty="0">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Probing:</a:t>
                </a:r>
                <a:endParaRPr lang="en-US" b="0" dirty="0">
                  <a:latin typeface="Calibri" panose="020F0502020204030204" pitchFamily="34" charset="0"/>
                  <a:ea typeface="Calibri" panose="020F0502020204030204" pitchFamily="34" charset="0"/>
                  <a:cs typeface="Calibri" panose="020F0502020204030204" pitchFamily="34" charset="0"/>
                </a:endParaRP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b="0" dirty="0">
                    <a:latin typeface="Calibri" panose="020F0502020204030204" pitchFamily="34" charset="0"/>
                    <a:ea typeface="Calibri" panose="020F0502020204030204" pitchFamily="34" charset="0"/>
                    <a:cs typeface="Calibri" panose="020F0502020204030204" pitchFamily="34" charset="0"/>
                  </a:rPr>
                  <a:t>What other way did you express the slope </a:t>
                </a:r>
                <a:r>
                  <a:rPr lang="en-US" b="0" i="0">
                    <a:latin typeface="Cambria Math" panose="02040503050406030204" pitchFamily="18" charset="0"/>
                    <a:cs typeface="Calibri" panose="020F0502020204030204" pitchFamily="34" charset="0"/>
                  </a:rPr>
                  <a:t>5/1</a:t>
                </a:r>
                <a:r>
                  <a:rPr lang="en-US" b="0" dirty="0">
                    <a:latin typeface="Calibri" panose="020F0502020204030204" pitchFamily="34" charset="0"/>
                    <a:ea typeface="Calibri" panose="020F0502020204030204" pitchFamily="34" charset="0"/>
                    <a:cs typeface="Calibri" panose="020F0502020204030204" pitchFamily="34" charset="0"/>
                  </a:rPr>
                  <a:t>to graph points on the other side of (3, 50)?</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b="0" dirty="0">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latin typeface="Calibri" panose="020F0502020204030204" pitchFamily="34" charset="0"/>
                    <a:ea typeface="Calibri" panose="020F0502020204030204" pitchFamily="34" charset="0"/>
                    <a:cs typeface="Calibri" panose="020F0502020204030204" pitchFamily="34" charset="0"/>
                  </a:rPr>
                  <a:t>How is this process the same and different from graphing a point in slope-intercept form?</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b="0" dirty="0">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latin typeface="Calibri" panose="020F0502020204030204" pitchFamily="34" charset="0"/>
                    <a:ea typeface="Calibri" panose="020F0502020204030204" pitchFamily="34" charset="0"/>
                    <a:cs typeface="Calibri" panose="020F0502020204030204" pitchFamily="34" charset="0"/>
                  </a:rPr>
                  <a:t>What is the known point?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latin typeface="Calibri" panose="020F0502020204030204" pitchFamily="34" charset="0"/>
                    <a:ea typeface="Calibri" panose="020F0502020204030204" pitchFamily="34" charset="0"/>
                    <a:cs typeface="Calibri" panose="020F0502020204030204" pitchFamily="34" charset="0"/>
                  </a:rPr>
                  <a:t>What are the two different ways you expressed the slope?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b="0" dirty="0">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Reflecting and justifying: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latin typeface="Calibri" panose="020F0502020204030204" pitchFamily="34" charset="0"/>
                    <a:ea typeface="Calibri" panose="020F0502020204030204" pitchFamily="34" charset="0"/>
                    <a:cs typeface="Calibri" panose="020F0502020204030204" pitchFamily="34" charset="0"/>
                  </a:rPr>
                  <a:t>How do you know that the direction of the line is correct?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b="0" dirty="0">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latin typeface="Calibri" panose="020F0502020204030204" pitchFamily="34" charset="0"/>
                    <a:ea typeface="Calibri" panose="020F0502020204030204" pitchFamily="34" charset="0"/>
                    <a:cs typeface="Calibri" panose="020F0502020204030204" pitchFamily="34" charset="0"/>
                  </a:rPr>
                  <a:t>How did you rewrite the given rate to substitute the value for the slope in your equation?</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b="0" dirty="0">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Reflecting and justifying: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latin typeface="Calibri" panose="020F0502020204030204" pitchFamily="34" charset="0"/>
                    <a:ea typeface="Calibri" panose="020F0502020204030204" pitchFamily="34" charset="0"/>
                    <a:cs typeface="Calibri" panose="020F0502020204030204" pitchFamily="34" charset="0"/>
                  </a:rPr>
                  <a:t>Why is this graph increasing?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latin typeface="Calibri" panose="020F0502020204030204" pitchFamily="34" charset="0"/>
                    <a:ea typeface="Calibri" panose="020F0502020204030204" pitchFamily="34" charset="0"/>
                    <a:cs typeface="Calibri" panose="020F0502020204030204" pitchFamily="34" charset="0"/>
                  </a:rPr>
                  <a:t>Use the graph to show how the number of bracelets increased by 14 for every 1 hour.</a:t>
                </a:r>
                <a:endParaRPr lang="en-US" b="0" dirty="0">
                  <a:latin typeface="Calibri" panose="020F0502020204030204" pitchFamily="34" charset="0"/>
                  <a:ea typeface="Calibri" panose="020F0502020204030204" pitchFamily="34" charset="0"/>
                  <a:cs typeface="Calibri" panose="020F0502020204030204" pitchFamily="34" charset="0"/>
                </a:endParaRPr>
              </a:p>
            </p:txBody>
          </p:sp>
        </mc:Fallback>
      </mc:AlternateContent>
      <p:sp>
        <p:nvSpPr>
          <p:cNvPr id="4" name="Slide Number Placeholder 3">
            <a:extLst>
              <a:ext uri="{FF2B5EF4-FFF2-40B4-BE49-F238E27FC236}">
                <a16:creationId xmlns:a16="http://schemas.microsoft.com/office/drawing/2014/main" id="{338BA9D8-477D-90FA-20B4-8CE73E4DBB9E}"/>
              </a:ext>
            </a:extLst>
          </p:cNvPr>
          <p:cNvSpPr>
            <a:spLocks noGrp="1"/>
          </p:cNvSpPr>
          <p:nvPr>
            <p:ph type="sldNum" sz="quarter" idx="5"/>
          </p:nvPr>
        </p:nvSpPr>
        <p:spPr/>
        <p:txBody>
          <a:bodyPr/>
          <a:lstStyle/>
          <a:p>
            <a:fld id="{BB5E49A5-4136-284D-997B-48E1D791AD67}" type="slidenum">
              <a:rPr lang="en-US" smtClean="0"/>
              <a:t>29</a:t>
            </a:fld>
            <a:endParaRPr lang="en-US"/>
          </a:p>
        </p:txBody>
      </p:sp>
    </p:spTree>
    <p:extLst>
      <p:ext uri="{BB962C8B-B14F-4D97-AF65-F5344CB8AC3E}">
        <p14:creationId xmlns:p14="http://schemas.microsoft.com/office/powerpoint/2010/main" val="77112897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0C6340-076B-A446-F7C4-8FC2BCA041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9D18D01-4F74-2BCD-9963-6FEA7D28087A}"/>
              </a:ext>
            </a:extLst>
          </p:cNvPr>
          <p:cNvSpPr>
            <a:spLocks noGrp="1" noRot="1" noChangeAspect="1"/>
          </p:cNvSpPr>
          <p:nvPr>
            <p:ph type="sldImg"/>
          </p:nvPr>
        </p:nvSpPr>
        <p:spPr>
          <a:xfrm>
            <a:off x="382588" y="685800"/>
            <a:ext cx="6092825" cy="3429000"/>
          </a:xfrm>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F9D98E0F-731A-6F2C-41C3-C041DC8EA1C5}"/>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Activity 5.2 Summary:</a:t>
                </a:r>
              </a:p>
              <a:p>
                <a:pPr marL="0" marR="0" lvl="0" indent="0" algn="l" defTabSz="457200" rtl="0" eaLnBrk="1" fontAlgn="auto" latinLnBrk="0" hangingPunct="1">
                  <a:lnSpc>
                    <a:spcPct val="100000"/>
                  </a:lnSpc>
                  <a:spcBef>
                    <a:spcPts val="0"/>
                  </a:spcBef>
                  <a:spcAft>
                    <a:spcPts val="0"/>
                  </a:spcAft>
                  <a:buClrTx/>
                  <a:buSzTx/>
                  <a:buFontTx/>
                  <a:buNone/>
                  <a:tabLst/>
                  <a:defRPr/>
                </a:pPr>
                <a:r>
                  <a:rPr lang="en-US" sz="120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An equation written in point-slope form can be graphed by first plotting the coordinates of the known point and then using the slope to locate two additional points by counting from that initial point.</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 name="Notes Placeholder 2">
                <a:extLst>
                  <a:ext uri="{FF2B5EF4-FFF2-40B4-BE49-F238E27FC236}">
                    <a16:creationId xmlns:a16="http://schemas.microsoft.com/office/drawing/2014/main" id="{F9D98E0F-731A-6F2C-41C3-C041DC8EA1C5}"/>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200" b="1" dirty="0">
                    <a:latin typeface="Calibri" panose="020F0502020204030204" pitchFamily="34" charset="0"/>
                    <a:ea typeface="Calibri" panose="020F0502020204030204" pitchFamily="34" charset="0"/>
                    <a:cs typeface="Calibri" panose="020F0502020204030204" pitchFamily="34" charset="0"/>
                  </a:rPr>
                  <a:t>Activity 3.2 Summary:</a:t>
                </a:r>
              </a:p>
              <a:p>
                <a:pPr marL="0" marR="0" lvl="0" indent="0" algn="l" defTabSz="457200" rtl="0" eaLnBrk="1" fontAlgn="auto" latinLnBrk="0" hangingPunct="1">
                  <a:lnSpc>
                    <a:spcPct val="100000"/>
                  </a:lnSpc>
                  <a:spcBef>
                    <a:spcPts val="0"/>
                  </a:spcBef>
                  <a:spcAft>
                    <a:spcPts val="0"/>
                  </a:spcAft>
                  <a:buClrTx/>
                  <a:buSzTx/>
                  <a:buFontTx/>
                  <a:buNone/>
                  <a:tabLst/>
                  <a:defRPr/>
                </a:pPr>
                <a:r>
                  <a:rPr lang="en-US" sz="1200" b="0" i="0" u="none" strike="noStrike" dirty="0">
                    <a:solidFill>
                      <a:srgbClr val="000000"/>
                    </a:solidFill>
                    <a:effectLst/>
                    <a:latin typeface="Calibri" panose="020F0502020204030204" pitchFamily="34" charset="0"/>
                  </a:rPr>
                  <a:t>The expression </a:t>
                </a:r>
                <a:r>
                  <a:rPr lang="en-US" sz="1200" b="0" i="0" u="none" strike="noStrike">
                    <a:solidFill>
                      <a:srgbClr val="000000"/>
                    </a:solidFill>
                    <a:effectLst/>
                    <a:latin typeface="Cambria Math" panose="02040503050406030204" pitchFamily="18" charset="0"/>
                  </a:rPr>
                  <a:t>𝑎_𝑛=𝑎_1+𝑑(𝑛−1)</a:t>
                </a:r>
                <a:r>
                  <a:rPr lang="en-US" sz="1200" b="0" i="0" u="none" strike="noStrike" dirty="0">
                    <a:solidFill>
                      <a:srgbClr val="000000"/>
                    </a:solidFill>
                    <a:effectLst/>
                    <a:latin typeface="Calibri" panose="020F0502020204030204" pitchFamily="34" charset="0"/>
                  </a:rPr>
                  <a:t> can be rewritten as  </a:t>
                </a:r>
                <a:r>
                  <a:rPr lang="en-US" sz="1200" b="0" i="0" u="none" strike="noStrike">
                    <a:solidFill>
                      <a:srgbClr val="000000"/>
                    </a:solidFill>
                    <a:effectLst/>
                    <a:latin typeface="Cambria Math" panose="02040503050406030204" pitchFamily="18" charset="0"/>
                  </a:rPr>
                  <a:t>𝑎_𝑛=𝑎_0+𝑑𝑛</a:t>
                </a:r>
                <a:r>
                  <a:rPr lang="en-US" sz="1200" b="0" i="0" u="none" strike="noStrike" dirty="0">
                    <a:solidFill>
                      <a:srgbClr val="000000"/>
                    </a:solidFill>
                    <a:effectLst/>
                    <a:latin typeface="Calibri" panose="020F0502020204030204" pitchFamily="34" charset="0"/>
                  </a:rPr>
                  <a:t>, where </a:t>
                </a:r>
                <a:r>
                  <a:rPr lang="en-US" sz="1200" b="0" i="0" u="none" strike="noStrike" dirty="0">
                    <a:solidFill>
                      <a:srgbClr val="000000"/>
                    </a:solidFill>
                    <a:effectLst/>
                    <a:latin typeface="Cambria Math" panose="02040503050406030204" pitchFamily="18" charset="0"/>
                  </a:rPr>
                  <a:t>𝑎_0</a:t>
                </a:r>
                <a:r>
                  <a:rPr lang="en-US" sz="1200" b="0" i="0" u="none" strike="noStrike" dirty="0">
                    <a:solidFill>
                      <a:srgbClr val="000000"/>
                    </a:solidFill>
                    <a:effectLst/>
                    <a:latin typeface="Calibri" panose="020F0502020204030204" pitchFamily="34" charset="0"/>
                  </a:rPr>
                  <a:t> represents the </a:t>
                </a:r>
                <a:r>
                  <a:rPr lang="en-US" sz="1200" b="0" i="1" u="none" strike="noStrike" dirty="0">
                    <a:solidFill>
                      <a:srgbClr val="000000"/>
                    </a:solidFill>
                    <a:effectLst/>
                    <a:latin typeface="Calibri" panose="020F0502020204030204" pitchFamily="34" charset="0"/>
                  </a:rPr>
                  <a:t>y</a:t>
                </a:r>
                <a:r>
                  <a:rPr lang="en-US" sz="1200" b="0" i="0" u="none" strike="noStrike" dirty="0">
                    <a:solidFill>
                      <a:srgbClr val="000000"/>
                    </a:solidFill>
                    <a:effectLst/>
                    <a:latin typeface="Calibri" panose="020F0502020204030204" pitchFamily="34" charset="0"/>
                  </a:rPr>
                  <a:t>-intercept. First differences is a strategy to determine whether a table of values represents a linear function.</a:t>
                </a:r>
                <a:endParaRPr lang="en-US" dirty="0"/>
              </a:p>
            </p:txBody>
          </p:sp>
        </mc:Fallback>
      </mc:AlternateContent>
      <p:sp>
        <p:nvSpPr>
          <p:cNvPr id="4" name="Slide Number Placeholder 3">
            <a:extLst>
              <a:ext uri="{FF2B5EF4-FFF2-40B4-BE49-F238E27FC236}">
                <a16:creationId xmlns:a16="http://schemas.microsoft.com/office/drawing/2014/main" id="{314818C9-7782-D2CD-3EFA-47505985518B}"/>
              </a:ext>
            </a:extLst>
          </p:cNvPr>
          <p:cNvSpPr>
            <a:spLocks noGrp="1"/>
          </p:cNvSpPr>
          <p:nvPr>
            <p:ph type="sldNum" sz="quarter" idx="5"/>
          </p:nvPr>
        </p:nvSpPr>
        <p:spPr/>
        <p:txBody>
          <a:bodyPr/>
          <a:lstStyle/>
          <a:p>
            <a:fld id="{BB5E49A5-4136-284D-997B-48E1D791AD67}" type="slidenum">
              <a:rPr lang="en-US" smtClean="0"/>
              <a:t>30</a:t>
            </a:fld>
            <a:endParaRPr lang="en-US"/>
          </a:p>
        </p:txBody>
      </p:sp>
    </p:spTree>
    <p:extLst>
      <p:ext uri="{BB962C8B-B14F-4D97-AF65-F5344CB8AC3E}">
        <p14:creationId xmlns:p14="http://schemas.microsoft.com/office/powerpoint/2010/main" val="415273795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165AEA-130B-6736-50D0-E8E2F7A1B94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AE1D73-731D-34B3-F878-DCCAF3C8DAD9}"/>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47752122-E447-28BE-C2DB-563DBB54703C}"/>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 </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This slide is blank for optional use with displaying work.</a:t>
            </a:r>
            <a:endParaRPr lang="en-US"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A804E39F-7316-A03F-6CD9-D3A3D26408EE}"/>
              </a:ext>
            </a:extLst>
          </p:cNvPr>
          <p:cNvSpPr>
            <a:spLocks noGrp="1"/>
          </p:cNvSpPr>
          <p:nvPr>
            <p:ph type="sldNum" sz="quarter" idx="5"/>
          </p:nvPr>
        </p:nvSpPr>
        <p:spPr/>
        <p:txBody>
          <a:bodyPr/>
          <a:lstStyle/>
          <a:p>
            <a:fld id="{BB5E49A5-4136-284D-997B-48E1D791AD67}" type="slidenum">
              <a:rPr lang="en-US" smtClean="0"/>
              <a:t>31</a:t>
            </a:fld>
            <a:endParaRPr lang="en-US"/>
          </a:p>
        </p:txBody>
      </p:sp>
    </p:spTree>
    <p:extLst>
      <p:ext uri="{BB962C8B-B14F-4D97-AF65-F5344CB8AC3E}">
        <p14:creationId xmlns:p14="http://schemas.microsoft.com/office/powerpoint/2010/main" val="248819930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Total time of 20-25 minutes allotted for Activity 5.3.</a:t>
            </a:r>
          </a:p>
        </p:txBody>
      </p:sp>
      <p:sp>
        <p:nvSpPr>
          <p:cNvPr id="4" name="Slide Number Placeholder 3"/>
          <p:cNvSpPr>
            <a:spLocks noGrp="1"/>
          </p:cNvSpPr>
          <p:nvPr>
            <p:ph type="sldNum" sz="quarter" idx="5"/>
          </p:nvPr>
        </p:nvSpPr>
        <p:spPr/>
        <p:txBody>
          <a:bodyPr/>
          <a:lstStyle/>
          <a:p>
            <a:fld id="{BB5E49A5-4136-284D-997B-48E1D791AD67}" type="slidenum">
              <a:rPr lang="en-US" smtClean="0"/>
              <a:t>32</a:t>
            </a:fld>
            <a:endParaRPr lang="en-US"/>
          </a:p>
        </p:txBody>
      </p:sp>
    </p:spTree>
    <p:extLst>
      <p:ext uri="{BB962C8B-B14F-4D97-AF65-F5344CB8AC3E}">
        <p14:creationId xmlns:p14="http://schemas.microsoft.com/office/powerpoint/2010/main" val="277933285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p:cNvSpPr>
            <a:spLocks noGrp="1"/>
          </p:cNvSpPr>
          <p:nvPr>
            <p:ph type="sldNum" sz="quarter" idx="5"/>
          </p:nvPr>
        </p:nvSpPr>
        <p:spPr/>
        <p:txBody>
          <a:bodyPr/>
          <a:lstStyle/>
          <a:p>
            <a:fld id="{BB5E49A5-4136-284D-997B-48E1D791AD67}" type="slidenum">
              <a:rPr lang="en-US" smtClean="0"/>
              <a:t>33</a:t>
            </a:fld>
            <a:endParaRPr lang="en-US"/>
          </a:p>
        </p:txBody>
      </p:sp>
    </p:spTree>
    <p:extLst>
      <p:ext uri="{BB962C8B-B14F-4D97-AF65-F5344CB8AC3E}">
        <p14:creationId xmlns:p14="http://schemas.microsoft.com/office/powerpoint/2010/main" val="399927212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660E95-011E-9461-BF28-D971C0859D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5D7C15-DCAF-6B8A-F3D1-40504B787630}"/>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06DC000C-82FC-3658-585E-733A348CA083}"/>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Describe the structure of this equation.</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Why can’t both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be 0?</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Why is standard form appropriate to use for this problem situation?</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Why is it difficult to tell which quantity is independent and which quantity is dependent?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Use the graph to identify another coordinate pair that makes sense in this situation.</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slope? What is another way?</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DDE107DF-B7D4-AABC-79A6-7B1524097C3B}"/>
              </a:ext>
            </a:extLst>
          </p:cNvPr>
          <p:cNvSpPr>
            <a:spLocks noGrp="1"/>
          </p:cNvSpPr>
          <p:nvPr>
            <p:ph type="sldNum" sz="quarter" idx="5"/>
          </p:nvPr>
        </p:nvSpPr>
        <p:spPr/>
        <p:txBody>
          <a:bodyPr/>
          <a:lstStyle/>
          <a:p>
            <a:fld id="{BB5E49A5-4136-284D-997B-48E1D791AD67}" type="slidenum">
              <a:rPr lang="en-US" smtClean="0"/>
              <a:t>34</a:t>
            </a:fld>
            <a:endParaRPr lang="en-US"/>
          </a:p>
        </p:txBody>
      </p:sp>
    </p:spTree>
    <p:extLst>
      <p:ext uri="{BB962C8B-B14F-4D97-AF65-F5344CB8AC3E}">
        <p14:creationId xmlns:p14="http://schemas.microsoft.com/office/powerpoint/2010/main" val="164669189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1E9E2C-6D51-3D18-19E9-36137E9E6A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A7FE2CD-2A98-6DD0-AFE9-A799A181F117}"/>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8AEA1848-8022-172F-D5BB-EBB75F790FD7}"/>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Describe the structure of this equation.</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Why can’t both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be 0?</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Why is standard form appropriate to use for this problem situation?</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Why is it difficult to tell which quantity is independent and which quantity is dependent?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Use the graph to identify another coordinate pair that makes sense in this situation.</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slope? What is another way?</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CB6B6B9A-D17A-F700-8E69-8A8443036BFD}"/>
              </a:ext>
            </a:extLst>
          </p:cNvPr>
          <p:cNvSpPr>
            <a:spLocks noGrp="1"/>
          </p:cNvSpPr>
          <p:nvPr>
            <p:ph type="sldNum" sz="quarter" idx="5"/>
          </p:nvPr>
        </p:nvSpPr>
        <p:spPr/>
        <p:txBody>
          <a:bodyPr/>
          <a:lstStyle/>
          <a:p>
            <a:fld id="{BB5E49A5-4136-284D-997B-48E1D791AD67}" type="slidenum">
              <a:rPr lang="en-US" smtClean="0"/>
              <a:t>35</a:t>
            </a:fld>
            <a:endParaRPr lang="en-US"/>
          </a:p>
        </p:txBody>
      </p:sp>
    </p:spTree>
    <p:extLst>
      <p:ext uri="{BB962C8B-B14F-4D97-AF65-F5344CB8AC3E}">
        <p14:creationId xmlns:p14="http://schemas.microsoft.com/office/powerpoint/2010/main" val="1545670968"/>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1E4AF3-AA14-BE64-61D9-BCE00731EB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3E61ABD-7837-DD7B-4B81-ABB4D7411AF6}"/>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A950057F-1F4A-010F-7DCD-3D953D824C70}"/>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Describe the structure of this equation.</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Why can’t both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be 0?</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Why is standard form appropriate to use for this problem situation?</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Why is it difficult to tell which quantity is independent and which quantity is dependent?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Use the graph to identify another coordinate pair that makes sense in this situation.</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slope? What is another way?</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52EA7387-1DE0-FC44-52A3-17A93DA67FED}"/>
              </a:ext>
            </a:extLst>
          </p:cNvPr>
          <p:cNvSpPr>
            <a:spLocks noGrp="1"/>
          </p:cNvSpPr>
          <p:nvPr>
            <p:ph type="sldNum" sz="quarter" idx="5"/>
          </p:nvPr>
        </p:nvSpPr>
        <p:spPr/>
        <p:txBody>
          <a:bodyPr/>
          <a:lstStyle/>
          <a:p>
            <a:fld id="{BB5E49A5-4136-284D-997B-48E1D791AD67}" type="slidenum">
              <a:rPr lang="en-US" smtClean="0"/>
              <a:t>36</a:t>
            </a:fld>
            <a:endParaRPr lang="en-US"/>
          </a:p>
        </p:txBody>
      </p:sp>
    </p:spTree>
    <p:extLst>
      <p:ext uri="{BB962C8B-B14F-4D97-AF65-F5344CB8AC3E}">
        <p14:creationId xmlns:p14="http://schemas.microsoft.com/office/powerpoint/2010/main" val="232333716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CC42C9-DED8-C48E-5C03-38B76E89FCA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6F1878-B170-3879-58BF-EB3D7AB82C7B}"/>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1306EF32-1AC4-7E73-E0A6-12B32512425A}"/>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Describe the structure of this equation.</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Why can’t both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be 0?</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Why is standard form appropriate to use for this problem situation?</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Why is it difficult to tell which quantity is independent and which quantity is dependent?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Use the graph to identify another coordinate pair that makes sense in this situation.</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slope? What is another way?</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651B64C8-E576-3F4D-E3D6-CC83D691934C}"/>
              </a:ext>
            </a:extLst>
          </p:cNvPr>
          <p:cNvSpPr>
            <a:spLocks noGrp="1"/>
          </p:cNvSpPr>
          <p:nvPr>
            <p:ph type="sldNum" sz="quarter" idx="5"/>
          </p:nvPr>
        </p:nvSpPr>
        <p:spPr/>
        <p:txBody>
          <a:bodyPr/>
          <a:lstStyle/>
          <a:p>
            <a:fld id="{BB5E49A5-4136-284D-997B-48E1D791AD67}" type="slidenum">
              <a:rPr lang="en-US" smtClean="0"/>
              <a:t>37</a:t>
            </a:fld>
            <a:endParaRPr lang="en-US"/>
          </a:p>
        </p:txBody>
      </p:sp>
    </p:spTree>
    <p:extLst>
      <p:ext uri="{BB962C8B-B14F-4D97-AF65-F5344CB8AC3E}">
        <p14:creationId xmlns:p14="http://schemas.microsoft.com/office/powerpoint/2010/main" val="178082213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931F0E-491A-37FB-21CC-B5043BAE879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77933C1-3BC6-D324-FDF3-750F2FAF2FEC}"/>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0CEAAF7E-7140-E808-D75B-B8D224A8E8C5}"/>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Describe the structure of this equation.</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Why can’t both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be 0?</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Why is standard form appropriate to use for this problem situation?</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Why is it difficult to tell which quantity is independent and which quantity is dependent?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Use the graph to identify another coordinate pair that makes sense in this situation.</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slope? What is another way?</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7C45FDB9-7EC9-018D-3886-009574933A0B}"/>
              </a:ext>
            </a:extLst>
          </p:cNvPr>
          <p:cNvSpPr>
            <a:spLocks noGrp="1"/>
          </p:cNvSpPr>
          <p:nvPr>
            <p:ph type="sldNum" sz="quarter" idx="5"/>
          </p:nvPr>
        </p:nvSpPr>
        <p:spPr/>
        <p:txBody>
          <a:bodyPr/>
          <a:lstStyle/>
          <a:p>
            <a:fld id="{BB5E49A5-4136-284D-997B-48E1D791AD67}" type="slidenum">
              <a:rPr lang="en-US" smtClean="0"/>
              <a:t>38</a:t>
            </a:fld>
            <a:endParaRPr lang="en-US"/>
          </a:p>
        </p:txBody>
      </p:sp>
    </p:spTree>
    <p:extLst>
      <p:ext uri="{BB962C8B-B14F-4D97-AF65-F5344CB8AC3E}">
        <p14:creationId xmlns:p14="http://schemas.microsoft.com/office/powerpoint/2010/main" val="384912851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F635F2-78A9-3F9E-FFAC-208D6A10C20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BF70C1-A34C-7ECC-6114-FAAF119F8C98}"/>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70561D0E-DC67-0CA7-D0EB-4E59E3F2D41D}"/>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Describe the structure of this equation.</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Why can’t both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be 0?</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Why is standard form appropriate to use for this problem situation?</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Why is it difficult to tell which quantity is independent and which quantity is dependent?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Use the graph to identify another coordinate pair that makes sense in this situation.</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slope? What is another way?</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F4A617CA-C345-9644-231A-F0BCE2E73FE9}"/>
              </a:ext>
            </a:extLst>
          </p:cNvPr>
          <p:cNvSpPr>
            <a:spLocks noGrp="1"/>
          </p:cNvSpPr>
          <p:nvPr>
            <p:ph type="sldNum" sz="quarter" idx="5"/>
          </p:nvPr>
        </p:nvSpPr>
        <p:spPr/>
        <p:txBody>
          <a:bodyPr/>
          <a:lstStyle/>
          <a:p>
            <a:fld id="{BB5E49A5-4136-284D-997B-48E1D791AD67}" type="slidenum">
              <a:rPr lang="en-US" smtClean="0"/>
              <a:t>39</a:t>
            </a:fld>
            <a:endParaRPr lang="en-US"/>
          </a:p>
        </p:txBody>
      </p:sp>
    </p:spTree>
    <p:extLst>
      <p:ext uri="{BB962C8B-B14F-4D97-AF65-F5344CB8AC3E}">
        <p14:creationId xmlns:p14="http://schemas.microsoft.com/office/powerpoint/2010/main" val="302919003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9CDD84-F9F9-E955-3511-1ACB283DD2A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B2CADB7-2D97-C57D-5BCC-D7BEBE97D36F}"/>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89214C99-19D0-9D93-225B-9B4FF687F58E}"/>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Explain how you determined the slope.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What are the integers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in this equation?</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Label the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-intercept,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-intercept, and slope with the variables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 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r>
              <a:rPr lang="en-US" b="1" dirty="0"/>
              <a:t>TE correction: the TE gives the y-intercept of 3x + 4y = 7 as (0, 4/3). It is (0, 7/4): 4y = 7, y = 7/4. Slide typo: row 3 shows the y-intercept as (0, 23); for 2x − 3y = 9 it is (0, −3) (the minus sign became a 2).</a:t>
            </a:r>
          </a:p>
        </p:txBody>
      </p:sp>
      <p:sp>
        <p:nvSpPr>
          <p:cNvPr id="4" name="Slide Number Placeholder 3">
            <a:extLst>
              <a:ext uri="{FF2B5EF4-FFF2-40B4-BE49-F238E27FC236}">
                <a16:creationId xmlns:a16="http://schemas.microsoft.com/office/drawing/2014/main" id="{09506250-1440-3943-023C-DD3787D7963F}"/>
              </a:ext>
            </a:extLst>
          </p:cNvPr>
          <p:cNvSpPr>
            <a:spLocks noGrp="1"/>
          </p:cNvSpPr>
          <p:nvPr>
            <p:ph type="sldNum" sz="quarter" idx="5"/>
          </p:nvPr>
        </p:nvSpPr>
        <p:spPr/>
        <p:txBody>
          <a:bodyPr/>
          <a:lstStyle/>
          <a:p>
            <a:fld id="{BB5E49A5-4136-284D-997B-48E1D791AD67}" type="slidenum">
              <a:rPr lang="en-US" smtClean="0"/>
              <a:t>40</a:t>
            </a:fld>
            <a:endParaRPr lang="en-US"/>
          </a:p>
        </p:txBody>
      </p:sp>
    </p:spTree>
    <p:extLst>
      <p:ext uri="{BB962C8B-B14F-4D97-AF65-F5344CB8AC3E}">
        <p14:creationId xmlns:p14="http://schemas.microsoft.com/office/powerpoint/2010/main" val="1704997079"/>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0A20DD-1355-2656-DB1D-EE03B308766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D39B2C-9E5B-22EF-4FDA-508A558177D7}"/>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2C794BA2-B10C-2988-4A74-45C68C894BC6}"/>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Explain how you determined the slope.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What are the integers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in this equation?</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Label the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-intercept,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-intercept, and slope with the variables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 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2131A801-2B9A-DA43-C8A7-F61E67626FAE}"/>
              </a:ext>
            </a:extLst>
          </p:cNvPr>
          <p:cNvSpPr>
            <a:spLocks noGrp="1"/>
          </p:cNvSpPr>
          <p:nvPr>
            <p:ph type="sldNum" sz="quarter" idx="5"/>
          </p:nvPr>
        </p:nvSpPr>
        <p:spPr/>
        <p:txBody>
          <a:bodyPr/>
          <a:lstStyle/>
          <a:p>
            <a:fld id="{BB5E49A5-4136-284D-997B-48E1D791AD67}" type="slidenum">
              <a:rPr lang="en-US" smtClean="0"/>
              <a:t>41</a:t>
            </a:fld>
            <a:endParaRPr lang="en-US"/>
          </a:p>
        </p:txBody>
      </p:sp>
    </p:spTree>
    <p:extLst>
      <p:ext uri="{BB962C8B-B14F-4D97-AF65-F5344CB8AC3E}">
        <p14:creationId xmlns:p14="http://schemas.microsoft.com/office/powerpoint/2010/main" val="1026340550"/>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1CE7D4-1161-F2E3-5921-27526C2F73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9DB046A-1667-FFAD-3638-B59759C97966}"/>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C0912073-BA98-880A-DDCD-6F24A0E7F193}"/>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Show the steps using the formula in Question 8 to identify the slope of each line.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use the slopes to identify each line?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Use the graph to identify another coordinate pair that makes sense in this situation.</a:t>
            </a: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it incorrect to reverse the axes on your graph? Why not?</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FB4904DB-387B-F071-3488-3A75D6CA1635}"/>
              </a:ext>
            </a:extLst>
          </p:cNvPr>
          <p:cNvSpPr>
            <a:spLocks noGrp="1"/>
          </p:cNvSpPr>
          <p:nvPr>
            <p:ph type="sldNum" sz="quarter" idx="5"/>
          </p:nvPr>
        </p:nvSpPr>
        <p:spPr/>
        <p:txBody>
          <a:bodyPr/>
          <a:lstStyle/>
          <a:p>
            <a:fld id="{BB5E49A5-4136-284D-997B-48E1D791AD67}" type="slidenum">
              <a:rPr lang="en-US" smtClean="0"/>
              <a:t>42</a:t>
            </a:fld>
            <a:endParaRPr lang="en-US"/>
          </a:p>
        </p:txBody>
      </p:sp>
    </p:spTree>
    <p:extLst>
      <p:ext uri="{BB962C8B-B14F-4D97-AF65-F5344CB8AC3E}">
        <p14:creationId xmlns:p14="http://schemas.microsoft.com/office/powerpoint/2010/main" val="811396828"/>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606477-B821-E0DF-62A1-D1421D315B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F1173B8-BCD1-3399-985A-4148BE53EF3F}"/>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3D198633-D2F0-713E-DB25-183FD9072BA4}"/>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Show the steps using the formula in Question 8 to identify the slope of each line.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use the slopes to identify each line?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Use the graph to identify another coordinate pair that makes sense in this situation.</a:t>
            </a: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it incorrect to reverse the axes on your graph? Why not?</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EB5484E6-547F-4B5D-F10D-A68A03DC4EB2}"/>
              </a:ext>
            </a:extLst>
          </p:cNvPr>
          <p:cNvSpPr>
            <a:spLocks noGrp="1"/>
          </p:cNvSpPr>
          <p:nvPr>
            <p:ph type="sldNum" sz="quarter" idx="5"/>
          </p:nvPr>
        </p:nvSpPr>
        <p:spPr/>
        <p:txBody>
          <a:bodyPr/>
          <a:lstStyle/>
          <a:p>
            <a:fld id="{BB5E49A5-4136-284D-997B-48E1D791AD67}" type="slidenum">
              <a:rPr lang="en-US" smtClean="0"/>
              <a:t>43</a:t>
            </a:fld>
            <a:endParaRPr lang="en-US"/>
          </a:p>
        </p:txBody>
      </p:sp>
    </p:spTree>
    <p:extLst>
      <p:ext uri="{BB962C8B-B14F-4D97-AF65-F5344CB8AC3E}">
        <p14:creationId xmlns:p14="http://schemas.microsoft.com/office/powerpoint/2010/main" val="3672886754"/>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F1A587-CF5B-E0BE-86DC-9DBC232DB19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0084848-08A7-038E-1E11-04C1C69669D6}"/>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665CEB83-BC6A-448F-2057-5E08F66000F7}"/>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Show the steps using the formula in Question 8 to identify the slope of each line.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use the slopes to identify each line?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Use the graph to identify another coordinate pair that makes sense in this situation.</a:t>
            </a: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it incorrect to reverse the axes on your graph? Why not?</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CAE22D98-EEB3-69AE-1357-608C8FD4C2A1}"/>
              </a:ext>
            </a:extLst>
          </p:cNvPr>
          <p:cNvSpPr>
            <a:spLocks noGrp="1"/>
          </p:cNvSpPr>
          <p:nvPr>
            <p:ph type="sldNum" sz="quarter" idx="5"/>
          </p:nvPr>
        </p:nvSpPr>
        <p:spPr/>
        <p:txBody>
          <a:bodyPr/>
          <a:lstStyle/>
          <a:p>
            <a:fld id="{BB5E49A5-4136-284D-997B-48E1D791AD67}" type="slidenum">
              <a:rPr lang="en-US" smtClean="0"/>
              <a:t>44</a:t>
            </a:fld>
            <a:endParaRPr lang="en-US"/>
          </a:p>
        </p:txBody>
      </p:sp>
    </p:spTree>
    <p:extLst>
      <p:ext uri="{BB962C8B-B14F-4D97-AF65-F5344CB8AC3E}">
        <p14:creationId xmlns:p14="http://schemas.microsoft.com/office/powerpoint/2010/main" val="8987270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D4D393-DE49-4E66-0562-E5D06D633BE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125B4F7-3233-E032-FAD3-3B3E04FC328B}"/>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80CC1095-B4B8-2E2D-8875-C094F91DD40E}"/>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3FEA6CAC-7C60-7090-D4B3-BADF64F83E39}"/>
              </a:ext>
            </a:extLst>
          </p:cNvPr>
          <p:cNvSpPr>
            <a:spLocks noGrp="1"/>
          </p:cNvSpPr>
          <p:nvPr>
            <p:ph type="sldNum" sz="quarter" idx="5"/>
          </p:nvPr>
        </p:nvSpPr>
        <p:spPr/>
        <p:txBody>
          <a:bodyPr/>
          <a:lstStyle/>
          <a:p>
            <a:fld id="{BB5E49A5-4136-284D-997B-48E1D791AD67}" type="slidenum">
              <a:rPr lang="en-US" smtClean="0"/>
              <a:t>45</a:t>
            </a:fld>
            <a:endParaRPr lang="en-US"/>
          </a:p>
        </p:txBody>
      </p:sp>
    </p:spTree>
    <p:extLst>
      <p:ext uri="{BB962C8B-B14F-4D97-AF65-F5344CB8AC3E}">
        <p14:creationId xmlns:p14="http://schemas.microsoft.com/office/powerpoint/2010/main" val="275624661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804E92-BF87-4B0C-315E-CCFDE54BFD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43EF519-565F-4902-4DB9-FA9FF6448F9A}"/>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3C32F956-5956-F98E-9604-B18368D58634}"/>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What is the equation for the standard form of a linear equation?</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use the other forms of linear equations to write the equation in standard form?</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What is the slope of the line? Why do you need to determine the slope?</a:t>
            </a: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Reflecting and Justifying: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Which form of a linear equation do you prefer to write when given two points? Explain your reasoning.</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AF7CE953-EA0E-19E2-0677-E6E05B5344EA}"/>
              </a:ext>
            </a:extLst>
          </p:cNvPr>
          <p:cNvSpPr>
            <a:spLocks noGrp="1"/>
          </p:cNvSpPr>
          <p:nvPr>
            <p:ph type="sldNum" sz="quarter" idx="5"/>
          </p:nvPr>
        </p:nvSpPr>
        <p:spPr/>
        <p:txBody>
          <a:bodyPr/>
          <a:lstStyle/>
          <a:p>
            <a:fld id="{BB5E49A5-4136-284D-997B-48E1D791AD67}" type="slidenum">
              <a:rPr lang="en-US" smtClean="0"/>
              <a:t>46</a:t>
            </a:fld>
            <a:endParaRPr lang="en-US"/>
          </a:p>
        </p:txBody>
      </p:sp>
    </p:spTree>
    <p:extLst>
      <p:ext uri="{BB962C8B-B14F-4D97-AF65-F5344CB8AC3E}">
        <p14:creationId xmlns:p14="http://schemas.microsoft.com/office/powerpoint/2010/main" val="76946502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7576DE-4F58-7BE3-3A90-A2D8C78033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DC9036-CE18-2364-D32A-2BF98FB11331}"/>
              </a:ext>
            </a:extLst>
          </p:cNvPr>
          <p:cNvSpPr>
            <a:spLocks noGrp="1" noRot="1" noChangeAspect="1"/>
          </p:cNvSpPr>
          <p:nvPr>
            <p:ph type="sldImg"/>
          </p:nvPr>
        </p:nvSpPr>
        <p:spPr>
          <a:xfrm>
            <a:off x="382588" y="685800"/>
            <a:ext cx="6092825" cy="3429000"/>
          </a:xfrm>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17B60FF0-C0F6-23FE-57A2-75D5CC22599C}"/>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rPr>
                  <a:t> To close Day 2, have students reread the Essential Question and then read the Stamp the Learning summary aloud.</a:t>
                </a: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Activity 5.3 Summary:</a:t>
                </a:r>
              </a:p>
              <a:p>
                <a:r>
                  <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rPr>
                  <a:t>The standard form of a linear equation is </a:t>
                </a:r>
                <a14:m>
                  <m:oMath xmlns:m="http://schemas.openxmlformats.org/officeDocument/2006/math">
                    <m:r>
                      <a:rPr lang="en-US" sz="1200" b="0" i="1" dirty="0" smtClean="0">
                        <a:solidFill>
                          <a:srgbClr val="000000"/>
                        </a:solidFill>
                        <a:latin typeface="Cambria Math" panose="02040503050406030204" pitchFamily="18" charset="0"/>
                        <a:ea typeface="Calibri" panose="020F0502020204030204" pitchFamily="34" charset="0"/>
                        <a:cs typeface="Calibri" panose="020F0502020204030204" pitchFamily="34" charset="0"/>
                      </a:rPr>
                      <m:t>𝐴𝑥</m:t>
                    </m:r>
                    <m:r>
                      <a:rPr lang="en-US" sz="1200" b="0" i="1" dirty="0" smtClean="0">
                        <a:solidFill>
                          <a:srgbClr val="000000"/>
                        </a:solidFill>
                        <a:latin typeface="Cambria Math" panose="02040503050406030204" pitchFamily="18" charset="0"/>
                        <a:ea typeface="Calibri" panose="020F0502020204030204" pitchFamily="34" charset="0"/>
                        <a:cs typeface="Calibri" panose="020F0502020204030204" pitchFamily="34" charset="0"/>
                      </a:rPr>
                      <m:t>+</m:t>
                    </m:r>
                    <m:r>
                      <a:rPr lang="en-US" sz="1200" b="0" i="1" dirty="0" smtClean="0">
                        <a:solidFill>
                          <a:srgbClr val="000000"/>
                        </a:solidFill>
                        <a:latin typeface="Cambria Math" panose="02040503050406030204" pitchFamily="18" charset="0"/>
                        <a:ea typeface="Calibri" panose="020F0502020204030204" pitchFamily="34" charset="0"/>
                        <a:cs typeface="Calibri" panose="020F0502020204030204" pitchFamily="34" charset="0"/>
                      </a:rPr>
                      <m:t>𝐵𝑦</m:t>
                    </m:r>
                    <m:r>
                      <a:rPr lang="en-US" sz="1200" b="0" i="1" dirty="0" smtClean="0">
                        <a:solidFill>
                          <a:srgbClr val="000000"/>
                        </a:solidFill>
                        <a:latin typeface="Cambria Math" panose="02040503050406030204" pitchFamily="18" charset="0"/>
                        <a:ea typeface="Calibri" panose="020F0502020204030204" pitchFamily="34" charset="0"/>
                        <a:cs typeface="Calibri" panose="020F0502020204030204" pitchFamily="34" charset="0"/>
                      </a:rPr>
                      <m:t>=</m:t>
                    </m:r>
                    <m:r>
                      <a:rPr lang="en-US" sz="1200" b="0" i="1" dirty="0" smtClean="0">
                        <a:solidFill>
                          <a:srgbClr val="000000"/>
                        </a:solidFill>
                        <a:latin typeface="Cambria Math" panose="02040503050406030204" pitchFamily="18" charset="0"/>
                        <a:ea typeface="Calibri" panose="020F0502020204030204" pitchFamily="34" charset="0"/>
                        <a:cs typeface="Calibri" panose="020F0502020204030204" pitchFamily="34" charset="0"/>
                      </a:rPr>
                      <m:t>𝐶</m:t>
                    </m:r>
                  </m:oMath>
                </a14:m>
                <a:r>
                  <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rPr>
                  <a:t>, where </a:t>
                </a:r>
                <a:r>
                  <a:rPr lang="en-US" sz="1200" b="0"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b="0" i="1" dirty="0">
                    <a:solidFill>
                      <a:srgbClr val="000000"/>
                    </a:solidFill>
                    <a:latin typeface="Calibri" panose="020F0502020204030204" pitchFamily="34" charset="0"/>
                    <a:ea typeface="Calibri" panose="020F0502020204030204" pitchFamily="34" charset="0"/>
                    <a:cs typeface="Calibri" panose="020F0502020204030204" pitchFamily="34" charset="0"/>
                  </a:rPr>
                  <a:t> B</a:t>
                </a:r>
                <a:r>
                  <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sz="1200" b="0" i="1" dirty="0">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rPr>
                  <a:t> are integers and </a:t>
                </a:r>
                <a:r>
                  <a:rPr lang="en-US" sz="1200" b="0"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sz="1200" b="0"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rPr>
                  <a:t> are not both zero. An equation in standard form can be graphed by calculating and graphing the intercepts.</a:t>
                </a:r>
              </a:p>
            </p:txBody>
          </p:sp>
        </mc:Choice>
        <mc:Fallback xmlns="">
          <p:sp>
            <p:nvSpPr>
              <p:cNvPr id="3" name="Notes Placeholder 2">
                <a:extLst>
                  <a:ext uri="{FF2B5EF4-FFF2-40B4-BE49-F238E27FC236}">
                    <a16:creationId xmlns:a16="http://schemas.microsoft.com/office/drawing/2014/main" id="{17B60FF0-C0F6-23FE-57A2-75D5CC22599C}"/>
                  </a:ext>
                </a:extLst>
              </p:cNvPr>
              <p:cNvSpPr>
                <a:spLocks noGrp="1"/>
              </p:cNvSpPr>
              <p:nvPr>
                <p:ph type="body" idx="1"/>
              </p:nvPr>
            </p:nvSpPr>
            <p:spPr/>
            <p:txBody>
              <a:bodyPr/>
              <a:lstStyle/>
              <a:p>
                <a:r>
                  <a:rPr lang="en-US" sz="1200" b="1" dirty="0">
                    <a:latin typeface="Calibri" panose="020F0502020204030204" pitchFamily="34" charset="0"/>
                    <a:ea typeface="Calibri" panose="020F0502020204030204" pitchFamily="34" charset="0"/>
                    <a:cs typeface="Calibri" panose="020F0502020204030204" pitchFamily="34" charset="0"/>
                  </a:rPr>
                  <a:t>Activity 2.3 Summary:</a:t>
                </a:r>
              </a:p>
              <a:p>
                <a:r>
                  <a:rPr lang="en-US" sz="1200" b="0" dirty="0">
                    <a:latin typeface="Calibri" panose="020F0502020204030204" pitchFamily="34" charset="0"/>
                    <a:ea typeface="Calibri" panose="020F0502020204030204" pitchFamily="34" charset="0"/>
                    <a:cs typeface="Calibri" panose="020F0502020204030204" pitchFamily="34" charset="0"/>
                  </a:rPr>
                  <a:t>The </a:t>
                </a:r>
                <a:r>
                  <a:rPr lang="en-US" sz="1200" b="0" i="1" dirty="0" err="1">
                    <a:latin typeface="Calibri" panose="020F0502020204030204" pitchFamily="34" charset="0"/>
                    <a:ea typeface="Calibri" panose="020F0502020204030204" pitchFamily="34" charset="0"/>
                    <a:cs typeface="Calibri" panose="020F0502020204030204" pitchFamily="34" charset="0"/>
                  </a:rPr>
                  <a:t>r</a:t>
                </a:r>
                <a:r>
                  <a:rPr lang="en-US" sz="1200" b="0" dirty="0" err="1">
                    <a:latin typeface="Calibri" panose="020F0502020204030204" pitchFamily="34" charset="0"/>
                    <a:ea typeface="Calibri" panose="020F0502020204030204" pitchFamily="34" charset="0"/>
                    <a:cs typeface="Calibri" panose="020F0502020204030204" pitchFamily="34" charset="0"/>
                  </a:rPr>
                  <a:t>-value</a:t>
                </a:r>
                <a:r>
                  <a:rPr lang="en-US" sz="1200" b="0" dirty="0">
                    <a:latin typeface="Calibri" panose="020F0502020204030204" pitchFamily="34" charset="0"/>
                    <a:ea typeface="Calibri" panose="020F0502020204030204" pitchFamily="34" charset="0"/>
                    <a:cs typeface="Calibri" panose="020F0502020204030204" pitchFamily="34" charset="0"/>
                  </a:rPr>
                  <a:t>, </a:t>
                </a:r>
                <a:r>
                  <a:rPr lang="en-US" sz="1200" b="0" i="0">
                    <a:latin typeface="Cambria Math" panose="02040503050406030204" pitchFamily="18" charset="0"/>
                    <a:cs typeface="Calibri" panose="020F0502020204030204" pitchFamily="34" charset="0"/>
                  </a:rPr>
                  <a:t>𝑟^2</a:t>
                </a:r>
                <a:r>
                  <a:rPr lang="en-US" sz="1200" b="0" dirty="0">
                    <a:latin typeface="Calibri" panose="020F0502020204030204" pitchFamily="34" charset="0"/>
                    <a:ea typeface="Calibri" panose="020F0502020204030204" pitchFamily="34" charset="0"/>
                    <a:cs typeface="Calibri" panose="020F0502020204030204" pitchFamily="34" charset="0"/>
                  </a:rPr>
                  <a:t>-value, table of values, scatterplot, and context are all helpful in determining the function that best fits a data set.</a:t>
                </a:r>
              </a:p>
            </p:txBody>
          </p:sp>
        </mc:Fallback>
      </mc:AlternateContent>
      <p:sp>
        <p:nvSpPr>
          <p:cNvPr id="4" name="Slide Number Placeholder 3">
            <a:extLst>
              <a:ext uri="{FF2B5EF4-FFF2-40B4-BE49-F238E27FC236}">
                <a16:creationId xmlns:a16="http://schemas.microsoft.com/office/drawing/2014/main" id="{35DCFE0D-1E66-5115-6D51-6675F00F0E4B}"/>
              </a:ext>
            </a:extLst>
          </p:cNvPr>
          <p:cNvSpPr>
            <a:spLocks noGrp="1"/>
          </p:cNvSpPr>
          <p:nvPr>
            <p:ph type="sldNum" sz="quarter" idx="5"/>
          </p:nvPr>
        </p:nvSpPr>
        <p:spPr/>
        <p:txBody>
          <a:bodyPr/>
          <a:lstStyle/>
          <a:p>
            <a:fld id="{BB5E49A5-4136-284D-997B-48E1D791AD67}" type="slidenum">
              <a:rPr lang="en-US" smtClean="0"/>
              <a:t>47</a:t>
            </a:fld>
            <a:endParaRPr lang="en-US"/>
          </a:p>
        </p:txBody>
      </p:sp>
    </p:spTree>
    <p:extLst>
      <p:ext uri="{BB962C8B-B14F-4D97-AF65-F5344CB8AC3E}">
        <p14:creationId xmlns:p14="http://schemas.microsoft.com/office/powerpoint/2010/main" val="76217674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7576DE-4F58-7BE3-3A90-A2D8C78033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DC9036-CE18-2364-D32A-2BF98FB11331}"/>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17B60FF0-C0F6-23FE-57A2-75D5CC22599C}"/>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This slide is blank for optional use with displaying work.</a:t>
            </a:r>
          </a:p>
        </p:txBody>
      </p:sp>
      <p:sp>
        <p:nvSpPr>
          <p:cNvPr id="4" name="Slide Number Placeholder 3">
            <a:extLst>
              <a:ext uri="{FF2B5EF4-FFF2-40B4-BE49-F238E27FC236}">
                <a16:creationId xmlns:a16="http://schemas.microsoft.com/office/drawing/2014/main" id="{35DCFE0D-1E66-5115-6D51-6675F00F0E4B}"/>
              </a:ext>
            </a:extLst>
          </p:cNvPr>
          <p:cNvSpPr>
            <a:spLocks noGrp="1"/>
          </p:cNvSpPr>
          <p:nvPr>
            <p:ph type="sldNum" sz="quarter" idx="5"/>
          </p:nvPr>
        </p:nvSpPr>
        <p:spPr/>
        <p:txBody>
          <a:bodyPr/>
          <a:lstStyle/>
          <a:p>
            <a:fld id="{BB5E49A5-4136-284D-997B-48E1D791AD67}" type="slidenum">
              <a:rPr lang="en-US" smtClean="0"/>
              <a:t>48</a:t>
            </a:fld>
            <a:endParaRPr lang="en-US"/>
          </a:p>
        </p:txBody>
      </p:sp>
    </p:spTree>
    <p:extLst>
      <p:ext uri="{BB962C8B-B14F-4D97-AF65-F5344CB8AC3E}">
        <p14:creationId xmlns:p14="http://schemas.microsoft.com/office/powerpoint/2010/main" val="76217674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73AAA2-0667-31CB-4EA7-C5564A72AEA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DD2D795-534F-677F-25A1-E6C8D27EA91D}"/>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34F183E2-7CBC-C5E9-357C-4CBC4276FB1A}"/>
              </a:ext>
            </a:extLst>
          </p:cNvPr>
          <p:cNvSpPr>
            <a:spLocks noGrp="1"/>
          </p:cNvSpPr>
          <p:nvPr>
            <p:ph type="body" idx="1"/>
          </p:nvPr>
        </p:nvSpPr>
        <p:spPr/>
        <p:txBody>
          <a:bodyPr/>
          <a:lstStyle/>
          <a:p>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 </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Total suggested pacing for Day 3 is 45 minutes.</a:t>
            </a:r>
          </a:p>
        </p:txBody>
      </p:sp>
      <p:sp>
        <p:nvSpPr>
          <p:cNvPr id="4" name="Slide Number Placeholder 3">
            <a:extLst>
              <a:ext uri="{FF2B5EF4-FFF2-40B4-BE49-F238E27FC236}">
                <a16:creationId xmlns:a16="http://schemas.microsoft.com/office/drawing/2014/main" id="{470C0F93-8F88-CC50-103F-617F3A39CB07}"/>
              </a:ext>
            </a:extLst>
          </p:cNvPr>
          <p:cNvSpPr>
            <a:spLocks noGrp="1"/>
          </p:cNvSpPr>
          <p:nvPr>
            <p:ph type="sldNum" sz="quarter" idx="5"/>
          </p:nvPr>
        </p:nvSpPr>
        <p:spPr/>
        <p:txBody>
          <a:bodyPr/>
          <a:lstStyle/>
          <a:p>
            <a:fld id="{BB5E49A5-4136-284D-997B-48E1D791AD67}" type="slidenum">
              <a:rPr lang="en-US" smtClean="0"/>
              <a:t>49</a:t>
            </a:fld>
            <a:endParaRPr lang="en-US"/>
          </a:p>
        </p:txBody>
      </p:sp>
    </p:spTree>
    <p:extLst>
      <p:ext uri="{BB962C8B-B14F-4D97-AF65-F5344CB8AC3E}">
        <p14:creationId xmlns:p14="http://schemas.microsoft.com/office/powerpoint/2010/main" val="1610154616"/>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57B8A3-1984-6509-4D72-855EF556F1B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4E2C0BD-03E5-B363-64B4-0D093071F8F6}"/>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890B4F4E-B77B-A62E-235D-897C0EF3D01F}"/>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Note: </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To begin Day 3, have a student read the Essential Question aloud.</a:t>
            </a: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0BFD4EC7-ED0C-379C-471B-9D26512F6223}"/>
              </a:ext>
            </a:extLst>
          </p:cNvPr>
          <p:cNvSpPr>
            <a:spLocks noGrp="1"/>
          </p:cNvSpPr>
          <p:nvPr>
            <p:ph type="sldNum" sz="quarter" idx="5"/>
          </p:nvPr>
        </p:nvSpPr>
        <p:spPr/>
        <p:txBody>
          <a:bodyPr/>
          <a:lstStyle/>
          <a:p>
            <a:fld id="{BB5E49A5-4136-284D-997B-48E1D791AD67}" type="slidenum">
              <a:rPr lang="en-US" smtClean="0"/>
              <a:t>50</a:t>
            </a:fld>
            <a:endParaRPr lang="en-US"/>
          </a:p>
        </p:txBody>
      </p:sp>
    </p:spTree>
    <p:extLst>
      <p:ext uri="{BB962C8B-B14F-4D97-AF65-F5344CB8AC3E}">
        <p14:creationId xmlns:p14="http://schemas.microsoft.com/office/powerpoint/2010/main" val="580971072"/>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C1652D-BE66-CB6F-B52B-E6E4E42E1C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57545-57DC-381A-1F6E-AFB9390D6269}"/>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CFBB5055-1850-3C11-5D99-206936129C30}"/>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Total time of 20-25 minutes allotted for Activity 5.4.</a:t>
            </a:r>
          </a:p>
        </p:txBody>
      </p:sp>
      <p:sp>
        <p:nvSpPr>
          <p:cNvPr id="4" name="Slide Number Placeholder 3">
            <a:extLst>
              <a:ext uri="{FF2B5EF4-FFF2-40B4-BE49-F238E27FC236}">
                <a16:creationId xmlns:a16="http://schemas.microsoft.com/office/drawing/2014/main" id="{F7FD51F7-15FE-3832-FEDF-D80519868549}"/>
              </a:ext>
            </a:extLst>
          </p:cNvPr>
          <p:cNvSpPr>
            <a:spLocks noGrp="1"/>
          </p:cNvSpPr>
          <p:nvPr>
            <p:ph type="sldNum" sz="quarter" idx="5"/>
          </p:nvPr>
        </p:nvSpPr>
        <p:spPr/>
        <p:txBody>
          <a:bodyPr/>
          <a:lstStyle/>
          <a:p>
            <a:fld id="{BB5E49A5-4136-284D-997B-48E1D791AD67}" type="slidenum">
              <a:rPr lang="en-US" smtClean="0"/>
              <a:t>51</a:t>
            </a:fld>
            <a:endParaRPr lang="en-US"/>
          </a:p>
        </p:txBody>
      </p:sp>
    </p:spTree>
    <p:extLst>
      <p:ext uri="{BB962C8B-B14F-4D97-AF65-F5344CB8AC3E}">
        <p14:creationId xmlns:p14="http://schemas.microsoft.com/office/powerpoint/2010/main" val="1585705827"/>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CCDC5B-DF78-2B54-5BBC-71AAF50ACEE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B15105C-8B47-220C-CD3E-7D4BFC203D2A}"/>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75706C1D-128A-E560-E820-1AABB2539229}"/>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slope? What is another way?</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-intercept? What is another way?</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Why doesn’t this line have a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-intercept?</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95337388-4A3E-854E-3C81-964CB6A49E4A}"/>
              </a:ext>
            </a:extLst>
          </p:cNvPr>
          <p:cNvSpPr>
            <a:spLocks noGrp="1"/>
          </p:cNvSpPr>
          <p:nvPr>
            <p:ph type="sldNum" sz="quarter" idx="5"/>
          </p:nvPr>
        </p:nvSpPr>
        <p:spPr/>
        <p:txBody>
          <a:bodyPr/>
          <a:lstStyle/>
          <a:p>
            <a:fld id="{BB5E49A5-4136-284D-997B-48E1D791AD67}" type="slidenum">
              <a:rPr lang="en-US" smtClean="0"/>
              <a:t>52</a:t>
            </a:fld>
            <a:endParaRPr lang="en-US"/>
          </a:p>
        </p:txBody>
      </p:sp>
    </p:spTree>
    <p:extLst>
      <p:ext uri="{BB962C8B-B14F-4D97-AF65-F5344CB8AC3E}">
        <p14:creationId xmlns:p14="http://schemas.microsoft.com/office/powerpoint/2010/main" val="909080714"/>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341E88-F598-8CED-E50A-892C2F3B653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DF036E1-13A5-A332-A819-ECA2DE15FFF3}"/>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1F72B0AC-7853-11E6-AF53-7E9E0A1788CD}"/>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slope? What is another way?</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-intercept? What is another way?</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Why doesn’t this line have a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-intercept?</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B615A924-4E3E-75D3-A14B-B7AEA34239B3}"/>
              </a:ext>
            </a:extLst>
          </p:cNvPr>
          <p:cNvSpPr>
            <a:spLocks noGrp="1"/>
          </p:cNvSpPr>
          <p:nvPr>
            <p:ph type="sldNum" sz="quarter" idx="5"/>
          </p:nvPr>
        </p:nvSpPr>
        <p:spPr/>
        <p:txBody>
          <a:bodyPr/>
          <a:lstStyle/>
          <a:p>
            <a:fld id="{BB5E49A5-4136-284D-997B-48E1D791AD67}" type="slidenum">
              <a:rPr lang="en-US" smtClean="0"/>
              <a:t>53</a:t>
            </a:fld>
            <a:endParaRPr lang="en-US"/>
          </a:p>
        </p:txBody>
      </p:sp>
    </p:spTree>
    <p:extLst>
      <p:ext uri="{BB962C8B-B14F-4D97-AF65-F5344CB8AC3E}">
        <p14:creationId xmlns:p14="http://schemas.microsoft.com/office/powerpoint/2010/main" val="2961119168"/>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C4D845-9359-FD38-27D0-ECF095693AE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B7EC20-0985-38C2-897F-7FBEF1C6829C}"/>
              </a:ext>
            </a:extLst>
          </p:cNvPr>
          <p:cNvSpPr>
            <a:spLocks noGrp="1" noRot="1" noChangeAspect="1"/>
          </p:cNvSpPr>
          <p:nvPr>
            <p:ph type="sldImg"/>
          </p:nvPr>
        </p:nvSpPr>
        <p:spPr>
          <a:xfrm>
            <a:off x="382588" y="685800"/>
            <a:ext cx="6092825" cy="3429000"/>
          </a:xfrm>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8AF20499-E696-4FE7-34CE-1CC1E972A66C}"/>
                  </a:ext>
                </a:extLst>
              </p:cNvPr>
              <p:cNvSpPr>
                <a:spLocks noGrp="1"/>
              </p:cNvSpPr>
              <p:nvPr>
                <p:ph type="body" idx="1"/>
              </p:nvPr>
            </p:nvSpPr>
            <p:spPr/>
            <p:txBody>
              <a:bodyPr/>
              <a:lstStyle/>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Activity 5.4 Summary:</a:t>
                </a:r>
              </a:p>
              <a:p>
                <a:r>
                  <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rPr>
                  <a:t>The slope of an equation can be identified directly when equations are written in slope-intercept or point-slope form; it can be calculated using </a:t>
                </a:r>
                <a14:m>
                  <m:oMath xmlns:m="http://schemas.openxmlformats.org/officeDocument/2006/math">
                    <m:r>
                      <a:rPr lang="en-US" sz="1200" b="0" i="1" smtClean="0">
                        <a:solidFill>
                          <a:srgbClr val="000000"/>
                        </a:solidFill>
                        <a:latin typeface="Cambria Math" panose="02040503050406030204" pitchFamily="18" charset="0"/>
                        <a:ea typeface="Calibri" panose="020F0502020204030204" pitchFamily="34" charset="0"/>
                        <a:cs typeface="Calibri" panose="020F0502020204030204" pitchFamily="34" charset="0"/>
                      </a:rPr>
                      <m:t>−</m:t>
                    </m:r>
                    <m:f>
                      <m:fPr>
                        <m:ctrlPr>
                          <a:rPr lang="en-US" sz="1200" b="0" i="1" smtClean="0">
                            <a:solidFill>
                              <a:srgbClr val="000000"/>
                            </a:solidFill>
                            <a:latin typeface="Cambria Math" panose="02040503050406030204" pitchFamily="18" charset="0"/>
                            <a:cs typeface="Calibri" panose="020F0502020204030204" pitchFamily="34" charset="0"/>
                          </a:rPr>
                        </m:ctrlPr>
                      </m:fPr>
                      <m:num>
                        <m:r>
                          <a:rPr lang="en-US" sz="1200" b="0" i="1" smtClean="0">
                            <a:solidFill>
                              <a:srgbClr val="000000"/>
                            </a:solidFill>
                            <a:latin typeface="Cambria Math" panose="02040503050406030204" pitchFamily="18" charset="0"/>
                            <a:cs typeface="Calibri" panose="020F0502020204030204" pitchFamily="34" charset="0"/>
                          </a:rPr>
                          <m:t>𝐴</m:t>
                        </m:r>
                      </m:num>
                      <m:den>
                        <m:r>
                          <a:rPr lang="en-US" sz="1200" b="0" i="1" smtClean="0">
                            <a:solidFill>
                              <a:srgbClr val="000000"/>
                            </a:solidFill>
                            <a:latin typeface="Cambria Math" panose="02040503050406030204" pitchFamily="18" charset="0"/>
                            <a:cs typeface="Calibri" panose="020F0502020204030204" pitchFamily="34" charset="0"/>
                          </a:rPr>
                          <m:t>𝐵</m:t>
                        </m:r>
                      </m:den>
                    </m:f>
                  </m:oMath>
                </a14:m>
                <a:r>
                  <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rPr>
                  <a:t> in the standard form equation, </a:t>
                </a:r>
                <a14:m>
                  <m:oMath xmlns:m="http://schemas.openxmlformats.org/officeDocument/2006/math">
                    <m:r>
                      <a:rPr lang="en-US" sz="1200" b="0" i="1" smtClean="0">
                        <a:solidFill>
                          <a:srgbClr val="000000"/>
                        </a:solidFill>
                        <a:latin typeface="Cambria Math" panose="02040503050406030204" pitchFamily="18" charset="0"/>
                        <a:ea typeface="Calibri" panose="020F0502020204030204" pitchFamily="34" charset="0"/>
                        <a:cs typeface="Calibri" panose="020F0502020204030204" pitchFamily="34" charset="0"/>
                      </a:rPr>
                      <m:t>𝐴𝑥</m:t>
                    </m:r>
                    <m:r>
                      <a:rPr lang="en-US" sz="1200" b="0" i="1" smtClean="0">
                        <a:solidFill>
                          <a:srgbClr val="000000"/>
                        </a:solidFill>
                        <a:latin typeface="Cambria Math" panose="02040503050406030204" pitchFamily="18" charset="0"/>
                        <a:ea typeface="Calibri" panose="020F0502020204030204" pitchFamily="34" charset="0"/>
                        <a:cs typeface="Calibri" panose="020F0502020204030204" pitchFamily="34" charset="0"/>
                      </a:rPr>
                      <m:t>+</m:t>
                    </m:r>
                    <m:r>
                      <a:rPr lang="en-US" sz="1200" b="0" i="1" smtClean="0">
                        <a:solidFill>
                          <a:srgbClr val="000000"/>
                        </a:solidFill>
                        <a:latin typeface="Cambria Math" panose="02040503050406030204" pitchFamily="18" charset="0"/>
                        <a:ea typeface="Calibri" panose="020F0502020204030204" pitchFamily="34" charset="0"/>
                        <a:cs typeface="Calibri" panose="020F0502020204030204" pitchFamily="34" charset="0"/>
                      </a:rPr>
                      <m:t>𝐵𝑦</m:t>
                    </m:r>
                    <m:r>
                      <a:rPr lang="en-US" sz="1200" b="0" i="1" smtClean="0">
                        <a:solidFill>
                          <a:srgbClr val="000000"/>
                        </a:solidFill>
                        <a:latin typeface="Cambria Math" panose="02040503050406030204" pitchFamily="18" charset="0"/>
                        <a:ea typeface="Calibri" panose="020F0502020204030204" pitchFamily="34" charset="0"/>
                        <a:cs typeface="Calibri" panose="020F0502020204030204" pitchFamily="34" charset="0"/>
                      </a:rPr>
                      <m:t>=</m:t>
                    </m:r>
                    <m:r>
                      <a:rPr lang="en-US" sz="1200" b="0" i="1" smtClean="0">
                        <a:solidFill>
                          <a:srgbClr val="000000"/>
                        </a:solidFill>
                        <a:latin typeface="Cambria Math" panose="02040503050406030204" pitchFamily="18" charset="0"/>
                        <a:ea typeface="Calibri" panose="020F0502020204030204" pitchFamily="34" charset="0"/>
                        <a:cs typeface="Calibri" panose="020F0502020204030204" pitchFamily="34" charset="0"/>
                      </a:rPr>
                      <m:t>𝐶</m:t>
                    </m:r>
                  </m:oMath>
                </a14:m>
                <a:r>
                  <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rPr>
                  <a:t>. The </a:t>
                </a:r>
                <a:r>
                  <a:rPr lang="en-US" sz="1200" b="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rPr>
                  <a:t>-intercept can be identified by using substitution of </a:t>
                </a:r>
                <a14:m>
                  <m:oMath xmlns:m="http://schemas.openxmlformats.org/officeDocument/2006/math">
                    <m:r>
                      <a:rPr lang="en-US" sz="1200" b="0" i="1"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𝑥</m:t>
                    </m:r>
                    <m:r>
                      <a:rPr lang="en-US" sz="1200" b="0" i="1" smtClean="0">
                        <a:solidFill>
                          <a:srgbClr val="000000"/>
                        </a:solidFill>
                        <a:latin typeface="Cambria Math" panose="02040503050406030204" pitchFamily="18" charset="0"/>
                        <a:ea typeface="Calibri" panose="020F0502020204030204" pitchFamily="34" charset="0"/>
                        <a:cs typeface="Calibri" panose="020F0502020204030204" pitchFamily="34" charset="0"/>
                      </a:rPr>
                      <m:t>=0 </m:t>
                    </m:r>
                  </m:oMath>
                </a14:m>
                <a:r>
                  <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rPr>
                  <a:t>in any form.</a:t>
                </a:r>
              </a:p>
            </p:txBody>
          </p:sp>
        </mc:Choice>
        <mc:Fallback xmlns="">
          <p:sp>
            <p:nvSpPr>
              <p:cNvPr id="3" name="Notes Placeholder 2">
                <a:extLst>
                  <a:ext uri="{FF2B5EF4-FFF2-40B4-BE49-F238E27FC236}">
                    <a16:creationId xmlns:a16="http://schemas.microsoft.com/office/drawing/2014/main" id="{17B60FF0-C0F6-23FE-57A2-75D5CC22599C}"/>
                  </a:ext>
                </a:extLst>
              </p:cNvPr>
              <p:cNvSpPr>
                <a:spLocks noGrp="1"/>
              </p:cNvSpPr>
              <p:nvPr>
                <p:ph type="body" idx="1"/>
              </p:nvPr>
            </p:nvSpPr>
            <p:spPr/>
            <p:txBody>
              <a:bodyPr/>
              <a:lstStyle/>
              <a:p>
                <a:r>
                  <a:rPr lang="en-US" sz="1200" b="1" dirty="0">
                    <a:latin typeface="Calibri" panose="020F0502020204030204" pitchFamily="34" charset="0"/>
                    <a:ea typeface="Calibri" panose="020F0502020204030204" pitchFamily="34" charset="0"/>
                    <a:cs typeface="Calibri" panose="020F0502020204030204" pitchFamily="34" charset="0"/>
                  </a:rPr>
                  <a:t>Activity 2.3 Summary:</a:t>
                </a:r>
              </a:p>
              <a:p>
                <a:r>
                  <a:rPr lang="en-US" sz="1200" b="0" dirty="0">
                    <a:latin typeface="Calibri" panose="020F0502020204030204" pitchFamily="34" charset="0"/>
                    <a:ea typeface="Calibri" panose="020F0502020204030204" pitchFamily="34" charset="0"/>
                    <a:cs typeface="Calibri" panose="020F0502020204030204" pitchFamily="34" charset="0"/>
                  </a:rPr>
                  <a:t>The </a:t>
                </a:r>
                <a:r>
                  <a:rPr lang="en-US" sz="1200" b="0" i="1" dirty="0" err="1">
                    <a:latin typeface="Calibri" panose="020F0502020204030204" pitchFamily="34" charset="0"/>
                    <a:ea typeface="Calibri" panose="020F0502020204030204" pitchFamily="34" charset="0"/>
                    <a:cs typeface="Calibri" panose="020F0502020204030204" pitchFamily="34" charset="0"/>
                  </a:rPr>
                  <a:t>r</a:t>
                </a:r>
                <a:r>
                  <a:rPr lang="en-US" sz="1200" b="0" dirty="0" err="1">
                    <a:latin typeface="Calibri" panose="020F0502020204030204" pitchFamily="34" charset="0"/>
                    <a:ea typeface="Calibri" panose="020F0502020204030204" pitchFamily="34" charset="0"/>
                    <a:cs typeface="Calibri" panose="020F0502020204030204" pitchFamily="34" charset="0"/>
                  </a:rPr>
                  <a:t>-value</a:t>
                </a:r>
                <a:r>
                  <a:rPr lang="en-US" sz="1200" b="0" dirty="0">
                    <a:latin typeface="Calibri" panose="020F0502020204030204" pitchFamily="34" charset="0"/>
                    <a:ea typeface="Calibri" panose="020F0502020204030204" pitchFamily="34" charset="0"/>
                    <a:cs typeface="Calibri" panose="020F0502020204030204" pitchFamily="34" charset="0"/>
                  </a:rPr>
                  <a:t>, </a:t>
                </a:r>
                <a:r>
                  <a:rPr lang="en-US" sz="1200" b="0" i="0">
                    <a:latin typeface="Cambria Math" panose="02040503050406030204" pitchFamily="18" charset="0"/>
                    <a:cs typeface="Calibri" panose="020F0502020204030204" pitchFamily="34" charset="0"/>
                  </a:rPr>
                  <a:t>𝑟^2</a:t>
                </a:r>
                <a:r>
                  <a:rPr lang="en-US" sz="1200" b="0" dirty="0">
                    <a:latin typeface="Calibri" panose="020F0502020204030204" pitchFamily="34" charset="0"/>
                    <a:ea typeface="Calibri" panose="020F0502020204030204" pitchFamily="34" charset="0"/>
                    <a:cs typeface="Calibri" panose="020F0502020204030204" pitchFamily="34" charset="0"/>
                  </a:rPr>
                  <a:t>-value, table of values, scatterplot, and context are all helpful in determining the function that best fits a data set.</a:t>
                </a:r>
              </a:p>
            </p:txBody>
          </p:sp>
        </mc:Fallback>
      </mc:AlternateContent>
      <p:sp>
        <p:nvSpPr>
          <p:cNvPr id="4" name="Slide Number Placeholder 3">
            <a:extLst>
              <a:ext uri="{FF2B5EF4-FFF2-40B4-BE49-F238E27FC236}">
                <a16:creationId xmlns:a16="http://schemas.microsoft.com/office/drawing/2014/main" id="{E79A5FD4-1656-AC52-1EC4-52FB1DC284AF}"/>
              </a:ext>
            </a:extLst>
          </p:cNvPr>
          <p:cNvSpPr>
            <a:spLocks noGrp="1"/>
          </p:cNvSpPr>
          <p:nvPr>
            <p:ph type="sldNum" sz="quarter" idx="5"/>
          </p:nvPr>
        </p:nvSpPr>
        <p:spPr/>
        <p:txBody>
          <a:bodyPr/>
          <a:lstStyle/>
          <a:p>
            <a:fld id="{BB5E49A5-4136-284D-997B-48E1D791AD67}" type="slidenum">
              <a:rPr lang="en-US" smtClean="0"/>
              <a:t>54</a:t>
            </a:fld>
            <a:endParaRPr lang="en-US"/>
          </a:p>
        </p:txBody>
      </p:sp>
    </p:spTree>
    <p:extLst>
      <p:ext uri="{BB962C8B-B14F-4D97-AF65-F5344CB8AC3E}">
        <p14:creationId xmlns:p14="http://schemas.microsoft.com/office/powerpoint/2010/main" val="3625462988"/>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A4186B-C358-B549-BC6E-63F5204420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DD69C9-4BF5-15A7-2441-2AA73C0868ED}"/>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2A347F3E-26EB-9583-D07C-0E247F2498A0}"/>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This slide is blank for optional use with displaying work.</a:t>
            </a:r>
          </a:p>
        </p:txBody>
      </p:sp>
      <p:sp>
        <p:nvSpPr>
          <p:cNvPr id="4" name="Slide Number Placeholder 3">
            <a:extLst>
              <a:ext uri="{FF2B5EF4-FFF2-40B4-BE49-F238E27FC236}">
                <a16:creationId xmlns:a16="http://schemas.microsoft.com/office/drawing/2014/main" id="{9A4FB015-1A07-0917-025F-745653539C7B}"/>
              </a:ext>
            </a:extLst>
          </p:cNvPr>
          <p:cNvSpPr>
            <a:spLocks noGrp="1"/>
          </p:cNvSpPr>
          <p:nvPr>
            <p:ph type="sldNum" sz="quarter" idx="5"/>
          </p:nvPr>
        </p:nvSpPr>
        <p:spPr/>
        <p:txBody>
          <a:bodyPr/>
          <a:lstStyle/>
          <a:p>
            <a:fld id="{BB5E49A5-4136-284D-997B-48E1D791AD67}" type="slidenum">
              <a:rPr lang="en-US" smtClean="0"/>
              <a:t>55</a:t>
            </a:fld>
            <a:endParaRPr lang="en-US"/>
          </a:p>
        </p:txBody>
      </p:sp>
    </p:spTree>
    <p:extLst>
      <p:ext uri="{BB962C8B-B14F-4D97-AF65-F5344CB8AC3E}">
        <p14:creationId xmlns:p14="http://schemas.microsoft.com/office/powerpoint/2010/main" val="946250515"/>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Total time of 20-25 minutes allotted for the Talk the Talk.</a:t>
            </a:r>
          </a:p>
        </p:txBody>
      </p:sp>
      <p:sp>
        <p:nvSpPr>
          <p:cNvPr id="4" name="Slide Number Placeholder 3"/>
          <p:cNvSpPr>
            <a:spLocks noGrp="1"/>
          </p:cNvSpPr>
          <p:nvPr>
            <p:ph type="sldNum" sz="quarter" idx="5"/>
          </p:nvPr>
        </p:nvSpPr>
        <p:spPr/>
        <p:txBody>
          <a:bodyPr/>
          <a:lstStyle/>
          <a:p>
            <a:fld id="{BB5E49A5-4136-284D-997B-48E1D791AD67}" type="slidenum">
              <a:rPr lang="en-US" smtClean="0"/>
              <a:t>56</a:t>
            </a:fld>
            <a:endParaRPr lang="en-US"/>
          </a:p>
        </p:txBody>
      </p:sp>
    </p:spTree>
    <p:extLst>
      <p:ext uri="{BB962C8B-B14F-4D97-AF65-F5344CB8AC3E}">
        <p14:creationId xmlns:p14="http://schemas.microsoft.com/office/powerpoint/2010/main" val="453325785"/>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marL="0" indent="0" algn="l">
                  <a:buFont typeface="Arial" panose="020B0604020202020204" pitchFamily="34" charset="0"/>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r>
                  <a:rPr lang="en-US" b="1" dirty="0"/>
                  <a:t>TE correction: the last bullet ('Match each transformed graph to the equation in the table, written in terms of f(x)') belongs to a different lesson. There are no transformed graphs or table here; skip it.</a:t>
                </a:r>
              </a:p>
            </p:txBody>
          </p:sp>
        </mc:Choice>
        <mc:Fallback xmlns="">
          <p:sp>
            <p:nvSpPr>
              <p:cNvPr id="3" name="Notes Placeholder 2"/>
              <p:cNvSpPr>
                <a:spLocks noGrp="1"/>
              </p:cNvSpPr>
              <p:nvPr>
                <p:ph type="body" idx="1"/>
              </p:nvPr>
            </p:nvSpPr>
            <p:spPr/>
            <p:txBody>
              <a:bodyPr/>
              <a:lstStyle/>
              <a:p>
                <a:pPr marL="0" indent="0" algn="l">
                  <a:buFont typeface="Arial" panose="020B0604020202020204" pitchFamily="34" charset="0"/>
                  <a:buNone/>
                </a:pPr>
                <a:r>
                  <a:rPr lang="en-US" sz="1200" b="1" i="0" u="none" strike="noStrike" baseline="0" dirty="0">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285750" indent="-285750" algn="l">
                  <a:buFont typeface="Arial" panose="020B0604020202020204" pitchFamily="34" charset="0"/>
                  <a:buChar char="•"/>
                </a:pP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What equations are in the same form? How can you tell?</a:t>
                </a:r>
              </a:p>
              <a:p>
                <a:pPr marL="285750" indent="-285750" algn="l">
                  <a:buFont typeface="Arial" panose="020B0604020202020204" pitchFamily="34" charset="0"/>
                  <a:buChar char="•"/>
                </a:pP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Is part (</a:t>
                </a:r>
                <a:r>
                  <a:rPr lang="en-US" sz="1200" b="0" i="1" u="none" strike="noStrike" baseline="0" dirty="0">
                    <a:latin typeface="Calibri" panose="020F0502020204030204" pitchFamily="34" charset="0"/>
                    <a:ea typeface="Calibri" panose="020F0502020204030204" pitchFamily="34" charset="0"/>
                    <a:cs typeface="Calibri" panose="020F0502020204030204" pitchFamily="34" charset="0"/>
                  </a:rPr>
                  <a:t>d</a:t>
                </a: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 in slope-intercept form? How could you rewrite it as </a:t>
                </a:r>
                <a:r>
                  <a:rPr lang="en-US" sz="1200" b="0" i="0" u="none" strike="noStrike" baseline="0">
                    <a:latin typeface="Cambria Math" panose="02040503050406030204" pitchFamily="18" charset="0"/>
                    <a:ea typeface="Calibri" panose="020F0502020204030204" pitchFamily="34" charset="0"/>
                    <a:cs typeface="Calibri" panose="020F0502020204030204" pitchFamily="34" charset="0"/>
                  </a:rPr>
                  <a:t>𝑦=𝑚𝑥+𝑏</a:t>
                </a: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a:t>
                </a:r>
              </a:p>
              <a:p>
                <a:pPr marL="285750" indent="-285750" algn="l">
                  <a:buFont typeface="Arial" panose="020B0604020202020204" pitchFamily="34" charset="0"/>
                  <a:buChar char="•"/>
                </a:pP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Is part (</a:t>
                </a:r>
                <a:r>
                  <a:rPr lang="en-US" sz="12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 in slope-intercept form? How could you rewrite it as </a:t>
                </a:r>
                <a:r>
                  <a:rPr lang="en-US" sz="1200" b="0" i="0" u="none" strike="noStrike" baseline="0">
                    <a:latin typeface="Cambria Math" panose="02040503050406030204" pitchFamily="18" charset="0"/>
                    <a:ea typeface="Calibri" panose="020F0502020204030204" pitchFamily="34" charset="0"/>
                    <a:cs typeface="Calibri" panose="020F0502020204030204" pitchFamily="34" charset="0"/>
                  </a:rPr>
                  <a:t>𝑦=𝑚𝑥+𝑏</a:t>
                </a: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a:t>
                </a:r>
              </a:p>
              <a:p>
                <a:pPr marL="285750" indent="-285750" algn="l">
                  <a:buFont typeface="Arial" panose="020B0604020202020204" pitchFamily="34" charset="0"/>
                  <a:buChar char="•"/>
                </a:pP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How could you rewrite the equation in part (</a:t>
                </a:r>
                <a:r>
                  <a:rPr lang="en-US" sz="1200" b="0" i="1" u="none" strike="noStrike" baseline="0" dirty="0">
                    <a:latin typeface="Calibri" panose="020F0502020204030204" pitchFamily="34" charset="0"/>
                    <a:ea typeface="Calibri" panose="020F0502020204030204" pitchFamily="34" charset="0"/>
                    <a:cs typeface="Calibri" panose="020F0502020204030204" pitchFamily="34" charset="0"/>
                  </a:rPr>
                  <a:t>c</a:t>
                </a: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 so that all substitutions in the point-slope form are visible? Which point can you identify from this form?</a:t>
                </a:r>
              </a:p>
              <a:p>
                <a:pPr marL="285750" indent="-285750" algn="l">
                  <a:buFont typeface="Arial" panose="020B0604020202020204" pitchFamily="34" charset="0"/>
                  <a:buChar char="•"/>
                </a:pP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Rewrite the equation in part (</a:t>
                </a:r>
                <a:r>
                  <a:rPr lang="en-US" sz="1200" b="0" i="1" u="none" strike="noStrike" baseline="0" dirty="0">
                    <a:latin typeface="Calibri" panose="020F0502020204030204" pitchFamily="34" charset="0"/>
                    <a:ea typeface="Calibri" panose="020F0502020204030204" pitchFamily="34" charset="0"/>
                    <a:cs typeface="Calibri" panose="020F0502020204030204" pitchFamily="34" charset="0"/>
                  </a:rPr>
                  <a:t>c</a:t>
                </a: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 in slope-intercept form. What is the </a:t>
                </a:r>
                <a:r>
                  <a:rPr lang="en-US" sz="1200" b="0" i="1" u="none" strike="noStrike" baseline="0" dirty="0">
                    <a:latin typeface="Calibri" panose="020F0502020204030204" pitchFamily="34" charset="0"/>
                    <a:ea typeface="Calibri" panose="020F0502020204030204" pitchFamily="34" charset="0"/>
                    <a:cs typeface="Calibri" panose="020F0502020204030204" pitchFamily="34" charset="0"/>
                  </a:rPr>
                  <a:t>y</a:t>
                </a: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-intercept?</a:t>
                </a:r>
              </a:p>
            </p:txBody>
          </p:sp>
        </mc:Fallback>
      </mc:AlternateContent>
      <p:sp>
        <p:nvSpPr>
          <p:cNvPr id="4" name="Slide Number Placeholder 3"/>
          <p:cNvSpPr>
            <a:spLocks noGrp="1"/>
          </p:cNvSpPr>
          <p:nvPr>
            <p:ph type="sldNum" sz="quarter" idx="5"/>
          </p:nvPr>
        </p:nvSpPr>
        <p:spPr/>
        <p:txBody>
          <a:bodyPr/>
          <a:lstStyle/>
          <a:p>
            <a:fld id="{BB5E49A5-4136-284D-997B-48E1D791AD67}" type="slidenum">
              <a:rPr lang="en-US" smtClean="0"/>
              <a:t>57</a:t>
            </a:fld>
            <a:endParaRPr lang="en-US"/>
          </a:p>
        </p:txBody>
      </p:sp>
    </p:spTree>
    <p:extLst>
      <p:ext uri="{BB962C8B-B14F-4D97-AF65-F5344CB8AC3E}">
        <p14:creationId xmlns:p14="http://schemas.microsoft.com/office/powerpoint/2010/main" val="2512448366"/>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7084A3-DD61-16AC-F18C-83C2BE8EFC4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6474C7-D21F-956D-5C05-9865A879B54E}"/>
              </a:ext>
            </a:extLst>
          </p:cNvPr>
          <p:cNvSpPr>
            <a:spLocks noGrp="1" noRot="1" noChangeAspect="1"/>
          </p:cNvSpPr>
          <p:nvPr>
            <p:ph type="sldImg"/>
          </p:nvPr>
        </p:nvSpPr>
        <p:spPr>
          <a:xfrm>
            <a:off x="382588" y="685800"/>
            <a:ext cx="6092825" cy="3429000"/>
          </a:xfrm>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F14926FD-71F4-5C76-8768-98F845A2A6E4}"/>
                  </a:ext>
                </a:extLst>
              </p:cNvPr>
              <p:cNvSpPr>
                <a:spLocks noGrp="1"/>
              </p:cNvSpPr>
              <p:nvPr>
                <p:ph type="body" idx="1"/>
              </p:nvPr>
            </p:nvSpPr>
            <p:spPr/>
            <p:txBody>
              <a:bodyPr/>
              <a:lstStyle/>
              <a:p>
                <a:pPr marL="0" indent="0" algn="l">
                  <a:buFont typeface="Arial" panose="020B0604020202020204" pitchFamily="34" charset="0"/>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indent="-171450" algn="l">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Does </a:t>
                </a:r>
                <a14:m>
                  <m:oMath xmlns:m="http://schemas.openxmlformats.org/officeDocument/2006/math">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2</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𝑥</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+3</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𝑦</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=36</m:t>
                    </m:r>
                  </m:oMath>
                </a14:m>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or </a:t>
                </a:r>
                <a14:m>
                  <m:oMath xmlns:m="http://schemas.openxmlformats.org/officeDocument/2006/math">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3</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𝑥</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+2</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𝑦</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=36</m:t>
                    </m:r>
                  </m:oMath>
                </a14:m>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represent this situation?</a:t>
                </a:r>
              </a:p>
              <a:p>
                <a:pPr marL="171450" indent="-171450" algn="l">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Which axis represents the number of correct multiple-choice questions, and which represents the number of correct short answer questions?</a:t>
                </a:r>
              </a:p>
              <a:p>
                <a:pPr marL="171450" indent="-171450" algn="l">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Does </a:t>
                </a:r>
                <a14:m>
                  <m:oMath xmlns:m="http://schemas.openxmlformats.org/officeDocument/2006/math">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𝑦</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=5</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𝑥</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+20</m:t>
                    </m:r>
                  </m:oMath>
                </a14:m>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or </a:t>
                </a:r>
                <a14:m>
                  <m:oMath xmlns:m="http://schemas.openxmlformats.org/officeDocument/2006/math">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𝑦</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=5</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𝑥</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−20</m:t>
                    </m:r>
                  </m:oMath>
                </a14:m>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represent this situation?</a:t>
                </a:r>
              </a:p>
              <a:p>
                <a:pPr marL="171450" indent="-171450" algn="l">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Is </a:t>
                </a:r>
                <a14:m>
                  <m:oMath xmlns:m="http://schemas.openxmlformats.org/officeDocument/2006/math">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𝑦</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=5</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𝑥</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+20</m:t>
                    </m:r>
                  </m:oMath>
                </a14:m>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written in slope-intercept form or point-slope form?</a:t>
                </a:r>
              </a:p>
              <a:p>
                <a:pPr marL="171450" indent="-171450" algn="l">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Which axis represents the number of weeks, and which represents the total savings?</a:t>
                </a:r>
              </a:p>
              <a:p>
                <a:pPr marL="171450" indent="-171450" algn="l">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What are the coordinates of the intercepts in each situation?</a:t>
                </a:r>
              </a:p>
            </p:txBody>
          </p:sp>
        </mc:Choice>
        <mc:Fallback xmlns="">
          <p:sp>
            <p:nvSpPr>
              <p:cNvPr id="3" name="Notes Placeholder 2">
                <a:extLst>
                  <a:ext uri="{FF2B5EF4-FFF2-40B4-BE49-F238E27FC236}">
                    <a16:creationId xmlns:a16="http://schemas.microsoft.com/office/drawing/2014/main" id="{F14926FD-71F4-5C76-8768-98F845A2A6E4}"/>
                  </a:ext>
                </a:extLst>
              </p:cNvPr>
              <p:cNvSpPr>
                <a:spLocks noGrp="1"/>
              </p:cNvSpPr>
              <p:nvPr>
                <p:ph type="body" idx="1"/>
              </p:nvPr>
            </p:nvSpPr>
            <p:spPr/>
            <p:txBody>
              <a:bodyPr/>
              <a:lstStyle/>
              <a:p>
                <a:pPr marL="0" indent="0" algn="l">
                  <a:buFont typeface="Arial" panose="020B0604020202020204" pitchFamily="34" charset="0"/>
                  <a:buNone/>
                </a:pPr>
                <a:r>
                  <a:rPr lang="en-US" sz="1200" b="1" i="0" u="none" strike="noStrike" baseline="0" dirty="0">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285750" indent="-285750" algn="l">
                  <a:buFont typeface="Arial" panose="020B0604020202020204" pitchFamily="34" charset="0"/>
                  <a:buChar char="•"/>
                </a:pP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Does </a:t>
                </a:r>
                <a:r>
                  <a:rPr lang="en-US" sz="1200" b="0" i="0" u="none" strike="noStrike" baseline="0">
                    <a:latin typeface="Cambria Math" panose="02040503050406030204" pitchFamily="18" charset="0"/>
                    <a:ea typeface="Calibri" panose="020F0502020204030204" pitchFamily="34" charset="0"/>
                    <a:cs typeface="Calibri" panose="020F0502020204030204" pitchFamily="34" charset="0"/>
                  </a:rPr>
                  <a:t>2𝑥+3𝑦=36</a:t>
                </a: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 or </a:t>
                </a:r>
                <a:r>
                  <a:rPr lang="en-US" sz="1200" b="0" i="0" u="none" strike="noStrike" baseline="0">
                    <a:latin typeface="Cambria Math" panose="02040503050406030204" pitchFamily="18" charset="0"/>
                    <a:ea typeface="Calibri" panose="020F0502020204030204" pitchFamily="34" charset="0"/>
                    <a:cs typeface="Calibri" panose="020F0502020204030204" pitchFamily="34" charset="0"/>
                  </a:rPr>
                  <a:t>3𝑥+2𝑦=36</a:t>
                </a: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 represent this situation?</a:t>
                </a:r>
              </a:p>
              <a:p>
                <a:pPr marL="285750" indent="-285750" algn="l">
                  <a:buFont typeface="Arial" panose="020B0604020202020204" pitchFamily="34" charset="0"/>
                  <a:buChar char="•"/>
                </a:pP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Which axis represents the number of correct multiple-choice questions, and which represents the number of correct short answer questions?</a:t>
                </a:r>
              </a:p>
              <a:p>
                <a:pPr marL="285750" indent="-285750" algn="l">
                  <a:buFont typeface="Arial" panose="020B0604020202020204" pitchFamily="34" charset="0"/>
                  <a:buChar char="•"/>
                </a:pP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Does </a:t>
                </a:r>
                <a:r>
                  <a:rPr lang="en-US" sz="1200" b="0" i="0" u="none" strike="noStrike" baseline="0">
                    <a:latin typeface="Cambria Math" panose="02040503050406030204" pitchFamily="18" charset="0"/>
                    <a:ea typeface="Calibri" panose="020F0502020204030204" pitchFamily="34" charset="0"/>
                    <a:cs typeface="Calibri" panose="020F0502020204030204" pitchFamily="34" charset="0"/>
                  </a:rPr>
                  <a:t>𝑦=5𝑥+20</a:t>
                </a: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 or </a:t>
                </a:r>
                <a:r>
                  <a:rPr lang="en-US" sz="1200" b="0" i="0" u="none" strike="noStrike" baseline="0">
                    <a:latin typeface="Cambria Math" panose="02040503050406030204" pitchFamily="18" charset="0"/>
                    <a:ea typeface="Calibri" panose="020F0502020204030204" pitchFamily="34" charset="0"/>
                    <a:cs typeface="Calibri" panose="020F0502020204030204" pitchFamily="34" charset="0"/>
                  </a:rPr>
                  <a:t>𝑦=5𝑥−20</a:t>
                </a: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 represent this situation?</a:t>
                </a:r>
              </a:p>
              <a:p>
                <a:pPr marL="285750" indent="-285750" algn="l">
                  <a:buFont typeface="Arial" panose="020B0604020202020204" pitchFamily="34" charset="0"/>
                  <a:buChar char="•"/>
                </a:pP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Is </a:t>
                </a:r>
                <a:r>
                  <a:rPr lang="en-US" sz="1200" b="0" i="0" u="none" strike="noStrike" baseline="0">
                    <a:latin typeface="Cambria Math" panose="02040503050406030204" pitchFamily="18" charset="0"/>
                    <a:ea typeface="Calibri" panose="020F0502020204030204" pitchFamily="34" charset="0"/>
                    <a:cs typeface="Calibri" panose="020F0502020204030204" pitchFamily="34" charset="0"/>
                  </a:rPr>
                  <a:t>𝑦=5𝑥+20</a:t>
                </a: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 written in slope-intercept form or point-intercept form?</a:t>
                </a:r>
              </a:p>
              <a:p>
                <a:pPr marL="285750" indent="-285750" algn="l">
                  <a:buFont typeface="Arial" panose="020B0604020202020204" pitchFamily="34" charset="0"/>
                  <a:buChar char="•"/>
                </a:pP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Which axis represents the number of weeks, and which represents the total savings?</a:t>
                </a:r>
              </a:p>
              <a:p>
                <a:pPr marL="285750" indent="-285750" algn="l">
                  <a:buFont typeface="Arial" panose="020B0604020202020204" pitchFamily="34" charset="0"/>
                  <a:buChar char="•"/>
                </a:pP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What are the coordinates of the intercepts in each situation?</a:t>
                </a:r>
              </a:p>
            </p:txBody>
          </p:sp>
        </mc:Fallback>
      </mc:AlternateContent>
      <p:sp>
        <p:nvSpPr>
          <p:cNvPr id="4" name="Slide Number Placeholder 3">
            <a:extLst>
              <a:ext uri="{FF2B5EF4-FFF2-40B4-BE49-F238E27FC236}">
                <a16:creationId xmlns:a16="http://schemas.microsoft.com/office/drawing/2014/main" id="{89D3EDD5-7594-63DD-4A0D-E2BCD9D93D53}"/>
              </a:ext>
            </a:extLst>
          </p:cNvPr>
          <p:cNvSpPr>
            <a:spLocks noGrp="1"/>
          </p:cNvSpPr>
          <p:nvPr>
            <p:ph type="sldNum" sz="quarter" idx="5"/>
          </p:nvPr>
        </p:nvSpPr>
        <p:spPr/>
        <p:txBody>
          <a:bodyPr/>
          <a:lstStyle/>
          <a:p>
            <a:fld id="{BB5E49A5-4136-284D-997B-48E1D791AD67}" type="slidenum">
              <a:rPr lang="en-US" smtClean="0"/>
              <a:t>58</a:t>
            </a:fld>
            <a:endParaRPr lang="en-US"/>
          </a:p>
        </p:txBody>
      </p:sp>
    </p:spTree>
    <p:extLst>
      <p:ext uri="{BB962C8B-B14F-4D97-AF65-F5344CB8AC3E}">
        <p14:creationId xmlns:p14="http://schemas.microsoft.com/office/powerpoint/2010/main" val="3791096632"/>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33864B-9696-A4FA-C879-A2957ED4BE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B5DBA05-7952-9C60-6B55-C169CDBEFCC9}"/>
              </a:ext>
            </a:extLst>
          </p:cNvPr>
          <p:cNvSpPr>
            <a:spLocks noGrp="1" noRot="1" noChangeAspect="1"/>
          </p:cNvSpPr>
          <p:nvPr>
            <p:ph type="sldImg"/>
          </p:nvPr>
        </p:nvSpPr>
        <p:spPr>
          <a:xfrm>
            <a:off x="382588" y="685800"/>
            <a:ext cx="6092825" cy="3429000"/>
          </a:xfrm>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F1A8750C-2F66-5D57-0A37-F8405710185E}"/>
                  </a:ext>
                </a:extLst>
              </p:cNvPr>
              <p:cNvSpPr>
                <a:spLocks noGrp="1"/>
              </p:cNvSpPr>
              <p:nvPr>
                <p:ph type="body" idx="1"/>
              </p:nvPr>
            </p:nvSpPr>
            <p:spPr/>
            <p:txBody>
              <a:bodyPr/>
              <a:lstStyle/>
              <a:p>
                <a:pPr marL="0" indent="0" algn="l">
                  <a:buFont typeface="Arial" panose="020B0604020202020204" pitchFamily="34" charset="0"/>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indent="-171450" algn="l">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Does </a:t>
                </a:r>
                <a14:m>
                  <m:oMath xmlns:m="http://schemas.openxmlformats.org/officeDocument/2006/math">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2</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𝑥</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+3</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𝑦</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=36</m:t>
                    </m:r>
                  </m:oMath>
                </a14:m>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or </a:t>
                </a:r>
                <a14:m>
                  <m:oMath xmlns:m="http://schemas.openxmlformats.org/officeDocument/2006/math">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3</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𝑥</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+2</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𝑦</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=36</m:t>
                    </m:r>
                  </m:oMath>
                </a14:m>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represent this situation?</a:t>
                </a:r>
              </a:p>
              <a:p>
                <a:pPr marL="171450" indent="-171450" algn="l">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Which axis represents the number of correct multiple-choice questions, and which represents the number of correct short answer questions?</a:t>
                </a:r>
              </a:p>
              <a:p>
                <a:pPr marL="171450" indent="-171450" algn="l">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Does </a:t>
                </a:r>
                <a14:m>
                  <m:oMath xmlns:m="http://schemas.openxmlformats.org/officeDocument/2006/math">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𝑦</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=5</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𝑥</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+20</m:t>
                    </m:r>
                  </m:oMath>
                </a14:m>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or </a:t>
                </a:r>
                <a14:m>
                  <m:oMath xmlns:m="http://schemas.openxmlformats.org/officeDocument/2006/math">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𝑦</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=5</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𝑥</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−20</m:t>
                    </m:r>
                  </m:oMath>
                </a14:m>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represent this situation?</a:t>
                </a:r>
              </a:p>
              <a:p>
                <a:pPr marL="171450" indent="-171450" algn="l">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Is </a:t>
                </a:r>
                <a14:m>
                  <m:oMath xmlns:m="http://schemas.openxmlformats.org/officeDocument/2006/math">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𝑦</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=5</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𝑥</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+20</m:t>
                    </m:r>
                  </m:oMath>
                </a14:m>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written in slope-intercept form or point-slope form?</a:t>
                </a:r>
              </a:p>
              <a:p>
                <a:pPr marL="171450" indent="-171450" algn="l">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Which axis represents the number of weeks, and which represents the total savings?</a:t>
                </a:r>
              </a:p>
              <a:p>
                <a:pPr marL="171450" indent="-171450" algn="l">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What are the coordinates of the intercepts in each situation?</a:t>
                </a:r>
              </a:p>
              <a:p>
                <a:r>
                  <a:rPr lang="en-US" b="1" dirty="0"/>
                  <a:t>Ask students why the graph could be drawn as points: only whole numbers of questions make sense.</a:t>
                </a:r>
              </a:p>
            </p:txBody>
          </p:sp>
        </mc:Choice>
        <mc:Fallback xmlns="">
          <p:sp>
            <p:nvSpPr>
              <p:cNvPr id="3" name="Notes Placeholder 2">
                <a:extLst>
                  <a:ext uri="{FF2B5EF4-FFF2-40B4-BE49-F238E27FC236}">
                    <a16:creationId xmlns:a16="http://schemas.microsoft.com/office/drawing/2014/main" id="{F1A8750C-2F66-5D57-0A37-F8405710185E}"/>
                  </a:ext>
                </a:extLst>
              </p:cNvPr>
              <p:cNvSpPr>
                <a:spLocks noGrp="1"/>
              </p:cNvSpPr>
              <p:nvPr>
                <p:ph type="body" idx="1"/>
              </p:nvPr>
            </p:nvSpPr>
            <p:spPr/>
            <p:txBody>
              <a:bodyPr/>
              <a:lstStyle/>
              <a:p>
                <a:pPr marL="0" indent="0" algn="l">
                  <a:buFont typeface="Arial" panose="020B0604020202020204" pitchFamily="34" charset="0"/>
                  <a:buNone/>
                </a:pPr>
                <a:r>
                  <a:rPr lang="en-US" sz="1200" b="1" i="0" u="none" strike="noStrike" baseline="0" dirty="0">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285750" indent="-285750" algn="l">
                  <a:buFont typeface="Arial" panose="020B0604020202020204" pitchFamily="34" charset="0"/>
                  <a:buChar char="•"/>
                </a:pP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Does </a:t>
                </a:r>
                <a:r>
                  <a:rPr lang="en-US" sz="1200" b="0" i="0" u="none" strike="noStrike" baseline="0">
                    <a:latin typeface="Cambria Math" panose="02040503050406030204" pitchFamily="18" charset="0"/>
                    <a:ea typeface="Calibri" panose="020F0502020204030204" pitchFamily="34" charset="0"/>
                    <a:cs typeface="Calibri" panose="020F0502020204030204" pitchFamily="34" charset="0"/>
                  </a:rPr>
                  <a:t>2𝑥+3𝑦=36</a:t>
                </a: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 or </a:t>
                </a:r>
                <a:r>
                  <a:rPr lang="en-US" sz="1200" b="0" i="0" u="none" strike="noStrike" baseline="0">
                    <a:latin typeface="Cambria Math" panose="02040503050406030204" pitchFamily="18" charset="0"/>
                    <a:ea typeface="Calibri" panose="020F0502020204030204" pitchFamily="34" charset="0"/>
                    <a:cs typeface="Calibri" panose="020F0502020204030204" pitchFamily="34" charset="0"/>
                  </a:rPr>
                  <a:t>3𝑥+2𝑦=36</a:t>
                </a: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 represent this situation?</a:t>
                </a:r>
              </a:p>
              <a:p>
                <a:pPr marL="285750" indent="-285750" algn="l">
                  <a:buFont typeface="Arial" panose="020B0604020202020204" pitchFamily="34" charset="0"/>
                  <a:buChar char="•"/>
                </a:pP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Which axis represents the number of correct multiple-choice questions, and which represents the number of correct short answer questions?</a:t>
                </a:r>
              </a:p>
              <a:p>
                <a:pPr marL="285750" indent="-285750" algn="l">
                  <a:buFont typeface="Arial" panose="020B0604020202020204" pitchFamily="34" charset="0"/>
                  <a:buChar char="•"/>
                </a:pP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Does </a:t>
                </a:r>
                <a:r>
                  <a:rPr lang="en-US" sz="1200" b="0" i="0" u="none" strike="noStrike" baseline="0">
                    <a:latin typeface="Cambria Math" panose="02040503050406030204" pitchFamily="18" charset="0"/>
                    <a:ea typeface="Calibri" panose="020F0502020204030204" pitchFamily="34" charset="0"/>
                    <a:cs typeface="Calibri" panose="020F0502020204030204" pitchFamily="34" charset="0"/>
                  </a:rPr>
                  <a:t>𝑦=5𝑥+20</a:t>
                </a: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 or </a:t>
                </a:r>
                <a:r>
                  <a:rPr lang="en-US" sz="1200" b="0" i="0" u="none" strike="noStrike" baseline="0">
                    <a:latin typeface="Cambria Math" panose="02040503050406030204" pitchFamily="18" charset="0"/>
                    <a:ea typeface="Calibri" panose="020F0502020204030204" pitchFamily="34" charset="0"/>
                    <a:cs typeface="Calibri" panose="020F0502020204030204" pitchFamily="34" charset="0"/>
                  </a:rPr>
                  <a:t>𝑦=5𝑥−20</a:t>
                </a: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 represent this situation?</a:t>
                </a:r>
              </a:p>
              <a:p>
                <a:pPr marL="285750" indent="-285750" algn="l">
                  <a:buFont typeface="Arial" panose="020B0604020202020204" pitchFamily="34" charset="0"/>
                  <a:buChar char="•"/>
                </a:pP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Is </a:t>
                </a:r>
                <a:r>
                  <a:rPr lang="en-US" sz="1200" b="0" i="0" u="none" strike="noStrike" baseline="0">
                    <a:latin typeface="Cambria Math" panose="02040503050406030204" pitchFamily="18" charset="0"/>
                    <a:ea typeface="Calibri" panose="020F0502020204030204" pitchFamily="34" charset="0"/>
                    <a:cs typeface="Calibri" panose="020F0502020204030204" pitchFamily="34" charset="0"/>
                  </a:rPr>
                  <a:t>𝑦=5𝑥+20</a:t>
                </a: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 written in slope-intercept form or point-intercept form?</a:t>
                </a:r>
              </a:p>
              <a:p>
                <a:pPr marL="285750" indent="-285750" algn="l">
                  <a:buFont typeface="Arial" panose="020B0604020202020204" pitchFamily="34" charset="0"/>
                  <a:buChar char="•"/>
                </a:pP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Which axis represents the number of weeks, and which represents the total savings?</a:t>
                </a:r>
              </a:p>
              <a:p>
                <a:pPr marL="285750" indent="-285750" algn="l">
                  <a:buFont typeface="Arial" panose="020B0604020202020204" pitchFamily="34" charset="0"/>
                  <a:buChar char="•"/>
                </a:pP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What are the coordinates of the intercepts in each situation?</a:t>
                </a:r>
              </a:p>
            </p:txBody>
          </p:sp>
        </mc:Fallback>
      </mc:AlternateContent>
      <p:sp>
        <p:nvSpPr>
          <p:cNvPr id="4" name="Slide Number Placeholder 3">
            <a:extLst>
              <a:ext uri="{FF2B5EF4-FFF2-40B4-BE49-F238E27FC236}">
                <a16:creationId xmlns:a16="http://schemas.microsoft.com/office/drawing/2014/main" id="{B73F594B-5324-00B6-7587-8FEAEC040293}"/>
              </a:ext>
            </a:extLst>
          </p:cNvPr>
          <p:cNvSpPr>
            <a:spLocks noGrp="1"/>
          </p:cNvSpPr>
          <p:nvPr>
            <p:ph type="sldNum" sz="quarter" idx="5"/>
          </p:nvPr>
        </p:nvSpPr>
        <p:spPr/>
        <p:txBody>
          <a:bodyPr/>
          <a:lstStyle/>
          <a:p>
            <a:fld id="{BB5E49A5-4136-284D-997B-48E1D791AD67}" type="slidenum">
              <a:rPr lang="en-US" smtClean="0"/>
              <a:t>59</a:t>
            </a:fld>
            <a:endParaRPr lang="en-US"/>
          </a:p>
        </p:txBody>
      </p:sp>
    </p:spTree>
    <p:extLst>
      <p:ext uri="{BB962C8B-B14F-4D97-AF65-F5344CB8AC3E}">
        <p14:creationId xmlns:p14="http://schemas.microsoft.com/office/powerpoint/2010/main" val="2214396042"/>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5595C0-3AAD-0B7F-826B-81CDE02C4DD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202BD8-3E6D-4801-1EED-76EC6ED35FF9}"/>
              </a:ext>
            </a:extLst>
          </p:cNvPr>
          <p:cNvSpPr>
            <a:spLocks noGrp="1" noRot="1" noChangeAspect="1"/>
          </p:cNvSpPr>
          <p:nvPr>
            <p:ph type="sldImg"/>
          </p:nvPr>
        </p:nvSpPr>
        <p:spPr>
          <a:xfrm>
            <a:off x="382588" y="685800"/>
            <a:ext cx="6092825" cy="3429000"/>
          </a:xfrm>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A7AD5879-C56C-19BA-0DB6-436F18480AE0}"/>
                  </a:ext>
                </a:extLst>
              </p:cNvPr>
              <p:cNvSpPr>
                <a:spLocks noGrp="1"/>
              </p:cNvSpPr>
              <p:nvPr>
                <p:ph type="body" idx="1"/>
              </p:nvPr>
            </p:nvSpPr>
            <p:spPr/>
            <p:txBody>
              <a:bodyPr/>
              <a:lstStyle/>
              <a:p>
                <a:pPr marL="0" indent="0" algn="l">
                  <a:buFont typeface="Arial" panose="020B0604020202020204" pitchFamily="34" charset="0"/>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indent="-171450" algn="l">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Does </a:t>
                </a:r>
                <a14:m>
                  <m:oMath xmlns:m="http://schemas.openxmlformats.org/officeDocument/2006/math">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2</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𝑥</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+3</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𝑦</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=36</m:t>
                    </m:r>
                  </m:oMath>
                </a14:m>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or </a:t>
                </a:r>
                <a14:m>
                  <m:oMath xmlns:m="http://schemas.openxmlformats.org/officeDocument/2006/math">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3</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𝑥</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+2</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𝑦</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=36</m:t>
                    </m:r>
                  </m:oMath>
                </a14:m>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represent this situation?</a:t>
                </a:r>
              </a:p>
              <a:p>
                <a:pPr marL="171450" indent="-171450" algn="l">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Which axis represents the number of correct multiple-choice questions, and which represents the number of correct short answer questions?</a:t>
                </a:r>
              </a:p>
              <a:p>
                <a:pPr marL="171450" indent="-171450" algn="l">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Does </a:t>
                </a:r>
                <a14:m>
                  <m:oMath xmlns:m="http://schemas.openxmlformats.org/officeDocument/2006/math">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𝑦</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=5</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𝑥</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+20</m:t>
                    </m:r>
                  </m:oMath>
                </a14:m>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or </a:t>
                </a:r>
                <a14:m>
                  <m:oMath xmlns:m="http://schemas.openxmlformats.org/officeDocument/2006/math">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𝑦</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=5</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𝑥</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−20</m:t>
                    </m:r>
                  </m:oMath>
                </a14:m>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represent this situation?</a:t>
                </a:r>
              </a:p>
              <a:p>
                <a:pPr marL="171450" indent="-171450" algn="l">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Is </a:t>
                </a:r>
                <a14:m>
                  <m:oMath xmlns:m="http://schemas.openxmlformats.org/officeDocument/2006/math">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𝑦</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=5</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𝑥</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+20</m:t>
                    </m:r>
                  </m:oMath>
                </a14:m>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written in slope-intercept form or point-slope form?</a:t>
                </a:r>
              </a:p>
              <a:p>
                <a:pPr marL="171450" indent="-171450" algn="l">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Which axis represents the number of weeks, and which represents the total savings?</a:t>
                </a:r>
              </a:p>
              <a:p>
                <a:pPr marL="171450" indent="-171450" algn="l">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What are the coordinates of the intercepts in each situation?</a:t>
                </a:r>
              </a:p>
            </p:txBody>
          </p:sp>
        </mc:Choice>
        <mc:Fallback xmlns="">
          <p:sp>
            <p:nvSpPr>
              <p:cNvPr id="3" name="Notes Placeholder 2">
                <a:extLst>
                  <a:ext uri="{FF2B5EF4-FFF2-40B4-BE49-F238E27FC236}">
                    <a16:creationId xmlns:a16="http://schemas.microsoft.com/office/drawing/2014/main" id="{A7AD5879-C56C-19BA-0DB6-436F18480AE0}"/>
                  </a:ext>
                </a:extLst>
              </p:cNvPr>
              <p:cNvSpPr>
                <a:spLocks noGrp="1"/>
              </p:cNvSpPr>
              <p:nvPr>
                <p:ph type="body" idx="1"/>
              </p:nvPr>
            </p:nvSpPr>
            <p:spPr/>
            <p:txBody>
              <a:bodyPr/>
              <a:lstStyle/>
              <a:p>
                <a:pPr marL="0" indent="0" algn="l">
                  <a:buFont typeface="Arial" panose="020B0604020202020204" pitchFamily="34" charset="0"/>
                  <a:buNone/>
                </a:pPr>
                <a:r>
                  <a:rPr lang="en-US" sz="1200" b="1" i="0" u="none" strike="noStrike" baseline="0" dirty="0">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285750" indent="-285750" algn="l">
                  <a:buFont typeface="Arial" panose="020B0604020202020204" pitchFamily="34" charset="0"/>
                  <a:buChar char="•"/>
                </a:pP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Does </a:t>
                </a:r>
                <a:r>
                  <a:rPr lang="en-US" sz="1200" b="0" i="0" u="none" strike="noStrike" baseline="0">
                    <a:latin typeface="Cambria Math" panose="02040503050406030204" pitchFamily="18" charset="0"/>
                    <a:ea typeface="Calibri" panose="020F0502020204030204" pitchFamily="34" charset="0"/>
                    <a:cs typeface="Calibri" panose="020F0502020204030204" pitchFamily="34" charset="0"/>
                  </a:rPr>
                  <a:t>2𝑥+3𝑦=36</a:t>
                </a: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 or </a:t>
                </a:r>
                <a:r>
                  <a:rPr lang="en-US" sz="1200" b="0" i="0" u="none" strike="noStrike" baseline="0">
                    <a:latin typeface="Cambria Math" panose="02040503050406030204" pitchFamily="18" charset="0"/>
                    <a:ea typeface="Calibri" panose="020F0502020204030204" pitchFamily="34" charset="0"/>
                    <a:cs typeface="Calibri" panose="020F0502020204030204" pitchFamily="34" charset="0"/>
                  </a:rPr>
                  <a:t>3𝑥+2𝑦=36</a:t>
                </a: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 represent this situation?</a:t>
                </a:r>
              </a:p>
              <a:p>
                <a:pPr marL="285750" indent="-285750" algn="l">
                  <a:buFont typeface="Arial" panose="020B0604020202020204" pitchFamily="34" charset="0"/>
                  <a:buChar char="•"/>
                </a:pP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Which axis represents the number of correct multiple-choice questions, and which represents the number of correct short answer questions?</a:t>
                </a:r>
              </a:p>
              <a:p>
                <a:pPr marL="285750" indent="-285750" algn="l">
                  <a:buFont typeface="Arial" panose="020B0604020202020204" pitchFamily="34" charset="0"/>
                  <a:buChar char="•"/>
                </a:pP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Does </a:t>
                </a:r>
                <a:r>
                  <a:rPr lang="en-US" sz="1200" b="0" i="0" u="none" strike="noStrike" baseline="0">
                    <a:latin typeface="Cambria Math" panose="02040503050406030204" pitchFamily="18" charset="0"/>
                    <a:ea typeface="Calibri" panose="020F0502020204030204" pitchFamily="34" charset="0"/>
                    <a:cs typeface="Calibri" panose="020F0502020204030204" pitchFamily="34" charset="0"/>
                  </a:rPr>
                  <a:t>𝑦=5𝑥+20</a:t>
                </a: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 or </a:t>
                </a:r>
                <a:r>
                  <a:rPr lang="en-US" sz="1200" b="0" i="0" u="none" strike="noStrike" baseline="0">
                    <a:latin typeface="Cambria Math" panose="02040503050406030204" pitchFamily="18" charset="0"/>
                    <a:ea typeface="Calibri" panose="020F0502020204030204" pitchFamily="34" charset="0"/>
                    <a:cs typeface="Calibri" panose="020F0502020204030204" pitchFamily="34" charset="0"/>
                  </a:rPr>
                  <a:t>𝑦=5𝑥−20</a:t>
                </a: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 represent this situation?</a:t>
                </a:r>
              </a:p>
              <a:p>
                <a:pPr marL="285750" indent="-285750" algn="l">
                  <a:buFont typeface="Arial" panose="020B0604020202020204" pitchFamily="34" charset="0"/>
                  <a:buChar char="•"/>
                </a:pP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Is </a:t>
                </a:r>
                <a:r>
                  <a:rPr lang="en-US" sz="1200" b="0" i="0" u="none" strike="noStrike" baseline="0">
                    <a:latin typeface="Cambria Math" panose="02040503050406030204" pitchFamily="18" charset="0"/>
                    <a:ea typeface="Calibri" panose="020F0502020204030204" pitchFamily="34" charset="0"/>
                    <a:cs typeface="Calibri" panose="020F0502020204030204" pitchFamily="34" charset="0"/>
                  </a:rPr>
                  <a:t>𝑦=5𝑥+20</a:t>
                </a: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 written in slope-intercept form or point-intercept form?</a:t>
                </a:r>
              </a:p>
              <a:p>
                <a:pPr marL="285750" indent="-285750" algn="l">
                  <a:buFont typeface="Arial" panose="020B0604020202020204" pitchFamily="34" charset="0"/>
                  <a:buChar char="•"/>
                </a:pP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Which axis represents the number of weeks, and which represents the total savings?</a:t>
                </a:r>
              </a:p>
              <a:p>
                <a:pPr marL="285750" indent="-285750" algn="l">
                  <a:buFont typeface="Arial" panose="020B0604020202020204" pitchFamily="34" charset="0"/>
                  <a:buChar char="•"/>
                </a:pP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What are the coordinates of the intercepts in each situation?</a:t>
                </a:r>
              </a:p>
            </p:txBody>
          </p:sp>
        </mc:Fallback>
      </mc:AlternateContent>
      <p:sp>
        <p:nvSpPr>
          <p:cNvPr id="4" name="Slide Number Placeholder 3">
            <a:extLst>
              <a:ext uri="{FF2B5EF4-FFF2-40B4-BE49-F238E27FC236}">
                <a16:creationId xmlns:a16="http://schemas.microsoft.com/office/drawing/2014/main" id="{3F0127D9-670E-69B4-AFBD-1B5F07B99197}"/>
              </a:ext>
            </a:extLst>
          </p:cNvPr>
          <p:cNvSpPr>
            <a:spLocks noGrp="1"/>
          </p:cNvSpPr>
          <p:nvPr>
            <p:ph type="sldNum" sz="quarter" idx="5"/>
          </p:nvPr>
        </p:nvSpPr>
        <p:spPr/>
        <p:txBody>
          <a:bodyPr/>
          <a:lstStyle/>
          <a:p>
            <a:fld id="{BB5E49A5-4136-284D-997B-48E1D791AD67}" type="slidenum">
              <a:rPr lang="en-US" smtClean="0"/>
              <a:t>60</a:t>
            </a:fld>
            <a:endParaRPr lang="en-US"/>
          </a:p>
        </p:txBody>
      </p:sp>
    </p:spTree>
    <p:extLst>
      <p:ext uri="{BB962C8B-B14F-4D97-AF65-F5344CB8AC3E}">
        <p14:creationId xmlns:p14="http://schemas.microsoft.com/office/powerpoint/2010/main" val="3404982428"/>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9C806B-48E6-EA1E-AAF8-8F68DDD292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46E2A54-A892-065E-095F-DF4F119533E2}"/>
              </a:ext>
            </a:extLst>
          </p:cNvPr>
          <p:cNvSpPr>
            <a:spLocks noGrp="1" noRot="1" noChangeAspect="1"/>
          </p:cNvSpPr>
          <p:nvPr>
            <p:ph type="sldImg"/>
          </p:nvPr>
        </p:nvSpPr>
        <p:spPr>
          <a:xfrm>
            <a:off x="382588" y="685800"/>
            <a:ext cx="6092825" cy="3429000"/>
          </a:xfrm>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0FD6D98D-0693-288B-14F8-BFF615DF5966}"/>
                  </a:ext>
                </a:extLst>
              </p:cNvPr>
              <p:cNvSpPr>
                <a:spLocks noGrp="1"/>
              </p:cNvSpPr>
              <p:nvPr>
                <p:ph type="body" idx="1"/>
              </p:nvPr>
            </p:nvSpPr>
            <p:spPr/>
            <p:txBody>
              <a:bodyPr/>
              <a:lstStyle/>
              <a:p>
                <a:pPr marL="0" indent="0" algn="l">
                  <a:buFont typeface="Arial" panose="020B0604020202020204" pitchFamily="34" charset="0"/>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indent="-171450" algn="l">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Does </a:t>
                </a:r>
                <a14:m>
                  <m:oMath xmlns:m="http://schemas.openxmlformats.org/officeDocument/2006/math">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2</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𝑥</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+3</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𝑦</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=36</m:t>
                    </m:r>
                  </m:oMath>
                </a14:m>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or </a:t>
                </a:r>
                <a14:m>
                  <m:oMath xmlns:m="http://schemas.openxmlformats.org/officeDocument/2006/math">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3</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𝑥</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+2</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𝑦</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=36</m:t>
                    </m:r>
                  </m:oMath>
                </a14:m>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represent this situation?</a:t>
                </a:r>
              </a:p>
              <a:p>
                <a:pPr marL="171450" indent="-171450" algn="l">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Which axis represents the number of correct multiple-choice questions, and which represents the number of correct short answer questions?</a:t>
                </a:r>
              </a:p>
              <a:p>
                <a:pPr marL="171450" indent="-171450" algn="l">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Does </a:t>
                </a:r>
                <a14:m>
                  <m:oMath xmlns:m="http://schemas.openxmlformats.org/officeDocument/2006/math">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𝑦</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=5</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𝑥</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+20</m:t>
                    </m:r>
                  </m:oMath>
                </a14:m>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or </a:t>
                </a:r>
                <a14:m>
                  <m:oMath xmlns:m="http://schemas.openxmlformats.org/officeDocument/2006/math">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𝑦</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=5</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𝑥</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−20</m:t>
                    </m:r>
                  </m:oMath>
                </a14:m>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represent this situation?</a:t>
                </a:r>
              </a:p>
              <a:p>
                <a:pPr marL="171450" indent="-171450" algn="l">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Is </a:t>
                </a:r>
                <a14:m>
                  <m:oMath xmlns:m="http://schemas.openxmlformats.org/officeDocument/2006/math">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𝑦</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=5</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𝑥</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+20</m:t>
                    </m:r>
                  </m:oMath>
                </a14:m>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written in slope-intercept form or point-slope form?</a:t>
                </a:r>
              </a:p>
              <a:p>
                <a:pPr marL="171450" indent="-171450" algn="l">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Which axis represents the number of weeks, and which represents the total savings?</a:t>
                </a:r>
              </a:p>
              <a:p>
                <a:pPr marL="171450" indent="-171450" algn="l">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What are the coordinates of the intercepts in each situation?</a:t>
                </a:r>
              </a:p>
            </p:txBody>
          </p:sp>
        </mc:Choice>
        <mc:Fallback xmlns="">
          <p:sp>
            <p:nvSpPr>
              <p:cNvPr id="3" name="Notes Placeholder 2">
                <a:extLst>
                  <a:ext uri="{FF2B5EF4-FFF2-40B4-BE49-F238E27FC236}">
                    <a16:creationId xmlns:a16="http://schemas.microsoft.com/office/drawing/2014/main" id="{0FD6D98D-0693-288B-14F8-BFF615DF5966}"/>
                  </a:ext>
                </a:extLst>
              </p:cNvPr>
              <p:cNvSpPr>
                <a:spLocks noGrp="1"/>
              </p:cNvSpPr>
              <p:nvPr>
                <p:ph type="body" idx="1"/>
              </p:nvPr>
            </p:nvSpPr>
            <p:spPr/>
            <p:txBody>
              <a:bodyPr/>
              <a:lstStyle/>
              <a:p>
                <a:pPr marL="0" indent="0" algn="l">
                  <a:buFont typeface="Arial" panose="020B0604020202020204" pitchFamily="34" charset="0"/>
                  <a:buNone/>
                </a:pPr>
                <a:r>
                  <a:rPr lang="en-US" sz="1200" b="1" i="0" u="none" strike="noStrike" baseline="0" dirty="0">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285750" indent="-285750" algn="l">
                  <a:buFont typeface="Arial" panose="020B0604020202020204" pitchFamily="34" charset="0"/>
                  <a:buChar char="•"/>
                </a:pP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Does </a:t>
                </a:r>
                <a:r>
                  <a:rPr lang="en-US" sz="1200" b="0" i="0" u="none" strike="noStrike" baseline="0">
                    <a:latin typeface="Cambria Math" panose="02040503050406030204" pitchFamily="18" charset="0"/>
                    <a:ea typeface="Calibri" panose="020F0502020204030204" pitchFamily="34" charset="0"/>
                    <a:cs typeface="Calibri" panose="020F0502020204030204" pitchFamily="34" charset="0"/>
                  </a:rPr>
                  <a:t>2𝑥+3𝑦=36</a:t>
                </a: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 or </a:t>
                </a:r>
                <a:r>
                  <a:rPr lang="en-US" sz="1200" b="0" i="0" u="none" strike="noStrike" baseline="0">
                    <a:latin typeface="Cambria Math" panose="02040503050406030204" pitchFamily="18" charset="0"/>
                    <a:ea typeface="Calibri" panose="020F0502020204030204" pitchFamily="34" charset="0"/>
                    <a:cs typeface="Calibri" panose="020F0502020204030204" pitchFamily="34" charset="0"/>
                  </a:rPr>
                  <a:t>3𝑥+2𝑦=36</a:t>
                </a: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 represent this situation?</a:t>
                </a:r>
              </a:p>
              <a:p>
                <a:pPr marL="285750" indent="-285750" algn="l">
                  <a:buFont typeface="Arial" panose="020B0604020202020204" pitchFamily="34" charset="0"/>
                  <a:buChar char="•"/>
                </a:pP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Which axis represents the number of correct multiple-choice questions, and which represents the number of correct short answer questions?</a:t>
                </a:r>
              </a:p>
              <a:p>
                <a:pPr marL="285750" indent="-285750" algn="l">
                  <a:buFont typeface="Arial" panose="020B0604020202020204" pitchFamily="34" charset="0"/>
                  <a:buChar char="•"/>
                </a:pP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Does </a:t>
                </a:r>
                <a:r>
                  <a:rPr lang="en-US" sz="1200" b="0" i="0" u="none" strike="noStrike" baseline="0">
                    <a:latin typeface="Cambria Math" panose="02040503050406030204" pitchFamily="18" charset="0"/>
                    <a:ea typeface="Calibri" panose="020F0502020204030204" pitchFamily="34" charset="0"/>
                    <a:cs typeface="Calibri" panose="020F0502020204030204" pitchFamily="34" charset="0"/>
                  </a:rPr>
                  <a:t>𝑦=5𝑥+20</a:t>
                </a: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 or </a:t>
                </a:r>
                <a:r>
                  <a:rPr lang="en-US" sz="1200" b="0" i="0" u="none" strike="noStrike" baseline="0">
                    <a:latin typeface="Cambria Math" panose="02040503050406030204" pitchFamily="18" charset="0"/>
                    <a:ea typeface="Calibri" panose="020F0502020204030204" pitchFamily="34" charset="0"/>
                    <a:cs typeface="Calibri" panose="020F0502020204030204" pitchFamily="34" charset="0"/>
                  </a:rPr>
                  <a:t>𝑦=5𝑥−20</a:t>
                </a: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 represent this situation?</a:t>
                </a:r>
              </a:p>
              <a:p>
                <a:pPr marL="285750" indent="-285750" algn="l">
                  <a:buFont typeface="Arial" panose="020B0604020202020204" pitchFamily="34" charset="0"/>
                  <a:buChar char="•"/>
                </a:pP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Is </a:t>
                </a:r>
                <a:r>
                  <a:rPr lang="en-US" sz="1200" b="0" i="0" u="none" strike="noStrike" baseline="0">
                    <a:latin typeface="Cambria Math" panose="02040503050406030204" pitchFamily="18" charset="0"/>
                    <a:ea typeface="Calibri" panose="020F0502020204030204" pitchFamily="34" charset="0"/>
                    <a:cs typeface="Calibri" panose="020F0502020204030204" pitchFamily="34" charset="0"/>
                  </a:rPr>
                  <a:t>𝑦=5𝑥+20</a:t>
                </a: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 written in slope-intercept form or point-intercept form?</a:t>
                </a:r>
              </a:p>
              <a:p>
                <a:pPr marL="285750" indent="-285750" algn="l">
                  <a:buFont typeface="Arial" panose="020B0604020202020204" pitchFamily="34" charset="0"/>
                  <a:buChar char="•"/>
                </a:pP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Which axis represents the number of weeks, and which represents the total savings?</a:t>
                </a:r>
              </a:p>
              <a:p>
                <a:pPr marL="285750" indent="-285750" algn="l">
                  <a:buFont typeface="Arial" panose="020B0604020202020204" pitchFamily="34" charset="0"/>
                  <a:buChar char="•"/>
                </a:pP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What are the coordinates of the intercepts in each situation?</a:t>
                </a:r>
              </a:p>
            </p:txBody>
          </p:sp>
        </mc:Fallback>
      </mc:AlternateContent>
      <p:sp>
        <p:nvSpPr>
          <p:cNvPr id="4" name="Slide Number Placeholder 3">
            <a:extLst>
              <a:ext uri="{FF2B5EF4-FFF2-40B4-BE49-F238E27FC236}">
                <a16:creationId xmlns:a16="http://schemas.microsoft.com/office/drawing/2014/main" id="{57D4F78A-2D8C-6077-FAE8-053890583042}"/>
              </a:ext>
            </a:extLst>
          </p:cNvPr>
          <p:cNvSpPr>
            <a:spLocks noGrp="1"/>
          </p:cNvSpPr>
          <p:nvPr>
            <p:ph type="sldNum" sz="quarter" idx="5"/>
          </p:nvPr>
        </p:nvSpPr>
        <p:spPr/>
        <p:txBody>
          <a:bodyPr/>
          <a:lstStyle/>
          <a:p>
            <a:fld id="{BB5E49A5-4136-284D-997B-48E1D791AD67}" type="slidenum">
              <a:rPr lang="en-US" smtClean="0"/>
              <a:t>61</a:t>
            </a:fld>
            <a:endParaRPr lang="en-US"/>
          </a:p>
        </p:txBody>
      </p:sp>
    </p:spTree>
    <p:extLst>
      <p:ext uri="{BB962C8B-B14F-4D97-AF65-F5344CB8AC3E}">
        <p14:creationId xmlns:p14="http://schemas.microsoft.com/office/powerpoint/2010/main" val="418246660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F28368-F317-A887-843E-3ACC4FB266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38422F-26E9-F6D8-0CC8-39EC34AFE9B6}"/>
              </a:ext>
            </a:extLst>
          </p:cNvPr>
          <p:cNvSpPr>
            <a:spLocks noGrp="1" noRot="1" noChangeAspect="1"/>
          </p:cNvSpPr>
          <p:nvPr>
            <p:ph type="sldImg"/>
          </p:nvPr>
        </p:nvSpPr>
        <p:spPr>
          <a:xfrm>
            <a:off x="382588" y="685800"/>
            <a:ext cx="6092825" cy="3429000"/>
          </a:xfrm>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A64E94A4-122B-7DC0-338A-02E293BE2FC4}"/>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rPr>
                  <a:t> To close Day 3, have students read and answer the Essential Question and then read the Stamp the Learning summary aloud.</a:t>
                </a:r>
              </a:p>
              <a:p>
                <a:pPr marL="0" marR="0" lvl="0" indent="0" algn="l" defTabSz="457200" rtl="0" eaLnBrk="1" fontAlgn="auto" latinLnBrk="0" hangingPunct="1">
                  <a:lnSpc>
                    <a:spcPct val="100000"/>
                  </a:lnSpc>
                  <a:spcBef>
                    <a:spcPts val="0"/>
                  </a:spcBef>
                  <a:spcAft>
                    <a:spcPts val="0"/>
                  </a:spcAft>
                  <a:buClrTx/>
                  <a:buSzTx/>
                  <a:buFontTx/>
                  <a:buNone/>
                  <a:tabLst/>
                  <a:defRPr/>
                </a:pPr>
                <a:endPar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Essential Question:</a:t>
                </a:r>
              </a:p>
              <a:p>
                <a:r>
                  <a:rPr lang="en-US" sz="1200" b="0" i="0" dirty="0">
                    <a:solidFill>
                      <a:srgbClr val="000000"/>
                    </a:solidFill>
                    <a:latin typeface="Calibri" panose="020F0502020204030204" pitchFamily="34" charset="0"/>
                    <a:ea typeface="Calibri" panose="020F0502020204030204" pitchFamily="34" charset="0"/>
                    <a:cs typeface="Calibri" panose="020F0502020204030204" pitchFamily="34" charset="0"/>
                  </a:rPr>
                  <a:t>Sample answer: The point-slope form of a linear equation is </a:t>
                </a:r>
                <a14:m>
                  <m:oMath xmlns:m="http://schemas.openxmlformats.org/officeDocument/2006/math">
                    <m:r>
                      <a:rPr lang="en-US" sz="1200" b="0" i="1"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𝑦</m:t>
                    </m:r>
                    <m:r>
                      <a:rPr lang="en-US" sz="1200" b="0" i="1" smtClean="0">
                        <a:solidFill>
                          <a:srgbClr val="000000"/>
                        </a:solidFill>
                        <a:latin typeface="Cambria Math" panose="02040503050406030204" pitchFamily="18" charset="0"/>
                        <a:ea typeface="Calibri" panose="020F0502020204030204" pitchFamily="34" charset="0"/>
                        <a:cs typeface="Calibri" panose="020F0502020204030204" pitchFamily="34" charset="0"/>
                      </a:rPr>
                      <m:t>−</m:t>
                    </m:r>
                    <m:sSub>
                      <m:sSubPr>
                        <m:ctrlPr>
                          <a:rPr lang="en-US" sz="1200" b="0" i="1" smtClean="0">
                            <a:solidFill>
                              <a:srgbClr val="000000"/>
                            </a:solidFill>
                            <a:latin typeface="Cambria Math" panose="02040503050406030204" pitchFamily="18" charset="0"/>
                            <a:cs typeface="Calibri" panose="020F0502020204030204" pitchFamily="34" charset="0"/>
                          </a:rPr>
                        </m:ctrlPr>
                      </m:sSubPr>
                      <m:e>
                        <m:r>
                          <a:rPr lang="en-US" sz="1200" b="0" i="1" smtClean="0">
                            <a:solidFill>
                              <a:srgbClr val="000000"/>
                            </a:solidFill>
                            <a:latin typeface="Cambria Math" panose="02040503050406030204" pitchFamily="18" charset="0"/>
                            <a:cs typeface="Calibri" panose="020F0502020204030204" pitchFamily="34" charset="0"/>
                          </a:rPr>
                          <m:t>𝑦</m:t>
                        </m:r>
                      </m:e>
                      <m:sub>
                        <m:r>
                          <a:rPr lang="en-US" sz="1200" b="0" i="1" smtClean="0">
                            <a:solidFill>
                              <a:srgbClr val="000000"/>
                            </a:solidFill>
                            <a:latin typeface="Cambria Math" panose="02040503050406030204" pitchFamily="18" charset="0"/>
                            <a:cs typeface="Calibri" panose="020F0502020204030204" pitchFamily="34" charset="0"/>
                          </a:rPr>
                          <m:t>1</m:t>
                        </m:r>
                      </m:sub>
                    </m:sSub>
                    <m:r>
                      <a:rPr lang="en-US" sz="1200" b="0" i="1" smtClean="0">
                        <a:solidFill>
                          <a:srgbClr val="000000"/>
                        </a:solidFill>
                        <a:latin typeface="Cambria Math" panose="02040503050406030204" pitchFamily="18" charset="0"/>
                        <a:cs typeface="Calibri" panose="020F0502020204030204" pitchFamily="34" charset="0"/>
                      </a:rPr>
                      <m:t>=</m:t>
                    </m:r>
                    <m:r>
                      <a:rPr lang="en-US" sz="1200" b="0" i="1" smtClean="0">
                        <a:solidFill>
                          <a:srgbClr val="000000"/>
                        </a:solidFill>
                        <a:latin typeface="Cambria Math" panose="02040503050406030204" pitchFamily="18" charset="0"/>
                        <a:cs typeface="Calibri" panose="020F0502020204030204" pitchFamily="34" charset="0"/>
                      </a:rPr>
                      <m:t>𝑚</m:t>
                    </m:r>
                    <m:r>
                      <a:rPr lang="en-US" sz="1200" b="0" i="1" smtClean="0">
                        <a:solidFill>
                          <a:srgbClr val="000000"/>
                        </a:solidFill>
                        <a:latin typeface="Cambria Math" panose="02040503050406030204" pitchFamily="18" charset="0"/>
                        <a:cs typeface="Calibri" panose="020F0502020204030204" pitchFamily="34" charset="0"/>
                      </a:rPr>
                      <m:t>(</m:t>
                    </m:r>
                    <m:r>
                      <a:rPr lang="en-US" sz="1200" b="0" i="1" smtClean="0">
                        <a:solidFill>
                          <a:srgbClr val="000000"/>
                        </a:solidFill>
                        <a:latin typeface="Cambria Math" panose="02040503050406030204" pitchFamily="18" charset="0"/>
                        <a:cs typeface="Calibri" panose="020F0502020204030204" pitchFamily="34" charset="0"/>
                      </a:rPr>
                      <m:t>𝑥</m:t>
                    </m:r>
                    <m:r>
                      <a:rPr lang="en-US" sz="1200" b="0" i="1" smtClean="0">
                        <a:solidFill>
                          <a:srgbClr val="000000"/>
                        </a:solidFill>
                        <a:latin typeface="Cambria Math" panose="02040503050406030204" pitchFamily="18" charset="0"/>
                        <a:cs typeface="Calibri" panose="020F0502020204030204" pitchFamily="34" charset="0"/>
                      </a:rPr>
                      <m:t>−</m:t>
                    </m:r>
                    <m:sSub>
                      <m:sSubPr>
                        <m:ctrlPr>
                          <a:rPr lang="en-US" sz="1200" b="0" i="1" smtClean="0">
                            <a:solidFill>
                              <a:srgbClr val="000000"/>
                            </a:solidFill>
                            <a:latin typeface="Cambria Math" panose="02040503050406030204" pitchFamily="18" charset="0"/>
                            <a:cs typeface="Calibri" panose="020F0502020204030204" pitchFamily="34" charset="0"/>
                          </a:rPr>
                        </m:ctrlPr>
                      </m:sSubPr>
                      <m:e>
                        <m:r>
                          <a:rPr lang="en-US" sz="1200" b="0" i="1" smtClean="0">
                            <a:solidFill>
                              <a:srgbClr val="000000"/>
                            </a:solidFill>
                            <a:latin typeface="Cambria Math" panose="02040503050406030204" pitchFamily="18" charset="0"/>
                            <a:cs typeface="Calibri" panose="020F0502020204030204" pitchFamily="34" charset="0"/>
                          </a:rPr>
                          <m:t>𝑥</m:t>
                        </m:r>
                      </m:e>
                      <m:sub>
                        <m:r>
                          <a:rPr lang="en-US" sz="1200" b="0" i="1" smtClean="0">
                            <a:solidFill>
                              <a:srgbClr val="000000"/>
                            </a:solidFill>
                            <a:latin typeface="Cambria Math" panose="02040503050406030204" pitchFamily="18" charset="0"/>
                            <a:cs typeface="Calibri" panose="020F0502020204030204" pitchFamily="34" charset="0"/>
                          </a:rPr>
                          <m:t>1</m:t>
                        </m:r>
                      </m:sub>
                    </m:sSub>
                    <m:r>
                      <a:rPr lang="en-US" sz="1200" b="0" i="1" smtClean="0">
                        <a:solidFill>
                          <a:srgbClr val="000000"/>
                        </a:solidFill>
                        <a:latin typeface="Cambria Math" panose="02040503050406030204" pitchFamily="18" charset="0"/>
                        <a:cs typeface="Calibri" panose="020F0502020204030204" pitchFamily="34" charset="0"/>
                      </a:rPr>
                      <m:t>)</m:t>
                    </m:r>
                  </m:oMath>
                </a14:m>
                <a:r>
                  <a:rPr lang="en-US" sz="1200" b="0" i="0" dirty="0">
                    <a:solidFill>
                      <a:srgbClr val="000000"/>
                    </a:solidFill>
                    <a:latin typeface="Calibri" panose="020F0502020204030204" pitchFamily="34" charset="0"/>
                    <a:ea typeface="Calibri" panose="020F0502020204030204" pitchFamily="34" charset="0"/>
                    <a:cs typeface="Calibri" panose="020F0502020204030204" pitchFamily="34" charset="0"/>
                  </a:rPr>
                  <a:t>, where </a:t>
                </a:r>
                <a:r>
                  <a:rPr lang="en-US" sz="1200" b="0" i="1" dirty="0">
                    <a:solidFill>
                      <a:srgbClr val="000000"/>
                    </a:solidFill>
                    <a:latin typeface="Calibri" panose="020F0502020204030204" pitchFamily="34" charset="0"/>
                    <a:ea typeface="Calibri" panose="020F0502020204030204" pitchFamily="34" charset="0"/>
                    <a:cs typeface="Calibri" panose="020F0502020204030204" pitchFamily="34" charset="0"/>
                  </a:rPr>
                  <a:t>m</a:t>
                </a:r>
                <a:r>
                  <a:rPr lang="en-US" sz="1200" b="0" i="0" dirty="0">
                    <a:solidFill>
                      <a:srgbClr val="000000"/>
                    </a:solidFill>
                    <a:latin typeface="Calibri" panose="020F0502020204030204" pitchFamily="34" charset="0"/>
                    <a:ea typeface="Calibri" panose="020F0502020204030204" pitchFamily="34" charset="0"/>
                    <a:cs typeface="Calibri" panose="020F0502020204030204" pitchFamily="34" charset="0"/>
                  </a:rPr>
                  <a:t> is the slope of the line</a:t>
                </a:r>
                <a:r>
                  <a:rPr lang="en-US" sz="1200" b="0" i="0"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14:m>
                  <m:oMath xmlns:m="http://schemas.openxmlformats.org/officeDocument/2006/math">
                    <m:r>
                      <a:rPr lang="en-US" sz="1200" b="0" i="1"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m:t>
                    </m:r>
                    <m:sSub>
                      <m:sSubPr>
                        <m:ctrlPr>
                          <a:rPr lang="en-US" sz="1200" b="0" i="1" baseline="0" smtClean="0">
                            <a:solidFill>
                              <a:srgbClr val="000000"/>
                            </a:solidFill>
                            <a:latin typeface="Cambria Math" panose="02040503050406030204" pitchFamily="18" charset="0"/>
                            <a:cs typeface="Calibri" panose="020F0502020204030204" pitchFamily="34" charset="0"/>
                          </a:rPr>
                        </m:ctrlPr>
                      </m:sSubPr>
                      <m:e>
                        <m:r>
                          <a:rPr lang="en-US" sz="1200" b="0" i="1" baseline="0" smtClean="0">
                            <a:solidFill>
                              <a:srgbClr val="000000"/>
                            </a:solidFill>
                            <a:latin typeface="Cambria Math" panose="02040503050406030204" pitchFamily="18" charset="0"/>
                            <a:cs typeface="Calibri" panose="020F0502020204030204" pitchFamily="34" charset="0"/>
                          </a:rPr>
                          <m:t>𝑥</m:t>
                        </m:r>
                      </m:e>
                      <m:sub>
                        <m:r>
                          <a:rPr lang="en-US" sz="1200" b="0" i="1" baseline="0" smtClean="0">
                            <a:solidFill>
                              <a:srgbClr val="000000"/>
                            </a:solidFill>
                            <a:latin typeface="Cambria Math" panose="02040503050406030204" pitchFamily="18" charset="0"/>
                            <a:cs typeface="Calibri" panose="020F0502020204030204" pitchFamily="34" charset="0"/>
                          </a:rPr>
                          <m:t>`1, </m:t>
                        </m:r>
                      </m:sub>
                    </m:sSub>
                    <m:sSub>
                      <m:sSubPr>
                        <m:ctrlPr>
                          <a:rPr lang="en-US" sz="1200" b="0" i="1" baseline="0" smtClean="0">
                            <a:solidFill>
                              <a:srgbClr val="000000"/>
                            </a:solidFill>
                            <a:latin typeface="Cambria Math" panose="02040503050406030204" pitchFamily="18" charset="0"/>
                            <a:cs typeface="Calibri" panose="020F0502020204030204" pitchFamily="34" charset="0"/>
                          </a:rPr>
                        </m:ctrlPr>
                      </m:sSubPr>
                      <m:e>
                        <m:r>
                          <a:rPr lang="en-US" sz="1200" b="0" i="1" baseline="0" smtClean="0">
                            <a:solidFill>
                              <a:srgbClr val="000000"/>
                            </a:solidFill>
                            <a:latin typeface="Cambria Math" panose="02040503050406030204" pitchFamily="18" charset="0"/>
                            <a:cs typeface="Calibri" panose="020F0502020204030204" pitchFamily="34" charset="0"/>
                          </a:rPr>
                          <m:t>𝑦</m:t>
                        </m:r>
                      </m:e>
                      <m:sub>
                        <m:r>
                          <a:rPr lang="en-US" sz="1200" b="0" i="1" baseline="0" smtClean="0">
                            <a:solidFill>
                              <a:srgbClr val="000000"/>
                            </a:solidFill>
                            <a:latin typeface="Cambria Math" panose="02040503050406030204" pitchFamily="18" charset="0"/>
                            <a:cs typeface="Calibri" panose="020F0502020204030204" pitchFamily="34" charset="0"/>
                          </a:rPr>
                          <m:t>1</m:t>
                        </m:r>
                      </m:sub>
                    </m:sSub>
                  </m:oMath>
                </a14:m>
                <a:r>
                  <a:rPr lang="en-US" sz="1200" b="0" i="0" dirty="0">
                    <a:solidFill>
                      <a:srgbClr val="000000"/>
                    </a:solidFill>
                    <a:latin typeface="Calibri" panose="020F0502020204030204" pitchFamily="34" charset="0"/>
                    <a:ea typeface="Calibri" panose="020F0502020204030204" pitchFamily="34" charset="0"/>
                    <a:cs typeface="Calibri" panose="020F0502020204030204" pitchFamily="34" charset="0"/>
                  </a:rPr>
                  <a:t>) is a point on the line.</a:t>
                </a:r>
                <a:r>
                  <a:rPr lang="en-US" sz="1200" b="0" i="0"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The slope of a horizontal line is 0. The slope of a vertical line is undefined. </a:t>
                </a:r>
                <a:endParaRPr lang="en-US" sz="1200" b="0" i="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endParaRPr lang="en-US" sz="1200" b="0" i="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Talk the Talk Summary:</a:t>
                </a:r>
              </a:p>
              <a:p>
                <a:pPr algn="l"/>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Different forms of equations, such as standard form, slope-intercept form, and point-slope form can be used to represent linear relationships.</a:t>
                </a:r>
              </a:p>
            </p:txBody>
          </p:sp>
        </mc:Choice>
        <mc:Fallback xmlns="">
          <p:sp>
            <p:nvSpPr>
              <p:cNvPr id="3" name="Notes Placeholder 2">
                <a:extLst>
                  <a:ext uri="{FF2B5EF4-FFF2-40B4-BE49-F238E27FC236}">
                    <a16:creationId xmlns:a16="http://schemas.microsoft.com/office/drawing/2014/main" id="{A64E94A4-122B-7DC0-338A-02E293BE2FC4}"/>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200" b="1" dirty="0">
                    <a:latin typeface="Calibri" panose="020F0502020204030204" pitchFamily="34" charset="0"/>
                    <a:ea typeface="Calibri" panose="020F0502020204030204" pitchFamily="34" charset="0"/>
                    <a:cs typeface="Calibri" panose="020F0502020204030204" pitchFamily="34" charset="0"/>
                  </a:rPr>
                  <a:t>Note:</a:t>
                </a:r>
                <a:r>
                  <a:rPr lang="en-US" sz="1200" b="0" dirty="0">
                    <a:latin typeface="Calibri" panose="020F0502020204030204" pitchFamily="34" charset="0"/>
                    <a:ea typeface="Calibri" panose="020F0502020204030204" pitchFamily="34" charset="0"/>
                    <a:cs typeface="Calibri" panose="020F0502020204030204" pitchFamily="34" charset="0"/>
                  </a:rPr>
                  <a:t> To close Day 4, have students read and answer the Essential Question and then read the Stamp the Learning summary aloud.</a:t>
                </a:r>
              </a:p>
              <a:p>
                <a:pPr marL="0" marR="0" lvl="0" indent="0" algn="l" defTabSz="457200" rtl="0" eaLnBrk="1" fontAlgn="auto" latinLnBrk="0" hangingPunct="1">
                  <a:lnSpc>
                    <a:spcPct val="100000"/>
                  </a:lnSpc>
                  <a:spcBef>
                    <a:spcPts val="0"/>
                  </a:spcBef>
                  <a:spcAft>
                    <a:spcPts val="0"/>
                  </a:spcAft>
                  <a:buClrTx/>
                  <a:buSzTx/>
                  <a:buFontTx/>
                  <a:buNone/>
                  <a:tabLst/>
                  <a:defRPr/>
                </a:pPr>
                <a:endParaRPr lang="en-US" sz="1200" b="0" dirty="0">
                  <a:latin typeface="Calibri" panose="020F0502020204030204" pitchFamily="34" charset="0"/>
                  <a:ea typeface="Calibri" panose="020F0502020204030204" pitchFamily="34" charset="0"/>
                  <a:cs typeface="Calibri" panose="020F0502020204030204" pitchFamily="34" charset="0"/>
                </a:endParaRPr>
              </a:p>
              <a:p>
                <a:r>
                  <a:rPr lang="en-US" sz="1200" b="1" dirty="0">
                    <a:latin typeface="Calibri" panose="020F0502020204030204" pitchFamily="34" charset="0"/>
                    <a:ea typeface="Calibri" panose="020F0502020204030204" pitchFamily="34" charset="0"/>
                    <a:cs typeface="Calibri" panose="020F0502020204030204" pitchFamily="34" charset="0"/>
                  </a:rPr>
                  <a:t>Essential Question:</a:t>
                </a:r>
              </a:p>
              <a:p>
                <a:r>
                  <a:rPr lang="en-US" sz="1200" b="0" dirty="0">
                    <a:latin typeface="Calibri" panose="020F0502020204030204" pitchFamily="34" charset="0"/>
                    <a:ea typeface="Calibri" panose="020F0502020204030204" pitchFamily="34" charset="0"/>
                    <a:cs typeface="Calibri" panose="020F0502020204030204" pitchFamily="34" charset="0"/>
                  </a:rPr>
                  <a:t>Sample answer: All sequences describe functions. The explicit formula for an arithmetic sequence is </a:t>
                </a:r>
                <a:r>
                  <a:rPr lang="en-US" sz="1200" b="0" i="0">
                    <a:latin typeface="Cambria Math" panose="02040503050406030204" pitchFamily="18" charset="0"/>
                    <a:cs typeface="Calibri" panose="020F0502020204030204" pitchFamily="34" charset="0"/>
                  </a:rPr>
                  <a:t>𝑎_𝑛= 𝑎_1+𝑑(𝑛−1), </a:t>
                </a:r>
                <a:r>
                  <a:rPr lang="en-US" sz="1200" b="0" dirty="0">
                    <a:latin typeface="Calibri" panose="020F0502020204030204" pitchFamily="34" charset="0"/>
                    <a:ea typeface="Calibri" panose="020F0502020204030204" pitchFamily="34" charset="0"/>
                    <a:cs typeface="Calibri" panose="020F0502020204030204" pitchFamily="34" charset="0"/>
                  </a:rPr>
                  <a:t>where</a:t>
                </a:r>
                <a:r>
                  <a:rPr lang="en-US" sz="1200" b="0" baseline="0" dirty="0">
                    <a:latin typeface="Calibri" panose="020F0502020204030204" pitchFamily="34" charset="0"/>
                    <a:ea typeface="Calibri" panose="020F0502020204030204" pitchFamily="34" charset="0"/>
                    <a:cs typeface="Calibri" panose="020F0502020204030204" pitchFamily="34" charset="0"/>
                  </a:rPr>
                  <a:t> </a:t>
                </a:r>
                <a:r>
                  <a:rPr lang="en-US" sz="1200" b="0" i="1" baseline="0" dirty="0">
                    <a:latin typeface="Calibri" panose="020F0502020204030204" pitchFamily="34" charset="0"/>
                    <a:ea typeface="Calibri" panose="020F0502020204030204" pitchFamily="34" charset="0"/>
                    <a:cs typeface="Calibri" panose="020F0502020204030204" pitchFamily="34" charset="0"/>
                  </a:rPr>
                  <a:t>n </a:t>
                </a:r>
                <a:r>
                  <a:rPr lang="en-US" sz="1200" b="0" i="0" baseline="0" dirty="0">
                    <a:latin typeface="Calibri" panose="020F0502020204030204" pitchFamily="34" charset="0"/>
                    <a:ea typeface="Calibri" panose="020F0502020204030204" pitchFamily="34" charset="0"/>
                    <a:cs typeface="Calibri" panose="020F0502020204030204" pitchFamily="34" charset="0"/>
                  </a:rPr>
                  <a:t>is the term number, </a:t>
                </a:r>
                <a:r>
                  <a:rPr lang="en-US" sz="1200" b="0" i="0" baseline="0">
                    <a:latin typeface="Cambria Math" panose="02040503050406030204" pitchFamily="18" charset="0"/>
                    <a:cs typeface="Calibri" panose="020F0502020204030204" pitchFamily="34" charset="0"/>
                  </a:rPr>
                  <a:t>𝑎_1  </a:t>
                </a:r>
                <a:r>
                  <a:rPr lang="en-US" sz="1200" b="0" i="0" dirty="0">
                    <a:latin typeface="Calibri" panose="020F0502020204030204" pitchFamily="34" charset="0"/>
                    <a:ea typeface="Calibri" panose="020F0502020204030204" pitchFamily="34" charset="0"/>
                    <a:cs typeface="Calibri" panose="020F0502020204030204" pitchFamily="34" charset="0"/>
                  </a:rPr>
                  <a:t>is</a:t>
                </a:r>
                <a:r>
                  <a:rPr lang="en-US" sz="1200" b="0" i="0" baseline="0" dirty="0">
                    <a:latin typeface="Calibri" panose="020F0502020204030204" pitchFamily="34" charset="0"/>
                    <a:ea typeface="Calibri" panose="020F0502020204030204" pitchFamily="34" charset="0"/>
                    <a:cs typeface="Calibri" panose="020F0502020204030204" pitchFamily="34" charset="0"/>
                  </a:rPr>
                  <a:t> the first term in the sequence</a:t>
                </a:r>
                <a:r>
                  <a:rPr lang="en-US" sz="1200" b="1" i="1" baseline="0" dirty="0">
                    <a:latin typeface="Calibri" panose="020F0502020204030204" pitchFamily="34" charset="0"/>
                    <a:ea typeface="Calibri" panose="020F0502020204030204" pitchFamily="34" charset="0"/>
                    <a:cs typeface="Calibri" panose="020F0502020204030204" pitchFamily="34" charset="0"/>
                  </a:rPr>
                  <a:t>, </a:t>
                </a:r>
                <a:r>
                  <a:rPr lang="en-US" sz="1200" b="0" i="1" baseline="0" dirty="0">
                    <a:latin typeface="Calibri" panose="020F0502020204030204" pitchFamily="34" charset="0"/>
                    <a:ea typeface="Calibri" panose="020F0502020204030204" pitchFamily="34" charset="0"/>
                    <a:cs typeface="Calibri" panose="020F0502020204030204" pitchFamily="34" charset="0"/>
                  </a:rPr>
                  <a:t>n</a:t>
                </a:r>
                <a:r>
                  <a:rPr lang="en-US" sz="1200" b="0" i="0" baseline="0" dirty="0">
                    <a:latin typeface="Calibri" panose="020F0502020204030204" pitchFamily="34" charset="0"/>
                    <a:ea typeface="Calibri" panose="020F0502020204030204" pitchFamily="34" charset="0"/>
                    <a:cs typeface="Calibri" panose="020F0502020204030204" pitchFamily="34" charset="0"/>
                  </a:rPr>
                  <a:t> is the nth term in the sequence, and d is the common difference. The explicit formula for a geometric sequence is </a:t>
                </a:r>
                <a:r>
                  <a:rPr lang="en-US" sz="1200" b="0" i="1" baseline="0" dirty="0">
                    <a:latin typeface="Calibri" panose="020F0502020204030204" pitchFamily="34" charset="0"/>
                    <a:ea typeface="Calibri" panose="020F0502020204030204" pitchFamily="34" charset="0"/>
                    <a:cs typeface="Calibri" panose="020F0502020204030204" pitchFamily="34" charset="0"/>
                  </a:rPr>
                  <a:t> </a:t>
                </a:r>
                <a:r>
                  <a:rPr lang="en-US" sz="1200" b="0" i="0">
                    <a:latin typeface="Cambria Math" panose="02040503050406030204" pitchFamily="18" charset="0"/>
                    <a:cs typeface="Calibri" panose="020F0502020204030204" pitchFamily="34" charset="0"/>
                  </a:rPr>
                  <a:t>𝑎_𝑛= 𝑎_1</a:t>
                </a:r>
                <a:r>
                  <a:rPr lang="en-US" sz="1200" b="0" i="1" dirty="0">
                    <a:latin typeface="Calibri" panose="020F0502020204030204" pitchFamily="34" charset="0"/>
                    <a:ea typeface="Calibri" panose="020F0502020204030204" pitchFamily="34" charset="0"/>
                    <a:cs typeface="Calibri" panose="020F0502020204030204" pitchFamily="34" charset="0"/>
                  </a:rPr>
                  <a:t> </a:t>
                </a:r>
                <a:r>
                  <a:rPr lang="en-US" sz="1200" b="0" i="0" dirty="0">
                    <a:latin typeface="Cambria Math" panose="02040503050406030204" pitchFamily="18" charset="0"/>
                    <a:ea typeface="Cambria Math" panose="02040503050406030204" pitchFamily="18" charset="0"/>
                    <a:cs typeface="Calibri" panose="020F0502020204030204" pitchFamily="34" charset="0"/>
                  </a:rPr>
                  <a:t>∙𝑟^((𝑛−1))</a:t>
                </a:r>
                <a:r>
                  <a:rPr lang="en-US" sz="1200" b="0" i="1" dirty="0">
                    <a:latin typeface="Calibri" panose="020F0502020204030204" pitchFamily="34" charset="0"/>
                    <a:ea typeface="Calibri" panose="020F0502020204030204" pitchFamily="34" charset="0"/>
                    <a:cs typeface="Calibri" panose="020F0502020204030204" pitchFamily="34" charset="0"/>
                  </a:rPr>
                  <a:t>, </a:t>
                </a:r>
                <a:r>
                  <a:rPr lang="en-US" sz="1200" b="0" i="0" dirty="0">
                    <a:latin typeface="Calibri" panose="020F0502020204030204" pitchFamily="34" charset="0"/>
                    <a:ea typeface="Calibri" panose="020F0502020204030204" pitchFamily="34" charset="0"/>
                    <a:cs typeface="Calibri" panose="020F0502020204030204" pitchFamily="34" charset="0"/>
                  </a:rPr>
                  <a:t>where</a:t>
                </a:r>
                <a:r>
                  <a:rPr lang="en-US" sz="1200" b="0" i="1" dirty="0">
                    <a:latin typeface="Calibri" panose="020F0502020204030204" pitchFamily="34" charset="0"/>
                    <a:ea typeface="Calibri" panose="020F0502020204030204" pitchFamily="34" charset="0"/>
                    <a:cs typeface="Calibri" panose="020F0502020204030204" pitchFamily="34" charset="0"/>
                  </a:rPr>
                  <a:t> n </a:t>
                </a:r>
                <a:r>
                  <a:rPr lang="en-US" sz="1200" b="0" i="0" dirty="0">
                    <a:latin typeface="Calibri" panose="020F0502020204030204" pitchFamily="34" charset="0"/>
                    <a:ea typeface="Calibri" panose="020F0502020204030204" pitchFamily="34" charset="0"/>
                    <a:cs typeface="Calibri" panose="020F0502020204030204" pitchFamily="34" charset="0"/>
                  </a:rPr>
                  <a:t>is the term number</a:t>
                </a:r>
                <a:r>
                  <a:rPr lang="en-US" sz="1200" b="0" i="1" dirty="0">
                    <a:latin typeface="Calibri" panose="020F0502020204030204" pitchFamily="34" charset="0"/>
                    <a:ea typeface="Calibri" panose="020F0502020204030204" pitchFamily="34" charset="0"/>
                    <a:cs typeface="Calibri" panose="020F0502020204030204" pitchFamily="34" charset="0"/>
                  </a:rPr>
                  <a:t>,</a:t>
                </a:r>
                <a:r>
                  <a:rPr lang="en-US" sz="1200" b="0" i="1" baseline="0" dirty="0">
                    <a:latin typeface="Calibri" panose="020F0502020204030204" pitchFamily="34" charset="0"/>
                    <a:ea typeface="Calibri" panose="020F0502020204030204" pitchFamily="34" charset="0"/>
                    <a:cs typeface="Calibri" panose="020F0502020204030204" pitchFamily="34" charset="0"/>
                  </a:rPr>
                  <a:t> </a:t>
                </a:r>
                <a:r>
                  <a:rPr lang="en-US" sz="1200" b="0" i="0" baseline="0">
                    <a:latin typeface="Cambria Math" panose="02040503050406030204" pitchFamily="18" charset="0"/>
                    <a:cs typeface="Calibri" panose="020F0502020204030204" pitchFamily="34" charset="0"/>
                  </a:rPr>
                  <a:t>𝑎_1  </a:t>
                </a:r>
                <a:r>
                  <a:rPr lang="en-US" sz="1200" b="0" i="0" dirty="0">
                    <a:latin typeface="Calibri" panose="020F0502020204030204" pitchFamily="34" charset="0"/>
                    <a:ea typeface="Calibri" panose="020F0502020204030204" pitchFamily="34" charset="0"/>
                    <a:cs typeface="Calibri" panose="020F0502020204030204" pitchFamily="34" charset="0"/>
                  </a:rPr>
                  <a:t>is the</a:t>
                </a:r>
                <a:r>
                  <a:rPr lang="en-US" sz="1200" b="0" i="0" baseline="0" dirty="0">
                    <a:latin typeface="Calibri" panose="020F0502020204030204" pitchFamily="34" charset="0"/>
                    <a:ea typeface="Calibri" panose="020F0502020204030204" pitchFamily="34" charset="0"/>
                    <a:cs typeface="Calibri" panose="020F0502020204030204" pitchFamily="34" charset="0"/>
                  </a:rPr>
                  <a:t> first term in the sequence, </a:t>
                </a:r>
                <a:r>
                  <a:rPr lang="en-US" sz="1200" b="0" i="0">
                    <a:latin typeface="Cambria Math" panose="02040503050406030204" pitchFamily="18" charset="0"/>
                    <a:cs typeface="Calibri" panose="020F0502020204030204" pitchFamily="34" charset="0"/>
                  </a:rPr>
                  <a:t>𝑎_𝑛</a:t>
                </a:r>
                <a:r>
                  <a:rPr lang="en-US" sz="1200" b="0" i="1" dirty="0">
                    <a:latin typeface="Calibri" panose="020F0502020204030204" pitchFamily="34" charset="0"/>
                    <a:ea typeface="Calibri" panose="020F0502020204030204" pitchFamily="34" charset="0"/>
                    <a:cs typeface="Calibri" panose="020F0502020204030204" pitchFamily="34" charset="0"/>
                  </a:rPr>
                  <a:t> </a:t>
                </a:r>
                <a:r>
                  <a:rPr lang="en-US" sz="1200" b="0" i="0" dirty="0">
                    <a:latin typeface="Calibri" panose="020F0502020204030204" pitchFamily="34" charset="0"/>
                    <a:ea typeface="Calibri" panose="020F0502020204030204" pitchFamily="34" charset="0"/>
                    <a:cs typeface="Calibri" panose="020F0502020204030204" pitchFamily="34" charset="0"/>
                  </a:rPr>
                  <a:t>is the </a:t>
                </a:r>
                <a:r>
                  <a:rPr lang="en-US" sz="1200" b="0" i="1" dirty="0">
                    <a:latin typeface="Calibri" panose="020F0502020204030204" pitchFamily="34" charset="0"/>
                    <a:ea typeface="Calibri" panose="020F0502020204030204" pitchFamily="34" charset="0"/>
                    <a:cs typeface="Calibri" panose="020F0502020204030204" pitchFamily="34" charset="0"/>
                  </a:rPr>
                  <a:t>n</a:t>
                </a:r>
                <a:r>
                  <a:rPr lang="en-US" sz="1200" b="0" i="0" dirty="0">
                    <a:latin typeface="Calibri" panose="020F0502020204030204" pitchFamily="34" charset="0"/>
                    <a:ea typeface="Calibri" panose="020F0502020204030204" pitchFamily="34" charset="0"/>
                    <a:cs typeface="Calibri" panose="020F0502020204030204" pitchFamily="34" charset="0"/>
                  </a:rPr>
                  <a:t>th term in the sequence,</a:t>
                </a:r>
                <a:r>
                  <a:rPr lang="en-US" sz="1200" b="0" i="0" baseline="0" dirty="0">
                    <a:latin typeface="Calibri" panose="020F0502020204030204" pitchFamily="34" charset="0"/>
                    <a:ea typeface="Calibri" panose="020F0502020204030204" pitchFamily="34" charset="0"/>
                    <a:cs typeface="Calibri" panose="020F0502020204030204" pitchFamily="34" charset="0"/>
                  </a:rPr>
                  <a:t> and </a:t>
                </a:r>
                <a:r>
                  <a:rPr lang="en-US" sz="1200" b="0" i="1" baseline="0" dirty="0">
                    <a:latin typeface="Calibri" panose="020F0502020204030204" pitchFamily="34" charset="0"/>
                    <a:ea typeface="Calibri" panose="020F0502020204030204" pitchFamily="34" charset="0"/>
                    <a:cs typeface="Calibri" panose="020F0502020204030204" pitchFamily="34" charset="0"/>
                  </a:rPr>
                  <a:t>r </a:t>
                </a:r>
                <a:r>
                  <a:rPr lang="en-US" sz="1200" b="0" i="0" baseline="0" dirty="0">
                    <a:latin typeface="Calibri" panose="020F0502020204030204" pitchFamily="34" charset="0"/>
                    <a:ea typeface="Calibri" panose="020F0502020204030204" pitchFamily="34" charset="0"/>
                    <a:cs typeface="Calibri" panose="020F0502020204030204" pitchFamily="34" charset="0"/>
                  </a:rPr>
                  <a:t>is the common ratio.</a:t>
                </a:r>
              </a:p>
              <a:p>
                <a:endParaRPr lang="en-US" sz="1200" b="0" i="0" dirty="0">
                  <a:latin typeface="Calibri" panose="020F0502020204030204" pitchFamily="34" charset="0"/>
                  <a:ea typeface="Calibri" panose="020F0502020204030204" pitchFamily="34" charset="0"/>
                  <a:cs typeface="Calibri" panose="020F0502020204030204" pitchFamily="34" charset="0"/>
                </a:endParaRPr>
              </a:p>
              <a:p>
                <a:r>
                  <a:rPr lang="en-US" sz="1200" b="1" dirty="0">
                    <a:latin typeface="Calibri" panose="020F0502020204030204" pitchFamily="34" charset="0"/>
                    <a:ea typeface="Calibri" panose="020F0502020204030204" pitchFamily="34" charset="0"/>
                    <a:cs typeface="Calibri" panose="020F0502020204030204" pitchFamily="34" charset="0"/>
                  </a:rPr>
                  <a:t>Talk the Talk Summary:</a:t>
                </a:r>
              </a:p>
              <a:p>
                <a:pPr algn="l"/>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There are advantages and disadvantages to using either an explicit or recursive formula to represent an arithmetic or geometric sequence.</a:t>
                </a:r>
              </a:p>
            </p:txBody>
          </p:sp>
        </mc:Fallback>
      </mc:AlternateContent>
      <p:sp>
        <p:nvSpPr>
          <p:cNvPr id="4" name="Slide Number Placeholder 3">
            <a:extLst>
              <a:ext uri="{FF2B5EF4-FFF2-40B4-BE49-F238E27FC236}">
                <a16:creationId xmlns:a16="http://schemas.microsoft.com/office/drawing/2014/main" id="{E10B20E8-800C-2EB5-D153-CC5CEB9A8585}"/>
              </a:ext>
            </a:extLst>
          </p:cNvPr>
          <p:cNvSpPr>
            <a:spLocks noGrp="1"/>
          </p:cNvSpPr>
          <p:nvPr>
            <p:ph type="sldNum" sz="quarter" idx="5"/>
          </p:nvPr>
        </p:nvSpPr>
        <p:spPr/>
        <p:txBody>
          <a:bodyPr/>
          <a:lstStyle/>
          <a:p>
            <a:fld id="{BB5E49A5-4136-284D-997B-48E1D791AD67}" type="slidenum">
              <a:rPr lang="en-US" smtClean="0"/>
              <a:t>62</a:t>
            </a:fld>
            <a:endParaRPr lang="en-US"/>
          </a:p>
        </p:txBody>
      </p:sp>
    </p:spTree>
    <p:extLst>
      <p:ext uri="{BB962C8B-B14F-4D97-AF65-F5344CB8AC3E}">
        <p14:creationId xmlns:p14="http://schemas.microsoft.com/office/powerpoint/2010/main" val="2685902533"/>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F28368-F317-A887-843E-3ACC4FB266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38422F-26E9-F6D8-0CC8-39EC34AFE9B6}"/>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A64E94A4-122B-7DC0-338A-02E293BE2FC4}"/>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Note: </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This slide is blank for optional use with displaying work.</a:t>
            </a:r>
            <a:endPar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E10B20E8-800C-2EB5-D153-CC5CEB9A8585}"/>
              </a:ext>
            </a:extLst>
          </p:cNvPr>
          <p:cNvSpPr>
            <a:spLocks noGrp="1"/>
          </p:cNvSpPr>
          <p:nvPr>
            <p:ph type="sldNum" sz="quarter" idx="5"/>
          </p:nvPr>
        </p:nvSpPr>
        <p:spPr/>
        <p:txBody>
          <a:bodyPr/>
          <a:lstStyle/>
          <a:p>
            <a:fld id="{BB5E49A5-4136-284D-997B-48E1D791AD67}" type="slidenum">
              <a:rPr lang="en-US" smtClean="0"/>
              <a:t>63</a:t>
            </a:fld>
            <a:endParaRPr lang="en-US"/>
          </a:p>
        </p:txBody>
      </p:sp>
    </p:spTree>
    <p:extLst>
      <p:ext uri="{BB962C8B-B14F-4D97-AF65-F5344CB8AC3E}">
        <p14:creationId xmlns:p14="http://schemas.microsoft.com/office/powerpoint/2010/main" val="2685902533"/>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algn="l" rtl="0" fontAlgn="base"/>
            <a:r>
              <a:rPr lang="en-US" sz="1200" b="1"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How can you identify whether students are ready for new learning?</a:t>
            </a:r>
            <a:r>
              <a:rPr lang="en-US" sz="120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 </a:t>
            </a:r>
            <a:r>
              <a:rPr lang="en-US" sz="1200" b="0" i="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a:t>
            </a:r>
          </a:p>
          <a:p>
            <a:pPr algn="l" rtl="0" fontAlgn="base"/>
            <a:r>
              <a:rPr lang="en-US" sz="120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Depending on available time, you can assign the Prepare section of the Lesson Assignments as homework or as a warm-up to identify students' prior knowledge for the upcoming lesson's activities.</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p:cNvSpPr>
            <a:spLocks noGrp="1"/>
          </p:cNvSpPr>
          <p:nvPr>
            <p:ph type="sldNum" sz="quarter" idx="5"/>
          </p:nvPr>
        </p:nvSpPr>
        <p:spPr/>
        <p:txBody>
          <a:bodyPr/>
          <a:lstStyle/>
          <a:p>
            <a:fld id="{BB5E49A5-4136-284D-997B-48E1D791AD67}" type="slidenum">
              <a:rPr lang="en-US" smtClean="0"/>
              <a:t>64</a:t>
            </a:fld>
            <a:endParaRPr lang="en-US"/>
          </a:p>
        </p:txBody>
      </p:sp>
    </p:spTree>
    <p:extLst>
      <p:ext uri="{BB962C8B-B14F-4D97-AF65-F5344CB8AC3E}">
        <p14:creationId xmlns:p14="http://schemas.microsoft.com/office/powerpoint/2010/main" val="1194793128"/>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EC5294-F897-70EF-D10E-AF9CFE14599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1ED65B6-500E-9C24-23DA-5854FF62C81D}"/>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2E5F22DD-FFA2-9C87-4A7D-F7CA29096CE2}"/>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7B2A398D-9730-D1C3-AAF7-0F03D4B776E7}"/>
              </a:ext>
            </a:extLst>
          </p:cNvPr>
          <p:cNvSpPr>
            <a:spLocks noGrp="1"/>
          </p:cNvSpPr>
          <p:nvPr>
            <p:ph type="sldNum" sz="quarter" idx="5"/>
          </p:nvPr>
        </p:nvSpPr>
        <p:spPr/>
        <p:txBody>
          <a:bodyPr/>
          <a:lstStyle/>
          <a:p>
            <a:fld id="{BB5E49A5-4136-284D-997B-48E1D791AD67}" type="slidenum">
              <a:rPr lang="en-US" smtClean="0"/>
              <a:t>65</a:t>
            </a:fld>
            <a:endParaRPr lang="en-US"/>
          </a:p>
        </p:txBody>
      </p:sp>
    </p:spTree>
    <p:extLst>
      <p:ext uri="{BB962C8B-B14F-4D97-AF65-F5344CB8AC3E}">
        <p14:creationId xmlns:p14="http://schemas.microsoft.com/office/powerpoint/2010/main" val="3581390133"/>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endParaRPr lang="en-US"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p:cNvSpPr>
            <a:spLocks noGrp="1"/>
          </p:cNvSpPr>
          <p:nvPr>
            <p:ph type="sldNum" sz="quarter" idx="5"/>
          </p:nvPr>
        </p:nvSpPr>
        <p:spPr/>
        <p:txBody>
          <a:bodyPr/>
          <a:lstStyle/>
          <a:p>
            <a:fld id="{BB5E49A5-4136-284D-997B-48E1D791AD67}" type="slidenum">
              <a:rPr lang="en-US" smtClean="0"/>
              <a:t>66</a:t>
            </a:fld>
            <a:endParaRPr lang="en-US"/>
          </a:p>
        </p:txBody>
      </p:sp>
    </p:spTree>
    <p:extLst>
      <p:ext uri="{BB962C8B-B14F-4D97-AF65-F5344CB8AC3E}">
        <p14:creationId xmlns:p14="http://schemas.microsoft.com/office/powerpoint/2010/main" val="650252939"/>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endParaRPr lang="en-US"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p:cNvSpPr>
            <a:spLocks noGrp="1"/>
          </p:cNvSpPr>
          <p:nvPr>
            <p:ph type="sldNum" sz="quarter" idx="5"/>
          </p:nvPr>
        </p:nvSpPr>
        <p:spPr/>
        <p:txBody>
          <a:bodyPr/>
          <a:lstStyle/>
          <a:p>
            <a:fld id="{BB5E49A5-4136-284D-997B-48E1D791AD67}" type="slidenum">
              <a:rPr lang="en-US" smtClean="0"/>
              <a:t>67</a:t>
            </a:fld>
            <a:endParaRPr lang="en-US"/>
          </a:p>
        </p:txBody>
      </p:sp>
    </p:spTree>
    <p:extLst>
      <p:ext uri="{BB962C8B-B14F-4D97-AF65-F5344CB8AC3E}">
        <p14:creationId xmlns:p14="http://schemas.microsoft.com/office/powerpoint/2010/main" val="1096310834"/>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hyperlink" Target="mailto:openeducationresources@tea.Texas.gov" TargetMode="External"/><Relationship Id="rId2" Type="http://schemas.openxmlformats.org/officeDocument/2006/relationships/image" Target="../media/image3.png"/><Relationship Id="rId1" Type="http://schemas.openxmlformats.org/officeDocument/2006/relationships/slideMaster" Target="../slideMasters/slideMaster1.xml"/><Relationship Id="rId5" Type="http://schemas.openxmlformats.org/officeDocument/2006/relationships/image" Target="../media/image4.png"/><Relationship Id="rId4" Type="http://schemas.openxmlformats.org/officeDocument/2006/relationships/hyperlink" Target="https://creativecommons.org/licenses/by-nc/4.0" TargetMode="Externa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3" Type="http://schemas.openxmlformats.org/officeDocument/2006/relationships/hyperlink" Target="mailto:openeducationresources@tea.Texas.gov" TargetMode="External"/><Relationship Id="rId2" Type="http://schemas.openxmlformats.org/officeDocument/2006/relationships/image" Target="../media/image12.png"/><Relationship Id="rId1" Type="http://schemas.openxmlformats.org/officeDocument/2006/relationships/slideMaster" Target="../slideMasters/slideMaster2.xml"/><Relationship Id="rId5" Type="http://schemas.openxmlformats.org/officeDocument/2006/relationships/image" Target="../media/image4.png"/><Relationship Id="rId4" Type="http://schemas.openxmlformats.org/officeDocument/2006/relationships/hyperlink" Target="https://tea.texas.gov/K-5Math" TargetMode="Externa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1.png"/><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3" Type="http://schemas.openxmlformats.org/officeDocument/2006/relationships/hyperlink" Target="mailto:openeducationresources@tea.Texas.gov" TargetMode="External"/><Relationship Id="rId2" Type="http://schemas.openxmlformats.org/officeDocument/2006/relationships/image" Target="../media/image17.png"/><Relationship Id="rId1" Type="http://schemas.openxmlformats.org/officeDocument/2006/relationships/slideMaster" Target="../slideMasters/slideMaster3.xml"/><Relationship Id="rId5" Type="http://schemas.openxmlformats.org/officeDocument/2006/relationships/image" Target="../media/image4.png"/><Relationship Id="rId4" Type="http://schemas.openxmlformats.org/officeDocument/2006/relationships/hyperlink" Target="https://tea.texas.gov/K-5Math" TargetMode="External"/></Relationships>
</file>

<file path=ppt/slideLayouts/_rels/slideLayout4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8.png"/><Relationship Id="rId1" Type="http://schemas.openxmlformats.org/officeDocument/2006/relationships/slideMaster" Target="../slideMasters/slideMaster3.xml"/></Relationships>
</file>

<file path=ppt/slideLayouts/_rels/slideLayout4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8.png"/><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8.png"/><Relationship Id="rId1" Type="http://schemas.openxmlformats.org/officeDocument/2006/relationships/slideMaster" Target="../slideMasters/slideMaster3.xml"/></Relationships>
</file>

<file path=ppt/slideLayouts/_rels/slideLayout4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Master" Target="../slideMasters/slideMaster3.xml"/></Relationships>
</file>

<file path=ppt/slideLayouts/_rels/slideLayout45.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6.png"/><Relationship Id="rId1" Type="http://schemas.openxmlformats.org/officeDocument/2006/relationships/slideMaster" Target="../slideMasters/slideMaster3.xml"/></Relationships>
</file>

<file path=ppt/slideLayouts/_rels/slideLayout48.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Master" Target="../slideMasters/slideMaster3.xml"/></Relationships>
</file>

<file path=ppt/slideLayouts/_rels/slideLayout49.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Master" Target="../slideMasters/slideMaster3.xml"/></Relationships>
</file>

<file path=ppt/slideLayouts/_rels/slideLayout5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1.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Master" Target="../slideMasters/slideMaster3.xml"/></Relationships>
</file>

<file path=ppt/slideLayouts/_rels/slideLayout5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3.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Master" Target="../slideMasters/slideMaster3.xml"/></Relationships>
</file>

<file path=ppt/slideLayouts/_rels/slideLayout5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Master" Target="../slideMasters/slideMaster4.xml"/></Relationships>
</file>

<file path=ppt/slideLayouts/_rels/slideLayout59.xml.rels><?xml version="1.0" encoding="UTF-8" standalone="yes"?>
<Relationships xmlns="http://schemas.openxmlformats.org/package/2006/relationships"><Relationship Id="rId3" Type="http://schemas.openxmlformats.org/officeDocument/2006/relationships/hyperlink" Target="mailto:openeducationresources@tea.Texas.gov" TargetMode="External"/><Relationship Id="rId2" Type="http://schemas.openxmlformats.org/officeDocument/2006/relationships/image" Target="../media/image22.png"/><Relationship Id="rId1" Type="http://schemas.openxmlformats.org/officeDocument/2006/relationships/slideMaster" Target="../slideMasters/slideMaster4.xml"/><Relationship Id="rId5" Type="http://schemas.openxmlformats.org/officeDocument/2006/relationships/image" Target="../media/image4.png"/><Relationship Id="rId4" Type="http://schemas.openxmlformats.org/officeDocument/2006/relationships/hyperlink" Target="https://tea.texas.gov/K-5Math" TargetMode="External"/></Relationships>
</file>

<file path=ppt/slideLayouts/_rels/slideLayout6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3.png"/><Relationship Id="rId1" Type="http://schemas.openxmlformats.org/officeDocument/2006/relationships/slideMaster" Target="../slideMasters/slideMaster4.xml"/></Relationships>
</file>

<file path=ppt/slideLayouts/_rels/slideLayout6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3.png"/><Relationship Id="rId1" Type="http://schemas.openxmlformats.org/officeDocument/2006/relationships/slideMaster" Target="../slideMasters/slideMaster4.xml"/></Relationships>
</file>

<file path=ppt/slideLayouts/_rels/slideLayout6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3.png"/><Relationship Id="rId1" Type="http://schemas.openxmlformats.org/officeDocument/2006/relationships/slideMaster" Target="../slideMasters/slideMaster4.xml"/></Relationships>
</file>

<file path=ppt/slideLayouts/_rels/slideLayout63.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Master" Target="../slideMasters/slideMaster4.xml"/></Relationships>
</file>

<file path=ppt/slideLayouts/_rels/slideLayout64.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Master" Target="../slideMasters/slideMaster4.xml"/></Relationships>
</file>

<file path=ppt/slideLayouts/_rels/slideLayout65.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Master" Target="../slideMasters/slideMaster4.xml"/></Relationships>
</file>

<file path=ppt/slideLayouts/_rels/slideLayout6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Master" Target="../slideMasters/slideMaster4.xml"/></Relationships>
</file>

<file path=ppt/slideLayouts/_rels/slideLayout67.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Master" Target="../slideMasters/slideMaster4.xml"/></Relationships>
</file>

<file path=ppt/slideLayouts/_rels/slideLayout68.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Master" Target="../slideMasters/slideMaster4.xml"/></Relationships>
</file>

<file path=ppt/slideLayouts/_rels/slideLayout6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70.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Master" Target="../slideMasters/slideMaster4.xml"/></Relationships>
</file>

<file path=ppt/slideLayouts/_rels/slideLayout71.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72.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Master" Target="../slideMasters/slideMaster4.xml"/></Relationships>
</file>

<file path=ppt/slideLayouts/_rels/slideLayout7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7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7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7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2_Alg I_Title Slide">
    <p:bg>
      <p:bgPr>
        <a:solidFill>
          <a:schemeClr val="bg1"/>
        </a:solidFill>
        <a:effectLst/>
      </p:bgPr>
    </p:bg>
    <p:spTree>
      <p:nvGrpSpPr>
        <p:cNvPr id="1" name=""/>
        <p:cNvGrpSpPr/>
        <p:nvPr/>
      </p:nvGrpSpPr>
      <p:grpSpPr>
        <a:xfrm>
          <a:off x="0" y="0"/>
          <a:ext cx="0" cy="0"/>
          <a:chOff x="0" y="0"/>
          <a:chExt cx="0" cy="0"/>
        </a:xfrm>
      </p:grpSpPr>
      <p:sp>
        <p:nvSpPr>
          <p:cNvPr id="3" name="Text Placeholder 3">
            <a:extLst>
              <a:ext uri="{FF2B5EF4-FFF2-40B4-BE49-F238E27FC236}">
                <a16:creationId xmlns:a16="http://schemas.microsoft.com/office/drawing/2014/main" id="{F992793D-996B-68F1-CC42-4A64BF66E531}"/>
              </a:ext>
            </a:extLst>
          </p:cNvPr>
          <p:cNvSpPr>
            <a:spLocks noGrp="1"/>
          </p:cNvSpPr>
          <p:nvPr>
            <p:ph type="body" sz="quarter" idx="10" hasCustomPrompt="1"/>
          </p:nvPr>
        </p:nvSpPr>
        <p:spPr>
          <a:xfrm>
            <a:off x="-1590" y="1622759"/>
            <a:ext cx="12192003" cy="1819137"/>
          </a:xfrm>
          <a:prstGeom prst="rect">
            <a:avLst/>
          </a:prstGeom>
        </p:spPr>
        <p:txBody>
          <a:bodyPr/>
          <a:lstStyle>
            <a:lvl1pPr marL="0" indent="0" algn="ctr">
              <a:buNone/>
              <a:defRPr sz="6000" b="1">
                <a:solidFill>
                  <a:srgbClr val="236739"/>
                </a:solidFill>
              </a:defRPr>
            </a:lvl1pPr>
          </a:lstStyle>
          <a:p>
            <a:pPr lvl="0"/>
            <a:r>
              <a:rPr lang="en-US" sz="6000" dirty="0"/>
              <a:t>Module Name</a:t>
            </a:r>
          </a:p>
          <a:p>
            <a:pPr lvl="0"/>
            <a:r>
              <a:rPr lang="en-US" sz="6000" dirty="0"/>
              <a:t>Name</a:t>
            </a:r>
          </a:p>
          <a:p>
            <a:pPr lvl="0"/>
            <a:endParaRPr lang="en-US" dirty="0"/>
          </a:p>
        </p:txBody>
      </p:sp>
      <p:sp>
        <p:nvSpPr>
          <p:cNvPr id="5" name="Text Placeholder 5">
            <a:extLst>
              <a:ext uri="{FF2B5EF4-FFF2-40B4-BE49-F238E27FC236}">
                <a16:creationId xmlns:a16="http://schemas.microsoft.com/office/drawing/2014/main" id="{74F0E467-86F1-F51B-377D-DE8A5155B5E1}"/>
              </a:ext>
            </a:extLst>
          </p:cNvPr>
          <p:cNvSpPr>
            <a:spLocks noGrp="1"/>
          </p:cNvSpPr>
          <p:nvPr>
            <p:ph type="body" sz="quarter" idx="13" hasCustomPrompt="1"/>
          </p:nvPr>
        </p:nvSpPr>
        <p:spPr>
          <a:xfrm>
            <a:off x="-1590" y="3641189"/>
            <a:ext cx="12190413" cy="822457"/>
          </a:xfrm>
          <a:prstGeom prst="rect">
            <a:avLst/>
          </a:prstGeom>
        </p:spPr>
        <p:txBody>
          <a:bodyPr anchor="ctr"/>
          <a:lstStyle>
            <a:lvl1pPr marL="0" indent="0" algn="ctr">
              <a:buNone/>
              <a:defRPr sz="4400" b="0">
                <a:solidFill>
                  <a:srgbClr val="236739"/>
                </a:solidFill>
              </a:defRPr>
            </a:lvl1pPr>
          </a:lstStyle>
          <a:p>
            <a:pPr lvl="0"/>
            <a:r>
              <a:rPr lang="en-US" dirty="0"/>
              <a:t>Grade # | Module # | Topic X | Lesson #</a:t>
            </a:r>
          </a:p>
        </p:txBody>
      </p:sp>
      <p:sp>
        <p:nvSpPr>
          <p:cNvPr id="2" name="Round Single Corner Rectangle 1">
            <a:extLst>
              <a:ext uri="{FF2B5EF4-FFF2-40B4-BE49-F238E27FC236}">
                <a16:creationId xmlns:a16="http://schemas.microsoft.com/office/drawing/2014/main" id="{7D24360F-9CDE-6F31-8095-CEDD386A0B5F}"/>
              </a:ext>
            </a:extLst>
          </p:cNvPr>
          <p:cNvSpPr/>
          <p:nvPr userDrawn="1"/>
        </p:nvSpPr>
        <p:spPr>
          <a:xfrm rot="10800000" flipH="1">
            <a:off x="0" y="0"/>
            <a:ext cx="2467555" cy="954942"/>
          </a:xfrm>
          <a:prstGeom prst="round1Rect">
            <a:avLst/>
          </a:prstGeom>
          <a:solidFill>
            <a:srgbClr val="2B814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6706451E-BBBC-107B-E631-3F63997BE9D6}"/>
              </a:ext>
            </a:extLst>
          </p:cNvPr>
          <p:cNvSpPr txBox="1"/>
          <p:nvPr userDrawn="1"/>
        </p:nvSpPr>
        <p:spPr>
          <a:xfrm>
            <a:off x="0" y="280732"/>
            <a:ext cx="2467555" cy="461665"/>
          </a:xfrm>
          <a:prstGeom prst="rect">
            <a:avLst/>
          </a:prstGeom>
          <a:noFill/>
        </p:spPr>
        <p:txBody>
          <a:bodyPr wrap="square" rtlCol="0">
            <a:spAutoFit/>
          </a:bodyPr>
          <a:lstStyle/>
          <a:p>
            <a:pPr algn="ctr"/>
            <a:r>
              <a:rPr lang="en-US" sz="2400" dirty="0">
                <a:solidFill>
                  <a:schemeClr val="bg1"/>
                </a:solidFill>
              </a:rPr>
              <a:t>ENGLISH</a:t>
            </a:r>
          </a:p>
        </p:txBody>
      </p:sp>
      <p:pic>
        <p:nvPicPr>
          <p:cNvPr id="18" name="Picture 17" descr="A blue and black logo&#10;&#10;AI-generated content may be incorrect.">
            <a:extLst>
              <a:ext uri="{FF2B5EF4-FFF2-40B4-BE49-F238E27FC236}">
                <a16:creationId xmlns:a16="http://schemas.microsoft.com/office/drawing/2014/main" id="{B203EADC-2DB3-1EE5-60AF-D1787BEEC073}"/>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19" name="TextBox 18">
            <a:extLst>
              <a:ext uri="{FF2B5EF4-FFF2-40B4-BE49-F238E27FC236}">
                <a16:creationId xmlns:a16="http://schemas.microsoft.com/office/drawing/2014/main" id="{2804B40F-0DA7-E0E3-162C-E301ABDD7551}"/>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
        <p:nvSpPr>
          <p:cNvPr id="20" name="Rounded Rectangle 19">
            <a:extLst>
              <a:ext uri="{FF2B5EF4-FFF2-40B4-BE49-F238E27FC236}">
                <a16:creationId xmlns:a16="http://schemas.microsoft.com/office/drawing/2014/main" id="{A6542DB2-F324-40CF-3B49-6D031A4E64E1}"/>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E0930552-3750-2EC0-AA03-FF31F6332588}"/>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dirty="0">
                <a:solidFill>
                  <a:schemeClr val="bg2">
                    <a:lumMod val="50000"/>
                  </a:schemeClr>
                </a:solidFill>
                <a:latin typeface="Calibri" panose="020F0502020204030204" pitchFamily="34" charset="0"/>
                <a:cs typeface="Calibri" panose="020F0502020204030204" pitchFamily="34" charset="0"/>
              </a:rPr>
              <a:t>EDITION 1</a:t>
            </a:r>
          </a:p>
        </p:txBody>
      </p:sp>
      <p:pic>
        <p:nvPicPr>
          <p:cNvPr id="7" name="Picture 6">
            <a:extLst>
              <a:ext uri="{FF2B5EF4-FFF2-40B4-BE49-F238E27FC236}">
                <a16:creationId xmlns:a16="http://schemas.microsoft.com/office/drawing/2014/main" id="{F3AD9D6D-E5B1-9F4C-296E-9D558E47F581}"/>
              </a:ext>
              <a:ext uri="{C183D7F6-B498-43B3-948B-1728B52AA6E4}">
                <adec:decorative xmlns:adec="http://schemas.microsoft.com/office/drawing/2017/decorative" val="1"/>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0" y="4663225"/>
            <a:ext cx="12190413" cy="2194775"/>
          </a:xfrm>
          <a:prstGeom prst="rect">
            <a:avLst/>
          </a:prstGeom>
        </p:spPr>
      </p:pic>
    </p:spTree>
    <p:extLst>
      <p:ext uri="{BB962C8B-B14F-4D97-AF65-F5344CB8AC3E}">
        <p14:creationId xmlns:p14="http://schemas.microsoft.com/office/powerpoint/2010/main" val="244819002"/>
      </p:ext>
    </p:extLst>
  </p:cSld>
  <p:clrMapOvr>
    <a:masterClrMapping/>
  </p:clrMapOvr>
  <p:extLst>
    <p:ext uri="{DCECCB84-F9BA-43D5-87BE-67443E8EF086}">
      <p15:sldGuideLst xmlns:p15="http://schemas.microsoft.com/office/powerpoint/2012/main">
        <p15:guide id="1" orient="horz" pos="2160">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9_G2 Copyright">
    <p:bg>
      <p:bgPr>
        <a:solidFill>
          <a:schemeClr val="bg1"/>
        </a:solidFill>
        <a:effectLst/>
      </p:bgPr>
    </p:bg>
    <p:spTree>
      <p:nvGrpSpPr>
        <p:cNvPr id="1" name=""/>
        <p:cNvGrpSpPr/>
        <p:nvPr/>
      </p:nvGrpSpPr>
      <p:grpSpPr>
        <a:xfrm>
          <a:off x="0" y="0"/>
          <a:ext cx="0" cy="0"/>
          <a:chOff x="0" y="0"/>
          <a:chExt cx="0" cy="0"/>
        </a:xfrm>
      </p:grpSpPr>
      <p:pic>
        <p:nvPicPr>
          <p:cNvPr id="18" name="Picture 17" descr="A pattern with circles and lines&#10;&#10;AI-generated content may be incorrect.">
            <a:extLst>
              <a:ext uri="{FF2B5EF4-FFF2-40B4-BE49-F238E27FC236}">
                <a16:creationId xmlns:a16="http://schemas.microsoft.com/office/drawing/2014/main" id="{72307BBC-7B87-E2A3-8D37-F3412D1BA5D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 y="932192"/>
            <a:ext cx="12190413" cy="5925808"/>
          </a:xfrm>
          <a:prstGeom prst="rect">
            <a:avLst/>
          </a:prstGeom>
        </p:spPr>
      </p:pic>
      <p:sp>
        <p:nvSpPr>
          <p:cNvPr id="4" name="Oval 3">
            <a:extLst>
              <a:ext uri="{FF2B5EF4-FFF2-40B4-BE49-F238E27FC236}">
                <a16:creationId xmlns:a16="http://schemas.microsoft.com/office/drawing/2014/main" id="{ABB595A4-9EBD-188A-EC7D-0AAB0001E823}"/>
              </a:ext>
            </a:extLst>
          </p:cNvPr>
          <p:cNvSpPr/>
          <p:nvPr userDrawn="1"/>
        </p:nvSpPr>
        <p:spPr>
          <a:xfrm>
            <a:off x="1668545" y="2356700"/>
            <a:ext cx="1715678" cy="2648931"/>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E5165B0B-BFFB-F8AF-28CB-AB06CD2FE816}"/>
              </a:ext>
            </a:extLst>
          </p:cNvPr>
          <p:cNvSpPr/>
          <p:nvPr userDrawn="1"/>
        </p:nvSpPr>
        <p:spPr>
          <a:xfrm>
            <a:off x="1310326" y="4873659"/>
            <a:ext cx="2073897" cy="6790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E5A3C38-7B14-ED97-6C60-8F0EC5C9B272}"/>
              </a:ext>
            </a:extLst>
          </p:cNvPr>
          <p:cNvSpPr txBox="1"/>
          <p:nvPr userDrawn="1"/>
        </p:nvSpPr>
        <p:spPr>
          <a:xfrm>
            <a:off x="1023907" y="1792363"/>
            <a:ext cx="10141011" cy="4247317"/>
          </a:xfrm>
          <a:prstGeom prst="rect">
            <a:avLst/>
          </a:prstGeom>
          <a:solidFill>
            <a:schemeClr val="bg1"/>
          </a:solidFill>
          <a:ln w="38100">
            <a:solidFill>
              <a:schemeClr val="bg1"/>
            </a:solidFill>
          </a:ln>
        </p:spPr>
        <p:txBody>
          <a:bodyPr wrap="square" lIns="91440" tIns="45720" rIns="91440" bIns="45720" rtlCol="0" anchor="t">
            <a:spAutoFit/>
          </a:bodyPr>
          <a:lstStyle/>
          <a:p>
            <a:r>
              <a:rPr lang="en-US" b="1" dirty="0">
                <a:solidFill>
                  <a:srgbClr val="000000"/>
                </a:solidFill>
              </a:rPr>
              <a:t>Acknowledgment</a:t>
            </a:r>
          </a:p>
          <a:p>
            <a:r>
              <a:rPr lang="en-US" dirty="0">
                <a:solidFill>
                  <a:srgbClr val="000000"/>
                </a:solidFill>
              </a:rPr>
              <a:t>Thank you to all the Texas educators and stakeholders who supported the review process and provided feedback. These materials are the result of the work of numerous individuals, and we are deeply grateful for their contributions.</a:t>
            </a:r>
            <a:endParaRPr lang="en-US" dirty="0">
              <a:solidFill>
                <a:srgbClr val="000000"/>
              </a:solidFill>
              <a:cs typeface="Calibri"/>
            </a:endParaRPr>
          </a:p>
          <a:p>
            <a:endParaRPr lang="en-US" dirty="0">
              <a:solidFill>
                <a:srgbClr val="000000"/>
              </a:solidFill>
            </a:endParaRPr>
          </a:p>
          <a:p>
            <a:r>
              <a:rPr lang="en-US" b="1" dirty="0">
                <a:solidFill>
                  <a:srgbClr val="000000"/>
                </a:solidFill>
              </a:rPr>
              <a:t>Notice</a:t>
            </a:r>
            <a:endParaRPr lang="en-US" b="1" dirty="0">
              <a:solidFill>
                <a:srgbClr val="000000"/>
              </a:solidFill>
              <a:cs typeface="Calibri"/>
            </a:endParaRPr>
          </a:p>
          <a:p>
            <a:r>
              <a:rPr lang="en-US" dirty="0">
                <a:solidFill>
                  <a:srgbClr val="000000"/>
                </a:solidFill>
              </a:rPr>
              <a:t>These learning resources have been built for Texas students, aligned to the Texas Essential Knowledge and Skills, and are made available pursuant to Chapter 31, Subchapter B-1 of the Texas Education Code.</a:t>
            </a:r>
            <a:endParaRPr lang="en-US" dirty="0">
              <a:solidFill>
                <a:srgbClr val="000000"/>
              </a:solidFill>
              <a:cs typeface="Calibri"/>
            </a:endParaRPr>
          </a:p>
          <a:p>
            <a:r>
              <a:rPr lang="en-US" dirty="0">
                <a:solidFill>
                  <a:srgbClr val="000000"/>
                </a:solidFill>
              </a:rPr>
              <a:t>If you have further questions or to report an error, please email </a:t>
            </a:r>
            <a:r>
              <a:rPr lang="en-US" dirty="0">
                <a:solidFill>
                  <a:srgbClr val="000000"/>
                </a:solidFill>
                <a:hlinkClick r:id="rId3">
                  <a:extLst>
                    <a:ext uri="{A12FA001-AC4F-418D-AE19-62706E023703}">
                      <ahyp:hlinkClr xmlns:ahyp="http://schemas.microsoft.com/office/drawing/2018/hyperlinkcolor" val="tx"/>
                    </a:ext>
                  </a:extLst>
                </a:hlinkClick>
              </a:rPr>
              <a:t>openeducationresources@tea.texas.gov</a:t>
            </a:r>
            <a:r>
              <a:rPr lang="en-US" dirty="0">
                <a:solidFill>
                  <a:srgbClr val="000000"/>
                </a:solidFill>
              </a:rPr>
              <a:t>.</a:t>
            </a:r>
          </a:p>
          <a:p>
            <a:endParaRPr lang="en-US" dirty="0">
              <a:solidFill>
                <a:srgbClr val="000000"/>
              </a:solidFill>
              <a:cs typeface="Calibri"/>
            </a:endParaRPr>
          </a:p>
          <a:p>
            <a:r>
              <a:rPr lang="en-US" dirty="0">
                <a:solidFill>
                  <a:srgbClr val="000000"/>
                </a:solidFill>
                <a:cs typeface="Calibri"/>
              </a:rPr>
              <a:t>©2024-2025 Texas Education Agency. Portions of this work are adapted, with permission, from the originals created by and copyright ©2021 Carnegie Learning, Inc. </a:t>
            </a:r>
          </a:p>
          <a:p>
            <a:endParaRPr lang="en-US" dirty="0">
              <a:solidFill>
                <a:srgbClr val="000000"/>
              </a:solidFill>
              <a:cs typeface="Calibri"/>
            </a:endParaRPr>
          </a:p>
          <a:p>
            <a:r>
              <a:rPr lang="en-US" dirty="0">
                <a:solidFill>
                  <a:srgbClr val="000000"/>
                </a:solidFill>
                <a:cs typeface="Calibri"/>
              </a:rPr>
              <a:t>This work is licensed under a Creative Commons Attribution-Non-Commercial-4.0 International License. For information, visit: </a:t>
            </a:r>
            <a:r>
              <a:rPr lang="en-US" u="none" dirty="0">
                <a:solidFill>
                  <a:srgbClr val="000000"/>
                </a:solidFill>
                <a:cs typeface="Calibri"/>
                <a:hlinkClick r:id="rId4">
                  <a:extLst>
                    <a:ext uri="{A12FA001-AC4F-418D-AE19-62706E023703}">
                      <ahyp:hlinkClr xmlns:ahyp="http://schemas.microsoft.com/office/drawing/2018/hyperlinkcolor" val="tx"/>
                    </a:ext>
                  </a:extLst>
                </a:hlinkClick>
              </a:rPr>
              <a:t>https://creativecommons.org/licenses/by-nc/4.0</a:t>
            </a:r>
            <a:r>
              <a:rPr lang="en-US" dirty="0">
                <a:solidFill>
                  <a:srgbClr val="000000"/>
                </a:solidFill>
                <a:cs typeface="Calibri"/>
              </a:rPr>
              <a:t>. </a:t>
            </a:r>
          </a:p>
        </p:txBody>
      </p:sp>
      <p:pic>
        <p:nvPicPr>
          <p:cNvPr id="3" name="Picture 2" descr="A blue and black logo&#10;&#10;AI-generated content may be incorrect.">
            <a:extLst>
              <a:ext uri="{FF2B5EF4-FFF2-40B4-BE49-F238E27FC236}">
                <a16:creationId xmlns:a16="http://schemas.microsoft.com/office/drawing/2014/main" id="{8A2CBEDA-4313-4320-C727-637FCF5AEF98}"/>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84963" y="101527"/>
            <a:ext cx="2080268" cy="682524"/>
          </a:xfrm>
          <a:prstGeom prst="rect">
            <a:avLst/>
          </a:prstGeom>
        </p:spPr>
      </p:pic>
      <p:sp>
        <p:nvSpPr>
          <p:cNvPr id="8" name="TextBox 7">
            <a:extLst>
              <a:ext uri="{FF2B5EF4-FFF2-40B4-BE49-F238E27FC236}">
                <a16:creationId xmlns:a16="http://schemas.microsoft.com/office/drawing/2014/main" id="{AC3E9A39-7598-7D98-AC32-2789E161EFE4}"/>
              </a:ext>
            </a:extLst>
          </p:cNvPr>
          <p:cNvSpPr txBox="1"/>
          <p:nvPr userDrawn="1"/>
        </p:nvSpPr>
        <p:spPr>
          <a:xfrm>
            <a:off x="862304" y="69238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Tree>
    <p:extLst>
      <p:ext uri="{BB962C8B-B14F-4D97-AF65-F5344CB8AC3E}">
        <p14:creationId xmlns:p14="http://schemas.microsoft.com/office/powerpoint/2010/main" val="2866715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Alg I_Activity">
    <p:bg>
      <p:bgPr>
        <a:solidFill>
          <a:schemeClr val="bg1"/>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2C7DDC4C-990F-1B63-3B21-F01BAF7FCDF9}"/>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2316529"/>
            <a:ext cx="12190413" cy="2682142"/>
          </a:xfrm>
          <a:prstGeom prst="rect">
            <a:avLst/>
          </a:prstGeom>
        </p:spPr>
      </p:pic>
      <p:sp>
        <p:nvSpPr>
          <p:cNvPr id="6" name="Google Shape;61;g28e21d7ade9_0_16">
            <a:extLst>
              <a:ext uri="{FF2B5EF4-FFF2-40B4-BE49-F238E27FC236}">
                <a16:creationId xmlns:a16="http://schemas.microsoft.com/office/drawing/2014/main" id="{F6D852E4-016A-EA34-8A0F-CD386348DEB3}"/>
              </a:ext>
              <a:ext uri="{C183D7F6-B498-43B3-948B-1728B52AA6E4}">
                <adec:decorative xmlns:adec="http://schemas.microsoft.com/office/drawing/2017/decorative" val="1"/>
              </a:ext>
            </a:extLst>
          </p:cNvPr>
          <p:cNvSpPr txBox="1"/>
          <p:nvPr userDrawn="1"/>
        </p:nvSpPr>
        <p:spPr>
          <a:xfrm>
            <a:off x="3352800" y="2984501"/>
            <a:ext cx="5499100" cy="1143000"/>
          </a:xfrm>
          <a:prstGeom prst="rect">
            <a:avLst/>
          </a:prstGeom>
          <a:solidFill>
            <a:srgbClr val="2B8147"/>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endParaRPr baseline="0" dirty="0">
              <a:solidFill>
                <a:schemeClr val="bg1"/>
              </a:solidFill>
              <a:latin typeface="Calibri" panose="020F0502020204030204" pitchFamily="34" charset="0"/>
            </a:endParaRPr>
          </a:p>
        </p:txBody>
      </p:sp>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40100" y="3136900"/>
            <a:ext cx="3302000"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r"/>
            <a:r>
              <a:rPr lang="en-US" baseline="0" dirty="0">
                <a:solidFill>
                  <a:schemeClr val="bg1"/>
                </a:solidFill>
                <a:latin typeface="Calibri" panose="020F0502020204030204" pitchFamily="34" charset="0"/>
              </a:rPr>
              <a:t>Activity </a:t>
            </a:r>
            <a:endParaRPr baseline="0" dirty="0">
              <a:solidFill>
                <a:schemeClr val="bg1"/>
              </a:solidFill>
              <a:latin typeface="Calibri" panose="020F0502020204030204" pitchFamily="34" charset="0"/>
            </a:endParaRPr>
          </a:p>
        </p:txBody>
      </p:sp>
      <p:sp>
        <p:nvSpPr>
          <p:cNvPr id="7" name="Text Placeholder 6">
            <a:extLst>
              <a:ext uri="{FF2B5EF4-FFF2-40B4-BE49-F238E27FC236}">
                <a16:creationId xmlns:a16="http://schemas.microsoft.com/office/drawing/2014/main" id="{D2068F8D-A07F-AA10-7BDF-A0C4AF8C7BFF}"/>
              </a:ext>
            </a:extLst>
          </p:cNvPr>
          <p:cNvSpPr>
            <a:spLocks noGrp="1"/>
          </p:cNvSpPr>
          <p:nvPr>
            <p:ph type="body" sz="quarter" idx="11" hasCustomPrompt="1"/>
          </p:nvPr>
        </p:nvSpPr>
        <p:spPr>
          <a:xfrm>
            <a:off x="6769100" y="2957776"/>
            <a:ext cx="2025986" cy="1125537"/>
          </a:xfrm>
          <a:prstGeom prst="rect">
            <a:avLst/>
          </a:prstGeom>
        </p:spPr>
        <p:txBody>
          <a:bodyPr/>
          <a:lstStyle>
            <a:lvl1pPr marL="0" indent="0" algn="l">
              <a:buNone/>
              <a:defRPr sz="7500" b="1">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lvl="0"/>
            <a:r>
              <a:rPr lang="en-US" dirty="0"/>
              <a:t>##</a:t>
            </a:r>
          </a:p>
        </p:txBody>
      </p:sp>
      <p:pic>
        <p:nvPicPr>
          <p:cNvPr id="4" name="Picture 3" descr="A black and white image of a stopwatch&#10;&#10;Description automatically generated">
            <a:extLst>
              <a:ext uri="{FF2B5EF4-FFF2-40B4-BE49-F238E27FC236}">
                <a16:creationId xmlns:a16="http://schemas.microsoft.com/office/drawing/2014/main" id="{D534F636-9377-D630-3F35-5D038B245C6E}"/>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DAE8B7F8-6AC2-B8A4-640E-8FE90B678918}"/>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302198041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Alg I_Talk the Talk">
    <p:bg>
      <p:bgPr>
        <a:solidFill>
          <a:schemeClr val="bg1"/>
        </a:solidFill>
        <a:effectLst/>
      </p:bgPr>
    </p:bg>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5A4A51F5-E78D-80F2-C30C-54D8CE7AD7E0}"/>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2316529"/>
            <a:ext cx="12190413" cy="2682142"/>
          </a:xfrm>
          <a:prstGeom prst="rect">
            <a:avLst/>
          </a:prstGeom>
        </p:spPr>
      </p:pic>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52800" y="2984501"/>
            <a:ext cx="5499100" cy="1143000"/>
          </a:xfrm>
          <a:prstGeom prst="rect">
            <a:avLst/>
          </a:prstGeom>
          <a:solidFill>
            <a:srgbClr val="2B8147"/>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Talk the Talk</a:t>
            </a:r>
            <a:endParaRPr baseline="0" dirty="0">
              <a:solidFill>
                <a:schemeClr val="bg1"/>
              </a:solidFill>
              <a:latin typeface="Calibri" panose="020F0502020204030204" pitchFamily="34" charset="0"/>
            </a:endParaRPr>
          </a:p>
        </p:txBody>
      </p:sp>
      <p:pic>
        <p:nvPicPr>
          <p:cNvPr id="10" name="Picture 9" descr="A black and white image of a stopwatch&#10;&#10;Description automatically generated">
            <a:extLst>
              <a:ext uri="{FF2B5EF4-FFF2-40B4-BE49-F238E27FC236}">
                <a16:creationId xmlns:a16="http://schemas.microsoft.com/office/drawing/2014/main" id="{CE73D4F7-C35E-90BA-B80C-E6CB2DC880F5}"/>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1AA23D1B-1B3F-0CA6-C43C-BA9AEE12E5DF}"/>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177543588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Alg I_Getting Started">
    <p:bg>
      <p:bgPr>
        <a:solidFill>
          <a:schemeClr val="bg1"/>
        </a:solidFill>
        <a:effectLst/>
      </p:bgPr>
    </p:bg>
    <p:spTree>
      <p:nvGrpSpPr>
        <p:cNvPr id="1" name=""/>
        <p:cNvGrpSpPr/>
        <p:nvPr/>
      </p:nvGrpSpPr>
      <p:grpSpPr>
        <a:xfrm>
          <a:off x="0" y="0"/>
          <a:ext cx="0" cy="0"/>
          <a:chOff x="0" y="0"/>
          <a:chExt cx="0" cy="0"/>
        </a:xfrm>
      </p:grpSpPr>
      <p:pic>
        <p:nvPicPr>
          <p:cNvPr id="4" name="Picture 3" descr="A green and black pattern&#10;&#10;AI-generated content may be incorrect.">
            <a:extLst>
              <a:ext uri="{FF2B5EF4-FFF2-40B4-BE49-F238E27FC236}">
                <a16:creationId xmlns:a16="http://schemas.microsoft.com/office/drawing/2014/main" id="{D1D8FC0F-F66E-E7A9-B361-E6E0B4BE09B2}"/>
              </a:ext>
              <a:ext uri="{C183D7F6-B498-43B3-948B-1728B52AA6E4}">
                <adec:decorative xmlns:adec="http://schemas.microsoft.com/office/drawing/2017/decorative" val="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2316529"/>
            <a:ext cx="12190415" cy="2682142"/>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2767915" y="2984501"/>
            <a:ext cx="6660292" cy="1143000"/>
          </a:xfrm>
          <a:prstGeom prst="rect">
            <a:avLst/>
          </a:prstGeom>
          <a:solidFill>
            <a:srgbClr val="2B8147"/>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Getting Started</a:t>
            </a:r>
            <a:endParaRPr baseline="0" dirty="0">
              <a:solidFill>
                <a:schemeClr val="bg1"/>
              </a:solidFill>
              <a:latin typeface="Calibri" panose="020F0502020204030204" pitchFamily="34" charset="0"/>
            </a:endParaRPr>
          </a:p>
        </p:txBody>
      </p:sp>
      <p:pic>
        <p:nvPicPr>
          <p:cNvPr id="8" name="Picture 7" descr="A black and white image of a stopwatch&#10;&#10;Description automatically generated">
            <a:extLst>
              <a:ext uri="{FF2B5EF4-FFF2-40B4-BE49-F238E27FC236}">
                <a16:creationId xmlns:a16="http://schemas.microsoft.com/office/drawing/2014/main" id="{D0B206A4-53F8-1A55-3AAC-FA344E665088}"/>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9" name="Text Placeholder 10">
            <a:extLst>
              <a:ext uri="{FF2B5EF4-FFF2-40B4-BE49-F238E27FC236}">
                <a16:creationId xmlns:a16="http://schemas.microsoft.com/office/drawing/2014/main" id="{B0FE485E-9F70-BE82-8FD9-400E2BFB5CAC}"/>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413361554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Alg I_Getting Started">
    <p:bg>
      <p:bgPr>
        <a:solidFill>
          <a:schemeClr val="bg1"/>
        </a:solidFill>
        <a:effectLst/>
      </p:bgPr>
    </p:bg>
    <p:spTree>
      <p:nvGrpSpPr>
        <p:cNvPr id="1" name=""/>
        <p:cNvGrpSpPr/>
        <p:nvPr/>
      </p:nvGrpSpPr>
      <p:grpSpPr>
        <a:xfrm>
          <a:off x="0" y="0"/>
          <a:ext cx="0" cy="0"/>
          <a:chOff x="0" y="0"/>
          <a:chExt cx="0" cy="0"/>
        </a:xfrm>
      </p:grpSpPr>
      <p:pic>
        <p:nvPicPr>
          <p:cNvPr id="4" name="Picture 3" descr="A green and black pattern&#10;&#10;AI-generated content may be incorrect.">
            <a:extLst>
              <a:ext uri="{FF2B5EF4-FFF2-40B4-BE49-F238E27FC236}">
                <a16:creationId xmlns:a16="http://schemas.microsoft.com/office/drawing/2014/main" id="{D1D8FC0F-F66E-E7A9-B361-E6E0B4BE09B2}"/>
              </a:ext>
              <a:ext uri="{C183D7F6-B498-43B3-948B-1728B52AA6E4}">
                <adec:decorative xmlns:adec="http://schemas.microsoft.com/office/drawing/2017/decorative" val="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2316529"/>
            <a:ext cx="12190415" cy="2682142"/>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3866323" y="2984501"/>
            <a:ext cx="4432852" cy="1143000"/>
          </a:xfrm>
          <a:prstGeom prst="rect">
            <a:avLst/>
          </a:prstGeom>
          <a:solidFill>
            <a:srgbClr val="2B8147"/>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Prepare</a:t>
            </a:r>
            <a:endParaRPr baseline="0" dirty="0">
              <a:solidFill>
                <a:schemeClr val="bg1"/>
              </a:solidFill>
              <a:latin typeface="Calibri" panose="020F0502020204030204" pitchFamily="34" charset="0"/>
            </a:endParaRPr>
          </a:p>
        </p:txBody>
      </p:sp>
    </p:spTree>
    <p:extLst>
      <p:ext uri="{BB962C8B-B14F-4D97-AF65-F5344CB8AC3E}">
        <p14:creationId xmlns:p14="http://schemas.microsoft.com/office/powerpoint/2010/main" val="392929801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Alg I_Session Divider">
    <p:bg>
      <p:bgPr>
        <a:solidFill>
          <a:schemeClr val="bg1"/>
        </a:solidFill>
        <a:effectLst/>
      </p:bgPr>
    </p:bg>
    <p:spTree>
      <p:nvGrpSpPr>
        <p:cNvPr id="1" name=""/>
        <p:cNvGrpSpPr/>
        <p:nvPr/>
      </p:nvGrpSpPr>
      <p:grpSpPr>
        <a:xfrm>
          <a:off x="0" y="0"/>
          <a:ext cx="0" cy="0"/>
          <a:chOff x="0" y="0"/>
          <a:chExt cx="0" cy="0"/>
        </a:xfrm>
      </p:grpSpPr>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4918157" y="2955793"/>
            <a:ext cx="1512037"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r>
              <a:rPr lang="en-US" baseline="0" dirty="0">
                <a:solidFill>
                  <a:schemeClr val="bg2">
                    <a:lumMod val="10000"/>
                  </a:schemeClr>
                </a:solidFill>
                <a:latin typeface="Calibri" panose="020F0502020204030204" pitchFamily="34" charset="0"/>
              </a:rPr>
              <a:t>Day</a:t>
            </a:r>
            <a:endParaRPr baseline="0" dirty="0">
              <a:solidFill>
                <a:schemeClr val="bg2">
                  <a:lumMod val="10000"/>
                </a:schemeClr>
              </a:solidFill>
              <a:latin typeface="Calibri" panose="020F0502020204030204" pitchFamily="34" charset="0"/>
            </a:endParaRPr>
          </a:p>
        </p:txBody>
      </p:sp>
      <p:sp>
        <p:nvSpPr>
          <p:cNvPr id="6" name="Text Placeholder 5">
            <a:extLst>
              <a:ext uri="{FF2B5EF4-FFF2-40B4-BE49-F238E27FC236}">
                <a16:creationId xmlns:a16="http://schemas.microsoft.com/office/drawing/2014/main" id="{387DC733-57F9-7B5A-186D-1BA8C44555D4}"/>
              </a:ext>
            </a:extLst>
          </p:cNvPr>
          <p:cNvSpPr>
            <a:spLocks noGrp="1"/>
          </p:cNvSpPr>
          <p:nvPr>
            <p:ph type="body" sz="quarter" idx="11" hasCustomPrompt="1"/>
          </p:nvPr>
        </p:nvSpPr>
        <p:spPr>
          <a:xfrm>
            <a:off x="5578106" y="2843523"/>
            <a:ext cx="1061883" cy="1071562"/>
          </a:xfrm>
          <a:prstGeom prst="rect">
            <a:avLst/>
          </a:prstGeom>
        </p:spPr>
        <p:txBody>
          <a:bodyPr/>
          <a:lstStyle>
            <a:lvl5pPr marL="1828800" indent="0" algn="ctr">
              <a:buNone/>
              <a:defRPr sz="7500" b="1">
                <a:solidFill>
                  <a:srgbClr val="000000"/>
                </a:solidFill>
                <a:latin typeface="Calibri" panose="020F0502020204030204" pitchFamily="34" charset="0"/>
                <a:ea typeface="Calibri" panose="020F0502020204030204" pitchFamily="34" charset="0"/>
                <a:cs typeface="Calibri" panose="020F0502020204030204" pitchFamily="34" charset="0"/>
              </a:defRPr>
            </a:lvl5pPr>
          </a:lstStyle>
          <a:p>
            <a:pPr lvl="4"/>
            <a:r>
              <a:rPr lang="en-US" dirty="0"/>
              <a:t>#</a:t>
            </a:r>
          </a:p>
        </p:txBody>
      </p:sp>
      <p:pic>
        <p:nvPicPr>
          <p:cNvPr id="2" name="Picture 1">
            <a:extLst>
              <a:ext uri="{FF2B5EF4-FFF2-40B4-BE49-F238E27FC236}">
                <a16:creationId xmlns:a16="http://schemas.microsoft.com/office/drawing/2014/main" id="{B9C392F0-D9CA-045E-DC33-AD0DC6B7D521}"/>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 y="4663225"/>
            <a:ext cx="12190413" cy="2194775"/>
          </a:xfrm>
          <a:prstGeom prst="rect">
            <a:avLst/>
          </a:prstGeom>
        </p:spPr>
      </p:pic>
      <p:pic>
        <p:nvPicPr>
          <p:cNvPr id="4" name="Picture 3">
            <a:extLst>
              <a:ext uri="{FF2B5EF4-FFF2-40B4-BE49-F238E27FC236}">
                <a16:creationId xmlns:a16="http://schemas.microsoft.com/office/drawing/2014/main" id="{CB26F559-C57E-C96A-5BDB-3214E7F526F9}"/>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rot="10800000">
            <a:off x="-794" y="-12700"/>
            <a:ext cx="12190413" cy="2194775"/>
          </a:xfrm>
          <a:prstGeom prst="rect">
            <a:avLst/>
          </a:prstGeom>
        </p:spPr>
      </p:pic>
    </p:spTree>
    <p:extLst>
      <p:ext uri="{BB962C8B-B14F-4D97-AF65-F5344CB8AC3E}">
        <p14:creationId xmlns:p14="http://schemas.microsoft.com/office/powerpoint/2010/main" val="240945526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Alg I_Cutouts Divider">
    <p:bg>
      <p:bgPr>
        <a:solidFill>
          <a:schemeClr val="bg1"/>
        </a:solid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D0DF6CF-F4AD-69B3-86F7-6B8955E3F2B1}"/>
              </a:ext>
            </a:extLst>
          </p:cNvPr>
          <p:cNvSpPr>
            <a:spLocks noGrp="1"/>
          </p:cNvSpPr>
          <p:nvPr>
            <p:ph type="body" sz="quarter" idx="10"/>
          </p:nvPr>
        </p:nvSpPr>
        <p:spPr>
          <a:xfrm>
            <a:off x="5171005" y="2395538"/>
            <a:ext cx="1848402" cy="1033462"/>
          </a:xfrm>
          <a:prstGeom prst="rect">
            <a:avLst/>
          </a:prstGeom>
        </p:spPr>
        <p:txBody>
          <a:bodyPr/>
          <a:lstStyle>
            <a:lvl1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1pPr>
            <a:lvl2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2pPr>
            <a:lvl3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3pPr>
            <a:lvl4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4pPr>
            <a:lvl5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3" name="Picture 2">
            <a:extLst>
              <a:ext uri="{FF2B5EF4-FFF2-40B4-BE49-F238E27FC236}">
                <a16:creationId xmlns:a16="http://schemas.microsoft.com/office/drawing/2014/main" id="{737A2645-EE86-77F8-BA51-02B334B382F3}"/>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 y="4663225"/>
            <a:ext cx="12190413" cy="2194775"/>
          </a:xfrm>
          <a:prstGeom prst="rect">
            <a:avLst/>
          </a:prstGeom>
        </p:spPr>
      </p:pic>
    </p:spTree>
    <p:extLst>
      <p:ext uri="{BB962C8B-B14F-4D97-AF65-F5344CB8AC3E}">
        <p14:creationId xmlns:p14="http://schemas.microsoft.com/office/powerpoint/2010/main" val="122503571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Alg I_Back Cover">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73E638D-838D-E791-FA97-DF1E0C1C5B05}"/>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4663225"/>
            <a:ext cx="12190413" cy="2194775"/>
          </a:xfrm>
          <a:prstGeom prst="rect">
            <a:avLst/>
          </a:prstGeom>
        </p:spPr>
      </p:pic>
      <p:sp>
        <p:nvSpPr>
          <p:cNvPr id="4" name="Text Placeholder 3">
            <a:extLst>
              <a:ext uri="{FF2B5EF4-FFF2-40B4-BE49-F238E27FC236}">
                <a16:creationId xmlns:a16="http://schemas.microsoft.com/office/drawing/2014/main" id="{9C323EF9-0FCF-481F-97C8-ABBEA6C0F486}"/>
              </a:ext>
            </a:extLst>
          </p:cNvPr>
          <p:cNvSpPr>
            <a:spLocks noGrp="1"/>
          </p:cNvSpPr>
          <p:nvPr>
            <p:ph type="body" sz="quarter" idx="10" hasCustomPrompt="1"/>
          </p:nvPr>
        </p:nvSpPr>
        <p:spPr>
          <a:xfrm>
            <a:off x="8155889" y="4975063"/>
            <a:ext cx="3431356" cy="414778"/>
          </a:xfrm>
          <a:prstGeom prst="rect">
            <a:avLst/>
          </a:prstGeom>
          <a:solidFill>
            <a:srgbClr val="2B8147"/>
          </a:solidFill>
        </p:spPr>
        <p:txBody>
          <a:bodyPr lIns="0" rIns="0" anchor="ctr"/>
          <a:lstStyle>
            <a:lvl1pPr marL="0" indent="0" algn="ctr">
              <a:buNone/>
              <a:defRPr sz="1800">
                <a:solidFill>
                  <a:schemeClr val="bg1"/>
                </a:solidFill>
              </a:defRPr>
            </a:lvl1pPr>
            <a:lvl4pPr marL="1371600" indent="0">
              <a:buNone/>
              <a:defRPr/>
            </a:lvl4pPr>
          </a:lstStyle>
          <a:p>
            <a:pPr lvl="0"/>
            <a:r>
              <a:rPr lang="en-US" dirty="0"/>
              <a:t>UNIQUE ID</a:t>
            </a:r>
          </a:p>
        </p:txBody>
      </p:sp>
      <p:grpSp>
        <p:nvGrpSpPr>
          <p:cNvPr id="5" name="Group 4">
            <a:extLst>
              <a:ext uri="{FF2B5EF4-FFF2-40B4-BE49-F238E27FC236}">
                <a16:creationId xmlns:a16="http://schemas.microsoft.com/office/drawing/2014/main" id="{CB4B7E3B-5741-B70F-3A0A-3E11BCF38FEB}"/>
              </a:ext>
            </a:extLst>
          </p:cNvPr>
          <p:cNvGrpSpPr/>
          <p:nvPr userDrawn="1"/>
        </p:nvGrpSpPr>
        <p:grpSpPr>
          <a:xfrm>
            <a:off x="9053008" y="227306"/>
            <a:ext cx="2910578" cy="1472169"/>
            <a:chOff x="8940726" y="132485"/>
            <a:chExt cx="2910578" cy="1472169"/>
          </a:xfrm>
        </p:grpSpPr>
        <p:pic>
          <p:nvPicPr>
            <p:cNvPr id="6" name="Picture 5" descr="A blue and black logo&#10;&#10;AI-generated content may be incorrect.">
              <a:extLst>
                <a:ext uri="{FF2B5EF4-FFF2-40B4-BE49-F238E27FC236}">
                  <a16:creationId xmlns:a16="http://schemas.microsoft.com/office/drawing/2014/main" id="{E7939853-80EF-C461-0365-6353B33278A2}"/>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7" name="TextBox 6">
              <a:extLst>
                <a:ext uri="{FF2B5EF4-FFF2-40B4-BE49-F238E27FC236}">
                  <a16:creationId xmlns:a16="http://schemas.microsoft.com/office/drawing/2014/main" id="{580B98D7-A8B1-479E-0522-2C0BC59CE093}"/>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
          <p:nvSpPr>
            <p:cNvPr id="8" name="Rounded Rectangle 7">
              <a:extLst>
                <a:ext uri="{FF2B5EF4-FFF2-40B4-BE49-F238E27FC236}">
                  <a16:creationId xmlns:a16="http://schemas.microsoft.com/office/drawing/2014/main" id="{DAAFCF8B-077A-7325-2A07-02B9BADACB35}"/>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4C6EED1-1022-7E70-EA88-6CC6F479360D}"/>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dirty="0">
                  <a:solidFill>
                    <a:schemeClr val="bg2">
                      <a:lumMod val="50000"/>
                    </a:schemeClr>
                  </a:solidFill>
                  <a:latin typeface="Calibri" panose="020F0502020204030204" pitchFamily="34" charset="0"/>
                  <a:cs typeface="Calibri" panose="020F0502020204030204" pitchFamily="34" charset="0"/>
                </a:rPr>
                <a:t>EDITION 1</a:t>
              </a:r>
            </a:p>
          </p:txBody>
        </p:sp>
      </p:grpSp>
      <p:sp>
        <p:nvSpPr>
          <p:cNvPr id="10" name="Round Single Corner Rectangle 9">
            <a:extLst>
              <a:ext uri="{FF2B5EF4-FFF2-40B4-BE49-F238E27FC236}">
                <a16:creationId xmlns:a16="http://schemas.microsoft.com/office/drawing/2014/main" id="{93823D53-B128-B4F8-9323-2DE21A5AC48C}"/>
              </a:ext>
            </a:extLst>
          </p:cNvPr>
          <p:cNvSpPr/>
          <p:nvPr userDrawn="1"/>
        </p:nvSpPr>
        <p:spPr>
          <a:xfrm rot="10800000" flipH="1">
            <a:off x="0" y="0"/>
            <a:ext cx="2467555" cy="954942"/>
          </a:xfrm>
          <a:prstGeom prst="round1Rect">
            <a:avLst/>
          </a:prstGeom>
          <a:solidFill>
            <a:srgbClr val="2B814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61ED4D92-107A-5626-60FD-8669F753FD4A}"/>
              </a:ext>
            </a:extLst>
          </p:cNvPr>
          <p:cNvSpPr txBox="1"/>
          <p:nvPr userDrawn="1"/>
        </p:nvSpPr>
        <p:spPr>
          <a:xfrm>
            <a:off x="0" y="280732"/>
            <a:ext cx="2467555" cy="461665"/>
          </a:xfrm>
          <a:prstGeom prst="rect">
            <a:avLst/>
          </a:prstGeom>
          <a:noFill/>
        </p:spPr>
        <p:txBody>
          <a:bodyPr wrap="square" rtlCol="0">
            <a:spAutoFit/>
          </a:bodyPr>
          <a:lstStyle/>
          <a:p>
            <a:pPr algn="ctr"/>
            <a:r>
              <a:rPr lang="en-US" sz="2400" dirty="0">
                <a:solidFill>
                  <a:schemeClr val="bg1"/>
                </a:solidFill>
              </a:rPr>
              <a:t>ENGLISH</a:t>
            </a:r>
          </a:p>
        </p:txBody>
      </p:sp>
    </p:spTree>
    <p:extLst>
      <p:ext uri="{BB962C8B-B14F-4D97-AF65-F5344CB8AC3E}">
        <p14:creationId xmlns:p14="http://schemas.microsoft.com/office/powerpoint/2010/main" val="339255555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Objectiv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1829944-32A0-A52A-BF8F-4735C4809687}"/>
              </a:ext>
            </a:extLst>
          </p:cNvPr>
          <p:cNvSpPr/>
          <p:nvPr userDrawn="1"/>
        </p:nvSpPr>
        <p:spPr>
          <a:xfrm>
            <a:off x="-1586" y="1392600"/>
            <a:ext cx="12192000" cy="549097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 Placeholder 3">
            <a:extLst>
              <a:ext uri="{FF2B5EF4-FFF2-40B4-BE49-F238E27FC236}">
                <a16:creationId xmlns:a16="http://schemas.microsoft.com/office/drawing/2014/main" id="{D79E0344-0011-1E90-A995-632330E63EB5}"/>
              </a:ext>
            </a:extLst>
          </p:cNvPr>
          <p:cNvSpPr>
            <a:spLocks noGrp="1"/>
          </p:cNvSpPr>
          <p:nvPr>
            <p:ph type="body" sz="quarter" idx="10"/>
          </p:nvPr>
        </p:nvSpPr>
        <p:spPr>
          <a:xfrm>
            <a:off x="836614" y="2159879"/>
            <a:ext cx="10515599" cy="3956418"/>
          </a:xfrm>
          <a:prstGeom prst="rect">
            <a:avLst/>
          </a:prstGeom>
        </p:spPr>
        <p:txBody>
          <a:bodyPr/>
          <a:lstStyle>
            <a:lvl1pPr marL="0" indent="0" algn="ctr">
              <a:buNone/>
              <a:defRPr sz="4400">
                <a:solidFill>
                  <a:schemeClr val="bg2">
                    <a:lumMod val="25000"/>
                  </a:schemeClr>
                </a:solidFill>
              </a:defRPr>
            </a:lvl1pPr>
            <a:lvl2pPr marL="457200" indent="0" algn="ctr">
              <a:buNone/>
              <a:defRPr sz="4400"/>
            </a:lvl2pPr>
            <a:lvl3pPr marL="914400" indent="0" algn="ctr">
              <a:buNone/>
              <a:defRPr sz="4400"/>
            </a:lvl3pPr>
            <a:lvl4pPr marL="1371600" indent="0" algn="ctr">
              <a:buNone/>
              <a:defRPr sz="4400"/>
            </a:lvl4pPr>
            <a:lvl5pPr marL="1828800" indent="0" algn="ctr">
              <a:buNone/>
              <a:defRPr sz="4400"/>
            </a:lvl5pPr>
          </a:lstStyle>
          <a:p>
            <a:pPr lvl="0"/>
            <a:r>
              <a:rPr lang="en-US" dirty="0"/>
              <a:t>Click to edit Master text styles</a:t>
            </a:r>
          </a:p>
        </p:txBody>
      </p:sp>
      <p:sp>
        <p:nvSpPr>
          <p:cNvPr id="2" name="Rectangle 1">
            <a:extLst>
              <a:ext uri="{FF2B5EF4-FFF2-40B4-BE49-F238E27FC236}">
                <a16:creationId xmlns:a16="http://schemas.microsoft.com/office/drawing/2014/main" id="{EAD99D76-9E3B-F682-01E8-888F253831AF}"/>
              </a:ext>
            </a:extLst>
          </p:cNvPr>
          <p:cNvSpPr/>
          <p:nvPr userDrawn="1"/>
        </p:nvSpPr>
        <p:spPr>
          <a:xfrm>
            <a:off x="0" y="0"/>
            <a:ext cx="7575442" cy="927652"/>
          </a:xfrm>
          <a:prstGeom prst="rect">
            <a:avLst/>
          </a:prstGeom>
          <a:solidFill>
            <a:srgbClr val="23673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28B98FEA-D4C0-8394-EFDC-1E0F624AD0AF}"/>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7575441" y="0"/>
            <a:ext cx="4614971" cy="931321"/>
          </a:xfrm>
          <a:prstGeom prst="rect">
            <a:avLst/>
          </a:prstGeom>
        </p:spPr>
      </p:pic>
      <p:sp>
        <p:nvSpPr>
          <p:cNvPr id="6" name="Title 5">
            <a:extLst>
              <a:ext uri="{FF2B5EF4-FFF2-40B4-BE49-F238E27FC236}">
                <a16:creationId xmlns:a16="http://schemas.microsoft.com/office/drawing/2014/main" id="{BD8B91BD-71BF-8DE9-CC35-80883F08DEDC}"/>
              </a:ext>
            </a:extLst>
          </p:cNvPr>
          <p:cNvSpPr>
            <a:spLocks noGrp="1"/>
          </p:cNvSpPr>
          <p:nvPr>
            <p:ph type="title" hasCustomPrompt="1"/>
          </p:nvPr>
        </p:nvSpPr>
        <p:spPr>
          <a:xfrm>
            <a:off x="0" y="0"/>
            <a:ext cx="6094413" cy="926757"/>
          </a:xfrm>
          <a:prstGeom prst="rect">
            <a:avLst/>
          </a:prstGeom>
          <a:noFill/>
        </p:spPr>
        <p:txBody>
          <a:bodyPr lIns="457200" anchor="ctr"/>
          <a:lstStyle>
            <a:lvl1pPr>
              <a:defRPr sz="4000" b="1">
                <a:solidFill>
                  <a:schemeClr val="bg1"/>
                </a:solidFill>
              </a:defRPr>
            </a:lvl1pPr>
          </a:lstStyle>
          <a:p>
            <a:r>
              <a:rPr lang="en-US" dirty="0"/>
              <a:t>Objectives</a:t>
            </a:r>
          </a:p>
        </p:txBody>
      </p:sp>
    </p:spTree>
    <p:extLst>
      <p:ext uri="{BB962C8B-B14F-4D97-AF65-F5344CB8AC3E}">
        <p14:creationId xmlns:p14="http://schemas.microsoft.com/office/powerpoint/2010/main" val="32669505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userDrawn="1">
  <p:cSld name="Terminology">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23B0928-1D5C-86AC-B6D2-6C4246A897D0}"/>
              </a:ext>
            </a:extLst>
          </p:cNvPr>
          <p:cNvSpPr>
            <a:spLocks noGrp="1"/>
          </p:cNvSpPr>
          <p:nvPr>
            <p:ph type="body" sz="quarter" idx="10" hasCustomPrompt="1"/>
          </p:nvPr>
        </p:nvSpPr>
        <p:spPr>
          <a:xfrm>
            <a:off x="852488" y="1652588"/>
            <a:ext cx="10515600" cy="1169743"/>
          </a:xfrm>
          <a:prstGeom prst="rect">
            <a:avLst/>
          </a:prstGeom>
        </p:spPr>
        <p:txBody>
          <a:bodyPr/>
          <a:lstStyle>
            <a:lvl1pPr marL="0" indent="0">
              <a:buNone/>
              <a:defRPr>
                <a:solidFill>
                  <a:schemeClr val="bg2">
                    <a:lumMod val="25000"/>
                  </a:schemeClr>
                </a:solidFill>
              </a:defRPr>
            </a:lvl1pPr>
          </a:lstStyle>
          <a:p>
            <a:pPr lvl="0"/>
            <a:r>
              <a:rPr lang="en-US" dirty="0"/>
              <a:t>Click to add text</a:t>
            </a:r>
          </a:p>
        </p:txBody>
      </p:sp>
      <p:sp>
        <p:nvSpPr>
          <p:cNvPr id="5" name="Picture Placeholder 4">
            <a:extLst>
              <a:ext uri="{FF2B5EF4-FFF2-40B4-BE49-F238E27FC236}">
                <a16:creationId xmlns:a16="http://schemas.microsoft.com/office/drawing/2014/main" id="{C3DA5AEB-614E-452B-EDEF-80B18EE3E858}"/>
              </a:ext>
            </a:extLst>
          </p:cNvPr>
          <p:cNvSpPr>
            <a:spLocks noGrp="1"/>
          </p:cNvSpPr>
          <p:nvPr>
            <p:ph type="pic" sz="quarter" idx="11"/>
          </p:nvPr>
        </p:nvSpPr>
        <p:spPr>
          <a:xfrm>
            <a:off x="3427412" y="3217943"/>
            <a:ext cx="5335588" cy="2505075"/>
          </a:xfrm>
          <a:prstGeom prst="rect">
            <a:avLst/>
          </a:prstGeom>
        </p:spPr>
        <p:txBody>
          <a:bodyPr/>
          <a:lstStyle>
            <a:lvl1pPr marL="0" indent="0">
              <a:buNone/>
              <a:defRPr/>
            </a:lvl1pPr>
          </a:lstStyle>
          <a:p>
            <a:endParaRPr lang="en-US" dirty="0"/>
          </a:p>
        </p:txBody>
      </p:sp>
      <p:sp>
        <p:nvSpPr>
          <p:cNvPr id="4" name="Title 1">
            <a:extLst>
              <a:ext uri="{FF2B5EF4-FFF2-40B4-BE49-F238E27FC236}">
                <a16:creationId xmlns:a16="http://schemas.microsoft.com/office/drawing/2014/main" id="{CD7B4969-F122-3811-0A1A-DDA09AF4AB50}"/>
              </a:ext>
            </a:extLst>
          </p:cNvPr>
          <p:cNvSpPr>
            <a:spLocks noGrp="1"/>
          </p:cNvSpPr>
          <p:nvPr>
            <p:ph type="title" hasCustomPrompt="1"/>
          </p:nvPr>
        </p:nvSpPr>
        <p:spPr>
          <a:xfrm>
            <a:off x="777240" y="1"/>
            <a:ext cx="11425482" cy="1263192"/>
          </a:xfrm>
          <a:prstGeom prst="rect">
            <a:avLst/>
          </a:prstGeom>
        </p:spPr>
        <p:txBody>
          <a:bodyPr anchor="ctr"/>
          <a:lstStyle>
            <a:lvl1pPr>
              <a:defRPr sz="4000">
                <a:solidFill>
                  <a:srgbClr val="2B8147"/>
                </a:solidFill>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dirty="0">
                <a:solidFill>
                  <a:srgbClr val="000000"/>
                </a:solidFill>
                <a:latin typeface="Calibri" panose="020F0502020204030204"/>
                <a:ea typeface="Calibri" panose="020F0502020204030204"/>
                <a:cs typeface="Calibri" panose="020F0502020204030204"/>
                <a:sym typeface="Calibri" panose="020F0502020204030204"/>
              </a:rPr>
              <a:t>Key Terms</a:t>
            </a:r>
          </a:p>
        </p:txBody>
      </p:sp>
      <p:pic>
        <p:nvPicPr>
          <p:cNvPr id="6" name="Picture 5">
            <a:extLst>
              <a:ext uri="{FF2B5EF4-FFF2-40B4-BE49-F238E27FC236}">
                <a16:creationId xmlns:a16="http://schemas.microsoft.com/office/drawing/2014/main" id="{5CDE9F74-7CE7-793B-B90F-365B5F549D7A}"/>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extLst>
      <p:ext uri="{BB962C8B-B14F-4D97-AF65-F5344CB8AC3E}">
        <p14:creationId xmlns:p14="http://schemas.microsoft.com/office/powerpoint/2010/main" val="218384781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Application Problem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AED5C8A3-5037-99DF-15E1-2833226D35D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36;g295eeb86cda_3_40"/>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18" name="Text Placeholder 16"/>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0331744C-9446-EF32-247E-53D724128298}"/>
              </a:ext>
            </a:extLst>
          </p:cNvPr>
          <p:cNvSpPr>
            <a:spLocks noGrp="1"/>
          </p:cNvSpPr>
          <p:nvPr>
            <p:ph type="title" hasCustomPrompt="1"/>
          </p:nvPr>
        </p:nvSpPr>
        <p:spPr>
          <a:xfrm>
            <a:off x="777240" y="0"/>
            <a:ext cx="11389135" cy="1253765"/>
          </a:xfrm>
          <a:prstGeom prst="rect">
            <a:avLst/>
          </a:prstGeom>
        </p:spPr>
        <p:txBody>
          <a:bodyPr anchor="ctr"/>
          <a:lstStyle/>
          <a:p>
            <a:pPr marL="0" marR="0" lvl="0" indent="0" algn="l" defTabSz="914400" rtl="0" eaLnBrk="1" fontAlgn="auto" latinLnBrk="0" hangingPunct="1">
              <a:lnSpc>
                <a:spcPct val="10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Application Problem</a:t>
            </a:r>
          </a:p>
        </p:txBody>
      </p:sp>
      <p:pic>
        <p:nvPicPr>
          <p:cNvPr id="5" name="Picture 4">
            <a:extLst>
              <a:ext uri="{FF2B5EF4-FFF2-40B4-BE49-F238E27FC236}">
                <a16:creationId xmlns:a16="http://schemas.microsoft.com/office/drawing/2014/main" id="{839BE6FA-B7B5-A88C-E18F-876B4ED3DA8D}"/>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_RDW_Horizontal">
    <p:spTree>
      <p:nvGrpSpPr>
        <p:cNvPr id="1" name=""/>
        <p:cNvGrpSpPr/>
        <p:nvPr/>
      </p:nvGrpSpPr>
      <p:grpSpPr>
        <a:xfrm>
          <a:off x="0" y="0"/>
          <a:ext cx="0" cy="0"/>
          <a:chOff x="0" y="0"/>
          <a:chExt cx="0" cy="0"/>
        </a:xfrm>
      </p:grpSpPr>
      <p:graphicFrame>
        <p:nvGraphicFramePr>
          <p:cNvPr id="14" name="Google Shape;42;g2960a169545_3_34"/>
          <p:cNvGraphicFramePr/>
          <p:nvPr userDrawn="1">
            <p:extLst>
              <p:ext uri="{D42A27DB-BD31-4B8C-83A1-F6EECF244321}">
                <p14:modId xmlns:p14="http://schemas.microsoft.com/office/powerpoint/2010/main" val="147912415"/>
              </p:ext>
            </p:extLst>
          </p:nvPr>
        </p:nvGraphicFramePr>
        <p:xfrm>
          <a:off x="775252" y="3783769"/>
          <a:ext cx="11082132" cy="2888103"/>
        </p:xfrm>
        <a:graphic>
          <a:graphicData uri="http://schemas.openxmlformats.org/drawingml/2006/table">
            <a:tbl>
              <a:tblPr firstRow="1" bandRow="1">
                <a:noFill/>
              </a:tblPr>
              <a:tblGrid>
                <a:gridCol w="3694044">
                  <a:extLst>
                    <a:ext uri="{9D8B030D-6E8A-4147-A177-3AD203B41FA5}">
                      <a16:colId xmlns:a16="http://schemas.microsoft.com/office/drawing/2014/main" val="20000"/>
                    </a:ext>
                  </a:extLst>
                </a:gridCol>
                <a:gridCol w="3694044">
                  <a:extLst>
                    <a:ext uri="{9D8B030D-6E8A-4147-A177-3AD203B41FA5}">
                      <a16:colId xmlns:a16="http://schemas.microsoft.com/office/drawing/2014/main" val="20001"/>
                    </a:ext>
                  </a:extLst>
                </a:gridCol>
                <a:gridCol w="3694044">
                  <a:extLst>
                    <a:ext uri="{9D8B030D-6E8A-4147-A177-3AD203B41FA5}">
                      <a16:colId xmlns:a16="http://schemas.microsoft.com/office/drawing/2014/main" val="20002"/>
                    </a:ext>
                  </a:extLst>
                </a:gridCol>
              </a:tblGrid>
              <a:tr h="244012">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Read</a:t>
                      </a:r>
                      <a:endParaRPr sz="1800" b="1" u="none" strike="noStrike" cap="none" dirty="0">
                        <a:solidFill>
                          <a:schemeClr val="bg2">
                            <a:lumMod val="25000"/>
                          </a:schemeClr>
                        </a:solidFill>
                      </a:endParaRPr>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Draw</a:t>
                      </a:r>
                      <a:endParaRPr sz="1800" b="1" u="none" strike="noStrike" cap="none" dirty="0">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Write</a:t>
                      </a:r>
                      <a:endParaRPr sz="1800" b="1" u="none" strike="noStrike" cap="none" dirty="0">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2430893">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dirty="0"/>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dirty="0"/>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3" name="Text Placeholder 2">
            <a:extLst>
              <a:ext uri="{FF2B5EF4-FFF2-40B4-BE49-F238E27FC236}">
                <a16:creationId xmlns:a16="http://schemas.microsoft.com/office/drawing/2014/main" id="{F5DB9EBA-92A2-D9BE-5A55-8378E259446A}"/>
              </a:ext>
            </a:extLst>
          </p:cNvPr>
          <p:cNvSpPr>
            <a:spLocks noGrp="1"/>
          </p:cNvSpPr>
          <p:nvPr>
            <p:ph type="body" sz="quarter" idx="10" hasCustomPrompt="1"/>
          </p:nvPr>
        </p:nvSpPr>
        <p:spPr>
          <a:xfrm>
            <a:off x="765313" y="1479938"/>
            <a:ext cx="11060341" cy="2072153"/>
          </a:xfrm>
          <a:prstGeom prst="rect">
            <a:avLst/>
          </a:prstGeom>
        </p:spPr>
        <p:txBody>
          <a:bodyPr/>
          <a:lstStyle>
            <a:lvl1pPr marL="0" indent="0">
              <a:buNone/>
              <a:defRPr sz="2200">
                <a:solidFill>
                  <a:schemeClr val="bg2">
                    <a:lumMod val="25000"/>
                  </a:schemeClr>
                </a:solidFill>
              </a:defRPr>
            </a:lvl1pPr>
          </a:lstStyle>
          <a:p>
            <a:pPr lvl="0"/>
            <a:r>
              <a:rPr lang="en-US" dirty="0"/>
              <a:t>Click to add text</a:t>
            </a:r>
          </a:p>
        </p:txBody>
      </p:sp>
      <p:sp>
        <p:nvSpPr>
          <p:cNvPr id="2" name="Title 1">
            <a:extLst>
              <a:ext uri="{FF2B5EF4-FFF2-40B4-BE49-F238E27FC236}">
                <a16:creationId xmlns:a16="http://schemas.microsoft.com/office/drawing/2014/main" id="{100D03EF-224B-F87A-5FAF-CA8E423C3783}"/>
              </a:ext>
            </a:extLst>
          </p:cNvPr>
          <p:cNvSpPr>
            <a:spLocks noGrp="1"/>
          </p:cNvSpPr>
          <p:nvPr>
            <p:ph type="title" hasCustomPrompt="1"/>
          </p:nvPr>
        </p:nvSpPr>
        <p:spPr>
          <a:xfrm>
            <a:off x="772211" y="0"/>
            <a:ext cx="11418202" cy="1263192"/>
          </a:xfrm>
          <a:prstGeom prst="rect">
            <a:avLst/>
          </a:prstGeom>
        </p:spPr>
        <p:txBody>
          <a:bodyPr anchor="ctr"/>
          <a:lstStyle/>
          <a:p>
            <a:pPr marL="0" marR="0" lvl="0" indent="0" algn="l" defTabSz="914400" rtl="0" eaLnBrk="1" fontAlgn="auto" latinLnBrk="0" hangingPunct="1">
              <a:lnSpc>
                <a:spcPct val="9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Read-Draw-Write for Application Problem</a:t>
            </a:r>
          </a:p>
        </p:txBody>
      </p:sp>
      <p:pic>
        <p:nvPicPr>
          <p:cNvPr id="4" name="Picture 3">
            <a:extLst>
              <a:ext uri="{FF2B5EF4-FFF2-40B4-BE49-F238E27FC236}">
                <a16:creationId xmlns:a16="http://schemas.microsoft.com/office/drawing/2014/main" id="{82D8885F-4E7F-EF80-4D84-7E5D7142994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extLst>
      <p:ext uri="{BB962C8B-B14F-4D97-AF65-F5344CB8AC3E}">
        <p14:creationId xmlns:p14="http://schemas.microsoft.com/office/powerpoint/2010/main" val="363931830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Fluency w/Timer">
    <p:spTree>
      <p:nvGrpSpPr>
        <p:cNvPr id="1" name=""/>
        <p:cNvGrpSpPr/>
        <p:nvPr/>
      </p:nvGrpSpPr>
      <p:grpSpPr>
        <a:xfrm>
          <a:off x="0" y="0"/>
          <a:ext cx="0" cy="0"/>
          <a:chOff x="0" y="0"/>
          <a:chExt cx="0" cy="0"/>
        </a:xfrm>
      </p:grpSpPr>
      <p:pic>
        <p:nvPicPr>
          <p:cNvPr id="2" name="Picture 1" descr="A black and white image of a stopwatch&#10;&#10;Description automatically generated">
            <a:extLst>
              <a:ext uri="{FF2B5EF4-FFF2-40B4-BE49-F238E27FC236}">
                <a16:creationId xmlns:a16="http://schemas.microsoft.com/office/drawing/2014/main" id="{45C93455-7637-1C42-D775-87043FDE14A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4" name="Google Shape;36;g295eeb86cda_3_40">
            <a:extLst>
              <a:ext uri="{FF2B5EF4-FFF2-40B4-BE49-F238E27FC236}">
                <a16:creationId xmlns:a16="http://schemas.microsoft.com/office/drawing/2014/main" id="{4B2B0557-EE61-8CF4-6E2D-B3BB9A4164D6}"/>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3" name="Text Placeholder 16">
            <a:extLst>
              <a:ext uri="{FF2B5EF4-FFF2-40B4-BE49-F238E27FC236}">
                <a16:creationId xmlns:a16="http://schemas.microsoft.com/office/drawing/2014/main" id="{2C85C328-7F49-71B9-5668-70282DB97885}"/>
              </a:ext>
            </a:extLst>
          </p:cNvPr>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Title 3">
            <a:extLst>
              <a:ext uri="{FF2B5EF4-FFF2-40B4-BE49-F238E27FC236}">
                <a16:creationId xmlns:a16="http://schemas.microsoft.com/office/drawing/2014/main" id="{BABD6038-9E2A-9278-C4F2-299A1A34E59F}"/>
              </a:ext>
            </a:extLst>
          </p:cNvPr>
          <p:cNvSpPr>
            <a:spLocks noGrp="1"/>
          </p:cNvSpPr>
          <p:nvPr>
            <p:ph type="title" hasCustomPrompt="1"/>
          </p:nvPr>
        </p:nvSpPr>
        <p:spPr>
          <a:xfrm>
            <a:off x="777240" y="7968"/>
            <a:ext cx="11413173" cy="1269462"/>
          </a:xfrm>
          <a:prstGeom prst="rect">
            <a:avLst/>
          </a:prstGeom>
        </p:spPr>
        <p:txBody>
          <a:bodyPr anchor="ctr"/>
          <a:lstStyle>
            <a:lvl1pPr>
              <a:defRPr b="1">
                <a:solidFill>
                  <a:schemeClr val="bg2">
                    <a:lumMod val="25000"/>
                  </a:schemeClr>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Fluency: </a:t>
            </a:r>
            <a:r>
              <a:rPr kumimoji="0" lang="en-US" b="0" i="0" u="none" strike="noStrike" kern="1200" cap="none" spc="0" normalizeH="0" baseline="0" noProof="0" dirty="0">
                <a:ln>
                  <a:noFill/>
                </a:ln>
                <a:solidFill>
                  <a:srgbClr val="000000"/>
                </a:solidFill>
                <a:effectLst/>
                <a:uLnTx/>
                <a:uFillTx/>
                <a:latin typeface="Calibri"/>
                <a:ea typeface="+mn-ea"/>
                <a:cs typeface="+mn-cs"/>
              </a:rPr>
              <a:t>Title (# of #)</a:t>
            </a:r>
            <a:endParaRPr lang="en-US" dirty="0"/>
          </a:p>
        </p:txBody>
      </p:sp>
      <p:pic>
        <p:nvPicPr>
          <p:cNvPr id="7" name="Picture 6">
            <a:extLst>
              <a:ext uri="{FF2B5EF4-FFF2-40B4-BE49-F238E27FC236}">
                <a16:creationId xmlns:a16="http://schemas.microsoft.com/office/drawing/2014/main" id="{792E169A-E915-E3DE-BA92-93C09B36D4A4}"/>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extLst>
      <p:ext uri="{BB962C8B-B14F-4D97-AF65-F5344CB8AC3E}">
        <p14:creationId xmlns:p14="http://schemas.microsoft.com/office/powerpoint/2010/main" val="148376288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Concept Development">
    <p:spTree>
      <p:nvGrpSpPr>
        <p:cNvPr id="1" name=""/>
        <p:cNvGrpSpPr/>
        <p:nvPr/>
      </p:nvGrpSpPr>
      <p:grpSpPr>
        <a:xfrm>
          <a:off x="0" y="0"/>
          <a:ext cx="0" cy="0"/>
          <a:chOff x="0" y="0"/>
          <a:chExt cx="0" cy="0"/>
        </a:xfrm>
      </p:grpSpPr>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3" name="Picture 2">
            <a:extLst>
              <a:ext uri="{FF2B5EF4-FFF2-40B4-BE49-F238E27FC236}">
                <a16:creationId xmlns:a16="http://schemas.microsoft.com/office/drawing/2014/main" id="{6D9F641A-4A14-37E2-75D5-B878BE1C5C4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extLst>
      <p:ext uri="{BB962C8B-B14F-4D97-AF65-F5344CB8AC3E}">
        <p14:creationId xmlns:p14="http://schemas.microsoft.com/office/powerpoint/2010/main" val="263194971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oncept Development with Timer">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C120155D-CE40-03A5-821E-66ED1B28D635}"/>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3" name="Text Placeholder 16">
            <a:extLst>
              <a:ext uri="{FF2B5EF4-FFF2-40B4-BE49-F238E27FC236}">
                <a16:creationId xmlns:a16="http://schemas.microsoft.com/office/drawing/2014/main" id="{25782E0A-0BD4-715B-C55F-BBA8190C333D}"/>
              </a:ext>
            </a:extLst>
          </p:cNvPr>
          <p:cNvSpPr>
            <a:spLocks noGrp="1"/>
          </p:cNvSpPr>
          <p:nvPr>
            <p:ph type="body" sz="quarter" idx="10" hasCustomPrompt="1"/>
          </p:nvPr>
        </p:nvSpPr>
        <p:spPr>
          <a:xfrm>
            <a:off x="11127570" y="6036181"/>
            <a:ext cx="654121"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4" name="Picture 3">
            <a:extLst>
              <a:ext uri="{FF2B5EF4-FFF2-40B4-BE49-F238E27FC236}">
                <a16:creationId xmlns:a16="http://schemas.microsoft.com/office/drawing/2014/main" id="{06F759EE-3C87-F94D-DE8B-C1F8F6267F4E}"/>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extLst>
      <p:ext uri="{BB962C8B-B14F-4D97-AF65-F5344CB8AC3E}">
        <p14:creationId xmlns:p14="http://schemas.microsoft.com/office/powerpoint/2010/main" val="333111559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Problem Set with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54725ABB-3358-BA78-ED3F-EE574662422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4" name="Text Placeholder 16"/>
          <p:cNvSpPr>
            <a:spLocks noGrp="1"/>
          </p:cNvSpPr>
          <p:nvPr>
            <p:ph type="body" sz="quarter" idx="10" hasCustomPrompt="1"/>
          </p:nvPr>
        </p:nvSpPr>
        <p:spPr>
          <a:xfrm>
            <a:off x="11140001" y="6036181"/>
            <a:ext cx="622969"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0C16ECBB-77EB-0635-C9C3-E4F98B5337AC}"/>
              </a:ext>
            </a:extLst>
          </p:cNvPr>
          <p:cNvSpPr>
            <a:spLocks noGrp="1"/>
          </p:cNvSpPr>
          <p:nvPr>
            <p:ph type="title" hasCustomPrompt="1"/>
          </p:nvPr>
        </p:nvSpPr>
        <p:spPr>
          <a:xfrm>
            <a:off x="777240" y="1"/>
            <a:ext cx="11407898"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Problem Set</a:t>
            </a:r>
          </a:p>
        </p:txBody>
      </p:sp>
      <p:sp>
        <p:nvSpPr>
          <p:cNvPr id="4" name="Google Shape;69;g2950041fd6d_0_282">
            <a:extLst>
              <a:ext uri="{FF2B5EF4-FFF2-40B4-BE49-F238E27FC236}">
                <a16:creationId xmlns:a16="http://schemas.microsoft.com/office/drawing/2014/main" id="{9D7369C9-C599-CE95-CCD3-2B81A765581C}"/>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pic>
        <p:nvPicPr>
          <p:cNvPr id="6" name="Picture 5">
            <a:extLst>
              <a:ext uri="{FF2B5EF4-FFF2-40B4-BE49-F238E27FC236}">
                <a16:creationId xmlns:a16="http://schemas.microsoft.com/office/drawing/2014/main" id="{4B87CF12-0B39-5309-9556-C2A61354510E}"/>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Student Debrief">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DAC79665-DA63-6390-C217-C3166216C1B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1" name="Google Shape;80;g295eeb86cda_3_104"/>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571500" lvl="0" indent="-457200" algn="l">
              <a:lnSpc>
                <a:spcPct val="100000"/>
              </a:lnSpc>
              <a:spcBef>
                <a:spcPts val="1000"/>
              </a:spcBef>
              <a:spcAft>
                <a:spcPts val="0"/>
              </a:spcAft>
              <a:buClr>
                <a:schemeClr val="dk1"/>
              </a:buClr>
              <a:buSzPct val="100000"/>
              <a:buFont typeface="Arial" panose="020B0604020202020204" pitchFamily="34" charset="0"/>
              <a:buChar char="•"/>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dirty="0"/>
          </a:p>
        </p:txBody>
      </p:sp>
      <p:sp>
        <p:nvSpPr>
          <p:cNvPr id="14" name="Text Placeholder 16"/>
          <p:cNvSpPr>
            <a:spLocks noGrp="1"/>
          </p:cNvSpPr>
          <p:nvPr>
            <p:ph type="body" sz="quarter" idx="10" hasCustomPrompt="1"/>
          </p:nvPr>
        </p:nvSpPr>
        <p:spPr>
          <a:xfrm>
            <a:off x="11127570" y="6036181"/>
            <a:ext cx="645330"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FB0B6DF2-911F-E608-84A0-0D6E6AF4BF7B}"/>
              </a:ext>
            </a:extLst>
          </p:cNvPr>
          <p:cNvSpPr>
            <a:spLocks noGrp="1"/>
          </p:cNvSpPr>
          <p:nvPr>
            <p:ph type="title" hasCustomPrompt="1"/>
          </p:nvPr>
        </p:nvSpPr>
        <p:spPr>
          <a:xfrm>
            <a:off x="777240" y="1"/>
            <a:ext cx="11390313"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Student Debrief</a:t>
            </a:r>
          </a:p>
        </p:txBody>
      </p:sp>
      <p:pic>
        <p:nvPicPr>
          <p:cNvPr id="5" name="Picture 4">
            <a:extLst>
              <a:ext uri="{FF2B5EF4-FFF2-40B4-BE49-F238E27FC236}">
                <a16:creationId xmlns:a16="http://schemas.microsoft.com/office/drawing/2014/main" id="{E6E2F58D-FAE6-FF3D-033D-1E9A7E4431CC}"/>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Exit Ticket">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87BF7481-2AB1-1F79-65F6-B47BE9EECE0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3" name="Text Placeholder 16">
            <a:extLst>
              <a:ext uri="{FF2B5EF4-FFF2-40B4-BE49-F238E27FC236}">
                <a16:creationId xmlns:a16="http://schemas.microsoft.com/office/drawing/2014/main" id="{BC6A2CE5-7968-8B98-9B39-FF49F2E9FD9A}"/>
              </a:ext>
            </a:extLst>
          </p:cNvPr>
          <p:cNvSpPr>
            <a:spLocks noGrp="1"/>
          </p:cNvSpPr>
          <p:nvPr>
            <p:ph type="body" sz="quarter" idx="11" hasCustomPrompt="1"/>
          </p:nvPr>
        </p:nvSpPr>
        <p:spPr>
          <a:xfrm>
            <a:off x="11127571" y="6036181"/>
            <a:ext cx="635400"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Google Shape;80;g295eeb86cda_3_104">
            <a:extLst>
              <a:ext uri="{FF2B5EF4-FFF2-40B4-BE49-F238E27FC236}">
                <a16:creationId xmlns:a16="http://schemas.microsoft.com/office/drawing/2014/main" id="{E879CF37-D19C-8989-9D60-7E089D9CFD43}"/>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114300" lvl="0" indent="0" algn="l">
              <a:lnSpc>
                <a:spcPct val="100000"/>
              </a:lnSpc>
              <a:spcBef>
                <a:spcPts val="1000"/>
              </a:spcBef>
              <a:spcAft>
                <a:spcPts val="0"/>
              </a:spcAft>
              <a:buClr>
                <a:schemeClr val="dk1"/>
              </a:buClr>
              <a:buSzPct val="100000"/>
              <a:buFont typeface="Arial" panose="020B0604020202020204" pitchFamily="34" charset="0"/>
              <a:buNone/>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dirty="0"/>
          </a:p>
        </p:txBody>
      </p:sp>
      <p:sp>
        <p:nvSpPr>
          <p:cNvPr id="7" name="Title 1">
            <a:extLst>
              <a:ext uri="{FF2B5EF4-FFF2-40B4-BE49-F238E27FC236}">
                <a16:creationId xmlns:a16="http://schemas.microsoft.com/office/drawing/2014/main" id="{3820E38D-87BF-6F8F-072E-A0D77CD81A20}"/>
              </a:ext>
            </a:extLst>
          </p:cNvPr>
          <p:cNvSpPr>
            <a:spLocks noGrp="1"/>
          </p:cNvSpPr>
          <p:nvPr>
            <p:ph type="title" hasCustomPrompt="1"/>
          </p:nvPr>
        </p:nvSpPr>
        <p:spPr>
          <a:xfrm>
            <a:off x="777240" y="1"/>
            <a:ext cx="11425482"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Exit Ticket</a:t>
            </a:r>
          </a:p>
        </p:txBody>
      </p:sp>
      <p:pic>
        <p:nvPicPr>
          <p:cNvPr id="4" name="Picture 3">
            <a:extLst>
              <a:ext uri="{FF2B5EF4-FFF2-40B4-BE49-F238E27FC236}">
                <a16:creationId xmlns:a16="http://schemas.microsoft.com/office/drawing/2014/main" id="{60755373-B3E7-9C1B-E82F-11A7F4765EC9}"/>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2_Alg I_Title Slide">
    <p:bg>
      <p:bgPr>
        <a:solidFill>
          <a:schemeClr val="bg1"/>
        </a:solidFill>
        <a:effectLst/>
      </p:bgPr>
    </p:bg>
    <p:spTree>
      <p:nvGrpSpPr>
        <p:cNvPr id="1" name=""/>
        <p:cNvGrpSpPr/>
        <p:nvPr/>
      </p:nvGrpSpPr>
      <p:grpSpPr>
        <a:xfrm>
          <a:off x="0" y="0"/>
          <a:ext cx="0" cy="0"/>
          <a:chOff x="0" y="0"/>
          <a:chExt cx="0" cy="0"/>
        </a:xfrm>
      </p:grpSpPr>
      <p:sp>
        <p:nvSpPr>
          <p:cNvPr id="3" name="Text Placeholder 3">
            <a:extLst>
              <a:ext uri="{FF2B5EF4-FFF2-40B4-BE49-F238E27FC236}">
                <a16:creationId xmlns:a16="http://schemas.microsoft.com/office/drawing/2014/main" id="{F992793D-996B-68F1-CC42-4A64BF66E531}"/>
              </a:ext>
            </a:extLst>
          </p:cNvPr>
          <p:cNvSpPr>
            <a:spLocks noGrp="1"/>
          </p:cNvSpPr>
          <p:nvPr>
            <p:ph type="body" sz="quarter" idx="10" hasCustomPrompt="1"/>
          </p:nvPr>
        </p:nvSpPr>
        <p:spPr>
          <a:xfrm>
            <a:off x="-1590" y="1622759"/>
            <a:ext cx="12192003" cy="1819137"/>
          </a:xfrm>
          <a:prstGeom prst="rect">
            <a:avLst/>
          </a:prstGeom>
        </p:spPr>
        <p:txBody>
          <a:bodyPr/>
          <a:lstStyle>
            <a:lvl1pPr marL="0" indent="0" algn="ctr">
              <a:buNone/>
              <a:defRPr sz="6000" b="1">
                <a:solidFill>
                  <a:srgbClr val="143965"/>
                </a:solidFill>
              </a:defRPr>
            </a:lvl1pPr>
          </a:lstStyle>
          <a:p>
            <a:pPr lvl="0"/>
            <a:r>
              <a:rPr lang="en-US" sz="6000" dirty="0"/>
              <a:t>Module Name</a:t>
            </a:r>
          </a:p>
          <a:p>
            <a:pPr lvl="0"/>
            <a:r>
              <a:rPr lang="en-US" sz="6000" dirty="0"/>
              <a:t>Name</a:t>
            </a:r>
          </a:p>
          <a:p>
            <a:pPr lvl="0"/>
            <a:endParaRPr lang="en-US" dirty="0"/>
          </a:p>
        </p:txBody>
      </p:sp>
      <p:sp>
        <p:nvSpPr>
          <p:cNvPr id="5" name="Text Placeholder 5">
            <a:extLst>
              <a:ext uri="{FF2B5EF4-FFF2-40B4-BE49-F238E27FC236}">
                <a16:creationId xmlns:a16="http://schemas.microsoft.com/office/drawing/2014/main" id="{74F0E467-86F1-F51B-377D-DE8A5155B5E1}"/>
              </a:ext>
            </a:extLst>
          </p:cNvPr>
          <p:cNvSpPr>
            <a:spLocks noGrp="1"/>
          </p:cNvSpPr>
          <p:nvPr>
            <p:ph type="body" sz="quarter" idx="13" hasCustomPrompt="1"/>
          </p:nvPr>
        </p:nvSpPr>
        <p:spPr>
          <a:xfrm>
            <a:off x="-1590" y="3641189"/>
            <a:ext cx="12190413" cy="822457"/>
          </a:xfrm>
          <a:prstGeom prst="rect">
            <a:avLst/>
          </a:prstGeom>
        </p:spPr>
        <p:txBody>
          <a:bodyPr anchor="ctr"/>
          <a:lstStyle>
            <a:lvl1pPr marL="0" indent="0" algn="ctr">
              <a:buNone/>
              <a:defRPr sz="4400" b="0">
                <a:solidFill>
                  <a:srgbClr val="143965"/>
                </a:solidFill>
              </a:defRPr>
            </a:lvl1pPr>
          </a:lstStyle>
          <a:p>
            <a:pPr lvl="0"/>
            <a:r>
              <a:rPr lang="en-US" dirty="0"/>
              <a:t>Grade # | Module # | Topic X | Lesson #</a:t>
            </a:r>
          </a:p>
        </p:txBody>
      </p:sp>
      <p:sp>
        <p:nvSpPr>
          <p:cNvPr id="2" name="Round Single Corner Rectangle 1">
            <a:extLst>
              <a:ext uri="{FF2B5EF4-FFF2-40B4-BE49-F238E27FC236}">
                <a16:creationId xmlns:a16="http://schemas.microsoft.com/office/drawing/2014/main" id="{7D24360F-9CDE-6F31-8095-CEDD386A0B5F}"/>
              </a:ext>
            </a:extLst>
          </p:cNvPr>
          <p:cNvSpPr/>
          <p:nvPr userDrawn="1"/>
        </p:nvSpPr>
        <p:spPr>
          <a:xfrm rot="10800000" flipH="1">
            <a:off x="0" y="0"/>
            <a:ext cx="2467555" cy="954942"/>
          </a:xfrm>
          <a:prstGeom prst="round1Rect">
            <a:avLst/>
          </a:prstGeom>
          <a:solidFill>
            <a:srgbClr val="14396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6706451E-BBBC-107B-E631-3F63997BE9D6}"/>
              </a:ext>
            </a:extLst>
          </p:cNvPr>
          <p:cNvSpPr txBox="1"/>
          <p:nvPr userDrawn="1"/>
        </p:nvSpPr>
        <p:spPr>
          <a:xfrm>
            <a:off x="0" y="280732"/>
            <a:ext cx="2467555" cy="461665"/>
          </a:xfrm>
          <a:prstGeom prst="rect">
            <a:avLst/>
          </a:prstGeom>
          <a:noFill/>
        </p:spPr>
        <p:txBody>
          <a:bodyPr wrap="square" rtlCol="0">
            <a:spAutoFit/>
          </a:bodyPr>
          <a:lstStyle/>
          <a:p>
            <a:pPr algn="ctr"/>
            <a:r>
              <a:rPr lang="en-US" sz="2400" dirty="0">
                <a:solidFill>
                  <a:schemeClr val="bg1"/>
                </a:solidFill>
              </a:rPr>
              <a:t>ENGLISH</a:t>
            </a:r>
          </a:p>
        </p:txBody>
      </p:sp>
      <p:pic>
        <p:nvPicPr>
          <p:cNvPr id="18" name="Picture 17" descr="A blue and black logo&#10;&#10;AI-generated content may be incorrect.">
            <a:extLst>
              <a:ext uri="{FF2B5EF4-FFF2-40B4-BE49-F238E27FC236}">
                <a16:creationId xmlns:a16="http://schemas.microsoft.com/office/drawing/2014/main" id="{B203EADC-2DB3-1EE5-60AF-D1787BEEC073}"/>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19" name="TextBox 18">
            <a:extLst>
              <a:ext uri="{FF2B5EF4-FFF2-40B4-BE49-F238E27FC236}">
                <a16:creationId xmlns:a16="http://schemas.microsoft.com/office/drawing/2014/main" id="{2804B40F-0DA7-E0E3-162C-E301ABDD7551}"/>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
        <p:nvSpPr>
          <p:cNvPr id="20" name="Rounded Rectangle 19">
            <a:extLst>
              <a:ext uri="{FF2B5EF4-FFF2-40B4-BE49-F238E27FC236}">
                <a16:creationId xmlns:a16="http://schemas.microsoft.com/office/drawing/2014/main" id="{A6542DB2-F324-40CF-3B49-6D031A4E64E1}"/>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E0930552-3750-2EC0-AA03-FF31F6332588}"/>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dirty="0">
                <a:solidFill>
                  <a:schemeClr val="bg2">
                    <a:lumMod val="50000"/>
                  </a:schemeClr>
                </a:solidFill>
                <a:latin typeface="Calibri" panose="020F0502020204030204" pitchFamily="34" charset="0"/>
                <a:cs typeface="Calibri" panose="020F0502020204030204" pitchFamily="34" charset="0"/>
              </a:rPr>
              <a:t>EDITION 1</a:t>
            </a:r>
          </a:p>
        </p:txBody>
      </p:sp>
      <p:pic>
        <p:nvPicPr>
          <p:cNvPr id="8" name="Picture 7" descr="A blue and white pattern&#10;&#10;AI-generated content may be incorrect.">
            <a:extLst>
              <a:ext uri="{FF2B5EF4-FFF2-40B4-BE49-F238E27FC236}">
                <a16:creationId xmlns:a16="http://schemas.microsoft.com/office/drawing/2014/main" id="{F8551CF0-DABA-0FFF-DE83-145FA6143FA8}"/>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1" y="4663225"/>
            <a:ext cx="12190413" cy="2194775"/>
          </a:xfrm>
          <a:prstGeom prst="rect">
            <a:avLst/>
          </a:prstGeom>
        </p:spPr>
      </p:pic>
    </p:spTree>
    <p:extLst>
      <p:ext uri="{BB962C8B-B14F-4D97-AF65-F5344CB8AC3E}">
        <p14:creationId xmlns:p14="http://schemas.microsoft.com/office/powerpoint/2010/main" val="108433096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9_G2 Copyright">
    <p:bg>
      <p:bgPr>
        <a:solidFill>
          <a:schemeClr val="bg1"/>
        </a:solidFill>
        <a:effectLst/>
      </p:bgPr>
    </p:bg>
    <p:spTree>
      <p:nvGrpSpPr>
        <p:cNvPr id="1" name=""/>
        <p:cNvGrpSpPr/>
        <p:nvPr/>
      </p:nvGrpSpPr>
      <p:grpSpPr>
        <a:xfrm>
          <a:off x="0" y="0"/>
          <a:ext cx="0" cy="0"/>
          <a:chOff x="0" y="0"/>
          <a:chExt cx="0" cy="0"/>
        </a:xfrm>
      </p:grpSpPr>
      <p:pic>
        <p:nvPicPr>
          <p:cNvPr id="18" name="Picture 17">
            <a:extLst>
              <a:ext uri="{FF2B5EF4-FFF2-40B4-BE49-F238E27FC236}">
                <a16:creationId xmlns:a16="http://schemas.microsoft.com/office/drawing/2014/main" id="{72307BBC-7B87-E2A3-8D37-F3412D1BA5D0}"/>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932192"/>
            <a:ext cx="12190412" cy="5925808"/>
          </a:xfrm>
          <a:prstGeom prst="rect">
            <a:avLst/>
          </a:prstGeom>
        </p:spPr>
      </p:pic>
      <p:sp>
        <p:nvSpPr>
          <p:cNvPr id="4" name="Oval 3">
            <a:extLst>
              <a:ext uri="{FF2B5EF4-FFF2-40B4-BE49-F238E27FC236}">
                <a16:creationId xmlns:a16="http://schemas.microsoft.com/office/drawing/2014/main" id="{ABB595A4-9EBD-188A-EC7D-0AAB0001E823}"/>
              </a:ext>
            </a:extLst>
          </p:cNvPr>
          <p:cNvSpPr/>
          <p:nvPr userDrawn="1"/>
        </p:nvSpPr>
        <p:spPr>
          <a:xfrm>
            <a:off x="1668545" y="2356700"/>
            <a:ext cx="1715678" cy="2648931"/>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E5165B0B-BFFB-F8AF-28CB-AB06CD2FE816}"/>
              </a:ext>
            </a:extLst>
          </p:cNvPr>
          <p:cNvSpPr/>
          <p:nvPr userDrawn="1"/>
        </p:nvSpPr>
        <p:spPr>
          <a:xfrm>
            <a:off x="1310326" y="4873659"/>
            <a:ext cx="2073897" cy="6790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E5A3C38-7B14-ED97-6C60-8F0EC5C9B272}"/>
              </a:ext>
            </a:extLst>
          </p:cNvPr>
          <p:cNvSpPr txBox="1"/>
          <p:nvPr userDrawn="1"/>
        </p:nvSpPr>
        <p:spPr>
          <a:xfrm>
            <a:off x="1023907" y="1792363"/>
            <a:ext cx="10141011" cy="4247317"/>
          </a:xfrm>
          <a:prstGeom prst="rect">
            <a:avLst/>
          </a:prstGeom>
          <a:solidFill>
            <a:schemeClr val="bg1"/>
          </a:solidFill>
          <a:ln w="38100">
            <a:solidFill>
              <a:schemeClr val="bg1"/>
            </a:solidFill>
          </a:ln>
        </p:spPr>
        <p:txBody>
          <a:bodyPr wrap="square" lIns="91440" tIns="45720" rIns="91440" bIns="45720" rtlCol="0" anchor="t">
            <a:spAutoFit/>
          </a:bodyPr>
          <a:lstStyle/>
          <a:p>
            <a:r>
              <a:rPr lang="en-US" b="1" dirty="0">
                <a:solidFill>
                  <a:schemeClr val="bg2">
                    <a:lumMod val="25000"/>
                  </a:schemeClr>
                </a:solidFill>
              </a:rPr>
              <a:t>Acknowledgment</a:t>
            </a:r>
          </a:p>
          <a:p>
            <a:r>
              <a:rPr lang="en-US" dirty="0">
                <a:solidFill>
                  <a:schemeClr val="bg2">
                    <a:lumMod val="25000"/>
                  </a:schemeClr>
                </a:solidFill>
              </a:rPr>
              <a:t>Thank you to all the Texas educators and stakeholders who supported the review process and provided feedback. These materials are the result of the work of numerous individuals, and we are deeply grateful for their contributions.</a:t>
            </a:r>
            <a:endParaRPr lang="en-US" dirty="0">
              <a:solidFill>
                <a:schemeClr val="bg2">
                  <a:lumMod val="25000"/>
                </a:schemeClr>
              </a:solidFill>
              <a:cs typeface="Calibri"/>
            </a:endParaRPr>
          </a:p>
          <a:p>
            <a:endParaRPr lang="en-US" dirty="0">
              <a:solidFill>
                <a:schemeClr val="bg2">
                  <a:lumMod val="25000"/>
                </a:schemeClr>
              </a:solidFill>
            </a:endParaRPr>
          </a:p>
          <a:p>
            <a:r>
              <a:rPr lang="en-US" b="1" dirty="0">
                <a:solidFill>
                  <a:schemeClr val="bg2">
                    <a:lumMod val="25000"/>
                  </a:schemeClr>
                </a:solidFill>
              </a:rPr>
              <a:t>Notice</a:t>
            </a:r>
            <a:endParaRPr lang="en-US" b="1" dirty="0">
              <a:solidFill>
                <a:schemeClr val="bg2">
                  <a:lumMod val="25000"/>
                </a:schemeClr>
              </a:solidFill>
              <a:cs typeface="Calibri"/>
            </a:endParaRPr>
          </a:p>
          <a:p>
            <a:r>
              <a:rPr lang="en-US" dirty="0">
                <a:solidFill>
                  <a:schemeClr val="bg2">
                    <a:lumMod val="25000"/>
                  </a:schemeClr>
                </a:solidFill>
              </a:rPr>
              <a:t>These learning resources have been built for Texas students, aligned to the Texas Essential Knowledge and Skills, and are made available pursuant to Chapter 31, Subchapter B-1 of the Texas Education Code.</a:t>
            </a:r>
            <a:endParaRPr lang="en-US" dirty="0">
              <a:solidFill>
                <a:schemeClr val="bg2">
                  <a:lumMod val="25000"/>
                </a:schemeClr>
              </a:solidFill>
              <a:cs typeface="Calibri"/>
            </a:endParaRPr>
          </a:p>
          <a:p>
            <a:r>
              <a:rPr lang="en-US" dirty="0">
                <a:solidFill>
                  <a:schemeClr val="bg2">
                    <a:lumMod val="25000"/>
                  </a:schemeClr>
                </a:solidFill>
              </a:rPr>
              <a:t>If you have further questions or to report an error, please email </a:t>
            </a:r>
            <a:r>
              <a:rPr lang="en-US" dirty="0">
                <a:solidFill>
                  <a:schemeClr val="bg2">
                    <a:lumMod val="25000"/>
                  </a:schemeClr>
                </a:solidFill>
                <a:hlinkClick r:id="rId3">
                  <a:extLst>
                    <a:ext uri="{A12FA001-AC4F-418D-AE19-62706E023703}">
                      <ahyp:hlinkClr xmlns:ahyp="http://schemas.microsoft.com/office/drawing/2018/hyperlinkcolor" val="tx"/>
                    </a:ext>
                  </a:extLst>
                </a:hlinkClick>
              </a:rPr>
              <a:t>openeducationresources@tea.texas.gov</a:t>
            </a:r>
            <a:r>
              <a:rPr lang="en-US" dirty="0">
                <a:solidFill>
                  <a:schemeClr val="bg2">
                    <a:lumMod val="25000"/>
                  </a:schemeClr>
                </a:solidFill>
              </a:rPr>
              <a:t>.</a:t>
            </a:r>
          </a:p>
          <a:p>
            <a:endParaRPr lang="en-US" dirty="0">
              <a:solidFill>
                <a:schemeClr val="bg2">
                  <a:lumMod val="25000"/>
                </a:schemeClr>
              </a:solidFill>
              <a:cs typeface="Calibri"/>
            </a:endParaRPr>
          </a:p>
          <a:p>
            <a:r>
              <a:rPr lang="en-US" dirty="0">
                <a:solidFill>
                  <a:schemeClr val="bg2">
                    <a:lumMod val="25000"/>
                  </a:schemeClr>
                </a:solidFill>
                <a:cs typeface="Calibri"/>
              </a:rPr>
              <a:t>Copyright ©2024 Texas Education Agency. This work based on or adapted from materials contained in Great Minds' Eureka Math® K-5 PDF files. </a:t>
            </a:r>
          </a:p>
          <a:p>
            <a:endParaRPr lang="en-US" dirty="0">
              <a:solidFill>
                <a:schemeClr val="bg2">
                  <a:lumMod val="25000"/>
                </a:schemeClr>
              </a:solidFill>
              <a:cs typeface="Calibri"/>
            </a:endParaRPr>
          </a:p>
          <a:p>
            <a:r>
              <a:rPr lang="en-US" dirty="0">
                <a:solidFill>
                  <a:schemeClr val="bg2">
                    <a:lumMod val="25000"/>
                  </a:schemeClr>
                </a:solidFill>
                <a:cs typeface="Calibri"/>
              </a:rPr>
              <a:t>These materials are made available by the Texas Education Agency under an open license. For information about the license and your rights to use the materials, visit: </a:t>
            </a:r>
            <a:r>
              <a:rPr lang="en-US" dirty="0">
                <a:solidFill>
                  <a:schemeClr val="bg2">
                    <a:lumMod val="25000"/>
                  </a:schemeClr>
                </a:solidFill>
                <a:cs typeface="Calibri"/>
                <a:hlinkClick r:id="rId4">
                  <a:extLst>
                    <a:ext uri="{A12FA001-AC4F-418D-AE19-62706E023703}">
                      <ahyp:hlinkClr xmlns:ahyp="http://schemas.microsoft.com/office/drawing/2018/hyperlinkcolor" val="tx"/>
                    </a:ext>
                  </a:extLst>
                </a:hlinkClick>
              </a:rPr>
              <a:t>https://tea.texas.gov/K-5Math</a:t>
            </a:r>
            <a:r>
              <a:rPr lang="en-US" dirty="0">
                <a:solidFill>
                  <a:schemeClr val="bg2">
                    <a:lumMod val="25000"/>
                  </a:schemeClr>
                </a:solidFill>
                <a:cs typeface="Calibri"/>
              </a:rPr>
              <a:t>. </a:t>
            </a:r>
          </a:p>
        </p:txBody>
      </p:sp>
      <p:pic>
        <p:nvPicPr>
          <p:cNvPr id="3" name="Picture 2" descr="A blue and black logo&#10;&#10;AI-generated content may be incorrect.">
            <a:extLst>
              <a:ext uri="{FF2B5EF4-FFF2-40B4-BE49-F238E27FC236}">
                <a16:creationId xmlns:a16="http://schemas.microsoft.com/office/drawing/2014/main" id="{8A2CBEDA-4313-4320-C727-637FCF5AEF98}"/>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84963" y="101527"/>
            <a:ext cx="2080268" cy="682524"/>
          </a:xfrm>
          <a:prstGeom prst="rect">
            <a:avLst/>
          </a:prstGeom>
        </p:spPr>
      </p:pic>
      <p:sp>
        <p:nvSpPr>
          <p:cNvPr id="8" name="TextBox 7">
            <a:extLst>
              <a:ext uri="{FF2B5EF4-FFF2-40B4-BE49-F238E27FC236}">
                <a16:creationId xmlns:a16="http://schemas.microsoft.com/office/drawing/2014/main" id="{AC3E9A39-7598-7D98-AC32-2789E161EFE4}"/>
              </a:ext>
            </a:extLst>
          </p:cNvPr>
          <p:cNvSpPr txBox="1"/>
          <p:nvPr userDrawn="1"/>
        </p:nvSpPr>
        <p:spPr>
          <a:xfrm>
            <a:off x="862304" y="69238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Tree>
    <p:extLst>
      <p:ext uri="{BB962C8B-B14F-4D97-AF65-F5344CB8AC3E}">
        <p14:creationId xmlns:p14="http://schemas.microsoft.com/office/powerpoint/2010/main" val="249442392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Alg I_Activity">
    <p:bg>
      <p:bgPr>
        <a:solidFill>
          <a:schemeClr val="bg1"/>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2C7DDC4C-990F-1B63-3B21-F01BAF7FCDF9}"/>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2316529"/>
            <a:ext cx="12190413" cy="2682141"/>
          </a:xfrm>
          <a:prstGeom prst="rect">
            <a:avLst/>
          </a:prstGeom>
        </p:spPr>
      </p:pic>
      <p:sp>
        <p:nvSpPr>
          <p:cNvPr id="6" name="Google Shape;61;g28e21d7ade9_0_16">
            <a:extLst>
              <a:ext uri="{FF2B5EF4-FFF2-40B4-BE49-F238E27FC236}">
                <a16:creationId xmlns:a16="http://schemas.microsoft.com/office/drawing/2014/main" id="{F6D852E4-016A-EA34-8A0F-CD386348DEB3}"/>
              </a:ext>
              <a:ext uri="{C183D7F6-B498-43B3-948B-1728B52AA6E4}">
                <adec:decorative xmlns:adec="http://schemas.microsoft.com/office/drawing/2017/decorative" val="1"/>
              </a:ext>
            </a:extLst>
          </p:cNvPr>
          <p:cNvSpPr txBox="1"/>
          <p:nvPr userDrawn="1"/>
        </p:nvSpPr>
        <p:spPr>
          <a:xfrm>
            <a:off x="3352800" y="2984501"/>
            <a:ext cx="5499100" cy="1143000"/>
          </a:xfrm>
          <a:prstGeom prst="rect">
            <a:avLst/>
          </a:prstGeom>
          <a:solidFill>
            <a:srgbClr val="143965"/>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endParaRPr baseline="0" dirty="0">
              <a:solidFill>
                <a:schemeClr val="bg1"/>
              </a:solidFill>
              <a:latin typeface="Calibri" panose="020F0502020204030204" pitchFamily="34" charset="0"/>
            </a:endParaRPr>
          </a:p>
        </p:txBody>
      </p:sp>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40100" y="3136900"/>
            <a:ext cx="3302000"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r"/>
            <a:r>
              <a:rPr lang="en-US" baseline="0" dirty="0">
                <a:solidFill>
                  <a:schemeClr val="bg1"/>
                </a:solidFill>
                <a:latin typeface="Calibri" panose="020F0502020204030204" pitchFamily="34" charset="0"/>
              </a:rPr>
              <a:t>Activity </a:t>
            </a:r>
            <a:endParaRPr baseline="0" dirty="0">
              <a:solidFill>
                <a:schemeClr val="bg1"/>
              </a:solidFill>
              <a:latin typeface="Calibri" panose="020F0502020204030204" pitchFamily="34" charset="0"/>
            </a:endParaRPr>
          </a:p>
        </p:txBody>
      </p:sp>
      <p:sp>
        <p:nvSpPr>
          <p:cNvPr id="7" name="Text Placeholder 6">
            <a:extLst>
              <a:ext uri="{FF2B5EF4-FFF2-40B4-BE49-F238E27FC236}">
                <a16:creationId xmlns:a16="http://schemas.microsoft.com/office/drawing/2014/main" id="{D2068F8D-A07F-AA10-7BDF-A0C4AF8C7BFF}"/>
              </a:ext>
            </a:extLst>
          </p:cNvPr>
          <p:cNvSpPr>
            <a:spLocks noGrp="1"/>
          </p:cNvSpPr>
          <p:nvPr>
            <p:ph type="body" sz="quarter" idx="11" hasCustomPrompt="1"/>
          </p:nvPr>
        </p:nvSpPr>
        <p:spPr>
          <a:xfrm>
            <a:off x="6769100" y="2957776"/>
            <a:ext cx="2025986" cy="1125537"/>
          </a:xfrm>
          <a:prstGeom prst="rect">
            <a:avLst/>
          </a:prstGeom>
        </p:spPr>
        <p:txBody>
          <a:bodyPr/>
          <a:lstStyle>
            <a:lvl1pPr marL="0" indent="0" algn="l">
              <a:buNone/>
              <a:defRPr sz="7500" b="1">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lvl="0"/>
            <a:r>
              <a:rPr lang="en-US" dirty="0"/>
              <a:t>##</a:t>
            </a:r>
          </a:p>
        </p:txBody>
      </p:sp>
      <p:pic>
        <p:nvPicPr>
          <p:cNvPr id="4" name="Picture 3" descr="A black and white image of a stopwatch&#10;&#10;Description automatically generated">
            <a:extLst>
              <a:ext uri="{FF2B5EF4-FFF2-40B4-BE49-F238E27FC236}">
                <a16:creationId xmlns:a16="http://schemas.microsoft.com/office/drawing/2014/main" id="{D534F636-9377-D630-3F35-5D038B245C6E}"/>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DAE8B7F8-6AC2-B8A4-640E-8FE90B678918}"/>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134191535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Alg I_Talk the Talk">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AB40DD2-1F97-577C-F238-A8F3D80AC38B}"/>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2316529"/>
            <a:ext cx="12190413" cy="2682141"/>
          </a:xfrm>
          <a:prstGeom prst="rect">
            <a:avLst/>
          </a:prstGeom>
        </p:spPr>
      </p:pic>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52800" y="2984501"/>
            <a:ext cx="5499100" cy="1143000"/>
          </a:xfrm>
          <a:prstGeom prst="rect">
            <a:avLst/>
          </a:prstGeom>
          <a:solidFill>
            <a:srgbClr val="143965"/>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Talk the Talk</a:t>
            </a:r>
            <a:endParaRPr baseline="0" dirty="0">
              <a:solidFill>
                <a:schemeClr val="bg1"/>
              </a:solidFill>
              <a:latin typeface="Calibri" panose="020F0502020204030204" pitchFamily="34" charset="0"/>
            </a:endParaRPr>
          </a:p>
        </p:txBody>
      </p:sp>
      <p:pic>
        <p:nvPicPr>
          <p:cNvPr id="10" name="Picture 9" descr="A black and white image of a stopwatch&#10;&#10;Description automatically generated">
            <a:extLst>
              <a:ext uri="{FF2B5EF4-FFF2-40B4-BE49-F238E27FC236}">
                <a16:creationId xmlns:a16="http://schemas.microsoft.com/office/drawing/2014/main" id="{CE73D4F7-C35E-90BA-B80C-E6CB2DC880F5}"/>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1AA23D1B-1B3F-0CA6-C43C-BA9AEE12E5DF}"/>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83186373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Alg I_Getting Started">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33183D7-68B4-CBF0-CC42-25ECAFF9E402}"/>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2316529"/>
            <a:ext cx="12190413" cy="2682141"/>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2767915" y="2984501"/>
            <a:ext cx="6660292" cy="1143000"/>
          </a:xfrm>
          <a:prstGeom prst="rect">
            <a:avLst/>
          </a:prstGeom>
          <a:solidFill>
            <a:srgbClr val="143965"/>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Getting Started</a:t>
            </a:r>
            <a:endParaRPr baseline="0" dirty="0">
              <a:solidFill>
                <a:schemeClr val="bg1"/>
              </a:solidFill>
              <a:latin typeface="Calibri" panose="020F0502020204030204" pitchFamily="34" charset="0"/>
            </a:endParaRPr>
          </a:p>
        </p:txBody>
      </p:sp>
      <p:pic>
        <p:nvPicPr>
          <p:cNvPr id="8" name="Picture 7" descr="A black and white image of a stopwatch&#10;&#10;Description automatically generated">
            <a:extLst>
              <a:ext uri="{FF2B5EF4-FFF2-40B4-BE49-F238E27FC236}">
                <a16:creationId xmlns:a16="http://schemas.microsoft.com/office/drawing/2014/main" id="{D0B206A4-53F8-1A55-3AAC-FA344E665088}"/>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9" name="Text Placeholder 10">
            <a:extLst>
              <a:ext uri="{FF2B5EF4-FFF2-40B4-BE49-F238E27FC236}">
                <a16:creationId xmlns:a16="http://schemas.microsoft.com/office/drawing/2014/main" id="{B0FE485E-9F70-BE82-8FD9-400E2BFB5CAC}"/>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1501593172"/>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1_Alg I_Getting Started">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FC1395B-02F4-8526-B036-AE6FDC3AA60F}"/>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2316529"/>
            <a:ext cx="12190413" cy="2682141"/>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3866323" y="2984501"/>
            <a:ext cx="4432852" cy="1143000"/>
          </a:xfrm>
          <a:prstGeom prst="rect">
            <a:avLst/>
          </a:prstGeom>
          <a:solidFill>
            <a:srgbClr val="143965"/>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Prepare</a:t>
            </a:r>
            <a:endParaRPr baseline="0" dirty="0">
              <a:solidFill>
                <a:schemeClr val="bg1"/>
              </a:solidFill>
              <a:latin typeface="Calibri" panose="020F0502020204030204" pitchFamily="34" charset="0"/>
            </a:endParaRPr>
          </a:p>
        </p:txBody>
      </p:sp>
    </p:spTree>
    <p:extLst>
      <p:ext uri="{BB962C8B-B14F-4D97-AF65-F5344CB8AC3E}">
        <p14:creationId xmlns:p14="http://schemas.microsoft.com/office/powerpoint/2010/main" val="149422019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Alg I_Session Divider">
    <p:bg>
      <p:bgPr>
        <a:solidFill>
          <a:schemeClr val="bg1"/>
        </a:solidFill>
        <a:effectLst/>
      </p:bgPr>
    </p:bg>
    <p:spTree>
      <p:nvGrpSpPr>
        <p:cNvPr id="1" name=""/>
        <p:cNvGrpSpPr/>
        <p:nvPr/>
      </p:nvGrpSpPr>
      <p:grpSpPr>
        <a:xfrm>
          <a:off x="0" y="0"/>
          <a:ext cx="0" cy="0"/>
          <a:chOff x="0" y="0"/>
          <a:chExt cx="0" cy="0"/>
        </a:xfrm>
      </p:grpSpPr>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4918157" y="2955793"/>
            <a:ext cx="1512037"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r>
              <a:rPr lang="en-US" baseline="0" dirty="0">
                <a:solidFill>
                  <a:schemeClr val="bg2">
                    <a:lumMod val="10000"/>
                  </a:schemeClr>
                </a:solidFill>
                <a:latin typeface="Calibri" panose="020F0502020204030204" pitchFamily="34" charset="0"/>
              </a:rPr>
              <a:t>Day</a:t>
            </a:r>
            <a:endParaRPr baseline="0" dirty="0">
              <a:solidFill>
                <a:schemeClr val="bg2">
                  <a:lumMod val="10000"/>
                </a:schemeClr>
              </a:solidFill>
              <a:latin typeface="Calibri" panose="020F0502020204030204" pitchFamily="34" charset="0"/>
            </a:endParaRPr>
          </a:p>
        </p:txBody>
      </p:sp>
      <p:sp>
        <p:nvSpPr>
          <p:cNvPr id="6" name="Text Placeholder 5">
            <a:extLst>
              <a:ext uri="{FF2B5EF4-FFF2-40B4-BE49-F238E27FC236}">
                <a16:creationId xmlns:a16="http://schemas.microsoft.com/office/drawing/2014/main" id="{387DC733-57F9-7B5A-186D-1BA8C44555D4}"/>
              </a:ext>
            </a:extLst>
          </p:cNvPr>
          <p:cNvSpPr>
            <a:spLocks noGrp="1"/>
          </p:cNvSpPr>
          <p:nvPr>
            <p:ph type="body" sz="quarter" idx="11" hasCustomPrompt="1"/>
          </p:nvPr>
        </p:nvSpPr>
        <p:spPr>
          <a:xfrm>
            <a:off x="5578106" y="2843523"/>
            <a:ext cx="1061883" cy="1071562"/>
          </a:xfrm>
          <a:prstGeom prst="rect">
            <a:avLst/>
          </a:prstGeom>
        </p:spPr>
        <p:txBody>
          <a:bodyPr/>
          <a:lstStyle>
            <a:lvl5pPr marL="1828800" indent="0" algn="ctr">
              <a:buNone/>
              <a:defRPr sz="7500" b="1">
                <a:solidFill>
                  <a:srgbClr val="000000"/>
                </a:solidFill>
                <a:latin typeface="Calibri" panose="020F0502020204030204" pitchFamily="34" charset="0"/>
                <a:ea typeface="Calibri" panose="020F0502020204030204" pitchFamily="34" charset="0"/>
                <a:cs typeface="Calibri" panose="020F0502020204030204" pitchFamily="34" charset="0"/>
              </a:defRPr>
            </a:lvl5pPr>
          </a:lstStyle>
          <a:p>
            <a:pPr lvl="4"/>
            <a:r>
              <a:rPr lang="en-US" dirty="0"/>
              <a:t>#</a:t>
            </a:r>
          </a:p>
        </p:txBody>
      </p:sp>
      <p:pic>
        <p:nvPicPr>
          <p:cNvPr id="5" name="Picture 4" descr="A blue and white pattern&#10;&#10;AI-generated content may be incorrect.">
            <a:extLst>
              <a:ext uri="{FF2B5EF4-FFF2-40B4-BE49-F238E27FC236}">
                <a16:creationId xmlns:a16="http://schemas.microsoft.com/office/drawing/2014/main" id="{5B5A1052-DF6F-F0CD-A7AF-D701A097127D}"/>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 y="4663225"/>
            <a:ext cx="12190413" cy="2194775"/>
          </a:xfrm>
          <a:prstGeom prst="rect">
            <a:avLst/>
          </a:prstGeom>
        </p:spPr>
      </p:pic>
      <p:pic>
        <p:nvPicPr>
          <p:cNvPr id="7" name="Picture 6" descr="A blue and white pattern&#10;&#10;AI-generated content may be incorrect.">
            <a:extLst>
              <a:ext uri="{FF2B5EF4-FFF2-40B4-BE49-F238E27FC236}">
                <a16:creationId xmlns:a16="http://schemas.microsoft.com/office/drawing/2014/main" id="{B958C75F-ADDF-4683-07D9-8A46AFB8C4CB}"/>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rot="10800000">
            <a:off x="-794" y="0"/>
            <a:ext cx="12190413" cy="2194775"/>
          </a:xfrm>
          <a:prstGeom prst="rect">
            <a:avLst/>
          </a:prstGeom>
        </p:spPr>
      </p:pic>
    </p:spTree>
    <p:extLst>
      <p:ext uri="{BB962C8B-B14F-4D97-AF65-F5344CB8AC3E}">
        <p14:creationId xmlns:p14="http://schemas.microsoft.com/office/powerpoint/2010/main" val="402435530"/>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Alg I_Cutouts Divider">
    <p:bg>
      <p:bgPr>
        <a:solidFill>
          <a:schemeClr val="bg1"/>
        </a:solid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D0DF6CF-F4AD-69B3-86F7-6B8955E3F2B1}"/>
              </a:ext>
            </a:extLst>
          </p:cNvPr>
          <p:cNvSpPr>
            <a:spLocks noGrp="1"/>
          </p:cNvSpPr>
          <p:nvPr>
            <p:ph type="body" sz="quarter" idx="10"/>
          </p:nvPr>
        </p:nvSpPr>
        <p:spPr>
          <a:xfrm>
            <a:off x="5171005" y="2395538"/>
            <a:ext cx="1848402" cy="1033462"/>
          </a:xfrm>
          <a:prstGeom prst="rect">
            <a:avLst/>
          </a:prstGeom>
        </p:spPr>
        <p:txBody>
          <a:bodyPr/>
          <a:lstStyle>
            <a:lvl1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1pPr>
            <a:lvl2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2pPr>
            <a:lvl3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3pPr>
            <a:lvl4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4pPr>
            <a:lvl5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2" name="Picture 1" descr="A blue and white pattern&#10;&#10;AI-generated content may be incorrect.">
            <a:extLst>
              <a:ext uri="{FF2B5EF4-FFF2-40B4-BE49-F238E27FC236}">
                <a16:creationId xmlns:a16="http://schemas.microsoft.com/office/drawing/2014/main" id="{26C4D152-DE0B-2942-C2AB-74253AD7094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 y="4663225"/>
            <a:ext cx="12190413" cy="2194775"/>
          </a:xfrm>
          <a:prstGeom prst="rect">
            <a:avLst/>
          </a:prstGeom>
        </p:spPr>
      </p:pic>
    </p:spTree>
    <p:extLst>
      <p:ext uri="{BB962C8B-B14F-4D97-AF65-F5344CB8AC3E}">
        <p14:creationId xmlns:p14="http://schemas.microsoft.com/office/powerpoint/2010/main" val="252552595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Alg I_Back Cover">
    <p:bg>
      <p:bgPr>
        <a:solidFill>
          <a:schemeClr val="bg1"/>
        </a:solidFill>
        <a:effectLst/>
      </p:bgPr>
    </p:bg>
    <p:spTree>
      <p:nvGrpSpPr>
        <p:cNvPr id="1" name=""/>
        <p:cNvGrpSpPr/>
        <p:nvPr/>
      </p:nvGrpSpPr>
      <p:grpSpPr>
        <a:xfrm>
          <a:off x="0" y="0"/>
          <a:ext cx="0" cy="0"/>
          <a:chOff x="0" y="0"/>
          <a:chExt cx="0" cy="0"/>
        </a:xfrm>
      </p:grpSpPr>
      <p:pic>
        <p:nvPicPr>
          <p:cNvPr id="2" name="Picture 1" descr="A blue and white pattern&#10;&#10;AI-generated content may be incorrect.">
            <a:extLst>
              <a:ext uri="{FF2B5EF4-FFF2-40B4-BE49-F238E27FC236}">
                <a16:creationId xmlns:a16="http://schemas.microsoft.com/office/drawing/2014/main" id="{EFD95E81-EE85-94A2-01EB-DDD35923FA5C}"/>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 y="4663225"/>
            <a:ext cx="12190413" cy="2194775"/>
          </a:xfrm>
          <a:prstGeom prst="rect">
            <a:avLst/>
          </a:prstGeom>
        </p:spPr>
      </p:pic>
      <p:sp>
        <p:nvSpPr>
          <p:cNvPr id="4" name="Text Placeholder 3">
            <a:extLst>
              <a:ext uri="{FF2B5EF4-FFF2-40B4-BE49-F238E27FC236}">
                <a16:creationId xmlns:a16="http://schemas.microsoft.com/office/drawing/2014/main" id="{9C323EF9-0FCF-481F-97C8-ABBEA6C0F486}"/>
              </a:ext>
            </a:extLst>
          </p:cNvPr>
          <p:cNvSpPr>
            <a:spLocks noGrp="1"/>
          </p:cNvSpPr>
          <p:nvPr>
            <p:ph type="body" sz="quarter" idx="10" hasCustomPrompt="1"/>
          </p:nvPr>
        </p:nvSpPr>
        <p:spPr>
          <a:xfrm>
            <a:off x="8155889" y="4975063"/>
            <a:ext cx="3431356" cy="414778"/>
          </a:xfrm>
          <a:prstGeom prst="rect">
            <a:avLst/>
          </a:prstGeom>
          <a:solidFill>
            <a:srgbClr val="143965"/>
          </a:solidFill>
        </p:spPr>
        <p:txBody>
          <a:bodyPr lIns="0" rIns="0" anchor="ctr"/>
          <a:lstStyle>
            <a:lvl1pPr marL="0" indent="0" algn="ctr">
              <a:buNone/>
              <a:defRPr sz="1800">
                <a:solidFill>
                  <a:schemeClr val="bg1"/>
                </a:solidFill>
              </a:defRPr>
            </a:lvl1pPr>
            <a:lvl4pPr marL="1371600" indent="0">
              <a:buNone/>
              <a:defRPr/>
            </a:lvl4pPr>
          </a:lstStyle>
          <a:p>
            <a:pPr lvl="0"/>
            <a:r>
              <a:rPr lang="en-US" dirty="0"/>
              <a:t>UNIQUE ID</a:t>
            </a:r>
          </a:p>
        </p:txBody>
      </p:sp>
      <p:grpSp>
        <p:nvGrpSpPr>
          <p:cNvPr id="5" name="Group 4">
            <a:extLst>
              <a:ext uri="{FF2B5EF4-FFF2-40B4-BE49-F238E27FC236}">
                <a16:creationId xmlns:a16="http://schemas.microsoft.com/office/drawing/2014/main" id="{CB4B7E3B-5741-B70F-3A0A-3E11BCF38FEB}"/>
              </a:ext>
            </a:extLst>
          </p:cNvPr>
          <p:cNvGrpSpPr/>
          <p:nvPr userDrawn="1"/>
        </p:nvGrpSpPr>
        <p:grpSpPr>
          <a:xfrm>
            <a:off x="9053008" y="227306"/>
            <a:ext cx="2910578" cy="1472169"/>
            <a:chOff x="8940726" y="132485"/>
            <a:chExt cx="2910578" cy="1472169"/>
          </a:xfrm>
        </p:grpSpPr>
        <p:pic>
          <p:nvPicPr>
            <p:cNvPr id="6" name="Picture 5" descr="A blue and black logo&#10;&#10;AI-generated content may be incorrect.">
              <a:extLst>
                <a:ext uri="{FF2B5EF4-FFF2-40B4-BE49-F238E27FC236}">
                  <a16:creationId xmlns:a16="http://schemas.microsoft.com/office/drawing/2014/main" id="{E7939853-80EF-C461-0365-6353B33278A2}"/>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7" name="TextBox 6">
              <a:extLst>
                <a:ext uri="{FF2B5EF4-FFF2-40B4-BE49-F238E27FC236}">
                  <a16:creationId xmlns:a16="http://schemas.microsoft.com/office/drawing/2014/main" id="{580B98D7-A8B1-479E-0522-2C0BC59CE093}"/>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
          <p:nvSpPr>
            <p:cNvPr id="8" name="Rounded Rectangle 7">
              <a:extLst>
                <a:ext uri="{FF2B5EF4-FFF2-40B4-BE49-F238E27FC236}">
                  <a16:creationId xmlns:a16="http://schemas.microsoft.com/office/drawing/2014/main" id="{DAAFCF8B-077A-7325-2A07-02B9BADACB35}"/>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4C6EED1-1022-7E70-EA88-6CC6F479360D}"/>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dirty="0">
                  <a:solidFill>
                    <a:schemeClr val="bg2">
                      <a:lumMod val="50000"/>
                    </a:schemeClr>
                  </a:solidFill>
                  <a:latin typeface="Calibri" panose="020F0502020204030204" pitchFamily="34" charset="0"/>
                  <a:cs typeface="Calibri" panose="020F0502020204030204" pitchFamily="34" charset="0"/>
                </a:rPr>
                <a:t>EDITION 1</a:t>
              </a:r>
            </a:p>
          </p:txBody>
        </p:sp>
      </p:grpSp>
      <p:sp>
        <p:nvSpPr>
          <p:cNvPr id="10" name="Round Single Corner Rectangle 9">
            <a:extLst>
              <a:ext uri="{FF2B5EF4-FFF2-40B4-BE49-F238E27FC236}">
                <a16:creationId xmlns:a16="http://schemas.microsoft.com/office/drawing/2014/main" id="{93823D53-B128-B4F8-9323-2DE21A5AC48C}"/>
              </a:ext>
            </a:extLst>
          </p:cNvPr>
          <p:cNvSpPr/>
          <p:nvPr userDrawn="1"/>
        </p:nvSpPr>
        <p:spPr>
          <a:xfrm rot="10800000" flipH="1">
            <a:off x="0" y="0"/>
            <a:ext cx="2467555" cy="954942"/>
          </a:xfrm>
          <a:prstGeom prst="round1Rect">
            <a:avLst/>
          </a:prstGeom>
          <a:solidFill>
            <a:srgbClr val="14396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61ED4D92-107A-5626-60FD-8669F753FD4A}"/>
              </a:ext>
            </a:extLst>
          </p:cNvPr>
          <p:cNvSpPr txBox="1"/>
          <p:nvPr userDrawn="1"/>
        </p:nvSpPr>
        <p:spPr>
          <a:xfrm>
            <a:off x="0" y="280732"/>
            <a:ext cx="2467555" cy="461665"/>
          </a:xfrm>
          <a:prstGeom prst="rect">
            <a:avLst/>
          </a:prstGeom>
          <a:noFill/>
        </p:spPr>
        <p:txBody>
          <a:bodyPr wrap="square" rtlCol="0">
            <a:spAutoFit/>
          </a:bodyPr>
          <a:lstStyle/>
          <a:p>
            <a:pPr algn="ctr"/>
            <a:r>
              <a:rPr lang="en-US" sz="2400" dirty="0">
                <a:solidFill>
                  <a:schemeClr val="bg1"/>
                </a:solidFill>
              </a:rPr>
              <a:t>ENGLISH</a:t>
            </a:r>
          </a:p>
        </p:txBody>
      </p:sp>
    </p:spTree>
    <p:extLst>
      <p:ext uri="{BB962C8B-B14F-4D97-AF65-F5344CB8AC3E}">
        <p14:creationId xmlns:p14="http://schemas.microsoft.com/office/powerpoint/2010/main" val="3986837890"/>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Objectiv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1829944-32A0-A52A-BF8F-4735C4809687}"/>
              </a:ext>
            </a:extLst>
          </p:cNvPr>
          <p:cNvSpPr/>
          <p:nvPr userDrawn="1"/>
        </p:nvSpPr>
        <p:spPr>
          <a:xfrm>
            <a:off x="-1586" y="1392600"/>
            <a:ext cx="12192000" cy="549097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 Placeholder 3">
            <a:extLst>
              <a:ext uri="{FF2B5EF4-FFF2-40B4-BE49-F238E27FC236}">
                <a16:creationId xmlns:a16="http://schemas.microsoft.com/office/drawing/2014/main" id="{D79E0344-0011-1E90-A995-632330E63EB5}"/>
              </a:ext>
            </a:extLst>
          </p:cNvPr>
          <p:cNvSpPr>
            <a:spLocks noGrp="1"/>
          </p:cNvSpPr>
          <p:nvPr>
            <p:ph type="body" sz="quarter" idx="10"/>
          </p:nvPr>
        </p:nvSpPr>
        <p:spPr>
          <a:xfrm>
            <a:off x="836614" y="2159879"/>
            <a:ext cx="10515599" cy="3956418"/>
          </a:xfrm>
          <a:prstGeom prst="rect">
            <a:avLst/>
          </a:prstGeom>
        </p:spPr>
        <p:txBody>
          <a:bodyPr/>
          <a:lstStyle>
            <a:lvl1pPr marL="0" indent="0" algn="ctr">
              <a:buNone/>
              <a:defRPr sz="4400">
                <a:solidFill>
                  <a:schemeClr val="bg2">
                    <a:lumMod val="25000"/>
                  </a:schemeClr>
                </a:solidFill>
              </a:defRPr>
            </a:lvl1pPr>
            <a:lvl2pPr marL="457200" indent="0" algn="ctr">
              <a:buNone/>
              <a:defRPr sz="4400"/>
            </a:lvl2pPr>
            <a:lvl3pPr marL="914400" indent="0" algn="ctr">
              <a:buNone/>
              <a:defRPr sz="4400"/>
            </a:lvl3pPr>
            <a:lvl4pPr marL="1371600" indent="0" algn="ctr">
              <a:buNone/>
              <a:defRPr sz="4400"/>
            </a:lvl4pPr>
            <a:lvl5pPr marL="1828800" indent="0" algn="ctr">
              <a:buNone/>
              <a:defRPr sz="4400"/>
            </a:lvl5pPr>
          </a:lstStyle>
          <a:p>
            <a:pPr lvl="0"/>
            <a:r>
              <a:rPr lang="en-US" dirty="0"/>
              <a:t>Click to edit Master text styles</a:t>
            </a:r>
          </a:p>
        </p:txBody>
      </p:sp>
      <p:sp>
        <p:nvSpPr>
          <p:cNvPr id="2" name="Rectangle 1">
            <a:extLst>
              <a:ext uri="{FF2B5EF4-FFF2-40B4-BE49-F238E27FC236}">
                <a16:creationId xmlns:a16="http://schemas.microsoft.com/office/drawing/2014/main" id="{EAD99D76-9E3B-F682-01E8-888F253831AF}"/>
              </a:ext>
            </a:extLst>
          </p:cNvPr>
          <p:cNvSpPr/>
          <p:nvPr userDrawn="1"/>
        </p:nvSpPr>
        <p:spPr>
          <a:xfrm>
            <a:off x="0" y="0"/>
            <a:ext cx="7575442" cy="927652"/>
          </a:xfrm>
          <a:prstGeom prst="rect">
            <a:avLst/>
          </a:prstGeom>
          <a:solidFill>
            <a:srgbClr val="14396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28B98FEA-D4C0-8394-EFDC-1E0F624AD0AF}"/>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575442" y="0"/>
            <a:ext cx="4614969" cy="931321"/>
          </a:xfrm>
          <a:prstGeom prst="rect">
            <a:avLst/>
          </a:prstGeom>
        </p:spPr>
      </p:pic>
      <p:sp>
        <p:nvSpPr>
          <p:cNvPr id="6" name="Title 5">
            <a:extLst>
              <a:ext uri="{FF2B5EF4-FFF2-40B4-BE49-F238E27FC236}">
                <a16:creationId xmlns:a16="http://schemas.microsoft.com/office/drawing/2014/main" id="{BD8B91BD-71BF-8DE9-CC35-80883F08DEDC}"/>
              </a:ext>
            </a:extLst>
          </p:cNvPr>
          <p:cNvSpPr>
            <a:spLocks noGrp="1"/>
          </p:cNvSpPr>
          <p:nvPr>
            <p:ph type="title" hasCustomPrompt="1"/>
          </p:nvPr>
        </p:nvSpPr>
        <p:spPr>
          <a:xfrm>
            <a:off x="0" y="0"/>
            <a:ext cx="6094413" cy="926757"/>
          </a:xfrm>
          <a:prstGeom prst="rect">
            <a:avLst/>
          </a:prstGeom>
          <a:noFill/>
        </p:spPr>
        <p:txBody>
          <a:bodyPr lIns="457200" anchor="ctr"/>
          <a:lstStyle>
            <a:lvl1pPr>
              <a:defRPr sz="4000" b="1">
                <a:solidFill>
                  <a:schemeClr val="bg1"/>
                </a:solidFill>
              </a:defRPr>
            </a:lvl1pPr>
          </a:lstStyle>
          <a:p>
            <a:r>
              <a:rPr lang="en-US" dirty="0"/>
              <a:t>Objectives</a:t>
            </a:r>
          </a:p>
        </p:txBody>
      </p:sp>
    </p:spTree>
    <p:extLst>
      <p:ext uri="{BB962C8B-B14F-4D97-AF65-F5344CB8AC3E}">
        <p14:creationId xmlns:p14="http://schemas.microsoft.com/office/powerpoint/2010/main" val="316491620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erminology">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23B0928-1D5C-86AC-B6D2-6C4246A897D0}"/>
              </a:ext>
            </a:extLst>
          </p:cNvPr>
          <p:cNvSpPr>
            <a:spLocks noGrp="1"/>
          </p:cNvSpPr>
          <p:nvPr>
            <p:ph type="body" sz="quarter" idx="10" hasCustomPrompt="1"/>
          </p:nvPr>
        </p:nvSpPr>
        <p:spPr>
          <a:xfrm>
            <a:off x="852488" y="1652588"/>
            <a:ext cx="10515600" cy="1169743"/>
          </a:xfrm>
          <a:prstGeom prst="rect">
            <a:avLst/>
          </a:prstGeom>
        </p:spPr>
        <p:txBody>
          <a:bodyPr/>
          <a:lstStyle>
            <a:lvl1pPr marL="0" indent="0">
              <a:buNone/>
              <a:defRPr>
                <a:solidFill>
                  <a:schemeClr val="bg2">
                    <a:lumMod val="25000"/>
                  </a:schemeClr>
                </a:solidFill>
              </a:defRPr>
            </a:lvl1pPr>
          </a:lstStyle>
          <a:p>
            <a:pPr lvl="0"/>
            <a:r>
              <a:rPr lang="en-US" dirty="0"/>
              <a:t>Click to add text</a:t>
            </a:r>
          </a:p>
        </p:txBody>
      </p:sp>
      <p:sp>
        <p:nvSpPr>
          <p:cNvPr id="5" name="Picture Placeholder 4">
            <a:extLst>
              <a:ext uri="{FF2B5EF4-FFF2-40B4-BE49-F238E27FC236}">
                <a16:creationId xmlns:a16="http://schemas.microsoft.com/office/drawing/2014/main" id="{C3DA5AEB-614E-452B-EDEF-80B18EE3E858}"/>
              </a:ext>
            </a:extLst>
          </p:cNvPr>
          <p:cNvSpPr>
            <a:spLocks noGrp="1"/>
          </p:cNvSpPr>
          <p:nvPr>
            <p:ph type="pic" sz="quarter" idx="11"/>
          </p:nvPr>
        </p:nvSpPr>
        <p:spPr>
          <a:xfrm>
            <a:off x="3427412" y="3217943"/>
            <a:ext cx="5335588" cy="2505075"/>
          </a:xfrm>
          <a:prstGeom prst="rect">
            <a:avLst/>
          </a:prstGeom>
        </p:spPr>
        <p:txBody>
          <a:bodyPr/>
          <a:lstStyle>
            <a:lvl1pPr marL="0" indent="0">
              <a:buNone/>
              <a:defRPr/>
            </a:lvl1pPr>
          </a:lstStyle>
          <a:p>
            <a:endParaRPr lang="en-US" dirty="0"/>
          </a:p>
        </p:txBody>
      </p:sp>
      <p:sp>
        <p:nvSpPr>
          <p:cNvPr id="4" name="Title 1">
            <a:extLst>
              <a:ext uri="{FF2B5EF4-FFF2-40B4-BE49-F238E27FC236}">
                <a16:creationId xmlns:a16="http://schemas.microsoft.com/office/drawing/2014/main" id="{CD7B4969-F122-3811-0A1A-DDA09AF4AB50}"/>
              </a:ext>
            </a:extLst>
          </p:cNvPr>
          <p:cNvSpPr>
            <a:spLocks noGrp="1"/>
          </p:cNvSpPr>
          <p:nvPr>
            <p:ph type="title" hasCustomPrompt="1"/>
          </p:nvPr>
        </p:nvSpPr>
        <p:spPr>
          <a:xfrm>
            <a:off x="777240" y="1"/>
            <a:ext cx="11425482" cy="1263192"/>
          </a:xfrm>
          <a:prstGeom prst="rect">
            <a:avLst/>
          </a:prstGeom>
        </p:spPr>
        <p:txBody>
          <a:bodyPr anchor="ctr"/>
          <a:lstStyle>
            <a:lvl1pPr>
              <a:defRPr sz="4000">
                <a:solidFill>
                  <a:srgbClr val="2B8147"/>
                </a:solidFill>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dirty="0">
                <a:solidFill>
                  <a:srgbClr val="000000"/>
                </a:solidFill>
                <a:latin typeface="Calibri" panose="020F0502020204030204"/>
                <a:ea typeface="Calibri" panose="020F0502020204030204"/>
                <a:cs typeface="Calibri" panose="020F0502020204030204"/>
                <a:sym typeface="Calibri" panose="020F0502020204030204"/>
              </a:rPr>
              <a:t>Key Terms</a:t>
            </a:r>
          </a:p>
        </p:txBody>
      </p:sp>
      <p:pic>
        <p:nvPicPr>
          <p:cNvPr id="6" name="Picture 5">
            <a:extLst>
              <a:ext uri="{FF2B5EF4-FFF2-40B4-BE49-F238E27FC236}">
                <a16:creationId xmlns:a16="http://schemas.microsoft.com/office/drawing/2014/main" id="{5CDE9F74-7CE7-793B-B90F-365B5F549D7A}"/>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104978364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Application Problem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AED5C8A3-5037-99DF-15E1-2833226D35D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36;g295eeb86cda_3_40"/>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18" name="Text Placeholder 16"/>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0331744C-9446-EF32-247E-53D724128298}"/>
              </a:ext>
            </a:extLst>
          </p:cNvPr>
          <p:cNvSpPr>
            <a:spLocks noGrp="1"/>
          </p:cNvSpPr>
          <p:nvPr>
            <p:ph type="title" hasCustomPrompt="1"/>
          </p:nvPr>
        </p:nvSpPr>
        <p:spPr>
          <a:xfrm>
            <a:off x="777240" y="0"/>
            <a:ext cx="11389135" cy="1253765"/>
          </a:xfrm>
          <a:prstGeom prst="rect">
            <a:avLst/>
          </a:prstGeom>
        </p:spPr>
        <p:txBody>
          <a:bodyPr anchor="ctr"/>
          <a:lstStyle/>
          <a:p>
            <a:pPr marL="0" marR="0" lvl="0" indent="0" algn="l" defTabSz="914400" rtl="0" eaLnBrk="1" fontAlgn="auto" latinLnBrk="0" hangingPunct="1">
              <a:lnSpc>
                <a:spcPct val="10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Application Problem</a:t>
            </a:r>
          </a:p>
        </p:txBody>
      </p:sp>
      <p:pic>
        <p:nvPicPr>
          <p:cNvPr id="4" name="Picture 3">
            <a:extLst>
              <a:ext uri="{FF2B5EF4-FFF2-40B4-BE49-F238E27FC236}">
                <a16:creationId xmlns:a16="http://schemas.microsoft.com/office/drawing/2014/main" id="{323D0D43-B8FF-1B82-5425-940CCCC8FE26}"/>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3987566913"/>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1_RDW_Horizontal">
    <p:spTree>
      <p:nvGrpSpPr>
        <p:cNvPr id="1" name=""/>
        <p:cNvGrpSpPr/>
        <p:nvPr/>
      </p:nvGrpSpPr>
      <p:grpSpPr>
        <a:xfrm>
          <a:off x="0" y="0"/>
          <a:ext cx="0" cy="0"/>
          <a:chOff x="0" y="0"/>
          <a:chExt cx="0" cy="0"/>
        </a:xfrm>
      </p:grpSpPr>
      <p:graphicFrame>
        <p:nvGraphicFramePr>
          <p:cNvPr id="14" name="Google Shape;42;g2960a169545_3_34"/>
          <p:cNvGraphicFramePr/>
          <p:nvPr userDrawn="1">
            <p:extLst>
              <p:ext uri="{D42A27DB-BD31-4B8C-83A1-F6EECF244321}">
                <p14:modId xmlns:p14="http://schemas.microsoft.com/office/powerpoint/2010/main" val="147912415"/>
              </p:ext>
            </p:extLst>
          </p:nvPr>
        </p:nvGraphicFramePr>
        <p:xfrm>
          <a:off x="775252" y="3783769"/>
          <a:ext cx="11082132" cy="2888103"/>
        </p:xfrm>
        <a:graphic>
          <a:graphicData uri="http://schemas.openxmlformats.org/drawingml/2006/table">
            <a:tbl>
              <a:tblPr firstRow="1" bandRow="1">
                <a:noFill/>
              </a:tblPr>
              <a:tblGrid>
                <a:gridCol w="3694044">
                  <a:extLst>
                    <a:ext uri="{9D8B030D-6E8A-4147-A177-3AD203B41FA5}">
                      <a16:colId xmlns:a16="http://schemas.microsoft.com/office/drawing/2014/main" val="20000"/>
                    </a:ext>
                  </a:extLst>
                </a:gridCol>
                <a:gridCol w="3694044">
                  <a:extLst>
                    <a:ext uri="{9D8B030D-6E8A-4147-A177-3AD203B41FA5}">
                      <a16:colId xmlns:a16="http://schemas.microsoft.com/office/drawing/2014/main" val="20001"/>
                    </a:ext>
                  </a:extLst>
                </a:gridCol>
                <a:gridCol w="3694044">
                  <a:extLst>
                    <a:ext uri="{9D8B030D-6E8A-4147-A177-3AD203B41FA5}">
                      <a16:colId xmlns:a16="http://schemas.microsoft.com/office/drawing/2014/main" val="20002"/>
                    </a:ext>
                  </a:extLst>
                </a:gridCol>
              </a:tblGrid>
              <a:tr h="244012">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Read</a:t>
                      </a:r>
                      <a:endParaRPr sz="1800" b="1" u="none" strike="noStrike" cap="none" dirty="0">
                        <a:solidFill>
                          <a:schemeClr val="bg2">
                            <a:lumMod val="25000"/>
                          </a:schemeClr>
                        </a:solidFill>
                      </a:endParaRPr>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Draw</a:t>
                      </a:r>
                      <a:endParaRPr sz="1800" b="1" u="none" strike="noStrike" cap="none" dirty="0">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Write</a:t>
                      </a:r>
                      <a:endParaRPr sz="1800" b="1" u="none" strike="noStrike" cap="none" dirty="0">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2430893">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dirty="0"/>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dirty="0"/>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3" name="Text Placeholder 2">
            <a:extLst>
              <a:ext uri="{FF2B5EF4-FFF2-40B4-BE49-F238E27FC236}">
                <a16:creationId xmlns:a16="http://schemas.microsoft.com/office/drawing/2014/main" id="{F5DB9EBA-92A2-D9BE-5A55-8378E259446A}"/>
              </a:ext>
            </a:extLst>
          </p:cNvPr>
          <p:cNvSpPr>
            <a:spLocks noGrp="1"/>
          </p:cNvSpPr>
          <p:nvPr>
            <p:ph type="body" sz="quarter" idx="10" hasCustomPrompt="1"/>
          </p:nvPr>
        </p:nvSpPr>
        <p:spPr>
          <a:xfrm>
            <a:off x="765313" y="1479938"/>
            <a:ext cx="11060341" cy="2072153"/>
          </a:xfrm>
          <a:prstGeom prst="rect">
            <a:avLst/>
          </a:prstGeom>
        </p:spPr>
        <p:txBody>
          <a:bodyPr/>
          <a:lstStyle>
            <a:lvl1pPr marL="0" indent="0">
              <a:buNone/>
              <a:defRPr sz="2200">
                <a:solidFill>
                  <a:schemeClr val="bg2">
                    <a:lumMod val="25000"/>
                  </a:schemeClr>
                </a:solidFill>
              </a:defRPr>
            </a:lvl1pPr>
          </a:lstStyle>
          <a:p>
            <a:pPr lvl="0"/>
            <a:r>
              <a:rPr lang="en-US" dirty="0"/>
              <a:t>Click to add text</a:t>
            </a:r>
          </a:p>
        </p:txBody>
      </p:sp>
      <p:sp>
        <p:nvSpPr>
          <p:cNvPr id="2" name="Title 1">
            <a:extLst>
              <a:ext uri="{FF2B5EF4-FFF2-40B4-BE49-F238E27FC236}">
                <a16:creationId xmlns:a16="http://schemas.microsoft.com/office/drawing/2014/main" id="{100D03EF-224B-F87A-5FAF-CA8E423C3783}"/>
              </a:ext>
            </a:extLst>
          </p:cNvPr>
          <p:cNvSpPr>
            <a:spLocks noGrp="1"/>
          </p:cNvSpPr>
          <p:nvPr>
            <p:ph type="title" hasCustomPrompt="1"/>
          </p:nvPr>
        </p:nvSpPr>
        <p:spPr>
          <a:xfrm>
            <a:off x="772211" y="0"/>
            <a:ext cx="11418202" cy="1263192"/>
          </a:xfrm>
          <a:prstGeom prst="rect">
            <a:avLst/>
          </a:prstGeom>
        </p:spPr>
        <p:txBody>
          <a:bodyPr anchor="ctr"/>
          <a:lstStyle/>
          <a:p>
            <a:pPr marL="0" marR="0" lvl="0" indent="0" algn="l" defTabSz="914400" rtl="0" eaLnBrk="1" fontAlgn="auto" latinLnBrk="0" hangingPunct="1">
              <a:lnSpc>
                <a:spcPct val="9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Read-Draw-Write for Application Problem</a:t>
            </a:r>
          </a:p>
        </p:txBody>
      </p:sp>
      <p:pic>
        <p:nvPicPr>
          <p:cNvPr id="5" name="Picture 4">
            <a:extLst>
              <a:ext uri="{FF2B5EF4-FFF2-40B4-BE49-F238E27FC236}">
                <a16:creationId xmlns:a16="http://schemas.microsoft.com/office/drawing/2014/main" id="{A2207E90-1B20-894B-22B8-12466116766A}"/>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3219626066"/>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Fluency w/Timer">
    <p:spTree>
      <p:nvGrpSpPr>
        <p:cNvPr id="1" name=""/>
        <p:cNvGrpSpPr/>
        <p:nvPr/>
      </p:nvGrpSpPr>
      <p:grpSpPr>
        <a:xfrm>
          <a:off x="0" y="0"/>
          <a:ext cx="0" cy="0"/>
          <a:chOff x="0" y="0"/>
          <a:chExt cx="0" cy="0"/>
        </a:xfrm>
      </p:grpSpPr>
      <p:pic>
        <p:nvPicPr>
          <p:cNvPr id="2" name="Picture 1" descr="A black and white image of a stopwatch&#10;&#10;Description automatically generated">
            <a:extLst>
              <a:ext uri="{FF2B5EF4-FFF2-40B4-BE49-F238E27FC236}">
                <a16:creationId xmlns:a16="http://schemas.microsoft.com/office/drawing/2014/main" id="{45C93455-7637-1C42-D775-87043FDE14A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4" name="Google Shape;36;g295eeb86cda_3_40">
            <a:extLst>
              <a:ext uri="{FF2B5EF4-FFF2-40B4-BE49-F238E27FC236}">
                <a16:creationId xmlns:a16="http://schemas.microsoft.com/office/drawing/2014/main" id="{4B2B0557-EE61-8CF4-6E2D-B3BB9A4164D6}"/>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3" name="Text Placeholder 16">
            <a:extLst>
              <a:ext uri="{FF2B5EF4-FFF2-40B4-BE49-F238E27FC236}">
                <a16:creationId xmlns:a16="http://schemas.microsoft.com/office/drawing/2014/main" id="{2C85C328-7F49-71B9-5668-70282DB97885}"/>
              </a:ext>
            </a:extLst>
          </p:cNvPr>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Title 3">
            <a:extLst>
              <a:ext uri="{FF2B5EF4-FFF2-40B4-BE49-F238E27FC236}">
                <a16:creationId xmlns:a16="http://schemas.microsoft.com/office/drawing/2014/main" id="{BABD6038-9E2A-9278-C4F2-299A1A34E59F}"/>
              </a:ext>
            </a:extLst>
          </p:cNvPr>
          <p:cNvSpPr>
            <a:spLocks noGrp="1"/>
          </p:cNvSpPr>
          <p:nvPr>
            <p:ph type="title" hasCustomPrompt="1"/>
          </p:nvPr>
        </p:nvSpPr>
        <p:spPr>
          <a:xfrm>
            <a:off x="777240" y="7968"/>
            <a:ext cx="11413173" cy="1269462"/>
          </a:xfrm>
          <a:prstGeom prst="rect">
            <a:avLst/>
          </a:prstGeom>
        </p:spPr>
        <p:txBody>
          <a:bodyPr anchor="ctr"/>
          <a:lstStyle>
            <a:lvl1pPr>
              <a:defRPr b="1">
                <a:solidFill>
                  <a:schemeClr val="bg2">
                    <a:lumMod val="25000"/>
                  </a:schemeClr>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Fluency: </a:t>
            </a:r>
            <a:r>
              <a:rPr kumimoji="0" lang="en-US" b="0" i="0" u="none" strike="noStrike" kern="1200" cap="none" spc="0" normalizeH="0" baseline="0" noProof="0" dirty="0">
                <a:ln>
                  <a:noFill/>
                </a:ln>
                <a:solidFill>
                  <a:srgbClr val="000000"/>
                </a:solidFill>
                <a:effectLst/>
                <a:uLnTx/>
                <a:uFillTx/>
                <a:latin typeface="Calibri"/>
                <a:ea typeface="+mn-ea"/>
                <a:cs typeface="+mn-cs"/>
              </a:rPr>
              <a:t>Title (# of #)</a:t>
            </a:r>
            <a:endParaRPr lang="en-US" dirty="0"/>
          </a:p>
        </p:txBody>
      </p:sp>
      <p:pic>
        <p:nvPicPr>
          <p:cNvPr id="6" name="Picture 5">
            <a:extLst>
              <a:ext uri="{FF2B5EF4-FFF2-40B4-BE49-F238E27FC236}">
                <a16:creationId xmlns:a16="http://schemas.microsoft.com/office/drawing/2014/main" id="{37B0BDED-D83D-FD4E-94F0-3B2616AA53F4}"/>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4087480992"/>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Concept Development">
    <p:spTree>
      <p:nvGrpSpPr>
        <p:cNvPr id="1" name=""/>
        <p:cNvGrpSpPr/>
        <p:nvPr/>
      </p:nvGrpSpPr>
      <p:grpSpPr>
        <a:xfrm>
          <a:off x="0" y="0"/>
          <a:ext cx="0" cy="0"/>
          <a:chOff x="0" y="0"/>
          <a:chExt cx="0" cy="0"/>
        </a:xfrm>
      </p:grpSpPr>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2" name="Picture 1">
            <a:extLst>
              <a:ext uri="{FF2B5EF4-FFF2-40B4-BE49-F238E27FC236}">
                <a16:creationId xmlns:a16="http://schemas.microsoft.com/office/drawing/2014/main" id="{F8B88EEA-3A54-4860-556B-D6A6A0166F25}"/>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3572151259"/>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Concept Development with Timer">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C120155D-CE40-03A5-821E-66ED1B28D635}"/>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3" name="Text Placeholder 16">
            <a:extLst>
              <a:ext uri="{FF2B5EF4-FFF2-40B4-BE49-F238E27FC236}">
                <a16:creationId xmlns:a16="http://schemas.microsoft.com/office/drawing/2014/main" id="{25782E0A-0BD4-715B-C55F-BBA8190C333D}"/>
              </a:ext>
            </a:extLst>
          </p:cNvPr>
          <p:cNvSpPr>
            <a:spLocks noGrp="1"/>
          </p:cNvSpPr>
          <p:nvPr>
            <p:ph type="body" sz="quarter" idx="10" hasCustomPrompt="1"/>
          </p:nvPr>
        </p:nvSpPr>
        <p:spPr>
          <a:xfrm>
            <a:off x="11127570" y="6036181"/>
            <a:ext cx="654121"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2" name="Picture 1">
            <a:extLst>
              <a:ext uri="{FF2B5EF4-FFF2-40B4-BE49-F238E27FC236}">
                <a16:creationId xmlns:a16="http://schemas.microsoft.com/office/drawing/2014/main" id="{5C37EC70-3A95-9848-5065-7C7A9E822BC9}"/>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1606292408"/>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Problem Set with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54725ABB-3358-BA78-ED3F-EE574662422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4" name="Text Placeholder 16"/>
          <p:cNvSpPr>
            <a:spLocks noGrp="1"/>
          </p:cNvSpPr>
          <p:nvPr>
            <p:ph type="body" sz="quarter" idx="10" hasCustomPrompt="1"/>
          </p:nvPr>
        </p:nvSpPr>
        <p:spPr>
          <a:xfrm>
            <a:off x="11140001" y="6036181"/>
            <a:ext cx="622969"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0C16ECBB-77EB-0635-C9C3-E4F98B5337AC}"/>
              </a:ext>
            </a:extLst>
          </p:cNvPr>
          <p:cNvSpPr>
            <a:spLocks noGrp="1"/>
          </p:cNvSpPr>
          <p:nvPr>
            <p:ph type="title" hasCustomPrompt="1"/>
          </p:nvPr>
        </p:nvSpPr>
        <p:spPr>
          <a:xfrm>
            <a:off x="777240" y="1"/>
            <a:ext cx="11407898"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Problem Set</a:t>
            </a:r>
          </a:p>
        </p:txBody>
      </p:sp>
      <p:sp>
        <p:nvSpPr>
          <p:cNvPr id="4" name="Google Shape;69;g2950041fd6d_0_282">
            <a:extLst>
              <a:ext uri="{FF2B5EF4-FFF2-40B4-BE49-F238E27FC236}">
                <a16:creationId xmlns:a16="http://schemas.microsoft.com/office/drawing/2014/main" id="{9D7369C9-C599-CE95-CCD3-2B81A765581C}"/>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pic>
        <p:nvPicPr>
          <p:cNvPr id="5" name="Picture 4">
            <a:extLst>
              <a:ext uri="{FF2B5EF4-FFF2-40B4-BE49-F238E27FC236}">
                <a16:creationId xmlns:a16="http://schemas.microsoft.com/office/drawing/2014/main" id="{C1E68608-310E-87E2-6084-F27D1E68B5C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3657914759"/>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Student Debrief">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DAC79665-DA63-6390-C217-C3166216C1B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1" name="Google Shape;80;g295eeb86cda_3_104"/>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571500" lvl="0" indent="-457200" algn="l">
              <a:lnSpc>
                <a:spcPct val="100000"/>
              </a:lnSpc>
              <a:spcBef>
                <a:spcPts val="1000"/>
              </a:spcBef>
              <a:spcAft>
                <a:spcPts val="0"/>
              </a:spcAft>
              <a:buClr>
                <a:schemeClr val="dk1"/>
              </a:buClr>
              <a:buSzPct val="100000"/>
              <a:buFont typeface="Arial" panose="020B0604020202020204" pitchFamily="34" charset="0"/>
              <a:buChar char="•"/>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dirty="0"/>
          </a:p>
        </p:txBody>
      </p:sp>
      <p:sp>
        <p:nvSpPr>
          <p:cNvPr id="14" name="Text Placeholder 16"/>
          <p:cNvSpPr>
            <a:spLocks noGrp="1"/>
          </p:cNvSpPr>
          <p:nvPr>
            <p:ph type="body" sz="quarter" idx="10" hasCustomPrompt="1"/>
          </p:nvPr>
        </p:nvSpPr>
        <p:spPr>
          <a:xfrm>
            <a:off x="11127570" y="6036181"/>
            <a:ext cx="645330"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FB0B6DF2-911F-E608-84A0-0D6E6AF4BF7B}"/>
              </a:ext>
            </a:extLst>
          </p:cNvPr>
          <p:cNvSpPr>
            <a:spLocks noGrp="1"/>
          </p:cNvSpPr>
          <p:nvPr>
            <p:ph type="title" hasCustomPrompt="1"/>
          </p:nvPr>
        </p:nvSpPr>
        <p:spPr>
          <a:xfrm>
            <a:off x="777240" y="1"/>
            <a:ext cx="11390313"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Student Debrief</a:t>
            </a:r>
          </a:p>
        </p:txBody>
      </p:sp>
      <p:pic>
        <p:nvPicPr>
          <p:cNvPr id="4" name="Picture 3">
            <a:extLst>
              <a:ext uri="{FF2B5EF4-FFF2-40B4-BE49-F238E27FC236}">
                <a16:creationId xmlns:a16="http://schemas.microsoft.com/office/drawing/2014/main" id="{88EBEE1F-D893-3AC1-EA24-B31DCC787854}"/>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3256713682"/>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Exit Ticket">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87BF7481-2AB1-1F79-65F6-B47BE9EECE0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3" name="Text Placeholder 16">
            <a:extLst>
              <a:ext uri="{FF2B5EF4-FFF2-40B4-BE49-F238E27FC236}">
                <a16:creationId xmlns:a16="http://schemas.microsoft.com/office/drawing/2014/main" id="{BC6A2CE5-7968-8B98-9B39-FF49F2E9FD9A}"/>
              </a:ext>
            </a:extLst>
          </p:cNvPr>
          <p:cNvSpPr>
            <a:spLocks noGrp="1"/>
          </p:cNvSpPr>
          <p:nvPr>
            <p:ph type="body" sz="quarter" idx="11" hasCustomPrompt="1"/>
          </p:nvPr>
        </p:nvSpPr>
        <p:spPr>
          <a:xfrm>
            <a:off x="11127571" y="6036181"/>
            <a:ext cx="635400"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Google Shape;80;g295eeb86cda_3_104">
            <a:extLst>
              <a:ext uri="{FF2B5EF4-FFF2-40B4-BE49-F238E27FC236}">
                <a16:creationId xmlns:a16="http://schemas.microsoft.com/office/drawing/2014/main" id="{E879CF37-D19C-8989-9D60-7E089D9CFD43}"/>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114300" lvl="0" indent="0" algn="l">
              <a:lnSpc>
                <a:spcPct val="100000"/>
              </a:lnSpc>
              <a:spcBef>
                <a:spcPts val="1000"/>
              </a:spcBef>
              <a:spcAft>
                <a:spcPts val="0"/>
              </a:spcAft>
              <a:buClr>
                <a:schemeClr val="dk1"/>
              </a:buClr>
              <a:buSzPct val="100000"/>
              <a:buFont typeface="Arial" panose="020B0604020202020204" pitchFamily="34" charset="0"/>
              <a:buNone/>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dirty="0"/>
          </a:p>
        </p:txBody>
      </p:sp>
      <p:sp>
        <p:nvSpPr>
          <p:cNvPr id="7" name="Title 1">
            <a:extLst>
              <a:ext uri="{FF2B5EF4-FFF2-40B4-BE49-F238E27FC236}">
                <a16:creationId xmlns:a16="http://schemas.microsoft.com/office/drawing/2014/main" id="{3820E38D-87BF-6F8F-072E-A0D77CD81A20}"/>
              </a:ext>
            </a:extLst>
          </p:cNvPr>
          <p:cNvSpPr>
            <a:spLocks noGrp="1"/>
          </p:cNvSpPr>
          <p:nvPr>
            <p:ph type="title" hasCustomPrompt="1"/>
          </p:nvPr>
        </p:nvSpPr>
        <p:spPr>
          <a:xfrm>
            <a:off x="777240" y="1"/>
            <a:ext cx="11425482"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Exit Ticket</a:t>
            </a:r>
          </a:p>
        </p:txBody>
      </p:sp>
      <p:pic>
        <p:nvPicPr>
          <p:cNvPr id="2" name="Picture 1">
            <a:extLst>
              <a:ext uri="{FF2B5EF4-FFF2-40B4-BE49-F238E27FC236}">
                <a16:creationId xmlns:a16="http://schemas.microsoft.com/office/drawing/2014/main" id="{6EEE28E3-A4D4-3431-633F-B27968B18E9C}"/>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903824538"/>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2_Alg I_Title Slide">
    <p:bg>
      <p:bgPr>
        <a:solidFill>
          <a:schemeClr val="bg1"/>
        </a:solidFill>
        <a:effectLst/>
      </p:bgPr>
    </p:bg>
    <p:spTree>
      <p:nvGrpSpPr>
        <p:cNvPr id="1" name=""/>
        <p:cNvGrpSpPr/>
        <p:nvPr/>
      </p:nvGrpSpPr>
      <p:grpSpPr>
        <a:xfrm>
          <a:off x="0" y="0"/>
          <a:ext cx="0" cy="0"/>
          <a:chOff x="0" y="0"/>
          <a:chExt cx="0" cy="0"/>
        </a:xfrm>
      </p:grpSpPr>
      <p:sp>
        <p:nvSpPr>
          <p:cNvPr id="3" name="Text Placeholder 3">
            <a:extLst>
              <a:ext uri="{FF2B5EF4-FFF2-40B4-BE49-F238E27FC236}">
                <a16:creationId xmlns:a16="http://schemas.microsoft.com/office/drawing/2014/main" id="{F992793D-996B-68F1-CC42-4A64BF66E531}"/>
              </a:ext>
            </a:extLst>
          </p:cNvPr>
          <p:cNvSpPr>
            <a:spLocks noGrp="1"/>
          </p:cNvSpPr>
          <p:nvPr>
            <p:ph type="body" sz="quarter" idx="10" hasCustomPrompt="1"/>
          </p:nvPr>
        </p:nvSpPr>
        <p:spPr>
          <a:xfrm>
            <a:off x="-1590" y="1622759"/>
            <a:ext cx="12192003" cy="1819137"/>
          </a:xfrm>
          <a:prstGeom prst="rect">
            <a:avLst/>
          </a:prstGeom>
        </p:spPr>
        <p:txBody>
          <a:bodyPr/>
          <a:lstStyle>
            <a:lvl1pPr marL="0" indent="0" algn="ctr">
              <a:buNone/>
              <a:defRPr sz="6000" b="1">
                <a:solidFill>
                  <a:srgbClr val="61449B"/>
                </a:solidFill>
              </a:defRPr>
            </a:lvl1pPr>
          </a:lstStyle>
          <a:p>
            <a:pPr lvl="0"/>
            <a:r>
              <a:rPr lang="en-US" sz="6000" dirty="0"/>
              <a:t>Module Name</a:t>
            </a:r>
          </a:p>
          <a:p>
            <a:pPr lvl="0"/>
            <a:r>
              <a:rPr lang="en-US" sz="6000" dirty="0"/>
              <a:t>Name</a:t>
            </a:r>
          </a:p>
          <a:p>
            <a:pPr lvl="0"/>
            <a:endParaRPr lang="en-US" dirty="0"/>
          </a:p>
        </p:txBody>
      </p:sp>
      <p:sp>
        <p:nvSpPr>
          <p:cNvPr id="5" name="Text Placeholder 5">
            <a:extLst>
              <a:ext uri="{FF2B5EF4-FFF2-40B4-BE49-F238E27FC236}">
                <a16:creationId xmlns:a16="http://schemas.microsoft.com/office/drawing/2014/main" id="{74F0E467-86F1-F51B-377D-DE8A5155B5E1}"/>
              </a:ext>
            </a:extLst>
          </p:cNvPr>
          <p:cNvSpPr>
            <a:spLocks noGrp="1"/>
          </p:cNvSpPr>
          <p:nvPr>
            <p:ph type="body" sz="quarter" idx="13" hasCustomPrompt="1"/>
          </p:nvPr>
        </p:nvSpPr>
        <p:spPr>
          <a:xfrm>
            <a:off x="-1590" y="3641189"/>
            <a:ext cx="12190413" cy="822457"/>
          </a:xfrm>
          <a:prstGeom prst="rect">
            <a:avLst/>
          </a:prstGeom>
        </p:spPr>
        <p:txBody>
          <a:bodyPr anchor="ctr"/>
          <a:lstStyle>
            <a:lvl1pPr marL="0" indent="0" algn="ctr">
              <a:buNone/>
              <a:defRPr sz="4400" b="0">
                <a:solidFill>
                  <a:srgbClr val="143965"/>
                </a:solidFill>
              </a:defRPr>
            </a:lvl1pPr>
          </a:lstStyle>
          <a:p>
            <a:pPr lvl="0"/>
            <a:r>
              <a:rPr lang="en-US" dirty="0"/>
              <a:t>Grade # | Module # | Topic X | Lesson #</a:t>
            </a:r>
          </a:p>
        </p:txBody>
      </p:sp>
      <p:sp>
        <p:nvSpPr>
          <p:cNvPr id="2" name="Round Single Corner Rectangle 1">
            <a:extLst>
              <a:ext uri="{FF2B5EF4-FFF2-40B4-BE49-F238E27FC236}">
                <a16:creationId xmlns:a16="http://schemas.microsoft.com/office/drawing/2014/main" id="{7D24360F-9CDE-6F31-8095-CEDD386A0B5F}"/>
              </a:ext>
            </a:extLst>
          </p:cNvPr>
          <p:cNvSpPr/>
          <p:nvPr userDrawn="1"/>
        </p:nvSpPr>
        <p:spPr>
          <a:xfrm rot="10800000" flipH="1">
            <a:off x="0" y="0"/>
            <a:ext cx="2467555" cy="954942"/>
          </a:xfrm>
          <a:prstGeom prst="round1Rect">
            <a:avLst/>
          </a:prstGeom>
          <a:solidFill>
            <a:srgbClr val="61449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6706451E-BBBC-107B-E631-3F63997BE9D6}"/>
              </a:ext>
            </a:extLst>
          </p:cNvPr>
          <p:cNvSpPr txBox="1"/>
          <p:nvPr userDrawn="1"/>
        </p:nvSpPr>
        <p:spPr>
          <a:xfrm>
            <a:off x="0" y="280732"/>
            <a:ext cx="2467555" cy="461665"/>
          </a:xfrm>
          <a:prstGeom prst="rect">
            <a:avLst/>
          </a:prstGeom>
          <a:noFill/>
        </p:spPr>
        <p:txBody>
          <a:bodyPr wrap="square" rtlCol="0">
            <a:spAutoFit/>
          </a:bodyPr>
          <a:lstStyle/>
          <a:p>
            <a:pPr algn="ctr"/>
            <a:r>
              <a:rPr lang="en-US" sz="2400" dirty="0">
                <a:solidFill>
                  <a:schemeClr val="bg1"/>
                </a:solidFill>
              </a:rPr>
              <a:t>ENGLISH</a:t>
            </a:r>
          </a:p>
        </p:txBody>
      </p:sp>
      <p:pic>
        <p:nvPicPr>
          <p:cNvPr id="18" name="Picture 17" descr="A blue and black logo&#10;&#10;AI-generated content may be incorrect.">
            <a:extLst>
              <a:ext uri="{FF2B5EF4-FFF2-40B4-BE49-F238E27FC236}">
                <a16:creationId xmlns:a16="http://schemas.microsoft.com/office/drawing/2014/main" id="{B203EADC-2DB3-1EE5-60AF-D1787BEEC073}"/>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19" name="TextBox 18">
            <a:extLst>
              <a:ext uri="{FF2B5EF4-FFF2-40B4-BE49-F238E27FC236}">
                <a16:creationId xmlns:a16="http://schemas.microsoft.com/office/drawing/2014/main" id="{2804B40F-0DA7-E0E3-162C-E301ABDD7551}"/>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
        <p:nvSpPr>
          <p:cNvPr id="20" name="Rounded Rectangle 19">
            <a:extLst>
              <a:ext uri="{FF2B5EF4-FFF2-40B4-BE49-F238E27FC236}">
                <a16:creationId xmlns:a16="http://schemas.microsoft.com/office/drawing/2014/main" id="{A6542DB2-F324-40CF-3B49-6D031A4E64E1}"/>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E0930552-3750-2EC0-AA03-FF31F6332588}"/>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dirty="0">
                <a:solidFill>
                  <a:schemeClr val="bg2">
                    <a:lumMod val="50000"/>
                  </a:schemeClr>
                </a:solidFill>
                <a:latin typeface="Calibri" panose="020F0502020204030204" pitchFamily="34" charset="0"/>
                <a:cs typeface="Calibri" panose="020F0502020204030204" pitchFamily="34" charset="0"/>
              </a:rPr>
              <a:t>EDITION 1</a:t>
            </a:r>
          </a:p>
        </p:txBody>
      </p:sp>
      <p:pic>
        <p:nvPicPr>
          <p:cNvPr id="8" name="Picture 7">
            <a:extLst>
              <a:ext uri="{FF2B5EF4-FFF2-40B4-BE49-F238E27FC236}">
                <a16:creationId xmlns:a16="http://schemas.microsoft.com/office/drawing/2014/main" id="{F8551CF0-DABA-0FFF-DE83-145FA6143FA8}"/>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 y="4663225"/>
            <a:ext cx="12190407" cy="2194775"/>
          </a:xfrm>
          <a:prstGeom prst="rect">
            <a:avLst/>
          </a:prstGeom>
        </p:spPr>
      </p:pic>
    </p:spTree>
    <p:extLst>
      <p:ext uri="{BB962C8B-B14F-4D97-AF65-F5344CB8AC3E}">
        <p14:creationId xmlns:p14="http://schemas.microsoft.com/office/powerpoint/2010/main" val="228490340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9_G2 Copyright">
    <p:bg>
      <p:bgPr>
        <a:solidFill>
          <a:schemeClr val="bg1"/>
        </a:solidFill>
        <a:effectLst/>
      </p:bgPr>
    </p:bg>
    <p:spTree>
      <p:nvGrpSpPr>
        <p:cNvPr id="1" name=""/>
        <p:cNvGrpSpPr/>
        <p:nvPr/>
      </p:nvGrpSpPr>
      <p:grpSpPr>
        <a:xfrm>
          <a:off x="0" y="0"/>
          <a:ext cx="0" cy="0"/>
          <a:chOff x="0" y="0"/>
          <a:chExt cx="0" cy="0"/>
        </a:xfrm>
      </p:grpSpPr>
      <p:pic>
        <p:nvPicPr>
          <p:cNvPr id="18" name="Picture 17">
            <a:extLst>
              <a:ext uri="{FF2B5EF4-FFF2-40B4-BE49-F238E27FC236}">
                <a16:creationId xmlns:a16="http://schemas.microsoft.com/office/drawing/2014/main" id="{72307BBC-7B87-E2A3-8D37-F3412D1BA5D0}"/>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932192"/>
            <a:ext cx="12190412" cy="5925807"/>
          </a:xfrm>
          <a:prstGeom prst="rect">
            <a:avLst/>
          </a:prstGeom>
        </p:spPr>
      </p:pic>
      <p:sp>
        <p:nvSpPr>
          <p:cNvPr id="4" name="Oval 3">
            <a:extLst>
              <a:ext uri="{FF2B5EF4-FFF2-40B4-BE49-F238E27FC236}">
                <a16:creationId xmlns:a16="http://schemas.microsoft.com/office/drawing/2014/main" id="{ABB595A4-9EBD-188A-EC7D-0AAB0001E823}"/>
              </a:ext>
            </a:extLst>
          </p:cNvPr>
          <p:cNvSpPr/>
          <p:nvPr userDrawn="1"/>
        </p:nvSpPr>
        <p:spPr>
          <a:xfrm>
            <a:off x="1668545" y="2356700"/>
            <a:ext cx="1715678" cy="2648931"/>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E5165B0B-BFFB-F8AF-28CB-AB06CD2FE816}"/>
              </a:ext>
            </a:extLst>
          </p:cNvPr>
          <p:cNvSpPr/>
          <p:nvPr userDrawn="1"/>
        </p:nvSpPr>
        <p:spPr>
          <a:xfrm>
            <a:off x="1310326" y="4873659"/>
            <a:ext cx="2073897" cy="6790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E5A3C38-7B14-ED97-6C60-8F0EC5C9B272}"/>
              </a:ext>
            </a:extLst>
          </p:cNvPr>
          <p:cNvSpPr txBox="1"/>
          <p:nvPr userDrawn="1"/>
        </p:nvSpPr>
        <p:spPr>
          <a:xfrm>
            <a:off x="1023907" y="1792363"/>
            <a:ext cx="10141011" cy="4247317"/>
          </a:xfrm>
          <a:prstGeom prst="rect">
            <a:avLst/>
          </a:prstGeom>
          <a:solidFill>
            <a:schemeClr val="bg1"/>
          </a:solidFill>
          <a:ln w="38100">
            <a:solidFill>
              <a:schemeClr val="bg1"/>
            </a:solidFill>
          </a:ln>
        </p:spPr>
        <p:txBody>
          <a:bodyPr wrap="square" lIns="91440" tIns="45720" rIns="91440" bIns="45720" rtlCol="0" anchor="t">
            <a:spAutoFit/>
          </a:bodyPr>
          <a:lstStyle/>
          <a:p>
            <a:r>
              <a:rPr lang="en-US" b="1" dirty="0">
                <a:solidFill>
                  <a:schemeClr val="bg2">
                    <a:lumMod val="25000"/>
                  </a:schemeClr>
                </a:solidFill>
              </a:rPr>
              <a:t>Acknowledgment</a:t>
            </a:r>
          </a:p>
          <a:p>
            <a:r>
              <a:rPr lang="en-US" dirty="0">
                <a:solidFill>
                  <a:schemeClr val="bg2">
                    <a:lumMod val="25000"/>
                  </a:schemeClr>
                </a:solidFill>
              </a:rPr>
              <a:t>Thank you to all the Texas educators and stakeholders who supported the review process and provided feedback. These materials are the result of the work of numerous individuals, and we are deeply grateful for their contributions.</a:t>
            </a:r>
            <a:endParaRPr lang="en-US" dirty="0">
              <a:solidFill>
                <a:schemeClr val="bg2">
                  <a:lumMod val="25000"/>
                </a:schemeClr>
              </a:solidFill>
              <a:cs typeface="Calibri"/>
            </a:endParaRPr>
          </a:p>
          <a:p>
            <a:endParaRPr lang="en-US" dirty="0">
              <a:solidFill>
                <a:schemeClr val="bg2">
                  <a:lumMod val="25000"/>
                </a:schemeClr>
              </a:solidFill>
            </a:endParaRPr>
          </a:p>
          <a:p>
            <a:r>
              <a:rPr lang="en-US" b="1" dirty="0">
                <a:solidFill>
                  <a:schemeClr val="bg2">
                    <a:lumMod val="25000"/>
                  </a:schemeClr>
                </a:solidFill>
              </a:rPr>
              <a:t>Notice</a:t>
            </a:r>
            <a:endParaRPr lang="en-US" b="1" dirty="0">
              <a:solidFill>
                <a:schemeClr val="bg2">
                  <a:lumMod val="25000"/>
                </a:schemeClr>
              </a:solidFill>
              <a:cs typeface="Calibri"/>
            </a:endParaRPr>
          </a:p>
          <a:p>
            <a:r>
              <a:rPr lang="en-US" dirty="0">
                <a:solidFill>
                  <a:schemeClr val="bg2">
                    <a:lumMod val="25000"/>
                  </a:schemeClr>
                </a:solidFill>
              </a:rPr>
              <a:t>These learning resources have been built for Texas students, aligned to the Texas Essential Knowledge and Skills, and are made available pursuant to Chapter 31, Subchapter B-1 of the Texas Education Code.</a:t>
            </a:r>
            <a:endParaRPr lang="en-US" dirty="0">
              <a:solidFill>
                <a:schemeClr val="bg2">
                  <a:lumMod val="25000"/>
                </a:schemeClr>
              </a:solidFill>
              <a:cs typeface="Calibri"/>
            </a:endParaRPr>
          </a:p>
          <a:p>
            <a:r>
              <a:rPr lang="en-US" dirty="0">
                <a:solidFill>
                  <a:schemeClr val="bg2">
                    <a:lumMod val="25000"/>
                  </a:schemeClr>
                </a:solidFill>
              </a:rPr>
              <a:t>If you have further questions or to report an error, please email </a:t>
            </a:r>
            <a:r>
              <a:rPr lang="en-US" dirty="0">
                <a:solidFill>
                  <a:schemeClr val="bg2">
                    <a:lumMod val="25000"/>
                  </a:schemeClr>
                </a:solidFill>
                <a:hlinkClick r:id="rId3">
                  <a:extLst>
                    <a:ext uri="{A12FA001-AC4F-418D-AE19-62706E023703}">
                      <ahyp:hlinkClr xmlns:ahyp="http://schemas.microsoft.com/office/drawing/2018/hyperlinkcolor" val="tx"/>
                    </a:ext>
                  </a:extLst>
                </a:hlinkClick>
              </a:rPr>
              <a:t>openeducationresources@tea.texas.gov</a:t>
            </a:r>
            <a:r>
              <a:rPr lang="en-US" dirty="0">
                <a:solidFill>
                  <a:schemeClr val="bg2">
                    <a:lumMod val="25000"/>
                  </a:schemeClr>
                </a:solidFill>
              </a:rPr>
              <a:t>.</a:t>
            </a:r>
          </a:p>
          <a:p>
            <a:endParaRPr lang="en-US" dirty="0">
              <a:solidFill>
                <a:schemeClr val="bg2">
                  <a:lumMod val="25000"/>
                </a:schemeClr>
              </a:solidFill>
              <a:cs typeface="Calibri"/>
            </a:endParaRPr>
          </a:p>
          <a:p>
            <a:r>
              <a:rPr lang="en-US" dirty="0">
                <a:solidFill>
                  <a:schemeClr val="bg2">
                    <a:lumMod val="25000"/>
                  </a:schemeClr>
                </a:solidFill>
                <a:cs typeface="Calibri"/>
              </a:rPr>
              <a:t>Copyright ©2024 Texas Education Agency. This work based on or adapted from materials contained in Great Minds' Eureka Math® K-5 PDF files. </a:t>
            </a:r>
          </a:p>
          <a:p>
            <a:endParaRPr lang="en-US" dirty="0">
              <a:solidFill>
                <a:schemeClr val="bg2">
                  <a:lumMod val="25000"/>
                </a:schemeClr>
              </a:solidFill>
              <a:cs typeface="Calibri"/>
            </a:endParaRPr>
          </a:p>
          <a:p>
            <a:r>
              <a:rPr lang="en-US" dirty="0">
                <a:solidFill>
                  <a:schemeClr val="bg2">
                    <a:lumMod val="25000"/>
                  </a:schemeClr>
                </a:solidFill>
                <a:cs typeface="Calibri"/>
              </a:rPr>
              <a:t>These materials are made available by the Texas Education Agency under an open license. For information about the license and your rights to use the materials, visit: </a:t>
            </a:r>
            <a:r>
              <a:rPr lang="en-US" dirty="0">
                <a:solidFill>
                  <a:schemeClr val="bg2">
                    <a:lumMod val="25000"/>
                  </a:schemeClr>
                </a:solidFill>
                <a:cs typeface="Calibri"/>
                <a:hlinkClick r:id="rId4">
                  <a:extLst>
                    <a:ext uri="{A12FA001-AC4F-418D-AE19-62706E023703}">
                      <ahyp:hlinkClr xmlns:ahyp="http://schemas.microsoft.com/office/drawing/2018/hyperlinkcolor" val="tx"/>
                    </a:ext>
                  </a:extLst>
                </a:hlinkClick>
              </a:rPr>
              <a:t>https://tea.texas.gov/K-5Math</a:t>
            </a:r>
            <a:r>
              <a:rPr lang="en-US" dirty="0">
                <a:solidFill>
                  <a:schemeClr val="bg2">
                    <a:lumMod val="25000"/>
                  </a:schemeClr>
                </a:solidFill>
                <a:cs typeface="Calibri"/>
              </a:rPr>
              <a:t>. </a:t>
            </a:r>
          </a:p>
        </p:txBody>
      </p:sp>
      <p:pic>
        <p:nvPicPr>
          <p:cNvPr id="3" name="Picture 2" descr="A blue and black logo&#10;&#10;AI-generated content may be incorrect.">
            <a:extLst>
              <a:ext uri="{FF2B5EF4-FFF2-40B4-BE49-F238E27FC236}">
                <a16:creationId xmlns:a16="http://schemas.microsoft.com/office/drawing/2014/main" id="{8A2CBEDA-4313-4320-C727-637FCF5AEF98}"/>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84963" y="101527"/>
            <a:ext cx="2080268" cy="682524"/>
          </a:xfrm>
          <a:prstGeom prst="rect">
            <a:avLst/>
          </a:prstGeom>
        </p:spPr>
      </p:pic>
      <p:sp>
        <p:nvSpPr>
          <p:cNvPr id="8" name="TextBox 7">
            <a:extLst>
              <a:ext uri="{FF2B5EF4-FFF2-40B4-BE49-F238E27FC236}">
                <a16:creationId xmlns:a16="http://schemas.microsoft.com/office/drawing/2014/main" id="{AC3E9A39-7598-7D98-AC32-2789E161EFE4}"/>
              </a:ext>
            </a:extLst>
          </p:cNvPr>
          <p:cNvSpPr txBox="1"/>
          <p:nvPr userDrawn="1"/>
        </p:nvSpPr>
        <p:spPr>
          <a:xfrm>
            <a:off x="862304" y="69238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Tree>
    <p:extLst>
      <p:ext uri="{BB962C8B-B14F-4D97-AF65-F5344CB8AC3E}">
        <p14:creationId xmlns:p14="http://schemas.microsoft.com/office/powerpoint/2010/main" val="3997474161"/>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Alg I_Activity">
    <p:bg>
      <p:bgPr>
        <a:solidFill>
          <a:schemeClr val="bg1"/>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2C7DDC4C-990F-1B63-3B21-F01BAF7FCDF9}"/>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1"/>
          </a:xfrm>
          <a:prstGeom prst="rect">
            <a:avLst/>
          </a:prstGeom>
        </p:spPr>
      </p:pic>
      <p:sp>
        <p:nvSpPr>
          <p:cNvPr id="6" name="Google Shape;61;g28e21d7ade9_0_16">
            <a:extLst>
              <a:ext uri="{FF2B5EF4-FFF2-40B4-BE49-F238E27FC236}">
                <a16:creationId xmlns:a16="http://schemas.microsoft.com/office/drawing/2014/main" id="{F6D852E4-016A-EA34-8A0F-CD386348DEB3}"/>
              </a:ext>
              <a:ext uri="{C183D7F6-B498-43B3-948B-1728B52AA6E4}">
                <adec:decorative xmlns:adec="http://schemas.microsoft.com/office/drawing/2017/decorative" val="1"/>
              </a:ext>
            </a:extLst>
          </p:cNvPr>
          <p:cNvSpPr txBox="1"/>
          <p:nvPr userDrawn="1"/>
        </p:nvSpPr>
        <p:spPr>
          <a:xfrm>
            <a:off x="3352800" y="2984501"/>
            <a:ext cx="5499100" cy="1143000"/>
          </a:xfrm>
          <a:prstGeom prst="rect">
            <a:avLst/>
          </a:prstGeom>
          <a:solidFill>
            <a:srgbClr val="61449B"/>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endParaRPr baseline="0" dirty="0">
              <a:solidFill>
                <a:schemeClr val="bg1"/>
              </a:solidFill>
              <a:latin typeface="Calibri" panose="020F0502020204030204" pitchFamily="34" charset="0"/>
            </a:endParaRPr>
          </a:p>
        </p:txBody>
      </p:sp>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40100" y="3136900"/>
            <a:ext cx="3302000"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r"/>
            <a:r>
              <a:rPr lang="en-US" baseline="0" dirty="0">
                <a:solidFill>
                  <a:schemeClr val="bg1"/>
                </a:solidFill>
                <a:latin typeface="Calibri" panose="020F0502020204030204" pitchFamily="34" charset="0"/>
              </a:rPr>
              <a:t>Activity </a:t>
            </a:r>
            <a:endParaRPr baseline="0" dirty="0">
              <a:solidFill>
                <a:schemeClr val="bg1"/>
              </a:solidFill>
              <a:latin typeface="Calibri" panose="020F0502020204030204" pitchFamily="34" charset="0"/>
            </a:endParaRPr>
          </a:p>
        </p:txBody>
      </p:sp>
      <p:sp>
        <p:nvSpPr>
          <p:cNvPr id="7" name="Text Placeholder 6">
            <a:extLst>
              <a:ext uri="{FF2B5EF4-FFF2-40B4-BE49-F238E27FC236}">
                <a16:creationId xmlns:a16="http://schemas.microsoft.com/office/drawing/2014/main" id="{D2068F8D-A07F-AA10-7BDF-A0C4AF8C7BFF}"/>
              </a:ext>
            </a:extLst>
          </p:cNvPr>
          <p:cNvSpPr>
            <a:spLocks noGrp="1"/>
          </p:cNvSpPr>
          <p:nvPr>
            <p:ph type="body" sz="quarter" idx="11" hasCustomPrompt="1"/>
          </p:nvPr>
        </p:nvSpPr>
        <p:spPr>
          <a:xfrm>
            <a:off x="6769100" y="2957776"/>
            <a:ext cx="2025986" cy="1125537"/>
          </a:xfrm>
          <a:prstGeom prst="rect">
            <a:avLst/>
          </a:prstGeom>
        </p:spPr>
        <p:txBody>
          <a:bodyPr/>
          <a:lstStyle>
            <a:lvl1pPr marL="0" indent="0" algn="l">
              <a:buNone/>
              <a:defRPr sz="7500" b="1">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lvl="0"/>
            <a:r>
              <a:rPr lang="en-US" dirty="0"/>
              <a:t>##</a:t>
            </a:r>
          </a:p>
        </p:txBody>
      </p:sp>
      <p:pic>
        <p:nvPicPr>
          <p:cNvPr id="4" name="Picture 3" descr="A black and white image of a stopwatch&#10;&#10;Description automatically generated">
            <a:extLst>
              <a:ext uri="{FF2B5EF4-FFF2-40B4-BE49-F238E27FC236}">
                <a16:creationId xmlns:a16="http://schemas.microsoft.com/office/drawing/2014/main" id="{D534F636-9377-D630-3F35-5D038B245C6E}"/>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DAE8B7F8-6AC2-B8A4-640E-8FE90B678918}"/>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163847949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Alg I_Talk the Talk">
    <p:bg>
      <p:bgPr>
        <a:solidFill>
          <a:schemeClr val="bg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2F47A7CF-FA6E-9D63-4999-01B9A163DA2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1"/>
          </a:xfrm>
          <a:prstGeom prst="rect">
            <a:avLst/>
          </a:prstGeom>
        </p:spPr>
      </p:pic>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52800" y="2984501"/>
            <a:ext cx="5499100" cy="1143000"/>
          </a:xfrm>
          <a:prstGeom prst="rect">
            <a:avLst/>
          </a:prstGeom>
          <a:solidFill>
            <a:srgbClr val="61449B"/>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Talk the Talk</a:t>
            </a:r>
            <a:endParaRPr baseline="0" dirty="0">
              <a:solidFill>
                <a:schemeClr val="bg1"/>
              </a:solidFill>
              <a:latin typeface="Calibri" panose="020F0502020204030204" pitchFamily="34" charset="0"/>
            </a:endParaRPr>
          </a:p>
        </p:txBody>
      </p:sp>
      <p:pic>
        <p:nvPicPr>
          <p:cNvPr id="10" name="Picture 9" descr="A black and white image of a stopwatch&#10;&#10;Description automatically generated">
            <a:extLst>
              <a:ext uri="{FF2B5EF4-FFF2-40B4-BE49-F238E27FC236}">
                <a16:creationId xmlns:a16="http://schemas.microsoft.com/office/drawing/2014/main" id="{CE73D4F7-C35E-90BA-B80C-E6CB2DC880F5}"/>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1AA23D1B-1B3F-0CA6-C43C-BA9AEE12E5DF}"/>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3843213058"/>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Alg I_Getting Started">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68B0634-51E2-A394-6F7B-F27A1B40C705}"/>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1"/>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2767915" y="2984501"/>
            <a:ext cx="6660292" cy="1143000"/>
          </a:xfrm>
          <a:prstGeom prst="rect">
            <a:avLst/>
          </a:prstGeom>
          <a:solidFill>
            <a:srgbClr val="61449B"/>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Getting Started</a:t>
            </a:r>
            <a:endParaRPr baseline="0" dirty="0">
              <a:solidFill>
                <a:schemeClr val="bg1"/>
              </a:solidFill>
              <a:latin typeface="Calibri" panose="020F0502020204030204" pitchFamily="34" charset="0"/>
            </a:endParaRPr>
          </a:p>
        </p:txBody>
      </p:sp>
      <p:pic>
        <p:nvPicPr>
          <p:cNvPr id="8" name="Picture 7" descr="A black and white image of a stopwatch&#10;&#10;Description automatically generated">
            <a:extLst>
              <a:ext uri="{FF2B5EF4-FFF2-40B4-BE49-F238E27FC236}">
                <a16:creationId xmlns:a16="http://schemas.microsoft.com/office/drawing/2014/main" id="{D0B206A4-53F8-1A55-3AAC-FA344E665088}"/>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9" name="Text Placeholder 10">
            <a:extLst>
              <a:ext uri="{FF2B5EF4-FFF2-40B4-BE49-F238E27FC236}">
                <a16:creationId xmlns:a16="http://schemas.microsoft.com/office/drawing/2014/main" id="{B0FE485E-9F70-BE82-8FD9-400E2BFB5CAC}"/>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3528388299"/>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1_Alg I_Getting Started">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E506744-2E5F-1C5E-C83C-024AB6A1E91D}"/>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1"/>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3866323" y="2984501"/>
            <a:ext cx="4432852" cy="1143000"/>
          </a:xfrm>
          <a:prstGeom prst="rect">
            <a:avLst/>
          </a:prstGeom>
          <a:solidFill>
            <a:srgbClr val="61449B"/>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Prepare</a:t>
            </a:r>
            <a:endParaRPr baseline="0" dirty="0">
              <a:solidFill>
                <a:schemeClr val="bg1"/>
              </a:solidFill>
              <a:latin typeface="Calibri" panose="020F0502020204030204" pitchFamily="34" charset="0"/>
            </a:endParaRPr>
          </a:p>
        </p:txBody>
      </p:sp>
    </p:spTree>
    <p:extLst>
      <p:ext uri="{BB962C8B-B14F-4D97-AF65-F5344CB8AC3E}">
        <p14:creationId xmlns:p14="http://schemas.microsoft.com/office/powerpoint/2010/main" val="4228713111"/>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Alg I_Session Divider">
    <p:bg>
      <p:bgPr>
        <a:solidFill>
          <a:schemeClr val="bg1"/>
        </a:solidFill>
        <a:effectLst/>
      </p:bgPr>
    </p:bg>
    <p:spTree>
      <p:nvGrpSpPr>
        <p:cNvPr id="1" name=""/>
        <p:cNvGrpSpPr/>
        <p:nvPr/>
      </p:nvGrpSpPr>
      <p:grpSpPr>
        <a:xfrm>
          <a:off x="0" y="0"/>
          <a:ext cx="0" cy="0"/>
          <a:chOff x="0" y="0"/>
          <a:chExt cx="0" cy="0"/>
        </a:xfrm>
      </p:grpSpPr>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4918157" y="2955793"/>
            <a:ext cx="1512037"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r>
              <a:rPr lang="en-US" baseline="0" dirty="0">
                <a:solidFill>
                  <a:schemeClr val="bg2">
                    <a:lumMod val="10000"/>
                  </a:schemeClr>
                </a:solidFill>
                <a:latin typeface="Calibri" panose="020F0502020204030204" pitchFamily="34" charset="0"/>
              </a:rPr>
              <a:t>Day</a:t>
            </a:r>
            <a:endParaRPr baseline="0" dirty="0">
              <a:solidFill>
                <a:schemeClr val="bg2">
                  <a:lumMod val="10000"/>
                </a:schemeClr>
              </a:solidFill>
              <a:latin typeface="Calibri" panose="020F0502020204030204" pitchFamily="34" charset="0"/>
            </a:endParaRPr>
          </a:p>
        </p:txBody>
      </p:sp>
      <p:sp>
        <p:nvSpPr>
          <p:cNvPr id="6" name="Text Placeholder 5">
            <a:extLst>
              <a:ext uri="{FF2B5EF4-FFF2-40B4-BE49-F238E27FC236}">
                <a16:creationId xmlns:a16="http://schemas.microsoft.com/office/drawing/2014/main" id="{387DC733-57F9-7B5A-186D-1BA8C44555D4}"/>
              </a:ext>
            </a:extLst>
          </p:cNvPr>
          <p:cNvSpPr>
            <a:spLocks noGrp="1"/>
          </p:cNvSpPr>
          <p:nvPr>
            <p:ph type="body" sz="quarter" idx="11" hasCustomPrompt="1"/>
          </p:nvPr>
        </p:nvSpPr>
        <p:spPr>
          <a:xfrm>
            <a:off x="5578106" y="2843523"/>
            <a:ext cx="1061883" cy="1071562"/>
          </a:xfrm>
          <a:prstGeom prst="rect">
            <a:avLst/>
          </a:prstGeom>
        </p:spPr>
        <p:txBody>
          <a:bodyPr/>
          <a:lstStyle>
            <a:lvl5pPr marL="1828800" indent="0" algn="ctr">
              <a:buNone/>
              <a:defRPr sz="7500" b="1">
                <a:solidFill>
                  <a:srgbClr val="000000"/>
                </a:solidFill>
                <a:latin typeface="Calibri" panose="020F0502020204030204" pitchFamily="34" charset="0"/>
                <a:ea typeface="Calibri" panose="020F0502020204030204" pitchFamily="34" charset="0"/>
                <a:cs typeface="Calibri" panose="020F0502020204030204" pitchFamily="34" charset="0"/>
              </a:defRPr>
            </a:lvl5pPr>
          </a:lstStyle>
          <a:p>
            <a:pPr lvl="4"/>
            <a:r>
              <a:rPr lang="en-US" dirty="0"/>
              <a:t>#</a:t>
            </a:r>
          </a:p>
        </p:txBody>
      </p:sp>
      <p:pic>
        <p:nvPicPr>
          <p:cNvPr id="5" name="Picture 4">
            <a:extLst>
              <a:ext uri="{FF2B5EF4-FFF2-40B4-BE49-F238E27FC236}">
                <a16:creationId xmlns:a16="http://schemas.microsoft.com/office/drawing/2014/main" id="{5B5A1052-DF6F-F0CD-A7AF-D701A097127D}"/>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2" y="4663225"/>
            <a:ext cx="12190407" cy="2194775"/>
          </a:xfrm>
          <a:prstGeom prst="rect">
            <a:avLst/>
          </a:prstGeom>
        </p:spPr>
      </p:pic>
      <p:pic>
        <p:nvPicPr>
          <p:cNvPr id="2" name="Picture 1">
            <a:extLst>
              <a:ext uri="{FF2B5EF4-FFF2-40B4-BE49-F238E27FC236}">
                <a16:creationId xmlns:a16="http://schemas.microsoft.com/office/drawing/2014/main" id="{E083018B-9E78-94F8-9F15-923743DC0976}"/>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rot="10800000">
            <a:off x="6" y="0"/>
            <a:ext cx="12190407" cy="2194775"/>
          </a:xfrm>
          <a:prstGeom prst="rect">
            <a:avLst/>
          </a:prstGeom>
        </p:spPr>
      </p:pic>
    </p:spTree>
    <p:extLst>
      <p:ext uri="{BB962C8B-B14F-4D97-AF65-F5344CB8AC3E}">
        <p14:creationId xmlns:p14="http://schemas.microsoft.com/office/powerpoint/2010/main" val="1496294887"/>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Alg I_Cutouts Divider">
    <p:bg>
      <p:bgPr>
        <a:solidFill>
          <a:schemeClr val="bg1"/>
        </a:solid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D0DF6CF-F4AD-69B3-86F7-6B8955E3F2B1}"/>
              </a:ext>
            </a:extLst>
          </p:cNvPr>
          <p:cNvSpPr>
            <a:spLocks noGrp="1"/>
          </p:cNvSpPr>
          <p:nvPr>
            <p:ph type="body" sz="quarter" idx="10"/>
          </p:nvPr>
        </p:nvSpPr>
        <p:spPr>
          <a:xfrm>
            <a:off x="5171005" y="2395538"/>
            <a:ext cx="1848402" cy="1033462"/>
          </a:xfrm>
          <a:prstGeom prst="rect">
            <a:avLst/>
          </a:prstGeom>
        </p:spPr>
        <p:txBody>
          <a:bodyPr/>
          <a:lstStyle>
            <a:lvl1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1pPr>
            <a:lvl2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2pPr>
            <a:lvl3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3pPr>
            <a:lvl4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4pPr>
            <a:lvl5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3" name="Picture 2">
            <a:extLst>
              <a:ext uri="{FF2B5EF4-FFF2-40B4-BE49-F238E27FC236}">
                <a16:creationId xmlns:a16="http://schemas.microsoft.com/office/drawing/2014/main" id="{04EF9367-6309-BD09-F10A-FF6AF59B6262}"/>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2" y="4663225"/>
            <a:ext cx="12190407" cy="2194775"/>
          </a:xfrm>
          <a:prstGeom prst="rect">
            <a:avLst/>
          </a:prstGeom>
        </p:spPr>
      </p:pic>
    </p:spTree>
    <p:extLst>
      <p:ext uri="{BB962C8B-B14F-4D97-AF65-F5344CB8AC3E}">
        <p14:creationId xmlns:p14="http://schemas.microsoft.com/office/powerpoint/2010/main" val="4274146368"/>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Alg I_Back Cover">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51AE3BF-9E99-B24F-E743-EB1A42651CB3}"/>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2" y="4663225"/>
            <a:ext cx="12190407" cy="2194775"/>
          </a:xfrm>
          <a:prstGeom prst="rect">
            <a:avLst/>
          </a:prstGeom>
        </p:spPr>
      </p:pic>
      <p:sp>
        <p:nvSpPr>
          <p:cNvPr id="4" name="Text Placeholder 3">
            <a:extLst>
              <a:ext uri="{FF2B5EF4-FFF2-40B4-BE49-F238E27FC236}">
                <a16:creationId xmlns:a16="http://schemas.microsoft.com/office/drawing/2014/main" id="{9C323EF9-0FCF-481F-97C8-ABBEA6C0F486}"/>
              </a:ext>
            </a:extLst>
          </p:cNvPr>
          <p:cNvSpPr>
            <a:spLocks noGrp="1"/>
          </p:cNvSpPr>
          <p:nvPr>
            <p:ph type="body" sz="quarter" idx="10" hasCustomPrompt="1"/>
          </p:nvPr>
        </p:nvSpPr>
        <p:spPr>
          <a:xfrm>
            <a:off x="8155889" y="4975063"/>
            <a:ext cx="3431356" cy="414778"/>
          </a:xfrm>
          <a:prstGeom prst="rect">
            <a:avLst/>
          </a:prstGeom>
          <a:solidFill>
            <a:srgbClr val="61449B"/>
          </a:solidFill>
        </p:spPr>
        <p:txBody>
          <a:bodyPr lIns="0" rIns="0" anchor="ctr"/>
          <a:lstStyle>
            <a:lvl1pPr marL="0" indent="0" algn="ctr">
              <a:buNone/>
              <a:defRPr sz="1800">
                <a:solidFill>
                  <a:schemeClr val="bg1"/>
                </a:solidFill>
              </a:defRPr>
            </a:lvl1pPr>
            <a:lvl4pPr marL="1371600" indent="0">
              <a:buNone/>
              <a:defRPr/>
            </a:lvl4pPr>
          </a:lstStyle>
          <a:p>
            <a:pPr lvl="0"/>
            <a:r>
              <a:rPr lang="en-US" dirty="0"/>
              <a:t>UNIQUE ID</a:t>
            </a:r>
          </a:p>
        </p:txBody>
      </p:sp>
      <p:grpSp>
        <p:nvGrpSpPr>
          <p:cNvPr id="5" name="Group 4">
            <a:extLst>
              <a:ext uri="{FF2B5EF4-FFF2-40B4-BE49-F238E27FC236}">
                <a16:creationId xmlns:a16="http://schemas.microsoft.com/office/drawing/2014/main" id="{CB4B7E3B-5741-B70F-3A0A-3E11BCF38FEB}"/>
              </a:ext>
            </a:extLst>
          </p:cNvPr>
          <p:cNvGrpSpPr/>
          <p:nvPr userDrawn="1"/>
        </p:nvGrpSpPr>
        <p:grpSpPr>
          <a:xfrm>
            <a:off x="9053008" y="227306"/>
            <a:ext cx="2910578" cy="1472169"/>
            <a:chOff x="8940726" y="132485"/>
            <a:chExt cx="2910578" cy="1472169"/>
          </a:xfrm>
        </p:grpSpPr>
        <p:pic>
          <p:nvPicPr>
            <p:cNvPr id="6" name="Picture 5" descr="A blue and black logo&#10;&#10;AI-generated content may be incorrect.">
              <a:extLst>
                <a:ext uri="{FF2B5EF4-FFF2-40B4-BE49-F238E27FC236}">
                  <a16:creationId xmlns:a16="http://schemas.microsoft.com/office/drawing/2014/main" id="{E7939853-80EF-C461-0365-6353B33278A2}"/>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7" name="TextBox 6">
              <a:extLst>
                <a:ext uri="{FF2B5EF4-FFF2-40B4-BE49-F238E27FC236}">
                  <a16:creationId xmlns:a16="http://schemas.microsoft.com/office/drawing/2014/main" id="{580B98D7-A8B1-479E-0522-2C0BC59CE093}"/>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
          <p:nvSpPr>
            <p:cNvPr id="8" name="Rounded Rectangle 7">
              <a:extLst>
                <a:ext uri="{FF2B5EF4-FFF2-40B4-BE49-F238E27FC236}">
                  <a16:creationId xmlns:a16="http://schemas.microsoft.com/office/drawing/2014/main" id="{DAAFCF8B-077A-7325-2A07-02B9BADACB35}"/>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4C6EED1-1022-7E70-EA88-6CC6F479360D}"/>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dirty="0">
                  <a:solidFill>
                    <a:schemeClr val="bg2">
                      <a:lumMod val="50000"/>
                    </a:schemeClr>
                  </a:solidFill>
                  <a:latin typeface="Calibri" panose="020F0502020204030204" pitchFamily="34" charset="0"/>
                  <a:cs typeface="Calibri" panose="020F0502020204030204" pitchFamily="34" charset="0"/>
                </a:rPr>
                <a:t>EDITION 1</a:t>
              </a:r>
            </a:p>
          </p:txBody>
        </p:sp>
      </p:grpSp>
      <p:sp>
        <p:nvSpPr>
          <p:cNvPr id="10" name="Round Single Corner Rectangle 9">
            <a:extLst>
              <a:ext uri="{FF2B5EF4-FFF2-40B4-BE49-F238E27FC236}">
                <a16:creationId xmlns:a16="http://schemas.microsoft.com/office/drawing/2014/main" id="{93823D53-B128-B4F8-9323-2DE21A5AC48C}"/>
              </a:ext>
            </a:extLst>
          </p:cNvPr>
          <p:cNvSpPr/>
          <p:nvPr userDrawn="1"/>
        </p:nvSpPr>
        <p:spPr>
          <a:xfrm rot="10800000" flipH="1">
            <a:off x="0" y="0"/>
            <a:ext cx="2467555" cy="954942"/>
          </a:xfrm>
          <a:prstGeom prst="round1Rect">
            <a:avLst/>
          </a:prstGeom>
          <a:solidFill>
            <a:srgbClr val="61449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61ED4D92-107A-5626-60FD-8669F753FD4A}"/>
              </a:ext>
            </a:extLst>
          </p:cNvPr>
          <p:cNvSpPr txBox="1"/>
          <p:nvPr userDrawn="1"/>
        </p:nvSpPr>
        <p:spPr>
          <a:xfrm>
            <a:off x="0" y="280732"/>
            <a:ext cx="2467555" cy="461665"/>
          </a:xfrm>
          <a:prstGeom prst="rect">
            <a:avLst/>
          </a:prstGeom>
          <a:noFill/>
        </p:spPr>
        <p:txBody>
          <a:bodyPr wrap="square" rtlCol="0">
            <a:spAutoFit/>
          </a:bodyPr>
          <a:lstStyle/>
          <a:p>
            <a:pPr algn="ctr"/>
            <a:r>
              <a:rPr lang="en-US" sz="2400" dirty="0">
                <a:solidFill>
                  <a:schemeClr val="bg1"/>
                </a:solidFill>
              </a:rPr>
              <a:t>ENGLISH</a:t>
            </a:r>
          </a:p>
        </p:txBody>
      </p:sp>
    </p:spTree>
    <p:extLst>
      <p:ext uri="{BB962C8B-B14F-4D97-AF65-F5344CB8AC3E}">
        <p14:creationId xmlns:p14="http://schemas.microsoft.com/office/powerpoint/2010/main" val="2109433897"/>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Objectiv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1829944-32A0-A52A-BF8F-4735C4809687}"/>
              </a:ext>
            </a:extLst>
          </p:cNvPr>
          <p:cNvSpPr/>
          <p:nvPr userDrawn="1"/>
        </p:nvSpPr>
        <p:spPr>
          <a:xfrm>
            <a:off x="-1586" y="1392600"/>
            <a:ext cx="12192000" cy="549097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 Placeholder 3">
            <a:extLst>
              <a:ext uri="{FF2B5EF4-FFF2-40B4-BE49-F238E27FC236}">
                <a16:creationId xmlns:a16="http://schemas.microsoft.com/office/drawing/2014/main" id="{D79E0344-0011-1E90-A995-632330E63EB5}"/>
              </a:ext>
            </a:extLst>
          </p:cNvPr>
          <p:cNvSpPr>
            <a:spLocks noGrp="1"/>
          </p:cNvSpPr>
          <p:nvPr>
            <p:ph type="body" sz="quarter" idx="10"/>
          </p:nvPr>
        </p:nvSpPr>
        <p:spPr>
          <a:xfrm>
            <a:off x="836614" y="2159879"/>
            <a:ext cx="10515599" cy="3956418"/>
          </a:xfrm>
          <a:prstGeom prst="rect">
            <a:avLst/>
          </a:prstGeom>
        </p:spPr>
        <p:txBody>
          <a:bodyPr/>
          <a:lstStyle>
            <a:lvl1pPr marL="0" indent="0" algn="ctr">
              <a:buNone/>
              <a:defRPr sz="4400">
                <a:solidFill>
                  <a:schemeClr val="bg2">
                    <a:lumMod val="25000"/>
                  </a:schemeClr>
                </a:solidFill>
              </a:defRPr>
            </a:lvl1pPr>
            <a:lvl2pPr marL="457200" indent="0" algn="ctr">
              <a:buNone/>
              <a:defRPr sz="4400"/>
            </a:lvl2pPr>
            <a:lvl3pPr marL="914400" indent="0" algn="ctr">
              <a:buNone/>
              <a:defRPr sz="4400"/>
            </a:lvl3pPr>
            <a:lvl4pPr marL="1371600" indent="0" algn="ctr">
              <a:buNone/>
              <a:defRPr sz="4400"/>
            </a:lvl4pPr>
            <a:lvl5pPr marL="1828800" indent="0" algn="ctr">
              <a:buNone/>
              <a:defRPr sz="4400"/>
            </a:lvl5pPr>
          </a:lstStyle>
          <a:p>
            <a:pPr lvl="0"/>
            <a:r>
              <a:rPr lang="en-US" dirty="0"/>
              <a:t>Click to edit Master text styles</a:t>
            </a:r>
          </a:p>
        </p:txBody>
      </p:sp>
      <p:sp>
        <p:nvSpPr>
          <p:cNvPr id="2" name="Rectangle 1">
            <a:extLst>
              <a:ext uri="{FF2B5EF4-FFF2-40B4-BE49-F238E27FC236}">
                <a16:creationId xmlns:a16="http://schemas.microsoft.com/office/drawing/2014/main" id="{EAD99D76-9E3B-F682-01E8-888F253831AF}"/>
              </a:ext>
            </a:extLst>
          </p:cNvPr>
          <p:cNvSpPr/>
          <p:nvPr userDrawn="1"/>
        </p:nvSpPr>
        <p:spPr>
          <a:xfrm>
            <a:off x="0" y="0"/>
            <a:ext cx="7575442" cy="927652"/>
          </a:xfrm>
          <a:prstGeom prst="rect">
            <a:avLst/>
          </a:prstGeom>
          <a:solidFill>
            <a:srgbClr val="61449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28B98FEA-D4C0-8394-EFDC-1E0F624AD0AF}"/>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575442" y="0"/>
            <a:ext cx="4614969" cy="931320"/>
          </a:xfrm>
          <a:prstGeom prst="rect">
            <a:avLst/>
          </a:prstGeom>
        </p:spPr>
      </p:pic>
      <p:sp>
        <p:nvSpPr>
          <p:cNvPr id="6" name="Title 5">
            <a:extLst>
              <a:ext uri="{FF2B5EF4-FFF2-40B4-BE49-F238E27FC236}">
                <a16:creationId xmlns:a16="http://schemas.microsoft.com/office/drawing/2014/main" id="{BD8B91BD-71BF-8DE9-CC35-80883F08DEDC}"/>
              </a:ext>
            </a:extLst>
          </p:cNvPr>
          <p:cNvSpPr>
            <a:spLocks noGrp="1"/>
          </p:cNvSpPr>
          <p:nvPr>
            <p:ph type="title" hasCustomPrompt="1"/>
          </p:nvPr>
        </p:nvSpPr>
        <p:spPr>
          <a:xfrm>
            <a:off x="0" y="0"/>
            <a:ext cx="6094413" cy="926757"/>
          </a:xfrm>
          <a:prstGeom prst="rect">
            <a:avLst/>
          </a:prstGeom>
          <a:noFill/>
        </p:spPr>
        <p:txBody>
          <a:bodyPr lIns="457200" anchor="ctr"/>
          <a:lstStyle>
            <a:lvl1pPr>
              <a:defRPr sz="4000" b="1">
                <a:solidFill>
                  <a:schemeClr val="bg1"/>
                </a:solidFill>
              </a:defRPr>
            </a:lvl1pPr>
          </a:lstStyle>
          <a:p>
            <a:r>
              <a:rPr lang="en-US" dirty="0"/>
              <a:t>Objectives</a:t>
            </a:r>
          </a:p>
        </p:txBody>
      </p:sp>
    </p:spTree>
    <p:extLst>
      <p:ext uri="{BB962C8B-B14F-4D97-AF65-F5344CB8AC3E}">
        <p14:creationId xmlns:p14="http://schemas.microsoft.com/office/powerpoint/2010/main" val="90232955"/>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erminology">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23B0928-1D5C-86AC-B6D2-6C4246A897D0}"/>
              </a:ext>
            </a:extLst>
          </p:cNvPr>
          <p:cNvSpPr>
            <a:spLocks noGrp="1"/>
          </p:cNvSpPr>
          <p:nvPr>
            <p:ph type="body" sz="quarter" idx="10" hasCustomPrompt="1"/>
          </p:nvPr>
        </p:nvSpPr>
        <p:spPr>
          <a:xfrm>
            <a:off x="852488" y="1652588"/>
            <a:ext cx="10515600" cy="1169743"/>
          </a:xfrm>
          <a:prstGeom prst="rect">
            <a:avLst/>
          </a:prstGeom>
        </p:spPr>
        <p:txBody>
          <a:bodyPr/>
          <a:lstStyle>
            <a:lvl1pPr marL="0" indent="0">
              <a:buNone/>
              <a:defRPr>
                <a:solidFill>
                  <a:schemeClr val="bg2">
                    <a:lumMod val="25000"/>
                  </a:schemeClr>
                </a:solidFill>
              </a:defRPr>
            </a:lvl1pPr>
          </a:lstStyle>
          <a:p>
            <a:pPr lvl="0"/>
            <a:r>
              <a:rPr lang="en-US" dirty="0"/>
              <a:t>Click to add text</a:t>
            </a:r>
          </a:p>
        </p:txBody>
      </p:sp>
      <p:sp>
        <p:nvSpPr>
          <p:cNvPr id="5" name="Picture Placeholder 4">
            <a:extLst>
              <a:ext uri="{FF2B5EF4-FFF2-40B4-BE49-F238E27FC236}">
                <a16:creationId xmlns:a16="http://schemas.microsoft.com/office/drawing/2014/main" id="{C3DA5AEB-614E-452B-EDEF-80B18EE3E858}"/>
              </a:ext>
            </a:extLst>
          </p:cNvPr>
          <p:cNvSpPr>
            <a:spLocks noGrp="1"/>
          </p:cNvSpPr>
          <p:nvPr>
            <p:ph type="pic" sz="quarter" idx="11"/>
          </p:nvPr>
        </p:nvSpPr>
        <p:spPr>
          <a:xfrm>
            <a:off x="3427412" y="3217943"/>
            <a:ext cx="5335588" cy="2505075"/>
          </a:xfrm>
          <a:prstGeom prst="rect">
            <a:avLst/>
          </a:prstGeom>
        </p:spPr>
        <p:txBody>
          <a:bodyPr/>
          <a:lstStyle>
            <a:lvl1pPr marL="0" indent="0">
              <a:buNone/>
              <a:defRPr/>
            </a:lvl1pPr>
          </a:lstStyle>
          <a:p>
            <a:endParaRPr lang="en-US" dirty="0"/>
          </a:p>
        </p:txBody>
      </p:sp>
      <p:sp>
        <p:nvSpPr>
          <p:cNvPr id="4" name="Title 1">
            <a:extLst>
              <a:ext uri="{FF2B5EF4-FFF2-40B4-BE49-F238E27FC236}">
                <a16:creationId xmlns:a16="http://schemas.microsoft.com/office/drawing/2014/main" id="{CD7B4969-F122-3811-0A1A-DDA09AF4AB50}"/>
              </a:ext>
            </a:extLst>
          </p:cNvPr>
          <p:cNvSpPr>
            <a:spLocks noGrp="1"/>
          </p:cNvSpPr>
          <p:nvPr>
            <p:ph type="title" hasCustomPrompt="1"/>
          </p:nvPr>
        </p:nvSpPr>
        <p:spPr>
          <a:xfrm>
            <a:off x="777240" y="1"/>
            <a:ext cx="11425482" cy="1263192"/>
          </a:xfrm>
          <a:prstGeom prst="rect">
            <a:avLst/>
          </a:prstGeom>
        </p:spPr>
        <p:txBody>
          <a:bodyPr anchor="ctr"/>
          <a:lstStyle>
            <a:lvl1pPr>
              <a:defRPr sz="4000">
                <a:solidFill>
                  <a:srgbClr val="2B8147"/>
                </a:solidFill>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dirty="0">
                <a:solidFill>
                  <a:srgbClr val="000000"/>
                </a:solidFill>
                <a:latin typeface="Calibri" panose="020F0502020204030204"/>
                <a:ea typeface="Calibri" panose="020F0502020204030204"/>
                <a:cs typeface="Calibri" panose="020F0502020204030204"/>
                <a:sym typeface="Calibri" panose="020F0502020204030204"/>
              </a:rPr>
              <a:t>Key Terms</a:t>
            </a:r>
          </a:p>
        </p:txBody>
      </p:sp>
      <p:pic>
        <p:nvPicPr>
          <p:cNvPr id="6" name="Picture 5">
            <a:extLst>
              <a:ext uri="{FF2B5EF4-FFF2-40B4-BE49-F238E27FC236}">
                <a16:creationId xmlns:a16="http://schemas.microsoft.com/office/drawing/2014/main" id="{5CDE9F74-7CE7-793B-B90F-365B5F549D7A}"/>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4097277462"/>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Application Problem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AED5C8A3-5037-99DF-15E1-2833226D35D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36;g295eeb86cda_3_40"/>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18" name="Text Placeholder 16"/>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0331744C-9446-EF32-247E-53D724128298}"/>
              </a:ext>
            </a:extLst>
          </p:cNvPr>
          <p:cNvSpPr>
            <a:spLocks noGrp="1"/>
          </p:cNvSpPr>
          <p:nvPr>
            <p:ph type="title" hasCustomPrompt="1"/>
          </p:nvPr>
        </p:nvSpPr>
        <p:spPr>
          <a:xfrm>
            <a:off x="777240" y="0"/>
            <a:ext cx="11389135" cy="1253765"/>
          </a:xfrm>
          <a:prstGeom prst="rect">
            <a:avLst/>
          </a:prstGeom>
        </p:spPr>
        <p:txBody>
          <a:bodyPr anchor="ctr"/>
          <a:lstStyle/>
          <a:p>
            <a:pPr marL="0" marR="0" lvl="0" indent="0" algn="l" defTabSz="914400" rtl="0" eaLnBrk="1" fontAlgn="auto" latinLnBrk="0" hangingPunct="1">
              <a:lnSpc>
                <a:spcPct val="10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Application Problem</a:t>
            </a:r>
          </a:p>
        </p:txBody>
      </p:sp>
      <p:pic>
        <p:nvPicPr>
          <p:cNvPr id="5" name="Picture 4">
            <a:extLst>
              <a:ext uri="{FF2B5EF4-FFF2-40B4-BE49-F238E27FC236}">
                <a16:creationId xmlns:a16="http://schemas.microsoft.com/office/drawing/2014/main" id="{16C20936-BAEF-0860-376C-E62AEA172F37}"/>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2340698759"/>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1_RDW_Horizontal">
    <p:spTree>
      <p:nvGrpSpPr>
        <p:cNvPr id="1" name=""/>
        <p:cNvGrpSpPr/>
        <p:nvPr/>
      </p:nvGrpSpPr>
      <p:grpSpPr>
        <a:xfrm>
          <a:off x="0" y="0"/>
          <a:ext cx="0" cy="0"/>
          <a:chOff x="0" y="0"/>
          <a:chExt cx="0" cy="0"/>
        </a:xfrm>
      </p:grpSpPr>
      <p:graphicFrame>
        <p:nvGraphicFramePr>
          <p:cNvPr id="14" name="Google Shape;42;g2960a169545_3_34"/>
          <p:cNvGraphicFramePr/>
          <p:nvPr userDrawn="1">
            <p:extLst>
              <p:ext uri="{D42A27DB-BD31-4B8C-83A1-F6EECF244321}">
                <p14:modId xmlns:p14="http://schemas.microsoft.com/office/powerpoint/2010/main" val="147912415"/>
              </p:ext>
            </p:extLst>
          </p:nvPr>
        </p:nvGraphicFramePr>
        <p:xfrm>
          <a:off x="775252" y="3783769"/>
          <a:ext cx="11082132" cy="2888103"/>
        </p:xfrm>
        <a:graphic>
          <a:graphicData uri="http://schemas.openxmlformats.org/drawingml/2006/table">
            <a:tbl>
              <a:tblPr firstRow="1" bandRow="1">
                <a:noFill/>
              </a:tblPr>
              <a:tblGrid>
                <a:gridCol w="3694044">
                  <a:extLst>
                    <a:ext uri="{9D8B030D-6E8A-4147-A177-3AD203B41FA5}">
                      <a16:colId xmlns:a16="http://schemas.microsoft.com/office/drawing/2014/main" val="20000"/>
                    </a:ext>
                  </a:extLst>
                </a:gridCol>
                <a:gridCol w="3694044">
                  <a:extLst>
                    <a:ext uri="{9D8B030D-6E8A-4147-A177-3AD203B41FA5}">
                      <a16:colId xmlns:a16="http://schemas.microsoft.com/office/drawing/2014/main" val="20001"/>
                    </a:ext>
                  </a:extLst>
                </a:gridCol>
                <a:gridCol w="3694044">
                  <a:extLst>
                    <a:ext uri="{9D8B030D-6E8A-4147-A177-3AD203B41FA5}">
                      <a16:colId xmlns:a16="http://schemas.microsoft.com/office/drawing/2014/main" val="20002"/>
                    </a:ext>
                  </a:extLst>
                </a:gridCol>
              </a:tblGrid>
              <a:tr h="244012">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Read</a:t>
                      </a:r>
                      <a:endParaRPr sz="1800" b="1" u="none" strike="noStrike" cap="none" dirty="0">
                        <a:solidFill>
                          <a:schemeClr val="bg2">
                            <a:lumMod val="25000"/>
                          </a:schemeClr>
                        </a:solidFill>
                      </a:endParaRPr>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Draw</a:t>
                      </a:r>
                      <a:endParaRPr sz="1800" b="1" u="none" strike="noStrike" cap="none" dirty="0">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Write</a:t>
                      </a:r>
                      <a:endParaRPr sz="1800" b="1" u="none" strike="noStrike" cap="none" dirty="0">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2430893">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dirty="0"/>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dirty="0"/>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3" name="Text Placeholder 2">
            <a:extLst>
              <a:ext uri="{FF2B5EF4-FFF2-40B4-BE49-F238E27FC236}">
                <a16:creationId xmlns:a16="http://schemas.microsoft.com/office/drawing/2014/main" id="{F5DB9EBA-92A2-D9BE-5A55-8378E259446A}"/>
              </a:ext>
            </a:extLst>
          </p:cNvPr>
          <p:cNvSpPr>
            <a:spLocks noGrp="1"/>
          </p:cNvSpPr>
          <p:nvPr>
            <p:ph type="body" sz="quarter" idx="10" hasCustomPrompt="1"/>
          </p:nvPr>
        </p:nvSpPr>
        <p:spPr>
          <a:xfrm>
            <a:off x="765313" y="1479938"/>
            <a:ext cx="11060341" cy="2072153"/>
          </a:xfrm>
          <a:prstGeom prst="rect">
            <a:avLst/>
          </a:prstGeom>
        </p:spPr>
        <p:txBody>
          <a:bodyPr/>
          <a:lstStyle>
            <a:lvl1pPr marL="0" indent="0">
              <a:buNone/>
              <a:defRPr sz="2200">
                <a:solidFill>
                  <a:schemeClr val="bg2">
                    <a:lumMod val="25000"/>
                  </a:schemeClr>
                </a:solidFill>
              </a:defRPr>
            </a:lvl1pPr>
          </a:lstStyle>
          <a:p>
            <a:pPr lvl="0"/>
            <a:r>
              <a:rPr lang="en-US" dirty="0"/>
              <a:t>Click to add text</a:t>
            </a:r>
          </a:p>
        </p:txBody>
      </p:sp>
      <p:sp>
        <p:nvSpPr>
          <p:cNvPr id="2" name="Title 1">
            <a:extLst>
              <a:ext uri="{FF2B5EF4-FFF2-40B4-BE49-F238E27FC236}">
                <a16:creationId xmlns:a16="http://schemas.microsoft.com/office/drawing/2014/main" id="{100D03EF-224B-F87A-5FAF-CA8E423C3783}"/>
              </a:ext>
            </a:extLst>
          </p:cNvPr>
          <p:cNvSpPr>
            <a:spLocks noGrp="1"/>
          </p:cNvSpPr>
          <p:nvPr>
            <p:ph type="title" hasCustomPrompt="1"/>
          </p:nvPr>
        </p:nvSpPr>
        <p:spPr>
          <a:xfrm>
            <a:off x="772211" y="0"/>
            <a:ext cx="11418202" cy="1263192"/>
          </a:xfrm>
          <a:prstGeom prst="rect">
            <a:avLst/>
          </a:prstGeom>
        </p:spPr>
        <p:txBody>
          <a:bodyPr anchor="ctr"/>
          <a:lstStyle/>
          <a:p>
            <a:pPr marL="0" marR="0" lvl="0" indent="0" algn="l" defTabSz="914400" rtl="0" eaLnBrk="1" fontAlgn="auto" latinLnBrk="0" hangingPunct="1">
              <a:lnSpc>
                <a:spcPct val="9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Read-Draw-Write for Application Problem</a:t>
            </a:r>
          </a:p>
        </p:txBody>
      </p:sp>
      <p:pic>
        <p:nvPicPr>
          <p:cNvPr id="4" name="Picture 3">
            <a:extLst>
              <a:ext uri="{FF2B5EF4-FFF2-40B4-BE49-F238E27FC236}">
                <a16:creationId xmlns:a16="http://schemas.microsoft.com/office/drawing/2014/main" id="{BCE33224-DA35-0C93-D411-F621BA6DFD2E}"/>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1759009647"/>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Fluency w/Timer">
    <p:spTree>
      <p:nvGrpSpPr>
        <p:cNvPr id="1" name=""/>
        <p:cNvGrpSpPr/>
        <p:nvPr/>
      </p:nvGrpSpPr>
      <p:grpSpPr>
        <a:xfrm>
          <a:off x="0" y="0"/>
          <a:ext cx="0" cy="0"/>
          <a:chOff x="0" y="0"/>
          <a:chExt cx="0" cy="0"/>
        </a:xfrm>
      </p:grpSpPr>
      <p:pic>
        <p:nvPicPr>
          <p:cNvPr id="2" name="Picture 1" descr="A black and white image of a stopwatch&#10;&#10;Description automatically generated">
            <a:extLst>
              <a:ext uri="{FF2B5EF4-FFF2-40B4-BE49-F238E27FC236}">
                <a16:creationId xmlns:a16="http://schemas.microsoft.com/office/drawing/2014/main" id="{45C93455-7637-1C42-D775-87043FDE14A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4" name="Google Shape;36;g295eeb86cda_3_40">
            <a:extLst>
              <a:ext uri="{FF2B5EF4-FFF2-40B4-BE49-F238E27FC236}">
                <a16:creationId xmlns:a16="http://schemas.microsoft.com/office/drawing/2014/main" id="{4B2B0557-EE61-8CF4-6E2D-B3BB9A4164D6}"/>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3" name="Text Placeholder 16">
            <a:extLst>
              <a:ext uri="{FF2B5EF4-FFF2-40B4-BE49-F238E27FC236}">
                <a16:creationId xmlns:a16="http://schemas.microsoft.com/office/drawing/2014/main" id="{2C85C328-7F49-71B9-5668-70282DB97885}"/>
              </a:ext>
            </a:extLst>
          </p:cNvPr>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Title 3">
            <a:extLst>
              <a:ext uri="{FF2B5EF4-FFF2-40B4-BE49-F238E27FC236}">
                <a16:creationId xmlns:a16="http://schemas.microsoft.com/office/drawing/2014/main" id="{BABD6038-9E2A-9278-C4F2-299A1A34E59F}"/>
              </a:ext>
            </a:extLst>
          </p:cNvPr>
          <p:cNvSpPr>
            <a:spLocks noGrp="1"/>
          </p:cNvSpPr>
          <p:nvPr>
            <p:ph type="title" hasCustomPrompt="1"/>
          </p:nvPr>
        </p:nvSpPr>
        <p:spPr>
          <a:xfrm>
            <a:off x="777240" y="7968"/>
            <a:ext cx="11413173" cy="1269462"/>
          </a:xfrm>
          <a:prstGeom prst="rect">
            <a:avLst/>
          </a:prstGeom>
        </p:spPr>
        <p:txBody>
          <a:bodyPr anchor="ctr"/>
          <a:lstStyle>
            <a:lvl1pPr>
              <a:defRPr b="1">
                <a:solidFill>
                  <a:schemeClr val="bg2">
                    <a:lumMod val="25000"/>
                  </a:schemeClr>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Fluency: </a:t>
            </a:r>
            <a:r>
              <a:rPr kumimoji="0" lang="en-US" b="0" i="0" u="none" strike="noStrike" kern="1200" cap="none" spc="0" normalizeH="0" baseline="0" noProof="0" dirty="0">
                <a:ln>
                  <a:noFill/>
                </a:ln>
                <a:solidFill>
                  <a:srgbClr val="000000"/>
                </a:solidFill>
                <a:effectLst/>
                <a:uLnTx/>
                <a:uFillTx/>
                <a:latin typeface="Calibri"/>
                <a:ea typeface="+mn-ea"/>
                <a:cs typeface="+mn-cs"/>
              </a:rPr>
              <a:t>Title (# of #)</a:t>
            </a:r>
            <a:endParaRPr lang="en-US" dirty="0"/>
          </a:p>
        </p:txBody>
      </p:sp>
      <p:pic>
        <p:nvPicPr>
          <p:cNvPr id="7" name="Picture 6">
            <a:extLst>
              <a:ext uri="{FF2B5EF4-FFF2-40B4-BE49-F238E27FC236}">
                <a16:creationId xmlns:a16="http://schemas.microsoft.com/office/drawing/2014/main" id="{1F38F35C-E1EA-7E26-CFA2-D2EABDFABD4E}"/>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571256340"/>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Concept Development">
    <p:spTree>
      <p:nvGrpSpPr>
        <p:cNvPr id="1" name=""/>
        <p:cNvGrpSpPr/>
        <p:nvPr/>
      </p:nvGrpSpPr>
      <p:grpSpPr>
        <a:xfrm>
          <a:off x="0" y="0"/>
          <a:ext cx="0" cy="0"/>
          <a:chOff x="0" y="0"/>
          <a:chExt cx="0" cy="0"/>
        </a:xfrm>
      </p:grpSpPr>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3" name="Picture 2">
            <a:extLst>
              <a:ext uri="{FF2B5EF4-FFF2-40B4-BE49-F238E27FC236}">
                <a16:creationId xmlns:a16="http://schemas.microsoft.com/office/drawing/2014/main" id="{E9096B68-4A77-76B9-2D56-7D11D872FDE0}"/>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2101545927"/>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Concept Development with Timer">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C120155D-CE40-03A5-821E-66ED1B28D635}"/>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3" name="Text Placeholder 16">
            <a:extLst>
              <a:ext uri="{FF2B5EF4-FFF2-40B4-BE49-F238E27FC236}">
                <a16:creationId xmlns:a16="http://schemas.microsoft.com/office/drawing/2014/main" id="{25782E0A-0BD4-715B-C55F-BBA8190C333D}"/>
              </a:ext>
            </a:extLst>
          </p:cNvPr>
          <p:cNvSpPr>
            <a:spLocks noGrp="1"/>
          </p:cNvSpPr>
          <p:nvPr>
            <p:ph type="body" sz="quarter" idx="10" hasCustomPrompt="1"/>
          </p:nvPr>
        </p:nvSpPr>
        <p:spPr>
          <a:xfrm>
            <a:off x="11127570" y="6036181"/>
            <a:ext cx="654121"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4" name="Picture 3">
            <a:extLst>
              <a:ext uri="{FF2B5EF4-FFF2-40B4-BE49-F238E27FC236}">
                <a16:creationId xmlns:a16="http://schemas.microsoft.com/office/drawing/2014/main" id="{DA82E847-E70E-3A6A-CC65-DAD8C5174886}"/>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2963580817"/>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Problem Set with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54725ABB-3358-BA78-ED3F-EE574662422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4" name="Text Placeholder 16"/>
          <p:cNvSpPr>
            <a:spLocks noGrp="1"/>
          </p:cNvSpPr>
          <p:nvPr>
            <p:ph type="body" sz="quarter" idx="10" hasCustomPrompt="1"/>
          </p:nvPr>
        </p:nvSpPr>
        <p:spPr>
          <a:xfrm>
            <a:off x="11140001" y="6036181"/>
            <a:ext cx="622969"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0C16ECBB-77EB-0635-C9C3-E4F98B5337AC}"/>
              </a:ext>
            </a:extLst>
          </p:cNvPr>
          <p:cNvSpPr>
            <a:spLocks noGrp="1"/>
          </p:cNvSpPr>
          <p:nvPr>
            <p:ph type="title" hasCustomPrompt="1"/>
          </p:nvPr>
        </p:nvSpPr>
        <p:spPr>
          <a:xfrm>
            <a:off x="777240" y="1"/>
            <a:ext cx="11407898"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Problem Set</a:t>
            </a:r>
          </a:p>
        </p:txBody>
      </p:sp>
      <p:sp>
        <p:nvSpPr>
          <p:cNvPr id="4" name="Google Shape;69;g2950041fd6d_0_282">
            <a:extLst>
              <a:ext uri="{FF2B5EF4-FFF2-40B4-BE49-F238E27FC236}">
                <a16:creationId xmlns:a16="http://schemas.microsoft.com/office/drawing/2014/main" id="{9D7369C9-C599-CE95-CCD3-2B81A765581C}"/>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pic>
        <p:nvPicPr>
          <p:cNvPr id="6" name="Picture 5">
            <a:extLst>
              <a:ext uri="{FF2B5EF4-FFF2-40B4-BE49-F238E27FC236}">
                <a16:creationId xmlns:a16="http://schemas.microsoft.com/office/drawing/2014/main" id="{E929BE76-65BC-6165-2E99-A58E49A36F95}"/>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4013431962"/>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Student Debrief">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DAC79665-DA63-6390-C217-C3166216C1B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1" name="Google Shape;80;g295eeb86cda_3_104"/>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571500" lvl="0" indent="-457200" algn="l">
              <a:lnSpc>
                <a:spcPct val="100000"/>
              </a:lnSpc>
              <a:spcBef>
                <a:spcPts val="1000"/>
              </a:spcBef>
              <a:spcAft>
                <a:spcPts val="0"/>
              </a:spcAft>
              <a:buClr>
                <a:schemeClr val="dk1"/>
              </a:buClr>
              <a:buSzPct val="100000"/>
              <a:buFont typeface="Arial" panose="020B0604020202020204" pitchFamily="34" charset="0"/>
              <a:buChar char="•"/>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dirty="0"/>
          </a:p>
        </p:txBody>
      </p:sp>
      <p:sp>
        <p:nvSpPr>
          <p:cNvPr id="14" name="Text Placeholder 16"/>
          <p:cNvSpPr>
            <a:spLocks noGrp="1"/>
          </p:cNvSpPr>
          <p:nvPr>
            <p:ph type="body" sz="quarter" idx="10" hasCustomPrompt="1"/>
          </p:nvPr>
        </p:nvSpPr>
        <p:spPr>
          <a:xfrm>
            <a:off x="11127570" y="6036181"/>
            <a:ext cx="645330"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FB0B6DF2-911F-E608-84A0-0D6E6AF4BF7B}"/>
              </a:ext>
            </a:extLst>
          </p:cNvPr>
          <p:cNvSpPr>
            <a:spLocks noGrp="1"/>
          </p:cNvSpPr>
          <p:nvPr>
            <p:ph type="title" hasCustomPrompt="1"/>
          </p:nvPr>
        </p:nvSpPr>
        <p:spPr>
          <a:xfrm>
            <a:off x="777240" y="1"/>
            <a:ext cx="11390313"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Student Debrief</a:t>
            </a:r>
          </a:p>
        </p:txBody>
      </p:sp>
      <p:pic>
        <p:nvPicPr>
          <p:cNvPr id="5" name="Picture 4">
            <a:extLst>
              <a:ext uri="{FF2B5EF4-FFF2-40B4-BE49-F238E27FC236}">
                <a16:creationId xmlns:a16="http://schemas.microsoft.com/office/drawing/2014/main" id="{2D8527D9-6738-140E-CAE9-854D12AA994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18228953"/>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Exit Ticket">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87BF7481-2AB1-1F79-65F6-B47BE9EECE0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3" name="Text Placeholder 16">
            <a:extLst>
              <a:ext uri="{FF2B5EF4-FFF2-40B4-BE49-F238E27FC236}">
                <a16:creationId xmlns:a16="http://schemas.microsoft.com/office/drawing/2014/main" id="{BC6A2CE5-7968-8B98-9B39-FF49F2E9FD9A}"/>
              </a:ext>
            </a:extLst>
          </p:cNvPr>
          <p:cNvSpPr>
            <a:spLocks noGrp="1"/>
          </p:cNvSpPr>
          <p:nvPr>
            <p:ph type="body" sz="quarter" idx="11" hasCustomPrompt="1"/>
          </p:nvPr>
        </p:nvSpPr>
        <p:spPr>
          <a:xfrm>
            <a:off x="11127571" y="6036181"/>
            <a:ext cx="635400"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Google Shape;80;g295eeb86cda_3_104">
            <a:extLst>
              <a:ext uri="{FF2B5EF4-FFF2-40B4-BE49-F238E27FC236}">
                <a16:creationId xmlns:a16="http://schemas.microsoft.com/office/drawing/2014/main" id="{E879CF37-D19C-8989-9D60-7E089D9CFD43}"/>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114300" lvl="0" indent="0" algn="l">
              <a:lnSpc>
                <a:spcPct val="100000"/>
              </a:lnSpc>
              <a:spcBef>
                <a:spcPts val="1000"/>
              </a:spcBef>
              <a:spcAft>
                <a:spcPts val="0"/>
              </a:spcAft>
              <a:buClr>
                <a:schemeClr val="dk1"/>
              </a:buClr>
              <a:buSzPct val="100000"/>
              <a:buFont typeface="Arial" panose="020B0604020202020204" pitchFamily="34" charset="0"/>
              <a:buNone/>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dirty="0"/>
          </a:p>
        </p:txBody>
      </p:sp>
      <p:sp>
        <p:nvSpPr>
          <p:cNvPr id="7" name="Title 1">
            <a:extLst>
              <a:ext uri="{FF2B5EF4-FFF2-40B4-BE49-F238E27FC236}">
                <a16:creationId xmlns:a16="http://schemas.microsoft.com/office/drawing/2014/main" id="{3820E38D-87BF-6F8F-072E-A0D77CD81A20}"/>
              </a:ext>
            </a:extLst>
          </p:cNvPr>
          <p:cNvSpPr>
            <a:spLocks noGrp="1"/>
          </p:cNvSpPr>
          <p:nvPr>
            <p:ph type="title" hasCustomPrompt="1"/>
          </p:nvPr>
        </p:nvSpPr>
        <p:spPr>
          <a:xfrm>
            <a:off x="777240" y="1"/>
            <a:ext cx="11425482"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Exit Ticket</a:t>
            </a:r>
          </a:p>
        </p:txBody>
      </p:sp>
      <p:pic>
        <p:nvPicPr>
          <p:cNvPr id="4" name="Picture 3">
            <a:extLst>
              <a:ext uri="{FF2B5EF4-FFF2-40B4-BE49-F238E27FC236}">
                <a16:creationId xmlns:a16="http://schemas.microsoft.com/office/drawing/2014/main" id="{90177C41-8A77-B2A7-EC04-03F37364BC9D}"/>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2062348260"/>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2_Alg I_Title Slide">
    <p:bg>
      <p:bgPr>
        <a:solidFill>
          <a:schemeClr val="bg1"/>
        </a:solidFill>
        <a:effectLst/>
      </p:bgPr>
    </p:bg>
    <p:spTree>
      <p:nvGrpSpPr>
        <p:cNvPr id="1" name=""/>
        <p:cNvGrpSpPr/>
        <p:nvPr/>
      </p:nvGrpSpPr>
      <p:grpSpPr>
        <a:xfrm>
          <a:off x="0" y="0"/>
          <a:ext cx="0" cy="0"/>
          <a:chOff x="0" y="0"/>
          <a:chExt cx="0" cy="0"/>
        </a:xfrm>
      </p:grpSpPr>
      <p:sp>
        <p:nvSpPr>
          <p:cNvPr id="3" name="Text Placeholder 3">
            <a:extLst>
              <a:ext uri="{FF2B5EF4-FFF2-40B4-BE49-F238E27FC236}">
                <a16:creationId xmlns:a16="http://schemas.microsoft.com/office/drawing/2014/main" id="{F992793D-996B-68F1-CC42-4A64BF66E531}"/>
              </a:ext>
            </a:extLst>
          </p:cNvPr>
          <p:cNvSpPr>
            <a:spLocks noGrp="1"/>
          </p:cNvSpPr>
          <p:nvPr>
            <p:ph type="body" sz="quarter" idx="10" hasCustomPrompt="1"/>
          </p:nvPr>
        </p:nvSpPr>
        <p:spPr>
          <a:xfrm>
            <a:off x="-1590" y="1622759"/>
            <a:ext cx="12192003" cy="1819137"/>
          </a:xfrm>
          <a:prstGeom prst="rect">
            <a:avLst/>
          </a:prstGeom>
        </p:spPr>
        <p:txBody>
          <a:bodyPr/>
          <a:lstStyle>
            <a:lvl1pPr marL="0" indent="0" algn="ctr">
              <a:buNone/>
              <a:defRPr sz="6000" b="1">
                <a:solidFill>
                  <a:srgbClr val="0084AC"/>
                </a:solidFill>
              </a:defRPr>
            </a:lvl1pPr>
          </a:lstStyle>
          <a:p>
            <a:pPr lvl="0"/>
            <a:r>
              <a:rPr lang="en-US" sz="6000" dirty="0"/>
              <a:t>Module Name</a:t>
            </a:r>
          </a:p>
          <a:p>
            <a:pPr lvl="0"/>
            <a:r>
              <a:rPr lang="en-US" sz="6000" dirty="0"/>
              <a:t>Name</a:t>
            </a:r>
          </a:p>
          <a:p>
            <a:pPr lvl="0"/>
            <a:endParaRPr lang="en-US" dirty="0"/>
          </a:p>
        </p:txBody>
      </p:sp>
      <p:sp>
        <p:nvSpPr>
          <p:cNvPr id="5" name="Text Placeholder 5">
            <a:extLst>
              <a:ext uri="{FF2B5EF4-FFF2-40B4-BE49-F238E27FC236}">
                <a16:creationId xmlns:a16="http://schemas.microsoft.com/office/drawing/2014/main" id="{74F0E467-86F1-F51B-377D-DE8A5155B5E1}"/>
              </a:ext>
            </a:extLst>
          </p:cNvPr>
          <p:cNvSpPr>
            <a:spLocks noGrp="1"/>
          </p:cNvSpPr>
          <p:nvPr>
            <p:ph type="body" sz="quarter" idx="13" hasCustomPrompt="1"/>
          </p:nvPr>
        </p:nvSpPr>
        <p:spPr>
          <a:xfrm>
            <a:off x="-1590" y="3641189"/>
            <a:ext cx="12190413" cy="822457"/>
          </a:xfrm>
          <a:prstGeom prst="rect">
            <a:avLst/>
          </a:prstGeom>
        </p:spPr>
        <p:txBody>
          <a:bodyPr anchor="ctr"/>
          <a:lstStyle>
            <a:lvl1pPr marL="0" indent="0" algn="ctr">
              <a:buNone/>
              <a:defRPr sz="4400" b="0">
                <a:solidFill>
                  <a:srgbClr val="143965"/>
                </a:solidFill>
              </a:defRPr>
            </a:lvl1pPr>
          </a:lstStyle>
          <a:p>
            <a:pPr lvl="0"/>
            <a:r>
              <a:rPr lang="en-US" dirty="0"/>
              <a:t>Grade # | Module # | Topic X | Lesson #</a:t>
            </a:r>
          </a:p>
        </p:txBody>
      </p:sp>
      <p:sp>
        <p:nvSpPr>
          <p:cNvPr id="2" name="Round Single Corner Rectangle 1">
            <a:extLst>
              <a:ext uri="{FF2B5EF4-FFF2-40B4-BE49-F238E27FC236}">
                <a16:creationId xmlns:a16="http://schemas.microsoft.com/office/drawing/2014/main" id="{7D24360F-9CDE-6F31-8095-CEDD386A0B5F}"/>
              </a:ext>
            </a:extLst>
          </p:cNvPr>
          <p:cNvSpPr/>
          <p:nvPr userDrawn="1"/>
        </p:nvSpPr>
        <p:spPr>
          <a:xfrm rot="10800000" flipH="1">
            <a:off x="0" y="0"/>
            <a:ext cx="2467555" cy="954942"/>
          </a:xfrm>
          <a:prstGeom prst="round1Rect">
            <a:avLst/>
          </a:prstGeom>
          <a:solidFill>
            <a:srgbClr val="0084A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6706451E-BBBC-107B-E631-3F63997BE9D6}"/>
              </a:ext>
            </a:extLst>
          </p:cNvPr>
          <p:cNvSpPr txBox="1"/>
          <p:nvPr userDrawn="1"/>
        </p:nvSpPr>
        <p:spPr>
          <a:xfrm>
            <a:off x="0" y="280732"/>
            <a:ext cx="2467555" cy="461665"/>
          </a:xfrm>
          <a:prstGeom prst="rect">
            <a:avLst/>
          </a:prstGeom>
          <a:noFill/>
        </p:spPr>
        <p:txBody>
          <a:bodyPr wrap="square" rtlCol="0">
            <a:spAutoFit/>
          </a:bodyPr>
          <a:lstStyle/>
          <a:p>
            <a:pPr algn="ctr"/>
            <a:r>
              <a:rPr lang="en-US" sz="2400" dirty="0">
                <a:solidFill>
                  <a:schemeClr val="bg1"/>
                </a:solidFill>
              </a:rPr>
              <a:t>ENGLISH</a:t>
            </a:r>
          </a:p>
        </p:txBody>
      </p:sp>
      <p:pic>
        <p:nvPicPr>
          <p:cNvPr id="18" name="Picture 17" descr="A blue and black logo&#10;&#10;AI-generated content may be incorrect.">
            <a:extLst>
              <a:ext uri="{FF2B5EF4-FFF2-40B4-BE49-F238E27FC236}">
                <a16:creationId xmlns:a16="http://schemas.microsoft.com/office/drawing/2014/main" id="{B203EADC-2DB3-1EE5-60AF-D1787BEEC073}"/>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19" name="TextBox 18">
            <a:extLst>
              <a:ext uri="{FF2B5EF4-FFF2-40B4-BE49-F238E27FC236}">
                <a16:creationId xmlns:a16="http://schemas.microsoft.com/office/drawing/2014/main" id="{2804B40F-0DA7-E0E3-162C-E301ABDD7551}"/>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
        <p:nvSpPr>
          <p:cNvPr id="20" name="Rounded Rectangle 19">
            <a:extLst>
              <a:ext uri="{FF2B5EF4-FFF2-40B4-BE49-F238E27FC236}">
                <a16:creationId xmlns:a16="http://schemas.microsoft.com/office/drawing/2014/main" id="{A6542DB2-F324-40CF-3B49-6D031A4E64E1}"/>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E0930552-3750-2EC0-AA03-FF31F6332588}"/>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dirty="0">
                <a:solidFill>
                  <a:schemeClr val="bg2">
                    <a:lumMod val="50000"/>
                  </a:schemeClr>
                </a:solidFill>
                <a:latin typeface="Calibri" panose="020F0502020204030204" pitchFamily="34" charset="0"/>
                <a:cs typeface="Calibri" panose="020F0502020204030204" pitchFamily="34" charset="0"/>
              </a:rPr>
              <a:t>EDITION 1</a:t>
            </a:r>
          </a:p>
        </p:txBody>
      </p:sp>
      <p:pic>
        <p:nvPicPr>
          <p:cNvPr id="8" name="Picture 7">
            <a:extLst>
              <a:ext uri="{FF2B5EF4-FFF2-40B4-BE49-F238E27FC236}">
                <a16:creationId xmlns:a16="http://schemas.microsoft.com/office/drawing/2014/main" id="{F8551CF0-DABA-0FFF-DE83-145FA6143FA8}"/>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 y="4663225"/>
            <a:ext cx="12190407" cy="2194774"/>
          </a:xfrm>
          <a:prstGeom prst="rect">
            <a:avLst/>
          </a:prstGeom>
        </p:spPr>
      </p:pic>
    </p:spTree>
    <p:extLst>
      <p:ext uri="{BB962C8B-B14F-4D97-AF65-F5344CB8AC3E}">
        <p14:creationId xmlns:p14="http://schemas.microsoft.com/office/powerpoint/2010/main" val="2592599623"/>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9_G2 Copyright">
    <p:bg>
      <p:bgPr>
        <a:solidFill>
          <a:schemeClr val="bg1"/>
        </a:solidFill>
        <a:effectLst/>
      </p:bgPr>
    </p:bg>
    <p:spTree>
      <p:nvGrpSpPr>
        <p:cNvPr id="1" name=""/>
        <p:cNvGrpSpPr/>
        <p:nvPr/>
      </p:nvGrpSpPr>
      <p:grpSpPr>
        <a:xfrm>
          <a:off x="0" y="0"/>
          <a:ext cx="0" cy="0"/>
          <a:chOff x="0" y="0"/>
          <a:chExt cx="0" cy="0"/>
        </a:xfrm>
      </p:grpSpPr>
      <p:pic>
        <p:nvPicPr>
          <p:cNvPr id="18" name="Picture 17">
            <a:extLst>
              <a:ext uri="{FF2B5EF4-FFF2-40B4-BE49-F238E27FC236}">
                <a16:creationId xmlns:a16="http://schemas.microsoft.com/office/drawing/2014/main" id="{72307BBC-7B87-E2A3-8D37-F3412D1BA5D0}"/>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932192"/>
            <a:ext cx="12190410" cy="5925807"/>
          </a:xfrm>
          <a:prstGeom prst="rect">
            <a:avLst/>
          </a:prstGeom>
        </p:spPr>
      </p:pic>
      <p:sp>
        <p:nvSpPr>
          <p:cNvPr id="4" name="Oval 3">
            <a:extLst>
              <a:ext uri="{FF2B5EF4-FFF2-40B4-BE49-F238E27FC236}">
                <a16:creationId xmlns:a16="http://schemas.microsoft.com/office/drawing/2014/main" id="{ABB595A4-9EBD-188A-EC7D-0AAB0001E823}"/>
              </a:ext>
            </a:extLst>
          </p:cNvPr>
          <p:cNvSpPr/>
          <p:nvPr userDrawn="1"/>
        </p:nvSpPr>
        <p:spPr>
          <a:xfrm>
            <a:off x="1668545" y="2356700"/>
            <a:ext cx="1715678" cy="2648931"/>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E5165B0B-BFFB-F8AF-28CB-AB06CD2FE816}"/>
              </a:ext>
            </a:extLst>
          </p:cNvPr>
          <p:cNvSpPr/>
          <p:nvPr userDrawn="1"/>
        </p:nvSpPr>
        <p:spPr>
          <a:xfrm>
            <a:off x="1310326" y="4873659"/>
            <a:ext cx="2073897" cy="6790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E5A3C38-7B14-ED97-6C60-8F0EC5C9B272}"/>
              </a:ext>
            </a:extLst>
          </p:cNvPr>
          <p:cNvSpPr txBox="1"/>
          <p:nvPr userDrawn="1"/>
        </p:nvSpPr>
        <p:spPr>
          <a:xfrm>
            <a:off x="1023907" y="1792363"/>
            <a:ext cx="10141011" cy="4247317"/>
          </a:xfrm>
          <a:prstGeom prst="rect">
            <a:avLst/>
          </a:prstGeom>
          <a:solidFill>
            <a:schemeClr val="bg1"/>
          </a:solidFill>
          <a:ln w="38100">
            <a:solidFill>
              <a:schemeClr val="bg1"/>
            </a:solidFill>
          </a:ln>
        </p:spPr>
        <p:txBody>
          <a:bodyPr wrap="square" lIns="91440" tIns="45720" rIns="91440" bIns="45720" rtlCol="0" anchor="t">
            <a:spAutoFit/>
          </a:bodyPr>
          <a:lstStyle/>
          <a:p>
            <a:r>
              <a:rPr lang="en-US" b="1" dirty="0">
                <a:solidFill>
                  <a:schemeClr val="bg2">
                    <a:lumMod val="25000"/>
                  </a:schemeClr>
                </a:solidFill>
              </a:rPr>
              <a:t>Acknowledgment</a:t>
            </a:r>
          </a:p>
          <a:p>
            <a:r>
              <a:rPr lang="en-US" dirty="0">
                <a:solidFill>
                  <a:schemeClr val="bg2">
                    <a:lumMod val="25000"/>
                  </a:schemeClr>
                </a:solidFill>
              </a:rPr>
              <a:t>Thank you to all the Texas educators and stakeholders who supported the review process and provided feedback. These materials are the result of the work of numerous individuals, and we are deeply grateful for their contributions.</a:t>
            </a:r>
            <a:endParaRPr lang="en-US" dirty="0">
              <a:solidFill>
                <a:schemeClr val="bg2">
                  <a:lumMod val="25000"/>
                </a:schemeClr>
              </a:solidFill>
              <a:cs typeface="Calibri"/>
            </a:endParaRPr>
          </a:p>
          <a:p>
            <a:endParaRPr lang="en-US" dirty="0">
              <a:solidFill>
                <a:schemeClr val="bg2">
                  <a:lumMod val="25000"/>
                </a:schemeClr>
              </a:solidFill>
            </a:endParaRPr>
          </a:p>
          <a:p>
            <a:r>
              <a:rPr lang="en-US" b="1" dirty="0">
                <a:solidFill>
                  <a:schemeClr val="bg2">
                    <a:lumMod val="25000"/>
                  </a:schemeClr>
                </a:solidFill>
              </a:rPr>
              <a:t>Notice</a:t>
            </a:r>
            <a:endParaRPr lang="en-US" b="1" dirty="0">
              <a:solidFill>
                <a:schemeClr val="bg2">
                  <a:lumMod val="25000"/>
                </a:schemeClr>
              </a:solidFill>
              <a:cs typeface="Calibri"/>
            </a:endParaRPr>
          </a:p>
          <a:p>
            <a:r>
              <a:rPr lang="en-US" dirty="0">
                <a:solidFill>
                  <a:schemeClr val="bg2">
                    <a:lumMod val="25000"/>
                  </a:schemeClr>
                </a:solidFill>
              </a:rPr>
              <a:t>These learning resources have been built for Texas students, aligned to the Texas Essential Knowledge and Skills, and are made available pursuant to Chapter 31, Subchapter B-1 of the Texas Education Code.</a:t>
            </a:r>
            <a:endParaRPr lang="en-US" dirty="0">
              <a:solidFill>
                <a:schemeClr val="bg2">
                  <a:lumMod val="25000"/>
                </a:schemeClr>
              </a:solidFill>
              <a:cs typeface="Calibri"/>
            </a:endParaRPr>
          </a:p>
          <a:p>
            <a:r>
              <a:rPr lang="en-US" dirty="0">
                <a:solidFill>
                  <a:schemeClr val="bg2">
                    <a:lumMod val="25000"/>
                  </a:schemeClr>
                </a:solidFill>
              </a:rPr>
              <a:t>If you have further questions or to report an error, please email </a:t>
            </a:r>
            <a:r>
              <a:rPr lang="en-US" dirty="0">
                <a:solidFill>
                  <a:schemeClr val="bg2">
                    <a:lumMod val="25000"/>
                  </a:schemeClr>
                </a:solidFill>
                <a:hlinkClick r:id="rId3">
                  <a:extLst>
                    <a:ext uri="{A12FA001-AC4F-418D-AE19-62706E023703}">
                      <ahyp:hlinkClr xmlns:ahyp="http://schemas.microsoft.com/office/drawing/2018/hyperlinkcolor" val="tx"/>
                    </a:ext>
                  </a:extLst>
                </a:hlinkClick>
              </a:rPr>
              <a:t>openeducationresources@tea.texas.gov</a:t>
            </a:r>
            <a:r>
              <a:rPr lang="en-US" dirty="0">
                <a:solidFill>
                  <a:schemeClr val="bg2">
                    <a:lumMod val="25000"/>
                  </a:schemeClr>
                </a:solidFill>
              </a:rPr>
              <a:t>.</a:t>
            </a:r>
          </a:p>
          <a:p>
            <a:endParaRPr lang="en-US" dirty="0">
              <a:solidFill>
                <a:schemeClr val="bg2">
                  <a:lumMod val="25000"/>
                </a:schemeClr>
              </a:solidFill>
              <a:cs typeface="Calibri"/>
            </a:endParaRPr>
          </a:p>
          <a:p>
            <a:r>
              <a:rPr lang="en-US" dirty="0">
                <a:solidFill>
                  <a:schemeClr val="bg2">
                    <a:lumMod val="25000"/>
                  </a:schemeClr>
                </a:solidFill>
                <a:cs typeface="Calibri"/>
              </a:rPr>
              <a:t>Copyright ©2024 Texas Education Agency. This work based on or adapted from materials contained in Great Minds' Eureka Math® K-5 PDF files. </a:t>
            </a:r>
          </a:p>
          <a:p>
            <a:endParaRPr lang="en-US" dirty="0">
              <a:solidFill>
                <a:schemeClr val="bg2">
                  <a:lumMod val="25000"/>
                </a:schemeClr>
              </a:solidFill>
              <a:cs typeface="Calibri"/>
            </a:endParaRPr>
          </a:p>
          <a:p>
            <a:r>
              <a:rPr lang="en-US" dirty="0">
                <a:solidFill>
                  <a:schemeClr val="bg2">
                    <a:lumMod val="25000"/>
                  </a:schemeClr>
                </a:solidFill>
                <a:cs typeface="Calibri"/>
              </a:rPr>
              <a:t>These materials are made available by the Texas Education Agency under an open license. For information about the license and your rights to use the materials, visit: </a:t>
            </a:r>
            <a:r>
              <a:rPr lang="en-US" dirty="0">
                <a:solidFill>
                  <a:schemeClr val="bg2">
                    <a:lumMod val="25000"/>
                  </a:schemeClr>
                </a:solidFill>
                <a:cs typeface="Calibri"/>
                <a:hlinkClick r:id="rId4">
                  <a:extLst>
                    <a:ext uri="{A12FA001-AC4F-418D-AE19-62706E023703}">
                      <ahyp:hlinkClr xmlns:ahyp="http://schemas.microsoft.com/office/drawing/2018/hyperlinkcolor" val="tx"/>
                    </a:ext>
                  </a:extLst>
                </a:hlinkClick>
              </a:rPr>
              <a:t>https://tea.texas.gov/K-5Math</a:t>
            </a:r>
            <a:r>
              <a:rPr lang="en-US" dirty="0">
                <a:solidFill>
                  <a:schemeClr val="bg2">
                    <a:lumMod val="25000"/>
                  </a:schemeClr>
                </a:solidFill>
                <a:cs typeface="Calibri"/>
              </a:rPr>
              <a:t>. </a:t>
            </a:r>
          </a:p>
        </p:txBody>
      </p:sp>
      <p:pic>
        <p:nvPicPr>
          <p:cNvPr id="3" name="Picture 2" descr="A blue and black logo&#10;&#10;AI-generated content may be incorrect.">
            <a:extLst>
              <a:ext uri="{FF2B5EF4-FFF2-40B4-BE49-F238E27FC236}">
                <a16:creationId xmlns:a16="http://schemas.microsoft.com/office/drawing/2014/main" id="{8A2CBEDA-4313-4320-C727-637FCF5AEF98}"/>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84963" y="101527"/>
            <a:ext cx="2080268" cy="682524"/>
          </a:xfrm>
          <a:prstGeom prst="rect">
            <a:avLst/>
          </a:prstGeom>
        </p:spPr>
      </p:pic>
      <p:sp>
        <p:nvSpPr>
          <p:cNvPr id="8" name="TextBox 7">
            <a:extLst>
              <a:ext uri="{FF2B5EF4-FFF2-40B4-BE49-F238E27FC236}">
                <a16:creationId xmlns:a16="http://schemas.microsoft.com/office/drawing/2014/main" id="{AC3E9A39-7598-7D98-AC32-2789E161EFE4}"/>
              </a:ext>
            </a:extLst>
          </p:cNvPr>
          <p:cNvSpPr txBox="1"/>
          <p:nvPr userDrawn="1"/>
        </p:nvSpPr>
        <p:spPr>
          <a:xfrm>
            <a:off x="862304" y="69238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Tree>
    <p:extLst>
      <p:ext uri="{BB962C8B-B14F-4D97-AF65-F5344CB8AC3E}">
        <p14:creationId xmlns:p14="http://schemas.microsoft.com/office/powerpoint/2010/main" val="1663740677"/>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Alg I_Activity">
    <p:bg>
      <p:bgPr>
        <a:solidFill>
          <a:schemeClr val="bg1"/>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2C7DDC4C-990F-1B63-3B21-F01BAF7FCDF9}"/>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0"/>
          </a:xfrm>
          <a:prstGeom prst="rect">
            <a:avLst/>
          </a:prstGeom>
        </p:spPr>
      </p:pic>
      <p:sp>
        <p:nvSpPr>
          <p:cNvPr id="6" name="Google Shape;61;g28e21d7ade9_0_16">
            <a:extLst>
              <a:ext uri="{FF2B5EF4-FFF2-40B4-BE49-F238E27FC236}">
                <a16:creationId xmlns:a16="http://schemas.microsoft.com/office/drawing/2014/main" id="{F6D852E4-016A-EA34-8A0F-CD386348DEB3}"/>
              </a:ext>
              <a:ext uri="{C183D7F6-B498-43B3-948B-1728B52AA6E4}">
                <adec:decorative xmlns:adec="http://schemas.microsoft.com/office/drawing/2017/decorative" val="1"/>
              </a:ext>
            </a:extLst>
          </p:cNvPr>
          <p:cNvSpPr txBox="1"/>
          <p:nvPr userDrawn="1"/>
        </p:nvSpPr>
        <p:spPr>
          <a:xfrm>
            <a:off x="3352800" y="2984501"/>
            <a:ext cx="5499100" cy="1143000"/>
          </a:xfrm>
          <a:prstGeom prst="rect">
            <a:avLst/>
          </a:prstGeom>
          <a:solidFill>
            <a:srgbClr val="0084AC"/>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endParaRPr baseline="0" dirty="0">
              <a:solidFill>
                <a:schemeClr val="bg1"/>
              </a:solidFill>
              <a:latin typeface="Calibri" panose="020F0502020204030204" pitchFamily="34" charset="0"/>
            </a:endParaRPr>
          </a:p>
        </p:txBody>
      </p:sp>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40100" y="3136900"/>
            <a:ext cx="3302000"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r"/>
            <a:r>
              <a:rPr lang="en-US" baseline="0" dirty="0">
                <a:solidFill>
                  <a:schemeClr val="bg1"/>
                </a:solidFill>
                <a:latin typeface="Calibri" panose="020F0502020204030204" pitchFamily="34" charset="0"/>
              </a:rPr>
              <a:t>Activity </a:t>
            </a:r>
            <a:endParaRPr baseline="0" dirty="0">
              <a:solidFill>
                <a:schemeClr val="bg1"/>
              </a:solidFill>
              <a:latin typeface="Calibri" panose="020F0502020204030204" pitchFamily="34" charset="0"/>
            </a:endParaRPr>
          </a:p>
        </p:txBody>
      </p:sp>
      <p:sp>
        <p:nvSpPr>
          <p:cNvPr id="7" name="Text Placeholder 6">
            <a:extLst>
              <a:ext uri="{FF2B5EF4-FFF2-40B4-BE49-F238E27FC236}">
                <a16:creationId xmlns:a16="http://schemas.microsoft.com/office/drawing/2014/main" id="{D2068F8D-A07F-AA10-7BDF-A0C4AF8C7BFF}"/>
              </a:ext>
            </a:extLst>
          </p:cNvPr>
          <p:cNvSpPr>
            <a:spLocks noGrp="1"/>
          </p:cNvSpPr>
          <p:nvPr>
            <p:ph type="body" sz="quarter" idx="11" hasCustomPrompt="1"/>
          </p:nvPr>
        </p:nvSpPr>
        <p:spPr>
          <a:xfrm>
            <a:off x="6769100" y="2957776"/>
            <a:ext cx="2025986" cy="1125537"/>
          </a:xfrm>
          <a:prstGeom prst="rect">
            <a:avLst/>
          </a:prstGeom>
        </p:spPr>
        <p:txBody>
          <a:bodyPr/>
          <a:lstStyle>
            <a:lvl1pPr marL="0" indent="0" algn="l">
              <a:buNone/>
              <a:defRPr sz="7500" b="1">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lvl="0"/>
            <a:r>
              <a:rPr lang="en-US" dirty="0"/>
              <a:t>##</a:t>
            </a:r>
          </a:p>
        </p:txBody>
      </p:sp>
      <p:pic>
        <p:nvPicPr>
          <p:cNvPr id="4" name="Picture 3" descr="A black and white image of a stopwatch&#10;&#10;Description automatically generated">
            <a:extLst>
              <a:ext uri="{FF2B5EF4-FFF2-40B4-BE49-F238E27FC236}">
                <a16:creationId xmlns:a16="http://schemas.microsoft.com/office/drawing/2014/main" id="{D534F636-9377-D630-3F35-5D038B245C6E}"/>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DAE8B7F8-6AC2-B8A4-640E-8FE90B678918}"/>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348514393"/>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Alg I_Talk the Talk">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401893B-1034-6084-9BBE-7D15B94B1E1D}"/>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0"/>
          </a:xfrm>
          <a:prstGeom prst="rect">
            <a:avLst/>
          </a:prstGeom>
        </p:spPr>
      </p:pic>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52800" y="2984501"/>
            <a:ext cx="5499100" cy="1143000"/>
          </a:xfrm>
          <a:prstGeom prst="rect">
            <a:avLst/>
          </a:prstGeom>
          <a:solidFill>
            <a:srgbClr val="0084AC"/>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Talk the Talk</a:t>
            </a:r>
            <a:endParaRPr baseline="0" dirty="0">
              <a:solidFill>
                <a:schemeClr val="bg1"/>
              </a:solidFill>
              <a:latin typeface="Calibri" panose="020F0502020204030204" pitchFamily="34" charset="0"/>
            </a:endParaRPr>
          </a:p>
        </p:txBody>
      </p:sp>
      <p:pic>
        <p:nvPicPr>
          <p:cNvPr id="10" name="Picture 9" descr="A black and white image of a stopwatch&#10;&#10;Description automatically generated">
            <a:extLst>
              <a:ext uri="{FF2B5EF4-FFF2-40B4-BE49-F238E27FC236}">
                <a16:creationId xmlns:a16="http://schemas.microsoft.com/office/drawing/2014/main" id="{CE73D4F7-C35E-90BA-B80C-E6CB2DC880F5}"/>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1AA23D1B-1B3F-0CA6-C43C-BA9AEE12E5DF}"/>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2167221881"/>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Alg I_Getting Started">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CF9BCCF-AB16-EB3C-7687-F7D6FB68E7AD}"/>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0"/>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2767915" y="2984501"/>
            <a:ext cx="6660292" cy="1143000"/>
          </a:xfrm>
          <a:prstGeom prst="rect">
            <a:avLst/>
          </a:prstGeom>
          <a:solidFill>
            <a:srgbClr val="0084AC"/>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Getting Started</a:t>
            </a:r>
            <a:endParaRPr baseline="0" dirty="0">
              <a:solidFill>
                <a:schemeClr val="bg1"/>
              </a:solidFill>
              <a:latin typeface="Calibri" panose="020F0502020204030204" pitchFamily="34" charset="0"/>
            </a:endParaRPr>
          </a:p>
        </p:txBody>
      </p:sp>
      <p:pic>
        <p:nvPicPr>
          <p:cNvPr id="8" name="Picture 7" descr="A black and white image of a stopwatch&#10;&#10;Description automatically generated">
            <a:extLst>
              <a:ext uri="{FF2B5EF4-FFF2-40B4-BE49-F238E27FC236}">
                <a16:creationId xmlns:a16="http://schemas.microsoft.com/office/drawing/2014/main" id="{D0B206A4-53F8-1A55-3AAC-FA344E665088}"/>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9" name="Text Placeholder 10">
            <a:extLst>
              <a:ext uri="{FF2B5EF4-FFF2-40B4-BE49-F238E27FC236}">
                <a16:creationId xmlns:a16="http://schemas.microsoft.com/office/drawing/2014/main" id="{B0FE485E-9F70-BE82-8FD9-400E2BFB5CAC}"/>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790280880"/>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1_Alg I_Getting Started">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771D682-097A-FF63-0838-13F3C038ED8F}"/>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0"/>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3866323" y="2984501"/>
            <a:ext cx="4432852" cy="1143000"/>
          </a:xfrm>
          <a:prstGeom prst="rect">
            <a:avLst/>
          </a:prstGeom>
          <a:solidFill>
            <a:srgbClr val="0084AC"/>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Prepare</a:t>
            </a:r>
            <a:endParaRPr baseline="0" dirty="0">
              <a:solidFill>
                <a:schemeClr val="bg1"/>
              </a:solidFill>
              <a:latin typeface="Calibri" panose="020F0502020204030204" pitchFamily="34" charset="0"/>
            </a:endParaRPr>
          </a:p>
        </p:txBody>
      </p:sp>
    </p:spTree>
    <p:extLst>
      <p:ext uri="{BB962C8B-B14F-4D97-AF65-F5344CB8AC3E}">
        <p14:creationId xmlns:p14="http://schemas.microsoft.com/office/powerpoint/2010/main" val="3688723455"/>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Alg I_Session Divider">
    <p:bg>
      <p:bgPr>
        <a:solidFill>
          <a:schemeClr val="bg1"/>
        </a:solidFill>
        <a:effectLst/>
      </p:bgPr>
    </p:bg>
    <p:spTree>
      <p:nvGrpSpPr>
        <p:cNvPr id="1" name=""/>
        <p:cNvGrpSpPr/>
        <p:nvPr/>
      </p:nvGrpSpPr>
      <p:grpSpPr>
        <a:xfrm>
          <a:off x="0" y="0"/>
          <a:ext cx="0" cy="0"/>
          <a:chOff x="0" y="0"/>
          <a:chExt cx="0" cy="0"/>
        </a:xfrm>
      </p:grpSpPr>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4918157" y="2955793"/>
            <a:ext cx="1512037"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r>
              <a:rPr lang="en-US" baseline="0" dirty="0">
                <a:solidFill>
                  <a:schemeClr val="bg2">
                    <a:lumMod val="10000"/>
                  </a:schemeClr>
                </a:solidFill>
                <a:latin typeface="Calibri" panose="020F0502020204030204" pitchFamily="34" charset="0"/>
              </a:rPr>
              <a:t>Day</a:t>
            </a:r>
            <a:endParaRPr baseline="0" dirty="0">
              <a:solidFill>
                <a:schemeClr val="bg2">
                  <a:lumMod val="10000"/>
                </a:schemeClr>
              </a:solidFill>
              <a:latin typeface="Calibri" panose="020F0502020204030204" pitchFamily="34" charset="0"/>
            </a:endParaRPr>
          </a:p>
        </p:txBody>
      </p:sp>
      <p:sp>
        <p:nvSpPr>
          <p:cNvPr id="6" name="Text Placeholder 5">
            <a:extLst>
              <a:ext uri="{FF2B5EF4-FFF2-40B4-BE49-F238E27FC236}">
                <a16:creationId xmlns:a16="http://schemas.microsoft.com/office/drawing/2014/main" id="{387DC733-57F9-7B5A-186D-1BA8C44555D4}"/>
              </a:ext>
            </a:extLst>
          </p:cNvPr>
          <p:cNvSpPr>
            <a:spLocks noGrp="1"/>
          </p:cNvSpPr>
          <p:nvPr>
            <p:ph type="body" sz="quarter" idx="11" hasCustomPrompt="1"/>
          </p:nvPr>
        </p:nvSpPr>
        <p:spPr>
          <a:xfrm>
            <a:off x="5578106" y="2843523"/>
            <a:ext cx="1061883" cy="1071562"/>
          </a:xfrm>
          <a:prstGeom prst="rect">
            <a:avLst/>
          </a:prstGeom>
        </p:spPr>
        <p:txBody>
          <a:bodyPr/>
          <a:lstStyle>
            <a:lvl5pPr marL="1828800" indent="0" algn="ctr">
              <a:buNone/>
              <a:defRPr sz="7500" b="1">
                <a:solidFill>
                  <a:srgbClr val="000000"/>
                </a:solidFill>
                <a:latin typeface="Calibri" panose="020F0502020204030204" pitchFamily="34" charset="0"/>
                <a:ea typeface="Calibri" panose="020F0502020204030204" pitchFamily="34" charset="0"/>
                <a:cs typeface="Calibri" panose="020F0502020204030204" pitchFamily="34" charset="0"/>
              </a:defRPr>
            </a:lvl5pPr>
          </a:lstStyle>
          <a:p>
            <a:pPr lvl="4"/>
            <a:r>
              <a:rPr lang="en-US" dirty="0"/>
              <a:t>#</a:t>
            </a:r>
          </a:p>
        </p:txBody>
      </p:sp>
      <p:pic>
        <p:nvPicPr>
          <p:cNvPr id="4" name="Picture 3">
            <a:extLst>
              <a:ext uri="{FF2B5EF4-FFF2-40B4-BE49-F238E27FC236}">
                <a16:creationId xmlns:a16="http://schemas.microsoft.com/office/drawing/2014/main" id="{2AF4CA13-B3B2-4BA4-7193-B4133FC2D709}"/>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2" y="4663225"/>
            <a:ext cx="12190407" cy="2194774"/>
          </a:xfrm>
          <a:prstGeom prst="rect">
            <a:avLst/>
          </a:prstGeom>
        </p:spPr>
      </p:pic>
      <p:pic>
        <p:nvPicPr>
          <p:cNvPr id="7" name="Picture 6">
            <a:extLst>
              <a:ext uri="{FF2B5EF4-FFF2-40B4-BE49-F238E27FC236}">
                <a16:creationId xmlns:a16="http://schemas.microsoft.com/office/drawing/2014/main" id="{7B57EC7F-8C07-36E7-51B3-4FA22CB8F052}"/>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rot="10800000">
            <a:off x="-791" y="0"/>
            <a:ext cx="12190407" cy="2194774"/>
          </a:xfrm>
          <a:prstGeom prst="rect">
            <a:avLst/>
          </a:prstGeom>
        </p:spPr>
      </p:pic>
    </p:spTree>
    <p:extLst>
      <p:ext uri="{BB962C8B-B14F-4D97-AF65-F5344CB8AC3E}">
        <p14:creationId xmlns:p14="http://schemas.microsoft.com/office/powerpoint/2010/main" val="1648889569"/>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Alg I_Cutouts Divider">
    <p:bg>
      <p:bgPr>
        <a:solidFill>
          <a:schemeClr val="bg1"/>
        </a:solid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D0DF6CF-F4AD-69B3-86F7-6B8955E3F2B1}"/>
              </a:ext>
            </a:extLst>
          </p:cNvPr>
          <p:cNvSpPr>
            <a:spLocks noGrp="1"/>
          </p:cNvSpPr>
          <p:nvPr>
            <p:ph type="body" sz="quarter" idx="10"/>
          </p:nvPr>
        </p:nvSpPr>
        <p:spPr>
          <a:xfrm>
            <a:off x="5171005" y="2395538"/>
            <a:ext cx="1848402" cy="1033462"/>
          </a:xfrm>
          <a:prstGeom prst="rect">
            <a:avLst/>
          </a:prstGeom>
        </p:spPr>
        <p:txBody>
          <a:bodyPr/>
          <a:lstStyle>
            <a:lvl1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1pPr>
            <a:lvl2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2pPr>
            <a:lvl3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3pPr>
            <a:lvl4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4pPr>
            <a:lvl5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2" name="Picture 1">
            <a:extLst>
              <a:ext uri="{FF2B5EF4-FFF2-40B4-BE49-F238E27FC236}">
                <a16:creationId xmlns:a16="http://schemas.microsoft.com/office/drawing/2014/main" id="{2F258156-D89E-4D80-5BE1-77691C6E7C97}"/>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2" y="4663225"/>
            <a:ext cx="12190407" cy="2194774"/>
          </a:xfrm>
          <a:prstGeom prst="rect">
            <a:avLst/>
          </a:prstGeom>
        </p:spPr>
      </p:pic>
    </p:spTree>
    <p:extLst>
      <p:ext uri="{BB962C8B-B14F-4D97-AF65-F5344CB8AC3E}">
        <p14:creationId xmlns:p14="http://schemas.microsoft.com/office/powerpoint/2010/main" val="1231675931"/>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Alg I_Back Cover">
    <p:bg>
      <p:bgPr>
        <a:solidFill>
          <a:schemeClr val="bg1"/>
        </a:solid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9C323EF9-0FCF-481F-97C8-ABBEA6C0F486}"/>
              </a:ext>
            </a:extLst>
          </p:cNvPr>
          <p:cNvSpPr>
            <a:spLocks noGrp="1"/>
          </p:cNvSpPr>
          <p:nvPr>
            <p:ph type="body" sz="quarter" idx="10" hasCustomPrompt="1"/>
          </p:nvPr>
        </p:nvSpPr>
        <p:spPr>
          <a:xfrm>
            <a:off x="8155889" y="4975063"/>
            <a:ext cx="3431356" cy="414778"/>
          </a:xfrm>
          <a:prstGeom prst="rect">
            <a:avLst/>
          </a:prstGeom>
          <a:solidFill>
            <a:srgbClr val="61449B"/>
          </a:solidFill>
        </p:spPr>
        <p:txBody>
          <a:bodyPr lIns="0" rIns="0" anchor="ctr"/>
          <a:lstStyle>
            <a:lvl1pPr marL="0" indent="0" algn="ctr">
              <a:buNone/>
              <a:defRPr sz="1800">
                <a:solidFill>
                  <a:schemeClr val="bg1"/>
                </a:solidFill>
              </a:defRPr>
            </a:lvl1pPr>
            <a:lvl4pPr marL="1371600" indent="0">
              <a:buNone/>
              <a:defRPr/>
            </a:lvl4pPr>
          </a:lstStyle>
          <a:p>
            <a:pPr lvl="0"/>
            <a:r>
              <a:rPr lang="en-US" dirty="0"/>
              <a:t>UNIQUE ID</a:t>
            </a:r>
          </a:p>
        </p:txBody>
      </p:sp>
      <p:grpSp>
        <p:nvGrpSpPr>
          <p:cNvPr id="5" name="Group 4">
            <a:extLst>
              <a:ext uri="{FF2B5EF4-FFF2-40B4-BE49-F238E27FC236}">
                <a16:creationId xmlns:a16="http://schemas.microsoft.com/office/drawing/2014/main" id="{CB4B7E3B-5741-B70F-3A0A-3E11BCF38FEB}"/>
              </a:ext>
            </a:extLst>
          </p:cNvPr>
          <p:cNvGrpSpPr/>
          <p:nvPr userDrawn="1"/>
        </p:nvGrpSpPr>
        <p:grpSpPr>
          <a:xfrm>
            <a:off x="9053008" y="227306"/>
            <a:ext cx="2910578" cy="1472169"/>
            <a:chOff x="8940726" y="132485"/>
            <a:chExt cx="2910578" cy="1472169"/>
          </a:xfrm>
        </p:grpSpPr>
        <p:pic>
          <p:nvPicPr>
            <p:cNvPr id="6" name="Picture 5" descr="A blue and black logo&#10;&#10;AI-generated content may be incorrect.">
              <a:extLst>
                <a:ext uri="{FF2B5EF4-FFF2-40B4-BE49-F238E27FC236}">
                  <a16:creationId xmlns:a16="http://schemas.microsoft.com/office/drawing/2014/main" id="{E7939853-80EF-C461-0365-6353B33278A2}"/>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7" name="TextBox 6">
              <a:extLst>
                <a:ext uri="{FF2B5EF4-FFF2-40B4-BE49-F238E27FC236}">
                  <a16:creationId xmlns:a16="http://schemas.microsoft.com/office/drawing/2014/main" id="{580B98D7-A8B1-479E-0522-2C0BC59CE093}"/>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
          <p:nvSpPr>
            <p:cNvPr id="8" name="Rounded Rectangle 7">
              <a:extLst>
                <a:ext uri="{FF2B5EF4-FFF2-40B4-BE49-F238E27FC236}">
                  <a16:creationId xmlns:a16="http://schemas.microsoft.com/office/drawing/2014/main" id="{DAAFCF8B-077A-7325-2A07-02B9BADACB35}"/>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4C6EED1-1022-7E70-EA88-6CC6F479360D}"/>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dirty="0">
                  <a:solidFill>
                    <a:schemeClr val="bg2">
                      <a:lumMod val="50000"/>
                    </a:schemeClr>
                  </a:solidFill>
                  <a:latin typeface="Calibri" panose="020F0502020204030204" pitchFamily="34" charset="0"/>
                  <a:cs typeface="Calibri" panose="020F0502020204030204" pitchFamily="34" charset="0"/>
                </a:rPr>
                <a:t>EDITION 1</a:t>
              </a:r>
            </a:p>
          </p:txBody>
        </p:sp>
      </p:grpSp>
      <p:sp>
        <p:nvSpPr>
          <p:cNvPr id="10" name="Round Single Corner Rectangle 9">
            <a:extLst>
              <a:ext uri="{FF2B5EF4-FFF2-40B4-BE49-F238E27FC236}">
                <a16:creationId xmlns:a16="http://schemas.microsoft.com/office/drawing/2014/main" id="{93823D53-B128-B4F8-9323-2DE21A5AC48C}"/>
              </a:ext>
            </a:extLst>
          </p:cNvPr>
          <p:cNvSpPr/>
          <p:nvPr userDrawn="1"/>
        </p:nvSpPr>
        <p:spPr>
          <a:xfrm rot="10800000" flipH="1">
            <a:off x="0" y="0"/>
            <a:ext cx="2467555" cy="954942"/>
          </a:xfrm>
          <a:prstGeom prst="round1Rect">
            <a:avLst/>
          </a:prstGeom>
          <a:solidFill>
            <a:srgbClr val="0084A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61ED4D92-107A-5626-60FD-8669F753FD4A}"/>
              </a:ext>
            </a:extLst>
          </p:cNvPr>
          <p:cNvSpPr txBox="1"/>
          <p:nvPr userDrawn="1"/>
        </p:nvSpPr>
        <p:spPr>
          <a:xfrm>
            <a:off x="0" y="280732"/>
            <a:ext cx="2467555" cy="461665"/>
          </a:xfrm>
          <a:prstGeom prst="rect">
            <a:avLst/>
          </a:prstGeom>
          <a:noFill/>
        </p:spPr>
        <p:txBody>
          <a:bodyPr wrap="square" rtlCol="0">
            <a:spAutoFit/>
          </a:bodyPr>
          <a:lstStyle/>
          <a:p>
            <a:pPr algn="ctr"/>
            <a:r>
              <a:rPr lang="en-US" sz="2400" dirty="0">
                <a:solidFill>
                  <a:schemeClr val="bg1"/>
                </a:solidFill>
              </a:rPr>
              <a:t>ENGLISH</a:t>
            </a:r>
          </a:p>
        </p:txBody>
      </p:sp>
      <p:pic>
        <p:nvPicPr>
          <p:cNvPr id="2" name="Picture 1">
            <a:extLst>
              <a:ext uri="{FF2B5EF4-FFF2-40B4-BE49-F238E27FC236}">
                <a16:creationId xmlns:a16="http://schemas.microsoft.com/office/drawing/2014/main" id="{54470327-EAA5-821F-E3D6-48241C357F0D}"/>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 y="4663225"/>
            <a:ext cx="12190407" cy="2194774"/>
          </a:xfrm>
          <a:prstGeom prst="rect">
            <a:avLst/>
          </a:prstGeom>
        </p:spPr>
      </p:pic>
    </p:spTree>
    <p:extLst>
      <p:ext uri="{BB962C8B-B14F-4D97-AF65-F5344CB8AC3E}">
        <p14:creationId xmlns:p14="http://schemas.microsoft.com/office/powerpoint/2010/main" val="2613188992"/>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Objectiv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1829944-32A0-A52A-BF8F-4735C4809687}"/>
              </a:ext>
            </a:extLst>
          </p:cNvPr>
          <p:cNvSpPr/>
          <p:nvPr userDrawn="1"/>
        </p:nvSpPr>
        <p:spPr>
          <a:xfrm>
            <a:off x="-1586" y="1392600"/>
            <a:ext cx="12192000" cy="549097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 Placeholder 3">
            <a:extLst>
              <a:ext uri="{FF2B5EF4-FFF2-40B4-BE49-F238E27FC236}">
                <a16:creationId xmlns:a16="http://schemas.microsoft.com/office/drawing/2014/main" id="{D79E0344-0011-1E90-A995-632330E63EB5}"/>
              </a:ext>
            </a:extLst>
          </p:cNvPr>
          <p:cNvSpPr>
            <a:spLocks noGrp="1"/>
          </p:cNvSpPr>
          <p:nvPr>
            <p:ph type="body" sz="quarter" idx="10"/>
          </p:nvPr>
        </p:nvSpPr>
        <p:spPr>
          <a:xfrm>
            <a:off x="836614" y="2159879"/>
            <a:ext cx="10515599" cy="3956418"/>
          </a:xfrm>
          <a:prstGeom prst="rect">
            <a:avLst/>
          </a:prstGeom>
        </p:spPr>
        <p:txBody>
          <a:bodyPr/>
          <a:lstStyle>
            <a:lvl1pPr marL="0" indent="0" algn="ctr">
              <a:buNone/>
              <a:defRPr sz="4400">
                <a:solidFill>
                  <a:schemeClr val="bg2">
                    <a:lumMod val="25000"/>
                  </a:schemeClr>
                </a:solidFill>
              </a:defRPr>
            </a:lvl1pPr>
            <a:lvl2pPr marL="457200" indent="0" algn="ctr">
              <a:buNone/>
              <a:defRPr sz="4400"/>
            </a:lvl2pPr>
            <a:lvl3pPr marL="914400" indent="0" algn="ctr">
              <a:buNone/>
              <a:defRPr sz="4400"/>
            </a:lvl3pPr>
            <a:lvl4pPr marL="1371600" indent="0" algn="ctr">
              <a:buNone/>
              <a:defRPr sz="4400"/>
            </a:lvl4pPr>
            <a:lvl5pPr marL="1828800" indent="0" algn="ctr">
              <a:buNone/>
              <a:defRPr sz="4400"/>
            </a:lvl5pPr>
          </a:lstStyle>
          <a:p>
            <a:pPr lvl="0"/>
            <a:r>
              <a:rPr lang="en-US" dirty="0"/>
              <a:t>Click to edit Master text styles</a:t>
            </a:r>
          </a:p>
        </p:txBody>
      </p:sp>
      <p:sp>
        <p:nvSpPr>
          <p:cNvPr id="2" name="Rectangle 1">
            <a:extLst>
              <a:ext uri="{FF2B5EF4-FFF2-40B4-BE49-F238E27FC236}">
                <a16:creationId xmlns:a16="http://schemas.microsoft.com/office/drawing/2014/main" id="{EAD99D76-9E3B-F682-01E8-888F253831AF}"/>
              </a:ext>
            </a:extLst>
          </p:cNvPr>
          <p:cNvSpPr/>
          <p:nvPr userDrawn="1"/>
        </p:nvSpPr>
        <p:spPr>
          <a:xfrm>
            <a:off x="0" y="0"/>
            <a:ext cx="7575442" cy="927652"/>
          </a:xfrm>
          <a:prstGeom prst="rect">
            <a:avLst/>
          </a:prstGeom>
          <a:solidFill>
            <a:srgbClr val="0084A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28B98FEA-D4C0-8394-EFDC-1E0F624AD0AF}"/>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575444" y="0"/>
            <a:ext cx="4614964" cy="931320"/>
          </a:xfrm>
          <a:prstGeom prst="rect">
            <a:avLst/>
          </a:prstGeom>
        </p:spPr>
      </p:pic>
      <p:sp>
        <p:nvSpPr>
          <p:cNvPr id="6" name="Title 5">
            <a:extLst>
              <a:ext uri="{FF2B5EF4-FFF2-40B4-BE49-F238E27FC236}">
                <a16:creationId xmlns:a16="http://schemas.microsoft.com/office/drawing/2014/main" id="{BD8B91BD-71BF-8DE9-CC35-80883F08DEDC}"/>
              </a:ext>
            </a:extLst>
          </p:cNvPr>
          <p:cNvSpPr>
            <a:spLocks noGrp="1"/>
          </p:cNvSpPr>
          <p:nvPr>
            <p:ph type="title" hasCustomPrompt="1"/>
          </p:nvPr>
        </p:nvSpPr>
        <p:spPr>
          <a:xfrm>
            <a:off x="0" y="0"/>
            <a:ext cx="6094413" cy="926757"/>
          </a:xfrm>
          <a:prstGeom prst="rect">
            <a:avLst/>
          </a:prstGeom>
          <a:noFill/>
        </p:spPr>
        <p:txBody>
          <a:bodyPr lIns="457200" anchor="ctr"/>
          <a:lstStyle>
            <a:lvl1pPr>
              <a:defRPr sz="4000" b="1">
                <a:solidFill>
                  <a:schemeClr val="bg1"/>
                </a:solidFill>
              </a:defRPr>
            </a:lvl1pPr>
          </a:lstStyle>
          <a:p>
            <a:r>
              <a:rPr lang="en-US" dirty="0"/>
              <a:t>Objectives</a:t>
            </a:r>
          </a:p>
        </p:txBody>
      </p:sp>
    </p:spTree>
    <p:extLst>
      <p:ext uri="{BB962C8B-B14F-4D97-AF65-F5344CB8AC3E}">
        <p14:creationId xmlns:p14="http://schemas.microsoft.com/office/powerpoint/2010/main" val="2343018901"/>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Terminology">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23B0928-1D5C-86AC-B6D2-6C4246A897D0}"/>
              </a:ext>
            </a:extLst>
          </p:cNvPr>
          <p:cNvSpPr>
            <a:spLocks noGrp="1"/>
          </p:cNvSpPr>
          <p:nvPr>
            <p:ph type="body" sz="quarter" idx="10" hasCustomPrompt="1"/>
          </p:nvPr>
        </p:nvSpPr>
        <p:spPr>
          <a:xfrm>
            <a:off x="852488" y="1652588"/>
            <a:ext cx="10515600" cy="1169743"/>
          </a:xfrm>
          <a:prstGeom prst="rect">
            <a:avLst/>
          </a:prstGeom>
        </p:spPr>
        <p:txBody>
          <a:bodyPr/>
          <a:lstStyle>
            <a:lvl1pPr marL="0" indent="0">
              <a:buNone/>
              <a:defRPr>
                <a:solidFill>
                  <a:schemeClr val="bg2">
                    <a:lumMod val="25000"/>
                  </a:schemeClr>
                </a:solidFill>
              </a:defRPr>
            </a:lvl1pPr>
          </a:lstStyle>
          <a:p>
            <a:pPr lvl="0"/>
            <a:r>
              <a:rPr lang="en-US" dirty="0"/>
              <a:t>Click to add text</a:t>
            </a:r>
          </a:p>
        </p:txBody>
      </p:sp>
      <p:sp>
        <p:nvSpPr>
          <p:cNvPr id="5" name="Picture Placeholder 4">
            <a:extLst>
              <a:ext uri="{FF2B5EF4-FFF2-40B4-BE49-F238E27FC236}">
                <a16:creationId xmlns:a16="http://schemas.microsoft.com/office/drawing/2014/main" id="{C3DA5AEB-614E-452B-EDEF-80B18EE3E858}"/>
              </a:ext>
            </a:extLst>
          </p:cNvPr>
          <p:cNvSpPr>
            <a:spLocks noGrp="1"/>
          </p:cNvSpPr>
          <p:nvPr>
            <p:ph type="pic" sz="quarter" idx="11"/>
          </p:nvPr>
        </p:nvSpPr>
        <p:spPr>
          <a:xfrm>
            <a:off x="3427412" y="3217943"/>
            <a:ext cx="5335588" cy="2505075"/>
          </a:xfrm>
          <a:prstGeom prst="rect">
            <a:avLst/>
          </a:prstGeom>
        </p:spPr>
        <p:txBody>
          <a:bodyPr/>
          <a:lstStyle>
            <a:lvl1pPr marL="0" indent="0">
              <a:buNone/>
              <a:defRPr/>
            </a:lvl1pPr>
          </a:lstStyle>
          <a:p>
            <a:endParaRPr lang="en-US" dirty="0"/>
          </a:p>
        </p:txBody>
      </p:sp>
      <p:sp>
        <p:nvSpPr>
          <p:cNvPr id="4" name="Title 1">
            <a:extLst>
              <a:ext uri="{FF2B5EF4-FFF2-40B4-BE49-F238E27FC236}">
                <a16:creationId xmlns:a16="http://schemas.microsoft.com/office/drawing/2014/main" id="{CD7B4969-F122-3811-0A1A-DDA09AF4AB50}"/>
              </a:ext>
            </a:extLst>
          </p:cNvPr>
          <p:cNvSpPr>
            <a:spLocks noGrp="1"/>
          </p:cNvSpPr>
          <p:nvPr>
            <p:ph type="title" hasCustomPrompt="1"/>
          </p:nvPr>
        </p:nvSpPr>
        <p:spPr>
          <a:xfrm>
            <a:off x="777240" y="1"/>
            <a:ext cx="11425482" cy="1263192"/>
          </a:xfrm>
          <a:prstGeom prst="rect">
            <a:avLst/>
          </a:prstGeom>
        </p:spPr>
        <p:txBody>
          <a:bodyPr anchor="ctr"/>
          <a:lstStyle>
            <a:lvl1pPr>
              <a:defRPr sz="4000">
                <a:solidFill>
                  <a:srgbClr val="2B8147"/>
                </a:solidFill>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dirty="0">
                <a:solidFill>
                  <a:srgbClr val="000000"/>
                </a:solidFill>
                <a:latin typeface="Calibri" panose="020F0502020204030204"/>
                <a:ea typeface="Calibri" panose="020F0502020204030204"/>
                <a:cs typeface="Calibri" panose="020F0502020204030204"/>
                <a:sym typeface="Calibri" panose="020F0502020204030204"/>
              </a:rPr>
              <a:t>Key Terms</a:t>
            </a:r>
          </a:p>
        </p:txBody>
      </p:sp>
      <p:pic>
        <p:nvPicPr>
          <p:cNvPr id="6" name="Picture 5">
            <a:extLst>
              <a:ext uri="{FF2B5EF4-FFF2-40B4-BE49-F238E27FC236}">
                <a16:creationId xmlns:a16="http://schemas.microsoft.com/office/drawing/2014/main" id="{5CDE9F74-7CE7-793B-B90F-365B5F549D7A}"/>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2432733151"/>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Application Problem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AED5C8A3-5037-99DF-15E1-2833226D35D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36;g295eeb86cda_3_40"/>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18" name="Text Placeholder 16"/>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0331744C-9446-EF32-247E-53D724128298}"/>
              </a:ext>
            </a:extLst>
          </p:cNvPr>
          <p:cNvSpPr>
            <a:spLocks noGrp="1"/>
          </p:cNvSpPr>
          <p:nvPr>
            <p:ph type="title" hasCustomPrompt="1"/>
          </p:nvPr>
        </p:nvSpPr>
        <p:spPr>
          <a:xfrm>
            <a:off x="777240" y="0"/>
            <a:ext cx="11389135" cy="1253765"/>
          </a:xfrm>
          <a:prstGeom prst="rect">
            <a:avLst/>
          </a:prstGeom>
        </p:spPr>
        <p:txBody>
          <a:bodyPr anchor="ctr"/>
          <a:lstStyle/>
          <a:p>
            <a:pPr marL="0" marR="0" lvl="0" indent="0" algn="l" defTabSz="914400" rtl="0" eaLnBrk="1" fontAlgn="auto" latinLnBrk="0" hangingPunct="1">
              <a:lnSpc>
                <a:spcPct val="10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Application Problem</a:t>
            </a:r>
          </a:p>
        </p:txBody>
      </p:sp>
      <p:pic>
        <p:nvPicPr>
          <p:cNvPr id="4" name="Picture 3">
            <a:extLst>
              <a:ext uri="{FF2B5EF4-FFF2-40B4-BE49-F238E27FC236}">
                <a16:creationId xmlns:a16="http://schemas.microsoft.com/office/drawing/2014/main" id="{ED2E1254-4CBF-B3B8-A0FA-52C76A42152E}"/>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407121262"/>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1_RDW_Horizontal">
    <p:spTree>
      <p:nvGrpSpPr>
        <p:cNvPr id="1" name=""/>
        <p:cNvGrpSpPr/>
        <p:nvPr/>
      </p:nvGrpSpPr>
      <p:grpSpPr>
        <a:xfrm>
          <a:off x="0" y="0"/>
          <a:ext cx="0" cy="0"/>
          <a:chOff x="0" y="0"/>
          <a:chExt cx="0" cy="0"/>
        </a:xfrm>
      </p:grpSpPr>
      <p:graphicFrame>
        <p:nvGraphicFramePr>
          <p:cNvPr id="14" name="Google Shape;42;g2960a169545_3_34"/>
          <p:cNvGraphicFramePr/>
          <p:nvPr userDrawn="1">
            <p:extLst>
              <p:ext uri="{D42A27DB-BD31-4B8C-83A1-F6EECF244321}">
                <p14:modId xmlns:p14="http://schemas.microsoft.com/office/powerpoint/2010/main" val="147912415"/>
              </p:ext>
            </p:extLst>
          </p:nvPr>
        </p:nvGraphicFramePr>
        <p:xfrm>
          <a:off x="775252" y="3783769"/>
          <a:ext cx="11082132" cy="2888103"/>
        </p:xfrm>
        <a:graphic>
          <a:graphicData uri="http://schemas.openxmlformats.org/drawingml/2006/table">
            <a:tbl>
              <a:tblPr firstRow="1" bandRow="1">
                <a:noFill/>
              </a:tblPr>
              <a:tblGrid>
                <a:gridCol w="3694044">
                  <a:extLst>
                    <a:ext uri="{9D8B030D-6E8A-4147-A177-3AD203B41FA5}">
                      <a16:colId xmlns:a16="http://schemas.microsoft.com/office/drawing/2014/main" val="20000"/>
                    </a:ext>
                  </a:extLst>
                </a:gridCol>
                <a:gridCol w="3694044">
                  <a:extLst>
                    <a:ext uri="{9D8B030D-6E8A-4147-A177-3AD203B41FA5}">
                      <a16:colId xmlns:a16="http://schemas.microsoft.com/office/drawing/2014/main" val="20001"/>
                    </a:ext>
                  </a:extLst>
                </a:gridCol>
                <a:gridCol w="3694044">
                  <a:extLst>
                    <a:ext uri="{9D8B030D-6E8A-4147-A177-3AD203B41FA5}">
                      <a16:colId xmlns:a16="http://schemas.microsoft.com/office/drawing/2014/main" val="20002"/>
                    </a:ext>
                  </a:extLst>
                </a:gridCol>
              </a:tblGrid>
              <a:tr h="244012">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Read</a:t>
                      </a:r>
                      <a:endParaRPr sz="1800" b="1" u="none" strike="noStrike" cap="none" dirty="0">
                        <a:solidFill>
                          <a:schemeClr val="bg2">
                            <a:lumMod val="25000"/>
                          </a:schemeClr>
                        </a:solidFill>
                      </a:endParaRPr>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Draw</a:t>
                      </a:r>
                      <a:endParaRPr sz="1800" b="1" u="none" strike="noStrike" cap="none" dirty="0">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Write</a:t>
                      </a:r>
                      <a:endParaRPr sz="1800" b="1" u="none" strike="noStrike" cap="none" dirty="0">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2430893">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dirty="0"/>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dirty="0"/>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3" name="Text Placeholder 2">
            <a:extLst>
              <a:ext uri="{FF2B5EF4-FFF2-40B4-BE49-F238E27FC236}">
                <a16:creationId xmlns:a16="http://schemas.microsoft.com/office/drawing/2014/main" id="{F5DB9EBA-92A2-D9BE-5A55-8378E259446A}"/>
              </a:ext>
            </a:extLst>
          </p:cNvPr>
          <p:cNvSpPr>
            <a:spLocks noGrp="1"/>
          </p:cNvSpPr>
          <p:nvPr>
            <p:ph type="body" sz="quarter" idx="10" hasCustomPrompt="1"/>
          </p:nvPr>
        </p:nvSpPr>
        <p:spPr>
          <a:xfrm>
            <a:off x="765313" y="1479938"/>
            <a:ext cx="11060341" cy="2072153"/>
          </a:xfrm>
          <a:prstGeom prst="rect">
            <a:avLst/>
          </a:prstGeom>
        </p:spPr>
        <p:txBody>
          <a:bodyPr/>
          <a:lstStyle>
            <a:lvl1pPr marL="0" indent="0">
              <a:buNone/>
              <a:defRPr sz="2200">
                <a:solidFill>
                  <a:schemeClr val="bg2">
                    <a:lumMod val="25000"/>
                  </a:schemeClr>
                </a:solidFill>
              </a:defRPr>
            </a:lvl1pPr>
          </a:lstStyle>
          <a:p>
            <a:pPr lvl="0"/>
            <a:r>
              <a:rPr lang="en-US" dirty="0"/>
              <a:t>Click to add text</a:t>
            </a:r>
          </a:p>
        </p:txBody>
      </p:sp>
      <p:sp>
        <p:nvSpPr>
          <p:cNvPr id="2" name="Title 1">
            <a:extLst>
              <a:ext uri="{FF2B5EF4-FFF2-40B4-BE49-F238E27FC236}">
                <a16:creationId xmlns:a16="http://schemas.microsoft.com/office/drawing/2014/main" id="{100D03EF-224B-F87A-5FAF-CA8E423C3783}"/>
              </a:ext>
            </a:extLst>
          </p:cNvPr>
          <p:cNvSpPr>
            <a:spLocks noGrp="1"/>
          </p:cNvSpPr>
          <p:nvPr>
            <p:ph type="title" hasCustomPrompt="1"/>
          </p:nvPr>
        </p:nvSpPr>
        <p:spPr>
          <a:xfrm>
            <a:off x="772211" y="0"/>
            <a:ext cx="11418202" cy="1263192"/>
          </a:xfrm>
          <a:prstGeom prst="rect">
            <a:avLst/>
          </a:prstGeom>
        </p:spPr>
        <p:txBody>
          <a:bodyPr anchor="ctr"/>
          <a:lstStyle/>
          <a:p>
            <a:pPr marL="0" marR="0" lvl="0" indent="0" algn="l" defTabSz="914400" rtl="0" eaLnBrk="1" fontAlgn="auto" latinLnBrk="0" hangingPunct="1">
              <a:lnSpc>
                <a:spcPct val="9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Read-Draw-Write for Application Problem</a:t>
            </a:r>
          </a:p>
        </p:txBody>
      </p:sp>
      <p:pic>
        <p:nvPicPr>
          <p:cNvPr id="5" name="Picture 4">
            <a:extLst>
              <a:ext uri="{FF2B5EF4-FFF2-40B4-BE49-F238E27FC236}">
                <a16:creationId xmlns:a16="http://schemas.microsoft.com/office/drawing/2014/main" id="{E121D3C0-2E42-5D5F-22BD-412584AA83AA}"/>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3615913504"/>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Fluency w/Timer">
    <p:spTree>
      <p:nvGrpSpPr>
        <p:cNvPr id="1" name=""/>
        <p:cNvGrpSpPr/>
        <p:nvPr/>
      </p:nvGrpSpPr>
      <p:grpSpPr>
        <a:xfrm>
          <a:off x="0" y="0"/>
          <a:ext cx="0" cy="0"/>
          <a:chOff x="0" y="0"/>
          <a:chExt cx="0" cy="0"/>
        </a:xfrm>
      </p:grpSpPr>
      <p:pic>
        <p:nvPicPr>
          <p:cNvPr id="2" name="Picture 1" descr="A black and white image of a stopwatch&#10;&#10;Description automatically generated">
            <a:extLst>
              <a:ext uri="{FF2B5EF4-FFF2-40B4-BE49-F238E27FC236}">
                <a16:creationId xmlns:a16="http://schemas.microsoft.com/office/drawing/2014/main" id="{45C93455-7637-1C42-D775-87043FDE14A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4" name="Google Shape;36;g295eeb86cda_3_40">
            <a:extLst>
              <a:ext uri="{FF2B5EF4-FFF2-40B4-BE49-F238E27FC236}">
                <a16:creationId xmlns:a16="http://schemas.microsoft.com/office/drawing/2014/main" id="{4B2B0557-EE61-8CF4-6E2D-B3BB9A4164D6}"/>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3" name="Text Placeholder 16">
            <a:extLst>
              <a:ext uri="{FF2B5EF4-FFF2-40B4-BE49-F238E27FC236}">
                <a16:creationId xmlns:a16="http://schemas.microsoft.com/office/drawing/2014/main" id="{2C85C328-7F49-71B9-5668-70282DB97885}"/>
              </a:ext>
            </a:extLst>
          </p:cNvPr>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Title 3">
            <a:extLst>
              <a:ext uri="{FF2B5EF4-FFF2-40B4-BE49-F238E27FC236}">
                <a16:creationId xmlns:a16="http://schemas.microsoft.com/office/drawing/2014/main" id="{BABD6038-9E2A-9278-C4F2-299A1A34E59F}"/>
              </a:ext>
            </a:extLst>
          </p:cNvPr>
          <p:cNvSpPr>
            <a:spLocks noGrp="1"/>
          </p:cNvSpPr>
          <p:nvPr>
            <p:ph type="title" hasCustomPrompt="1"/>
          </p:nvPr>
        </p:nvSpPr>
        <p:spPr>
          <a:xfrm>
            <a:off x="777240" y="7968"/>
            <a:ext cx="11413173" cy="1269462"/>
          </a:xfrm>
          <a:prstGeom prst="rect">
            <a:avLst/>
          </a:prstGeom>
        </p:spPr>
        <p:txBody>
          <a:bodyPr anchor="ctr"/>
          <a:lstStyle>
            <a:lvl1pPr>
              <a:defRPr b="1">
                <a:solidFill>
                  <a:schemeClr val="bg2">
                    <a:lumMod val="25000"/>
                  </a:schemeClr>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Fluency: </a:t>
            </a:r>
            <a:r>
              <a:rPr kumimoji="0" lang="en-US" b="0" i="0" u="none" strike="noStrike" kern="1200" cap="none" spc="0" normalizeH="0" baseline="0" noProof="0" dirty="0">
                <a:ln>
                  <a:noFill/>
                </a:ln>
                <a:solidFill>
                  <a:srgbClr val="000000"/>
                </a:solidFill>
                <a:effectLst/>
                <a:uLnTx/>
                <a:uFillTx/>
                <a:latin typeface="Calibri"/>
                <a:ea typeface="+mn-ea"/>
                <a:cs typeface="+mn-cs"/>
              </a:rPr>
              <a:t>Title (# of #)</a:t>
            </a:r>
            <a:endParaRPr lang="en-US" dirty="0"/>
          </a:p>
        </p:txBody>
      </p:sp>
      <p:pic>
        <p:nvPicPr>
          <p:cNvPr id="6" name="Picture 5">
            <a:extLst>
              <a:ext uri="{FF2B5EF4-FFF2-40B4-BE49-F238E27FC236}">
                <a16:creationId xmlns:a16="http://schemas.microsoft.com/office/drawing/2014/main" id="{41A4ACEA-4667-3962-B002-3BD86CD9C6A5}"/>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1132782889"/>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Concept Development">
    <p:spTree>
      <p:nvGrpSpPr>
        <p:cNvPr id="1" name=""/>
        <p:cNvGrpSpPr/>
        <p:nvPr/>
      </p:nvGrpSpPr>
      <p:grpSpPr>
        <a:xfrm>
          <a:off x="0" y="0"/>
          <a:ext cx="0" cy="0"/>
          <a:chOff x="0" y="0"/>
          <a:chExt cx="0" cy="0"/>
        </a:xfrm>
      </p:grpSpPr>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2" name="Picture 1">
            <a:extLst>
              <a:ext uri="{FF2B5EF4-FFF2-40B4-BE49-F238E27FC236}">
                <a16:creationId xmlns:a16="http://schemas.microsoft.com/office/drawing/2014/main" id="{CACF947A-00B8-B4E6-8437-40F83AFF958F}"/>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3149236035"/>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Concept Development with Timer">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C120155D-CE40-03A5-821E-66ED1B28D635}"/>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3" name="Text Placeholder 16">
            <a:extLst>
              <a:ext uri="{FF2B5EF4-FFF2-40B4-BE49-F238E27FC236}">
                <a16:creationId xmlns:a16="http://schemas.microsoft.com/office/drawing/2014/main" id="{25782E0A-0BD4-715B-C55F-BBA8190C333D}"/>
              </a:ext>
            </a:extLst>
          </p:cNvPr>
          <p:cNvSpPr>
            <a:spLocks noGrp="1"/>
          </p:cNvSpPr>
          <p:nvPr>
            <p:ph type="body" sz="quarter" idx="10" hasCustomPrompt="1"/>
          </p:nvPr>
        </p:nvSpPr>
        <p:spPr>
          <a:xfrm>
            <a:off x="11127570" y="6036181"/>
            <a:ext cx="654121"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2" name="Picture 1">
            <a:extLst>
              <a:ext uri="{FF2B5EF4-FFF2-40B4-BE49-F238E27FC236}">
                <a16:creationId xmlns:a16="http://schemas.microsoft.com/office/drawing/2014/main" id="{0C4ADE8B-E120-4425-CAA6-828BBE47E800}"/>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3290449247"/>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Problem Set with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54725ABB-3358-BA78-ED3F-EE574662422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4" name="Text Placeholder 16"/>
          <p:cNvSpPr>
            <a:spLocks noGrp="1"/>
          </p:cNvSpPr>
          <p:nvPr>
            <p:ph type="body" sz="quarter" idx="10" hasCustomPrompt="1"/>
          </p:nvPr>
        </p:nvSpPr>
        <p:spPr>
          <a:xfrm>
            <a:off x="11140001" y="6036181"/>
            <a:ext cx="622969"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0C16ECBB-77EB-0635-C9C3-E4F98B5337AC}"/>
              </a:ext>
            </a:extLst>
          </p:cNvPr>
          <p:cNvSpPr>
            <a:spLocks noGrp="1"/>
          </p:cNvSpPr>
          <p:nvPr>
            <p:ph type="title" hasCustomPrompt="1"/>
          </p:nvPr>
        </p:nvSpPr>
        <p:spPr>
          <a:xfrm>
            <a:off x="777240" y="1"/>
            <a:ext cx="11407898"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Problem Set</a:t>
            </a:r>
          </a:p>
        </p:txBody>
      </p:sp>
      <p:sp>
        <p:nvSpPr>
          <p:cNvPr id="4" name="Google Shape;69;g2950041fd6d_0_282">
            <a:extLst>
              <a:ext uri="{FF2B5EF4-FFF2-40B4-BE49-F238E27FC236}">
                <a16:creationId xmlns:a16="http://schemas.microsoft.com/office/drawing/2014/main" id="{9D7369C9-C599-CE95-CCD3-2B81A765581C}"/>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pic>
        <p:nvPicPr>
          <p:cNvPr id="5" name="Picture 4">
            <a:extLst>
              <a:ext uri="{FF2B5EF4-FFF2-40B4-BE49-F238E27FC236}">
                <a16:creationId xmlns:a16="http://schemas.microsoft.com/office/drawing/2014/main" id="{24CC20CC-020F-E41D-34BB-D60790E85A95}"/>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349755440"/>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userDrawn="1">
  <p:cSld name="Student Debrief">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DAC79665-DA63-6390-C217-C3166216C1B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1" name="Google Shape;80;g295eeb86cda_3_104"/>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571500" lvl="0" indent="-457200" algn="l">
              <a:lnSpc>
                <a:spcPct val="100000"/>
              </a:lnSpc>
              <a:spcBef>
                <a:spcPts val="1000"/>
              </a:spcBef>
              <a:spcAft>
                <a:spcPts val="0"/>
              </a:spcAft>
              <a:buClr>
                <a:schemeClr val="dk1"/>
              </a:buClr>
              <a:buSzPct val="100000"/>
              <a:buFont typeface="Arial" panose="020B0604020202020204" pitchFamily="34" charset="0"/>
              <a:buChar char="•"/>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dirty="0"/>
          </a:p>
        </p:txBody>
      </p:sp>
      <p:sp>
        <p:nvSpPr>
          <p:cNvPr id="14" name="Text Placeholder 16"/>
          <p:cNvSpPr>
            <a:spLocks noGrp="1"/>
          </p:cNvSpPr>
          <p:nvPr>
            <p:ph type="body" sz="quarter" idx="10" hasCustomPrompt="1"/>
          </p:nvPr>
        </p:nvSpPr>
        <p:spPr>
          <a:xfrm>
            <a:off x="11127570" y="6036181"/>
            <a:ext cx="645330"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FB0B6DF2-911F-E608-84A0-0D6E6AF4BF7B}"/>
              </a:ext>
            </a:extLst>
          </p:cNvPr>
          <p:cNvSpPr>
            <a:spLocks noGrp="1"/>
          </p:cNvSpPr>
          <p:nvPr>
            <p:ph type="title" hasCustomPrompt="1"/>
          </p:nvPr>
        </p:nvSpPr>
        <p:spPr>
          <a:xfrm>
            <a:off x="777240" y="1"/>
            <a:ext cx="11390313"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Student Debrief</a:t>
            </a:r>
          </a:p>
        </p:txBody>
      </p:sp>
      <p:pic>
        <p:nvPicPr>
          <p:cNvPr id="4" name="Picture 3">
            <a:extLst>
              <a:ext uri="{FF2B5EF4-FFF2-40B4-BE49-F238E27FC236}">
                <a16:creationId xmlns:a16="http://schemas.microsoft.com/office/drawing/2014/main" id="{5FCA9C5B-9241-83A6-BF90-D80A2C82D82A}"/>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1370315863"/>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Exit Ticket">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87BF7481-2AB1-1F79-65F6-B47BE9EECE0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3" name="Text Placeholder 16">
            <a:extLst>
              <a:ext uri="{FF2B5EF4-FFF2-40B4-BE49-F238E27FC236}">
                <a16:creationId xmlns:a16="http://schemas.microsoft.com/office/drawing/2014/main" id="{BC6A2CE5-7968-8B98-9B39-FF49F2E9FD9A}"/>
              </a:ext>
            </a:extLst>
          </p:cNvPr>
          <p:cNvSpPr>
            <a:spLocks noGrp="1"/>
          </p:cNvSpPr>
          <p:nvPr>
            <p:ph type="body" sz="quarter" idx="11" hasCustomPrompt="1"/>
          </p:nvPr>
        </p:nvSpPr>
        <p:spPr>
          <a:xfrm>
            <a:off x="11127571" y="6036181"/>
            <a:ext cx="635400"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Google Shape;80;g295eeb86cda_3_104">
            <a:extLst>
              <a:ext uri="{FF2B5EF4-FFF2-40B4-BE49-F238E27FC236}">
                <a16:creationId xmlns:a16="http://schemas.microsoft.com/office/drawing/2014/main" id="{E879CF37-D19C-8989-9D60-7E089D9CFD43}"/>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114300" lvl="0" indent="0" algn="l">
              <a:lnSpc>
                <a:spcPct val="100000"/>
              </a:lnSpc>
              <a:spcBef>
                <a:spcPts val="1000"/>
              </a:spcBef>
              <a:spcAft>
                <a:spcPts val="0"/>
              </a:spcAft>
              <a:buClr>
                <a:schemeClr val="dk1"/>
              </a:buClr>
              <a:buSzPct val="100000"/>
              <a:buFont typeface="Arial" panose="020B0604020202020204" pitchFamily="34" charset="0"/>
              <a:buNone/>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dirty="0"/>
          </a:p>
        </p:txBody>
      </p:sp>
      <p:sp>
        <p:nvSpPr>
          <p:cNvPr id="7" name="Title 1">
            <a:extLst>
              <a:ext uri="{FF2B5EF4-FFF2-40B4-BE49-F238E27FC236}">
                <a16:creationId xmlns:a16="http://schemas.microsoft.com/office/drawing/2014/main" id="{3820E38D-87BF-6F8F-072E-A0D77CD81A20}"/>
              </a:ext>
            </a:extLst>
          </p:cNvPr>
          <p:cNvSpPr>
            <a:spLocks noGrp="1"/>
          </p:cNvSpPr>
          <p:nvPr>
            <p:ph type="title" hasCustomPrompt="1"/>
          </p:nvPr>
        </p:nvSpPr>
        <p:spPr>
          <a:xfrm>
            <a:off x="777240" y="1"/>
            <a:ext cx="11425482"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Exit Ticket</a:t>
            </a:r>
          </a:p>
        </p:txBody>
      </p:sp>
      <p:pic>
        <p:nvPicPr>
          <p:cNvPr id="2" name="Picture 1">
            <a:extLst>
              <a:ext uri="{FF2B5EF4-FFF2-40B4-BE49-F238E27FC236}">
                <a16:creationId xmlns:a16="http://schemas.microsoft.com/office/drawing/2014/main" id="{187C8F92-FBD4-BA03-506E-C3D26BFEEC79}"/>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40923304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7.xml"/><Relationship Id="rId13" Type="http://schemas.openxmlformats.org/officeDocument/2006/relationships/slideLayout" Target="../slideLayouts/slideLayout32.xml"/><Relationship Id="rId18" Type="http://schemas.openxmlformats.org/officeDocument/2006/relationships/slideLayout" Target="../slideLayouts/slideLayout37.xml"/><Relationship Id="rId3" Type="http://schemas.openxmlformats.org/officeDocument/2006/relationships/slideLayout" Target="../slideLayouts/slideLayout22.xml"/><Relationship Id="rId7" Type="http://schemas.openxmlformats.org/officeDocument/2006/relationships/slideLayout" Target="../slideLayouts/slideLayout26.xml"/><Relationship Id="rId12" Type="http://schemas.openxmlformats.org/officeDocument/2006/relationships/slideLayout" Target="../slideLayouts/slideLayout31.xml"/><Relationship Id="rId17" Type="http://schemas.openxmlformats.org/officeDocument/2006/relationships/slideLayout" Target="../slideLayouts/slideLayout36.xml"/><Relationship Id="rId2" Type="http://schemas.openxmlformats.org/officeDocument/2006/relationships/slideLayout" Target="../slideLayouts/slideLayout21.xml"/><Relationship Id="rId16" Type="http://schemas.openxmlformats.org/officeDocument/2006/relationships/slideLayout" Target="../slideLayouts/slideLayout35.xml"/><Relationship Id="rId20" Type="http://schemas.openxmlformats.org/officeDocument/2006/relationships/theme" Target="../theme/theme2.xml"/><Relationship Id="rId1" Type="http://schemas.openxmlformats.org/officeDocument/2006/relationships/slideLayout" Target="../slideLayouts/slideLayout20.xml"/><Relationship Id="rId6" Type="http://schemas.openxmlformats.org/officeDocument/2006/relationships/slideLayout" Target="../slideLayouts/slideLayout25.xml"/><Relationship Id="rId11" Type="http://schemas.openxmlformats.org/officeDocument/2006/relationships/slideLayout" Target="../slideLayouts/slideLayout30.xml"/><Relationship Id="rId5" Type="http://schemas.openxmlformats.org/officeDocument/2006/relationships/slideLayout" Target="../slideLayouts/slideLayout24.xml"/><Relationship Id="rId15" Type="http://schemas.openxmlformats.org/officeDocument/2006/relationships/slideLayout" Target="../slideLayouts/slideLayout34.xml"/><Relationship Id="rId10" Type="http://schemas.openxmlformats.org/officeDocument/2006/relationships/slideLayout" Target="../slideLayouts/slideLayout29.xml"/><Relationship Id="rId19" Type="http://schemas.openxmlformats.org/officeDocument/2006/relationships/slideLayout" Target="../slideLayouts/slideLayout38.xml"/><Relationship Id="rId4" Type="http://schemas.openxmlformats.org/officeDocument/2006/relationships/slideLayout" Target="../slideLayouts/slideLayout23.xml"/><Relationship Id="rId9" Type="http://schemas.openxmlformats.org/officeDocument/2006/relationships/slideLayout" Target="../slideLayouts/slideLayout28.xml"/><Relationship Id="rId14" Type="http://schemas.openxmlformats.org/officeDocument/2006/relationships/slideLayout" Target="../slideLayouts/slideLayout33.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46.xml"/><Relationship Id="rId13" Type="http://schemas.openxmlformats.org/officeDocument/2006/relationships/slideLayout" Target="../slideLayouts/slideLayout51.xml"/><Relationship Id="rId18" Type="http://schemas.openxmlformats.org/officeDocument/2006/relationships/slideLayout" Target="../slideLayouts/slideLayout56.xml"/><Relationship Id="rId3" Type="http://schemas.openxmlformats.org/officeDocument/2006/relationships/slideLayout" Target="../slideLayouts/slideLayout41.xml"/><Relationship Id="rId7" Type="http://schemas.openxmlformats.org/officeDocument/2006/relationships/slideLayout" Target="../slideLayouts/slideLayout45.xml"/><Relationship Id="rId12" Type="http://schemas.openxmlformats.org/officeDocument/2006/relationships/slideLayout" Target="../slideLayouts/slideLayout50.xml"/><Relationship Id="rId17" Type="http://schemas.openxmlformats.org/officeDocument/2006/relationships/slideLayout" Target="../slideLayouts/slideLayout55.xml"/><Relationship Id="rId2" Type="http://schemas.openxmlformats.org/officeDocument/2006/relationships/slideLayout" Target="../slideLayouts/slideLayout40.xml"/><Relationship Id="rId16" Type="http://schemas.openxmlformats.org/officeDocument/2006/relationships/slideLayout" Target="../slideLayouts/slideLayout54.xml"/><Relationship Id="rId20" Type="http://schemas.openxmlformats.org/officeDocument/2006/relationships/theme" Target="../theme/theme3.xml"/><Relationship Id="rId1" Type="http://schemas.openxmlformats.org/officeDocument/2006/relationships/slideLayout" Target="../slideLayouts/slideLayout39.xml"/><Relationship Id="rId6" Type="http://schemas.openxmlformats.org/officeDocument/2006/relationships/slideLayout" Target="../slideLayouts/slideLayout44.xml"/><Relationship Id="rId11" Type="http://schemas.openxmlformats.org/officeDocument/2006/relationships/slideLayout" Target="../slideLayouts/slideLayout49.xml"/><Relationship Id="rId5" Type="http://schemas.openxmlformats.org/officeDocument/2006/relationships/slideLayout" Target="../slideLayouts/slideLayout43.xml"/><Relationship Id="rId15" Type="http://schemas.openxmlformats.org/officeDocument/2006/relationships/slideLayout" Target="../slideLayouts/slideLayout53.xml"/><Relationship Id="rId10" Type="http://schemas.openxmlformats.org/officeDocument/2006/relationships/slideLayout" Target="../slideLayouts/slideLayout48.xml"/><Relationship Id="rId19" Type="http://schemas.openxmlformats.org/officeDocument/2006/relationships/slideLayout" Target="../slideLayouts/slideLayout57.xml"/><Relationship Id="rId4" Type="http://schemas.openxmlformats.org/officeDocument/2006/relationships/slideLayout" Target="../slideLayouts/slideLayout42.xml"/><Relationship Id="rId9" Type="http://schemas.openxmlformats.org/officeDocument/2006/relationships/slideLayout" Target="../slideLayouts/slideLayout47.xml"/><Relationship Id="rId14" Type="http://schemas.openxmlformats.org/officeDocument/2006/relationships/slideLayout" Target="../slideLayouts/slideLayout52.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65.xml"/><Relationship Id="rId13" Type="http://schemas.openxmlformats.org/officeDocument/2006/relationships/slideLayout" Target="../slideLayouts/slideLayout70.xml"/><Relationship Id="rId18" Type="http://schemas.openxmlformats.org/officeDocument/2006/relationships/slideLayout" Target="../slideLayouts/slideLayout75.xml"/><Relationship Id="rId3" Type="http://schemas.openxmlformats.org/officeDocument/2006/relationships/slideLayout" Target="../slideLayouts/slideLayout60.xml"/><Relationship Id="rId7" Type="http://schemas.openxmlformats.org/officeDocument/2006/relationships/slideLayout" Target="../slideLayouts/slideLayout64.xml"/><Relationship Id="rId12" Type="http://schemas.openxmlformats.org/officeDocument/2006/relationships/slideLayout" Target="../slideLayouts/slideLayout69.xml"/><Relationship Id="rId17" Type="http://schemas.openxmlformats.org/officeDocument/2006/relationships/slideLayout" Target="../slideLayouts/slideLayout74.xml"/><Relationship Id="rId2" Type="http://schemas.openxmlformats.org/officeDocument/2006/relationships/slideLayout" Target="../slideLayouts/slideLayout59.xml"/><Relationship Id="rId16" Type="http://schemas.openxmlformats.org/officeDocument/2006/relationships/slideLayout" Target="../slideLayouts/slideLayout73.xml"/><Relationship Id="rId20" Type="http://schemas.openxmlformats.org/officeDocument/2006/relationships/theme" Target="../theme/theme4.xml"/><Relationship Id="rId1" Type="http://schemas.openxmlformats.org/officeDocument/2006/relationships/slideLayout" Target="../slideLayouts/slideLayout58.xml"/><Relationship Id="rId6" Type="http://schemas.openxmlformats.org/officeDocument/2006/relationships/slideLayout" Target="../slideLayouts/slideLayout63.xml"/><Relationship Id="rId11" Type="http://schemas.openxmlformats.org/officeDocument/2006/relationships/slideLayout" Target="../slideLayouts/slideLayout68.xml"/><Relationship Id="rId5" Type="http://schemas.openxmlformats.org/officeDocument/2006/relationships/slideLayout" Target="../slideLayouts/slideLayout62.xml"/><Relationship Id="rId15" Type="http://schemas.openxmlformats.org/officeDocument/2006/relationships/slideLayout" Target="../slideLayouts/slideLayout72.xml"/><Relationship Id="rId10" Type="http://schemas.openxmlformats.org/officeDocument/2006/relationships/slideLayout" Target="../slideLayouts/slideLayout67.xml"/><Relationship Id="rId19" Type="http://schemas.openxmlformats.org/officeDocument/2006/relationships/slideLayout" Target="../slideLayouts/slideLayout76.xml"/><Relationship Id="rId4" Type="http://schemas.openxmlformats.org/officeDocument/2006/relationships/slideLayout" Target="../slideLayouts/slideLayout61.xml"/><Relationship Id="rId9" Type="http://schemas.openxmlformats.org/officeDocument/2006/relationships/slideLayout" Target="../slideLayouts/slideLayout66.xml"/><Relationship Id="rId14" Type="http://schemas.openxmlformats.org/officeDocument/2006/relationships/slideLayout" Target="../slideLayouts/slideLayout7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19548417"/>
      </p:ext>
    </p:extLst>
  </p:cSld>
  <p:clrMap bg1="lt1" tx1="dk1" bg2="lt2" tx2="dk2" accent1="accent1" accent2="accent2" accent3="accent3" accent4="accent4" accent5="accent5" accent6="accent6" hlink="hlink" folHlink="folHlink"/>
  <p:sldLayoutIdLst>
    <p:sldLayoutId id="2147483755" r:id="rId1"/>
    <p:sldLayoutId id="2147483777" r:id="rId2"/>
    <p:sldLayoutId id="2147483745" r:id="rId3"/>
    <p:sldLayoutId id="2147483747" r:id="rId4"/>
    <p:sldLayoutId id="2147483744" r:id="rId5"/>
    <p:sldLayoutId id="2147483778" r:id="rId6"/>
    <p:sldLayoutId id="2147483743" r:id="rId7"/>
    <p:sldLayoutId id="2147483746" r:id="rId8"/>
    <p:sldLayoutId id="2147483749" r:id="rId9"/>
    <p:sldLayoutId id="2147483753" r:id="rId10"/>
    <p:sldLayoutId id="2147483754" r:id="rId11"/>
    <p:sldLayoutId id="2147483653" r:id="rId12"/>
    <p:sldLayoutId id="2147483776" r:id="rId13"/>
    <p:sldLayoutId id="2147483670" r:id="rId14"/>
    <p:sldLayoutId id="2147483673" r:id="rId15"/>
    <p:sldLayoutId id="2147483672" r:id="rId16"/>
    <p:sldLayoutId id="2147483660" r:id="rId17"/>
    <p:sldLayoutId id="2147483661" r:id="rId18"/>
    <p:sldLayoutId id="2147483663" r:id="rId19"/>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39"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400728010"/>
      </p:ext>
    </p:extLst>
  </p:cSld>
  <p:clrMap bg1="lt1" tx1="dk1" bg2="lt2" tx2="dk2" accent1="accent1" accent2="accent2" accent3="accent3" accent4="accent4" accent5="accent5" accent6="accent6" hlink="hlink" folHlink="folHlink"/>
  <p:sldLayoutIdLst>
    <p:sldLayoutId id="2147483780" r:id="rId1"/>
    <p:sldLayoutId id="2147483781" r:id="rId2"/>
    <p:sldLayoutId id="2147483782" r:id="rId3"/>
    <p:sldLayoutId id="2147483783" r:id="rId4"/>
    <p:sldLayoutId id="2147483784" r:id="rId5"/>
    <p:sldLayoutId id="2147483785" r:id="rId6"/>
    <p:sldLayoutId id="2147483786" r:id="rId7"/>
    <p:sldLayoutId id="2147483787" r:id="rId8"/>
    <p:sldLayoutId id="2147483788" r:id="rId9"/>
    <p:sldLayoutId id="2147483789" r:id="rId10"/>
    <p:sldLayoutId id="2147483790" r:id="rId11"/>
    <p:sldLayoutId id="2147483791" r:id="rId12"/>
    <p:sldLayoutId id="2147483792" r:id="rId13"/>
    <p:sldLayoutId id="2147483793" r:id="rId14"/>
    <p:sldLayoutId id="2147483794" r:id="rId15"/>
    <p:sldLayoutId id="2147483795" r:id="rId16"/>
    <p:sldLayoutId id="2147483796" r:id="rId17"/>
    <p:sldLayoutId id="2147483797" r:id="rId18"/>
    <p:sldLayoutId id="2147483798" r:id="rId19"/>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39">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4352628"/>
      </p:ext>
    </p:extLst>
  </p:cSld>
  <p:clrMap bg1="lt1" tx1="dk1" bg2="lt2" tx2="dk2" accent1="accent1" accent2="accent2" accent3="accent3" accent4="accent4" accent5="accent5" accent6="accent6" hlink="hlink" folHlink="folHlink"/>
  <p:sldLayoutIdLst>
    <p:sldLayoutId id="2147483800" r:id="rId1"/>
    <p:sldLayoutId id="2147483801" r:id="rId2"/>
    <p:sldLayoutId id="2147483802" r:id="rId3"/>
    <p:sldLayoutId id="2147483803" r:id="rId4"/>
    <p:sldLayoutId id="2147483804" r:id="rId5"/>
    <p:sldLayoutId id="2147483805" r:id="rId6"/>
    <p:sldLayoutId id="2147483806" r:id="rId7"/>
    <p:sldLayoutId id="2147483807" r:id="rId8"/>
    <p:sldLayoutId id="2147483808" r:id="rId9"/>
    <p:sldLayoutId id="2147483809" r:id="rId10"/>
    <p:sldLayoutId id="2147483810" r:id="rId11"/>
    <p:sldLayoutId id="2147483811" r:id="rId12"/>
    <p:sldLayoutId id="2147483812" r:id="rId13"/>
    <p:sldLayoutId id="2147483813" r:id="rId14"/>
    <p:sldLayoutId id="2147483814" r:id="rId15"/>
    <p:sldLayoutId id="2147483815" r:id="rId16"/>
    <p:sldLayoutId id="2147483816" r:id="rId17"/>
    <p:sldLayoutId id="2147483817" r:id="rId18"/>
    <p:sldLayoutId id="2147483818" r:id="rId19"/>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39">
          <p15:clr>
            <a:srgbClr val="F26B43"/>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416063271"/>
      </p:ext>
    </p:extLst>
  </p:cSld>
  <p:clrMap bg1="lt1" tx1="dk1" bg2="lt2" tx2="dk2" accent1="accent1" accent2="accent2" accent3="accent3" accent4="accent4" accent5="accent5" accent6="accent6" hlink="hlink" folHlink="folHlink"/>
  <p:sldLayoutIdLst>
    <p:sldLayoutId id="2147483820" r:id="rId1"/>
    <p:sldLayoutId id="2147483821" r:id="rId2"/>
    <p:sldLayoutId id="2147483822" r:id="rId3"/>
    <p:sldLayoutId id="2147483823" r:id="rId4"/>
    <p:sldLayoutId id="2147483824" r:id="rId5"/>
    <p:sldLayoutId id="2147483825" r:id="rId6"/>
    <p:sldLayoutId id="2147483826" r:id="rId7"/>
    <p:sldLayoutId id="2147483827" r:id="rId8"/>
    <p:sldLayoutId id="2147483828" r:id="rId9"/>
    <p:sldLayoutId id="2147483829" r:id="rId10"/>
    <p:sldLayoutId id="2147483830" r:id="rId11"/>
    <p:sldLayoutId id="2147483831" r:id="rId12"/>
    <p:sldLayoutId id="2147483832" r:id="rId13"/>
    <p:sldLayoutId id="2147483833" r:id="rId14"/>
    <p:sldLayoutId id="2147483834" r:id="rId15"/>
    <p:sldLayoutId id="2147483835" r:id="rId16"/>
    <p:sldLayoutId id="2147483836" r:id="rId17"/>
    <p:sldLayoutId id="2147483837" r:id="rId18"/>
    <p:sldLayoutId id="2147483838" r:id="rId19"/>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39">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7.xml"/><Relationship Id="rId1" Type="http://schemas.openxmlformats.org/officeDocument/2006/relationships/slideLayout" Target="../slideLayouts/slideLayout11.xml"/><Relationship Id="rId6" Type="http://schemas.openxmlformats.org/officeDocument/2006/relationships/image" Target="../media/image30.png"/><Relationship Id="rId5" Type="http://schemas.openxmlformats.org/officeDocument/2006/relationships/image" Target="../media/image29.png"/><Relationship Id="rId4" Type="http://schemas.openxmlformats.org/officeDocument/2006/relationships/image" Target="../media/image28.png"/></Relationships>
</file>

<file path=ppt/slides/_rels/slide8.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8.xml"/><Relationship Id="rId1" Type="http://schemas.openxmlformats.org/officeDocument/2006/relationships/slideLayout" Target="../slideLayouts/slideLayout1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1.xml"/><Relationship Id="rId1" Type="http://schemas.openxmlformats.org/officeDocument/2006/relationships/slideLayout" Target="../slideLayouts/slideLayout11.xml"/></Relationships>
</file>

<file path=ppt/slides/_rels/slide1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2.xml"/><Relationship Id="rId1" Type="http://schemas.openxmlformats.org/officeDocument/2006/relationships/slideLayout" Target="../slideLayouts/slideLayout11.xml"/></Relationships>
</file>

<file path=ppt/slides/_rels/slide13.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3.xml"/><Relationship Id="rId1" Type="http://schemas.openxmlformats.org/officeDocument/2006/relationships/slideLayout" Target="../slideLayouts/slideLayout11.xml"/><Relationship Id="rId5" Type="http://schemas.openxmlformats.org/officeDocument/2006/relationships/image" Target="../media/image34.PNG"/><Relationship Id="rId4" Type="http://schemas.openxmlformats.org/officeDocument/2006/relationships/image" Target="../media/image35.png"/></Relationships>
</file>

<file path=ppt/slides/_rels/slide14.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14.xml"/><Relationship Id="rId1" Type="http://schemas.openxmlformats.org/officeDocument/2006/relationships/slideLayout" Target="../slideLayouts/slideLayout11.xml"/><Relationship Id="rId4" Type="http://schemas.openxmlformats.org/officeDocument/2006/relationships/image" Target="../media/image36.PNG"/></Relationships>
</file>

<file path=ppt/slides/_rels/slide15.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5.xml"/><Relationship Id="rId1" Type="http://schemas.openxmlformats.org/officeDocument/2006/relationships/slideLayout" Target="../slideLayouts/slideLayout11.xml"/><Relationship Id="rId4" Type="http://schemas.openxmlformats.org/officeDocument/2006/relationships/image" Target="../media/image36.PNG"/></Relationships>
</file>

<file path=ppt/slides/_rels/slide16.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6.xml"/><Relationship Id="rId1" Type="http://schemas.openxmlformats.org/officeDocument/2006/relationships/slideLayout" Target="../slideLayouts/slideLayout11.xml"/><Relationship Id="rId4" Type="http://schemas.openxmlformats.org/officeDocument/2006/relationships/image" Target="../media/image38.PNG"/></Relationships>
</file>

<file path=ppt/slides/_rels/slide17.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17.xml"/><Relationship Id="rId1" Type="http://schemas.openxmlformats.org/officeDocument/2006/relationships/slideLayout" Target="../slideLayouts/slideLayout11.xml"/></Relationships>
</file>

<file path=ppt/slides/_rels/slide18.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18.xml"/><Relationship Id="rId1" Type="http://schemas.openxmlformats.org/officeDocument/2006/relationships/slideLayout" Target="../slideLayouts/slideLayout11.xml"/></Relationships>
</file>

<file path=ppt/slides/_rels/slide1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9.xml"/><Relationship Id="rId1" Type="http://schemas.openxmlformats.org/officeDocument/2006/relationships/slideLayout" Target="../slideLayouts/slideLayout1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24.xml"/><Relationship Id="rId1" Type="http://schemas.openxmlformats.org/officeDocument/2006/relationships/slideLayout" Target="../slideLayouts/slideLayout1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1.xml"/></Relationships>
</file>

<file path=ppt/slides/_rels/slide26.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26.xml"/><Relationship Id="rId1" Type="http://schemas.openxmlformats.org/officeDocument/2006/relationships/slideLayout" Target="../slideLayouts/slideLayout11.xml"/></Relationships>
</file>

<file path=ppt/slides/_rels/slide27.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27.xml"/><Relationship Id="rId1" Type="http://schemas.openxmlformats.org/officeDocument/2006/relationships/slideLayout" Target="../slideLayouts/slideLayout11.xml"/><Relationship Id="rId4" Type="http://schemas.openxmlformats.org/officeDocument/2006/relationships/image" Target="../media/image45.png"/></Relationships>
</file>

<file path=ppt/slides/_rels/slide28.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28.xml"/><Relationship Id="rId1" Type="http://schemas.openxmlformats.org/officeDocument/2006/relationships/slideLayout" Target="../slideLayouts/slideLayout11.xml"/><Relationship Id="rId4" Type="http://schemas.openxmlformats.org/officeDocument/2006/relationships/image" Target="../media/image47.PNG"/></Relationships>
</file>

<file path=ppt/slides/_rels/slide29.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29.xml"/><Relationship Id="rId1" Type="http://schemas.openxmlformats.org/officeDocument/2006/relationships/slideLayout" Target="../slideLayouts/slideLayout11.xml"/></Relationships>
</file>

<file path=ppt/slides/_rels/slide3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30.xml"/><Relationship Id="rId1" Type="http://schemas.openxmlformats.org/officeDocument/2006/relationships/slideLayout" Target="../slideLayouts/slideLayout1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1.xml"/></Relationships>
</file>

<file path=ppt/slides/_rels/slide38.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38.xml"/><Relationship Id="rId1" Type="http://schemas.openxmlformats.org/officeDocument/2006/relationships/slideLayout" Target="../slideLayouts/slideLayout1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1.xml"/></Relationships>
</file>

<file path=ppt/slides/_rels/slide40.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40.xml"/><Relationship Id="rId1" Type="http://schemas.openxmlformats.org/officeDocument/2006/relationships/slideLayout" Target="../slideLayouts/slideLayout1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1.xml"/></Relationships>
</file>

<file path=ppt/slides/_rels/slide42.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42.xml"/><Relationship Id="rId1" Type="http://schemas.openxmlformats.org/officeDocument/2006/relationships/slideLayout" Target="../slideLayouts/slideLayout11.xml"/></Relationships>
</file>

<file path=ppt/slides/_rels/slide43.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43.xml"/><Relationship Id="rId1" Type="http://schemas.openxmlformats.org/officeDocument/2006/relationships/slideLayout" Target="../slideLayouts/slideLayout11.xml"/></Relationships>
</file>

<file path=ppt/slides/_rels/slide44.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44.xml"/><Relationship Id="rId1" Type="http://schemas.openxmlformats.org/officeDocument/2006/relationships/slideLayout" Target="../slideLayouts/slideLayout11.xml"/></Relationships>
</file>

<file path=ppt/slides/_rels/slide45.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45.xml"/><Relationship Id="rId1" Type="http://schemas.openxmlformats.org/officeDocument/2006/relationships/slideLayout" Target="../slideLayouts/slideLayout11.xml"/><Relationship Id="rId4" Type="http://schemas.openxmlformats.org/officeDocument/2006/relationships/image" Target="../media/image540.PNG"/></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1.xml"/></Relationships>
</file>

<file path=ppt/slides/_rels/slide4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47.xml"/><Relationship Id="rId1" Type="http://schemas.openxmlformats.org/officeDocument/2006/relationships/slideLayout" Target="../slideLayouts/slideLayout11.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11.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11.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52.xml"/><Relationship Id="rId1" Type="http://schemas.openxmlformats.org/officeDocument/2006/relationships/slideLayout" Target="../slideLayouts/slideLayout11.xml"/><Relationship Id="rId6" Type="http://schemas.openxmlformats.org/officeDocument/2006/relationships/image" Target="../media/image66.png"/><Relationship Id="rId5" Type="http://schemas.openxmlformats.org/officeDocument/2006/relationships/image" Target="../media/image65.png"/><Relationship Id="rId4" Type="http://schemas.openxmlformats.org/officeDocument/2006/relationships/image" Target="../media/image64.png"/></Relationships>
</file>

<file path=ppt/slides/_rels/slide53.xml.rels><?xml version="1.0" encoding="UTF-8" standalone="yes"?>
<Relationships xmlns="http://schemas.openxmlformats.org/package/2006/relationships"><Relationship Id="rId8" Type="http://schemas.openxmlformats.org/officeDocument/2006/relationships/image" Target="../media/image72.png"/><Relationship Id="rId3" Type="http://schemas.openxmlformats.org/officeDocument/2006/relationships/image" Target="../media/image67.png"/><Relationship Id="rId7" Type="http://schemas.openxmlformats.org/officeDocument/2006/relationships/image" Target="../media/image71.png"/><Relationship Id="rId2" Type="http://schemas.openxmlformats.org/officeDocument/2006/relationships/notesSlide" Target="../notesSlides/notesSlide53.xml"/><Relationship Id="rId1" Type="http://schemas.openxmlformats.org/officeDocument/2006/relationships/slideLayout" Target="../slideLayouts/slideLayout11.xml"/><Relationship Id="rId6" Type="http://schemas.openxmlformats.org/officeDocument/2006/relationships/image" Target="../media/image70.png"/><Relationship Id="rId5" Type="http://schemas.openxmlformats.org/officeDocument/2006/relationships/image" Target="../media/image69.png"/><Relationship Id="rId4" Type="http://schemas.openxmlformats.org/officeDocument/2006/relationships/image" Target="../media/image68.png"/></Relationships>
</file>

<file path=ppt/slides/_rels/slide54.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54.xml"/><Relationship Id="rId1" Type="http://schemas.openxmlformats.org/officeDocument/2006/relationships/slideLayout" Target="../slideLayouts/slideLayout11.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11.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4.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11.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11.xml"/></Relationships>
</file>

<file path=ppt/slides/_rels/slide59.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59.xml"/><Relationship Id="rId1" Type="http://schemas.openxmlformats.org/officeDocument/2006/relationships/slideLayout" Target="../slideLayouts/slideLayout11.xml"/></Relationships>
</file>

<file path=ppt/slides/_rels/slide60.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60.xml"/><Relationship Id="rId1" Type="http://schemas.openxmlformats.org/officeDocument/2006/relationships/slideLayout" Target="../slideLayouts/slideLayout11.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11.xml"/></Relationships>
</file>

<file path=ppt/slides/_rels/slide62.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62.xml"/><Relationship Id="rId1" Type="http://schemas.openxmlformats.org/officeDocument/2006/relationships/slideLayout" Target="../slideLayouts/slideLayout11.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11.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6.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11.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9.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BE6FC3-E137-F9C8-0911-3C626A34090C}"/>
            </a:ext>
          </a:extLst>
        </p:cNvPr>
        <p:cNvGrpSpPr/>
        <p:nvPr/>
      </p:nvGrpSpPr>
      <p:grpSpPr>
        <a:xfrm>
          <a:off x="0" y="0"/>
          <a:ext cx="0" cy="0"/>
          <a:chOff x="0" y="0"/>
          <a:chExt cx="0" cy="0"/>
        </a:xfrm>
      </p:grpSpPr>
      <p:sp>
        <p:nvSpPr>
          <p:cNvPr id="9" name="Text Placeholder 8">
            <a:extLst>
              <a:ext uri="{FF2B5EF4-FFF2-40B4-BE49-F238E27FC236}">
                <a16:creationId xmlns:a16="http://schemas.microsoft.com/office/drawing/2014/main" id="{9F3F9AB4-72EE-E557-D442-1A774A8F85C1}"/>
              </a:ext>
            </a:extLst>
          </p:cNvPr>
          <p:cNvSpPr>
            <a:spLocks noGrp="1"/>
          </p:cNvSpPr>
          <p:nvPr>
            <p:ph type="title" idx="4294967295"/>
          </p:nvPr>
        </p:nvSpPr>
        <p:spPr>
          <a:xfrm>
            <a:off x="0" y="1616529"/>
            <a:ext cx="12192003" cy="1812471"/>
          </a:xfrm>
          <a:prstGeom prst="rect">
            <a:avLst/>
          </a:prstGeom>
          <a:noFill/>
          <a:ln>
            <a:noFill/>
            <a:prstDash/>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6000" b="1" i="0" u="none" strike="noStrike" kern="1200" cap="none" spc="0" normalizeH="0" baseline="0" noProof="0" dirty="0">
                <a:ln>
                  <a:noFill/>
                </a:ln>
                <a:solidFill>
                  <a:srgbClr val="236739"/>
                </a:solidFill>
                <a:effectLst/>
                <a:uLnTx/>
                <a:uFillTx/>
                <a:latin typeface="+mn-lt"/>
                <a:ea typeface="+mn-ea"/>
                <a:cs typeface="+mn-cs"/>
              </a:rPr>
              <a:t>Using Linear Equations</a:t>
            </a:r>
          </a:p>
        </p:txBody>
      </p:sp>
      <p:sp>
        <p:nvSpPr>
          <p:cNvPr id="4" name="Text Placeholder 3">
            <a:extLst>
              <a:ext uri="{FF2B5EF4-FFF2-40B4-BE49-F238E27FC236}">
                <a16:creationId xmlns:a16="http://schemas.microsoft.com/office/drawing/2014/main" id="{C4BC507F-0143-6704-9C2B-18134FD88522}"/>
              </a:ext>
            </a:extLst>
          </p:cNvPr>
          <p:cNvSpPr>
            <a:spLocks noGrp="1"/>
          </p:cNvSpPr>
          <p:nvPr>
            <p:ph type="body" sz="quarter" idx="13"/>
          </p:nvPr>
        </p:nvSpPr>
        <p:spPr/>
        <p:txBody>
          <a:bodyPr/>
          <a:lstStyle/>
          <a:p>
            <a:r>
              <a:rPr lang="en-US" dirty="0"/>
              <a:t>Algebra I | Module 2 | Topic 1 | Lesson 5</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a:t>
            </a:fld>
          </a:p>
        </p:txBody>
      </p:sp>
    </p:spTree>
    <p:extLst>
      <p:ext uri="{BB962C8B-B14F-4D97-AF65-F5344CB8AC3E}">
        <p14:creationId xmlns:p14="http://schemas.microsoft.com/office/powerpoint/2010/main" val="218192541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AB788BD-5AC8-F66E-ABEF-AD5339EB2C99}"/>
              </a:ext>
            </a:extLst>
          </p:cNvPr>
          <p:cNvSpPr>
            <a:spLocks noGrp="1"/>
          </p:cNvSpPr>
          <p:nvPr>
            <p:ph type="title"/>
          </p:nvPr>
        </p:nvSpPr>
        <p:spPr>
          <a:xfrm>
            <a:off x="1587" y="13855"/>
            <a:ext cx="6094413" cy="926757"/>
          </a:xfrm>
          <a:noFill/>
        </p:spPr>
        <p:txBody>
          <a:bodyPr/>
          <a:lstStyle/>
          <a:p>
            <a:r>
              <a:rPr lang="en-US" sz="4000" dirty="0"/>
              <a:t>Objectives</a:t>
            </a:r>
          </a:p>
        </p:txBody>
      </p:sp>
      <p:sp>
        <p:nvSpPr>
          <p:cNvPr id="4" name="Text Placeholder 3">
            <a:extLst>
              <a:ext uri="{FF2B5EF4-FFF2-40B4-BE49-F238E27FC236}">
                <a16:creationId xmlns:a16="http://schemas.microsoft.com/office/drawing/2014/main" id="{7B3EF6D6-21DA-06B8-522B-BDF27854BF2C}"/>
              </a:ext>
            </a:extLst>
          </p:cNvPr>
          <p:cNvSpPr>
            <a:spLocks noGrp="1"/>
          </p:cNvSpPr>
          <p:nvPr>
            <p:ph type="body" sz="quarter" idx="10"/>
          </p:nvPr>
        </p:nvSpPr>
        <p:spPr>
          <a:xfrm>
            <a:off x="837406" y="1608364"/>
            <a:ext cx="9833315" cy="4717131"/>
          </a:xfrm>
        </p:spPr>
        <p:txBody>
          <a:bodyPr/>
          <a:lstStyle/>
          <a:p>
            <a:pPr marL="457200" indent="-457200" algn="l">
              <a:buFont typeface="Arial" panose="020B0604020202020204" pitchFamily="34" charset="0"/>
              <a:buChar char="•"/>
            </a:pPr>
            <a:r>
              <a:rPr lang="en-US" sz="2800" b="0" i="0" u="none" strike="noStrike" baseline="0" dirty="0">
                <a:solidFill>
                  <a:srgbClr val="000000"/>
                </a:solidFill>
              </a:rPr>
              <a:t>Construct linear equations to model relationships between</a:t>
            </a:r>
            <a:br>
              <a:rPr lang="en-US" sz="2800" b="0" i="0" u="none" strike="noStrike" baseline="0" dirty="0">
                <a:solidFill>
                  <a:srgbClr val="000000"/>
                </a:solidFill>
              </a:rPr>
            </a:br>
            <a:r>
              <a:rPr lang="en-US" sz="2800" b="0" i="0" u="none" strike="noStrike" baseline="0" dirty="0">
                <a:solidFill>
                  <a:srgbClr val="000000"/>
                </a:solidFill>
              </a:rPr>
              <a:t>two quantities.</a:t>
            </a:r>
          </a:p>
          <a:p>
            <a:pPr marL="457200" indent="-457200" algn="l">
              <a:buFont typeface="Arial" panose="020B0604020202020204" pitchFamily="34" charset="0"/>
              <a:buChar char="•"/>
            </a:pPr>
            <a:r>
              <a:rPr lang="en-US" sz="2800" dirty="0">
                <a:solidFill>
                  <a:srgbClr val="000000"/>
                </a:solidFill>
              </a:rPr>
              <a:t>Graph lines using the slope-intercept form of a linear equation.</a:t>
            </a:r>
          </a:p>
          <a:p>
            <a:pPr marL="457200" indent="-457200" algn="l">
              <a:buFont typeface="Arial" panose="020B0604020202020204" pitchFamily="34" charset="0"/>
              <a:buChar char="•"/>
            </a:pPr>
            <a:r>
              <a:rPr lang="en-US" sz="2800" dirty="0">
                <a:solidFill>
                  <a:srgbClr val="000000"/>
                </a:solidFill>
              </a:rPr>
              <a:t>Graph lines using the point-slope form of a linear equation.</a:t>
            </a:r>
          </a:p>
          <a:p>
            <a:pPr marL="457200" indent="-457200" algn="l">
              <a:buFont typeface="Arial" panose="020B0604020202020204" pitchFamily="34" charset="0"/>
              <a:buChar char="•"/>
            </a:pPr>
            <a:r>
              <a:rPr lang="en-US" sz="2800" dirty="0">
                <a:solidFill>
                  <a:srgbClr val="000000"/>
                </a:solidFill>
              </a:rPr>
              <a:t>Graph lines using the standard form of a linear equation.</a:t>
            </a:r>
          </a:p>
          <a:p>
            <a:pPr marL="457200" indent="-457200" algn="l">
              <a:buFont typeface="Arial" panose="020B0604020202020204" pitchFamily="34" charset="0"/>
              <a:buChar char="•"/>
            </a:pPr>
            <a:r>
              <a:rPr lang="en-US" sz="2800" dirty="0">
                <a:solidFill>
                  <a:srgbClr val="000000"/>
                </a:solidFill>
              </a:rPr>
              <a:t>Convert equations from point-slope or standard form to</a:t>
            </a:r>
            <a:br>
              <a:rPr lang="en-US" sz="2800" dirty="0">
                <a:solidFill>
                  <a:srgbClr val="000000"/>
                </a:solidFill>
              </a:rPr>
            </a:br>
            <a:r>
              <a:rPr lang="en-US" sz="2800" dirty="0">
                <a:solidFill>
                  <a:srgbClr val="000000"/>
                </a:solidFill>
              </a:rPr>
              <a:t>slope-intercept form.</a:t>
            </a:r>
          </a:p>
          <a:p>
            <a:pPr marL="457200" indent="-457200" algn="l">
              <a:buFont typeface="Arial" panose="020B0604020202020204" pitchFamily="34" charset="0"/>
              <a:buChar char="•"/>
            </a:pPr>
            <a:r>
              <a:rPr lang="en-US" sz="2800" dirty="0">
                <a:solidFill>
                  <a:srgbClr val="000000"/>
                </a:solidFill>
              </a:rPr>
              <a:t>Discuss the advantages and disadvantages of slope-intercept, point-slope, and standard form.</a:t>
            </a:r>
          </a:p>
        </p:txBody>
      </p:sp>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a:t>
            </a:fld>
          </a:p>
        </p:txBody>
      </p:sp>
    </p:spTree>
    <p:extLst>
      <p:ext uri="{BB962C8B-B14F-4D97-AF65-F5344CB8AC3E}">
        <p14:creationId xmlns:p14="http://schemas.microsoft.com/office/powerpoint/2010/main" val="339860651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A70F2F3-8205-D13B-F2FC-C7F18E6181C0}"/>
              </a:ext>
            </a:extLst>
          </p:cNvPr>
          <p:cNvSpPr>
            <a:spLocks noGrp="1"/>
          </p:cNvSpPr>
          <p:nvPr>
            <p:ph type="title"/>
          </p:nvPr>
        </p:nvSpPr>
        <p:spPr/>
        <p:txBody>
          <a:bodyPr/>
          <a:lstStyle/>
          <a:p>
            <a:pPr algn="l"/>
            <a:r>
              <a:rPr lang="en-US" b="1" dirty="0"/>
              <a:t>Key Terms </a:t>
            </a:r>
            <a:r>
              <a:rPr lang="en-US" sz="2000" b="1" dirty="0">
                <a:solidFill>
                  <a:schemeClr val="bg1"/>
                </a:solidFill>
              </a:rPr>
              <a:t>(1 of 2)</a:t>
            </a:r>
          </a:p>
        </p:txBody>
      </p:sp>
      <p:sp>
        <p:nvSpPr>
          <p:cNvPr id="10" name="Text Placeholder 1">
            <a:extLst>
              <a:ext uri="{FF2B5EF4-FFF2-40B4-BE49-F238E27FC236}">
                <a16:creationId xmlns:a16="http://schemas.microsoft.com/office/drawing/2014/main" id="{F7EC44D6-1E06-D576-D850-80AC0AC8A2DD}"/>
              </a:ext>
            </a:extLst>
          </p:cNvPr>
          <p:cNvSpPr txBox="1">
            <a:spLocks/>
          </p:cNvSpPr>
          <p:nvPr/>
        </p:nvSpPr>
        <p:spPr>
          <a:xfrm>
            <a:off x="777239" y="1608365"/>
            <a:ext cx="10456817" cy="1820635"/>
          </a:xfrm>
          <a:prstGeom prst="rect">
            <a:avLst/>
          </a:prstGeom>
        </p:spPr>
        <p:txBody>
          <a:bodyPr>
            <a:normAutofit/>
          </a:bodyPr>
          <a:lstStyle>
            <a:lvl1pPr marL="0" indent="0" algn="l" defTabSz="914400" rtl="0" eaLnBrk="1" latinLnBrk="0" hangingPunct="1">
              <a:lnSpc>
                <a:spcPct val="90000"/>
              </a:lnSpc>
              <a:spcBef>
                <a:spcPts val="1000"/>
              </a:spcBef>
              <a:buFont typeface="Arial" panose="020B0604020202020204" pitchFamily="34" charset="0"/>
              <a:buNone/>
              <a:defRPr sz="2800" kern="1200">
                <a:solidFill>
                  <a:schemeClr val="bg2">
                    <a:lumMod val="25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b="1" dirty="0">
                <a:solidFill>
                  <a:srgbClr val="000000"/>
                </a:solidFill>
              </a:rPr>
              <a:t>standard form</a:t>
            </a:r>
            <a:r>
              <a:rPr lang="en-US" dirty="0">
                <a:solidFill>
                  <a:srgbClr val="000000"/>
                </a:solidFill>
              </a:rPr>
              <a:t>: the standard form of a linear equation is </a:t>
            </a:r>
            <a:r>
              <a:rPr lang="en-US" i="1" dirty="0">
                <a:solidFill>
                  <a:srgbClr val="000000"/>
                </a:solidFill>
              </a:rPr>
              <a:t>Ax</a:t>
            </a:r>
            <a:r>
              <a:rPr lang="en-US" dirty="0">
                <a:solidFill>
                  <a:srgbClr val="000000"/>
                </a:solidFill>
              </a:rPr>
              <a:t> + </a:t>
            </a:r>
            <a:r>
              <a:rPr lang="en-US" i="1" dirty="0">
                <a:solidFill>
                  <a:srgbClr val="000000"/>
                </a:solidFill>
              </a:rPr>
              <a:t>By</a:t>
            </a:r>
            <a:r>
              <a:rPr lang="en-US" dirty="0">
                <a:solidFill>
                  <a:srgbClr val="000000"/>
                </a:solidFill>
              </a:rPr>
              <a:t> = </a:t>
            </a:r>
            <a:r>
              <a:rPr lang="en-US" i="1" dirty="0">
                <a:solidFill>
                  <a:srgbClr val="000000"/>
                </a:solidFill>
              </a:rPr>
              <a:t>C</a:t>
            </a:r>
            <a:r>
              <a:rPr lang="en-US" dirty="0">
                <a:solidFill>
                  <a:srgbClr val="000000"/>
                </a:solidFill>
              </a:rPr>
              <a:t>, where </a:t>
            </a:r>
            <a:r>
              <a:rPr lang="en-US" i="1" dirty="0">
                <a:solidFill>
                  <a:srgbClr val="000000"/>
                </a:solidFill>
              </a:rPr>
              <a:t>A, B, </a:t>
            </a:r>
            <a:r>
              <a:rPr lang="en-US" dirty="0">
                <a:solidFill>
                  <a:srgbClr val="000000"/>
                </a:solidFill>
              </a:rPr>
              <a:t>and</a:t>
            </a:r>
            <a:r>
              <a:rPr lang="en-US" i="1" dirty="0">
                <a:solidFill>
                  <a:srgbClr val="000000"/>
                </a:solidFill>
              </a:rPr>
              <a:t> C</a:t>
            </a:r>
            <a:r>
              <a:rPr lang="en-US" dirty="0">
                <a:solidFill>
                  <a:srgbClr val="000000"/>
                </a:solidFill>
              </a:rPr>
              <a:t> are integers and </a:t>
            </a:r>
            <a:r>
              <a:rPr lang="en-US" i="1" dirty="0">
                <a:solidFill>
                  <a:srgbClr val="000000"/>
                </a:solidFill>
              </a:rPr>
              <a:t>A</a:t>
            </a:r>
            <a:r>
              <a:rPr lang="en-US" dirty="0">
                <a:solidFill>
                  <a:srgbClr val="000000"/>
                </a:solidFill>
              </a:rPr>
              <a:t> and </a:t>
            </a:r>
            <a:r>
              <a:rPr lang="en-US" i="1" dirty="0">
                <a:solidFill>
                  <a:srgbClr val="000000"/>
                </a:solidFill>
              </a:rPr>
              <a:t>B</a:t>
            </a:r>
            <a:r>
              <a:rPr lang="en-US" dirty="0">
                <a:solidFill>
                  <a:srgbClr val="000000"/>
                </a:solidFill>
              </a:rPr>
              <a:t> are not both zero</a:t>
            </a:r>
            <a:endParaRPr lang="en-US" i="1" dirty="0">
              <a:solidFill>
                <a:srgbClr val="000000"/>
              </a:solidFill>
            </a:endParaRPr>
          </a:p>
        </p:txBody>
      </p:sp>
      <p:sp>
        <p:nvSpPr>
          <p:cNvPr id="2" name="Text Placeholder 1">
            <a:extLst>
              <a:ext uri="{FF2B5EF4-FFF2-40B4-BE49-F238E27FC236}">
                <a16:creationId xmlns:a16="http://schemas.microsoft.com/office/drawing/2014/main" id="{4D8866C6-41DC-5A7F-2F25-3524BBA09408}"/>
              </a:ext>
            </a:extLst>
          </p:cNvPr>
          <p:cNvSpPr txBox="1">
            <a:spLocks/>
          </p:cNvSpPr>
          <p:nvPr/>
        </p:nvSpPr>
        <p:spPr>
          <a:xfrm>
            <a:off x="777238" y="3429000"/>
            <a:ext cx="10456817" cy="1801585"/>
          </a:xfrm>
          <a:prstGeom prst="rect">
            <a:avLst/>
          </a:prstGeom>
        </p:spPr>
        <p:txBody>
          <a:bodyPr>
            <a:normAutofit/>
          </a:bodyPr>
          <a:lstStyle>
            <a:lvl1pPr marL="0" indent="0" algn="l" defTabSz="914400" rtl="0" eaLnBrk="1" latinLnBrk="0" hangingPunct="1">
              <a:lnSpc>
                <a:spcPct val="90000"/>
              </a:lnSpc>
              <a:spcBef>
                <a:spcPts val="1000"/>
              </a:spcBef>
              <a:buFont typeface="Arial" panose="020B0604020202020204" pitchFamily="34" charset="0"/>
              <a:buNone/>
              <a:defRPr sz="2800" kern="1200">
                <a:solidFill>
                  <a:schemeClr val="bg2">
                    <a:lumMod val="25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b="1" dirty="0">
                <a:solidFill>
                  <a:srgbClr val="000000"/>
                </a:solidFill>
              </a:rPr>
              <a:t>Example</a:t>
            </a:r>
          </a:p>
          <a:p>
            <a:endParaRPr lang="en-US" b="1" i="1" dirty="0">
              <a:solidFill>
                <a:srgbClr val="000000"/>
              </a:solidFill>
            </a:endParaRPr>
          </a:p>
          <a:p>
            <a:pPr marL="457200" lvl="1" indent="0">
              <a:buNone/>
            </a:pPr>
            <a:r>
              <a:rPr lang="en-US" sz="2800" dirty="0">
                <a:solidFill>
                  <a:srgbClr val="000000"/>
                </a:solidFill>
              </a:rPr>
              <a:t>5</a:t>
            </a:r>
            <a:r>
              <a:rPr lang="en-US" sz="2800" i="1" dirty="0">
                <a:solidFill>
                  <a:srgbClr val="000000"/>
                </a:solidFill>
              </a:rPr>
              <a:t>x</a:t>
            </a:r>
            <a:r>
              <a:rPr lang="en-US" sz="2800" dirty="0">
                <a:solidFill>
                  <a:srgbClr val="000000"/>
                </a:solidFill>
              </a:rPr>
              <a:t> + 8</a:t>
            </a:r>
            <a:r>
              <a:rPr lang="en-US" sz="2800" i="1" dirty="0">
                <a:solidFill>
                  <a:srgbClr val="000000"/>
                </a:solidFill>
              </a:rPr>
              <a:t>y</a:t>
            </a:r>
            <a:r>
              <a:rPr lang="en-US" sz="2800" dirty="0">
                <a:solidFill>
                  <a:srgbClr val="000000"/>
                </a:solidFill>
              </a:rPr>
              <a:t> = 1600</a:t>
            </a:r>
          </a:p>
        </p:txBody>
      </p:sp>
      <p:sp>
        <p:nvSpPr>
          <p:cNvPr id="1010" name="Slide Number 1010"/>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a:t>
            </a:fld>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8A3AC8-B56F-47DA-AEF2-F3F1E9E2CDA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5EB9966A-6415-B35F-AC87-062F5FC26C5C}"/>
              </a:ext>
            </a:extLst>
          </p:cNvPr>
          <p:cNvSpPr>
            <a:spLocks noGrp="1"/>
          </p:cNvSpPr>
          <p:nvPr>
            <p:ph type="title"/>
          </p:nvPr>
        </p:nvSpPr>
        <p:spPr/>
        <p:txBody>
          <a:bodyPr/>
          <a:lstStyle/>
          <a:p>
            <a:pPr algn="l"/>
            <a:r>
              <a:rPr lang="en-US" b="1" dirty="0"/>
              <a:t>Essential Question </a:t>
            </a:r>
            <a:r>
              <a:rPr lang="en-US" sz="2000" b="1" dirty="0">
                <a:solidFill>
                  <a:schemeClr val="bg1"/>
                </a:solidFill>
              </a:rPr>
              <a:t>(1 of 3)</a:t>
            </a:r>
          </a:p>
        </p:txBody>
      </p:sp>
      <p:sp>
        <p:nvSpPr>
          <p:cNvPr id="9" name="Text Placeholder 2">
            <a:extLst>
              <a:ext uri="{FF2B5EF4-FFF2-40B4-BE49-F238E27FC236}">
                <a16:creationId xmlns:a16="http://schemas.microsoft.com/office/drawing/2014/main" id="{325B2EA2-DB03-43C5-FC66-7B772EA97525}"/>
              </a:ext>
            </a:extLst>
          </p:cNvPr>
          <p:cNvSpPr txBox="1">
            <a:spLocks/>
          </p:cNvSpPr>
          <p:nvPr/>
        </p:nvSpPr>
        <p:spPr>
          <a:xfrm>
            <a:off x="777240" y="1600199"/>
            <a:ext cx="10077226" cy="4335575"/>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spcBef>
                <a:spcPts val="24"/>
              </a:spcBef>
              <a:buNone/>
            </a:pPr>
            <a:r>
              <a:rPr lang="en-US" sz="2800" dirty="0">
                <a:solidFill>
                  <a:srgbClr val="000000"/>
                </a:solidFill>
              </a:rPr>
              <a:t>You have graphed equations using tables of values. </a:t>
            </a:r>
          </a:p>
          <a:p>
            <a:pPr marL="0" indent="0">
              <a:spcBef>
                <a:spcPts val="24"/>
              </a:spcBef>
              <a:buNone/>
            </a:pPr>
            <a:endParaRPr lang="en-US" sz="2800" dirty="0">
              <a:solidFill>
                <a:srgbClr val="000000"/>
              </a:solidFill>
            </a:endParaRPr>
          </a:p>
          <a:p>
            <a:pPr marL="0" indent="0">
              <a:spcBef>
                <a:spcPts val="24"/>
              </a:spcBef>
              <a:buNone/>
            </a:pPr>
            <a:endParaRPr lang="en-US" sz="2800" dirty="0">
              <a:solidFill>
                <a:srgbClr val="000000"/>
              </a:solidFill>
            </a:endParaRPr>
          </a:p>
          <a:p>
            <a:pPr marL="0" indent="0">
              <a:spcBef>
                <a:spcPts val="24"/>
              </a:spcBef>
              <a:buNone/>
            </a:pPr>
            <a:endParaRPr lang="en-US" sz="2800" dirty="0">
              <a:solidFill>
                <a:srgbClr val="000000"/>
              </a:solidFill>
            </a:endParaRPr>
          </a:p>
          <a:p>
            <a:pPr marL="0" indent="0">
              <a:spcBef>
                <a:spcPts val="24"/>
              </a:spcBef>
              <a:buNone/>
            </a:pPr>
            <a:r>
              <a:rPr lang="en-US" sz="2800" dirty="0">
                <a:solidFill>
                  <a:srgbClr val="000000"/>
                </a:solidFill>
              </a:rPr>
              <a:t>Is there a more efficient method to graphing a linear relationship? Can you use the equation of a linear relationship to create a  graphical representation?</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a:t>
            </a:fld>
          </a:p>
        </p:txBody>
      </p:sp>
      <p:sp>
        <p:nvSpPr>
          <p:cNvPr id="1010" name="Answer 1010"/>
          <p:cNvSpPr txBox="1"/>
          <p:nvPr/>
        </p:nvSpPr>
        <p:spPr>
          <a:xfrm>
            <a:off x="869950" y="5016500"/>
            <a:ext cx="10795000" cy="18097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900" dirty="0">
                <a:solidFill>
                  <a:srgbClr val="FF0000"/>
                </a:solidFill>
              </a:rPr>
              <a:t>Yes. Use the form of the equation instead of a table of values.</a:t>
            </a:r>
          </a:p>
          <a:p>
            <a:pPr marL="0" indent="0" algn="l">
              <a:spcBef>
                <a:spcPts val="0"/>
              </a:spcBef>
              <a:spcAft>
                <a:spcPts val="300"/>
              </a:spcAft>
              <a:buNone/>
            </a:pPr>
            <a:r>
              <a:rPr lang="en-US" sz="1900" dirty="0">
                <a:solidFill>
                  <a:srgbClr val="FF0000"/>
                </a:solidFill>
              </a:rPr>
              <a:t>Slope-intercept: plot the y-intercept, then count the slope (rise over run) to plot more points.</a:t>
            </a:r>
          </a:p>
          <a:p>
            <a:pPr marL="0" indent="0" algn="l">
              <a:spcBef>
                <a:spcPts val="0"/>
              </a:spcBef>
              <a:spcAft>
                <a:spcPts val="300"/>
              </a:spcAft>
              <a:buNone/>
            </a:pPr>
            <a:r>
              <a:rPr lang="en-US" sz="1900" dirty="0">
                <a:solidFill>
                  <a:srgbClr val="FF0000"/>
                </a:solidFill>
              </a:rPr>
              <a:t>Point-slope: plot the point (x1, y1), then count the slope.</a:t>
            </a:r>
          </a:p>
          <a:p>
            <a:pPr marL="0" indent="0" algn="l">
              <a:spcBef>
                <a:spcPts val="0"/>
              </a:spcBef>
              <a:spcAft>
                <a:spcPts val="300"/>
              </a:spcAft>
              <a:buNone/>
            </a:pPr>
            <a:r>
              <a:rPr lang="en-US" sz="1900" dirty="0">
                <a:solidFill>
                  <a:srgbClr val="FF0000"/>
                </a:solidFill>
              </a:rPr>
              <a:t>Standard form: calculate and plot the x- and y-intercepts, then connect them.</a:t>
            </a:r>
          </a:p>
        </p:txBody>
      </p:sp>
    </p:spTree>
    <p:extLst>
      <p:ext uri="{BB962C8B-B14F-4D97-AF65-F5344CB8AC3E}">
        <p14:creationId xmlns:p14="http://schemas.microsoft.com/office/powerpoint/2010/main" val="2493083227"/>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84E7D1-4EEC-73C8-A8B1-25799A779817}"/>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1CFA90BF-E127-672C-DE36-C0738BC656D8}"/>
              </a:ext>
            </a:extLst>
          </p:cNvPr>
          <p:cNvSpPr>
            <a:spLocks noGrp="1"/>
          </p:cNvSpPr>
          <p:nvPr>
            <p:ph type="title" idx="4294967295"/>
          </p:nvPr>
        </p:nvSpPr>
        <p:spPr>
          <a:xfrm>
            <a:off x="838200" y="-302080"/>
            <a:ext cx="10514013" cy="302079"/>
          </a:xfrm>
          <a:prstGeom prst="rect">
            <a:avLst/>
          </a:prstGeom>
        </p:spPr>
        <p:txBody>
          <a:bodyPr anchor="b"/>
          <a:lstStyle/>
          <a:p>
            <a:r>
              <a:rPr lang="en-US" sz="2000" dirty="0">
                <a:solidFill>
                  <a:schemeClr val="bg2"/>
                </a:solidFill>
              </a:rPr>
              <a:t>Day 1</a:t>
            </a:r>
          </a:p>
        </p:txBody>
      </p:sp>
      <p:sp>
        <p:nvSpPr>
          <p:cNvPr id="4" name="Text Placeholder 3">
            <a:extLst>
              <a:ext uri="{FF2B5EF4-FFF2-40B4-BE49-F238E27FC236}">
                <a16:creationId xmlns:a16="http://schemas.microsoft.com/office/drawing/2014/main" id="{1586B9D5-0714-C453-BF23-634EFB6E39F7}"/>
              </a:ext>
              <a:ext uri="{C183D7F6-B498-43B3-948B-1728B52AA6E4}">
                <adec:decorative xmlns:adec="http://schemas.microsoft.com/office/drawing/2017/decorative" val="1"/>
              </a:ext>
            </a:extLst>
          </p:cNvPr>
          <p:cNvSpPr>
            <a:spLocks noGrp="1"/>
          </p:cNvSpPr>
          <p:nvPr>
            <p:ph type="body" sz="quarter" idx="11"/>
          </p:nvPr>
        </p:nvSpPr>
        <p:spPr>
          <a:xfrm>
            <a:off x="6658975" y="2832927"/>
            <a:ext cx="1061883" cy="1071562"/>
          </a:xfrm>
        </p:spPr>
        <p:txBody>
          <a:bodyPr/>
          <a:lstStyle/>
          <a:p>
            <a:pPr marL="0" indent="0">
              <a:buNone/>
            </a:pPr>
            <a:r>
              <a:rPr lang="en-US" sz="7500" b="1" dirty="0">
                <a:solidFill>
                  <a:srgbClr val="000000"/>
                </a:solidFill>
                <a:latin typeface="Calibri" panose="020F0502020204030204" pitchFamily="34" charset="0"/>
                <a:ea typeface="Calibri" panose="020F0502020204030204" pitchFamily="34" charset="0"/>
                <a:cs typeface="Calibri" panose="020F0502020204030204" pitchFamily="34" charset="0"/>
              </a:rPr>
              <a:t>1</a:t>
            </a:r>
          </a:p>
        </p:txBody>
      </p:sp>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a:t>
            </a:fld>
          </a:p>
        </p:txBody>
      </p:sp>
    </p:spTree>
    <p:extLst>
      <p:ext uri="{BB962C8B-B14F-4D97-AF65-F5344CB8AC3E}">
        <p14:creationId xmlns:p14="http://schemas.microsoft.com/office/powerpoint/2010/main" val="354509643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73B6511-319C-24C4-E798-AB7E16128256}"/>
              </a:ext>
            </a:extLst>
          </p:cNvPr>
          <p:cNvSpPr>
            <a:spLocks noGrp="1"/>
          </p:cNvSpPr>
          <p:nvPr>
            <p:ph type="title" idx="4294967295"/>
          </p:nvPr>
        </p:nvSpPr>
        <p:spPr>
          <a:xfrm>
            <a:off x="838200" y="-334736"/>
            <a:ext cx="10514013" cy="334736"/>
          </a:xfrm>
          <a:prstGeom prst="rect">
            <a:avLst/>
          </a:prstGeom>
        </p:spPr>
        <p:txBody>
          <a:bodyPr anchor="b"/>
          <a:lstStyle/>
          <a:p>
            <a:r>
              <a:rPr lang="en-US" sz="2000" dirty="0">
                <a:solidFill>
                  <a:schemeClr val="bg2"/>
                </a:solidFill>
              </a:rPr>
              <a:t>Getting Started</a:t>
            </a:r>
          </a:p>
        </p:txBody>
      </p:sp>
      <p:sp>
        <p:nvSpPr>
          <p:cNvPr id="2" name="Text Placeholder 1" descr="10 to 15 minutes">
            <a:extLst>
              <a:ext uri="{FF2B5EF4-FFF2-40B4-BE49-F238E27FC236}">
                <a16:creationId xmlns:a16="http://schemas.microsoft.com/office/drawing/2014/main" id="{461C201E-12AD-57EF-47E5-2D96E6063E25}"/>
              </a:ext>
            </a:extLst>
          </p:cNvPr>
          <p:cNvSpPr>
            <a:spLocks noGrp="1"/>
          </p:cNvSpPr>
          <p:nvPr>
            <p:ph type="body" sz="quarter" idx="12"/>
          </p:nvPr>
        </p:nvSpPr>
        <p:spPr>
          <a:xfrm>
            <a:off x="10614990" y="5781873"/>
            <a:ext cx="863947" cy="795338"/>
          </a:xfrm>
        </p:spPr>
        <p:txBody>
          <a:bodyPr/>
          <a:lstStyle/>
          <a:p>
            <a:r>
              <a:rPr lang="en-US" b="1" dirty="0"/>
              <a:t>10–15</a:t>
            </a:r>
          </a:p>
        </p:txBody>
      </p:sp>
      <p:sp>
        <p:nvSpPr>
          <p:cNvPr id="1003" name="Slide Number 100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a:t>
            </a:fld>
          </a:p>
        </p:txBody>
      </p:sp>
    </p:spTree>
    <p:extLst>
      <p:ext uri="{BB962C8B-B14F-4D97-AF65-F5344CB8AC3E}">
        <p14:creationId xmlns:p14="http://schemas.microsoft.com/office/powerpoint/2010/main" val="371961989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9FD0B2-A9E7-0A4C-CC80-65AF82D6DF2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962E77F-B1D6-40AE-592B-5BAB37399846}"/>
              </a:ext>
            </a:extLst>
          </p:cNvPr>
          <p:cNvSpPr>
            <a:spLocks noGrp="1"/>
          </p:cNvSpPr>
          <p:nvPr>
            <p:ph type="title"/>
          </p:nvPr>
        </p:nvSpPr>
        <p:spPr/>
        <p:txBody>
          <a:bodyPr/>
          <a:lstStyle/>
          <a:p>
            <a:pPr algn="l"/>
            <a:r>
              <a:rPr lang="en-US" b="1" dirty="0"/>
              <a:t>Jump In the Line </a:t>
            </a:r>
            <a:r>
              <a:rPr lang="en-US" sz="2000" b="1" dirty="0">
                <a:solidFill>
                  <a:schemeClr val="bg1"/>
                </a:solidFill>
              </a:rPr>
              <a:t>(1 of 3)</a:t>
            </a:r>
          </a:p>
        </p:txBody>
      </p:sp>
      <p:sp>
        <p:nvSpPr>
          <p:cNvPr id="9" name="Text Placeholder 2">
            <a:extLst>
              <a:ext uri="{FF2B5EF4-FFF2-40B4-BE49-F238E27FC236}">
                <a16:creationId xmlns:a16="http://schemas.microsoft.com/office/drawing/2014/main" id="{88A40426-95CC-EF9E-540F-D1B1DE38C8D6}"/>
              </a:ext>
            </a:extLst>
          </p:cNvPr>
          <p:cNvSpPr txBox="1">
            <a:spLocks/>
          </p:cNvSpPr>
          <p:nvPr/>
        </p:nvSpPr>
        <p:spPr>
          <a:xfrm>
            <a:off x="777240" y="1642750"/>
            <a:ext cx="9885317" cy="131960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r>
              <a:rPr lang="en-US" sz="2800" b="0" i="0" u="none" strike="noStrike" baseline="0" dirty="0">
                <a:solidFill>
                  <a:srgbClr val="000000"/>
                </a:solidFill>
              </a:rPr>
              <a:t>Describe what you know about the graph of each relationship by analyzing each equation. Then, explain how you might graph each line given its equation.</a:t>
            </a:r>
            <a:endParaRPr lang="en-US" sz="2600" dirty="0">
              <a:solidFill>
                <a:srgbClr val="000000"/>
              </a:solidFill>
            </a:endParaRPr>
          </a:p>
        </p:txBody>
      </p:sp>
      <mc:AlternateContent xmlns:mc="http://schemas.openxmlformats.org/markup-compatibility/2006" xmlns:a14="http://schemas.microsoft.com/office/drawing/2010/main">
        <mc:Choice Requires="a14">
          <p:sp>
            <p:nvSpPr>
              <p:cNvPr id="2" name="Text Placeholder 2">
                <a:extLst>
                  <a:ext uri="{FF2B5EF4-FFF2-40B4-BE49-F238E27FC236}">
                    <a16:creationId xmlns:a16="http://schemas.microsoft.com/office/drawing/2014/main" id="{BC2C39DA-38A3-9F64-9A83-B905A9466A64}"/>
                  </a:ext>
                </a:extLst>
              </p:cNvPr>
              <p:cNvSpPr txBox="1">
                <a:spLocks/>
              </p:cNvSpPr>
              <p:nvPr/>
            </p:nvSpPr>
            <p:spPr>
              <a:xfrm>
                <a:off x="777240" y="3099513"/>
                <a:ext cx="3030967" cy="658973"/>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lgn="l">
                  <a:buFont typeface="+mj-lt"/>
                  <a:buAutoNum type="arabicPeriod"/>
                </a:pPr>
                <a:r>
                  <a:rPr lang="en-US" sz="2600" b="0" dirty="0">
                    <a:solidFill>
                      <a:srgbClr val="000000"/>
                    </a:solidFill>
                  </a:rPr>
                  <a:t> </a:t>
                </a:r>
                <a14:m>
                  <m:oMath xmlns:m="http://schemas.openxmlformats.org/officeDocument/2006/math">
                    <m:r>
                      <a:rPr lang="en-US" sz="2600" b="0" i="1" smtClean="0">
                        <a:solidFill>
                          <a:srgbClr val="000000"/>
                        </a:solidFill>
                        <a:latin typeface="Cambria Math" panose="02040503050406030204" pitchFamily="18" charset="0"/>
                      </a:rPr>
                      <m:t>𝑦</m:t>
                    </m:r>
                    <m:r>
                      <a:rPr lang="en-US" sz="2600" b="0" i="1" smtClean="0">
                        <a:solidFill>
                          <a:srgbClr val="000000"/>
                        </a:solidFill>
                        <a:latin typeface="Cambria Math" panose="02040503050406030204" pitchFamily="18" charset="0"/>
                      </a:rPr>
                      <m:t>=</m:t>
                    </m:r>
                    <m:f>
                      <m:fPr>
                        <m:ctrlPr>
                          <a:rPr lang="en-US" sz="2600" b="0" i="1" smtClean="0">
                            <a:solidFill>
                              <a:srgbClr val="000000"/>
                            </a:solidFill>
                            <a:latin typeface="Cambria Math" panose="02040503050406030204" pitchFamily="18" charset="0"/>
                          </a:rPr>
                        </m:ctrlPr>
                      </m:fPr>
                      <m:num>
                        <m:r>
                          <a:rPr lang="en-US" sz="2600" b="0" i="1" smtClean="0">
                            <a:solidFill>
                              <a:srgbClr val="000000"/>
                            </a:solidFill>
                            <a:latin typeface="Cambria Math" panose="02040503050406030204" pitchFamily="18" charset="0"/>
                          </a:rPr>
                          <m:t>2</m:t>
                        </m:r>
                      </m:num>
                      <m:den>
                        <m:r>
                          <a:rPr lang="en-US" sz="2600" b="0" i="1" smtClean="0">
                            <a:solidFill>
                              <a:srgbClr val="000000"/>
                            </a:solidFill>
                            <a:latin typeface="Cambria Math" panose="02040503050406030204" pitchFamily="18" charset="0"/>
                          </a:rPr>
                          <m:t>3</m:t>
                        </m:r>
                      </m:den>
                    </m:f>
                    <m:r>
                      <a:rPr lang="en-US" sz="2600" b="0" i="1" smtClean="0">
                        <a:solidFill>
                          <a:srgbClr val="000000"/>
                        </a:solidFill>
                        <a:latin typeface="Cambria Math" panose="02040503050406030204" pitchFamily="18" charset="0"/>
                      </a:rPr>
                      <m:t>𝑥</m:t>
                    </m:r>
                    <m:r>
                      <a:rPr lang="en-US" sz="2600" b="0" i="1" smtClean="0">
                        <a:solidFill>
                          <a:srgbClr val="000000"/>
                        </a:solidFill>
                        <a:latin typeface="Cambria Math" panose="02040503050406030204" pitchFamily="18" charset="0"/>
                      </a:rPr>
                      <m:t>+7</m:t>
                    </m:r>
                  </m:oMath>
                </a14:m>
                <a:endParaRPr lang="en-US" sz="2600" dirty="0">
                  <a:solidFill>
                    <a:srgbClr val="000000"/>
                  </a:solidFill>
                </a:endParaRPr>
              </a:p>
            </p:txBody>
          </p:sp>
        </mc:Choice>
        <mc:Fallback xmlns="">
          <p:sp>
            <p:nvSpPr>
              <p:cNvPr id="2" name="Text Placeholder 2">
                <a:extLst>
                  <a:ext uri="{FF2B5EF4-FFF2-40B4-BE49-F238E27FC236}">
                    <a16:creationId xmlns:a16="http://schemas.microsoft.com/office/drawing/2014/main" id="{BC2C39DA-38A3-9F64-9A83-B905A9466A64}"/>
                  </a:ext>
                </a:extLst>
              </p:cNvPr>
              <p:cNvSpPr txBox="1">
                <a:spLocks noRot="1" noChangeAspect="1" noMove="1" noResize="1" noEditPoints="1" noAdjustHandles="1" noChangeArrowheads="1" noChangeShapeType="1" noTextEdit="1"/>
              </p:cNvSpPr>
              <p:nvPr/>
            </p:nvSpPr>
            <p:spPr>
              <a:xfrm>
                <a:off x="777240" y="3099513"/>
                <a:ext cx="3030967" cy="658973"/>
              </a:xfrm>
              <a:prstGeom prst="rect">
                <a:avLst/>
              </a:prstGeom>
              <a:blipFill>
                <a:blip r:embed="rId3"/>
                <a:stretch>
                  <a:fillRect l="-3823" b="-1100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 Placeholder 2">
                <a:extLst>
                  <a:ext uri="{FF2B5EF4-FFF2-40B4-BE49-F238E27FC236}">
                    <a16:creationId xmlns:a16="http://schemas.microsoft.com/office/drawing/2014/main" id="{C324C5F4-E204-64CA-3F88-746A9E695FB4}"/>
                  </a:ext>
                </a:extLst>
              </p:cNvPr>
              <p:cNvSpPr txBox="1">
                <a:spLocks/>
              </p:cNvSpPr>
              <p:nvPr/>
            </p:nvSpPr>
            <p:spPr>
              <a:xfrm>
                <a:off x="6095206" y="3099513"/>
                <a:ext cx="2867043" cy="658973"/>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lgn="l">
                  <a:buFont typeface="+mj-lt"/>
                  <a:buAutoNum type="arabicPeriod" startAt="3"/>
                </a:pPr>
                <a:r>
                  <a:rPr lang="en-US" sz="2600" dirty="0">
                    <a:solidFill>
                      <a:srgbClr val="000000"/>
                    </a:solidFill>
                  </a:rPr>
                  <a:t> </a:t>
                </a:r>
                <a14:m>
                  <m:oMath xmlns:m="http://schemas.openxmlformats.org/officeDocument/2006/math">
                    <m:r>
                      <a:rPr lang="en-US" sz="2600" b="0" i="1" smtClean="0">
                        <a:solidFill>
                          <a:srgbClr val="000000"/>
                        </a:solidFill>
                        <a:latin typeface="Cambria Math" panose="02040503050406030204" pitchFamily="18" charset="0"/>
                      </a:rPr>
                      <m:t>𝑥</m:t>
                    </m:r>
                    <m:r>
                      <a:rPr lang="en-US" sz="2600" b="0" i="1" smtClean="0">
                        <a:solidFill>
                          <a:srgbClr val="000000"/>
                        </a:solidFill>
                        <a:latin typeface="Cambria Math" panose="02040503050406030204" pitchFamily="18" charset="0"/>
                      </a:rPr>
                      <m:t>=−4</m:t>
                    </m:r>
                  </m:oMath>
                </a14:m>
                <a:endParaRPr lang="en-US" sz="2600" dirty="0">
                  <a:solidFill>
                    <a:srgbClr val="000000"/>
                  </a:solidFill>
                </a:endParaRPr>
              </a:p>
            </p:txBody>
          </p:sp>
        </mc:Choice>
        <mc:Fallback xmlns="">
          <p:sp>
            <p:nvSpPr>
              <p:cNvPr id="6" name="Text Placeholder 2">
                <a:extLst>
                  <a:ext uri="{FF2B5EF4-FFF2-40B4-BE49-F238E27FC236}">
                    <a16:creationId xmlns:a16="http://schemas.microsoft.com/office/drawing/2014/main" id="{C324C5F4-E204-64CA-3F88-746A9E695FB4}"/>
                  </a:ext>
                </a:extLst>
              </p:cNvPr>
              <p:cNvSpPr txBox="1">
                <a:spLocks noRot="1" noChangeAspect="1" noMove="1" noResize="1" noEditPoints="1" noAdjustHandles="1" noChangeArrowheads="1" noChangeShapeType="1" noTextEdit="1"/>
              </p:cNvSpPr>
              <p:nvPr/>
            </p:nvSpPr>
            <p:spPr>
              <a:xfrm>
                <a:off x="6095206" y="3099513"/>
                <a:ext cx="2867043" cy="658973"/>
              </a:xfrm>
              <a:prstGeom prst="rect">
                <a:avLst/>
              </a:prstGeom>
              <a:blipFill>
                <a:blip r:embed="rId4"/>
                <a:stretch>
                  <a:fillRect l="-4043" t="-825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 Placeholder 2">
                <a:extLst>
                  <a:ext uri="{FF2B5EF4-FFF2-40B4-BE49-F238E27FC236}">
                    <a16:creationId xmlns:a16="http://schemas.microsoft.com/office/drawing/2014/main" id="{E3C0A8BC-9C14-05C2-4D70-C554015E8469}"/>
                  </a:ext>
                </a:extLst>
              </p:cNvPr>
              <p:cNvSpPr txBox="1">
                <a:spLocks/>
              </p:cNvSpPr>
              <p:nvPr/>
            </p:nvSpPr>
            <p:spPr>
              <a:xfrm>
                <a:off x="777241" y="4556278"/>
                <a:ext cx="3773244" cy="658973"/>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lgn="l">
                  <a:buFont typeface="+mj-lt"/>
                  <a:buAutoNum type="arabicPeriod" startAt="2"/>
                </a:pPr>
                <a:r>
                  <a:rPr lang="en-US" sz="2600" b="0" dirty="0">
                    <a:solidFill>
                      <a:srgbClr val="000000"/>
                    </a:solidFill>
                  </a:rPr>
                  <a:t> </a:t>
                </a:r>
                <a14:m>
                  <m:oMath xmlns:m="http://schemas.openxmlformats.org/officeDocument/2006/math">
                    <m:r>
                      <a:rPr lang="en-US" sz="2600" b="0" i="1" smtClean="0">
                        <a:solidFill>
                          <a:srgbClr val="000000"/>
                        </a:solidFill>
                        <a:latin typeface="Cambria Math" panose="02040503050406030204" pitchFamily="18" charset="0"/>
                      </a:rPr>
                      <m:t>𝑦</m:t>
                    </m:r>
                    <m:r>
                      <a:rPr lang="en-US" sz="2600" b="0" i="1" smtClean="0">
                        <a:solidFill>
                          <a:srgbClr val="000000"/>
                        </a:solidFill>
                        <a:latin typeface="Cambria Math" panose="02040503050406030204" pitchFamily="18" charset="0"/>
                      </a:rPr>
                      <m:t>−3=5(</m:t>
                    </m:r>
                    <m:r>
                      <a:rPr lang="en-US" sz="2600" b="0" i="1" smtClean="0">
                        <a:solidFill>
                          <a:srgbClr val="000000"/>
                        </a:solidFill>
                        <a:latin typeface="Cambria Math" panose="02040503050406030204" pitchFamily="18" charset="0"/>
                      </a:rPr>
                      <m:t>𝑥</m:t>
                    </m:r>
                    <m:r>
                      <a:rPr lang="en-US" sz="2600" b="0" i="1" smtClean="0">
                        <a:solidFill>
                          <a:srgbClr val="000000"/>
                        </a:solidFill>
                        <a:latin typeface="Cambria Math" panose="02040503050406030204" pitchFamily="18" charset="0"/>
                      </a:rPr>
                      <m:t>+1)</m:t>
                    </m:r>
                  </m:oMath>
                </a14:m>
                <a:endParaRPr lang="en-US" sz="2600" dirty="0">
                  <a:solidFill>
                    <a:srgbClr val="000000"/>
                  </a:solidFill>
                </a:endParaRPr>
              </a:p>
            </p:txBody>
          </p:sp>
        </mc:Choice>
        <mc:Fallback xmlns="">
          <p:sp>
            <p:nvSpPr>
              <p:cNvPr id="7" name="Text Placeholder 2">
                <a:extLst>
                  <a:ext uri="{FF2B5EF4-FFF2-40B4-BE49-F238E27FC236}">
                    <a16:creationId xmlns:a16="http://schemas.microsoft.com/office/drawing/2014/main" id="{E3C0A8BC-9C14-05C2-4D70-C554015E8469}"/>
                  </a:ext>
                </a:extLst>
              </p:cNvPr>
              <p:cNvSpPr txBox="1">
                <a:spLocks noRot="1" noChangeAspect="1" noMove="1" noResize="1" noEditPoints="1" noAdjustHandles="1" noChangeArrowheads="1" noChangeShapeType="1" noTextEdit="1"/>
              </p:cNvSpPr>
              <p:nvPr/>
            </p:nvSpPr>
            <p:spPr>
              <a:xfrm>
                <a:off x="777241" y="4556278"/>
                <a:ext cx="3773244" cy="658973"/>
              </a:xfrm>
              <a:prstGeom prst="rect">
                <a:avLst/>
              </a:prstGeom>
              <a:blipFill>
                <a:blip r:embed="rId5"/>
                <a:stretch>
                  <a:fillRect l="-3074" t="-825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 Placeholder 2">
                <a:extLst>
                  <a:ext uri="{FF2B5EF4-FFF2-40B4-BE49-F238E27FC236}">
                    <a16:creationId xmlns:a16="http://schemas.microsoft.com/office/drawing/2014/main" id="{42CCEDCA-E9E7-AA74-674D-33024A6A2437}"/>
                  </a:ext>
                </a:extLst>
              </p:cNvPr>
              <p:cNvSpPr txBox="1">
                <a:spLocks/>
              </p:cNvSpPr>
              <p:nvPr/>
            </p:nvSpPr>
            <p:spPr>
              <a:xfrm>
                <a:off x="6095206" y="4556278"/>
                <a:ext cx="3609322" cy="658973"/>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lgn="l">
                  <a:buFont typeface="+mj-lt"/>
                  <a:buAutoNum type="arabicPeriod" startAt="4"/>
                </a:pPr>
                <a:r>
                  <a:rPr lang="en-US" sz="2600" b="0" dirty="0">
                    <a:solidFill>
                      <a:srgbClr val="000000"/>
                    </a:solidFill>
                  </a:rPr>
                  <a:t> </a:t>
                </a:r>
                <a14:m>
                  <m:oMath xmlns:m="http://schemas.openxmlformats.org/officeDocument/2006/math">
                    <m:r>
                      <a:rPr lang="en-US" sz="2600" b="0" i="1" smtClean="0">
                        <a:solidFill>
                          <a:srgbClr val="000000"/>
                        </a:solidFill>
                        <a:latin typeface="Cambria Math" panose="02040503050406030204" pitchFamily="18" charset="0"/>
                      </a:rPr>
                      <m:t>−3</m:t>
                    </m:r>
                    <m:r>
                      <a:rPr lang="en-US" sz="2600" b="0" i="1" smtClean="0">
                        <a:solidFill>
                          <a:srgbClr val="000000"/>
                        </a:solidFill>
                        <a:latin typeface="Cambria Math" panose="02040503050406030204" pitchFamily="18" charset="0"/>
                      </a:rPr>
                      <m:t>𝑥</m:t>
                    </m:r>
                    <m:r>
                      <a:rPr lang="en-US" sz="2600" b="0" i="1" smtClean="0">
                        <a:solidFill>
                          <a:srgbClr val="000000"/>
                        </a:solidFill>
                        <a:latin typeface="Cambria Math" panose="02040503050406030204" pitchFamily="18" charset="0"/>
                      </a:rPr>
                      <m:t>+8</m:t>
                    </m:r>
                    <m:r>
                      <a:rPr lang="en-US" sz="2600" b="0" i="1" smtClean="0">
                        <a:solidFill>
                          <a:srgbClr val="000000"/>
                        </a:solidFill>
                        <a:latin typeface="Cambria Math" panose="02040503050406030204" pitchFamily="18" charset="0"/>
                      </a:rPr>
                      <m:t>𝑦</m:t>
                    </m:r>
                    <m:r>
                      <a:rPr lang="en-US" sz="2600" b="0" i="1" smtClean="0">
                        <a:solidFill>
                          <a:srgbClr val="000000"/>
                        </a:solidFill>
                        <a:latin typeface="Cambria Math" panose="02040503050406030204" pitchFamily="18" charset="0"/>
                      </a:rPr>
                      <m:t>=10</m:t>
                    </m:r>
                  </m:oMath>
                </a14:m>
                <a:endParaRPr lang="en-US" sz="2600" dirty="0">
                  <a:solidFill>
                    <a:srgbClr val="000000"/>
                  </a:solidFill>
                </a:endParaRPr>
              </a:p>
            </p:txBody>
          </p:sp>
        </mc:Choice>
        <mc:Fallback xmlns="">
          <p:sp>
            <p:nvSpPr>
              <p:cNvPr id="8" name="Text Placeholder 2">
                <a:extLst>
                  <a:ext uri="{FF2B5EF4-FFF2-40B4-BE49-F238E27FC236}">
                    <a16:creationId xmlns:a16="http://schemas.microsoft.com/office/drawing/2014/main" id="{42CCEDCA-E9E7-AA74-674D-33024A6A2437}"/>
                  </a:ext>
                </a:extLst>
              </p:cNvPr>
              <p:cNvSpPr txBox="1">
                <a:spLocks noRot="1" noChangeAspect="1" noMove="1" noResize="1" noEditPoints="1" noAdjustHandles="1" noChangeArrowheads="1" noChangeShapeType="1" noTextEdit="1"/>
              </p:cNvSpPr>
              <p:nvPr/>
            </p:nvSpPr>
            <p:spPr>
              <a:xfrm>
                <a:off x="6095206" y="4556278"/>
                <a:ext cx="3609322" cy="658973"/>
              </a:xfrm>
              <a:prstGeom prst="rect">
                <a:avLst/>
              </a:prstGeom>
              <a:blipFill>
                <a:blip r:embed="rId6"/>
                <a:stretch>
                  <a:fillRect l="-3209" t="-8257"/>
                </a:stretch>
              </a:blipFill>
            </p:spPr>
            <p:txBody>
              <a:bodyPr/>
              <a:lstStyle/>
              <a:p>
                <a:r>
                  <a:rPr lang="en-US">
                    <a:noFill/>
                  </a:rPr>
                  <a:t> </a:t>
                </a:r>
              </a:p>
            </p:txBody>
          </p:sp>
        </mc:Fallback>
      </mc:AlternateContent>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7</a:t>
            </a:fld>
          </a:p>
        </p:txBody>
      </p:sp>
      <p:sp>
        <p:nvSpPr>
          <p:cNvPr id="1010" name="Answer 1010"/>
          <p:cNvSpPr txBox="1"/>
          <p:nvPr/>
        </p:nvSpPr>
        <p:spPr>
          <a:xfrm>
            <a:off x="869950" y="3778250"/>
            <a:ext cx="5080000" cy="825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Slope 2/3; y-intercept (0, 7). Plot (0, 7), go up 2 and right 3 to (3, 9), then draw the line.</a:t>
            </a:r>
          </a:p>
        </p:txBody>
      </p:sp>
      <p:sp>
        <p:nvSpPr>
          <p:cNvPr id="1011" name="Answer 1011"/>
          <p:cNvSpPr txBox="1"/>
          <p:nvPr/>
        </p:nvSpPr>
        <p:spPr>
          <a:xfrm>
            <a:off x="6191250" y="3778250"/>
            <a:ext cx="5397500" cy="825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A vertical line through (−4, 0); the slope is undefined. Draw the vertical line where every x-value is −4.</a:t>
            </a:r>
          </a:p>
        </p:txBody>
      </p:sp>
      <p:sp>
        <p:nvSpPr>
          <p:cNvPr id="1012" name="Answer 1012"/>
          <p:cNvSpPr txBox="1"/>
          <p:nvPr/>
        </p:nvSpPr>
        <p:spPr>
          <a:xfrm>
            <a:off x="869950" y="5238750"/>
            <a:ext cx="5080000" cy="1270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Slope 5; point (−1, 3). Plot (−1, 3), go up 5 and right 1 to (0, 8), then draw the line.</a:t>
            </a:r>
          </a:p>
        </p:txBody>
      </p:sp>
      <p:sp>
        <p:nvSpPr>
          <p:cNvPr id="1013" name="Answer 1013"/>
          <p:cNvSpPr txBox="1"/>
          <p:nvPr/>
        </p:nvSpPr>
        <p:spPr>
          <a:xfrm>
            <a:off x="6191250" y="5238750"/>
            <a:ext cx="5397500" cy="1270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The slope and intercept are not shown. Find points: (2, 2) and (10, 5) are on the line (slope 3/8, y-intercept (0, 5/4)). Plot them and connect.</a:t>
            </a:r>
          </a:p>
        </p:txBody>
      </p:sp>
    </p:spTree>
    <p:extLst>
      <p:ext uri="{BB962C8B-B14F-4D97-AF65-F5344CB8AC3E}">
        <p14:creationId xmlns:p14="http://schemas.microsoft.com/office/powerpoint/2010/main" val="2582309794"/>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1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1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0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9ACF19ED-EB54-2053-8BFC-91BD6113A4E0}"/>
              </a:ext>
            </a:extLst>
          </p:cNvPr>
          <p:cNvSpPr>
            <a:spLocks noGrp="1"/>
          </p:cNvSpPr>
          <p:nvPr>
            <p:ph type="title"/>
          </p:nvPr>
        </p:nvSpPr>
        <p:spPr/>
        <p:txBody>
          <a:bodyPr/>
          <a:lstStyle/>
          <a:p>
            <a:r>
              <a:rPr lang="en-US" b="1" dirty="0"/>
              <a:t>Jump In the Line </a:t>
            </a:r>
            <a:r>
              <a:rPr lang="en-US" sz="2000" b="1" dirty="0">
                <a:solidFill>
                  <a:schemeClr val="bg1"/>
                </a:solidFill>
              </a:rPr>
              <a:t>(2 of 3)</a:t>
            </a:r>
            <a:endParaRPr lang="en-US" dirty="0">
              <a:solidFill>
                <a:schemeClr val="bg1"/>
              </a:solidFill>
            </a:endParaRPr>
          </a:p>
        </p:txBody>
      </p:sp>
      <p:sp>
        <p:nvSpPr>
          <p:cNvPr id="2" name="Text Placeholder 1">
            <a:extLst>
              <a:ext uri="{FF2B5EF4-FFF2-40B4-BE49-F238E27FC236}">
                <a16:creationId xmlns:a16="http://schemas.microsoft.com/office/drawing/2014/main" id="{580608E9-9191-76A8-2684-97A9D38867F6}"/>
              </a:ext>
            </a:extLst>
          </p:cNvPr>
          <p:cNvSpPr>
            <a:spLocks noGrp="1"/>
          </p:cNvSpPr>
          <p:nvPr>
            <p:ph type="body" sz="quarter" idx="10"/>
          </p:nvPr>
        </p:nvSpPr>
        <p:spPr>
          <a:xfrm>
            <a:off x="777240" y="1616529"/>
            <a:ext cx="10590848" cy="4160327"/>
          </a:xfrm>
        </p:spPr>
        <p:txBody>
          <a:bodyPr/>
          <a:lstStyle/>
          <a:p>
            <a:r>
              <a:rPr lang="en-US" b="0" i="0" u="none" strike="noStrike" dirty="0">
                <a:solidFill>
                  <a:srgbClr val="000000"/>
                </a:solidFill>
                <a:effectLst/>
              </a:rPr>
              <a:t>Let’s summarize our learning from the Getting Started!</a:t>
            </a:r>
            <a:endParaRPr lang="en-US" dirty="0">
              <a:solidFill>
                <a:srgbClr val="000000"/>
              </a:solidFill>
            </a:endParaRPr>
          </a:p>
          <a:p>
            <a:endParaRPr lang="en-US" dirty="0"/>
          </a:p>
        </p:txBody>
      </p:sp>
      <p:pic>
        <p:nvPicPr>
          <p:cNvPr id="5" name="Picture 4">
            <a:extLst>
              <a:ext uri="{FF2B5EF4-FFF2-40B4-BE49-F238E27FC236}">
                <a16:creationId xmlns:a16="http://schemas.microsoft.com/office/drawing/2014/main" id="{83CFE51C-FECE-9C46-8848-6BF918D18E27}"/>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0174023" y="372494"/>
            <a:ext cx="1501270" cy="518205"/>
          </a:xfrm>
          <a:prstGeom prst="rect">
            <a:avLst/>
          </a:prstGeom>
        </p:spPr>
      </p:pic>
      <p:sp>
        <p:nvSpPr>
          <p:cNvPr id="1005" name="Slide Number 1005"/>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8</a:t>
            </a:fld>
          </a:p>
        </p:txBody>
      </p:sp>
      <p:sp>
        <p:nvSpPr>
          <p:cNvPr id="1006" name="Answer 1006"/>
          <p:cNvSpPr txBox="1"/>
          <p:nvPr/>
        </p:nvSpPr>
        <p:spPr>
          <a:xfrm>
            <a:off x="869950" y="3873500"/>
            <a:ext cx="10477500" cy="1270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Summary: Characteristics of linear relationships can be identified when their equations are written in different forms, such as slope-intercept form, point-slope form, and standard form.</a:t>
            </a:r>
          </a:p>
        </p:txBody>
      </p:sp>
    </p:spTree>
    <p:extLst>
      <p:ext uri="{BB962C8B-B14F-4D97-AF65-F5344CB8AC3E}">
        <p14:creationId xmlns:p14="http://schemas.microsoft.com/office/powerpoint/2010/main" val="2632128268"/>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0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997A27-F591-3AF5-7DE3-D65EDD16C5A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2EF7741-7E0B-5C7F-7593-7823C1FFDA3A}"/>
              </a:ext>
            </a:extLst>
          </p:cNvPr>
          <p:cNvSpPr>
            <a:spLocks noGrp="1"/>
          </p:cNvSpPr>
          <p:nvPr>
            <p:ph type="title"/>
          </p:nvPr>
        </p:nvSpPr>
        <p:spPr/>
        <p:txBody>
          <a:bodyPr/>
          <a:lstStyle/>
          <a:p>
            <a:r>
              <a:rPr lang="en-US" b="1" dirty="0"/>
              <a:t>Jump In the Line </a:t>
            </a:r>
            <a:r>
              <a:rPr lang="en-US" sz="2000" b="1" dirty="0">
                <a:solidFill>
                  <a:schemeClr val="bg1"/>
                </a:solidFill>
              </a:rPr>
              <a:t>(3 of 3)</a:t>
            </a:r>
            <a:endParaRPr lang="en-US" dirty="0">
              <a:solidFill>
                <a:schemeClr val="bg1"/>
              </a:solidFill>
            </a:endParaRPr>
          </a:p>
        </p:txBody>
      </p:sp>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9</a:t>
            </a:fld>
          </a:p>
        </p:txBody>
      </p:sp>
    </p:spTree>
    <p:extLst>
      <p:ext uri="{BB962C8B-B14F-4D97-AF65-F5344CB8AC3E}">
        <p14:creationId xmlns:p14="http://schemas.microsoft.com/office/powerpoint/2010/main" val="363278531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8E5F7022-D266-6CB6-8FDC-29242A2ED071}"/>
              </a:ext>
            </a:extLst>
          </p:cNvPr>
          <p:cNvSpPr>
            <a:spLocks noGrp="1"/>
          </p:cNvSpPr>
          <p:nvPr>
            <p:ph type="title" idx="4294967295"/>
          </p:nvPr>
        </p:nvSpPr>
        <p:spPr>
          <a:xfrm>
            <a:off x="838200" y="-342900"/>
            <a:ext cx="10514013" cy="342900"/>
          </a:xfrm>
          <a:prstGeom prst="rect">
            <a:avLst/>
          </a:prstGeom>
        </p:spPr>
        <p:txBody>
          <a:bodyPr anchor="b"/>
          <a:lstStyle/>
          <a:p>
            <a:r>
              <a:rPr lang="en-US" sz="2000" dirty="0">
                <a:solidFill>
                  <a:schemeClr val="bg2"/>
                </a:solidFill>
              </a:rPr>
              <a:t>Activity 5.1</a:t>
            </a:r>
          </a:p>
        </p:txBody>
      </p:sp>
      <p:sp>
        <p:nvSpPr>
          <p:cNvPr id="3" name="Text Placeholder 2" descr="25 to 30 minutes">
            <a:extLst>
              <a:ext uri="{FF2B5EF4-FFF2-40B4-BE49-F238E27FC236}">
                <a16:creationId xmlns:a16="http://schemas.microsoft.com/office/drawing/2014/main" id="{BA063AF9-8F8B-5444-6AEC-5E8501EC7698}"/>
              </a:ext>
            </a:extLst>
          </p:cNvPr>
          <p:cNvSpPr>
            <a:spLocks noGrp="1"/>
          </p:cNvSpPr>
          <p:nvPr>
            <p:ph type="body" sz="quarter" idx="12"/>
          </p:nvPr>
        </p:nvSpPr>
        <p:spPr>
          <a:xfrm>
            <a:off x="10614990" y="5781873"/>
            <a:ext cx="863947" cy="795338"/>
          </a:xfrm>
        </p:spPr>
        <p:txBody>
          <a:bodyPr/>
          <a:lstStyle/>
          <a:p>
            <a:r>
              <a:rPr lang="en-US" b="1" dirty="0"/>
              <a:t>25–30</a:t>
            </a:r>
          </a:p>
        </p:txBody>
      </p:sp>
      <p:sp>
        <p:nvSpPr>
          <p:cNvPr id="2" name="Text Placeholder 1">
            <a:extLst>
              <a:ext uri="{FF2B5EF4-FFF2-40B4-BE49-F238E27FC236}">
                <a16:creationId xmlns:a16="http://schemas.microsoft.com/office/drawing/2014/main" id="{3D1465A3-2914-1151-1A78-CFD3B2A423BE}"/>
              </a:ext>
              <a:ext uri="{C183D7F6-B498-43B3-948B-1728B52AA6E4}">
                <adec:decorative xmlns:adec="http://schemas.microsoft.com/office/drawing/2017/decorative" val="1"/>
              </a:ext>
            </a:extLst>
          </p:cNvPr>
          <p:cNvSpPr>
            <a:spLocks noGrp="1"/>
          </p:cNvSpPr>
          <p:nvPr>
            <p:ph type="body" sz="quarter" idx="11"/>
          </p:nvPr>
        </p:nvSpPr>
        <p:spPr/>
        <p:txBody>
          <a:bodyPr/>
          <a:lstStyle/>
          <a:p>
            <a:r>
              <a:rPr lang="en-US" dirty="0"/>
              <a:t>5.1</a:t>
            </a:r>
          </a:p>
        </p:txBody>
      </p:sp>
      <p:sp>
        <p:nvSpPr>
          <p:cNvPr id="1005" name="Slide Number 1005"/>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10</a:t>
            </a:fld>
          </a:p>
        </p:txBody>
      </p:sp>
    </p:spTree>
    <p:extLst>
      <p:ext uri="{BB962C8B-B14F-4D97-AF65-F5344CB8AC3E}">
        <p14:creationId xmlns:p14="http://schemas.microsoft.com/office/powerpoint/2010/main" val="425045944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BEC1C9-FFFC-9F65-F833-486F41CB1C8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A0AB5A9-D584-51C7-B955-DAA1F9C7EB67}"/>
              </a:ext>
            </a:extLst>
          </p:cNvPr>
          <p:cNvSpPr>
            <a:spLocks noGrp="1"/>
          </p:cNvSpPr>
          <p:nvPr>
            <p:ph type="title"/>
          </p:nvPr>
        </p:nvSpPr>
        <p:spPr/>
        <p:txBody>
          <a:bodyPr/>
          <a:lstStyle/>
          <a:p>
            <a:pPr algn="l"/>
            <a:r>
              <a:rPr lang="en-US" b="1" dirty="0"/>
              <a:t>Using Slope-Intercept Form to Graph a Line </a:t>
            </a:r>
            <a:r>
              <a:rPr lang="en-US" b="1" dirty="0">
                <a:solidFill>
                  <a:schemeClr val="bg1"/>
                </a:solidFill>
              </a:rPr>
              <a:t>(1 of 10)</a:t>
            </a:r>
          </a:p>
        </p:txBody>
      </p:sp>
      <mc:AlternateContent xmlns:mc="http://schemas.openxmlformats.org/markup-compatibility/2006" xmlns:a14="http://schemas.microsoft.com/office/drawing/2010/main">
        <mc:Choice Requires="a14">
          <p:sp>
            <p:nvSpPr>
              <p:cNvPr id="2" name="Text Placeholder 2">
                <a:extLst>
                  <a:ext uri="{FF2B5EF4-FFF2-40B4-BE49-F238E27FC236}">
                    <a16:creationId xmlns:a16="http://schemas.microsoft.com/office/drawing/2014/main" id="{DB041376-B7BD-78B3-7016-2069BFEAFE79}"/>
                  </a:ext>
                </a:extLst>
              </p:cNvPr>
              <p:cNvSpPr txBox="1">
                <a:spLocks/>
              </p:cNvSpPr>
              <p:nvPr/>
            </p:nvSpPr>
            <p:spPr>
              <a:xfrm>
                <a:off x="777240" y="1583871"/>
                <a:ext cx="10791553" cy="5124549"/>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spcAft>
                    <a:spcPts val="1200"/>
                  </a:spcAft>
                  <a:buNone/>
                </a:pPr>
                <a:r>
                  <a:rPr lang="en-US" sz="2800" dirty="0">
                    <a:solidFill>
                      <a:srgbClr val="000000"/>
                    </a:solidFill>
                  </a:rPr>
                  <a:t>As you learned previously, the slope-intercept form of a linear equation is </a:t>
                </a:r>
                <a14:m>
                  <m:oMath xmlns:m="http://schemas.openxmlformats.org/officeDocument/2006/math">
                    <m:r>
                      <a:rPr lang="en-US" sz="2800" b="0" i="1" smtClean="0">
                        <a:solidFill>
                          <a:srgbClr val="000000"/>
                        </a:solidFill>
                        <a:latin typeface="Cambria Math" panose="02040503050406030204" pitchFamily="18" charset="0"/>
                      </a:rPr>
                      <m:t>𝑦</m:t>
                    </m:r>
                    <m:r>
                      <a:rPr lang="en-US" sz="2800" b="0" i="1" smtClean="0">
                        <a:solidFill>
                          <a:srgbClr val="000000"/>
                        </a:solidFill>
                        <a:latin typeface="Cambria Math" panose="02040503050406030204" pitchFamily="18" charset="0"/>
                      </a:rPr>
                      <m:t>=</m:t>
                    </m:r>
                    <m:r>
                      <a:rPr lang="en-US" sz="2800" b="0" i="1" smtClean="0">
                        <a:solidFill>
                          <a:srgbClr val="000000"/>
                        </a:solidFill>
                        <a:latin typeface="Cambria Math" panose="02040503050406030204" pitchFamily="18" charset="0"/>
                      </a:rPr>
                      <m:t>𝑚𝑥</m:t>
                    </m:r>
                    <m:r>
                      <a:rPr lang="en-US" sz="2800" b="0" i="1" smtClean="0">
                        <a:solidFill>
                          <a:srgbClr val="000000"/>
                        </a:solidFill>
                        <a:latin typeface="Cambria Math" panose="02040503050406030204" pitchFamily="18" charset="0"/>
                      </a:rPr>
                      <m:t>+</m:t>
                    </m:r>
                    <m:r>
                      <a:rPr lang="en-US" sz="2800" b="0" i="1" smtClean="0">
                        <a:solidFill>
                          <a:srgbClr val="000000"/>
                        </a:solidFill>
                        <a:latin typeface="Cambria Math" panose="02040503050406030204" pitchFamily="18" charset="0"/>
                      </a:rPr>
                      <m:t>𝑏</m:t>
                    </m:r>
                  </m:oMath>
                </a14:m>
                <a:r>
                  <a:rPr lang="en-US" sz="2800" dirty="0">
                    <a:solidFill>
                      <a:srgbClr val="000000"/>
                    </a:solidFill>
                  </a:rPr>
                  <a:t>, where </a:t>
                </a:r>
                <a:r>
                  <a:rPr lang="en-US" sz="2800" i="1" dirty="0">
                    <a:solidFill>
                      <a:srgbClr val="000000"/>
                    </a:solidFill>
                  </a:rPr>
                  <a:t>m</a:t>
                </a:r>
                <a:r>
                  <a:rPr lang="en-US" sz="2800" dirty="0">
                    <a:solidFill>
                      <a:srgbClr val="000000"/>
                    </a:solidFill>
                  </a:rPr>
                  <a:t> is the slope of the line and (0, </a:t>
                </a:r>
                <a:r>
                  <a:rPr lang="en-US" sz="2800" i="1" dirty="0">
                    <a:solidFill>
                      <a:srgbClr val="000000"/>
                    </a:solidFill>
                  </a:rPr>
                  <a:t>b</a:t>
                </a:r>
                <a:r>
                  <a:rPr lang="en-US" sz="2800" dirty="0">
                    <a:solidFill>
                      <a:srgbClr val="000000"/>
                    </a:solidFill>
                  </a:rPr>
                  <a:t>) is the </a:t>
                </a:r>
                <a:r>
                  <a:rPr lang="en-US" sz="2800" i="1" dirty="0">
                    <a:solidFill>
                      <a:srgbClr val="000000"/>
                    </a:solidFill>
                  </a:rPr>
                  <a:t>y</a:t>
                </a:r>
                <a:r>
                  <a:rPr lang="en-US" sz="2800" dirty="0">
                    <a:solidFill>
                      <a:srgbClr val="000000"/>
                    </a:solidFill>
                  </a:rPr>
                  <a:t>-intercept. You can use the equation to graph the relationship without first creating a table of values using the </a:t>
                </a:r>
                <a:r>
                  <a:rPr lang="en-US" sz="2800" i="1" dirty="0">
                    <a:solidFill>
                      <a:srgbClr val="000000"/>
                    </a:solidFill>
                  </a:rPr>
                  <a:t>y</a:t>
                </a:r>
                <a:r>
                  <a:rPr lang="en-US" sz="2800" dirty="0">
                    <a:solidFill>
                      <a:srgbClr val="000000"/>
                    </a:solidFill>
                  </a:rPr>
                  <a:t>-intercept and the slope. </a:t>
                </a:r>
              </a:p>
              <a:p>
                <a:pPr marL="0" indent="0">
                  <a:spcAft>
                    <a:spcPts val="1200"/>
                  </a:spcAft>
                  <a:buNone/>
                </a:pPr>
                <a:r>
                  <a:rPr lang="en-US" sz="2800" dirty="0">
                    <a:solidFill>
                      <a:srgbClr val="000000"/>
                    </a:solidFill>
                  </a:rPr>
                  <a:t>Douglas is giving away tickets to a concert that he won from a radio station contest. Currently, he has 10 tickets remaining. He gives a pair</a:t>
                </a:r>
                <a:br>
                  <a:rPr lang="en-US" sz="2800" dirty="0">
                    <a:solidFill>
                      <a:srgbClr val="000000"/>
                    </a:solidFill>
                  </a:rPr>
                </a:br>
                <a:r>
                  <a:rPr lang="en-US" sz="2800" dirty="0">
                    <a:solidFill>
                      <a:srgbClr val="000000"/>
                    </a:solidFill>
                  </a:rPr>
                  <a:t>of tickets to each person who asks for them.</a:t>
                </a:r>
              </a:p>
              <a:p>
                <a:pPr marL="0" indent="0">
                  <a:buNone/>
                </a:pPr>
                <a:r>
                  <a:rPr lang="en-US" sz="2800" dirty="0">
                    <a:solidFill>
                      <a:srgbClr val="000000"/>
                    </a:solidFill>
                  </a:rPr>
                  <a:t>This situation can be modeled by the equation </a:t>
                </a:r>
                <a14:m>
                  <m:oMath xmlns:m="http://schemas.openxmlformats.org/officeDocument/2006/math">
                    <m:r>
                      <a:rPr lang="en-US" sz="2800" b="0" i="1" smtClean="0">
                        <a:solidFill>
                          <a:srgbClr val="000000"/>
                        </a:solidFill>
                        <a:latin typeface="Cambria Math" panose="02040503050406030204" pitchFamily="18" charset="0"/>
                      </a:rPr>
                      <m:t>𝑦</m:t>
                    </m:r>
                    <m:r>
                      <a:rPr lang="en-US" sz="2800" b="0" i="1" smtClean="0">
                        <a:solidFill>
                          <a:srgbClr val="000000"/>
                        </a:solidFill>
                        <a:latin typeface="Cambria Math" panose="02040503050406030204" pitchFamily="18" charset="0"/>
                      </a:rPr>
                      <m:t>=−2</m:t>
                    </m:r>
                    <m:r>
                      <a:rPr lang="en-US" sz="2800" b="0" i="1" smtClean="0">
                        <a:solidFill>
                          <a:srgbClr val="000000"/>
                        </a:solidFill>
                        <a:latin typeface="Cambria Math" panose="02040503050406030204" pitchFamily="18" charset="0"/>
                      </a:rPr>
                      <m:t>𝑥</m:t>
                    </m:r>
                    <m:r>
                      <a:rPr lang="en-US" sz="2800" b="0" i="1" smtClean="0">
                        <a:solidFill>
                          <a:srgbClr val="000000"/>
                        </a:solidFill>
                        <a:latin typeface="Cambria Math" panose="02040503050406030204" pitchFamily="18" charset="0"/>
                      </a:rPr>
                      <m:t>+10</m:t>
                    </m:r>
                  </m:oMath>
                </a14:m>
                <a:r>
                  <a:rPr lang="en-US" sz="2800" dirty="0">
                    <a:solidFill>
                      <a:srgbClr val="000000"/>
                    </a:solidFill>
                  </a:rPr>
                  <a:t>, where </a:t>
                </a:r>
                <a:r>
                  <a:rPr lang="en-US" sz="2800" i="1" dirty="0">
                    <a:solidFill>
                      <a:srgbClr val="000000"/>
                    </a:solidFill>
                  </a:rPr>
                  <a:t>x</a:t>
                </a:r>
                <a:r>
                  <a:rPr lang="en-US" sz="2800" dirty="0">
                    <a:solidFill>
                      <a:srgbClr val="000000"/>
                    </a:solidFill>
                  </a:rPr>
                  <a:t> represents the number of people who request tickets and </a:t>
                </a:r>
                <a:r>
                  <a:rPr lang="en-US" sz="2800" i="1" dirty="0">
                    <a:solidFill>
                      <a:srgbClr val="000000"/>
                    </a:solidFill>
                  </a:rPr>
                  <a:t>y</a:t>
                </a:r>
                <a:r>
                  <a:rPr lang="en-US" sz="2800" dirty="0">
                    <a:solidFill>
                      <a:srgbClr val="000000"/>
                    </a:solidFill>
                  </a:rPr>
                  <a:t> represents the number of tickets available.</a:t>
                </a:r>
              </a:p>
            </p:txBody>
          </p:sp>
        </mc:Choice>
        <mc:Fallback xmlns="">
          <p:sp>
            <p:nvSpPr>
              <p:cNvPr id="2" name="Text Placeholder 2">
                <a:extLst>
                  <a:ext uri="{FF2B5EF4-FFF2-40B4-BE49-F238E27FC236}">
                    <a16:creationId xmlns:a16="http://schemas.microsoft.com/office/drawing/2014/main" id="{DB041376-B7BD-78B3-7016-2069BFEAFE79}"/>
                  </a:ext>
                </a:extLst>
              </p:cNvPr>
              <p:cNvSpPr txBox="1">
                <a:spLocks noRot="1" noChangeAspect="1" noMove="1" noResize="1" noEditPoints="1" noAdjustHandles="1" noChangeArrowheads="1" noChangeShapeType="1" noTextEdit="1"/>
              </p:cNvSpPr>
              <p:nvPr/>
            </p:nvSpPr>
            <p:spPr>
              <a:xfrm>
                <a:off x="777240" y="1583871"/>
                <a:ext cx="10791553" cy="5124549"/>
              </a:xfrm>
              <a:prstGeom prst="rect">
                <a:avLst/>
              </a:prstGeom>
              <a:blipFill>
                <a:blip r:embed="rId3"/>
                <a:stretch>
                  <a:fillRect l="-1186" t="-1190" r="-1582"/>
                </a:stretch>
              </a:blipFill>
            </p:spPr>
            <p:txBody>
              <a:bodyPr/>
              <a:lstStyle/>
              <a:p>
                <a:r>
                  <a:rPr lang="en-US">
                    <a:noFill/>
                  </a:rPr>
                  <a:t> </a:t>
                </a:r>
              </a:p>
            </p:txBody>
          </p:sp>
        </mc:Fallback>
      </mc:AlternateContent>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11</a:t>
            </a:fld>
          </a:p>
        </p:txBody>
      </p:sp>
    </p:spTree>
    <p:extLst>
      <p:ext uri="{BB962C8B-B14F-4D97-AF65-F5344CB8AC3E}">
        <p14:creationId xmlns:p14="http://schemas.microsoft.com/office/powerpoint/2010/main" val="10136186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C9AA66-81E0-EF1E-03C1-EBFF269FB387}"/>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9425E7B-C1EE-9D19-7337-300BBED4939B}"/>
              </a:ext>
            </a:extLst>
          </p:cNvPr>
          <p:cNvSpPr>
            <a:spLocks noGrp="1"/>
          </p:cNvSpPr>
          <p:nvPr>
            <p:ph type="title"/>
          </p:nvPr>
        </p:nvSpPr>
        <p:spPr/>
        <p:txBody>
          <a:bodyPr/>
          <a:lstStyle/>
          <a:p>
            <a:pPr algn="l"/>
            <a:r>
              <a:rPr lang="en-US" b="1" dirty="0"/>
              <a:t>Using Slope-Intercept Form to Graph a Line </a:t>
            </a:r>
            <a:r>
              <a:rPr lang="en-US" b="1" dirty="0">
                <a:solidFill>
                  <a:schemeClr val="bg1"/>
                </a:solidFill>
              </a:rPr>
              <a:t>(2 of 10)</a:t>
            </a:r>
          </a:p>
        </p:txBody>
      </p:sp>
      <mc:AlternateContent xmlns:mc="http://schemas.openxmlformats.org/markup-compatibility/2006" xmlns:a14="http://schemas.microsoft.com/office/drawing/2010/main">
        <mc:Choice Requires="a14">
          <p:sp>
            <p:nvSpPr>
              <p:cNvPr id="2" name="Text Placeholder 2">
                <a:extLst>
                  <a:ext uri="{FF2B5EF4-FFF2-40B4-BE49-F238E27FC236}">
                    <a16:creationId xmlns:a16="http://schemas.microsoft.com/office/drawing/2014/main" id="{754ABCE6-BEE6-01A3-4ECF-F5DF25A59CEB}"/>
                  </a:ext>
                </a:extLst>
              </p:cNvPr>
              <p:cNvSpPr txBox="1">
                <a:spLocks/>
              </p:cNvSpPr>
              <p:nvPr/>
            </p:nvSpPr>
            <p:spPr>
              <a:xfrm>
                <a:off x="777240" y="1387929"/>
                <a:ext cx="9367221" cy="5320491"/>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buNone/>
                </a:pPr>
                <a:r>
                  <a:rPr lang="en-US" sz="2800" dirty="0">
                    <a:solidFill>
                      <a:srgbClr val="000000"/>
                    </a:solidFill>
                  </a:rPr>
                  <a:t>To graph the equation </a:t>
                </a:r>
                <a14:m>
                  <m:oMath xmlns:m="http://schemas.openxmlformats.org/officeDocument/2006/math">
                    <m:r>
                      <a:rPr lang="en-US" sz="2800" b="0" i="1" smtClean="0">
                        <a:solidFill>
                          <a:srgbClr val="000000"/>
                        </a:solidFill>
                        <a:latin typeface="Cambria Math" panose="02040503050406030204" pitchFamily="18" charset="0"/>
                      </a:rPr>
                      <m:t>𝑦</m:t>
                    </m:r>
                    <m:r>
                      <a:rPr lang="en-US" sz="2800" b="0" i="1" smtClean="0">
                        <a:solidFill>
                          <a:srgbClr val="000000"/>
                        </a:solidFill>
                        <a:latin typeface="Cambria Math" panose="02040503050406030204" pitchFamily="18" charset="0"/>
                      </a:rPr>
                      <m:t>=−2</m:t>
                    </m:r>
                    <m:r>
                      <a:rPr lang="en-US" sz="2800" b="0" i="1" smtClean="0">
                        <a:solidFill>
                          <a:srgbClr val="000000"/>
                        </a:solidFill>
                        <a:latin typeface="Cambria Math" panose="02040503050406030204" pitchFamily="18" charset="0"/>
                      </a:rPr>
                      <m:t>𝑥</m:t>
                    </m:r>
                    <m:r>
                      <a:rPr lang="en-US" sz="2800" b="0" i="1" smtClean="0">
                        <a:solidFill>
                          <a:srgbClr val="000000"/>
                        </a:solidFill>
                        <a:latin typeface="Cambria Math" panose="02040503050406030204" pitchFamily="18" charset="0"/>
                      </a:rPr>
                      <m:t>+10</m:t>
                    </m:r>
                  </m:oMath>
                </a14:m>
                <a:r>
                  <a:rPr lang="en-US" sz="2800" dirty="0">
                    <a:solidFill>
                      <a:srgbClr val="000000"/>
                    </a:solidFill>
                  </a:rPr>
                  <a:t>, you will first plot the</a:t>
                </a:r>
                <a:br>
                  <a:rPr lang="en-US" sz="2800" dirty="0">
                    <a:solidFill>
                      <a:srgbClr val="000000"/>
                    </a:solidFill>
                  </a:rPr>
                </a:br>
                <a:r>
                  <a:rPr lang="en-US" sz="2800" i="1" dirty="0">
                    <a:solidFill>
                      <a:srgbClr val="000000"/>
                    </a:solidFill>
                  </a:rPr>
                  <a:t>y</a:t>
                </a:r>
                <a:r>
                  <a:rPr lang="en-US" sz="2800" dirty="0">
                    <a:solidFill>
                      <a:srgbClr val="000000"/>
                    </a:solidFill>
                  </a:rPr>
                  <a:t>-intercept, (0, 10), and then use the slope, </a:t>
                </a:r>
                <a14:m>
                  <m:oMath xmlns:m="http://schemas.openxmlformats.org/officeDocument/2006/math">
                    <m:r>
                      <a:rPr lang="en-US" sz="2800" i="1">
                        <a:solidFill>
                          <a:srgbClr val="000000"/>
                        </a:solidFill>
                        <a:latin typeface="Cambria Math" panose="02040503050406030204" pitchFamily="18" charset="0"/>
                      </a:rPr>
                      <m:t>−2</m:t>
                    </m:r>
                  </m:oMath>
                </a14:m>
                <a:r>
                  <a:rPr lang="en-US" sz="2800" dirty="0">
                    <a:solidFill>
                      <a:srgbClr val="000000"/>
                    </a:solidFill>
                  </a:rPr>
                  <a:t>, to plot two more points. Remember, slope describes the steepness and direction of a line. Slope is the ratio of the change in </a:t>
                </a:r>
                <a:r>
                  <a:rPr lang="en-US" sz="2800" i="1" dirty="0">
                    <a:solidFill>
                      <a:srgbClr val="000000"/>
                    </a:solidFill>
                  </a:rPr>
                  <a:t>y</a:t>
                </a:r>
                <a:r>
                  <a:rPr lang="en-US" sz="2800" dirty="0">
                    <a:solidFill>
                      <a:srgbClr val="000000"/>
                    </a:solidFill>
                  </a:rPr>
                  <a:t>-values to the change in </a:t>
                </a:r>
                <a:r>
                  <a:rPr lang="en-US" sz="2800" i="1" dirty="0">
                    <a:solidFill>
                      <a:srgbClr val="000000"/>
                    </a:solidFill>
                  </a:rPr>
                  <a:t>x</a:t>
                </a:r>
                <a:r>
                  <a:rPr lang="en-US" sz="2800" dirty="0">
                    <a:solidFill>
                      <a:srgbClr val="000000"/>
                    </a:solidFill>
                  </a:rPr>
                  <a:t>-values, commonly referred to as rise over run. In this equation, you can think of </a:t>
                </a:r>
                <a14:m>
                  <m:oMath xmlns:m="http://schemas.openxmlformats.org/officeDocument/2006/math">
                    <m:r>
                      <a:rPr lang="en-US" sz="2800" b="0" i="1" smtClean="0">
                        <a:solidFill>
                          <a:srgbClr val="000000"/>
                        </a:solidFill>
                        <a:latin typeface="Cambria Math" panose="02040503050406030204" pitchFamily="18" charset="0"/>
                      </a:rPr>
                      <m:t>𝑚</m:t>
                    </m:r>
                    <m:r>
                      <a:rPr lang="en-US" sz="2800" b="0" i="1" smtClean="0">
                        <a:solidFill>
                          <a:srgbClr val="000000"/>
                        </a:solidFill>
                        <a:latin typeface="Cambria Math" panose="02040503050406030204" pitchFamily="18" charset="0"/>
                      </a:rPr>
                      <m:t>=−2 </m:t>
                    </m:r>
                  </m:oMath>
                </a14:m>
                <a:r>
                  <a:rPr lang="en-US" sz="2800" dirty="0">
                    <a:solidFill>
                      <a:srgbClr val="000000"/>
                    </a:solidFill>
                  </a:rPr>
                  <a:t>as two different ratios: </a:t>
                </a:r>
                <a14:m>
                  <m:oMath xmlns:m="http://schemas.openxmlformats.org/officeDocument/2006/math">
                    <m:f>
                      <m:fPr>
                        <m:ctrlPr>
                          <a:rPr lang="en-US" sz="2800" i="1" smtClean="0">
                            <a:solidFill>
                              <a:srgbClr val="000000"/>
                            </a:solidFill>
                            <a:latin typeface="Cambria Math" panose="02040503050406030204" pitchFamily="18" charset="0"/>
                          </a:rPr>
                        </m:ctrlPr>
                      </m:fPr>
                      <m:num>
                        <m:r>
                          <a:rPr lang="en-US" sz="2800" b="0" i="1" smtClean="0">
                            <a:solidFill>
                              <a:srgbClr val="000000"/>
                            </a:solidFill>
                            <a:latin typeface="Cambria Math" panose="02040503050406030204" pitchFamily="18" charset="0"/>
                          </a:rPr>
                          <m:t>−2</m:t>
                        </m:r>
                      </m:num>
                      <m:den>
                        <m:r>
                          <a:rPr lang="en-US" sz="2800" b="0" i="1" smtClean="0">
                            <a:solidFill>
                              <a:srgbClr val="000000"/>
                            </a:solidFill>
                            <a:latin typeface="Cambria Math" panose="02040503050406030204" pitchFamily="18" charset="0"/>
                          </a:rPr>
                          <m:t>1</m:t>
                        </m:r>
                      </m:den>
                    </m:f>
                  </m:oMath>
                </a14:m>
                <a:r>
                  <a:rPr lang="en-US" sz="2800" dirty="0">
                    <a:solidFill>
                      <a:srgbClr val="000000"/>
                    </a:solidFill>
                  </a:rPr>
                  <a:t>  or </a:t>
                </a:r>
                <a14:m>
                  <m:oMath xmlns:m="http://schemas.openxmlformats.org/officeDocument/2006/math">
                    <m:f>
                      <m:fPr>
                        <m:ctrlPr>
                          <a:rPr lang="en-US" sz="2800" i="1">
                            <a:solidFill>
                              <a:srgbClr val="000000"/>
                            </a:solidFill>
                            <a:latin typeface="Cambria Math" panose="02040503050406030204" pitchFamily="18" charset="0"/>
                          </a:rPr>
                        </m:ctrlPr>
                      </m:fPr>
                      <m:num>
                        <m:r>
                          <a:rPr lang="en-US" sz="2800" i="1">
                            <a:solidFill>
                              <a:srgbClr val="000000"/>
                            </a:solidFill>
                            <a:latin typeface="Cambria Math" panose="02040503050406030204" pitchFamily="18" charset="0"/>
                          </a:rPr>
                          <m:t>2</m:t>
                        </m:r>
                      </m:num>
                      <m:den>
                        <m:r>
                          <a:rPr lang="en-US" sz="2800" b="0" i="1" smtClean="0">
                            <a:solidFill>
                              <a:srgbClr val="000000"/>
                            </a:solidFill>
                            <a:latin typeface="Cambria Math" panose="02040503050406030204" pitchFamily="18" charset="0"/>
                          </a:rPr>
                          <m:t>−</m:t>
                        </m:r>
                        <m:r>
                          <a:rPr lang="en-US" sz="2800" i="1">
                            <a:solidFill>
                              <a:srgbClr val="000000"/>
                            </a:solidFill>
                            <a:latin typeface="Cambria Math" panose="02040503050406030204" pitchFamily="18" charset="0"/>
                          </a:rPr>
                          <m:t>1</m:t>
                        </m:r>
                      </m:den>
                    </m:f>
                  </m:oMath>
                </a14:m>
                <a:r>
                  <a:rPr lang="en-US" sz="2800" dirty="0">
                    <a:solidFill>
                      <a:srgbClr val="000000"/>
                    </a:solidFill>
                  </a:rPr>
                  <a:t>. The sign of the number tells you the direction to go to plot a new point. The ratio </a:t>
                </a:r>
                <a14:m>
                  <m:oMath xmlns:m="http://schemas.openxmlformats.org/officeDocument/2006/math">
                    <m:f>
                      <m:fPr>
                        <m:ctrlPr>
                          <a:rPr lang="en-US" sz="2800" i="1">
                            <a:solidFill>
                              <a:srgbClr val="000000"/>
                            </a:solidFill>
                            <a:latin typeface="Cambria Math" panose="02040503050406030204" pitchFamily="18" charset="0"/>
                          </a:rPr>
                        </m:ctrlPr>
                      </m:fPr>
                      <m:num>
                        <m:r>
                          <a:rPr lang="en-US" sz="2800" i="1">
                            <a:solidFill>
                              <a:srgbClr val="000000"/>
                            </a:solidFill>
                            <a:latin typeface="Cambria Math" panose="02040503050406030204" pitchFamily="18" charset="0"/>
                          </a:rPr>
                          <m:t>−2</m:t>
                        </m:r>
                      </m:num>
                      <m:den>
                        <m:r>
                          <a:rPr lang="en-US" sz="2800" i="1">
                            <a:solidFill>
                              <a:srgbClr val="000000"/>
                            </a:solidFill>
                            <a:latin typeface="Cambria Math" panose="02040503050406030204" pitchFamily="18" charset="0"/>
                          </a:rPr>
                          <m:t>1</m:t>
                        </m:r>
                      </m:den>
                    </m:f>
                    <m:r>
                      <a:rPr lang="en-US" sz="2800" i="1">
                        <a:solidFill>
                          <a:srgbClr val="000000"/>
                        </a:solidFill>
                        <a:latin typeface="Cambria Math" panose="02040503050406030204" pitchFamily="18" charset="0"/>
                      </a:rPr>
                      <m:t> </m:t>
                    </m:r>
                    <m:r>
                      <a:rPr lang="en-US" sz="2800" b="0" i="0" smtClean="0">
                        <a:solidFill>
                          <a:srgbClr val="000000"/>
                        </a:solidFill>
                        <a:latin typeface="Cambria Math" panose="02040503050406030204" pitchFamily="18" charset="0"/>
                      </a:rPr>
                      <m:t> </m:t>
                    </m:r>
                  </m:oMath>
                </a14:m>
                <a:r>
                  <a:rPr lang="en-US" sz="2800" dirty="0">
                    <a:solidFill>
                      <a:srgbClr val="000000"/>
                    </a:solidFill>
                  </a:rPr>
                  <a:t>has a negative rise and</a:t>
                </a:r>
                <a:br>
                  <a:rPr lang="en-US" sz="2800" dirty="0">
                    <a:solidFill>
                      <a:srgbClr val="000000"/>
                    </a:solidFill>
                  </a:rPr>
                </a:br>
                <a:r>
                  <a:rPr lang="en-US" sz="2800" dirty="0">
                    <a:solidFill>
                      <a:srgbClr val="000000"/>
                    </a:solidFill>
                  </a:rPr>
                  <a:t>a positive run. It is interpreted as down 2 units and to the right 1 unit. The ratio </a:t>
                </a:r>
                <a14:m>
                  <m:oMath xmlns:m="http://schemas.openxmlformats.org/officeDocument/2006/math">
                    <m:f>
                      <m:fPr>
                        <m:ctrlPr>
                          <a:rPr lang="en-US" sz="2800" i="1" smtClean="0">
                            <a:solidFill>
                              <a:srgbClr val="000000"/>
                            </a:solidFill>
                            <a:latin typeface="Cambria Math" panose="02040503050406030204" pitchFamily="18" charset="0"/>
                          </a:rPr>
                        </m:ctrlPr>
                      </m:fPr>
                      <m:num>
                        <m:r>
                          <a:rPr lang="en-US" sz="2800" i="1">
                            <a:solidFill>
                              <a:srgbClr val="000000"/>
                            </a:solidFill>
                            <a:latin typeface="Cambria Math" panose="02040503050406030204" pitchFamily="18" charset="0"/>
                          </a:rPr>
                          <m:t>2</m:t>
                        </m:r>
                      </m:num>
                      <m:den>
                        <m:r>
                          <a:rPr lang="en-US" sz="2800" b="0" i="1" smtClean="0">
                            <a:solidFill>
                              <a:srgbClr val="000000"/>
                            </a:solidFill>
                            <a:latin typeface="Cambria Math" panose="02040503050406030204" pitchFamily="18" charset="0"/>
                          </a:rPr>
                          <m:t>−</m:t>
                        </m:r>
                        <m:r>
                          <a:rPr lang="en-US" sz="2800" i="1">
                            <a:solidFill>
                              <a:srgbClr val="000000"/>
                            </a:solidFill>
                            <a:latin typeface="Cambria Math" panose="02040503050406030204" pitchFamily="18" charset="0"/>
                          </a:rPr>
                          <m:t>1</m:t>
                        </m:r>
                      </m:den>
                    </m:f>
                    <m:r>
                      <a:rPr lang="en-US" sz="2800" i="1">
                        <a:solidFill>
                          <a:srgbClr val="000000"/>
                        </a:solidFill>
                        <a:latin typeface="Cambria Math" panose="02040503050406030204" pitchFamily="18" charset="0"/>
                      </a:rPr>
                      <m:t> </m:t>
                    </m:r>
                  </m:oMath>
                </a14:m>
                <a:r>
                  <a:rPr lang="en-US" sz="2800" dirty="0">
                    <a:solidFill>
                      <a:srgbClr val="000000"/>
                    </a:solidFill>
                  </a:rPr>
                  <a:t> has a positive rise and a negative run. It is interpreted as up 2 units and to the left 1 unit.</a:t>
                </a:r>
              </a:p>
            </p:txBody>
          </p:sp>
        </mc:Choice>
        <mc:Fallback xmlns="">
          <p:sp>
            <p:nvSpPr>
              <p:cNvPr id="2" name="Text Placeholder 2">
                <a:extLst>
                  <a:ext uri="{FF2B5EF4-FFF2-40B4-BE49-F238E27FC236}">
                    <a16:creationId xmlns:a16="http://schemas.microsoft.com/office/drawing/2014/main" id="{754ABCE6-BEE6-01A3-4ECF-F5DF25A59CEB}"/>
                  </a:ext>
                </a:extLst>
              </p:cNvPr>
              <p:cNvSpPr txBox="1">
                <a:spLocks noRot="1" noChangeAspect="1" noMove="1" noResize="1" noEditPoints="1" noAdjustHandles="1" noChangeArrowheads="1" noChangeShapeType="1" noTextEdit="1"/>
              </p:cNvSpPr>
              <p:nvPr/>
            </p:nvSpPr>
            <p:spPr>
              <a:xfrm>
                <a:off x="777240" y="1387929"/>
                <a:ext cx="9367221" cy="5320491"/>
              </a:xfrm>
              <a:prstGeom prst="rect">
                <a:avLst/>
              </a:prstGeom>
              <a:blipFill>
                <a:blip r:embed="rId3"/>
                <a:stretch>
                  <a:fillRect l="-1367" t="-1147" r="-1888" b="-3899"/>
                </a:stretch>
              </a:blipFill>
            </p:spPr>
            <p:txBody>
              <a:bodyPr/>
              <a:lstStyle/>
              <a:p>
                <a:r>
                  <a:rPr lang="en-US">
                    <a:noFill/>
                  </a:rPr>
                  <a:t> </a:t>
                </a:r>
              </a:p>
            </p:txBody>
          </p:sp>
        </mc:Fallback>
      </mc:AlternateContent>
      <p:sp>
        <p:nvSpPr>
          <p:cNvPr id="3" name="TextBox 2">
            <a:extLst>
              <a:ext uri="{FF2B5EF4-FFF2-40B4-BE49-F238E27FC236}">
                <a16:creationId xmlns:a16="http://schemas.microsoft.com/office/drawing/2014/main" id="{3D8AB17C-AA3A-18ED-FD6E-3242BF5E4C76}"/>
              </a:ext>
            </a:extLst>
          </p:cNvPr>
          <p:cNvSpPr txBox="1"/>
          <p:nvPr/>
        </p:nvSpPr>
        <p:spPr>
          <a:xfrm>
            <a:off x="10144461" y="1571465"/>
            <a:ext cx="1710466" cy="2135121"/>
          </a:xfrm>
          <a:prstGeom prst="rect">
            <a:avLst/>
          </a:prstGeom>
          <a:noFill/>
          <a:ln w="31750">
            <a:solidFill>
              <a:srgbClr val="008F4C"/>
            </a:solidFill>
            <a:prstDash val="sysDot"/>
          </a:ln>
        </p:spPr>
        <p:txBody>
          <a:bodyPr wrap="square" lIns="182880" rtlCol="0" anchor="ctr" anchorCtr="0">
            <a:noAutofit/>
          </a:bodyPr>
          <a:lstStyle/>
          <a:p>
            <a:r>
              <a:rPr lang="en-US" sz="2000" dirty="0">
                <a:solidFill>
                  <a:srgbClr val="000000"/>
                </a:solidFill>
              </a:rPr>
              <a:t>A rule of thumb when graphing</a:t>
            </a:r>
            <a:br>
              <a:rPr lang="en-US" sz="2000" dirty="0">
                <a:solidFill>
                  <a:srgbClr val="000000"/>
                </a:solidFill>
              </a:rPr>
            </a:br>
            <a:r>
              <a:rPr lang="en-US" sz="2000" dirty="0">
                <a:solidFill>
                  <a:srgbClr val="000000"/>
                </a:solidFill>
              </a:rPr>
              <a:t>a line is to plot at least three points.</a:t>
            </a:r>
          </a:p>
        </p:txBody>
      </p:sp>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12</a:t>
            </a:fld>
          </a:p>
        </p:txBody>
      </p:sp>
    </p:spTree>
    <p:extLst>
      <p:ext uri="{BB962C8B-B14F-4D97-AF65-F5344CB8AC3E}">
        <p14:creationId xmlns:p14="http://schemas.microsoft.com/office/powerpoint/2010/main" val="75048628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7A0A57-E42B-46CA-5EFA-9E803FBC31C6}"/>
            </a:ext>
          </a:extLst>
        </p:cNvPr>
        <p:cNvGrpSpPr/>
        <p:nvPr/>
      </p:nvGrpSpPr>
      <p:grpSpPr>
        <a:xfrm>
          <a:off x="0" y="0"/>
          <a:ext cx="0" cy="0"/>
          <a:chOff x="0" y="0"/>
          <a:chExt cx="0" cy="0"/>
        </a:xfrm>
      </p:grpSpPr>
      <p:sp>
        <p:nvSpPr>
          <p:cNvPr id="3" name="Rectangle: Rounded Corners 2">
            <a:extLst>
              <a:ext uri="{FF2B5EF4-FFF2-40B4-BE49-F238E27FC236}">
                <a16:creationId xmlns:a16="http://schemas.microsoft.com/office/drawing/2014/main" id="{7D36F833-79E1-B3E1-BE69-055F7A58C8F1}"/>
              </a:ext>
              <a:ext uri="{C183D7F6-B498-43B3-948B-1728B52AA6E4}">
                <adec:decorative xmlns:adec="http://schemas.microsoft.com/office/drawing/2017/decorative" val="1"/>
              </a:ext>
            </a:extLst>
          </p:cNvPr>
          <p:cNvSpPr/>
          <p:nvPr/>
        </p:nvSpPr>
        <p:spPr>
          <a:xfrm>
            <a:off x="1182150" y="1969145"/>
            <a:ext cx="10105811" cy="4453219"/>
          </a:xfrm>
          <a:prstGeom prst="roundRect">
            <a:avLst/>
          </a:prstGeom>
          <a:solidFill>
            <a:schemeClr val="bg1"/>
          </a:solidFill>
          <a:ln w="50800" cmpd="dbl">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A9C9396B-BEEF-2233-D775-E7488E505F6B}"/>
              </a:ext>
            </a:extLst>
          </p:cNvPr>
          <p:cNvSpPr>
            <a:spLocks noGrp="1"/>
          </p:cNvSpPr>
          <p:nvPr>
            <p:ph type="title"/>
          </p:nvPr>
        </p:nvSpPr>
        <p:spPr/>
        <p:txBody>
          <a:bodyPr/>
          <a:lstStyle/>
          <a:p>
            <a:pPr algn="l"/>
            <a:r>
              <a:rPr lang="en-US" b="1" dirty="0"/>
              <a:t>Using Slope-Intercept Form to Graph a Line </a:t>
            </a:r>
            <a:r>
              <a:rPr lang="en-US" b="1" dirty="0">
                <a:solidFill>
                  <a:schemeClr val="bg1"/>
                </a:solidFill>
              </a:rPr>
              <a:t>(3 of 10)</a:t>
            </a:r>
          </a:p>
        </p:txBody>
      </p:sp>
      <p:pic>
        <p:nvPicPr>
          <p:cNvPr id="7" name="Picture 6" descr="Worked Example">
            <a:extLst>
              <a:ext uri="{FF2B5EF4-FFF2-40B4-BE49-F238E27FC236}">
                <a16:creationId xmlns:a16="http://schemas.microsoft.com/office/drawing/2014/main" id="{E4DBB93D-1A16-6C73-CF65-E4A1BAD2AD14}"/>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899188" y="1755766"/>
            <a:ext cx="2758679" cy="426757"/>
          </a:xfrm>
          <a:prstGeom prst="rect">
            <a:avLst/>
          </a:prstGeom>
        </p:spPr>
      </p:pic>
      <mc:AlternateContent xmlns:mc="http://schemas.openxmlformats.org/markup-compatibility/2006" xmlns:a14="http://schemas.microsoft.com/office/drawing/2010/main">
        <mc:Choice Requires="a14">
          <p:sp>
            <p:nvSpPr>
              <p:cNvPr id="5" name="Text Placeholder 2">
                <a:extLst>
                  <a:ext uri="{FF2B5EF4-FFF2-40B4-BE49-F238E27FC236}">
                    <a16:creationId xmlns:a16="http://schemas.microsoft.com/office/drawing/2014/main" id="{AA67F1F5-DF32-783C-70A8-F1FFDF3A5605}"/>
                  </a:ext>
                </a:extLst>
              </p:cNvPr>
              <p:cNvSpPr txBox="1">
                <a:spLocks/>
              </p:cNvSpPr>
              <p:nvPr/>
            </p:nvSpPr>
            <p:spPr>
              <a:xfrm>
                <a:off x="1780833" y="2253345"/>
                <a:ext cx="6497752" cy="3812722"/>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buNone/>
                </a:pPr>
                <a:r>
                  <a:rPr lang="en-US" sz="2400" dirty="0">
                    <a:solidFill>
                      <a:srgbClr val="000000"/>
                    </a:solidFill>
                  </a:rPr>
                  <a:t>Graph </a:t>
                </a:r>
                <a14:m>
                  <m:oMath xmlns:m="http://schemas.openxmlformats.org/officeDocument/2006/math">
                    <m:r>
                      <a:rPr lang="en-US" sz="2400" b="0" i="1" smtClean="0">
                        <a:solidFill>
                          <a:srgbClr val="000000"/>
                        </a:solidFill>
                        <a:latin typeface="Cambria Math" panose="02040503050406030204" pitchFamily="18" charset="0"/>
                      </a:rPr>
                      <m:t>𝑦</m:t>
                    </m:r>
                    <m:r>
                      <a:rPr lang="en-US" sz="2400" b="0" i="1" smtClean="0">
                        <a:solidFill>
                          <a:srgbClr val="000000"/>
                        </a:solidFill>
                        <a:latin typeface="Cambria Math" panose="02040503050406030204" pitchFamily="18" charset="0"/>
                      </a:rPr>
                      <m:t>=−2</m:t>
                    </m:r>
                    <m:r>
                      <a:rPr lang="en-US" sz="2400" b="0" i="1" smtClean="0">
                        <a:solidFill>
                          <a:srgbClr val="000000"/>
                        </a:solidFill>
                        <a:latin typeface="Cambria Math" panose="02040503050406030204" pitchFamily="18" charset="0"/>
                      </a:rPr>
                      <m:t>𝑥</m:t>
                    </m:r>
                    <m:r>
                      <a:rPr lang="en-US" sz="2400" b="0" i="1" smtClean="0">
                        <a:solidFill>
                          <a:srgbClr val="000000"/>
                        </a:solidFill>
                        <a:latin typeface="Cambria Math" panose="02040503050406030204" pitchFamily="18" charset="0"/>
                      </a:rPr>
                      <m:t>+10</m:t>
                    </m:r>
                  </m:oMath>
                </a14:m>
                <a:r>
                  <a:rPr lang="en-US" sz="2400" dirty="0">
                    <a:solidFill>
                      <a:srgbClr val="000000"/>
                    </a:solidFill>
                  </a:rPr>
                  <a:t>. </a:t>
                </a:r>
              </a:p>
              <a:p>
                <a:pPr marL="0" indent="0">
                  <a:buNone/>
                </a:pPr>
                <a:r>
                  <a:rPr lang="en-US" sz="2400" dirty="0">
                    <a:solidFill>
                      <a:srgbClr val="000000"/>
                    </a:solidFill>
                  </a:rPr>
                  <a:t>Begin by plotting the </a:t>
                </a:r>
                <a:r>
                  <a:rPr lang="en-US" sz="2400" i="1" dirty="0">
                    <a:solidFill>
                      <a:srgbClr val="000000"/>
                    </a:solidFill>
                  </a:rPr>
                  <a:t>y</a:t>
                </a:r>
                <a:r>
                  <a:rPr lang="en-US" sz="2400" dirty="0">
                    <a:solidFill>
                      <a:srgbClr val="000000"/>
                    </a:solidFill>
                  </a:rPr>
                  <a:t>-intercept, (0, 10). </a:t>
                </a:r>
              </a:p>
              <a:p>
                <a:pPr marL="0" indent="0">
                  <a:buNone/>
                </a:pPr>
                <a:r>
                  <a:rPr lang="en-US" sz="2400" dirty="0">
                    <a:solidFill>
                      <a:srgbClr val="000000"/>
                    </a:solidFill>
                  </a:rPr>
                  <a:t>Use the slope and count from the </a:t>
                </a:r>
                <a:r>
                  <a:rPr lang="en-US" sz="2400" i="1" dirty="0">
                    <a:solidFill>
                      <a:srgbClr val="000000"/>
                    </a:solidFill>
                  </a:rPr>
                  <a:t>y</a:t>
                </a:r>
                <a:r>
                  <a:rPr lang="en-US" sz="2400" dirty="0">
                    <a:solidFill>
                      <a:srgbClr val="000000"/>
                    </a:solidFill>
                  </a:rPr>
                  <a:t>-intercept to graph two more points on the line.</a:t>
                </a:r>
              </a:p>
              <a:p>
                <a:r>
                  <a:rPr lang="en-US" sz="2400" dirty="0">
                    <a:solidFill>
                      <a:srgbClr val="000000"/>
                    </a:solidFill>
                  </a:rPr>
                  <a:t>For </a:t>
                </a:r>
                <a14:m>
                  <m:oMath xmlns:m="http://schemas.openxmlformats.org/officeDocument/2006/math">
                    <m:r>
                      <a:rPr lang="en-US" sz="2400" b="0" i="1" smtClean="0">
                        <a:solidFill>
                          <a:srgbClr val="000000"/>
                        </a:solidFill>
                        <a:latin typeface="Cambria Math" panose="02040503050406030204" pitchFamily="18" charset="0"/>
                      </a:rPr>
                      <m:t>𝑚</m:t>
                    </m:r>
                    <m:r>
                      <a:rPr lang="en-US" sz="2400" b="0" i="1" smtClean="0">
                        <a:solidFill>
                          <a:srgbClr val="000000"/>
                        </a:solidFill>
                        <a:latin typeface="Cambria Math" panose="02040503050406030204" pitchFamily="18" charset="0"/>
                      </a:rPr>
                      <m:t>=</m:t>
                    </m:r>
                    <m:f>
                      <m:fPr>
                        <m:ctrlPr>
                          <a:rPr lang="en-US" sz="2400" b="0" i="1" smtClean="0">
                            <a:solidFill>
                              <a:srgbClr val="000000"/>
                            </a:solidFill>
                            <a:latin typeface="Cambria Math" panose="02040503050406030204" pitchFamily="18" charset="0"/>
                          </a:rPr>
                        </m:ctrlPr>
                      </m:fPr>
                      <m:num>
                        <m:r>
                          <a:rPr lang="en-US" sz="2400" b="0" i="1" smtClean="0">
                            <a:solidFill>
                              <a:srgbClr val="000000"/>
                            </a:solidFill>
                            <a:latin typeface="Cambria Math" panose="02040503050406030204" pitchFamily="18" charset="0"/>
                          </a:rPr>
                          <m:t>−2</m:t>
                        </m:r>
                      </m:num>
                      <m:den>
                        <m:r>
                          <a:rPr lang="en-US" sz="2400" b="0" i="1" smtClean="0">
                            <a:solidFill>
                              <a:srgbClr val="000000"/>
                            </a:solidFill>
                            <a:latin typeface="Cambria Math" panose="02040503050406030204" pitchFamily="18" charset="0"/>
                          </a:rPr>
                          <m:t>1</m:t>
                        </m:r>
                      </m:den>
                    </m:f>
                  </m:oMath>
                </a14:m>
                <a:r>
                  <a:rPr lang="en-US" sz="2400" dirty="0">
                    <a:solidFill>
                      <a:srgbClr val="000000"/>
                    </a:solidFill>
                  </a:rPr>
                  <a:t>, go down 2 units and to the right</a:t>
                </a:r>
                <a:br>
                  <a:rPr lang="en-US" sz="2400" dirty="0">
                    <a:solidFill>
                      <a:srgbClr val="000000"/>
                    </a:solidFill>
                  </a:rPr>
                </a:br>
                <a:r>
                  <a:rPr lang="en-US" sz="2400" dirty="0">
                    <a:solidFill>
                      <a:srgbClr val="000000"/>
                    </a:solidFill>
                  </a:rPr>
                  <a:t>1 unit.</a:t>
                </a:r>
              </a:p>
              <a:p>
                <a:r>
                  <a:rPr lang="en-US" sz="2400" dirty="0">
                    <a:solidFill>
                      <a:srgbClr val="000000"/>
                    </a:solidFill>
                  </a:rPr>
                  <a:t>For </a:t>
                </a:r>
                <a14:m>
                  <m:oMath xmlns:m="http://schemas.openxmlformats.org/officeDocument/2006/math">
                    <m:r>
                      <a:rPr lang="en-US" sz="2400" b="0" i="1" smtClean="0">
                        <a:solidFill>
                          <a:srgbClr val="000000"/>
                        </a:solidFill>
                        <a:latin typeface="Cambria Math" panose="02040503050406030204" pitchFamily="18" charset="0"/>
                      </a:rPr>
                      <m:t>𝑚</m:t>
                    </m:r>
                    <m:r>
                      <a:rPr lang="en-US" sz="2400" b="0" i="1" smtClean="0">
                        <a:solidFill>
                          <a:srgbClr val="000000"/>
                        </a:solidFill>
                        <a:latin typeface="Cambria Math" panose="02040503050406030204" pitchFamily="18" charset="0"/>
                      </a:rPr>
                      <m:t>=</m:t>
                    </m:r>
                    <m:f>
                      <m:fPr>
                        <m:ctrlPr>
                          <a:rPr lang="en-US" sz="2400" b="0" i="1" smtClean="0">
                            <a:solidFill>
                              <a:srgbClr val="000000"/>
                            </a:solidFill>
                            <a:latin typeface="Cambria Math" panose="02040503050406030204" pitchFamily="18" charset="0"/>
                          </a:rPr>
                        </m:ctrlPr>
                      </m:fPr>
                      <m:num>
                        <m:r>
                          <a:rPr lang="en-US" sz="2400" b="0" i="1" smtClean="0">
                            <a:solidFill>
                              <a:srgbClr val="000000"/>
                            </a:solidFill>
                            <a:latin typeface="Cambria Math" panose="02040503050406030204" pitchFamily="18" charset="0"/>
                          </a:rPr>
                          <m:t>2</m:t>
                        </m:r>
                      </m:num>
                      <m:den>
                        <m:r>
                          <a:rPr lang="en-US" sz="2400" b="0" i="1" smtClean="0">
                            <a:solidFill>
                              <a:srgbClr val="000000"/>
                            </a:solidFill>
                            <a:latin typeface="Cambria Math" panose="02040503050406030204" pitchFamily="18" charset="0"/>
                          </a:rPr>
                          <m:t>−1</m:t>
                        </m:r>
                      </m:den>
                    </m:f>
                  </m:oMath>
                </a14:m>
                <a:r>
                  <a:rPr lang="en-US" sz="2400" dirty="0">
                    <a:solidFill>
                      <a:srgbClr val="000000"/>
                    </a:solidFill>
                  </a:rPr>
                  <a:t>, go up 2 units and to the left 1 unit.</a:t>
                </a:r>
              </a:p>
              <a:p>
                <a:pPr marL="0" indent="0">
                  <a:buNone/>
                </a:pPr>
                <a:r>
                  <a:rPr lang="en-US" sz="2400" dirty="0">
                    <a:solidFill>
                      <a:srgbClr val="000000"/>
                    </a:solidFill>
                  </a:rPr>
                  <a:t>Connect the points to form a straight line.</a:t>
                </a:r>
              </a:p>
            </p:txBody>
          </p:sp>
        </mc:Choice>
        <mc:Fallback xmlns="">
          <p:sp>
            <p:nvSpPr>
              <p:cNvPr id="5" name="Text Placeholder 2">
                <a:extLst>
                  <a:ext uri="{FF2B5EF4-FFF2-40B4-BE49-F238E27FC236}">
                    <a16:creationId xmlns:a16="http://schemas.microsoft.com/office/drawing/2014/main" id="{AA67F1F5-DF32-783C-70A8-F1FFDF3A5605}"/>
                  </a:ext>
                </a:extLst>
              </p:cNvPr>
              <p:cNvSpPr txBox="1">
                <a:spLocks noRot="1" noChangeAspect="1" noMove="1" noResize="1" noEditPoints="1" noAdjustHandles="1" noChangeArrowheads="1" noChangeShapeType="1" noTextEdit="1"/>
              </p:cNvSpPr>
              <p:nvPr/>
            </p:nvSpPr>
            <p:spPr>
              <a:xfrm>
                <a:off x="1780833" y="2253345"/>
                <a:ext cx="6497752" cy="3812722"/>
              </a:xfrm>
              <a:prstGeom prst="rect">
                <a:avLst/>
              </a:prstGeom>
              <a:blipFill>
                <a:blip r:embed="rId4"/>
                <a:stretch>
                  <a:fillRect l="-1407" t="-1280" b="-2560"/>
                </a:stretch>
              </a:blipFill>
            </p:spPr>
            <p:txBody>
              <a:bodyPr/>
              <a:lstStyle/>
              <a:p>
                <a:r>
                  <a:rPr lang="en-US">
                    <a:noFill/>
                  </a:rPr>
                  <a:t> </a:t>
                </a:r>
              </a:p>
            </p:txBody>
          </p:sp>
        </mc:Fallback>
      </mc:AlternateContent>
      <p:pic>
        <p:nvPicPr>
          <p:cNvPr id="18" name="Picture 17" descr="A graph of a line on the coordinate plane. The x axis represents number of people who request tickets, and the y axis represents number of tickets remaining. The line falls from left to right through the points (negative 1, 12) and (0, 10) and (1, 8). Between two consecutive points, the vertical distance is 2 and the horizontal distance is 1.">
            <a:extLst>
              <a:ext uri="{FF2B5EF4-FFF2-40B4-BE49-F238E27FC236}">
                <a16:creationId xmlns:a16="http://schemas.microsoft.com/office/drawing/2014/main" id="{15B03A7E-6FEE-53CC-F32B-2330758B9831}"/>
              </a:ext>
            </a:extLst>
          </p:cNvPr>
          <p:cNvPicPr>
            <a:picLocks noChangeAspect="1"/>
          </p:cNvPicPr>
          <p:nvPr/>
        </p:nvPicPr>
        <p:blipFill>
          <a:blip r:embed="rId5">
            <a:extLst>
              <a:ext uri="{28A0092B-C50C-407E-A947-70E740481C1C}">
                <a14:useLocalDpi xmlns:a14="http://schemas.microsoft.com/office/drawing/2010/main"/>
              </a:ext>
            </a:extLst>
          </a:blip>
          <a:stretch>
            <a:fillRect/>
          </a:stretch>
        </p:blipFill>
        <p:spPr>
          <a:xfrm>
            <a:off x="8262257" y="2601366"/>
            <a:ext cx="2551020" cy="3188775"/>
          </a:xfrm>
          <a:prstGeom prst="rect">
            <a:avLst/>
          </a:prstGeom>
        </p:spPr>
      </p:pic>
      <p:sp>
        <p:nvSpPr>
          <p:cNvPr id="1018" name="Slide Number 1018"/>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13</a:t>
            </a:fld>
          </a:p>
        </p:txBody>
      </p:sp>
    </p:spTree>
    <p:extLst>
      <p:ext uri="{BB962C8B-B14F-4D97-AF65-F5344CB8AC3E}">
        <p14:creationId xmlns:p14="http://schemas.microsoft.com/office/powerpoint/2010/main" val="88548992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64380F-A220-D203-716D-18F844F3D641}"/>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1EEABC25-9969-3E66-373E-DF1E6751943A}"/>
              </a:ext>
            </a:extLst>
          </p:cNvPr>
          <p:cNvSpPr>
            <a:spLocks noGrp="1"/>
          </p:cNvSpPr>
          <p:nvPr>
            <p:ph type="title"/>
          </p:nvPr>
        </p:nvSpPr>
        <p:spPr/>
        <p:txBody>
          <a:bodyPr/>
          <a:lstStyle/>
          <a:p>
            <a:pPr algn="l"/>
            <a:r>
              <a:rPr lang="en-US" b="1" dirty="0"/>
              <a:t>Using Slope-Intercept Form to Graph a Line </a:t>
            </a:r>
            <a:r>
              <a:rPr lang="en-US" b="1" dirty="0">
                <a:solidFill>
                  <a:schemeClr val="bg1"/>
                </a:solidFill>
              </a:rPr>
              <a:t>(4 of 10)</a:t>
            </a:r>
          </a:p>
        </p:txBody>
      </p:sp>
      <mc:AlternateContent xmlns:mc="http://schemas.openxmlformats.org/markup-compatibility/2006" xmlns:a14="http://schemas.microsoft.com/office/drawing/2010/main">
        <mc:Choice Requires="a14">
          <p:sp>
            <p:nvSpPr>
              <p:cNvPr id="5" name="Text Placeholder 2">
                <a:extLst>
                  <a:ext uri="{FF2B5EF4-FFF2-40B4-BE49-F238E27FC236}">
                    <a16:creationId xmlns:a16="http://schemas.microsoft.com/office/drawing/2014/main" id="{77A8627F-5657-5662-D443-BB733F5992F7}"/>
                  </a:ext>
                </a:extLst>
              </p:cNvPr>
              <p:cNvSpPr txBox="1">
                <a:spLocks/>
              </p:cNvSpPr>
              <p:nvPr/>
            </p:nvSpPr>
            <p:spPr>
              <a:xfrm>
                <a:off x="3339192" y="1489105"/>
                <a:ext cx="5852871" cy="148910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spcAft>
                    <a:spcPts val="1200"/>
                  </a:spcAft>
                  <a:buNone/>
                </a:pPr>
                <a:r>
                  <a:rPr lang="en-US" sz="2800" dirty="0">
                    <a:solidFill>
                      <a:srgbClr val="000000"/>
                    </a:solidFill>
                  </a:rPr>
                  <a:t>Use the equations to graph each line.</a:t>
                </a:r>
              </a:p>
              <a:p>
                <a:pPr marL="514350" indent="-514350">
                  <a:buFont typeface="+mj-lt"/>
                  <a:buAutoNum type="arabicPeriod"/>
                </a:pPr>
                <a:r>
                  <a:rPr lang="en-US" sz="2800" b="0" dirty="0">
                    <a:solidFill>
                      <a:srgbClr val="000000"/>
                    </a:solidFill>
                  </a:rPr>
                  <a:t> </a:t>
                </a:r>
                <a14:m>
                  <m:oMath xmlns:m="http://schemas.openxmlformats.org/officeDocument/2006/math">
                    <m:r>
                      <a:rPr lang="en-US" sz="2800" b="0" i="1" smtClean="0">
                        <a:solidFill>
                          <a:srgbClr val="000000"/>
                        </a:solidFill>
                        <a:latin typeface="Cambria Math" panose="02040503050406030204" pitchFamily="18" charset="0"/>
                      </a:rPr>
                      <m:t>𝑦</m:t>
                    </m:r>
                    <m:r>
                      <a:rPr lang="en-US" sz="2800" b="0" i="1" smtClean="0">
                        <a:solidFill>
                          <a:srgbClr val="000000"/>
                        </a:solidFill>
                        <a:latin typeface="Cambria Math" panose="02040503050406030204" pitchFamily="18" charset="0"/>
                      </a:rPr>
                      <m:t>=</m:t>
                    </m:r>
                    <m:f>
                      <m:fPr>
                        <m:ctrlPr>
                          <a:rPr lang="en-US" sz="2800" b="0" i="1" smtClean="0">
                            <a:solidFill>
                              <a:srgbClr val="000000"/>
                            </a:solidFill>
                            <a:latin typeface="Cambria Math" panose="02040503050406030204" pitchFamily="18" charset="0"/>
                          </a:rPr>
                        </m:ctrlPr>
                      </m:fPr>
                      <m:num>
                        <m:r>
                          <a:rPr lang="en-US" sz="2800" b="0" i="1" smtClean="0">
                            <a:solidFill>
                              <a:srgbClr val="000000"/>
                            </a:solidFill>
                            <a:latin typeface="Cambria Math" panose="02040503050406030204" pitchFamily="18" charset="0"/>
                          </a:rPr>
                          <m:t>3</m:t>
                        </m:r>
                      </m:num>
                      <m:den>
                        <m:r>
                          <a:rPr lang="en-US" sz="2800" b="0" i="1" smtClean="0">
                            <a:solidFill>
                              <a:srgbClr val="000000"/>
                            </a:solidFill>
                            <a:latin typeface="Cambria Math" panose="02040503050406030204" pitchFamily="18" charset="0"/>
                          </a:rPr>
                          <m:t>2</m:t>
                        </m:r>
                      </m:den>
                    </m:f>
                    <m:r>
                      <a:rPr lang="en-US" sz="2800" b="0" i="1" smtClean="0">
                        <a:solidFill>
                          <a:srgbClr val="000000"/>
                        </a:solidFill>
                        <a:latin typeface="Cambria Math" panose="02040503050406030204" pitchFamily="18" charset="0"/>
                      </a:rPr>
                      <m:t>𝑥</m:t>
                    </m:r>
                    <m:r>
                      <a:rPr lang="en-US" sz="2800" b="0" i="1" smtClean="0">
                        <a:solidFill>
                          <a:srgbClr val="000000"/>
                        </a:solidFill>
                        <a:latin typeface="Cambria Math" panose="02040503050406030204" pitchFamily="18" charset="0"/>
                      </a:rPr>
                      <m:t>−1</m:t>
                    </m:r>
                  </m:oMath>
                </a14:m>
                <a:endParaRPr lang="en-US" sz="2800" dirty="0">
                  <a:solidFill>
                    <a:srgbClr val="000000"/>
                  </a:solidFill>
                </a:endParaRPr>
              </a:p>
            </p:txBody>
          </p:sp>
        </mc:Choice>
        <mc:Fallback xmlns="">
          <p:sp>
            <p:nvSpPr>
              <p:cNvPr id="5" name="Text Placeholder 2">
                <a:extLst>
                  <a:ext uri="{FF2B5EF4-FFF2-40B4-BE49-F238E27FC236}">
                    <a16:creationId xmlns:a16="http://schemas.microsoft.com/office/drawing/2014/main" id="{77A8627F-5657-5662-D443-BB733F5992F7}"/>
                  </a:ext>
                </a:extLst>
              </p:cNvPr>
              <p:cNvSpPr txBox="1">
                <a:spLocks noRot="1" noChangeAspect="1" noMove="1" noResize="1" noEditPoints="1" noAdjustHandles="1" noChangeArrowheads="1" noChangeShapeType="1" noTextEdit="1"/>
              </p:cNvSpPr>
              <p:nvPr/>
            </p:nvSpPr>
            <p:spPr>
              <a:xfrm>
                <a:off x="3339192" y="1489105"/>
                <a:ext cx="5852871" cy="1489104"/>
              </a:xfrm>
              <a:prstGeom prst="rect">
                <a:avLst/>
              </a:prstGeom>
              <a:blipFill>
                <a:blip r:embed="rId3"/>
                <a:stretch>
                  <a:fillRect l="-2188" t="-3673"/>
                </a:stretch>
              </a:blipFill>
            </p:spPr>
            <p:txBody>
              <a:bodyPr/>
              <a:lstStyle/>
              <a:p>
                <a:r>
                  <a:rPr lang="en-US">
                    <a:noFill/>
                  </a:rPr>
                  <a:t> </a:t>
                </a:r>
              </a:p>
            </p:txBody>
          </p:sp>
        </mc:Fallback>
      </mc:AlternateContent>
      <p:sp>
        <p:nvSpPr>
          <p:cNvPr id="3" name="TextBox 2">
            <a:extLst>
              <a:ext uri="{FF2B5EF4-FFF2-40B4-BE49-F238E27FC236}">
                <a16:creationId xmlns:a16="http://schemas.microsoft.com/office/drawing/2014/main" id="{6ECCA42A-0B50-968F-79A7-A77BBF87EA16}"/>
              </a:ext>
            </a:extLst>
          </p:cNvPr>
          <p:cNvSpPr txBox="1"/>
          <p:nvPr/>
        </p:nvSpPr>
        <p:spPr>
          <a:xfrm>
            <a:off x="777240" y="3924009"/>
            <a:ext cx="2135738" cy="1771650"/>
          </a:xfrm>
          <a:prstGeom prst="rect">
            <a:avLst/>
          </a:prstGeom>
          <a:noFill/>
          <a:ln w="31750">
            <a:solidFill>
              <a:srgbClr val="008F4C"/>
            </a:solidFill>
            <a:prstDash val="sysDot"/>
          </a:ln>
        </p:spPr>
        <p:txBody>
          <a:bodyPr wrap="square" lIns="182880" rtlCol="0" anchor="ctr" anchorCtr="0">
            <a:noAutofit/>
          </a:bodyPr>
          <a:lstStyle/>
          <a:p>
            <a:r>
              <a:rPr lang="en-US" sz="2000" dirty="0">
                <a:solidFill>
                  <a:srgbClr val="000000"/>
                </a:solidFill>
              </a:rPr>
              <a:t>Think about the direction of the  line before you  start graphing.</a:t>
            </a:r>
          </a:p>
        </p:txBody>
      </p:sp>
      <p:pic>
        <p:nvPicPr>
          <p:cNvPr id="7" name="Picture 6" descr="A coordinate plane.">
            <a:extLst>
              <a:ext uri="{FF2B5EF4-FFF2-40B4-BE49-F238E27FC236}">
                <a16:creationId xmlns:a16="http://schemas.microsoft.com/office/drawing/2014/main" id="{30B30CBC-B295-8E46-4413-9FA22AF8CD25}"/>
              </a:ext>
            </a:extLst>
          </p:cNvPr>
          <p:cNvPicPr>
            <a:picLocks noChangeAspect="1"/>
          </p:cNvPicPr>
          <p:nvPr/>
        </p:nvPicPr>
        <p:blipFill>
          <a:blip r:embed="rId4">
            <a:extLst>
              <a:ext uri="{28A0092B-C50C-407E-A947-70E740481C1C}">
                <a14:useLocalDpi xmlns:a14="http://schemas.microsoft.com/office/drawing/2010/main"/>
              </a:ext>
            </a:extLst>
          </a:blip>
          <a:stretch>
            <a:fillRect/>
          </a:stretch>
        </p:blipFill>
        <p:spPr>
          <a:xfrm>
            <a:off x="4118978" y="2978209"/>
            <a:ext cx="3952456" cy="3663251"/>
          </a:xfrm>
          <a:prstGeom prst="rect">
            <a:avLst/>
          </a:prstGeom>
        </p:spPr>
      </p:pic>
      <p:sp>
        <p:nvSpPr>
          <p:cNvPr id="1007" name="Slide Number 1007"/>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14</a:t>
            </a:fld>
          </a:p>
        </p:txBody>
      </p:sp>
      <p:sp>
        <p:nvSpPr>
          <p:cNvPr id="1008" name="Answer 1008"/>
          <p:cNvSpPr txBox="1"/>
          <p:nvPr/>
        </p:nvSpPr>
        <p:spPr>
          <a:xfrm>
            <a:off x="8255000" y="3302000"/>
            <a:ext cx="3683000" cy="2667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Plot the y-intercept (0, −1).</a:t>
            </a:r>
          </a:p>
          <a:p>
            <a:pPr marL="0" indent="0" algn="l">
              <a:spcBef>
                <a:spcPts val="0"/>
              </a:spcBef>
              <a:spcAft>
                <a:spcPts val="300"/>
              </a:spcAft>
              <a:buNone/>
            </a:pPr>
            <a:r>
              <a:rPr lang="en-US" sz="2000" dirty="0">
                <a:solidFill>
                  <a:srgbClr val="FF0000"/>
                </a:solidFill>
              </a:rPr>
              <a:t>Slope 3/2: up 3, right 2 → (2, 2), (4, 5).</a:t>
            </a:r>
          </a:p>
          <a:p>
            <a:pPr marL="0" indent="0" algn="l">
              <a:spcBef>
                <a:spcPts val="0"/>
              </a:spcBef>
              <a:spcAft>
                <a:spcPts val="300"/>
              </a:spcAft>
              <a:buNone/>
            </a:pPr>
            <a:r>
              <a:rPr lang="en-US" sz="2000" dirty="0">
                <a:solidFill>
                  <a:srgbClr val="FF0000"/>
                </a:solidFill>
              </a:rPr>
              <a:t>Down 3, left 2 → (−2, −4).</a:t>
            </a:r>
          </a:p>
          <a:p>
            <a:pPr marL="0" indent="0" algn="l">
              <a:spcBef>
                <a:spcPts val="0"/>
              </a:spcBef>
              <a:spcAft>
                <a:spcPts val="300"/>
              </a:spcAft>
              <a:buNone/>
            </a:pPr>
            <a:r>
              <a:rPr lang="en-US" sz="2000" dirty="0">
                <a:solidFill>
                  <a:srgbClr val="FF0000"/>
                </a:solidFill>
              </a:rPr>
              <a:t>Draw the line through the points.</a:t>
            </a:r>
          </a:p>
        </p:txBody>
      </p:sp>
    </p:spTree>
    <p:extLst>
      <p:ext uri="{BB962C8B-B14F-4D97-AF65-F5344CB8AC3E}">
        <p14:creationId xmlns:p14="http://schemas.microsoft.com/office/powerpoint/2010/main" val="2670571418"/>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0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224031-8A82-E0BF-D45A-B6BE248B81F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9E7C0A2-2B72-5151-AD40-00146768E342}"/>
              </a:ext>
            </a:extLst>
          </p:cNvPr>
          <p:cNvSpPr>
            <a:spLocks noGrp="1"/>
          </p:cNvSpPr>
          <p:nvPr>
            <p:ph type="title"/>
          </p:nvPr>
        </p:nvSpPr>
        <p:spPr/>
        <p:txBody>
          <a:bodyPr/>
          <a:lstStyle/>
          <a:p>
            <a:pPr algn="l"/>
            <a:r>
              <a:rPr lang="en-US" b="1" dirty="0"/>
              <a:t>Using Slope-Intercept Form to Graph a Line </a:t>
            </a:r>
            <a:r>
              <a:rPr lang="en-US" b="1" dirty="0">
                <a:solidFill>
                  <a:schemeClr val="bg1"/>
                </a:solidFill>
              </a:rPr>
              <a:t>(5 of 10)</a:t>
            </a:r>
          </a:p>
        </p:txBody>
      </p:sp>
      <mc:AlternateContent xmlns:mc="http://schemas.openxmlformats.org/markup-compatibility/2006" xmlns:a14="http://schemas.microsoft.com/office/drawing/2010/main">
        <mc:Choice Requires="a14">
          <p:sp>
            <p:nvSpPr>
              <p:cNvPr id="5" name="Text Placeholder 2">
                <a:extLst>
                  <a:ext uri="{FF2B5EF4-FFF2-40B4-BE49-F238E27FC236}">
                    <a16:creationId xmlns:a16="http://schemas.microsoft.com/office/drawing/2014/main" id="{09D02AB1-B4C8-39C8-D5AD-1D5793C0A904}"/>
                  </a:ext>
                </a:extLst>
              </p:cNvPr>
              <p:cNvSpPr txBox="1">
                <a:spLocks/>
              </p:cNvSpPr>
              <p:nvPr/>
            </p:nvSpPr>
            <p:spPr>
              <a:xfrm>
                <a:off x="777241" y="1608364"/>
                <a:ext cx="5361342" cy="918021"/>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buFont typeface="+mj-lt"/>
                  <a:buAutoNum type="arabicPeriod" startAt="2"/>
                </a:pPr>
                <a:r>
                  <a:rPr lang="en-US" sz="2800" b="0" dirty="0">
                    <a:solidFill>
                      <a:srgbClr val="000000"/>
                    </a:solidFill>
                  </a:rPr>
                  <a:t> </a:t>
                </a:r>
                <a14:m>
                  <m:oMath xmlns:m="http://schemas.openxmlformats.org/officeDocument/2006/math">
                    <m:r>
                      <a:rPr lang="en-US" sz="2800" b="0" i="1" smtClean="0">
                        <a:solidFill>
                          <a:srgbClr val="000000"/>
                        </a:solidFill>
                        <a:latin typeface="Cambria Math" panose="02040503050406030204" pitchFamily="18" charset="0"/>
                      </a:rPr>
                      <m:t> </m:t>
                    </m:r>
                    <m:r>
                      <a:rPr lang="en-US" sz="2800" b="0" i="1" smtClean="0">
                        <a:solidFill>
                          <a:srgbClr val="000000"/>
                        </a:solidFill>
                        <a:latin typeface="Cambria Math" panose="02040503050406030204" pitchFamily="18" charset="0"/>
                      </a:rPr>
                      <m:t>𝑦</m:t>
                    </m:r>
                    <m:r>
                      <a:rPr lang="en-US" sz="2800" b="0" i="1" smtClean="0">
                        <a:solidFill>
                          <a:srgbClr val="000000"/>
                        </a:solidFill>
                        <a:latin typeface="Cambria Math" panose="02040503050406030204" pitchFamily="18" charset="0"/>
                      </a:rPr>
                      <m:t>=−</m:t>
                    </m:r>
                    <m:f>
                      <m:fPr>
                        <m:ctrlPr>
                          <a:rPr lang="en-US" sz="2800" b="0" i="1" smtClean="0">
                            <a:solidFill>
                              <a:srgbClr val="000000"/>
                            </a:solidFill>
                            <a:latin typeface="Cambria Math" panose="02040503050406030204" pitchFamily="18" charset="0"/>
                          </a:rPr>
                        </m:ctrlPr>
                      </m:fPr>
                      <m:num>
                        <m:r>
                          <a:rPr lang="en-US" sz="2800" b="0" i="1" smtClean="0">
                            <a:solidFill>
                              <a:srgbClr val="000000"/>
                            </a:solidFill>
                            <a:latin typeface="Cambria Math" panose="02040503050406030204" pitchFamily="18" charset="0"/>
                          </a:rPr>
                          <m:t>5</m:t>
                        </m:r>
                      </m:num>
                      <m:den>
                        <m:r>
                          <a:rPr lang="en-US" sz="2800" b="0" i="1" smtClean="0">
                            <a:solidFill>
                              <a:srgbClr val="000000"/>
                            </a:solidFill>
                            <a:latin typeface="Cambria Math" panose="02040503050406030204" pitchFamily="18" charset="0"/>
                          </a:rPr>
                          <m:t>2</m:t>
                        </m:r>
                      </m:den>
                    </m:f>
                    <m:r>
                      <a:rPr lang="en-US" sz="2800" b="0" i="1" smtClean="0">
                        <a:solidFill>
                          <a:srgbClr val="000000"/>
                        </a:solidFill>
                        <a:latin typeface="Cambria Math" panose="02040503050406030204" pitchFamily="18" charset="0"/>
                      </a:rPr>
                      <m:t>𝑥</m:t>
                    </m:r>
                    <m:r>
                      <a:rPr lang="en-US" sz="2800" b="0" i="1" smtClean="0">
                        <a:solidFill>
                          <a:srgbClr val="000000"/>
                        </a:solidFill>
                        <a:latin typeface="Cambria Math" panose="02040503050406030204" pitchFamily="18" charset="0"/>
                      </a:rPr>
                      <m:t>+</m:t>
                    </m:r>
                    <m:r>
                      <a:rPr lang="en-US" sz="2800" b="0" i="0" smtClean="0">
                        <a:solidFill>
                          <a:srgbClr val="000000"/>
                        </a:solidFill>
                        <a:latin typeface="Cambria Math" panose="02040503050406030204" pitchFamily="18" charset="0"/>
                      </a:rPr>
                      <m:t>3</m:t>
                    </m:r>
                  </m:oMath>
                </a14:m>
                <a:endParaRPr lang="en-US" sz="2800" dirty="0">
                  <a:solidFill>
                    <a:srgbClr val="000000"/>
                  </a:solidFill>
                </a:endParaRPr>
              </a:p>
            </p:txBody>
          </p:sp>
        </mc:Choice>
        <mc:Fallback xmlns="">
          <p:sp>
            <p:nvSpPr>
              <p:cNvPr id="5" name="Text Placeholder 2">
                <a:extLst>
                  <a:ext uri="{FF2B5EF4-FFF2-40B4-BE49-F238E27FC236}">
                    <a16:creationId xmlns:a16="http://schemas.microsoft.com/office/drawing/2014/main" id="{09D02AB1-B4C8-39C8-D5AD-1D5793C0A904}"/>
                  </a:ext>
                </a:extLst>
              </p:cNvPr>
              <p:cNvSpPr txBox="1">
                <a:spLocks noRot="1" noChangeAspect="1" noMove="1" noResize="1" noEditPoints="1" noAdjustHandles="1" noChangeArrowheads="1" noChangeShapeType="1" noTextEdit="1"/>
              </p:cNvSpPr>
              <p:nvPr/>
            </p:nvSpPr>
            <p:spPr>
              <a:xfrm>
                <a:off x="777241" y="1608364"/>
                <a:ext cx="5361342" cy="918021"/>
              </a:xfrm>
              <a:prstGeom prst="rect">
                <a:avLst/>
              </a:prstGeom>
              <a:blipFill>
                <a:blip r:embed="rId3"/>
                <a:stretch>
                  <a:fillRect l="-2389"/>
                </a:stretch>
              </a:blipFill>
            </p:spPr>
            <p:txBody>
              <a:bodyPr/>
              <a:lstStyle/>
              <a:p>
                <a:r>
                  <a:rPr lang="en-US">
                    <a:noFill/>
                  </a:rPr>
                  <a:t> </a:t>
                </a:r>
              </a:p>
            </p:txBody>
          </p:sp>
        </mc:Fallback>
      </mc:AlternateContent>
      <p:pic>
        <p:nvPicPr>
          <p:cNvPr id="7" name="Picture 6" descr="A coordinate plane.">
            <a:extLst>
              <a:ext uri="{FF2B5EF4-FFF2-40B4-BE49-F238E27FC236}">
                <a16:creationId xmlns:a16="http://schemas.microsoft.com/office/drawing/2014/main" id="{8B1407E5-5E34-365C-DFCC-CE7D16400C8F}"/>
              </a:ext>
            </a:extLst>
          </p:cNvPr>
          <p:cNvPicPr>
            <a:picLocks noChangeAspect="1"/>
          </p:cNvPicPr>
          <p:nvPr/>
        </p:nvPicPr>
        <p:blipFill>
          <a:blip r:embed="rId4">
            <a:extLst>
              <a:ext uri="{28A0092B-C50C-407E-A947-70E740481C1C}">
                <a14:useLocalDpi xmlns:a14="http://schemas.microsoft.com/office/drawing/2010/main"/>
              </a:ext>
            </a:extLst>
          </a:blip>
          <a:stretch>
            <a:fillRect/>
          </a:stretch>
        </p:blipFill>
        <p:spPr>
          <a:xfrm>
            <a:off x="1481684" y="2499990"/>
            <a:ext cx="3952456" cy="3663251"/>
          </a:xfrm>
          <a:prstGeom prst="rect">
            <a:avLst/>
          </a:prstGeom>
        </p:spPr>
      </p:pic>
      <p:sp>
        <p:nvSpPr>
          <p:cNvPr id="1007" name="Slide Number 1007"/>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15</a:t>
            </a:fld>
          </a:p>
        </p:txBody>
      </p:sp>
      <p:sp>
        <p:nvSpPr>
          <p:cNvPr id="1008" name="Answer 1008"/>
          <p:cNvSpPr txBox="1"/>
          <p:nvPr/>
        </p:nvSpPr>
        <p:spPr>
          <a:xfrm>
            <a:off x="5842000" y="2667000"/>
            <a:ext cx="5715000" cy="2413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Plot the y-intercept (0, 3).</a:t>
            </a:r>
          </a:p>
          <a:p>
            <a:pPr marL="0" indent="0" algn="l">
              <a:spcBef>
                <a:spcPts val="0"/>
              </a:spcBef>
              <a:spcAft>
                <a:spcPts val="300"/>
              </a:spcAft>
              <a:buNone/>
            </a:pPr>
            <a:r>
              <a:rPr lang="en-US" sz="2400" dirty="0">
                <a:solidFill>
                  <a:srgbClr val="FF0000"/>
                </a:solidFill>
              </a:rPr>
              <a:t>Slope −5/2: down 5, right 2 → (2, −2).</a:t>
            </a:r>
          </a:p>
          <a:p>
            <a:pPr marL="0" indent="0" algn="l">
              <a:spcBef>
                <a:spcPts val="0"/>
              </a:spcBef>
              <a:spcAft>
                <a:spcPts val="300"/>
              </a:spcAft>
              <a:buNone/>
            </a:pPr>
            <a:r>
              <a:rPr lang="en-US" sz="2400" dirty="0">
                <a:solidFill>
                  <a:srgbClr val="FF0000"/>
                </a:solidFill>
              </a:rPr>
              <a:t>Up 5, left 2 → (−2, 8).</a:t>
            </a:r>
          </a:p>
          <a:p>
            <a:pPr marL="0" indent="0" algn="l">
              <a:spcBef>
                <a:spcPts val="0"/>
              </a:spcBef>
              <a:spcAft>
                <a:spcPts val="300"/>
              </a:spcAft>
              <a:buNone/>
            </a:pPr>
            <a:r>
              <a:rPr lang="en-US" sz="2400" dirty="0">
                <a:solidFill>
                  <a:srgbClr val="FF0000"/>
                </a:solidFill>
              </a:rPr>
              <a:t>Draw the line through the points.</a:t>
            </a:r>
          </a:p>
        </p:txBody>
      </p:sp>
    </p:spTree>
    <p:extLst>
      <p:ext uri="{BB962C8B-B14F-4D97-AF65-F5344CB8AC3E}">
        <p14:creationId xmlns:p14="http://schemas.microsoft.com/office/powerpoint/2010/main" val="1086037658"/>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0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CE025D-3361-3CC0-1A1D-F06FC3370898}"/>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1FC5BD8-D424-0016-9DAC-A2CEE00D038E}"/>
              </a:ext>
            </a:extLst>
          </p:cNvPr>
          <p:cNvSpPr>
            <a:spLocks noGrp="1"/>
          </p:cNvSpPr>
          <p:nvPr>
            <p:ph type="title"/>
          </p:nvPr>
        </p:nvSpPr>
        <p:spPr/>
        <p:txBody>
          <a:bodyPr/>
          <a:lstStyle/>
          <a:p>
            <a:pPr algn="l"/>
            <a:r>
              <a:rPr lang="en-US" b="1" dirty="0"/>
              <a:t>Using Slope-Intercept Form to Graph a Line </a:t>
            </a:r>
            <a:r>
              <a:rPr lang="en-US" b="1" dirty="0">
                <a:solidFill>
                  <a:schemeClr val="bg1"/>
                </a:solidFill>
              </a:rPr>
              <a:t>(6 of 10)</a:t>
            </a:r>
          </a:p>
        </p:txBody>
      </p:sp>
      <mc:AlternateContent xmlns:mc="http://schemas.openxmlformats.org/markup-compatibility/2006" xmlns:a14="http://schemas.microsoft.com/office/drawing/2010/main">
        <mc:Choice Requires="a14">
          <p:sp>
            <p:nvSpPr>
              <p:cNvPr id="5" name="Text Placeholder 2">
                <a:extLst>
                  <a:ext uri="{FF2B5EF4-FFF2-40B4-BE49-F238E27FC236}">
                    <a16:creationId xmlns:a16="http://schemas.microsoft.com/office/drawing/2014/main" id="{B9F31AEF-0835-CF9A-9EE0-E5ECA822E4F5}"/>
                  </a:ext>
                </a:extLst>
              </p:cNvPr>
              <p:cNvSpPr txBox="1">
                <a:spLocks/>
              </p:cNvSpPr>
              <p:nvPr/>
            </p:nvSpPr>
            <p:spPr>
              <a:xfrm>
                <a:off x="777241" y="1602062"/>
                <a:ext cx="5361342" cy="643117"/>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buFont typeface="+mj-lt"/>
                  <a:buAutoNum type="arabicPeriod" startAt="3"/>
                </a:pPr>
                <a:r>
                  <a:rPr lang="en-US" sz="2800" b="0" dirty="0">
                    <a:solidFill>
                      <a:srgbClr val="000000"/>
                    </a:solidFill>
                  </a:rPr>
                  <a:t> </a:t>
                </a:r>
                <a14:m>
                  <m:oMath xmlns:m="http://schemas.openxmlformats.org/officeDocument/2006/math">
                    <m:r>
                      <a:rPr lang="en-US" sz="2800" b="0" i="1" smtClean="0">
                        <a:solidFill>
                          <a:srgbClr val="000000"/>
                        </a:solidFill>
                        <a:latin typeface="Cambria Math" panose="02040503050406030204" pitchFamily="18" charset="0"/>
                      </a:rPr>
                      <m:t> </m:t>
                    </m:r>
                    <m:r>
                      <a:rPr lang="en-US" sz="2800" b="0" i="1" smtClean="0">
                        <a:solidFill>
                          <a:srgbClr val="000000"/>
                        </a:solidFill>
                        <a:latin typeface="Cambria Math" panose="02040503050406030204" pitchFamily="18" charset="0"/>
                      </a:rPr>
                      <m:t>𝑦</m:t>
                    </m:r>
                    <m:r>
                      <a:rPr lang="en-US" sz="2800" b="0" i="1" smtClean="0">
                        <a:solidFill>
                          <a:srgbClr val="000000"/>
                        </a:solidFill>
                        <a:latin typeface="Cambria Math" panose="02040503050406030204" pitchFamily="18" charset="0"/>
                      </a:rPr>
                      <m:t>=10</m:t>
                    </m:r>
                    <m:r>
                      <a:rPr lang="en-US" sz="2800" b="0" i="1" smtClean="0">
                        <a:solidFill>
                          <a:srgbClr val="000000"/>
                        </a:solidFill>
                        <a:latin typeface="Cambria Math" panose="02040503050406030204" pitchFamily="18" charset="0"/>
                      </a:rPr>
                      <m:t>𝑥</m:t>
                    </m:r>
                    <m:r>
                      <a:rPr lang="en-US" sz="2800" b="0" i="1" smtClean="0">
                        <a:solidFill>
                          <a:srgbClr val="000000"/>
                        </a:solidFill>
                        <a:latin typeface="Cambria Math" panose="02040503050406030204" pitchFamily="18" charset="0"/>
                      </a:rPr>
                      <m:t>+</m:t>
                    </m:r>
                    <m:r>
                      <a:rPr lang="en-US" sz="2800" b="0" i="0" smtClean="0">
                        <a:solidFill>
                          <a:srgbClr val="000000"/>
                        </a:solidFill>
                        <a:latin typeface="Cambria Math" panose="02040503050406030204" pitchFamily="18" charset="0"/>
                      </a:rPr>
                      <m:t>25</m:t>
                    </m:r>
                  </m:oMath>
                </a14:m>
                <a:endParaRPr lang="en-US" sz="2800" dirty="0">
                  <a:solidFill>
                    <a:srgbClr val="000000"/>
                  </a:solidFill>
                </a:endParaRPr>
              </a:p>
            </p:txBody>
          </p:sp>
        </mc:Choice>
        <mc:Fallback xmlns="">
          <p:sp>
            <p:nvSpPr>
              <p:cNvPr id="5" name="Text Placeholder 2">
                <a:extLst>
                  <a:ext uri="{FF2B5EF4-FFF2-40B4-BE49-F238E27FC236}">
                    <a16:creationId xmlns:a16="http://schemas.microsoft.com/office/drawing/2014/main" id="{B9F31AEF-0835-CF9A-9EE0-E5ECA822E4F5}"/>
                  </a:ext>
                </a:extLst>
              </p:cNvPr>
              <p:cNvSpPr txBox="1">
                <a:spLocks noRot="1" noChangeAspect="1" noMove="1" noResize="1" noEditPoints="1" noAdjustHandles="1" noChangeArrowheads="1" noChangeShapeType="1" noTextEdit="1"/>
              </p:cNvSpPr>
              <p:nvPr/>
            </p:nvSpPr>
            <p:spPr>
              <a:xfrm>
                <a:off x="777241" y="1602062"/>
                <a:ext cx="5361342" cy="643117"/>
              </a:xfrm>
              <a:prstGeom prst="rect">
                <a:avLst/>
              </a:prstGeom>
              <a:blipFill>
                <a:blip r:embed="rId3"/>
                <a:stretch>
                  <a:fillRect l="-2389" t="-10476" b="-8571"/>
                </a:stretch>
              </a:blipFill>
            </p:spPr>
            <p:txBody>
              <a:bodyPr/>
              <a:lstStyle/>
              <a:p>
                <a:r>
                  <a:rPr lang="en-US">
                    <a:noFill/>
                  </a:rPr>
                  <a:t> </a:t>
                </a:r>
              </a:p>
            </p:txBody>
          </p:sp>
        </mc:Fallback>
      </mc:AlternateContent>
      <p:pic>
        <p:nvPicPr>
          <p:cNvPr id="6" name="Picture 5" descr="A coordinate plane.">
            <a:extLst>
              <a:ext uri="{FF2B5EF4-FFF2-40B4-BE49-F238E27FC236}">
                <a16:creationId xmlns:a16="http://schemas.microsoft.com/office/drawing/2014/main" id="{47E9D599-4CB9-767A-990E-60022A1F5511}"/>
              </a:ext>
            </a:extLst>
          </p:cNvPr>
          <p:cNvPicPr>
            <a:picLocks noChangeAspect="1"/>
          </p:cNvPicPr>
          <p:nvPr/>
        </p:nvPicPr>
        <p:blipFill>
          <a:blip r:embed="rId4">
            <a:extLst>
              <a:ext uri="{28A0092B-C50C-407E-A947-70E740481C1C}">
                <a14:useLocalDpi xmlns:a14="http://schemas.microsoft.com/office/drawing/2010/main"/>
              </a:ext>
            </a:extLst>
          </a:blip>
          <a:stretch>
            <a:fillRect/>
          </a:stretch>
        </p:blipFill>
        <p:spPr>
          <a:xfrm>
            <a:off x="1470564" y="2358136"/>
            <a:ext cx="4162786" cy="3733361"/>
          </a:xfrm>
          <a:prstGeom prst="rect">
            <a:avLst/>
          </a:prstGeom>
        </p:spPr>
      </p:pic>
      <p:sp>
        <p:nvSpPr>
          <p:cNvPr id="8" name="TextBox 7">
            <a:extLst>
              <a:ext uri="{FF2B5EF4-FFF2-40B4-BE49-F238E27FC236}">
                <a16:creationId xmlns:a16="http://schemas.microsoft.com/office/drawing/2014/main" id="{A58EA86C-DCEC-07C3-B54C-A99EA35FC5C9}"/>
              </a:ext>
            </a:extLst>
          </p:cNvPr>
          <p:cNvSpPr txBox="1"/>
          <p:nvPr/>
        </p:nvSpPr>
        <p:spPr>
          <a:xfrm>
            <a:off x="8988150" y="1576230"/>
            <a:ext cx="2425022" cy="904375"/>
          </a:xfrm>
          <a:prstGeom prst="rect">
            <a:avLst/>
          </a:prstGeom>
          <a:noFill/>
          <a:ln w="31750">
            <a:solidFill>
              <a:srgbClr val="008F4C"/>
            </a:solidFill>
            <a:prstDash val="sysDot"/>
          </a:ln>
        </p:spPr>
        <p:txBody>
          <a:bodyPr wrap="square" lIns="182880" rtlCol="0" anchor="ctr" anchorCtr="0">
            <a:noAutofit/>
          </a:bodyPr>
          <a:lstStyle/>
          <a:p>
            <a:r>
              <a:rPr lang="en-US" sz="2000" dirty="0">
                <a:solidFill>
                  <a:srgbClr val="000000"/>
                </a:solidFill>
              </a:rPr>
              <a:t>Use a straightedge to draw your lines.</a:t>
            </a:r>
          </a:p>
        </p:txBody>
      </p:sp>
      <p:sp>
        <p:nvSpPr>
          <p:cNvPr id="9" name="Speech Bubble: Rectangle with Corners Rounded 1">
            <a:extLst>
              <a:ext uri="{FF2B5EF4-FFF2-40B4-BE49-F238E27FC236}">
                <a16:creationId xmlns:a16="http://schemas.microsoft.com/office/drawing/2014/main" id="{A7273084-995C-E0EE-09D9-DDF5CB2BE217}"/>
              </a:ext>
            </a:extLst>
          </p:cNvPr>
          <p:cNvSpPr/>
          <p:nvPr/>
        </p:nvSpPr>
        <p:spPr>
          <a:xfrm>
            <a:off x="8966495" y="3243261"/>
            <a:ext cx="2468331" cy="3037890"/>
          </a:xfrm>
          <a:prstGeom prst="wedgeRoundRectCallout">
            <a:avLst>
              <a:gd name="adj1" fmla="val -34041"/>
              <a:gd name="adj2" fmla="val -59481"/>
              <a:gd name="adj3" fmla="val 16667"/>
            </a:avLst>
          </a:prstGeom>
          <a:ln>
            <a:solidFill>
              <a:srgbClr val="008F4C"/>
            </a:solidFill>
          </a:ln>
        </p:spPr>
        <p:style>
          <a:lnRef idx="2">
            <a:schemeClr val="accent6"/>
          </a:lnRef>
          <a:fillRef idx="1">
            <a:schemeClr val="lt1"/>
          </a:fillRef>
          <a:effectRef idx="0">
            <a:schemeClr val="accent6"/>
          </a:effectRef>
          <a:fontRef idx="minor">
            <a:schemeClr val="dk1"/>
          </a:fontRef>
        </p:style>
        <p:txBody>
          <a:bodyPr rtlCol="0" anchor="ctr"/>
          <a:lstStyle/>
          <a:p>
            <a:r>
              <a:rPr lang="en-US" sz="2000" b="1" dirty="0">
                <a:solidFill>
                  <a:srgbClr val="2B8147"/>
                </a:solidFill>
              </a:rPr>
              <a:t>Ask Yourself…</a:t>
            </a:r>
          </a:p>
          <a:p>
            <a:r>
              <a:rPr lang="en-US" sz="2000" dirty="0">
                <a:solidFill>
                  <a:srgbClr val="000000"/>
                </a:solidFill>
              </a:rPr>
              <a:t>Should each graph have arrows or points on each end? When using a point, how do you know whether to use an open circle or a  closed circle?</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16</a:t>
            </a:fld>
          </a:p>
        </p:txBody>
      </p:sp>
      <p:sp>
        <p:nvSpPr>
          <p:cNvPr id="1010" name="Answer 1010"/>
          <p:cNvSpPr txBox="1"/>
          <p:nvPr/>
        </p:nvSpPr>
        <p:spPr>
          <a:xfrm>
            <a:off x="5746750" y="2667000"/>
            <a:ext cx="3111500" cy="3556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FF0000"/>
                </a:solidFill>
              </a:rPr>
              <a:t>Plot the y-intercept (0, 25).</a:t>
            </a:r>
          </a:p>
          <a:p>
            <a:pPr marL="0" indent="0" algn="l">
              <a:spcBef>
                <a:spcPts val="0"/>
              </a:spcBef>
              <a:spcAft>
                <a:spcPts val="300"/>
              </a:spcAft>
              <a:buNone/>
            </a:pPr>
            <a:r>
              <a:rPr lang="en-US" sz="2100" dirty="0">
                <a:solidFill>
                  <a:srgbClr val="FF0000"/>
                </a:solidFill>
              </a:rPr>
              <a:t>Slope 10/1: up 10, right 1 → (1, 35), (2, 45).</a:t>
            </a:r>
          </a:p>
          <a:p>
            <a:pPr marL="0" indent="0" algn="l">
              <a:spcBef>
                <a:spcPts val="0"/>
              </a:spcBef>
              <a:spcAft>
                <a:spcPts val="300"/>
              </a:spcAft>
              <a:buNone/>
            </a:pPr>
            <a:r>
              <a:rPr lang="en-US" sz="2100" dirty="0">
                <a:solidFill>
                  <a:srgbClr val="FF0000"/>
                </a:solidFill>
              </a:rPr>
              <a:t>Down 10, left 1 → (−1, 15), (−2, 5).</a:t>
            </a:r>
          </a:p>
          <a:p>
            <a:pPr marL="0" indent="0" algn="l">
              <a:spcBef>
                <a:spcPts val="0"/>
              </a:spcBef>
              <a:spcAft>
                <a:spcPts val="300"/>
              </a:spcAft>
              <a:buNone/>
            </a:pPr>
            <a:r>
              <a:rPr lang="en-US" sz="2100" dirty="0">
                <a:solidFill>
                  <a:srgbClr val="FF0000"/>
                </a:solidFill>
              </a:rPr>
              <a:t>Draw the line.</a:t>
            </a:r>
          </a:p>
        </p:txBody>
      </p:sp>
    </p:spTree>
    <p:extLst>
      <p:ext uri="{BB962C8B-B14F-4D97-AF65-F5344CB8AC3E}">
        <p14:creationId xmlns:p14="http://schemas.microsoft.com/office/powerpoint/2010/main" val="2233772374"/>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7392B3-D596-AECE-7564-D03DBFEC8CC1}"/>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C91AA5B-D1CF-A654-A49E-005C1A53CAF6}"/>
              </a:ext>
            </a:extLst>
          </p:cNvPr>
          <p:cNvSpPr>
            <a:spLocks noGrp="1"/>
          </p:cNvSpPr>
          <p:nvPr>
            <p:ph type="title"/>
          </p:nvPr>
        </p:nvSpPr>
        <p:spPr/>
        <p:txBody>
          <a:bodyPr/>
          <a:lstStyle/>
          <a:p>
            <a:pPr algn="l"/>
            <a:r>
              <a:rPr lang="en-US" b="1" dirty="0"/>
              <a:t>Using Slope-Intercept Form to Graph a Line </a:t>
            </a:r>
            <a:r>
              <a:rPr lang="en-US" b="1" dirty="0">
                <a:solidFill>
                  <a:schemeClr val="bg1"/>
                </a:solidFill>
              </a:rPr>
              <a:t>(7 of 10)</a:t>
            </a:r>
          </a:p>
        </p:txBody>
      </p:sp>
      <p:sp>
        <p:nvSpPr>
          <p:cNvPr id="5" name="Text Placeholder 2">
            <a:extLst>
              <a:ext uri="{FF2B5EF4-FFF2-40B4-BE49-F238E27FC236}">
                <a16:creationId xmlns:a16="http://schemas.microsoft.com/office/drawing/2014/main" id="{6E696D11-E485-F813-9354-D36360FE1998}"/>
              </a:ext>
            </a:extLst>
          </p:cNvPr>
          <p:cNvSpPr txBox="1">
            <a:spLocks/>
          </p:cNvSpPr>
          <p:nvPr/>
        </p:nvSpPr>
        <p:spPr>
          <a:xfrm>
            <a:off x="854471" y="1379764"/>
            <a:ext cx="9808086" cy="2049236"/>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spcAft>
                <a:spcPts val="1200"/>
              </a:spcAft>
              <a:buNone/>
            </a:pPr>
            <a:r>
              <a:rPr lang="en-US" sz="2800" dirty="0">
                <a:solidFill>
                  <a:srgbClr val="000000"/>
                </a:solidFill>
              </a:rPr>
              <a:t>Write an equation for each problem situation. Then, graph</a:t>
            </a:r>
            <a:br>
              <a:rPr lang="en-US" sz="2800" dirty="0">
                <a:solidFill>
                  <a:srgbClr val="000000"/>
                </a:solidFill>
              </a:rPr>
            </a:br>
            <a:r>
              <a:rPr lang="en-US" sz="2800" dirty="0">
                <a:solidFill>
                  <a:srgbClr val="000000"/>
                </a:solidFill>
              </a:rPr>
              <a:t>each equation.</a:t>
            </a:r>
          </a:p>
          <a:p>
            <a:pPr marL="514350" indent="-514350">
              <a:buFont typeface="+mj-lt"/>
              <a:buAutoNum type="arabicPeriod" startAt="4"/>
            </a:pPr>
            <a:r>
              <a:rPr lang="en-US" sz="2800" dirty="0">
                <a:solidFill>
                  <a:srgbClr val="000000"/>
                </a:solidFill>
              </a:rPr>
              <a:t>Avery wants to buy a virtual reality headset. He already</a:t>
            </a:r>
            <a:br>
              <a:rPr lang="en-US" sz="2800" dirty="0">
                <a:solidFill>
                  <a:srgbClr val="000000"/>
                </a:solidFill>
              </a:rPr>
            </a:br>
            <a:r>
              <a:rPr lang="en-US" sz="2800" dirty="0">
                <a:solidFill>
                  <a:srgbClr val="000000"/>
                </a:solidFill>
              </a:rPr>
              <a:t>has $30 saved and plans to mow lawns for $15 each.</a:t>
            </a:r>
          </a:p>
        </p:txBody>
      </p:sp>
      <p:pic>
        <p:nvPicPr>
          <p:cNvPr id="7" name="Picture 6" descr="A coordinate plane.">
            <a:extLst>
              <a:ext uri="{FF2B5EF4-FFF2-40B4-BE49-F238E27FC236}">
                <a16:creationId xmlns:a16="http://schemas.microsoft.com/office/drawing/2014/main" id="{5432F828-0746-FA89-2D3E-78CFC50B36CF}"/>
              </a:ext>
            </a:extLst>
          </p:cNvPr>
          <p:cNvPicPr>
            <a:picLocks noChangeAspect="1"/>
          </p:cNvPicPr>
          <p:nvPr/>
        </p:nvPicPr>
        <p:blipFill>
          <a:blip r:embed="rId3" cstate="screen">
            <a:extLst>
              <a:ext uri="{28A0092B-C50C-407E-A947-70E740481C1C}">
                <a14:useLocalDpi xmlns:a14="http://schemas.microsoft.com/office/drawing/2010/main"/>
              </a:ext>
            </a:extLst>
          </a:blip>
          <a:srcRect/>
          <a:stretch/>
        </p:blipFill>
        <p:spPr>
          <a:xfrm>
            <a:off x="4041888" y="3540095"/>
            <a:ext cx="4106636" cy="3216729"/>
          </a:xfrm>
          <a:prstGeom prst="rect">
            <a:avLst/>
          </a:prstGeom>
        </p:spPr>
      </p:pic>
      <p:sp>
        <p:nvSpPr>
          <p:cNvPr id="8" name="TextBox 7">
            <a:extLst>
              <a:ext uri="{FF2B5EF4-FFF2-40B4-BE49-F238E27FC236}">
                <a16:creationId xmlns:a16="http://schemas.microsoft.com/office/drawing/2014/main" id="{45C778A5-307D-D949-B3C7-993BE749788A}"/>
              </a:ext>
            </a:extLst>
          </p:cNvPr>
          <p:cNvSpPr txBox="1"/>
          <p:nvPr/>
        </p:nvSpPr>
        <p:spPr>
          <a:xfrm>
            <a:off x="9074902" y="4208688"/>
            <a:ext cx="2425022" cy="1691562"/>
          </a:xfrm>
          <a:prstGeom prst="rect">
            <a:avLst/>
          </a:prstGeom>
          <a:noFill/>
          <a:ln w="31750">
            <a:solidFill>
              <a:srgbClr val="008F4C"/>
            </a:solidFill>
            <a:prstDash val="sysDot"/>
          </a:ln>
        </p:spPr>
        <p:txBody>
          <a:bodyPr wrap="square" lIns="182880" rtlCol="0" anchor="ctr" anchorCtr="0">
            <a:noAutofit/>
          </a:bodyPr>
          <a:lstStyle/>
          <a:p>
            <a:r>
              <a:rPr lang="en-US" sz="2000" dirty="0">
                <a:solidFill>
                  <a:srgbClr val="000000"/>
                </a:solidFill>
              </a:rPr>
              <a:t>Remember to</a:t>
            </a:r>
            <a:br>
              <a:rPr lang="en-US" sz="2000" dirty="0">
                <a:solidFill>
                  <a:srgbClr val="000000"/>
                </a:solidFill>
              </a:rPr>
            </a:br>
            <a:r>
              <a:rPr lang="en-US" sz="2000" dirty="0">
                <a:solidFill>
                  <a:srgbClr val="000000"/>
                </a:solidFill>
              </a:rPr>
              <a:t>label the axes with the appropriate variable quantities.</a:t>
            </a:r>
          </a:p>
        </p:txBody>
      </p:sp>
      <p:sp>
        <p:nvSpPr>
          <p:cNvPr id="1008" name="Slide Number 1008"/>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17</a:t>
            </a:fld>
          </a:p>
        </p:txBody>
      </p:sp>
      <p:sp>
        <p:nvSpPr>
          <p:cNvPr id="1009" name="Answer 1009"/>
          <p:cNvSpPr txBox="1"/>
          <p:nvPr/>
        </p:nvSpPr>
        <p:spPr>
          <a:xfrm>
            <a:off x="825500" y="3810000"/>
            <a:ext cx="3111500" cy="292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FF0000"/>
                </a:solidFill>
              </a:rPr>
              <a:t>y = 15x + 30</a:t>
            </a:r>
          </a:p>
          <a:p>
            <a:pPr marL="0" indent="0" algn="l">
              <a:spcBef>
                <a:spcPts val="0"/>
              </a:spcBef>
              <a:spcAft>
                <a:spcPts val="300"/>
              </a:spcAft>
              <a:buNone/>
            </a:pPr>
            <a:r>
              <a:rPr lang="en-US" sz="2100" dirty="0">
                <a:solidFill>
                  <a:srgbClr val="FF0000"/>
                </a:solidFill>
              </a:rPr>
              <a:t>x = number of lawns mowed, y = total savings ($).</a:t>
            </a:r>
          </a:p>
          <a:p>
            <a:pPr marL="0" indent="0" algn="l">
              <a:spcBef>
                <a:spcPts val="0"/>
              </a:spcBef>
              <a:spcAft>
                <a:spcPts val="300"/>
              </a:spcAft>
              <a:buNone/>
            </a:pPr>
            <a:r>
              <a:rPr lang="en-US" sz="2100" dirty="0">
                <a:solidFill>
                  <a:srgbClr val="FF0000"/>
                </a:solidFill>
              </a:rPr>
              <a:t>Start at (0, 30); go up 15 for each lawn: (2, 60), (4, 90), (6, 120).</a:t>
            </a:r>
          </a:p>
        </p:txBody>
      </p:sp>
    </p:spTree>
    <p:extLst>
      <p:ext uri="{BB962C8B-B14F-4D97-AF65-F5344CB8AC3E}">
        <p14:creationId xmlns:p14="http://schemas.microsoft.com/office/powerpoint/2010/main" val="1596592061"/>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0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DFE01E-BA47-493D-F6E8-7862CA6A46EF}"/>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688080EC-1385-C813-83C4-0AD377C6714D}"/>
              </a:ext>
            </a:extLst>
          </p:cNvPr>
          <p:cNvSpPr>
            <a:spLocks noGrp="1"/>
          </p:cNvSpPr>
          <p:nvPr>
            <p:ph type="title"/>
          </p:nvPr>
        </p:nvSpPr>
        <p:spPr/>
        <p:txBody>
          <a:bodyPr/>
          <a:lstStyle/>
          <a:p>
            <a:pPr algn="l"/>
            <a:r>
              <a:rPr lang="en-US" b="1" dirty="0"/>
              <a:t>Using Slope-Intercept Form to Graph a Line </a:t>
            </a:r>
            <a:r>
              <a:rPr lang="en-US" b="1" dirty="0">
                <a:solidFill>
                  <a:schemeClr val="bg1"/>
                </a:solidFill>
              </a:rPr>
              <a:t>(8 of 10)</a:t>
            </a:r>
          </a:p>
        </p:txBody>
      </p:sp>
      <p:sp>
        <p:nvSpPr>
          <p:cNvPr id="5" name="Text Placeholder 2">
            <a:extLst>
              <a:ext uri="{FF2B5EF4-FFF2-40B4-BE49-F238E27FC236}">
                <a16:creationId xmlns:a16="http://schemas.microsoft.com/office/drawing/2014/main" id="{276AC7A8-937F-614A-4F0A-C2AEBBE698CA}"/>
              </a:ext>
            </a:extLst>
          </p:cNvPr>
          <p:cNvSpPr txBox="1">
            <a:spLocks/>
          </p:cNvSpPr>
          <p:nvPr/>
        </p:nvSpPr>
        <p:spPr>
          <a:xfrm>
            <a:off x="777240" y="1600200"/>
            <a:ext cx="9893481" cy="1152097"/>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buFont typeface="+mj-lt"/>
              <a:buAutoNum type="arabicPeriod" startAt="5"/>
            </a:pPr>
            <a:r>
              <a:rPr lang="en-US" sz="2800" dirty="0">
                <a:solidFill>
                  <a:srgbClr val="000000"/>
                </a:solidFill>
              </a:rPr>
              <a:t>A scuba diver is 130 feet below sea level. The diver ascends at a constant rate of 20 feet per minute.</a:t>
            </a:r>
          </a:p>
        </p:txBody>
      </p:sp>
      <p:pic>
        <p:nvPicPr>
          <p:cNvPr id="6" name="Picture 5" descr="A coordinate plane.">
            <a:extLst>
              <a:ext uri="{FF2B5EF4-FFF2-40B4-BE49-F238E27FC236}">
                <a16:creationId xmlns:a16="http://schemas.microsoft.com/office/drawing/2014/main" id="{63A507BB-F5BA-A296-F23B-881BDD4AE65C}"/>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3952023" y="2596887"/>
            <a:ext cx="4373117" cy="3803472"/>
          </a:xfrm>
          <a:prstGeom prst="rect">
            <a:avLst/>
          </a:prstGeom>
        </p:spPr>
      </p:pic>
      <p:sp>
        <p:nvSpPr>
          <p:cNvPr id="1006" name="Slide Number 1006"/>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18</a:t>
            </a:fld>
          </a:p>
        </p:txBody>
      </p:sp>
      <p:sp>
        <p:nvSpPr>
          <p:cNvPr id="1007" name="Answer 1007"/>
          <p:cNvSpPr txBox="1"/>
          <p:nvPr/>
        </p:nvSpPr>
        <p:spPr>
          <a:xfrm>
            <a:off x="8445500" y="2730500"/>
            <a:ext cx="3556000" cy="3810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y = 20x − 130</a:t>
            </a:r>
          </a:p>
          <a:p>
            <a:pPr marL="0" indent="0" algn="l">
              <a:spcBef>
                <a:spcPts val="0"/>
              </a:spcBef>
              <a:spcAft>
                <a:spcPts val="300"/>
              </a:spcAft>
              <a:buNone/>
            </a:pPr>
            <a:r>
              <a:rPr lang="en-US" sz="2000" dirty="0">
                <a:solidFill>
                  <a:srgbClr val="FF0000"/>
                </a:solidFill>
              </a:rPr>
              <a:t>x = time (minutes), y = depth (feet).</a:t>
            </a:r>
          </a:p>
          <a:p>
            <a:pPr marL="0" indent="0" algn="l">
              <a:spcBef>
                <a:spcPts val="0"/>
              </a:spcBef>
              <a:spcAft>
                <a:spcPts val="300"/>
              </a:spcAft>
              <a:buNone/>
            </a:pPr>
            <a:r>
              <a:rPr lang="en-US" sz="2000" dirty="0">
                <a:solidFill>
                  <a:srgbClr val="FF0000"/>
                </a:solidFill>
              </a:rPr>
              <a:t>Start at (0, −130) and rise 20 each minute: (1, −110), (5, −30).</a:t>
            </a:r>
          </a:p>
          <a:p>
            <a:pPr marL="0" indent="0" algn="l">
              <a:spcBef>
                <a:spcPts val="0"/>
              </a:spcBef>
              <a:spcAft>
                <a:spcPts val="300"/>
              </a:spcAft>
              <a:buNone/>
            </a:pPr>
            <a:r>
              <a:rPr lang="en-US" sz="2000" dirty="0">
                <a:solidFill>
                  <a:srgbClr val="FF0000"/>
                </a:solidFill>
              </a:rPr>
              <a:t>The diver reaches the surface (y = 0) at 6.5 minutes, so the graph ends at (6.5, 0).</a:t>
            </a:r>
          </a:p>
        </p:txBody>
      </p:sp>
    </p:spTree>
    <p:extLst>
      <p:ext uri="{BB962C8B-B14F-4D97-AF65-F5344CB8AC3E}">
        <p14:creationId xmlns:p14="http://schemas.microsoft.com/office/powerpoint/2010/main" val="2074852096"/>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0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341359-D318-1CFD-200E-C172F88B4486}"/>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634ACACA-A6D5-E759-1A13-2360BC16F1B8}"/>
              </a:ext>
            </a:extLst>
          </p:cNvPr>
          <p:cNvSpPr>
            <a:spLocks noGrp="1"/>
          </p:cNvSpPr>
          <p:nvPr>
            <p:ph type="title"/>
          </p:nvPr>
        </p:nvSpPr>
        <p:spPr/>
        <p:txBody>
          <a:bodyPr/>
          <a:lstStyle/>
          <a:p>
            <a:r>
              <a:rPr lang="en-US" b="1" dirty="0"/>
              <a:t>Using Slope-Intercept Form to Graph a Line </a:t>
            </a:r>
            <a:r>
              <a:rPr lang="en-US" b="1" dirty="0">
                <a:solidFill>
                  <a:schemeClr val="bg1"/>
                </a:solidFill>
              </a:rPr>
              <a:t>(9 of 10)</a:t>
            </a:r>
            <a:endParaRPr lang="en-US" dirty="0">
              <a:solidFill>
                <a:schemeClr val="bg1"/>
              </a:solidFill>
            </a:endParaRPr>
          </a:p>
        </p:txBody>
      </p:sp>
      <p:sp>
        <p:nvSpPr>
          <p:cNvPr id="2" name="Text Placeholder 1">
            <a:extLst>
              <a:ext uri="{FF2B5EF4-FFF2-40B4-BE49-F238E27FC236}">
                <a16:creationId xmlns:a16="http://schemas.microsoft.com/office/drawing/2014/main" id="{AA8C68BE-9DF6-8D67-44E5-56524DEE4036}"/>
              </a:ext>
            </a:extLst>
          </p:cNvPr>
          <p:cNvSpPr>
            <a:spLocks noGrp="1"/>
          </p:cNvSpPr>
          <p:nvPr>
            <p:ph type="body" sz="quarter" idx="10"/>
          </p:nvPr>
        </p:nvSpPr>
        <p:spPr>
          <a:xfrm>
            <a:off x="852488" y="1652588"/>
            <a:ext cx="10266961" cy="4124268"/>
          </a:xfrm>
        </p:spPr>
        <p:txBody>
          <a:bodyPr/>
          <a:lstStyle/>
          <a:p>
            <a:pPr marL="0" indent="0" algn="l">
              <a:buNone/>
            </a:pPr>
            <a:r>
              <a:rPr lang="en-US" sz="2800" b="0" i="0" u="none" strike="noStrike" baseline="0" dirty="0">
                <a:solidFill>
                  <a:srgbClr val="000000"/>
                </a:solidFill>
              </a:rPr>
              <a:t>Let’s revisit the Essential </a:t>
            </a:r>
            <a:r>
              <a:rPr lang="en-US" dirty="0">
                <a:solidFill>
                  <a:srgbClr val="000000"/>
                </a:solidFill>
              </a:rPr>
              <a:t>Q</a:t>
            </a:r>
            <a:r>
              <a:rPr lang="en-US" sz="2800" b="0" i="0" u="none" strike="noStrike" baseline="0" dirty="0">
                <a:solidFill>
                  <a:srgbClr val="000000"/>
                </a:solidFill>
              </a:rPr>
              <a:t>uestion and summarize our learning from Activity 5.1!</a:t>
            </a:r>
          </a:p>
          <a:p>
            <a:pPr marL="0" indent="0" algn="l">
              <a:buNone/>
            </a:pPr>
            <a:endParaRPr lang="en-US" dirty="0">
              <a:solidFill>
                <a:srgbClr val="000000"/>
              </a:solidFill>
            </a:endParaRPr>
          </a:p>
          <a:p>
            <a:pPr marL="0" indent="0" algn="l">
              <a:buNone/>
            </a:pPr>
            <a:endParaRPr lang="en-US" sz="2800" b="0" i="0" u="none" strike="noStrike" baseline="0" dirty="0">
              <a:solidFill>
                <a:srgbClr val="000000"/>
              </a:solidFill>
            </a:endParaRPr>
          </a:p>
          <a:p>
            <a:endParaRPr lang="en-US" b="1" dirty="0">
              <a:solidFill>
                <a:srgbClr val="000000"/>
              </a:solidFill>
            </a:endParaRPr>
          </a:p>
          <a:p>
            <a:r>
              <a:rPr lang="en-US" b="1" dirty="0">
                <a:solidFill>
                  <a:srgbClr val="000000"/>
                </a:solidFill>
              </a:rPr>
              <a:t>Essential Question: </a:t>
            </a:r>
            <a:r>
              <a:rPr lang="en-US" sz="2800" dirty="0">
                <a:solidFill>
                  <a:srgbClr val="000000"/>
                </a:solidFill>
              </a:rPr>
              <a:t>Is there a more efficient method to graphing a linear relationship? Can you use the equation of a linear relationship to create a  graphical representation?</a:t>
            </a:r>
          </a:p>
          <a:p>
            <a:endParaRPr lang="en-US" dirty="0"/>
          </a:p>
          <a:p>
            <a:endParaRPr lang="en-US" dirty="0">
              <a:solidFill>
                <a:srgbClr val="000000"/>
              </a:solidFill>
            </a:endParaRPr>
          </a:p>
        </p:txBody>
      </p:sp>
      <p:pic>
        <p:nvPicPr>
          <p:cNvPr id="3" name="Picture 2">
            <a:extLst>
              <a:ext uri="{FF2B5EF4-FFF2-40B4-BE49-F238E27FC236}">
                <a16:creationId xmlns:a16="http://schemas.microsoft.com/office/drawing/2014/main" id="{1D9AB348-6D31-825A-022A-C924AAC39AA9}"/>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0466688" y="372494"/>
            <a:ext cx="1501270" cy="518205"/>
          </a:xfrm>
          <a:prstGeom prst="rect">
            <a:avLst/>
          </a:prstGeom>
        </p:spPr>
      </p:pic>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19</a:t>
            </a:fld>
          </a:p>
        </p:txBody>
      </p:sp>
      <p:sp>
        <p:nvSpPr>
          <p:cNvPr id="1005" name="Answer 1005"/>
          <p:cNvSpPr txBox="1"/>
          <p:nvPr/>
        </p:nvSpPr>
        <p:spPr>
          <a:xfrm>
            <a:off x="869950" y="2921000"/>
            <a:ext cx="10477500" cy="825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Summary: An equation in slope-intercept form can be graphed by plotting the y-intercept and then using the slope to locate two more points by counting from that point.</a:t>
            </a:r>
          </a:p>
        </p:txBody>
      </p:sp>
      <p:sp>
        <p:nvSpPr>
          <p:cNvPr id="1006" name="Answer 1006"/>
          <p:cNvSpPr txBox="1"/>
          <p:nvPr/>
        </p:nvSpPr>
        <p:spPr>
          <a:xfrm>
            <a:off x="869950" y="6254750"/>
            <a:ext cx="10477500" cy="571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Yes: use the y-intercept and the slope from the equation instead of a table.</a:t>
            </a:r>
          </a:p>
        </p:txBody>
      </p:sp>
    </p:spTree>
    <p:extLst>
      <p:ext uri="{BB962C8B-B14F-4D97-AF65-F5344CB8AC3E}">
        <p14:creationId xmlns:p14="http://schemas.microsoft.com/office/powerpoint/2010/main" val="35134944"/>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0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0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A311D1-032C-B88C-1707-5CFF374CDDB8}"/>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5C434BC3-FD62-B3CE-3671-F121D6D37CAA}"/>
              </a:ext>
            </a:extLst>
          </p:cNvPr>
          <p:cNvSpPr>
            <a:spLocks noGrp="1"/>
          </p:cNvSpPr>
          <p:nvPr>
            <p:ph type="title"/>
          </p:nvPr>
        </p:nvSpPr>
        <p:spPr/>
        <p:txBody>
          <a:bodyPr/>
          <a:lstStyle/>
          <a:p>
            <a:pPr algn="l"/>
            <a:r>
              <a:rPr lang="en-US" b="1" dirty="0"/>
              <a:t>Using Slope-Intercept Form to Graph a Line </a:t>
            </a:r>
            <a:r>
              <a:rPr lang="en-US" b="1" dirty="0">
                <a:solidFill>
                  <a:schemeClr val="bg1"/>
                </a:solidFill>
              </a:rPr>
              <a:t>(10 of 10)</a:t>
            </a:r>
          </a:p>
        </p:txBody>
      </p:sp>
      <p:sp>
        <p:nvSpPr>
          <p:cNvPr id="9" name="Text Placeholder 2">
            <a:extLst>
              <a:ext uri="{FF2B5EF4-FFF2-40B4-BE49-F238E27FC236}">
                <a16:creationId xmlns:a16="http://schemas.microsoft.com/office/drawing/2014/main" id="{ACFF7D6B-5A83-5CA8-382C-FA5C43C578B0}"/>
              </a:ext>
              <a:ext uri="{C183D7F6-B498-43B3-948B-1728B52AA6E4}">
                <adec:decorative xmlns:adec="http://schemas.microsoft.com/office/drawing/2017/decorative" val="1"/>
              </a:ext>
            </a:extLst>
          </p:cNvPr>
          <p:cNvSpPr txBox="1">
            <a:spLocks/>
          </p:cNvSpPr>
          <p:nvPr/>
        </p:nvSpPr>
        <p:spPr>
          <a:xfrm>
            <a:off x="777240" y="1616140"/>
            <a:ext cx="1047175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endParaRPr lang="en-US" sz="2800" dirty="0">
              <a:solidFill>
                <a:schemeClr val="bg2">
                  <a:lumMod val="25000"/>
                </a:schemeClr>
              </a:solidFill>
            </a:endParaRP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20</a:t>
            </a:fld>
          </a:p>
        </p:txBody>
      </p:sp>
    </p:spTree>
    <p:extLst>
      <p:ext uri="{BB962C8B-B14F-4D97-AF65-F5344CB8AC3E}">
        <p14:creationId xmlns:p14="http://schemas.microsoft.com/office/powerpoint/2010/main" val="153485277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C1DCE7-C4CE-CAC8-70AC-AEEEB3FDE35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4878AA4-1CC1-11F1-7BFB-5E12AE597868}"/>
              </a:ext>
            </a:extLst>
          </p:cNvPr>
          <p:cNvSpPr>
            <a:spLocks noGrp="1"/>
          </p:cNvSpPr>
          <p:nvPr>
            <p:ph type="title" idx="4294967295"/>
          </p:nvPr>
        </p:nvSpPr>
        <p:spPr>
          <a:xfrm>
            <a:off x="838200" y="-310552"/>
            <a:ext cx="10514013" cy="310551"/>
          </a:xfrm>
          <a:prstGeom prst="rect">
            <a:avLst/>
          </a:prstGeom>
        </p:spPr>
        <p:txBody>
          <a:bodyPr anchor="b"/>
          <a:lstStyle/>
          <a:p>
            <a:r>
              <a:rPr lang="en-US" sz="2000" dirty="0">
                <a:solidFill>
                  <a:schemeClr val="bg2"/>
                </a:solidFill>
              </a:rPr>
              <a:t>Day 2</a:t>
            </a:r>
          </a:p>
        </p:txBody>
      </p:sp>
      <p:sp>
        <p:nvSpPr>
          <p:cNvPr id="4" name="Text Placeholder 3">
            <a:extLst>
              <a:ext uri="{FF2B5EF4-FFF2-40B4-BE49-F238E27FC236}">
                <a16:creationId xmlns:a16="http://schemas.microsoft.com/office/drawing/2014/main" id="{B67D07E7-A752-8007-1F27-729508A9B04F}"/>
              </a:ext>
              <a:ext uri="{C183D7F6-B498-43B3-948B-1728B52AA6E4}">
                <adec:decorative xmlns:adec="http://schemas.microsoft.com/office/drawing/2017/decorative" val="1"/>
              </a:ext>
            </a:extLst>
          </p:cNvPr>
          <p:cNvSpPr>
            <a:spLocks noGrp="1"/>
          </p:cNvSpPr>
          <p:nvPr>
            <p:ph type="body" sz="quarter" idx="11"/>
          </p:nvPr>
        </p:nvSpPr>
        <p:spPr>
          <a:xfrm>
            <a:off x="6658975" y="2832927"/>
            <a:ext cx="1061883" cy="1071562"/>
          </a:xfrm>
        </p:spPr>
        <p:txBody>
          <a:bodyPr/>
          <a:lstStyle/>
          <a:p>
            <a:pPr marL="0" indent="0">
              <a:buNone/>
            </a:pPr>
            <a:r>
              <a:rPr lang="en-US" sz="7500" b="1" dirty="0">
                <a:solidFill>
                  <a:srgbClr val="000000"/>
                </a:solidFill>
                <a:latin typeface="Calibri" panose="020F0502020204030204" pitchFamily="34" charset="0"/>
                <a:ea typeface="Calibri" panose="020F0502020204030204" pitchFamily="34" charset="0"/>
                <a:cs typeface="Calibri" panose="020F0502020204030204" pitchFamily="34" charset="0"/>
              </a:rPr>
              <a:t>2</a:t>
            </a:r>
          </a:p>
        </p:txBody>
      </p:sp>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21</a:t>
            </a:fld>
          </a:p>
        </p:txBody>
      </p:sp>
    </p:spTree>
    <p:extLst>
      <p:ext uri="{BB962C8B-B14F-4D97-AF65-F5344CB8AC3E}">
        <p14:creationId xmlns:p14="http://schemas.microsoft.com/office/powerpoint/2010/main" val="420749088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44D8C-D76E-6752-D62E-9113AAECC48D}"/>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5A1D78A-47B3-5F5A-4D78-1AA7425A07F4}"/>
              </a:ext>
            </a:extLst>
          </p:cNvPr>
          <p:cNvSpPr>
            <a:spLocks noGrp="1"/>
          </p:cNvSpPr>
          <p:nvPr>
            <p:ph type="title"/>
          </p:nvPr>
        </p:nvSpPr>
        <p:spPr/>
        <p:txBody>
          <a:bodyPr/>
          <a:lstStyle/>
          <a:p>
            <a:pPr algn="l"/>
            <a:r>
              <a:rPr lang="en-US" b="1" dirty="0"/>
              <a:t>Essential Question </a:t>
            </a:r>
            <a:r>
              <a:rPr lang="en-US" sz="2000" b="1" dirty="0">
                <a:solidFill>
                  <a:schemeClr val="bg1"/>
                </a:solidFill>
              </a:rPr>
              <a:t>(2 of 3)</a:t>
            </a:r>
          </a:p>
        </p:txBody>
      </p:sp>
      <p:sp>
        <p:nvSpPr>
          <p:cNvPr id="2" name="Text Placeholder 2">
            <a:extLst>
              <a:ext uri="{FF2B5EF4-FFF2-40B4-BE49-F238E27FC236}">
                <a16:creationId xmlns:a16="http://schemas.microsoft.com/office/drawing/2014/main" id="{236D68ED-CF87-2D02-0795-23ECC924669B}"/>
              </a:ext>
            </a:extLst>
          </p:cNvPr>
          <p:cNvSpPr txBox="1">
            <a:spLocks/>
          </p:cNvSpPr>
          <p:nvPr/>
        </p:nvSpPr>
        <p:spPr>
          <a:xfrm>
            <a:off x="777240" y="1608364"/>
            <a:ext cx="10220053" cy="4358976"/>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buNone/>
            </a:pPr>
            <a:r>
              <a:rPr lang="en-US" sz="2800" dirty="0">
                <a:solidFill>
                  <a:srgbClr val="000000"/>
                </a:solidFill>
              </a:rPr>
              <a:t>Is there a more efficient method to graphing a linear relationship? Can you use the equation of a linear relationship to create a  graphical representation?</a:t>
            </a:r>
          </a:p>
          <a:p>
            <a:endParaRPr lang="en-US" sz="2400" dirty="0"/>
          </a:p>
          <a:p>
            <a:pPr marL="0" indent="0" algn="l">
              <a:buNone/>
            </a:pPr>
            <a:endParaRPr lang="en-US" sz="2800" b="0" i="0" u="none" strike="noStrike" baseline="0" dirty="0">
              <a:solidFill>
                <a:srgbClr val="000000"/>
              </a:solidFill>
            </a:endParaRPr>
          </a:p>
        </p:txBody>
      </p:sp>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22</a:t>
            </a:fld>
          </a:p>
        </p:txBody>
      </p:sp>
    </p:spTree>
    <p:extLst>
      <p:ext uri="{BB962C8B-B14F-4D97-AF65-F5344CB8AC3E}">
        <p14:creationId xmlns:p14="http://schemas.microsoft.com/office/powerpoint/2010/main" val="421427083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E87405-4307-90E4-BCD9-418C75A6CD42}"/>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E9ECB753-0C95-8A45-09C3-1A43D2D9937A}"/>
              </a:ext>
            </a:extLst>
          </p:cNvPr>
          <p:cNvSpPr>
            <a:spLocks noGrp="1"/>
          </p:cNvSpPr>
          <p:nvPr>
            <p:ph type="title" idx="4294967295"/>
          </p:nvPr>
        </p:nvSpPr>
        <p:spPr>
          <a:xfrm>
            <a:off x="838200" y="-362309"/>
            <a:ext cx="10514013" cy="362309"/>
          </a:xfrm>
          <a:prstGeom prst="rect">
            <a:avLst/>
          </a:prstGeom>
        </p:spPr>
        <p:txBody>
          <a:bodyPr anchor="b"/>
          <a:lstStyle/>
          <a:p>
            <a:r>
              <a:rPr lang="en-US" sz="2000" dirty="0">
                <a:solidFill>
                  <a:schemeClr val="bg2"/>
                </a:solidFill>
              </a:rPr>
              <a:t>Activity 5.2</a:t>
            </a:r>
          </a:p>
        </p:txBody>
      </p:sp>
      <p:sp>
        <p:nvSpPr>
          <p:cNvPr id="3" name="Text Placeholder 2" descr="15 to 20 minutes">
            <a:extLst>
              <a:ext uri="{FF2B5EF4-FFF2-40B4-BE49-F238E27FC236}">
                <a16:creationId xmlns:a16="http://schemas.microsoft.com/office/drawing/2014/main" id="{34CEFA25-EE06-38BF-B0AB-0832D4CF6BCC}"/>
              </a:ext>
            </a:extLst>
          </p:cNvPr>
          <p:cNvSpPr>
            <a:spLocks noGrp="1"/>
          </p:cNvSpPr>
          <p:nvPr>
            <p:ph type="body" sz="quarter" idx="12"/>
          </p:nvPr>
        </p:nvSpPr>
        <p:spPr>
          <a:xfrm>
            <a:off x="10614990" y="5780025"/>
            <a:ext cx="863947" cy="795338"/>
          </a:xfrm>
        </p:spPr>
        <p:txBody>
          <a:bodyPr/>
          <a:lstStyle/>
          <a:p>
            <a:r>
              <a:rPr lang="en-US" b="1" dirty="0"/>
              <a:t>15–20</a:t>
            </a:r>
          </a:p>
        </p:txBody>
      </p:sp>
      <p:sp>
        <p:nvSpPr>
          <p:cNvPr id="2" name="Text Placeholder 1">
            <a:extLst>
              <a:ext uri="{FF2B5EF4-FFF2-40B4-BE49-F238E27FC236}">
                <a16:creationId xmlns:a16="http://schemas.microsoft.com/office/drawing/2014/main" id="{05AD4CD9-B917-53D4-279A-7B81488E3B19}"/>
              </a:ext>
              <a:ext uri="{C183D7F6-B498-43B3-948B-1728B52AA6E4}">
                <adec:decorative xmlns:adec="http://schemas.microsoft.com/office/drawing/2017/decorative" val="1"/>
              </a:ext>
            </a:extLst>
          </p:cNvPr>
          <p:cNvSpPr>
            <a:spLocks noGrp="1"/>
          </p:cNvSpPr>
          <p:nvPr>
            <p:ph type="body" sz="quarter" idx="11"/>
          </p:nvPr>
        </p:nvSpPr>
        <p:spPr/>
        <p:txBody>
          <a:bodyPr/>
          <a:lstStyle/>
          <a:p>
            <a:r>
              <a:rPr lang="en-US" dirty="0"/>
              <a:t>5.2</a:t>
            </a:r>
          </a:p>
        </p:txBody>
      </p:sp>
      <p:sp>
        <p:nvSpPr>
          <p:cNvPr id="1005" name="Slide Number 1005"/>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23</a:t>
            </a:fld>
          </a:p>
        </p:txBody>
      </p:sp>
    </p:spTree>
    <p:extLst>
      <p:ext uri="{BB962C8B-B14F-4D97-AF65-F5344CB8AC3E}">
        <p14:creationId xmlns:p14="http://schemas.microsoft.com/office/powerpoint/2010/main" val="362388441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D9FB43-679B-E397-30E3-50A521E99FC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149FA50D-5DB0-765E-2A80-183E705A899F}"/>
              </a:ext>
            </a:extLst>
          </p:cNvPr>
          <p:cNvSpPr>
            <a:spLocks noGrp="1"/>
          </p:cNvSpPr>
          <p:nvPr>
            <p:ph type="title"/>
          </p:nvPr>
        </p:nvSpPr>
        <p:spPr/>
        <p:txBody>
          <a:bodyPr/>
          <a:lstStyle/>
          <a:p>
            <a:pPr algn="l"/>
            <a:r>
              <a:rPr lang="en-US" b="1" dirty="0"/>
              <a:t>Using Point-Slope Form to Graph a Line </a:t>
            </a:r>
            <a:r>
              <a:rPr lang="en-US" sz="2000" b="1" dirty="0">
                <a:solidFill>
                  <a:schemeClr val="bg1"/>
                </a:solidFill>
              </a:rPr>
              <a:t>(1 of 8)</a:t>
            </a:r>
          </a:p>
        </p:txBody>
      </p:sp>
      <mc:AlternateContent xmlns:mc="http://schemas.openxmlformats.org/markup-compatibility/2006" xmlns:a14="http://schemas.microsoft.com/office/drawing/2010/main">
        <mc:Choice Requires="a14">
          <p:sp>
            <p:nvSpPr>
              <p:cNvPr id="2" name="Text Placeholder 2">
                <a:extLst>
                  <a:ext uri="{FF2B5EF4-FFF2-40B4-BE49-F238E27FC236}">
                    <a16:creationId xmlns:a16="http://schemas.microsoft.com/office/drawing/2014/main" id="{70C1E34C-7E62-1005-A795-8E05218D3CB1}"/>
                  </a:ext>
                </a:extLst>
              </p:cNvPr>
              <p:cNvSpPr txBox="1">
                <a:spLocks/>
              </p:cNvSpPr>
              <p:nvPr/>
            </p:nvSpPr>
            <p:spPr>
              <a:xfrm>
                <a:off x="777241" y="1604512"/>
                <a:ext cx="10350834" cy="4871591"/>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buNone/>
                </a:pPr>
                <a:r>
                  <a:rPr lang="en-US" sz="2800" dirty="0">
                    <a:solidFill>
                      <a:srgbClr val="000000"/>
                    </a:solidFill>
                  </a:rPr>
                  <a:t>In the previous lesson, you learned that the point-slope form of a linear equation is </a:t>
                </a:r>
                <a14:m>
                  <m:oMath xmlns:m="http://schemas.openxmlformats.org/officeDocument/2006/math">
                    <m:r>
                      <a:rPr lang="en-US" sz="2800" b="0" i="1" smtClean="0">
                        <a:solidFill>
                          <a:srgbClr val="000000"/>
                        </a:solidFill>
                        <a:latin typeface="Cambria Math" panose="02040503050406030204" pitchFamily="18" charset="0"/>
                      </a:rPr>
                      <m:t>𝑦</m:t>
                    </m:r>
                    <m:r>
                      <a:rPr lang="en-US" sz="2800" b="0" i="1" smtClean="0">
                        <a:solidFill>
                          <a:srgbClr val="000000"/>
                        </a:solidFill>
                        <a:latin typeface="Cambria Math" panose="02040503050406030204" pitchFamily="18" charset="0"/>
                      </a:rPr>
                      <m:t>−</m:t>
                    </m:r>
                    <m:sSub>
                      <m:sSubPr>
                        <m:ctrlPr>
                          <a:rPr lang="en-US" sz="2800" b="0" i="1" smtClean="0">
                            <a:solidFill>
                              <a:srgbClr val="000000"/>
                            </a:solidFill>
                            <a:latin typeface="Cambria Math" panose="02040503050406030204" pitchFamily="18" charset="0"/>
                          </a:rPr>
                        </m:ctrlPr>
                      </m:sSubPr>
                      <m:e>
                        <m:r>
                          <a:rPr lang="en-US" sz="2800" b="0" i="1" smtClean="0">
                            <a:solidFill>
                              <a:srgbClr val="000000"/>
                            </a:solidFill>
                            <a:latin typeface="Cambria Math" panose="02040503050406030204" pitchFamily="18" charset="0"/>
                          </a:rPr>
                          <m:t>𝑦</m:t>
                        </m:r>
                      </m:e>
                      <m:sub>
                        <m:r>
                          <a:rPr lang="en-US" sz="2800" b="0" i="1" smtClean="0">
                            <a:solidFill>
                              <a:srgbClr val="000000"/>
                            </a:solidFill>
                            <a:latin typeface="Cambria Math" panose="02040503050406030204" pitchFamily="18" charset="0"/>
                          </a:rPr>
                          <m:t>1</m:t>
                        </m:r>
                      </m:sub>
                    </m:sSub>
                    <m:r>
                      <a:rPr lang="en-US" sz="2800" b="0" i="1" smtClean="0">
                        <a:solidFill>
                          <a:srgbClr val="000000"/>
                        </a:solidFill>
                        <a:latin typeface="Cambria Math" panose="02040503050406030204" pitchFamily="18" charset="0"/>
                      </a:rPr>
                      <m:t>=</m:t>
                    </m:r>
                    <m:r>
                      <a:rPr lang="en-US" sz="2800" b="0" i="1" smtClean="0">
                        <a:solidFill>
                          <a:srgbClr val="000000"/>
                        </a:solidFill>
                        <a:latin typeface="Cambria Math" panose="02040503050406030204" pitchFamily="18" charset="0"/>
                      </a:rPr>
                      <m:t>𝑚</m:t>
                    </m:r>
                    <m:d>
                      <m:dPr>
                        <m:ctrlPr>
                          <a:rPr lang="en-US" sz="2800" b="0" i="1" smtClean="0">
                            <a:solidFill>
                              <a:srgbClr val="000000"/>
                            </a:solidFill>
                            <a:latin typeface="Cambria Math" panose="02040503050406030204" pitchFamily="18" charset="0"/>
                          </a:rPr>
                        </m:ctrlPr>
                      </m:dPr>
                      <m:e>
                        <m:r>
                          <a:rPr lang="en-US" sz="2800" b="0" i="1" smtClean="0">
                            <a:solidFill>
                              <a:srgbClr val="000000"/>
                            </a:solidFill>
                            <a:latin typeface="Cambria Math" panose="02040503050406030204" pitchFamily="18" charset="0"/>
                          </a:rPr>
                          <m:t>𝑥</m:t>
                        </m:r>
                        <m:r>
                          <a:rPr lang="en-US" sz="2800" b="0" i="1" smtClean="0">
                            <a:solidFill>
                              <a:srgbClr val="000000"/>
                            </a:solidFill>
                            <a:latin typeface="Cambria Math" panose="02040503050406030204" pitchFamily="18" charset="0"/>
                          </a:rPr>
                          <m:t>−</m:t>
                        </m:r>
                        <m:sSub>
                          <m:sSubPr>
                            <m:ctrlPr>
                              <a:rPr lang="en-US" sz="2800" b="0" i="1" smtClean="0">
                                <a:solidFill>
                                  <a:srgbClr val="000000"/>
                                </a:solidFill>
                                <a:latin typeface="Cambria Math" panose="02040503050406030204" pitchFamily="18" charset="0"/>
                              </a:rPr>
                            </m:ctrlPr>
                          </m:sSubPr>
                          <m:e>
                            <m:r>
                              <a:rPr lang="en-US" sz="2800" b="0" i="1" smtClean="0">
                                <a:solidFill>
                                  <a:srgbClr val="000000"/>
                                </a:solidFill>
                                <a:latin typeface="Cambria Math" panose="02040503050406030204" pitchFamily="18" charset="0"/>
                              </a:rPr>
                              <m:t>𝑥</m:t>
                            </m:r>
                          </m:e>
                          <m:sub>
                            <m:r>
                              <a:rPr lang="en-US" sz="2800" b="0" i="1" smtClean="0">
                                <a:solidFill>
                                  <a:srgbClr val="000000"/>
                                </a:solidFill>
                                <a:latin typeface="Cambria Math" panose="02040503050406030204" pitchFamily="18" charset="0"/>
                              </a:rPr>
                              <m:t>1</m:t>
                            </m:r>
                          </m:sub>
                        </m:sSub>
                      </m:e>
                    </m:d>
                  </m:oMath>
                </a14:m>
                <a:r>
                  <a:rPr lang="en-US" sz="2800" dirty="0">
                    <a:solidFill>
                      <a:srgbClr val="000000"/>
                    </a:solidFill>
                  </a:rPr>
                  <a:t> where </a:t>
                </a:r>
                <a:r>
                  <a:rPr lang="en-US" sz="2800" i="1" dirty="0">
                    <a:solidFill>
                      <a:srgbClr val="000000"/>
                    </a:solidFill>
                  </a:rPr>
                  <a:t>m</a:t>
                </a:r>
                <a:r>
                  <a:rPr lang="en-US" sz="2800" dirty="0">
                    <a:solidFill>
                      <a:srgbClr val="000000"/>
                    </a:solidFill>
                  </a:rPr>
                  <a:t> is the slope of the line and </a:t>
                </a:r>
                <a14:m>
                  <m:oMath xmlns:m="http://schemas.openxmlformats.org/officeDocument/2006/math">
                    <m:r>
                      <a:rPr lang="en-US" sz="2800" b="0" i="0" smtClean="0">
                        <a:solidFill>
                          <a:srgbClr val="000000"/>
                        </a:solidFill>
                        <a:latin typeface="Cambria Math" panose="02040503050406030204" pitchFamily="18" charset="0"/>
                      </a:rPr>
                      <m:t>(</m:t>
                    </m:r>
                    <m:sSub>
                      <m:sSubPr>
                        <m:ctrlPr>
                          <a:rPr lang="en-US" sz="2800" i="1">
                            <a:solidFill>
                              <a:srgbClr val="000000"/>
                            </a:solidFill>
                            <a:latin typeface="Cambria Math" panose="02040503050406030204" pitchFamily="18" charset="0"/>
                          </a:rPr>
                        </m:ctrlPr>
                      </m:sSubPr>
                      <m:e>
                        <m:r>
                          <a:rPr lang="en-US" sz="2800" i="1">
                            <a:solidFill>
                              <a:srgbClr val="000000"/>
                            </a:solidFill>
                            <a:latin typeface="Cambria Math" panose="02040503050406030204" pitchFamily="18" charset="0"/>
                          </a:rPr>
                          <m:t>𝑥</m:t>
                        </m:r>
                      </m:e>
                      <m:sub>
                        <m:r>
                          <a:rPr lang="en-US" sz="2800" i="1">
                            <a:solidFill>
                              <a:srgbClr val="000000"/>
                            </a:solidFill>
                            <a:latin typeface="Cambria Math" panose="02040503050406030204" pitchFamily="18" charset="0"/>
                          </a:rPr>
                          <m:t>1</m:t>
                        </m:r>
                      </m:sub>
                    </m:sSub>
                  </m:oMath>
                </a14:m>
                <a:r>
                  <a:rPr lang="en-US" sz="2800" dirty="0">
                    <a:solidFill>
                      <a:srgbClr val="000000"/>
                    </a:solidFill>
                  </a:rPr>
                  <a:t>, </a:t>
                </a:r>
                <a14:m>
                  <m:oMath xmlns:m="http://schemas.openxmlformats.org/officeDocument/2006/math">
                    <m:sSub>
                      <m:sSubPr>
                        <m:ctrlPr>
                          <a:rPr lang="en-US" sz="2800" i="1">
                            <a:solidFill>
                              <a:srgbClr val="000000"/>
                            </a:solidFill>
                            <a:latin typeface="Cambria Math" panose="02040503050406030204" pitchFamily="18" charset="0"/>
                          </a:rPr>
                        </m:ctrlPr>
                      </m:sSubPr>
                      <m:e>
                        <m:r>
                          <a:rPr lang="en-US" sz="2800" i="1">
                            <a:solidFill>
                              <a:srgbClr val="000000"/>
                            </a:solidFill>
                            <a:latin typeface="Cambria Math" panose="02040503050406030204" pitchFamily="18" charset="0"/>
                          </a:rPr>
                          <m:t>𝑦</m:t>
                        </m:r>
                      </m:e>
                      <m:sub>
                        <m:r>
                          <a:rPr lang="en-US" sz="2800" i="1">
                            <a:solidFill>
                              <a:srgbClr val="000000"/>
                            </a:solidFill>
                            <a:latin typeface="Cambria Math" panose="02040503050406030204" pitchFamily="18" charset="0"/>
                          </a:rPr>
                          <m:t>1</m:t>
                        </m:r>
                      </m:sub>
                    </m:sSub>
                    <m:r>
                      <a:rPr lang="en-US" sz="2800" b="0" i="1" smtClean="0">
                        <a:solidFill>
                          <a:srgbClr val="000000"/>
                        </a:solidFill>
                        <a:latin typeface="Cambria Math" panose="02040503050406030204" pitchFamily="18" charset="0"/>
                      </a:rPr>
                      <m:t>)</m:t>
                    </m:r>
                  </m:oMath>
                </a14:m>
                <a:r>
                  <a:rPr lang="en-US" sz="2800" dirty="0">
                    <a:solidFill>
                      <a:srgbClr val="000000"/>
                    </a:solidFill>
                  </a:rPr>
                  <a:t> is a point on the line. Use this form of a linear equation for the next problem situation.</a:t>
                </a:r>
              </a:p>
              <a:p>
                <a:pPr marL="0" indent="0">
                  <a:buNone/>
                </a:pPr>
                <a:endParaRPr lang="en-US" sz="2800" dirty="0">
                  <a:solidFill>
                    <a:srgbClr val="000000"/>
                  </a:solidFill>
                </a:endParaRPr>
              </a:p>
              <a:p>
                <a:pPr marL="0" indent="0">
                  <a:buNone/>
                </a:pPr>
                <a:r>
                  <a:rPr lang="en-US" sz="2800" dirty="0">
                    <a:solidFill>
                      <a:srgbClr val="000000"/>
                    </a:solidFill>
                  </a:rPr>
                  <a:t>The jazz band is selling tickets to raise money for new music stands. They already had some money in their account when they started selling tickets at $5.00 each. After selling 3 tickets, the band had a total of $50 in their account.</a:t>
                </a:r>
              </a:p>
              <a:p>
                <a:pPr marL="457200" indent="-457200">
                  <a:buFont typeface="+mj-lt"/>
                  <a:buAutoNum type="arabicPeriod" startAt="2"/>
                </a:pPr>
                <a:endParaRPr lang="en-US" sz="2400" dirty="0">
                  <a:solidFill>
                    <a:srgbClr val="000000"/>
                  </a:solidFill>
                </a:endParaRPr>
              </a:p>
              <a:p>
                <a:pPr marL="457200" indent="-457200">
                  <a:buFont typeface="+mj-lt"/>
                  <a:buAutoNum type="arabicPeriod" startAt="2"/>
                </a:pPr>
                <a:endParaRPr lang="en-US" sz="2400" dirty="0">
                  <a:solidFill>
                    <a:srgbClr val="000000"/>
                  </a:solidFill>
                </a:endParaRPr>
              </a:p>
              <a:p>
                <a:pPr marL="0" indent="0">
                  <a:buNone/>
                </a:pPr>
                <a:endParaRPr lang="en-US" sz="2400" dirty="0">
                  <a:solidFill>
                    <a:srgbClr val="000000"/>
                  </a:solidFill>
                </a:endParaRPr>
              </a:p>
              <a:p>
                <a:pPr marL="457200" indent="-457200">
                  <a:buFont typeface="+mj-lt"/>
                  <a:buAutoNum type="arabicPeriod"/>
                </a:pPr>
                <a:endParaRPr lang="en-US" sz="2400" dirty="0">
                  <a:solidFill>
                    <a:srgbClr val="000000"/>
                  </a:solidFill>
                </a:endParaRPr>
              </a:p>
              <a:p>
                <a:pPr marL="0" indent="0">
                  <a:buNone/>
                </a:pPr>
                <a:endParaRPr lang="en-US" sz="2400" dirty="0">
                  <a:solidFill>
                    <a:srgbClr val="000000"/>
                  </a:solidFill>
                </a:endParaRPr>
              </a:p>
              <a:p>
                <a:pPr marL="0" indent="0">
                  <a:buNone/>
                </a:pPr>
                <a:endParaRPr lang="en-US" sz="2800" dirty="0">
                  <a:solidFill>
                    <a:srgbClr val="000000"/>
                  </a:solidFill>
                </a:endParaRPr>
              </a:p>
            </p:txBody>
          </p:sp>
        </mc:Choice>
        <mc:Fallback xmlns="">
          <p:sp>
            <p:nvSpPr>
              <p:cNvPr id="2" name="Text Placeholder 2">
                <a:extLst>
                  <a:ext uri="{FF2B5EF4-FFF2-40B4-BE49-F238E27FC236}">
                    <a16:creationId xmlns:a16="http://schemas.microsoft.com/office/drawing/2014/main" id="{70C1E34C-7E62-1005-A795-8E05218D3CB1}"/>
                  </a:ext>
                </a:extLst>
              </p:cNvPr>
              <p:cNvSpPr txBox="1">
                <a:spLocks noRot="1" noChangeAspect="1" noMove="1" noResize="1" noEditPoints="1" noAdjustHandles="1" noChangeArrowheads="1" noChangeShapeType="1" noTextEdit="1"/>
              </p:cNvSpPr>
              <p:nvPr/>
            </p:nvSpPr>
            <p:spPr>
              <a:xfrm>
                <a:off x="777241" y="1604512"/>
                <a:ext cx="10350834" cy="4871591"/>
              </a:xfrm>
              <a:prstGeom prst="rect">
                <a:avLst/>
              </a:prstGeom>
              <a:blipFill>
                <a:blip r:embed="rId3"/>
                <a:stretch>
                  <a:fillRect l="-1237" t="-1126"/>
                </a:stretch>
              </a:blipFill>
            </p:spPr>
            <p:txBody>
              <a:bodyPr/>
              <a:lstStyle/>
              <a:p>
                <a:r>
                  <a:rPr lang="en-US">
                    <a:noFill/>
                  </a:rPr>
                  <a:t> </a:t>
                </a:r>
              </a:p>
            </p:txBody>
          </p:sp>
        </mc:Fallback>
      </mc:AlternateContent>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24</a:t>
            </a:fld>
          </a:p>
        </p:txBody>
      </p:sp>
    </p:spTree>
    <p:extLst>
      <p:ext uri="{BB962C8B-B14F-4D97-AF65-F5344CB8AC3E}">
        <p14:creationId xmlns:p14="http://schemas.microsoft.com/office/powerpoint/2010/main" val="206436745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A3BB37-A63B-BED2-34E2-4A8D5F5AB4EA}"/>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4DBC2423-DC2A-5BEE-B124-9630E68FB80D}"/>
              </a:ext>
            </a:extLst>
          </p:cNvPr>
          <p:cNvSpPr>
            <a:spLocks noGrp="1"/>
          </p:cNvSpPr>
          <p:nvPr>
            <p:ph type="title"/>
          </p:nvPr>
        </p:nvSpPr>
        <p:spPr/>
        <p:txBody>
          <a:bodyPr/>
          <a:lstStyle/>
          <a:p>
            <a:pPr algn="l"/>
            <a:r>
              <a:rPr lang="en-US" b="1" dirty="0"/>
              <a:t>Using Point-Slope Form to Graph a Line </a:t>
            </a:r>
            <a:r>
              <a:rPr lang="en-US" sz="2000" b="1" dirty="0">
                <a:solidFill>
                  <a:schemeClr val="bg1"/>
                </a:solidFill>
              </a:rPr>
              <a:t>(2 of 8)</a:t>
            </a:r>
          </a:p>
        </p:txBody>
      </p:sp>
      <p:sp>
        <p:nvSpPr>
          <p:cNvPr id="2" name="Text Placeholder 2">
            <a:extLst>
              <a:ext uri="{FF2B5EF4-FFF2-40B4-BE49-F238E27FC236}">
                <a16:creationId xmlns:a16="http://schemas.microsoft.com/office/drawing/2014/main" id="{6875DDB9-CDA4-D13A-D004-7DAA0A240284}"/>
              </a:ext>
            </a:extLst>
          </p:cNvPr>
          <p:cNvSpPr txBox="1">
            <a:spLocks/>
          </p:cNvSpPr>
          <p:nvPr/>
        </p:nvSpPr>
        <p:spPr>
          <a:xfrm>
            <a:off x="777240" y="1595886"/>
            <a:ext cx="9867756" cy="4880217"/>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7525" indent="-517525">
              <a:spcAft>
                <a:spcPts val="600"/>
              </a:spcAft>
              <a:buFont typeface="+mj-lt"/>
              <a:buAutoNum type="arabicPeriod"/>
            </a:pPr>
            <a:r>
              <a:rPr lang="en-US" sz="2800" dirty="0">
                <a:solidFill>
                  <a:srgbClr val="000000"/>
                </a:solidFill>
              </a:rPr>
              <a:t>Let </a:t>
            </a:r>
            <a:r>
              <a:rPr lang="en-US" sz="2800" i="1" dirty="0">
                <a:solidFill>
                  <a:srgbClr val="000000"/>
                </a:solidFill>
              </a:rPr>
              <a:t>x</a:t>
            </a:r>
            <a:r>
              <a:rPr lang="en-US" sz="2800" dirty="0">
                <a:solidFill>
                  <a:srgbClr val="000000"/>
                </a:solidFill>
              </a:rPr>
              <a:t> = the number of tickets sold, and let </a:t>
            </a:r>
            <a:r>
              <a:rPr lang="en-US" sz="2800" i="1" dirty="0">
                <a:solidFill>
                  <a:srgbClr val="000000"/>
                </a:solidFill>
              </a:rPr>
              <a:t>y</a:t>
            </a:r>
            <a:r>
              <a:rPr lang="en-US" sz="2800" dirty="0">
                <a:solidFill>
                  <a:srgbClr val="000000"/>
                </a:solidFill>
              </a:rPr>
              <a:t> = the total amount of money in the jazz band’s account.</a:t>
            </a:r>
          </a:p>
          <a:p>
            <a:pPr marL="1027113" lvl="1" indent="-506413">
              <a:buFont typeface="+mj-lt"/>
              <a:buAutoNum type="alphaLcPeriod"/>
            </a:pPr>
            <a:r>
              <a:rPr lang="en-US" dirty="0">
                <a:solidFill>
                  <a:srgbClr val="000000"/>
                </a:solidFill>
              </a:rPr>
              <a:t>Write an equation in point-slope form.</a:t>
            </a:r>
          </a:p>
          <a:p>
            <a:pPr marL="457200" indent="-457200">
              <a:buFont typeface="+mj-lt"/>
              <a:buAutoNum type="arabicPeriod"/>
            </a:pPr>
            <a:endParaRPr lang="en-US" sz="2400" dirty="0">
              <a:solidFill>
                <a:srgbClr val="000000"/>
              </a:solidFill>
            </a:endParaRPr>
          </a:p>
          <a:p>
            <a:pPr marL="457200" indent="-457200">
              <a:buFont typeface="+mj-lt"/>
              <a:buAutoNum type="arabicPeriod"/>
            </a:pPr>
            <a:endParaRPr lang="en-US" sz="2400" dirty="0">
              <a:solidFill>
                <a:srgbClr val="000000"/>
              </a:solidFill>
            </a:endParaRPr>
          </a:p>
          <a:p>
            <a:pPr marL="0" indent="0">
              <a:buNone/>
            </a:pPr>
            <a:endParaRPr lang="en-US" sz="2400" dirty="0">
              <a:solidFill>
                <a:srgbClr val="000000"/>
              </a:solidFill>
            </a:endParaRPr>
          </a:p>
          <a:p>
            <a:pPr marL="457200" indent="-457200">
              <a:buFont typeface="+mj-lt"/>
              <a:buAutoNum type="arabicPeriod"/>
            </a:pPr>
            <a:endParaRPr lang="en-US" sz="2400" dirty="0">
              <a:solidFill>
                <a:srgbClr val="000000"/>
              </a:solidFill>
            </a:endParaRPr>
          </a:p>
          <a:p>
            <a:pPr marL="0" indent="0">
              <a:buNone/>
            </a:pPr>
            <a:endParaRPr lang="en-US" sz="2400" dirty="0">
              <a:solidFill>
                <a:srgbClr val="000000"/>
              </a:solidFill>
            </a:endParaRPr>
          </a:p>
          <a:p>
            <a:pPr marL="0" indent="0">
              <a:buNone/>
            </a:pPr>
            <a:endParaRPr lang="en-US" sz="2800" dirty="0">
              <a:solidFill>
                <a:srgbClr val="000000"/>
              </a:solidFill>
            </a:endParaRPr>
          </a:p>
        </p:txBody>
      </p:sp>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25</a:t>
            </a:fld>
          </a:p>
        </p:txBody>
      </p:sp>
      <p:sp>
        <p:nvSpPr>
          <p:cNvPr id="1005" name="Answer 1005"/>
          <p:cNvSpPr txBox="1"/>
          <p:nvPr/>
        </p:nvSpPr>
        <p:spPr>
          <a:xfrm>
            <a:off x="869950" y="3365500"/>
            <a:ext cx="9525000" cy="571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3000" dirty="0">
                <a:solidFill>
                  <a:srgbClr val="FF0000"/>
                </a:solidFill>
              </a:rPr>
              <a:t>y − 50 = 5(x − 3)</a:t>
            </a:r>
          </a:p>
        </p:txBody>
      </p:sp>
    </p:spTree>
    <p:extLst>
      <p:ext uri="{BB962C8B-B14F-4D97-AF65-F5344CB8AC3E}">
        <p14:creationId xmlns:p14="http://schemas.microsoft.com/office/powerpoint/2010/main" val="1719473592"/>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0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D18B62-523F-7D94-6457-94397755FCA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AA91CA76-12A0-0CA6-5B92-592C4D2C27C5}"/>
              </a:ext>
            </a:extLst>
          </p:cNvPr>
          <p:cNvSpPr>
            <a:spLocks noGrp="1"/>
          </p:cNvSpPr>
          <p:nvPr>
            <p:ph type="title"/>
          </p:nvPr>
        </p:nvSpPr>
        <p:spPr/>
        <p:txBody>
          <a:bodyPr/>
          <a:lstStyle/>
          <a:p>
            <a:pPr algn="l"/>
            <a:r>
              <a:rPr lang="en-US" b="1" dirty="0"/>
              <a:t>Using Point-Slope Form to Graph a Line </a:t>
            </a:r>
            <a:r>
              <a:rPr lang="en-US" sz="2000" b="1" dirty="0">
                <a:solidFill>
                  <a:schemeClr val="bg1"/>
                </a:solidFill>
              </a:rPr>
              <a:t>(3 of 8)</a:t>
            </a:r>
          </a:p>
        </p:txBody>
      </p:sp>
      <p:sp>
        <p:nvSpPr>
          <p:cNvPr id="2" name="Text Placeholder 2">
            <a:extLst>
              <a:ext uri="{FF2B5EF4-FFF2-40B4-BE49-F238E27FC236}">
                <a16:creationId xmlns:a16="http://schemas.microsoft.com/office/drawing/2014/main" id="{C7BA7432-B3F1-5A4B-122E-F5EF2780AF48}"/>
              </a:ext>
            </a:extLst>
          </p:cNvPr>
          <p:cNvSpPr txBox="1">
            <a:spLocks/>
          </p:cNvSpPr>
          <p:nvPr/>
        </p:nvSpPr>
        <p:spPr>
          <a:xfrm>
            <a:off x="777239" y="1483743"/>
            <a:ext cx="7717153" cy="5279366"/>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7525" lvl="1" indent="-515938">
              <a:spcAft>
                <a:spcPts val="600"/>
              </a:spcAft>
              <a:buFont typeface="+mj-lt"/>
              <a:buAutoNum type="alphaLcPeriod" startAt="2"/>
            </a:pPr>
            <a:r>
              <a:rPr lang="en-US" dirty="0">
                <a:solidFill>
                  <a:srgbClr val="000000"/>
                </a:solidFill>
              </a:rPr>
              <a:t>Use the point-slope form to graph the equation.</a:t>
            </a:r>
          </a:p>
          <a:p>
            <a:pPr marL="914400" lvl="2" indent="-404813">
              <a:spcBef>
                <a:spcPts val="26"/>
              </a:spcBef>
            </a:pPr>
            <a:r>
              <a:rPr lang="en-US" sz="2800" dirty="0">
                <a:solidFill>
                  <a:srgbClr val="000000"/>
                </a:solidFill>
              </a:rPr>
              <a:t>Write the coordinates for the known point. Plot the point on the coordinate plane.</a:t>
            </a:r>
          </a:p>
          <a:p>
            <a:pPr marL="914400" lvl="2" indent="-403225">
              <a:spcBef>
                <a:spcPts val="26"/>
              </a:spcBef>
            </a:pPr>
            <a:r>
              <a:rPr lang="en-US" sz="2800" dirty="0">
                <a:solidFill>
                  <a:srgbClr val="000000"/>
                </a:solidFill>
              </a:rPr>
              <a:t>Write the slope as a ratio. Then, use the slope and count from the point. To identify another point on the graph, start at the point and count either down (negative) or up (positive) for the rise. Then, count either left(negative) or right (positive) for the run.</a:t>
            </a:r>
          </a:p>
          <a:p>
            <a:pPr marL="914400" lvl="2" indent="-403225">
              <a:spcBef>
                <a:spcPts val="26"/>
              </a:spcBef>
            </a:pPr>
            <a:r>
              <a:rPr lang="en-US" sz="2800" dirty="0">
                <a:solidFill>
                  <a:srgbClr val="000000"/>
                </a:solidFill>
              </a:rPr>
              <a:t>Continue the counting process to plot at least two more points.</a:t>
            </a:r>
          </a:p>
          <a:p>
            <a:pPr marL="914400" lvl="2" indent="-403225">
              <a:spcBef>
                <a:spcPts val="26"/>
              </a:spcBef>
            </a:pPr>
            <a:r>
              <a:rPr lang="en-US" sz="2800" dirty="0">
                <a:solidFill>
                  <a:srgbClr val="000000"/>
                </a:solidFill>
              </a:rPr>
              <a:t>Connect the points to form a straight line.</a:t>
            </a:r>
          </a:p>
          <a:p>
            <a:pPr marL="457200" indent="-457200">
              <a:buFont typeface="+mj-lt"/>
              <a:buAutoNum type="arabicPeriod"/>
            </a:pPr>
            <a:endParaRPr lang="en-US" sz="2800" dirty="0">
              <a:solidFill>
                <a:srgbClr val="000000"/>
              </a:solidFill>
            </a:endParaRPr>
          </a:p>
          <a:p>
            <a:pPr marL="0" indent="0">
              <a:buNone/>
            </a:pPr>
            <a:endParaRPr lang="en-US" sz="2800" dirty="0">
              <a:solidFill>
                <a:srgbClr val="000000"/>
              </a:solidFill>
            </a:endParaRPr>
          </a:p>
          <a:p>
            <a:pPr marL="0" indent="0">
              <a:buNone/>
            </a:pPr>
            <a:endParaRPr lang="en-US" sz="2800" dirty="0">
              <a:solidFill>
                <a:srgbClr val="000000"/>
              </a:solidFill>
            </a:endParaRPr>
          </a:p>
        </p:txBody>
      </p:sp>
      <p:pic>
        <p:nvPicPr>
          <p:cNvPr id="5" name="Picture 4" descr="A coordinate plane.">
            <a:extLst>
              <a:ext uri="{FF2B5EF4-FFF2-40B4-BE49-F238E27FC236}">
                <a16:creationId xmlns:a16="http://schemas.microsoft.com/office/drawing/2014/main" id="{995B6145-85B1-84F2-D97C-F6400CF85F78}"/>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8494393" y="1892673"/>
            <a:ext cx="3696020" cy="4077054"/>
          </a:xfrm>
          <a:prstGeom prst="rect">
            <a:avLst/>
          </a:prstGeom>
        </p:spPr>
      </p:pic>
      <p:sp>
        <p:nvSpPr>
          <p:cNvPr id="1005" name="Slide Number 1005"/>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26</a:t>
            </a:fld>
          </a:p>
        </p:txBody>
      </p:sp>
      <p:sp>
        <p:nvSpPr>
          <p:cNvPr id="1006" name="Answer 1006"/>
          <p:cNvSpPr txBox="1"/>
          <p:nvPr/>
        </p:nvSpPr>
        <p:spPr>
          <a:xfrm>
            <a:off x="8496300" y="6032500"/>
            <a:ext cx="3651250" cy="7937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700" dirty="0">
                <a:solidFill>
                  <a:srgbClr val="FF0000"/>
                </a:solidFill>
              </a:rPr>
              <a:t>Point (3, 50); slope 5/1 (or −5/−1).</a:t>
            </a:r>
          </a:p>
          <a:p>
            <a:pPr marL="0" indent="0" algn="l">
              <a:spcBef>
                <a:spcPts val="0"/>
              </a:spcBef>
              <a:spcAft>
                <a:spcPts val="300"/>
              </a:spcAft>
              <a:buNone/>
            </a:pPr>
            <a:r>
              <a:rPr lang="en-US" sz="1700" dirty="0">
                <a:solidFill>
                  <a:srgbClr val="FF0000"/>
                </a:solidFill>
              </a:rPr>
              <a:t>More points: (2, 45), (4, 55), (6, 65).</a:t>
            </a:r>
          </a:p>
        </p:txBody>
      </p:sp>
    </p:spTree>
    <p:extLst>
      <p:ext uri="{BB962C8B-B14F-4D97-AF65-F5344CB8AC3E}">
        <p14:creationId xmlns:p14="http://schemas.microsoft.com/office/powerpoint/2010/main" val="3077963167"/>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0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D460E6-3786-88CB-BCBB-13229288618A}"/>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AD8885E-F251-15BA-7F35-84BEA0F76192}"/>
              </a:ext>
            </a:extLst>
          </p:cNvPr>
          <p:cNvSpPr>
            <a:spLocks noGrp="1"/>
          </p:cNvSpPr>
          <p:nvPr>
            <p:ph type="title"/>
          </p:nvPr>
        </p:nvSpPr>
        <p:spPr/>
        <p:txBody>
          <a:bodyPr/>
          <a:lstStyle/>
          <a:p>
            <a:pPr algn="l"/>
            <a:r>
              <a:rPr lang="en-US" b="1" dirty="0"/>
              <a:t>Using Point-Slope Form to Graph a Line </a:t>
            </a:r>
            <a:r>
              <a:rPr lang="en-US" sz="2000" b="1" dirty="0">
                <a:solidFill>
                  <a:schemeClr val="bg1"/>
                </a:solidFill>
              </a:rPr>
              <a:t>(4 of 8)</a:t>
            </a:r>
          </a:p>
        </p:txBody>
      </p:sp>
      <p:sp>
        <p:nvSpPr>
          <p:cNvPr id="3" name="TextBox 2">
            <a:extLst>
              <a:ext uri="{FF2B5EF4-FFF2-40B4-BE49-F238E27FC236}">
                <a16:creationId xmlns:a16="http://schemas.microsoft.com/office/drawing/2014/main" id="{EE202D79-E47F-68BC-6F86-ABF67EB3BB72}"/>
              </a:ext>
            </a:extLst>
          </p:cNvPr>
          <p:cNvSpPr txBox="1"/>
          <p:nvPr/>
        </p:nvSpPr>
        <p:spPr>
          <a:xfrm>
            <a:off x="777240" y="1564968"/>
            <a:ext cx="2224753" cy="1989116"/>
          </a:xfrm>
          <a:prstGeom prst="rect">
            <a:avLst/>
          </a:prstGeom>
          <a:noFill/>
          <a:ln w="31750">
            <a:solidFill>
              <a:srgbClr val="008F4C"/>
            </a:solidFill>
            <a:prstDash val="sysDot"/>
          </a:ln>
        </p:spPr>
        <p:txBody>
          <a:bodyPr wrap="square" lIns="182880" rtlCol="0" anchor="ctr" anchorCtr="0">
            <a:noAutofit/>
          </a:bodyPr>
          <a:lstStyle/>
          <a:p>
            <a:r>
              <a:rPr lang="en-US" sz="2000" dirty="0">
                <a:solidFill>
                  <a:srgbClr val="000000"/>
                </a:solidFill>
              </a:rPr>
              <a:t>Remember, start with the given point and then use the slope to plot two more points.</a:t>
            </a:r>
          </a:p>
        </p:txBody>
      </p:sp>
      <mc:AlternateContent xmlns:mc="http://schemas.openxmlformats.org/markup-compatibility/2006" xmlns:a14="http://schemas.microsoft.com/office/drawing/2010/main">
        <mc:Choice Requires="a14">
          <p:sp>
            <p:nvSpPr>
              <p:cNvPr id="2" name="Text Placeholder 2">
                <a:extLst>
                  <a:ext uri="{FF2B5EF4-FFF2-40B4-BE49-F238E27FC236}">
                    <a16:creationId xmlns:a16="http://schemas.microsoft.com/office/drawing/2014/main" id="{0A0FD9E5-7699-3E9E-692A-21BF18A26A5E}"/>
                  </a:ext>
                </a:extLst>
              </p:cNvPr>
              <p:cNvSpPr txBox="1">
                <a:spLocks/>
              </p:cNvSpPr>
              <p:nvPr/>
            </p:nvSpPr>
            <p:spPr>
              <a:xfrm>
                <a:off x="3243532" y="1384248"/>
                <a:ext cx="8546848" cy="250198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7525" lvl="1" indent="-514350">
                  <a:buFont typeface="+mj-lt"/>
                  <a:buAutoNum type="arabicPeriod" startAt="2"/>
                </a:pPr>
                <a:r>
                  <a:rPr lang="en-US" dirty="0">
                    <a:solidFill>
                      <a:srgbClr val="000000"/>
                    </a:solidFill>
                  </a:rPr>
                  <a:t>Identify the slope and a point on the line from the given equation. Then, graph each line. Be careful to take into account the scales on the axes and the signs of the points given in the equation.</a:t>
                </a:r>
              </a:p>
              <a:p>
                <a:pPr marL="1027113" lvl="2" indent="-514350">
                  <a:buFont typeface="+mj-lt"/>
                  <a:buAutoNum type="alphaLcPeriod"/>
                </a:pPr>
                <a:r>
                  <a:rPr lang="en-US" sz="2800" b="0" dirty="0">
                    <a:solidFill>
                      <a:srgbClr val="000000"/>
                    </a:solidFill>
                  </a:rPr>
                  <a:t> </a:t>
                </a:r>
                <a14:m>
                  <m:oMath xmlns:m="http://schemas.openxmlformats.org/officeDocument/2006/math">
                    <m:r>
                      <a:rPr lang="en-US" sz="2800" b="0" i="1" smtClean="0">
                        <a:solidFill>
                          <a:srgbClr val="000000"/>
                        </a:solidFill>
                        <a:latin typeface="Cambria Math" panose="02040503050406030204" pitchFamily="18" charset="0"/>
                      </a:rPr>
                      <m:t>𝑦</m:t>
                    </m:r>
                    <m:r>
                      <a:rPr lang="en-US" sz="2800" b="0" i="1" smtClean="0">
                        <a:solidFill>
                          <a:srgbClr val="000000"/>
                        </a:solidFill>
                        <a:latin typeface="Cambria Math" panose="02040503050406030204" pitchFamily="18" charset="0"/>
                      </a:rPr>
                      <m:t>−5=−</m:t>
                    </m:r>
                    <m:f>
                      <m:fPr>
                        <m:ctrlPr>
                          <a:rPr lang="en-US" sz="2800" b="0" i="1" smtClean="0">
                            <a:solidFill>
                              <a:srgbClr val="000000"/>
                            </a:solidFill>
                            <a:latin typeface="Cambria Math" panose="02040503050406030204" pitchFamily="18" charset="0"/>
                          </a:rPr>
                        </m:ctrlPr>
                      </m:fPr>
                      <m:num>
                        <m:r>
                          <a:rPr lang="en-US" sz="2800" b="0" i="1" smtClean="0">
                            <a:solidFill>
                              <a:srgbClr val="000000"/>
                            </a:solidFill>
                            <a:latin typeface="Cambria Math" panose="02040503050406030204" pitchFamily="18" charset="0"/>
                          </a:rPr>
                          <m:t>3</m:t>
                        </m:r>
                      </m:num>
                      <m:den>
                        <m:r>
                          <a:rPr lang="en-US" sz="2800" b="0" i="1" smtClean="0">
                            <a:solidFill>
                              <a:srgbClr val="000000"/>
                            </a:solidFill>
                            <a:latin typeface="Cambria Math" panose="02040503050406030204" pitchFamily="18" charset="0"/>
                          </a:rPr>
                          <m:t>4</m:t>
                        </m:r>
                      </m:den>
                    </m:f>
                    <m:r>
                      <a:rPr lang="en-US" sz="2800" b="0" i="1" smtClean="0">
                        <a:solidFill>
                          <a:srgbClr val="000000"/>
                        </a:solidFill>
                        <a:latin typeface="Cambria Math" panose="02040503050406030204" pitchFamily="18" charset="0"/>
                      </a:rPr>
                      <m:t>(</m:t>
                    </m:r>
                    <m:r>
                      <a:rPr lang="en-US" sz="2800" b="0" i="1" smtClean="0">
                        <a:solidFill>
                          <a:srgbClr val="000000"/>
                        </a:solidFill>
                        <a:latin typeface="Cambria Math" panose="02040503050406030204" pitchFamily="18" charset="0"/>
                      </a:rPr>
                      <m:t>𝑥</m:t>
                    </m:r>
                    <m:r>
                      <a:rPr lang="en-US" sz="2800" b="0" i="1" smtClean="0">
                        <a:solidFill>
                          <a:srgbClr val="000000"/>
                        </a:solidFill>
                        <a:latin typeface="Cambria Math" panose="02040503050406030204" pitchFamily="18" charset="0"/>
                      </a:rPr>
                      <m:t>−14)</m:t>
                    </m:r>
                  </m:oMath>
                </a14:m>
                <a:endParaRPr lang="en-US" sz="2800" dirty="0">
                  <a:solidFill>
                    <a:srgbClr val="000000"/>
                  </a:solidFill>
                </a:endParaRPr>
              </a:p>
            </p:txBody>
          </p:sp>
        </mc:Choice>
        <mc:Fallback xmlns="">
          <p:sp>
            <p:nvSpPr>
              <p:cNvPr id="2" name="Text Placeholder 2">
                <a:extLst>
                  <a:ext uri="{FF2B5EF4-FFF2-40B4-BE49-F238E27FC236}">
                    <a16:creationId xmlns:a16="http://schemas.microsoft.com/office/drawing/2014/main" id="{0A0FD9E5-7699-3E9E-692A-21BF18A26A5E}"/>
                  </a:ext>
                </a:extLst>
              </p:cNvPr>
              <p:cNvSpPr txBox="1">
                <a:spLocks noRot="1" noChangeAspect="1" noMove="1" noResize="1" noEditPoints="1" noAdjustHandles="1" noChangeArrowheads="1" noChangeShapeType="1" noTextEdit="1"/>
              </p:cNvSpPr>
              <p:nvPr/>
            </p:nvSpPr>
            <p:spPr>
              <a:xfrm>
                <a:off x="3243532" y="1384248"/>
                <a:ext cx="8546848" cy="2501984"/>
              </a:xfrm>
              <a:prstGeom prst="rect">
                <a:avLst/>
              </a:prstGeom>
              <a:blipFill>
                <a:blip r:embed="rId3"/>
                <a:stretch>
                  <a:fillRect l="-1427" t="-2676" r="-713" b="-4380"/>
                </a:stretch>
              </a:blipFill>
            </p:spPr>
            <p:txBody>
              <a:bodyPr/>
              <a:lstStyle/>
              <a:p>
                <a:r>
                  <a:rPr lang="en-US">
                    <a:noFill/>
                  </a:rPr>
                  <a:t> </a:t>
                </a:r>
              </a:p>
            </p:txBody>
          </p:sp>
        </mc:Fallback>
      </mc:AlternateContent>
      <p:pic>
        <p:nvPicPr>
          <p:cNvPr id="7" name="Picture 6" descr="A coordinate plane.">
            <a:extLst>
              <a:ext uri="{FF2B5EF4-FFF2-40B4-BE49-F238E27FC236}">
                <a16:creationId xmlns:a16="http://schemas.microsoft.com/office/drawing/2014/main" id="{704B31B5-4CE9-422B-D47A-A3E8D5CCCA54}"/>
              </a:ext>
            </a:extLst>
          </p:cNvPr>
          <p:cNvPicPr>
            <a:picLocks noChangeAspect="1"/>
          </p:cNvPicPr>
          <p:nvPr/>
        </p:nvPicPr>
        <p:blipFill>
          <a:blip r:embed="rId4" cstate="screen">
            <a:extLst>
              <a:ext uri="{28A0092B-C50C-407E-A947-70E740481C1C}">
                <a14:useLocalDpi xmlns:a14="http://schemas.microsoft.com/office/drawing/2010/main"/>
              </a:ext>
            </a:extLst>
          </a:blip>
          <a:srcRect/>
          <a:stretch/>
        </p:blipFill>
        <p:spPr>
          <a:xfrm>
            <a:off x="8366474" y="3191773"/>
            <a:ext cx="3750889" cy="3554083"/>
          </a:xfrm>
          <a:prstGeom prst="rect">
            <a:avLst/>
          </a:prstGeom>
        </p:spPr>
      </p:pic>
      <p:sp>
        <p:nvSpPr>
          <p:cNvPr id="1007" name="Slide Number 1007"/>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27</a:t>
            </a:fld>
          </a:p>
        </p:txBody>
      </p:sp>
      <p:sp>
        <p:nvSpPr>
          <p:cNvPr id="1008" name="Answer 1008"/>
          <p:cNvSpPr txBox="1"/>
          <p:nvPr/>
        </p:nvSpPr>
        <p:spPr>
          <a:xfrm>
            <a:off x="3244850" y="3937000"/>
            <a:ext cx="4953000" cy="2667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Slope −3/4; point (14, 5).</a:t>
            </a:r>
          </a:p>
          <a:p>
            <a:pPr marL="0" indent="0" algn="l">
              <a:spcBef>
                <a:spcPts val="0"/>
              </a:spcBef>
              <a:spcAft>
                <a:spcPts val="300"/>
              </a:spcAft>
              <a:buNone/>
            </a:pPr>
            <a:r>
              <a:rPr lang="en-US" sz="2200" dirty="0">
                <a:solidFill>
                  <a:srgbClr val="FF0000"/>
                </a:solidFill>
              </a:rPr>
              <a:t>From (14, 5): up 3, left 4 → (10, 8), (6, 11), (2, 14).</a:t>
            </a:r>
          </a:p>
          <a:p>
            <a:pPr marL="0" indent="0" algn="l">
              <a:spcBef>
                <a:spcPts val="0"/>
              </a:spcBef>
              <a:spcAft>
                <a:spcPts val="300"/>
              </a:spcAft>
              <a:buNone/>
            </a:pPr>
            <a:r>
              <a:rPr lang="en-US" sz="2200" dirty="0">
                <a:solidFill>
                  <a:srgbClr val="FF0000"/>
                </a:solidFill>
              </a:rPr>
              <a:t>The line crosses the y-axis at (0, 15.5).</a:t>
            </a:r>
          </a:p>
        </p:txBody>
      </p:sp>
    </p:spTree>
    <p:extLst>
      <p:ext uri="{BB962C8B-B14F-4D97-AF65-F5344CB8AC3E}">
        <p14:creationId xmlns:p14="http://schemas.microsoft.com/office/powerpoint/2010/main" val="2134951342"/>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0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CA9249-ED7D-378C-B361-9A92C331A5D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0CD162A-777F-F92B-1952-3700F46EEF5E}"/>
              </a:ext>
            </a:extLst>
          </p:cNvPr>
          <p:cNvSpPr>
            <a:spLocks noGrp="1"/>
          </p:cNvSpPr>
          <p:nvPr>
            <p:ph type="title"/>
          </p:nvPr>
        </p:nvSpPr>
        <p:spPr/>
        <p:txBody>
          <a:bodyPr/>
          <a:lstStyle/>
          <a:p>
            <a:pPr algn="l"/>
            <a:r>
              <a:rPr lang="en-US" b="1" dirty="0"/>
              <a:t>Using Point-Slope Form to Graph a Line </a:t>
            </a:r>
            <a:r>
              <a:rPr lang="en-US" sz="2000" b="1" dirty="0">
                <a:solidFill>
                  <a:schemeClr val="bg1"/>
                </a:solidFill>
              </a:rPr>
              <a:t>(5 of 8)</a:t>
            </a:r>
          </a:p>
        </p:txBody>
      </p:sp>
      <mc:AlternateContent xmlns:mc="http://schemas.openxmlformats.org/markup-compatibility/2006" xmlns:a14="http://schemas.microsoft.com/office/drawing/2010/main">
        <mc:Choice Requires="a14">
          <p:sp>
            <p:nvSpPr>
              <p:cNvPr id="2" name="Text Placeholder 2">
                <a:extLst>
                  <a:ext uri="{FF2B5EF4-FFF2-40B4-BE49-F238E27FC236}">
                    <a16:creationId xmlns:a16="http://schemas.microsoft.com/office/drawing/2014/main" id="{E951C5D6-E99F-8BFC-6ABC-97957C635C96}"/>
                  </a:ext>
                </a:extLst>
              </p:cNvPr>
              <p:cNvSpPr txBox="1">
                <a:spLocks/>
              </p:cNvSpPr>
              <p:nvPr/>
            </p:nvSpPr>
            <p:spPr>
              <a:xfrm>
                <a:off x="777241" y="1595887"/>
                <a:ext cx="5317966" cy="1086929"/>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7525" lvl="1" indent="-514350">
                  <a:buFont typeface="+mj-lt"/>
                  <a:buAutoNum type="alphaLcPeriod" startAt="2"/>
                </a:pPr>
                <a:r>
                  <a:rPr lang="en-US" sz="2800" b="0" dirty="0">
                    <a:solidFill>
                      <a:srgbClr val="000000"/>
                    </a:solidFill>
                  </a:rPr>
                  <a:t> </a:t>
                </a:r>
                <a14:m>
                  <m:oMath xmlns:m="http://schemas.openxmlformats.org/officeDocument/2006/math">
                    <m:r>
                      <a:rPr lang="en-US" sz="2800" b="0" i="1" smtClean="0">
                        <a:solidFill>
                          <a:srgbClr val="000000"/>
                        </a:solidFill>
                        <a:latin typeface="Cambria Math" panose="02040503050406030204" pitchFamily="18" charset="0"/>
                      </a:rPr>
                      <m:t>𝑦</m:t>
                    </m:r>
                    <m:r>
                      <a:rPr lang="en-US" sz="2800" b="0" i="1" smtClean="0">
                        <a:solidFill>
                          <a:srgbClr val="000000"/>
                        </a:solidFill>
                        <a:latin typeface="Cambria Math" panose="02040503050406030204" pitchFamily="18" charset="0"/>
                      </a:rPr>
                      <m:t>+8=</m:t>
                    </m:r>
                    <m:f>
                      <m:fPr>
                        <m:ctrlPr>
                          <a:rPr lang="en-US" sz="2800" b="0" i="1" smtClean="0">
                            <a:solidFill>
                              <a:srgbClr val="000000"/>
                            </a:solidFill>
                            <a:latin typeface="Cambria Math" panose="02040503050406030204" pitchFamily="18" charset="0"/>
                          </a:rPr>
                        </m:ctrlPr>
                      </m:fPr>
                      <m:num>
                        <m:r>
                          <a:rPr lang="en-US" sz="2800" b="0" i="1" smtClean="0">
                            <a:solidFill>
                              <a:srgbClr val="000000"/>
                            </a:solidFill>
                            <a:latin typeface="Cambria Math" panose="02040503050406030204" pitchFamily="18" charset="0"/>
                          </a:rPr>
                          <m:t>1</m:t>
                        </m:r>
                      </m:num>
                      <m:den>
                        <m:r>
                          <a:rPr lang="en-US" sz="2800" b="0" i="1" smtClean="0">
                            <a:solidFill>
                              <a:srgbClr val="000000"/>
                            </a:solidFill>
                            <a:latin typeface="Cambria Math" panose="02040503050406030204" pitchFamily="18" charset="0"/>
                          </a:rPr>
                          <m:t>2</m:t>
                        </m:r>
                      </m:den>
                    </m:f>
                    <m:r>
                      <a:rPr lang="en-US" sz="2800" b="0" i="1" smtClean="0">
                        <a:solidFill>
                          <a:srgbClr val="000000"/>
                        </a:solidFill>
                        <a:latin typeface="Cambria Math" panose="02040503050406030204" pitchFamily="18" charset="0"/>
                      </a:rPr>
                      <m:t>(</m:t>
                    </m:r>
                    <m:r>
                      <a:rPr lang="en-US" sz="2800" b="0" i="1" smtClean="0">
                        <a:solidFill>
                          <a:srgbClr val="000000"/>
                        </a:solidFill>
                        <a:latin typeface="Cambria Math" panose="02040503050406030204" pitchFamily="18" charset="0"/>
                      </a:rPr>
                      <m:t>𝑥</m:t>
                    </m:r>
                    <m:r>
                      <a:rPr lang="en-US" sz="2800" b="0" i="1" smtClean="0">
                        <a:solidFill>
                          <a:srgbClr val="000000"/>
                        </a:solidFill>
                        <a:latin typeface="Cambria Math" panose="02040503050406030204" pitchFamily="18" charset="0"/>
                      </a:rPr>
                      <m:t>+6)</m:t>
                    </m:r>
                  </m:oMath>
                </a14:m>
                <a:endParaRPr lang="en-US" sz="2800" dirty="0">
                  <a:solidFill>
                    <a:srgbClr val="000000"/>
                  </a:solidFill>
                </a:endParaRPr>
              </a:p>
            </p:txBody>
          </p:sp>
        </mc:Choice>
        <mc:Fallback xmlns="">
          <p:sp>
            <p:nvSpPr>
              <p:cNvPr id="2" name="Text Placeholder 2">
                <a:extLst>
                  <a:ext uri="{FF2B5EF4-FFF2-40B4-BE49-F238E27FC236}">
                    <a16:creationId xmlns:a16="http://schemas.microsoft.com/office/drawing/2014/main" id="{E951C5D6-E99F-8BFC-6ABC-97957C635C96}"/>
                  </a:ext>
                </a:extLst>
              </p:cNvPr>
              <p:cNvSpPr txBox="1">
                <a:spLocks noRot="1" noChangeAspect="1" noMove="1" noResize="1" noEditPoints="1" noAdjustHandles="1" noChangeArrowheads="1" noChangeShapeType="1" noTextEdit="1"/>
              </p:cNvSpPr>
              <p:nvPr/>
            </p:nvSpPr>
            <p:spPr>
              <a:xfrm>
                <a:off x="777241" y="1595887"/>
                <a:ext cx="5317966" cy="1086929"/>
              </a:xfrm>
              <a:prstGeom prst="rect">
                <a:avLst/>
              </a:prstGeom>
              <a:blipFill>
                <a:blip r:embed="rId3"/>
                <a:stretch>
                  <a:fillRect l="-2294"/>
                </a:stretch>
              </a:blipFill>
            </p:spPr>
            <p:txBody>
              <a:bodyPr/>
              <a:lstStyle/>
              <a:p>
                <a:r>
                  <a:rPr lang="en-US">
                    <a:noFill/>
                  </a:rPr>
                  <a:t> </a:t>
                </a:r>
              </a:p>
            </p:txBody>
          </p:sp>
        </mc:Fallback>
      </mc:AlternateContent>
      <p:pic>
        <p:nvPicPr>
          <p:cNvPr id="6" name="Picture 5" descr="A coordinate plane.">
            <a:extLst>
              <a:ext uri="{FF2B5EF4-FFF2-40B4-BE49-F238E27FC236}">
                <a16:creationId xmlns:a16="http://schemas.microsoft.com/office/drawing/2014/main" id="{257B5C40-3B2F-FC90-4E25-4AF05E56E8B9}"/>
              </a:ext>
            </a:extLst>
          </p:cNvPr>
          <p:cNvPicPr>
            <a:picLocks noChangeAspect="1"/>
          </p:cNvPicPr>
          <p:nvPr/>
        </p:nvPicPr>
        <p:blipFill>
          <a:blip r:embed="rId4">
            <a:extLst>
              <a:ext uri="{28A0092B-C50C-407E-A947-70E740481C1C}">
                <a14:useLocalDpi xmlns:a14="http://schemas.microsoft.com/office/drawing/2010/main"/>
              </a:ext>
            </a:extLst>
          </a:blip>
          <a:stretch>
            <a:fillRect/>
          </a:stretch>
        </p:blipFill>
        <p:spPr>
          <a:xfrm>
            <a:off x="2019495" y="2449903"/>
            <a:ext cx="4007223" cy="3770990"/>
          </a:xfrm>
          <a:prstGeom prst="rect">
            <a:avLst/>
          </a:prstGeom>
        </p:spPr>
      </p:pic>
      <p:sp>
        <p:nvSpPr>
          <p:cNvPr id="1006" name="Slide Number 1006"/>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28</a:t>
            </a:fld>
          </a:p>
        </p:txBody>
      </p:sp>
      <p:sp>
        <p:nvSpPr>
          <p:cNvPr id="1007" name="Answer 1007"/>
          <p:cNvSpPr txBox="1"/>
          <p:nvPr/>
        </p:nvSpPr>
        <p:spPr>
          <a:xfrm>
            <a:off x="6223000" y="2667000"/>
            <a:ext cx="5588000" cy="2667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Slope 1/2; point (−6, −8).</a:t>
            </a:r>
          </a:p>
          <a:p>
            <a:pPr marL="0" indent="0" algn="l">
              <a:spcBef>
                <a:spcPts val="0"/>
              </a:spcBef>
              <a:spcAft>
                <a:spcPts val="300"/>
              </a:spcAft>
              <a:buNone/>
            </a:pPr>
            <a:r>
              <a:rPr lang="en-US" sz="2400" dirty="0">
                <a:solidFill>
                  <a:srgbClr val="FF0000"/>
                </a:solidFill>
              </a:rPr>
              <a:t>From (−6, −8): up 1, right 2 → (−4, −7), (−2, −6), (0, −5), (2, −4).</a:t>
            </a:r>
          </a:p>
        </p:txBody>
      </p:sp>
    </p:spTree>
    <p:extLst>
      <p:ext uri="{BB962C8B-B14F-4D97-AF65-F5344CB8AC3E}">
        <p14:creationId xmlns:p14="http://schemas.microsoft.com/office/powerpoint/2010/main" val="701632426"/>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0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C70837-54A6-5393-5579-7D24D21CFA4D}"/>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CA1C23B-2113-58AD-22FC-03BA4C87AFA4}"/>
              </a:ext>
            </a:extLst>
          </p:cNvPr>
          <p:cNvSpPr>
            <a:spLocks noGrp="1"/>
          </p:cNvSpPr>
          <p:nvPr>
            <p:ph type="title"/>
          </p:nvPr>
        </p:nvSpPr>
        <p:spPr/>
        <p:txBody>
          <a:bodyPr/>
          <a:lstStyle/>
          <a:p>
            <a:pPr algn="l"/>
            <a:r>
              <a:rPr lang="en-US" b="1" dirty="0"/>
              <a:t>Using Point-Slope Form to Graph a Line </a:t>
            </a:r>
            <a:r>
              <a:rPr lang="en-US" sz="2000" b="1" dirty="0">
                <a:solidFill>
                  <a:schemeClr val="bg1"/>
                </a:solidFill>
              </a:rPr>
              <a:t>(6 of 8)</a:t>
            </a:r>
          </a:p>
        </p:txBody>
      </p:sp>
      <p:sp>
        <p:nvSpPr>
          <p:cNvPr id="2" name="Text Placeholder 2">
            <a:extLst>
              <a:ext uri="{FF2B5EF4-FFF2-40B4-BE49-F238E27FC236}">
                <a16:creationId xmlns:a16="http://schemas.microsoft.com/office/drawing/2014/main" id="{EA55AE6E-1423-19C0-C0DA-21C547AF1153}"/>
              </a:ext>
            </a:extLst>
          </p:cNvPr>
          <p:cNvSpPr txBox="1">
            <a:spLocks/>
          </p:cNvSpPr>
          <p:nvPr/>
        </p:nvSpPr>
        <p:spPr>
          <a:xfrm>
            <a:off x="777241" y="1263193"/>
            <a:ext cx="6693234" cy="4930573"/>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7525" lvl="2" indent="-517525">
              <a:buFont typeface="+mj-lt"/>
              <a:buAutoNum type="arabicPeriod" startAt="3"/>
            </a:pPr>
            <a:r>
              <a:rPr lang="en-US" sz="2800" dirty="0">
                <a:solidFill>
                  <a:srgbClr val="000000"/>
                </a:solidFill>
              </a:rPr>
              <a:t>An underwater remote operated vehicle (ROV) is lowered from a boat at a constant rate of 0.3 meters per second. After 90 seconds, the ROV is at a depth of −25.8 meters.</a:t>
            </a:r>
            <a:br>
              <a:rPr lang="en-US" sz="2000" dirty="0">
                <a:solidFill>
                  <a:srgbClr val="000000"/>
                </a:solidFill>
              </a:rPr>
            </a:br>
            <a:br>
              <a:rPr lang="en-US" sz="2000" dirty="0">
                <a:solidFill>
                  <a:srgbClr val="000000"/>
                </a:solidFill>
              </a:rPr>
            </a:br>
            <a:r>
              <a:rPr lang="en-US" sz="2800" dirty="0">
                <a:solidFill>
                  <a:srgbClr val="000000"/>
                </a:solidFill>
              </a:rPr>
              <a:t>Define your variables and units. Then, write and graph an equation for the depth of the submarine over time.</a:t>
            </a:r>
          </a:p>
        </p:txBody>
      </p:sp>
      <p:pic>
        <p:nvPicPr>
          <p:cNvPr id="5" name="Picture 4" descr="A coordinate plane.">
            <a:extLst>
              <a:ext uri="{FF2B5EF4-FFF2-40B4-BE49-F238E27FC236}">
                <a16:creationId xmlns:a16="http://schemas.microsoft.com/office/drawing/2014/main" id="{42FA2408-A6A8-1BE9-0A59-532F2C3ACBCA}"/>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7674236" y="1547649"/>
            <a:ext cx="4324725" cy="3762701"/>
          </a:xfrm>
          <a:prstGeom prst="rect">
            <a:avLst/>
          </a:prstGeom>
        </p:spPr>
      </p:pic>
      <p:sp>
        <p:nvSpPr>
          <p:cNvPr id="1005" name="Slide Number 1005"/>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29</a:t>
            </a:fld>
          </a:p>
        </p:txBody>
      </p:sp>
      <p:sp>
        <p:nvSpPr>
          <p:cNvPr id="1006" name="Answer 1006"/>
          <p:cNvSpPr txBox="1"/>
          <p:nvPr/>
        </p:nvSpPr>
        <p:spPr>
          <a:xfrm>
            <a:off x="7677150" y="5365750"/>
            <a:ext cx="4381500" cy="1460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700" dirty="0">
                <a:solidFill>
                  <a:srgbClr val="FF0000"/>
                </a:solidFill>
              </a:rPr>
              <a:t>x = time (seconds), y = depth (meters)</a:t>
            </a:r>
          </a:p>
          <a:p>
            <a:pPr marL="0" indent="0" algn="l">
              <a:spcBef>
                <a:spcPts val="0"/>
              </a:spcBef>
              <a:spcAft>
                <a:spcPts val="300"/>
              </a:spcAft>
              <a:buNone/>
            </a:pPr>
            <a:r>
              <a:rPr lang="en-US" sz="1700" dirty="0">
                <a:solidFill>
                  <a:srgbClr val="FF0000"/>
                </a:solidFill>
              </a:rPr>
              <a:t>y + 25.8 = −0.3(x − 90)</a:t>
            </a:r>
          </a:p>
          <a:p>
            <a:pPr marL="0" indent="0" algn="l">
              <a:spcBef>
                <a:spcPts val="0"/>
              </a:spcBef>
              <a:spcAft>
                <a:spcPts val="300"/>
              </a:spcAft>
              <a:buNone/>
            </a:pPr>
            <a:r>
              <a:rPr lang="en-US" sz="1700" dirty="0">
                <a:solidFill>
                  <a:srgbClr val="FF0000"/>
                </a:solidFill>
              </a:rPr>
              <a:t>Plot (90, −25.8), then (190, −55.8).</a:t>
            </a:r>
          </a:p>
        </p:txBody>
      </p:sp>
    </p:spTree>
    <p:extLst>
      <p:ext uri="{BB962C8B-B14F-4D97-AF65-F5344CB8AC3E}">
        <p14:creationId xmlns:p14="http://schemas.microsoft.com/office/powerpoint/2010/main" val="1915481392"/>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0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F60D63-F406-2117-DD81-C70BE0C170FD}"/>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23042836-7A2D-5DE0-C6F1-40BE68ED7775}"/>
              </a:ext>
            </a:extLst>
          </p:cNvPr>
          <p:cNvSpPr>
            <a:spLocks noGrp="1"/>
          </p:cNvSpPr>
          <p:nvPr>
            <p:ph type="title"/>
          </p:nvPr>
        </p:nvSpPr>
        <p:spPr/>
        <p:txBody>
          <a:bodyPr/>
          <a:lstStyle/>
          <a:p>
            <a:r>
              <a:rPr lang="en-US" b="1" dirty="0"/>
              <a:t>Using Point-Slope Form to Graph a Line </a:t>
            </a:r>
            <a:r>
              <a:rPr lang="en-US" sz="2000" b="1" dirty="0">
                <a:solidFill>
                  <a:schemeClr val="bg1"/>
                </a:solidFill>
              </a:rPr>
              <a:t>(7 of 8)</a:t>
            </a:r>
            <a:endParaRPr lang="en-US" sz="2000" dirty="0">
              <a:solidFill>
                <a:schemeClr val="bg1"/>
              </a:solidFill>
            </a:endParaRPr>
          </a:p>
        </p:txBody>
      </p:sp>
      <p:sp>
        <p:nvSpPr>
          <p:cNvPr id="2" name="Text Placeholder 1">
            <a:extLst>
              <a:ext uri="{FF2B5EF4-FFF2-40B4-BE49-F238E27FC236}">
                <a16:creationId xmlns:a16="http://schemas.microsoft.com/office/drawing/2014/main" id="{689E771E-442C-C76B-215E-D34854A0A949}"/>
              </a:ext>
            </a:extLst>
          </p:cNvPr>
          <p:cNvSpPr>
            <a:spLocks noGrp="1"/>
          </p:cNvSpPr>
          <p:nvPr>
            <p:ph type="body" sz="quarter" idx="10"/>
          </p:nvPr>
        </p:nvSpPr>
        <p:spPr>
          <a:xfrm>
            <a:off x="777240" y="1635686"/>
            <a:ext cx="10590848" cy="4141170"/>
          </a:xfrm>
        </p:spPr>
        <p:txBody>
          <a:bodyPr/>
          <a:lstStyle/>
          <a:p>
            <a:pPr marL="0" indent="0" algn="l">
              <a:buNone/>
            </a:pPr>
            <a:r>
              <a:rPr lang="en-US" sz="2800" b="0" i="0" u="none" strike="noStrike" baseline="0" dirty="0">
                <a:solidFill>
                  <a:srgbClr val="000000"/>
                </a:solidFill>
              </a:rPr>
              <a:t>Let’s summarize our learning from Activity 5.2!</a:t>
            </a:r>
          </a:p>
          <a:p>
            <a:endParaRPr lang="en-US" dirty="0"/>
          </a:p>
          <a:p>
            <a:endParaRPr lang="en-US" dirty="0"/>
          </a:p>
          <a:p>
            <a:endParaRPr lang="en-US" dirty="0">
              <a:solidFill>
                <a:srgbClr val="000000"/>
              </a:solidFill>
            </a:endParaRPr>
          </a:p>
        </p:txBody>
      </p:sp>
      <p:pic>
        <p:nvPicPr>
          <p:cNvPr id="3" name="Picture 2">
            <a:extLst>
              <a:ext uri="{FF2B5EF4-FFF2-40B4-BE49-F238E27FC236}">
                <a16:creationId xmlns:a16="http://schemas.microsoft.com/office/drawing/2014/main" id="{98440FB1-39B9-061D-40CB-0A334D956407}"/>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0410419" y="372494"/>
            <a:ext cx="1501270" cy="518205"/>
          </a:xfrm>
          <a:prstGeom prst="rect">
            <a:avLst/>
          </a:prstGeom>
        </p:spPr>
      </p:pic>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30</a:t>
            </a:fld>
          </a:p>
        </p:txBody>
      </p:sp>
      <p:sp>
        <p:nvSpPr>
          <p:cNvPr id="1005" name="Answer 1005"/>
          <p:cNvSpPr txBox="1"/>
          <p:nvPr/>
        </p:nvSpPr>
        <p:spPr>
          <a:xfrm>
            <a:off x="869950" y="3873500"/>
            <a:ext cx="10477500" cy="1270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Summary: An equation in point-slope form can be graphed by plotting the known point and then using the slope to locate two more points by counting from that point.</a:t>
            </a:r>
          </a:p>
        </p:txBody>
      </p:sp>
    </p:spTree>
    <p:extLst>
      <p:ext uri="{BB962C8B-B14F-4D97-AF65-F5344CB8AC3E}">
        <p14:creationId xmlns:p14="http://schemas.microsoft.com/office/powerpoint/2010/main" val="2164574797"/>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0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38A2B8-E7A5-239A-AB90-27F851486FF6}"/>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431D3B88-0F9E-47D9-4A39-F7295D961309}"/>
              </a:ext>
            </a:extLst>
          </p:cNvPr>
          <p:cNvSpPr>
            <a:spLocks noGrp="1"/>
          </p:cNvSpPr>
          <p:nvPr>
            <p:ph type="title"/>
          </p:nvPr>
        </p:nvSpPr>
        <p:spPr/>
        <p:txBody>
          <a:bodyPr/>
          <a:lstStyle/>
          <a:p>
            <a:pPr algn="l"/>
            <a:r>
              <a:rPr lang="en-US" b="1" dirty="0"/>
              <a:t>Using Point-Slope Form to Graph a Line </a:t>
            </a:r>
            <a:r>
              <a:rPr lang="en-US" sz="2000" b="1" dirty="0">
                <a:solidFill>
                  <a:schemeClr val="bg1"/>
                </a:solidFill>
              </a:rPr>
              <a:t>(8 of 8)</a:t>
            </a:r>
          </a:p>
        </p:txBody>
      </p:sp>
      <p:sp>
        <p:nvSpPr>
          <p:cNvPr id="9" name="Text Placeholder 2">
            <a:extLst>
              <a:ext uri="{FF2B5EF4-FFF2-40B4-BE49-F238E27FC236}">
                <a16:creationId xmlns:a16="http://schemas.microsoft.com/office/drawing/2014/main" id="{1E3F3D64-7D3E-6B78-AAE0-10266D78BD13}"/>
              </a:ext>
              <a:ext uri="{C183D7F6-B498-43B3-948B-1728B52AA6E4}">
                <adec:decorative xmlns:adec="http://schemas.microsoft.com/office/drawing/2017/decorative" val="1"/>
              </a:ext>
            </a:extLst>
          </p:cNvPr>
          <p:cNvSpPr txBox="1">
            <a:spLocks/>
          </p:cNvSpPr>
          <p:nvPr/>
        </p:nvSpPr>
        <p:spPr>
          <a:xfrm>
            <a:off x="777240" y="1616140"/>
            <a:ext cx="1047175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endParaRPr lang="en-US" sz="2800" dirty="0">
              <a:solidFill>
                <a:schemeClr val="bg2">
                  <a:lumMod val="25000"/>
                </a:schemeClr>
              </a:solidFill>
            </a:endParaRP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31</a:t>
            </a:fld>
          </a:p>
        </p:txBody>
      </p:sp>
    </p:spTree>
    <p:extLst>
      <p:ext uri="{BB962C8B-B14F-4D97-AF65-F5344CB8AC3E}">
        <p14:creationId xmlns:p14="http://schemas.microsoft.com/office/powerpoint/2010/main" val="288807186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6A8CAF8-33A1-73A0-1DF9-85DF59BD096A}"/>
              </a:ext>
            </a:extLst>
          </p:cNvPr>
          <p:cNvSpPr>
            <a:spLocks noGrp="1"/>
          </p:cNvSpPr>
          <p:nvPr>
            <p:ph type="title" idx="4294967295"/>
          </p:nvPr>
        </p:nvSpPr>
        <p:spPr>
          <a:xfrm>
            <a:off x="838200" y="-336430"/>
            <a:ext cx="10514013" cy="336430"/>
          </a:xfrm>
          <a:prstGeom prst="rect">
            <a:avLst/>
          </a:prstGeom>
        </p:spPr>
        <p:txBody>
          <a:bodyPr anchor="b"/>
          <a:lstStyle/>
          <a:p>
            <a:r>
              <a:rPr lang="en-US" sz="2000" dirty="0">
                <a:solidFill>
                  <a:schemeClr val="bg2"/>
                </a:solidFill>
              </a:rPr>
              <a:t>Activity 5.3</a:t>
            </a:r>
          </a:p>
        </p:txBody>
      </p:sp>
      <p:sp>
        <p:nvSpPr>
          <p:cNvPr id="3" name="Text Placeholder 2" descr="20 to 25 minutes">
            <a:extLst>
              <a:ext uri="{FF2B5EF4-FFF2-40B4-BE49-F238E27FC236}">
                <a16:creationId xmlns:a16="http://schemas.microsoft.com/office/drawing/2014/main" id="{3CD62AF3-8219-7AEB-1717-BB4B2CD0985B}"/>
              </a:ext>
            </a:extLst>
          </p:cNvPr>
          <p:cNvSpPr>
            <a:spLocks noGrp="1"/>
          </p:cNvSpPr>
          <p:nvPr>
            <p:ph type="body" sz="quarter" idx="12"/>
          </p:nvPr>
        </p:nvSpPr>
        <p:spPr>
          <a:xfrm>
            <a:off x="10614990" y="5780025"/>
            <a:ext cx="863947" cy="795338"/>
          </a:xfrm>
        </p:spPr>
        <p:txBody>
          <a:bodyPr/>
          <a:lstStyle/>
          <a:p>
            <a:r>
              <a:rPr lang="en-US" b="1" dirty="0"/>
              <a:t>20–25</a:t>
            </a:r>
          </a:p>
        </p:txBody>
      </p:sp>
      <p:sp>
        <p:nvSpPr>
          <p:cNvPr id="2" name="Text Placeholder 1">
            <a:extLst>
              <a:ext uri="{FF2B5EF4-FFF2-40B4-BE49-F238E27FC236}">
                <a16:creationId xmlns:a16="http://schemas.microsoft.com/office/drawing/2014/main" id="{7EB81C6C-A8E6-CE4C-2D52-7AD639B7578C}"/>
              </a:ext>
              <a:ext uri="{C183D7F6-B498-43B3-948B-1728B52AA6E4}">
                <adec:decorative xmlns:adec="http://schemas.microsoft.com/office/drawing/2017/decorative" val="1"/>
              </a:ext>
            </a:extLst>
          </p:cNvPr>
          <p:cNvSpPr>
            <a:spLocks noGrp="1"/>
          </p:cNvSpPr>
          <p:nvPr>
            <p:ph type="body" sz="quarter" idx="11"/>
          </p:nvPr>
        </p:nvSpPr>
        <p:spPr/>
        <p:txBody>
          <a:bodyPr/>
          <a:lstStyle/>
          <a:p>
            <a:r>
              <a:rPr lang="en-US" dirty="0"/>
              <a:t>5.3</a:t>
            </a:r>
          </a:p>
        </p:txBody>
      </p:sp>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32</a:t>
            </a:fld>
          </a:p>
        </p:txBody>
      </p:sp>
    </p:spTree>
    <p:extLst>
      <p:ext uri="{BB962C8B-B14F-4D97-AF65-F5344CB8AC3E}">
        <p14:creationId xmlns:p14="http://schemas.microsoft.com/office/powerpoint/2010/main" val="21915947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2983A4-8492-2C9C-D996-B3BFF1B99F17}"/>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5877F1F-DE5E-2323-C42F-CE4647D83A89}"/>
              </a:ext>
            </a:extLst>
          </p:cNvPr>
          <p:cNvSpPr>
            <a:spLocks noGrp="1"/>
          </p:cNvSpPr>
          <p:nvPr>
            <p:ph type="title"/>
          </p:nvPr>
        </p:nvSpPr>
        <p:spPr>
          <a:xfrm>
            <a:off x="785004" y="1"/>
            <a:ext cx="11417718" cy="1263192"/>
          </a:xfrm>
        </p:spPr>
        <p:txBody>
          <a:bodyPr/>
          <a:lstStyle/>
          <a:p>
            <a:pPr algn="l"/>
            <a:r>
              <a:rPr lang="en-US" b="1" dirty="0"/>
              <a:t>Standard Form of a Linear Equation </a:t>
            </a:r>
            <a:r>
              <a:rPr lang="en-US" sz="2000" b="1" dirty="0">
                <a:solidFill>
                  <a:schemeClr val="bg1"/>
                </a:solidFill>
              </a:rPr>
              <a:t>(1 of 16)</a:t>
            </a:r>
          </a:p>
        </p:txBody>
      </p:sp>
      <p:sp>
        <p:nvSpPr>
          <p:cNvPr id="9" name="Text Placeholder 2">
            <a:extLst>
              <a:ext uri="{FF2B5EF4-FFF2-40B4-BE49-F238E27FC236}">
                <a16:creationId xmlns:a16="http://schemas.microsoft.com/office/drawing/2014/main" id="{D28EB160-9377-ACC1-A928-EF37BD5EBB9D}"/>
              </a:ext>
            </a:extLst>
          </p:cNvPr>
          <p:cNvSpPr txBox="1">
            <a:spLocks/>
          </p:cNvSpPr>
          <p:nvPr/>
        </p:nvSpPr>
        <p:spPr>
          <a:xfrm>
            <a:off x="785004" y="1587259"/>
            <a:ext cx="10351698" cy="4986069"/>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spcAft>
                <a:spcPts val="1200"/>
              </a:spcAft>
              <a:buNone/>
            </a:pPr>
            <a:r>
              <a:rPr lang="en-US" sz="2800" dirty="0">
                <a:solidFill>
                  <a:srgbClr val="000000"/>
                </a:solidFill>
              </a:rPr>
              <a:t>Tickets for a school play cost $5.00 for students and $8.00 for adults. On opening night, $1600 is collected in ticket sales.</a:t>
            </a:r>
          </a:p>
          <a:p>
            <a:pPr marL="0" indent="0">
              <a:buNone/>
            </a:pPr>
            <a:r>
              <a:rPr lang="en-US" sz="2800" dirty="0">
                <a:solidFill>
                  <a:srgbClr val="000000"/>
                </a:solidFill>
              </a:rPr>
              <a:t>This situation can be modeled by the equation 5</a:t>
            </a:r>
            <a:r>
              <a:rPr lang="en-US" sz="2800" i="1" dirty="0">
                <a:solidFill>
                  <a:srgbClr val="000000"/>
                </a:solidFill>
              </a:rPr>
              <a:t>x</a:t>
            </a:r>
            <a:r>
              <a:rPr lang="en-US" sz="2800" dirty="0">
                <a:solidFill>
                  <a:srgbClr val="000000"/>
                </a:solidFill>
              </a:rPr>
              <a:t> + 8</a:t>
            </a:r>
            <a:r>
              <a:rPr lang="en-US" sz="2800" i="1" dirty="0">
                <a:solidFill>
                  <a:srgbClr val="000000"/>
                </a:solidFill>
              </a:rPr>
              <a:t>y</a:t>
            </a:r>
            <a:r>
              <a:rPr lang="en-US" sz="2800" dirty="0">
                <a:solidFill>
                  <a:srgbClr val="000000"/>
                </a:solidFill>
              </a:rPr>
              <a:t> = 1600.</a:t>
            </a:r>
            <a:br>
              <a:rPr lang="en-US" sz="2800" dirty="0">
                <a:solidFill>
                  <a:srgbClr val="000000"/>
                </a:solidFill>
              </a:rPr>
            </a:br>
            <a:r>
              <a:rPr lang="en-US" sz="2800" dirty="0">
                <a:solidFill>
                  <a:srgbClr val="000000"/>
                </a:solidFill>
              </a:rPr>
              <a:t>You can define the variables as shown.</a:t>
            </a:r>
          </a:p>
          <a:p>
            <a:pPr marL="0" indent="0">
              <a:buNone/>
            </a:pPr>
            <a:r>
              <a:rPr lang="en-US" sz="2800" dirty="0">
                <a:solidFill>
                  <a:srgbClr val="000000"/>
                </a:solidFill>
              </a:rPr>
              <a:t>	</a:t>
            </a:r>
            <a:r>
              <a:rPr lang="en-US" sz="2800" i="1" dirty="0">
                <a:solidFill>
                  <a:srgbClr val="000000"/>
                </a:solidFill>
              </a:rPr>
              <a:t>x</a:t>
            </a:r>
            <a:r>
              <a:rPr lang="en-US" sz="2800" dirty="0">
                <a:solidFill>
                  <a:srgbClr val="000000"/>
                </a:solidFill>
              </a:rPr>
              <a:t> = number of student tickets sold </a:t>
            </a:r>
          </a:p>
          <a:p>
            <a:pPr marL="0" indent="0">
              <a:spcAft>
                <a:spcPts val="1200"/>
              </a:spcAft>
              <a:buNone/>
            </a:pPr>
            <a:r>
              <a:rPr lang="en-US" sz="2800" dirty="0">
                <a:solidFill>
                  <a:srgbClr val="000000"/>
                </a:solidFill>
              </a:rPr>
              <a:t>	</a:t>
            </a:r>
            <a:r>
              <a:rPr lang="en-US" sz="2800" i="1" dirty="0">
                <a:solidFill>
                  <a:srgbClr val="000000"/>
                </a:solidFill>
              </a:rPr>
              <a:t>y</a:t>
            </a:r>
            <a:r>
              <a:rPr lang="en-US" sz="2800" dirty="0">
                <a:solidFill>
                  <a:srgbClr val="000000"/>
                </a:solidFill>
              </a:rPr>
              <a:t> = number of adult tickets sold</a:t>
            </a:r>
          </a:p>
          <a:p>
            <a:pPr marL="0" indent="0">
              <a:buNone/>
            </a:pPr>
            <a:r>
              <a:rPr lang="en-US" sz="2800" dirty="0">
                <a:solidFill>
                  <a:srgbClr val="000000"/>
                </a:solidFill>
              </a:rPr>
              <a:t>This equation is not written in slope-intercept form or in point-slope form. It is written in </a:t>
            </a:r>
            <a:r>
              <a:rPr lang="en-US" sz="2800" i="1" dirty="0">
                <a:solidFill>
                  <a:srgbClr val="000000"/>
                </a:solidFill>
              </a:rPr>
              <a:t>standard form</a:t>
            </a:r>
            <a:r>
              <a:rPr lang="en-US" sz="2800" dirty="0">
                <a:solidFill>
                  <a:srgbClr val="000000"/>
                </a:solidFill>
              </a:rPr>
              <a:t>. The </a:t>
            </a:r>
            <a:r>
              <a:rPr lang="en-US" sz="2800" b="1" dirty="0">
                <a:solidFill>
                  <a:srgbClr val="000000"/>
                </a:solidFill>
              </a:rPr>
              <a:t>standard form </a:t>
            </a:r>
            <a:r>
              <a:rPr lang="en-US" sz="2800" dirty="0">
                <a:solidFill>
                  <a:srgbClr val="000000"/>
                </a:solidFill>
              </a:rPr>
              <a:t>of a linear equation is </a:t>
            </a:r>
            <a:r>
              <a:rPr lang="en-US" sz="2800" i="1" dirty="0">
                <a:solidFill>
                  <a:srgbClr val="000000"/>
                </a:solidFill>
              </a:rPr>
              <a:t>Ax</a:t>
            </a:r>
            <a:r>
              <a:rPr lang="en-US" sz="2800" dirty="0">
                <a:solidFill>
                  <a:srgbClr val="000000"/>
                </a:solidFill>
              </a:rPr>
              <a:t> + </a:t>
            </a:r>
            <a:r>
              <a:rPr lang="en-US" sz="2800" i="1" dirty="0">
                <a:solidFill>
                  <a:srgbClr val="000000"/>
                </a:solidFill>
              </a:rPr>
              <a:t>By</a:t>
            </a:r>
            <a:r>
              <a:rPr lang="en-US" sz="2800" dirty="0">
                <a:solidFill>
                  <a:srgbClr val="000000"/>
                </a:solidFill>
              </a:rPr>
              <a:t> = </a:t>
            </a:r>
            <a:r>
              <a:rPr lang="en-US" sz="2800" i="1" dirty="0">
                <a:solidFill>
                  <a:srgbClr val="000000"/>
                </a:solidFill>
              </a:rPr>
              <a:t>C</a:t>
            </a:r>
            <a:r>
              <a:rPr lang="en-US" sz="2800" dirty="0">
                <a:solidFill>
                  <a:srgbClr val="000000"/>
                </a:solidFill>
              </a:rPr>
              <a:t>, where </a:t>
            </a:r>
            <a:r>
              <a:rPr lang="en-US" sz="2800" i="1" dirty="0">
                <a:solidFill>
                  <a:srgbClr val="000000"/>
                </a:solidFill>
              </a:rPr>
              <a:t>A</a:t>
            </a:r>
            <a:r>
              <a:rPr lang="en-US" sz="2800" dirty="0">
                <a:solidFill>
                  <a:srgbClr val="000000"/>
                </a:solidFill>
              </a:rPr>
              <a:t>, </a:t>
            </a:r>
            <a:r>
              <a:rPr lang="en-US" sz="2800" i="1" dirty="0">
                <a:solidFill>
                  <a:srgbClr val="000000"/>
                </a:solidFill>
              </a:rPr>
              <a:t>B,</a:t>
            </a:r>
            <a:r>
              <a:rPr lang="en-US" sz="2800" dirty="0">
                <a:solidFill>
                  <a:srgbClr val="000000"/>
                </a:solidFill>
              </a:rPr>
              <a:t> and </a:t>
            </a:r>
            <a:r>
              <a:rPr lang="en-US" sz="2800" i="1" dirty="0">
                <a:solidFill>
                  <a:srgbClr val="000000"/>
                </a:solidFill>
              </a:rPr>
              <a:t>C</a:t>
            </a:r>
            <a:r>
              <a:rPr lang="en-US" sz="2800" dirty="0">
                <a:solidFill>
                  <a:srgbClr val="000000"/>
                </a:solidFill>
              </a:rPr>
              <a:t> are integers and </a:t>
            </a:r>
            <a:r>
              <a:rPr lang="en-US" sz="2800" i="1" dirty="0">
                <a:solidFill>
                  <a:srgbClr val="000000"/>
                </a:solidFill>
              </a:rPr>
              <a:t>A </a:t>
            </a:r>
            <a:r>
              <a:rPr lang="en-US" sz="2800" dirty="0">
                <a:solidFill>
                  <a:srgbClr val="000000"/>
                </a:solidFill>
              </a:rPr>
              <a:t>and </a:t>
            </a:r>
            <a:r>
              <a:rPr lang="en-US" sz="2800" i="1" dirty="0">
                <a:solidFill>
                  <a:srgbClr val="000000"/>
                </a:solidFill>
              </a:rPr>
              <a:t>B</a:t>
            </a:r>
            <a:r>
              <a:rPr lang="en-US" sz="2800" dirty="0">
                <a:solidFill>
                  <a:srgbClr val="000000"/>
                </a:solidFill>
              </a:rPr>
              <a:t> are not both zero.</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33</a:t>
            </a:fld>
          </a:p>
        </p:txBody>
      </p:sp>
    </p:spTree>
    <p:extLst>
      <p:ext uri="{BB962C8B-B14F-4D97-AF65-F5344CB8AC3E}">
        <p14:creationId xmlns:p14="http://schemas.microsoft.com/office/powerpoint/2010/main" val="130083236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7942AF-1806-C30E-C012-912C0FED577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233A9B6-BE1B-EC61-84FC-F8B64A151E71}"/>
              </a:ext>
            </a:extLst>
          </p:cNvPr>
          <p:cNvSpPr>
            <a:spLocks noGrp="1"/>
          </p:cNvSpPr>
          <p:nvPr>
            <p:ph type="title"/>
          </p:nvPr>
        </p:nvSpPr>
        <p:spPr>
          <a:xfrm>
            <a:off x="785004" y="1"/>
            <a:ext cx="11417718" cy="1263192"/>
          </a:xfrm>
        </p:spPr>
        <p:txBody>
          <a:bodyPr/>
          <a:lstStyle/>
          <a:p>
            <a:pPr algn="l"/>
            <a:r>
              <a:rPr lang="en-US" b="1" dirty="0"/>
              <a:t>Standard Form of a Linear Equation </a:t>
            </a:r>
            <a:r>
              <a:rPr lang="en-US" sz="2000" b="1" dirty="0">
                <a:solidFill>
                  <a:schemeClr val="bg1"/>
                </a:solidFill>
              </a:rPr>
              <a:t>(2 of 16)</a:t>
            </a:r>
          </a:p>
        </p:txBody>
      </p:sp>
      <p:sp>
        <p:nvSpPr>
          <p:cNvPr id="9" name="Text Placeholder 2">
            <a:extLst>
              <a:ext uri="{FF2B5EF4-FFF2-40B4-BE49-F238E27FC236}">
                <a16:creationId xmlns:a16="http://schemas.microsoft.com/office/drawing/2014/main" id="{9366B449-6A48-F987-DF26-B20CA1740BD8}"/>
              </a:ext>
            </a:extLst>
          </p:cNvPr>
          <p:cNvSpPr txBox="1">
            <a:spLocks/>
          </p:cNvSpPr>
          <p:nvPr/>
        </p:nvSpPr>
        <p:spPr>
          <a:xfrm>
            <a:off x="785004" y="1571515"/>
            <a:ext cx="9894498" cy="108562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buFont typeface="+mj-lt"/>
              <a:buAutoNum type="arabicPeriod"/>
            </a:pPr>
            <a:r>
              <a:rPr lang="en-US" sz="2800" dirty="0">
                <a:solidFill>
                  <a:srgbClr val="000000"/>
                </a:solidFill>
              </a:rPr>
              <a:t>Explain what each term of the equation represents in the problem situation.</a:t>
            </a:r>
          </a:p>
        </p:txBody>
      </p:sp>
      <p:sp>
        <p:nvSpPr>
          <p:cNvPr id="2" name="Text Placeholder 2">
            <a:extLst>
              <a:ext uri="{FF2B5EF4-FFF2-40B4-BE49-F238E27FC236}">
                <a16:creationId xmlns:a16="http://schemas.microsoft.com/office/drawing/2014/main" id="{CC36CC26-E0AE-E65B-E67C-D7E9FE2F03E7}"/>
              </a:ext>
            </a:extLst>
          </p:cNvPr>
          <p:cNvSpPr txBox="1">
            <a:spLocks/>
          </p:cNvSpPr>
          <p:nvPr/>
        </p:nvSpPr>
        <p:spPr>
          <a:xfrm>
            <a:off x="1325612" y="2767631"/>
            <a:ext cx="1030960" cy="736898"/>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buNone/>
            </a:pPr>
            <a:r>
              <a:rPr lang="en-US" sz="2800" dirty="0">
                <a:solidFill>
                  <a:srgbClr val="000000"/>
                </a:solidFill>
              </a:rPr>
              <a:t>a.  5</a:t>
            </a:r>
            <a:r>
              <a:rPr lang="en-US" sz="2800" i="1" dirty="0">
                <a:solidFill>
                  <a:srgbClr val="000000"/>
                </a:solidFill>
              </a:rPr>
              <a:t>x</a:t>
            </a:r>
          </a:p>
        </p:txBody>
      </p:sp>
      <p:sp>
        <p:nvSpPr>
          <p:cNvPr id="3" name="Text Placeholder 2">
            <a:extLst>
              <a:ext uri="{FF2B5EF4-FFF2-40B4-BE49-F238E27FC236}">
                <a16:creationId xmlns:a16="http://schemas.microsoft.com/office/drawing/2014/main" id="{77D8BFE9-C5E3-305F-4187-47BE07CEE185}"/>
              </a:ext>
            </a:extLst>
          </p:cNvPr>
          <p:cNvSpPr txBox="1">
            <a:spLocks/>
          </p:cNvSpPr>
          <p:nvPr/>
        </p:nvSpPr>
        <p:spPr>
          <a:xfrm>
            <a:off x="6095206" y="2767631"/>
            <a:ext cx="1030960" cy="736898"/>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buNone/>
            </a:pPr>
            <a:r>
              <a:rPr lang="en-US" sz="2800" dirty="0">
                <a:solidFill>
                  <a:srgbClr val="000000"/>
                </a:solidFill>
              </a:rPr>
              <a:t>b.  8</a:t>
            </a:r>
            <a:r>
              <a:rPr lang="en-US" sz="2800" i="1" dirty="0">
                <a:solidFill>
                  <a:srgbClr val="000000"/>
                </a:solidFill>
              </a:rPr>
              <a:t>y</a:t>
            </a:r>
          </a:p>
        </p:txBody>
      </p:sp>
      <p:sp>
        <p:nvSpPr>
          <p:cNvPr id="5" name="Text Placeholder 2">
            <a:extLst>
              <a:ext uri="{FF2B5EF4-FFF2-40B4-BE49-F238E27FC236}">
                <a16:creationId xmlns:a16="http://schemas.microsoft.com/office/drawing/2014/main" id="{557ECAEE-439F-95C0-14A9-1824FA19197B}"/>
              </a:ext>
            </a:extLst>
          </p:cNvPr>
          <p:cNvSpPr txBox="1">
            <a:spLocks/>
          </p:cNvSpPr>
          <p:nvPr/>
        </p:nvSpPr>
        <p:spPr>
          <a:xfrm>
            <a:off x="1325612" y="4408759"/>
            <a:ext cx="1521381" cy="736898"/>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buNone/>
            </a:pPr>
            <a:r>
              <a:rPr lang="en-US" sz="2800" dirty="0">
                <a:solidFill>
                  <a:srgbClr val="000000"/>
                </a:solidFill>
              </a:rPr>
              <a:t>c.  1600</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34</a:t>
            </a:fld>
          </a:p>
        </p:txBody>
      </p:sp>
      <p:sp>
        <p:nvSpPr>
          <p:cNvPr id="1010" name="Answer 1010"/>
          <p:cNvSpPr txBox="1"/>
          <p:nvPr/>
        </p:nvSpPr>
        <p:spPr>
          <a:xfrm>
            <a:off x="1327150" y="3238500"/>
            <a:ext cx="4445000" cy="1079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The money from student tickets: $5 times the number of student tickets sold.</a:t>
            </a:r>
          </a:p>
        </p:txBody>
      </p:sp>
      <p:sp>
        <p:nvSpPr>
          <p:cNvPr id="1011" name="Answer 1011"/>
          <p:cNvSpPr txBox="1"/>
          <p:nvPr/>
        </p:nvSpPr>
        <p:spPr>
          <a:xfrm>
            <a:off x="6096000" y="3238500"/>
            <a:ext cx="5080000" cy="1079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The money from adult tickets: $8 times the number of adult tickets sold.</a:t>
            </a:r>
          </a:p>
        </p:txBody>
      </p:sp>
      <p:sp>
        <p:nvSpPr>
          <p:cNvPr id="1012" name="Answer 1012"/>
          <p:cNvSpPr txBox="1"/>
          <p:nvPr/>
        </p:nvSpPr>
        <p:spPr>
          <a:xfrm>
            <a:off x="1327150" y="4889500"/>
            <a:ext cx="8890000" cy="635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The total money collected in ticket sales, $1600.</a:t>
            </a:r>
          </a:p>
        </p:txBody>
      </p:sp>
    </p:spTree>
    <p:extLst>
      <p:ext uri="{BB962C8B-B14F-4D97-AF65-F5344CB8AC3E}">
        <p14:creationId xmlns:p14="http://schemas.microsoft.com/office/powerpoint/2010/main" val="1815796547"/>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1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CCBB41-3E3C-EE83-4FAB-BC4DF4666CCA}"/>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66CFA25-DC48-6DFE-58CD-D31C2E3098B6}"/>
              </a:ext>
            </a:extLst>
          </p:cNvPr>
          <p:cNvSpPr>
            <a:spLocks noGrp="1"/>
          </p:cNvSpPr>
          <p:nvPr>
            <p:ph type="title"/>
          </p:nvPr>
        </p:nvSpPr>
        <p:spPr>
          <a:xfrm>
            <a:off x="785004" y="1"/>
            <a:ext cx="11417718" cy="1263192"/>
          </a:xfrm>
        </p:spPr>
        <p:txBody>
          <a:bodyPr/>
          <a:lstStyle/>
          <a:p>
            <a:pPr algn="l"/>
            <a:r>
              <a:rPr lang="en-US" b="1" dirty="0"/>
              <a:t>Standard Form of a Linear Equation </a:t>
            </a:r>
            <a:r>
              <a:rPr lang="en-US" sz="2000" b="1" dirty="0">
                <a:solidFill>
                  <a:schemeClr val="bg1"/>
                </a:solidFill>
              </a:rPr>
              <a:t>(3 of 16)</a:t>
            </a:r>
          </a:p>
        </p:txBody>
      </p:sp>
      <p:sp>
        <p:nvSpPr>
          <p:cNvPr id="9" name="Text Placeholder 2">
            <a:extLst>
              <a:ext uri="{FF2B5EF4-FFF2-40B4-BE49-F238E27FC236}">
                <a16:creationId xmlns:a16="http://schemas.microsoft.com/office/drawing/2014/main" id="{FEFA7D99-36C2-03D2-F389-DEF085ADD9F1}"/>
              </a:ext>
            </a:extLst>
          </p:cNvPr>
          <p:cNvSpPr txBox="1">
            <a:spLocks/>
          </p:cNvSpPr>
          <p:nvPr/>
        </p:nvSpPr>
        <p:spPr>
          <a:xfrm>
            <a:off x="785004" y="1604513"/>
            <a:ext cx="9877245" cy="1052626"/>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buFont typeface="+mj-lt"/>
              <a:buAutoNum type="arabicPeriod" startAt="2"/>
            </a:pPr>
            <a:r>
              <a:rPr lang="en-US" sz="2800" dirty="0">
                <a:solidFill>
                  <a:srgbClr val="000000"/>
                </a:solidFill>
              </a:rPr>
              <a:t>What is the independent variable? What is the dependent variable? Explain your reasoning.</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35</a:t>
            </a:fld>
          </a:p>
        </p:txBody>
      </p:sp>
      <p:sp>
        <p:nvSpPr>
          <p:cNvPr id="1010" name="Answer 1010"/>
          <p:cNvSpPr txBox="1"/>
          <p:nvPr/>
        </p:nvSpPr>
        <p:spPr>
          <a:xfrm>
            <a:off x="869950" y="2730500"/>
            <a:ext cx="10160000" cy="2540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Either variable could be independent. The number of student tickets needed to reach $1600 depends on the number of adult tickets sold, or vice versa.</a:t>
            </a:r>
          </a:p>
        </p:txBody>
      </p:sp>
    </p:spTree>
    <p:extLst>
      <p:ext uri="{BB962C8B-B14F-4D97-AF65-F5344CB8AC3E}">
        <p14:creationId xmlns:p14="http://schemas.microsoft.com/office/powerpoint/2010/main" val="2352965879"/>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104388-3AD3-F80F-FCAC-9D7CA3B683A1}"/>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84E0CC8-2B5E-F339-7F64-925907A17F2C}"/>
              </a:ext>
            </a:extLst>
          </p:cNvPr>
          <p:cNvSpPr>
            <a:spLocks noGrp="1"/>
          </p:cNvSpPr>
          <p:nvPr>
            <p:ph type="title"/>
          </p:nvPr>
        </p:nvSpPr>
        <p:spPr>
          <a:xfrm>
            <a:off x="776377" y="1"/>
            <a:ext cx="11426345" cy="1263192"/>
          </a:xfrm>
        </p:spPr>
        <p:txBody>
          <a:bodyPr/>
          <a:lstStyle/>
          <a:p>
            <a:pPr algn="l"/>
            <a:r>
              <a:rPr lang="en-US" b="1" dirty="0"/>
              <a:t>Standard Form of a Linear Equation </a:t>
            </a:r>
            <a:r>
              <a:rPr lang="en-US" sz="2000" b="1" dirty="0">
                <a:solidFill>
                  <a:schemeClr val="bg1"/>
                </a:solidFill>
              </a:rPr>
              <a:t>(4 of 16)</a:t>
            </a:r>
          </a:p>
        </p:txBody>
      </p:sp>
      <p:sp>
        <p:nvSpPr>
          <p:cNvPr id="9" name="Text Placeholder 2">
            <a:extLst>
              <a:ext uri="{FF2B5EF4-FFF2-40B4-BE49-F238E27FC236}">
                <a16:creationId xmlns:a16="http://schemas.microsoft.com/office/drawing/2014/main" id="{98917A7B-A823-0270-0F5C-7B611E1D38C1}"/>
              </a:ext>
            </a:extLst>
          </p:cNvPr>
          <p:cNvSpPr txBox="1">
            <a:spLocks/>
          </p:cNvSpPr>
          <p:nvPr/>
        </p:nvSpPr>
        <p:spPr>
          <a:xfrm>
            <a:off x="776378" y="1595887"/>
            <a:ext cx="9894498" cy="3263431"/>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buNone/>
            </a:pPr>
            <a:r>
              <a:rPr lang="en-US" sz="2800" dirty="0">
                <a:solidFill>
                  <a:srgbClr val="000000"/>
                </a:solidFill>
              </a:rPr>
              <a:t>Remember, the </a:t>
            </a:r>
            <a:r>
              <a:rPr lang="en-US" sz="2800" i="1" dirty="0">
                <a:solidFill>
                  <a:srgbClr val="000000"/>
                </a:solidFill>
              </a:rPr>
              <a:t>y</a:t>
            </a:r>
            <a:r>
              <a:rPr lang="en-US" sz="2800" dirty="0">
                <a:solidFill>
                  <a:srgbClr val="000000"/>
                </a:solidFill>
              </a:rPr>
              <a:t>-intercept, (0, </a:t>
            </a:r>
            <a:r>
              <a:rPr lang="en-US" sz="2800" i="1" dirty="0">
                <a:solidFill>
                  <a:srgbClr val="000000"/>
                </a:solidFill>
              </a:rPr>
              <a:t>b</a:t>
            </a:r>
            <a:r>
              <a:rPr lang="en-US" sz="2800" dirty="0">
                <a:solidFill>
                  <a:srgbClr val="000000"/>
                </a:solidFill>
              </a:rPr>
              <a:t>) is where a line crosses the </a:t>
            </a:r>
            <a:r>
              <a:rPr lang="en-US" sz="2800" i="1" dirty="0">
                <a:solidFill>
                  <a:srgbClr val="000000"/>
                </a:solidFill>
              </a:rPr>
              <a:t>y</a:t>
            </a:r>
            <a:r>
              <a:rPr lang="en-US" sz="2800" dirty="0">
                <a:solidFill>
                  <a:srgbClr val="000000"/>
                </a:solidFill>
              </a:rPr>
              <a:t>-axis, so the value of </a:t>
            </a:r>
            <a:r>
              <a:rPr lang="en-US" sz="2800" i="1" dirty="0">
                <a:solidFill>
                  <a:srgbClr val="000000"/>
                </a:solidFill>
              </a:rPr>
              <a:t>x</a:t>
            </a:r>
            <a:r>
              <a:rPr lang="en-US" sz="2800" dirty="0">
                <a:solidFill>
                  <a:srgbClr val="000000"/>
                </a:solidFill>
              </a:rPr>
              <a:t> is 0. To calculate a </a:t>
            </a:r>
            <a:r>
              <a:rPr lang="en-US" sz="2800" i="1" dirty="0">
                <a:solidFill>
                  <a:srgbClr val="000000"/>
                </a:solidFill>
              </a:rPr>
              <a:t>y</a:t>
            </a:r>
            <a:r>
              <a:rPr lang="en-US" sz="2800" dirty="0">
                <a:solidFill>
                  <a:srgbClr val="000000"/>
                </a:solidFill>
              </a:rPr>
              <a:t>-intercept, substitute 0 for</a:t>
            </a:r>
            <a:r>
              <a:rPr lang="en-US" sz="2800" i="1" dirty="0">
                <a:solidFill>
                  <a:srgbClr val="000000"/>
                </a:solidFill>
              </a:rPr>
              <a:t> x </a:t>
            </a:r>
            <a:r>
              <a:rPr lang="en-US" sz="2800" dirty="0">
                <a:solidFill>
                  <a:srgbClr val="000000"/>
                </a:solidFill>
              </a:rPr>
              <a:t>and solve the equation for </a:t>
            </a:r>
            <a:r>
              <a:rPr lang="en-US" sz="2800" i="1" dirty="0">
                <a:solidFill>
                  <a:srgbClr val="000000"/>
                </a:solidFill>
              </a:rPr>
              <a:t>b.</a:t>
            </a:r>
          </a:p>
          <a:p>
            <a:pPr marL="0" indent="0">
              <a:buNone/>
            </a:pPr>
            <a:endParaRPr lang="en-US" sz="2800" i="1" dirty="0">
              <a:solidFill>
                <a:srgbClr val="000000"/>
              </a:solidFill>
            </a:endParaRPr>
          </a:p>
          <a:p>
            <a:pPr marL="0" indent="0">
              <a:buNone/>
            </a:pPr>
            <a:r>
              <a:rPr lang="en-US" sz="2800" dirty="0">
                <a:solidFill>
                  <a:srgbClr val="000000"/>
                </a:solidFill>
              </a:rPr>
              <a:t>The</a:t>
            </a:r>
            <a:r>
              <a:rPr lang="en-US" sz="2800" b="1" dirty="0">
                <a:solidFill>
                  <a:srgbClr val="000000"/>
                </a:solidFill>
              </a:rPr>
              <a:t> </a:t>
            </a:r>
            <a:r>
              <a:rPr lang="en-US" sz="2800" i="1" dirty="0">
                <a:solidFill>
                  <a:srgbClr val="000000"/>
                </a:solidFill>
              </a:rPr>
              <a:t>x-intercept</a:t>
            </a:r>
            <a:r>
              <a:rPr lang="en-US" sz="2800" dirty="0">
                <a:solidFill>
                  <a:srgbClr val="000000"/>
                </a:solidFill>
              </a:rPr>
              <a:t>, (</a:t>
            </a:r>
            <a:r>
              <a:rPr lang="en-US" sz="2800" i="1" dirty="0">
                <a:solidFill>
                  <a:srgbClr val="000000"/>
                </a:solidFill>
              </a:rPr>
              <a:t>x</a:t>
            </a:r>
            <a:r>
              <a:rPr lang="en-US" sz="2800" dirty="0">
                <a:solidFill>
                  <a:srgbClr val="000000"/>
                </a:solidFill>
              </a:rPr>
              <a:t>, 0), is where the line crosses the </a:t>
            </a:r>
            <a:r>
              <a:rPr lang="en-US" sz="2800" i="1" dirty="0">
                <a:solidFill>
                  <a:srgbClr val="000000"/>
                </a:solidFill>
              </a:rPr>
              <a:t>x</a:t>
            </a:r>
            <a:r>
              <a:rPr lang="en-US" sz="2800" dirty="0">
                <a:solidFill>
                  <a:srgbClr val="000000"/>
                </a:solidFill>
              </a:rPr>
              <a:t>-axis, so the  value of </a:t>
            </a:r>
            <a:r>
              <a:rPr lang="en-US" sz="2800" i="1" dirty="0">
                <a:solidFill>
                  <a:srgbClr val="000000"/>
                </a:solidFill>
              </a:rPr>
              <a:t>y</a:t>
            </a:r>
            <a:r>
              <a:rPr lang="en-US" sz="2800" dirty="0">
                <a:solidFill>
                  <a:srgbClr val="000000"/>
                </a:solidFill>
              </a:rPr>
              <a:t> is 0. To calculate an </a:t>
            </a:r>
            <a:r>
              <a:rPr lang="en-US" sz="2800" i="1" dirty="0">
                <a:solidFill>
                  <a:srgbClr val="000000"/>
                </a:solidFill>
              </a:rPr>
              <a:t>x</a:t>
            </a:r>
            <a:r>
              <a:rPr lang="en-US" sz="2800" dirty="0">
                <a:solidFill>
                  <a:srgbClr val="000000"/>
                </a:solidFill>
              </a:rPr>
              <a:t>-intercept, substitute 0 for </a:t>
            </a:r>
            <a:r>
              <a:rPr lang="en-US" sz="2800" i="1" dirty="0">
                <a:solidFill>
                  <a:srgbClr val="000000"/>
                </a:solidFill>
              </a:rPr>
              <a:t>y</a:t>
            </a:r>
            <a:r>
              <a:rPr lang="en-US" sz="2800" dirty="0">
                <a:solidFill>
                  <a:srgbClr val="000000"/>
                </a:solidFill>
              </a:rPr>
              <a:t> and solve the equation for </a:t>
            </a:r>
            <a:r>
              <a:rPr lang="en-US" sz="2800" i="1" dirty="0">
                <a:solidFill>
                  <a:srgbClr val="000000"/>
                </a:solidFill>
              </a:rPr>
              <a:t>x</a:t>
            </a:r>
            <a:r>
              <a:rPr lang="en-US" sz="2800" dirty="0">
                <a:solidFill>
                  <a:srgbClr val="000000"/>
                </a:solidFill>
              </a:rPr>
              <a:t>.</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36</a:t>
            </a:fld>
          </a:p>
        </p:txBody>
      </p:sp>
    </p:spTree>
    <p:extLst>
      <p:ext uri="{BB962C8B-B14F-4D97-AF65-F5344CB8AC3E}">
        <p14:creationId xmlns:p14="http://schemas.microsoft.com/office/powerpoint/2010/main" val="348051541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3BFC33-9B38-592C-94CC-B7A9DA375B6D}"/>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5F2D4430-1A2F-DCDE-00F9-A23F20EA2905}"/>
              </a:ext>
            </a:extLst>
          </p:cNvPr>
          <p:cNvSpPr>
            <a:spLocks noGrp="1"/>
          </p:cNvSpPr>
          <p:nvPr>
            <p:ph type="title"/>
          </p:nvPr>
        </p:nvSpPr>
        <p:spPr>
          <a:xfrm>
            <a:off x="785004" y="1"/>
            <a:ext cx="11417718" cy="1263192"/>
          </a:xfrm>
        </p:spPr>
        <p:txBody>
          <a:bodyPr/>
          <a:lstStyle/>
          <a:p>
            <a:pPr algn="l"/>
            <a:r>
              <a:rPr lang="en-US" b="1" dirty="0"/>
              <a:t>Standard Form of a Linear Equation </a:t>
            </a:r>
            <a:r>
              <a:rPr lang="en-US" sz="2000" b="1" dirty="0">
                <a:solidFill>
                  <a:schemeClr val="bg1"/>
                </a:solidFill>
              </a:rPr>
              <a:t>(5 of 16)</a:t>
            </a:r>
          </a:p>
        </p:txBody>
      </p:sp>
      <p:sp>
        <p:nvSpPr>
          <p:cNvPr id="9" name="Text Placeholder 2">
            <a:extLst>
              <a:ext uri="{FF2B5EF4-FFF2-40B4-BE49-F238E27FC236}">
                <a16:creationId xmlns:a16="http://schemas.microsoft.com/office/drawing/2014/main" id="{C31E9831-87E7-16DF-C0D0-933BCB7AC047}"/>
              </a:ext>
            </a:extLst>
          </p:cNvPr>
          <p:cNvSpPr txBox="1">
            <a:spLocks/>
          </p:cNvSpPr>
          <p:nvPr/>
        </p:nvSpPr>
        <p:spPr>
          <a:xfrm>
            <a:off x="785004" y="1613140"/>
            <a:ext cx="9894498" cy="3246178"/>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buFont typeface="+mj-lt"/>
              <a:buAutoNum type="arabicPeriod" startAt="3"/>
            </a:pPr>
            <a:r>
              <a:rPr lang="en-US" sz="2800" dirty="0">
                <a:solidFill>
                  <a:srgbClr val="000000"/>
                </a:solidFill>
              </a:rPr>
              <a:t>Calculate and interpret the meanings of the </a:t>
            </a:r>
            <a:r>
              <a:rPr lang="en-US" sz="2800" i="1" dirty="0">
                <a:solidFill>
                  <a:srgbClr val="000000"/>
                </a:solidFill>
              </a:rPr>
              <a:t>x</a:t>
            </a:r>
            <a:r>
              <a:rPr lang="en-US" sz="2800" dirty="0">
                <a:solidFill>
                  <a:srgbClr val="000000"/>
                </a:solidFill>
              </a:rPr>
              <a:t>-intercept and</a:t>
            </a:r>
            <a:br>
              <a:rPr lang="en-US" sz="2800" dirty="0">
                <a:solidFill>
                  <a:srgbClr val="000000"/>
                </a:solidFill>
              </a:rPr>
            </a:br>
            <a:r>
              <a:rPr lang="en-US" sz="2800" i="1" dirty="0">
                <a:solidFill>
                  <a:srgbClr val="000000"/>
                </a:solidFill>
              </a:rPr>
              <a:t>y</a:t>
            </a:r>
            <a:r>
              <a:rPr lang="en-US" sz="2800" dirty="0">
                <a:solidFill>
                  <a:srgbClr val="000000"/>
                </a:solidFill>
              </a:rPr>
              <a:t>-intercept for this equation.</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37</a:t>
            </a:fld>
          </a:p>
        </p:txBody>
      </p:sp>
      <p:sp>
        <p:nvSpPr>
          <p:cNvPr id="1010" name="Answer 1010"/>
          <p:cNvSpPr txBox="1"/>
          <p:nvPr/>
        </p:nvSpPr>
        <p:spPr>
          <a:xfrm>
            <a:off x="869950" y="2730500"/>
            <a:ext cx="10477500" cy="2667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x-intercept: 5x + 8(0) = 1600 → x = 320 → (320, 0). If 320 student tickets are sold, no adult tickets are needed to collect $1600.</a:t>
            </a:r>
          </a:p>
          <a:p>
            <a:pPr marL="0" indent="0" algn="l">
              <a:spcBef>
                <a:spcPts val="0"/>
              </a:spcBef>
              <a:spcAft>
                <a:spcPts val="300"/>
              </a:spcAft>
              <a:buNone/>
            </a:pPr>
            <a:r>
              <a:rPr lang="en-US" sz="2200" dirty="0">
                <a:solidFill>
                  <a:srgbClr val="FF0000"/>
                </a:solidFill>
              </a:rPr>
              <a:t>y-intercept: 5(0) + 8y = 1600 → y = 200 → (0, 200). If 200 adult tickets are sold, no student tickets are needed to collect $1600.</a:t>
            </a:r>
          </a:p>
        </p:txBody>
      </p:sp>
    </p:spTree>
    <p:extLst>
      <p:ext uri="{BB962C8B-B14F-4D97-AF65-F5344CB8AC3E}">
        <p14:creationId xmlns:p14="http://schemas.microsoft.com/office/powerpoint/2010/main" val="185451562"/>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CA6CDE-27D4-A07B-461A-2A4765DF42F7}"/>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48A5B51B-72B5-716C-852A-2819C64CAFE9}"/>
              </a:ext>
            </a:extLst>
          </p:cNvPr>
          <p:cNvSpPr>
            <a:spLocks noGrp="1"/>
          </p:cNvSpPr>
          <p:nvPr>
            <p:ph type="title"/>
          </p:nvPr>
        </p:nvSpPr>
        <p:spPr>
          <a:xfrm>
            <a:off x="785004" y="1"/>
            <a:ext cx="11417718" cy="1263192"/>
          </a:xfrm>
        </p:spPr>
        <p:txBody>
          <a:bodyPr/>
          <a:lstStyle/>
          <a:p>
            <a:pPr algn="l"/>
            <a:r>
              <a:rPr lang="en-US" b="1" dirty="0"/>
              <a:t>Standard Form of a Linear Equation </a:t>
            </a:r>
            <a:r>
              <a:rPr lang="en-US" sz="2000" b="1" dirty="0">
                <a:solidFill>
                  <a:schemeClr val="bg1"/>
                </a:solidFill>
              </a:rPr>
              <a:t>(6 of 16)</a:t>
            </a:r>
          </a:p>
        </p:txBody>
      </p:sp>
      <p:sp>
        <p:nvSpPr>
          <p:cNvPr id="9" name="Text Placeholder 2">
            <a:extLst>
              <a:ext uri="{FF2B5EF4-FFF2-40B4-BE49-F238E27FC236}">
                <a16:creationId xmlns:a16="http://schemas.microsoft.com/office/drawing/2014/main" id="{DA4A6FB3-CC17-E0DE-7CD8-12508E1C6050}"/>
              </a:ext>
            </a:extLst>
          </p:cNvPr>
          <p:cNvSpPr txBox="1">
            <a:spLocks/>
          </p:cNvSpPr>
          <p:nvPr/>
        </p:nvSpPr>
        <p:spPr>
          <a:xfrm>
            <a:off x="785004" y="1595888"/>
            <a:ext cx="10736436" cy="914399"/>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buFont typeface="+mj-lt"/>
              <a:buAutoNum type="arabicPeriod" startAt="4"/>
            </a:pPr>
            <a:r>
              <a:rPr lang="en-US" sz="2800" dirty="0">
                <a:solidFill>
                  <a:srgbClr val="000000"/>
                </a:solidFill>
              </a:rPr>
              <a:t>Use the </a:t>
            </a:r>
            <a:r>
              <a:rPr lang="en-US" sz="2800" i="1" dirty="0">
                <a:solidFill>
                  <a:srgbClr val="000000"/>
                </a:solidFill>
              </a:rPr>
              <a:t>x</a:t>
            </a:r>
            <a:r>
              <a:rPr lang="en-US" sz="2800" dirty="0">
                <a:solidFill>
                  <a:srgbClr val="000000"/>
                </a:solidFill>
              </a:rPr>
              <a:t>-intercept and </a:t>
            </a:r>
            <a:r>
              <a:rPr lang="en-US" sz="2800" i="1" dirty="0">
                <a:solidFill>
                  <a:srgbClr val="000000"/>
                </a:solidFill>
              </a:rPr>
              <a:t>y</a:t>
            </a:r>
            <a:r>
              <a:rPr lang="en-US" sz="2800" dirty="0">
                <a:solidFill>
                  <a:srgbClr val="000000"/>
                </a:solidFill>
              </a:rPr>
              <a:t>-intercept to graph the equation of the line.</a:t>
            </a:r>
          </a:p>
        </p:txBody>
      </p:sp>
      <p:pic>
        <p:nvPicPr>
          <p:cNvPr id="3" name="Picture 2" descr="A coordinate plane. The x axis represents number of student tickets sold, and the y axis represents number of adult tickets sold.">
            <a:extLst>
              <a:ext uri="{FF2B5EF4-FFF2-40B4-BE49-F238E27FC236}">
                <a16:creationId xmlns:a16="http://schemas.microsoft.com/office/drawing/2014/main" id="{8912CCE2-137E-7329-1C91-B1BD488C2704}"/>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3851683" y="2510287"/>
            <a:ext cx="4487045" cy="4154022"/>
          </a:xfrm>
          <a:prstGeom prst="rect">
            <a:avLst/>
          </a:prstGeom>
        </p:spPr>
      </p:pic>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38</a:t>
            </a:fld>
          </a:p>
        </p:txBody>
      </p:sp>
      <p:sp>
        <p:nvSpPr>
          <p:cNvPr id="1010" name="Answer 1010"/>
          <p:cNvSpPr txBox="1"/>
          <p:nvPr/>
        </p:nvSpPr>
        <p:spPr>
          <a:xfrm>
            <a:off x="8445500" y="2857500"/>
            <a:ext cx="3556000" cy="2540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Plot (320, 0) and (0, 200) and connect them. Only the segment between the intercepts makes sense: ticket counts cannot be negative.</a:t>
            </a:r>
          </a:p>
        </p:txBody>
      </p:sp>
    </p:spTree>
    <p:extLst>
      <p:ext uri="{BB962C8B-B14F-4D97-AF65-F5344CB8AC3E}">
        <p14:creationId xmlns:p14="http://schemas.microsoft.com/office/powerpoint/2010/main" val="3106305195"/>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B93D46-A66B-58F1-0661-39BA938A7EB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2599173F-E853-ED53-352D-EE48CE27228E}"/>
              </a:ext>
            </a:extLst>
          </p:cNvPr>
          <p:cNvSpPr>
            <a:spLocks noGrp="1"/>
          </p:cNvSpPr>
          <p:nvPr>
            <p:ph type="title"/>
          </p:nvPr>
        </p:nvSpPr>
        <p:spPr>
          <a:xfrm>
            <a:off x="785004" y="1"/>
            <a:ext cx="11417718" cy="1263192"/>
          </a:xfrm>
        </p:spPr>
        <p:txBody>
          <a:bodyPr/>
          <a:lstStyle/>
          <a:p>
            <a:pPr algn="l"/>
            <a:r>
              <a:rPr lang="en-US" b="1" dirty="0"/>
              <a:t>Standard Form of a Linear Equation </a:t>
            </a:r>
            <a:r>
              <a:rPr lang="en-US" sz="2000" b="1" dirty="0">
                <a:solidFill>
                  <a:schemeClr val="bg1"/>
                </a:solidFill>
              </a:rPr>
              <a:t>(7 of 16)</a:t>
            </a:r>
          </a:p>
        </p:txBody>
      </p:sp>
      <p:sp>
        <p:nvSpPr>
          <p:cNvPr id="9" name="Text Placeholder 2">
            <a:extLst>
              <a:ext uri="{FF2B5EF4-FFF2-40B4-BE49-F238E27FC236}">
                <a16:creationId xmlns:a16="http://schemas.microsoft.com/office/drawing/2014/main" id="{4A396786-AE0E-E65C-A81A-BBEC362FEC5A}"/>
              </a:ext>
            </a:extLst>
          </p:cNvPr>
          <p:cNvSpPr txBox="1">
            <a:spLocks/>
          </p:cNvSpPr>
          <p:nvPr/>
        </p:nvSpPr>
        <p:spPr>
          <a:xfrm>
            <a:off x="785004" y="1604514"/>
            <a:ext cx="9885871" cy="1536720"/>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buFont typeface="+mj-lt"/>
              <a:buAutoNum type="arabicPeriod" startAt="5"/>
            </a:pPr>
            <a:r>
              <a:rPr lang="en-US" sz="2800" dirty="0">
                <a:solidFill>
                  <a:srgbClr val="000000"/>
                </a:solidFill>
              </a:rPr>
              <a:t>Determine the slope of this line. Interpret the meaning of the slope in this problem situation. </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39</a:t>
            </a:fld>
          </a:p>
        </p:txBody>
      </p:sp>
      <p:sp>
        <p:nvSpPr>
          <p:cNvPr id="1010" name="Answer 1010"/>
          <p:cNvSpPr txBox="1"/>
          <p:nvPr/>
        </p:nvSpPr>
        <p:spPr>
          <a:xfrm>
            <a:off x="869950" y="2730500"/>
            <a:ext cx="10160000" cy="1905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m = (0 − 200)/(320 − 0) = −5/8</a:t>
            </a:r>
          </a:p>
          <a:p>
            <a:pPr marL="0" indent="0" algn="l">
              <a:spcBef>
                <a:spcPts val="0"/>
              </a:spcBef>
              <a:spcAft>
                <a:spcPts val="300"/>
              </a:spcAft>
              <a:buNone/>
            </a:pPr>
            <a:r>
              <a:rPr lang="en-US" sz="2400" dirty="0">
                <a:solidFill>
                  <a:srgbClr val="FF0000"/>
                </a:solidFill>
              </a:rPr>
              <a:t>The number of adult tickets decreases by 5 for every 8 more student tickets sold.</a:t>
            </a:r>
          </a:p>
        </p:txBody>
      </p:sp>
    </p:spTree>
    <p:extLst>
      <p:ext uri="{BB962C8B-B14F-4D97-AF65-F5344CB8AC3E}">
        <p14:creationId xmlns:p14="http://schemas.microsoft.com/office/powerpoint/2010/main" val="1460641817"/>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6EF4C8-ACDE-C3CD-2140-4620E29E0EC8}"/>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F257A7A-EE32-6913-958F-B2804DEB85A2}"/>
              </a:ext>
            </a:extLst>
          </p:cNvPr>
          <p:cNvSpPr>
            <a:spLocks noGrp="1"/>
          </p:cNvSpPr>
          <p:nvPr>
            <p:ph type="title"/>
          </p:nvPr>
        </p:nvSpPr>
        <p:spPr>
          <a:xfrm>
            <a:off x="785004" y="1"/>
            <a:ext cx="11417718" cy="1263192"/>
          </a:xfrm>
        </p:spPr>
        <p:txBody>
          <a:bodyPr/>
          <a:lstStyle/>
          <a:p>
            <a:pPr algn="l"/>
            <a:r>
              <a:rPr lang="en-US" b="1" dirty="0"/>
              <a:t>Standard Form of a Linear Equation </a:t>
            </a:r>
            <a:r>
              <a:rPr lang="en-US" sz="2000" b="1" dirty="0">
                <a:solidFill>
                  <a:schemeClr val="bg1"/>
                </a:solidFill>
              </a:rPr>
              <a:t>(8 of 16)</a:t>
            </a:r>
          </a:p>
        </p:txBody>
      </p:sp>
      <p:sp>
        <p:nvSpPr>
          <p:cNvPr id="9" name="Text Placeholder 2">
            <a:extLst>
              <a:ext uri="{FF2B5EF4-FFF2-40B4-BE49-F238E27FC236}">
                <a16:creationId xmlns:a16="http://schemas.microsoft.com/office/drawing/2014/main" id="{A19B70B2-4C49-C72F-25D8-2E45ED5FD137}"/>
              </a:ext>
            </a:extLst>
          </p:cNvPr>
          <p:cNvSpPr txBox="1">
            <a:spLocks/>
          </p:cNvSpPr>
          <p:nvPr/>
        </p:nvSpPr>
        <p:spPr>
          <a:xfrm>
            <a:off x="785004" y="1604514"/>
            <a:ext cx="10736436" cy="672860"/>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buFont typeface="+mj-lt"/>
              <a:buAutoNum type="arabicPeriod" startAt="6"/>
            </a:pPr>
            <a:r>
              <a:rPr lang="en-US" sz="2800" dirty="0">
                <a:solidFill>
                  <a:srgbClr val="000000"/>
                </a:solidFill>
              </a:rPr>
              <a:t>Complete the table. </a:t>
            </a:r>
          </a:p>
        </p:txBody>
      </p:sp>
      <mc:AlternateContent xmlns:mc="http://schemas.openxmlformats.org/markup-compatibility/2006" xmlns:a14="http://schemas.microsoft.com/office/drawing/2010/main">
        <mc:Choice Requires="a14">
          <p:graphicFrame>
            <p:nvGraphicFramePr>
              <p:cNvPr id="2" name="Table 1">
                <a:extLst>
                  <a:ext uri="{FF2B5EF4-FFF2-40B4-BE49-F238E27FC236}">
                    <a16:creationId xmlns:a16="http://schemas.microsoft.com/office/drawing/2014/main" id="{EBED855A-1A6D-4ACA-E6F9-F92D6B60402B}"/>
                  </a:ext>
                </a:extLst>
              </p:cNvPr>
              <p:cNvGraphicFramePr>
                <a:graphicFrameLocks noGrp="1"/>
              </p:cNvGraphicFramePr>
              <p:nvPr>
                <p:extLst>
                  <p:ext uri="{D42A27DB-BD31-4B8C-83A1-F6EECF244321}">
                    <p14:modId xmlns:p14="http://schemas.microsoft.com/office/powerpoint/2010/main" val="15922052"/>
                  </p:ext>
                </p:extLst>
              </p:nvPr>
            </p:nvGraphicFramePr>
            <p:xfrm>
              <a:off x="1442110" y="2430720"/>
              <a:ext cx="7153835" cy="3245168"/>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443017902"/>
                        </a:ext>
                      </a:extLst>
                    </a:gridCol>
                    <a:gridCol w="1710466">
                      <a:extLst>
                        <a:ext uri="{9D8B030D-6E8A-4147-A177-3AD203B41FA5}">
                          <a16:colId xmlns:a16="http://schemas.microsoft.com/office/drawing/2014/main" val="3373542504"/>
                        </a:ext>
                      </a:extLst>
                    </a:gridCol>
                    <a:gridCol w="1731981">
                      <a:extLst>
                        <a:ext uri="{9D8B030D-6E8A-4147-A177-3AD203B41FA5}">
                          <a16:colId xmlns:a16="http://schemas.microsoft.com/office/drawing/2014/main" val="3987726208"/>
                        </a:ext>
                      </a:extLst>
                    </a:gridCol>
                    <a:gridCol w="1699708">
                      <a:extLst>
                        <a:ext uri="{9D8B030D-6E8A-4147-A177-3AD203B41FA5}">
                          <a16:colId xmlns:a16="http://schemas.microsoft.com/office/drawing/2014/main" val="1465956765"/>
                        </a:ext>
                      </a:extLst>
                    </a:gridCol>
                  </a:tblGrid>
                  <a:tr h="548640">
                    <a:tc>
                      <a:txBody>
                        <a:bodyPr/>
                        <a:lstStyle/>
                        <a:p>
                          <a:pPr algn="ctr"/>
                          <a:r>
                            <a:rPr lang="en-US" sz="2000" dirty="0">
                              <a:latin typeface="Calibri" panose="020F0502020204030204" pitchFamily="34" charset="0"/>
                              <a:ea typeface="Calibri" panose="020F0502020204030204" pitchFamily="34" charset="0"/>
                              <a:cs typeface="Calibri" panose="020F0502020204030204" pitchFamily="34" charset="0"/>
                            </a:rPr>
                            <a:t>Standard Form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8F4C"/>
                        </a:solidFill>
                      </a:tcPr>
                    </a:tc>
                    <a:tc>
                      <a:txBody>
                        <a:bodyPr/>
                        <a:lstStyle/>
                        <a:p>
                          <a:pPr algn="ctr"/>
                          <a:r>
                            <a:rPr lang="en-US" sz="2000" i="1" dirty="0">
                              <a:latin typeface="Calibri" panose="020F0502020204030204" pitchFamily="34" charset="0"/>
                              <a:ea typeface="Calibri" panose="020F0502020204030204" pitchFamily="34" charset="0"/>
                              <a:cs typeface="Calibri" panose="020F0502020204030204" pitchFamily="34" charset="0"/>
                            </a:rPr>
                            <a:t>x</a:t>
                          </a:r>
                          <a:r>
                            <a:rPr lang="en-US" sz="2000" dirty="0">
                              <a:latin typeface="Calibri" panose="020F0502020204030204" pitchFamily="34" charset="0"/>
                              <a:ea typeface="Calibri" panose="020F0502020204030204" pitchFamily="34" charset="0"/>
                              <a:cs typeface="Calibri" panose="020F0502020204030204" pitchFamily="34" charset="0"/>
                            </a:rPr>
                            <a:t>-Intercept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8F4C"/>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000" i="1" dirty="0">
                              <a:latin typeface="Calibri" panose="020F0502020204030204" pitchFamily="34" charset="0"/>
                              <a:ea typeface="Calibri" panose="020F0502020204030204" pitchFamily="34" charset="0"/>
                              <a:cs typeface="Calibri" panose="020F0502020204030204" pitchFamily="34" charset="0"/>
                            </a:rPr>
                            <a:t>y</a:t>
                          </a:r>
                          <a:r>
                            <a:rPr lang="en-US" sz="2000" dirty="0">
                              <a:latin typeface="Calibri" panose="020F0502020204030204" pitchFamily="34" charset="0"/>
                              <a:ea typeface="Calibri" panose="020F0502020204030204" pitchFamily="34" charset="0"/>
                              <a:cs typeface="Calibri" panose="020F0502020204030204" pitchFamily="34" charset="0"/>
                            </a:rPr>
                            <a:t>-Intercept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8F4C"/>
                        </a:solidFill>
                      </a:tcPr>
                    </a:tc>
                    <a:tc>
                      <a:txBody>
                        <a:bodyPr/>
                        <a:lstStyle/>
                        <a:p>
                          <a:pPr algn="ctr"/>
                          <a:r>
                            <a:rPr lang="en-US" sz="2000" dirty="0">
                              <a:latin typeface="Calibri" panose="020F0502020204030204" pitchFamily="34" charset="0"/>
                              <a:ea typeface="Calibri" panose="020F0502020204030204" pitchFamily="34" charset="0"/>
                              <a:cs typeface="Calibri" panose="020F0502020204030204" pitchFamily="34" charset="0"/>
                            </a:rPr>
                            <a:t>Slope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8F4C"/>
                        </a:solidFill>
                      </a:tcPr>
                    </a:tc>
                    <a:extLst>
                      <a:ext uri="{0D108BD9-81ED-4DB2-BD59-A6C34878D82A}">
                        <a16:rowId xmlns:a16="http://schemas.microsoft.com/office/drawing/2014/main" val="4005156431"/>
                      </a:ext>
                    </a:extLst>
                  </a:tr>
                  <a:tr h="640080">
                    <a:tc>
                      <a:txBody>
                        <a:bodyPr/>
                        <a:lstStyle/>
                        <a:p>
                          <a:pPr algn="ctr"/>
                          <a:r>
                            <a:rPr lang="en-US" sz="2000" b="0" dirty="0">
                              <a:solidFill>
                                <a:srgbClr val="000000"/>
                              </a:solidFill>
                            </a:rPr>
                            <a:t>5</a:t>
                          </a:r>
                          <a:r>
                            <a:rPr lang="en-US" sz="2000" b="0" i="1" dirty="0">
                              <a:solidFill>
                                <a:srgbClr val="000000"/>
                              </a:solidFill>
                            </a:rPr>
                            <a:t>x</a:t>
                          </a:r>
                          <a:r>
                            <a:rPr lang="en-US" sz="2000" b="0" dirty="0">
                              <a:solidFill>
                                <a:srgbClr val="000000"/>
                              </a:solidFill>
                            </a:rPr>
                            <a:t> + 2</a:t>
                          </a:r>
                          <a:r>
                            <a:rPr lang="en-US" sz="2000" b="0" i="1" dirty="0">
                              <a:solidFill>
                                <a:srgbClr val="000000"/>
                              </a:solidFill>
                            </a:rPr>
                            <a:t>y</a:t>
                          </a:r>
                          <a:r>
                            <a:rPr lang="en-US" sz="2000" b="0" dirty="0">
                              <a:solidFill>
                                <a:srgbClr val="000000"/>
                              </a:solidFill>
                            </a:rPr>
                            <a:t> = 6</a:t>
                          </a:r>
                          <a:endPar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22527263"/>
                      </a:ext>
                    </a:extLst>
                  </a:tr>
                  <a:tr h="640080">
                    <a:tc>
                      <a:txBody>
                        <a:bodyPr/>
                        <a:lstStyle/>
                        <a:p>
                          <a:pPr algn="ctr"/>
                          <a:endPar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14:m>
                            <m:oMathPara xmlns:m="http://schemas.openxmlformats.org/officeDocument/2006/math">
                              <m:oMathParaPr>
                                <m:jc m:val="centerGroup"/>
                              </m:oMathParaPr>
                              <m:oMath xmlns:m="http://schemas.openxmlformats.org/officeDocument/2006/math">
                                <m:d>
                                  <m:dPr>
                                    <m:ctrlPr>
                                      <a:rPr lang="en-US" sz="2000" i="1" smtClean="0">
                                        <a:solidFill>
                                          <a:srgbClr val="000000"/>
                                        </a:solidFill>
                                        <a:latin typeface="Cambria Math" panose="02040503050406030204" pitchFamily="18" charset="0"/>
                                      </a:rPr>
                                    </m:ctrlPr>
                                  </m:dPr>
                                  <m:e>
                                    <m:f>
                                      <m:fPr>
                                        <m:ctrlPr>
                                          <a:rPr lang="en-US" sz="2000" i="1" smtClean="0">
                                            <a:solidFill>
                                              <a:srgbClr val="000000"/>
                                            </a:solidFill>
                                            <a:latin typeface="Cambria Math" panose="02040503050406030204" pitchFamily="18" charset="0"/>
                                          </a:rPr>
                                        </m:ctrlPr>
                                      </m:fPr>
                                      <m:num>
                                        <m:r>
                                          <a:rPr lang="en-US" sz="2000" b="0" i="1" smtClean="0">
                                            <a:solidFill>
                                              <a:srgbClr val="000000"/>
                                            </a:solidFill>
                                            <a:latin typeface="Cambria Math" panose="02040503050406030204" pitchFamily="18" charset="0"/>
                                          </a:rPr>
                                          <m:t>7</m:t>
                                        </m:r>
                                      </m:num>
                                      <m:den>
                                        <m:r>
                                          <a:rPr lang="en-US" sz="2000" b="0" i="1" smtClean="0">
                                            <a:solidFill>
                                              <a:srgbClr val="000000"/>
                                            </a:solidFill>
                                            <a:latin typeface="Cambria Math" panose="02040503050406030204" pitchFamily="18" charset="0"/>
                                          </a:rPr>
                                          <m:t>3</m:t>
                                        </m:r>
                                      </m:den>
                                    </m:f>
                                    <m:r>
                                      <a:rPr lang="en-US" sz="2000" b="0" i="1" smtClean="0">
                                        <a:solidFill>
                                          <a:srgbClr val="000000"/>
                                        </a:solidFill>
                                        <a:latin typeface="Cambria Math" panose="02040503050406030204" pitchFamily="18" charset="0"/>
                                      </a:rPr>
                                      <m:t>, 0</m:t>
                                    </m:r>
                                  </m:e>
                                </m:d>
                              </m:oMath>
                            </m:oMathPara>
                          </a14:m>
                          <a:endPar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000" b="0" i="1" baseline="0" dirty="0">
                              <a:solidFill>
                                <a:srgbClr val="000000"/>
                              </a:solidFill>
                            </a:rPr>
                            <a:t>m</a:t>
                          </a:r>
                          <a:r>
                            <a:rPr lang="en-US" sz="2000" b="0" baseline="0" dirty="0">
                              <a:solidFill>
                                <a:srgbClr val="000000"/>
                              </a:solidFill>
                            </a:rPr>
                            <a:t> = </a:t>
                          </a:r>
                          <a14:m>
                            <m:oMath xmlns:m="http://schemas.openxmlformats.org/officeDocument/2006/math">
                              <m:r>
                                <a:rPr lang="en-US" sz="2000" b="0" i="1" smtClean="0">
                                  <a:solidFill>
                                    <a:srgbClr val="000000"/>
                                  </a:solidFill>
                                  <a:latin typeface="Cambria Math" panose="02040503050406030204" pitchFamily="18" charset="0"/>
                                </a:rPr>
                                <m:t>−</m:t>
                              </m:r>
                              <m:f>
                                <m:fPr>
                                  <m:ctrlPr>
                                    <a:rPr lang="en-US" sz="2000" b="0" i="1" smtClean="0">
                                      <a:solidFill>
                                        <a:srgbClr val="000000"/>
                                      </a:solidFill>
                                      <a:latin typeface="Cambria Math" panose="02040503050406030204" pitchFamily="18" charset="0"/>
                                    </a:rPr>
                                  </m:ctrlPr>
                                </m:fPr>
                                <m:num>
                                  <m:r>
                                    <a:rPr lang="en-US" sz="2000" b="0" i="1" smtClean="0">
                                      <a:solidFill>
                                        <a:srgbClr val="000000"/>
                                      </a:solidFill>
                                      <a:latin typeface="Cambria Math" panose="02040503050406030204" pitchFamily="18" charset="0"/>
                                    </a:rPr>
                                    <m:t>3</m:t>
                                  </m:r>
                                </m:num>
                                <m:den>
                                  <m:r>
                                    <a:rPr lang="en-US" sz="2000" b="0" i="1" smtClean="0">
                                      <a:solidFill>
                                        <a:srgbClr val="000000"/>
                                      </a:solidFill>
                                      <a:latin typeface="Cambria Math" panose="02040503050406030204" pitchFamily="18" charset="0"/>
                                    </a:rPr>
                                    <m:t>4</m:t>
                                  </m:r>
                                </m:den>
                              </m:f>
                            </m:oMath>
                          </a14:m>
                          <a:endPar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82366635"/>
                      </a:ext>
                    </a:extLst>
                  </a:tr>
                  <a:tr h="640080">
                    <a:tc>
                      <a:txBody>
                        <a:bodyPr/>
                        <a:lstStyle/>
                        <a:p>
                          <a:pPr algn="ctr"/>
                          <a:endPar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000" b="0" dirty="0">
                              <a:solidFill>
                                <a:srgbClr val="000000"/>
                              </a:solidFill>
                            </a:rPr>
                            <a:t>(0, 23)</a:t>
                          </a:r>
                          <a:endPar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000" b="0" i="1" dirty="0">
                              <a:solidFill>
                                <a:srgbClr val="000000"/>
                              </a:solidFill>
                            </a:rPr>
                            <a:t>m</a:t>
                          </a:r>
                          <a:r>
                            <a:rPr lang="en-US" sz="2000" b="0" baseline="0" dirty="0">
                              <a:solidFill>
                                <a:srgbClr val="000000"/>
                              </a:solidFill>
                            </a:rPr>
                            <a:t> = </a:t>
                          </a:r>
                          <a14:m>
                            <m:oMath xmlns:m="http://schemas.openxmlformats.org/officeDocument/2006/math">
                              <m:f>
                                <m:fPr>
                                  <m:ctrlPr>
                                    <a:rPr lang="en-US" sz="2000" b="0" i="1" smtClean="0">
                                      <a:solidFill>
                                        <a:srgbClr val="000000"/>
                                      </a:solidFill>
                                      <a:latin typeface="Cambria Math" panose="02040503050406030204" pitchFamily="18" charset="0"/>
                                    </a:rPr>
                                  </m:ctrlPr>
                                </m:fPr>
                                <m:num>
                                  <m:r>
                                    <a:rPr lang="en-US" sz="2000" b="0" i="1" smtClean="0">
                                      <a:solidFill>
                                        <a:srgbClr val="000000"/>
                                      </a:solidFill>
                                      <a:latin typeface="Cambria Math" panose="02040503050406030204" pitchFamily="18" charset="0"/>
                                    </a:rPr>
                                    <m:t>2</m:t>
                                  </m:r>
                                </m:num>
                                <m:den>
                                  <m:r>
                                    <a:rPr lang="en-US" sz="2000" b="0" i="1" smtClean="0">
                                      <a:solidFill>
                                        <a:srgbClr val="000000"/>
                                      </a:solidFill>
                                      <a:latin typeface="Cambria Math" panose="02040503050406030204" pitchFamily="18" charset="0"/>
                                    </a:rPr>
                                    <m:t>3</m:t>
                                  </m:r>
                                </m:den>
                              </m:f>
                            </m:oMath>
                          </a14:m>
                          <a:endPar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59793154"/>
                      </a:ext>
                    </a:extLst>
                  </a:tr>
                  <a:tr h="6400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−5</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+ 7</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 11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200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784198"/>
                      </a:ext>
                    </a:extLst>
                  </a:tr>
                </a:tbl>
              </a:graphicData>
            </a:graphic>
          </p:graphicFrame>
        </mc:Choice>
        <mc:Fallback xmlns="">
          <p:graphicFrame>
            <p:nvGraphicFramePr>
              <p:cNvPr id="2" name="Table 1">
                <a:extLst>
                  <a:ext uri="{FF2B5EF4-FFF2-40B4-BE49-F238E27FC236}">
                    <a16:creationId xmlns:a16="http://schemas.microsoft.com/office/drawing/2014/main" id="{EBED855A-1A6D-4ACA-E6F9-F92D6B60402B}"/>
                  </a:ext>
                </a:extLst>
              </p:cNvPr>
              <p:cNvGraphicFramePr>
                <a:graphicFrameLocks noGrp="1"/>
              </p:cNvGraphicFramePr>
              <p:nvPr>
                <p:extLst>
                  <p:ext uri="{D42A27DB-BD31-4B8C-83A1-F6EECF244321}">
                    <p14:modId xmlns:p14="http://schemas.microsoft.com/office/powerpoint/2010/main" val="15922052"/>
                  </p:ext>
                </p:extLst>
              </p:nvPr>
            </p:nvGraphicFramePr>
            <p:xfrm>
              <a:off x="1442110" y="2430720"/>
              <a:ext cx="7153835" cy="3245168"/>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443017902"/>
                        </a:ext>
                      </a:extLst>
                    </a:gridCol>
                    <a:gridCol w="1710466">
                      <a:extLst>
                        <a:ext uri="{9D8B030D-6E8A-4147-A177-3AD203B41FA5}">
                          <a16:colId xmlns:a16="http://schemas.microsoft.com/office/drawing/2014/main" val="3373542504"/>
                        </a:ext>
                      </a:extLst>
                    </a:gridCol>
                    <a:gridCol w="1731981">
                      <a:extLst>
                        <a:ext uri="{9D8B030D-6E8A-4147-A177-3AD203B41FA5}">
                          <a16:colId xmlns:a16="http://schemas.microsoft.com/office/drawing/2014/main" val="3987726208"/>
                        </a:ext>
                      </a:extLst>
                    </a:gridCol>
                    <a:gridCol w="1699708">
                      <a:extLst>
                        <a:ext uri="{9D8B030D-6E8A-4147-A177-3AD203B41FA5}">
                          <a16:colId xmlns:a16="http://schemas.microsoft.com/office/drawing/2014/main" val="1465956765"/>
                        </a:ext>
                      </a:extLst>
                    </a:gridCol>
                  </a:tblGrid>
                  <a:tr h="548640">
                    <a:tc>
                      <a:txBody>
                        <a:bodyPr/>
                        <a:lstStyle/>
                        <a:p>
                          <a:pPr algn="ctr"/>
                          <a:r>
                            <a:rPr lang="en-US" sz="2000" dirty="0">
                              <a:latin typeface="Calibri" panose="020F0502020204030204" pitchFamily="34" charset="0"/>
                              <a:ea typeface="Calibri" panose="020F0502020204030204" pitchFamily="34" charset="0"/>
                              <a:cs typeface="Calibri" panose="020F0502020204030204" pitchFamily="34" charset="0"/>
                            </a:rPr>
                            <a:t>Standard Form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8F4C"/>
                        </a:solidFill>
                      </a:tcPr>
                    </a:tc>
                    <a:tc>
                      <a:txBody>
                        <a:bodyPr/>
                        <a:lstStyle/>
                        <a:p>
                          <a:pPr algn="ctr"/>
                          <a:r>
                            <a:rPr lang="en-US" sz="2000" i="1" dirty="0">
                              <a:latin typeface="Calibri" panose="020F0502020204030204" pitchFamily="34" charset="0"/>
                              <a:ea typeface="Calibri" panose="020F0502020204030204" pitchFamily="34" charset="0"/>
                              <a:cs typeface="Calibri" panose="020F0502020204030204" pitchFamily="34" charset="0"/>
                            </a:rPr>
                            <a:t>x</a:t>
                          </a:r>
                          <a:r>
                            <a:rPr lang="en-US" sz="2000" dirty="0">
                              <a:latin typeface="Calibri" panose="020F0502020204030204" pitchFamily="34" charset="0"/>
                              <a:ea typeface="Calibri" panose="020F0502020204030204" pitchFamily="34" charset="0"/>
                              <a:cs typeface="Calibri" panose="020F0502020204030204" pitchFamily="34" charset="0"/>
                            </a:rPr>
                            <a:t>-Intercept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8F4C"/>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000" i="1" dirty="0">
                              <a:latin typeface="Calibri" panose="020F0502020204030204" pitchFamily="34" charset="0"/>
                              <a:ea typeface="Calibri" panose="020F0502020204030204" pitchFamily="34" charset="0"/>
                              <a:cs typeface="Calibri" panose="020F0502020204030204" pitchFamily="34" charset="0"/>
                            </a:rPr>
                            <a:t>y</a:t>
                          </a:r>
                          <a:r>
                            <a:rPr lang="en-US" sz="2000" dirty="0">
                              <a:latin typeface="Calibri" panose="020F0502020204030204" pitchFamily="34" charset="0"/>
                              <a:ea typeface="Calibri" panose="020F0502020204030204" pitchFamily="34" charset="0"/>
                              <a:cs typeface="Calibri" panose="020F0502020204030204" pitchFamily="34" charset="0"/>
                            </a:rPr>
                            <a:t>-Intercept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8F4C"/>
                        </a:solidFill>
                      </a:tcPr>
                    </a:tc>
                    <a:tc>
                      <a:txBody>
                        <a:bodyPr/>
                        <a:lstStyle/>
                        <a:p>
                          <a:pPr algn="ctr"/>
                          <a:r>
                            <a:rPr lang="en-US" sz="2000" dirty="0">
                              <a:latin typeface="Calibri" panose="020F0502020204030204" pitchFamily="34" charset="0"/>
                              <a:ea typeface="Calibri" panose="020F0502020204030204" pitchFamily="34" charset="0"/>
                              <a:cs typeface="Calibri" panose="020F0502020204030204" pitchFamily="34" charset="0"/>
                            </a:rPr>
                            <a:t>Slope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8F4C"/>
                        </a:solidFill>
                      </a:tcPr>
                    </a:tc>
                    <a:extLst>
                      <a:ext uri="{0D108BD9-81ED-4DB2-BD59-A6C34878D82A}">
                        <a16:rowId xmlns:a16="http://schemas.microsoft.com/office/drawing/2014/main" val="4005156431"/>
                      </a:ext>
                    </a:extLst>
                  </a:tr>
                  <a:tr h="640080">
                    <a:tc>
                      <a:txBody>
                        <a:bodyPr/>
                        <a:lstStyle/>
                        <a:p>
                          <a:pPr algn="ctr"/>
                          <a:r>
                            <a:rPr lang="en-US" sz="2000" b="0" dirty="0">
                              <a:solidFill>
                                <a:srgbClr val="000000"/>
                              </a:solidFill>
                            </a:rPr>
                            <a:t>5</a:t>
                          </a:r>
                          <a:r>
                            <a:rPr lang="en-US" sz="2000" b="0" i="1" dirty="0">
                              <a:solidFill>
                                <a:srgbClr val="000000"/>
                              </a:solidFill>
                            </a:rPr>
                            <a:t>x</a:t>
                          </a:r>
                          <a:r>
                            <a:rPr lang="en-US" sz="2000" b="0" dirty="0">
                              <a:solidFill>
                                <a:srgbClr val="000000"/>
                              </a:solidFill>
                            </a:rPr>
                            <a:t> + 2</a:t>
                          </a:r>
                          <a:r>
                            <a:rPr lang="en-US" sz="2000" b="0" i="1" dirty="0">
                              <a:solidFill>
                                <a:srgbClr val="000000"/>
                              </a:solidFill>
                            </a:rPr>
                            <a:t>y</a:t>
                          </a:r>
                          <a:r>
                            <a:rPr lang="en-US" sz="2000" b="0" dirty="0">
                              <a:solidFill>
                                <a:srgbClr val="000000"/>
                              </a:solidFill>
                            </a:rPr>
                            <a:t> = 6</a:t>
                          </a:r>
                          <a:endPar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22527263"/>
                      </a:ext>
                    </a:extLst>
                  </a:tr>
                  <a:tr h="776288">
                    <a:tc>
                      <a:txBody>
                        <a:bodyPr/>
                        <a:lstStyle/>
                        <a:p>
                          <a:pPr algn="ctr"/>
                          <a:endPar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blipFill>
                          <a:blip r:embed="rId3"/>
                          <a:stretch>
                            <a:fillRect l="-117794" t="-155118" r="-201423" b="-167717"/>
                          </a:stretch>
                        </a:blipFill>
                      </a:tcPr>
                    </a:tc>
                    <a:tc>
                      <a:txBody>
                        <a:bodyPr/>
                        <a:lstStyle/>
                        <a:p>
                          <a:pPr algn="ctr"/>
                          <a:endPar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blipFill>
                          <a:blip r:embed="rId3"/>
                          <a:stretch>
                            <a:fillRect l="-321505" t="-155118" r="-717" b="-167717"/>
                          </a:stretch>
                        </a:blipFill>
                      </a:tcPr>
                    </a:tc>
                    <a:extLst>
                      <a:ext uri="{0D108BD9-81ED-4DB2-BD59-A6C34878D82A}">
                        <a16:rowId xmlns:a16="http://schemas.microsoft.com/office/drawing/2014/main" val="4182366635"/>
                      </a:ext>
                    </a:extLst>
                  </a:tr>
                  <a:tr h="640080">
                    <a:tc>
                      <a:txBody>
                        <a:bodyPr/>
                        <a:lstStyle/>
                        <a:p>
                          <a:pPr algn="ctr"/>
                          <a:endPar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000" b="0" dirty="0">
                              <a:solidFill>
                                <a:srgbClr val="000000"/>
                              </a:solidFill>
                            </a:rPr>
                            <a:t>(0, 23)</a:t>
                          </a:r>
                          <a:endPar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blipFill>
                          <a:blip r:embed="rId3"/>
                          <a:stretch>
                            <a:fillRect l="-321505" t="-305660" r="-717" b="-100943"/>
                          </a:stretch>
                        </a:blipFill>
                      </a:tcPr>
                    </a:tc>
                    <a:extLst>
                      <a:ext uri="{0D108BD9-81ED-4DB2-BD59-A6C34878D82A}">
                        <a16:rowId xmlns:a16="http://schemas.microsoft.com/office/drawing/2014/main" val="2459793154"/>
                      </a:ext>
                    </a:extLst>
                  </a:tr>
                  <a:tr h="6400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−5</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+ 7</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 11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200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784198"/>
                      </a:ext>
                    </a:extLst>
                  </a:tr>
                </a:tbl>
              </a:graphicData>
            </a:graphic>
          </p:graphicFrame>
        </mc:Fallback>
      </mc:AlternateContent>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40</a:t>
            </a:fld>
          </a:p>
        </p:txBody>
      </p:sp>
      <p:sp>
        <p:nvSpPr>
          <p:cNvPr id="1010" name="Answer 1010"/>
          <p:cNvSpPr txBox="1"/>
          <p:nvPr/>
        </p:nvSpPr>
        <p:spPr>
          <a:xfrm>
            <a:off x="3448050" y="2978150"/>
            <a:ext cx="1708150" cy="6350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200" dirty="0">
                <a:solidFill>
                  <a:srgbClr val="FF0000"/>
                </a:solidFill>
              </a:rPr>
              <a:t>(6/5, 0)</a:t>
            </a:r>
          </a:p>
        </p:txBody>
      </p:sp>
      <p:sp>
        <p:nvSpPr>
          <p:cNvPr id="1011" name="Answer 1011"/>
          <p:cNvSpPr txBox="1"/>
          <p:nvPr/>
        </p:nvSpPr>
        <p:spPr>
          <a:xfrm>
            <a:off x="5156200" y="2978150"/>
            <a:ext cx="1727200" cy="6350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200" dirty="0">
                <a:solidFill>
                  <a:srgbClr val="FF0000"/>
                </a:solidFill>
              </a:rPr>
              <a:t>(0, 3)</a:t>
            </a:r>
          </a:p>
        </p:txBody>
      </p:sp>
      <p:sp>
        <p:nvSpPr>
          <p:cNvPr id="1012" name="Answer 1012"/>
          <p:cNvSpPr txBox="1"/>
          <p:nvPr/>
        </p:nvSpPr>
        <p:spPr>
          <a:xfrm>
            <a:off x="6883400" y="2978150"/>
            <a:ext cx="1695450" cy="6350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200" dirty="0">
                <a:solidFill>
                  <a:srgbClr val="FF0000"/>
                </a:solidFill>
              </a:rPr>
              <a:t>m = −5/2</a:t>
            </a:r>
          </a:p>
        </p:txBody>
      </p:sp>
      <p:sp>
        <p:nvSpPr>
          <p:cNvPr id="1013" name="Answer 1013"/>
          <p:cNvSpPr txBox="1"/>
          <p:nvPr/>
        </p:nvSpPr>
        <p:spPr>
          <a:xfrm>
            <a:off x="1441450" y="3613150"/>
            <a:ext cx="2006600" cy="7747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200" dirty="0">
                <a:solidFill>
                  <a:srgbClr val="FF0000"/>
                </a:solidFill>
              </a:rPr>
              <a:t>3x + 4y = 7</a:t>
            </a:r>
          </a:p>
        </p:txBody>
      </p:sp>
      <p:sp>
        <p:nvSpPr>
          <p:cNvPr id="1014" name="Answer 1014"/>
          <p:cNvSpPr txBox="1"/>
          <p:nvPr/>
        </p:nvSpPr>
        <p:spPr>
          <a:xfrm>
            <a:off x="5156200" y="3613150"/>
            <a:ext cx="1727200" cy="7747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200" dirty="0">
                <a:solidFill>
                  <a:srgbClr val="FF0000"/>
                </a:solidFill>
              </a:rPr>
              <a:t>(0, 7/4)</a:t>
            </a:r>
          </a:p>
        </p:txBody>
      </p:sp>
      <p:sp>
        <p:nvSpPr>
          <p:cNvPr id="1015" name="Answer 1015"/>
          <p:cNvSpPr txBox="1"/>
          <p:nvPr/>
        </p:nvSpPr>
        <p:spPr>
          <a:xfrm>
            <a:off x="1441450" y="4387850"/>
            <a:ext cx="2006600" cy="6350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200" dirty="0">
                <a:solidFill>
                  <a:srgbClr val="FF0000"/>
                </a:solidFill>
              </a:rPr>
              <a:t>2x − 3y = 9</a:t>
            </a:r>
          </a:p>
        </p:txBody>
      </p:sp>
      <p:sp>
        <p:nvSpPr>
          <p:cNvPr id="1016" name="Answer 1016"/>
          <p:cNvSpPr txBox="1"/>
          <p:nvPr/>
        </p:nvSpPr>
        <p:spPr>
          <a:xfrm>
            <a:off x="3448050" y="4387850"/>
            <a:ext cx="1708150" cy="6350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200" dirty="0">
                <a:solidFill>
                  <a:srgbClr val="FF0000"/>
                </a:solidFill>
              </a:rPr>
              <a:t>(9/2, 0)</a:t>
            </a:r>
          </a:p>
        </p:txBody>
      </p:sp>
      <p:sp>
        <p:nvSpPr>
          <p:cNvPr id="1017" name="Answer 1017"/>
          <p:cNvSpPr txBox="1"/>
          <p:nvPr/>
        </p:nvSpPr>
        <p:spPr>
          <a:xfrm>
            <a:off x="3448050" y="5022850"/>
            <a:ext cx="1708150" cy="6350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200" dirty="0">
                <a:solidFill>
                  <a:srgbClr val="FF0000"/>
                </a:solidFill>
              </a:rPr>
              <a:t>(−11/5, 0)</a:t>
            </a:r>
          </a:p>
        </p:txBody>
      </p:sp>
      <p:sp>
        <p:nvSpPr>
          <p:cNvPr id="1018" name="Answer 1018"/>
          <p:cNvSpPr txBox="1"/>
          <p:nvPr/>
        </p:nvSpPr>
        <p:spPr>
          <a:xfrm>
            <a:off x="5156200" y="5022850"/>
            <a:ext cx="1727200" cy="6350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200" dirty="0">
                <a:solidFill>
                  <a:srgbClr val="FF0000"/>
                </a:solidFill>
              </a:rPr>
              <a:t>(0, 11/7)</a:t>
            </a:r>
          </a:p>
        </p:txBody>
      </p:sp>
      <p:sp>
        <p:nvSpPr>
          <p:cNvPr id="1019" name="Answer 1019"/>
          <p:cNvSpPr txBox="1"/>
          <p:nvPr/>
        </p:nvSpPr>
        <p:spPr>
          <a:xfrm>
            <a:off x="6883400" y="5022850"/>
            <a:ext cx="1695450" cy="6350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200" dirty="0">
                <a:solidFill>
                  <a:srgbClr val="FF0000"/>
                </a:solidFill>
              </a:rPr>
              <a:t>m = 5/7</a:t>
            </a:r>
          </a:p>
        </p:txBody>
      </p:sp>
      <p:sp>
        <p:nvSpPr>
          <p:cNvPr id="1020" name="Answer 1020"/>
          <p:cNvSpPr txBox="1"/>
          <p:nvPr/>
        </p:nvSpPr>
        <p:spPr>
          <a:xfrm>
            <a:off x="8763000" y="2667000"/>
            <a:ext cx="3175000" cy="2667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Check each row: x-intercept (C/A, 0), y-intercept (0, C/B), slope −A/B.</a:t>
            </a:r>
          </a:p>
          <a:p>
            <a:pPr marL="0" indent="0" algn="l">
              <a:spcBef>
                <a:spcPts val="0"/>
              </a:spcBef>
              <a:spcAft>
                <a:spcPts val="300"/>
              </a:spcAft>
              <a:buNone/>
            </a:pPr>
            <a:r>
              <a:rPr lang="en-US" sz="1800" dirty="0">
                <a:solidFill>
                  <a:srgbClr val="FF0000"/>
                </a:solidFill>
              </a:rPr>
              <a:t>Row 2: the given x-intercept 7/3 and slope −3/4 give 3x + 4y = 7.</a:t>
            </a:r>
          </a:p>
          <a:p>
            <a:pPr marL="0" indent="0" algn="l">
              <a:spcBef>
                <a:spcPts val="0"/>
              </a:spcBef>
              <a:spcAft>
                <a:spcPts val="300"/>
              </a:spcAft>
              <a:buNone/>
            </a:pPr>
            <a:r>
              <a:rPr lang="en-US" sz="1800" dirty="0">
                <a:solidFill>
                  <a:srgbClr val="FF0000"/>
                </a:solidFill>
              </a:rPr>
              <a:t>Row 3: the slide's y-intercept (0, 23) is a typo for (0, −3).</a:t>
            </a:r>
          </a:p>
        </p:txBody>
      </p:sp>
    </p:spTree>
    <p:extLst>
      <p:ext uri="{BB962C8B-B14F-4D97-AF65-F5344CB8AC3E}">
        <p14:creationId xmlns:p14="http://schemas.microsoft.com/office/powerpoint/2010/main" val="2156797101"/>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1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1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013"/>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014"/>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015"/>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101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1017"/>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1018"/>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1019"/>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3" presetID="1" presetClass="entr" presetSubtype="0" fill="hold" nodeType="clickEffect">
                                  <p:stCondLst>
                                    <p:cond delay="0"/>
                                  </p:stCondLst>
                                  <p:childTnLst>
                                    <p:set>
                                      <p:cBhvr>
                                        <p:cTn id="44" dur="1" fill="hold">
                                          <p:stCondLst>
                                            <p:cond delay="0"/>
                                          </p:stCondLst>
                                        </p:cTn>
                                        <p:tgtEl>
                                          <p:spTgt spid="10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CFCAA0-A3F4-1D36-7AF6-45DD8E44CC6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423D39D3-0C49-C2D6-F8CE-0C4B45BB875C}"/>
              </a:ext>
            </a:extLst>
          </p:cNvPr>
          <p:cNvSpPr>
            <a:spLocks noGrp="1"/>
          </p:cNvSpPr>
          <p:nvPr>
            <p:ph type="title"/>
          </p:nvPr>
        </p:nvSpPr>
        <p:spPr>
          <a:xfrm>
            <a:off x="785004" y="1"/>
            <a:ext cx="11417718" cy="1263192"/>
          </a:xfrm>
        </p:spPr>
        <p:txBody>
          <a:bodyPr/>
          <a:lstStyle/>
          <a:p>
            <a:pPr algn="l"/>
            <a:r>
              <a:rPr lang="en-US" b="1" dirty="0"/>
              <a:t>Standard Form of a Linear Equation </a:t>
            </a:r>
            <a:r>
              <a:rPr lang="en-US" sz="2000" b="1" dirty="0">
                <a:solidFill>
                  <a:schemeClr val="bg1"/>
                </a:solidFill>
              </a:rPr>
              <a:t>(9 of 16)</a:t>
            </a:r>
          </a:p>
        </p:txBody>
      </p:sp>
      <p:sp>
        <p:nvSpPr>
          <p:cNvPr id="9" name="Text Placeholder 2">
            <a:extLst>
              <a:ext uri="{FF2B5EF4-FFF2-40B4-BE49-F238E27FC236}">
                <a16:creationId xmlns:a16="http://schemas.microsoft.com/office/drawing/2014/main" id="{48BB10A7-DC14-18A9-9D3E-3D666E9EE2AE}"/>
              </a:ext>
            </a:extLst>
          </p:cNvPr>
          <p:cNvSpPr txBox="1">
            <a:spLocks/>
          </p:cNvSpPr>
          <p:nvPr/>
        </p:nvSpPr>
        <p:spPr>
          <a:xfrm>
            <a:off x="785004" y="1604513"/>
            <a:ext cx="10015268" cy="456337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spcAft>
                <a:spcPts val="600"/>
              </a:spcAft>
              <a:buFont typeface="+mj-lt"/>
              <a:buAutoNum type="arabicPeriod" startAt="7"/>
            </a:pPr>
            <a:r>
              <a:rPr lang="en-US" sz="2800" dirty="0">
                <a:solidFill>
                  <a:srgbClr val="000000"/>
                </a:solidFill>
              </a:rPr>
              <a:t>What do you notice about the relationship between the integers </a:t>
            </a:r>
            <a:r>
              <a:rPr lang="en-US" sz="2800" i="1" dirty="0">
                <a:solidFill>
                  <a:srgbClr val="000000"/>
                </a:solidFill>
              </a:rPr>
              <a:t>A</a:t>
            </a:r>
            <a:r>
              <a:rPr lang="en-US" sz="2800" dirty="0">
                <a:solidFill>
                  <a:srgbClr val="000000"/>
                </a:solidFill>
              </a:rPr>
              <a:t>, </a:t>
            </a:r>
            <a:r>
              <a:rPr lang="en-US" sz="2800" i="1" dirty="0">
                <a:solidFill>
                  <a:srgbClr val="000000"/>
                </a:solidFill>
              </a:rPr>
              <a:t>B</a:t>
            </a:r>
            <a:r>
              <a:rPr lang="en-US" sz="2800" dirty="0">
                <a:solidFill>
                  <a:srgbClr val="000000"/>
                </a:solidFill>
              </a:rPr>
              <a:t>, and </a:t>
            </a:r>
            <a:r>
              <a:rPr lang="en-US" sz="2800" i="1" dirty="0">
                <a:solidFill>
                  <a:srgbClr val="000000"/>
                </a:solidFill>
              </a:rPr>
              <a:t>C</a:t>
            </a:r>
            <a:r>
              <a:rPr lang="en-US" sz="2800" dirty="0">
                <a:solidFill>
                  <a:srgbClr val="000000"/>
                </a:solidFill>
              </a:rPr>
              <a:t> from the standard form and</a:t>
            </a:r>
          </a:p>
          <a:p>
            <a:pPr marL="1027113" lvl="1" indent="-514350">
              <a:buFont typeface="+mj-lt"/>
              <a:buAutoNum type="alphaLcPeriod"/>
            </a:pPr>
            <a:r>
              <a:rPr lang="en-US" dirty="0">
                <a:solidFill>
                  <a:srgbClr val="000000"/>
                </a:solidFill>
              </a:rPr>
              <a:t>the </a:t>
            </a:r>
            <a:r>
              <a:rPr lang="en-US" i="1" dirty="0">
                <a:solidFill>
                  <a:srgbClr val="000000"/>
                </a:solidFill>
              </a:rPr>
              <a:t>x</a:t>
            </a:r>
            <a:r>
              <a:rPr lang="en-US" dirty="0">
                <a:solidFill>
                  <a:srgbClr val="000000"/>
                </a:solidFill>
              </a:rPr>
              <a:t>-intercepts?</a:t>
            </a:r>
            <a:br>
              <a:rPr lang="en-US" dirty="0">
                <a:solidFill>
                  <a:srgbClr val="000000"/>
                </a:solidFill>
              </a:rPr>
            </a:br>
            <a:br>
              <a:rPr lang="en-US" dirty="0">
                <a:solidFill>
                  <a:srgbClr val="000000"/>
                </a:solidFill>
              </a:rPr>
            </a:br>
            <a:endParaRPr lang="en-US" dirty="0">
              <a:solidFill>
                <a:srgbClr val="000000"/>
              </a:solidFill>
            </a:endParaRPr>
          </a:p>
          <a:p>
            <a:pPr marL="1027113" lvl="1" indent="-514350">
              <a:buFont typeface="+mj-lt"/>
              <a:buAutoNum type="alphaLcPeriod"/>
            </a:pPr>
            <a:r>
              <a:rPr lang="en-US" dirty="0">
                <a:solidFill>
                  <a:srgbClr val="000000"/>
                </a:solidFill>
              </a:rPr>
              <a:t>the </a:t>
            </a:r>
            <a:r>
              <a:rPr lang="en-US" i="1" dirty="0">
                <a:solidFill>
                  <a:srgbClr val="000000"/>
                </a:solidFill>
              </a:rPr>
              <a:t>y</a:t>
            </a:r>
            <a:r>
              <a:rPr lang="en-US" dirty="0">
                <a:solidFill>
                  <a:srgbClr val="000000"/>
                </a:solidFill>
              </a:rPr>
              <a:t>-intercepts?</a:t>
            </a:r>
            <a:br>
              <a:rPr lang="en-US" dirty="0">
                <a:solidFill>
                  <a:srgbClr val="000000"/>
                </a:solidFill>
              </a:rPr>
            </a:br>
            <a:br>
              <a:rPr lang="en-US" dirty="0">
                <a:solidFill>
                  <a:srgbClr val="000000"/>
                </a:solidFill>
              </a:rPr>
            </a:br>
            <a:endParaRPr lang="en-US" dirty="0">
              <a:solidFill>
                <a:srgbClr val="000000"/>
              </a:solidFill>
            </a:endParaRPr>
          </a:p>
          <a:p>
            <a:pPr marL="1027113" lvl="1" indent="-514350">
              <a:buFont typeface="+mj-lt"/>
              <a:buAutoNum type="alphaLcPeriod"/>
            </a:pPr>
            <a:r>
              <a:rPr lang="en-US" dirty="0">
                <a:solidFill>
                  <a:srgbClr val="000000"/>
                </a:solidFill>
              </a:rPr>
              <a:t>the slope?</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41</a:t>
            </a:fld>
          </a:p>
        </p:txBody>
      </p:sp>
      <p:sp>
        <p:nvSpPr>
          <p:cNvPr id="1010" name="Answer 1010"/>
          <p:cNvSpPr txBox="1"/>
          <p:nvPr/>
        </p:nvSpPr>
        <p:spPr>
          <a:xfrm>
            <a:off x="4572000" y="2667000"/>
            <a:ext cx="6985000" cy="444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(C/A, 0)</a:t>
            </a:r>
          </a:p>
        </p:txBody>
      </p:sp>
      <p:sp>
        <p:nvSpPr>
          <p:cNvPr id="1011" name="Answer 1011"/>
          <p:cNvSpPr txBox="1"/>
          <p:nvPr/>
        </p:nvSpPr>
        <p:spPr>
          <a:xfrm>
            <a:off x="4572000" y="3238500"/>
            <a:ext cx="6985000" cy="444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(0, C/B)</a:t>
            </a:r>
          </a:p>
        </p:txBody>
      </p:sp>
      <p:sp>
        <p:nvSpPr>
          <p:cNvPr id="1012" name="Answer 1012"/>
          <p:cNvSpPr txBox="1"/>
          <p:nvPr/>
        </p:nvSpPr>
        <p:spPr>
          <a:xfrm>
            <a:off x="4572000" y="3810000"/>
            <a:ext cx="6985000" cy="444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m = −A/B</a:t>
            </a:r>
          </a:p>
        </p:txBody>
      </p:sp>
      <p:sp>
        <p:nvSpPr>
          <p:cNvPr id="1013" name="Answer 1013"/>
          <p:cNvSpPr txBox="1"/>
          <p:nvPr/>
        </p:nvSpPr>
        <p:spPr>
          <a:xfrm>
            <a:off x="869950" y="4572000"/>
            <a:ext cx="10160000" cy="1270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Example: 5x + 2y = 6 has x-intercept (6/5, 0), y-intercept (0, 6/2) = (0, 3), and slope −5/2.</a:t>
            </a:r>
          </a:p>
        </p:txBody>
      </p:sp>
    </p:spTree>
    <p:extLst>
      <p:ext uri="{BB962C8B-B14F-4D97-AF65-F5344CB8AC3E}">
        <p14:creationId xmlns:p14="http://schemas.microsoft.com/office/powerpoint/2010/main" val="1886974189"/>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1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1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0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435A2D-21D3-597A-4792-D17D2F68279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549A3AD-605C-59FB-797A-1E7D04519B27}"/>
              </a:ext>
            </a:extLst>
          </p:cNvPr>
          <p:cNvSpPr>
            <a:spLocks noGrp="1"/>
          </p:cNvSpPr>
          <p:nvPr>
            <p:ph type="title"/>
          </p:nvPr>
        </p:nvSpPr>
        <p:spPr>
          <a:xfrm>
            <a:off x="785004" y="1"/>
            <a:ext cx="11417718" cy="1263192"/>
          </a:xfrm>
        </p:spPr>
        <p:txBody>
          <a:bodyPr/>
          <a:lstStyle/>
          <a:p>
            <a:pPr algn="l"/>
            <a:r>
              <a:rPr lang="en-US" b="1" dirty="0"/>
              <a:t>Standard Form of a Linear Equation </a:t>
            </a:r>
            <a:r>
              <a:rPr lang="en-US" sz="2000" b="1" dirty="0">
                <a:solidFill>
                  <a:schemeClr val="bg1"/>
                </a:solidFill>
              </a:rPr>
              <a:t>(10 of 16)</a:t>
            </a:r>
          </a:p>
        </p:txBody>
      </p:sp>
      <p:sp>
        <p:nvSpPr>
          <p:cNvPr id="9" name="Text Placeholder 2">
            <a:extLst>
              <a:ext uri="{FF2B5EF4-FFF2-40B4-BE49-F238E27FC236}">
                <a16:creationId xmlns:a16="http://schemas.microsoft.com/office/drawing/2014/main" id="{0C69950E-0AC9-6912-7EC8-C1467489CF42}"/>
              </a:ext>
            </a:extLst>
          </p:cNvPr>
          <p:cNvSpPr txBox="1">
            <a:spLocks/>
          </p:cNvSpPr>
          <p:nvPr/>
        </p:nvSpPr>
        <p:spPr>
          <a:xfrm>
            <a:off x="785004" y="1587260"/>
            <a:ext cx="8154600" cy="1179763"/>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buFont typeface="+mj-lt"/>
              <a:buAutoNum type="arabicPeriod" startAt="8"/>
            </a:pPr>
            <a:r>
              <a:rPr lang="en-US" sz="2800" dirty="0">
                <a:solidFill>
                  <a:srgbClr val="000000"/>
                </a:solidFill>
              </a:rPr>
              <a:t>Match each graph with the correct equation written in standard form. Explain your reasoning.</a:t>
            </a:r>
          </a:p>
        </p:txBody>
      </p:sp>
      <p:sp>
        <p:nvSpPr>
          <p:cNvPr id="6" name="Text Placeholder 2">
            <a:extLst>
              <a:ext uri="{FF2B5EF4-FFF2-40B4-BE49-F238E27FC236}">
                <a16:creationId xmlns:a16="http://schemas.microsoft.com/office/drawing/2014/main" id="{82E97E72-F252-61DF-564A-F413755D78AC}"/>
              </a:ext>
            </a:extLst>
          </p:cNvPr>
          <p:cNvSpPr txBox="1">
            <a:spLocks/>
          </p:cNvSpPr>
          <p:nvPr/>
        </p:nvSpPr>
        <p:spPr>
          <a:xfrm>
            <a:off x="785004" y="2898290"/>
            <a:ext cx="3885014" cy="2982558"/>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1027113" indent="-514350">
              <a:buFont typeface="+mj-lt"/>
              <a:buAutoNum type="alphaLcPeriod"/>
            </a:pPr>
            <a:r>
              <a:rPr lang="en-US" sz="2800" b="0" dirty="0">
                <a:solidFill>
                  <a:srgbClr val="000000"/>
                </a:solidFill>
              </a:rPr>
              <a:t>3</a:t>
            </a:r>
            <a:r>
              <a:rPr lang="en-US" sz="2800" b="0" i="1" dirty="0">
                <a:solidFill>
                  <a:srgbClr val="000000"/>
                </a:solidFill>
              </a:rPr>
              <a:t>x</a:t>
            </a:r>
            <a:r>
              <a:rPr lang="en-US" sz="2800" b="0" dirty="0">
                <a:solidFill>
                  <a:srgbClr val="000000"/>
                </a:solidFill>
              </a:rPr>
              <a:t> – 12</a:t>
            </a:r>
            <a:r>
              <a:rPr lang="en-US" sz="2800" b="0" i="1" dirty="0">
                <a:solidFill>
                  <a:srgbClr val="000000"/>
                </a:solidFill>
              </a:rPr>
              <a:t>y</a:t>
            </a:r>
            <a:r>
              <a:rPr lang="en-US" sz="2800" b="0" dirty="0">
                <a:solidFill>
                  <a:srgbClr val="000000"/>
                </a:solidFill>
              </a:rPr>
              <a:t> = −60</a:t>
            </a:r>
          </a:p>
          <a:p>
            <a:pPr marL="514350" indent="-514350">
              <a:buFont typeface="+mj-lt"/>
              <a:buAutoNum type="alphaLcPeriod"/>
            </a:pPr>
            <a:endParaRPr lang="en-US" sz="2800" b="0" dirty="0">
              <a:solidFill>
                <a:srgbClr val="000000"/>
              </a:solidFill>
            </a:endParaRPr>
          </a:p>
          <a:p>
            <a:pPr marL="1027113" indent="-514350">
              <a:buFont typeface="+mj-lt"/>
              <a:buAutoNum type="alphaLcPeriod"/>
            </a:pPr>
            <a:r>
              <a:rPr lang="en-US" sz="2800" b="0" dirty="0">
                <a:solidFill>
                  <a:srgbClr val="000000"/>
                </a:solidFill>
              </a:rPr>
              <a:t>6</a:t>
            </a:r>
            <a:r>
              <a:rPr lang="en-US" sz="2800" b="0" i="1" dirty="0">
                <a:solidFill>
                  <a:srgbClr val="000000"/>
                </a:solidFill>
              </a:rPr>
              <a:t>x</a:t>
            </a:r>
            <a:r>
              <a:rPr lang="en-US" sz="2800" b="0" dirty="0">
                <a:solidFill>
                  <a:srgbClr val="000000"/>
                </a:solidFill>
              </a:rPr>
              <a:t> – </a:t>
            </a:r>
            <a:r>
              <a:rPr lang="en-US" sz="2800" dirty="0">
                <a:solidFill>
                  <a:srgbClr val="000000"/>
                </a:solidFill>
              </a:rPr>
              <a:t>2</a:t>
            </a:r>
            <a:r>
              <a:rPr lang="en-US" sz="2800" i="1" dirty="0">
                <a:solidFill>
                  <a:srgbClr val="000000"/>
                </a:solidFill>
              </a:rPr>
              <a:t>y</a:t>
            </a:r>
            <a:r>
              <a:rPr lang="en-US" sz="2800" dirty="0">
                <a:solidFill>
                  <a:srgbClr val="000000"/>
                </a:solidFill>
              </a:rPr>
              <a:t> = −10</a:t>
            </a:r>
            <a:endParaRPr lang="en-US" sz="2800" b="0" dirty="0">
              <a:solidFill>
                <a:srgbClr val="000000"/>
              </a:solidFill>
            </a:endParaRPr>
          </a:p>
          <a:p>
            <a:pPr marL="0" indent="0">
              <a:buNone/>
            </a:pPr>
            <a:endParaRPr lang="en-US" sz="2800" b="0" dirty="0">
              <a:solidFill>
                <a:srgbClr val="000000"/>
              </a:solidFill>
            </a:endParaRPr>
          </a:p>
          <a:p>
            <a:pPr marL="1027113" indent="-514350">
              <a:buFont typeface="+mj-lt"/>
              <a:buAutoNum type="alphaLcPeriod" startAt="3"/>
            </a:pPr>
            <a:r>
              <a:rPr lang="en-US" sz="2800" dirty="0">
                <a:solidFill>
                  <a:srgbClr val="000000"/>
                </a:solidFill>
              </a:rPr>
              <a:t>9</a:t>
            </a:r>
            <a:r>
              <a:rPr lang="en-US" sz="2800" i="1" dirty="0">
                <a:solidFill>
                  <a:srgbClr val="000000"/>
                </a:solidFill>
              </a:rPr>
              <a:t>x</a:t>
            </a:r>
            <a:r>
              <a:rPr lang="en-US" sz="2800" dirty="0">
                <a:solidFill>
                  <a:srgbClr val="000000"/>
                </a:solidFill>
              </a:rPr>
              <a:t> – 9</a:t>
            </a:r>
            <a:r>
              <a:rPr lang="en-US" sz="2800" i="1" dirty="0">
                <a:solidFill>
                  <a:srgbClr val="000000"/>
                </a:solidFill>
              </a:rPr>
              <a:t>y</a:t>
            </a:r>
            <a:r>
              <a:rPr lang="en-US" sz="2800" dirty="0">
                <a:solidFill>
                  <a:srgbClr val="000000"/>
                </a:solidFill>
              </a:rPr>
              <a:t> = −45</a:t>
            </a:r>
          </a:p>
          <a:p>
            <a:pPr marL="514350" indent="-514350">
              <a:buFont typeface="+mj-lt"/>
              <a:buAutoNum type="alphaLcPeriod" startAt="3"/>
            </a:pPr>
            <a:endParaRPr lang="en-US" sz="2800" dirty="0">
              <a:solidFill>
                <a:srgbClr val="000000"/>
              </a:solidFill>
            </a:endParaRPr>
          </a:p>
        </p:txBody>
      </p:sp>
      <p:pic>
        <p:nvPicPr>
          <p:cNvPr id="3" name="Picture 2" descr="A graph of 3 lines on the coordinate plane. The lines rise from left to right through the same point on the y-axis. Line 1 is the steepest. Line 3 is the shallowest. Line 2 is between lines 1 and 3.">
            <a:extLst>
              <a:ext uri="{FF2B5EF4-FFF2-40B4-BE49-F238E27FC236}">
                <a16:creationId xmlns:a16="http://schemas.microsoft.com/office/drawing/2014/main" id="{29A7C47E-DDFC-A004-CAC5-03B317507D28}"/>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5435755" y="2767023"/>
            <a:ext cx="3333277" cy="3065792"/>
          </a:xfrm>
          <a:prstGeom prst="rect">
            <a:avLst/>
          </a:prstGeom>
        </p:spPr>
      </p:pic>
      <p:sp>
        <p:nvSpPr>
          <p:cNvPr id="5" name="TextBox 4">
            <a:extLst>
              <a:ext uri="{FF2B5EF4-FFF2-40B4-BE49-F238E27FC236}">
                <a16:creationId xmlns:a16="http://schemas.microsoft.com/office/drawing/2014/main" id="{2D1FD084-2B5F-5926-1FA1-8B70CCDA741B}"/>
              </a:ext>
            </a:extLst>
          </p:cNvPr>
          <p:cNvSpPr txBox="1"/>
          <p:nvPr/>
        </p:nvSpPr>
        <p:spPr>
          <a:xfrm>
            <a:off x="9187132" y="1742535"/>
            <a:ext cx="2346385" cy="2647033"/>
          </a:xfrm>
          <a:prstGeom prst="rect">
            <a:avLst/>
          </a:prstGeom>
          <a:noFill/>
          <a:ln w="31750">
            <a:solidFill>
              <a:srgbClr val="008F4C"/>
            </a:solidFill>
            <a:prstDash val="sysDot"/>
          </a:ln>
        </p:spPr>
        <p:txBody>
          <a:bodyPr wrap="square" lIns="182880" rtlCol="0" anchor="ctr" anchorCtr="0">
            <a:noAutofit/>
          </a:bodyPr>
          <a:lstStyle/>
          <a:p>
            <a:r>
              <a:rPr lang="en-US" sz="2000" dirty="0">
                <a:solidFill>
                  <a:srgbClr val="000000"/>
                </a:solidFill>
              </a:rPr>
              <a:t>Notice that there are no values on the </a:t>
            </a:r>
            <a:r>
              <a:rPr lang="en-US" sz="2000" i="1" dirty="0">
                <a:solidFill>
                  <a:srgbClr val="000000"/>
                </a:solidFill>
              </a:rPr>
              <a:t>x</a:t>
            </a:r>
            <a:r>
              <a:rPr lang="en-US" sz="2000" dirty="0">
                <a:solidFill>
                  <a:srgbClr val="000000"/>
                </a:solidFill>
              </a:rPr>
              <a:t>- and </a:t>
            </a:r>
            <a:r>
              <a:rPr lang="en-US" sz="2000" i="1" dirty="0">
                <a:solidFill>
                  <a:srgbClr val="000000"/>
                </a:solidFill>
              </a:rPr>
              <a:t>y</a:t>
            </a:r>
            <a:r>
              <a:rPr lang="en-US" sz="2000" dirty="0">
                <a:solidFill>
                  <a:srgbClr val="000000"/>
                </a:solidFill>
              </a:rPr>
              <a:t>-axis. What strategies</a:t>
            </a:r>
            <a:br>
              <a:rPr lang="en-US" sz="2000" dirty="0">
                <a:solidFill>
                  <a:srgbClr val="000000"/>
                </a:solidFill>
              </a:rPr>
            </a:br>
            <a:r>
              <a:rPr lang="en-US" sz="2000" dirty="0">
                <a:solidFill>
                  <a:srgbClr val="000000"/>
                </a:solidFill>
              </a:rPr>
              <a:t>can you use to determine which graph goes with which equation?</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42</a:t>
            </a:fld>
          </a:p>
        </p:txBody>
      </p:sp>
      <p:sp>
        <p:nvSpPr>
          <p:cNvPr id="1010" name="Answer 1010"/>
          <p:cNvSpPr txBox="1"/>
          <p:nvPr/>
        </p:nvSpPr>
        <p:spPr>
          <a:xfrm>
            <a:off x="3873500" y="2984500"/>
            <a:ext cx="1524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Line 3</a:t>
            </a:r>
          </a:p>
        </p:txBody>
      </p:sp>
      <p:sp>
        <p:nvSpPr>
          <p:cNvPr id="1011" name="Answer 1011"/>
          <p:cNvSpPr txBox="1"/>
          <p:nvPr/>
        </p:nvSpPr>
        <p:spPr>
          <a:xfrm>
            <a:off x="3873500" y="3886200"/>
            <a:ext cx="1524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Line 1</a:t>
            </a:r>
          </a:p>
        </p:txBody>
      </p:sp>
      <p:sp>
        <p:nvSpPr>
          <p:cNvPr id="1012" name="Answer 1012"/>
          <p:cNvSpPr txBox="1"/>
          <p:nvPr/>
        </p:nvSpPr>
        <p:spPr>
          <a:xfrm>
            <a:off x="3873500" y="4787900"/>
            <a:ext cx="1524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Line 2</a:t>
            </a:r>
          </a:p>
        </p:txBody>
      </p:sp>
      <p:sp>
        <p:nvSpPr>
          <p:cNvPr id="1013" name="Answer 1013"/>
          <p:cNvSpPr txBox="1"/>
          <p:nvPr/>
        </p:nvSpPr>
        <p:spPr>
          <a:xfrm>
            <a:off x="787400" y="5905500"/>
            <a:ext cx="10795000" cy="889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All three lines have y-intercept (0, 5), so match by slope: 3x − 12y = −60 has m = 1/4, 6x − 2y = −10 has m = 3, 9x − 9y = −45 has m = 1. The steepest line (Line 1) has the greatest slope.</a:t>
            </a:r>
          </a:p>
        </p:txBody>
      </p:sp>
    </p:spTree>
    <p:extLst>
      <p:ext uri="{BB962C8B-B14F-4D97-AF65-F5344CB8AC3E}">
        <p14:creationId xmlns:p14="http://schemas.microsoft.com/office/powerpoint/2010/main" val="1334418823"/>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1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1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0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BA380C-6167-281E-E54D-C84E71F4FB79}"/>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AA357E6B-1ECC-9318-214D-DB0477EB7603}"/>
              </a:ext>
            </a:extLst>
          </p:cNvPr>
          <p:cNvSpPr>
            <a:spLocks noGrp="1"/>
          </p:cNvSpPr>
          <p:nvPr>
            <p:ph type="title"/>
          </p:nvPr>
        </p:nvSpPr>
        <p:spPr>
          <a:xfrm>
            <a:off x="785004" y="1"/>
            <a:ext cx="11417718" cy="1263192"/>
          </a:xfrm>
        </p:spPr>
        <p:txBody>
          <a:bodyPr/>
          <a:lstStyle/>
          <a:p>
            <a:pPr algn="l"/>
            <a:r>
              <a:rPr lang="en-US" b="1" dirty="0"/>
              <a:t>Standard Form of a Linear Equation </a:t>
            </a:r>
            <a:r>
              <a:rPr lang="en-US" sz="2000" b="1" dirty="0">
                <a:solidFill>
                  <a:schemeClr val="bg1"/>
                </a:solidFill>
              </a:rPr>
              <a:t>(11 of 16)</a:t>
            </a:r>
          </a:p>
        </p:txBody>
      </p:sp>
      <p:sp>
        <p:nvSpPr>
          <p:cNvPr id="9" name="Text Placeholder 2">
            <a:extLst>
              <a:ext uri="{FF2B5EF4-FFF2-40B4-BE49-F238E27FC236}">
                <a16:creationId xmlns:a16="http://schemas.microsoft.com/office/drawing/2014/main" id="{3F8E293D-48DB-12BA-BCEF-1913A520CA2B}"/>
              </a:ext>
            </a:extLst>
          </p:cNvPr>
          <p:cNvSpPr txBox="1">
            <a:spLocks/>
          </p:cNvSpPr>
          <p:nvPr/>
        </p:nvSpPr>
        <p:spPr>
          <a:xfrm>
            <a:off x="925156" y="1380225"/>
            <a:ext cx="6648836" cy="4891179"/>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spcAft>
                <a:spcPts val="1200"/>
              </a:spcAft>
              <a:buNone/>
            </a:pPr>
            <a:r>
              <a:rPr lang="en-US" sz="2800" dirty="0">
                <a:solidFill>
                  <a:srgbClr val="000000"/>
                </a:solidFill>
              </a:rPr>
              <a:t>Define variables for each problem situation. Then, write an equation in standard form and use the intercepts to graph the linear relationship. </a:t>
            </a:r>
          </a:p>
          <a:p>
            <a:pPr marL="514350" indent="-514350">
              <a:buFont typeface="+mj-lt"/>
              <a:buAutoNum type="arabicPeriod" startAt="9"/>
            </a:pPr>
            <a:r>
              <a:rPr lang="en-US" sz="2800" dirty="0">
                <a:solidFill>
                  <a:srgbClr val="000000"/>
                </a:solidFill>
              </a:rPr>
              <a:t>Nia burns 20 calories for every 5 minutes she jumps rope and 50 calories for every 5 minutes she runs. On Tuesday, Nia burned a total of 500 calories.</a:t>
            </a:r>
          </a:p>
        </p:txBody>
      </p:sp>
      <p:pic>
        <p:nvPicPr>
          <p:cNvPr id="7" name="Picture 6" descr="A coordinate plane.">
            <a:extLst>
              <a:ext uri="{FF2B5EF4-FFF2-40B4-BE49-F238E27FC236}">
                <a16:creationId xmlns:a16="http://schemas.microsoft.com/office/drawing/2014/main" id="{7ECD88E6-F3EF-1E19-1357-E66CAC1009A2}"/>
              </a:ext>
            </a:extLst>
          </p:cNvPr>
          <p:cNvPicPr>
            <a:picLocks noChangeAspect="1"/>
          </p:cNvPicPr>
          <p:nvPr/>
        </p:nvPicPr>
        <p:blipFill>
          <a:blip r:embed="rId3" cstate="screen">
            <a:extLst>
              <a:ext uri="{28A0092B-C50C-407E-A947-70E740481C1C}">
                <a14:useLocalDpi xmlns:a14="http://schemas.microsoft.com/office/drawing/2010/main"/>
              </a:ext>
            </a:extLst>
          </a:blip>
          <a:srcRect/>
          <a:stretch/>
        </p:blipFill>
        <p:spPr>
          <a:xfrm>
            <a:off x="7985602" y="3959525"/>
            <a:ext cx="3549534" cy="2668779"/>
          </a:xfrm>
          <a:prstGeom prst="rect">
            <a:avLst/>
          </a:prstGeom>
        </p:spPr>
      </p:pic>
      <p:sp>
        <p:nvSpPr>
          <p:cNvPr id="8" name="Speech Bubble: Rectangle with Corners Rounded 1">
            <a:extLst>
              <a:ext uri="{FF2B5EF4-FFF2-40B4-BE49-F238E27FC236}">
                <a16:creationId xmlns:a16="http://schemas.microsoft.com/office/drawing/2014/main" id="{2E939660-3D2E-4312-D589-783DEEA4FD29}"/>
              </a:ext>
            </a:extLst>
          </p:cNvPr>
          <p:cNvSpPr/>
          <p:nvPr/>
        </p:nvSpPr>
        <p:spPr>
          <a:xfrm>
            <a:off x="8255480" y="1733911"/>
            <a:ext cx="3009778" cy="2001328"/>
          </a:xfrm>
          <a:prstGeom prst="wedgeRoundRectCallout">
            <a:avLst>
              <a:gd name="adj1" fmla="val -32691"/>
              <a:gd name="adj2" fmla="val -60705"/>
              <a:gd name="adj3" fmla="val 16667"/>
            </a:avLst>
          </a:prstGeom>
          <a:ln>
            <a:solidFill>
              <a:srgbClr val="008F4C"/>
            </a:solidFill>
          </a:ln>
        </p:spPr>
        <p:style>
          <a:lnRef idx="2">
            <a:schemeClr val="accent6"/>
          </a:lnRef>
          <a:fillRef idx="1">
            <a:schemeClr val="lt1"/>
          </a:fillRef>
          <a:effectRef idx="0">
            <a:schemeClr val="accent6"/>
          </a:effectRef>
          <a:fontRef idx="minor">
            <a:schemeClr val="dk1"/>
          </a:fontRef>
        </p:style>
        <p:txBody>
          <a:bodyPr rtlCol="0" anchor="ctr"/>
          <a:lstStyle/>
          <a:p>
            <a:r>
              <a:rPr lang="en-US" sz="2000" b="1" dirty="0">
                <a:solidFill>
                  <a:srgbClr val="2B8147"/>
                </a:solidFill>
              </a:rPr>
              <a:t>Ask Yourself…</a:t>
            </a:r>
          </a:p>
          <a:p>
            <a:r>
              <a:rPr lang="en-US" sz="2000" dirty="0">
                <a:solidFill>
                  <a:srgbClr val="000000"/>
                </a:solidFill>
              </a:rPr>
              <a:t>Why is the standard form of a linear equation appropriate to represent this situation?</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43</a:t>
            </a:fld>
          </a:p>
        </p:txBody>
      </p:sp>
      <p:sp>
        <p:nvSpPr>
          <p:cNvPr id="1010" name="Answer 1010"/>
          <p:cNvSpPr txBox="1"/>
          <p:nvPr/>
        </p:nvSpPr>
        <p:spPr>
          <a:xfrm>
            <a:off x="927100" y="6191250"/>
            <a:ext cx="6985000" cy="635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700" dirty="0">
                <a:solidFill>
                  <a:srgbClr val="FF0000"/>
                </a:solidFill>
              </a:rPr>
              <a:t>x = 5-minute periods of jumping rope, y = 5-minute periods of running: 20x + 50y = 500. Intercepts (25, 0) and (0, 10).</a:t>
            </a:r>
          </a:p>
        </p:txBody>
      </p:sp>
    </p:spTree>
    <p:extLst>
      <p:ext uri="{BB962C8B-B14F-4D97-AF65-F5344CB8AC3E}">
        <p14:creationId xmlns:p14="http://schemas.microsoft.com/office/powerpoint/2010/main" val="217063447"/>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25F359-2EC4-9DEF-2A8A-2D30817A85E9}"/>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A6C48AA-1CFE-C890-3722-023A8767ED86}"/>
              </a:ext>
            </a:extLst>
          </p:cNvPr>
          <p:cNvSpPr>
            <a:spLocks noGrp="1"/>
          </p:cNvSpPr>
          <p:nvPr>
            <p:ph type="title"/>
          </p:nvPr>
        </p:nvSpPr>
        <p:spPr>
          <a:xfrm>
            <a:off x="785004" y="1"/>
            <a:ext cx="11417718" cy="1263192"/>
          </a:xfrm>
        </p:spPr>
        <p:txBody>
          <a:bodyPr/>
          <a:lstStyle/>
          <a:p>
            <a:pPr algn="l"/>
            <a:r>
              <a:rPr lang="en-US" b="1" dirty="0"/>
              <a:t>Standard Form of a Linear Equation </a:t>
            </a:r>
            <a:r>
              <a:rPr lang="en-US" sz="2000" b="1" dirty="0">
                <a:solidFill>
                  <a:schemeClr val="bg1"/>
                </a:solidFill>
              </a:rPr>
              <a:t>(12 of 16)</a:t>
            </a:r>
          </a:p>
        </p:txBody>
      </p:sp>
      <p:sp>
        <p:nvSpPr>
          <p:cNvPr id="9" name="Text Placeholder 2">
            <a:extLst>
              <a:ext uri="{FF2B5EF4-FFF2-40B4-BE49-F238E27FC236}">
                <a16:creationId xmlns:a16="http://schemas.microsoft.com/office/drawing/2014/main" id="{ED4A4A16-396A-B919-E5B8-08518092D2E2}"/>
              </a:ext>
            </a:extLst>
          </p:cNvPr>
          <p:cNvSpPr txBox="1">
            <a:spLocks/>
          </p:cNvSpPr>
          <p:nvPr/>
        </p:nvSpPr>
        <p:spPr>
          <a:xfrm>
            <a:off x="871369" y="1671984"/>
            <a:ext cx="10265334" cy="1476658"/>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buFont typeface="+mj-lt"/>
              <a:buAutoNum type="arabicPeriod" startAt="10"/>
            </a:pPr>
            <a:r>
              <a:rPr lang="en-US" sz="2800" dirty="0">
                <a:solidFill>
                  <a:srgbClr val="000000"/>
                </a:solidFill>
              </a:rPr>
              <a:t>For the show choir’s holiday performance, they are selling tickets for $5 per student and $6.00 per adult. On the night of their final performance, they collect $270 in ticket sales.</a:t>
            </a:r>
          </a:p>
        </p:txBody>
      </p:sp>
      <p:pic>
        <p:nvPicPr>
          <p:cNvPr id="3" name="Picture 2" descr="A coordinate plane.">
            <a:extLst>
              <a:ext uri="{FF2B5EF4-FFF2-40B4-BE49-F238E27FC236}">
                <a16:creationId xmlns:a16="http://schemas.microsoft.com/office/drawing/2014/main" id="{4A5161D7-98A4-5C17-66D4-654DCA8CAD35}"/>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4174506" y="3148642"/>
            <a:ext cx="3659060" cy="3068078"/>
          </a:xfrm>
          <a:prstGeom prst="rect">
            <a:avLst/>
          </a:prstGeom>
        </p:spPr>
      </p:pic>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44</a:t>
            </a:fld>
          </a:p>
        </p:txBody>
      </p:sp>
      <p:sp>
        <p:nvSpPr>
          <p:cNvPr id="1010" name="Answer 1010"/>
          <p:cNvSpPr txBox="1"/>
          <p:nvPr/>
        </p:nvSpPr>
        <p:spPr>
          <a:xfrm>
            <a:off x="7937500" y="3302000"/>
            <a:ext cx="3937000" cy="292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x = student tickets, y = adult tickets</a:t>
            </a:r>
          </a:p>
          <a:p>
            <a:pPr marL="0" indent="0" algn="l">
              <a:spcBef>
                <a:spcPts val="0"/>
              </a:spcBef>
              <a:spcAft>
                <a:spcPts val="300"/>
              </a:spcAft>
              <a:buNone/>
            </a:pPr>
            <a:r>
              <a:rPr lang="en-US" sz="2200" dirty="0">
                <a:solidFill>
                  <a:srgbClr val="FF0000"/>
                </a:solidFill>
              </a:rPr>
              <a:t>5x + 6y = 270</a:t>
            </a:r>
          </a:p>
          <a:p>
            <a:pPr marL="0" indent="0" algn="l">
              <a:spcBef>
                <a:spcPts val="0"/>
              </a:spcBef>
              <a:spcAft>
                <a:spcPts val="300"/>
              </a:spcAft>
              <a:buNone/>
            </a:pPr>
            <a:r>
              <a:rPr lang="en-US" sz="2200" dirty="0">
                <a:solidFill>
                  <a:srgbClr val="FF0000"/>
                </a:solidFill>
              </a:rPr>
              <a:t>Intercepts (54, 0) and (0, 45); connect them.</a:t>
            </a:r>
          </a:p>
        </p:txBody>
      </p:sp>
    </p:spTree>
    <p:extLst>
      <p:ext uri="{BB962C8B-B14F-4D97-AF65-F5344CB8AC3E}">
        <p14:creationId xmlns:p14="http://schemas.microsoft.com/office/powerpoint/2010/main" val="998503044"/>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693DAF-5540-BA22-28F1-479C2EC4152D}"/>
            </a:ext>
          </a:extLst>
        </p:cNvPr>
        <p:cNvGrpSpPr/>
        <p:nvPr/>
      </p:nvGrpSpPr>
      <p:grpSpPr>
        <a:xfrm>
          <a:off x="0" y="0"/>
          <a:ext cx="0" cy="0"/>
          <a:chOff x="0" y="0"/>
          <a:chExt cx="0" cy="0"/>
        </a:xfrm>
      </p:grpSpPr>
      <p:sp>
        <p:nvSpPr>
          <p:cNvPr id="2" name="Rectangle: Rounded Corners 1">
            <a:extLst>
              <a:ext uri="{FF2B5EF4-FFF2-40B4-BE49-F238E27FC236}">
                <a16:creationId xmlns:a16="http://schemas.microsoft.com/office/drawing/2014/main" id="{B009C310-06BB-57BE-DB68-56A1FFE213DD}"/>
              </a:ext>
              <a:ext uri="{C183D7F6-B498-43B3-948B-1728B52AA6E4}">
                <adec:decorative xmlns:adec="http://schemas.microsoft.com/office/drawing/2017/decorative" val="1"/>
              </a:ext>
            </a:extLst>
          </p:cNvPr>
          <p:cNvSpPr/>
          <p:nvPr/>
        </p:nvSpPr>
        <p:spPr>
          <a:xfrm>
            <a:off x="989704" y="1578634"/>
            <a:ext cx="10176734" cy="5048077"/>
          </a:xfrm>
          <a:prstGeom prst="roundRect">
            <a:avLst/>
          </a:prstGeom>
          <a:solidFill>
            <a:schemeClr val="bg1"/>
          </a:solidFill>
          <a:ln w="50800" cmpd="dbl">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itle 3">
            <a:extLst>
              <a:ext uri="{FF2B5EF4-FFF2-40B4-BE49-F238E27FC236}">
                <a16:creationId xmlns:a16="http://schemas.microsoft.com/office/drawing/2014/main" id="{6615E649-3F19-B8BD-9EBB-6731440A07FF}"/>
              </a:ext>
            </a:extLst>
          </p:cNvPr>
          <p:cNvSpPr>
            <a:spLocks noGrp="1"/>
          </p:cNvSpPr>
          <p:nvPr>
            <p:ph type="title"/>
          </p:nvPr>
        </p:nvSpPr>
        <p:spPr>
          <a:xfrm>
            <a:off x="785004" y="1"/>
            <a:ext cx="11417718" cy="1263192"/>
          </a:xfrm>
        </p:spPr>
        <p:txBody>
          <a:bodyPr/>
          <a:lstStyle/>
          <a:p>
            <a:pPr algn="l"/>
            <a:r>
              <a:rPr lang="en-US" b="1" dirty="0"/>
              <a:t>Standard Form of a Linear Equation </a:t>
            </a:r>
            <a:r>
              <a:rPr lang="en-US" sz="2000" b="1" dirty="0">
                <a:solidFill>
                  <a:schemeClr val="bg1"/>
                </a:solidFill>
              </a:rPr>
              <a:t>(13 of 16)</a:t>
            </a:r>
          </a:p>
        </p:txBody>
      </p:sp>
      <p:pic>
        <p:nvPicPr>
          <p:cNvPr id="12" name="Picture 11" descr="Worked Example">
            <a:extLst>
              <a:ext uri="{FF2B5EF4-FFF2-40B4-BE49-F238E27FC236}">
                <a16:creationId xmlns:a16="http://schemas.microsoft.com/office/drawing/2014/main" id="{97AB622C-0277-B4EA-A960-E4615CD67A08}"/>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791513" y="1365255"/>
            <a:ext cx="2758679" cy="426757"/>
          </a:xfrm>
          <a:prstGeom prst="rect">
            <a:avLst/>
          </a:prstGeom>
        </p:spPr>
      </p:pic>
      <mc:AlternateContent xmlns:mc="http://schemas.openxmlformats.org/markup-compatibility/2006" xmlns:a14="http://schemas.microsoft.com/office/drawing/2010/main">
        <mc:Choice Requires="a14">
          <p:sp>
            <p:nvSpPr>
              <p:cNvPr id="6" name="Text Placeholder 2">
                <a:extLst>
                  <a:ext uri="{FF2B5EF4-FFF2-40B4-BE49-F238E27FC236}">
                    <a16:creationId xmlns:a16="http://schemas.microsoft.com/office/drawing/2014/main" id="{FAD907B5-A69A-7E22-1734-38BD299815D4}"/>
                  </a:ext>
                </a:extLst>
              </p:cNvPr>
              <p:cNvSpPr txBox="1">
                <a:spLocks/>
              </p:cNvSpPr>
              <p:nvPr/>
            </p:nvSpPr>
            <p:spPr>
              <a:xfrm>
                <a:off x="1506578" y="1802920"/>
                <a:ext cx="9142986" cy="4754779"/>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spcAft>
                    <a:spcPts val="600"/>
                  </a:spcAft>
                  <a:buNone/>
                </a:pPr>
                <a:r>
                  <a:rPr lang="en-US" sz="2200" dirty="0">
                    <a:solidFill>
                      <a:srgbClr val="000000"/>
                    </a:solidFill>
                  </a:rPr>
                  <a:t>Write a linear equation in standard form, </a:t>
                </a:r>
                <a14:m>
                  <m:oMath xmlns:m="http://schemas.openxmlformats.org/officeDocument/2006/math">
                    <m:r>
                      <a:rPr lang="en-US" sz="2200" b="0" i="1" smtClean="0">
                        <a:solidFill>
                          <a:srgbClr val="000000"/>
                        </a:solidFill>
                        <a:latin typeface="Cambria Math" panose="02040503050406030204" pitchFamily="18" charset="0"/>
                      </a:rPr>
                      <m:t>𝐴𝑥</m:t>
                    </m:r>
                    <m:r>
                      <a:rPr lang="en-US" sz="2200" b="0" i="1" smtClean="0">
                        <a:solidFill>
                          <a:srgbClr val="000000"/>
                        </a:solidFill>
                        <a:latin typeface="Cambria Math" panose="02040503050406030204" pitchFamily="18" charset="0"/>
                      </a:rPr>
                      <m:t>+</m:t>
                    </m:r>
                    <m:r>
                      <a:rPr lang="en-US" sz="2200" b="0" i="1" smtClean="0">
                        <a:solidFill>
                          <a:srgbClr val="000000"/>
                        </a:solidFill>
                        <a:latin typeface="Cambria Math" panose="02040503050406030204" pitchFamily="18" charset="0"/>
                      </a:rPr>
                      <m:t>𝐵𝑦</m:t>
                    </m:r>
                    <m:r>
                      <a:rPr lang="en-US" sz="2200" b="0" i="1" smtClean="0">
                        <a:solidFill>
                          <a:srgbClr val="000000"/>
                        </a:solidFill>
                        <a:latin typeface="Cambria Math" panose="02040503050406030204" pitchFamily="18" charset="0"/>
                      </a:rPr>
                      <m:t>=</m:t>
                    </m:r>
                    <m:r>
                      <a:rPr lang="en-US" sz="2200" b="0" i="1" smtClean="0">
                        <a:solidFill>
                          <a:srgbClr val="000000"/>
                        </a:solidFill>
                        <a:latin typeface="Cambria Math" panose="02040503050406030204" pitchFamily="18" charset="0"/>
                      </a:rPr>
                      <m:t>𝐶</m:t>
                    </m:r>
                  </m:oMath>
                </a14:m>
                <a:r>
                  <a:rPr lang="en-US" sz="2200" dirty="0">
                    <a:solidFill>
                      <a:srgbClr val="000000"/>
                    </a:solidFill>
                  </a:rPr>
                  <a:t>, that goes through the points (</a:t>
                </a:r>
                <a14:m>
                  <m:oMath xmlns:m="http://schemas.openxmlformats.org/officeDocument/2006/math">
                    <m:r>
                      <a:rPr lang="en-US" sz="2200" b="0" i="1" dirty="0" smtClean="0">
                        <a:solidFill>
                          <a:srgbClr val="000000"/>
                        </a:solidFill>
                        <a:latin typeface="Cambria Math" panose="02040503050406030204" pitchFamily="18" charset="0"/>
                      </a:rPr>
                      <m:t>−1, 3</m:t>
                    </m:r>
                  </m:oMath>
                </a14:m>
                <a:r>
                  <a:rPr lang="en-US" sz="2200" dirty="0">
                    <a:solidFill>
                      <a:srgbClr val="000000"/>
                    </a:solidFill>
                  </a:rPr>
                  <a:t>) and (</a:t>
                </a:r>
                <a14:m>
                  <m:oMath xmlns:m="http://schemas.openxmlformats.org/officeDocument/2006/math">
                    <m:r>
                      <a:rPr lang="en-US" sz="2200" i="1" dirty="0">
                        <a:solidFill>
                          <a:srgbClr val="000000"/>
                        </a:solidFill>
                        <a:latin typeface="Cambria Math" panose="02040503050406030204" pitchFamily="18" charset="0"/>
                      </a:rPr>
                      <m:t>−</m:t>
                    </m:r>
                    <m:r>
                      <a:rPr lang="en-US" sz="2200" b="0" i="1" dirty="0" smtClean="0">
                        <a:solidFill>
                          <a:srgbClr val="000000"/>
                        </a:solidFill>
                        <a:latin typeface="Cambria Math" panose="02040503050406030204" pitchFamily="18" charset="0"/>
                      </a:rPr>
                      <m:t>4</m:t>
                    </m:r>
                    <m:r>
                      <a:rPr lang="en-US" sz="2200" i="1" dirty="0">
                        <a:solidFill>
                          <a:srgbClr val="000000"/>
                        </a:solidFill>
                        <a:latin typeface="Cambria Math" panose="02040503050406030204" pitchFamily="18" charset="0"/>
                      </a:rPr>
                      <m:t>,</m:t>
                    </m:r>
                    <m:r>
                      <a:rPr lang="en-US" sz="2200" b="0" i="1" dirty="0" smtClean="0">
                        <a:solidFill>
                          <a:srgbClr val="000000"/>
                        </a:solidFill>
                        <a:latin typeface="Cambria Math" panose="02040503050406030204" pitchFamily="18" charset="0"/>
                      </a:rPr>
                      <m:t>−</m:t>
                    </m:r>
                    <m:r>
                      <a:rPr lang="en-US" sz="2200" i="1" dirty="0">
                        <a:solidFill>
                          <a:srgbClr val="000000"/>
                        </a:solidFill>
                        <a:latin typeface="Cambria Math" panose="02040503050406030204" pitchFamily="18" charset="0"/>
                      </a:rPr>
                      <m:t> 3</m:t>
                    </m:r>
                  </m:oMath>
                </a14:m>
                <a:r>
                  <a:rPr lang="en-US" sz="2200" dirty="0">
                    <a:solidFill>
                      <a:srgbClr val="000000"/>
                    </a:solidFill>
                  </a:rPr>
                  <a:t>).</a:t>
                </a:r>
              </a:p>
              <a:p>
                <a:pPr marL="0" indent="0">
                  <a:buNone/>
                </a:pPr>
                <a:r>
                  <a:rPr lang="en-US" sz="2200" dirty="0">
                    <a:solidFill>
                      <a:srgbClr val="000000"/>
                    </a:solidFill>
                  </a:rPr>
                  <a:t>Begin by determining the slope of the line.</a:t>
                </a:r>
              </a:p>
              <a:p>
                <a:pPr marL="0" indent="0">
                  <a:spcAft>
                    <a:spcPts val="600"/>
                  </a:spcAft>
                  <a:buNone/>
                </a:pPr>
                <a14:m>
                  <m:oMathPara xmlns:m="http://schemas.openxmlformats.org/officeDocument/2006/math">
                    <m:oMathParaPr>
                      <m:jc m:val="left"/>
                    </m:oMathParaPr>
                    <m:oMath xmlns:m="http://schemas.openxmlformats.org/officeDocument/2006/math">
                      <m:r>
                        <a:rPr lang="en-US" sz="2200" b="0" i="1" smtClean="0">
                          <a:solidFill>
                            <a:srgbClr val="000000"/>
                          </a:solidFill>
                          <a:latin typeface="Cambria Math" panose="02040503050406030204" pitchFamily="18" charset="0"/>
                        </a:rPr>
                        <m:t>𝑚</m:t>
                      </m:r>
                      <m:r>
                        <a:rPr lang="en-US" sz="2200" b="0" i="1" smtClean="0">
                          <a:solidFill>
                            <a:srgbClr val="000000"/>
                          </a:solidFill>
                          <a:latin typeface="Cambria Math" panose="02040503050406030204" pitchFamily="18" charset="0"/>
                        </a:rPr>
                        <m:t>=</m:t>
                      </m:r>
                      <m:f>
                        <m:fPr>
                          <m:ctrlPr>
                            <a:rPr lang="en-US" sz="2200" b="0" i="1" smtClean="0">
                              <a:solidFill>
                                <a:srgbClr val="000000"/>
                              </a:solidFill>
                              <a:latin typeface="Cambria Math" panose="02040503050406030204" pitchFamily="18" charset="0"/>
                            </a:rPr>
                          </m:ctrlPr>
                        </m:fPr>
                        <m:num>
                          <m:r>
                            <a:rPr lang="en-US" sz="2200" b="0" i="1" smtClean="0">
                              <a:solidFill>
                                <a:srgbClr val="000000"/>
                              </a:solidFill>
                              <a:latin typeface="Cambria Math" panose="02040503050406030204" pitchFamily="18" charset="0"/>
                            </a:rPr>
                            <m:t>(−3−3)</m:t>
                          </m:r>
                        </m:num>
                        <m:den>
                          <m:d>
                            <m:dPr>
                              <m:ctrlPr>
                                <a:rPr lang="en-US" sz="2200" b="0" i="1" smtClean="0">
                                  <a:solidFill>
                                    <a:srgbClr val="000000"/>
                                  </a:solidFill>
                                  <a:latin typeface="Cambria Math" panose="02040503050406030204" pitchFamily="18" charset="0"/>
                                </a:rPr>
                              </m:ctrlPr>
                            </m:dPr>
                            <m:e>
                              <m:r>
                                <a:rPr lang="en-US" sz="2200" b="0" i="1" smtClean="0">
                                  <a:solidFill>
                                    <a:srgbClr val="000000"/>
                                  </a:solidFill>
                                  <a:latin typeface="Cambria Math" panose="02040503050406030204" pitchFamily="18" charset="0"/>
                                </a:rPr>
                                <m:t>−4−(−1)</m:t>
                              </m:r>
                            </m:e>
                          </m:d>
                        </m:den>
                      </m:f>
                      <m:r>
                        <a:rPr lang="en-US" sz="2200" b="0" i="1" smtClean="0">
                          <a:solidFill>
                            <a:srgbClr val="000000"/>
                          </a:solidFill>
                          <a:latin typeface="Cambria Math" panose="02040503050406030204" pitchFamily="18" charset="0"/>
                        </a:rPr>
                        <m:t>=</m:t>
                      </m:r>
                      <m:f>
                        <m:fPr>
                          <m:ctrlPr>
                            <a:rPr lang="en-US" sz="2200" b="0" i="1" smtClean="0">
                              <a:solidFill>
                                <a:srgbClr val="000000"/>
                              </a:solidFill>
                              <a:latin typeface="Cambria Math" panose="02040503050406030204" pitchFamily="18" charset="0"/>
                            </a:rPr>
                          </m:ctrlPr>
                        </m:fPr>
                        <m:num>
                          <m:r>
                            <a:rPr lang="en-US" sz="2200" b="0" i="1" smtClean="0">
                              <a:solidFill>
                                <a:srgbClr val="000000"/>
                              </a:solidFill>
                              <a:latin typeface="Cambria Math" panose="02040503050406030204" pitchFamily="18" charset="0"/>
                            </a:rPr>
                            <m:t>(−6)</m:t>
                          </m:r>
                        </m:num>
                        <m:den>
                          <m:r>
                            <a:rPr lang="en-US" sz="2200" b="0" i="1" smtClean="0">
                              <a:solidFill>
                                <a:srgbClr val="000000"/>
                              </a:solidFill>
                              <a:latin typeface="Cambria Math" panose="02040503050406030204" pitchFamily="18" charset="0"/>
                            </a:rPr>
                            <m:t>(−3)</m:t>
                          </m:r>
                        </m:den>
                      </m:f>
                      <m:r>
                        <a:rPr lang="en-US" sz="2200" b="0" i="1" smtClean="0">
                          <a:solidFill>
                            <a:srgbClr val="000000"/>
                          </a:solidFill>
                          <a:latin typeface="Cambria Math" panose="02040503050406030204" pitchFamily="18" charset="0"/>
                        </a:rPr>
                        <m:t>=2</m:t>
                      </m:r>
                    </m:oMath>
                  </m:oMathPara>
                </a14:m>
                <a:endParaRPr lang="en-US" sz="2200" dirty="0">
                  <a:solidFill>
                    <a:srgbClr val="000000"/>
                  </a:solidFill>
                </a:endParaRPr>
              </a:p>
              <a:p>
                <a:pPr marL="0" indent="0">
                  <a:buNone/>
                </a:pPr>
                <a:r>
                  <a:rPr lang="en-US" sz="2200" dirty="0">
                    <a:solidFill>
                      <a:srgbClr val="000000"/>
                    </a:solidFill>
                  </a:rPr>
                  <a:t>Pick one of the points and write an equation in point-slope form for the line.</a:t>
                </a:r>
              </a:p>
              <a:p>
                <a:pPr marL="0" indent="0">
                  <a:buNone/>
                </a:pPr>
                <a14:m>
                  <m:oMathPara xmlns:m="http://schemas.openxmlformats.org/officeDocument/2006/math">
                    <m:oMathParaPr>
                      <m:jc m:val="left"/>
                    </m:oMathParaPr>
                    <m:oMath xmlns:m="http://schemas.openxmlformats.org/officeDocument/2006/math">
                      <m:r>
                        <a:rPr lang="en-US" sz="2200" b="0" i="1" smtClean="0">
                          <a:solidFill>
                            <a:srgbClr val="000000"/>
                          </a:solidFill>
                          <a:latin typeface="Cambria Math" panose="02040503050406030204" pitchFamily="18" charset="0"/>
                        </a:rPr>
                        <m:t>𝑦</m:t>
                      </m:r>
                      <m:r>
                        <a:rPr lang="en-US" sz="2200" b="0" i="1" smtClean="0">
                          <a:solidFill>
                            <a:srgbClr val="000000"/>
                          </a:solidFill>
                          <a:latin typeface="Cambria Math" panose="02040503050406030204" pitchFamily="18" charset="0"/>
                        </a:rPr>
                        <m:t>−3=2</m:t>
                      </m:r>
                      <m:d>
                        <m:dPr>
                          <m:ctrlPr>
                            <a:rPr lang="en-US" sz="2200" b="0" i="1" smtClean="0">
                              <a:solidFill>
                                <a:srgbClr val="000000"/>
                              </a:solidFill>
                              <a:latin typeface="Cambria Math" panose="02040503050406030204" pitchFamily="18" charset="0"/>
                            </a:rPr>
                          </m:ctrlPr>
                        </m:dPr>
                        <m:e>
                          <m:r>
                            <a:rPr lang="en-US" sz="2200" b="0" i="1" smtClean="0">
                              <a:solidFill>
                                <a:srgbClr val="000000"/>
                              </a:solidFill>
                              <a:latin typeface="Cambria Math" panose="02040503050406030204" pitchFamily="18" charset="0"/>
                            </a:rPr>
                            <m:t>𝑥</m:t>
                          </m:r>
                          <m:r>
                            <a:rPr lang="en-US" sz="2200" b="0" i="1" smtClean="0">
                              <a:solidFill>
                                <a:srgbClr val="000000"/>
                              </a:solidFill>
                              <a:latin typeface="Cambria Math" panose="02040503050406030204" pitchFamily="18" charset="0"/>
                            </a:rPr>
                            <m:t>−</m:t>
                          </m:r>
                          <m:d>
                            <m:dPr>
                              <m:ctrlPr>
                                <a:rPr lang="en-US" sz="2200" b="0" i="1" smtClean="0">
                                  <a:solidFill>
                                    <a:srgbClr val="000000"/>
                                  </a:solidFill>
                                  <a:latin typeface="Cambria Math" panose="02040503050406030204" pitchFamily="18" charset="0"/>
                                </a:rPr>
                              </m:ctrlPr>
                            </m:dPr>
                            <m:e>
                              <m:r>
                                <a:rPr lang="en-US" sz="2200" b="0" i="1" smtClean="0">
                                  <a:solidFill>
                                    <a:srgbClr val="000000"/>
                                  </a:solidFill>
                                  <a:latin typeface="Cambria Math" panose="02040503050406030204" pitchFamily="18" charset="0"/>
                                </a:rPr>
                                <m:t>−1</m:t>
                              </m:r>
                            </m:e>
                          </m:d>
                        </m:e>
                      </m:d>
                    </m:oMath>
                  </m:oMathPara>
                </a14:m>
                <a:endParaRPr lang="en-US" sz="2200" b="0" dirty="0">
                  <a:solidFill>
                    <a:srgbClr val="000000"/>
                  </a:solidFill>
                </a:endParaRPr>
              </a:p>
              <a:p>
                <a:pPr marL="0" indent="0">
                  <a:spcAft>
                    <a:spcPts val="600"/>
                  </a:spcAft>
                  <a:buNone/>
                </a:pPr>
                <a14:m>
                  <m:oMathPara xmlns:m="http://schemas.openxmlformats.org/officeDocument/2006/math">
                    <m:oMathParaPr>
                      <m:jc m:val="left"/>
                    </m:oMathParaPr>
                    <m:oMath xmlns:m="http://schemas.openxmlformats.org/officeDocument/2006/math">
                      <m:r>
                        <a:rPr lang="en-US" sz="2200" b="0" i="1" smtClean="0">
                          <a:solidFill>
                            <a:srgbClr val="000000"/>
                          </a:solidFill>
                          <a:latin typeface="Cambria Math" panose="02040503050406030204" pitchFamily="18" charset="0"/>
                        </a:rPr>
                        <m:t>𝑦</m:t>
                      </m:r>
                      <m:r>
                        <a:rPr lang="en-US" sz="2200" b="0" i="1" smtClean="0">
                          <a:solidFill>
                            <a:srgbClr val="000000"/>
                          </a:solidFill>
                          <a:latin typeface="Cambria Math" panose="02040503050406030204" pitchFamily="18" charset="0"/>
                        </a:rPr>
                        <m:t>−3=2</m:t>
                      </m:r>
                      <m:d>
                        <m:dPr>
                          <m:ctrlPr>
                            <a:rPr lang="en-US" sz="2200" b="0" i="1" smtClean="0">
                              <a:solidFill>
                                <a:srgbClr val="000000"/>
                              </a:solidFill>
                              <a:latin typeface="Cambria Math" panose="02040503050406030204" pitchFamily="18" charset="0"/>
                            </a:rPr>
                          </m:ctrlPr>
                        </m:dPr>
                        <m:e>
                          <m:r>
                            <a:rPr lang="en-US" sz="2200" b="0" i="1" smtClean="0">
                              <a:solidFill>
                                <a:srgbClr val="000000"/>
                              </a:solidFill>
                              <a:latin typeface="Cambria Math" panose="02040503050406030204" pitchFamily="18" charset="0"/>
                            </a:rPr>
                            <m:t>𝑥</m:t>
                          </m:r>
                          <m:r>
                            <a:rPr lang="en-US" sz="2200" b="0" i="1" smtClean="0">
                              <a:solidFill>
                                <a:srgbClr val="000000"/>
                              </a:solidFill>
                              <a:latin typeface="Cambria Math" panose="02040503050406030204" pitchFamily="18" charset="0"/>
                            </a:rPr>
                            <m:t>+1</m:t>
                          </m:r>
                        </m:e>
                      </m:d>
                    </m:oMath>
                  </m:oMathPara>
                </a14:m>
                <a:endParaRPr lang="en-US" sz="2200" b="0" dirty="0">
                  <a:solidFill>
                    <a:srgbClr val="000000"/>
                  </a:solidFill>
                </a:endParaRPr>
              </a:p>
              <a:p>
                <a:pPr marL="0" indent="0">
                  <a:buNone/>
                </a:pPr>
                <a:r>
                  <a:rPr lang="en-US" sz="2200" b="0" dirty="0">
                    <a:solidFill>
                      <a:srgbClr val="000000"/>
                    </a:solidFill>
                  </a:rPr>
                  <a:t>Rewrite the equation in standard form.</a:t>
                </a:r>
              </a:p>
              <a:p>
                <a:pPr marL="0" indent="0">
                  <a:buNone/>
                </a:pPr>
                <a:r>
                  <a:rPr lang="en-US" sz="2200" b="0" dirty="0">
                    <a:solidFill>
                      <a:srgbClr val="000000"/>
                    </a:solidFill>
                  </a:rPr>
                  <a:t>      </a:t>
                </a:r>
                <a14:m>
                  <m:oMath xmlns:m="http://schemas.openxmlformats.org/officeDocument/2006/math">
                    <m:r>
                      <a:rPr lang="en-US" sz="2200" b="0" i="1" smtClean="0">
                        <a:solidFill>
                          <a:srgbClr val="000000"/>
                        </a:solidFill>
                        <a:latin typeface="Cambria Math" panose="02040503050406030204" pitchFamily="18" charset="0"/>
                      </a:rPr>
                      <m:t>𝑦</m:t>
                    </m:r>
                    <m:r>
                      <a:rPr lang="en-US" sz="2200" b="0" i="1" smtClean="0">
                        <a:solidFill>
                          <a:srgbClr val="000000"/>
                        </a:solidFill>
                        <a:latin typeface="Cambria Math" panose="02040503050406030204" pitchFamily="18" charset="0"/>
                      </a:rPr>
                      <m:t>−3=2</m:t>
                    </m:r>
                    <m:r>
                      <a:rPr lang="en-US" sz="2200" b="0" i="1" smtClean="0">
                        <a:solidFill>
                          <a:srgbClr val="000000"/>
                        </a:solidFill>
                        <a:latin typeface="Cambria Math" panose="02040503050406030204" pitchFamily="18" charset="0"/>
                      </a:rPr>
                      <m:t>𝑥</m:t>
                    </m:r>
                    <m:r>
                      <a:rPr lang="en-US" sz="2200" b="0" i="1" smtClean="0">
                        <a:solidFill>
                          <a:srgbClr val="000000"/>
                        </a:solidFill>
                        <a:latin typeface="Cambria Math" panose="02040503050406030204" pitchFamily="18" charset="0"/>
                      </a:rPr>
                      <m:t>+2</m:t>
                    </m:r>
                  </m:oMath>
                </a14:m>
                <a:endParaRPr lang="en-US" sz="2200" b="0" dirty="0">
                  <a:solidFill>
                    <a:srgbClr val="000000"/>
                  </a:solidFill>
                </a:endParaRPr>
              </a:p>
              <a:p>
                <a:pPr marL="0" indent="0">
                  <a:buNone/>
                </a:pPr>
                <a14:m>
                  <m:oMathPara xmlns:m="http://schemas.openxmlformats.org/officeDocument/2006/math">
                    <m:oMathParaPr>
                      <m:jc m:val="left"/>
                    </m:oMathParaPr>
                    <m:oMath xmlns:m="http://schemas.openxmlformats.org/officeDocument/2006/math">
                      <m:r>
                        <a:rPr lang="en-US" sz="2200" b="0" i="1" smtClean="0">
                          <a:solidFill>
                            <a:srgbClr val="000000"/>
                          </a:solidFill>
                          <a:latin typeface="Cambria Math" panose="02040503050406030204" pitchFamily="18" charset="0"/>
                        </a:rPr>
                        <m:t>              </m:t>
                      </m:r>
                      <m:r>
                        <a:rPr lang="en-US" sz="2200" b="0" i="1" smtClean="0">
                          <a:solidFill>
                            <a:srgbClr val="000000"/>
                          </a:solidFill>
                          <a:latin typeface="Cambria Math" panose="02040503050406030204" pitchFamily="18" charset="0"/>
                        </a:rPr>
                        <m:t>𝑦</m:t>
                      </m:r>
                      <m:r>
                        <a:rPr lang="en-US" sz="2200" b="0" i="1" smtClean="0">
                          <a:solidFill>
                            <a:srgbClr val="000000"/>
                          </a:solidFill>
                          <a:latin typeface="Cambria Math" panose="02040503050406030204" pitchFamily="18" charset="0"/>
                        </a:rPr>
                        <m:t>=2</m:t>
                      </m:r>
                      <m:r>
                        <a:rPr lang="en-US" sz="2200" b="0" i="1" smtClean="0">
                          <a:solidFill>
                            <a:srgbClr val="000000"/>
                          </a:solidFill>
                          <a:latin typeface="Cambria Math" panose="02040503050406030204" pitchFamily="18" charset="0"/>
                        </a:rPr>
                        <m:t>𝑥</m:t>
                      </m:r>
                      <m:r>
                        <a:rPr lang="en-US" sz="2200" b="0" i="1" smtClean="0">
                          <a:solidFill>
                            <a:srgbClr val="000000"/>
                          </a:solidFill>
                          <a:latin typeface="Cambria Math" panose="02040503050406030204" pitchFamily="18" charset="0"/>
                        </a:rPr>
                        <m:t>+5</m:t>
                      </m:r>
                    </m:oMath>
                  </m:oMathPara>
                </a14:m>
                <a:endParaRPr lang="en-US" sz="2200" b="0" i="1" dirty="0">
                  <a:solidFill>
                    <a:srgbClr val="000000"/>
                  </a:solidFill>
                  <a:latin typeface="Cambria Math" panose="02040503050406030204" pitchFamily="18" charset="0"/>
                </a:endParaRPr>
              </a:p>
              <a:p>
                <a:pPr marL="0" indent="0">
                  <a:buNone/>
                </a:pPr>
                <a14:m>
                  <m:oMathPara xmlns:m="http://schemas.openxmlformats.org/officeDocument/2006/math">
                    <m:oMathParaPr>
                      <m:jc m:val="left"/>
                    </m:oMathParaPr>
                    <m:oMath xmlns:m="http://schemas.openxmlformats.org/officeDocument/2006/math">
                      <m:r>
                        <a:rPr lang="en-US" sz="2200" b="0" i="0" smtClean="0">
                          <a:solidFill>
                            <a:srgbClr val="000000"/>
                          </a:solidFill>
                          <a:latin typeface="Cambria Math" panose="02040503050406030204" pitchFamily="18" charset="0"/>
                        </a:rPr>
                        <m:t>−2</m:t>
                      </m:r>
                      <m:r>
                        <a:rPr lang="en-US" sz="2200" b="0" i="1" smtClean="0">
                          <a:solidFill>
                            <a:srgbClr val="000000"/>
                          </a:solidFill>
                          <a:latin typeface="Cambria Math" panose="02040503050406030204" pitchFamily="18" charset="0"/>
                        </a:rPr>
                        <m:t>𝑥</m:t>
                      </m:r>
                      <m:r>
                        <a:rPr lang="en-US" sz="2200" b="0" i="0" smtClean="0">
                          <a:solidFill>
                            <a:srgbClr val="000000"/>
                          </a:solidFill>
                          <a:latin typeface="Cambria Math" panose="02040503050406030204" pitchFamily="18" charset="0"/>
                        </a:rPr>
                        <m:t>+</m:t>
                      </m:r>
                      <m:r>
                        <a:rPr lang="en-US" sz="2200" b="0" i="1" smtClean="0">
                          <a:solidFill>
                            <a:srgbClr val="000000"/>
                          </a:solidFill>
                          <a:latin typeface="Cambria Math" panose="02040503050406030204" pitchFamily="18" charset="0"/>
                        </a:rPr>
                        <m:t>𝑦</m:t>
                      </m:r>
                      <m:r>
                        <a:rPr lang="en-US" sz="2200" b="0" i="0" smtClean="0">
                          <a:solidFill>
                            <a:srgbClr val="000000"/>
                          </a:solidFill>
                          <a:latin typeface="Cambria Math" panose="02040503050406030204" pitchFamily="18" charset="0"/>
                        </a:rPr>
                        <m:t>=5</m:t>
                      </m:r>
                    </m:oMath>
                  </m:oMathPara>
                </a14:m>
                <a:endParaRPr lang="en-US" sz="2200" dirty="0">
                  <a:solidFill>
                    <a:srgbClr val="000000"/>
                  </a:solidFill>
                </a:endParaRPr>
              </a:p>
            </p:txBody>
          </p:sp>
        </mc:Choice>
        <mc:Fallback xmlns="">
          <p:sp>
            <p:nvSpPr>
              <p:cNvPr id="6" name="Text Placeholder 2">
                <a:extLst>
                  <a:ext uri="{FF2B5EF4-FFF2-40B4-BE49-F238E27FC236}">
                    <a16:creationId xmlns:a16="http://schemas.microsoft.com/office/drawing/2014/main" id="{FAD907B5-A69A-7E22-1734-38BD299815D4}"/>
                  </a:ext>
                </a:extLst>
              </p:cNvPr>
              <p:cNvSpPr txBox="1">
                <a:spLocks noRot="1" noChangeAspect="1" noMove="1" noResize="1" noEditPoints="1" noAdjustHandles="1" noChangeArrowheads="1" noChangeShapeType="1" noTextEdit="1"/>
              </p:cNvSpPr>
              <p:nvPr/>
            </p:nvSpPr>
            <p:spPr>
              <a:xfrm>
                <a:off x="1506578" y="1802920"/>
                <a:ext cx="9142986" cy="4754779"/>
              </a:xfrm>
              <a:prstGeom prst="rect">
                <a:avLst/>
              </a:prstGeom>
              <a:blipFill>
                <a:blip r:embed="rId4"/>
                <a:stretch>
                  <a:fillRect l="-867" t="-897" r="-267"/>
                </a:stretch>
              </a:blipFill>
            </p:spPr>
            <p:txBody>
              <a:bodyPr/>
              <a:lstStyle/>
              <a:p>
                <a:r>
                  <a:rPr lang="en-US">
                    <a:noFill/>
                  </a:rPr>
                  <a:t> </a:t>
                </a:r>
              </a:p>
            </p:txBody>
          </p:sp>
        </mc:Fallback>
      </mc:AlternateContent>
      <p:sp>
        <p:nvSpPr>
          <p:cNvPr id="1012" name="Slide Number 101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45</a:t>
            </a:fld>
          </a:p>
        </p:txBody>
      </p:sp>
    </p:spTree>
    <p:extLst>
      <p:ext uri="{BB962C8B-B14F-4D97-AF65-F5344CB8AC3E}">
        <p14:creationId xmlns:p14="http://schemas.microsoft.com/office/powerpoint/2010/main" val="187562195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183110-E03A-2FE1-FC45-B51633CBDED6}"/>
            </a:ext>
          </a:extLst>
        </p:cNvPr>
        <p:cNvGrpSpPr/>
        <p:nvPr/>
      </p:nvGrpSpPr>
      <p:grpSpPr>
        <a:xfrm>
          <a:off x="0" y="0"/>
          <a:ext cx="0" cy="0"/>
          <a:chOff x="0" y="0"/>
          <a:chExt cx="0" cy="0"/>
        </a:xfrm>
      </p:grpSpPr>
      <p:sp>
        <p:nvSpPr>
          <p:cNvPr id="11" name="Title 3">
            <a:extLst>
              <a:ext uri="{FF2B5EF4-FFF2-40B4-BE49-F238E27FC236}">
                <a16:creationId xmlns:a16="http://schemas.microsoft.com/office/drawing/2014/main" id="{878D028F-9DAD-9103-F8DA-4CBFD9FDE1F0}"/>
              </a:ext>
            </a:extLst>
          </p:cNvPr>
          <p:cNvSpPr>
            <a:spLocks noGrp="1"/>
          </p:cNvSpPr>
          <p:nvPr>
            <p:ph type="title"/>
          </p:nvPr>
        </p:nvSpPr>
        <p:spPr>
          <a:xfrm>
            <a:off x="785004" y="1"/>
            <a:ext cx="11417718" cy="1263192"/>
          </a:xfrm>
        </p:spPr>
        <p:txBody>
          <a:bodyPr/>
          <a:lstStyle/>
          <a:p>
            <a:pPr algn="l"/>
            <a:r>
              <a:rPr lang="en-US" b="1" dirty="0"/>
              <a:t>Standard Form of a Linear Equation </a:t>
            </a:r>
            <a:r>
              <a:rPr lang="en-US" sz="2000" b="1" dirty="0">
                <a:solidFill>
                  <a:schemeClr val="bg1"/>
                </a:solidFill>
              </a:rPr>
              <a:t>(14 of 16)</a:t>
            </a:r>
          </a:p>
        </p:txBody>
      </p:sp>
      <p:sp>
        <p:nvSpPr>
          <p:cNvPr id="10" name="TextBox 9">
            <a:extLst>
              <a:ext uri="{FF2B5EF4-FFF2-40B4-BE49-F238E27FC236}">
                <a16:creationId xmlns:a16="http://schemas.microsoft.com/office/drawing/2014/main" id="{D42D4BE2-42EF-B1A7-E3D4-6093EC7DA05B}"/>
              </a:ext>
            </a:extLst>
          </p:cNvPr>
          <p:cNvSpPr txBox="1"/>
          <p:nvPr/>
        </p:nvSpPr>
        <p:spPr>
          <a:xfrm>
            <a:off x="785003" y="1671984"/>
            <a:ext cx="2168969" cy="1565240"/>
          </a:xfrm>
          <a:prstGeom prst="rect">
            <a:avLst/>
          </a:prstGeom>
          <a:noFill/>
          <a:ln w="31750">
            <a:solidFill>
              <a:srgbClr val="008F4C"/>
            </a:solidFill>
            <a:prstDash val="sysDot"/>
          </a:ln>
        </p:spPr>
        <p:txBody>
          <a:bodyPr wrap="square" lIns="182880" rtlCol="0" anchor="ctr" anchorCtr="0">
            <a:noAutofit/>
          </a:bodyPr>
          <a:lstStyle/>
          <a:p>
            <a:r>
              <a:rPr lang="en-US" sz="2400" dirty="0">
                <a:solidFill>
                  <a:srgbClr val="000000"/>
                </a:solidFill>
              </a:rPr>
              <a:t>In standard form, </a:t>
            </a:r>
            <a:r>
              <a:rPr lang="en-US" sz="2400" i="1" dirty="0">
                <a:solidFill>
                  <a:srgbClr val="000000"/>
                </a:solidFill>
              </a:rPr>
              <a:t>A</a:t>
            </a:r>
            <a:r>
              <a:rPr lang="en-US" sz="2400" dirty="0">
                <a:solidFill>
                  <a:srgbClr val="000000"/>
                </a:solidFill>
              </a:rPr>
              <a:t>, </a:t>
            </a:r>
            <a:r>
              <a:rPr lang="en-US" sz="2400" i="1" dirty="0">
                <a:solidFill>
                  <a:srgbClr val="000000"/>
                </a:solidFill>
              </a:rPr>
              <a:t>B</a:t>
            </a:r>
            <a:r>
              <a:rPr lang="en-US" sz="2400" dirty="0">
                <a:solidFill>
                  <a:srgbClr val="000000"/>
                </a:solidFill>
              </a:rPr>
              <a:t>, and</a:t>
            </a:r>
            <a:br>
              <a:rPr lang="en-US" sz="2400" dirty="0">
                <a:solidFill>
                  <a:srgbClr val="000000"/>
                </a:solidFill>
              </a:rPr>
            </a:br>
            <a:r>
              <a:rPr lang="en-US" sz="2400" i="1" dirty="0">
                <a:solidFill>
                  <a:srgbClr val="000000"/>
                </a:solidFill>
              </a:rPr>
              <a:t>C</a:t>
            </a:r>
            <a:r>
              <a:rPr lang="en-US" sz="2400" dirty="0">
                <a:solidFill>
                  <a:srgbClr val="000000"/>
                </a:solidFill>
              </a:rPr>
              <a:t> are integers.</a:t>
            </a:r>
          </a:p>
        </p:txBody>
      </p:sp>
      <p:sp>
        <p:nvSpPr>
          <p:cNvPr id="6" name="Text Placeholder 2">
            <a:extLst>
              <a:ext uri="{FF2B5EF4-FFF2-40B4-BE49-F238E27FC236}">
                <a16:creationId xmlns:a16="http://schemas.microsoft.com/office/drawing/2014/main" id="{CE808695-A684-FE08-5FCA-BA9F068A5EAF}"/>
              </a:ext>
            </a:extLst>
          </p:cNvPr>
          <p:cNvSpPr txBox="1">
            <a:spLocks/>
          </p:cNvSpPr>
          <p:nvPr/>
        </p:nvSpPr>
        <p:spPr>
          <a:xfrm>
            <a:off x="3338423" y="1499861"/>
            <a:ext cx="8258317" cy="4642147"/>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7525" indent="-517525">
              <a:buFont typeface="+mj-lt"/>
              <a:buAutoNum type="arabicPeriod" startAt="11"/>
            </a:pPr>
            <a:r>
              <a:rPr lang="en-US" sz="2800" dirty="0">
                <a:solidFill>
                  <a:srgbClr val="000000"/>
                </a:solidFill>
              </a:rPr>
              <a:t>Write a linear equation in standard form given two points on the line.</a:t>
            </a:r>
            <a:br>
              <a:rPr lang="en-US" sz="2800" dirty="0">
                <a:solidFill>
                  <a:srgbClr val="000000"/>
                </a:solidFill>
              </a:rPr>
            </a:br>
            <a:br>
              <a:rPr lang="en-US" sz="2800" dirty="0">
                <a:solidFill>
                  <a:srgbClr val="000000"/>
                </a:solidFill>
              </a:rPr>
            </a:br>
            <a:r>
              <a:rPr lang="en-US" sz="2800" dirty="0">
                <a:solidFill>
                  <a:srgbClr val="000000"/>
                </a:solidFill>
              </a:rPr>
              <a:t>a.  (0, −4) and (2, 2)</a:t>
            </a:r>
            <a:br>
              <a:rPr lang="en-US" sz="2800" dirty="0">
                <a:solidFill>
                  <a:srgbClr val="000000"/>
                </a:solidFill>
              </a:rPr>
            </a:br>
            <a:br>
              <a:rPr lang="en-US" sz="2800" dirty="0">
                <a:solidFill>
                  <a:srgbClr val="000000"/>
                </a:solidFill>
              </a:rPr>
            </a:br>
            <a:endParaRPr lang="en-US" sz="2800" dirty="0">
              <a:solidFill>
                <a:srgbClr val="000000"/>
              </a:solidFill>
            </a:endParaRPr>
          </a:p>
          <a:p>
            <a:pPr marL="517525" indent="0">
              <a:buNone/>
            </a:pPr>
            <a:r>
              <a:rPr lang="en-US" sz="2800" dirty="0">
                <a:solidFill>
                  <a:srgbClr val="000000"/>
                </a:solidFill>
              </a:rPr>
              <a:t>b.  (1, −5) and (−2, 7)</a:t>
            </a:r>
            <a:br>
              <a:rPr lang="en-US" sz="2800" dirty="0">
                <a:solidFill>
                  <a:srgbClr val="000000"/>
                </a:solidFill>
              </a:rPr>
            </a:br>
            <a:endParaRPr lang="en-US" sz="2800" dirty="0">
              <a:solidFill>
                <a:srgbClr val="000000"/>
              </a:solidFill>
            </a:endParaRPr>
          </a:p>
          <a:p>
            <a:pPr marL="517525" indent="0">
              <a:buNone/>
            </a:pPr>
            <a:br>
              <a:rPr lang="en-US" sz="2800" dirty="0">
                <a:solidFill>
                  <a:srgbClr val="000000"/>
                </a:solidFill>
              </a:rPr>
            </a:br>
            <a:r>
              <a:rPr lang="en-US" sz="2800" dirty="0">
                <a:solidFill>
                  <a:srgbClr val="000000"/>
                </a:solidFill>
              </a:rPr>
              <a:t>c.  (12, 10) and (16, 12)</a:t>
            </a:r>
            <a:br>
              <a:rPr lang="en-US" sz="2800" dirty="0">
                <a:solidFill>
                  <a:srgbClr val="000000"/>
                </a:solidFill>
              </a:rPr>
            </a:br>
            <a:br>
              <a:rPr lang="en-US" sz="2800" dirty="0">
                <a:solidFill>
                  <a:srgbClr val="000000"/>
                </a:solidFill>
              </a:rPr>
            </a:br>
            <a:endParaRPr lang="en-US" sz="2800" dirty="0">
              <a:solidFill>
                <a:srgbClr val="000000"/>
              </a:solidFill>
            </a:endParaRPr>
          </a:p>
          <a:p>
            <a:pPr marL="0" indent="0">
              <a:buNone/>
            </a:pPr>
            <a:endParaRPr lang="en-US" sz="2800" dirty="0">
              <a:solidFill>
                <a:srgbClr val="000000"/>
              </a:solidFill>
            </a:endParaRPr>
          </a:p>
        </p:txBody>
      </p:sp>
      <p:sp>
        <p:nvSpPr>
          <p:cNvPr id="1011" name="Slide Number 1011"/>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46</a:t>
            </a:fld>
          </a:p>
        </p:txBody>
      </p:sp>
      <p:sp>
        <p:nvSpPr>
          <p:cNvPr id="1012" name="Answer 1012"/>
          <p:cNvSpPr txBox="1"/>
          <p:nvPr/>
        </p:nvSpPr>
        <p:spPr>
          <a:xfrm>
            <a:off x="7048500" y="2654300"/>
            <a:ext cx="4826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m = 3  →  3x − y = 4</a:t>
            </a:r>
          </a:p>
        </p:txBody>
      </p:sp>
      <p:sp>
        <p:nvSpPr>
          <p:cNvPr id="1013" name="Answer 1013"/>
          <p:cNvSpPr txBox="1"/>
          <p:nvPr/>
        </p:nvSpPr>
        <p:spPr>
          <a:xfrm>
            <a:off x="7048500" y="3441700"/>
            <a:ext cx="4826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m = −4  →  4x + y = −1</a:t>
            </a:r>
          </a:p>
        </p:txBody>
      </p:sp>
      <p:sp>
        <p:nvSpPr>
          <p:cNvPr id="1014" name="Answer 1014"/>
          <p:cNvSpPr txBox="1"/>
          <p:nvPr/>
        </p:nvSpPr>
        <p:spPr>
          <a:xfrm>
            <a:off x="7048500" y="4203700"/>
            <a:ext cx="4826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m = 1/2  →  x − 2y = −8</a:t>
            </a:r>
          </a:p>
        </p:txBody>
      </p:sp>
    </p:spTree>
    <p:extLst>
      <p:ext uri="{BB962C8B-B14F-4D97-AF65-F5344CB8AC3E}">
        <p14:creationId xmlns:p14="http://schemas.microsoft.com/office/powerpoint/2010/main" val="3084725383"/>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13"/>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3122D0-0CED-9ED5-5F4E-6007E33F1A30}"/>
            </a:ext>
          </a:extLst>
        </p:cNvPr>
        <p:cNvGrpSpPr/>
        <p:nvPr/>
      </p:nvGrpSpPr>
      <p:grpSpPr>
        <a:xfrm>
          <a:off x="0" y="0"/>
          <a:ext cx="0" cy="0"/>
          <a:chOff x="0" y="0"/>
          <a:chExt cx="0" cy="0"/>
        </a:xfrm>
      </p:grpSpPr>
      <p:sp>
        <p:nvSpPr>
          <p:cNvPr id="10" name="Title 3">
            <a:extLst>
              <a:ext uri="{FF2B5EF4-FFF2-40B4-BE49-F238E27FC236}">
                <a16:creationId xmlns:a16="http://schemas.microsoft.com/office/drawing/2014/main" id="{1098021A-A852-91BE-380E-A6B675DD96B1}"/>
              </a:ext>
            </a:extLst>
          </p:cNvPr>
          <p:cNvSpPr>
            <a:spLocks noGrp="1"/>
          </p:cNvSpPr>
          <p:nvPr>
            <p:ph type="title"/>
          </p:nvPr>
        </p:nvSpPr>
        <p:spPr>
          <a:xfrm>
            <a:off x="785004" y="1"/>
            <a:ext cx="11417718" cy="1263192"/>
          </a:xfrm>
        </p:spPr>
        <p:txBody>
          <a:bodyPr/>
          <a:lstStyle/>
          <a:p>
            <a:pPr algn="l"/>
            <a:r>
              <a:rPr lang="en-US" b="1" dirty="0"/>
              <a:t>Standard Form of a Linear Equation </a:t>
            </a:r>
            <a:r>
              <a:rPr lang="en-US" sz="2000" b="1" dirty="0">
                <a:solidFill>
                  <a:schemeClr val="bg1"/>
                </a:solidFill>
              </a:rPr>
              <a:t>(15 of 16)</a:t>
            </a:r>
          </a:p>
        </p:txBody>
      </p:sp>
      <p:sp>
        <p:nvSpPr>
          <p:cNvPr id="9" name="Text Placeholder 2">
            <a:extLst>
              <a:ext uri="{FF2B5EF4-FFF2-40B4-BE49-F238E27FC236}">
                <a16:creationId xmlns:a16="http://schemas.microsoft.com/office/drawing/2014/main" id="{9F9E8E2B-B0E8-EF16-E503-9ECCF4F164D5}"/>
              </a:ext>
            </a:extLst>
          </p:cNvPr>
          <p:cNvSpPr txBox="1">
            <a:spLocks/>
          </p:cNvSpPr>
          <p:nvPr/>
        </p:nvSpPr>
        <p:spPr>
          <a:xfrm>
            <a:off x="777240" y="1616140"/>
            <a:ext cx="10057537"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r>
              <a:rPr lang="en-US" sz="2800" b="0" i="0" u="none" strike="noStrike" baseline="0" dirty="0">
                <a:solidFill>
                  <a:srgbClr val="000000"/>
                </a:solidFill>
              </a:rPr>
              <a:t>Let’s revisit the Essential </a:t>
            </a:r>
            <a:r>
              <a:rPr lang="en-US" sz="2800" dirty="0">
                <a:solidFill>
                  <a:srgbClr val="000000"/>
                </a:solidFill>
              </a:rPr>
              <a:t>Q</a:t>
            </a:r>
            <a:r>
              <a:rPr lang="en-US" sz="2800" b="0" i="0" u="none" strike="noStrike" baseline="0" dirty="0">
                <a:solidFill>
                  <a:srgbClr val="000000"/>
                </a:solidFill>
              </a:rPr>
              <a:t>uestion and summarize our learning from Activity 5.3!</a:t>
            </a:r>
          </a:p>
          <a:p>
            <a:pPr marL="0" indent="0" algn="l">
              <a:buNone/>
            </a:pPr>
            <a:endParaRPr lang="en-US" sz="2400" dirty="0">
              <a:solidFill>
                <a:srgbClr val="000000"/>
              </a:solidFill>
            </a:endParaRPr>
          </a:p>
          <a:p>
            <a:pPr marL="0" indent="0" algn="l">
              <a:buNone/>
            </a:pPr>
            <a:endParaRPr lang="en-US" sz="2800" b="0" i="0" u="none" strike="noStrike" baseline="0" dirty="0">
              <a:solidFill>
                <a:srgbClr val="000000"/>
              </a:solidFill>
            </a:endParaRPr>
          </a:p>
          <a:p>
            <a:pPr marL="0" indent="0" algn="l">
              <a:buNone/>
            </a:pPr>
            <a:endParaRPr lang="en-US" sz="2400" dirty="0">
              <a:solidFill>
                <a:srgbClr val="000000"/>
              </a:solidFill>
            </a:endParaRPr>
          </a:p>
          <a:p>
            <a:pPr marL="0" indent="0">
              <a:buNone/>
            </a:pPr>
            <a:r>
              <a:rPr lang="en-US" sz="2800" b="1" dirty="0">
                <a:solidFill>
                  <a:srgbClr val="000000"/>
                </a:solidFill>
              </a:rPr>
              <a:t>Essential Question: </a:t>
            </a:r>
            <a:r>
              <a:rPr lang="en-US" sz="2800" dirty="0">
                <a:solidFill>
                  <a:srgbClr val="000000"/>
                </a:solidFill>
              </a:rPr>
              <a:t>Is there a more efficient method to graphing a linear relationship? Can you use the equation of a linear relationship to create a  graphical representation?</a:t>
            </a:r>
          </a:p>
          <a:p>
            <a:pPr marL="0" indent="0">
              <a:buNone/>
            </a:pPr>
            <a:endParaRPr lang="en-US" sz="2800" dirty="0">
              <a:solidFill>
                <a:srgbClr val="000000"/>
              </a:solidFill>
            </a:endParaRPr>
          </a:p>
        </p:txBody>
      </p:sp>
      <p:pic>
        <p:nvPicPr>
          <p:cNvPr id="2" name="Picture 1">
            <a:extLst>
              <a:ext uri="{FF2B5EF4-FFF2-40B4-BE49-F238E27FC236}">
                <a16:creationId xmlns:a16="http://schemas.microsoft.com/office/drawing/2014/main" id="{412BAF3C-C3E1-4231-B8AF-8D51322A576E}"/>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0436366" y="372494"/>
            <a:ext cx="1501270" cy="518205"/>
          </a:xfrm>
          <a:prstGeom prst="rect">
            <a:avLst/>
          </a:prstGeom>
        </p:spPr>
      </p:pic>
      <p:sp>
        <p:nvSpPr>
          <p:cNvPr id="1010" name="Slide Number 1010"/>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47</a:t>
            </a:fld>
          </a:p>
        </p:txBody>
      </p:sp>
      <p:sp>
        <p:nvSpPr>
          <p:cNvPr id="1011" name="Answer 1011"/>
          <p:cNvSpPr txBox="1"/>
          <p:nvPr/>
        </p:nvSpPr>
        <p:spPr>
          <a:xfrm>
            <a:off x="869950" y="2540000"/>
            <a:ext cx="10477500" cy="1270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Summary: The standard form of a linear equation is Ax + By = C, where A, B, and C are integers and A and B are not both zero. It can be graphed by calculating and plotting the intercepts.</a:t>
            </a:r>
          </a:p>
        </p:txBody>
      </p:sp>
      <p:sp>
        <p:nvSpPr>
          <p:cNvPr id="1012" name="Answer 1012"/>
          <p:cNvSpPr txBox="1"/>
          <p:nvPr/>
        </p:nvSpPr>
        <p:spPr>
          <a:xfrm>
            <a:off x="869950" y="6254750"/>
            <a:ext cx="10477500" cy="571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Yes: in standard form, the two intercepts give two points to graph.</a:t>
            </a:r>
          </a:p>
        </p:txBody>
      </p:sp>
    </p:spTree>
    <p:extLst>
      <p:ext uri="{BB962C8B-B14F-4D97-AF65-F5344CB8AC3E}">
        <p14:creationId xmlns:p14="http://schemas.microsoft.com/office/powerpoint/2010/main" val="1393578167"/>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3122D0-0CED-9ED5-5F4E-6007E33F1A30}"/>
            </a:ext>
          </a:extLst>
        </p:cNvPr>
        <p:cNvGrpSpPr/>
        <p:nvPr/>
      </p:nvGrpSpPr>
      <p:grpSpPr>
        <a:xfrm>
          <a:off x="0" y="0"/>
          <a:ext cx="0" cy="0"/>
          <a:chOff x="0" y="0"/>
          <a:chExt cx="0" cy="0"/>
        </a:xfrm>
      </p:grpSpPr>
      <p:sp>
        <p:nvSpPr>
          <p:cNvPr id="9" name="Text Placeholder 2">
            <a:extLst>
              <a:ext uri="{FF2B5EF4-FFF2-40B4-BE49-F238E27FC236}">
                <a16:creationId xmlns:a16="http://schemas.microsoft.com/office/drawing/2014/main" id="{9F9E8E2B-B0E8-EF16-E503-9ECCF4F164D5}"/>
              </a:ext>
              <a:ext uri="{C183D7F6-B498-43B3-948B-1728B52AA6E4}">
                <adec:decorative xmlns:adec="http://schemas.microsoft.com/office/drawing/2017/decorative" val="1"/>
              </a:ext>
            </a:extLst>
          </p:cNvPr>
          <p:cNvSpPr txBox="1">
            <a:spLocks/>
          </p:cNvSpPr>
          <p:nvPr/>
        </p:nvSpPr>
        <p:spPr>
          <a:xfrm>
            <a:off x="777240" y="1616140"/>
            <a:ext cx="1047175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endParaRPr lang="en-US" sz="2800" dirty="0">
              <a:solidFill>
                <a:schemeClr val="bg2">
                  <a:lumMod val="25000"/>
                </a:schemeClr>
              </a:solidFill>
            </a:endParaRPr>
          </a:p>
        </p:txBody>
      </p:sp>
      <p:sp>
        <p:nvSpPr>
          <p:cNvPr id="5" name="Title 3">
            <a:extLst>
              <a:ext uri="{FF2B5EF4-FFF2-40B4-BE49-F238E27FC236}">
                <a16:creationId xmlns:a16="http://schemas.microsoft.com/office/drawing/2014/main" id="{0DBCCC05-1F45-86C1-93A1-73E795BE8ACE}"/>
              </a:ext>
            </a:extLst>
          </p:cNvPr>
          <p:cNvSpPr>
            <a:spLocks noGrp="1"/>
          </p:cNvSpPr>
          <p:nvPr>
            <p:ph type="title"/>
          </p:nvPr>
        </p:nvSpPr>
        <p:spPr>
          <a:xfrm>
            <a:off x="785004" y="1"/>
            <a:ext cx="11417718" cy="1263192"/>
          </a:xfrm>
        </p:spPr>
        <p:txBody>
          <a:bodyPr/>
          <a:lstStyle/>
          <a:p>
            <a:pPr algn="l"/>
            <a:r>
              <a:rPr lang="en-US" b="1" dirty="0"/>
              <a:t>Standard Form of a Linear Equation </a:t>
            </a:r>
            <a:r>
              <a:rPr lang="en-US" sz="2000" b="1" dirty="0">
                <a:solidFill>
                  <a:schemeClr val="bg1"/>
                </a:solidFill>
              </a:rPr>
              <a:t>(16 of 16)</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48</a:t>
            </a:fld>
          </a:p>
        </p:txBody>
      </p:sp>
    </p:spTree>
    <p:extLst>
      <p:ext uri="{BB962C8B-B14F-4D97-AF65-F5344CB8AC3E}">
        <p14:creationId xmlns:p14="http://schemas.microsoft.com/office/powerpoint/2010/main" val="255514806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B09662-5239-6684-D617-2165411F58C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640966E-547C-7996-D8C2-33982F34C60C}"/>
              </a:ext>
            </a:extLst>
          </p:cNvPr>
          <p:cNvSpPr>
            <a:spLocks noGrp="1"/>
          </p:cNvSpPr>
          <p:nvPr>
            <p:ph type="title" idx="4294967295"/>
          </p:nvPr>
        </p:nvSpPr>
        <p:spPr>
          <a:xfrm>
            <a:off x="838200" y="-336430"/>
            <a:ext cx="10514013" cy="336430"/>
          </a:xfrm>
          <a:prstGeom prst="rect">
            <a:avLst/>
          </a:prstGeom>
        </p:spPr>
        <p:txBody>
          <a:bodyPr anchor="b"/>
          <a:lstStyle/>
          <a:p>
            <a:r>
              <a:rPr lang="en-US" sz="2000" dirty="0">
                <a:solidFill>
                  <a:schemeClr val="bg2"/>
                </a:solidFill>
              </a:rPr>
              <a:t>Day 3</a:t>
            </a:r>
          </a:p>
        </p:txBody>
      </p:sp>
      <p:sp>
        <p:nvSpPr>
          <p:cNvPr id="4" name="Text Placeholder 3">
            <a:extLst>
              <a:ext uri="{FF2B5EF4-FFF2-40B4-BE49-F238E27FC236}">
                <a16:creationId xmlns:a16="http://schemas.microsoft.com/office/drawing/2014/main" id="{71BC10F4-C1E5-C00E-8AD8-9CB94F30FDC5}"/>
              </a:ext>
              <a:ext uri="{C183D7F6-B498-43B3-948B-1728B52AA6E4}">
                <adec:decorative xmlns:adec="http://schemas.microsoft.com/office/drawing/2017/decorative" val="1"/>
              </a:ext>
            </a:extLst>
          </p:cNvPr>
          <p:cNvSpPr>
            <a:spLocks noGrp="1"/>
          </p:cNvSpPr>
          <p:nvPr>
            <p:ph type="body" sz="quarter" idx="11"/>
          </p:nvPr>
        </p:nvSpPr>
        <p:spPr>
          <a:xfrm>
            <a:off x="6658975" y="2832927"/>
            <a:ext cx="1061883" cy="1071562"/>
          </a:xfrm>
        </p:spPr>
        <p:txBody>
          <a:bodyPr/>
          <a:lstStyle/>
          <a:p>
            <a:pPr marL="0" indent="0">
              <a:buNone/>
            </a:pPr>
            <a:r>
              <a:rPr lang="en-US" sz="7500" b="1" dirty="0">
                <a:solidFill>
                  <a:srgbClr val="000000"/>
                </a:solidFill>
                <a:latin typeface="Calibri" panose="020F0502020204030204" pitchFamily="34" charset="0"/>
                <a:ea typeface="Calibri" panose="020F0502020204030204" pitchFamily="34" charset="0"/>
                <a:cs typeface="Calibri" panose="020F0502020204030204" pitchFamily="34" charset="0"/>
              </a:rPr>
              <a:t>3</a:t>
            </a:r>
          </a:p>
        </p:txBody>
      </p:sp>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49</a:t>
            </a:fld>
          </a:p>
        </p:txBody>
      </p:sp>
    </p:spTree>
    <p:extLst>
      <p:ext uri="{BB962C8B-B14F-4D97-AF65-F5344CB8AC3E}">
        <p14:creationId xmlns:p14="http://schemas.microsoft.com/office/powerpoint/2010/main" val="279112139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D9E3CF-EB43-9CCB-2EF2-6B530938E92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3869038-3893-CDD8-9AB6-97B97A6029C4}"/>
              </a:ext>
            </a:extLst>
          </p:cNvPr>
          <p:cNvSpPr>
            <a:spLocks noGrp="1"/>
          </p:cNvSpPr>
          <p:nvPr>
            <p:ph type="title"/>
          </p:nvPr>
        </p:nvSpPr>
        <p:spPr/>
        <p:txBody>
          <a:bodyPr/>
          <a:lstStyle/>
          <a:p>
            <a:pPr algn="l"/>
            <a:r>
              <a:rPr lang="en-US" b="1" dirty="0"/>
              <a:t>Essential Question </a:t>
            </a:r>
            <a:r>
              <a:rPr lang="en-US" sz="2000" b="1" dirty="0">
                <a:solidFill>
                  <a:schemeClr val="bg1"/>
                </a:solidFill>
              </a:rPr>
              <a:t>(3 of 3)</a:t>
            </a:r>
          </a:p>
        </p:txBody>
      </p:sp>
      <p:sp>
        <p:nvSpPr>
          <p:cNvPr id="2" name="Text Placeholder 2">
            <a:extLst>
              <a:ext uri="{FF2B5EF4-FFF2-40B4-BE49-F238E27FC236}">
                <a16:creationId xmlns:a16="http://schemas.microsoft.com/office/drawing/2014/main" id="{41ACBD4B-C767-13F6-1D4D-F042BB0340B8}"/>
              </a:ext>
            </a:extLst>
          </p:cNvPr>
          <p:cNvSpPr txBox="1">
            <a:spLocks/>
          </p:cNvSpPr>
          <p:nvPr/>
        </p:nvSpPr>
        <p:spPr>
          <a:xfrm>
            <a:off x="777240" y="1616140"/>
            <a:ext cx="9901646" cy="4351200"/>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buNone/>
            </a:pPr>
            <a:r>
              <a:rPr lang="en-US" sz="2800" dirty="0">
                <a:solidFill>
                  <a:srgbClr val="000000"/>
                </a:solidFill>
              </a:rPr>
              <a:t>Is there a more efficient method to graphing a linear relationship? Can you use the equation of a linear relationship to create a  graphical representation?</a:t>
            </a:r>
          </a:p>
          <a:p>
            <a:endParaRPr lang="en-US" sz="2400" dirty="0"/>
          </a:p>
          <a:p>
            <a:pPr marL="0" indent="0" algn="l">
              <a:buNone/>
            </a:pPr>
            <a:endParaRPr lang="en-US" sz="2800" b="0" i="0" u="none" strike="noStrike" baseline="0" dirty="0">
              <a:solidFill>
                <a:srgbClr val="000000"/>
              </a:solidFill>
            </a:endParaRPr>
          </a:p>
        </p:txBody>
      </p:sp>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50</a:t>
            </a:fld>
          </a:p>
        </p:txBody>
      </p:sp>
    </p:spTree>
    <p:extLst>
      <p:ext uri="{BB962C8B-B14F-4D97-AF65-F5344CB8AC3E}">
        <p14:creationId xmlns:p14="http://schemas.microsoft.com/office/powerpoint/2010/main" val="65489519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F477CD-7341-DC3A-4E1E-7A158BFBF2B3}"/>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C8C36D08-E49E-356E-1DC8-2F69DA131122}"/>
              </a:ext>
            </a:extLst>
          </p:cNvPr>
          <p:cNvSpPr>
            <a:spLocks noGrp="1"/>
          </p:cNvSpPr>
          <p:nvPr>
            <p:ph type="title" idx="4294967295"/>
          </p:nvPr>
        </p:nvSpPr>
        <p:spPr>
          <a:xfrm>
            <a:off x="838200" y="-336430"/>
            <a:ext cx="10514013" cy="336430"/>
          </a:xfrm>
          <a:prstGeom prst="rect">
            <a:avLst/>
          </a:prstGeom>
        </p:spPr>
        <p:txBody>
          <a:bodyPr anchor="b"/>
          <a:lstStyle/>
          <a:p>
            <a:r>
              <a:rPr lang="en-US" sz="2000" dirty="0">
                <a:solidFill>
                  <a:schemeClr val="bg2"/>
                </a:solidFill>
              </a:rPr>
              <a:t>Activity 5.4</a:t>
            </a:r>
          </a:p>
        </p:txBody>
      </p:sp>
      <p:sp>
        <p:nvSpPr>
          <p:cNvPr id="3" name="Text Placeholder 2" descr="20 to 25 minutes">
            <a:extLst>
              <a:ext uri="{FF2B5EF4-FFF2-40B4-BE49-F238E27FC236}">
                <a16:creationId xmlns:a16="http://schemas.microsoft.com/office/drawing/2014/main" id="{6E5EAB47-58FD-CC6E-EC2D-427C7050F902}"/>
              </a:ext>
            </a:extLst>
          </p:cNvPr>
          <p:cNvSpPr>
            <a:spLocks noGrp="1"/>
          </p:cNvSpPr>
          <p:nvPr>
            <p:ph type="body" sz="quarter" idx="12"/>
          </p:nvPr>
        </p:nvSpPr>
        <p:spPr>
          <a:xfrm>
            <a:off x="10614990" y="5780025"/>
            <a:ext cx="863947" cy="795338"/>
          </a:xfrm>
        </p:spPr>
        <p:txBody>
          <a:bodyPr/>
          <a:lstStyle/>
          <a:p>
            <a:r>
              <a:rPr lang="en-US" b="1" dirty="0"/>
              <a:t>20–25</a:t>
            </a:r>
          </a:p>
        </p:txBody>
      </p:sp>
      <p:sp>
        <p:nvSpPr>
          <p:cNvPr id="2" name="Text Placeholder 1">
            <a:extLst>
              <a:ext uri="{FF2B5EF4-FFF2-40B4-BE49-F238E27FC236}">
                <a16:creationId xmlns:a16="http://schemas.microsoft.com/office/drawing/2014/main" id="{75C48829-4224-2FC3-9AE5-362A54E52523}"/>
              </a:ext>
              <a:ext uri="{C183D7F6-B498-43B3-948B-1728B52AA6E4}">
                <adec:decorative xmlns:adec="http://schemas.microsoft.com/office/drawing/2017/decorative" val="1"/>
              </a:ext>
            </a:extLst>
          </p:cNvPr>
          <p:cNvSpPr>
            <a:spLocks noGrp="1"/>
          </p:cNvSpPr>
          <p:nvPr>
            <p:ph type="body" sz="quarter" idx="11"/>
          </p:nvPr>
        </p:nvSpPr>
        <p:spPr/>
        <p:txBody>
          <a:bodyPr/>
          <a:lstStyle/>
          <a:p>
            <a:r>
              <a:rPr lang="en-US" dirty="0"/>
              <a:t>5.4</a:t>
            </a:r>
          </a:p>
        </p:txBody>
      </p:sp>
      <p:sp>
        <p:nvSpPr>
          <p:cNvPr id="1005" name="Slide Number 1005"/>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51</a:t>
            </a:fld>
          </a:p>
        </p:txBody>
      </p:sp>
    </p:spTree>
    <p:extLst>
      <p:ext uri="{BB962C8B-B14F-4D97-AF65-F5344CB8AC3E}">
        <p14:creationId xmlns:p14="http://schemas.microsoft.com/office/powerpoint/2010/main" val="30761588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493B5D-79D1-081A-1B62-E97EB364814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19862F90-E403-A82A-EE5A-E1863A4876D6}"/>
              </a:ext>
            </a:extLst>
          </p:cNvPr>
          <p:cNvSpPr>
            <a:spLocks noGrp="1"/>
          </p:cNvSpPr>
          <p:nvPr>
            <p:ph type="title"/>
          </p:nvPr>
        </p:nvSpPr>
        <p:spPr>
          <a:xfrm>
            <a:off x="774551" y="1"/>
            <a:ext cx="11428171" cy="1263192"/>
          </a:xfrm>
        </p:spPr>
        <p:txBody>
          <a:bodyPr/>
          <a:lstStyle/>
          <a:p>
            <a:pPr algn="l"/>
            <a:r>
              <a:rPr lang="en-US" b="1" dirty="0"/>
              <a:t>Identifying Slope and </a:t>
            </a:r>
            <a:r>
              <a:rPr lang="en-US" b="1" i="1" dirty="0"/>
              <a:t>y</a:t>
            </a:r>
            <a:r>
              <a:rPr lang="en-US" b="1" dirty="0"/>
              <a:t>-Intercept </a:t>
            </a:r>
            <a:r>
              <a:rPr lang="en-US" sz="2000" b="1" dirty="0">
                <a:solidFill>
                  <a:schemeClr val="bg1"/>
                </a:solidFill>
              </a:rPr>
              <a:t>(1 of 4)</a:t>
            </a:r>
          </a:p>
        </p:txBody>
      </p:sp>
      <p:sp>
        <p:nvSpPr>
          <p:cNvPr id="6" name="Text Placeholder 2">
            <a:extLst>
              <a:ext uri="{FF2B5EF4-FFF2-40B4-BE49-F238E27FC236}">
                <a16:creationId xmlns:a16="http://schemas.microsoft.com/office/drawing/2014/main" id="{E294CFE6-F47A-784E-7E82-1D2492579DD0}"/>
              </a:ext>
            </a:extLst>
          </p:cNvPr>
          <p:cNvSpPr txBox="1">
            <a:spLocks/>
          </p:cNvSpPr>
          <p:nvPr/>
        </p:nvSpPr>
        <p:spPr>
          <a:xfrm>
            <a:off x="871368" y="1574899"/>
            <a:ext cx="10041047" cy="1354482"/>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buNone/>
            </a:pPr>
            <a:r>
              <a:rPr lang="en-US" sz="2800" dirty="0">
                <a:solidFill>
                  <a:srgbClr val="000000"/>
                </a:solidFill>
              </a:rPr>
              <a:t>Each equation represents a linear relationship. Examine each and determine the slope and the </a:t>
            </a:r>
            <a:r>
              <a:rPr lang="en-US" sz="2800" i="1" dirty="0">
                <a:solidFill>
                  <a:srgbClr val="000000"/>
                </a:solidFill>
              </a:rPr>
              <a:t>y</a:t>
            </a:r>
            <a:r>
              <a:rPr lang="en-US" sz="2800" dirty="0">
                <a:solidFill>
                  <a:srgbClr val="000000"/>
                </a:solidFill>
              </a:rPr>
              <a:t>-intercept. Write the </a:t>
            </a:r>
            <a:r>
              <a:rPr lang="en-US" sz="2800" i="1" dirty="0">
                <a:solidFill>
                  <a:srgbClr val="000000"/>
                </a:solidFill>
              </a:rPr>
              <a:t>y</a:t>
            </a:r>
            <a:r>
              <a:rPr lang="en-US" sz="2800" dirty="0">
                <a:solidFill>
                  <a:srgbClr val="000000"/>
                </a:solidFill>
              </a:rPr>
              <a:t>-intercept as an ordered pair.</a:t>
            </a:r>
          </a:p>
        </p:txBody>
      </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113CAAA9-3EF5-AEED-88CF-815E6A965BBE}"/>
                  </a:ext>
                </a:extLst>
              </p:cNvPr>
              <p:cNvSpPr txBox="1">
                <a:spLocks/>
              </p:cNvSpPr>
              <p:nvPr/>
            </p:nvSpPr>
            <p:spPr>
              <a:xfrm>
                <a:off x="871369" y="3072334"/>
                <a:ext cx="3559784" cy="567882"/>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buFont typeface="+mj-lt"/>
                  <a:buAutoNum type="arabicPeriod"/>
                </a:pPr>
                <a:r>
                  <a:rPr lang="en-US" sz="2800" b="0" dirty="0">
                    <a:solidFill>
                      <a:srgbClr val="000000"/>
                    </a:solidFill>
                  </a:rPr>
                  <a:t> </a:t>
                </a:r>
                <a14:m>
                  <m:oMath xmlns:m="http://schemas.openxmlformats.org/officeDocument/2006/math">
                    <m:r>
                      <a:rPr lang="en-US" sz="2800" b="0" i="1" smtClean="0">
                        <a:solidFill>
                          <a:srgbClr val="000000"/>
                        </a:solidFill>
                        <a:latin typeface="Cambria Math" panose="02040503050406030204" pitchFamily="18" charset="0"/>
                      </a:rPr>
                      <m:t>𝑦</m:t>
                    </m:r>
                    <m:r>
                      <a:rPr lang="en-US" sz="2800" b="0" i="1" smtClean="0">
                        <a:solidFill>
                          <a:srgbClr val="000000"/>
                        </a:solidFill>
                        <a:latin typeface="Cambria Math" panose="02040503050406030204" pitchFamily="18" charset="0"/>
                      </a:rPr>
                      <m:t>=11</m:t>
                    </m:r>
                    <m:r>
                      <a:rPr lang="en-US" sz="2800" b="0" i="1" smtClean="0">
                        <a:solidFill>
                          <a:srgbClr val="000000"/>
                        </a:solidFill>
                        <a:latin typeface="Cambria Math" panose="02040503050406030204" pitchFamily="18" charset="0"/>
                      </a:rPr>
                      <m:t>𝑥</m:t>
                    </m:r>
                    <m:r>
                      <a:rPr lang="en-US" sz="2800" b="0" i="1" smtClean="0">
                        <a:solidFill>
                          <a:srgbClr val="000000"/>
                        </a:solidFill>
                        <a:latin typeface="Cambria Math" panose="02040503050406030204" pitchFamily="18" charset="0"/>
                      </a:rPr>
                      <m:t>−9</m:t>
                    </m:r>
                  </m:oMath>
                </a14:m>
                <a:endParaRPr lang="en-US" sz="2800" dirty="0">
                  <a:solidFill>
                    <a:srgbClr val="000000"/>
                  </a:solidFill>
                </a:endParaRPr>
              </a:p>
            </p:txBody>
          </p:sp>
        </mc:Choice>
        <mc:Fallback xmlns="">
          <p:sp>
            <p:nvSpPr>
              <p:cNvPr id="3" name="Text Placeholder 2">
                <a:extLst>
                  <a:ext uri="{FF2B5EF4-FFF2-40B4-BE49-F238E27FC236}">
                    <a16:creationId xmlns:a16="http://schemas.microsoft.com/office/drawing/2014/main" id="{113CAAA9-3EF5-AEED-88CF-815E6A965BBE}"/>
                  </a:ext>
                </a:extLst>
              </p:cNvPr>
              <p:cNvSpPr txBox="1">
                <a:spLocks noRot="1" noChangeAspect="1" noMove="1" noResize="1" noEditPoints="1" noAdjustHandles="1" noChangeArrowheads="1" noChangeShapeType="1" noTextEdit="1"/>
              </p:cNvSpPr>
              <p:nvPr/>
            </p:nvSpPr>
            <p:spPr>
              <a:xfrm>
                <a:off x="871369" y="3072334"/>
                <a:ext cx="3559784" cy="567882"/>
              </a:xfrm>
              <a:prstGeom prst="rect">
                <a:avLst/>
              </a:prstGeom>
              <a:blipFill>
                <a:blip r:embed="rId3"/>
                <a:stretch>
                  <a:fillRect l="-3596" t="-11828" b="-2258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 Placeholder 2">
                <a:extLst>
                  <a:ext uri="{FF2B5EF4-FFF2-40B4-BE49-F238E27FC236}">
                    <a16:creationId xmlns:a16="http://schemas.microsoft.com/office/drawing/2014/main" id="{346CABEC-BBA4-45F3-0581-FD5095C5BA3B}"/>
                  </a:ext>
                </a:extLst>
              </p:cNvPr>
              <p:cNvSpPr txBox="1">
                <a:spLocks/>
              </p:cNvSpPr>
              <p:nvPr/>
            </p:nvSpPr>
            <p:spPr>
              <a:xfrm>
                <a:off x="6184382" y="3072334"/>
                <a:ext cx="3226295" cy="567882"/>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buFont typeface="+mj-lt"/>
                  <a:buAutoNum type="arabicPeriod" startAt="2"/>
                </a:pPr>
                <a:r>
                  <a:rPr lang="en-US" sz="2800" b="0" dirty="0">
                    <a:solidFill>
                      <a:srgbClr val="000000"/>
                    </a:solidFill>
                  </a:rPr>
                  <a:t> </a:t>
                </a:r>
                <a14:m>
                  <m:oMath xmlns:m="http://schemas.openxmlformats.org/officeDocument/2006/math">
                    <m:r>
                      <a:rPr lang="en-US" sz="2800" b="0" i="0" smtClean="0">
                        <a:solidFill>
                          <a:srgbClr val="000000"/>
                        </a:solidFill>
                        <a:latin typeface="Cambria Math" panose="02040503050406030204" pitchFamily="18" charset="0"/>
                      </a:rPr>
                      <m:t>4</m:t>
                    </m:r>
                    <m:r>
                      <a:rPr lang="en-US" sz="2800" b="0" i="1" smtClean="0">
                        <a:solidFill>
                          <a:srgbClr val="000000"/>
                        </a:solidFill>
                        <a:latin typeface="Cambria Math" panose="02040503050406030204" pitchFamily="18" charset="0"/>
                      </a:rPr>
                      <m:t>𝑥</m:t>
                    </m:r>
                    <m:r>
                      <a:rPr lang="en-US" sz="2800" b="0" i="0" smtClean="0">
                        <a:solidFill>
                          <a:srgbClr val="000000"/>
                        </a:solidFill>
                        <a:latin typeface="Cambria Math" panose="02040503050406030204" pitchFamily="18" charset="0"/>
                      </a:rPr>
                      <m:t>+6</m:t>
                    </m:r>
                    <m:r>
                      <a:rPr lang="en-US" sz="2800" b="0" i="1" smtClean="0">
                        <a:solidFill>
                          <a:srgbClr val="000000"/>
                        </a:solidFill>
                        <a:latin typeface="Cambria Math" panose="02040503050406030204" pitchFamily="18" charset="0"/>
                      </a:rPr>
                      <m:t>𝑦</m:t>
                    </m:r>
                    <m:r>
                      <a:rPr lang="en-US" sz="2800" b="0" i="1" smtClean="0">
                        <a:solidFill>
                          <a:srgbClr val="000000"/>
                        </a:solidFill>
                        <a:latin typeface="Cambria Math" panose="02040503050406030204" pitchFamily="18" charset="0"/>
                      </a:rPr>
                      <m:t>=270</m:t>
                    </m:r>
                  </m:oMath>
                </a14:m>
                <a:endParaRPr lang="en-US" sz="2800" dirty="0">
                  <a:solidFill>
                    <a:srgbClr val="000000"/>
                  </a:solidFill>
                </a:endParaRPr>
              </a:p>
            </p:txBody>
          </p:sp>
        </mc:Choice>
        <mc:Fallback xmlns="">
          <p:sp>
            <p:nvSpPr>
              <p:cNvPr id="5" name="Text Placeholder 2">
                <a:extLst>
                  <a:ext uri="{FF2B5EF4-FFF2-40B4-BE49-F238E27FC236}">
                    <a16:creationId xmlns:a16="http://schemas.microsoft.com/office/drawing/2014/main" id="{346CABEC-BBA4-45F3-0581-FD5095C5BA3B}"/>
                  </a:ext>
                </a:extLst>
              </p:cNvPr>
              <p:cNvSpPr txBox="1">
                <a:spLocks noRot="1" noChangeAspect="1" noMove="1" noResize="1" noEditPoints="1" noAdjustHandles="1" noChangeArrowheads="1" noChangeShapeType="1" noTextEdit="1"/>
              </p:cNvSpPr>
              <p:nvPr/>
            </p:nvSpPr>
            <p:spPr>
              <a:xfrm>
                <a:off x="6184382" y="3072334"/>
                <a:ext cx="3226295" cy="567882"/>
              </a:xfrm>
              <a:prstGeom prst="rect">
                <a:avLst/>
              </a:prstGeom>
              <a:blipFill>
                <a:blip r:embed="rId4"/>
                <a:stretch>
                  <a:fillRect l="-3962" t="-11828" b="-2258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 Placeholder 2">
                <a:extLst>
                  <a:ext uri="{FF2B5EF4-FFF2-40B4-BE49-F238E27FC236}">
                    <a16:creationId xmlns:a16="http://schemas.microsoft.com/office/drawing/2014/main" id="{5FC41C9F-8DD0-9707-D2D4-6A6638FE952E}"/>
                  </a:ext>
                </a:extLst>
              </p:cNvPr>
              <p:cNvSpPr txBox="1">
                <a:spLocks/>
              </p:cNvSpPr>
              <p:nvPr/>
            </p:nvSpPr>
            <p:spPr>
              <a:xfrm>
                <a:off x="871368" y="4790257"/>
                <a:ext cx="3559783" cy="567882"/>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buFont typeface="+mj-lt"/>
                  <a:buAutoNum type="arabicPeriod" startAt="3"/>
                </a:pPr>
                <a:r>
                  <a:rPr lang="en-US" sz="2800" b="0" dirty="0">
                    <a:solidFill>
                      <a:srgbClr val="000000"/>
                    </a:solidFill>
                  </a:rPr>
                  <a:t> </a:t>
                </a:r>
                <a14:m>
                  <m:oMath xmlns:m="http://schemas.openxmlformats.org/officeDocument/2006/math">
                    <m:r>
                      <a:rPr lang="en-US" sz="2800" b="0" i="1" smtClean="0">
                        <a:solidFill>
                          <a:srgbClr val="000000"/>
                        </a:solidFill>
                        <a:latin typeface="Cambria Math" panose="02040503050406030204" pitchFamily="18" charset="0"/>
                      </a:rPr>
                      <m:t>𝑦</m:t>
                    </m:r>
                    <m:r>
                      <a:rPr lang="en-US" sz="2800" b="0" i="1" smtClean="0">
                        <a:solidFill>
                          <a:srgbClr val="000000"/>
                        </a:solidFill>
                        <a:latin typeface="Cambria Math" panose="02040503050406030204" pitchFamily="18" charset="0"/>
                      </a:rPr>
                      <m:t>=5(2</m:t>
                    </m:r>
                    <m:r>
                      <a:rPr lang="en-US" sz="2800" b="0" i="1" smtClean="0">
                        <a:solidFill>
                          <a:srgbClr val="000000"/>
                        </a:solidFill>
                        <a:latin typeface="Cambria Math" panose="02040503050406030204" pitchFamily="18" charset="0"/>
                      </a:rPr>
                      <m:t>𝑥</m:t>
                    </m:r>
                    <m:r>
                      <a:rPr lang="en-US" sz="2800" b="0" i="1" smtClean="0">
                        <a:solidFill>
                          <a:srgbClr val="000000"/>
                        </a:solidFill>
                        <a:latin typeface="Cambria Math" panose="02040503050406030204" pitchFamily="18" charset="0"/>
                      </a:rPr>
                      <m:t>−9)</m:t>
                    </m:r>
                  </m:oMath>
                </a14:m>
                <a:endParaRPr lang="en-US" sz="2800" dirty="0">
                  <a:solidFill>
                    <a:srgbClr val="000000"/>
                  </a:solidFill>
                </a:endParaRPr>
              </a:p>
            </p:txBody>
          </p:sp>
        </mc:Choice>
        <mc:Fallback xmlns="">
          <p:sp>
            <p:nvSpPr>
              <p:cNvPr id="11" name="Text Placeholder 2">
                <a:extLst>
                  <a:ext uri="{FF2B5EF4-FFF2-40B4-BE49-F238E27FC236}">
                    <a16:creationId xmlns:a16="http://schemas.microsoft.com/office/drawing/2014/main" id="{5FC41C9F-8DD0-9707-D2D4-6A6638FE952E}"/>
                  </a:ext>
                </a:extLst>
              </p:cNvPr>
              <p:cNvSpPr txBox="1">
                <a:spLocks noRot="1" noChangeAspect="1" noMove="1" noResize="1" noEditPoints="1" noAdjustHandles="1" noChangeArrowheads="1" noChangeShapeType="1" noTextEdit="1"/>
              </p:cNvSpPr>
              <p:nvPr/>
            </p:nvSpPr>
            <p:spPr>
              <a:xfrm>
                <a:off x="871368" y="4790257"/>
                <a:ext cx="3559783" cy="567882"/>
              </a:xfrm>
              <a:prstGeom prst="rect">
                <a:avLst/>
              </a:prstGeom>
              <a:blipFill>
                <a:blip r:embed="rId5"/>
                <a:stretch>
                  <a:fillRect l="-3596" t="-11828" b="-2258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 Placeholder 2">
                <a:extLst>
                  <a:ext uri="{FF2B5EF4-FFF2-40B4-BE49-F238E27FC236}">
                    <a16:creationId xmlns:a16="http://schemas.microsoft.com/office/drawing/2014/main" id="{06236DBF-A09E-EAB3-E150-AC54F31E8D14}"/>
                  </a:ext>
                </a:extLst>
              </p:cNvPr>
              <p:cNvSpPr txBox="1">
                <a:spLocks/>
              </p:cNvSpPr>
              <p:nvPr/>
            </p:nvSpPr>
            <p:spPr>
              <a:xfrm>
                <a:off x="6184382" y="4790257"/>
                <a:ext cx="3226295" cy="567882"/>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buFont typeface="+mj-lt"/>
                  <a:buAutoNum type="arabicPeriod" startAt="4"/>
                </a:pPr>
                <a:r>
                  <a:rPr lang="en-US" sz="2800" b="0" dirty="0">
                    <a:solidFill>
                      <a:srgbClr val="000000"/>
                    </a:solidFill>
                  </a:rPr>
                  <a:t> </a:t>
                </a:r>
                <a14:m>
                  <m:oMath xmlns:m="http://schemas.openxmlformats.org/officeDocument/2006/math">
                    <m:r>
                      <a:rPr lang="en-US" sz="2800" b="0" i="0" smtClean="0">
                        <a:solidFill>
                          <a:srgbClr val="000000"/>
                        </a:solidFill>
                        <a:latin typeface="Cambria Math" panose="02040503050406030204" pitchFamily="18" charset="0"/>
                      </a:rPr>
                      <m:t>8</m:t>
                    </m:r>
                    <m:r>
                      <a:rPr lang="en-US" sz="2800" b="0" i="1" smtClean="0">
                        <a:solidFill>
                          <a:srgbClr val="000000"/>
                        </a:solidFill>
                        <a:latin typeface="Cambria Math" panose="02040503050406030204" pitchFamily="18" charset="0"/>
                      </a:rPr>
                      <m:t>𝑦</m:t>
                    </m:r>
                    <m:r>
                      <a:rPr lang="en-US" sz="2800" b="0" i="1" smtClean="0">
                        <a:solidFill>
                          <a:srgbClr val="000000"/>
                        </a:solidFill>
                        <a:latin typeface="Cambria Math" panose="02040503050406030204" pitchFamily="18" charset="0"/>
                      </a:rPr>
                      <m:t>=−6</m:t>
                    </m:r>
                    <m:r>
                      <a:rPr lang="en-US" sz="2800" b="0" i="1" smtClean="0">
                        <a:solidFill>
                          <a:srgbClr val="000000"/>
                        </a:solidFill>
                        <a:latin typeface="Cambria Math" panose="02040503050406030204" pitchFamily="18" charset="0"/>
                      </a:rPr>
                      <m:t>𝑥</m:t>
                    </m:r>
                    <m:r>
                      <a:rPr lang="en-US" sz="2800" b="0" i="1" smtClean="0">
                        <a:solidFill>
                          <a:srgbClr val="000000"/>
                        </a:solidFill>
                        <a:latin typeface="Cambria Math" panose="02040503050406030204" pitchFamily="18" charset="0"/>
                      </a:rPr>
                      <m:t>+24</m:t>
                    </m:r>
                  </m:oMath>
                </a14:m>
                <a:endParaRPr lang="en-US" sz="2800" dirty="0">
                  <a:solidFill>
                    <a:srgbClr val="000000"/>
                  </a:solidFill>
                </a:endParaRPr>
              </a:p>
            </p:txBody>
          </p:sp>
        </mc:Choice>
        <mc:Fallback xmlns="">
          <p:sp>
            <p:nvSpPr>
              <p:cNvPr id="12" name="Text Placeholder 2">
                <a:extLst>
                  <a:ext uri="{FF2B5EF4-FFF2-40B4-BE49-F238E27FC236}">
                    <a16:creationId xmlns:a16="http://schemas.microsoft.com/office/drawing/2014/main" id="{06236DBF-A09E-EAB3-E150-AC54F31E8D14}"/>
                  </a:ext>
                </a:extLst>
              </p:cNvPr>
              <p:cNvSpPr txBox="1">
                <a:spLocks noRot="1" noChangeAspect="1" noMove="1" noResize="1" noEditPoints="1" noAdjustHandles="1" noChangeArrowheads="1" noChangeShapeType="1" noTextEdit="1"/>
              </p:cNvSpPr>
              <p:nvPr/>
            </p:nvSpPr>
            <p:spPr>
              <a:xfrm>
                <a:off x="6184382" y="4790257"/>
                <a:ext cx="3226295" cy="567882"/>
              </a:xfrm>
              <a:prstGeom prst="rect">
                <a:avLst/>
              </a:prstGeom>
              <a:blipFill>
                <a:blip r:embed="rId6"/>
                <a:stretch>
                  <a:fillRect l="-3962" t="-11828" b="-22581"/>
                </a:stretch>
              </a:blipFill>
            </p:spPr>
            <p:txBody>
              <a:bodyPr/>
              <a:lstStyle/>
              <a:p>
                <a:r>
                  <a:rPr lang="en-US">
                    <a:noFill/>
                  </a:rPr>
                  <a:t> </a:t>
                </a:r>
              </a:p>
            </p:txBody>
          </p:sp>
        </mc:Fallback>
      </mc:AlternateContent>
      <p:sp>
        <p:nvSpPr>
          <p:cNvPr id="1012" name="Slide Number 101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52</a:t>
            </a:fld>
          </a:p>
        </p:txBody>
      </p:sp>
      <p:sp>
        <p:nvSpPr>
          <p:cNvPr id="1013" name="Answer 1013"/>
          <p:cNvSpPr txBox="1"/>
          <p:nvPr/>
        </p:nvSpPr>
        <p:spPr>
          <a:xfrm>
            <a:off x="869950" y="3619500"/>
            <a:ext cx="4445000" cy="825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Slope 11; y-intercept (0, −9)</a:t>
            </a:r>
          </a:p>
        </p:txBody>
      </p:sp>
      <p:sp>
        <p:nvSpPr>
          <p:cNvPr id="1014" name="Answer 1014"/>
          <p:cNvSpPr txBox="1"/>
          <p:nvPr/>
        </p:nvSpPr>
        <p:spPr>
          <a:xfrm>
            <a:off x="6184900" y="3619500"/>
            <a:ext cx="5080000" cy="825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Slope −2/3; y-intercept (0, 45)</a:t>
            </a:r>
          </a:p>
        </p:txBody>
      </p:sp>
      <p:sp>
        <p:nvSpPr>
          <p:cNvPr id="1015" name="Answer 1015"/>
          <p:cNvSpPr txBox="1"/>
          <p:nvPr/>
        </p:nvSpPr>
        <p:spPr>
          <a:xfrm>
            <a:off x="869950" y="5334000"/>
            <a:ext cx="4445000" cy="825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Slope 10; y-intercept (0, −45)</a:t>
            </a:r>
          </a:p>
        </p:txBody>
      </p:sp>
      <p:sp>
        <p:nvSpPr>
          <p:cNvPr id="1016" name="Answer 1016"/>
          <p:cNvSpPr txBox="1"/>
          <p:nvPr/>
        </p:nvSpPr>
        <p:spPr>
          <a:xfrm>
            <a:off x="6184900" y="5334000"/>
            <a:ext cx="5080000" cy="825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Slope −3/4; y-intercept (0, 3)</a:t>
            </a:r>
          </a:p>
        </p:txBody>
      </p:sp>
    </p:spTree>
    <p:extLst>
      <p:ext uri="{BB962C8B-B14F-4D97-AF65-F5344CB8AC3E}">
        <p14:creationId xmlns:p14="http://schemas.microsoft.com/office/powerpoint/2010/main" val="2258212816"/>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14"/>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15"/>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0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BCD1B7-054C-A5AD-AB15-EA5FB89F9411}"/>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90DA40A-931C-A440-6AD4-8FB9C12E5414}"/>
              </a:ext>
            </a:extLst>
          </p:cNvPr>
          <p:cNvSpPr>
            <a:spLocks noGrp="1"/>
          </p:cNvSpPr>
          <p:nvPr>
            <p:ph type="title"/>
          </p:nvPr>
        </p:nvSpPr>
        <p:spPr>
          <a:xfrm>
            <a:off x="763793" y="1"/>
            <a:ext cx="11438929" cy="1263192"/>
          </a:xfrm>
        </p:spPr>
        <p:txBody>
          <a:bodyPr/>
          <a:lstStyle/>
          <a:p>
            <a:pPr algn="l"/>
            <a:r>
              <a:rPr lang="en-US" b="1" dirty="0"/>
              <a:t>Identifying Slope and </a:t>
            </a:r>
            <a:r>
              <a:rPr lang="en-US" b="1" i="1" dirty="0"/>
              <a:t>y</a:t>
            </a:r>
            <a:r>
              <a:rPr lang="en-US" b="1" dirty="0"/>
              <a:t>-Intercept </a:t>
            </a:r>
            <a:r>
              <a:rPr lang="en-US" sz="2000" b="1" dirty="0">
                <a:solidFill>
                  <a:schemeClr val="bg1"/>
                </a:solidFill>
              </a:rPr>
              <a:t>(2 of 4)</a:t>
            </a:r>
          </a:p>
        </p:txBody>
      </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62B3FBD0-1E67-DF08-853B-D88A68B50DCC}"/>
                  </a:ext>
                </a:extLst>
              </p:cNvPr>
              <p:cNvSpPr txBox="1">
                <a:spLocks/>
              </p:cNvSpPr>
              <p:nvPr/>
            </p:nvSpPr>
            <p:spPr>
              <a:xfrm>
                <a:off x="763793" y="1591027"/>
                <a:ext cx="3894267" cy="567882"/>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buFont typeface="+mj-lt"/>
                  <a:buAutoNum type="arabicPeriod" startAt="5"/>
                </a:pPr>
                <a:r>
                  <a:rPr lang="en-US" sz="2800" b="0" dirty="0">
                    <a:solidFill>
                      <a:srgbClr val="000000"/>
                    </a:solidFill>
                  </a:rPr>
                  <a:t> </a:t>
                </a:r>
                <a14:m>
                  <m:oMath xmlns:m="http://schemas.openxmlformats.org/officeDocument/2006/math">
                    <m:r>
                      <a:rPr lang="en-US" sz="2800" b="0" i="1" smtClean="0">
                        <a:solidFill>
                          <a:srgbClr val="000000"/>
                        </a:solidFill>
                        <a:latin typeface="Cambria Math" panose="02040503050406030204" pitchFamily="18" charset="0"/>
                      </a:rPr>
                      <m:t>𝑦</m:t>
                    </m:r>
                    <m:r>
                      <a:rPr lang="en-US" sz="2800" b="0" i="1" smtClean="0">
                        <a:solidFill>
                          <a:srgbClr val="000000"/>
                        </a:solidFill>
                        <a:latin typeface="Cambria Math" panose="02040503050406030204" pitchFamily="18" charset="0"/>
                      </a:rPr>
                      <m:t>+9=6(</m:t>
                    </m:r>
                    <m:r>
                      <a:rPr lang="en-US" sz="2800" b="0" i="1" smtClean="0">
                        <a:solidFill>
                          <a:srgbClr val="000000"/>
                        </a:solidFill>
                        <a:latin typeface="Cambria Math" panose="02040503050406030204" pitchFamily="18" charset="0"/>
                      </a:rPr>
                      <m:t>𝑥</m:t>
                    </m:r>
                    <m:r>
                      <a:rPr lang="en-US" sz="2800" b="0" i="1" smtClean="0">
                        <a:solidFill>
                          <a:srgbClr val="000000"/>
                        </a:solidFill>
                        <a:latin typeface="Cambria Math" panose="02040503050406030204" pitchFamily="18" charset="0"/>
                      </a:rPr>
                      <m:t>−3)</m:t>
                    </m:r>
                  </m:oMath>
                </a14:m>
                <a:endParaRPr lang="en-US" sz="2800" dirty="0">
                  <a:solidFill>
                    <a:srgbClr val="000000"/>
                  </a:solidFill>
                </a:endParaRPr>
              </a:p>
            </p:txBody>
          </p:sp>
        </mc:Choice>
        <mc:Fallback xmlns="">
          <p:sp>
            <p:nvSpPr>
              <p:cNvPr id="3" name="Text Placeholder 2">
                <a:extLst>
                  <a:ext uri="{FF2B5EF4-FFF2-40B4-BE49-F238E27FC236}">
                    <a16:creationId xmlns:a16="http://schemas.microsoft.com/office/drawing/2014/main" id="{62B3FBD0-1E67-DF08-853B-D88A68B50DCC}"/>
                  </a:ext>
                </a:extLst>
              </p:cNvPr>
              <p:cNvSpPr txBox="1">
                <a:spLocks noRot="1" noChangeAspect="1" noMove="1" noResize="1" noEditPoints="1" noAdjustHandles="1" noChangeArrowheads="1" noChangeShapeType="1" noTextEdit="1"/>
              </p:cNvSpPr>
              <p:nvPr/>
            </p:nvSpPr>
            <p:spPr>
              <a:xfrm>
                <a:off x="763793" y="1591027"/>
                <a:ext cx="3894267" cy="567882"/>
              </a:xfrm>
              <a:prstGeom prst="rect">
                <a:avLst/>
              </a:prstGeom>
              <a:blipFill>
                <a:blip r:embed="rId3"/>
                <a:stretch>
                  <a:fillRect l="-3286" t="-11828" b="-2258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 Placeholder 2">
                <a:extLst>
                  <a:ext uri="{FF2B5EF4-FFF2-40B4-BE49-F238E27FC236}">
                    <a16:creationId xmlns:a16="http://schemas.microsoft.com/office/drawing/2014/main" id="{0D53B3DC-7C8D-10BF-2071-75BCDEC37F77}"/>
                  </a:ext>
                </a:extLst>
              </p:cNvPr>
              <p:cNvSpPr txBox="1">
                <a:spLocks/>
              </p:cNvSpPr>
              <p:nvPr/>
            </p:nvSpPr>
            <p:spPr>
              <a:xfrm>
                <a:off x="6095206" y="1586167"/>
                <a:ext cx="4200655" cy="567882"/>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buFont typeface="+mj-lt"/>
                  <a:buAutoNum type="arabicPeriod" startAt="6"/>
                </a:pPr>
                <a:r>
                  <a:rPr lang="en-US" sz="2800" b="0" dirty="0">
                    <a:solidFill>
                      <a:srgbClr val="000000"/>
                    </a:solidFill>
                  </a:rPr>
                  <a:t> </a:t>
                </a:r>
                <a14:m>
                  <m:oMath xmlns:m="http://schemas.openxmlformats.org/officeDocument/2006/math">
                    <m:r>
                      <a:rPr lang="en-US" sz="2800" b="0" i="1" smtClean="0">
                        <a:solidFill>
                          <a:srgbClr val="000000"/>
                        </a:solidFill>
                        <a:latin typeface="Cambria Math" panose="02040503050406030204" pitchFamily="18" charset="0"/>
                      </a:rPr>
                      <m:t>𝑦</m:t>
                    </m:r>
                    <m:r>
                      <a:rPr lang="en-US" sz="2800" b="0" i="1" smtClean="0">
                        <a:solidFill>
                          <a:srgbClr val="000000"/>
                        </a:solidFill>
                        <a:latin typeface="Cambria Math" panose="02040503050406030204" pitchFamily="18" charset="0"/>
                      </a:rPr>
                      <m:t>=9</m:t>
                    </m:r>
                  </m:oMath>
                </a14:m>
                <a:endParaRPr lang="en-US" sz="2800" dirty="0">
                  <a:solidFill>
                    <a:srgbClr val="000000"/>
                  </a:solidFill>
                </a:endParaRPr>
              </a:p>
            </p:txBody>
          </p:sp>
        </mc:Choice>
        <mc:Fallback xmlns="">
          <p:sp>
            <p:nvSpPr>
              <p:cNvPr id="5" name="Text Placeholder 2">
                <a:extLst>
                  <a:ext uri="{FF2B5EF4-FFF2-40B4-BE49-F238E27FC236}">
                    <a16:creationId xmlns:a16="http://schemas.microsoft.com/office/drawing/2014/main" id="{0D53B3DC-7C8D-10BF-2071-75BCDEC37F77}"/>
                  </a:ext>
                </a:extLst>
              </p:cNvPr>
              <p:cNvSpPr txBox="1">
                <a:spLocks noRot="1" noChangeAspect="1" noMove="1" noResize="1" noEditPoints="1" noAdjustHandles="1" noChangeArrowheads="1" noChangeShapeType="1" noTextEdit="1"/>
              </p:cNvSpPr>
              <p:nvPr/>
            </p:nvSpPr>
            <p:spPr>
              <a:xfrm>
                <a:off x="6095206" y="1586167"/>
                <a:ext cx="4200655" cy="567882"/>
              </a:xfrm>
              <a:prstGeom prst="rect">
                <a:avLst/>
              </a:prstGeom>
              <a:blipFill>
                <a:blip r:embed="rId4"/>
                <a:stretch>
                  <a:fillRect l="-3048" t="-11828" b="-2365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 Placeholder 2">
                <a:extLst>
                  <a:ext uri="{FF2B5EF4-FFF2-40B4-BE49-F238E27FC236}">
                    <a16:creationId xmlns:a16="http://schemas.microsoft.com/office/drawing/2014/main" id="{959EFBB3-7B1A-545B-F68B-628152BCE95C}"/>
                  </a:ext>
                </a:extLst>
              </p:cNvPr>
              <p:cNvSpPr txBox="1">
                <a:spLocks/>
              </p:cNvSpPr>
              <p:nvPr/>
            </p:nvSpPr>
            <p:spPr>
              <a:xfrm>
                <a:off x="763794" y="3259943"/>
                <a:ext cx="3667356" cy="567882"/>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buFont typeface="+mj-lt"/>
                  <a:buAutoNum type="arabicPeriod" startAt="7"/>
                </a:pPr>
                <a:r>
                  <a:rPr lang="en-US" sz="2800" dirty="0">
                    <a:solidFill>
                      <a:srgbClr val="000000"/>
                    </a:solidFill>
                  </a:rPr>
                  <a:t> </a:t>
                </a:r>
                <a14:m>
                  <m:oMath xmlns:m="http://schemas.openxmlformats.org/officeDocument/2006/math">
                    <m:r>
                      <a:rPr lang="en-US" sz="2800" b="0" i="1" smtClean="0">
                        <a:solidFill>
                          <a:srgbClr val="000000"/>
                        </a:solidFill>
                        <a:latin typeface="Cambria Math" panose="02040503050406030204" pitchFamily="18" charset="0"/>
                      </a:rPr>
                      <m:t>4</m:t>
                    </m:r>
                    <m:r>
                      <a:rPr lang="en-US" sz="2800" b="0" i="1" smtClean="0">
                        <a:solidFill>
                          <a:srgbClr val="000000"/>
                        </a:solidFill>
                        <a:latin typeface="Cambria Math" panose="02040503050406030204" pitchFamily="18" charset="0"/>
                      </a:rPr>
                      <m:t>𝑥</m:t>
                    </m:r>
                    <m:r>
                      <a:rPr lang="en-US" sz="2800" b="0" i="1" smtClean="0">
                        <a:solidFill>
                          <a:srgbClr val="000000"/>
                        </a:solidFill>
                        <a:latin typeface="Cambria Math" panose="02040503050406030204" pitchFamily="18" charset="0"/>
                      </a:rPr>
                      <m:t>−12</m:t>
                    </m:r>
                    <m:r>
                      <a:rPr lang="en-US" sz="2800" b="0" i="1" smtClean="0">
                        <a:solidFill>
                          <a:srgbClr val="000000"/>
                        </a:solidFill>
                        <a:latin typeface="Cambria Math" panose="02040503050406030204" pitchFamily="18" charset="0"/>
                      </a:rPr>
                      <m:t>𝑦</m:t>
                    </m:r>
                    <m:r>
                      <a:rPr lang="en-US" sz="2800" b="0" i="1" smtClean="0">
                        <a:solidFill>
                          <a:srgbClr val="000000"/>
                        </a:solidFill>
                        <a:latin typeface="Cambria Math" panose="02040503050406030204" pitchFamily="18" charset="0"/>
                      </a:rPr>
                      <m:t>=48</m:t>
                    </m:r>
                  </m:oMath>
                </a14:m>
                <a:endParaRPr lang="en-US" sz="2800" dirty="0">
                  <a:solidFill>
                    <a:srgbClr val="000000"/>
                  </a:solidFill>
                </a:endParaRPr>
              </a:p>
            </p:txBody>
          </p:sp>
        </mc:Choice>
        <mc:Fallback xmlns="">
          <p:sp>
            <p:nvSpPr>
              <p:cNvPr id="11" name="Text Placeholder 2">
                <a:extLst>
                  <a:ext uri="{FF2B5EF4-FFF2-40B4-BE49-F238E27FC236}">
                    <a16:creationId xmlns:a16="http://schemas.microsoft.com/office/drawing/2014/main" id="{959EFBB3-7B1A-545B-F68B-628152BCE95C}"/>
                  </a:ext>
                </a:extLst>
              </p:cNvPr>
              <p:cNvSpPr txBox="1">
                <a:spLocks noRot="1" noChangeAspect="1" noMove="1" noResize="1" noEditPoints="1" noAdjustHandles="1" noChangeArrowheads="1" noChangeShapeType="1" noTextEdit="1"/>
              </p:cNvSpPr>
              <p:nvPr/>
            </p:nvSpPr>
            <p:spPr>
              <a:xfrm>
                <a:off x="763794" y="3259943"/>
                <a:ext cx="3667356" cy="567882"/>
              </a:xfrm>
              <a:prstGeom prst="rect">
                <a:avLst/>
              </a:prstGeom>
              <a:blipFill>
                <a:blip r:embed="rId5"/>
                <a:stretch>
                  <a:fillRect l="-3488" t="-11828" b="-2258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 Placeholder 2">
                <a:extLst>
                  <a:ext uri="{FF2B5EF4-FFF2-40B4-BE49-F238E27FC236}">
                    <a16:creationId xmlns:a16="http://schemas.microsoft.com/office/drawing/2014/main" id="{64104057-62A5-A6FB-79A6-F6D149F64F86}"/>
                  </a:ext>
                </a:extLst>
              </p:cNvPr>
              <p:cNvSpPr txBox="1">
                <a:spLocks/>
              </p:cNvSpPr>
              <p:nvPr/>
            </p:nvSpPr>
            <p:spPr>
              <a:xfrm>
                <a:off x="6095207" y="3259943"/>
                <a:ext cx="4200654" cy="567882"/>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buFont typeface="+mj-lt"/>
                  <a:buAutoNum type="arabicPeriod" startAt="8"/>
                </a:pPr>
                <a:r>
                  <a:rPr lang="en-US" sz="2800" b="0" dirty="0">
                    <a:solidFill>
                      <a:srgbClr val="000000"/>
                    </a:solidFill>
                  </a:rPr>
                  <a:t> </a:t>
                </a:r>
                <a14:m>
                  <m:oMath xmlns:m="http://schemas.openxmlformats.org/officeDocument/2006/math">
                    <m:r>
                      <a:rPr lang="en-US" sz="2800" i="1">
                        <a:solidFill>
                          <a:srgbClr val="000000"/>
                        </a:solidFill>
                        <a:latin typeface="Cambria Math" panose="02040503050406030204" pitchFamily="18" charset="0"/>
                      </a:rPr>
                      <m:t>𝑥</m:t>
                    </m:r>
                    <m:r>
                      <a:rPr lang="en-US" sz="2800" b="0" i="1" smtClean="0">
                        <a:solidFill>
                          <a:srgbClr val="000000"/>
                        </a:solidFill>
                        <a:latin typeface="Cambria Math" panose="02040503050406030204" pitchFamily="18" charset="0"/>
                      </a:rPr>
                      <m:t>=10</m:t>
                    </m:r>
                  </m:oMath>
                </a14:m>
                <a:endParaRPr lang="en-US" sz="2800" dirty="0">
                  <a:solidFill>
                    <a:srgbClr val="000000"/>
                  </a:solidFill>
                </a:endParaRPr>
              </a:p>
            </p:txBody>
          </p:sp>
        </mc:Choice>
        <mc:Fallback xmlns="">
          <p:sp>
            <p:nvSpPr>
              <p:cNvPr id="12" name="Text Placeholder 2">
                <a:extLst>
                  <a:ext uri="{FF2B5EF4-FFF2-40B4-BE49-F238E27FC236}">
                    <a16:creationId xmlns:a16="http://schemas.microsoft.com/office/drawing/2014/main" id="{64104057-62A5-A6FB-79A6-F6D149F64F86}"/>
                  </a:ext>
                </a:extLst>
              </p:cNvPr>
              <p:cNvSpPr txBox="1">
                <a:spLocks noRot="1" noChangeAspect="1" noMove="1" noResize="1" noEditPoints="1" noAdjustHandles="1" noChangeArrowheads="1" noChangeShapeType="1" noTextEdit="1"/>
              </p:cNvSpPr>
              <p:nvPr/>
            </p:nvSpPr>
            <p:spPr>
              <a:xfrm>
                <a:off x="6095207" y="3259943"/>
                <a:ext cx="4200654" cy="567882"/>
              </a:xfrm>
              <a:prstGeom prst="rect">
                <a:avLst/>
              </a:prstGeom>
              <a:blipFill>
                <a:blip r:embed="rId6"/>
                <a:stretch>
                  <a:fillRect l="-3048" t="-11828" b="-2258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 Placeholder 2">
                <a:extLst>
                  <a:ext uri="{FF2B5EF4-FFF2-40B4-BE49-F238E27FC236}">
                    <a16:creationId xmlns:a16="http://schemas.microsoft.com/office/drawing/2014/main" id="{59962A1E-F401-F9D3-64D7-36B805DEF26D}"/>
                  </a:ext>
                </a:extLst>
              </p:cNvPr>
              <p:cNvSpPr txBox="1">
                <a:spLocks/>
              </p:cNvSpPr>
              <p:nvPr/>
            </p:nvSpPr>
            <p:spPr>
              <a:xfrm>
                <a:off x="871368" y="5099333"/>
                <a:ext cx="3894270" cy="567882"/>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buFont typeface="+mj-lt"/>
                  <a:buAutoNum type="arabicPeriod" startAt="9"/>
                </a:pPr>
                <a:r>
                  <a:rPr lang="en-US" sz="2800" dirty="0">
                    <a:solidFill>
                      <a:srgbClr val="000000"/>
                    </a:solidFill>
                  </a:rPr>
                  <a:t> </a:t>
                </a:r>
                <a14:m>
                  <m:oMath xmlns:m="http://schemas.openxmlformats.org/officeDocument/2006/math">
                    <m:r>
                      <a:rPr lang="en-US" sz="2800" b="0" i="1" smtClean="0">
                        <a:solidFill>
                          <a:srgbClr val="000000"/>
                        </a:solidFill>
                        <a:latin typeface="Cambria Math" panose="02040503050406030204" pitchFamily="18" charset="0"/>
                      </a:rPr>
                      <m:t>𝑦</m:t>
                    </m:r>
                    <m:r>
                      <a:rPr lang="en-US" sz="2800" b="0" i="1" smtClean="0">
                        <a:solidFill>
                          <a:srgbClr val="000000"/>
                        </a:solidFill>
                        <a:latin typeface="Cambria Math" panose="02040503050406030204" pitchFamily="18" charset="0"/>
                      </a:rPr>
                      <m:t>−4=3(</m:t>
                    </m:r>
                    <m:r>
                      <a:rPr lang="en-US" sz="2800" b="0" i="1" smtClean="0">
                        <a:solidFill>
                          <a:srgbClr val="000000"/>
                        </a:solidFill>
                        <a:latin typeface="Cambria Math" panose="02040503050406030204" pitchFamily="18" charset="0"/>
                      </a:rPr>
                      <m:t>𝑥</m:t>
                    </m:r>
                    <m:r>
                      <a:rPr lang="en-US" sz="2800" b="0" i="1" smtClean="0">
                        <a:solidFill>
                          <a:srgbClr val="000000"/>
                        </a:solidFill>
                        <a:latin typeface="Cambria Math" panose="02040503050406030204" pitchFamily="18" charset="0"/>
                      </a:rPr>
                      <m:t>+1)</m:t>
                    </m:r>
                  </m:oMath>
                </a14:m>
                <a:endParaRPr lang="en-US" sz="2800" dirty="0">
                  <a:solidFill>
                    <a:srgbClr val="000000"/>
                  </a:solidFill>
                </a:endParaRPr>
              </a:p>
            </p:txBody>
          </p:sp>
        </mc:Choice>
        <mc:Fallback xmlns="">
          <p:sp>
            <p:nvSpPr>
              <p:cNvPr id="8" name="Text Placeholder 2">
                <a:extLst>
                  <a:ext uri="{FF2B5EF4-FFF2-40B4-BE49-F238E27FC236}">
                    <a16:creationId xmlns:a16="http://schemas.microsoft.com/office/drawing/2014/main" id="{59962A1E-F401-F9D3-64D7-36B805DEF26D}"/>
                  </a:ext>
                </a:extLst>
              </p:cNvPr>
              <p:cNvSpPr txBox="1">
                <a:spLocks noRot="1" noChangeAspect="1" noMove="1" noResize="1" noEditPoints="1" noAdjustHandles="1" noChangeArrowheads="1" noChangeShapeType="1" noTextEdit="1"/>
              </p:cNvSpPr>
              <p:nvPr/>
            </p:nvSpPr>
            <p:spPr>
              <a:xfrm>
                <a:off x="871368" y="5099333"/>
                <a:ext cx="3894270" cy="567882"/>
              </a:xfrm>
              <a:prstGeom prst="rect">
                <a:avLst/>
              </a:prstGeom>
              <a:blipFill>
                <a:blip r:embed="rId7"/>
                <a:stretch>
                  <a:fillRect l="-3286" t="-11828" b="-2258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 Placeholder 2">
                <a:extLst>
                  <a:ext uri="{FF2B5EF4-FFF2-40B4-BE49-F238E27FC236}">
                    <a16:creationId xmlns:a16="http://schemas.microsoft.com/office/drawing/2014/main" id="{F429D0F6-F5EB-B7CF-6090-B1CFD2AD7D1A}"/>
                  </a:ext>
                </a:extLst>
              </p:cNvPr>
              <p:cNvSpPr txBox="1">
                <a:spLocks/>
              </p:cNvSpPr>
              <p:nvPr/>
            </p:nvSpPr>
            <p:spPr>
              <a:xfrm>
                <a:off x="6095206" y="5099333"/>
                <a:ext cx="4535144" cy="567882"/>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buFont typeface="+mj-lt"/>
                  <a:buAutoNum type="arabicPeriod" startAt="10"/>
                </a:pPr>
                <a:r>
                  <a:rPr lang="en-US" sz="2800" dirty="0">
                    <a:solidFill>
                      <a:srgbClr val="000000"/>
                    </a:solidFill>
                  </a:rPr>
                  <a:t> </a:t>
                </a:r>
                <a14:m>
                  <m:oMath xmlns:m="http://schemas.openxmlformats.org/officeDocument/2006/math">
                    <m:r>
                      <a:rPr lang="en-US" sz="2800" b="0" i="1" smtClean="0">
                        <a:solidFill>
                          <a:srgbClr val="000000"/>
                        </a:solidFill>
                        <a:latin typeface="Cambria Math" panose="02040503050406030204" pitchFamily="18" charset="0"/>
                      </a:rPr>
                      <m:t>𝑦</m:t>
                    </m:r>
                    <m:r>
                      <a:rPr lang="en-US" sz="2800" b="0" i="1" smtClean="0">
                        <a:solidFill>
                          <a:srgbClr val="000000"/>
                        </a:solidFill>
                        <a:latin typeface="Cambria Math" panose="02040503050406030204" pitchFamily="18" charset="0"/>
                      </a:rPr>
                      <m:t>=9−</m:t>
                    </m:r>
                    <m:f>
                      <m:fPr>
                        <m:ctrlPr>
                          <a:rPr lang="en-US" sz="2800" b="0" i="1" smtClean="0">
                            <a:solidFill>
                              <a:srgbClr val="000000"/>
                            </a:solidFill>
                            <a:latin typeface="Cambria Math" panose="02040503050406030204" pitchFamily="18" charset="0"/>
                          </a:rPr>
                        </m:ctrlPr>
                      </m:fPr>
                      <m:num>
                        <m:r>
                          <a:rPr lang="en-US" sz="2800" b="0" i="1" smtClean="0">
                            <a:solidFill>
                              <a:srgbClr val="000000"/>
                            </a:solidFill>
                            <a:latin typeface="Cambria Math" panose="02040503050406030204" pitchFamily="18" charset="0"/>
                          </a:rPr>
                          <m:t>1</m:t>
                        </m:r>
                      </m:num>
                      <m:den>
                        <m:r>
                          <a:rPr lang="en-US" sz="2800" b="0" i="1" smtClean="0">
                            <a:solidFill>
                              <a:srgbClr val="000000"/>
                            </a:solidFill>
                            <a:latin typeface="Cambria Math" panose="02040503050406030204" pitchFamily="18" charset="0"/>
                          </a:rPr>
                          <m:t>2</m:t>
                        </m:r>
                      </m:den>
                    </m:f>
                    <m:r>
                      <a:rPr lang="en-US" sz="2800" b="0" i="1" smtClean="0">
                        <a:solidFill>
                          <a:srgbClr val="000000"/>
                        </a:solidFill>
                        <a:latin typeface="Cambria Math" panose="02040503050406030204" pitchFamily="18" charset="0"/>
                      </a:rPr>
                      <m:t>𝑥</m:t>
                    </m:r>
                  </m:oMath>
                </a14:m>
                <a:endParaRPr lang="en-US" sz="2800" dirty="0">
                  <a:solidFill>
                    <a:srgbClr val="000000"/>
                  </a:solidFill>
                </a:endParaRPr>
              </a:p>
            </p:txBody>
          </p:sp>
        </mc:Choice>
        <mc:Fallback xmlns="">
          <p:sp>
            <p:nvSpPr>
              <p:cNvPr id="10" name="Text Placeholder 2">
                <a:extLst>
                  <a:ext uri="{FF2B5EF4-FFF2-40B4-BE49-F238E27FC236}">
                    <a16:creationId xmlns:a16="http://schemas.microsoft.com/office/drawing/2014/main" id="{F429D0F6-F5EB-B7CF-6090-B1CFD2AD7D1A}"/>
                  </a:ext>
                </a:extLst>
              </p:cNvPr>
              <p:cNvSpPr txBox="1">
                <a:spLocks noRot="1" noChangeAspect="1" noMove="1" noResize="1" noEditPoints="1" noAdjustHandles="1" noChangeArrowheads="1" noChangeShapeType="1" noTextEdit="1"/>
              </p:cNvSpPr>
              <p:nvPr/>
            </p:nvSpPr>
            <p:spPr>
              <a:xfrm>
                <a:off x="6095206" y="5099333"/>
                <a:ext cx="4535144" cy="567882"/>
              </a:xfrm>
              <a:prstGeom prst="rect">
                <a:avLst/>
              </a:prstGeom>
              <a:blipFill>
                <a:blip r:embed="rId8"/>
                <a:stretch>
                  <a:fillRect l="-2823" b="-38710"/>
                </a:stretch>
              </a:blipFill>
            </p:spPr>
            <p:txBody>
              <a:bodyPr/>
              <a:lstStyle/>
              <a:p>
                <a:r>
                  <a:rPr lang="en-US">
                    <a:noFill/>
                  </a:rPr>
                  <a:t> </a:t>
                </a:r>
              </a:p>
            </p:txBody>
          </p:sp>
        </mc:Fallback>
      </mc:AlternateContent>
      <p:sp>
        <p:nvSpPr>
          <p:cNvPr id="1012" name="Slide Number 101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53</a:t>
            </a:fld>
          </a:p>
        </p:txBody>
      </p:sp>
      <p:sp>
        <p:nvSpPr>
          <p:cNvPr id="1013" name="Answer 1013"/>
          <p:cNvSpPr txBox="1"/>
          <p:nvPr/>
        </p:nvSpPr>
        <p:spPr>
          <a:xfrm>
            <a:off x="869950" y="2159000"/>
            <a:ext cx="4953000" cy="698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Slope 6; y-intercept (0, −27)</a:t>
            </a:r>
          </a:p>
        </p:txBody>
      </p:sp>
      <p:sp>
        <p:nvSpPr>
          <p:cNvPr id="1014" name="Answer 1014"/>
          <p:cNvSpPr txBox="1"/>
          <p:nvPr/>
        </p:nvSpPr>
        <p:spPr>
          <a:xfrm>
            <a:off x="6096000" y="2159000"/>
            <a:ext cx="5461000" cy="698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Slope 0; y-intercept (0, 9)</a:t>
            </a:r>
          </a:p>
        </p:txBody>
      </p:sp>
      <p:sp>
        <p:nvSpPr>
          <p:cNvPr id="1015" name="Answer 1015"/>
          <p:cNvSpPr txBox="1"/>
          <p:nvPr/>
        </p:nvSpPr>
        <p:spPr>
          <a:xfrm>
            <a:off x="869950" y="3810000"/>
            <a:ext cx="4953000" cy="698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Slope 1/3; y-intercept (0, −4)</a:t>
            </a:r>
          </a:p>
        </p:txBody>
      </p:sp>
      <p:sp>
        <p:nvSpPr>
          <p:cNvPr id="1016" name="Answer 1016"/>
          <p:cNvSpPr txBox="1"/>
          <p:nvPr/>
        </p:nvSpPr>
        <p:spPr>
          <a:xfrm>
            <a:off x="6096000" y="3810000"/>
            <a:ext cx="5461000" cy="698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Slope undefined; no y-intercept (vertical line)</a:t>
            </a:r>
          </a:p>
        </p:txBody>
      </p:sp>
      <p:sp>
        <p:nvSpPr>
          <p:cNvPr id="1017" name="Answer 1017"/>
          <p:cNvSpPr txBox="1"/>
          <p:nvPr/>
        </p:nvSpPr>
        <p:spPr>
          <a:xfrm>
            <a:off x="869950" y="5651500"/>
            <a:ext cx="4953000" cy="698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Slope 3; y-intercept (0, 7)</a:t>
            </a:r>
          </a:p>
        </p:txBody>
      </p:sp>
      <p:sp>
        <p:nvSpPr>
          <p:cNvPr id="1018" name="Answer 1018"/>
          <p:cNvSpPr txBox="1"/>
          <p:nvPr/>
        </p:nvSpPr>
        <p:spPr>
          <a:xfrm>
            <a:off x="6096000" y="5651500"/>
            <a:ext cx="5461000" cy="698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Slope −1/2; y-intercept (0, 9)</a:t>
            </a:r>
          </a:p>
        </p:txBody>
      </p:sp>
    </p:spTree>
    <p:extLst>
      <p:ext uri="{BB962C8B-B14F-4D97-AF65-F5344CB8AC3E}">
        <p14:creationId xmlns:p14="http://schemas.microsoft.com/office/powerpoint/2010/main" val="737809474"/>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14"/>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15"/>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016"/>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017"/>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0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9C1846-D7F7-5325-D835-8429B04E1A76}"/>
            </a:ext>
          </a:extLst>
        </p:cNvPr>
        <p:cNvGrpSpPr/>
        <p:nvPr/>
      </p:nvGrpSpPr>
      <p:grpSpPr>
        <a:xfrm>
          <a:off x="0" y="0"/>
          <a:ext cx="0" cy="0"/>
          <a:chOff x="0" y="0"/>
          <a:chExt cx="0" cy="0"/>
        </a:xfrm>
      </p:grpSpPr>
      <p:sp>
        <p:nvSpPr>
          <p:cNvPr id="6" name="Title 3">
            <a:extLst>
              <a:ext uri="{FF2B5EF4-FFF2-40B4-BE49-F238E27FC236}">
                <a16:creationId xmlns:a16="http://schemas.microsoft.com/office/drawing/2014/main" id="{C8BA3631-40FC-D052-B09B-7BB646584073}"/>
              </a:ext>
            </a:extLst>
          </p:cNvPr>
          <p:cNvSpPr>
            <a:spLocks noGrp="1"/>
          </p:cNvSpPr>
          <p:nvPr>
            <p:ph type="title"/>
          </p:nvPr>
        </p:nvSpPr>
        <p:spPr>
          <a:xfrm>
            <a:off x="763793" y="1"/>
            <a:ext cx="11438929" cy="1263192"/>
          </a:xfrm>
        </p:spPr>
        <p:txBody>
          <a:bodyPr/>
          <a:lstStyle/>
          <a:p>
            <a:pPr algn="l"/>
            <a:r>
              <a:rPr lang="en-US" b="1" dirty="0"/>
              <a:t>Identifying Slope and </a:t>
            </a:r>
            <a:r>
              <a:rPr lang="en-US" b="1" i="1" dirty="0"/>
              <a:t>y</a:t>
            </a:r>
            <a:r>
              <a:rPr lang="en-US" b="1" dirty="0"/>
              <a:t>-Intercept </a:t>
            </a:r>
            <a:r>
              <a:rPr lang="en-US" sz="2000" b="1" dirty="0">
                <a:solidFill>
                  <a:schemeClr val="bg1"/>
                </a:solidFill>
              </a:rPr>
              <a:t>(3 of 4)</a:t>
            </a:r>
          </a:p>
        </p:txBody>
      </p:sp>
      <p:sp>
        <p:nvSpPr>
          <p:cNvPr id="9" name="Text Placeholder 2">
            <a:extLst>
              <a:ext uri="{FF2B5EF4-FFF2-40B4-BE49-F238E27FC236}">
                <a16:creationId xmlns:a16="http://schemas.microsoft.com/office/drawing/2014/main" id="{9914A196-CAE6-7FBC-48E3-F34569A5990A}"/>
              </a:ext>
            </a:extLst>
          </p:cNvPr>
          <p:cNvSpPr txBox="1">
            <a:spLocks/>
          </p:cNvSpPr>
          <p:nvPr/>
        </p:nvSpPr>
        <p:spPr>
          <a:xfrm>
            <a:off x="763792" y="1616140"/>
            <a:ext cx="9907167"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r>
              <a:rPr lang="en-US" sz="2800" b="0" i="0" u="none" strike="noStrike" baseline="0" dirty="0">
                <a:solidFill>
                  <a:srgbClr val="000000"/>
                </a:solidFill>
              </a:rPr>
              <a:t>Let’s summarize our learning from Activity 5.4!</a:t>
            </a:r>
          </a:p>
          <a:p>
            <a:pPr marL="0" indent="0" algn="l">
              <a:buNone/>
            </a:pPr>
            <a:endParaRPr lang="en-US" sz="2400" dirty="0">
              <a:solidFill>
                <a:srgbClr val="000000"/>
              </a:solidFill>
            </a:endParaRPr>
          </a:p>
          <a:p>
            <a:pPr marL="0" indent="0" algn="l">
              <a:buNone/>
            </a:pPr>
            <a:endParaRPr lang="en-US" sz="2800" b="0" i="0" u="none" strike="noStrike" baseline="0" dirty="0">
              <a:solidFill>
                <a:srgbClr val="000000"/>
              </a:solidFill>
            </a:endParaRPr>
          </a:p>
          <a:p>
            <a:pPr marL="0" indent="0" algn="l">
              <a:buNone/>
            </a:pPr>
            <a:endParaRPr lang="en-US" sz="2400" dirty="0">
              <a:solidFill>
                <a:srgbClr val="000000"/>
              </a:solidFill>
            </a:endParaRPr>
          </a:p>
          <a:p>
            <a:pPr marL="0" indent="0">
              <a:buNone/>
            </a:pPr>
            <a:endParaRPr lang="en-US" sz="2800" dirty="0">
              <a:solidFill>
                <a:srgbClr val="000000"/>
              </a:solidFill>
            </a:endParaRPr>
          </a:p>
        </p:txBody>
      </p:sp>
      <p:pic>
        <p:nvPicPr>
          <p:cNvPr id="2" name="Picture 1">
            <a:extLst>
              <a:ext uri="{FF2B5EF4-FFF2-40B4-BE49-F238E27FC236}">
                <a16:creationId xmlns:a16="http://schemas.microsoft.com/office/drawing/2014/main" id="{469F302A-DBD5-2529-AA53-9EF486B8AF90}"/>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0419114" y="372494"/>
            <a:ext cx="1501270" cy="518205"/>
          </a:xfrm>
          <a:prstGeom prst="rect">
            <a:avLst/>
          </a:prstGeom>
        </p:spPr>
      </p:pic>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54</a:t>
            </a:fld>
          </a:p>
        </p:txBody>
      </p:sp>
      <p:sp>
        <p:nvSpPr>
          <p:cNvPr id="1010" name="Answer 1010"/>
          <p:cNvSpPr txBox="1"/>
          <p:nvPr/>
        </p:nvSpPr>
        <p:spPr>
          <a:xfrm>
            <a:off x="869950" y="2540000"/>
            <a:ext cx="10477500" cy="1905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Summary: The slope can be read directly from slope-intercept or point-slope form, or calculated as −A/B from standard form Ax + By = C. The y-intercept can be found in any form by substituting x = 0.</a:t>
            </a:r>
          </a:p>
        </p:txBody>
      </p:sp>
    </p:spTree>
    <p:extLst>
      <p:ext uri="{BB962C8B-B14F-4D97-AF65-F5344CB8AC3E}">
        <p14:creationId xmlns:p14="http://schemas.microsoft.com/office/powerpoint/2010/main" val="2373391337"/>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66D97F-0A02-BEF9-2AED-2CABE40363B4}"/>
            </a:ext>
          </a:extLst>
        </p:cNvPr>
        <p:cNvGrpSpPr/>
        <p:nvPr/>
      </p:nvGrpSpPr>
      <p:grpSpPr>
        <a:xfrm>
          <a:off x="0" y="0"/>
          <a:ext cx="0" cy="0"/>
          <a:chOff x="0" y="0"/>
          <a:chExt cx="0" cy="0"/>
        </a:xfrm>
      </p:grpSpPr>
      <p:sp>
        <p:nvSpPr>
          <p:cNvPr id="9" name="Text Placeholder 2">
            <a:extLst>
              <a:ext uri="{FF2B5EF4-FFF2-40B4-BE49-F238E27FC236}">
                <a16:creationId xmlns:a16="http://schemas.microsoft.com/office/drawing/2014/main" id="{97A3057A-AEED-D4CF-F3CB-DEB779AED742}"/>
              </a:ext>
              <a:ext uri="{C183D7F6-B498-43B3-948B-1728B52AA6E4}">
                <adec:decorative xmlns:adec="http://schemas.microsoft.com/office/drawing/2017/decorative" val="1"/>
              </a:ext>
            </a:extLst>
          </p:cNvPr>
          <p:cNvSpPr txBox="1">
            <a:spLocks/>
          </p:cNvSpPr>
          <p:nvPr/>
        </p:nvSpPr>
        <p:spPr>
          <a:xfrm>
            <a:off x="777240" y="1616140"/>
            <a:ext cx="1047175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endParaRPr lang="en-US" sz="2800" dirty="0">
              <a:solidFill>
                <a:schemeClr val="bg2">
                  <a:lumMod val="25000"/>
                </a:schemeClr>
              </a:solidFill>
            </a:endParaRPr>
          </a:p>
        </p:txBody>
      </p:sp>
      <p:sp>
        <p:nvSpPr>
          <p:cNvPr id="6" name="Title 3">
            <a:extLst>
              <a:ext uri="{FF2B5EF4-FFF2-40B4-BE49-F238E27FC236}">
                <a16:creationId xmlns:a16="http://schemas.microsoft.com/office/drawing/2014/main" id="{47E8D78A-BD97-04DD-F1CD-2CE62DB0D5D7}"/>
              </a:ext>
            </a:extLst>
          </p:cNvPr>
          <p:cNvSpPr>
            <a:spLocks noGrp="1"/>
          </p:cNvSpPr>
          <p:nvPr>
            <p:ph type="title"/>
          </p:nvPr>
        </p:nvSpPr>
        <p:spPr>
          <a:xfrm>
            <a:off x="763793" y="1"/>
            <a:ext cx="11438929" cy="1263192"/>
          </a:xfrm>
        </p:spPr>
        <p:txBody>
          <a:bodyPr/>
          <a:lstStyle/>
          <a:p>
            <a:pPr algn="l"/>
            <a:r>
              <a:rPr lang="en-US" b="1" dirty="0"/>
              <a:t>Identifying Slope and </a:t>
            </a:r>
            <a:r>
              <a:rPr lang="en-US" b="1" i="1" dirty="0"/>
              <a:t>y</a:t>
            </a:r>
            <a:r>
              <a:rPr lang="en-US" b="1" dirty="0"/>
              <a:t>-Intercept </a:t>
            </a:r>
            <a:r>
              <a:rPr lang="en-US" sz="2000" b="1" dirty="0">
                <a:solidFill>
                  <a:schemeClr val="bg1"/>
                </a:solidFill>
              </a:rPr>
              <a:t>(4 of 4)</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55</a:t>
            </a:fld>
          </a:p>
        </p:txBody>
      </p:sp>
    </p:spTree>
    <p:extLst>
      <p:ext uri="{BB962C8B-B14F-4D97-AF65-F5344CB8AC3E}">
        <p14:creationId xmlns:p14="http://schemas.microsoft.com/office/powerpoint/2010/main" val="25650121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17B6D8E-F178-63BB-4647-BBEE59CD62FD}"/>
              </a:ext>
            </a:extLst>
          </p:cNvPr>
          <p:cNvSpPr>
            <a:spLocks noGrp="1"/>
          </p:cNvSpPr>
          <p:nvPr>
            <p:ph type="title" idx="4294967295"/>
          </p:nvPr>
        </p:nvSpPr>
        <p:spPr>
          <a:xfrm>
            <a:off x="838200" y="-345058"/>
            <a:ext cx="10514013" cy="345057"/>
          </a:xfrm>
          <a:prstGeom prst="rect">
            <a:avLst/>
          </a:prstGeom>
        </p:spPr>
        <p:txBody>
          <a:bodyPr anchor="b"/>
          <a:lstStyle/>
          <a:p>
            <a:r>
              <a:rPr lang="en-US" sz="2000" dirty="0">
                <a:solidFill>
                  <a:schemeClr val="bg2"/>
                </a:solidFill>
              </a:rPr>
              <a:t>Talk the Talk</a:t>
            </a:r>
          </a:p>
        </p:txBody>
      </p:sp>
      <p:sp>
        <p:nvSpPr>
          <p:cNvPr id="2" name="Text Placeholder 1" descr="20 to 25 minutes">
            <a:extLst>
              <a:ext uri="{FF2B5EF4-FFF2-40B4-BE49-F238E27FC236}">
                <a16:creationId xmlns:a16="http://schemas.microsoft.com/office/drawing/2014/main" id="{FC210BF6-188A-C9CF-0312-B6DC4E6EE108}"/>
              </a:ext>
            </a:extLst>
          </p:cNvPr>
          <p:cNvSpPr>
            <a:spLocks noGrp="1"/>
          </p:cNvSpPr>
          <p:nvPr>
            <p:ph type="body" sz="quarter" idx="12"/>
          </p:nvPr>
        </p:nvSpPr>
        <p:spPr>
          <a:xfrm>
            <a:off x="10614990" y="5780025"/>
            <a:ext cx="863947" cy="795338"/>
          </a:xfrm>
        </p:spPr>
        <p:txBody>
          <a:bodyPr/>
          <a:lstStyle/>
          <a:p>
            <a:r>
              <a:rPr lang="en-US" b="1" dirty="0"/>
              <a:t>20–25</a:t>
            </a:r>
          </a:p>
        </p:txBody>
      </p:sp>
      <p:sp>
        <p:nvSpPr>
          <p:cNvPr id="1003" name="Slide Number 100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56</a:t>
            </a:fld>
          </a:p>
        </p:txBody>
      </p:sp>
    </p:spTree>
    <p:extLst>
      <p:ext uri="{BB962C8B-B14F-4D97-AF65-F5344CB8AC3E}">
        <p14:creationId xmlns:p14="http://schemas.microsoft.com/office/powerpoint/2010/main" val="335222387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0AD9A1-EF00-2824-80BA-7958E446829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2450E22-BA7A-1EB0-C485-009C18ABD8EA}"/>
              </a:ext>
            </a:extLst>
          </p:cNvPr>
          <p:cNvSpPr>
            <a:spLocks noGrp="1"/>
          </p:cNvSpPr>
          <p:nvPr>
            <p:ph type="title"/>
          </p:nvPr>
        </p:nvSpPr>
        <p:spPr/>
        <p:txBody>
          <a:bodyPr/>
          <a:lstStyle/>
          <a:p>
            <a:pPr algn="l"/>
            <a:r>
              <a:rPr lang="en-US" b="1" dirty="0"/>
              <a:t>Choose Your Medium </a:t>
            </a:r>
            <a:r>
              <a:rPr lang="en-US" sz="2000" b="1" dirty="0">
                <a:solidFill>
                  <a:schemeClr val="bg1"/>
                </a:solidFill>
              </a:rPr>
              <a:t>(1 of 7)</a:t>
            </a:r>
          </a:p>
        </p:txBody>
      </p:sp>
      <p:sp>
        <p:nvSpPr>
          <p:cNvPr id="6" name="Speech Bubble: Rectangle with Corners Rounded 1">
            <a:extLst>
              <a:ext uri="{FF2B5EF4-FFF2-40B4-BE49-F238E27FC236}">
                <a16:creationId xmlns:a16="http://schemas.microsoft.com/office/drawing/2014/main" id="{C8669D1A-F09F-C6C5-4A98-1412D4FC84CD}"/>
              </a:ext>
            </a:extLst>
          </p:cNvPr>
          <p:cNvSpPr/>
          <p:nvPr/>
        </p:nvSpPr>
        <p:spPr>
          <a:xfrm>
            <a:off x="777240" y="1844936"/>
            <a:ext cx="2086982" cy="2190523"/>
          </a:xfrm>
          <a:prstGeom prst="wedgeRoundRectCallout">
            <a:avLst>
              <a:gd name="adj1" fmla="val -35695"/>
              <a:gd name="adj2" fmla="val -64318"/>
              <a:gd name="adj3" fmla="val 16667"/>
            </a:avLst>
          </a:prstGeom>
          <a:ln>
            <a:solidFill>
              <a:srgbClr val="008F4C"/>
            </a:solidFill>
          </a:ln>
        </p:spPr>
        <p:style>
          <a:lnRef idx="2">
            <a:schemeClr val="accent6"/>
          </a:lnRef>
          <a:fillRef idx="1">
            <a:schemeClr val="lt1"/>
          </a:fillRef>
          <a:effectRef idx="0">
            <a:schemeClr val="accent6"/>
          </a:effectRef>
          <a:fontRef idx="minor">
            <a:schemeClr val="dk1"/>
          </a:fontRef>
        </p:style>
        <p:txBody>
          <a:bodyPr rtlCol="0" anchor="ctr"/>
          <a:lstStyle/>
          <a:p>
            <a:r>
              <a:rPr lang="en-US" sz="2000" b="1" dirty="0">
                <a:solidFill>
                  <a:srgbClr val="2B8147"/>
                </a:solidFill>
              </a:rPr>
              <a:t>Ask Yourself…</a:t>
            </a:r>
          </a:p>
          <a:p>
            <a:r>
              <a:rPr lang="en-US" sz="2000" dirty="0">
                <a:solidFill>
                  <a:srgbClr val="000000"/>
                </a:solidFill>
              </a:rPr>
              <a:t>What tools or strategies can you use to solve this problem?</a:t>
            </a:r>
          </a:p>
        </p:txBody>
      </p:sp>
      <p:sp>
        <p:nvSpPr>
          <p:cNvPr id="2" name="Text Placeholder 2">
            <a:extLst>
              <a:ext uri="{FF2B5EF4-FFF2-40B4-BE49-F238E27FC236}">
                <a16:creationId xmlns:a16="http://schemas.microsoft.com/office/drawing/2014/main" id="{CF98868E-CF1A-012A-B512-A5075F4E512C}"/>
              </a:ext>
            </a:extLst>
          </p:cNvPr>
          <p:cNvSpPr txBox="1">
            <a:spLocks/>
          </p:cNvSpPr>
          <p:nvPr/>
        </p:nvSpPr>
        <p:spPr>
          <a:xfrm>
            <a:off x="3355675" y="1595886"/>
            <a:ext cx="8285892" cy="4923247"/>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buNone/>
            </a:pPr>
            <a:r>
              <a:rPr lang="en-US" sz="2800" dirty="0">
                <a:solidFill>
                  <a:srgbClr val="000000"/>
                </a:solidFill>
              </a:rPr>
              <a:t>For each context, complete each task:</a:t>
            </a:r>
          </a:p>
          <a:p>
            <a:r>
              <a:rPr lang="en-US" sz="2800" dirty="0">
                <a:solidFill>
                  <a:srgbClr val="000000"/>
                </a:solidFill>
              </a:rPr>
              <a:t>Write an equation in slope-intercept, point-slope, or standard form.</a:t>
            </a:r>
          </a:p>
          <a:p>
            <a:r>
              <a:rPr lang="en-US" sz="2800" dirty="0">
                <a:solidFill>
                  <a:srgbClr val="000000"/>
                </a:solidFill>
              </a:rPr>
              <a:t>State the form of the equation you used and your reason for using it.</a:t>
            </a:r>
          </a:p>
          <a:p>
            <a:r>
              <a:rPr lang="en-US" sz="2800" dirty="0">
                <a:solidFill>
                  <a:srgbClr val="000000"/>
                </a:solidFill>
              </a:rPr>
              <a:t>Graph the line using any method.</a:t>
            </a:r>
          </a:p>
          <a:p>
            <a:r>
              <a:rPr lang="en-US" sz="2800" dirty="0">
                <a:solidFill>
                  <a:srgbClr val="000000"/>
                </a:solidFill>
              </a:rPr>
              <a:t>Explain the graphing method you used and your reason for using it.</a:t>
            </a:r>
          </a:p>
          <a:p>
            <a:r>
              <a:rPr lang="en-US" sz="2800" dirty="0">
                <a:solidFill>
                  <a:srgbClr val="000000"/>
                </a:solidFill>
              </a:rPr>
              <a:t>Match each transformed graph to the equation in the table, written in terms of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a:t>
            </a:r>
          </a:p>
        </p:txBody>
      </p:sp>
      <p:sp>
        <p:nvSpPr>
          <p:cNvPr id="1006" name="Slide Number 1006"/>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57</a:t>
            </a:fld>
          </a:p>
        </p:txBody>
      </p:sp>
    </p:spTree>
    <p:extLst>
      <p:ext uri="{BB962C8B-B14F-4D97-AF65-F5344CB8AC3E}">
        <p14:creationId xmlns:p14="http://schemas.microsoft.com/office/powerpoint/2010/main" val="104330198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27BF8E-6FC7-2B4E-06D1-71A4E9BA3A41}"/>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1A0688D9-F5C8-2B14-F12F-D3B23D4E3B7B}"/>
              </a:ext>
            </a:extLst>
          </p:cNvPr>
          <p:cNvSpPr>
            <a:spLocks noGrp="1"/>
          </p:cNvSpPr>
          <p:nvPr>
            <p:ph type="title"/>
          </p:nvPr>
        </p:nvSpPr>
        <p:spPr/>
        <p:txBody>
          <a:bodyPr/>
          <a:lstStyle/>
          <a:p>
            <a:pPr algn="l"/>
            <a:r>
              <a:rPr lang="en-US" b="1" dirty="0"/>
              <a:t>Choose Your Medium </a:t>
            </a:r>
            <a:r>
              <a:rPr lang="en-US" sz="2000" b="1" dirty="0">
                <a:solidFill>
                  <a:schemeClr val="bg1"/>
                </a:solidFill>
              </a:rPr>
              <a:t>(2 of 7)</a:t>
            </a:r>
          </a:p>
        </p:txBody>
      </p:sp>
      <p:sp>
        <p:nvSpPr>
          <p:cNvPr id="2" name="Text Placeholder 2">
            <a:extLst>
              <a:ext uri="{FF2B5EF4-FFF2-40B4-BE49-F238E27FC236}">
                <a16:creationId xmlns:a16="http://schemas.microsoft.com/office/drawing/2014/main" id="{E6024343-C5E9-C804-670E-3B6B97021553}"/>
              </a:ext>
            </a:extLst>
          </p:cNvPr>
          <p:cNvSpPr txBox="1">
            <a:spLocks/>
          </p:cNvSpPr>
          <p:nvPr/>
        </p:nvSpPr>
        <p:spPr>
          <a:xfrm>
            <a:off x="777240" y="1604513"/>
            <a:ext cx="9885009" cy="2475781"/>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spcAft>
                <a:spcPts val="600"/>
              </a:spcAft>
              <a:buFont typeface="+mj-lt"/>
              <a:buAutoNum type="arabicPeriod"/>
            </a:pPr>
            <a:r>
              <a:rPr lang="en-US" sz="2800" dirty="0">
                <a:solidFill>
                  <a:srgbClr val="000000"/>
                </a:solidFill>
              </a:rPr>
              <a:t>On a math quiz, students earned 2 points for every correct multiple-choice question and 3 points for every correct short answer question. Joey earned a total of 36 points on the quiz.</a:t>
            </a:r>
          </a:p>
          <a:p>
            <a:pPr marL="517525" lvl="1" indent="0">
              <a:buNone/>
            </a:pPr>
            <a:r>
              <a:rPr lang="en-US" dirty="0">
                <a:solidFill>
                  <a:srgbClr val="000000"/>
                </a:solidFill>
              </a:rPr>
              <a:t>Let </a:t>
            </a:r>
            <a:r>
              <a:rPr lang="en-US" i="1" dirty="0">
                <a:solidFill>
                  <a:srgbClr val="000000"/>
                </a:solidFill>
              </a:rPr>
              <a:t>x</a:t>
            </a:r>
            <a:r>
              <a:rPr lang="en-US" dirty="0">
                <a:solidFill>
                  <a:srgbClr val="000000"/>
                </a:solidFill>
              </a:rPr>
              <a:t> = number of correct multiple-choice questions</a:t>
            </a:r>
            <a:br>
              <a:rPr lang="en-US" dirty="0">
                <a:solidFill>
                  <a:srgbClr val="000000"/>
                </a:solidFill>
              </a:rPr>
            </a:br>
            <a:r>
              <a:rPr lang="en-US" dirty="0">
                <a:solidFill>
                  <a:srgbClr val="000000"/>
                </a:solidFill>
              </a:rPr>
              <a:t>Let </a:t>
            </a:r>
            <a:r>
              <a:rPr lang="en-US" i="1" dirty="0">
                <a:solidFill>
                  <a:srgbClr val="000000"/>
                </a:solidFill>
              </a:rPr>
              <a:t>y</a:t>
            </a:r>
            <a:r>
              <a:rPr lang="en-US" dirty="0">
                <a:solidFill>
                  <a:srgbClr val="000000"/>
                </a:solidFill>
              </a:rPr>
              <a:t> = number of correct short answer questions</a:t>
            </a:r>
          </a:p>
        </p:txBody>
      </p:sp>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58</a:t>
            </a:fld>
          </a:p>
        </p:txBody>
      </p:sp>
    </p:spTree>
    <p:extLst>
      <p:ext uri="{BB962C8B-B14F-4D97-AF65-F5344CB8AC3E}">
        <p14:creationId xmlns:p14="http://schemas.microsoft.com/office/powerpoint/2010/main" val="2191847853"/>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9E5E8E-54A6-E95E-3BF5-B8B44CC402F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2D9907F8-07ED-2906-5E9E-C86566E68504}"/>
              </a:ext>
            </a:extLst>
          </p:cNvPr>
          <p:cNvSpPr>
            <a:spLocks noGrp="1"/>
          </p:cNvSpPr>
          <p:nvPr>
            <p:ph type="title"/>
          </p:nvPr>
        </p:nvSpPr>
        <p:spPr/>
        <p:txBody>
          <a:bodyPr/>
          <a:lstStyle/>
          <a:p>
            <a:pPr algn="l"/>
            <a:r>
              <a:rPr lang="en-US" b="1" dirty="0"/>
              <a:t>Choose Your Medium </a:t>
            </a:r>
            <a:r>
              <a:rPr lang="en-US" sz="2000" b="1" dirty="0">
                <a:solidFill>
                  <a:schemeClr val="bg1"/>
                </a:solidFill>
              </a:rPr>
              <a:t>(3 of 7)</a:t>
            </a:r>
          </a:p>
        </p:txBody>
      </p:sp>
      <p:sp>
        <p:nvSpPr>
          <p:cNvPr id="2" name="Text Placeholder 2">
            <a:extLst>
              <a:ext uri="{FF2B5EF4-FFF2-40B4-BE49-F238E27FC236}">
                <a16:creationId xmlns:a16="http://schemas.microsoft.com/office/drawing/2014/main" id="{111B4241-ACAB-52B1-3575-50E5FB37B31F}"/>
              </a:ext>
            </a:extLst>
          </p:cNvPr>
          <p:cNvSpPr txBox="1">
            <a:spLocks/>
          </p:cNvSpPr>
          <p:nvPr/>
        </p:nvSpPr>
        <p:spPr>
          <a:xfrm>
            <a:off x="777240" y="1671985"/>
            <a:ext cx="2665207" cy="630151"/>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buNone/>
            </a:pPr>
            <a:r>
              <a:rPr lang="en-US" sz="2800" dirty="0">
                <a:solidFill>
                  <a:srgbClr val="000000"/>
                </a:solidFill>
              </a:rPr>
              <a:t>Equation:</a:t>
            </a:r>
          </a:p>
        </p:txBody>
      </p:sp>
      <p:sp>
        <p:nvSpPr>
          <p:cNvPr id="3" name="Text Placeholder 2">
            <a:extLst>
              <a:ext uri="{FF2B5EF4-FFF2-40B4-BE49-F238E27FC236}">
                <a16:creationId xmlns:a16="http://schemas.microsoft.com/office/drawing/2014/main" id="{287CB1F8-F39A-FBA2-69AF-64C1DFC8E4B7}"/>
              </a:ext>
            </a:extLst>
          </p:cNvPr>
          <p:cNvSpPr txBox="1">
            <a:spLocks/>
          </p:cNvSpPr>
          <p:nvPr/>
        </p:nvSpPr>
        <p:spPr>
          <a:xfrm>
            <a:off x="6095206" y="1671985"/>
            <a:ext cx="2889223" cy="630151"/>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buNone/>
            </a:pPr>
            <a:r>
              <a:rPr lang="en-US" sz="2800" dirty="0">
                <a:solidFill>
                  <a:srgbClr val="000000"/>
                </a:solidFill>
              </a:rPr>
              <a:t>Reasoning:</a:t>
            </a:r>
          </a:p>
        </p:txBody>
      </p:sp>
      <p:pic>
        <p:nvPicPr>
          <p:cNvPr id="7" name="Picture 6" descr="A coordinate plane.">
            <a:extLst>
              <a:ext uri="{FF2B5EF4-FFF2-40B4-BE49-F238E27FC236}">
                <a16:creationId xmlns:a16="http://schemas.microsoft.com/office/drawing/2014/main" id="{E504C739-F9EC-7385-CE17-22805DA4ECFF}"/>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699602" y="2302136"/>
            <a:ext cx="4338061" cy="3809949"/>
          </a:xfrm>
          <a:prstGeom prst="rect">
            <a:avLst/>
          </a:prstGeom>
        </p:spPr>
      </p:pic>
      <p:sp>
        <p:nvSpPr>
          <p:cNvPr id="6" name="Text Placeholder 2">
            <a:extLst>
              <a:ext uri="{FF2B5EF4-FFF2-40B4-BE49-F238E27FC236}">
                <a16:creationId xmlns:a16="http://schemas.microsoft.com/office/drawing/2014/main" id="{8038D150-0A46-A834-DA1C-55B17EBFCE22}"/>
              </a:ext>
            </a:extLst>
          </p:cNvPr>
          <p:cNvSpPr txBox="1">
            <a:spLocks/>
          </p:cNvSpPr>
          <p:nvPr/>
        </p:nvSpPr>
        <p:spPr>
          <a:xfrm>
            <a:off x="6095205" y="3429000"/>
            <a:ext cx="2889223" cy="630151"/>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buNone/>
            </a:pPr>
            <a:r>
              <a:rPr lang="en-US" sz="2800" dirty="0">
                <a:solidFill>
                  <a:srgbClr val="000000"/>
                </a:solidFill>
              </a:rPr>
              <a:t>Reasoning:</a:t>
            </a:r>
          </a:p>
        </p:txBody>
      </p:sp>
      <p:sp>
        <p:nvSpPr>
          <p:cNvPr id="1007" name="Slide Number 1007"/>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59</a:t>
            </a:fld>
          </a:p>
        </p:txBody>
      </p:sp>
      <p:sp>
        <p:nvSpPr>
          <p:cNvPr id="1008" name="Answer 1008"/>
          <p:cNvSpPr txBox="1"/>
          <p:nvPr/>
        </p:nvSpPr>
        <p:spPr>
          <a:xfrm>
            <a:off x="2349500" y="1701800"/>
            <a:ext cx="3556000" cy="444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600" dirty="0">
                <a:solidFill>
                  <a:srgbClr val="FF0000"/>
                </a:solidFill>
              </a:rPr>
              <a:t>2x + 3y = 36</a:t>
            </a:r>
          </a:p>
        </p:txBody>
      </p:sp>
      <p:sp>
        <p:nvSpPr>
          <p:cNvPr id="1009" name="Answer 1009"/>
          <p:cNvSpPr txBox="1"/>
          <p:nvPr/>
        </p:nvSpPr>
        <p:spPr>
          <a:xfrm>
            <a:off x="6096000" y="2159000"/>
            <a:ext cx="5715000" cy="1143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Standard form: points per question times the number of questions gives the total, so the equation comes straight from the context.</a:t>
            </a:r>
          </a:p>
        </p:txBody>
      </p:sp>
      <p:sp>
        <p:nvSpPr>
          <p:cNvPr id="1010" name="Answer 1010"/>
          <p:cNvSpPr txBox="1"/>
          <p:nvPr/>
        </p:nvSpPr>
        <p:spPr>
          <a:xfrm>
            <a:off x="6096000" y="3937000"/>
            <a:ext cx="5715000" cy="1905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I plotted the intercepts (18, 0) and (0, 12) and connected them. Only whole-number scores make sense, so the solutions are the whole-number points on that segment.</a:t>
            </a:r>
          </a:p>
        </p:txBody>
      </p:sp>
    </p:spTree>
    <p:extLst>
      <p:ext uri="{BB962C8B-B14F-4D97-AF65-F5344CB8AC3E}">
        <p14:creationId xmlns:p14="http://schemas.microsoft.com/office/powerpoint/2010/main" val="2764223934"/>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0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09"/>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C8F56E-A48C-2CD2-8B4E-D342F0CD6268}"/>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149E4F4B-692A-4FCB-3B72-4FBD9953E0E2}"/>
              </a:ext>
            </a:extLst>
          </p:cNvPr>
          <p:cNvSpPr>
            <a:spLocks noGrp="1"/>
          </p:cNvSpPr>
          <p:nvPr>
            <p:ph type="title"/>
          </p:nvPr>
        </p:nvSpPr>
        <p:spPr/>
        <p:txBody>
          <a:bodyPr/>
          <a:lstStyle/>
          <a:p>
            <a:pPr algn="l"/>
            <a:r>
              <a:rPr lang="en-US" b="1" dirty="0"/>
              <a:t>Choose Your Medium </a:t>
            </a:r>
            <a:r>
              <a:rPr lang="en-US" sz="2000" b="1" dirty="0">
                <a:solidFill>
                  <a:schemeClr val="bg1"/>
                </a:solidFill>
              </a:rPr>
              <a:t>(4 of 7)</a:t>
            </a:r>
          </a:p>
        </p:txBody>
      </p:sp>
      <p:sp>
        <p:nvSpPr>
          <p:cNvPr id="2" name="Text Placeholder 2">
            <a:extLst>
              <a:ext uri="{FF2B5EF4-FFF2-40B4-BE49-F238E27FC236}">
                <a16:creationId xmlns:a16="http://schemas.microsoft.com/office/drawing/2014/main" id="{D0C72965-E243-5B24-3C6C-D441A14D13AE}"/>
              </a:ext>
            </a:extLst>
          </p:cNvPr>
          <p:cNvSpPr txBox="1">
            <a:spLocks/>
          </p:cNvSpPr>
          <p:nvPr/>
        </p:nvSpPr>
        <p:spPr>
          <a:xfrm>
            <a:off x="777240" y="1400869"/>
            <a:ext cx="11131475" cy="1504626"/>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lgn="l">
              <a:spcAft>
                <a:spcPts val="600"/>
              </a:spcAft>
              <a:buFont typeface="+mj-lt"/>
              <a:buAutoNum type="arabicPeriod" startAt="2"/>
            </a:pPr>
            <a:r>
              <a:rPr lang="en-US" sz="2800" b="0" i="0" u="none" strike="noStrike" baseline="0" dirty="0">
                <a:solidFill>
                  <a:srgbClr val="000000"/>
                </a:solidFill>
              </a:rPr>
              <a:t>Nicky has $20, and he plans to save an additional $10 every two weeks.</a:t>
            </a:r>
            <a:endParaRPr lang="en-US" sz="2800" dirty="0">
              <a:solidFill>
                <a:srgbClr val="000000"/>
              </a:solidFill>
            </a:endParaRPr>
          </a:p>
          <a:p>
            <a:pPr marL="517525" lvl="1" indent="0">
              <a:buNone/>
            </a:pPr>
            <a:r>
              <a:rPr lang="en-US" b="0" i="0" u="none" strike="noStrike" baseline="0" dirty="0">
                <a:solidFill>
                  <a:srgbClr val="000000"/>
                </a:solidFill>
              </a:rPr>
              <a:t>Let </a:t>
            </a:r>
            <a:r>
              <a:rPr lang="en-US" b="0" i="1" u="none" strike="noStrike" baseline="0" dirty="0">
                <a:solidFill>
                  <a:srgbClr val="000000"/>
                </a:solidFill>
              </a:rPr>
              <a:t>x = </a:t>
            </a:r>
            <a:r>
              <a:rPr lang="en-US" b="0" i="0" u="none" strike="noStrike" baseline="0" dirty="0">
                <a:solidFill>
                  <a:srgbClr val="000000"/>
                </a:solidFill>
              </a:rPr>
              <a:t>number of weeks</a:t>
            </a:r>
            <a:br>
              <a:rPr lang="en-US" b="0" i="0" u="none" strike="noStrike" baseline="0" dirty="0">
                <a:solidFill>
                  <a:srgbClr val="000000"/>
                </a:solidFill>
              </a:rPr>
            </a:br>
            <a:r>
              <a:rPr lang="en-US" b="0" i="0" u="none" strike="noStrike" baseline="0" dirty="0">
                <a:solidFill>
                  <a:srgbClr val="000000"/>
                </a:solidFill>
              </a:rPr>
              <a:t>Let </a:t>
            </a:r>
            <a:r>
              <a:rPr lang="en-US" b="0" i="1" u="none" strike="noStrike" baseline="0" dirty="0">
                <a:solidFill>
                  <a:srgbClr val="000000"/>
                </a:solidFill>
              </a:rPr>
              <a:t>y = </a:t>
            </a:r>
            <a:r>
              <a:rPr lang="en-US" b="0" i="0" u="none" strike="noStrike" baseline="0" dirty="0">
                <a:solidFill>
                  <a:srgbClr val="000000"/>
                </a:solidFill>
              </a:rPr>
              <a:t>Nicky’s total savings</a:t>
            </a:r>
            <a:endParaRPr lang="en-US" dirty="0">
              <a:solidFill>
                <a:srgbClr val="000000"/>
              </a:solidFill>
            </a:endParaRPr>
          </a:p>
        </p:txBody>
      </p:sp>
      <p:sp>
        <p:nvSpPr>
          <p:cNvPr id="6" name="Text Placeholder 2">
            <a:extLst>
              <a:ext uri="{FF2B5EF4-FFF2-40B4-BE49-F238E27FC236}">
                <a16:creationId xmlns:a16="http://schemas.microsoft.com/office/drawing/2014/main" id="{E83D67FC-75A6-412C-7615-BAB6DCB949EA}"/>
              </a:ext>
            </a:extLst>
          </p:cNvPr>
          <p:cNvSpPr txBox="1">
            <a:spLocks/>
          </p:cNvSpPr>
          <p:nvPr/>
        </p:nvSpPr>
        <p:spPr>
          <a:xfrm>
            <a:off x="777240" y="2931373"/>
            <a:ext cx="2618143" cy="630151"/>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7525" indent="0">
              <a:buNone/>
            </a:pPr>
            <a:r>
              <a:rPr lang="en-US" sz="2800" dirty="0">
                <a:solidFill>
                  <a:srgbClr val="000000"/>
                </a:solidFill>
              </a:rPr>
              <a:t>Equation:</a:t>
            </a:r>
          </a:p>
        </p:txBody>
      </p:sp>
      <p:sp>
        <p:nvSpPr>
          <p:cNvPr id="3" name="Text Placeholder 2">
            <a:extLst>
              <a:ext uri="{FF2B5EF4-FFF2-40B4-BE49-F238E27FC236}">
                <a16:creationId xmlns:a16="http://schemas.microsoft.com/office/drawing/2014/main" id="{DAC7D785-08A6-F381-976F-E76DA44A09D0}"/>
              </a:ext>
            </a:extLst>
          </p:cNvPr>
          <p:cNvSpPr txBox="1">
            <a:spLocks/>
          </p:cNvSpPr>
          <p:nvPr/>
        </p:nvSpPr>
        <p:spPr>
          <a:xfrm>
            <a:off x="6095206" y="2931373"/>
            <a:ext cx="2871947" cy="630151"/>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buNone/>
            </a:pPr>
            <a:r>
              <a:rPr lang="en-US" sz="2800" dirty="0">
                <a:solidFill>
                  <a:srgbClr val="000000"/>
                </a:solidFill>
              </a:rPr>
              <a:t>Reasoning:</a:t>
            </a:r>
          </a:p>
        </p:txBody>
      </p:sp>
      <p:pic>
        <p:nvPicPr>
          <p:cNvPr id="9" name="Picture 8" descr="A coordinate plane.">
            <a:extLst>
              <a:ext uri="{FF2B5EF4-FFF2-40B4-BE49-F238E27FC236}">
                <a16:creationId xmlns:a16="http://schemas.microsoft.com/office/drawing/2014/main" id="{4BBFD497-1A53-896C-EC43-B28778AAC345}"/>
              </a:ext>
            </a:extLst>
          </p:cNvPr>
          <p:cNvPicPr>
            <a:picLocks noChangeAspect="1"/>
          </p:cNvPicPr>
          <p:nvPr/>
        </p:nvPicPr>
        <p:blipFill>
          <a:blip r:embed="rId3" cstate="screen">
            <a:extLst>
              <a:ext uri="{28A0092B-C50C-407E-A947-70E740481C1C}">
                <a14:useLocalDpi xmlns:a14="http://schemas.microsoft.com/office/drawing/2010/main"/>
              </a:ext>
            </a:extLst>
          </a:blip>
          <a:srcRect/>
          <a:stretch/>
        </p:blipFill>
        <p:spPr>
          <a:xfrm>
            <a:off x="1295965" y="3549973"/>
            <a:ext cx="4046483" cy="3308026"/>
          </a:xfrm>
          <a:prstGeom prst="rect">
            <a:avLst/>
          </a:prstGeom>
        </p:spPr>
      </p:pic>
      <p:sp>
        <p:nvSpPr>
          <p:cNvPr id="7" name="Text Placeholder 2">
            <a:extLst>
              <a:ext uri="{FF2B5EF4-FFF2-40B4-BE49-F238E27FC236}">
                <a16:creationId xmlns:a16="http://schemas.microsoft.com/office/drawing/2014/main" id="{80B2533F-9F58-7D05-AB33-8EBE39362FD2}"/>
              </a:ext>
            </a:extLst>
          </p:cNvPr>
          <p:cNvSpPr txBox="1">
            <a:spLocks/>
          </p:cNvSpPr>
          <p:nvPr/>
        </p:nvSpPr>
        <p:spPr>
          <a:xfrm>
            <a:off x="6095206" y="4573835"/>
            <a:ext cx="2871947" cy="630151"/>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buNone/>
            </a:pPr>
            <a:r>
              <a:rPr lang="en-US" sz="2800" dirty="0">
                <a:solidFill>
                  <a:srgbClr val="000000"/>
                </a:solidFill>
              </a:rPr>
              <a:t>Reasoning:</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60</a:t>
            </a:fld>
          </a:p>
        </p:txBody>
      </p:sp>
      <p:sp>
        <p:nvSpPr>
          <p:cNvPr id="1010" name="Answer 1010"/>
          <p:cNvSpPr txBox="1"/>
          <p:nvPr/>
        </p:nvSpPr>
        <p:spPr>
          <a:xfrm>
            <a:off x="2794000" y="2952750"/>
            <a:ext cx="3175000" cy="444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600" dirty="0">
                <a:solidFill>
                  <a:srgbClr val="FF0000"/>
                </a:solidFill>
              </a:rPr>
              <a:t>y = 5x + 20</a:t>
            </a:r>
          </a:p>
        </p:txBody>
      </p:sp>
      <p:sp>
        <p:nvSpPr>
          <p:cNvPr id="1011" name="Answer 1011"/>
          <p:cNvSpPr txBox="1"/>
          <p:nvPr/>
        </p:nvSpPr>
        <p:spPr>
          <a:xfrm>
            <a:off x="6096000" y="3365500"/>
            <a:ext cx="5715000" cy="1143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Slope-intercept form: the starting amount ($20) and the rate ($10 every 2 weeks, or $5 per week) are given.</a:t>
            </a:r>
          </a:p>
        </p:txBody>
      </p:sp>
      <p:sp>
        <p:nvSpPr>
          <p:cNvPr id="1012" name="Answer 1012"/>
          <p:cNvSpPr txBox="1"/>
          <p:nvPr/>
        </p:nvSpPr>
        <p:spPr>
          <a:xfrm>
            <a:off x="6096000" y="5016500"/>
            <a:ext cx="5715000" cy="165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I plotted the y-intercept (0, 20) and used the slope 5/1 to plot (2, 30), (4, 40), and (10, 70).</a:t>
            </a:r>
          </a:p>
        </p:txBody>
      </p:sp>
    </p:spTree>
    <p:extLst>
      <p:ext uri="{BB962C8B-B14F-4D97-AF65-F5344CB8AC3E}">
        <p14:creationId xmlns:p14="http://schemas.microsoft.com/office/powerpoint/2010/main" val="1046013702"/>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1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4E00C1-9340-4D10-847F-63A30FC8A9BD}"/>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51DED5D7-3C11-7FA3-0F35-CCB03527ED23}"/>
              </a:ext>
            </a:extLst>
          </p:cNvPr>
          <p:cNvSpPr>
            <a:spLocks noGrp="1"/>
          </p:cNvSpPr>
          <p:nvPr>
            <p:ph type="title"/>
          </p:nvPr>
        </p:nvSpPr>
        <p:spPr/>
        <p:txBody>
          <a:bodyPr/>
          <a:lstStyle/>
          <a:p>
            <a:pPr algn="l"/>
            <a:r>
              <a:rPr lang="en-US" b="1" dirty="0"/>
              <a:t>Choose Your Medium </a:t>
            </a:r>
            <a:r>
              <a:rPr lang="en-US" sz="2000" b="1" dirty="0">
                <a:solidFill>
                  <a:schemeClr val="bg1"/>
                </a:solidFill>
              </a:rPr>
              <a:t>(5 of 7)</a:t>
            </a:r>
          </a:p>
        </p:txBody>
      </p:sp>
      <p:sp>
        <p:nvSpPr>
          <p:cNvPr id="2" name="Text Placeholder 2">
            <a:extLst>
              <a:ext uri="{FF2B5EF4-FFF2-40B4-BE49-F238E27FC236}">
                <a16:creationId xmlns:a16="http://schemas.microsoft.com/office/drawing/2014/main" id="{BF8B0E03-96C1-57BD-D42D-A0B6A406DD25}"/>
              </a:ext>
            </a:extLst>
          </p:cNvPr>
          <p:cNvSpPr txBox="1">
            <a:spLocks/>
          </p:cNvSpPr>
          <p:nvPr/>
        </p:nvSpPr>
        <p:spPr>
          <a:xfrm>
            <a:off x="925158" y="1400869"/>
            <a:ext cx="9745717" cy="5204326"/>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lgn="l">
              <a:spcAft>
                <a:spcPts val="600"/>
              </a:spcAft>
              <a:buFont typeface="+mj-lt"/>
              <a:buAutoNum type="arabicPeriod" startAt="3"/>
            </a:pPr>
            <a:r>
              <a:rPr lang="en-US" sz="2800" b="0" i="0" u="none" strike="noStrike" baseline="0" dirty="0">
                <a:solidFill>
                  <a:srgbClr val="000000"/>
                </a:solidFill>
              </a:rPr>
              <a:t>What are the advantages and disadvantages of using each form of a linear equation?</a:t>
            </a:r>
          </a:p>
          <a:p>
            <a:pPr marL="1027113" lvl="1" indent="-514350">
              <a:buFont typeface="+mj-lt"/>
              <a:buAutoNum type="alphaLcPeriod"/>
            </a:pPr>
            <a:r>
              <a:rPr lang="en-US" dirty="0">
                <a:solidFill>
                  <a:srgbClr val="000000"/>
                </a:solidFill>
              </a:rPr>
              <a:t>Slope-intercept form</a:t>
            </a:r>
          </a:p>
          <a:p>
            <a:pPr marL="914400" lvl="1" indent="-514350">
              <a:buFont typeface="+mj-lt"/>
              <a:buAutoNum type="alphaLcPeriod"/>
            </a:pPr>
            <a:endParaRPr lang="en-US" dirty="0">
              <a:solidFill>
                <a:srgbClr val="000000"/>
              </a:solidFill>
            </a:endParaRPr>
          </a:p>
          <a:p>
            <a:pPr marL="914400" lvl="1" indent="-514350">
              <a:buFont typeface="+mj-lt"/>
              <a:buAutoNum type="alphaLcPeriod"/>
            </a:pPr>
            <a:endParaRPr lang="en-US" dirty="0">
              <a:solidFill>
                <a:srgbClr val="000000"/>
              </a:solidFill>
            </a:endParaRPr>
          </a:p>
          <a:p>
            <a:pPr marL="1027113" lvl="1" indent="-514350">
              <a:buFont typeface="+mj-lt"/>
              <a:buAutoNum type="alphaLcPeriod"/>
            </a:pPr>
            <a:r>
              <a:rPr lang="en-US" dirty="0">
                <a:solidFill>
                  <a:srgbClr val="000000"/>
                </a:solidFill>
              </a:rPr>
              <a:t>Point-slope form</a:t>
            </a:r>
          </a:p>
          <a:p>
            <a:pPr marL="914400" lvl="1" indent="-514350">
              <a:buFont typeface="+mj-lt"/>
              <a:buAutoNum type="alphaLcPeriod"/>
            </a:pPr>
            <a:endParaRPr lang="en-US" dirty="0">
              <a:solidFill>
                <a:srgbClr val="000000"/>
              </a:solidFill>
            </a:endParaRPr>
          </a:p>
          <a:p>
            <a:pPr marL="914400" lvl="1" indent="-514350">
              <a:buFont typeface="+mj-lt"/>
              <a:buAutoNum type="alphaLcPeriod"/>
            </a:pPr>
            <a:endParaRPr lang="en-US" dirty="0">
              <a:solidFill>
                <a:srgbClr val="000000"/>
              </a:solidFill>
            </a:endParaRPr>
          </a:p>
          <a:p>
            <a:pPr marL="1027113" lvl="1" indent="-514350">
              <a:buFont typeface="+mj-lt"/>
              <a:buAutoNum type="alphaLcPeriod"/>
            </a:pPr>
            <a:r>
              <a:rPr lang="en-US" dirty="0">
                <a:solidFill>
                  <a:srgbClr val="000000"/>
                </a:solidFill>
              </a:rPr>
              <a:t>Standard form</a:t>
            </a:r>
          </a:p>
        </p:txBody>
      </p:sp>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61</a:t>
            </a:fld>
          </a:p>
        </p:txBody>
      </p:sp>
      <p:sp>
        <p:nvSpPr>
          <p:cNvPr id="1005" name="Answer 1005"/>
          <p:cNvSpPr txBox="1"/>
          <p:nvPr/>
        </p:nvSpPr>
        <p:spPr>
          <a:xfrm>
            <a:off x="4826000" y="2540000"/>
            <a:ext cx="7175500" cy="1460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 Shows the slope and y-intercept; easy to write from a starting value and a rate, and easy to graph.</a:t>
            </a:r>
          </a:p>
          <a:p>
            <a:pPr marL="0" indent="0" algn="l">
              <a:spcBef>
                <a:spcPts val="0"/>
              </a:spcBef>
              <a:spcAft>
                <a:spcPts val="300"/>
              </a:spcAft>
              <a:buNone/>
            </a:pPr>
            <a:r>
              <a:rPr lang="en-US" sz="1800" dirty="0">
                <a:solidFill>
                  <a:srgbClr val="FF0000"/>
                </a:solidFill>
              </a:rPr>
              <a:t>− Less helpful when the y-intercept is not known or not meaningful.</a:t>
            </a:r>
          </a:p>
        </p:txBody>
      </p:sp>
      <p:sp>
        <p:nvSpPr>
          <p:cNvPr id="1006" name="Answer 1006"/>
          <p:cNvSpPr txBox="1"/>
          <p:nvPr/>
        </p:nvSpPr>
        <p:spPr>
          <a:xfrm>
            <a:off x="4826000" y="4254500"/>
            <a:ext cx="7175500" cy="1460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 Written from any point and the slope; graph by starting at that point.</a:t>
            </a:r>
          </a:p>
          <a:p>
            <a:pPr marL="0" indent="0" algn="l">
              <a:spcBef>
                <a:spcPts val="0"/>
              </a:spcBef>
              <a:spcAft>
                <a:spcPts val="300"/>
              </a:spcAft>
              <a:buNone/>
            </a:pPr>
            <a:r>
              <a:rPr lang="en-US" sz="1800" dirty="0">
                <a:solidFill>
                  <a:srgbClr val="FF0000"/>
                </a:solidFill>
              </a:rPr>
              <a:t>− The y-intercept is not shown.</a:t>
            </a:r>
          </a:p>
        </p:txBody>
      </p:sp>
      <p:sp>
        <p:nvSpPr>
          <p:cNvPr id="1007" name="Answer 1007"/>
          <p:cNvSpPr txBox="1"/>
          <p:nvPr/>
        </p:nvSpPr>
        <p:spPr>
          <a:xfrm>
            <a:off x="4826000" y="5937250"/>
            <a:ext cx="7175500" cy="889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 Fits 'total' contexts; both intercepts are easy to find and graph.</a:t>
            </a:r>
          </a:p>
          <a:p>
            <a:pPr marL="0" indent="0" algn="l">
              <a:spcBef>
                <a:spcPts val="0"/>
              </a:spcBef>
              <a:spcAft>
                <a:spcPts val="300"/>
              </a:spcAft>
              <a:buNone/>
            </a:pPr>
            <a:r>
              <a:rPr lang="en-US" sz="1800" dirty="0">
                <a:solidFill>
                  <a:srgbClr val="FF0000"/>
                </a:solidFill>
              </a:rPr>
              <a:t>− The slope must be calculated (m = −A/B).</a:t>
            </a:r>
          </a:p>
        </p:txBody>
      </p:sp>
    </p:spTree>
    <p:extLst>
      <p:ext uri="{BB962C8B-B14F-4D97-AF65-F5344CB8AC3E}">
        <p14:creationId xmlns:p14="http://schemas.microsoft.com/office/powerpoint/2010/main" val="56195066"/>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0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0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0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01872C-523C-E659-D1F9-B674B725EF6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3B829B5-6836-78EE-82BD-288EBC559C6E}"/>
              </a:ext>
            </a:extLst>
          </p:cNvPr>
          <p:cNvSpPr>
            <a:spLocks noGrp="1"/>
          </p:cNvSpPr>
          <p:nvPr>
            <p:ph type="title"/>
          </p:nvPr>
        </p:nvSpPr>
        <p:spPr/>
        <p:txBody>
          <a:bodyPr/>
          <a:lstStyle/>
          <a:p>
            <a:pPr algn="l"/>
            <a:r>
              <a:rPr lang="en-US" b="1" dirty="0"/>
              <a:t>Choose Your Medium </a:t>
            </a:r>
            <a:r>
              <a:rPr lang="en-US" sz="2000" b="1" dirty="0">
                <a:solidFill>
                  <a:schemeClr val="bg1"/>
                </a:solidFill>
              </a:rPr>
              <a:t>(6 of 7)</a:t>
            </a:r>
          </a:p>
        </p:txBody>
      </p:sp>
      <p:sp>
        <p:nvSpPr>
          <p:cNvPr id="9" name="Text Placeholder 2">
            <a:extLst>
              <a:ext uri="{FF2B5EF4-FFF2-40B4-BE49-F238E27FC236}">
                <a16:creationId xmlns:a16="http://schemas.microsoft.com/office/drawing/2014/main" id="{65F72D48-161D-34EA-1092-F01297B5BAE2}"/>
              </a:ext>
            </a:extLst>
          </p:cNvPr>
          <p:cNvSpPr txBox="1">
            <a:spLocks/>
          </p:cNvSpPr>
          <p:nvPr/>
        </p:nvSpPr>
        <p:spPr>
          <a:xfrm>
            <a:off x="777240" y="1616140"/>
            <a:ext cx="969753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r>
              <a:rPr lang="en-US" sz="2800" b="0" i="0" u="none" strike="noStrike" baseline="0" dirty="0">
                <a:solidFill>
                  <a:srgbClr val="000000"/>
                </a:solidFill>
              </a:rPr>
              <a:t>Let’s answer the Essential Question and summarize our learning from the Talk the Talk!</a:t>
            </a:r>
          </a:p>
          <a:p>
            <a:pPr marL="0" indent="0" algn="l">
              <a:buNone/>
            </a:pPr>
            <a:endParaRPr lang="en-US" sz="2800" dirty="0">
              <a:solidFill>
                <a:srgbClr val="000000"/>
              </a:solidFill>
            </a:endParaRPr>
          </a:p>
          <a:p>
            <a:pPr marL="0" indent="0" algn="l">
              <a:buNone/>
            </a:pPr>
            <a:endParaRPr lang="en-US" sz="2800" dirty="0">
              <a:solidFill>
                <a:srgbClr val="000000"/>
              </a:solidFill>
            </a:endParaRPr>
          </a:p>
          <a:p>
            <a:pPr marL="0" indent="0">
              <a:buNone/>
            </a:pPr>
            <a:r>
              <a:rPr lang="en-US" sz="2800" b="1" dirty="0">
                <a:solidFill>
                  <a:srgbClr val="000000"/>
                </a:solidFill>
              </a:rPr>
              <a:t>Essential Question: </a:t>
            </a:r>
            <a:r>
              <a:rPr lang="en-US" sz="2800" dirty="0">
                <a:solidFill>
                  <a:srgbClr val="000000"/>
                </a:solidFill>
              </a:rPr>
              <a:t>Is there a more efficient method to graphing a linear relationship? Can you use the equation of a linear relationship to create a  graphical representation?</a:t>
            </a:r>
          </a:p>
          <a:p>
            <a:pPr marL="0" indent="0">
              <a:buNone/>
            </a:pPr>
            <a:endParaRPr lang="en-US" sz="2800" b="0" i="0" u="none" strike="noStrike" baseline="0" dirty="0">
              <a:solidFill>
                <a:srgbClr val="000000"/>
              </a:solidFill>
            </a:endParaRPr>
          </a:p>
        </p:txBody>
      </p:sp>
      <p:pic>
        <p:nvPicPr>
          <p:cNvPr id="2" name="Picture 1">
            <a:extLst>
              <a:ext uri="{FF2B5EF4-FFF2-40B4-BE49-F238E27FC236}">
                <a16:creationId xmlns:a16="http://schemas.microsoft.com/office/drawing/2014/main" id="{0F1413F2-FA04-568B-DA09-D35AB0EC72C2}"/>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0191275" y="372494"/>
            <a:ext cx="1501270" cy="518205"/>
          </a:xfrm>
          <a:prstGeom prst="rect">
            <a:avLst/>
          </a:prstGeom>
        </p:spPr>
      </p:pic>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62</a:t>
            </a:fld>
          </a:p>
        </p:txBody>
      </p:sp>
      <p:sp>
        <p:nvSpPr>
          <p:cNvPr id="1010" name="Answer 1010"/>
          <p:cNvSpPr txBox="1"/>
          <p:nvPr/>
        </p:nvSpPr>
        <p:spPr>
          <a:xfrm>
            <a:off x="869950" y="2540000"/>
            <a:ext cx="10477500" cy="1270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Summary: Different forms of equations, such as standard form, slope-intercept form, and point-slope form, can be used to represent linear relationships.</a:t>
            </a:r>
          </a:p>
        </p:txBody>
      </p:sp>
      <p:sp>
        <p:nvSpPr>
          <p:cNvPr id="1011" name="Answer 1011"/>
          <p:cNvSpPr txBox="1"/>
          <p:nvPr/>
        </p:nvSpPr>
        <p:spPr>
          <a:xfrm>
            <a:off x="869950" y="6254750"/>
            <a:ext cx="10477500" cy="571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Yes: choose the form that fits the information given, then graph from it.</a:t>
            </a:r>
          </a:p>
        </p:txBody>
      </p:sp>
    </p:spTree>
    <p:extLst>
      <p:ext uri="{BB962C8B-B14F-4D97-AF65-F5344CB8AC3E}">
        <p14:creationId xmlns:p14="http://schemas.microsoft.com/office/powerpoint/2010/main" val="583014448"/>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01872C-523C-E659-D1F9-B674B725EF6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3B829B5-6836-78EE-82BD-288EBC559C6E}"/>
              </a:ext>
            </a:extLst>
          </p:cNvPr>
          <p:cNvSpPr>
            <a:spLocks noGrp="1"/>
          </p:cNvSpPr>
          <p:nvPr>
            <p:ph type="title"/>
          </p:nvPr>
        </p:nvSpPr>
        <p:spPr/>
        <p:txBody>
          <a:bodyPr/>
          <a:lstStyle/>
          <a:p>
            <a:pPr algn="l"/>
            <a:r>
              <a:rPr lang="en-US" b="1" dirty="0"/>
              <a:t>Choose Your Medium </a:t>
            </a:r>
            <a:r>
              <a:rPr lang="en-US" sz="2000" b="1" dirty="0">
                <a:solidFill>
                  <a:schemeClr val="bg1"/>
                </a:solidFill>
              </a:rPr>
              <a:t>(7 of 7)</a:t>
            </a:r>
          </a:p>
        </p:txBody>
      </p:sp>
      <p:sp>
        <p:nvSpPr>
          <p:cNvPr id="9" name="Text Placeholder 2">
            <a:extLst>
              <a:ext uri="{FF2B5EF4-FFF2-40B4-BE49-F238E27FC236}">
                <a16:creationId xmlns:a16="http://schemas.microsoft.com/office/drawing/2014/main" id="{65F72D48-161D-34EA-1092-F01297B5BAE2}"/>
              </a:ext>
              <a:ext uri="{C183D7F6-B498-43B3-948B-1728B52AA6E4}">
                <adec:decorative xmlns:adec="http://schemas.microsoft.com/office/drawing/2017/decorative" val="1"/>
              </a:ext>
            </a:extLst>
          </p:cNvPr>
          <p:cNvSpPr txBox="1">
            <a:spLocks/>
          </p:cNvSpPr>
          <p:nvPr/>
        </p:nvSpPr>
        <p:spPr>
          <a:xfrm>
            <a:off x="777240" y="1616140"/>
            <a:ext cx="1047175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endParaRPr lang="en-US" sz="2800" b="0" i="0" u="none" strike="noStrike" baseline="0" dirty="0">
              <a:solidFill>
                <a:schemeClr val="bg2">
                  <a:lumMod val="25000"/>
                </a:schemeClr>
              </a:solidFill>
            </a:endParaRP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63</a:t>
            </a:fld>
          </a:p>
        </p:txBody>
      </p:sp>
    </p:spTree>
    <p:extLst>
      <p:ext uri="{BB962C8B-B14F-4D97-AF65-F5344CB8AC3E}">
        <p14:creationId xmlns:p14="http://schemas.microsoft.com/office/powerpoint/2010/main" val="3966400484"/>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A6526A4E-430A-7F6C-63B6-E74740858B16}"/>
              </a:ext>
            </a:extLst>
          </p:cNvPr>
          <p:cNvSpPr>
            <a:spLocks noGrp="1"/>
          </p:cNvSpPr>
          <p:nvPr>
            <p:ph type="title" idx="4294967295"/>
          </p:nvPr>
        </p:nvSpPr>
        <p:spPr>
          <a:xfrm>
            <a:off x="838200" y="-327804"/>
            <a:ext cx="10514013" cy="327804"/>
          </a:xfrm>
          <a:prstGeom prst="rect">
            <a:avLst/>
          </a:prstGeom>
        </p:spPr>
        <p:txBody>
          <a:bodyPr anchor="b"/>
          <a:lstStyle/>
          <a:p>
            <a:r>
              <a:rPr lang="en-US" sz="2000" dirty="0">
                <a:solidFill>
                  <a:schemeClr val="bg2"/>
                </a:solidFill>
              </a:rPr>
              <a:t>Prepare</a:t>
            </a:r>
          </a:p>
        </p:txBody>
      </p:sp>
      <p:sp>
        <p:nvSpPr>
          <p:cNvPr id="1006" name="Slide Number 1006"/>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64</a:t>
            </a:fld>
          </a:p>
        </p:txBody>
      </p:sp>
    </p:spTree>
    <p:extLst>
      <p:ext uri="{BB962C8B-B14F-4D97-AF65-F5344CB8AC3E}">
        <p14:creationId xmlns:p14="http://schemas.microsoft.com/office/powerpoint/2010/main" val="784562965"/>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21C6DF-139C-D914-CA27-40434903786F}"/>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89A76E7-5405-452B-A5DD-6B559DABE30F}"/>
              </a:ext>
            </a:extLst>
          </p:cNvPr>
          <p:cNvSpPr>
            <a:spLocks noGrp="1"/>
          </p:cNvSpPr>
          <p:nvPr>
            <p:ph type="title"/>
          </p:nvPr>
        </p:nvSpPr>
        <p:spPr/>
        <p:txBody>
          <a:bodyPr/>
          <a:lstStyle/>
          <a:p>
            <a:pPr algn="l"/>
            <a:r>
              <a:rPr lang="en-US" b="1" dirty="0"/>
              <a:t>Prepare for Module 2 Topic 1 Lesson 6</a:t>
            </a:r>
          </a:p>
        </p:txBody>
      </p:sp>
      <p:sp>
        <p:nvSpPr>
          <p:cNvPr id="2" name="Text Placeholder 2">
            <a:extLst>
              <a:ext uri="{FF2B5EF4-FFF2-40B4-BE49-F238E27FC236}">
                <a16:creationId xmlns:a16="http://schemas.microsoft.com/office/drawing/2014/main" id="{06890774-7848-58D0-0262-B11B4D8F7BE9}"/>
              </a:ext>
            </a:extLst>
          </p:cNvPr>
          <p:cNvSpPr txBox="1">
            <a:spLocks/>
          </p:cNvSpPr>
          <p:nvPr/>
        </p:nvSpPr>
        <p:spPr>
          <a:xfrm>
            <a:off x="777240" y="1587259"/>
            <a:ext cx="10937838" cy="510483"/>
          </a:xfrm>
          <a:prstGeom prst="rect">
            <a:avLst/>
          </a:prstGeom>
        </p:spPr>
        <p:txBody>
          <a:bodyPr lIns="91440" tIns="45720" rIns="91440" bIns="45720" anchor="t"/>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buNone/>
            </a:pPr>
            <a:r>
              <a:rPr lang="en-US" sz="2800" dirty="0">
                <a:solidFill>
                  <a:srgbClr val="000000"/>
                </a:solidFill>
              </a:rPr>
              <a:t>Determine the slope of the line between each pair of points.</a:t>
            </a:r>
          </a:p>
        </p:txBody>
      </p:sp>
      <p:sp>
        <p:nvSpPr>
          <p:cNvPr id="3" name="Text Placeholder 2">
            <a:extLst>
              <a:ext uri="{FF2B5EF4-FFF2-40B4-BE49-F238E27FC236}">
                <a16:creationId xmlns:a16="http://schemas.microsoft.com/office/drawing/2014/main" id="{EF6F8613-AFA4-2212-39F9-C47AE632D60E}"/>
              </a:ext>
            </a:extLst>
          </p:cNvPr>
          <p:cNvSpPr txBox="1">
            <a:spLocks/>
          </p:cNvSpPr>
          <p:nvPr/>
        </p:nvSpPr>
        <p:spPr>
          <a:xfrm>
            <a:off x="777240" y="2421808"/>
            <a:ext cx="3939289" cy="810928"/>
          </a:xfrm>
          <a:prstGeom prst="rect">
            <a:avLst/>
          </a:prstGeom>
        </p:spPr>
        <p:txBody>
          <a:bodyPr lIns="91440" tIns="45720" rIns="91440" bIns="45720" anchor="t"/>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buFont typeface="+mj-lt"/>
              <a:buAutoNum type="arabicPeriod"/>
            </a:pPr>
            <a:r>
              <a:rPr lang="en-US" sz="2800" dirty="0">
                <a:solidFill>
                  <a:srgbClr val="000000"/>
                </a:solidFill>
              </a:rPr>
              <a:t>(0, 10) and (3, 12)</a:t>
            </a:r>
          </a:p>
        </p:txBody>
      </p:sp>
      <p:sp>
        <p:nvSpPr>
          <p:cNvPr id="7" name="Text Placeholder 2">
            <a:extLst>
              <a:ext uri="{FF2B5EF4-FFF2-40B4-BE49-F238E27FC236}">
                <a16:creationId xmlns:a16="http://schemas.microsoft.com/office/drawing/2014/main" id="{70E4BE6A-3602-15E3-B33D-AC53F58C50C1}"/>
              </a:ext>
            </a:extLst>
          </p:cNvPr>
          <p:cNvSpPr txBox="1">
            <a:spLocks/>
          </p:cNvSpPr>
          <p:nvPr/>
        </p:nvSpPr>
        <p:spPr>
          <a:xfrm>
            <a:off x="777239" y="3844084"/>
            <a:ext cx="3939289" cy="618271"/>
          </a:xfrm>
          <a:prstGeom prst="rect">
            <a:avLst/>
          </a:prstGeom>
        </p:spPr>
        <p:txBody>
          <a:bodyPr lIns="91440" tIns="45720" rIns="91440" bIns="45720" anchor="t"/>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buFont typeface="+mj-lt"/>
              <a:buAutoNum type="arabicPeriod" startAt="2"/>
            </a:pPr>
            <a:r>
              <a:rPr lang="en-US" sz="2800" dirty="0">
                <a:solidFill>
                  <a:srgbClr val="000000"/>
                </a:solidFill>
              </a:rPr>
              <a:t>(−1, 4.5) and (1, −4.5)</a:t>
            </a:r>
          </a:p>
        </p:txBody>
      </p:sp>
      <p:sp>
        <p:nvSpPr>
          <p:cNvPr id="5" name="Text Placeholder 2">
            <a:extLst>
              <a:ext uri="{FF2B5EF4-FFF2-40B4-BE49-F238E27FC236}">
                <a16:creationId xmlns:a16="http://schemas.microsoft.com/office/drawing/2014/main" id="{C6A19225-2B7C-C09C-66BC-46C09DE8FED0}"/>
              </a:ext>
            </a:extLst>
          </p:cNvPr>
          <p:cNvSpPr txBox="1">
            <a:spLocks/>
          </p:cNvSpPr>
          <p:nvPr/>
        </p:nvSpPr>
        <p:spPr>
          <a:xfrm>
            <a:off x="777239" y="5270741"/>
            <a:ext cx="3939289" cy="810928"/>
          </a:xfrm>
          <a:prstGeom prst="rect">
            <a:avLst/>
          </a:prstGeom>
        </p:spPr>
        <p:txBody>
          <a:bodyPr lIns="91440" tIns="45720" rIns="91440" bIns="45720" anchor="t"/>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buFont typeface="+mj-lt"/>
              <a:buAutoNum type="arabicPeriod" startAt="3"/>
            </a:pPr>
            <a:r>
              <a:rPr lang="en-US" sz="2800" dirty="0">
                <a:solidFill>
                  <a:srgbClr val="000000"/>
                </a:solidFill>
              </a:rPr>
              <a:t>(21, 0) and (0, 12)</a:t>
            </a:r>
          </a:p>
          <a:p>
            <a:pPr marL="0" indent="0">
              <a:buNone/>
            </a:pPr>
            <a:endParaRPr lang="en-US" sz="2800" dirty="0">
              <a:solidFill>
                <a:srgbClr val="000000"/>
              </a:solidFill>
            </a:endParaRPr>
          </a:p>
        </p:txBody>
      </p:sp>
      <p:sp>
        <p:nvSpPr>
          <p:cNvPr id="1007" name="Slide Number 1007"/>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65</a:t>
            </a:fld>
          </a:p>
        </p:txBody>
      </p:sp>
      <p:sp>
        <p:nvSpPr>
          <p:cNvPr id="1008" name="Answer 1008"/>
          <p:cNvSpPr txBox="1"/>
          <p:nvPr/>
        </p:nvSpPr>
        <p:spPr>
          <a:xfrm>
            <a:off x="4953000" y="2508250"/>
            <a:ext cx="6350000" cy="508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600" dirty="0">
                <a:solidFill>
                  <a:srgbClr val="FF0000"/>
                </a:solidFill>
              </a:rPr>
              <a:t>m = (12 − 10)/(3 − 0) = 2/3</a:t>
            </a:r>
          </a:p>
        </p:txBody>
      </p:sp>
      <p:sp>
        <p:nvSpPr>
          <p:cNvPr id="1009" name="Answer 1009"/>
          <p:cNvSpPr txBox="1"/>
          <p:nvPr/>
        </p:nvSpPr>
        <p:spPr>
          <a:xfrm>
            <a:off x="4953000" y="3905250"/>
            <a:ext cx="6350000" cy="508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600" dirty="0">
                <a:solidFill>
                  <a:srgbClr val="FF0000"/>
                </a:solidFill>
              </a:rPr>
              <a:t>m = (−4.5 − 4.5)/(1 − (−1)) = −9/2</a:t>
            </a:r>
          </a:p>
        </p:txBody>
      </p:sp>
      <p:sp>
        <p:nvSpPr>
          <p:cNvPr id="1010" name="Answer 1010"/>
          <p:cNvSpPr txBox="1"/>
          <p:nvPr/>
        </p:nvSpPr>
        <p:spPr>
          <a:xfrm>
            <a:off x="4953000" y="5365750"/>
            <a:ext cx="6350000" cy="508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600" dirty="0">
                <a:solidFill>
                  <a:srgbClr val="FF0000"/>
                </a:solidFill>
              </a:rPr>
              <a:t>m = (12 − 0)/(0 − 21) = −4/7</a:t>
            </a:r>
          </a:p>
        </p:txBody>
      </p:sp>
    </p:spTree>
    <p:extLst>
      <p:ext uri="{BB962C8B-B14F-4D97-AF65-F5344CB8AC3E}">
        <p14:creationId xmlns:p14="http://schemas.microsoft.com/office/powerpoint/2010/main" val="34927814"/>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0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09"/>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7AF44A-A2BF-5213-0768-B06DA52229A6}"/>
              </a:ext>
            </a:extLst>
          </p:cNvPr>
          <p:cNvSpPr>
            <a:spLocks noGrp="1"/>
          </p:cNvSpPr>
          <p:nvPr>
            <p:ph type="title" idx="4294967295"/>
          </p:nvPr>
        </p:nvSpPr>
        <p:spPr>
          <a:xfrm>
            <a:off x="838200" y="-353683"/>
            <a:ext cx="10514013" cy="353683"/>
          </a:xfrm>
          <a:prstGeom prst="rect">
            <a:avLst/>
          </a:prstGeom>
        </p:spPr>
        <p:txBody>
          <a:bodyPr anchor="b"/>
          <a:lstStyle/>
          <a:p>
            <a:r>
              <a:rPr lang="en-US" sz="2000" dirty="0">
                <a:solidFill>
                  <a:schemeClr val="bg2"/>
                </a:solidFill>
              </a:rPr>
              <a:t>Acknowledgment and Notice</a:t>
            </a:r>
          </a:p>
        </p:txBody>
      </p:sp>
      <p:sp>
        <p:nvSpPr>
          <p:cNvPr id="1002" name="Slide Number 100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67</a:t>
            </a:fld>
          </a:p>
        </p:txBody>
      </p:sp>
    </p:spTree>
    <p:extLst>
      <p:ext uri="{BB962C8B-B14F-4D97-AF65-F5344CB8AC3E}">
        <p14:creationId xmlns:p14="http://schemas.microsoft.com/office/powerpoint/2010/main" val="363287788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F405E585-903C-AE75-891E-98E899BA927D}"/>
              </a:ext>
            </a:extLst>
          </p:cNvPr>
          <p:cNvSpPr>
            <a:spLocks noGrp="1"/>
          </p:cNvSpPr>
          <p:nvPr>
            <p:ph type="title" idx="4294967295"/>
          </p:nvPr>
        </p:nvSpPr>
        <p:spPr>
          <a:xfrm>
            <a:off x="8155889" y="4975063"/>
            <a:ext cx="3431356" cy="414778"/>
          </a:xfrm>
          <a:prstGeom prst="rect">
            <a:avLst/>
          </a:prstGeom>
          <a:solidFill>
            <a:srgbClr val="2B8147"/>
          </a:solidFill>
          <a:ln>
            <a:noFill/>
            <a:prstDash/>
          </a:ln>
          <a:effectLst/>
        </p:spPr>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schemeClr val="bg1"/>
                </a:solidFill>
                <a:effectLst/>
                <a:uLnTx/>
                <a:uFillTx/>
                <a:latin typeface="+mn-lt"/>
                <a:ea typeface="+mn-ea"/>
                <a:cs typeface="+mn-cs"/>
              </a:rPr>
              <a:t>BLMATH_AlgI_M2_T1_L5_DCS_ENG</a:t>
            </a:r>
            <a:endParaRPr kumimoji="0" lang="en-US" sz="1800" b="0" i="0" u="none" strike="noStrike" kern="1200" cap="none" spc="0" normalizeH="0" baseline="0" noProof="0" dirty="0">
              <a:ln>
                <a:noFill/>
              </a:ln>
              <a:solidFill>
                <a:schemeClr val="bg1"/>
              </a:solidFill>
              <a:effectLst/>
              <a:uLnTx/>
              <a:uFillTx/>
              <a:latin typeface="+mn-lt"/>
              <a:ea typeface="Calibri"/>
              <a:cs typeface="Calibri"/>
            </a:endParaRPr>
          </a:p>
        </p:txBody>
      </p:sp>
      <p:sp>
        <p:nvSpPr>
          <p:cNvPr id="1002" name="Slide Number 100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68</a:t>
            </a:fld>
          </a:p>
        </p:txBody>
      </p:sp>
    </p:spTree>
    <p:extLst>
      <p:ext uri="{BB962C8B-B14F-4D97-AF65-F5344CB8AC3E}">
        <p14:creationId xmlns:p14="http://schemas.microsoft.com/office/powerpoint/2010/main" val="1308572728"/>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nswer 2"/>
          <p:cNvSpPr txBox="1"/>
          <p:nvPr/>
        </p:nvSpPr>
        <p:spPr>
          <a:xfrm>
            <a:off x="869950" y="571500"/>
            <a:ext cx="10795000" cy="7747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3400" b="1" dirty="0">
                <a:solidFill>
                  <a:srgbClr val="2E7D4F"/>
                </a:solidFill>
              </a:rPr>
              <a:t>Teacher Edition corrections in this deck</a:t>
            </a:r>
          </a:p>
        </p:txBody>
      </p:sp>
      <p:sp>
        <p:nvSpPr>
          <p:cNvPr id="3" name="Answer 3"/>
          <p:cNvSpPr txBox="1"/>
          <p:nvPr/>
        </p:nvSpPr>
        <p:spPr>
          <a:xfrm>
            <a:off x="869950" y="1346200"/>
            <a:ext cx="10795000" cy="7747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FF0000"/>
                </a:solidFill>
              </a:rPr>
              <a:t>• Essential Question: the TE's sample answer is copied from Lesson 4. Replaced with how to graph from each form.</a:t>
            </a:r>
          </a:p>
        </p:txBody>
      </p:sp>
      <p:sp>
        <p:nvSpPr>
          <p:cNvPr id="4" name="Answer 4"/>
          <p:cNvSpPr txBox="1"/>
          <p:nvPr/>
        </p:nvSpPr>
        <p:spPr>
          <a:xfrm>
            <a:off x="869950" y="2120900"/>
            <a:ext cx="10795000" cy="7747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FF0000"/>
                </a:solidFill>
              </a:rPr>
              <a:t>• Activity 5.2 Q3 (ROV): the TE defines x in minutes; it is seconds. The equation is y + 25.8 = −0.3(x − 90).</a:t>
            </a:r>
          </a:p>
        </p:txBody>
      </p:sp>
      <p:sp>
        <p:nvSpPr>
          <p:cNvPr id="5" name="Answer 5"/>
          <p:cNvSpPr txBox="1"/>
          <p:nvPr/>
        </p:nvSpPr>
        <p:spPr>
          <a:xfrm>
            <a:off x="869950" y="2895600"/>
            <a:ext cx="10795000" cy="7747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FF0000"/>
                </a:solidFill>
              </a:rPr>
              <a:t>• Activity 5.3 Q6 table: the TE gives the y-intercept of 3x + 4y = 7 as (0, 4/3). Corrected to (0, 7/4).</a:t>
            </a:r>
          </a:p>
        </p:txBody>
      </p:sp>
      <p:sp>
        <p:nvSpPr>
          <p:cNvPr id="6" name="Answer 6"/>
          <p:cNvSpPr txBox="1"/>
          <p:nvPr/>
        </p:nvSpPr>
        <p:spPr>
          <a:xfrm>
            <a:off x="869950" y="3670300"/>
            <a:ext cx="10795000" cy="7747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FF0000"/>
                </a:solidFill>
              </a:rPr>
              <a:t>• Activity 5.3 Q6 table (slide 40): the slide shows the y-intercept of 2x − 3y = 9 as (0, 23). It is (0, −3).</a:t>
            </a:r>
          </a:p>
        </p:txBody>
      </p:sp>
      <p:sp>
        <p:nvSpPr>
          <p:cNvPr id="7" name="Answer 7"/>
          <p:cNvSpPr txBox="1"/>
          <p:nvPr/>
        </p:nvSpPr>
        <p:spPr>
          <a:xfrm>
            <a:off x="869950" y="4445000"/>
            <a:ext cx="10795000" cy="7747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FF0000"/>
                </a:solidFill>
              </a:rPr>
              <a:t>• Talk the Talk: the bullet about matching transformed graphs to f(x) belongs to another lesson.</a:t>
            </a:r>
          </a:p>
        </p:txBody>
      </p:sp>
      <p:sp>
        <p:nvSpPr>
          <p:cNvPr id="8" name="Answer 8"/>
          <p:cNvSpPr txBox="1"/>
          <p:nvPr/>
        </p:nvSpPr>
        <p:spPr>
          <a:xfrm>
            <a:off x="869950" y="5219700"/>
            <a:ext cx="10795000" cy="7747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FF0000"/>
                </a:solidFill>
              </a:rPr>
              <a:t>• Lesson 5 Assignment Q4d: the TE calls the buyer 'Eugenie'; the problem says Brianna.</a:t>
            </a:r>
          </a:p>
        </p:txBody>
      </p:sp>
      <p:sp>
        <p:nvSpPr>
          <p:cNvPr id="9" name="Answer 9"/>
          <p:cNvSpPr txBox="1"/>
          <p:nvPr/>
        </p:nvSpPr>
        <p:spPr>
          <a:xfrm>
            <a:off x="869950" y="5994400"/>
            <a:ext cx="10795000" cy="7747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16171D"/>
                </a:solidFill>
              </a:rPr>
              <a:t>• Every other TE answer was re-solved and is correct, including the Assignment and Prepare (pp. 235-237).</a:t>
            </a:r>
          </a:p>
        </p:txBody>
      </p:sp>
      <p:sp>
        <p:nvSpPr>
          <p:cNvPr id="999" name="Slide Number 99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66</a:t>
            </a:fld>
          </a:p>
        </p:txBody>
      </p:sp>
    </p:spTree>
  </p:cSld>
  <p:clrMapOvr>
    <a:masterClrMapping/>
  </p:clrMapOvr>
</p:sld>
</file>

<file path=ppt/theme/theme1.xml><?xml version="1.0" encoding="utf-8"?>
<a:theme xmlns:a="http://schemas.openxmlformats.org/drawingml/2006/main" name="A1_green">
  <a:themeElements>
    <a:clrScheme name="TEA K-5">
      <a:dk1>
        <a:srgbClr val="002060"/>
      </a:dk1>
      <a:lt1>
        <a:sysClr val="window" lastClr="FFFFFF"/>
      </a:lt1>
      <a:dk2>
        <a:srgbClr val="44546A"/>
      </a:dk2>
      <a:lt2>
        <a:srgbClr val="E7E6E6"/>
      </a:lt2>
      <a:accent1>
        <a:srgbClr val="35BDB4"/>
      </a:accent1>
      <a:accent2>
        <a:srgbClr val="F47D52"/>
      </a:accent2>
      <a:accent3>
        <a:srgbClr val="41B653"/>
      </a:accent3>
      <a:accent4>
        <a:srgbClr val="FCC616"/>
      </a:accent4>
      <a:accent5>
        <a:srgbClr val="B75BA3"/>
      </a:accent5>
      <a:accent6>
        <a:srgbClr val="F05174"/>
      </a:accent6>
      <a:hlink>
        <a:srgbClr val="0563C1"/>
      </a:hlink>
      <a:folHlink>
        <a:srgbClr val="954F72"/>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G7_navy">
  <a:themeElements>
    <a:clrScheme name="TEA K-5">
      <a:dk1>
        <a:srgbClr val="002060"/>
      </a:dk1>
      <a:lt1>
        <a:sysClr val="window" lastClr="FFFFFF"/>
      </a:lt1>
      <a:dk2>
        <a:srgbClr val="44546A"/>
      </a:dk2>
      <a:lt2>
        <a:srgbClr val="E7E6E6"/>
      </a:lt2>
      <a:accent1>
        <a:srgbClr val="35BDB4"/>
      </a:accent1>
      <a:accent2>
        <a:srgbClr val="F47D52"/>
      </a:accent2>
      <a:accent3>
        <a:srgbClr val="41B653"/>
      </a:accent3>
      <a:accent4>
        <a:srgbClr val="FCC616"/>
      </a:accent4>
      <a:accent5>
        <a:srgbClr val="B75BA3"/>
      </a:accent5>
      <a:accent6>
        <a:srgbClr val="F05174"/>
      </a:accent6>
      <a:hlink>
        <a:srgbClr val="0563C1"/>
      </a:hlink>
      <a:folHlink>
        <a:srgbClr val="954F72"/>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G8_purple">
  <a:themeElements>
    <a:clrScheme name="TEA K-5">
      <a:dk1>
        <a:srgbClr val="002060"/>
      </a:dk1>
      <a:lt1>
        <a:sysClr val="window" lastClr="FFFFFF"/>
      </a:lt1>
      <a:dk2>
        <a:srgbClr val="44546A"/>
      </a:dk2>
      <a:lt2>
        <a:srgbClr val="E7E6E6"/>
      </a:lt2>
      <a:accent1>
        <a:srgbClr val="35BDB4"/>
      </a:accent1>
      <a:accent2>
        <a:srgbClr val="F47D52"/>
      </a:accent2>
      <a:accent3>
        <a:srgbClr val="41B653"/>
      </a:accent3>
      <a:accent4>
        <a:srgbClr val="FCC616"/>
      </a:accent4>
      <a:accent5>
        <a:srgbClr val="B75BA3"/>
      </a:accent5>
      <a:accent6>
        <a:srgbClr val="F05174"/>
      </a:accent6>
      <a:hlink>
        <a:srgbClr val="0563C1"/>
      </a:hlink>
      <a:folHlink>
        <a:srgbClr val="954F72"/>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4.xml><?xml version="1.0" encoding="utf-8"?>
<a:theme xmlns:a="http://schemas.openxmlformats.org/drawingml/2006/main" name="G6_teal">
  <a:themeElements>
    <a:clrScheme name="TEA K-5">
      <a:dk1>
        <a:srgbClr val="002060"/>
      </a:dk1>
      <a:lt1>
        <a:sysClr val="window" lastClr="FFFFFF"/>
      </a:lt1>
      <a:dk2>
        <a:srgbClr val="44546A"/>
      </a:dk2>
      <a:lt2>
        <a:srgbClr val="E7E6E6"/>
      </a:lt2>
      <a:accent1>
        <a:srgbClr val="35BDB4"/>
      </a:accent1>
      <a:accent2>
        <a:srgbClr val="F47D52"/>
      </a:accent2>
      <a:accent3>
        <a:srgbClr val="41B653"/>
      </a:accent3>
      <a:accent4>
        <a:srgbClr val="FCC616"/>
      </a:accent4>
      <a:accent5>
        <a:srgbClr val="B75BA3"/>
      </a:accent5>
      <a:accent6>
        <a:srgbClr val="F05174"/>
      </a:accent6>
      <a:hlink>
        <a:srgbClr val="0563C1"/>
      </a:hlink>
      <a:folHlink>
        <a:srgbClr val="954F72"/>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TaxCatchAll xmlns="5aa991ed-cfdb-45f0-90fe-74f6c83d7f1e" xsi:nil="true"/>
    <lcf76f155ced4ddcb4097134ff3c332f xmlns="33e0dbe9-2ee3-4e40-8d2a-c14405aa398e">
      <Terms xmlns="http://schemas.microsoft.com/office/infopath/2007/PartnerControls"/>
    </lcf76f155ced4ddcb4097134ff3c332f>
    <Uploaded xmlns="33e0dbe9-2ee3-4e40-8d2a-c14405aa398e">true</Uploaded>
    <SharedWithUsers xmlns="5aa991ed-cfdb-45f0-90fe-74f6c83d7f1e">
      <UserInfo>
        <DisplayName/>
        <AccountId xsi:nil="true"/>
        <AccountType/>
      </UserInfo>
    </SharedWithUsers>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9AE0C664B4FDA64F8529B02C06F03698" ma:contentTypeVersion="15" ma:contentTypeDescription="Create a new document." ma:contentTypeScope="" ma:versionID="4bf8706da78cd0fcda70025af99f6a26">
  <xsd:schema xmlns:xsd="http://www.w3.org/2001/XMLSchema" xmlns:xs="http://www.w3.org/2001/XMLSchema" xmlns:p="http://schemas.microsoft.com/office/2006/metadata/properties" xmlns:ns2="33e0dbe9-2ee3-4e40-8d2a-c14405aa398e" xmlns:ns3="5aa991ed-cfdb-45f0-90fe-74f6c83d7f1e" targetNamespace="http://schemas.microsoft.com/office/2006/metadata/properties" ma:root="true" ma:fieldsID="aff2f77c8a19f3557e1e9d39b143470b" ns2:_="" ns3:_="">
    <xsd:import namespace="33e0dbe9-2ee3-4e40-8d2a-c14405aa398e"/>
    <xsd:import namespace="5aa991ed-cfdb-45f0-90fe-74f6c83d7f1e"/>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MediaServiceDateTaken" minOccurs="0"/>
                <xsd:element ref="ns2:MediaLengthInSeconds" minOccurs="0"/>
                <xsd:element ref="ns2:MediaServiceObjectDetectorVersion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SearchProperties" minOccurs="0"/>
                <xsd:element ref="ns2:Uploaded"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3e0dbe9-2ee3-4e40-8d2a-c14405aa398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2" nillable="true" ma:displayName="MediaServiceDateTaken" ma:internalName="MediaServiceDateTaken" ma:readOnly="true">
      <xsd:simpleType>
        <xsd:restriction base="dms:Text"/>
      </xsd:simpleType>
    </xsd:element>
    <xsd:element name="MediaLengthInSeconds" ma:index="13" nillable="true" ma:displayName="MediaLengthInSeconds" ma:hidden="true" ma:internalName="MediaLengthInSeconds" ma:readOnly="true">
      <xsd:simpleType>
        <xsd:restriction base="dms:Unknown"/>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lcf76f155ced4ddcb4097134ff3c332f" ma:index="16" nillable="true" ma:taxonomy="true" ma:internalName="lcf76f155ced4ddcb4097134ff3c332f" ma:taxonomyFieldName="MediaServiceImageTags" ma:displayName="Image Tags" ma:readOnly="false" ma:fieldId="{5cf76f15-5ced-4ddc-b409-7134ff3c332f}" ma:taxonomyMulti="true" ma:sspId="3b7a77b5-e59d-49f3-97a2-3dde868dbe2d" ma:termSetId="09814cd3-568e-fe90-9814-8d621ff8fb84" ma:anchorId="fba54fb3-c3e1-fe81-a776-ca4b69148c4d" ma:open="true" ma:isKeyword="false">
      <xsd:complexType>
        <xsd:sequence>
          <xsd:element ref="pc:Terms" minOccurs="0" maxOccurs="1"/>
        </xsd:sequence>
      </xsd:complex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ServiceSearchProperties" ma:index="21" nillable="true" ma:displayName="MediaServiceSearchProperties" ma:hidden="true" ma:internalName="MediaServiceSearchProperties" ma:readOnly="true">
      <xsd:simpleType>
        <xsd:restriction base="dms:Note"/>
      </xsd:simpleType>
    </xsd:element>
    <xsd:element name="Uploaded" ma:index="22" nillable="true" ma:displayName="Uploaded" ma:default="1" ma:description="Check for uploaded into Sharefile" ma:format="Dropdown" ma:internalName="Uploaded">
      <xsd:simpleType>
        <xsd:restriction base="dms:Boolean"/>
      </xsd:simpleType>
    </xsd:element>
  </xsd:schema>
  <xsd:schema xmlns:xsd="http://www.w3.org/2001/XMLSchema" xmlns:xs="http://www.w3.org/2001/XMLSchema" xmlns:dms="http://schemas.microsoft.com/office/2006/documentManagement/types" xmlns:pc="http://schemas.microsoft.com/office/infopath/2007/PartnerControls" targetNamespace="5aa991ed-cfdb-45f0-90fe-74f6c83d7f1e"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element name="TaxCatchAll" ma:index="17" nillable="true" ma:displayName="Taxonomy Catch All Column" ma:hidden="true" ma:list="{57405ce4-92a5-4ced-b4fb-968b1592fafc}" ma:internalName="TaxCatchAll" ma:showField="CatchAllData" ma:web="5aa991ed-cfdb-45f0-90fe-74f6c83d7f1e">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04C40A32-31E8-4858-87A9-973F15D55D2C}">
  <ds:schemaRefs>
    <ds:schemaRef ds:uri="http://schemas.microsoft.com/sharepoint/v3/contenttype/forms"/>
  </ds:schemaRefs>
</ds:datastoreItem>
</file>

<file path=customXml/itemProps2.xml><?xml version="1.0" encoding="utf-8"?>
<ds:datastoreItem xmlns:ds="http://schemas.openxmlformats.org/officeDocument/2006/customXml" ds:itemID="{788DFB36-FBAE-42FF-A732-AA8F5E6D15D5}">
  <ds:schemaRefs>
    <ds:schemaRef ds:uri="http://purl.org/dc/elements/1.1/"/>
    <ds:schemaRef ds:uri="http://schemas.microsoft.com/office/2006/metadata/properties"/>
    <ds:schemaRef ds:uri="http://purl.org/dc/terms/"/>
    <ds:schemaRef ds:uri="5aa991ed-cfdb-45f0-90fe-74f6c83d7f1e"/>
    <ds:schemaRef ds:uri="http://schemas.microsoft.com/office/infopath/2007/PartnerControls"/>
    <ds:schemaRef ds:uri="http://schemas.microsoft.com/office/2006/documentManagement/types"/>
    <ds:schemaRef ds:uri="http://schemas.openxmlformats.org/package/2006/metadata/core-properties"/>
    <ds:schemaRef ds:uri="33e0dbe9-2ee3-4e40-8d2a-c14405aa398e"/>
    <ds:schemaRef ds:uri="http://www.w3.org/XML/1998/namespace"/>
    <ds:schemaRef ds:uri="http://purl.org/dc/dcmitype/"/>
  </ds:schemaRefs>
</ds:datastoreItem>
</file>

<file path=customXml/itemProps3.xml><?xml version="1.0" encoding="utf-8"?>
<ds:datastoreItem xmlns:ds="http://schemas.openxmlformats.org/officeDocument/2006/customXml" ds:itemID="{E94E78E5-0154-4C1E-9E02-E002822E6AD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33e0dbe9-2ee3-4e40-8d2a-c14405aa398e"/>
    <ds:schemaRef ds:uri="5aa991ed-cfdb-45f0-90fe-74f6c83d7f1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
  <TotalTime>11573</TotalTime>
  <Words>7393</Words>
  <Application>Microsoft Office PowerPoint</Application>
  <PresentationFormat>Custom</PresentationFormat>
  <Paragraphs>738</Paragraphs>
  <Slides>67</Slides>
  <Notes>67</Notes>
  <HiddenSlides>0</HiddenSlides>
  <MMClips>0</MMClips>
  <ScaleCrop>false</ScaleCrop>
  <HeadingPairs>
    <vt:vector size="6" baseType="variant">
      <vt:variant>
        <vt:lpstr>Fonts Used</vt:lpstr>
      </vt:variant>
      <vt:variant>
        <vt:i4>4</vt:i4>
      </vt:variant>
      <vt:variant>
        <vt:lpstr>Theme</vt:lpstr>
      </vt:variant>
      <vt:variant>
        <vt:i4>4</vt:i4>
      </vt:variant>
      <vt:variant>
        <vt:lpstr>Slide Titles</vt:lpstr>
      </vt:variant>
      <vt:variant>
        <vt:i4>67</vt:i4>
      </vt:variant>
    </vt:vector>
  </HeadingPairs>
  <TitlesOfParts>
    <vt:vector size="75" baseType="lpstr">
      <vt:lpstr>Arial</vt:lpstr>
      <vt:lpstr>Calibri</vt:lpstr>
      <vt:lpstr>Cambria Math</vt:lpstr>
      <vt:lpstr>Wingdings</vt:lpstr>
      <vt:lpstr>A1_green</vt:lpstr>
      <vt:lpstr>G7_navy</vt:lpstr>
      <vt:lpstr>G8_purple</vt:lpstr>
      <vt:lpstr>G6_teal</vt:lpstr>
      <vt:lpstr>Using Linear Equations</vt:lpstr>
      <vt:lpstr>Objectives</vt:lpstr>
      <vt:lpstr>Key Terms (1 of 2)</vt:lpstr>
      <vt:lpstr>Essential Question (1 of 3)</vt:lpstr>
      <vt:lpstr>Day 1</vt:lpstr>
      <vt:lpstr>Getting Started</vt:lpstr>
      <vt:lpstr>Jump In the Line (1 of 3)</vt:lpstr>
      <vt:lpstr>Jump In the Line (2 of 3)</vt:lpstr>
      <vt:lpstr>Jump In the Line (3 of 3)</vt:lpstr>
      <vt:lpstr>Activity 5.1</vt:lpstr>
      <vt:lpstr>Using Slope-Intercept Form to Graph a Line (1 of 10)</vt:lpstr>
      <vt:lpstr>Using Slope-Intercept Form to Graph a Line (2 of 10)</vt:lpstr>
      <vt:lpstr>Using Slope-Intercept Form to Graph a Line (3 of 10)</vt:lpstr>
      <vt:lpstr>Using Slope-Intercept Form to Graph a Line (4 of 10)</vt:lpstr>
      <vt:lpstr>Using Slope-Intercept Form to Graph a Line (5 of 10)</vt:lpstr>
      <vt:lpstr>Using Slope-Intercept Form to Graph a Line (6 of 10)</vt:lpstr>
      <vt:lpstr>Using Slope-Intercept Form to Graph a Line (7 of 10)</vt:lpstr>
      <vt:lpstr>Using Slope-Intercept Form to Graph a Line (8 of 10)</vt:lpstr>
      <vt:lpstr>Using Slope-Intercept Form to Graph a Line (9 of 10)</vt:lpstr>
      <vt:lpstr>Using Slope-Intercept Form to Graph a Line (10 of 10)</vt:lpstr>
      <vt:lpstr>Day 2</vt:lpstr>
      <vt:lpstr>Essential Question (2 of 3)</vt:lpstr>
      <vt:lpstr>Activity 5.2</vt:lpstr>
      <vt:lpstr>Using Point-Slope Form to Graph a Line (1 of 8)</vt:lpstr>
      <vt:lpstr>Using Point-Slope Form to Graph a Line (2 of 8)</vt:lpstr>
      <vt:lpstr>Using Point-Slope Form to Graph a Line (3 of 8)</vt:lpstr>
      <vt:lpstr>Using Point-Slope Form to Graph a Line (4 of 8)</vt:lpstr>
      <vt:lpstr>Using Point-Slope Form to Graph a Line (5 of 8)</vt:lpstr>
      <vt:lpstr>Using Point-Slope Form to Graph a Line (6 of 8)</vt:lpstr>
      <vt:lpstr>Using Point-Slope Form to Graph a Line (7 of 8)</vt:lpstr>
      <vt:lpstr>Using Point-Slope Form to Graph a Line (8 of 8)</vt:lpstr>
      <vt:lpstr>Activity 5.3</vt:lpstr>
      <vt:lpstr>Standard Form of a Linear Equation (1 of 16)</vt:lpstr>
      <vt:lpstr>Standard Form of a Linear Equation (2 of 16)</vt:lpstr>
      <vt:lpstr>Standard Form of a Linear Equation (3 of 16)</vt:lpstr>
      <vt:lpstr>Standard Form of a Linear Equation (4 of 16)</vt:lpstr>
      <vt:lpstr>Standard Form of a Linear Equation (5 of 16)</vt:lpstr>
      <vt:lpstr>Standard Form of a Linear Equation (6 of 16)</vt:lpstr>
      <vt:lpstr>Standard Form of a Linear Equation (7 of 16)</vt:lpstr>
      <vt:lpstr>Standard Form of a Linear Equation (8 of 16)</vt:lpstr>
      <vt:lpstr>Standard Form of a Linear Equation (9 of 16)</vt:lpstr>
      <vt:lpstr>Standard Form of a Linear Equation (10 of 16)</vt:lpstr>
      <vt:lpstr>Standard Form of a Linear Equation (11 of 16)</vt:lpstr>
      <vt:lpstr>Standard Form of a Linear Equation (12 of 16)</vt:lpstr>
      <vt:lpstr>Standard Form of a Linear Equation (13 of 16)</vt:lpstr>
      <vt:lpstr>Standard Form of a Linear Equation (14 of 16)</vt:lpstr>
      <vt:lpstr>Standard Form of a Linear Equation (15 of 16)</vt:lpstr>
      <vt:lpstr>Standard Form of a Linear Equation (16 of 16)</vt:lpstr>
      <vt:lpstr>Day 3</vt:lpstr>
      <vt:lpstr>Essential Question (3 of 3)</vt:lpstr>
      <vt:lpstr>Activity 5.4</vt:lpstr>
      <vt:lpstr>Identifying Slope and y-Intercept (1 of 4)</vt:lpstr>
      <vt:lpstr>Identifying Slope and y-Intercept (2 of 4)</vt:lpstr>
      <vt:lpstr>Identifying Slope and y-Intercept (3 of 4)</vt:lpstr>
      <vt:lpstr>Identifying Slope and y-Intercept (4 of 4)</vt:lpstr>
      <vt:lpstr>Talk the Talk</vt:lpstr>
      <vt:lpstr>Choose Your Medium (1 of 7)</vt:lpstr>
      <vt:lpstr>Choose Your Medium (2 of 7)</vt:lpstr>
      <vt:lpstr>Choose Your Medium (3 of 7)</vt:lpstr>
      <vt:lpstr>Choose Your Medium (4 of 7)</vt:lpstr>
      <vt:lpstr>Choose Your Medium (5 of 7)</vt:lpstr>
      <vt:lpstr>Choose Your Medium (6 of 7)</vt:lpstr>
      <vt:lpstr>Choose Your Medium (7 of 7)</vt:lpstr>
      <vt:lpstr>Prepare</vt:lpstr>
      <vt:lpstr>Prepare for Module 2 Topic 1 Lesson 6</vt:lpstr>
      <vt:lpstr>Acknowledgment and Notice</vt:lpstr>
      <vt:lpstr>BLMATH_AlgI_M2_T1_L5_DCS_ENG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Singh Amandeep</dc:creator>
  <cp:lastModifiedBy>Gann, Nickole</cp:lastModifiedBy>
  <cp:revision>187</cp:revision>
  <dcterms:created xsi:type="dcterms:W3CDTF">2024-02-22T09:58:00Z</dcterms:created>
  <dcterms:modified xsi:type="dcterms:W3CDTF">2025-05-28T18:51:32Z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A7190AC9080C4877A6E26CA982D6CC88_12</vt:lpwstr>
  </property>
  <property fmtid="{D5CDD505-2E9C-101B-9397-08002B2CF9AE}" pid="3" name="KSOProductBuildVer">
    <vt:lpwstr>1033-12.2.0.16731</vt:lpwstr>
  </property>
  <property fmtid="{D5CDD505-2E9C-101B-9397-08002B2CF9AE}" pid="4" name="ContentTypeId">
    <vt:lpwstr>0x0101009AE0C664B4FDA64F8529B02C06F03698</vt:lpwstr>
  </property>
  <property fmtid="{D5CDD505-2E9C-101B-9397-08002B2CF9AE}" pid="5" name="MediaServiceImageTags">
    <vt:lpwstr/>
  </property>
  <property fmtid="{D5CDD505-2E9C-101B-9397-08002B2CF9AE}" pid="6" name="Order">
    <vt:r8>3629600</vt:r8>
  </property>
  <property fmtid="{D5CDD505-2E9C-101B-9397-08002B2CF9AE}" pid="7" name="xd_Signature">
    <vt:bool>false</vt:bool>
  </property>
  <property fmtid="{D5CDD505-2E9C-101B-9397-08002B2CF9AE}" pid="8" name="xd_ProgID">
    <vt:lpwstr/>
  </property>
  <property fmtid="{D5CDD505-2E9C-101B-9397-08002B2CF9AE}" pid="9" name="ComplianceAssetId">
    <vt:lpwstr/>
  </property>
  <property fmtid="{D5CDD505-2E9C-101B-9397-08002B2CF9AE}" pid="10" name="TemplateUrl">
    <vt:lpwstr/>
  </property>
  <property fmtid="{D5CDD505-2E9C-101B-9397-08002B2CF9AE}" pid="11" name="_ExtendedDescription">
    <vt:lpwstr/>
  </property>
  <property fmtid="{D5CDD505-2E9C-101B-9397-08002B2CF9AE}" pid="12" name="TriggerFlowInfo">
    <vt:lpwstr/>
  </property>
</Properties>
</file>