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0" r:id="rId4"/>
    <p:sldMasterId id="2147483779" r:id="rId5"/>
    <p:sldMasterId id="2147483799" r:id="rId6"/>
    <p:sldMasterId id="2147483819" r:id="rId7"/>
  </p:sldMasterIdLst>
  <p:notesMasterIdLst>
    <p:notesMasterId r:id="rId89"/>
  </p:notesMasterIdLst>
  <p:sldIdLst>
    <p:sldId id="329" r:id="rId8"/>
    <p:sldId id="300" r:id="rId9"/>
    <p:sldId id="363" r:id="rId10"/>
    <p:sldId id="408" r:id="rId11"/>
    <p:sldId id="409" r:id="rId12"/>
    <p:sldId id="410" r:id="rId13"/>
    <p:sldId id="365" r:id="rId14"/>
    <p:sldId id="366" r:id="rId15"/>
    <p:sldId id="360" r:id="rId16"/>
    <p:sldId id="334" r:id="rId17"/>
    <p:sldId id="415" r:id="rId18"/>
    <p:sldId id="416" r:id="rId19"/>
    <p:sldId id="426" r:id="rId20"/>
    <p:sldId id="427" r:id="rId21"/>
    <p:sldId id="359" r:id="rId22"/>
    <p:sldId id="317" r:id="rId23"/>
    <p:sldId id="378" r:id="rId24"/>
    <p:sldId id="335" r:id="rId25"/>
    <p:sldId id="379" r:id="rId26"/>
    <p:sldId id="380" r:id="rId27"/>
    <p:sldId id="381" r:id="rId28"/>
    <p:sldId id="382" r:id="rId29"/>
    <p:sldId id="383" r:id="rId30"/>
    <p:sldId id="369" r:id="rId31"/>
    <p:sldId id="353" r:id="rId32"/>
    <p:sldId id="344" r:id="rId33"/>
    <p:sldId id="370" r:id="rId34"/>
    <p:sldId id="361" r:id="rId35"/>
    <p:sldId id="354" r:id="rId36"/>
    <p:sldId id="391" r:id="rId37"/>
    <p:sldId id="392" r:id="rId38"/>
    <p:sldId id="393" r:id="rId39"/>
    <p:sldId id="394" r:id="rId40"/>
    <p:sldId id="395" r:id="rId41"/>
    <p:sldId id="396" r:id="rId42"/>
    <p:sldId id="417" r:id="rId43"/>
    <p:sldId id="397" r:id="rId44"/>
    <p:sldId id="372" r:id="rId45"/>
    <p:sldId id="428" r:id="rId46"/>
    <p:sldId id="376" r:id="rId47"/>
    <p:sldId id="398" r:id="rId48"/>
    <p:sldId id="399" r:id="rId49"/>
    <p:sldId id="400" r:id="rId50"/>
    <p:sldId id="401" r:id="rId51"/>
    <p:sldId id="402" r:id="rId52"/>
    <p:sldId id="419" r:id="rId53"/>
    <p:sldId id="404" r:id="rId54"/>
    <p:sldId id="421" r:id="rId55"/>
    <p:sldId id="422" r:id="rId56"/>
    <p:sldId id="448" r:id="rId57"/>
    <p:sldId id="423" r:id="rId58"/>
    <p:sldId id="424" r:id="rId59"/>
    <p:sldId id="425" r:id="rId60"/>
    <p:sldId id="412" r:id="rId61"/>
    <p:sldId id="429" r:id="rId62"/>
    <p:sldId id="413" r:id="rId63"/>
    <p:sldId id="414" r:id="rId64"/>
    <p:sldId id="411" r:id="rId65"/>
    <p:sldId id="430" r:id="rId66"/>
    <p:sldId id="432" r:id="rId67"/>
    <p:sldId id="433" r:id="rId68"/>
    <p:sldId id="434" r:id="rId69"/>
    <p:sldId id="435" r:id="rId70"/>
    <p:sldId id="436" r:id="rId71"/>
    <p:sldId id="437" r:id="rId72"/>
    <p:sldId id="362" r:id="rId73"/>
    <p:sldId id="407" r:id="rId74"/>
    <p:sldId id="438" r:id="rId75"/>
    <p:sldId id="439" r:id="rId76"/>
    <p:sldId id="449" r:id="rId77"/>
    <p:sldId id="441" r:id="rId78"/>
    <p:sldId id="442" r:id="rId79"/>
    <p:sldId id="443" r:id="rId80"/>
    <p:sldId id="373" r:id="rId81"/>
    <p:sldId id="356" r:id="rId82"/>
    <p:sldId id="447" r:id="rId83"/>
    <p:sldId id="445" r:id="rId84"/>
    <p:sldId id="374" r:id="rId85"/>
    <p:sldId id="375" r:id="rId86"/>
    <p:sldId id="357" r:id="rId87"/>
    <p:sldId id="294" r:id="rId88"/>
  </p:sldIdLst>
  <p:sldSz cx="1219041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C325DA1-0459-4F8C-ADD2-2F71BA12DE8E}">
          <p14:sldIdLst>
            <p14:sldId id="329"/>
            <p14:sldId id="300"/>
            <p14:sldId id="363"/>
            <p14:sldId id="408"/>
            <p14:sldId id="409"/>
            <p14:sldId id="410"/>
            <p14:sldId id="365"/>
            <p14:sldId id="366"/>
            <p14:sldId id="360"/>
            <p14:sldId id="334"/>
            <p14:sldId id="415"/>
            <p14:sldId id="416"/>
            <p14:sldId id="426"/>
            <p14:sldId id="427"/>
            <p14:sldId id="359"/>
            <p14:sldId id="317"/>
            <p14:sldId id="378"/>
            <p14:sldId id="335"/>
            <p14:sldId id="379"/>
            <p14:sldId id="380"/>
            <p14:sldId id="381"/>
            <p14:sldId id="382"/>
            <p14:sldId id="383"/>
            <p14:sldId id="369"/>
            <p14:sldId id="353"/>
            <p14:sldId id="344"/>
            <p14:sldId id="370"/>
            <p14:sldId id="361"/>
            <p14:sldId id="354"/>
            <p14:sldId id="391"/>
            <p14:sldId id="392"/>
            <p14:sldId id="393"/>
            <p14:sldId id="394"/>
            <p14:sldId id="395"/>
            <p14:sldId id="396"/>
            <p14:sldId id="417"/>
            <p14:sldId id="397"/>
            <p14:sldId id="372"/>
            <p14:sldId id="428"/>
            <p14:sldId id="376"/>
            <p14:sldId id="398"/>
            <p14:sldId id="399"/>
            <p14:sldId id="400"/>
            <p14:sldId id="401"/>
            <p14:sldId id="402"/>
            <p14:sldId id="419"/>
            <p14:sldId id="404"/>
            <p14:sldId id="421"/>
            <p14:sldId id="422"/>
            <p14:sldId id="448"/>
            <p14:sldId id="423"/>
            <p14:sldId id="424"/>
            <p14:sldId id="425"/>
            <p14:sldId id="412"/>
            <p14:sldId id="429"/>
            <p14:sldId id="413"/>
            <p14:sldId id="414"/>
            <p14:sldId id="411"/>
            <p14:sldId id="430"/>
            <p14:sldId id="432"/>
            <p14:sldId id="433"/>
            <p14:sldId id="434"/>
            <p14:sldId id="435"/>
            <p14:sldId id="436"/>
            <p14:sldId id="437"/>
            <p14:sldId id="362"/>
            <p14:sldId id="407"/>
            <p14:sldId id="438"/>
            <p14:sldId id="439"/>
            <p14:sldId id="449"/>
            <p14:sldId id="441"/>
            <p14:sldId id="442"/>
            <p14:sldId id="443"/>
            <p14:sldId id="373"/>
            <p14:sldId id="356"/>
            <p14:sldId id="447"/>
            <p14:sldId id="445"/>
            <p14:sldId id="374"/>
            <p14:sldId id="375"/>
            <p14:sldId id="357"/>
            <p14:sldId id="29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8DC81B-4C28-527E-885E-9B2AED89ECFE}" name="Melissa Elias" initials="ME" userId="S::Melissa.Elias@greatminds.org::e7d7a35f-474b-4e63-8079-946b19bb5503" providerId="AD"/>
  <p188:author id="{C99B7E20-C849-7B22-A7A7-103B5A04F691}" name="Seidman, Peter" initials="PS" userId="S::pseidman@pcgus.com::ff44f5d8-e3d0-428b-b9dd-4e94c9627a04" providerId="AD"/>
  <p188:author id="{86DFD92F-4DE3-A83D-6DF7-63FE6F0E1BD1}" name="Hanna, Whitney" initials="HW" userId="S::whanna@pcgus.com::3c096e95-afb8-40fa-be4f-086ecf1c96e8" providerId="AD"/>
  <p188:author id="{D9382532-E0D8-1FFA-47B6-DA50BC81D150}" name="Johnson, Todd" initials="TJ" userId="S::tjohnson@carnegielearning.com::1d57ac6d-5688-4915-9324-719f9ae41858" providerId="AD"/>
  <p188:author id="{065EFF33-37C5-A205-D5AA-889922E9D811}" name="Amanda Roose" initials="" userId="S::amanda.roose@greatminds.org::7db39d93-b694-49c7-b4bd-248f45df22ce" providerId="AD"/>
  <p188:author id="{988EB554-08BA-14AA-D6CF-C08243099DC1}" name="Gomez1, Lauren" initials="GL" userId="S::lauren.gomez1@tea.texas.gov::a90766d5-07f7-4ca5-8968-79b6619a6150" providerId="AD"/>
  <p188:author id="{002C6C79-BE9A-0D70-2E77-61ECDD33941B}" name="Hammock, Jenny" initials="JH" userId="S::jhammock@pcgus.com::15029899-d5e2-409a-961b-cfbdbd993f94" providerId="AD"/>
  <p188:author id="{C7BE2D7E-998E-A4E0-AD02-4BBA80009BAC}" name="Christina Ducoing" initials="CD" userId="S::Christina.Ducoing@greatminds.org::81b6c2ec-3d44-4fb5-ae4f-fe9b81a5cc7a" providerId="AD"/>
  <p188:author id="{94FF968A-DC53-8678-529B-6C704B5A2CA3}" name="Hanna, Whitney" initials="WH" userId="S::WHanna@pcgus.com::3c096e95-afb8-40fa-be4f-086ecf1c96e8" providerId="AD"/>
  <p188:author id="{11B319B1-D9A7-B492-301D-12240F429F30}" name="Hanna, Whitney" initials="HW" userId="S::whanna_pcgus.com#ext#@texasedu.onmicrosoft.com::7f18c26a-2264-4c3d-9f52-29dc121134d3" providerId="AD"/>
  <p188:author id="{B79159B2-0C77-EFD3-021B-B4143BBE19B1}" name="Christina Ducoing" initials="CD" userId="S::christina.ducoing@greatminds.org::81b6c2ec-3d44-4fb5-ae4f-fe9b81a5cc7a" providerId="AD"/>
  <p188:author id="{66455CB8-CF59-3D20-181D-433FF248BDED}" name="Smart, Martha" initials="SM" userId="S::martha.smart@tea.texas.gov::f37755a5-ea91-4589-9c56-edd64412883a" providerId="AD"/>
  <p188:author id="{D3473FEC-4EDE-E801-D969-22C5DB952E2C}" name="Bala, Kelly" initials="BK" userId="S::kelly.bala@tea.texas.gov::ca818e28-acbd-4039-adec-acd623c9d08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99C2A6"/>
    <a:srgbClr val="C9DCCC"/>
    <a:srgbClr val="267D42"/>
    <a:srgbClr val="D6E3D7"/>
    <a:srgbClr val="398751"/>
    <a:srgbClr val="2B8147"/>
    <a:srgbClr val="236739"/>
    <a:srgbClr val="0084AC"/>
    <a:srgbClr val="6144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3C6437-02F2-4F73-8B29-0A5A885B86D3}" v="1" dt="2025-05-28T18:51:56.8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1121" y="43"/>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slide" Target="slides/slide56.xml"/><Relationship Id="rId68" Type="http://schemas.openxmlformats.org/officeDocument/2006/relationships/slide" Target="slides/slide61.xml"/><Relationship Id="rId76" Type="http://schemas.openxmlformats.org/officeDocument/2006/relationships/slide" Target="slides/slide69.xml"/><Relationship Id="rId84" Type="http://schemas.openxmlformats.org/officeDocument/2006/relationships/slide" Target="slides/slide77.xml"/><Relationship Id="rId89" Type="http://schemas.openxmlformats.org/officeDocument/2006/relationships/notesMaster" Target="notesMasters/notesMaster1.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openxmlformats.org/officeDocument/2006/relationships/slide" Target="slides/slide67.xml"/><Relationship Id="rId79" Type="http://schemas.openxmlformats.org/officeDocument/2006/relationships/slide" Target="slides/slide72.xml"/><Relationship Id="rId87" Type="http://schemas.openxmlformats.org/officeDocument/2006/relationships/slide" Target="slides/slide80.xml"/><Relationship Id="rId5" Type="http://schemas.openxmlformats.org/officeDocument/2006/relationships/slideMaster" Target="slideMasters/slideMaster2.xml"/><Relationship Id="rId61" Type="http://schemas.openxmlformats.org/officeDocument/2006/relationships/slide" Target="slides/slide54.xml"/><Relationship Id="rId82" Type="http://schemas.openxmlformats.org/officeDocument/2006/relationships/slide" Target="slides/slide75.xml"/><Relationship Id="rId90" Type="http://schemas.openxmlformats.org/officeDocument/2006/relationships/presProps" Target="presProps.xml"/><Relationship Id="rId95" Type="http://schemas.microsoft.com/office/2015/10/relationships/revisionInfo" Target="revisionInfo.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slide" Target="slides/slide70.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slide" Target="slides/slide73.xml"/><Relationship Id="rId85" Type="http://schemas.openxmlformats.org/officeDocument/2006/relationships/slide" Target="slides/slide78.xml"/><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slide" Target="slides/slide76.xml"/><Relationship Id="rId88" Type="http://schemas.openxmlformats.org/officeDocument/2006/relationships/slide" Target="slides/slide81.xml"/><Relationship Id="rId91" Type="http://schemas.openxmlformats.org/officeDocument/2006/relationships/viewProps" Target="viewProps.xml"/><Relationship Id="rId9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slide" Target="slides/slide74.xml"/><Relationship Id="rId86" Type="http://schemas.openxmlformats.org/officeDocument/2006/relationships/slide" Target="slides/slide79.xml"/><Relationship Id="rId9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odroe, Hunter" userId="2596e579-e8cb-48d7-bceb-d5f26f88144e" providerId="ADAL" clId="{8DFE8231-FCB9-4CD4-9D6A-703B9E46DB16}"/>
    <pc:docChg chg="modSld">
      <pc:chgData name="Goodroe, Hunter" userId="2596e579-e8cb-48d7-bceb-d5f26f88144e" providerId="ADAL" clId="{8DFE8231-FCB9-4CD4-9D6A-703B9E46DB16}" dt="2025-05-09T20:29:24.948" v="0" actId="962"/>
      <pc:docMkLst>
        <pc:docMk/>
      </pc:docMkLst>
      <pc:sldChg chg="modSp mod">
        <pc:chgData name="Goodroe, Hunter" userId="2596e579-e8cb-48d7-bceb-d5f26f88144e" providerId="ADAL" clId="{8DFE8231-FCB9-4CD4-9D6A-703B9E46DB16}" dt="2025-05-09T20:29:24.948" v="0" actId="962"/>
        <pc:sldMkLst>
          <pc:docMk/>
          <pc:sldMk cId="3397684849" sldId="408"/>
        </pc:sldMkLst>
        <pc:graphicFrameChg chg="mod">
          <ac:chgData name="Goodroe, Hunter" userId="2596e579-e8cb-48d7-bceb-d5f26f88144e" providerId="ADAL" clId="{8DFE8231-FCB9-4CD4-9D6A-703B9E46DB16}" dt="2025-05-09T20:29:24.948" v="0" actId="962"/>
          <ac:graphicFrameMkLst>
            <pc:docMk/>
            <pc:sldMk cId="3397684849" sldId="408"/>
            <ac:graphicFrameMk id="6" creationId="{17B67552-F256-1A80-03C2-66E1B6C33873}"/>
          </ac:graphicFrameMkLst>
        </pc:graphicFrameChg>
      </pc:sldChg>
    </pc:docChg>
  </pc:docChgLst>
  <pc:docChgLst>
    <pc:chgData name="Holland, Karrie" userId="23868a2e-e05c-4e18-9f80-537fd2a8fbe7" providerId="ADAL" clId="{8B6A76D8-B0A0-410D-8259-052215157898}"/>
    <pc:docChg chg="undo custSel addSld delSld modSld sldOrd modSection">
      <pc:chgData name="Holland, Karrie" userId="23868a2e-e05c-4e18-9f80-537fd2a8fbe7" providerId="ADAL" clId="{8B6A76D8-B0A0-410D-8259-052215157898}" dt="2025-04-09T18:01:01.932" v="2752" actId="47"/>
      <pc:docMkLst>
        <pc:docMk/>
      </pc:docMkLst>
      <pc:sldChg chg="addSp modSp mod">
        <pc:chgData name="Holland, Karrie" userId="23868a2e-e05c-4e18-9f80-537fd2a8fbe7" providerId="ADAL" clId="{8B6A76D8-B0A0-410D-8259-052215157898}" dt="2025-04-09T14:26:57.549" v="787" actId="1036"/>
        <pc:sldMkLst>
          <pc:docMk/>
          <pc:sldMk cId="4113801324" sldId="317"/>
        </pc:sldMkLst>
        <pc:spChg chg="add mod">
          <ac:chgData name="Holland, Karrie" userId="23868a2e-e05c-4e18-9f80-537fd2a8fbe7" providerId="ADAL" clId="{8B6A76D8-B0A0-410D-8259-052215157898}" dt="2025-04-09T14:26:57.549" v="787" actId="1036"/>
          <ac:spMkLst>
            <pc:docMk/>
            <pc:sldMk cId="4113801324" sldId="317"/>
            <ac:spMk id="2" creationId="{E20BC01F-A47B-6CEB-0CE5-582D0C0E2867}"/>
          </ac:spMkLst>
        </pc:spChg>
        <pc:spChg chg="mod">
          <ac:chgData name="Holland, Karrie" userId="23868a2e-e05c-4e18-9f80-537fd2a8fbe7" providerId="ADAL" clId="{8B6A76D8-B0A0-410D-8259-052215157898}" dt="2025-04-09T14:26:45.848" v="770" actId="1076"/>
          <ac:spMkLst>
            <pc:docMk/>
            <pc:sldMk cId="4113801324" sldId="317"/>
            <ac:spMk id="9" creationId="{AEE2E1EC-37FF-202A-334C-24D7800D23D2}"/>
          </ac:spMkLst>
        </pc:spChg>
      </pc:sldChg>
      <pc:sldChg chg="del">
        <pc:chgData name="Holland, Karrie" userId="23868a2e-e05c-4e18-9f80-537fd2a8fbe7" providerId="ADAL" clId="{8B6A76D8-B0A0-410D-8259-052215157898}" dt="2025-04-09T17:00:57.155" v="2130" actId="47"/>
        <pc:sldMkLst>
          <pc:docMk/>
          <pc:sldMk cId="1043301982" sldId="328"/>
        </pc:sldMkLst>
      </pc:sldChg>
      <pc:sldChg chg="modNotesTx">
        <pc:chgData name="Holland, Karrie" userId="23868a2e-e05c-4e18-9f80-537fd2a8fbe7" providerId="ADAL" clId="{8B6A76D8-B0A0-410D-8259-052215157898}" dt="2025-04-09T13:34:13.998" v="6" actId="20577"/>
        <pc:sldMkLst>
          <pc:docMk/>
          <pc:sldMk cId="2181925416" sldId="329"/>
        </pc:sldMkLst>
      </pc:sldChg>
      <pc:sldChg chg="addSp modSp mod">
        <pc:chgData name="Holland, Karrie" userId="23868a2e-e05c-4e18-9f80-537fd2a8fbe7" providerId="ADAL" clId="{8B6A76D8-B0A0-410D-8259-052215157898}" dt="2025-04-09T13:56:20.912" v="391" actId="20577"/>
        <pc:sldMkLst>
          <pc:docMk/>
          <pc:sldMk cId="2582309794" sldId="334"/>
        </pc:sldMkLst>
        <pc:spChg chg="mod">
          <ac:chgData name="Holland, Karrie" userId="23868a2e-e05c-4e18-9f80-537fd2a8fbe7" providerId="ADAL" clId="{8B6A76D8-B0A0-410D-8259-052215157898}" dt="2025-04-09T13:51:30.711" v="222" actId="1036"/>
          <ac:spMkLst>
            <pc:docMk/>
            <pc:sldMk cId="2582309794" sldId="334"/>
            <ac:spMk id="2" creationId="{3481816B-0AB6-B7C3-67C6-B5D422E2A58E}"/>
          </ac:spMkLst>
        </pc:spChg>
        <pc:spChg chg="add mod">
          <ac:chgData name="Holland, Karrie" userId="23868a2e-e05c-4e18-9f80-537fd2a8fbe7" providerId="ADAL" clId="{8B6A76D8-B0A0-410D-8259-052215157898}" dt="2025-04-09T13:47:40.349" v="98" actId="20577"/>
          <ac:spMkLst>
            <pc:docMk/>
            <pc:sldMk cId="2582309794" sldId="334"/>
            <ac:spMk id="3" creationId="{175FDA54-9635-B222-9386-EC468AD77EA9}"/>
          </ac:spMkLst>
        </pc:spChg>
        <pc:spChg chg="mod">
          <ac:chgData name="Holland, Karrie" userId="23868a2e-e05c-4e18-9f80-537fd2a8fbe7" providerId="ADAL" clId="{8B6A76D8-B0A0-410D-8259-052215157898}" dt="2025-04-09T13:56:20.912" v="391" actId="20577"/>
          <ac:spMkLst>
            <pc:docMk/>
            <pc:sldMk cId="2582309794" sldId="334"/>
            <ac:spMk id="4" creationId="{C962E77F-B1D6-40AE-592B-5BAB37399846}"/>
          </ac:spMkLst>
        </pc:spChg>
        <pc:spChg chg="mod">
          <ac:chgData name="Holland, Karrie" userId="23868a2e-e05c-4e18-9f80-537fd2a8fbe7" providerId="ADAL" clId="{8B6A76D8-B0A0-410D-8259-052215157898}" dt="2025-04-09T13:51:22.340" v="209" actId="1035"/>
          <ac:spMkLst>
            <pc:docMk/>
            <pc:sldMk cId="2582309794" sldId="334"/>
            <ac:spMk id="5" creationId="{78D20F6B-E2F2-BE01-8C8C-7257AA2045F3}"/>
          </ac:spMkLst>
        </pc:spChg>
        <pc:spChg chg="add mod">
          <ac:chgData name="Holland, Karrie" userId="23868a2e-e05c-4e18-9f80-537fd2a8fbe7" providerId="ADAL" clId="{8B6A76D8-B0A0-410D-8259-052215157898}" dt="2025-04-09T13:48:39.347" v="157" actId="120"/>
          <ac:spMkLst>
            <pc:docMk/>
            <pc:sldMk cId="2582309794" sldId="334"/>
            <ac:spMk id="6" creationId="{92112E27-C02C-92C2-C5FC-F07AF2B73045}"/>
          </ac:spMkLst>
        </pc:spChg>
        <pc:spChg chg="mod">
          <ac:chgData name="Holland, Karrie" userId="23868a2e-e05c-4e18-9f80-537fd2a8fbe7" providerId="ADAL" clId="{8B6A76D8-B0A0-410D-8259-052215157898}" dt="2025-04-09T13:51:22.340" v="209" actId="1035"/>
          <ac:spMkLst>
            <pc:docMk/>
            <pc:sldMk cId="2582309794" sldId="334"/>
            <ac:spMk id="7" creationId="{2581B44E-F3D0-BD8D-3F97-BDAC4B15688D}"/>
          </ac:spMkLst>
        </pc:spChg>
        <pc:spChg chg="mod">
          <ac:chgData name="Holland, Karrie" userId="23868a2e-e05c-4e18-9f80-537fd2a8fbe7" providerId="ADAL" clId="{8B6A76D8-B0A0-410D-8259-052215157898}" dt="2025-04-09T13:51:22.340" v="209" actId="1035"/>
          <ac:spMkLst>
            <pc:docMk/>
            <pc:sldMk cId="2582309794" sldId="334"/>
            <ac:spMk id="8" creationId="{1412562E-F101-BCCA-F8AD-5B7F1BB6CAA1}"/>
          </ac:spMkLst>
        </pc:spChg>
        <pc:spChg chg="add mod">
          <ac:chgData name="Holland, Karrie" userId="23868a2e-e05c-4e18-9f80-537fd2a8fbe7" providerId="ADAL" clId="{8B6A76D8-B0A0-410D-8259-052215157898}" dt="2025-04-09T13:49:50.053" v="194" actId="20577"/>
          <ac:spMkLst>
            <pc:docMk/>
            <pc:sldMk cId="2582309794" sldId="334"/>
            <ac:spMk id="9" creationId="{7E152A0A-262F-B79B-9C10-66BB1D8D5480}"/>
          </ac:spMkLst>
        </pc:spChg>
      </pc:sldChg>
      <pc:sldChg chg="modSp mod">
        <pc:chgData name="Holland, Karrie" userId="23868a2e-e05c-4e18-9f80-537fd2a8fbe7" providerId="ADAL" clId="{8B6A76D8-B0A0-410D-8259-052215157898}" dt="2025-04-09T14:15:27.986" v="685" actId="255"/>
        <pc:sldMkLst>
          <pc:docMk/>
          <pc:sldMk cId="3900736815" sldId="335"/>
        </pc:sldMkLst>
        <pc:spChg chg="mod">
          <ac:chgData name="Holland, Karrie" userId="23868a2e-e05c-4e18-9f80-537fd2a8fbe7" providerId="ADAL" clId="{8B6A76D8-B0A0-410D-8259-052215157898}" dt="2025-04-09T14:15:27.986" v="685" actId="255"/>
          <ac:spMkLst>
            <pc:docMk/>
            <pc:sldMk cId="3900736815" sldId="335"/>
            <ac:spMk id="9" creationId="{5E39975E-3E22-4C65-6D1F-F0848B17DE15}"/>
          </ac:spMkLst>
        </pc:spChg>
        <pc:graphicFrameChg chg="mod">
          <ac:chgData name="Holland, Karrie" userId="23868a2e-e05c-4e18-9f80-537fd2a8fbe7" providerId="ADAL" clId="{8B6A76D8-B0A0-410D-8259-052215157898}" dt="2025-04-09T14:15:17.666" v="684" actId="1076"/>
          <ac:graphicFrameMkLst>
            <pc:docMk/>
            <pc:sldMk cId="3900736815" sldId="335"/>
            <ac:graphicFrameMk id="6" creationId="{A51B7754-F0A7-D4E7-4A41-E43113039E40}"/>
          </ac:graphicFrameMkLst>
        </pc:graphicFrameChg>
      </pc:sldChg>
      <pc:sldChg chg="modSp mod modNotesTx">
        <pc:chgData name="Holland, Karrie" userId="23868a2e-e05c-4e18-9f80-537fd2a8fbe7" providerId="ADAL" clId="{8B6A76D8-B0A0-410D-8259-052215157898}" dt="2025-04-09T14:40:33.332" v="858" actId="20577"/>
        <pc:sldMkLst>
          <pc:docMk/>
          <pc:sldMk cId="3407321271" sldId="354"/>
        </pc:sldMkLst>
        <pc:spChg chg="mod">
          <ac:chgData name="Holland, Karrie" userId="23868a2e-e05c-4e18-9f80-537fd2a8fbe7" providerId="ADAL" clId="{8B6A76D8-B0A0-410D-8259-052215157898}" dt="2025-04-09T14:27:52.108" v="791" actId="14100"/>
          <ac:spMkLst>
            <pc:docMk/>
            <pc:sldMk cId="3407321271" sldId="354"/>
            <ac:spMk id="2" creationId="{ABC6DBBB-DCF5-CD59-FAD7-2B1CA8F8EE55}"/>
          </ac:spMkLst>
        </pc:spChg>
        <pc:spChg chg="mod">
          <ac:chgData name="Holland, Karrie" userId="23868a2e-e05c-4e18-9f80-537fd2a8fbe7" providerId="ADAL" clId="{8B6A76D8-B0A0-410D-8259-052215157898}" dt="2025-04-09T14:40:33.332" v="858" actId="20577"/>
          <ac:spMkLst>
            <pc:docMk/>
            <pc:sldMk cId="3407321271" sldId="354"/>
            <ac:spMk id="4" creationId="{D383C9EA-1C4E-4C57-E6F2-D4F4B147F14B}"/>
          </ac:spMkLst>
        </pc:spChg>
      </pc:sldChg>
      <pc:sldChg chg="modSp mod">
        <pc:chgData name="Holland, Karrie" userId="23868a2e-e05c-4e18-9f80-537fd2a8fbe7" providerId="ADAL" clId="{8B6A76D8-B0A0-410D-8259-052215157898}" dt="2025-04-09T17:23:03.139" v="2506" actId="255"/>
        <pc:sldMkLst>
          <pc:docMk/>
          <pc:sldMk cId="3966400484" sldId="356"/>
        </pc:sldMkLst>
        <pc:spChg chg="mod">
          <ac:chgData name="Holland, Karrie" userId="23868a2e-e05c-4e18-9f80-537fd2a8fbe7" providerId="ADAL" clId="{8B6A76D8-B0A0-410D-8259-052215157898}" dt="2025-04-09T17:23:03.139" v="2506" actId="255"/>
          <ac:spMkLst>
            <pc:docMk/>
            <pc:sldMk cId="3966400484" sldId="356"/>
            <ac:spMk id="4" creationId="{E3B829B5-6836-78EE-82BD-288EBC559C6E}"/>
          </ac:spMkLst>
        </pc:spChg>
      </pc:sldChg>
      <pc:sldChg chg="modNotesTx">
        <pc:chgData name="Holland, Karrie" userId="23868a2e-e05c-4e18-9f80-537fd2a8fbe7" providerId="ADAL" clId="{8B6A76D8-B0A0-410D-8259-052215157898}" dt="2025-04-09T13:36:24.326" v="23" actId="20577"/>
        <pc:sldMkLst>
          <pc:docMk/>
          <pc:sldMk cId="4250459445" sldId="359"/>
        </pc:sldMkLst>
      </pc:sldChg>
      <pc:sldChg chg="modNotesTx">
        <pc:chgData name="Holland, Karrie" userId="23868a2e-e05c-4e18-9f80-537fd2a8fbe7" providerId="ADAL" clId="{8B6A76D8-B0A0-410D-8259-052215157898}" dt="2025-04-09T13:35:46.414" v="13" actId="20577"/>
        <pc:sldMkLst>
          <pc:docMk/>
          <pc:sldMk cId="3719619898" sldId="360"/>
        </pc:sldMkLst>
      </pc:sldChg>
      <pc:sldChg chg="modSp mod modNotesTx">
        <pc:chgData name="Holland, Karrie" userId="23868a2e-e05c-4e18-9f80-537fd2a8fbe7" providerId="ADAL" clId="{8B6A76D8-B0A0-410D-8259-052215157898}" dt="2025-04-09T13:37:08.197" v="39" actId="20577"/>
        <pc:sldMkLst>
          <pc:docMk/>
          <pc:sldMk cId="219159478" sldId="361"/>
        </pc:sldMkLst>
        <pc:spChg chg="mod">
          <ac:chgData name="Holland, Karrie" userId="23868a2e-e05c-4e18-9f80-537fd2a8fbe7" providerId="ADAL" clId="{8B6A76D8-B0A0-410D-8259-052215157898}" dt="2025-04-09T13:36:57.205" v="31" actId="20577"/>
          <ac:spMkLst>
            <pc:docMk/>
            <pc:sldMk cId="219159478" sldId="361"/>
            <ac:spMk id="3" creationId="{3CD62AF3-8219-7AEB-1717-BB4B2CD0985B}"/>
          </ac:spMkLst>
        </pc:spChg>
      </pc:sldChg>
      <pc:sldChg chg="modSp mod modNotesTx">
        <pc:chgData name="Holland, Karrie" userId="23868a2e-e05c-4e18-9f80-537fd2a8fbe7" providerId="ADAL" clId="{8B6A76D8-B0A0-410D-8259-052215157898}" dt="2025-04-09T14:42:25.695" v="889" actId="5793"/>
        <pc:sldMkLst>
          <pc:docMk/>
          <pc:sldMk cId="2493083227" sldId="365"/>
        </pc:sldMkLst>
        <pc:spChg chg="mod">
          <ac:chgData name="Holland, Karrie" userId="23868a2e-e05c-4e18-9f80-537fd2a8fbe7" providerId="ADAL" clId="{8B6A76D8-B0A0-410D-8259-052215157898}" dt="2025-04-09T13:35:12.571" v="8" actId="20577"/>
          <ac:spMkLst>
            <pc:docMk/>
            <pc:sldMk cId="2493083227" sldId="365"/>
            <ac:spMk id="4" creationId="{5EB9966A-6415-B35F-AC87-062F5FC26C5C}"/>
          </ac:spMkLst>
        </pc:spChg>
        <pc:spChg chg="mod">
          <ac:chgData name="Holland, Karrie" userId="23868a2e-e05c-4e18-9f80-537fd2a8fbe7" providerId="ADAL" clId="{8B6A76D8-B0A0-410D-8259-052215157898}" dt="2025-04-09T13:25:53.428" v="0" actId="5793"/>
          <ac:spMkLst>
            <pc:docMk/>
            <pc:sldMk cId="2493083227" sldId="365"/>
            <ac:spMk id="9" creationId="{325B2EA2-DB03-43C5-FC66-7B772EA97525}"/>
          </ac:spMkLst>
        </pc:spChg>
      </pc:sldChg>
      <pc:sldChg chg="modSp mod">
        <pc:chgData name="Holland, Karrie" userId="23868a2e-e05c-4e18-9f80-537fd2a8fbe7" providerId="ADAL" clId="{8B6A76D8-B0A0-410D-8259-052215157898}" dt="2025-04-09T13:36:41.178" v="25" actId="20577"/>
        <pc:sldMkLst>
          <pc:docMk/>
          <pc:sldMk cId="2814969419" sldId="370"/>
        </pc:sldMkLst>
        <pc:spChg chg="mod">
          <ac:chgData name="Holland, Karrie" userId="23868a2e-e05c-4e18-9f80-537fd2a8fbe7" providerId="ADAL" clId="{8B6A76D8-B0A0-410D-8259-052215157898}" dt="2025-04-09T13:36:41.178" v="25" actId="20577"/>
          <ac:spMkLst>
            <pc:docMk/>
            <pc:sldMk cId="2814969419" sldId="370"/>
            <ac:spMk id="4" creationId="{E9B73218-8467-BB46-14F9-C712C34E5D9D}"/>
          </ac:spMkLst>
        </pc:spChg>
      </pc:sldChg>
      <pc:sldChg chg="modSp mod modNotesTx">
        <pc:chgData name="Holland, Karrie" userId="23868a2e-e05c-4e18-9f80-537fd2a8fbe7" providerId="ADAL" clId="{8B6A76D8-B0A0-410D-8259-052215157898}" dt="2025-04-09T14:42:00.438" v="883" actId="20577"/>
        <pc:sldMkLst>
          <pc:docMk/>
          <pc:sldMk cId="1393578167" sldId="372"/>
        </pc:sldMkLst>
        <pc:spChg chg="mod">
          <ac:chgData name="Holland, Karrie" userId="23868a2e-e05c-4e18-9f80-537fd2a8fbe7" providerId="ADAL" clId="{8B6A76D8-B0A0-410D-8259-052215157898}" dt="2025-04-09T14:42:00.438" v="883" actId="20577"/>
          <ac:spMkLst>
            <pc:docMk/>
            <pc:sldMk cId="1393578167" sldId="372"/>
            <ac:spMk id="4" creationId="{3BDDC5E7-E36A-864A-3449-49FB98A15BE6}"/>
          </ac:spMkLst>
        </pc:spChg>
      </pc:sldChg>
      <pc:sldChg chg="modSp mod modNotesTx">
        <pc:chgData name="Holland, Karrie" userId="23868a2e-e05c-4e18-9f80-537fd2a8fbe7" providerId="ADAL" clId="{8B6A76D8-B0A0-410D-8259-052215157898}" dt="2025-04-09T17:29:10.218" v="2594" actId="20577"/>
        <pc:sldMkLst>
          <pc:docMk/>
          <pc:sldMk cId="583014448" sldId="373"/>
        </pc:sldMkLst>
        <pc:spChg chg="mod">
          <ac:chgData name="Holland, Karrie" userId="23868a2e-e05c-4e18-9f80-537fd2a8fbe7" providerId="ADAL" clId="{8B6A76D8-B0A0-410D-8259-052215157898}" dt="2025-04-09T17:22:50.369" v="2496" actId="255"/>
          <ac:spMkLst>
            <pc:docMk/>
            <pc:sldMk cId="583014448" sldId="373"/>
            <ac:spMk id="4" creationId="{E3B829B5-6836-78EE-82BD-288EBC559C6E}"/>
          </ac:spMkLst>
        </pc:spChg>
      </pc:sldChg>
      <pc:sldChg chg="delSp modSp mod">
        <pc:chgData name="Holland, Karrie" userId="23868a2e-e05c-4e18-9f80-537fd2a8fbe7" providerId="ADAL" clId="{8B6A76D8-B0A0-410D-8259-052215157898}" dt="2025-04-09T17:51:48.191" v="2718" actId="20577"/>
        <pc:sldMkLst>
          <pc:docMk/>
          <pc:sldMk cId="34927814" sldId="375"/>
        </pc:sldMkLst>
        <pc:spChg chg="mod">
          <ac:chgData name="Holland, Karrie" userId="23868a2e-e05c-4e18-9f80-537fd2a8fbe7" providerId="ADAL" clId="{8B6A76D8-B0A0-410D-8259-052215157898}" dt="2025-04-09T17:51:48.191" v="2718" actId="20577"/>
          <ac:spMkLst>
            <pc:docMk/>
            <pc:sldMk cId="34927814" sldId="375"/>
            <ac:spMk id="2" creationId="{06890774-7848-58D0-0262-B11B4D8F7BE9}"/>
          </ac:spMkLst>
        </pc:spChg>
      </pc:sldChg>
      <pc:sldChg chg="modSp mod">
        <pc:chgData name="Holland, Karrie" userId="23868a2e-e05c-4e18-9f80-537fd2a8fbe7" providerId="ADAL" clId="{8B6A76D8-B0A0-410D-8259-052215157898}" dt="2025-04-09T14:14:53.402" v="679" actId="1076"/>
        <pc:sldMkLst>
          <pc:docMk/>
          <pc:sldMk cId="1406127443" sldId="378"/>
        </pc:sldMkLst>
        <pc:spChg chg="mod">
          <ac:chgData name="Holland, Karrie" userId="23868a2e-e05c-4e18-9f80-537fd2a8fbe7" providerId="ADAL" clId="{8B6A76D8-B0A0-410D-8259-052215157898}" dt="2025-04-09T14:05:56.096" v="624" actId="1036"/>
          <ac:spMkLst>
            <pc:docMk/>
            <pc:sldMk cId="1406127443" sldId="378"/>
            <ac:spMk id="8" creationId="{E6B35184-91C6-B5B2-AFD6-691052A75F88}"/>
          </ac:spMkLst>
        </pc:spChg>
        <pc:spChg chg="mod">
          <ac:chgData name="Holland, Karrie" userId="23868a2e-e05c-4e18-9f80-537fd2a8fbe7" providerId="ADAL" clId="{8B6A76D8-B0A0-410D-8259-052215157898}" dt="2025-04-09T14:14:53.402" v="679" actId="1076"/>
          <ac:spMkLst>
            <pc:docMk/>
            <pc:sldMk cId="1406127443" sldId="378"/>
            <ac:spMk id="9" creationId="{D8583C6E-1970-5BA2-1908-F266186142B4}"/>
          </ac:spMkLst>
        </pc:spChg>
      </pc:sldChg>
      <pc:sldChg chg="modSp mod">
        <pc:chgData name="Holland, Karrie" userId="23868a2e-e05c-4e18-9f80-537fd2a8fbe7" providerId="ADAL" clId="{8B6A76D8-B0A0-410D-8259-052215157898}" dt="2025-04-09T14:07:54.809" v="653" actId="1036"/>
        <pc:sldMkLst>
          <pc:docMk/>
          <pc:sldMk cId="220961929" sldId="379"/>
        </pc:sldMkLst>
        <pc:spChg chg="mod">
          <ac:chgData name="Holland, Karrie" userId="23868a2e-e05c-4e18-9f80-537fd2a8fbe7" providerId="ADAL" clId="{8B6A76D8-B0A0-410D-8259-052215157898}" dt="2025-04-09T14:07:54.809" v="653" actId="1036"/>
          <ac:spMkLst>
            <pc:docMk/>
            <pc:sldMk cId="220961929" sldId="379"/>
            <ac:spMk id="9" creationId="{A0858383-C46F-D5B0-38E5-AB1ACC51AEB3}"/>
          </ac:spMkLst>
        </pc:spChg>
      </pc:sldChg>
      <pc:sldChg chg="modSp mod">
        <pc:chgData name="Holland, Karrie" userId="23868a2e-e05c-4e18-9f80-537fd2a8fbe7" providerId="ADAL" clId="{8B6A76D8-B0A0-410D-8259-052215157898}" dt="2025-04-09T14:09:43.701" v="662" actId="1076"/>
        <pc:sldMkLst>
          <pc:docMk/>
          <pc:sldMk cId="29948710" sldId="380"/>
        </pc:sldMkLst>
        <pc:spChg chg="mod">
          <ac:chgData name="Holland, Karrie" userId="23868a2e-e05c-4e18-9f80-537fd2a8fbe7" providerId="ADAL" clId="{8B6A76D8-B0A0-410D-8259-052215157898}" dt="2025-04-09T14:08:57.755" v="658" actId="14100"/>
          <ac:spMkLst>
            <pc:docMk/>
            <pc:sldMk cId="29948710" sldId="380"/>
            <ac:spMk id="9" creationId="{6F6D7115-DA8F-5094-784C-AD5332CE06B4}"/>
          </ac:spMkLst>
        </pc:spChg>
        <pc:graphicFrameChg chg="mod">
          <ac:chgData name="Holland, Karrie" userId="23868a2e-e05c-4e18-9f80-537fd2a8fbe7" providerId="ADAL" clId="{8B6A76D8-B0A0-410D-8259-052215157898}" dt="2025-04-09T14:09:43.701" v="662" actId="1076"/>
          <ac:graphicFrameMkLst>
            <pc:docMk/>
            <pc:sldMk cId="29948710" sldId="380"/>
            <ac:graphicFrameMk id="2" creationId="{883DAABD-7CC0-F357-A704-D1ED0508509E}"/>
          </ac:graphicFrameMkLst>
        </pc:graphicFrameChg>
      </pc:sldChg>
      <pc:sldChg chg="modSp mod">
        <pc:chgData name="Holland, Karrie" userId="23868a2e-e05c-4e18-9f80-537fd2a8fbe7" providerId="ADAL" clId="{8B6A76D8-B0A0-410D-8259-052215157898}" dt="2025-04-09T14:16:50.570" v="690" actId="1076"/>
        <pc:sldMkLst>
          <pc:docMk/>
          <pc:sldMk cId="310673737" sldId="381"/>
        </pc:sldMkLst>
        <pc:spChg chg="mod">
          <ac:chgData name="Holland, Karrie" userId="23868a2e-e05c-4e18-9f80-537fd2a8fbe7" providerId="ADAL" clId="{8B6A76D8-B0A0-410D-8259-052215157898}" dt="2025-04-09T14:16:50.570" v="690" actId="1076"/>
          <ac:spMkLst>
            <pc:docMk/>
            <pc:sldMk cId="310673737" sldId="381"/>
            <ac:spMk id="9" creationId="{360BFC95-E711-EDD8-464B-EA00FE689DE4}"/>
          </ac:spMkLst>
        </pc:spChg>
      </pc:sldChg>
      <pc:sldChg chg="modSp mod">
        <pc:chgData name="Holland, Karrie" userId="23868a2e-e05c-4e18-9f80-537fd2a8fbe7" providerId="ADAL" clId="{8B6A76D8-B0A0-410D-8259-052215157898}" dt="2025-04-09T14:13:46.234" v="677" actId="255"/>
        <pc:sldMkLst>
          <pc:docMk/>
          <pc:sldMk cId="723752660" sldId="382"/>
        </pc:sldMkLst>
        <pc:spChg chg="mod">
          <ac:chgData name="Holland, Karrie" userId="23868a2e-e05c-4e18-9f80-537fd2a8fbe7" providerId="ADAL" clId="{8B6A76D8-B0A0-410D-8259-052215157898}" dt="2025-04-09T14:13:46.234" v="677" actId="255"/>
          <ac:spMkLst>
            <pc:docMk/>
            <pc:sldMk cId="723752660" sldId="382"/>
            <ac:spMk id="9" creationId="{51CFB8DF-8110-5078-BCFA-13F8C6C435BE}"/>
          </ac:spMkLst>
        </pc:spChg>
        <pc:graphicFrameChg chg="mod modGraphic">
          <ac:chgData name="Holland, Karrie" userId="23868a2e-e05c-4e18-9f80-537fd2a8fbe7" providerId="ADAL" clId="{8B6A76D8-B0A0-410D-8259-052215157898}" dt="2025-04-09T14:12:30.660" v="669" actId="1076"/>
          <ac:graphicFrameMkLst>
            <pc:docMk/>
            <pc:sldMk cId="723752660" sldId="382"/>
            <ac:graphicFrameMk id="2" creationId="{B61721E5-05C0-A536-BD02-286689DD3A2F}"/>
          </ac:graphicFrameMkLst>
        </pc:graphicFrameChg>
      </pc:sldChg>
      <pc:sldChg chg="modSp mod">
        <pc:chgData name="Holland, Karrie" userId="23868a2e-e05c-4e18-9f80-537fd2a8fbe7" providerId="ADAL" clId="{8B6A76D8-B0A0-410D-8259-052215157898}" dt="2025-04-09T14:13:17.216" v="674" actId="1076"/>
        <pc:sldMkLst>
          <pc:docMk/>
          <pc:sldMk cId="1364577371" sldId="383"/>
        </pc:sldMkLst>
        <pc:spChg chg="mod">
          <ac:chgData name="Holland, Karrie" userId="23868a2e-e05c-4e18-9f80-537fd2a8fbe7" providerId="ADAL" clId="{8B6A76D8-B0A0-410D-8259-052215157898}" dt="2025-04-09T14:13:01.409" v="671" actId="14100"/>
          <ac:spMkLst>
            <pc:docMk/>
            <pc:sldMk cId="1364577371" sldId="383"/>
            <ac:spMk id="9" creationId="{8ACD7616-0BF0-EEC6-82ED-1BA560FD8AD2}"/>
          </ac:spMkLst>
        </pc:spChg>
      </pc:sldChg>
      <pc:sldChg chg="modSp mod modNotesTx">
        <pc:chgData name="Holland, Karrie" userId="23868a2e-e05c-4e18-9f80-537fd2a8fbe7" providerId="ADAL" clId="{8B6A76D8-B0A0-410D-8259-052215157898}" dt="2025-04-09T14:44:34.473" v="891" actId="20577"/>
        <pc:sldMkLst>
          <pc:docMk/>
          <pc:sldMk cId="3832071582" sldId="391"/>
        </pc:sldMkLst>
        <pc:spChg chg="mod">
          <ac:chgData name="Holland, Karrie" userId="23868a2e-e05c-4e18-9f80-537fd2a8fbe7" providerId="ADAL" clId="{8B6A76D8-B0A0-410D-8259-052215157898}" dt="2025-04-09T14:40:58.911" v="860" actId="20577"/>
          <ac:spMkLst>
            <pc:docMk/>
            <pc:sldMk cId="3832071582" sldId="391"/>
            <ac:spMk id="4" creationId="{0D95D66A-7762-9EB3-8A2B-D1EAED054E1A}"/>
          </ac:spMkLst>
        </pc:spChg>
        <pc:spChg chg="mod">
          <ac:chgData name="Holland, Karrie" userId="23868a2e-e05c-4e18-9f80-537fd2a8fbe7" providerId="ADAL" clId="{8B6A76D8-B0A0-410D-8259-052215157898}" dt="2025-04-09T14:20:13.661" v="747" actId="14100"/>
          <ac:spMkLst>
            <pc:docMk/>
            <pc:sldMk cId="3832071582" sldId="391"/>
            <ac:spMk id="9" creationId="{E9BD0CB5-9585-7EF9-006F-C3AF2D3546E8}"/>
          </ac:spMkLst>
        </pc:spChg>
      </pc:sldChg>
      <pc:sldChg chg="addSp modSp mod modNotesTx">
        <pc:chgData name="Holland, Karrie" userId="23868a2e-e05c-4e18-9f80-537fd2a8fbe7" providerId="ADAL" clId="{8B6A76D8-B0A0-410D-8259-052215157898}" dt="2025-04-09T14:44:44.884" v="893" actId="20577"/>
        <pc:sldMkLst>
          <pc:docMk/>
          <pc:sldMk cId="1579904877" sldId="392"/>
        </pc:sldMkLst>
        <pc:spChg chg="add mod">
          <ac:chgData name="Holland, Karrie" userId="23868a2e-e05c-4e18-9f80-537fd2a8fbe7" providerId="ADAL" clId="{8B6A76D8-B0A0-410D-8259-052215157898}" dt="2025-04-09T14:28:50.011" v="794" actId="14100"/>
          <ac:spMkLst>
            <pc:docMk/>
            <pc:sldMk cId="1579904877" sldId="392"/>
            <ac:spMk id="2" creationId="{EFD4D115-DA28-3BCE-CFED-7DE256F7A4EB}"/>
          </ac:spMkLst>
        </pc:spChg>
        <pc:spChg chg="mod">
          <ac:chgData name="Holland, Karrie" userId="23868a2e-e05c-4e18-9f80-537fd2a8fbe7" providerId="ADAL" clId="{8B6A76D8-B0A0-410D-8259-052215157898}" dt="2025-04-09T14:41:04.528" v="862" actId="20577"/>
          <ac:spMkLst>
            <pc:docMk/>
            <pc:sldMk cId="1579904877" sldId="392"/>
            <ac:spMk id="4" creationId="{221C7E8F-BC39-B160-18D6-173D75AC3D23}"/>
          </ac:spMkLst>
        </pc:spChg>
        <pc:spChg chg="mod">
          <ac:chgData name="Holland, Karrie" userId="23868a2e-e05c-4e18-9f80-537fd2a8fbe7" providerId="ADAL" clId="{8B6A76D8-B0A0-410D-8259-052215157898}" dt="2025-04-09T14:24:05.523" v="759" actId="11"/>
          <ac:spMkLst>
            <pc:docMk/>
            <pc:sldMk cId="1579904877" sldId="392"/>
            <ac:spMk id="9" creationId="{0C5DCC94-43A3-2E02-4C0D-288E5EBEFCF8}"/>
          </ac:spMkLst>
        </pc:spChg>
      </pc:sldChg>
      <pc:sldChg chg="modSp mod modNotesTx">
        <pc:chgData name="Holland, Karrie" userId="23868a2e-e05c-4e18-9f80-537fd2a8fbe7" providerId="ADAL" clId="{8B6A76D8-B0A0-410D-8259-052215157898}" dt="2025-04-09T14:44:58.088" v="895" actId="20577"/>
        <pc:sldMkLst>
          <pc:docMk/>
          <pc:sldMk cId="2120338304" sldId="393"/>
        </pc:sldMkLst>
        <pc:spChg chg="mod">
          <ac:chgData name="Holland, Karrie" userId="23868a2e-e05c-4e18-9f80-537fd2a8fbe7" providerId="ADAL" clId="{8B6A76D8-B0A0-410D-8259-052215157898}" dt="2025-04-09T14:41:13.689" v="864" actId="20577"/>
          <ac:spMkLst>
            <pc:docMk/>
            <pc:sldMk cId="2120338304" sldId="393"/>
            <ac:spMk id="4" creationId="{8651412E-2B99-AA50-6CCE-814DA69E5B62}"/>
          </ac:spMkLst>
        </pc:spChg>
        <pc:spChg chg="mod">
          <ac:chgData name="Holland, Karrie" userId="23868a2e-e05c-4e18-9f80-537fd2a8fbe7" providerId="ADAL" clId="{8B6A76D8-B0A0-410D-8259-052215157898}" dt="2025-04-09T14:29:21.468" v="795" actId="20577"/>
          <ac:spMkLst>
            <pc:docMk/>
            <pc:sldMk cId="2120338304" sldId="393"/>
            <ac:spMk id="9" creationId="{A314ECAC-A242-ABFB-4DF0-22E0A461AA70}"/>
          </ac:spMkLst>
        </pc:spChg>
      </pc:sldChg>
      <pc:sldChg chg="modSp mod modNotesTx">
        <pc:chgData name="Holland, Karrie" userId="23868a2e-e05c-4e18-9f80-537fd2a8fbe7" providerId="ADAL" clId="{8B6A76D8-B0A0-410D-8259-052215157898}" dt="2025-04-09T14:41:18.242" v="866" actId="20577"/>
        <pc:sldMkLst>
          <pc:docMk/>
          <pc:sldMk cId="1353121474" sldId="394"/>
        </pc:sldMkLst>
        <pc:spChg chg="mod">
          <ac:chgData name="Holland, Karrie" userId="23868a2e-e05c-4e18-9f80-537fd2a8fbe7" providerId="ADAL" clId="{8B6A76D8-B0A0-410D-8259-052215157898}" dt="2025-04-09T14:31:38.862" v="813" actId="1076"/>
          <ac:spMkLst>
            <pc:docMk/>
            <pc:sldMk cId="1353121474" sldId="394"/>
            <ac:spMk id="2" creationId="{B2B3C055-ACF7-8F60-B7EE-5E6A0529CF27}"/>
          </ac:spMkLst>
        </pc:spChg>
        <pc:spChg chg="mod">
          <ac:chgData name="Holland, Karrie" userId="23868a2e-e05c-4e18-9f80-537fd2a8fbe7" providerId="ADAL" clId="{8B6A76D8-B0A0-410D-8259-052215157898}" dt="2025-04-09T14:41:18.242" v="866" actId="20577"/>
          <ac:spMkLst>
            <pc:docMk/>
            <pc:sldMk cId="1353121474" sldId="394"/>
            <ac:spMk id="4" creationId="{3520785A-14E7-5D85-BA3B-D2293521A01C}"/>
          </ac:spMkLst>
        </pc:spChg>
        <pc:spChg chg="mod">
          <ac:chgData name="Holland, Karrie" userId="23868a2e-e05c-4e18-9f80-537fd2a8fbe7" providerId="ADAL" clId="{8B6A76D8-B0A0-410D-8259-052215157898}" dt="2025-04-09T14:31:59.051" v="820" actId="1037"/>
          <ac:spMkLst>
            <pc:docMk/>
            <pc:sldMk cId="1353121474" sldId="394"/>
            <ac:spMk id="5" creationId="{75856DDA-AAC1-409E-F423-E1D562E68749}"/>
          </ac:spMkLst>
        </pc:spChg>
        <pc:spChg chg="mod">
          <ac:chgData name="Holland, Karrie" userId="23868a2e-e05c-4e18-9f80-537fd2a8fbe7" providerId="ADAL" clId="{8B6A76D8-B0A0-410D-8259-052215157898}" dt="2025-04-09T14:30:12.021" v="799" actId="255"/>
          <ac:spMkLst>
            <pc:docMk/>
            <pc:sldMk cId="1353121474" sldId="394"/>
            <ac:spMk id="9" creationId="{8817AB70-0D9B-5221-E51E-31C2B7DA0AF1}"/>
          </ac:spMkLst>
        </pc:spChg>
        <pc:picChg chg="mod">
          <ac:chgData name="Holland, Karrie" userId="23868a2e-e05c-4e18-9f80-537fd2a8fbe7" providerId="ADAL" clId="{8B6A76D8-B0A0-410D-8259-052215157898}" dt="2025-04-09T14:31:42.829" v="814" actId="1076"/>
          <ac:picMkLst>
            <pc:docMk/>
            <pc:sldMk cId="1353121474" sldId="394"/>
            <ac:picMk id="3" creationId="{D88EA481-26B5-9B15-2655-BDD23DFD664D}"/>
          </ac:picMkLst>
        </pc:picChg>
      </pc:sldChg>
      <pc:sldChg chg="modSp mod modNotesTx">
        <pc:chgData name="Holland, Karrie" userId="23868a2e-e05c-4e18-9f80-537fd2a8fbe7" providerId="ADAL" clId="{8B6A76D8-B0A0-410D-8259-052215157898}" dt="2025-04-09T14:41:26.335" v="868" actId="20577"/>
        <pc:sldMkLst>
          <pc:docMk/>
          <pc:sldMk cId="1878879270" sldId="395"/>
        </pc:sldMkLst>
        <pc:spChg chg="mod">
          <ac:chgData name="Holland, Karrie" userId="23868a2e-e05c-4e18-9f80-537fd2a8fbe7" providerId="ADAL" clId="{8B6A76D8-B0A0-410D-8259-052215157898}" dt="2025-04-09T14:33:39.379" v="826" actId="1076"/>
          <ac:spMkLst>
            <pc:docMk/>
            <pc:sldMk cId="1878879270" sldId="395"/>
            <ac:spMk id="2" creationId="{1BA7BAA5-5B47-FD38-7D25-90E538FF932F}"/>
          </ac:spMkLst>
        </pc:spChg>
        <pc:spChg chg="mod">
          <ac:chgData name="Holland, Karrie" userId="23868a2e-e05c-4e18-9f80-537fd2a8fbe7" providerId="ADAL" clId="{8B6A76D8-B0A0-410D-8259-052215157898}" dt="2025-04-09T14:41:26.335" v="868" actId="20577"/>
          <ac:spMkLst>
            <pc:docMk/>
            <pc:sldMk cId="1878879270" sldId="395"/>
            <ac:spMk id="4" creationId="{B66E49D3-F2C2-DC3A-2D61-05D4E04111DF}"/>
          </ac:spMkLst>
        </pc:spChg>
        <pc:spChg chg="mod">
          <ac:chgData name="Holland, Karrie" userId="23868a2e-e05c-4e18-9f80-537fd2a8fbe7" providerId="ADAL" clId="{8B6A76D8-B0A0-410D-8259-052215157898}" dt="2025-04-09T14:33:46.188" v="827" actId="20577"/>
          <ac:spMkLst>
            <pc:docMk/>
            <pc:sldMk cId="1878879270" sldId="395"/>
            <ac:spMk id="9" creationId="{C79DE6BE-DD40-9D2E-C259-0ED1FF80B72E}"/>
          </ac:spMkLst>
        </pc:spChg>
      </pc:sldChg>
      <pc:sldChg chg="modSp mod modNotesTx">
        <pc:chgData name="Holland, Karrie" userId="23868a2e-e05c-4e18-9f80-537fd2a8fbe7" providerId="ADAL" clId="{8B6A76D8-B0A0-410D-8259-052215157898}" dt="2025-04-09T14:41:30.926" v="870" actId="20577"/>
        <pc:sldMkLst>
          <pc:docMk/>
          <pc:sldMk cId="67261982" sldId="396"/>
        </pc:sldMkLst>
        <pc:spChg chg="mod">
          <ac:chgData name="Holland, Karrie" userId="23868a2e-e05c-4e18-9f80-537fd2a8fbe7" providerId="ADAL" clId="{8B6A76D8-B0A0-410D-8259-052215157898}" dt="2025-04-09T14:41:30.926" v="870" actId="20577"/>
          <ac:spMkLst>
            <pc:docMk/>
            <pc:sldMk cId="67261982" sldId="396"/>
            <ac:spMk id="4" creationId="{BD605A60-E7CE-196B-8E7A-8E1C03AB81A9}"/>
          </ac:spMkLst>
        </pc:spChg>
        <pc:picChg chg="mod">
          <ac:chgData name="Holland, Karrie" userId="23868a2e-e05c-4e18-9f80-537fd2a8fbe7" providerId="ADAL" clId="{8B6A76D8-B0A0-410D-8259-052215157898}" dt="2025-04-09T14:34:11.945" v="829" actId="1076"/>
          <ac:picMkLst>
            <pc:docMk/>
            <pc:sldMk cId="67261982" sldId="396"/>
            <ac:picMk id="3" creationId="{4306D3C2-B183-A5E2-E976-CFB8F0F00CCA}"/>
          </ac:picMkLst>
        </pc:picChg>
      </pc:sldChg>
      <pc:sldChg chg="modSp mod modNotesTx">
        <pc:chgData name="Holland, Karrie" userId="23868a2e-e05c-4e18-9f80-537fd2a8fbe7" providerId="ADAL" clId="{8B6A76D8-B0A0-410D-8259-052215157898}" dt="2025-04-09T14:41:49.050" v="878" actId="20577"/>
        <pc:sldMkLst>
          <pc:docMk/>
          <pc:sldMk cId="1460571273" sldId="397"/>
        </pc:sldMkLst>
        <pc:spChg chg="mod">
          <ac:chgData name="Holland, Karrie" userId="23868a2e-e05c-4e18-9f80-537fd2a8fbe7" providerId="ADAL" clId="{8B6A76D8-B0A0-410D-8259-052215157898}" dt="2025-04-09T14:41:49.050" v="878" actId="20577"/>
          <ac:spMkLst>
            <pc:docMk/>
            <pc:sldMk cId="1460571273" sldId="397"/>
            <ac:spMk id="4" creationId="{2DDA2445-ED6C-8F04-21ED-677350A8EC2B}"/>
          </ac:spMkLst>
        </pc:spChg>
      </pc:sldChg>
      <pc:sldChg chg="modSp mod modNotesTx">
        <pc:chgData name="Holland, Karrie" userId="23868a2e-e05c-4e18-9f80-537fd2a8fbe7" providerId="ADAL" clId="{8B6A76D8-B0A0-410D-8259-052215157898}" dt="2025-04-09T15:55:13.481" v="1268" actId="20577"/>
        <pc:sldMkLst>
          <pc:docMk/>
          <pc:sldMk cId="2899571899" sldId="398"/>
        </pc:sldMkLst>
        <pc:spChg chg="mod">
          <ac:chgData name="Holland, Karrie" userId="23868a2e-e05c-4e18-9f80-537fd2a8fbe7" providerId="ADAL" clId="{8B6A76D8-B0A0-410D-8259-052215157898}" dt="2025-04-09T15:55:13.481" v="1268" actId="20577"/>
          <ac:spMkLst>
            <pc:docMk/>
            <pc:sldMk cId="2899571899" sldId="398"/>
            <ac:spMk id="4" creationId="{42CAF8B9-6F10-8642-4707-E23F80EF784D}"/>
          </ac:spMkLst>
        </pc:spChg>
        <pc:spChg chg="mod">
          <ac:chgData name="Holland, Karrie" userId="23868a2e-e05c-4e18-9f80-537fd2a8fbe7" providerId="ADAL" clId="{8B6A76D8-B0A0-410D-8259-052215157898}" dt="2025-04-09T15:29:45.985" v="907" actId="1076"/>
          <ac:spMkLst>
            <pc:docMk/>
            <pc:sldMk cId="2899571899" sldId="398"/>
            <ac:spMk id="9" creationId="{D8AF4A33-E4AC-B21F-DB41-7776FCA37AB5}"/>
          </ac:spMkLst>
        </pc:spChg>
      </pc:sldChg>
      <pc:sldChg chg="addSp delSp modSp mod modNotesTx">
        <pc:chgData name="Holland, Karrie" userId="23868a2e-e05c-4e18-9f80-537fd2a8fbe7" providerId="ADAL" clId="{8B6A76D8-B0A0-410D-8259-052215157898}" dt="2025-04-09T15:55:20.570" v="1271" actId="20577"/>
        <pc:sldMkLst>
          <pc:docMk/>
          <pc:sldMk cId="585888131" sldId="399"/>
        </pc:sldMkLst>
        <pc:spChg chg="add mod">
          <ac:chgData name="Holland, Karrie" userId="23868a2e-e05c-4e18-9f80-537fd2a8fbe7" providerId="ADAL" clId="{8B6A76D8-B0A0-410D-8259-052215157898}" dt="2025-04-09T15:35:13.470" v="979" actId="1076"/>
          <ac:spMkLst>
            <pc:docMk/>
            <pc:sldMk cId="585888131" sldId="399"/>
            <ac:spMk id="2" creationId="{31C9A73C-70A1-CB1C-F948-11512DA4092C}"/>
          </ac:spMkLst>
        </pc:spChg>
        <pc:spChg chg="mod">
          <ac:chgData name="Holland, Karrie" userId="23868a2e-e05c-4e18-9f80-537fd2a8fbe7" providerId="ADAL" clId="{8B6A76D8-B0A0-410D-8259-052215157898}" dt="2025-04-09T15:35:19.707" v="981" actId="14100"/>
          <ac:spMkLst>
            <pc:docMk/>
            <pc:sldMk cId="585888131" sldId="399"/>
            <ac:spMk id="5" creationId="{BC551D6A-6A0C-C82B-9D89-BEA81F60647B}"/>
          </ac:spMkLst>
        </pc:spChg>
      </pc:sldChg>
      <pc:sldChg chg="modSp mod modNotesTx">
        <pc:chgData name="Holland, Karrie" userId="23868a2e-e05c-4e18-9f80-537fd2a8fbe7" providerId="ADAL" clId="{8B6A76D8-B0A0-410D-8259-052215157898}" dt="2025-04-09T15:55:26.055" v="1274" actId="20577"/>
        <pc:sldMkLst>
          <pc:docMk/>
          <pc:sldMk cId="345673606" sldId="400"/>
        </pc:sldMkLst>
        <pc:spChg chg="mod">
          <ac:chgData name="Holland, Karrie" userId="23868a2e-e05c-4e18-9f80-537fd2a8fbe7" providerId="ADAL" clId="{8B6A76D8-B0A0-410D-8259-052215157898}" dt="2025-04-09T15:38:56.984" v="998" actId="14100"/>
          <ac:spMkLst>
            <pc:docMk/>
            <pc:sldMk cId="345673606" sldId="400"/>
            <ac:spMk id="5" creationId="{B45EE177-8361-F359-E48A-04AC4FA10A05}"/>
          </ac:spMkLst>
        </pc:spChg>
      </pc:sldChg>
      <pc:sldChg chg="modSp mod modNotesTx">
        <pc:chgData name="Holland, Karrie" userId="23868a2e-e05c-4e18-9f80-537fd2a8fbe7" providerId="ADAL" clId="{8B6A76D8-B0A0-410D-8259-052215157898}" dt="2025-04-09T15:55:34.153" v="1277" actId="20577"/>
        <pc:sldMkLst>
          <pc:docMk/>
          <pc:sldMk cId="2285229507" sldId="401"/>
        </pc:sldMkLst>
        <pc:spChg chg="mod">
          <ac:chgData name="Holland, Karrie" userId="23868a2e-e05c-4e18-9f80-537fd2a8fbe7" providerId="ADAL" clId="{8B6A76D8-B0A0-410D-8259-052215157898}" dt="2025-04-09T15:55:34.153" v="1277" actId="20577"/>
          <ac:spMkLst>
            <pc:docMk/>
            <pc:sldMk cId="2285229507" sldId="401"/>
            <ac:spMk id="4" creationId="{D7210297-FD74-896B-512F-D27630435C58}"/>
          </ac:spMkLst>
        </pc:spChg>
      </pc:sldChg>
      <pc:sldChg chg="delSp modSp mod modNotesTx">
        <pc:chgData name="Holland, Karrie" userId="23868a2e-e05c-4e18-9f80-537fd2a8fbe7" providerId="ADAL" clId="{8B6A76D8-B0A0-410D-8259-052215157898}" dt="2025-04-09T15:55:39.425" v="1280" actId="20577"/>
        <pc:sldMkLst>
          <pc:docMk/>
          <pc:sldMk cId="2774982883" sldId="402"/>
        </pc:sldMkLst>
        <pc:spChg chg="mod">
          <ac:chgData name="Holland, Karrie" userId="23868a2e-e05c-4e18-9f80-537fd2a8fbe7" providerId="ADAL" clId="{8B6A76D8-B0A0-410D-8259-052215157898}" dt="2025-04-09T15:55:39.425" v="1280" actId="20577"/>
          <ac:spMkLst>
            <pc:docMk/>
            <pc:sldMk cId="2774982883" sldId="402"/>
            <ac:spMk id="4" creationId="{76827C8D-4970-A0F6-1A32-AAFB2CA53F45}"/>
          </ac:spMkLst>
        </pc:spChg>
        <pc:spChg chg="mod">
          <ac:chgData name="Holland, Karrie" userId="23868a2e-e05c-4e18-9f80-537fd2a8fbe7" providerId="ADAL" clId="{8B6A76D8-B0A0-410D-8259-052215157898}" dt="2025-04-09T15:43:58.395" v="1029" actId="2711"/>
          <ac:spMkLst>
            <pc:docMk/>
            <pc:sldMk cId="2774982883" sldId="402"/>
            <ac:spMk id="5" creationId="{2E502B39-6377-860C-3DE5-71BA5FA65013}"/>
          </ac:spMkLst>
        </pc:spChg>
      </pc:sldChg>
      <pc:sldChg chg="modSp mod modNotesTx">
        <pc:chgData name="Holland, Karrie" userId="23868a2e-e05c-4e18-9f80-537fd2a8fbe7" providerId="ADAL" clId="{8B6A76D8-B0A0-410D-8259-052215157898}" dt="2025-04-09T15:56:04.665" v="1292" actId="20577"/>
        <pc:sldMkLst>
          <pc:docMk/>
          <pc:sldMk cId="2619338747" sldId="404"/>
        </pc:sldMkLst>
        <pc:spChg chg="mod">
          <ac:chgData name="Holland, Karrie" userId="23868a2e-e05c-4e18-9f80-537fd2a8fbe7" providerId="ADAL" clId="{8B6A76D8-B0A0-410D-8259-052215157898}" dt="2025-04-09T15:46:23.158" v="1042" actId="1076"/>
          <ac:spMkLst>
            <pc:docMk/>
            <pc:sldMk cId="2619338747" sldId="404"/>
            <ac:spMk id="3" creationId="{7DC18A87-2DEF-AD00-8645-08C29DE0A6CD}"/>
          </ac:spMkLst>
        </pc:spChg>
        <pc:spChg chg="mod">
          <ac:chgData name="Holland, Karrie" userId="23868a2e-e05c-4e18-9f80-537fd2a8fbe7" providerId="ADAL" clId="{8B6A76D8-B0A0-410D-8259-052215157898}" dt="2025-04-09T15:56:04.665" v="1292" actId="20577"/>
          <ac:spMkLst>
            <pc:docMk/>
            <pc:sldMk cId="2619338747" sldId="404"/>
            <ac:spMk id="4" creationId="{89B22210-5855-03A6-4151-0CBEB649E558}"/>
          </ac:spMkLst>
        </pc:spChg>
        <pc:spChg chg="mod">
          <ac:chgData name="Holland, Karrie" userId="23868a2e-e05c-4e18-9f80-537fd2a8fbe7" providerId="ADAL" clId="{8B6A76D8-B0A0-410D-8259-052215157898}" dt="2025-04-09T15:46:28.954" v="1043" actId="1076"/>
          <ac:spMkLst>
            <pc:docMk/>
            <pc:sldMk cId="2619338747" sldId="404"/>
            <ac:spMk id="5" creationId="{BE383300-A19B-48BC-0677-1FE5F7E92570}"/>
          </ac:spMkLst>
        </pc:spChg>
      </pc:sldChg>
      <pc:sldChg chg="delSp modSp mod modNotesTx">
        <pc:chgData name="Holland, Karrie" userId="23868a2e-e05c-4e18-9f80-537fd2a8fbe7" providerId="ADAL" clId="{8B6A76D8-B0A0-410D-8259-052215157898}" dt="2025-04-09T17:25:45.092" v="2566" actId="113"/>
        <pc:sldMkLst>
          <pc:docMk/>
          <pc:sldMk cId="2925626727" sldId="407"/>
        </pc:sldMkLst>
        <pc:spChg chg="mod">
          <ac:chgData name="Holland, Karrie" userId="23868a2e-e05c-4e18-9f80-537fd2a8fbe7" providerId="ADAL" clId="{8B6A76D8-B0A0-410D-8259-052215157898}" dt="2025-04-09T17:21:18.523" v="2425" actId="255"/>
          <ac:spMkLst>
            <pc:docMk/>
            <pc:sldMk cId="2925626727" sldId="407"/>
            <ac:spMk id="4" creationId="{5F611F6C-1C9E-DC34-95ED-7F74B405A97F}"/>
          </ac:spMkLst>
        </pc:spChg>
        <pc:spChg chg="mod">
          <ac:chgData name="Holland, Karrie" userId="23868a2e-e05c-4e18-9f80-537fd2a8fbe7" providerId="ADAL" clId="{8B6A76D8-B0A0-410D-8259-052215157898}" dt="2025-04-09T17:01:32.904" v="2142" actId="20577"/>
          <ac:spMkLst>
            <pc:docMk/>
            <pc:sldMk cId="2925626727" sldId="407"/>
            <ac:spMk id="9" creationId="{7C3A7EA6-1D88-3D7C-37CC-290549692E8C}"/>
          </ac:spMkLst>
        </pc:spChg>
      </pc:sldChg>
      <pc:sldChg chg="modNotesTx">
        <pc:chgData name="Holland, Karrie" userId="23868a2e-e05c-4e18-9f80-537fd2a8fbe7" providerId="ADAL" clId="{8B6A76D8-B0A0-410D-8259-052215157898}" dt="2025-04-09T13:39:35.145" v="63" actId="20577"/>
        <pc:sldMkLst>
          <pc:docMk/>
          <pc:sldMk cId="2390680130" sldId="411"/>
        </pc:sldMkLst>
      </pc:sldChg>
      <pc:sldChg chg="modSp mod modNotesTx">
        <pc:chgData name="Holland, Karrie" userId="23868a2e-e05c-4e18-9f80-537fd2a8fbe7" providerId="ADAL" clId="{8B6A76D8-B0A0-410D-8259-052215157898}" dt="2025-04-09T15:57:30.435" v="1335" actId="255"/>
        <pc:sldMkLst>
          <pc:docMk/>
          <pc:sldMk cId="993052348" sldId="412"/>
        </pc:sldMkLst>
        <pc:spChg chg="mod">
          <ac:chgData name="Holland, Karrie" userId="23868a2e-e05c-4e18-9f80-537fd2a8fbe7" providerId="ADAL" clId="{8B6A76D8-B0A0-410D-8259-052215157898}" dt="2025-04-09T15:57:30.435" v="1335" actId="255"/>
          <ac:spMkLst>
            <pc:docMk/>
            <pc:sldMk cId="993052348" sldId="412"/>
            <ac:spMk id="9" creationId="{A4A5A952-9A6A-E96A-771A-F7D37A05CA78}"/>
          </ac:spMkLst>
        </pc:spChg>
      </pc:sldChg>
      <pc:sldChg chg="modNotesTx">
        <pc:chgData name="Holland, Karrie" userId="23868a2e-e05c-4e18-9f80-537fd2a8fbe7" providerId="ADAL" clId="{8B6A76D8-B0A0-410D-8259-052215157898}" dt="2025-04-09T15:57:53.821" v="1349" actId="20577"/>
        <pc:sldMkLst>
          <pc:docMk/>
          <pc:sldMk cId="3204679131" sldId="413"/>
        </pc:sldMkLst>
      </pc:sldChg>
      <pc:sldChg chg="modSp mod modNotesTx">
        <pc:chgData name="Holland, Karrie" userId="23868a2e-e05c-4e18-9f80-537fd2a8fbe7" providerId="ADAL" clId="{8B6A76D8-B0A0-410D-8259-052215157898}" dt="2025-04-09T13:39:24.890" v="57" actId="20577"/>
        <pc:sldMkLst>
          <pc:docMk/>
          <pc:sldMk cId="4113990910" sldId="414"/>
        </pc:sldMkLst>
        <pc:spChg chg="mod">
          <ac:chgData name="Holland, Karrie" userId="23868a2e-e05c-4e18-9f80-537fd2a8fbe7" providerId="ADAL" clId="{8B6A76D8-B0A0-410D-8259-052215157898}" dt="2025-04-09T13:39:18.231" v="55" actId="20577"/>
          <ac:spMkLst>
            <pc:docMk/>
            <pc:sldMk cId="4113990910" sldId="414"/>
            <ac:spMk id="4" creationId="{783E2D72-7D23-826C-48B4-F1D2A1464013}"/>
          </ac:spMkLst>
        </pc:spChg>
      </pc:sldChg>
      <pc:sldChg chg="delSp modSp mod">
        <pc:chgData name="Holland, Karrie" userId="23868a2e-e05c-4e18-9f80-537fd2a8fbe7" providerId="ADAL" clId="{8B6A76D8-B0A0-410D-8259-052215157898}" dt="2025-04-09T13:56:13.471" v="389" actId="20577"/>
        <pc:sldMkLst>
          <pc:docMk/>
          <pc:sldMk cId="937766059" sldId="415"/>
        </pc:sldMkLst>
        <pc:spChg chg="mod">
          <ac:chgData name="Holland, Karrie" userId="23868a2e-e05c-4e18-9f80-537fd2a8fbe7" providerId="ADAL" clId="{8B6A76D8-B0A0-410D-8259-052215157898}" dt="2025-04-09T13:56:13.471" v="389" actId="20577"/>
          <ac:spMkLst>
            <pc:docMk/>
            <pc:sldMk cId="937766059" sldId="415"/>
            <ac:spMk id="4" creationId="{3B917003-25E1-41FD-E9C9-D3CAE6877A6B}"/>
          </ac:spMkLst>
        </pc:spChg>
      </pc:sldChg>
      <pc:sldChg chg="addSp delSp modSp mod">
        <pc:chgData name="Holland, Karrie" userId="23868a2e-e05c-4e18-9f80-537fd2a8fbe7" providerId="ADAL" clId="{8B6A76D8-B0A0-410D-8259-052215157898}" dt="2025-04-09T13:56:08.136" v="387" actId="20577"/>
        <pc:sldMkLst>
          <pc:docMk/>
          <pc:sldMk cId="3385325692" sldId="416"/>
        </pc:sldMkLst>
        <pc:spChg chg="add mod">
          <ac:chgData name="Holland, Karrie" userId="23868a2e-e05c-4e18-9f80-537fd2a8fbe7" providerId="ADAL" clId="{8B6A76D8-B0A0-410D-8259-052215157898}" dt="2025-04-09T13:53:16.696" v="350" actId="1076"/>
          <ac:spMkLst>
            <pc:docMk/>
            <pc:sldMk cId="3385325692" sldId="416"/>
            <ac:spMk id="3" creationId="{5F318A11-241C-E290-5B37-FB2E325C7D13}"/>
          </ac:spMkLst>
        </pc:spChg>
        <pc:spChg chg="mod">
          <ac:chgData name="Holland, Karrie" userId="23868a2e-e05c-4e18-9f80-537fd2a8fbe7" providerId="ADAL" clId="{8B6A76D8-B0A0-410D-8259-052215157898}" dt="2025-04-09T13:56:08.136" v="387" actId="20577"/>
          <ac:spMkLst>
            <pc:docMk/>
            <pc:sldMk cId="3385325692" sldId="416"/>
            <ac:spMk id="4" creationId="{7C5D376C-74E3-DC49-3605-E600C3A5CB02}"/>
          </ac:spMkLst>
        </pc:spChg>
        <pc:spChg chg="add mod">
          <ac:chgData name="Holland, Karrie" userId="23868a2e-e05c-4e18-9f80-537fd2a8fbe7" providerId="ADAL" clId="{8B6A76D8-B0A0-410D-8259-052215157898}" dt="2025-04-09T13:53:03.590" v="348" actId="1076"/>
          <ac:spMkLst>
            <pc:docMk/>
            <pc:sldMk cId="3385325692" sldId="416"/>
            <ac:spMk id="5" creationId="{A34989FB-D7A9-8AD4-F295-CFBEE6FB8849}"/>
          </ac:spMkLst>
        </pc:spChg>
        <pc:spChg chg="add mod">
          <ac:chgData name="Holland, Karrie" userId="23868a2e-e05c-4e18-9f80-537fd2a8fbe7" providerId="ADAL" clId="{8B6A76D8-B0A0-410D-8259-052215157898}" dt="2025-04-09T13:54:08.563" v="357" actId="1076"/>
          <ac:spMkLst>
            <pc:docMk/>
            <pc:sldMk cId="3385325692" sldId="416"/>
            <ac:spMk id="6" creationId="{AA0AE6C9-CDCE-45CE-6539-F212A4FE7E9D}"/>
          </ac:spMkLst>
        </pc:spChg>
        <pc:picChg chg="mod modCrop">
          <ac:chgData name="Holland, Karrie" userId="23868a2e-e05c-4e18-9f80-537fd2a8fbe7" providerId="ADAL" clId="{8B6A76D8-B0A0-410D-8259-052215157898}" dt="2025-04-09T13:53:48.933" v="354" actId="1076"/>
          <ac:picMkLst>
            <pc:docMk/>
            <pc:sldMk cId="3385325692" sldId="416"/>
            <ac:picMk id="7" creationId="{F82D09B8-08B4-3401-3E09-8F08A0139002}"/>
          </ac:picMkLst>
        </pc:picChg>
        <pc:picChg chg="mod modCrop">
          <ac:chgData name="Holland, Karrie" userId="23868a2e-e05c-4e18-9f80-537fd2a8fbe7" providerId="ADAL" clId="{8B6A76D8-B0A0-410D-8259-052215157898}" dt="2025-04-09T13:53:52.242" v="355" actId="1076"/>
          <ac:picMkLst>
            <pc:docMk/>
            <pc:sldMk cId="3385325692" sldId="416"/>
            <ac:picMk id="10" creationId="{E09763CC-0742-EA24-5142-9B9C7D7D1A96}"/>
          </ac:picMkLst>
        </pc:picChg>
        <pc:picChg chg="mod modCrop">
          <ac:chgData name="Holland, Karrie" userId="23868a2e-e05c-4e18-9f80-537fd2a8fbe7" providerId="ADAL" clId="{8B6A76D8-B0A0-410D-8259-052215157898}" dt="2025-04-09T13:54:02.150" v="356" actId="1076"/>
          <ac:picMkLst>
            <pc:docMk/>
            <pc:sldMk cId="3385325692" sldId="416"/>
            <ac:picMk id="12" creationId="{A79362F7-3738-C5AC-314C-2CC21EF6C8D2}"/>
          </ac:picMkLst>
        </pc:picChg>
      </pc:sldChg>
      <pc:sldChg chg="modSp mod modNotesTx">
        <pc:chgData name="Holland, Karrie" userId="23868a2e-e05c-4e18-9f80-537fd2a8fbe7" providerId="ADAL" clId="{8B6A76D8-B0A0-410D-8259-052215157898}" dt="2025-04-09T14:41:42.009" v="874" actId="20577"/>
        <pc:sldMkLst>
          <pc:docMk/>
          <pc:sldMk cId="2291853023" sldId="417"/>
        </pc:sldMkLst>
        <pc:spChg chg="mod">
          <ac:chgData name="Holland, Karrie" userId="23868a2e-e05c-4e18-9f80-537fd2a8fbe7" providerId="ADAL" clId="{8B6A76D8-B0A0-410D-8259-052215157898}" dt="2025-04-09T14:41:42.009" v="874" actId="20577"/>
          <ac:spMkLst>
            <pc:docMk/>
            <pc:sldMk cId="2291853023" sldId="417"/>
            <ac:spMk id="4" creationId="{B7A1C61E-5562-7936-C017-2B4B2E605EBF}"/>
          </ac:spMkLst>
        </pc:spChg>
        <pc:picChg chg="mod">
          <ac:chgData name="Holland, Karrie" userId="23868a2e-e05c-4e18-9f80-537fd2a8fbe7" providerId="ADAL" clId="{8B6A76D8-B0A0-410D-8259-052215157898}" dt="2025-04-09T14:37:46.328" v="842" actId="1076"/>
          <ac:picMkLst>
            <pc:docMk/>
            <pc:sldMk cId="2291853023" sldId="417"/>
            <ac:picMk id="3" creationId="{00732CFD-0C34-2D61-43C9-A5623DAB2095}"/>
          </ac:picMkLst>
        </pc:picChg>
      </pc:sldChg>
      <pc:sldChg chg="del">
        <pc:chgData name="Holland, Karrie" userId="23868a2e-e05c-4e18-9f80-537fd2a8fbe7" providerId="ADAL" clId="{8B6A76D8-B0A0-410D-8259-052215157898}" dt="2025-04-09T15:53:50.475" v="1241" actId="47"/>
        <pc:sldMkLst>
          <pc:docMk/>
          <pc:sldMk cId="1108346741" sldId="418"/>
        </pc:sldMkLst>
      </pc:sldChg>
      <pc:sldChg chg="addSp delSp modSp mod modNotesTx">
        <pc:chgData name="Holland, Karrie" userId="23868a2e-e05c-4e18-9f80-537fd2a8fbe7" providerId="ADAL" clId="{8B6A76D8-B0A0-410D-8259-052215157898}" dt="2025-04-09T15:55:51.192" v="1287" actId="20577"/>
        <pc:sldMkLst>
          <pc:docMk/>
          <pc:sldMk cId="4040873117" sldId="419"/>
        </pc:sldMkLst>
        <pc:spChg chg="mod">
          <ac:chgData name="Holland, Karrie" userId="23868a2e-e05c-4e18-9f80-537fd2a8fbe7" providerId="ADAL" clId="{8B6A76D8-B0A0-410D-8259-052215157898}" dt="2025-04-09T15:55:51.192" v="1287" actId="20577"/>
          <ac:spMkLst>
            <pc:docMk/>
            <pc:sldMk cId="4040873117" sldId="419"/>
            <ac:spMk id="4" creationId="{3736F39D-664B-C2C5-65FA-03B44C85C902}"/>
          </ac:spMkLst>
        </pc:spChg>
        <pc:graphicFrameChg chg="mod modGraphic">
          <ac:chgData name="Holland, Karrie" userId="23868a2e-e05c-4e18-9f80-537fd2a8fbe7" providerId="ADAL" clId="{8B6A76D8-B0A0-410D-8259-052215157898}" dt="2025-04-09T15:45:36.990" v="1041" actId="14734"/>
          <ac:graphicFrameMkLst>
            <pc:docMk/>
            <pc:sldMk cId="4040873117" sldId="419"/>
            <ac:graphicFrameMk id="3" creationId="{C65772A3-91DC-E489-76CE-B72586EC4D88}"/>
          </ac:graphicFrameMkLst>
        </pc:graphicFrameChg>
      </pc:sldChg>
      <pc:sldChg chg="delSp del mod modNotesTx">
        <pc:chgData name="Holland, Karrie" userId="23868a2e-e05c-4e18-9f80-537fd2a8fbe7" providerId="ADAL" clId="{8B6A76D8-B0A0-410D-8259-052215157898}" dt="2025-04-09T15:41:17.218" v="1011" actId="2696"/>
        <pc:sldMkLst>
          <pc:docMk/>
          <pc:sldMk cId="1002763039" sldId="420"/>
        </pc:sldMkLst>
      </pc:sldChg>
      <pc:sldChg chg="modSp mod modNotesTx">
        <pc:chgData name="Holland, Karrie" userId="23868a2e-e05c-4e18-9f80-537fd2a8fbe7" providerId="ADAL" clId="{8B6A76D8-B0A0-410D-8259-052215157898}" dt="2025-04-09T15:56:13.247" v="1297" actId="20577"/>
        <pc:sldMkLst>
          <pc:docMk/>
          <pc:sldMk cId="1514967819" sldId="421"/>
        </pc:sldMkLst>
        <pc:spChg chg="mod">
          <ac:chgData name="Holland, Karrie" userId="23868a2e-e05c-4e18-9f80-537fd2a8fbe7" providerId="ADAL" clId="{8B6A76D8-B0A0-410D-8259-052215157898}" dt="2025-04-09T15:56:13.247" v="1297" actId="20577"/>
          <ac:spMkLst>
            <pc:docMk/>
            <pc:sldMk cId="1514967819" sldId="421"/>
            <ac:spMk id="4" creationId="{51122732-0794-9F9C-DC91-3B21C046FA57}"/>
          </ac:spMkLst>
        </pc:spChg>
        <pc:spChg chg="mod">
          <ac:chgData name="Holland, Karrie" userId="23868a2e-e05c-4e18-9f80-537fd2a8fbe7" providerId="ADAL" clId="{8B6A76D8-B0A0-410D-8259-052215157898}" dt="2025-04-09T15:46:51.474" v="1072" actId="1038"/>
          <ac:spMkLst>
            <pc:docMk/>
            <pc:sldMk cId="1514967819" sldId="421"/>
            <ac:spMk id="7" creationId="{6690737C-2ED3-F630-50E5-49C971CA8D3D}"/>
          </ac:spMkLst>
        </pc:spChg>
        <pc:spChg chg="mod">
          <ac:chgData name="Holland, Karrie" userId="23868a2e-e05c-4e18-9f80-537fd2a8fbe7" providerId="ADAL" clId="{8B6A76D8-B0A0-410D-8259-052215157898}" dt="2025-04-09T15:46:51.474" v="1072" actId="1038"/>
          <ac:spMkLst>
            <pc:docMk/>
            <pc:sldMk cId="1514967819" sldId="421"/>
            <ac:spMk id="9" creationId="{0A053DAF-0DC6-D0AF-DE26-8EFAC6FD696B}"/>
          </ac:spMkLst>
        </pc:spChg>
        <pc:graphicFrameChg chg="mod">
          <ac:chgData name="Holland, Karrie" userId="23868a2e-e05c-4e18-9f80-537fd2a8fbe7" providerId="ADAL" clId="{8B6A76D8-B0A0-410D-8259-052215157898}" dt="2025-04-09T15:46:51.474" v="1072" actId="1038"/>
          <ac:graphicFrameMkLst>
            <pc:docMk/>
            <pc:sldMk cId="1514967819" sldId="421"/>
            <ac:graphicFrameMk id="10" creationId="{A1115A4F-E3F1-DC37-F877-C75CDEF503D3}"/>
          </ac:graphicFrameMkLst>
        </pc:graphicFrameChg>
        <pc:picChg chg="mod">
          <ac:chgData name="Holland, Karrie" userId="23868a2e-e05c-4e18-9f80-537fd2a8fbe7" providerId="ADAL" clId="{8B6A76D8-B0A0-410D-8259-052215157898}" dt="2025-04-09T15:46:56.583" v="1073" actId="1076"/>
          <ac:picMkLst>
            <pc:docMk/>
            <pc:sldMk cId="1514967819" sldId="421"/>
            <ac:picMk id="8" creationId="{831FC6C2-31BA-2F02-456B-07F8795B71F8}"/>
          </ac:picMkLst>
        </pc:picChg>
      </pc:sldChg>
      <pc:sldChg chg="modSp mod modNotesTx">
        <pc:chgData name="Holland, Karrie" userId="23868a2e-e05c-4e18-9f80-537fd2a8fbe7" providerId="ADAL" clId="{8B6A76D8-B0A0-410D-8259-052215157898}" dt="2025-04-09T15:56:26.474" v="1302" actId="20577"/>
        <pc:sldMkLst>
          <pc:docMk/>
          <pc:sldMk cId="2932947435" sldId="422"/>
        </pc:sldMkLst>
        <pc:spChg chg="mod">
          <ac:chgData name="Holland, Karrie" userId="23868a2e-e05c-4e18-9f80-537fd2a8fbe7" providerId="ADAL" clId="{8B6A76D8-B0A0-410D-8259-052215157898}" dt="2025-04-09T15:47:23.475" v="1075" actId="14100"/>
          <ac:spMkLst>
            <pc:docMk/>
            <pc:sldMk cId="2932947435" sldId="422"/>
            <ac:spMk id="3" creationId="{FDB4A4C4-C03C-A3B6-5F36-CB5287C7EB12}"/>
          </ac:spMkLst>
        </pc:spChg>
        <pc:spChg chg="mod">
          <ac:chgData name="Holland, Karrie" userId="23868a2e-e05c-4e18-9f80-537fd2a8fbe7" providerId="ADAL" clId="{8B6A76D8-B0A0-410D-8259-052215157898}" dt="2025-04-09T15:56:26.474" v="1302" actId="20577"/>
          <ac:spMkLst>
            <pc:docMk/>
            <pc:sldMk cId="2932947435" sldId="422"/>
            <ac:spMk id="4" creationId="{898D49BB-F386-976D-6A9D-9DA0FDEC2265}"/>
          </ac:spMkLst>
        </pc:spChg>
      </pc:sldChg>
      <pc:sldChg chg="modSp mod modNotesTx">
        <pc:chgData name="Holland, Karrie" userId="23868a2e-e05c-4e18-9f80-537fd2a8fbe7" providerId="ADAL" clId="{8B6A76D8-B0A0-410D-8259-052215157898}" dt="2025-04-09T15:56:34.961" v="1308" actId="20577"/>
        <pc:sldMkLst>
          <pc:docMk/>
          <pc:sldMk cId="3055827836" sldId="423"/>
        </pc:sldMkLst>
        <pc:spChg chg="mod">
          <ac:chgData name="Holland, Karrie" userId="23868a2e-e05c-4e18-9f80-537fd2a8fbe7" providerId="ADAL" clId="{8B6A76D8-B0A0-410D-8259-052215157898}" dt="2025-04-09T15:56:34.961" v="1308" actId="20577"/>
          <ac:spMkLst>
            <pc:docMk/>
            <pc:sldMk cId="3055827836" sldId="423"/>
            <ac:spMk id="4" creationId="{764CF94D-514C-1D8B-5979-62254571ECBC}"/>
          </ac:spMkLst>
        </pc:spChg>
        <pc:spChg chg="mod">
          <ac:chgData name="Holland, Karrie" userId="23868a2e-e05c-4e18-9f80-537fd2a8fbe7" providerId="ADAL" clId="{8B6A76D8-B0A0-410D-8259-052215157898}" dt="2025-04-09T15:50:20.091" v="1215" actId="20577"/>
          <ac:spMkLst>
            <pc:docMk/>
            <pc:sldMk cId="3055827836" sldId="423"/>
            <ac:spMk id="5" creationId="{C6321D50-9C54-6C7C-6101-F087816563C7}"/>
          </ac:spMkLst>
        </pc:spChg>
        <pc:picChg chg="mod">
          <ac:chgData name="Holland, Karrie" userId="23868a2e-e05c-4e18-9f80-537fd2a8fbe7" providerId="ADAL" clId="{8B6A76D8-B0A0-410D-8259-052215157898}" dt="2025-04-09T15:50:31.259" v="1216" actId="1076"/>
          <ac:picMkLst>
            <pc:docMk/>
            <pc:sldMk cId="3055827836" sldId="423"/>
            <ac:picMk id="6" creationId="{1DCDD279-F71E-081B-0E1B-03E3CDA73CEB}"/>
          </ac:picMkLst>
        </pc:picChg>
      </pc:sldChg>
      <pc:sldChg chg="modSp mod modNotesTx">
        <pc:chgData name="Holland, Karrie" userId="23868a2e-e05c-4e18-9f80-537fd2a8fbe7" providerId="ADAL" clId="{8B6A76D8-B0A0-410D-8259-052215157898}" dt="2025-04-09T15:56:46.109" v="1314" actId="20577"/>
        <pc:sldMkLst>
          <pc:docMk/>
          <pc:sldMk cId="3901152022" sldId="424"/>
        </pc:sldMkLst>
        <pc:spChg chg="mod">
          <ac:chgData name="Holland, Karrie" userId="23868a2e-e05c-4e18-9f80-537fd2a8fbe7" providerId="ADAL" clId="{8B6A76D8-B0A0-410D-8259-052215157898}" dt="2025-04-09T15:56:46.109" v="1314" actId="20577"/>
          <ac:spMkLst>
            <pc:docMk/>
            <pc:sldMk cId="3901152022" sldId="424"/>
            <ac:spMk id="4" creationId="{75B7DEDC-188B-AE8C-FC73-7B85E858FFA0}"/>
          </ac:spMkLst>
        </pc:spChg>
      </pc:sldChg>
      <pc:sldChg chg="modSp mod modNotesTx">
        <pc:chgData name="Holland, Karrie" userId="23868a2e-e05c-4e18-9f80-537fd2a8fbe7" providerId="ADAL" clId="{8B6A76D8-B0A0-410D-8259-052215157898}" dt="2025-04-09T15:56:53.828" v="1320" actId="20577"/>
        <pc:sldMkLst>
          <pc:docMk/>
          <pc:sldMk cId="944855860" sldId="425"/>
        </pc:sldMkLst>
        <pc:spChg chg="mod">
          <ac:chgData name="Holland, Karrie" userId="23868a2e-e05c-4e18-9f80-537fd2a8fbe7" providerId="ADAL" clId="{8B6A76D8-B0A0-410D-8259-052215157898}" dt="2025-04-09T15:56:53.828" v="1320" actId="20577"/>
          <ac:spMkLst>
            <pc:docMk/>
            <pc:sldMk cId="944855860" sldId="425"/>
            <ac:spMk id="4" creationId="{9DACABFB-3857-2932-28A7-99D59ED381FF}"/>
          </ac:spMkLst>
        </pc:spChg>
        <pc:spChg chg="mod">
          <ac:chgData name="Holland, Karrie" userId="23868a2e-e05c-4e18-9f80-537fd2a8fbe7" providerId="ADAL" clId="{8B6A76D8-B0A0-410D-8259-052215157898}" dt="2025-04-09T15:51:11.531" v="1221" actId="255"/>
          <ac:spMkLst>
            <pc:docMk/>
            <pc:sldMk cId="944855860" sldId="425"/>
            <ac:spMk id="5" creationId="{F368E199-9FA3-49B5-5B33-402CEFCB23C0}"/>
          </ac:spMkLst>
        </pc:spChg>
        <pc:picChg chg="mod">
          <ac:chgData name="Holland, Karrie" userId="23868a2e-e05c-4e18-9f80-537fd2a8fbe7" providerId="ADAL" clId="{8B6A76D8-B0A0-410D-8259-052215157898}" dt="2025-04-09T15:51:23.888" v="1222" actId="1076"/>
          <ac:picMkLst>
            <pc:docMk/>
            <pc:sldMk cId="944855860" sldId="425"/>
            <ac:picMk id="2" creationId="{BD4AB22E-C12D-296D-9FE8-1BDBE67785F7}"/>
          </ac:picMkLst>
        </pc:picChg>
      </pc:sldChg>
      <pc:sldChg chg="modSp add mod modNotesTx">
        <pc:chgData name="Holland, Karrie" userId="23868a2e-e05c-4e18-9f80-537fd2a8fbe7" providerId="ADAL" clId="{8B6A76D8-B0A0-410D-8259-052215157898}" dt="2025-04-09T14:00:28.881" v="492" actId="20577"/>
        <pc:sldMkLst>
          <pc:docMk/>
          <pc:sldMk cId="1784172043" sldId="426"/>
        </pc:sldMkLst>
        <pc:spChg chg="mod">
          <ac:chgData name="Holland, Karrie" userId="23868a2e-e05c-4e18-9f80-537fd2a8fbe7" providerId="ADAL" clId="{8B6A76D8-B0A0-410D-8259-052215157898}" dt="2025-04-09T13:55:33.208" v="380" actId="255"/>
          <ac:spMkLst>
            <pc:docMk/>
            <pc:sldMk cId="1784172043" sldId="426"/>
            <ac:spMk id="4" creationId="{E74CED05-26A1-A188-5FCB-778697428A2A}"/>
          </ac:spMkLst>
        </pc:spChg>
        <pc:spChg chg="mod">
          <ac:chgData name="Holland, Karrie" userId="23868a2e-e05c-4e18-9f80-537fd2a8fbe7" providerId="ADAL" clId="{8B6A76D8-B0A0-410D-8259-052215157898}" dt="2025-04-09T14:00:09.056" v="487" actId="6549"/>
          <ac:spMkLst>
            <pc:docMk/>
            <pc:sldMk cId="1784172043" sldId="426"/>
            <ac:spMk id="9" creationId="{0D2C2BEF-8BA9-441B-2A86-57E11C1A06D3}"/>
          </ac:spMkLst>
        </pc:spChg>
      </pc:sldChg>
      <pc:sldChg chg="modSp add del mod ord modNotesTx">
        <pc:chgData name="Holland, Karrie" userId="23868a2e-e05c-4e18-9f80-537fd2a8fbe7" providerId="ADAL" clId="{8B6A76D8-B0A0-410D-8259-052215157898}" dt="2025-04-09T13:39:01.761" v="51" actId="47"/>
        <pc:sldMkLst>
          <pc:docMk/>
          <pc:sldMk cId="1997039585" sldId="426"/>
        </pc:sldMkLst>
      </pc:sldChg>
      <pc:sldChg chg="modSp add mod">
        <pc:chgData name="Holland, Karrie" userId="23868a2e-e05c-4e18-9f80-537fd2a8fbe7" providerId="ADAL" clId="{8B6A76D8-B0A0-410D-8259-052215157898}" dt="2025-04-09T13:55:59.970" v="385" actId="255"/>
        <pc:sldMkLst>
          <pc:docMk/>
          <pc:sldMk cId="3215969431" sldId="427"/>
        </pc:sldMkLst>
        <pc:spChg chg="mod">
          <ac:chgData name="Holland, Karrie" userId="23868a2e-e05c-4e18-9f80-537fd2a8fbe7" providerId="ADAL" clId="{8B6A76D8-B0A0-410D-8259-052215157898}" dt="2025-04-09T13:55:59.970" v="385" actId="255"/>
          <ac:spMkLst>
            <pc:docMk/>
            <pc:sldMk cId="3215969431" sldId="427"/>
            <ac:spMk id="4" creationId="{8258205B-D785-0C93-1216-EED1D8CAA6D8}"/>
          </ac:spMkLst>
        </pc:spChg>
      </pc:sldChg>
      <pc:sldChg chg="modSp add mod">
        <pc:chgData name="Holland, Karrie" userId="23868a2e-e05c-4e18-9f80-537fd2a8fbe7" providerId="ADAL" clId="{8B6A76D8-B0A0-410D-8259-052215157898}" dt="2025-04-09T14:42:08.159" v="887" actId="20577"/>
        <pc:sldMkLst>
          <pc:docMk/>
          <pc:sldMk cId="1288827243" sldId="428"/>
        </pc:sldMkLst>
        <pc:spChg chg="mod">
          <ac:chgData name="Holland, Karrie" userId="23868a2e-e05c-4e18-9f80-537fd2a8fbe7" providerId="ADAL" clId="{8B6A76D8-B0A0-410D-8259-052215157898}" dt="2025-04-09T14:42:08.159" v="887" actId="20577"/>
          <ac:spMkLst>
            <pc:docMk/>
            <pc:sldMk cId="1288827243" sldId="428"/>
            <ac:spMk id="4" creationId="{3290C8D4-450F-1FC3-0CA3-A43A84B2CF3D}"/>
          </ac:spMkLst>
        </pc:spChg>
      </pc:sldChg>
      <pc:sldChg chg="modSp add mod">
        <pc:chgData name="Holland, Karrie" userId="23868a2e-e05c-4e18-9f80-537fd2a8fbe7" providerId="ADAL" clId="{8B6A76D8-B0A0-410D-8259-052215157898}" dt="2025-04-09T15:57:46.940" v="1347" actId="255"/>
        <pc:sldMkLst>
          <pc:docMk/>
          <pc:sldMk cId="3435299982" sldId="429"/>
        </pc:sldMkLst>
        <pc:spChg chg="mod">
          <ac:chgData name="Holland, Karrie" userId="23868a2e-e05c-4e18-9f80-537fd2a8fbe7" providerId="ADAL" clId="{8B6A76D8-B0A0-410D-8259-052215157898}" dt="2025-04-09T15:57:46.940" v="1347" actId="255"/>
          <ac:spMkLst>
            <pc:docMk/>
            <pc:sldMk cId="3435299982" sldId="429"/>
            <ac:spMk id="4" creationId="{34436916-A8A9-4DCA-18C5-F1A5A33DADCE}"/>
          </ac:spMkLst>
        </pc:spChg>
      </pc:sldChg>
      <pc:sldChg chg="addSp delSp modSp add mod ord modNotesTx">
        <pc:chgData name="Holland, Karrie" userId="23868a2e-e05c-4e18-9f80-537fd2a8fbe7" providerId="ADAL" clId="{8B6A76D8-B0A0-410D-8259-052215157898}" dt="2025-04-09T16:51:07.085" v="1897" actId="255"/>
        <pc:sldMkLst>
          <pc:docMk/>
          <pc:sldMk cId="3709744015" sldId="430"/>
        </pc:sldMkLst>
        <pc:spChg chg="mod">
          <ac:chgData name="Holland, Karrie" userId="23868a2e-e05c-4e18-9f80-537fd2a8fbe7" providerId="ADAL" clId="{8B6A76D8-B0A0-410D-8259-052215157898}" dt="2025-04-09T16:51:07.085" v="1897" actId="255"/>
          <ac:spMkLst>
            <pc:docMk/>
            <pc:sldMk cId="3709744015" sldId="430"/>
            <ac:spMk id="4" creationId="{A9EEE57E-F56E-8C34-574A-D50A730E5925}"/>
          </ac:spMkLst>
        </pc:spChg>
        <pc:spChg chg="add mod">
          <ac:chgData name="Holland, Karrie" userId="23868a2e-e05c-4e18-9f80-537fd2a8fbe7" providerId="ADAL" clId="{8B6A76D8-B0A0-410D-8259-052215157898}" dt="2025-04-09T16:02:58.207" v="1384" actId="207"/>
          <ac:spMkLst>
            <pc:docMk/>
            <pc:sldMk cId="3709744015" sldId="430"/>
            <ac:spMk id="5" creationId="{8B4DE9F2-41B8-65AA-4A80-12711F667395}"/>
          </ac:spMkLst>
        </pc:spChg>
        <pc:spChg chg="mod">
          <ac:chgData name="Holland, Karrie" userId="23868a2e-e05c-4e18-9f80-537fd2a8fbe7" providerId="ADAL" clId="{8B6A76D8-B0A0-410D-8259-052215157898}" dt="2025-04-09T16:20:01.987" v="1467" actId="1036"/>
          <ac:spMkLst>
            <pc:docMk/>
            <pc:sldMk cId="3709744015" sldId="430"/>
            <ac:spMk id="9" creationId="{ED68BE8B-52E2-42FD-E7A9-5467E72D4C54}"/>
          </ac:spMkLst>
        </pc:spChg>
        <pc:picChg chg="add mod">
          <ac:chgData name="Holland, Karrie" userId="23868a2e-e05c-4e18-9f80-537fd2a8fbe7" providerId="ADAL" clId="{8B6A76D8-B0A0-410D-8259-052215157898}" dt="2025-04-09T16:02:14.779" v="1378" actId="1076"/>
          <ac:picMkLst>
            <pc:docMk/>
            <pc:sldMk cId="3709744015" sldId="430"/>
            <ac:picMk id="3" creationId="{7B882684-A1BC-8AD9-321C-9D6A134F13F3}"/>
          </ac:picMkLst>
        </pc:picChg>
      </pc:sldChg>
      <pc:sldChg chg="add del">
        <pc:chgData name="Holland, Karrie" userId="23868a2e-e05c-4e18-9f80-537fd2a8fbe7" providerId="ADAL" clId="{8B6A76D8-B0A0-410D-8259-052215157898}" dt="2025-04-09T16:39:50.173" v="1648" actId="47"/>
        <pc:sldMkLst>
          <pc:docMk/>
          <pc:sldMk cId="2482380200" sldId="431"/>
        </pc:sldMkLst>
      </pc:sldChg>
      <pc:sldChg chg="addSp delSp modSp add mod ord modNotesTx">
        <pc:chgData name="Holland, Karrie" userId="23868a2e-e05c-4e18-9f80-537fd2a8fbe7" providerId="ADAL" clId="{8B6A76D8-B0A0-410D-8259-052215157898}" dt="2025-04-09T16:51:26.576" v="1912" actId="1037"/>
        <pc:sldMkLst>
          <pc:docMk/>
          <pc:sldMk cId="3147177209" sldId="432"/>
        </pc:sldMkLst>
        <pc:spChg chg="mod">
          <ac:chgData name="Holland, Karrie" userId="23868a2e-e05c-4e18-9f80-537fd2a8fbe7" providerId="ADAL" clId="{8B6A76D8-B0A0-410D-8259-052215157898}" dt="2025-04-09T16:51:26.576" v="1912" actId="1037"/>
          <ac:spMkLst>
            <pc:docMk/>
            <pc:sldMk cId="3147177209" sldId="432"/>
            <ac:spMk id="4" creationId="{B3DCE3A2-E2E7-F17E-0D61-76B4467B9183}"/>
          </ac:spMkLst>
        </pc:spChg>
        <pc:spChg chg="mod">
          <ac:chgData name="Holland, Karrie" userId="23868a2e-e05c-4e18-9f80-537fd2a8fbe7" providerId="ADAL" clId="{8B6A76D8-B0A0-410D-8259-052215157898}" dt="2025-04-09T16:22:32.744" v="1503"/>
          <ac:spMkLst>
            <pc:docMk/>
            <pc:sldMk cId="3147177209" sldId="432"/>
            <ac:spMk id="5" creationId="{D1A7ED6E-2854-EB4D-FC16-8F113B41B32E}"/>
          </ac:spMkLst>
        </pc:spChg>
        <pc:picChg chg="add mod">
          <ac:chgData name="Holland, Karrie" userId="23868a2e-e05c-4e18-9f80-537fd2a8fbe7" providerId="ADAL" clId="{8B6A76D8-B0A0-410D-8259-052215157898}" dt="2025-04-09T16:22:53.493" v="1507" actId="1076"/>
          <ac:picMkLst>
            <pc:docMk/>
            <pc:sldMk cId="3147177209" sldId="432"/>
            <ac:picMk id="6" creationId="{DA505AD5-E3E8-F9FD-1110-7046B209C420}"/>
          </ac:picMkLst>
        </pc:picChg>
      </pc:sldChg>
      <pc:sldChg chg="delSp modSp add mod">
        <pc:chgData name="Holland, Karrie" userId="23868a2e-e05c-4e18-9f80-537fd2a8fbe7" providerId="ADAL" clId="{8B6A76D8-B0A0-410D-8259-052215157898}" dt="2025-04-09T16:51:44.662" v="1928" actId="1037"/>
        <pc:sldMkLst>
          <pc:docMk/>
          <pc:sldMk cId="2627300260" sldId="433"/>
        </pc:sldMkLst>
        <pc:spChg chg="mod">
          <ac:chgData name="Holland, Karrie" userId="23868a2e-e05c-4e18-9f80-537fd2a8fbe7" providerId="ADAL" clId="{8B6A76D8-B0A0-410D-8259-052215157898}" dt="2025-04-09T16:51:44.662" v="1928" actId="1037"/>
          <ac:spMkLst>
            <pc:docMk/>
            <pc:sldMk cId="2627300260" sldId="433"/>
            <ac:spMk id="4" creationId="{C5C3A566-7DC4-3453-97FA-3BB8AE8DE01F}"/>
          </ac:spMkLst>
        </pc:spChg>
        <pc:spChg chg="mod">
          <ac:chgData name="Holland, Karrie" userId="23868a2e-e05c-4e18-9f80-537fd2a8fbe7" providerId="ADAL" clId="{8B6A76D8-B0A0-410D-8259-052215157898}" dt="2025-04-09T16:28:48.929" v="1528" actId="207"/>
          <ac:spMkLst>
            <pc:docMk/>
            <pc:sldMk cId="2627300260" sldId="433"/>
            <ac:spMk id="5" creationId="{CCE96922-C3CD-5867-CFEF-F839A66342AC}"/>
          </ac:spMkLst>
        </pc:spChg>
      </pc:sldChg>
      <pc:sldChg chg="addSp delSp modSp add mod ord">
        <pc:chgData name="Holland, Karrie" userId="23868a2e-e05c-4e18-9f80-537fd2a8fbe7" providerId="ADAL" clId="{8B6A76D8-B0A0-410D-8259-052215157898}" dt="2025-04-09T16:52:03.095" v="1943" actId="1037"/>
        <pc:sldMkLst>
          <pc:docMk/>
          <pc:sldMk cId="1319459105" sldId="434"/>
        </pc:sldMkLst>
        <pc:spChg chg="add mod">
          <ac:chgData name="Holland, Karrie" userId="23868a2e-e05c-4e18-9f80-537fd2a8fbe7" providerId="ADAL" clId="{8B6A76D8-B0A0-410D-8259-052215157898}" dt="2025-04-09T16:41:49.117" v="1682" actId="120"/>
          <ac:spMkLst>
            <pc:docMk/>
            <pc:sldMk cId="1319459105" sldId="434"/>
            <ac:spMk id="2" creationId="{972289E6-901C-0A3A-EED1-E999E89B7608}"/>
          </ac:spMkLst>
        </pc:spChg>
        <pc:spChg chg="mod">
          <ac:chgData name="Holland, Karrie" userId="23868a2e-e05c-4e18-9f80-537fd2a8fbe7" providerId="ADAL" clId="{8B6A76D8-B0A0-410D-8259-052215157898}" dt="2025-04-09T16:52:03.095" v="1943" actId="1037"/>
          <ac:spMkLst>
            <pc:docMk/>
            <pc:sldMk cId="1319459105" sldId="434"/>
            <ac:spMk id="4" creationId="{845E85BC-DB7F-CD4E-E8F6-DD64F42FC5CC}"/>
          </ac:spMkLst>
        </pc:spChg>
        <pc:spChg chg="mod">
          <ac:chgData name="Holland, Karrie" userId="23868a2e-e05c-4e18-9f80-537fd2a8fbe7" providerId="ADAL" clId="{8B6A76D8-B0A0-410D-8259-052215157898}" dt="2025-04-09T16:46:53.006" v="1831" actId="1076"/>
          <ac:spMkLst>
            <pc:docMk/>
            <pc:sldMk cId="1319459105" sldId="434"/>
            <ac:spMk id="5" creationId="{90D0E5BC-99A9-01F5-E1A1-CEA0D3449F6D}"/>
          </ac:spMkLst>
        </pc:spChg>
      </pc:sldChg>
      <pc:sldChg chg="addSp modSp add mod">
        <pc:chgData name="Holland, Karrie" userId="23868a2e-e05c-4e18-9f80-537fd2a8fbe7" providerId="ADAL" clId="{8B6A76D8-B0A0-410D-8259-052215157898}" dt="2025-04-09T16:52:17.112" v="1953" actId="255"/>
        <pc:sldMkLst>
          <pc:docMk/>
          <pc:sldMk cId="242837974" sldId="435"/>
        </pc:sldMkLst>
        <pc:spChg chg="add mod">
          <ac:chgData name="Holland, Karrie" userId="23868a2e-e05c-4e18-9f80-537fd2a8fbe7" providerId="ADAL" clId="{8B6A76D8-B0A0-410D-8259-052215157898}" dt="2025-04-09T16:44:06.575" v="1719" actId="20577"/>
          <ac:spMkLst>
            <pc:docMk/>
            <pc:sldMk cId="242837974" sldId="435"/>
            <ac:spMk id="2" creationId="{E804AAE5-6234-14C6-E579-F130B8B5C9DE}"/>
          </ac:spMkLst>
        </pc:spChg>
        <pc:spChg chg="mod">
          <ac:chgData name="Holland, Karrie" userId="23868a2e-e05c-4e18-9f80-537fd2a8fbe7" providerId="ADAL" clId="{8B6A76D8-B0A0-410D-8259-052215157898}" dt="2025-04-09T16:52:17.112" v="1953" actId="255"/>
          <ac:spMkLst>
            <pc:docMk/>
            <pc:sldMk cId="242837974" sldId="435"/>
            <ac:spMk id="4" creationId="{4E752CFA-2D90-5B0C-F9BC-ABA431C0D2DC}"/>
          </ac:spMkLst>
        </pc:spChg>
        <pc:spChg chg="mod">
          <ac:chgData name="Holland, Karrie" userId="23868a2e-e05c-4e18-9f80-537fd2a8fbe7" providerId="ADAL" clId="{8B6A76D8-B0A0-410D-8259-052215157898}" dt="2025-04-09T16:42:32.495" v="1685" actId="1076"/>
          <ac:spMkLst>
            <pc:docMk/>
            <pc:sldMk cId="242837974" sldId="435"/>
            <ac:spMk id="5" creationId="{1E0242FA-9E9A-A62B-063C-099A6D533275}"/>
          </ac:spMkLst>
        </pc:spChg>
        <pc:spChg chg="add mod">
          <ac:chgData name="Holland, Karrie" userId="23868a2e-e05c-4e18-9f80-537fd2a8fbe7" providerId="ADAL" clId="{8B6A76D8-B0A0-410D-8259-052215157898}" dt="2025-04-09T16:46:16.656" v="1829"/>
          <ac:spMkLst>
            <pc:docMk/>
            <pc:sldMk cId="242837974" sldId="435"/>
            <ac:spMk id="6" creationId="{3A9025AF-A7BD-FFB1-0C20-10AB8AE4AD59}"/>
          </ac:spMkLst>
        </pc:spChg>
      </pc:sldChg>
      <pc:sldChg chg="modSp add mod modNotesTx">
        <pc:chgData name="Holland, Karrie" userId="23868a2e-e05c-4e18-9f80-537fd2a8fbe7" providerId="ADAL" clId="{8B6A76D8-B0A0-410D-8259-052215157898}" dt="2025-04-09T16:53:09.440" v="1978" actId="20577"/>
        <pc:sldMkLst>
          <pc:docMk/>
          <pc:sldMk cId="306607503" sldId="436"/>
        </pc:sldMkLst>
        <pc:spChg chg="mod">
          <ac:chgData name="Holland, Karrie" userId="23868a2e-e05c-4e18-9f80-537fd2a8fbe7" providerId="ADAL" clId="{8B6A76D8-B0A0-410D-8259-052215157898}" dt="2025-04-09T16:53:09.440" v="1978" actId="20577"/>
          <ac:spMkLst>
            <pc:docMk/>
            <pc:sldMk cId="306607503" sldId="436"/>
            <ac:spMk id="4" creationId="{59CF4D8D-33CA-B1BA-6F31-F6A9BEB9D9B2}"/>
          </ac:spMkLst>
        </pc:spChg>
        <pc:spChg chg="mod">
          <ac:chgData name="Holland, Karrie" userId="23868a2e-e05c-4e18-9f80-537fd2a8fbe7" providerId="ADAL" clId="{8B6A76D8-B0A0-410D-8259-052215157898}" dt="2025-04-09T16:47:32.919" v="1870" actId="6549"/>
          <ac:spMkLst>
            <pc:docMk/>
            <pc:sldMk cId="306607503" sldId="436"/>
            <ac:spMk id="9" creationId="{1F7121B0-34A1-1BAC-0488-FE8790D3CD2C}"/>
          </ac:spMkLst>
        </pc:spChg>
      </pc:sldChg>
      <pc:sldChg chg="modSp add mod">
        <pc:chgData name="Holland, Karrie" userId="23868a2e-e05c-4e18-9f80-537fd2a8fbe7" providerId="ADAL" clId="{8B6A76D8-B0A0-410D-8259-052215157898}" dt="2025-04-09T16:53:21.560" v="1988" actId="255"/>
        <pc:sldMkLst>
          <pc:docMk/>
          <pc:sldMk cId="3692310501" sldId="437"/>
        </pc:sldMkLst>
        <pc:spChg chg="mod">
          <ac:chgData name="Holland, Karrie" userId="23868a2e-e05c-4e18-9f80-537fd2a8fbe7" providerId="ADAL" clId="{8B6A76D8-B0A0-410D-8259-052215157898}" dt="2025-04-09T16:53:21.560" v="1988" actId="255"/>
          <ac:spMkLst>
            <pc:docMk/>
            <pc:sldMk cId="3692310501" sldId="437"/>
            <ac:spMk id="4" creationId="{15F72179-C75C-1FB7-A6A3-82E938E6DE44}"/>
          </ac:spMkLst>
        </pc:spChg>
      </pc:sldChg>
      <pc:sldChg chg="modSp add mod modNotesTx">
        <pc:chgData name="Holland, Karrie" userId="23868a2e-e05c-4e18-9f80-537fd2a8fbe7" providerId="ADAL" clId="{8B6A76D8-B0A0-410D-8259-052215157898}" dt="2025-04-09T17:25:50.880" v="2567"/>
        <pc:sldMkLst>
          <pc:docMk/>
          <pc:sldMk cId="634812536" sldId="438"/>
        </pc:sldMkLst>
        <pc:spChg chg="mod">
          <ac:chgData name="Holland, Karrie" userId="23868a2e-e05c-4e18-9f80-537fd2a8fbe7" providerId="ADAL" clId="{8B6A76D8-B0A0-410D-8259-052215157898}" dt="2025-04-09T17:21:30.113" v="2435" actId="255"/>
          <ac:spMkLst>
            <pc:docMk/>
            <pc:sldMk cId="634812536" sldId="438"/>
            <ac:spMk id="4" creationId="{F61D85F3-1065-F555-7E92-6BB6FB859AF1}"/>
          </ac:spMkLst>
        </pc:spChg>
        <pc:spChg chg="mod">
          <ac:chgData name="Holland, Karrie" userId="23868a2e-e05c-4e18-9f80-537fd2a8fbe7" providerId="ADAL" clId="{8B6A76D8-B0A0-410D-8259-052215157898}" dt="2025-04-09T17:02:05.368" v="2148" actId="114"/>
          <ac:spMkLst>
            <pc:docMk/>
            <pc:sldMk cId="634812536" sldId="438"/>
            <ac:spMk id="9" creationId="{A47C97D3-EFAA-FA5D-A6E8-084DD9269204}"/>
          </ac:spMkLst>
        </pc:spChg>
      </pc:sldChg>
      <pc:sldChg chg="addSp modSp add mod modNotesTx">
        <pc:chgData name="Holland, Karrie" userId="23868a2e-e05c-4e18-9f80-537fd2a8fbe7" providerId="ADAL" clId="{8B6A76D8-B0A0-410D-8259-052215157898}" dt="2025-04-09T17:25:54.504" v="2568"/>
        <pc:sldMkLst>
          <pc:docMk/>
          <pc:sldMk cId="2388858496" sldId="439"/>
        </pc:sldMkLst>
        <pc:spChg chg="mod">
          <ac:chgData name="Holland, Karrie" userId="23868a2e-e05c-4e18-9f80-537fd2a8fbe7" providerId="ADAL" clId="{8B6A76D8-B0A0-410D-8259-052215157898}" dt="2025-04-09T17:21:41.213" v="2445" actId="255"/>
          <ac:spMkLst>
            <pc:docMk/>
            <pc:sldMk cId="2388858496" sldId="439"/>
            <ac:spMk id="4" creationId="{814FDF30-092A-D803-0315-9BC47B013A3D}"/>
          </ac:spMkLst>
        </pc:spChg>
        <pc:spChg chg="mod">
          <ac:chgData name="Holland, Karrie" userId="23868a2e-e05c-4e18-9f80-537fd2a8fbe7" providerId="ADAL" clId="{8B6A76D8-B0A0-410D-8259-052215157898}" dt="2025-04-09T17:08:58.592" v="2271"/>
          <ac:spMkLst>
            <pc:docMk/>
            <pc:sldMk cId="2388858496" sldId="439"/>
            <ac:spMk id="9" creationId="{1AFF8A30-7F30-C9CA-F33E-CE21A90D70EE}"/>
          </ac:spMkLst>
        </pc:spChg>
        <pc:graphicFrameChg chg="add mod modGraphic">
          <ac:chgData name="Holland, Karrie" userId="23868a2e-e05c-4e18-9f80-537fd2a8fbe7" providerId="ADAL" clId="{8B6A76D8-B0A0-410D-8259-052215157898}" dt="2025-04-09T17:06:59.016" v="2222" actId="207"/>
          <ac:graphicFrameMkLst>
            <pc:docMk/>
            <pc:sldMk cId="2388858496" sldId="439"/>
            <ac:graphicFrameMk id="2" creationId="{0158B116-F4B8-F4A3-9D91-2BA1B53E91D8}"/>
          </ac:graphicFrameMkLst>
        </pc:graphicFrameChg>
      </pc:sldChg>
      <pc:sldChg chg="modSp add mod modNotesTx">
        <pc:chgData name="Holland, Karrie" userId="23868a2e-e05c-4e18-9f80-537fd2a8fbe7" providerId="ADAL" clId="{8B6A76D8-B0A0-410D-8259-052215157898}" dt="2025-04-09T17:26:02.097" v="2569"/>
        <pc:sldMkLst>
          <pc:docMk/>
          <pc:sldMk cId="1225127670" sldId="440"/>
        </pc:sldMkLst>
      </pc:sldChg>
      <pc:sldChg chg="modSp add mod ord modNotesTx">
        <pc:chgData name="Holland, Karrie" userId="23868a2e-e05c-4e18-9f80-537fd2a8fbe7" providerId="ADAL" clId="{8B6A76D8-B0A0-410D-8259-052215157898}" dt="2025-04-09T17:26:05.796" v="2570"/>
        <pc:sldMkLst>
          <pc:docMk/>
          <pc:sldMk cId="508713429" sldId="441"/>
        </pc:sldMkLst>
        <pc:spChg chg="mod">
          <ac:chgData name="Holland, Karrie" userId="23868a2e-e05c-4e18-9f80-537fd2a8fbe7" providerId="ADAL" clId="{8B6A76D8-B0A0-410D-8259-052215157898}" dt="2025-04-09T17:22:07.307" v="2464" actId="255"/>
          <ac:spMkLst>
            <pc:docMk/>
            <pc:sldMk cId="508713429" sldId="441"/>
            <ac:spMk id="4" creationId="{C86116A7-549E-1F79-7765-2EB41764CB7C}"/>
          </ac:spMkLst>
        </pc:spChg>
        <pc:spChg chg="mod">
          <ac:chgData name="Holland, Karrie" userId="23868a2e-e05c-4e18-9f80-537fd2a8fbe7" providerId="ADAL" clId="{8B6A76D8-B0A0-410D-8259-052215157898}" dt="2025-04-09T17:13:29.852" v="2360"/>
          <ac:spMkLst>
            <pc:docMk/>
            <pc:sldMk cId="508713429" sldId="441"/>
            <ac:spMk id="9" creationId="{E80DF474-A81B-BC2D-C62F-E118342A4E51}"/>
          </ac:spMkLst>
        </pc:spChg>
      </pc:sldChg>
      <pc:sldChg chg="addSp modSp add mod modNotesTx">
        <pc:chgData name="Holland, Karrie" userId="23868a2e-e05c-4e18-9f80-537fd2a8fbe7" providerId="ADAL" clId="{8B6A76D8-B0A0-410D-8259-052215157898}" dt="2025-04-09T17:26:10.359" v="2571"/>
        <pc:sldMkLst>
          <pc:docMk/>
          <pc:sldMk cId="1105800534" sldId="442"/>
        </pc:sldMkLst>
        <pc:spChg chg="mod">
          <ac:chgData name="Holland, Karrie" userId="23868a2e-e05c-4e18-9f80-537fd2a8fbe7" providerId="ADAL" clId="{8B6A76D8-B0A0-410D-8259-052215157898}" dt="2025-04-09T17:22:20.708" v="2474" actId="255"/>
          <ac:spMkLst>
            <pc:docMk/>
            <pc:sldMk cId="1105800534" sldId="442"/>
            <ac:spMk id="4" creationId="{05CF5AA3-CFCB-B574-46E3-1DC73F98FAAA}"/>
          </ac:spMkLst>
        </pc:spChg>
        <pc:spChg chg="mod">
          <ac:chgData name="Holland, Karrie" userId="23868a2e-e05c-4e18-9f80-537fd2a8fbe7" providerId="ADAL" clId="{8B6A76D8-B0A0-410D-8259-052215157898}" dt="2025-04-09T17:17:18.988" v="2389" actId="14100"/>
          <ac:spMkLst>
            <pc:docMk/>
            <pc:sldMk cId="1105800534" sldId="442"/>
            <ac:spMk id="9" creationId="{20968A85-280C-6F1C-CA1F-2E945F58D574}"/>
          </ac:spMkLst>
        </pc:spChg>
        <pc:picChg chg="add mod">
          <ac:chgData name="Holland, Karrie" userId="23868a2e-e05c-4e18-9f80-537fd2a8fbe7" providerId="ADAL" clId="{8B6A76D8-B0A0-410D-8259-052215157898}" dt="2025-04-09T17:16:42.865" v="2382" actId="1076"/>
          <ac:picMkLst>
            <pc:docMk/>
            <pc:sldMk cId="1105800534" sldId="442"/>
            <ac:picMk id="3" creationId="{7DA1980D-A4F3-4313-763B-079AB2FB0308}"/>
          </ac:picMkLst>
        </pc:picChg>
      </pc:sldChg>
      <pc:sldChg chg="addSp delSp modSp add mod modNotesTx">
        <pc:chgData name="Holland, Karrie" userId="23868a2e-e05c-4e18-9f80-537fd2a8fbe7" providerId="ADAL" clId="{8B6A76D8-B0A0-410D-8259-052215157898}" dt="2025-04-09T17:26:24.569" v="2572"/>
        <pc:sldMkLst>
          <pc:docMk/>
          <pc:sldMk cId="1303936479" sldId="443"/>
        </pc:sldMkLst>
        <pc:spChg chg="mod">
          <ac:chgData name="Holland, Karrie" userId="23868a2e-e05c-4e18-9f80-537fd2a8fbe7" providerId="ADAL" clId="{8B6A76D8-B0A0-410D-8259-052215157898}" dt="2025-04-09T17:22:31.992" v="2484" actId="255"/>
          <ac:spMkLst>
            <pc:docMk/>
            <pc:sldMk cId="1303936479" sldId="443"/>
            <ac:spMk id="4" creationId="{2FF67ED3-4E7E-BA18-D03A-BD8395588CFE}"/>
          </ac:spMkLst>
        </pc:spChg>
        <pc:spChg chg="mod">
          <ac:chgData name="Holland, Karrie" userId="23868a2e-e05c-4e18-9f80-537fd2a8fbe7" providerId="ADAL" clId="{8B6A76D8-B0A0-410D-8259-052215157898}" dt="2025-04-09T17:18:23.481" v="2394"/>
          <ac:spMkLst>
            <pc:docMk/>
            <pc:sldMk cId="1303936479" sldId="443"/>
            <ac:spMk id="9" creationId="{A5E3B1A7-4597-463A-2D4A-4876C71B2E1A}"/>
          </ac:spMkLst>
        </pc:spChg>
        <pc:graphicFrameChg chg="add mod modGraphic">
          <ac:chgData name="Holland, Karrie" userId="23868a2e-e05c-4e18-9f80-537fd2a8fbe7" providerId="ADAL" clId="{8B6A76D8-B0A0-410D-8259-052215157898}" dt="2025-04-09T17:20:08.424" v="2413" actId="122"/>
          <ac:graphicFrameMkLst>
            <pc:docMk/>
            <pc:sldMk cId="1303936479" sldId="443"/>
            <ac:graphicFrameMk id="2" creationId="{E79B23F9-7D62-BFDD-7450-DD71838D47A5}"/>
          </ac:graphicFrameMkLst>
        </pc:graphicFrameChg>
      </pc:sldChg>
      <pc:sldChg chg="add del">
        <pc:chgData name="Holland, Karrie" userId="23868a2e-e05c-4e18-9f80-537fd2a8fbe7" providerId="ADAL" clId="{8B6A76D8-B0A0-410D-8259-052215157898}" dt="2025-04-09T17:36:27.372" v="2598" actId="47"/>
        <pc:sldMkLst>
          <pc:docMk/>
          <pc:sldMk cId="2284865178" sldId="444"/>
        </pc:sldMkLst>
      </pc:sldChg>
      <pc:sldChg chg="add del ord">
        <pc:chgData name="Holland, Karrie" userId="23868a2e-e05c-4e18-9f80-537fd2a8fbe7" providerId="ADAL" clId="{8B6A76D8-B0A0-410D-8259-052215157898}" dt="2025-04-09T18:01:01.932" v="2752" actId="47"/>
        <pc:sldMkLst>
          <pc:docMk/>
          <pc:sldMk cId="2838212058" sldId="444"/>
        </pc:sldMkLst>
      </pc:sldChg>
      <pc:sldChg chg="addSp modSp add mod ord modNotesTx">
        <pc:chgData name="Holland, Karrie" userId="23868a2e-e05c-4e18-9f80-537fd2a8fbe7" providerId="ADAL" clId="{8B6A76D8-B0A0-410D-8259-052215157898}" dt="2025-04-09T17:38:58.004" v="2630"/>
        <pc:sldMkLst>
          <pc:docMk/>
          <pc:sldMk cId="2133515047" sldId="445"/>
        </pc:sldMkLst>
        <pc:spChg chg="mod">
          <ac:chgData name="Holland, Karrie" userId="23868a2e-e05c-4e18-9f80-537fd2a8fbe7" providerId="ADAL" clId="{8B6A76D8-B0A0-410D-8259-052215157898}" dt="2025-04-09T17:37:38.086" v="2621" actId="20577"/>
          <ac:spMkLst>
            <pc:docMk/>
            <pc:sldMk cId="2133515047" sldId="445"/>
            <ac:spMk id="4" creationId="{A42EA181-CCBB-EEC2-3647-B329008DBDF0}"/>
          </ac:spMkLst>
        </pc:spChg>
      </pc:sldChg>
      <pc:sldChg chg="add del">
        <pc:chgData name="Holland, Karrie" userId="23868a2e-e05c-4e18-9f80-537fd2a8fbe7" providerId="ADAL" clId="{8B6A76D8-B0A0-410D-8259-052215157898}" dt="2025-04-09T17:36:23.848" v="2597" actId="47"/>
        <pc:sldMkLst>
          <pc:docMk/>
          <pc:sldMk cId="3689683566" sldId="445"/>
        </pc:sldMkLst>
      </pc:sldChg>
      <pc:sldChg chg="new del">
        <pc:chgData name="Holland, Karrie" userId="23868a2e-e05c-4e18-9f80-537fd2a8fbe7" providerId="ADAL" clId="{8B6A76D8-B0A0-410D-8259-052215157898}" dt="2025-04-09T17:55:50.743" v="2749" actId="2696"/>
        <pc:sldMkLst>
          <pc:docMk/>
          <pc:sldMk cId="2856623018" sldId="446"/>
        </pc:sldMkLst>
      </pc:sldChg>
      <pc:sldChg chg="add del">
        <pc:chgData name="Holland, Karrie" userId="23868a2e-e05c-4e18-9f80-537fd2a8fbe7" providerId="ADAL" clId="{8B6A76D8-B0A0-410D-8259-052215157898}" dt="2025-04-09T17:46:12.764" v="2632" actId="47"/>
        <pc:sldMkLst>
          <pc:docMk/>
          <pc:sldMk cId="4165010288" sldId="446"/>
        </pc:sldMkLst>
      </pc:sldChg>
      <pc:sldChg chg="new del">
        <pc:chgData name="Holland, Karrie" userId="23868a2e-e05c-4e18-9f80-537fd2a8fbe7" providerId="ADAL" clId="{8B6A76D8-B0A0-410D-8259-052215157898}" dt="2025-04-09T17:54:03.776" v="2721" actId="47"/>
        <pc:sldMkLst>
          <pc:docMk/>
          <pc:sldMk cId="505562170" sldId="447"/>
        </pc:sldMkLst>
      </pc:sldChg>
      <pc:sldChg chg="addSp delSp modSp new mod modClrScheme chgLayout">
        <pc:chgData name="Holland, Karrie" userId="23868a2e-e05c-4e18-9f80-537fd2a8fbe7" providerId="ADAL" clId="{8B6A76D8-B0A0-410D-8259-052215157898}" dt="2025-04-09T17:57:52.520" v="2751" actId="1076"/>
        <pc:sldMkLst>
          <pc:docMk/>
          <pc:sldMk cId="823254024" sldId="447"/>
        </pc:sldMkLst>
        <pc:spChg chg="add mod ord">
          <ac:chgData name="Holland, Karrie" userId="23868a2e-e05c-4e18-9f80-537fd2a8fbe7" providerId="ADAL" clId="{8B6A76D8-B0A0-410D-8259-052215157898}" dt="2025-04-09T17:57:52.520" v="2751" actId="1076"/>
          <ac:spMkLst>
            <pc:docMk/>
            <pc:sldMk cId="823254024" sldId="447"/>
            <ac:spMk id="4" creationId="{29B7D387-9C61-158D-7FE8-B94543667394}"/>
          </ac:spMkLst>
        </pc:spChg>
      </pc:sldChg>
      <pc:sldChg chg="add del">
        <pc:chgData name="Holland, Karrie" userId="23868a2e-e05c-4e18-9f80-537fd2a8fbe7" providerId="ADAL" clId="{8B6A76D8-B0A0-410D-8259-052215157898}" dt="2025-04-09T17:54:23.931" v="2723" actId="47"/>
        <pc:sldMkLst>
          <pc:docMk/>
          <pc:sldMk cId="3849403895" sldId="44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5/28/25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3DE13-B41D-3707-0F63-98FF6B547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90164-D8B6-9B96-17F1-E4BEEAECC00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01B017C-0EB2-59BB-93AF-C7FDDD863E9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this lesson is three 45-minute sessions.</a:t>
            </a:r>
          </a:p>
        </p:txBody>
      </p:sp>
      <p:sp>
        <p:nvSpPr>
          <p:cNvPr id="4" name="Slide Number Placeholder 3">
            <a:extLst>
              <a:ext uri="{FF2B5EF4-FFF2-40B4-BE49-F238E27FC236}">
                <a16:creationId xmlns:a16="http://schemas.microsoft.com/office/drawing/2014/main" id="{3B0F8F5D-2E1F-DFCE-F030-3FF9914FEF64}"/>
              </a:ext>
            </a:extLst>
          </p:cNvPr>
          <p:cNvSpPr>
            <a:spLocks noGrp="1"/>
          </p:cNvSpPr>
          <p:nvPr>
            <p:ph type="sldNum" sz="quarter" idx="5"/>
          </p:nvPr>
        </p:nvSpPr>
        <p:spPr/>
        <p:txBody>
          <a:bodyPr/>
          <a:lstStyle/>
          <a:p>
            <a:fld id="{BB5E49A5-4136-284D-997B-48E1D791AD67}" type="slidenum">
              <a:rPr lang="en-US" smtClean="0"/>
              <a:t>1</a:t>
            </a:fld>
            <a:endParaRPr lang="en-US"/>
          </a:p>
        </p:txBody>
      </p:sp>
    </p:spTree>
    <p:extLst>
      <p:ext uri="{BB962C8B-B14F-4D97-AF65-F5344CB8AC3E}">
        <p14:creationId xmlns:p14="http://schemas.microsoft.com/office/powerpoint/2010/main" val="2691089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TEKS:</a:t>
            </a:r>
          </a:p>
          <a:p>
            <a:pPr algn="l"/>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A.1A: apply mathematics to problems arising in everyday life, society, and the workplace.</a:t>
            </a:r>
            <a:b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A.1B: use a problem-solving model that incorporates analyzing given information, formulating a plan or strategy, determining a solution, justifying the solution, and evaluating the problem-solving process and the reasonableness of the solution.</a:t>
            </a:r>
          </a:p>
          <a:p>
            <a:pPr algn="l"/>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A.1F: analyze mathematical relationships to connect and communicate mathematical ideas.</a:t>
            </a:r>
          </a:p>
          <a:p>
            <a:pPr algn="l"/>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A.2C: </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write linear equations in two variables given a table of values, a graph, and a verbal description.</a:t>
            </a:r>
          </a:p>
          <a:p>
            <a:pPr algn="l"/>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A.2D: write and solve equations involving direct variation.</a:t>
            </a:r>
          </a:p>
          <a:p>
            <a:pPr algn="l"/>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A.3A: determine the slope of a line given a table of values, a graph, two points on the line, and an equation written in various forms, including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 </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mx </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Ax </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By </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C </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 </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25000">
                <a:solidFill>
                  <a:srgbClr val="000000"/>
                </a:solidFill>
                <a:latin typeface="Calibri" panose="020F0502020204030204" pitchFamily="34" charset="0"/>
                <a:ea typeface="Calibri" panose="020F0502020204030204" pitchFamily="34" charset="0"/>
                <a:cs typeface="Calibri" panose="020F0502020204030204" pitchFamily="34" charset="0"/>
              </a:rPr>
              <a:t>1</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x </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25000">
                <a:solidFill>
                  <a:srgbClr val="000000"/>
                </a:solidFill>
                <a:latin typeface="Calibri" panose="020F0502020204030204" pitchFamily="34" charset="0"/>
                <a:ea typeface="Calibri" panose="020F0502020204030204" pitchFamily="34" charset="0"/>
                <a:cs typeface="Calibri" panose="020F0502020204030204" pitchFamily="34" charset="0"/>
              </a:rPr>
              <a:t>1</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A.3C</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graph linear functions on the coordinate plane and identify key features, including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zeros, and slope, in mathematical and real-world problems.</a:t>
            </a:r>
          </a:p>
          <a:p>
            <a:pPr algn="l"/>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A.3E: determine the effects on the graph of the parent function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when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is replaced by </a:t>
            </a:r>
            <a:r>
              <a:rPr lang="en-US" sz="1200" i="1" err="1">
                <a:solidFill>
                  <a:srgbClr val="000000"/>
                </a:solidFill>
                <a:latin typeface="Calibri" panose="020F0502020204030204" pitchFamily="34" charset="0"/>
                <a:ea typeface="Calibri" panose="020F0502020204030204" pitchFamily="34" charset="0"/>
                <a:cs typeface="Calibri" panose="020F0502020204030204" pitchFamily="34" charset="0"/>
              </a:rPr>
              <a:t>af</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bx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for specific values of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sz="1200" i="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algn="l"/>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A.3F: graph systems of two linear equations in two variables on the coordinate plane and determine the solutions if they exist.</a:t>
            </a:r>
          </a:p>
          <a:p>
            <a:pPr algn="l"/>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A.12A: decide whether relations represented verbally, tabularly, graphically, and symbolically define a function.</a:t>
            </a:r>
          </a:p>
          <a:p>
            <a:pPr algn="l"/>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A.12B: evaluate functions, expressed in function notation, given one or more elements in their domains.</a:t>
            </a:r>
          </a:p>
          <a:p>
            <a:pPr algn="l"/>
            <a:endPar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ELPS:</a:t>
            </a:r>
          </a:p>
          <a:p>
            <a:pPr algn="l"/>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1.H: </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develop and expand repertoire of learning strategies such as reasoning inductively or deductively, looking for patterns in language, and analyzing sayings and expressions commensurate with grade-level learning expectations.</a:t>
            </a: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3.C: speak using a variety of grammatical structures, sentence lengths, sentence types, and connecting words with increasing accuracy and ease as more English is acquired.</a:t>
            </a:r>
          </a:p>
          <a:p>
            <a:pPr algn="l"/>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4.D: use prereading supports such as graphic organizers, illustrations, and </a:t>
            </a:r>
            <a:r>
              <a:rPr lang="en-US" sz="1200" b="0" i="0" u="none" strike="noStrike" baseline="0" err="1">
                <a:solidFill>
                  <a:srgbClr val="000000"/>
                </a:solidFill>
                <a:latin typeface="Calibri" panose="020F0502020204030204" pitchFamily="34" charset="0"/>
                <a:ea typeface="Calibri" panose="020F0502020204030204" pitchFamily="34" charset="0"/>
                <a:cs typeface="Calibri" panose="020F0502020204030204" pitchFamily="34" charset="0"/>
              </a:rPr>
              <a:t>pretaught</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 topic-related vocabulary and other prereading activities to enhance comprehension of written text.</a:t>
            </a:r>
            <a:endParaRPr lang="en-US" sz="1200" b="1"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2</a:t>
            </a:fld>
            <a:endParaRPr lang="en-US"/>
          </a:p>
        </p:txBody>
      </p:sp>
    </p:spTree>
    <p:extLst>
      <p:ext uri="{BB962C8B-B14F-4D97-AF65-F5344CB8AC3E}">
        <p14:creationId xmlns:p14="http://schemas.microsoft.com/office/powerpoint/2010/main" val="315807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Polynomial is introduced on Day 2.</a:t>
            </a:r>
          </a:p>
        </p:txBody>
      </p:sp>
      <p:sp>
        <p:nvSpPr>
          <p:cNvPr id="4" name="Slide Number Placeholder 3"/>
          <p:cNvSpPr>
            <a:spLocks noGrp="1"/>
          </p:cNvSpPr>
          <p:nvPr>
            <p:ph type="sldNum" sz="quarter" idx="5"/>
          </p:nvPr>
        </p:nvSpPr>
        <p:spPr/>
        <p:txBody>
          <a:bodyPr/>
          <a:lstStyle/>
          <a:p>
            <a:fld id="{BB5E49A5-4136-284D-997B-48E1D791AD67}" type="slidenum">
              <a:rPr lang="en-US" smtClean="0"/>
              <a:t>3</a:t>
            </a:fld>
            <a:endParaRPr lang="en-US"/>
          </a:p>
        </p:txBody>
      </p:sp>
    </p:spTree>
    <p:extLst>
      <p:ext uri="{BB962C8B-B14F-4D97-AF65-F5344CB8AC3E}">
        <p14:creationId xmlns:p14="http://schemas.microsoft.com/office/powerpoint/2010/main" val="586247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F1E75-4534-B2AF-E191-0AA8C0DCA5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60DB79-7BE2-093B-701D-48A7359AEDE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E3E98B6-1723-545E-F74F-66E61F8814A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Degree is introduced on Day 2.</a:t>
            </a:r>
          </a:p>
        </p:txBody>
      </p:sp>
      <p:sp>
        <p:nvSpPr>
          <p:cNvPr id="4" name="Slide Number Placeholder 3">
            <a:extLst>
              <a:ext uri="{FF2B5EF4-FFF2-40B4-BE49-F238E27FC236}">
                <a16:creationId xmlns:a16="http://schemas.microsoft.com/office/drawing/2014/main" id="{E96FEA81-C632-2059-F95E-CED755A78286}"/>
              </a:ext>
            </a:extLst>
          </p:cNvPr>
          <p:cNvSpPr>
            <a:spLocks noGrp="1"/>
          </p:cNvSpPr>
          <p:nvPr>
            <p:ph type="sldNum" sz="quarter" idx="5"/>
          </p:nvPr>
        </p:nvSpPr>
        <p:spPr/>
        <p:txBody>
          <a:bodyPr/>
          <a:lstStyle/>
          <a:p>
            <a:fld id="{BB5E49A5-4136-284D-997B-48E1D791AD67}" type="slidenum">
              <a:rPr lang="en-US" smtClean="0"/>
              <a:t>4</a:t>
            </a:fld>
            <a:endParaRPr lang="en-US"/>
          </a:p>
        </p:txBody>
      </p:sp>
    </p:spTree>
    <p:extLst>
      <p:ext uri="{BB962C8B-B14F-4D97-AF65-F5344CB8AC3E}">
        <p14:creationId xmlns:p14="http://schemas.microsoft.com/office/powerpoint/2010/main" val="1214692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97140-38A6-3A2D-EA6E-E81B83CAC4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E13875-54B4-A8C4-952B-15BE352BD374}"/>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D3AC37F-579F-A94C-FB1F-D69E8C705DF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Leading coefficient is introduced on Day 2.</a:t>
            </a:r>
          </a:p>
        </p:txBody>
      </p:sp>
      <p:sp>
        <p:nvSpPr>
          <p:cNvPr id="4" name="Slide Number Placeholder 3">
            <a:extLst>
              <a:ext uri="{FF2B5EF4-FFF2-40B4-BE49-F238E27FC236}">
                <a16:creationId xmlns:a16="http://schemas.microsoft.com/office/drawing/2014/main" id="{F407A0F3-9C07-A71F-D8DD-B5053C5C48A9}"/>
              </a:ext>
            </a:extLst>
          </p:cNvPr>
          <p:cNvSpPr>
            <a:spLocks noGrp="1"/>
          </p:cNvSpPr>
          <p:nvPr>
            <p:ph type="sldNum" sz="quarter" idx="5"/>
          </p:nvPr>
        </p:nvSpPr>
        <p:spPr/>
        <p:txBody>
          <a:bodyPr/>
          <a:lstStyle/>
          <a:p>
            <a:fld id="{BB5E49A5-4136-284D-997B-48E1D791AD67}" type="slidenum">
              <a:rPr lang="en-US" smtClean="0"/>
              <a:t>5</a:t>
            </a:fld>
            <a:endParaRPr lang="en-US"/>
          </a:p>
        </p:txBody>
      </p:sp>
    </p:spTree>
    <p:extLst>
      <p:ext uri="{BB962C8B-B14F-4D97-AF65-F5344CB8AC3E}">
        <p14:creationId xmlns:p14="http://schemas.microsoft.com/office/powerpoint/2010/main" val="9825002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171A5-1A4E-D542-7FB5-00DE2F0BE6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BA923A-28D3-97C5-8CD3-97755A6C101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DCB70ED-08FA-B613-053B-2696E6A69B7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Zero of a function is introduced on Day 2.</a:t>
            </a:r>
          </a:p>
        </p:txBody>
      </p:sp>
      <p:sp>
        <p:nvSpPr>
          <p:cNvPr id="4" name="Slide Number Placeholder 3">
            <a:extLst>
              <a:ext uri="{FF2B5EF4-FFF2-40B4-BE49-F238E27FC236}">
                <a16:creationId xmlns:a16="http://schemas.microsoft.com/office/drawing/2014/main" id="{AB83E8AE-CF58-8121-A090-B4C90E8C81A2}"/>
              </a:ext>
            </a:extLst>
          </p:cNvPr>
          <p:cNvSpPr>
            <a:spLocks noGrp="1"/>
          </p:cNvSpPr>
          <p:nvPr>
            <p:ph type="sldNum" sz="quarter" idx="5"/>
          </p:nvPr>
        </p:nvSpPr>
        <p:spPr/>
        <p:txBody>
          <a:bodyPr/>
          <a:lstStyle/>
          <a:p>
            <a:fld id="{BB5E49A5-4136-284D-997B-48E1D791AD67}" type="slidenum">
              <a:rPr lang="en-US" smtClean="0"/>
              <a:t>6</a:t>
            </a:fld>
            <a:endParaRPr lang="en-US"/>
          </a:p>
        </p:txBody>
      </p:sp>
    </p:spTree>
    <p:extLst>
      <p:ext uri="{BB962C8B-B14F-4D97-AF65-F5344CB8AC3E}">
        <p14:creationId xmlns:p14="http://schemas.microsoft.com/office/powerpoint/2010/main" val="1416351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Setting the Stage:</a:t>
            </a:r>
            <a:endPar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Tap into your student’s prior learning by reading the narrative statement.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Provide a sense of direction by reading the Essential Question.</a:t>
            </a: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7</a:t>
            </a:fld>
            <a:endParaRPr lang="en-US"/>
          </a:p>
        </p:txBody>
      </p:sp>
    </p:spTree>
    <p:extLst>
      <p:ext uri="{BB962C8B-B14F-4D97-AF65-F5344CB8AC3E}">
        <p14:creationId xmlns:p14="http://schemas.microsoft.com/office/powerpoint/2010/main" val="40617252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Day 1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8</a:t>
            </a:fld>
            <a:endParaRPr lang="en-US"/>
          </a:p>
        </p:txBody>
      </p:sp>
    </p:spTree>
    <p:extLst>
      <p:ext uri="{BB962C8B-B14F-4D97-AF65-F5344CB8AC3E}">
        <p14:creationId xmlns:p14="http://schemas.microsoft.com/office/powerpoint/2010/main" val="33887377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Total time of 10-15 minutes allotted for the Getting Started.</a:t>
            </a:r>
          </a:p>
        </p:txBody>
      </p:sp>
      <p:sp>
        <p:nvSpPr>
          <p:cNvPr id="4" name="Slide Number Placeholder 3"/>
          <p:cNvSpPr>
            <a:spLocks noGrp="1"/>
          </p:cNvSpPr>
          <p:nvPr>
            <p:ph type="sldNum" sz="quarter" idx="5"/>
          </p:nvPr>
        </p:nvSpPr>
        <p:spPr/>
        <p:txBody>
          <a:bodyPr/>
          <a:lstStyle/>
          <a:p>
            <a:fld id="{BB5E49A5-4136-284D-997B-48E1D791AD67}" type="slidenum">
              <a:rPr lang="en-US" smtClean="0"/>
              <a:t>9</a:t>
            </a:fld>
            <a:endParaRPr lang="en-US"/>
          </a:p>
        </p:txBody>
      </p:sp>
    </p:spTree>
    <p:extLst>
      <p:ext uri="{BB962C8B-B14F-4D97-AF65-F5344CB8AC3E}">
        <p14:creationId xmlns:p14="http://schemas.microsoft.com/office/powerpoint/2010/main" val="31575870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each scenario describes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Did you create a table for any scenario? If so, explain your results.</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is another way to describe decreases by 50% each hour?</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Which feature identifies whether an equation is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Describe why Table B is a linear function and Table A is not.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strategy can you use to identify whether Table C represents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table does Graph C model? Why isn’t this line a linear function?</a:t>
            </a: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10</a:t>
            </a:fld>
            <a:endParaRPr lang="en-US"/>
          </a:p>
        </p:txBody>
      </p:sp>
    </p:spTree>
    <p:extLst>
      <p:ext uri="{BB962C8B-B14F-4D97-AF65-F5344CB8AC3E}">
        <p14:creationId xmlns:p14="http://schemas.microsoft.com/office/powerpoint/2010/main" val="36119870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5D600-5F8F-0021-EF6A-E37B0A2FDF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F0D781-BC54-1FC6-746C-8CC526E3938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F0E7DBF-E012-6E47-3E93-5A27A09FFDF8}"/>
              </a:ext>
            </a:extLst>
          </p:cNvPr>
          <p:cNvSpPr>
            <a:spLocks noGrp="1"/>
          </p:cNvSpPr>
          <p:nvPr>
            <p:ph type="body" idx="1"/>
          </p:nvPr>
        </p:nvSpPr>
        <p:spPr/>
        <p:txBody>
          <a:bodyPr/>
          <a:lstStyle/>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each scenario describes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Did you create a table for any scenario? If so, explain your results.</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is another way to describe decreases by 50% each hour?</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Which feature identifies whether an equation is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Describe why Table B is a linear function and Table A is not.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strategy can you use to identify whether Table C represents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table does Graph C model? Why isn’t this line a linear function?</a:t>
            </a: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38A31CA-B225-7C08-FACC-B2A7E7EC4533}"/>
              </a:ext>
            </a:extLst>
          </p:cNvPr>
          <p:cNvSpPr>
            <a:spLocks noGrp="1"/>
          </p:cNvSpPr>
          <p:nvPr>
            <p:ph type="sldNum" sz="quarter" idx="5"/>
          </p:nvPr>
        </p:nvSpPr>
        <p:spPr/>
        <p:txBody>
          <a:bodyPr/>
          <a:lstStyle/>
          <a:p>
            <a:fld id="{BB5E49A5-4136-284D-997B-48E1D791AD67}" type="slidenum">
              <a:rPr lang="en-US" smtClean="0"/>
              <a:t>11</a:t>
            </a:fld>
            <a:endParaRPr lang="en-US"/>
          </a:p>
        </p:txBody>
      </p:sp>
    </p:spTree>
    <p:extLst>
      <p:ext uri="{BB962C8B-B14F-4D97-AF65-F5344CB8AC3E}">
        <p14:creationId xmlns:p14="http://schemas.microsoft.com/office/powerpoint/2010/main" val="1315251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4CE16-5336-DB99-93E6-619694909C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157F48-5376-0B54-109B-FC1FDC058BD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A6BFB5E-9CD7-F93F-5C76-FB178AEF6EC0}"/>
              </a:ext>
            </a:extLst>
          </p:cNvPr>
          <p:cNvSpPr>
            <a:spLocks noGrp="1"/>
          </p:cNvSpPr>
          <p:nvPr>
            <p:ph type="body" idx="1"/>
          </p:nvPr>
        </p:nvSpPr>
        <p:spPr/>
        <p:txBody>
          <a:bodyPr/>
          <a:lstStyle/>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each scenario describes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Did you create a table for any scenario? If so, explain your results.</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is another way to describe decreases by 50% each hour?</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Which feature identifies whether an equation is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Describe why Table B is a linear function and Table A is not.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strategy can you use to identify whether Table C represents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table does Graph C model? Why isn’t this line a linear function?</a:t>
            </a: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943DF6F-4E9E-5AC6-4D00-EA6752E5B2F6}"/>
              </a:ext>
            </a:extLst>
          </p:cNvPr>
          <p:cNvSpPr>
            <a:spLocks noGrp="1"/>
          </p:cNvSpPr>
          <p:nvPr>
            <p:ph type="sldNum" sz="quarter" idx="5"/>
          </p:nvPr>
        </p:nvSpPr>
        <p:spPr/>
        <p:txBody>
          <a:bodyPr/>
          <a:lstStyle/>
          <a:p>
            <a:fld id="{BB5E49A5-4136-284D-997B-48E1D791AD67}" type="slidenum">
              <a:rPr lang="en-US" smtClean="0"/>
              <a:t>12</a:t>
            </a:fld>
            <a:endParaRPr lang="en-US"/>
          </a:p>
        </p:txBody>
      </p:sp>
    </p:spTree>
    <p:extLst>
      <p:ext uri="{BB962C8B-B14F-4D97-AF65-F5344CB8AC3E}">
        <p14:creationId xmlns:p14="http://schemas.microsoft.com/office/powerpoint/2010/main" val="2963591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4DFE2-EC35-64F1-B498-706D956331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9395F-627C-F8EB-03D6-B698A151101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8A3703E-DF38-E3B0-FE79-81A1F66860AF}"/>
              </a:ext>
            </a:extLst>
          </p:cNvPr>
          <p:cNvSpPr>
            <a:spLocks noGrp="1"/>
          </p:cNvSpPr>
          <p:nvPr>
            <p:ph type="body" idx="1"/>
          </p:nvPr>
        </p:nvSpPr>
        <p:spPr/>
        <p:txBody>
          <a:bodyPr/>
          <a:lstStyle/>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Getting Started Summary:</a:t>
            </a:r>
          </a:p>
          <a:p>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Methods exist to determine whether a context, equation, table, or graph represents a linear function</a:t>
            </a:r>
            <a:r>
              <a:rPr lang="en-US" sz="1200" b="0">
                <a:solidFill>
                  <a:srgbClr val="000000"/>
                </a:solidFill>
                <a:latin typeface="Calibri" panose="020F0502020204030204" pitchFamily="34" charset="0"/>
                <a:ea typeface="Calibri" panose="020F0502020204030204" pitchFamily="34" charset="0"/>
                <a:cs typeface="Calibri" panose="020F0502020204030204" pitchFamily="34" charset="0"/>
              </a:rPr>
              <a:t>.</a:t>
            </a:r>
          </a:p>
        </p:txBody>
      </p:sp>
      <p:sp>
        <p:nvSpPr>
          <p:cNvPr id="4" name="Slide Number Placeholder 3">
            <a:extLst>
              <a:ext uri="{FF2B5EF4-FFF2-40B4-BE49-F238E27FC236}">
                <a16:creationId xmlns:a16="http://schemas.microsoft.com/office/drawing/2014/main" id="{2A3DC0EC-D603-999A-236D-518155674551}"/>
              </a:ext>
            </a:extLst>
          </p:cNvPr>
          <p:cNvSpPr>
            <a:spLocks noGrp="1"/>
          </p:cNvSpPr>
          <p:nvPr>
            <p:ph type="sldNum" sz="quarter" idx="5"/>
          </p:nvPr>
        </p:nvSpPr>
        <p:spPr/>
        <p:txBody>
          <a:bodyPr/>
          <a:lstStyle/>
          <a:p>
            <a:fld id="{BB5E49A5-4136-284D-997B-48E1D791AD67}" type="slidenum">
              <a:rPr lang="en-US" smtClean="0"/>
              <a:t>13</a:t>
            </a:fld>
            <a:endParaRPr lang="en-US"/>
          </a:p>
        </p:txBody>
      </p:sp>
    </p:spTree>
    <p:extLst>
      <p:ext uri="{BB962C8B-B14F-4D97-AF65-F5344CB8AC3E}">
        <p14:creationId xmlns:p14="http://schemas.microsoft.com/office/powerpoint/2010/main" val="18594937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38BF5-5684-48A6-AA9C-07C55AFECE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9D73C6-8C92-E996-9882-FDDE592CFA7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1E6E6D4-3519-E072-FE12-29F1BF4BB67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52731FC-8026-354D-99E3-41C65C263F32}"/>
              </a:ext>
            </a:extLst>
          </p:cNvPr>
          <p:cNvSpPr>
            <a:spLocks noGrp="1"/>
          </p:cNvSpPr>
          <p:nvPr>
            <p:ph type="sldNum" sz="quarter" idx="5"/>
          </p:nvPr>
        </p:nvSpPr>
        <p:spPr/>
        <p:txBody>
          <a:bodyPr/>
          <a:lstStyle/>
          <a:p>
            <a:fld id="{BB5E49A5-4136-284D-997B-48E1D791AD67}" type="slidenum">
              <a:rPr lang="en-US" smtClean="0"/>
              <a:t>14</a:t>
            </a:fld>
            <a:endParaRPr lang="en-US"/>
          </a:p>
        </p:txBody>
      </p:sp>
    </p:spTree>
    <p:extLst>
      <p:ext uri="{BB962C8B-B14F-4D97-AF65-F5344CB8AC3E}">
        <p14:creationId xmlns:p14="http://schemas.microsoft.com/office/powerpoint/2010/main" val="19012801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Total time of 25-30 minutes allotted for Activity 6.1.</a:t>
            </a:r>
          </a:p>
        </p:txBody>
      </p:sp>
      <p:sp>
        <p:nvSpPr>
          <p:cNvPr id="4" name="Slide Number Placeholder 3"/>
          <p:cNvSpPr>
            <a:spLocks noGrp="1"/>
          </p:cNvSpPr>
          <p:nvPr>
            <p:ph type="sldNum" sz="quarter" idx="5"/>
          </p:nvPr>
        </p:nvSpPr>
        <p:spPr/>
        <p:txBody>
          <a:bodyPr/>
          <a:lstStyle/>
          <a:p>
            <a:fld id="{BB5E49A5-4136-284D-997B-48E1D791AD67}" type="slidenum">
              <a:rPr lang="en-US" smtClean="0"/>
              <a:t>15</a:t>
            </a:fld>
            <a:endParaRPr lang="en-US"/>
          </a:p>
        </p:txBody>
      </p:sp>
    </p:spTree>
    <p:extLst>
      <p:ext uri="{BB962C8B-B14F-4D97-AF65-F5344CB8AC3E}">
        <p14:creationId xmlns:p14="http://schemas.microsoft.com/office/powerpoint/2010/main" val="1614653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16</a:t>
            </a:fld>
            <a:endParaRPr lang="en-US"/>
          </a:p>
        </p:txBody>
      </p:sp>
    </p:spTree>
    <p:extLst>
      <p:ext uri="{BB962C8B-B14F-4D97-AF65-F5344CB8AC3E}">
        <p14:creationId xmlns:p14="http://schemas.microsoft.com/office/powerpoint/2010/main" val="18336194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66A92-6849-9FFA-76FC-D63AEDB61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C3BF50-F0B1-601C-B877-16203C156EF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B0B2DC7-DAAA-62DF-085F-DB76CB4F937F}"/>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can’t you use first differences to determine whether these tables represent linear functions?</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a table with non-consecutive values represents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-intercept for the table in part (a)?</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is the difference between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-values in part (b)? Then why doesn’t this table represent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the column titles help you relate the slope to the context?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equation represents this table?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the slope represents the price of a ticket or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calculate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figure out the number of ride tickets Nakota can buy?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doesn’t tripling the table results for 6 result in $20?</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Did you use the table or equation to determine the tank’s capacity?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represent the empty tank mathematically?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when the tank will be empty?</a:t>
            </a: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243159F0-D077-0D59-F944-3922767EE8EB}"/>
              </a:ext>
            </a:extLst>
          </p:cNvPr>
          <p:cNvSpPr>
            <a:spLocks noGrp="1"/>
          </p:cNvSpPr>
          <p:nvPr>
            <p:ph type="sldNum" sz="quarter" idx="5"/>
          </p:nvPr>
        </p:nvSpPr>
        <p:spPr/>
        <p:txBody>
          <a:bodyPr/>
          <a:lstStyle/>
          <a:p>
            <a:fld id="{BB5E49A5-4136-284D-997B-48E1D791AD67}" type="slidenum">
              <a:rPr lang="en-US" smtClean="0"/>
              <a:t>17</a:t>
            </a:fld>
            <a:endParaRPr lang="en-US"/>
          </a:p>
        </p:txBody>
      </p:sp>
    </p:spTree>
    <p:extLst>
      <p:ext uri="{BB962C8B-B14F-4D97-AF65-F5344CB8AC3E}">
        <p14:creationId xmlns:p14="http://schemas.microsoft.com/office/powerpoint/2010/main" val="9765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can’t you use first differences to determine whether these tables represent linear functions?</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a table with non-consecutive values represents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-intercept for the table in part (a)?</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is the difference between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-values in part (b)? Then why doesn’t this table represent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the column titles help you relate the slope to the context?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equation represents this table?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the slope represents the price of a ticket or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calculate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figure out the number of ride tickets Nakota can buy?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doesn’t tripling the table results for 6 result in $20?</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Did you use the table or equation to determine the tank’s capacity?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represent the empty tank mathematically?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when the tank will be empty?</a:t>
            </a: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18</a:t>
            </a:fld>
            <a:endParaRPr lang="en-US"/>
          </a:p>
        </p:txBody>
      </p:sp>
    </p:spTree>
    <p:extLst>
      <p:ext uri="{BB962C8B-B14F-4D97-AF65-F5344CB8AC3E}">
        <p14:creationId xmlns:p14="http://schemas.microsoft.com/office/powerpoint/2010/main" val="10544826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6DEF3-AC41-2FFE-6E73-BC03B49582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36C3A1-DFFE-7666-C1BF-581A52E3DB8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D156B01-FE18-F373-F7C8-190C1E30B57F}"/>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can’t you use first differences to determine whether these tables represent linear functions?</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a table with non-consecutive values represents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-intercept for the table in part (a)?</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is the difference between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-values in part (b)? Then why doesn’t this table represent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the column titles help you relate the slope to the context?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equation represents this table?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the slope represents the price of a ticket or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calculate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figure out the number of ride tickets Nakota can buy?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doesn’t tripling the table results for 6 result in $20?</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Did you use the table or equation to determine the tank’s capacity?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represent the empty tank mathematically?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when the tank will be empty?</a:t>
            </a: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B353616-61CE-0E93-949D-8BFBDB8A2334}"/>
              </a:ext>
            </a:extLst>
          </p:cNvPr>
          <p:cNvSpPr>
            <a:spLocks noGrp="1"/>
          </p:cNvSpPr>
          <p:nvPr>
            <p:ph type="sldNum" sz="quarter" idx="5"/>
          </p:nvPr>
        </p:nvSpPr>
        <p:spPr/>
        <p:txBody>
          <a:bodyPr/>
          <a:lstStyle/>
          <a:p>
            <a:fld id="{BB5E49A5-4136-284D-997B-48E1D791AD67}" type="slidenum">
              <a:rPr lang="en-US" smtClean="0"/>
              <a:t>19</a:t>
            </a:fld>
            <a:endParaRPr lang="en-US"/>
          </a:p>
        </p:txBody>
      </p:sp>
    </p:spTree>
    <p:extLst>
      <p:ext uri="{BB962C8B-B14F-4D97-AF65-F5344CB8AC3E}">
        <p14:creationId xmlns:p14="http://schemas.microsoft.com/office/powerpoint/2010/main" val="32292349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1E8C8-2AAB-C759-115A-259F7A063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4A0450-5D74-4576-15E9-4648B811F1C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84A27E2-87A8-EC4C-CDD0-4670478B4CA5}"/>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can’t you use first differences to determine whether these tables represent linear functions?</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a table with non-consecutive values represents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-intercept for the table in part (a)?</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is the difference between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-values in part (b)? Then why doesn’t this table represent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the column titles help you relate the slope to the context?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equation represents this table?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the slope represents the price of a ticket or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calculate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figure out the number of ride tickets Nakota can buy?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doesn’t tripling the table results for 6 result in $20?</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Did you use the table or equation to determine the tank’s capacity?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represent the empty tank mathematically?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when the tank will be empty?</a:t>
            </a: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FB256ED-C7D0-83E5-BBB7-D8F921013240}"/>
              </a:ext>
            </a:extLst>
          </p:cNvPr>
          <p:cNvSpPr>
            <a:spLocks noGrp="1"/>
          </p:cNvSpPr>
          <p:nvPr>
            <p:ph type="sldNum" sz="quarter" idx="5"/>
          </p:nvPr>
        </p:nvSpPr>
        <p:spPr/>
        <p:txBody>
          <a:bodyPr/>
          <a:lstStyle/>
          <a:p>
            <a:fld id="{BB5E49A5-4136-284D-997B-48E1D791AD67}" type="slidenum">
              <a:rPr lang="en-US" smtClean="0"/>
              <a:t>20</a:t>
            </a:fld>
            <a:endParaRPr lang="en-US"/>
          </a:p>
        </p:txBody>
      </p:sp>
    </p:spTree>
    <p:extLst>
      <p:ext uri="{BB962C8B-B14F-4D97-AF65-F5344CB8AC3E}">
        <p14:creationId xmlns:p14="http://schemas.microsoft.com/office/powerpoint/2010/main" val="6846351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08F79-6158-F171-28F8-94A610062C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B1C8B8-390C-BAE3-42E7-4A94BCAC3E2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F37CA0E-A63B-50A5-6998-B795804471C7}"/>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can’t you use first differences to determine whether these tables represent linear functions?</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a table with non-consecutive values represents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-intercept for the table in part (a)?</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is the difference between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-values in part (b)? Then why doesn’t this table represent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the column titles help you relate the slope to the context?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equation represents this table?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the slope represents the price of a ticket or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calculate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figure out the number of ride tickets Nakota can buy?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doesn’t tripling the table results for 6 result in $20?</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Did you use the table or equation to determine the tank’s capacity?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represent the empty tank mathematically?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when the tank will be empty?</a:t>
            </a: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0CD14E9-20E5-7F03-13FF-8D02671AC177}"/>
              </a:ext>
            </a:extLst>
          </p:cNvPr>
          <p:cNvSpPr>
            <a:spLocks noGrp="1"/>
          </p:cNvSpPr>
          <p:nvPr>
            <p:ph type="sldNum" sz="quarter" idx="5"/>
          </p:nvPr>
        </p:nvSpPr>
        <p:spPr/>
        <p:txBody>
          <a:bodyPr/>
          <a:lstStyle/>
          <a:p>
            <a:fld id="{BB5E49A5-4136-284D-997B-48E1D791AD67}" type="slidenum">
              <a:rPr lang="en-US" smtClean="0"/>
              <a:t>21</a:t>
            </a:fld>
            <a:endParaRPr lang="en-US"/>
          </a:p>
        </p:txBody>
      </p:sp>
    </p:spTree>
    <p:extLst>
      <p:ext uri="{BB962C8B-B14F-4D97-AF65-F5344CB8AC3E}">
        <p14:creationId xmlns:p14="http://schemas.microsoft.com/office/powerpoint/2010/main" val="11180268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3164F-4A26-FFD7-056E-1912CB8DB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4D116-E269-9BAB-AB90-D6164A712FD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98A0C50-DB59-B003-9F49-8D678782068B}"/>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can’t you use first differences to determine whether these tables represent linear functions?</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a table with non-consecutive values represents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-intercept for the table in part (a)?</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is the difference between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-values in part (b)? Then why doesn’t this table represent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the column titles help you relate the slope to the context?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equation represents this table?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the slope represents the price of a ticket or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calculate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figure out the number of ride tickets Nakota can buy?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doesn’t tripling the table results for 6 result in $20?</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Did you use the table or equation to determine the tank’s capacity?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represent the empty tank mathematically?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when the tank will be empty?</a:t>
            </a: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0672A03-E264-42FD-62D6-970DBE88FF64}"/>
              </a:ext>
            </a:extLst>
          </p:cNvPr>
          <p:cNvSpPr>
            <a:spLocks noGrp="1"/>
          </p:cNvSpPr>
          <p:nvPr>
            <p:ph type="sldNum" sz="quarter" idx="5"/>
          </p:nvPr>
        </p:nvSpPr>
        <p:spPr/>
        <p:txBody>
          <a:bodyPr/>
          <a:lstStyle/>
          <a:p>
            <a:fld id="{BB5E49A5-4136-284D-997B-48E1D791AD67}" type="slidenum">
              <a:rPr lang="en-US" smtClean="0"/>
              <a:t>22</a:t>
            </a:fld>
            <a:endParaRPr lang="en-US"/>
          </a:p>
        </p:txBody>
      </p:sp>
    </p:spTree>
    <p:extLst>
      <p:ext uri="{BB962C8B-B14F-4D97-AF65-F5344CB8AC3E}">
        <p14:creationId xmlns:p14="http://schemas.microsoft.com/office/powerpoint/2010/main" val="33501771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70556-79FE-6FAA-0EB1-E1BC18B636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1290E7-C3D2-E7C2-ED8C-711374E1FA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913EF85-D3C8-52DC-8030-851B3D4D3F8E}"/>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 </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can’t you use first differences to determine whether these tables represent linear functions?</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a table with non-consecutive values represents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-intercept for the table in part (a)?</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is the difference between </a:t>
            </a:r>
            <a:r>
              <a:rPr lang="en-US" sz="1200" b="0" i="1"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-values in part (b)? Then why doesn’t this table represent a linear function?</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the column titles help you relate the slope to the context?</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What equation represents this table?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the slope represents the price of a ticket or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calculate the entrance fee?</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figure out the number of ride tickets Nakota can buy?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Why doesn’t tripling the table results for 6 result in $20?</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Did you use the table or equation to determine the tank’s capacity?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can you represent the empty tank mathematically?</a:t>
            </a:r>
          </a:p>
          <a:p>
            <a:pPr marL="171450" indent="-171450" algn="l">
              <a:buFont typeface="Arial" panose="020B0604020202020204" pitchFamily="34" charset="0"/>
              <a:buChar char="•"/>
            </a:pPr>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when the tank will be empty?</a:t>
            </a: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909C97C-8DC1-11C0-B3F4-33F70A65982F}"/>
              </a:ext>
            </a:extLst>
          </p:cNvPr>
          <p:cNvSpPr>
            <a:spLocks noGrp="1"/>
          </p:cNvSpPr>
          <p:nvPr>
            <p:ph type="sldNum" sz="quarter" idx="5"/>
          </p:nvPr>
        </p:nvSpPr>
        <p:spPr/>
        <p:txBody>
          <a:bodyPr/>
          <a:lstStyle/>
          <a:p>
            <a:fld id="{BB5E49A5-4136-284D-997B-48E1D791AD67}" type="slidenum">
              <a:rPr lang="en-US" smtClean="0"/>
              <a:t>23</a:t>
            </a:fld>
            <a:endParaRPr lang="en-US"/>
          </a:p>
        </p:txBody>
      </p:sp>
    </p:spTree>
    <p:extLst>
      <p:ext uri="{BB962C8B-B14F-4D97-AF65-F5344CB8AC3E}">
        <p14:creationId xmlns:p14="http://schemas.microsoft.com/office/powerpoint/2010/main" val="15367842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65AEA-130B-6736-50D0-E8E2F7A1B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E1D73-731D-34B3-F878-DCCAF3C8DA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7752122-E447-28BE-C2DB-563DBB54703C}"/>
              </a:ext>
            </a:extLst>
          </p:cNvPr>
          <p:cNvSpPr>
            <a:spLocks noGrp="1"/>
          </p:cNvSpPr>
          <p:nvPr>
            <p:ph type="body" idx="1"/>
          </p:nvPr>
        </p:nvSpPr>
        <p:spPr/>
        <p:txBody>
          <a:bodyPr/>
          <a:lstStyle/>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a:solidFill>
                  <a:srgbClr val="000000"/>
                </a:solidFill>
                <a:latin typeface="Calibri" panose="020F0502020204030204" pitchFamily="34" charset="0"/>
                <a:ea typeface="Calibri" panose="020F0502020204030204" pitchFamily="34" charset="0"/>
                <a:cs typeface="Calibri" panose="020F0502020204030204" pitchFamily="34" charset="0"/>
              </a:rPr>
              <a:t> To close Day 1, have students reread the Essential Question and then read the Stamp the Learning summary aloud.</a:t>
            </a:r>
          </a:p>
          <a:p>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Activity 6.1 Summary:</a:t>
            </a:r>
          </a:p>
          <a:p>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If a table represents a linear function, the slope, or average rate of change, is constant between all given points.</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804E39F-7316-A03F-6CD9-D3A3D26408EE}"/>
              </a:ext>
            </a:extLst>
          </p:cNvPr>
          <p:cNvSpPr>
            <a:spLocks noGrp="1"/>
          </p:cNvSpPr>
          <p:nvPr>
            <p:ph type="sldNum" sz="quarter" idx="5"/>
          </p:nvPr>
        </p:nvSpPr>
        <p:spPr/>
        <p:txBody>
          <a:bodyPr/>
          <a:lstStyle/>
          <a:p>
            <a:fld id="{BB5E49A5-4136-284D-997B-48E1D791AD67}" type="slidenum">
              <a:rPr lang="en-US" smtClean="0"/>
              <a:t>24</a:t>
            </a:fld>
            <a:endParaRPr lang="en-US"/>
          </a:p>
        </p:txBody>
      </p:sp>
    </p:spTree>
    <p:extLst>
      <p:ext uri="{BB962C8B-B14F-4D97-AF65-F5344CB8AC3E}">
        <p14:creationId xmlns:p14="http://schemas.microsoft.com/office/powerpoint/2010/main" val="24881993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65AEA-130B-6736-50D0-E8E2F7A1B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E1D73-731D-34B3-F878-DCCAF3C8DA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7752122-E447-28BE-C2DB-563DBB54703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804E39F-7316-A03F-6CD9-D3A3D26408EE}"/>
              </a:ext>
            </a:extLst>
          </p:cNvPr>
          <p:cNvSpPr>
            <a:spLocks noGrp="1"/>
          </p:cNvSpPr>
          <p:nvPr>
            <p:ph type="sldNum" sz="quarter" idx="5"/>
          </p:nvPr>
        </p:nvSpPr>
        <p:spPr/>
        <p:txBody>
          <a:bodyPr/>
          <a:lstStyle/>
          <a:p>
            <a:fld id="{BB5E49A5-4136-284D-997B-48E1D791AD67}" type="slidenum">
              <a:rPr lang="en-US" smtClean="0"/>
              <a:t>25</a:t>
            </a:fld>
            <a:endParaRPr lang="en-US"/>
          </a:p>
        </p:txBody>
      </p:sp>
    </p:spTree>
    <p:extLst>
      <p:ext uri="{BB962C8B-B14F-4D97-AF65-F5344CB8AC3E}">
        <p14:creationId xmlns:p14="http://schemas.microsoft.com/office/powerpoint/2010/main" val="24881993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Total suggested pacing for Day 2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26</a:t>
            </a:fld>
            <a:endParaRPr lang="en-US"/>
          </a:p>
        </p:txBody>
      </p:sp>
    </p:spTree>
    <p:extLst>
      <p:ext uri="{BB962C8B-B14F-4D97-AF65-F5344CB8AC3E}">
        <p14:creationId xmlns:p14="http://schemas.microsoft.com/office/powerpoint/2010/main" val="15731989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5138F-F920-DB13-FC8B-0EF42AA83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C9DEDD-4D85-A025-391F-60461AFDEDC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91E5142-ABD4-3319-BA49-1262D1D331F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To begin Day 2, have a student read the Essential Question aloud.</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E36C624-50D6-EB4F-3897-DC49AF2E4786}"/>
              </a:ext>
            </a:extLst>
          </p:cNvPr>
          <p:cNvSpPr>
            <a:spLocks noGrp="1"/>
          </p:cNvSpPr>
          <p:nvPr>
            <p:ph type="sldNum" sz="quarter" idx="5"/>
          </p:nvPr>
        </p:nvSpPr>
        <p:spPr/>
        <p:txBody>
          <a:bodyPr/>
          <a:lstStyle/>
          <a:p>
            <a:fld id="{BB5E49A5-4136-284D-997B-48E1D791AD67}" type="slidenum">
              <a:rPr lang="en-US" smtClean="0"/>
              <a:t>27</a:t>
            </a:fld>
            <a:endParaRPr lang="en-US"/>
          </a:p>
        </p:txBody>
      </p:sp>
    </p:spTree>
    <p:extLst>
      <p:ext uri="{BB962C8B-B14F-4D97-AF65-F5344CB8AC3E}">
        <p14:creationId xmlns:p14="http://schemas.microsoft.com/office/powerpoint/2010/main" val="18681941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Total time of 20-25 minutes allotted for Activity 6.2.</a:t>
            </a:r>
          </a:p>
        </p:txBody>
      </p:sp>
      <p:sp>
        <p:nvSpPr>
          <p:cNvPr id="4" name="Slide Number Placeholder 3"/>
          <p:cNvSpPr>
            <a:spLocks noGrp="1"/>
          </p:cNvSpPr>
          <p:nvPr>
            <p:ph type="sldNum" sz="quarter" idx="5"/>
          </p:nvPr>
        </p:nvSpPr>
        <p:spPr/>
        <p:txBody>
          <a:bodyPr/>
          <a:lstStyle/>
          <a:p>
            <a:fld id="{BB5E49A5-4136-284D-997B-48E1D791AD67}" type="slidenum">
              <a:rPr lang="en-US" smtClean="0"/>
              <a:t>28</a:t>
            </a:fld>
            <a:endParaRPr lang="en-US"/>
          </a:p>
        </p:txBody>
      </p:sp>
    </p:spTree>
    <p:extLst>
      <p:ext uri="{BB962C8B-B14F-4D97-AF65-F5344CB8AC3E}">
        <p14:creationId xmlns:p14="http://schemas.microsoft.com/office/powerpoint/2010/main" val="27793328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29</a:t>
            </a:fld>
            <a:endParaRPr lang="en-US"/>
          </a:p>
        </p:txBody>
      </p:sp>
    </p:spTree>
    <p:extLst>
      <p:ext uri="{BB962C8B-B14F-4D97-AF65-F5344CB8AC3E}">
        <p14:creationId xmlns:p14="http://schemas.microsoft.com/office/powerpoint/2010/main" val="8614542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A9406-7CD3-1B17-0BF5-80FF092BEC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0C0A59-C852-C1CD-A98B-0ECA9D821D3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3867B11-CEB4-92C2-4098-CB03A4C0981C}"/>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much money does Gracie’s mom earn for each T-shirt sold?</a:t>
            </a:r>
            <a:b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Did you use one or two points on the graph to calculate the earnings per T-shirt sold? Explain the relationship between the two strategies. </a:t>
            </a:r>
            <a:b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b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Why doesn’t the equation have a constant value?</a:t>
            </a:r>
          </a:p>
        </p:txBody>
      </p:sp>
      <p:sp>
        <p:nvSpPr>
          <p:cNvPr id="4" name="Slide Number Placeholder 3">
            <a:extLst>
              <a:ext uri="{FF2B5EF4-FFF2-40B4-BE49-F238E27FC236}">
                <a16:creationId xmlns:a16="http://schemas.microsoft.com/office/drawing/2014/main" id="{61D4CD65-A428-6987-1F1F-108FB161E317}"/>
              </a:ext>
            </a:extLst>
          </p:cNvPr>
          <p:cNvSpPr>
            <a:spLocks noGrp="1"/>
          </p:cNvSpPr>
          <p:nvPr>
            <p:ph type="sldNum" sz="quarter" idx="5"/>
          </p:nvPr>
        </p:nvSpPr>
        <p:spPr/>
        <p:txBody>
          <a:bodyPr/>
          <a:lstStyle/>
          <a:p>
            <a:fld id="{BB5E49A5-4136-284D-997B-48E1D791AD67}" type="slidenum">
              <a:rPr lang="en-US" smtClean="0"/>
              <a:t>30</a:t>
            </a:fld>
            <a:endParaRPr lang="en-US"/>
          </a:p>
        </p:txBody>
      </p:sp>
    </p:spTree>
    <p:extLst>
      <p:ext uri="{BB962C8B-B14F-4D97-AF65-F5344CB8AC3E}">
        <p14:creationId xmlns:p14="http://schemas.microsoft.com/office/powerpoint/2010/main" val="10051841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27400-CFA3-6AAC-229E-9A509B0AEA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634D30-A69E-A078-26F6-90E90E72F7A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9C0D551-68CF-9D33-8024-94C382497EE7}"/>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much money does Gracie’s mom earn for each T-shirt sold?</a:t>
            </a:r>
            <a:b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Did you use one or two points on the graph to calculate the earnings per T-shirt sold? Explain the relationship between the two strategies. </a:t>
            </a:r>
            <a:b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b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Why doesn’t the equation have a constant value?</a:t>
            </a:r>
          </a:p>
        </p:txBody>
      </p:sp>
      <p:sp>
        <p:nvSpPr>
          <p:cNvPr id="4" name="Slide Number Placeholder 3">
            <a:extLst>
              <a:ext uri="{FF2B5EF4-FFF2-40B4-BE49-F238E27FC236}">
                <a16:creationId xmlns:a16="http://schemas.microsoft.com/office/drawing/2014/main" id="{4766A0CA-067E-1B55-7288-ACD2BAD7E0BC}"/>
              </a:ext>
            </a:extLst>
          </p:cNvPr>
          <p:cNvSpPr>
            <a:spLocks noGrp="1"/>
          </p:cNvSpPr>
          <p:nvPr>
            <p:ph type="sldNum" sz="quarter" idx="5"/>
          </p:nvPr>
        </p:nvSpPr>
        <p:spPr/>
        <p:txBody>
          <a:bodyPr/>
          <a:lstStyle/>
          <a:p>
            <a:fld id="{BB5E49A5-4136-284D-997B-48E1D791AD67}" type="slidenum">
              <a:rPr lang="en-US" smtClean="0"/>
              <a:t>31</a:t>
            </a:fld>
            <a:endParaRPr lang="en-US"/>
          </a:p>
        </p:txBody>
      </p:sp>
    </p:spTree>
    <p:extLst>
      <p:ext uri="{BB962C8B-B14F-4D97-AF65-F5344CB8AC3E}">
        <p14:creationId xmlns:p14="http://schemas.microsoft.com/office/powerpoint/2010/main" val="31646165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2F4DD-EC65-BFF8-F969-5C719FA140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3903E9-F63F-B2BE-BDD1-B1344D1E8D4E}"/>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D5C078E-37C5-7E9E-A5D7-1F929F44569F}"/>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much money does Gracie’s mom earn for each T-shirt sold?</a:t>
            </a:r>
            <a:b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Did you use one or two points on the graph to calculate the earnings per T-shirt sold? Explain the relationship between the two strategies. </a:t>
            </a:r>
            <a:b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b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Why doesn’t the equation have a constant value?</a:t>
            </a:r>
          </a:p>
        </p:txBody>
      </p:sp>
      <p:sp>
        <p:nvSpPr>
          <p:cNvPr id="4" name="Slide Number Placeholder 3">
            <a:extLst>
              <a:ext uri="{FF2B5EF4-FFF2-40B4-BE49-F238E27FC236}">
                <a16:creationId xmlns:a16="http://schemas.microsoft.com/office/drawing/2014/main" id="{CBAE8766-C8A0-8E86-8A29-0C06ED5FDA76}"/>
              </a:ext>
            </a:extLst>
          </p:cNvPr>
          <p:cNvSpPr>
            <a:spLocks noGrp="1"/>
          </p:cNvSpPr>
          <p:nvPr>
            <p:ph type="sldNum" sz="quarter" idx="5"/>
          </p:nvPr>
        </p:nvSpPr>
        <p:spPr/>
        <p:txBody>
          <a:bodyPr/>
          <a:lstStyle/>
          <a:p>
            <a:fld id="{BB5E49A5-4136-284D-997B-48E1D791AD67}" type="slidenum">
              <a:rPr lang="en-US" smtClean="0"/>
              <a:t>32</a:t>
            </a:fld>
            <a:endParaRPr lang="en-US"/>
          </a:p>
        </p:txBody>
      </p:sp>
    </p:spTree>
    <p:extLst>
      <p:ext uri="{BB962C8B-B14F-4D97-AF65-F5344CB8AC3E}">
        <p14:creationId xmlns:p14="http://schemas.microsoft.com/office/powerpoint/2010/main" val="22152620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85098-D298-C417-DE2B-AE642BD357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61D2C-4994-C2C4-2D3E-B404748C39D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888396B-BB75-9196-67FF-7F78F4E4655B}"/>
              </a:ext>
            </a:extLst>
          </p:cNvPr>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E6C410B-0773-50C7-F5E1-D980A0D9DD2C}"/>
              </a:ext>
            </a:extLst>
          </p:cNvPr>
          <p:cNvSpPr>
            <a:spLocks noGrp="1"/>
          </p:cNvSpPr>
          <p:nvPr>
            <p:ph type="sldNum" sz="quarter" idx="5"/>
          </p:nvPr>
        </p:nvSpPr>
        <p:spPr/>
        <p:txBody>
          <a:bodyPr/>
          <a:lstStyle/>
          <a:p>
            <a:fld id="{BB5E49A5-4136-284D-997B-48E1D791AD67}" type="slidenum">
              <a:rPr lang="en-US" smtClean="0"/>
              <a:t>33</a:t>
            </a:fld>
            <a:endParaRPr lang="en-US"/>
          </a:p>
        </p:txBody>
      </p:sp>
    </p:spTree>
    <p:extLst>
      <p:ext uri="{BB962C8B-B14F-4D97-AF65-F5344CB8AC3E}">
        <p14:creationId xmlns:p14="http://schemas.microsoft.com/office/powerpoint/2010/main" val="18612844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7EB3E-1AD9-4C95-C01E-6709C7DCA6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CEEE33-E3B4-15D8-412E-724DF617B65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AC69EB7-3984-2905-D203-2D4569C195C0}"/>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to substitute the given value for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t</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f(t)</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you decide that Gracie needed to sell 7 T-shirts instead of 6 T-shirts?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much money will Gracie earn selling 6 T-shirts? 7 T-shirts?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to rely on technology when using a graph?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could you solve this equation using a table with technology?</a:t>
            </a:r>
          </a:p>
        </p:txBody>
      </p:sp>
      <p:sp>
        <p:nvSpPr>
          <p:cNvPr id="4" name="Slide Number Placeholder 3">
            <a:extLst>
              <a:ext uri="{FF2B5EF4-FFF2-40B4-BE49-F238E27FC236}">
                <a16:creationId xmlns:a16="http://schemas.microsoft.com/office/drawing/2014/main" id="{17F3C184-C8E5-D01A-4799-F6963D13173E}"/>
              </a:ext>
            </a:extLst>
          </p:cNvPr>
          <p:cNvSpPr>
            <a:spLocks noGrp="1"/>
          </p:cNvSpPr>
          <p:nvPr>
            <p:ph type="sldNum" sz="quarter" idx="5"/>
          </p:nvPr>
        </p:nvSpPr>
        <p:spPr/>
        <p:txBody>
          <a:bodyPr/>
          <a:lstStyle/>
          <a:p>
            <a:fld id="{BB5E49A5-4136-284D-997B-48E1D791AD67}" type="slidenum">
              <a:rPr lang="en-US" smtClean="0"/>
              <a:t>34</a:t>
            </a:fld>
            <a:endParaRPr lang="en-US"/>
          </a:p>
        </p:txBody>
      </p:sp>
    </p:spTree>
    <p:extLst>
      <p:ext uri="{BB962C8B-B14F-4D97-AF65-F5344CB8AC3E}">
        <p14:creationId xmlns:p14="http://schemas.microsoft.com/office/powerpoint/2010/main" val="31070945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B3550-94CC-8B85-B8C4-C424FCE2B5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6EC6FB-FD03-CF0B-8010-E87A01F91DE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0F59D90-3F88-9C9B-C1AE-3D83A8FB64B8}"/>
              </a:ext>
            </a:extLst>
          </p:cNvPr>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8789BE7-9602-44C4-7228-CE9C30BD713A}"/>
              </a:ext>
            </a:extLst>
          </p:cNvPr>
          <p:cNvSpPr>
            <a:spLocks noGrp="1"/>
          </p:cNvSpPr>
          <p:nvPr>
            <p:ph type="sldNum" sz="quarter" idx="5"/>
          </p:nvPr>
        </p:nvSpPr>
        <p:spPr/>
        <p:txBody>
          <a:bodyPr/>
          <a:lstStyle/>
          <a:p>
            <a:fld id="{BB5E49A5-4136-284D-997B-48E1D791AD67}" type="slidenum">
              <a:rPr lang="en-US" smtClean="0"/>
              <a:t>35</a:t>
            </a:fld>
            <a:endParaRPr lang="en-US"/>
          </a:p>
        </p:txBody>
      </p:sp>
    </p:spTree>
    <p:extLst>
      <p:ext uri="{BB962C8B-B14F-4D97-AF65-F5344CB8AC3E}">
        <p14:creationId xmlns:p14="http://schemas.microsoft.com/office/powerpoint/2010/main" val="34700977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71686-72A5-D416-8C78-E0F2D700C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9D96AE-AF32-3E70-DCB5-089DA2715AC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7C6FEB9-51E5-BF28-822B-42F353D81CBD}"/>
              </a:ext>
            </a:extLst>
          </p:cNvPr>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6B21D04-F8D5-C404-2DD8-B68D52902525}"/>
              </a:ext>
            </a:extLst>
          </p:cNvPr>
          <p:cNvSpPr>
            <a:spLocks noGrp="1"/>
          </p:cNvSpPr>
          <p:nvPr>
            <p:ph type="sldNum" sz="quarter" idx="5"/>
          </p:nvPr>
        </p:nvSpPr>
        <p:spPr/>
        <p:txBody>
          <a:bodyPr/>
          <a:lstStyle/>
          <a:p>
            <a:fld id="{BB5E49A5-4136-284D-997B-48E1D791AD67}" type="slidenum">
              <a:rPr lang="en-US" smtClean="0"/>
              <a:t>36</a:t>
            </a:fld>
            <a:endParaRPr lang="en-US"/>
          </a:p>
        </p:txBody>
      </p:sp>
    </p:spTree>
    <p:extLst>
      <p:ext uri="{BB962C8B-B14F-4D97-AF65-F5344CB8AC3E}">
        <p14:creationId xmlns:p14="http://schemas.microsoft.com/office/powerpoint/2010/main" val="19170866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9E445-8090-4EEC-AA1F-5A055FCC83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9D6D9F-81A8-0525-8301-CD2C2354BCFE}"/>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5F3D2FC-2343-9150-D681-275F3EC27603}"/>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whether to substitute the given value for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t</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f(t)</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you decide that Gracie needed to sell 7 T-shirts instead of 6 T-shirts?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much money will Gracie earn selling 6 T-shirts? 7 T-shirts?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to rely on technology when using a graph?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could you solve this equation using a table with technology?</a:t>
            </a:r>
          </a:p>
        </p:txBody>
      </p:sp>
      <p:sp>
        <p:nvSpPr>
          <p:cNvPr id="4" name="Slide Number Placeholder 3">
            <a:extLst>
              <a:ext uri="{FF2B5EF4-FFF2-40B4-BE49-F238E27FC236}">
                <a16:creationId xmlns:a16="http://schemas.microsoft.com/office/drawing/2014/main" id="{C948F3FE-1926-6CE2-79E9-278F24AA6BD9}"/>
              </a:ext>
            </a:extLst>
          </p:cNvPr>
          <p:cNvSpPr>
            <a:spLocks noGrp="1"/>
          </p:cNvSpPr>
          <p:nvPr>
            <p:ph type="sldNum" sz="quarter" idx="5"/>
          </p:nvPr>
        </p:nvSpPr>
        <p:spPr/>
        <p:txBody>
          <a:bodyPr/>
          <a:lstStyle/>
          <a:p>
            <a:fld id="{BB5E49A5-4136-284D-997B-48E1D791AD67}" type="slidenum">
              <a:rPr lang="en-US" smtClean="0"/>
              <a:t>37</a:t>
            </a:fld>
            <a:endParaRPr lang="en-US"/>
          </a:p>
        </p:txBody>
      </p:sp>
    </p:spTree>
    <p:extLst>
      <p:ext uri="{BB962C8B-B14F-4D97-AF65-F5344CB8AC3E}">
        <p14:creationId xmlns:p14="http://schemas.microsoft.com/office/powerpoint/2010/main" val="33970232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76DE-4F58-7BE3-3A90-A2D8C7803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C9036-CE18-2364-D32A-2BF98FB1133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Activity 6.2 Summary:</a:t>
            </a:r>
          </a:p>
          <a:p>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An equation or a graph can be used to determine the value of an independent variable. Sometimes a graph can only give an approximate answer; however, using an equation always results in an exact answer.</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5DCFE0D-1E66-5115-6D51-6675F00F0E4B}"/>
              </a:ext>
            </a:extLst>
          </p:cNvPr>
          <p:cNvSpPr>
            <a:spLocks noGrp="1"/>
          </p:cNvSpPr>
          <p:nvPr>
            <p:ph type="sldNum" sz="quarter" idx="5"/>
          </p:nvPr>
        </p:nvSpPr>
        <p:spPr/>
        <p:txBody>
          <a:bodyPr/>
          <a:lstStyle/>
          <a:p>
            <a:fld id="{BB5E49A5-4136-284D-997B-48E1D791AD67}" type="slidenum">
              <a:rPr lang="en-US" smtClean="0"/>
              <a:t>38</a:t>
            </a:fld>
            <a:endParaRPr lang="en-US"/>
          </a:p>
        </p:txBody>
      </p:sp>
    </p:spTree>
    <p:extLst>
      <p:ext uri="{BB962C8B-B14F-4D97-AF65-F5344CB8AC3E}">
        <p14:creationId xmlns:p14="http://schemas.microsoft.com/office/powerpoint/2010/main" val="7621767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7702B-0A2C-CAC2-8543-204B06C8E4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C05985-8631-3AB1-45C4-7E16BE1DEB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A7F5D90-D1F3-392D-E2E0-CA69B02845F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7C66608-C4F2-BB93-65A3-F6A3869B23B1}"/>
              </a:ext>
            </a:extLst>
          </p:cNvPr>
          <p:cNvSpPr>
            <a:spLocks noGrp="1"/>
          </p:cNvSpPr>
          <p:nvPr>
            <p:ph type="sldNum" sz="quarter" idx="5"/>
          </p:nvPr>
        </p:nvSpPr>
        <p:spPr/>
        <p:txBody>
          <a:bodyPr/>
          <a:lstStyle/>
          <a:p>
            <a:fld id="{BB5E49A5-4136-284D-997B-48E1D791AD67}" type="slidenum">
              <a:rPr lang="en-US" smtClean="0"/>
              <a:t>39</a:t>
            </a:fld>
            <a:endParaRPr lang="en-US"/>
          </a:p>
        </p:txBody>
      </p:sp>
    </p:spTree>
    <p:extLst>
      <p:ext uri="{BB962C8B-B14F-4D97-AF65-F5344CB8AC3E}">
        <p14:creationId xmlns:p14="http://schemas.microsoft.com/office/powerpoint/2010/main" val="13298662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4A387-8CD5-47CC-225F-FE700C5D52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D3DB6-87DC-55B4-4FC9-81BF95D5E42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3EE84C6-FE5B-5871-1668-A4328C3257F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Total time of 20-25 minutes allotted for Activity 6.3.</a:t>
            </a:r>
          </a:p>
        </p:txBody>
      </p:sp>
      <p:sp>
        <p:nvSpPr>
          <p:cNvPr id="4" name="Slide Number Placeholder 3">
            <a:extLst>
              <a:ext uri="{FF2B5EF4-FFF2-40B4-BE49-F238E27FC236}">
                <a16:creationId xmlns:a16="http://schemas.microsoft.com/office/drawing/2014/main" id="{53034EC2-4BBC-D230-E568-2C25BA96BF7D}"/>
              </a:ext>
            </a:extLst>
          </p:cNvPr>
          <p:cNvSpPr>
            <a:spLocks noGrp="1"/>
          </p:cNvSpPr>
          <p:nvPr>
            <p:ph type="sldNum" sz="quarter" idx="5"/>
          </p:nvPr>
        </p:nvSpPr>
        <p:spPr/>
        <p:txBody>
          <a:bodyPr/>
          <a:lstStyle/>
          <a:p>
            <a:fld id="{BB5E49A5-4136-284D-997B-48E1D791AD67}" type="slidenum">
              <a:rPr lang="en-US" smtClean="0"/>
              <a:t>40</a:t>
            </a:fld>
            <a:endParaRPr lang="en-US"/>
          </a:p>
        </p:txBody>
      </p:sp>
    </p:spTree>
    <p:extLst>
      <p:ext uri="{BB962C8B-B14F-4D97-AF65-F5344CB8AC3E}">
        <p14:creationId xmlns:p14="http://schemas.microsoft.com/office/powerpoint/2010/main" val="16597614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9B0F3-5F34-6C6F-3D93-DF0C427FA5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B55A8-FCD9-C2E9-D28F-4E948631FE6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D2C273F-B38E-ABE5-8577-C68720D7097E}"/>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do the parallel lines relate to the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Does this notation represent the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you apply to show the equations are equivalent?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how Brianna’s and Hailey’s perspectives are different.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you interpret the solution in terms of the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Compare this question and response to the Worked Example in Activity 2.</a:t>
            </a:r>
          </a:p>
        </p:txBody>
      </p:sp>
      <p:sp>
        <p:nvSpPr>
          <p:cNvPr id="4" name="Slide Number Placeholder 3">
            <a:extLst>
              <a:ext uri="{FF2B5EF4-FFF2-40B4-BE49-F238E27FC236}">
                <a16:creationId xmlns:a16="http://schemas.microsoft.com/office/drawing/2014/main" id="{579D3003-5309-1550-3E81-A7A487E52793}"/>
              </a:ext>
            </a:extLst>
          </p:cNvPr>
          <p:cNvSpPr>
            <a:spLocks noGrp="1"/>
          </p:cNvSpPr>
          <p:nvPr>
            <p:ph type="sldNum" sz="quarter" idx="5"/>
          </p:nvPr>
        </p:nvSpPr>
        <p:spPr/>
        <p:txBody>
          <a:bodyPr/>
          <a:lstStyle/>
          <a:p>
            <a:fld id="{BB5E49A5-4136-284D-997B-48E1D791AD67}" type="slidenum">
              <a:rPr lang="en-US" smtClean="0"/>
              <a:t>41</a:t>
            </a:fld>
            <a:endParaRPr lang="en-US"/>
          </a:p>
        </p:txBody>
      </p:sp>
    </p:spTree>
    <p:extLst>
      <p:ext uri="{BB962C8B-B14F-4D97-AF65-F5344CB8AC3E}">
        <p14:creationId xmlns:p14="http://schemas.microsoft.com/office/powerpoint/2010/main" val="1178767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DAABF-D129-0145-8146-09BBAD44D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1CE6B-3E9B-AD97-D5DD-0C67D1354AD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FA6D1B3B-6471-3E79-F048-232FA226FF33}"/>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do the parallel lines relate to the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Does this notation represent the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you apply to show the equations are equivalent?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how Brianna’s and Hailey’s perspectives are different.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you interpret the solution in terms of the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Compare this question and response to the Worked Example in Activity 2.</a:t>
            </a:r>
          </a:p>
        </p:txBody>
      </p:sp>
      <p:sp>
        <p:nvSpPr>
          <p:cNvPr id="4" name="Slide Number Placeholder 3">
            <a:extLst>
              <a:ext uri="{FF2B5EF4-FFF2-40B4-BE49-F238E27FC236}">
                <a16:creationId xmlns:a16="http://schemas.microsoft.com/office/drawing/2014/main" id="{FF1F7304-35D6-7218-3B3A-1695C4AF1E99}"/>
              </a:ext>
            </a:extLst>
          </p:cNvPr>
          <p:cNvSpPr>
            <a:spLocks noGrp="1"/>
          </p:cNvSpPr>
          <p:nvPr>
            <p:ph type="sldNum" sz="quarter" idx="5"/>
          </p:nvPr>
        </p:nvSpPr>
        <p:spPr/>
        <p:txBody>
          <a:bodyPr/>
          <a:lstStyle/>
          <a:p>
            <a:fld id="{BB5E49A5-4136-284D-997B-48E1D791AD67}" type="slidenum">
              <a:rPr lang="en-US" smtClean="0"/>
              <a:t>42</a:t>
            </a:fld>
            <a:endParaRPr lang="en-US"/>
          </a:p>
        </p:txBody>
      </p:sp>
    </p:spTree>
    <p:extLst>
      <p:ext uri="{BB962C8B-B14F-4D97-AF65-F5344CB8AC3E}">
        <p14:creationId xmlns:p14="http://schemas.microsoft.com/office/powerpoint/2010/main" val="4805379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5D57E-2DB4-0930-7240-A42DA86EA8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6207D9-364F-0E1D-D1C5-C9A9DB6B1B3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516DBED-C0D8-130F-E57D-89CBFD45F0FF}"/>
              </a:ext>
            </a:extLst>
          </p:cNvPr>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C85A714-A429-0F3E-66E4-9658AD701C4E}"/>
              </a:ext>
            </a:extLst>
          </p:cNvPr>
          <p:cNvSpPr>
            <a:spLocks noGrp="1"/>
          </p:cNvSpPr>
          <p:nvPr>
            <p:ph type="sldNum" sz="quarter" idx="5"/>
          </p:nvPr>
        </p:nvSpPr>
        <p:spPr/>
        <p:txBody>
          <a:bodyPr/>
          <a:lstStyle/>
          <a:p>
            <a:fld id="{BB5E49A5-4136-284D-997B-48E1D791AD67}" type="slidenum">
              <a:rPr lang="en-US" smtClean="0"/>
              <a:t>43</a:t>
            </a:fld>
            <a:endParaRPr lang="en-US"/>
          </a:p>
        </p:txBody>
      </p:sp>
    </p:spTree>
    <p:extLst>
      <p:ext uri="{BB962C8B-B14F-4D97-AF65-F5344CB8AC3E}">
        <p14:creationId xmlns:p14="http://schemas.microsoft.com/office/powerpoint/2010/main" val="28820112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EB551-CB80-FB60-DF4E-4AEB80C12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961442-18D7-CFD2-811D-A0DD1F9E896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6084A6A-82E3-E754-CAE7-1D2413D10677}"/>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do the parallel lines relate to the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Does this notation represent the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you apply to show the equations are equivalent?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how Brianna’s and Hailey’s perspectives are different.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you interpret the solution in terms of the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Compare this question and response to the Worked Example in Activity 2.</a:t>
            </a:r>
          </a:p>
        </p:txBody>
      </p:sp>
      <p:sp>
        <p:nvSpPr>
          <p:cNvPr id="4" name="Slide Number Placeholder 3">
            <a:extLst>
              <a:ext uri="{FF2B5EF4-FFF2-40B4-BE49-F238E27FC236}">
                <a16:creationId xmlns:a16="http://schemas.microsoft.com/office/drawing/2014/main" id="{4993E904-DB6C-3512-88E2-148A421D3594}"/>
              </a:ext>
            </a:extLst>
          </p:cNvPr>
          <p:cNvSpPr>
            <a:spLocks noGrp="1"/>
          </p:cNvSpPr>
          <p:nvPr>
            <p:ph type="sldNum" sz="quarter" idx="5"/>
          </p:nvPr>
        </p:nvSpPr>
        <p:spPr/>
        <p:txBody>
          <a:bodyPr/>
          <a:lstStyle/>
          <a:p>
            <a:fld id="{BB5E49A5-4136-284D-997B-48E1D791AD67}" type="slidenum">
              <a:rPr lang="en-US" smtClean="0"/>
              <a:t>44</a:t>
            </a:fld>
            <a:endParaRPr lang="en-US"/>
          </a:p>
        </p:txBody>
      </p:sp>
    </p:spTree>
    <p:extLst>
      <p:ext uri="{BB962C8B-B14F-4D97-AF65-F5344CB8AC3E}">
        <p14:creationId xmlns:p14="http://schemas.microsoft.com/office/powerpoint/2010/main" val="39682507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F1DF8-298F-FF6E-F07D-197EFC40E7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A367E5-73D6-2EF8-E071-47631B7ED0E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F0F806F-881C-923E-0B09-239F35A06C3A}"/>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do the parallel lines relate to the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Does this notation represent the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you apply to show the equations are equivalent?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how Brianna’s and Hailey’s perspectives are different.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you interpret the solution in terms of the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Compare this question and response to the Worked Example in Activity 2.</a:t>
            </a:r>
          </a:p>
        </p:txBody>
      </p:sp>
      <p:sp>
        <p:nvSpPr>
          <p:cNvPr id="4" name="Slide Number Placeholder 3">
            <a:extLst>
              <a:ext uri="{FF2B5EF4-FFF2-40B4-BE49-F238E27FC236}">
                <a16:creationId xmlns:a16="http://schemas.microsoft.com/office/drawing/2014/main" id="{3C3C8B68-8E47-63C7-4CEC-FAE2DE451049}"/>
              </a:ext>
            </a:extLst>
          </p:cNvPr>
          <p:cNvSpPr>
            <a:spLocks noGrp="1"/>
          </p:cNvSpPr>
          <p:nvPr>
            <p:ph type="sldNum" sz="quarter" idx="5"/>
          </p:nvPr>
        </p:nvSpPr>
        <p:spPr/>
        <p:txBody>
          <a:bodyPr/>
          <a:lstStyle/>
          <a:p>
            <a:fld id="{BB5E49A5-4136-284D-997B-48E1D791AD67}" type="slidenum">
              <a:rPr lang="en-US" smtClean="0"/>
              <a:t>45</a:t>
            </a:fld>
            <a:endParaRPr lang="en-US"/>
          </a:p>
        </p:txBody>
      </p:sp>
    </p:spTree>
    <p:extLst>
      <p:ext uri="{BB962C8B-B14F-4D97-AF65-F5344CB8AC3E}">
        <p14:creationId xmlns:p14="http://schemas.microsoft.com/office/powerpoint/2010/main" val="22901645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93AB1-E950-E94D-D7CF-1352E3D8C6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0EF52-2617-CC2D-7241-EBFC161BE33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C6A58E4-0D45-C666-5EF7-5B9F0F514968}"/>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do the parallel lines relate to the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Does this notation represent the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you apply to show the equations are equivalent?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how Brianna’s and Hailey’s perspectives are different.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you interpret the solution in terms of the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Compare this question and response to the Worked Example in Activity 2.</a:t>
            </a:r>
          </a:p>
        </p:txBody>
      </p:sp>
      <p:sp>
        <p:nvSpPr>
          <p:cNvPr id="4" name="Slide Number Placeholder 3">
            <a:extLst>
              <a:ext uri="{FF2B5EF4-FFF2-40B4-BE49-F238E27FC236}">
                <a16:creationId xmlns:a16="http://schemas.microsoft.com/office/drawing/2014/main" id="{DAB3E5B6-B4FA-E8FD-8458-9AEEDF618830}"/>
              </a:ext>
            </a:extLst>
          </p:cNvPr>
          <p:cNvSpPr>
            <a:spLocks noGrp="1"/>
          </p:cNvSpPr>
          <p:nvPr>
            <p:ph type="sldNum" sz="quarter" idx="5"/>
          </p:nvPr>
        </p:nvSpPr>
        <p:spPr/>
        <p:txBody>
          <a:bodyPr/>
          <a:lstStyle/>
          <a:p>
            <a:fld id="{BB5E49A5-4136-284D-997B-48E1D791AD67}" type="slidenum">
              <a:rPr lang="en-US" smtClean="0"/>
              <a:t>46</a:t>
            </a:fld>
            <a:endParaRPr lang="en-US"/>
          </a:p>
        </p:txBody>
      </p:sp>
    </p:spTree>
    <p:extLst>
      <p:ext uri="{BB962C8B-B14F-4D97-AF65-F5344CB8AC3E}">
        <p14:creationId xmlns:p14="http://schemas.microsoft.com/office/powerpoint/2010/main" val="10862167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E1932-5F33-32E7-B4BC-17F221BBB9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D8C91-D79C-088D-5925-231731CCFEE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8EC8C14-6A6B-5B00-63A8-B013F273DE48}"/>
              </a:ext>
            </a:extLst>
          </p:cNvPr>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6F291E09-4677-E6DC-A7AA-E6ECD036A51E}"/>
              </a:ext>
            </a:extLst>
          </p:cNvPr>
          <p:cNvSpPr>
            <a:spLocks noGrp="1"/>
          </p:cNvSpPr>
          <p:nvPr>
            <p:ph type="sldNum" sz="quarter" idx="5"/>
          </p:nvPr>
        </p:nvSpPr>
        <p:spPr/>
        <p:txBody>
          <a:bodyPr/>
          <a:lstStyle/>
          <a:p>
            <a:fld id="{BB5E49A5-4136-284D-997B-48E1D791AD67}" type="slidenum">
              <a:rPr lang="en-US" smtClean="0"/>
              <a:t>47</a:t>
            </a:fld>
            <a:endParaRPr lang="en-US"/>
          </a:p>
        </p:txBody>
      </p:sp>
    </p:spTree>
    <p:extLst>
      <p:ext uri="{BB962C8B-B14F-4D97-AF65-F5344CB8AC3E}">
        <p14:creationId xmlns:p14="http://schemas.microsoft.com/office/powerpoint/2010/main" val="42918622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664C5-C7CF-43D7-6C25-EC42F9B14C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468E36-0430-5414-4215-D6C59372A6B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FEEC154-9CD4-5372-C733-D2DACE92C458}"/>
              </a:ext>
            </a:extLst>
          </p:cNvPr>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815C25C-533D-1FA0-73C1-590BF4DD3E86}"/>
              </a:ext>
            </a:extLst>
          </p:cNvPr>
          <p:cNvSpPr>
            <a:spLocks noGrp="1"/>
          </p:cNvSpPr>
          <p:nvPr>
            <p:ph type="sldNum" sz="quarter" idx="5"/>
          </p:nvPr>
        </p:nvSpPr>
        <p:spPr/>
        <p:txBody>
          <a:bodyPr/>
          <a:lstStyle/>
          <a:p>
            <a:fld id="{BB5E49A5-4136-284D-997B-48E1D791AD67}" type="slidenum">
              <a:rPr lang="en-US" smtClean="0"/>
              <a:t>48</a:t>
            </a:fld>
            <a:endParaRPr lang="en-US"/>
          </a:p>
        </p:txBody>
      </p:sp>
    </p:spTree>
    <p:extLst>
      <p:ext uri="{BB962C8B-B14F-4D97-AF65-F5344CB8AC3E}">
        <p14:creationId xmlns:p14="http://schemas.microsoft.com/office/powerpoint/2010/main" val="26455060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9C7E9-9769-2A29-A46D-A8DA1D67B0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48EEA-5746-27FE-F042-BEF44EC612E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B463F6F8-D776-691A-A06D-4603E14DF7CE}"/>
              </a:ext>
            </a:extLst>
          </p:cNvPr>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A03DF7C-9869-5904-1FE7-AF707F583335}"/>
              </a:ext>
            </a:extLst>
          </p:cNvPr>
          <p:cNvSpPr>
            <a:spLocks noGrp="1"/>
          </p:cNvSpPr>
          <p:nvPr>
            <p:ph type="sldNum" sz="quarter" idx="5"/>
          </p:nvPr>
        </p:nvSpPr>
        <p:spPr/>
        <p:txBody>
          <a:bodyPr/>
          <a:lstStyle/>
          <a:p>
            <a:fld id="{BB5E49A5-4136-284D-997B-48E1D791AD67}" type="slidenum">
              <a:rPr lang="en-US" smtClean="0"/>
              <a:t>49</a:t>
            </a:fld>
            <a:endParaRPr lang="en-US"/>
          </a:p>
        </p:txBody>
      </p:sp>
    </p:spTree>
    <p:extLst>
      <p:ext uri="{BB962C8B-B14F-4D97-AF65-F5344CB8AC3E}">
        <p14:creationId xmlns:p14="http://schemas.microsoft.com/office/powerpoint/2010/main" val="2024398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A3915-70E0-F353-710B-9C2E0DFF1F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3DCC6-9140-CF97-3BDC-787057F8C00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2765AC5-1054-48AA-61C9-BA4395A4B00B}"/>
              </a:ext>
            </a:extLst>
          </p:cNvPr>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D7C51A8-E461-FB71-2D5A-B993BF027C1C}"/>
              </a:ext>
            </a:extLst>
          </p:cNvPr>
          <p:cNvSpPr>
            <a:spLocks noGrp="1"/>
          </p:cNvSpPr>
          <p:nvPr>
            <p:ph type="sldNum" sz="quarter" idx="5"/>
          </p:nvPr>
        </p:nvSpPr>
        <p:spPr/>
        <p:txBody>
          <a:bodyPr/>
          <a:lstStyle/>
          <a:p>
            <a:fld id="{BB5E49A5-4136-284D-997B-48E1D791AD67}" type="slidenum">
              <a:rPr lang="en-US" smtClean="0"/>
              <a:t>50</a:t>
            </a:fld>
            <a:endParaRPr lang="en-US"/>
          </a:p>
        </p:txBody>
      </p:sp>
    </p:spTree>
    <p:extLst>
      <p:ext uri="{BB962C8B-B14F-4D97-AF65-F5344CB8AC3E}">
        <p14:creationId xmlns:p14="http://schemas.microsoft.com/office/powerpoint/2010/main" val="394307458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499E4-ED71-3C36-4E29-E744B098EB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697C2A-E6B5-6DF5-6E9E-1D90F0024E4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E7629F6-67ED-6A6D-7135-F174BD14DFF9}"/>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Rewrite the constant 7 with a variable and exponent.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What is the exponent of the variable in a linear function?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What is an example of a linear function with a coefficient of 1?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Write an example of a cubic function with four terms.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how your label for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makes sense.</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Where is another possible location for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What information do general form and factored form both provide? </a:t>
            </a:r>
            <a:b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b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What information is available in general form that is not available in factored form?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What information is available in factored form that is not available in general form?</a:t>
            </a:r>
          </a:p>
        </p:txBody>
      </p:sp>
      <p:sp>
        <p:nvSpPr>
          <p:cNvPr id="4" name="Slide Number Placeholder 3">
            <a:extLst>
              <a:ext uri="{FF2B5EF4-FFF2-40B4-BE49-F238E27FC236}">
                <a16:creationId xmlns:a16="http://schemas.microsoft.com/office/drawing/2014/main" id="{0BFD38EF-DC19-214C-E330-9F491A932270}"/>
              </a:ext>
            </a:extLst>
          </p:cNvPr>
          <p:cNvSpPr>
            <a:spLocks noGrp="1"/>
          </p:cNvSpPr>
          <p:nvPr>
            <p:ph type="sldNum" sz="quarter" idx="5"/>
          </p:nvPr>
        </p:nvSpPr>
        <p:spPr/>
        <p:txBody>
          <a:bodyPr/>
          <a:lstStyle/>
          <a:p>
            <a:fld id="{BB5E49A5-4136-284D-997B-48E1D791AD67}" type="slidenum">
              <a:rPr lang="en-US" smtClean="0"/>
              <a:t>51</a:t>
            </a:fld>
            <a:endParaRPr lang="en-US"/>
          </a:p>
        </p:txBody>
      </p:sp>
    </p:spTree>
    <p:extLst>
      <p:ext uri="{BB962C8B-B14F-4D97-AF65-F5344CB8AC3E}">
        <p14:creationId xmlns:p14="http://schemas.microsoft.com/office/powerpoint/2010/main" val="38150600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F2AA9-CE41-7A7F-9C86-845ADD7118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3A1745-E254-E188-563D-4589B3AFA5E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4022EB1-2E99-F995-FDD6-5DE7398B52D0}"/>
              </a:ext>
            </a:extLst>
          </p:cNvPr>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4B812D5-18E8-6F41-30CE-E0697AA52A99}"/>
              </a:ext>
            </a:extLst>
          </p:cNvPr>
          <p:cNvSpPr>
            <a:spLocks noGrp="1"/>
          </p:cNvSpPr>
          <p:nvPr>
            <p:ph type="sldNum" sz="quarter" idx="5"/>
          </p:nvPr>
        </p:nvSpPr>
        <p:spPr/>
        <p:txBody>
          <a:bodyPr/>
          <a:lstStyle/>
          <a:p>
            <a:fld id="{BB5E49A5-4136-284D-997B-48E1D791AD67}" type="slidenum">
              <a:rPr lang="en-US" smtClean="0"/>
              <a:t>52</a:t>
            </a:fld>
            <a:endParaRPr lang="en-US"/>
          </a:p>
        </p:txBody>
      </p:sp>
    </p:spTree>
    <p:extLst>
      <p:ext uri="{BB962C8B-B14F-4D97-AF65-F5344CB8AC3E}">
        <p14:creationId xmlns:p14="http://schemas.microsoft.com/office/powerpoint/2010/main" val="20608981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146D7-E861-5B76-5C59-50A94DC02C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40A4E-6B1E-0928-6AB2-6356DEE78DE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B212D3E-AC35-80B9-3A97-6E8E26712695}"/>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Rewrite the constant 7 with a variable and exponent.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What is the exponent of the variable in a linear function?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What is an example of a linear function with a coefficient of 1?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Write an example of a cubic function with four terms.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how your label for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makes sense.</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Where is another possible location for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What information do general form and factored form both provide? </a:t>
            </a:r>
            <a:b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b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What information is available in general form that is not available in factored form?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What information is available in factored form that is not available in general form?</a:t>
            </a:r>
          </a:p>
        </p:txBody>
      </p:sp>
      <p:sp>
        <p:nvSpPr>
          <p:cNvPr id="4" name="Slide Number Placeholder 3">
            <a:extLst>
              <a:ext uri="{FF2B5EF4-FFF2-40B4-BE49-F238E27FC236}">
                <a16:creationId xmlns:a16="http://schemas.microsoft.com/office/drawing/2014/main" id="{1EC1B6BB-6DF4-E02D-8A8D-EBE19DAC5936}"/>
              </a:ext>
            </a:extLst>
          </p:cNvPr>
          <p:cNvSpPr>
            <a:spLocks noGrp="1"/>
          </p:cNvSpPr>
          <p:nvPr>
            <p:ph type="sldNum" sz="quarter" idx="5"/>
          </p:nvPr>
        </p:nvSpPr>
        <p:spPr/>
        <p:txBody>
          <a:bodyPr/>
          <a:lstStyle/>
          <a:p>
            <a:fld id="{BB5E49A5-4136-284D-997B-48E1D791AD67}" type="slidenum">
              <a:rPr lang="en-US" smtClean="0"/>
              <a:t>53</a:t>
            </a:fld>
            <a:endParaRPr lang="en-US"/>
          </a:p>
        </p:txBody>
      </p:sp>
    </p:spTree>
    <p:extLst>
      <p:ext uri="{BB962C8B-B14F-4D97-AF65-F5344CB8AC3E}">
        <p14:creationId xmlns:p14="http://schemas.microsoft.com/office/powerpoint/2010/main" val="238398948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BFB23-2888-02FD-6D02-2A192E87F3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53337D-855D-C3A0-13E4-5C50709CA084}"/>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C65BA97-F638-F8AF-14E6-042719232244}"/>
              </a:ext>
            </a:extLst>
          </p:cNvPr>
          <p:cNvSpPr>
            <a:spLocks noGrp="1"/>
          </p:cNvSpPr>
          <p:nvPr>
            <p:ph type="body" idx="1"/>
          </p:nvPr>
        </p:nvSpPr>
        <p:spPr/>
        <p:txBody>
          <a:bodyPr/>
          <a:lstStyle/>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a:solidFill>
                  <a:srgbClr val="000000"/>
                </a:solidFill>
                <a:latin typeface="Calibri" panose="020F0502020204030204" pitchFamily="34" charset="0"/>
                <a:ea typeface="Calibri" panose="020F0502020204030204" pitchFamily="34" charset="0"/>
                <a:cs typeface="Calibri" panose="020F0502020204030204" pitchFamily="34" charset="0"/>
              </a:rPr>
              <a:t> To close Day 2, have students reread the Essential Question and then read the Stamp the Learning summary aloud.</a:t>
            </a:r>
          </a:p>
          <a:p>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Activity 6.3 Summary:</a:t>
            </a:r>
          </a:p>
          <a:p>
            <a:r>
              <a:rPr lang="en-US">
                <a:solidFill>
                  <a:srgbClr val="000000"/>
                </a:solidFill>
                <a:latin typeface="Calibri" panose="020F0502020204030204" pitchFamily="34" charset="0"/>
                <a:ea typeface="Calibri" panose="020F0502020204030204" pitchFamily="34" charset="0"/>
                <a:cs typeface="Calibri" panose="020F0502020204030204" pitchFamily="34" charset="0"/>
              </a:rPr>
              <a:t>The general form of a linear function and the factored form of a linear function each have a structure that identifies characteristics of the graph of the linear function it models.</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834530D-2D92-63A0-D785-C5F9EE86F2E1}"/>
              </a:ext>
            </a:extLst>
          </p:cNvPr>
          <p:cNvSpPr>
            <a:spLocks noGrp="1"/>
          </p:cNvSpPr>
          <p:nvPr>
            <p:ph type="sldNum" sz="quarter" idx="5"/>
          </p:nvPr>
        </p:nvSpPr>
        <p:spPr/>
        <p:txBody>
          <a:bodyPr/>
          <a:lstStyle/>
          <a:p>
            <a:fld id="{BB5E49A5-4136-284D-997B-48E1D791AD67}" type="slidenum">
              <a:rPr lang="en-US" smtClean="0"/>
              <a:t>54</a:t>
            </a:fld>
            <a:endParaRPr lang="en-US"/>
          </a:p>
        </p:txBody>
      </p:sp>
    </p:spTree>
    <p:extLst>
      <p:ext uri="{BB962C8B-B14F-4D97-AF65-F5344CB8AC3E}">
        <p14:creationId xmlns:p14="http://schemas.microsoft.com/office/powerpoint/2010/main" val="202168374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A563E-C089-57A2-9477-5980A071A5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9E2E61-4EE3-ACFF-BB0A-8EF1A4665FF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F6B73FA-3F80-C3FE-87E3-B13484A0EE0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BEC973C5-505F-2F88-7172-558B9CFB7436}"/>
              </a:ext>
            </a:extLst>
          </p:cNvPr>
          <p:cNvSpPr>
            <a:spLocks noGrp="1"/>
          </p:cNvSpPr>
          <p:nvPr>
            <p:ph type="sldNum" sz="quarter" idx="5"/>
          </p:nvPr>
        </p:nvSpPr>
        <p:spPr/>
        <p:txBody>
          <a:bodyPr/>
          <a:lstStyle/>
          <a:p>
            <a:fld id="{BB5E49A5-4136-284D-997B-48E1D791AD67}" type="slidenum">
              <a:rPr lang="en-US" smtClean="0"/>
              <a:t>55</a:t>
            </a:fld>
            <a:endParaRPr lang="en-US"/>
          </a:p>
        </p:txBody>
      </p:sp>
    </p:spTree>
    <p:extLst>
      <p:ext uri="{BB962C8B-B14F-4D97-AF65-F5344CB8AC3E}">
        <p14:creationId xmlns:p14="http://schemas.microsoft.com/office/powerpoint/2010/main" val="242061270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B1A60-F9B6-0D44-E8AD-AE983DC50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9F2A15-67B8-B47D-25AE-785F3F56268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CA1161E-6F88-41BD-3F2D-5013DB28F0E6}"/>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Total suggested pacing for Day 3 is 45 minutes.</a:t>
            </a:r>
          </a:p>
        </p:txBody>
      </p:sp>
      <p:sp>
        <p:nvSpPr>
          <p:cNvPr id="4" name="Slide Number Placeholder 3">
            <a:extLst>
              <a:ext uri="{FF2B5EF4-FFF2-40B4-BE49-F238E27FC236}">
                <a16:creationId xmlns:a16="http://schemas.microsoft.com/office/drawing/2014/main" id="{A13D2A49-DC8D-EE01-7AA1-F867E51E41A4}"/>
              </a:ext>
            </a:extLst>
          </p:cNvPr>
          <p:cNvSpPr>
            <a:spLocks noGrp="1"/>
          </p:cNvSpPr>
          <p:nvPr>
            <p:ph type="sldNum" sz="quarter" idx="5"/>
          </p:nvPr>
        </p:nvSpPr>
        <p:spPr/>
        <p:txBody>
          <a:bodyPr/>
          <a:lstStyle/>
          <a:p>
            <a:fld id="{BB5E49A5-4136-284D-997B-48E1D791AD67}" type="slidenum">
              <a:rPr lang="en-US" smtClean="0"/>
              <a:t>56</a:t>
            </a:fld>
            <a:endParaRPr lang="en-US"/>
          </a:p>
        </p:txBody>
      </p:sp>
    </p:spTree>
    <p:extLst>
      <p:ext uri="{BB962C8B-B14F-4D97-AF65-F5344CB8AC3E}">
        <p14:creationId xmlns:p14="http://schemas.microsoft.com/office/powerpoint/2010/main" val="32225215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A6DA7-3AE7-17AE-1FC8-C3F885EA56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EED8FB-4851-9736-92E9-49863110F63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50BDE39-F679-97BD-384C-D0757E599BE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To begin Day 3, have a student read the Essential Question aloud.</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827D8BB-3BEA-E3FF-B6F3-59E9395B3A0E}"/>
              </a:ext>
            </a:extLst>
          </p:cNvPr>
          <p:cNvSpPr>
            <a:spLocks noGrp="1"/>
          </p:cNvSpPr>
          <p:nvPr>
            <p:ph type="sldNum" sz="quarter" idx="5"/>
          </p:nvPr>
        </p:nvSpPr>
        <p:spPr/>
        <p:txBody>
          <a:bodyPr/>
          <a:lstStyle/>
          <a:p>
            <a:fld id="{BB5E49A5-4136-284D-997B-48E1D791AD67}" type="slidenum">
              <a:rPr lang="en-US" smtClean="0"/>
              <a:t>57</a:t>
            </a:fld>
            <a:endParaRPr lang="en-US"/>
          </a:p>
        </p:txBody>
      </p:sp>
    </p:spTree>
    <p:extLst>
      <p:ext uri="{BB962C8B-B14F-4D97-AF65-F5344CB8AC3E}">
        <p14:creationId xmlns:p14="http://schemas.microsoft.com/office/powerpoint/2010/main" val="219399883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21091-1B1C-72DD-EB36-83155B51D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826119-127B-CD09-4164-057FEBF2140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B7504FC-9DFA-FCC1-8BA3-9C71C829063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Total time of 15-20 minutes allotted for Activity 6.4.</a:t>
            </a:r>
          </a:p>
        </p:txBody>
      </p:sp>
      <p:sp>
        <p:nvSpPr>
          <p:cNvPr id="4" name="Slide Number Placeholder 3">
            <a:extLst>
              <a:ext uri="{FF2B5EF4-FFF2-40B4-BE49-F238E27FC236}">
                <a16:creationId xmlns:a16="http://schemas.microsoft.com/office/drawing/2014/main" id="{FA648E81-0D80-88EA-0ECD-67A16EF08290}"/>
              </a:ext>
            </a:extLst>
          </p:cNvPr>
          <p:cNvSpPr>
            <a:spLocks noGrp="1"/>
          </p:cNvSpPr>
          <p:nvPr>
            <p:ph type="sldNum" sz="quarter" idx="5"/>
          </p:nvPr>
        </p:nvSpPr>
        <p:spPr/>
        <p:txBody>
          <a:bodyPr/>
          <a:lstStyle/>
          <a:p>
            <a:fld id="{BB5E49A5-4136-284D-997B-48E1D791AD67}" type="slidenum">
              <a:rPr lang="en-US" smtClean="0"/>
              <a:t>58</a:t>
            </a:fld>
            <a:endParaRPr lang="en-US"/>
          </a:p>
        </p:txBody>
      </p:sp>
    </p:spTree>
    <p:extLst>
      <p:ext uri="{BB962C8B-B14F-4D97-AF65-F5344CB8AC3E}">
        <p14:creationId xmlns:p14="http://schemas.microsoft.com/office/powerpoint/2010/main" val="289647167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CA19C-27A6-2AC3-F649-31C06E4963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6BC05E-A86B-BBF0-E6FD-73714569B53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74D49CF-9C8C-5D14-C220-E40F163FA408}"/>
              </a:ext>
            </a:extLst>
          </p:cNvPr>
          <p:cNvSpPr>
            <a:spLocks noGrp="1"/>
          </p:cNvSpPr>
          <p:nvPr>
            <p:ph type="body" idx="1"/>
          </p:nvPr>
        </p:nvSpPr>
        <p:spPr/>
        <p:txBody>
          <a:bodyPr/>
          <a:lstStyle/>
          <a:p>
            <a:pPr marL="0" indent="0" algn="l">
              <a:buFont typeface="Arial" panose="020B0604020202020204" pitchFamily="34" charset="0"/>
              <a:buNone/>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23E86D85-8825-4EA9-F545-36FBE3A1CC4F}"/>
              </a:ext>
            </a:extLst>
          </p:cNvPr>
          <p:cNvSpPr>
            <a:spLocks noGrp="1"/>
          </p:cNvSpPr>
          <p:nvPr>
            <p:ph type="sldNum" sz="quarter" idx="5"/>
          </p:nvPr>
        </p:nvSpPr>
        <p:spPr/>
        <p:txBody>
          <a:bodyPr/>
          <a:lstStyle/>
          <a:p>
            <a:fld id="{BB5E49A5-4136-284D-997B-48E1D791AD67}" type="slidenum">
              <a:rPr lang="en-US" smtClean="0"/>
              <a:t>59</a:t>
            </a:fld>
            <a:endParaRPr lang="en-US"/>
          </a:p>
        </p:txBody>
      </p:sp>
    </p:spTree>
    <p:extLst>
      <p:ext uri="{BB962C8B-B14F-4D97-AF65-F5344CB8AC3E}">
        <p14:creationId xmlns:p14="http://schemas.microsoft.com/office/powerpoint/2010/main" val="248791701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93172-6956-A900-B67F-2847C21C6F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6C9356-81A9-5596-6900-6B842DCA49F7}"/>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3D017D4-C7F3-8887-FDC2-EA8B3D83E7A2}"/>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coordinates of the new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mean in this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the $35 fee affect how many T-shirts Gracie needs to sell to earn $100?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rewrite the equation in general form to create the equation in factored form?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use what you know about factored form to determine the factor </a:t>
                </a:r>
                <a14:m>
                  <m:oMath xmlns:m="http://schemas.openxmlformats.org/officeDocument/2006/math">
                    <m:d>
                      <m:dPr>
                        <m:ctrlPr>
                          <a:rPr lang="en-US" sz="1200" i="1" smtClean="0">
                            <a:solidFill>
                              <a:srgbClr val="000000"/>
                            </a:solidFill>
                            <a:latin typeface="Cambria Math" panose="02040503050406030204" pitchFamily="18" charset="0"/>
                          </a:rPr>
                        </m:ctrlPr>
                      </m:dPr>
                      <m:e>
                        <m:f>
                          <m:fPr>
                            <m:ctrlPr>
                              <a:rPr lang="en-US" sz="1200" i="1" smtClean="0">
                                <a:solidFill>
                                  <a:srgbClr val="000000"/>
                                </a:solidFill>
                                <a:latin typeface="Cambria Math" panose="02040503050406030204" pitchFamily="18" charset="0"/>
                              </a:rPr>
                            </m:ctrlPr>
                          </m:fPr>
                          <m:num>
                            <m:r>
                              <a:rPr lang="en-US" sz="1200" b="0" i="1" smtClean="0">
                                <a:solidFill>
                                  <a:srgbClr val="000000"/>
                                </a:solidFill>
                                <a:latin typeface="Cambria Math" panose="02040503050406030204" pitchFamily="18" charset="0"/>
                              </a:rPr>
                              <m:t>𝑡</m:t>
                            </m:r>
                            <m:r>
                              <a:rPr lang="en-US" sz="1200" b="0" i="1" smtClean="0">
                                <a:solidFill>
                                  <a:srgbClr val="000000"/>
                                </a:solidFill>
                                <a:latin typeface="Cambria Math" panose="02040503050406030204" pitchFamily="18" charset="0"/>
                              </a:rPr>
                              <m:t>−16</m:t>
                            </m:r>
                          </m:num>
                          <m:den>
                            <m:r>
                              <a:rPr lang="en-US" sz="1200" b="0" i="1" smtClean="0">
                                <a:solidFill>
                                  <a:srgbClr val="000000"/>
                                </a:solidFill>
                                <a:latin typeface="Cambria Math" panose="02040503050406030204" pitchFamily="18" charset="0"/>
                              </a:rPr>
                              <m:t>3</m:t>
                            </m:r>
                          </m:den>
                        </m:f>
                      </m:e>
                    </m:d>
                  </m:oMath>
                </a14:m>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0" indent="0" algn="l">
                  <a:buFont typeface="Arial" panose="020B0604020202020204" pitchFamily="34" charset="0"/>
                  <a:buNone/>
                </a:pPr>
                <a:endParaRPr lang="en-US" sz="120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D3D017D4-C7F3-8887-FDC2-EA8B3D83E7A2}"/>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coordinates of the new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mean in this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the $35 fee affect how many T-shirts Gracie needs to sell to earn $100?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rewrite the equation in general form to create the equation in factored form?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use what you know about factored form to determine the factor </a:t>
                </a:r>
                <a:r>
                  <a:rPr lang="en-US" sz="1200" i="0">
                    <a:solidFill>
                      <a:srgbClr val="000000"/>
                    </a:solidFill>
                    <a:latin typeface="Cambria Math" panose="02040503050406030204" pitchFamily="18" charset="0"/>
                  </a:rPr>
                  <a:t>((</a:t>
                </a:r>
                <a:r>
                  <a:rPr lang="en-US" sz="1200" b="0" i="0">
                    <a:solidFill>
                      <a:srgbClr val="000000"/>
                    </a:solidFill>
                    <a:latin typeface="Cambria Math" panose="02040503050406030204" pitchFamily="18" charset="0"/>
                  </a:rPr>
                  <a:t>𝑡−16)/3)</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0" indent="0" algn="l">
                  <a:buFont typeface="Arial" panose="020B0604020202020204" pitchFamily="34" charset="0"/>
                  <a:buNone/>
                </a:pPr>
                <a:endParaRPr lang="en-US" sz="120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88BC8011-93A0-EC7D-D4A8-FD97FD9DE771}"/>
              </a:ext>
            </a:extLst>
          </p:cNvPr>
          <p:cNvSpPr>
            <a:spLocks noGrp="1"/>
          </p:cNvSpPr>
          <p:nvPr>
            <p:ph type="sldNum" sz="quarter" idx="5"/>
          </p:nvPr>
        </p:nvSpPr>
        <p:spPr/>
        <p:txBody>
          <a:bodyPr/>
          <a:lstStyle/>
          <a:p>
            <a:fld id="{BB5E49A5-4136-284D-997B-48E1D791AD67}" type="slidenum">
              <a:rPr lang="en-US" smtClean="0"/>
              <a:t>60</a:t>
            </a:fld>
            <a:endParaRPr lang="en-US"/>
          </a:p>
        </p:txBody>
      </p:sp>
    </p:spTree>
    <p:extLst>
      <p:ext uri="{BB962C8B-B14F-4D97-AF65-F5344CB8AC3E}">
        <p14:creationId xmlns:p14="http://schemas.microsoft.com/office/powerpoint/2010/main" val="88230466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EC331-10B9-474B-237F-C40804FBBA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326FBC-B0F3-9132-71C8-CC78CE550632}"/>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08B247F3-6893-7052-6D4C-30677356E9DC}"/>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coordinates of the new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mean in this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the $35 fee affect how many T-shirts Gracie needs to sell to earn $100?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rewrite the equation in general form to create the equation in factored form?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use what you know about factored form to determine the factor </a:t>
                </a:r>
                <a14:m>
                  <m:oMath xmlns:m="http://schemas.openxmlformats.org/officeDocument/2006/math">
                    <m:d>
                      <m:dPr>
                        <m:ctrlPr>
                          <a:rPr lang="en-US" sz="1200" i="1" smtClean="0">
                            <a:solidFill>
                              <a:srgbClr val="000000"/>
                            </a:solidFill>
                            <a:latin typeface="Cambria Math" panose="02040503050406030204" pitchFamily="18" charset="0"/>
                          </a:rPr>
                        </m:ctrlPr>
                      </m:dPr>
                      <m:e>
                        <m:f>
                          <m:fPr>
                            <m:ctrlPr>
                              <a:rPr lang="en-US" sz="1200" i="1" smtClean="0">
                                <a:solidFill>
                                  <a:srgbClr val="000000"/>
                                </a:solidFill>
                                <a:latin typeface="Cambria Math" panose="02040503050406030204" pitchFamily="18" charset="0"/>
                              </a:rPr>
                            </m:ctrlPr>
                          </m:fPr>
                          <m:num>
                            <m:r>
                              <a:rPr lang="en-US" sz="1200" b="0" i="1" smtClean="0">
                                <a:solidFill>
                                  <a:srgbClr val="000000"/>
                                </a:solidFill>
                                <a:latin typeface="Cambria Math" panose="02040503050406030204" pitchFamily="18" charset="0"/>
                              </a:rPr>
                              <m:t>𝑡</m:t>
                            </m:r>
                            <m:r>
                              <a:rPr lang="en-US" sz="1200" b="0" i="1" smtClean="0">
                                <a:solidFill>
                                  <a:srgbClr val="000000"/>
                                </a:solidFill>
                                <a:latin typeface="Cambria Math" panose="02040503050406030204" pitchFamily="18" charset="0"/>
                              </a:rPr>
                              <m:t>−16</m:t>
                            </m:r>
                          </m:num>
                          <m:den>
                            <m:r>
                              <a:rPr lang="en-US" sz="1200" b="0" i="1" smtClean="0">
                                <a:solidFill>
                                  <a:srgbClr val="000000"/>
                                </a:solidFill>
                                <a:latin typeface="Cambria Math" panose="02040503050406030204" pitchFamily="18" charset="0"/>
                              </a:rPr>
                              <m:t>3</m:t>
                            </m:r>
                          </m:den>
                        </m:f>
                      </m:e>
                    </m:d>
                  </m:oMath>
                </a14:m>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p>
            </p:txBody>
          </p:sp>
        </mc:Choice>
        <mc:Fallback xmlns="">
          <p:sp>
            <p:nvSpPr>
              <p:cNvPr id="3" name="Notes Placeholder 2">
                <a:extLst>
                  <a:ext uri="{FF2B5EF4-FFF2-40B4-BE49-F238E27FC236}">
                    <a16:creationId xmlns:a16="http://schemas.microsoft.com/office/drawing/2014/main" id="{08B247F3-6893-7052-6D4C-30677356E9DC}"/>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coordinates of the new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mean in this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the $35 fee affect how many T-shirts Gracie needs to sell to earn $100?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rewrite the equation in general form to create the equation in factored form?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use what you know about factored form to determine the factor </a:t>
                </a:r>
                <a:r>
                  <a:rPr lang="en-US" sz="1200" i="0">
                    <a:solidFill>
                      <a:srgbClr val="000000"/>
                    </a:solidFill>
                    <a:latin typeface="Cambria Math" panose="02040503050406030204" pitchFamily="18" charset="0"/>
                  </a:rPr>
                  <a:t>((</a:t>
                </a:r>
                <a:r>
                  <a:rPr lang="en-US" sz="1200" b="0" i="0">
                    <a:solidFill>
                      <a:srgbClr val="000000"/>
                    </a:solidFill>
                    <a:latin typeface="Cambria Math" panose="02040503050406030204" pitchFamily="18" charset="0"/>
                  </a:rPr>
                  <a:t>𝑡−16)/3)</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p>
            </p:txBody>
          </p:sp>
        </mc:Fallback>
      </mc:AlternateContent>
      <p:sp>
        <p:nvSpPr>
          <p:cNvPr id="4" name="Slide Number Placeholder 3">
            <a:extLst>
              <a:ext uri="{FF2B5EF4-FFF2-40B4-BE49-F238E27FC236}">
                <a16:creationId xmlns:a16="http://schemas.microsoft.com/office/drawing/2014/main" id="{7B0544D2-68A2-2A86-B03A-4F84601AB3EA}"/>
              </a:ext>
            </a:extLst>
          </p:cNvPr>
          <p:cNvSpPr>
            <a:spLocks noGrp="1"/>
          </p:cNvSpPr>
          <p:nvPr>
            <p:ph type="sldNum" sz="quarter" idx="5"/>
          </p:nvPr>
        </p:nvSpPr>
        <p:spPr/>
        <p:txBody>
          <a:bodyPr/>
          <a:lstStyle/>
          <a:p>
            <a:fld id="{BB5E49A5-4136-284D-997B-48E1D791AD67}" type="slidenum">
              <a:rPr lang="en-US" smtClean="0"/>
              <a:t>61</a:t>
            </a:fld>
            <a:endParaRPr lang="en-US"/>
          </a:p>
        </p:txBody>
      </p:sp>
    </p:spTree>
    <p:extLst>
      <p:ext uri="{BB962C8B-B14F-4D97-AF65-F5344CB8AC3E}">
        <p14:creationId xmlns:p14="http://schemas.microsoft.com/office/powerpoint/2010/main" val="280468588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6A6B6-CE19-8983-41F5-ADBE761411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21580B-3897-0306-0E7F-779B5ACA2A97}"/>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B24A3B2D-3F9B-21D1-2ABF-674E2893400F}"/>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coordinates of the new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mean in this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the $35 fee affect how many T-shirts Gracie needs to sell to earn $100?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rewrite the equation in general form to create the equation in factored form?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use what you know about factored form to determine the factor </a:t>
                </a:r>
                <a14:m>
                  <m:oMath xmlns:m="http://schemas.openxmlformats.org/officeDocument/2006/math">
                    <m:d>
                      <m:dPr>
                        <m:ctrlPr>
                          <a:rPr lang="en-US" sz="1200" i="1" smtClean="0">
                            <a:solidFill>
                              <a:srgbClr val="000000"/>
                            </a:solidFill>
                            <a:latin typeface="Cambria Math" panose="02040503050406030204" pitchFamily="18" charset="0"/>
                          </a:rPr>
                        </m:ctrlPr>
                      </m:dPr>
                      <m:e>
                        <m:f>
                          <m:fPr>
                            <m:ctrlPr>
                              <a:rPr lang="en-US" sz="1200" i="1" smtClean="0">
                                <a:solidFill>
                                  <a:srgbClr val="000000"/>
                                </a:solidFill>
                                <a:latin typeface="Cambria Math" panose="02040503050406030204" pitchFamily="18" charset="0"/>
                              </a:rPr>
                            </m:ctrlPr>
                          </m:fPr>
                          <m:num>
                            <m:r>
                              <a:rPr lang="en-US" sz="1200" b="0" i="1" smtClean="0">
                                <a:solidFill>
                                  <a:srgbClr val="000000"/>
                                </a:solidFill>
                                <a:latin typeface="Cambria Math" panose="02040503050406030204" pitchFamily="18" charset="0"/>
                              </a:rPr>
                              <m:t>𝑡</m:t>
                            </m:r>
                            <m:r>
                              <a:rPr lang="en-US" sz="1200" b="0" i="1" smtClean="0">
                                <a:solidFill>
                                  <a:srgbClr val="000000"/>
                                </a:solidFill>
                                <a:latin typeface="Cambria Math" panose="02040503050406030204" pitchFamily="18" charset="0"/>
                              </a:rPr>
                              <m:t>−16</m:t>
                            </m:r>
                          </m:num>
                          <m:den>
                            <m:r>
                              <a:rPr lang="en-US" sz="1200" b="0" i="1" smtClean="0">
                                <a:solidFill>
                                  <a:srgbClr val="000000"/>
                                </a:solidFill>
                                <a:latin typeface="Cambria Math" panose="02040503050406030204" pitchFamily="18" charset="0"/>
                              </a:rPr>
                              <m:t>3</m:t>
                            </m:r>
                          </m:den>
                        </m:f>
                      </m:e>
                    </m:d>
                  </m:oMath>
                </a14:m>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p>
            </p:txBody>
          </p:sp>
        </mc:Choice>
        <mc:Fallback xmlns="">
          <p:sp>
            <p:nvSpPr>
              <p:cNvPr id="3" name="Notes Placeholder 2">
                <a:extLst>
                  <a:ext uri="{FF2B5EF4-FFF2-40B4-BE49-F238E27FC236}">
                    <a16:creationId xmlns:a16="http://schemas.microsoft.com/office/drawing/2014/main" id="{B24A3B2D-3F9B-21D1-2ABF-674E2893400F}"/>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coordinates of the new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mean in this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the $35 fee affect how many T-shirts Gracie needs to sell to earn $100?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rewrite the equation in general form to create the equation in factored form?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use what you know about factored form to determine the factor </a:t>
                </a:r>
                <a:r>
                  <a:rPr lang="en-US" sz="1200" i="0">
                    <a:solidFill>
                      <a:srgbClr val="000000"/>
                    </a:solidFill>
                    <a:latin typeface="Cambria Math" panose="02040503050406030204" pitchFamily="18" charset="0"/>
                  </a:rPr>
                  <a:t>((</a:t>
                </a:r>
                <a:r>
                  <a:rPr lang="en-US" sz="1200" b="0" i="0">
                    <a:solidFill>
                      <a:srgbClr val="000000"/>
                    </a:solidFill>
                    <a:latin typeface="Cambria Math" panose="02040503050406030204" pitchFamily="18" charset="0"/>
                  </a:rPr>
                  <a:t>𝑡−16)/3)</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p>
            </p:txBody>
          </p:sp>
        </mc:Fallback>
      </mc:AlternateContent>
      <p:sp>
        <p:nvSpPr>
          <p:cNvPr id="4" name="Slide Number Placeholder 3">
            <a:extLst>
              <a:ext uri="{FF2B5EF4-FFF2-40B4-BE49-F238E27FC236}">
                <a16:creationId xmlns:a16="http://schemas.microsoft.com/office/drawing/2014/main" id="{1CEF568A-CB3E-01B8-C39D-20428F6B3A43}"/>
              </a:ext>
            </a:extLst>
          </p:cNvPr>
          <p:cNvSpPr>
            <a:spLocks noGrp="1"/>
          </p:cNvSpPr>
          <p:nvPr>
            <p:ph type="sldNum" sz="quarter" idx="5"/>
          </p:nvPr>
        </p:nvSpPr>
        <p:spPr/>
        <p:txBody>
          <a:bodyPr/>
          <a:lstStyle/>
          <a:p>
            <a:fld id="{BB5E49A5-4136-284D-997B-48E1D791AD67}" type="slidenum">
              <a:rPr lang="en-US" smtClean="0"/>
              <a:t>62</a:t>
            </a:fld>
            <a:endParaRPr lang="en-US"/>
          </a:p>
        </p:txBody>
      </p:sp>
    </p:spTree>
    <p:extLst>
      <p:ext uri="{BB962C8B-B14F-4D97-AF65-F5344CB8AC3E}">
        <p14:creationId xmlns:p14="http://schemas.microsoft.com/office/powerpoint/2010/main" val="125591957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DD051-CA69-90E5-517E-B42531415C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4E12DC-2471-5B54-A42F-D568542091A7}"/>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68353D2-7A02-903A-129E-2518E350F9D5}"/>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coordinates of the new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mean in this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the $35 fee affect how many T-shirts Gracie needs to sell to earn $100?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rewrite the equation in general form to create the equation in factored form?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use what you know about factored form to determine the factor </a:t>
                </a:r>
                <a14:m>
                  <m:oMath xmlns:m="http://schemas.openxmlformats.org/officeDocument/2006/math">
                    <m:d>
                      <m:dPr>
                        <m:ctrlPr>
                          <a:rPr lang="en-US" sz="1200" i="1" smtClean="0">
                            <a:solidFill>
                              <a:srgbClr val="000000"/>
                            </a:solidFill>
                            <a:latin typeface="Cambria Math" panose="02040503050406030204" pitchFamily="18" charset="0"/>
                          </a:rPr>
                        </m:ctrlPr>
                      </m:dPr>
                      <m:e>
                        <m:f>
                          <m:fPr>
                            <m:ctrlPr>
                              <a:rPr lang="en-US" sz="1200" i="1" smtClean="0">
                                <a:solidFill>
                                  <a:srgbClr val="000000"/>
                                </a:solidFill>
                                <a:latin typeface="Cambria Math" panose="02040503050406030204" pitchFamily="18" charset="0"/>
                              </a:rPr>
                            </m:ctrlPr>
                          </m:fPr>
                          <m:num>
                            <m:r>
                              <a:rPr lang="en-US" sz="1200" b="0" i="1" smtClean="0">
                                <a:solidFill>
                                  <a:srgbClr val="000000"/>
                                </a:solidFill>
                                <a:latin typeface="Cambria Math" panose="02040503050406030204" pitchFamily="18" charset="0"/>
                              </a:rPr>
                              <m:t>𝑡</m:t>
                            </m:r>
                            <m:r>
                              <a:rPr lang="en-US" sz="1200" b="0" i="1" smtClean="0">
                                <a:solidFill>
                                  <a:srgbClr val="000000"/>
                                </a:solidFill>
                                <a:latin typeface="Cambria Math" panose="02040503050406030204" pitchFamily="18" charset="0"/>
                              </a:rPr>
                              <m:t>−16</m:t>
                            </m:r>
                          </m:num>
                          <m:den>
                            <m:r>
                              <a:rPr lang="en-US" sz="1200" b="0" i="1" smtClean="0">
                                <a:solidFill>
                                  <a:srgbClr val="000000"/>
                                </a:solidFill>
                                <a:latin typeface="Cambria Math" panose="02040503050406030204" pitchFamily="18" charset="0"/>
                              </a:rPr>
                              <m:t>3</m:t>
                            </m:r>
                          </m:den>
                        </m:f>
                      </m:e>
                    </m:d>
                  </m:oMath>
                </a14:m>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p>
            </p:txBody>
          </p:sp>
        </mc:Choice>
        <mc:Fallback xmlns="">
          <p:sp>
            <p:nvSpPr>
              <p:cNvPr id="3" name="Notes Placeholder 2">
                <a:extLst>
                  <a:ext uri="{FF2B5EF4-FFF2-40B4-BE49-F238E27FC236}">
                    <a16:creationId xmlns:a16="http://schemas.microsoft.com/office/drawing/2014/main" id="{A68353D2-7A02-903A-129E-2518E350F9D5}"/>
                  </a:ext>
                </a:extLst>
              </p:cNvPr>
              <p:cNvSpPr>
                <a:spLocks noGrp="1"/>
              </p:cNvSpPr>
              <p:nvPr>
                <p:ph type="body" idx="1"/>
              </p:nvPr>
            </p:nvSpPr>
            <p:spPr/>
            <p:txBody>
              <a:bodyPr/>
              <a:lstStyle/>
              <a:p>
                <a:pPr marL="0" indent="0" algn="l">
                  <a:buFont typeface="Arial" panose="020B0604020202020204" pitchFamily="34" charset="0"/>
                  <a:buNone/>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Explain what the coordinates of the new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mean in this context.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did the $35 fee affect how many T-shirts Gracie needs to sell to earn $100?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rewrite the equation in general form to create the equation in factored form? </a:t>
                </a:r>
              </a:p>
              <a:p>
                <a:pPr marL="171450" indent="-171450" algn="l">
                  <a:buFont typeface="Arial" panose="020B0604020202020204" pitchFamily="34" charset="0"/>
                  <a:buChar cha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How can you use what you know about factored form to determine the factor </a:t>
                </a:r>
                <a:r>
                  <a:rPr lang="en-US" sz="1200" i="0">
                    <a:solidFill>
                      <a:srgbClr val="000000"/>
                    </a:solidFill>
                    <a:latin typeface="Cambria Math" panose="02040503050406030204" pitchFamily="18" charset="0"/>
                  </a:rPr>
                  <a:t>((</a:t>
                </a:r>
                <a:r>
                  <a:rPr lang="en-US" sz="1200" b="0" i="0">
                    <a:solidFill>
                      <a:srgbClr val="000000"/>
                    </a:solidFill>
                    <a:latin typeface="Cambria Math" panose="02040503050406030204" pitchFamily="18" charset="0"/>
                  </a:rPr>
                  <a:t>𝑡−16)/3)</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p>
            </p:txBody>
          </p:sp>
        </mc:Fallback>
      </mc:AlternateContent>
      <p:sp>
        <p:nvSpPr>
          <p:cNvPr id="4" name="Slide Number Placeholder 3">
            <a:extLst>
              <a:ext uri="{FF2B5EF4-FFF2-40B4-BE49-F238E27FC236}">
                <a16:creationId xmlns:a16="http://schemas.microsoft.com/office/drawing/2014/main" id="{DE70EA08-6F64-938C-34E6-D19BDC77E17D}"/>
              </a:ext>
            </a:extLst>
          </p:cNvPr>
          <p:cNvSpPr>
            <a:spLocks noGrp="1"/>
          </p:cNvSpPr>
          <p:nvPr>
            <p:ph type="sldNum" sz="quarter" idx="5"/>
          </p:nvPr>
        </p:nvSpPr>
        <p:spPr/>
        <p:txBody>
          <a:bodyPr/>
          <a:lstStyle/>
          <a:p>
            <a:fld id="{BB5E49A5-4136-284D-997B-48E1D791AD67}" type="slidenum">
              <a:rPr lang="en-US" smtClean="0"/>
              <a:t>63</a:t>
            </a:fld>
            <a:endParaRPr lang="en-US"/>
          </a:p>
        </p:txBody>
      </p:sp>
    </p:spTree>
    <p:extLst>
      <p:ext uri="{BB962C8B-B14F-4D97-AF65-F5344CB8AC3E}">
        <p14:creationId xmlns:p14="http://schemas.microsoft.com/office/powerpoint/2010/main" val="317492419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63E56-5113-2BF0-5E08-513E5C9CBE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970470-48F0-CF13-7FDD-B7AED22C119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4ACCB08-648E-110F-BEBA-D401F3AB3358}"/>
              </a:ext>
            </a:extLst>
          </p:cNvPr>
          <p:cNvSpPr>
            <a:spLocks noGrp="1"/>
          </p:cNvSpPr>
          <p:nvPr>
            <p:ph type="body" idx="1"/>
          </p:nvPr>
        </p:nvSpPr>
        <p:spPr/>
        <p:txBody>
          <a:bodyPr/>
          <a:lstStyle/>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Activity 6.4 Summary:</a:t>
            </a:r>
          </a:p>
          <a:p>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In the general form of a linear function,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ax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is the slope and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is the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-intercept. In the factored form of a linear function,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is the slope and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is the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-intercept or zero of the function.</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2F6C80B1-3232-269E-87D3-8C1B24A234A0}"/>
              </a:ext>
            </a:extLst>
          </p:cNvPr>
          <p:cNvSpPr>
            <a:spLocks noGrp="1"/>
          </p:cNvSpPr>
          <p:nvPr>
            <p:ph type="sldNum" sz="quarter" idx="5"/>
          </p:nvPr>
        </p:nvSpPr>
        <p:spPr/>
        <p:txBody>
          <a:bodyPr/>
          <a:lstStyle/>
          <a:p>
            <a:fld id="{BB5E49A5-4136-284D-997B-48E1D791AD67}" type="slidenum">
              <a:rPr lang="en-US" smtClean="0"/>
              <a:t>64</a:t>
            </a:fld>
            <a:endParaRPr lang="en-US"/>
          </a:p>
        </p:txBody>
      </p:sp>
    </p:spTree>
    <p:extLst>
      <p:ext uri="{BB962C8B-B14F-4D97-AF65-F5344CB8AC3E}">
        <p14:creationId xmlns:p14="http://schemas.microsoft.com/office/powerpoint/2010/main" val="395402705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FD232-5EC5-9F70-CE9B-0E4FD1F921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E11B3F-8449-CB10-FDAB-CF2FFC21167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124723A-D299-1D76-8CAA-528D2C6346D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F7B2D31-2148-34A2-9042-D1E7944804EF}"/>
              </a:ext>
            </a:extLst>
          </p:cNvPr>
          <p:cNvSpPr>
            <a:spLocks noGrp="1"/>
          </p:cNvSpPr>
          <p:nvPr>
            <p:ph type="sldNum" sz="quarter" idx="5"/>
          </p:nvPr>
        </p:nvSpPr>
        <p:spPr/>
        <p:txBody>
          <a:bodyPr/>
          <a:lstStyle/>
          <a:p>
            <a:fld id="{BB5E49A5-4136-284D-997B-48E1D791AD67}" type="slidenum">
              <a:rPr lang="en-US" smtClean="0"/>
              <a:t>65</a:t>
            </a:fld>
            <a:endParaRPr lang="en-US"/>
          </a:p>
        </p:txBody>
      </p:sp>
    </p:spTree>
    <p:extLst>
      <p:ext uri="{BB962C8B-B14F-4D97-AF65-F5344CB8AC3E}">
        <p14:creationId xmlns:p14="http://schemas.microsoft.com/office/powerpoint/2010/main" val="79056283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Total time of 20-25 minutes allotted for the Talk the Talk.</a:t>
            </a:r>
          </a:p>
        </p:txBody>
      </p:sp>
      <p:sp>
        <p:nvSpPr>
          <p:cNvPr id="4" name="Slide Number Placeholder 3"/>
          <p:cNvSpPr>
            <a:spLocks noGrp="1"/>
          </p:cNvSpPr>
          <p:nvPr>
            <p:ph type="sldNum" sz="quarter" idx="5"/>
          </p:nvPr>
        </p:nvSpPr>
        <p:spPr/>
        <p:txBody>
          <a:bodyPr/>
          <a:lstStyle/>
          <a:p>
            <a:fld id="{BB5E49A5-4136-284D-997B-48E1D791AD67}" type="slidenum">
              <a:rPr lang="en-US" smtClean="0"/>
              <a:t>66</a:t>
            </a:fld>
            <a:endParaRPr lang="en-US"/>
          </a:p>
        </p:txBody>
      </p:sp>
    </p:spTree>
    <p:extLst>
      <p:ext uri="{BB962C8B-B14F-4D97-AF65-F5344CB8AC3E}">
        <p14:creationId xmlns:p14="http://schemas.microsoft.com/office/powerpoint/2010/main" val="45332578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2AA4F-9047-B9A3-FAA5-47EDA973F0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363D7E-477A-547B-7890-5B12FF9E03B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F497D68E-91D9-8A31-9C59-3FCC03C38E07}"/>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know that each function is linear?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the slope and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Explain how to determine the value of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for a given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679CACE-8C3A-3E2E-177C-A30660625BE2}"/>
              </a:ext>
            </a:extLst>
          </p:cNvPr>
          <p:cNvSpPr>
            <a:spLocks noGrp="1"/>
          </p:cNvSpPr>
          <p:nvPr>
            <p:ph type="sldNum" sz="quarter" idx="5"/>
          </p:nvPr>
        </p:nvSpPr>
        <p:spPr/>
        <p:txBody>
          <a:bodyPr/>
          <a:lstStyle/>
          <a:p>
            <a:fld id="{BB5E49A5-4136-284D-997B-48E1D791AD67}" type="slidenum">
              <a:rPr lang="en-US" smtClean="0"/>
              <a:t>67</a:t>
            </a:fld>
            <a:endParaRPr lang="en-US"/>
          </a:p>
        </p:txBody>
      </p:sp>
    </p:spTree>
    <p:extLst>
      <p:ext uri="{BB962C8B-B14F-4D97-AF65-F5344CB8AC3E}">
        <p14:creationId xmlns:p14="http://schemas.microsoft.com/office/powerpoint/2010/main" val="398851199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F13B-45AF-A872-A49A-32F3BBAB69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5E0ADC-0545-BB30-19AF-541A218F062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95DE28B-A6FA-CEDE-8878-A389C17B4BA2}"/>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know that each function is linear?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the slope and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Explain how to determine the value of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for a given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7C096A9-CDA5-1F24-BE64-1194A4BB3CE6}"/>
              </a:ext>
            </a:extLst>
          </p:cNvPr>
          <p:cNvSpPr>
            <a:spLocks noGrp="1"/>
          </p:cNvSpPr>
          <p:nvPr>
            <p:ph type="sldNum" sz="quarter" idx="5"/>
          </p:nvPr>
        </p:nvSpPr>
        <p:spPr/>
        <p:txBody>
          <a:bodyPr/>
          <a:lstStyle/>
          <a:p>
            <a:fld id="{BB5E49A5-4136-284D-997B-48E1D791AD67}" type="slidenum">
              <a:rPr lang="en-US" smtClean="0"/>
              <a:t>68</a:t>
            </a:fld>
            <a:endParaRPr lang="en-US"/>
          </a:p>
        </p:txBody>
      </p:sp>
    </p:spTree>
    <p:extLst>
      <p:ext uri="{BB962C8B-B14F-4D97-AF65-F5344CB8AC3E}">
        <p14:creationId xmlns:p14="http://schemas.microsoft.com/office/powerpoint/2010/main" val="103670465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1857F-4B0A-F642-021E-E24C57280F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24E7F8-892E-CD63-59E3-81CD35BBA12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3763F35-B3F2-4284-EEA3-B44C2F8FFD6B}"/>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know that each function is linear?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the slope and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Explain how to determine the value of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for a given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6721732-1AF0-776A-98A1-C1B96D5D7914}"/>
              </a:ext>
            </a:extLst>
          </p:cNvPr>
          <p:cNvSpPr>
            <a:spLocks noGrp="1"/>
          </p:cNvSpPr>
          <p:nvPr>
            <p:ph type="sldNum" sz="quarter" idx="5"/>
          </p:nvPr>
        </p:nvSpPr>
        <p:spPr/>
        <p:txBody>
          <a:bodyPr/>
          <a:lstStyle/>
          <a:p>
            <a:fld id="{BB5E49A5-4136-284D-997B-48E1D791AD67}" type="slidenum">
              <a:rPr lang="en-US" smtClean="0"/>
              <a:t>69</a:t>
            </a:fld>
            <a:endParaRPr lang="en-US"/>
          </a:p>
        </p:txBody>
      </p:sp>
    </p:spTree>
    <p:extLst>
      <p:ext uri="{BB962C8B-B14F-4D97-AF65-F5344CB8AC3E}">
        <p14:creationId xmlns:p14="http://schemas.microsoft.com/office/powerpoint/2010/main" val="255472060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EB227-3879-65CE-5DCE-04351B6F69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83258F-6356-B347-59C0-95530B07663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3BB1684-0F4C-2D7B-E4F4-EB8BFC29E9FE}"/>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know that each function is linear?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the slope and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Explain how to determine the value of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for a given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FCD8C787-453C-8590-47C8-3568DFD23F78}"/>
              </a:ext>
            </a:extLst>
          </p:cNvPr>
          <p:cNvSpPr>
            <a:spLocks noGrp="1"/>
          </p:cNvSpPr>
          <p:nvPr>
            <p:ph type="sldNum" sz="quarter" idx="5"/>
          </p:nvPr>
        </p:nvSpPr>
        <p:spPr/>
        <p:txBody>
          <a:bodyPr/>
          <a:lstStyle/>
          <a:p>
            <a:fld id="{BB5E49A5-4136-284D-997B-48E1D791AD67}" type="slidenum">
              <a:rPr lang="en-US" smtClean="0"/>
              <a:t>70</a:t>
            </a:fld>
            <a:endParaRPr lang="en-US"/>
          </a:p>
        </p:txBody>
      </p:sp>
    </p:spTree>
    <p:extLst>
      <p:ext uri="{BB962C8B-B14F-4D97-AF65-F5344CB8AC3E}">
        <p14:creationId xmlns:p14="http://schemas.microsoft.com/office/powerpoint/2010/main" val="165381441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FF79C-D511-067A-9403-FA4C15CC13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412344-0702-7B08-9B41-F83CB035B06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6563745-0B7B-8050-14F5-839A2C42EC9D}"/>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b="0">
                <a:solidFill>
                  <a:srgbClr val="000000"/>
                </a:solidFill>
                <a:latin typeface="Calibri" panose="020F0502020204030204" pitchFamily="34" charset="0"/>
                <a:ea typeface="Calibri" panose="020F0502020204030204" pitchFamily="34" charset="0"/>
                <a:cs typeface="Calibri" panose="020F0502020204030204" pitchFamily="34" charset="0"/>
              </a:rPr>
              <a:t>The graphic organizer is on a slide toward the end of this deck.</a:t>
            </a:r>
          </a:p>
          <a:p>
            <a:endParaRPr lang="en-US" b="1">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know that each function is linear?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the slope and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Explain how to determine the value of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for a given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539CD7F-BB04-1629-B3BA-D81856CB76D3}"/>
              </a:ext>
            </a:extLst>
          </p:cNvPr>
          <p:cNvSpPr>
            <a:spLocks noGrp="1"/>
          </p:cNvSpPr>
          <p:nvPr>
            <p:ph type="sldNum" sz="quarter" idx="5"/>
          </p:nvPr>
        </p:nvSpPr>
        <p:spPr/>
        <p:txBody>
          <a:bodyPr/>
          <a:lstStyle/>
          <a:p>
            <a:fld id="{BB5E49A5-4136-284D-997B-48E1D791AD67}" type="slidenum">
              <a:rPr lang="en-US" smtClean="0"/>
              <a:t>71</a:t>
            </a:fld>
            <a:endParaRPr lang="en-US"/>
          </a:p>
        </p:txBody>
      </p:sp>
    </p:spTree>
    <p:extLst>
      <p:ext uri="{BB962C8B-B14F-4D97-AF65-F5344CB8AC3E}">
        <p14:creationId xmlns:p14="http://schemas.microsoft.com/office/powerpoint/2010/main" val="115263355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E473D-4528-DFFA-E953-FEA47C3C7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A914DF-98D2-80F7-EB75-83372C9423D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F126620-ACED-E72E-6EC1-68925DD8E3F7}"/>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know that each function is linear?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the slope and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Explain how to determine the value of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for a given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39504DE-FAA6-9805-9EE3-527C7B1376FC}"/>
              </a:ext>
            </a:extLst>
          </p:cNvPr>
          <p:cNvSpPr>
            <a:spLocks noGrp="1"/>
          </p:cNvSpPr>
          <p:nvPr>
            <p:ph type="sldNum" sz="quarter" idx="5"/>
          </p:nvPr>
        </p:nvSpPr>
        <p:spPr/>
        <p:txBody>
          <a:bodyPr/>
          <a:lstStyle/>
          <a:p>
            <a:fld id="{BB5E49A5-4136-284D-997B-48E1D791AD67}" type="slidenum">
              <a:rPr lang="en-US" smtClean="0"/>
              <a:t>72</a:t>
            </a:fld>
            <a:endParaRPr lang="en-US"/>
          </a:p>
        </p:txBody>
      </p:sp>
    </p:spTree>
    <p:extLst>
      <p:ext uri="{BB962C8B-B14F-4D97-AF65-F5344CB8AC3E}">
        <p14:creationId xmlns:p14="http://schemas.microsoft.com/office/powerpoint/2010/main" val="377768092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60FB9-B96D-B916-ADA4-EECA28BDAF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409044-2CA6-5C4A-F151-043A60F9275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7D0BEA1-D56B-9040-3345-C68F3E1F11C1}"/>
              </a:ext>
            </a:extLst>
          </p:cNvPr>
          <p:cNvSpPr>
            <a:spLocks noGrp="1"/>
          </p:cNvSpPr>
          <p:nvPr>
            <p:ph type="body" idx="1"/>
          </p:nvPr>
        </p:nvSpPr>
        <p:spPr/>
        <p:txBody>
          <a:bodyPr/>
          <a:lstStyle/>
          <a:p>
            <a:r>
              <a:rPr lang="en-US" b="1">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know that each function is linear?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How did you calculate the slope and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buFont typeface="Arial" panose="020B0604020202020204" pitchFamily="34" charset="0"/>
              <a:buChar char="•"/>
            </a:pP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Explain how to determine the value of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for a given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980EBE45-B41C-094A-5963-5E8F4C861DB9}"/>
              </a:ext>
            </a:extLst>
          </p:cNvPr>
          <p:cNvSpPr>
            <a:spLocks noGrp="1"/>
          </p:cNvSpPr>
          <p:nvPr>
            <p:ph type="sldNum" sz="quarter" idx="5"/>
          </p:nvPr>
        </p:nvSpPr>
        <p:spPr/>
        <p:txBody>
          <a:bodyPr/>
          <a:lstStyle/>
          <a:p>
            <a:fld id="{BB5E49A5-4136-284D-997B-48E1D791AD67}" type="slidenum">
              <a:rPr lang="en-US" smtClean="0"/>
              <a:t>73</a:t>
            </a:fld>
            <a:endParaRPr lang="en-US"/>
          </a:p>
        </p:txBody>
      </p:sp>
    </p:spTree>
    <p:extLst>
      <p:ext uri="{BB962C8B-B14F-4D97-AF65-F5344CB8AC3E}">
        <p14:creationId xmlns:p14="http://schemas.microsoft.com/office/powerpoint/2010/main" val="295989481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a:solidFill>
                  <a:srgbClr val="000000"/>
                </a:solidFill>
                <a:latin typeface="Calibri" panose="020F0502020204030204" pitchFamily="34" charset="0"/>
                <a:ea typeface="Calibri" panose="020F0502020204030204" pitchFamily="34" charset="0"/>
                <a:cs typeface="Calibri" panose="020F0502020204030204" pitchFamily="34" charset="0"/>
              </a:rPr>
              <a:t> To close Day 3, have students read and answer the Essential Question and then read the Stamp the Learning summary aloud.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Essential Question:</a:t>
            </a:r>
          </a:p>
          <a:p>
            <a:r>
              <a:rPr lang="en-US" sz="1200" b="0">
                <a:solidFill>
                  <a:srgbClr val="000000"/>
                </a:solidFill>
                <a:latin typeface="Calibri" panose="020F0502020204030204" pitchFamily="34" charset="0"/>
                <a:ea typeface="Calibri" panose="020F0502020204030204" pitchFamily="34" charset="0"/>
                <a:cs typeface="Calibri" panose="020F0502020204030204" pitchFamily="34" charset="0"/>
              </a:rPr>
              <a:t>Sample answer: </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The general form of a linear function is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where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are real numbers and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 0. In this form, the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-value is the leading coefficient that describes the steepness and direction of the line. The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-value describes the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 The factored form of a linear function is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where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are real numbers and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 0. In this form, the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-value is the slope and the value of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 that makes the factor </a:t>
            </a:r>
            <a:r>
              <a:rPr lang="en-US" sz="1200" i="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 </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 c</a:t>
            </a:r>
            <a:r>
              <a:rPr lang="en-US" sz="1200" i="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equal to zero is the </a:t>
            </a:r>
            <a:r>
              <a:rPr lang="en-US" sz="1200" i="1">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-intercept.</a:t>
            </a:r>
            <a:b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b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Talk the Talk Summary:</a:t>
            </a:r>
          </a:p>
          <a:p>
            <a:pPr algn="l"/>
            <a:r>
              <a:rPr lang="en-US" sz="1200" b="0" i="0" u="none" strike="noStrike" baseline="0">
                <a:solidFill>
                  <a:srgbClr val="000000"/>
                </a:solidFill>
                <a:latin typeface="Calibri" panose="020F0502020204030204" pitchFamily="34" charset="0"/>
                <a:ea typeface="Calibri" panose="020F0502020204030204" pitchFamily="34" charset="0"/>
                <a:cs typeface="Calibri" panose="020F0502020204030204" pitchFamily="34" charset="0"/>
              </a:rPr>
              <a:t>Both the general and factored form of a linear function relate to the graph and table of the function they model. The equation always provides exact answers, while the graph and table sometimes may only be able to provide approximate values.</a:t>
            </a:r>
            <a:endParaRPr lang="en-US" sz="1200" b="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74</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sz="1200" b="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75</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76</a:t>
            </a:fld>
            <a:endParaRPr lang="en-US"/>
          </a:p>
        </p:txBody>
      </p:sp>
    </p:spTree>
    <p:extLst>
      <p:ext uri="{BB962C8B-B14F-4D97-AF65-F5344CB8AC3E}">
        <p14:creationId xmlns:p14="http://schemas.microsoft.com/office/powerpoint/2010/main" val="348557418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4AEA3-980E-3407-59D3-404816F0B0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DEEFE7-84ED-ECBA-C506-1E1EA96A9E9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E02BE61-CFA3-F3DD-AFF7-BE0368E002A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70F1B54-458D-CCBC-847C-87E8BFB5119E}"/>
              </a:ext>
            </a:extLst>
          </p:cNvPr>
          <p:cNvSpPr>
            <a:spLocks noGrp="1"/>
          </p:cNvSpPr>
          <p:nvPr>
            <p:ph type="sldNum" sz="quarter" idx="5"/>
          </p:nvPr>
        </p:nvSpPr>
        <p:spPr/>
        <p:txBody>
          <a:bodyPr/>
          <a:lstStyle/>
          <a:p>
            <a:fld id="{BB5E49A5-4136-284D-997B-48E1D791AD67}" type="slidenum">
              <a:rPr lang="en-US" smtClean="0"/>
              <a:t>77</a:t>
            </a:fld>
            <a:endParaRPr lang="en-US"/>
          </a:p>
        </p:txBody>
      </p:sp>
    </p:spTree>
    <p:extLst>
      <p:ext uri="{BB962C8B-B14F-4D97-AF65-F5344CB8AC3E}">
        <p14:creationId xmlns:p14="http://schemas.microsoft.com/office/powerpoint/2010/main" val="45855992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algn="l" rtl="0" fontAlgn="base"/>
            <a:r>
              <a:rPr lang="en-US"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How can you identify whether students are ready for new learning?</a:t>
            </a:r>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i="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algn="l" rtl="0" fontAlgn="base"/>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Depending on available time, you can assign the Prepare section of the Lesson Assignments as homework or as a warm-up to identify students' prior knowledge for the upcoming lesson's activities.</a:t>
            </a: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78</a:t>
            </a:fld>
            <a:endParaRPr lang="en-US"/>
          </a:p>
        </p:txBody>
      </p:sp>
    </p:spTree>
    <p:extLst>
      <p:ext uri="{BB962C8B-B14F-4D97-AF65-F5344CB8AC3E}">
        <p14:creationId xmlns:p14="http://schemas.microsoft.com/office/powerpoint/2010/main" val="119479312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C5294-F897-70EF-D10E-AF9CFE145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D65B6-500E-9C24-23DA-5854FF62C81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E5F22DD-FFA2-9C87-4A7D-F7CA29096CE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B2A398D-9730-D1C3-AAF7-0F03D4B776E7}"/>
              </a:ext>
            </a:extLst>
          </p:cNvPr>
          <p:cNvSpPr>
            <a:spLocks noGrp="1"/>
          </p:cNvSpPr>
          <p:nvPr>
            <p:ph type="sldNum" sz="quarter" idx="5"/>
          </p:nvPr>
        </p:nvSpPr>
        <p:spPr/>
        <p:txBody>
          <a:bodyPr/>
          <a:lstStyle/>
          <a:p>
            <a:fld id="{BB5E49A5-4136-284D-997B-48E1D791AD67}" type="slidenum">
              <a:rPr lang="en-US" smtClean="0"/>
              <a:t>79</a:t>
            </a:fld>
            <a:endParaRPr lang="en-US"/>
          </a:p>
        </p:txBody>
      </p:sp>
    </p:spTree>
    <p:extLst>
      <p:ext uri="{BB962C8B-B14F-4D97-AF65-F5344CB8AC3E}">
        <p14:creationId xmlns:p14="http://schemas.microsoft.com/office/powerpoint/2010/main" val="358139013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80</a:t>
            </a:fld>
            <a:endParaRPr lang="en-US"/>
          </a:p>
        </p:txBody>
      </p:sp>
    </p:spTree>
    <p:extLst>
      <p:ext uri="{BB962C8B-B14F-4D97-AF65-F5344CB8AC3E}">
        <p14:creationId xmlns:p14="http://schemas.microsoft.com/office/powerpoint/2010/main" val="65025293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81</a:t>
            </a:fld>
            <a:endParaRPr lang="en-US"/>
          </a:p>
        </p:txBody>
      </p:sp>
    </p:spTree>
    <p:extLst>
      <p:ext uri="{BB962C8B-B14F-4D97-AF65-F5344CB8AC3E}">
        <p14:creationId xmlns:p14="http://schemas.microsoft.com/office/powerpoint/2010/main" val="10963108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hyperlink" Target="https://creativecommons.org/licenses/by-nc/4.0"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7.pn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22.pn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236739"/>
                </a:solidFill>
              </a:defRPr>
            </a:lvl1pPr>
          </a:lstStyle>
          <a:p>
            <a:pPr lvl="0"/>
            <a:r>
              <a:rPr lang="en-US" sz="6000"/>
              <a:t>Module Name</a:t>
            </a:r>
          </a:p>
          <a:p>
            <a:pPr lvl="0"/>
            <a:r>
              <a:rPr lang="en-US" sz="6000"/>
              <a:t>Name</a:t>
            </a:r>
          </a:p>
          <a:p>
            <a:pPr lvl="0"/>
            <a:endParaRPr lang="en-US"/>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236739"/>
                </a:solidFill>
              </a:defRPr>
            </a:lvl1pPr>
          </a:lstStyle>
          <a:p>
            <a:pPr lvl="0"/>
            <a:r>
              <a:rPr lang="en-US"/>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a:solidFill>
                  <a:schemeClr val="bg2">
                    <a:lumMod val="50000"/>
                  </a:schemeClr>
                </a:solidFill>
                <a:latin typeface="Calibri" panose="020F0502020204030204" pitchFamily="34" charset="0"/>
                <a:cs typeface="Calibri" panose="020F0502020204030204" pitchFamily="34" charset="0"/>
              </a:rPr>
              <a:t>EDITION 1</a:t>
            </a:r>
          </a:p>
        </p:txBody>
      </p:sp>
      <p:pic>
        <p:nvPicPr>
          <p:cNvPr id="7" name="Picture 6">
            <a:extLst>
              <a:ext uri="{FF2B5EF4-FFF2-40B4-BE49-F238E27FC236}">
                <a16:creationId xmlns:a16="http://schemas.microsoft.com/office/drawing/2014/main" id="{F3AD9D6D-E5B1-9F4C-296E-9D558E47F581}"/>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4663225"/>
            <a:ext cx="12190413" cy="2194775"/>
          </a:xfrm>
          <a:prstGeom prst="rect">
            <a:avLst/>
          </a:prstGeom>
        </p:spPr>
      </p:pic>
    </p:spTree>
    <p:extLst>
      <p:ext uri="{BB962C8B-B14F-4D97-AF65-F5344CB8AC3E}">
        <p14:creationId xmlns:p14="http://schemas.microsoft.com/office/powerpoint/2010/main" val="244819002"/>
      </p:ext>
    </p:extLst>
  </p:cSld>
  <p:clrMapOvr>
    <a:masterClrMapping/>
  </p:clrMapOvr>
  <p:extLst>
    <p:ext uri="{DCECCB84-F9BA-43D5-87BE-67443E8EF086}">
      <p15:sldGuideLst xmlns:p15="http://schemas.microsoft.com/office/powerpoint/2012/main">
        <p15:guide id="1" orient="horz" pos="2160">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descr="A pattern with circles and lines&#10;&#10;AI-generated content may be incorrect.">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932192"/>
            <a:ext cx="12190413"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a:solidFill>
                  <a:srgbClr val="000000"/>
                </a:solidFill>
              </a:rPr>
              <a:t>Acknowledgment</a:t>
            </a:r>
          </a:p>
          <a:p>
            <a:r>
              <a:rPr lang="en-US">
                <a:solidFill>
                  <a:srgbClr val="000000"/>
                </a:solidFill>
              </a:rPr>
              <a:t>Thank you to all the Texas educators and stakeholders who supported the review process and provided feedback. These materials are the result of the work of numerous individuals, and we are deeply grateful for their contributions.</a:t>
            </a:r>
            <a:endParaRPr lang="en-US">
              <a:solidFill>
                <a:srgbClr val="000000"/>
              </a:solidFill>
              <a:cs typeface="Calibri"/>
            </a:endParaRPr>
          </a:p>
          <a:p>
            <a:endParaRPr lang="en-US">
              <a:solidFill>
                <a:srgbClr val="000000"/>
              </a:solidFill>
            </a:endParaRPr>
          </a:p>
          <a:p>
            <a:r>
              <a:rPr lang="en-US" b="1">
                <a:solidFill>
                  <a:srgbClr val="000000"/>
                </a:solidFill>
              </a:rPr>
              <a:t>Notice</a:t>
            </a:r>
            <a:endParaRPr lang="en-US" b="1">
              <a:solidFill>
                <a:srgbClr val="000000"/>
              </a:solidFill>
              <a:cs typeface="Calibri"/>
            </a:endParaRPr>
          </a:p>
          <a:p>
            <a:r>
              <a:rPr lang="en-US">
                <a:solidFill>
                  <a:srgbClr val="000000"/>
                </a:solidFill>
              </a:rPr>
              <a:t>These learning resources have been built for Texas students, aligned to the Texas Essential Knowledge and Skills, and are made available pursuant to Chapter 31, Subchapter B-1 of the Texas Education Code.</a:t>
            </a:r>
            <a:endParaRPr lang="en-US">
              <a:solidFill>
                <a:srgbClr val="000000"/>
              </a:solidFill>
              <a:cs typeface="Calibri"/>
            </a:endParaRPr>
          </a:p>
          <a:p>
            <a:r>
              <a:rPr lang="en-US">
                <a:solidFill>
                  <a:srgbClr val="000000"/>
                </a:solidFill>
              </a:rPr>
              <a:t>If you have further questions or to report an error, please email </a:t>
            </a:r>
            <a:r>
              <a:rPr lang="en-US">
                <a:solidFill>
                  <a:srgbClr val="000000"/>
                </a:solidFill>
                <a:hlinkClick r:id="rId3">
                  <a:extLst>
                    <a:ext uri="{A12FA001-AC4F-418D-AE19-62706E023703}">
                      <ahyp:hlinkClr xmlns:ahyp="http://schemas.microsoft.com/office/drawing/2018/hyperlinkcolor" val="tx"/>
                    </a:ext>
                  </a:extLst>
                </a:hlinkClick>
              </a:rPr>
              <a:t>openeducationresources@tea.texas.gov</a:t>
            </a:r>
            <a:r>
              <a:rPr lang="en-US">
                <a:solidFill>
                  <a:srgbClr val="000000"/>
                </a:solidFill>
              </a:rPr>
              <a:t>.</a:t>
            </a:r>
          </a:p>
          <a:p>
            <a:endParaRPr lang="en-US">
              <a:solidFill>
                <a:srgbClr val="000000"/>
              </a:solidFill>
              <a:cs typeface="Calibri"/>
            </a:endParaRPr>
          </a:p>
          <a:p>
            <a:r>
              <a:rPr lang="en-US">
                <a:solidFill>
                  <a:srgbClr val="000000"/>
                </a:solidFill>
                <a:cs typeface="Calibri"/>
              </a:rPr>
              <a:t>©2024-2025 Texas Education Agency. Portions of this work are adapted, with permission, from the originals created by and copyright ©2021 Carnegie Learning, Inc. </a:t>
            </a:r>
          </a:p>
          <a:p>
            <a:endParaRPr lang="en-US">
              <a:solidFill>
                <a:srgbClr val="000000"/>
              </a:solidFill>
              <a:cs typeface="Calibri"/>
            </a:endParaRPr>
          </a:p>
          <a:p>
            <a:r>
              <a:rPr lang="en-US">
                <a:solidFill>
                  <a:srgbClr val="000000"/>
                </a:solidFill>
                <a:cs typeface="Calibri"/>
              </a:rPr>
              <a:t>This work is licensed under a Creative Commons Attribution-Non-Commercial-4.0 International License. For information, visit: </a:t>
            </a:r>
            <a:r>
              <a:rPr lang="en-US" u="none">
                <a:solidFill>
                  <a:srgbClr val="000000"/>
                </a:solidFill>
                <a:cs typeface="Calibri"/>
                <a:hlinkClick r:id="rId4">
                  <a:extLst>
                    <a:ext uri="{A12FA001-AC4F-418D-AE19-62706E023703}">
                      <ahyp:hlinkClr xmlns:ahyp="http://schemas.microsoft.com/office/drawing/2018/hyperlinkcolor" val="tx"/>
                    </a:ext>
                  </a:extLst>
                </a:hlinkClick>
              </a:rPr>
              <a:t>https://creativecommons.org/licenses/by-nc/4.0</a:t>
            </a:r>
            <a:r>
              <a:rPr lang="en-US">
                <a:solidFill>
                  <a:srgbClr val="000000"/>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Tree>
    <p:extLst>
      <p:ext uri="{BB962C8B-B14F-4D97-AF65-F5344CB8AC3E}">
        <p14:creationId xmlns:p14="http://schemas.microsoft.com/office/powerpoint/2010/main" val="286671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2"/>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a:solidFill>
                  <a:schemeClr val="bg1"/>
                </a:solidFill>
                <a:latin typeface="Calibri" panose="020F0502020204030204" pitchFamily="34" charset="0"/>
              </a:rPr>
              <a:t>Activity </a:t>
            </a:r>
            <a:endParaRPr baseline="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302198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4A51F5-E78D-80F2-C30C-54D8CE7AD7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2"/>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Talk the Talk</a:t>
            </a:r>
            <a:endParaRPr baseline="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1775435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Getting Started</a:t>
            </a:r>
            <a:endParaRPr baseline="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4133615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Prepare</a:t>
            </a:r>
            <a:endParaRPr baseline="0">
              <a:solidFill>
                <a:schemeClr val="bg1"/>
              </a:solidFill>
              <a:latin typeface="Calibri" panose="020F0502020204030204" pitchFamily="34" charset="0"/>
            </a:endParaRPr>
          </a:p>
        </p:txBody>
      </p:sp>
    </p:spTree>
    <p:extLst>
      <p:ext uri="{BB962C8B-B14F-4D97-AF65-F5344CB8AC3E}">
        <p14:creationId xmlns:p14="http://schemas.microsoft.com/office/powerpoint/2010/main" val="3929298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a:solidFill>
                  <a:schemeClr val="bg2">
                    <a:lumMod val="10000"/>
                  </a:schemeClr>
                </a:solidFill>
                <a:latin typeface="Calibri" panose="020F0502020204030204" pitchFamily="34" charset="0"/>
              </a:rPr>
              <a:t>Day</a:t>
            </a:r>
            <a:endParaRPr baseline="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a:t>#</a:t>
            </a:r>
          </a:p>
        </p:txBody>
      </p:sp>
      <p:pic>
        <p:nvPicPr>
          <p:cNvPr id="2" name="Picture 1">
            <a:extLst>
              <a:ext uri="{FF2B5EF4-FFF2-40B4-BE49-F238E27FC236}">
                <a16:creationId xmlns:a16="http://schemas.microsoft.com/office/drawing/2014/main" id="{B9C392F0-D9CA-045E-DC33-AD0DC6B7D52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pic>
        <p:nvPicPr>
          <p:cNvPr id="4" name="Picture 3">
            <a:extLst>
              <a:ext uri="{FF2B5EF4-FFF2-40B4-BE49-F238E27FC236}">
                <a16:creationId xmlns:a16="http://schemas.microsoft.com/office/drawing/2014/main" id="{CB26F559-C57E-C96A-5BDB-3214E7F526F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794" y="-12700"/>
            <a:ext cx="12190413" cy="2194775"/>
          </a:xfrm>
          <a:prstGeom prst="rect">
            <a:avLst/>
          </a:prstGeom>
        </p:spPr>
      </p:pic>
    </p:spTree>
    <p:extLst>
      <p:ext uri="{BB962C8B-B14F-4D97-AF65-F5344CB8AC3E}">
        <p14:creationId xmlns:p14="http://schemas.microsoft.com/office/powerpoint/2010/main" val="2409455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737A2645-EE86-77F8-BA51-02B334B382F3}"/>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225035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3E638D-838D-E791-FA97-DF1E0C1C5B05}"/>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2B8147"/>
          </a:solidFill>
        </p:spPr>
        <p:txBody>
          <a:bodyPr lIns="0" rIns="0" anchor="ctr"/>
          <a:lstStyle>
            <a:lvl1pPr marL="0" indent="0" algn="ctr">
              <a:buNone/>
              <a:defRPr sz="1800">
                <a:solidFill>
                  <a:schemeClr val="bg1"/>
                </a:solidFill>
              </a:defRPr>
            </a:lvl1pPr>
            <a:lvl4pPr marL="1371600" indent="0">
              <a:buNone/>
              <a:defRPr/>
            </a:lvl4pPr>
          </a:lstStyle>
          <a:p>
            <a:pPr lvl="0"/>
            <a:r>
              <a:rPr lang="en-US"/>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a:solidFill>
                  <a:schemeClr val="bg1"/>
                </a:solidFill>
              </a:rPr>
              <a:t>ENGLISH</a:t>
            </a:r>
          </a:p>
        </p:txBody>
      </p:sp>
    </p:spTree>
    <p:extLst>
      <p:ext uri="{BB962C8B-B14F-4D97-AF65-F5344CB8AC3E}">
        <p14:creationId xmlns:p14="http://schemas.microsoft.com/office/powerpoint/2010/main" val="3392555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2367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575441" y="0"/>
            <a:ext cx="4614971"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a:t>Objectives</a:t>
            </a:r>
          </a:p>
        </p:txBody>
      </p:sp>
    </p:spTree>
    <p:extLst>
      <p:ext uri="{BB962C8B-B14F-4D97-AF65-F5344CB8AC3E}">
        <p14:creationId xmlns:p14="http://schemas.microsoft.com/office/powerpoint/2010/main" val="3266950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183847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839BE6FA-B7B5-A88C-E18F-876B4ED3DA8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Read</a:t>
                      </a:r>
                      <a:endParaRPr sz="1800" b="1" u="none" strike="noStrike" cap="none">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Draw</a:t>
                      </a:r>
                      <a:endParaRPr sz="1800" b="1" u="none" strike="noStrike" cap="none">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Write</a:t>
                      </a:r>
                      <a:endParaRPr sz="1800" b="1" u="none" strike="noStrike" cap="none">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82D8885F-4E7F-EF80-4D84-7E5D714299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639318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Fluency: </a:t>
            </a:r>
            <a:r>
              <a:rPr kumimoji="0" lang="en-US" b="0" i="0" u="none" strike="noStrike" kern="1200" cap="none" spc="0" normalizeH="0" baseline="0" noProof="0">
                <a:ln>
                  <a:noFill/>
                </a:ln>
                <a:solidFill>
                  <a:srgbClr val="000000"/>
                </a:solidFill>
                <a:effectLst/>
                <a:uLnTx/>
                <a:uFillTx/>
                <a:latin typeface="Calibri"/>
                <a:ea typeface="+mn-ea"/>
                <a:cs typeface="+mn-cs"/>
              </a:rPr>
              <a:t>Title (# of #)</a:t>
            </a:r>
            <a:endParaRPr lang="en-US"/>
          </a:p>
        </p:txBody>
      </p:sp>
      <p:pic>
        <p:nvPicPr>
          <p:cNvPr id="7" name="Picture 6">
            <a:extLst>
              <a:ext uri="{FF2B5EF4-FFF2-40B4-BE49-F238E27FC236}">
                <a16:creationId xmlns:a16="http://schemas.microsoft.com/office/drawing/2014/main" id="{792E169A-E915-E3DE-BA92-93C09B36D4A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1483762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6D9F641A-4A14-37E2-75D5-B878BE1C5C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6319497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06F759EE-3C87-F94D-DE8B-C1F8F6267F4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331115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pic>
        <p:nvPicPr>
          <p:cNvPr id="6" name="Picture 5">
            <a:extLst>
              <a:ext uri="{FF2B5EF4-FFF2-40B4-BE49-F238E27FC236}">
                <a16:creationId xmlns:a16="http://schemas.microsoft.com/office/drawing/2014/main" id="{4B87CF12-0B39-5309-9556-C2A61354510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E6E2F58D-FAE6-FF3D-033D-1E9A7E4431C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60755373-B3E7-9C1B-E82F-11A7F4765EC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143965"/>
                </a:solidFill>
              </a:defRPr>
            </a:lvl1pPr>
          </a:lstStyle>
          <a:p>
            <a:pPr lvl="0"/>
            <a:r>
              <a:rPr lang="en-US" sz="6000"/>
              <a:t>Module Name</a:t>
            </a:r>
          </a:p>
          <a:p>
            <a:pPr lvl="0"/>
            <a:r>
              <a:rPr lang="en-US" sz="6000"/>
              <a:t>Name</a:t>
            </a:r>
          </a:p>
          <a:p>
            <a:pPr lvl="0"/>
            <a:endParaRPr lang="en-US"/>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descr="A blue and white pattern&#10;&#10;AI-generated content may be incorrect.">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0843309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932192"/>
            <a:ext cx="12190412"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a:solidFill>
                  <a:schemeClr val="bg2">
                    <a:lumMod val="25000"/>
                  </a:schemeClr>
                </a:solidFill>
              </a:rPr>
              <a:t>Acknowledgment</a:t>
            </a:r>
          </a:p>
          <a:p>
            <a:r>
              <a:rPr lang="en-US">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a:solidFill>
                <a:schemeClr val="bg2">
                  <a:lumMod val="25000"/>
                </a:schemeClr>
              </a:solidFill>
              <a:cs typeface="Calibri"/>
            </a:endParaRPr>
          </a:p>
          <a:p>
            <a:endParaRPr lang="en-US">
              <a:solidFill>
                <a:schemeClr val="bg2">
                  <a:lumMod val="25000"/>
                </a:schemeClr>
              </a:solidFill>
            </a:endParaRPr>
          </a:p>
          <a:p>
            <a:r>
              <a:rPr lang="en-US" b="1">
                <a:solidFill>
                  <a:schemeClr val="bg2">
                    <a:lumMod val="25000"/>
                  </a:schemeClr>
                </a:solidFill>
              </a:rPr>
              <a:t>Notice</a:t>
            </a:r>
            <a:endParaRPr lang="en-US" b="1">
              <a:solidFill>
                <a:schemeClr val="bg2">
                  <a:lumMod val="25000"/>
                </a:schemeClr>
              </a:solidFill>
              <a:cs typeface="Calibri"/>
            </a:endParaRPr>
          </a:p>
          <a:p>
            <a:r>
              <a:rPr lang="en-US">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a:solidFill>
                <a:schemeClr val="bg2">
                  <a:lumMod val="25000"/>
                </a:schemeClr>
              </a:solidFill>
              <a:cs typeface="Calibri"/>
            </a:endParaRPr>
          </a:p>
          <a:p>
            <a:r>
              <a:rPr lang="en-US">
                <a:solidFill>
                  <a:schemeClr val="bg2">
                    <a:lumMod val="25000"/>
                  </a:schemeClr>
                </a:solidFill>
              </a:rPr>
              <a:t>If you have further questions or to report an error, please email </a:t>
            </a:r>
            <a:r>
              <a:rPr lang="en-US">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a:solidFill>
                  <a:schemeClr val="bg2">
                    <a:lumMod val="25000"/>
                  </a:schemeClr>
                </a:solidFill>
              </a:rPr>
              <a:t>.</a:t>
            </a:r>
          </a:p>
          <a:p>
            <a:endParaRPr lang="en-US">
              <a:solidFill>
                <a:schemeClr val="bg2">
                  <a:lumMod val="25000"/>
                </a:schemeClr>
              </a:solidFill>
              <a:cs typeface="Calibri"/>
            </a:endParaRPr>
          </a:p>
          <a:p>
            <a:r>
              <a:rPr lang="en-US">
                <a:solidFill>
                  <a:schemeClr val="bg2">
                    <a:lumMod val="25000"/>
                  </a:schemeClr>
                </a:solidFill>
                <a:cs typeface="Calibri"/>
              </a:rPr>
              <a:t>Copyright ©2024 Texas Education Agency. This work based on or adapted from materials contained in Great Minds' Eureka Math® K-5 PDF files. </a:t>
            </a:r>
          </a:p>
          <a:p>
            <a:endParaRPr lang="en-US">
              <a:solidFill>
                <a:schemeClr val="bg2">
                  <a:lumMod val="25000"/>
                </a:schemeClr>
              </a:solidFill>
              <a:cs typeface="Calibri"/>
            </a:endParaRPr>
          </a:p>
          <a:p>
            <a:r>
              <a:rPr lang="en-US">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Tree>
    <p:extLst>
      <p:ext uri="{BB962C8B-B14F-4D97-AF65-F5344CB8AC3E}">
        <p14:creationId xmlns:p14="http://schemas.microsoft.com/office/powerpoint/2010/main" val="2494423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a:solidFill>
                  <a:schemeClr val="bg1"/>
                </a:solidFill>
                <a:latin typeface="Calibri" panose="020F0502020204030204" pitchFamily="34" charset="0"/>
              </a:rPr>
              <a:t>Activity </a:t>
            </a:r>
            <a:endParaRPr baseline="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13419153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B40DD2-1F97-577C-F238-A8F3D80AC38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Talk the Talk</a:t>
            </a:r>
            <a:endParaRPr baseline="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8318637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3183D7-68B4-CBF0-CC42-25ECAFF9E40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Getting Started</a:t>
            </a:r>
            <a:endParaRPr baseline="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15015931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C1395B-02F4-8526-B036-AE6FDC3AA60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Prepare</a:t>
            </a:r>
            <a:endParaRPr baseline="0">
              <a:solidFill>
                <a:schemeClr val="bg1"/>
              </a:solidFill>
              <a:latin typeface="Calibri" panose="020F0502020204030204" pitchFamily="34" charset="0"/>
            </a:endParaRPr>
          </a:p>
        </p:txBody>
      </p:sp>
    </p:spTree>
    <p:extLst>
      <p:ext uri="{BB962C8B-B14F-4D97-AF65-F5344CB8AC3E}">
        <p14:creationId xmlns:p14="http://schemas.microsoft.com/office/powerpoint/2010/main" val="1494220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a:solidFill>
                  <a:schemeClr val="bg2">
                    <a:lumMod val="10000"/>
                  </a:schemeClr>
                </a:solidFill>
                <a:latin typeface="Calibri" panose="020F0502020204030204" pitchFamily="34" charset="0"/>
              </a:rPr>
              <a:t>Day</a:t>
            </a:r>
            <a:endParaRPr baseline="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a:t>#</a:t>
            </a:r>
          </a:p>
        </p:txBody>
      </p:sp>
      <p:pic>
        <p:nvPicPr>
          <p:cNvPr id="5" name="Picture 4" descr="A blue and white pattern&#10;&#10;AI-generated content may be incorrect.">
            <a:extLst>
              <a:ext uri="{FF2B5EF4-FFF2-40B4-BE49-F238E27FC236}">
                <a16:creationId xmlns:a16="http://schemas.microsoft.com/office/drawing/2014/main" id="{5B5A1052-DF6F-F0CD-A7AF-D701A097127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pic>
        <p:nvPicPr>
          <p:cNvPr id="7" name="Picture 6" descr="A blue and white pattern&#10;&#10;AI-generated content may be incorrect.">
            <a:extLst>
              <a:ext uri="{FF2B5EF4-FFF2-40B4-BE49-F238E27FC236}">
                <a16:creationId xmlns:a16="http://schemas.microsoft.com/office/drawing/2014/main" id="{B958C75F-ADDF-4683-07D9-8A46AFB8C4C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794" y="0"/>
            <a:ext cx="12190413" cy="2194775"/>
          </a:xfrm>
          <a:prstGeom prst="rect">
            <a:avLst/>
          </a:prstGeom>
        </p:spPr>
      </p:pic>
    </p:spTree>
    <p:extLst>
      <p:ext uri="{BB962C8B-B14F-4D97-AF65-F5344CB8AC3E}">
        <p14:creationId xmlns:p14="http://schemas.microsoft.com/office/powerpoint/2010/main" val="4024355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descr="A blue and white pattern&#10;&#10;AI-generated content may be incorrect.">
            <a:extLst>
              <a:ext uri="{FF2B5EF4-FFF2-40B4-BE49-F238E27FC236}">
                <a16:creationId xmlns:a16="http://schemas.microsoft.com/office/drawing/2014/main" id="{26C4D152-DE0B-2942-C2AB-74253AD7094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25255259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2" name="Picture 1" descr="A blue and white pattern&#10;&#10;AI-generated content may be incorrect.">
            <a:extLst>
              <a:ext uri="{FF2B5EF4-FFF2-40B4-BE49-F238E27FC236}">
                <a16:creationId xmlns:a16="http://schemas.microsoft.com/office/drawing/2014/main" id="{EFD95E81-EE85-94A2-01EB-DDD35923FA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143965"/>
          </a:solidFill>
        </p:spPr>
        <p:txBody>
          <a:bodyPr lIns="0" rIns="0" anchor="ctr"/>
          <a:lstStyle>
            <a:lvl1pPr marL="0" indent="0" algn="ctr">
              <a:buNone/>
              <a:defRPr sz="1800">
                <a:solidFill>
                  <a:schemeClr val="bg1"/>
                </a:solidFill>
              </a:defRPr>
            </a:lvl1pPr>
            <a:lvl4pPr marL="1371600" indent="0">
              <a:buNone/>
              <a:defRPr/>
            </a:lvl4pPr>
          </a:lstStyle>
          <a:p>
            <a:pPr lvl="0"/>
            <a:r>
              <a:rPr lang="en-US"/>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a:solidFill>
                  <a:schemeClr val="bg1"/>
                </a:solidFill>
              </a:rPr>
              <a:t>ENGLISH</a:t>
            </a:r>
          </a:p>
        </p:txBody>
      </p:sp>
    </p:spTree>
    <p:extLst>
      <p:ext uri="{BB962C8B-B14F-4D97-AF65-F5344CB8AC3E}">
        <p14:creationId xmlns:p14="http://schemas.microsoft.com/office/powerpoint/2010/main" val="39868378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2" y="0"/>
            <a:ext cx="4614969"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a:t>Objectives</a:t>
            </a:r>
          </a:p>
        </p:txBody>
      </p:sp>
    </p:spTree>
    <p:extLst>
      <p:ext uri="{BB962C8B-B14F-4D97-AF65-F5344CB8AC3E}">
        <p14:creationId xmlns:p14="http://schemas.microsoft.com/office/powerpoint/2010/main" val="31649162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1049783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323D0D43-B8FF-1B82-5425-940CCCC8FE2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9875669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Read</a:t>
                      </a:r>
                      <a:endParaRPr sz="1800" b="1" u="none" strike="noStrike" cap="none">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Draw</a:t>
                      </a:r>
                      <a:endParaRPr sz="1800" b="1" u="none" strike="noStrike" cap="none">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Write</a:t>
                      </a:r>
                      <a:endParaRPr sz="1800" b="1" u="none" strike="noStrike" cap="none">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A2207E90-1B20-894B-22B8-12466116766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19626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Fluency: </a:t>
            </a:r>
            <a:r>
              <a:rPr kumimoji="0" lang="en-US" b="0" i="0" u="none" strike="noStrike" kern="1200" cap="none" spc="0" normalizeH="0" baseline="0" noProof="0">
                <a:ln>
                  <a:noFill/>
                </a:ln>
                <a:solidFill>
                  <a:srgbClr val="000000"/>
                </a:solidFill>
                <a:effectLst/>
                <a:uLnTx/>
                <a:uFillTx/>
                <a:latin typeface="Calibri"/>
                <a:ea typeface="+mn-ea"/>
                <a:cs typeface="+mn-cs"/>
              </a:rPr>
              <a:t>Title (# of #)</a:t>
            </a:r>
            <a:endParaRPr lang="en-US"/>
          </a:p>
        </p:txBody>
      </p:sp>
      <p:pic>
        <p:nvPicPr>
          <p:cNvPr id="6" name="Picture 5">
            <a:extLst>
              <a:ext uri="{FF2B5EF4-FFF2-40B4-BE49-F238E27FC236}">
                <a16:creationId xmlns:a16="http://schemas.microsoft.com/office/drawing/2014/main" id="{37B0BDED-D83D-FD4E-94F0-3B2616AA53F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40874809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F8B88EEA-3A54-4860-556B-D6A6A0166F2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5721512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5C37EC70-3A95-9848-5065-7C7A9E822BC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16062924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pic>
        <p:nvPicPr>
          <p:cNvPr id="5" name="Picture 4">
            <a:extLst>
              <a:ext uri="{FF2B5EF4-FFF2-40B4-BE49-F238E27FC236}">
                <a16:creationId xmlns:a16="http://schemas.microsoft.com/office/drawing/2014/main" id="{C1E68608-310E-87E2-6084-F27D1E68B5C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657914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88EBEE1F-D893-3AC1-EA24-B31DCC78785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567136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6EEE28E3-A4D4-3431-633F-B27968B18E9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9038245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61449B"/>
                </a:solidFill>
              </a:defRPr>
            </a:lvl1pPr>
          </a:lstStyle>
          <a:p>
            <a:pPr lvl="0"/>
            <a:r>
              <a:rPr lang="en-US" sz="6000"/>
              <a:t>Module Name</a:t>
            </a:r>
          </a:p>
          <a:p>
            <a:pPr lvl="0"/>
            <a:r>
              <a:rPr lang="en-US" sz="6000"/>
              <a:t>Name</a:t>
            </a:r>
          </a:p>
          <a:p>
            <a:pPr lvl="0"/>
            <a:endParaRPr lang="en-US"/>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22849034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932192"/>
            <a:ext cx="12190412"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a:solidFill>
                  <a:schemeClr val="bg2">
                    <a:lumMod val="25000"/>
                  </a:schemeClr>
                </a:solidFill>
              </a:rPr>
              <a:t>Acknowledgment</a:t>
            </a:r>
          </a:p>
          <a:p>
            <a:r>
              <a:rPr lang="en-US">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a:solidFill>
                <a:schemeClr val="bg2">
                  <a:lumMod val="25000"/>
                </a:schemeClr>
              </a:solidFill>
              <a:cs typeface="Calibri"/>
            </a:endParaRPr>
          </a:p>
          <a:p>
            <a:endParaRPr lang="en-US">
              <a:solidFill>
                <a:schemeClr val="bg2">
                  <a:lumMod val="25000"/>
                </a:schemeClr>
              </a:solidFill>
            </a:endParaRPr>
          </a:p>
          <a:p>
            <a:r>
              <a:rPr lang="en-US" b="1">
                <a:solidFill>
                  <a:schemeClr val="bg2">
                    <a:lumMod val="25000"/>
                  </a:schemeClr>
                </a:solidFill>
              </a:rPr>
              <a:t>Notice</a:t>
            </a:r>
            <a:endParaRPr lang="en-US" b="1">
              <a:solidFill>
                <a:schemeClr val="bg2">
                  <a:lumMod val="25000"/>
                </a:schemeClr>
              </a:solidFill>
              <a:cs typeface="Calibri"/>
            </a:endParaRPr>
          </a:p>
          <a:p>
            <a:r>
              <a:rPr lang="en-US">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a:solidFill>
                <a:schemeClr val="bg2">
                  <a:lumMod val="25000"/>
                </a:schemeClr>
              </a:solidFill>
              <a:cs typeface="Calibri"/>
            </a:endParaRPr>
          </a:p>
          <a:p>
            <a:r>
              <a:rPr lang="en-US">
                <a:solidFill>
                  <a:schemeClr val="bg2">
                    <a:lumMod val="25000"/>
                  </a:schemeClr>
                </a:solidFill>
              </a:rPr>
              <a:t>If you have further questions or to report an error, please email </a:t>
            </a:r>
            <a:r>
              <a:rPr lang="en-US">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a:solidFill>
                  <a:schemeClr val="bg2">
                    <a:lumMod val="25000"/>
                  </a:schemeClr>
                </a:solidFill>
              </a:rPr>
              <a:t>.</a:t>
            </a:r>
          </a:p>
          <a:p>
            <a:endParaRPr lang="en-US">
              <a:solidFill>
                <a:schemeClr val="bg2">
                  <a:lumMod val="25000"/>
                </a:schemeClr>
              </a:solidFill>
              <a:cs typeface="Calibri"/>
            </a:endParaRPr>
          </a:p>
          <a:p>
            <a:r>
              <a:rPr lang="en-US">
                <a:solidFill>
                  <a:schemeClr val="bg2">
                    <a:lumMod val="25000"/>
                  </a:schemeClr>
                </a:solidFill>
                <a:cs typeface="Calibri"/>
              </a:rPr>
              <a:t>Copyright ©2024 Texas Education Agency. This work based on or adapted from materials contained in Great Minds' Eureka Math® K-5 PDF files. </a:t>
            </a:r>
          </a:p>
          <a:p>
            <a:endParaRPr lang="en-US">
              <a:solidFill>
                <a:schemeClr val="bg2">
                  <a:lumMod val="25000"/>
                </a:schemeClr>
              </a:solidFill>
              <a:cs typeface="Calibri"/>
            </a:endParaRPr>
          </a:p>
          <a:p>
            <a:r>
              <a:rPr lang="en-US">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Tree>
    <p:extLst>
      <p:ext uri="{BB962C8B-B14F-4D97-AF65-F5344CB8AC3E}">
        <p14:creationId xmlns:p14="http://schemas.microsoft.com/office/powerpoint/2010/main" val="39974741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a:solidFill>
                  <a:schemeClr val="bg1"/>
                </a:solidFill>
                <a:latin typeface="Calibri" panose="020F0502020204030204" pitchFamily="34" charset="0"/>
              </a:rPr>
              <a:t>Activity </a:t>
            </a:r>
            <a:endParaRPr baseline="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16384794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47A7CF-FA6E-9D63-4999-01B9A163DA2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Talk the Talk</a:t>
            </a:r>
            <a:endParaRPr baseline="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38432130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8B0634-51E2-A394-6F7B-F27A1B40C7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Getting Started</a:t>
            </a:r>
            <a:endParaRPr baseline="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35283882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506744-2E5F-1C5E-C83C-024AB6A1E91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Prepare</a:t>
            </a:r>
            <a:endParaRPr baseline="0">
              <a:solidFill>
                <a:schemeClr val="bg1"/>
              </a:solidFill>
              <a:latin typeface="Calibri" panose="020F0502020204030204" pitchFamily="34" charset="0"/>
            </a:endParaRPr>
          </a:p>
        </p:txBody>
      </p:sp>
    </p:spTree>
    <p:extLst>
      <p:ext uri="{BB962C8B-B14F-4D97-AF65-F5344CB8AC3E}">
        <p14:creationId xmlns:p14="http://schemas.microsoft.com/office/powerpoint/2010/main" val="42287131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a:solidFill>
                  <a:schemeClr val="bg2">
                    <a:lumMod val="10000"/>
                  </a:schemeClr>
                </a:solidFill>
                <a:latin typeface="Calibri" panose="020F0502020204030204" pitchFamily="34" charset="0"/>
              </a:rPr>
              <a:t>Day</a:t>
            </a:r>
            <a:endParaRPr baseline="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a:t>#</a:t>
            </a:r>
          </a:p>
        </p:txBody>
      </p:sp>
      <p:pic>
        <p:nvPicPr>
          <p:cNvPr id="5" name="Picture 4">
            <a:extLst>
              <a:ext uri="{FF2B5EF4-FFF2-40B4-BE49-F238E27FC236}">
                <a16:creationId xmlns:a16="http://schemas.microsoft.com/office/drawing/2014/main" id="{5B5A1052-DF6F-F0CD-A7AF-D701A097127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pic>
        <p:nvPicPr>
          <p:cNvPr id="2" name="Picture 1">
            <a:extLst>
              <a:ext uri="{FF2B5EF4-FFF2-40B4-BE49-F238E27FC236}">
                <a16:creationId xmlns:a16="http://schemas.microsoft.com/office/drawing/2014/main" id="{E083018B-9E78-94F8-9F15-923743DC097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10800000">
            <a:off x="6" y="0"/>
            <a:ext cx="12190407" cy="2194775"/>
          </a:xfrm>
          <a:prstGeom prst="rect">
            <a:avLst/>
          </a:prstGeom>
        </p:spPr>
      </p:pic>
    </p:spTree>
    <p:extLst>
      <p:ext uri="{BB962C8B-B14F-4D97-AF65-F5344CB8AC3E}">
        <p14:creationId xmlns:p14="http://schemas.microsoft.com/office/powerpoint/2010/main" val="14962948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04EF9367-6309-BD09-F10A-FF6AF59B62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42741463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1AE3BF-9E99-B24F-E743-EB1A42651CB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a:solidFill>
                  <a:schemeClr val="bg1"/>
                </a:solidFill>
              </a:rPr>
              <a:t>ENGLISH</a:t>
            </a:r>
          </a:p>
        </p:txBody>
      </p:sp>
    </p:spTree>
    <p:extLst>
      <p:ext uri="{BB962C8B-B14F-4D97-AF65-F5344CB8AC3E}">
        <p14:creationId xmlns:p14="http://schemas.microsoft.com/office/powerpoint/2010/main" val="21094338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2" y="0"/>
            <a:ext cx="4614969"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a:t>Objectives</a:t>
            </a:r>
          </a:p>
        </p:txBody>
      </p:sp>
    </p:spTree>
    <p:extLst>
      <p:ext uri="{BB962C8B-B14F-4D97-AF65-F5344CB8AC3E}">
        <p14:creationId xmlns:p14="http://schemas.microsoft.com/office/powerpoint/2010/main" val="902329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972774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16C20936-BAEF-0860-376C-E62AEA172F3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34069875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Read</a:t>
                      </a:r>
                      <a:endParaRPr sz="1800" b="1" u="none" strike="noStrike" cap="none">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Draw</a:t>
                      </a:r>
                      <a:endParaRPr sz="1800" b="1" u="none" strike="noStrike" cap="none">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Write</a:t>
                      </a:r>
                      <a:endParaRPr sz="1800" b="1" u="none" strike="noStrike" cap="none">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BCE33224-DA35-0C93-D411-F621BA6DFD2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17590096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Fluency: </a:t>
            </a:r>
            <a:r>
              <a:rPr kumimoji="0" lang="en-US" b="0" i="0" u="none" strike="noStrike" kern="1200" cap="none" spc="0" normalizeH="0" baseline="0" noProof="0">
                <a:ln>
                  <a:noFill/>
                </a:ln>
                <a:solidFill>
                  <a:srgbClr val="000000"/>
                </a:solidFill>
                <a:effectLst/>
                <a:uLnTx/>
                <a:uFillTx/>
                <a:latin typeface="Calibri"/>
                <a:ea typeface="+mn-ea"/>
                <a:cs typeface="+mn-cs"/>
              </a:rPr>
              <a:t>Title (# of #)</a:t>
            </a:r>
            <a:endParaRPr lang="en-US"/>
          </a:p>
        </p:txBody>
      </p:sp>
      <p:pic>
        <p:nvPicPr>
          <p:cNvPr id="7" name="Picture 6">
            <a:extLst>
              <a:ext uri="{FF2B5EF4-FFF2-40B4-BE49-F238E27FC236}">
                <a16:creationId xmlns:a16="http://schemas.microsoft.com/office/drawing/2014/main" id="{1F38F35C-E1EA-7E26-CFA2-D2EABDFABD4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57125634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E9096B68-4A77-76B9-2D56-7D11D872FD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1015459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DA82E847-E70E-3A6A-CC65-DAD8C517488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9635808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pic>
        <p:nvPicPr>
          <p:cNvPr id="6" name="Picture 5">
            <a:extLst>
              <a:ext uri="{FF2B5EF4-FFF2-40B4-BE49-F238E27FC236}">
                <a16:creationId xmlns:a16="http://schemas.microsoft.com/office/drawing/2014/main" id="{E929BE76-65BC-6165-2E99-A58E49A36F9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1343196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2D8527D9-6738-140E-CAE9-854D12AA994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182289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90177C41-8A77-B2A7-EC04-03F37364BC9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0623482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0084AC"/>
                </a:solidFill>
              </a:defRPr>
            </a:lvl1pPr>
          </a:lstStyle>
          <a:p>
            <a:pPr lvl="0"/>
            <a:r>
              <a:rPr lang="en-US" sz="6000"/>
              <a:t>Module Name</a:t>
            </a:r>
          </a:p>
          <a:p>
            <a:pPr lvl="0"/>
            <a:r>
              <a:rPr lang="en-US" sz="6000"/>
              <a:t>Name</a:t>
            </a:r>
          </a:p>
          <a:p>
            <a:pPr lvl="0"/>
            <a:endParaRPr lang="en-US"/>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5925996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932192"/>
            <a:ext cx="12190410"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a:solidFill>
                  <a:schemeClr val="bg2">
                    <a:lumMod val="25000"/>
                  </a:schemeClr>
                </a:solidFill>
              </a:rPr>
              <a:t>Acknowledgment</a:t>
            </a:r>
          </a:p>
          <a:p>
            <a:r>
              <a:rPr lang="en-US">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a:solidFill>
                <a:schemeClr val="bg2">
                  <a:lumMod val="25000"/>
                </a:schemeClr>
              </a:solidFill>
              <a:cs typeface="Calibri"/>
            </a:endParaRPr>
          </a:p>
          <a:p>
            <a:endParaRPr lang="en-US">
              <a:solidFill>
                <a:schemeClr val="bg2">
                  <a:lumMod val="25000"/>
                </a:schemeClr>
              </a:solidFill>
            </a:endParaRPr>
          </a:p>
          <a:p>
            <a:r>
              <a:rPr lang="en-US" b="1">
                <a:solidFill>
                  <a:schemeClr val="bg2">
                    <a:lumMod val="25000"/>
                  </a:schemeClr>
                </a:solidFill>
              </a:rPr>
              <a:t>Notice</a:t>
            </a:r>
            <a:endParaRPr lang="en-US" b="1">
              <a:solidFill>
                <a:schemeClr val="bg2">
                  <a:lumMod val="25000"/>
                </a:schemeClr>
              </a:solidFill>
              <a:cs typeface="Calibri"/>
            </a:endParaRPr>
          </a:p>
          <a:p>
            <a:r>
              <a:rPr lang="en-US">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a:solidFill>
                <a:schemeClr val="bg2">
                  <a:lumMod val="25000"/>
                </a:schemeClr>
              </a:solidFill>
              <a:cs typeface="Calibri"/>
            </a:endParaRPr>
          </a:p>
          <a:p>
            <a:r>
              <a:rPr lang="en-US">
                <a:solidFill>
                  <a:schemeClr val="bg2">
                    <a:lumMod val="25000"/>
                  </a:schemeClr>
                </a:solidFill>
              </a:rPr>
              <a:t>If you have further questions or to report an error, please email </a:t>
            </a:r>
            <a:r>
              <a:rPr lang="en-US">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a:solidFill>
                  <a:schemeClr val="bg2">
                    <a:lumMod val="25000"/>
                  </a:schemeClr>
                </a:solidFill>
              </a:rPr>
              <a:t>.</a:t>
            </a:r>
          </a:p>
          <a:p>
            <a:endParaRPr lang="en-US">
              <a:solidFill>
                <a:schemeClr val="bg2">
                  <a:lumMod val="25000"/>
                </a:schemeClr>
              </a:solidFill>
              <a:cs typeface="Calibri"/>
            </a:endParaRPr>
          </a:p>
          <a:p>
            <a:r>
              <a:rPr lang="en-US">
                <a:solidFill>
                  <a:schemeClr val="bg2">
                    <a:lumMod val="25000"/>
                  </a:schemeClr>
                </a:solidFill>
                <a:cs typeface="Calibri"/>
              </a:rPr>
              <a:t>Copyright ©2024 Texas Education Agency. This work based on or adapted from materials contained in Great Minds' Eureka Math® K-5 PDF files. </a:t>
            </a:r>
          </a:p>
          <a:p>
            <a:endParaRPr lang="en-US">
              <a:solidFill>
                <a:schemeClr val="bg2">
                  <a:lumMod val="25000"/>
                </a:schemeClr>
              </a:solidFill>
              <a:cs typeface="Calibri"/>
            </a:endParaRPr>
          </a:p>
          <a:p>
            <a:r>
              <a:rPr lang="en-US">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Tree>
    <p:extLst>
      <p:ext uri="{BB962C8B-B14F-4D97-AF65-F5344CB8AC3E}">
        <p14:creationId xmlns:p14="http://schemas.microsoft.com/office/powerpoint/2010/main" val="166374067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a:solidFill>
                  <a:schemeClr val="bg1"/>
                </a:solidFill>
                <a:latin typeface="Calibri" panose="020F0502020204030204" pitchFamily="34" charset="0"/>
              </a:rPr>
              <a:t>Activity </a:t>
            </a:r>
            <a:endParaRPr baseline="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3485143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01893B-1034-6084-9BBE-7D15B94B1E1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Talk the Talk</a:t>
            </a:r>
            <a:endParaRPr baseline="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216722188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F9BCCF-AB16-EB3C-7687-F7D6FB68E7A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Getting Started</a:t>
            </a:r>
            <a:endParaRPr baseline="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a:t>x</a:t>
            </a:r>
          </a:p>
        </p:txBody>
      </p:sp>
    </p:spTree>
    <p:extLst>
      <p:ext uri="{BB962C8B-B14F-4D97-AF65-F5344CB8AC3E}">
        <p14:creationId xmlns:p14="http://schemas.microsoft.com/office/powerpoint/2010/main" val="79028088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71D682-097A-FF63-0838-13F3C038ED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a:solidFill>
                  <a:schemeClr val="bg1"/>
                </a:solidFill>
                <a:latin typeface="Calibri" panose="020F0502020204030204" pitchFamily="34" charset="0"/>
              </a:rPr>
              <a:t>Prepare</a:t>
            </a:r>
            <a:endParaRPr baseline="0">
              <a:solidFill>
                <a:schemeClr val="bg1"/>
              </a:solidFill>
              <a:latin typeface="Calibri" panose="020F0502020204030204" pitchFamily="34" charset="0"/>
            </a:endParaRPr>
          </a:p>
        </p:txBody>
      </p:sp>
    </p:spTree>
    <p:extLst>
      <p:ext uri="{BB962C8B-B14F-4D97-AF65-F5344CB8AC3E}">
        <p14:creationId xmlns:p14="http://schemas.microsoft.com/office/powerpoint/2010/main" val="368872345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a:solidFill>
                  <a:schemeClr val="bg2">
                    <a:lumMod val="10000"/>
                  </a:schemeClr>
                </a:solidFill>
                <a:latin typeface="Calibri" panose="020F0502020204030204" pitchFamily="34" charset="0"/>
              </a:rPr>
              <a:t>Day</a:t>
            </a:r>
            <a:endParaRPr baseline="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a:t>#</a:t>
            </a:r>
          </a:p>
        </p:txBody>
      </p:sp>
      <p:pic>
        <p:nvPicPr>
          <p:cNvPr id="4" name="Picture 3">
            <a:extLst>
              <a:ext uri="{FF2B5EF4-FFF2-40B4-BE49-F238E27FC236}">
                <a16:creationId xmlns:a16="http://schemas.microsoft.com/office/drawing/2014/main" id="{2AF4CA13-B3B2-4BA4-7193-B4133FC2D70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pic>
        <p:nvPicPr>
          <p:cNvPr id="7" name="Picture 6">
            <a:extLst>
              <a:ext uri="{FF2B5EF4-FFF2-40B4-BE49-F238E27FC236}">
                <a16:creationId xmlns:a16="http://schemas.microsoft.com/office/drawing/2014/main" id="{7B57EC7F-8C07-36E7-51B3-4FA22CB8F05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10800000">
            <a:off x="-791" y="0"/>
            <a:ext cx="12190407" cy="2194774"/>
          </a:xfrm>
          <a:prstGeom prst="rect">
            <a:avLst/>
          </a:prstGeom>
        </p:spPr>
      </p:pic>
    </p:spTree>
    <p:extLst>
      <p:ext uri="{BB962C8B-B14F-4D97-AF65-F5344CB8AC3E}">
        <p14:creationId xmlns:p14="http://schemas.microsoft.com/office/powerpoint/2010/main" val="16488895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2F258156-D89E-4D80-5BE1-77691C6E7C9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123167593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a:solidFill>
                  <a:schemeClr val="bg1"/>
                </a:solidFill>
              </a:rPr>
              <a:t>ENGLISH</a:t>
            </a:r>
          </a:p>
        </p:txBody>
      </p:sp>
      <p:pic>
        <p:nvPicPr>
          <p:cNvPr id="2" name="Picture 1">
            <a:extLst>
              <a:ext uri="{FF2B5EF4-FFF2-40B4-BE49-F238E27FC236}">
                <a16:creationId xmlns:a16="http://schemas.microsoft.com/office/drawing/2014/main" id="{54470327-EAA5-821F-E3D6-48241C357F0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61318899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4" y="0"/>
            <a:ext cx="4614964"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a:t>Objectives</a:t>
            </a:r>
          </a:p>
        </p:txBody>
      </p:sp>
    </p:spTree>
    <p:extLst>
      <p:ext uri="{BB962C8B-B14F-4D97-AF65-F5344CB8AC3E}">
        <p14:creationId xmlns:p14="http://schemas.microsoft.com/office/powerpoint/2010/main" val="234301890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243273315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ED2E1254-4CBF-B3B8-A0FA-52C76A42152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71212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Read</a:t>
                      </a:r>
                      <a:endParaRPr sz="1800" b="1" u="none" strike="noStrike" cap="none">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Draw</a:t>
                      </a:r>
                      <a:endParaRPr sz="1800" b="1" u="none" strike="noStrike" cap="none">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a:solidFill>
                            <a:schemeClr val="bg2">
                              <a:lumMod val="25000"/>
                            </a:schemeClr>
                          </a:solidFill>
                        </a:rPr>
                        <a:t>Write</a:t>
                      </a:r>
                      <a:endParaRPr sz="1800" b="1" u="none" strike="noStrike" cap="none">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E121D3C0-2E42-5D5F-22BD-412584AA83A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61591350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Fluency: </a:t>
            </a:r>
            <a:r>
              <a:rPr kumimoji="0" lang="en-US" b="0" i="0" u="none" strike="noStrike" kern="1200" cap="none" spc="0" normalizeH="0" baseline="0" noProof="0">
                <a:ln>
                  <a:noFill/>
                </a:ln>
                <a:solidFill>
                  <a:srgbClr val="000000"/>
                </a:solidFill>
                <a:effectLst/>
                <a:uLnTx/>
                <a:uFillTx/>
                <a:latin typeface="Calibri"/>
                <a:ea typeface="+mn-ea"/>
                <a:cs typeface="+mn-cs"/>
              </a:rPr>
              <a:t>Title (# of #)</a:t>
            </a:r>
            <a:endParaRPr lang="en-US"/>
          </a:p>
        </p:txBody>
      </p:sp>
      <p:pic>
        <p:nvPicPr>
          <p:cNvPr id="6" name="Picture 5">
            <a:extLst>
              <a:ext uri="{FF2B5EF4-FFF2-40B4-BE49-F238E27FC236}">
                <a16:creationId xmlns:a16="http://schemas.microsoft.com/office/drawing/2014/main" id="{41A4ACEA-4667-3962-B002-3BD86CD9C6A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113278288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CACF947A-00B8-B4E6-8437-40F83AFF95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14923603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0C4ADE8B-E120-4425-CAA6-828BBE47E80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2904492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a:p>
        </p:txBody>
      </p:sp>
      <p:pic>
        <p:nvPicPr>
          <p:cNvPr id="5" name="Picture 4">
            <a:extLst>
              <a:ext uri="{FF2B5EF4-FFF2-40B4-BE49-F238E27FC236}">
                <a16:creationId xmlns:a16="http://schemas.microsoft.com/office/drawing/2014/main" id="{24CC20CC-020F-E41D-34BB-D60790E85A9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4975544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5FCA9C5B-9241-83A6-BF90-D80A2C82D82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137031586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a:t>X</a:t>
            </a:r>
            <a:endParaRPr lang="en-IN"/>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187C8F92-FBD4-BA03-506E-C3D26BFEEC7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92330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3.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theme" Target="../theme/theme4.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548417"/>
      </p:ext>
    </p:extLst>
  </p:cSld>
  <p:clrMap bg1="lt1" tx1="dk1" bg2="lt2" tx2="dk2" accent1="accent1" accent2="accent2" accent3="accent3" accent4="accent4" accent5="accent5" accent6="accent6" hlink="hlink" folHlink="folHlink"/>
  <p:sldLayoutIdLst>
    <p:sldLayoutId id="2147483755" r:id="rId1"/>
    <p:sldLayoutId id="2147483777" r:id="rId2"/>
    <p:sldLayoutId id="2147483745" r:id="rId3"/>
    <p:sldLayoutId id="2147483747" r:id="rId4"/>
    <p:sldLayoutId id="2147483744" r:id="rId5"/>
    <p:sldLayoutId id="2147483778" r:id="rId6"/>
    <p:sldLayoutId id="2147483743" r:id="rId7"/>
    <p:sldLayoutId id="2147483746" r:id="rId8"/>
    <p:sldLayoutId id="2147483749" r:id="rId9"/>
    <p:sldLayoutId id="2147483753" r:id="rId10"/>
    <p:sldLayoutId id="2147483754" r:id="rId11"/>
    <p:sldLayoutId id="2147483653" r:id="rId12"/>
    <p:sldLayoutId id="2147483776" r:id="rId13"/>
    <p:sldLayoutId id="2147483670" r:id="rId14"/>
    <p:sldLayoutId id="2147483673" r:id="rId15"/>
    <p:sldLayoutId id="2147483672" r:id="rId16"/>
    <p:sldLayoutId id="2147483660" r:id="rId17"/>
    <p:sldLayoutId id="2147483661" r:id="rId18"/>
    <p:sldLayoutId id="2147483663"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72801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 id="2147483797" r:id="rId18"/>
    <p:sldLayoutId id="214748379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352628"/>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06327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11.xml"/><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11.xml"/><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3.xml"/><Relationship Id="rId1" Type="http://schemas.openxmlformats.org/officeDocument/2006/relationships/slideLayout" Target="../slideLayouts/slideLayout11.xml"/><Relationship Id="rId4" Type="http://schemas.openxmlformats.org/officeDocument/2006/relationships/image" Target="../media/image37.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2.xml"/><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4.xml"/><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7.xml"/><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6FC3-E137-F9C8-0911-3C626A34090C}"/>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9F3F9AB4-72EE-E557-D442-1A774A8F85C1}"/>
              </a:ext>
            </a:extLst>
          </p:cNvPr>
          <p:cNvSpPr>
            <a:spLocks noGrp="1"/>
          </p:cNvSpPr>
          <p:nvPr>
            <p:ph type="title" idx="4294967295"/>
          </p:nvPr>
        </p:nvSpPr>
        <p:spPr>
          <a:xfrm>
            <a:off x="-1590" y="1596045"/>
            <a:ext cx="12192003" cy="2045144"/>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a:solidFill>
                  <a:srgbClr val="236739"/>
                </a:solidFill>
              </a:rPr>
              <a:t>Making Sense of Different Representations of a Linear Function</a:t>
            </a:r>
            <a:endParaRPr kumimoji="0" lang="en-US" sz="6000" b="1" i="0" u="none" strike="noStrike" kern="1200" cap="none" spc="0" normalizeH="0" baseline="0" noProof="0">
              <a:ln>
                <a:noFill/>
              </a:ln>
              <a:solidFill>
                <a:srgbClr val="236739"/>
              </a:solidFill>
              <a:effectLst/>
              <a:uLnTx/>
              <a:uFillTx/>
              <a:latin typeface="+mn-lt"/>
              <a:ea typeface="+mn-ea"/>
              <a:cs typeface="+mn-cs"/>
            </a:endParaRPr>
          </a:p>
        </p:txBody>
      </p:sp>
      <p:sp>
        <p:nvSpPr>
          <p:cNvPr id="4" name="Text Placeholder 3">
            <a:extLst>
              <a:ext uri="{FF2B5EF4-FFF2-40B4-BE49-F238E27FC236}">
                <a16:creationId xmlns:a16="http://schemas.microsoft.com/office/drawing/2014/main" id="{C4BC507F-0143-6704-9C2B-18134FD88522}"/>
              </a:ext>
            </a:extLst>
          </p:cNvPr>
          <p:cNvSpPr>
            <a:spLocks noGrp="1"/>
          </p:cNvSpPr>
          <p:nvPr>
            <p:ph type="body" sz="quarter" idx="13"/>
          </p:nvPr>
        </p:nvSpPr>
        <p:spPr/>
        <p:txBody>
          <a:bodyPr/>
          <a:lstStyle/>
          <a:p>
            <a:r>
              <a:rPr lang="en-US"/>
              <a:t>Algebra I | Module 2 | Topic 1 | Lesson 6</a:t>
            </a:r>
          </a:p>
        </p:txBody>
      </p:sp>
    </p:spTree>
    <p:extLst>
      <p:ext uri="{BB962C8B-B14F-4D97-AF65-F5344CB8AC3E}">
        <p14:creationId xmlns:p14="http://schemas.microsoft.com/office/powerpoint/2010/main" val="2181925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B788BD-5AC8-F66E-ABEF-AD5339EB2C99}"/>
              </a:ext>
            </a:extLst>
          </p:cNvPr>
          <p:cNvSpPr>
            <a:spLocks noGrp="1"/>
          </p:cNvSpPr>
          <p:nvPr>
            <p:ph type="title"/>
          </p:nvPr>
        </p:nvSpPr>
        <p:spPr>
          <a:xfrm>
            <a:off x="1587" y="13855"/>
            <a:ext cx="6094413" cy="926757"/>
          </a:xfrm>
          <a:noFill/>
        </p:spPr>
        <p:txBody>
          <a:bodyPr/>
          <a:lstStyle/>
          <a:p>
            <a:r>
              <a:rPr lang="en-US" sz="4000"/>
              <a:t>Objectives</a:t>
            </a:r>
          </a:p>
        </p:txBody>
      </p:sp>
      <p:sp>
        <p:nvSpPr>
          <p:cNvPr id="4" name="Text Placeholder 3">
            <a:extLst>
              <a:ext uri="{FF2B5EF4-FFF2-40B4-BE49-F238E27FC236}">
                <a16:creationId xmlns:a16="http://schemas.microsoft.com/office/drawing/2014/main" id="{7B3EF6D6-21DA-06B8-522B-BDF27854BF2C}"/>
              </a:ext>
            </a:extLst>
          </p:cNvPr>
          <p:cNvSpPr>
            <a:spLocks noGrp="1"/>
          </p:cNvSpPr>
          <p:nvPr>
            <p:ph type="body" sz="quarter" idx="10"/>
          </p:nvPr>
        </p:nvSpPr>
        <p:spPr>
          <a:xfrm>
            <a:off x="836614" y="1604356"/>
            <a:ext cx="9828615" cy="4182318"/>
          </a:xfrm>
        </p:spPr>
        <p:txBody>
          <a:bodyPr/>
          <a:lstStyle/>
          <a:p>
            <a:pPr marL="285750" indent="-285750" algn="l">
              <a:buFont typeface="Arial" panose="020B0604020202020204" pitchFamily="34" charset="0"/>
              <a:buChar char="•"/>
            </a:pPr>
            <a:r>
              <a:rPr lang="en-US" sz="2800" b="0" i="0" u="none" strike="noStrike" baseline="0"/>
              <a:t>Determine whether a scenario, equation, table, or graph represents a linear relationship.</a:t>
            </a:r>
          </a:p>
          <a:p>
            <a:pPr marL="285750" indent="-285750" algn="l">
              <a:buFont typeface="Arial" panose="020B0604020202020204" pitchFamily="34" charset="0"/>
              <a:buChar char="•"/>
            </a:pPr>
            <a:r>
              <a:rPr lang="en-US" sz="2800" b="0" i="0" u="none" strike="noStrike" baseline="0"/>
              <a:t>Calculate the average rate of change from a table.</a:t>
            </a:r>
          </a:p>
          <a:p>
            <a:pPr marL="285750" indent="-285750" algn="l">
              <a:buFont typeface="Arial" panose="020B0604020202020204" pitchFamily="34" charset="0"/>
              <a:buChar char="•"/>
            </a:pPr>
            <a:r>
              <a:rPr lang="en-US" sz="2800" b="0" i="0" u="none" strike="noStrike" baseline="0"/>
              <a:t>Write functions given a table of values.</a:t>
            </a:r>
          </a:p>
          <a:p>
            <a:pPr marL="285750" indent="-285750" algn="l">
              <a:buFont typeface="Arial" panose="020B0604020202020204" pitchFamily="34" charset="0"/>
              <a:buChar char="•"/>
            </a:pPr>
            <a:r>
              <a:rPr lang="en-US" sz="2800" b="0" i="0" u="none" strike="noStrike" baseline="0"/>
              <a:t>Interpret expressions that represent different quantities in terms of a context and a graph.</a:t>
            </a:r>
          </a:p>
          <a:p>
            <a:pPr marL="285750" indent="-285750" algn="l">
              <a:buFont typeface="Arial" panose="020B0604020202020204" pitchFamily="34" charset="0"/>
              <a:buChar char="•"/>
            </a:pPr>
            <a:r>
              <a:rPr lang="en-US" sz="2800" b="0" i="0" u="none" strike="noStrike" baseline="0"/>
              <a:t>Compare different equation representations of linear functions.</a:t>
            </a:r>
            <a:endParaRPr lang="en-US" sz="2800" b="0" i="0" u="none" strike="noStrike" baseline="0">
              <a:solidFill>
                <a:srgbClr val="000000"/>
              </a:solidFill>
            </a:endParaRPr>
          </a:p>
        </p:txBody>
      </p:sp>
    </p:spTree>
    <p:extLst>
      <p:ext uri="{BB962C8B-B14F-4D97-AF65-F5344CB8AC3E}">
        <p14:creationId xmlns:p14="http://schemas.microsoft.com/office/powerpoint/2010/main" val="3398606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70F2F3-8205-D13B-F2FC-C7F18E6181C0}"/>
              </a:ext>
            </a:extLst>
          </p:cNvPr>
          <p:cNvSpPr>
            <a:spLocks noGrp="1"/>
          </p:cNvSpPr>
          <p:nvPr>
            <p:ph type="title"/>
          </p:nvPr>
        </p:nvSpPr>
        <p:spPr/>
        <p:txBody>
          <a:bodyPr/>
          <a:lstStyle/>
          <a:p>
            <a:pPr algn="l"/>
            <a:r>
              <a:rPr lang="en-US" b="1"/>
              <a:t>Key Terms </a:t>
            </a:r>
            <a:r>
              <a:rPr lang="en-US" sz="2000" b="1">
                <a:solidFill>
                  <a:schemeClr val="bg1"/>
                </a:solidFill>
              </a:rPr>
              <a:t>(1 of 4)</a:t>
            </a:r>
          </a:p>
        </p:txBody>
      </p:sp>
      <p:sp>
        <p:nvSpPr>
          <p:cNvPr id="2" name="Text Placeholder 1"/>
          <p:cNvSpPr>
            <a:spLocks noGrp="1"/>
          </p:cNvSpPr>
          <p:nvPr>
            <p:ph type="body" sz="quarter" idx="10"/>
          </p:nvPr>
        </p:nvSpPr>
        <p:spPr>
          <a:xfrm>
            <a:off x="777240" y="1596044"/>
            <a:ext cx="9887989" cy="1478752"/>
          </a:xfrm>
          <a:prstGeom prst="rect">
            <a:avLst/>
          </a:prstGeom>
        </p:spPr>
        <p:txBody>
          <a:bodyPr>
            <a:normAutofit/>
          </a:bodyPr>
          <a:lstStyle/>
          <a:p>
            <a:pPr marL="0" indent="0">
              <a:buNone/>
            </a:pPr>
            <a:r>
              <a:rPr lang="en-US" b="1">
                <a:solidFill>
                  <a:srgbClr val="000000"/>
                </a:solidFill>
              </a:rPr>
              <a:t>polynomial</a:t>
            </a:r>
            <a:r>
              <a:rPr lang="en-US" b="1" u="none">
                <a:solidFill>
                  <a:srgbClr val="000000"/>
                </a:solidFill>
              </a:rPr>
              <a:t> </a:t>
            </a:r>
            <a:r>
              <a:rPr lang="en-US" b="0" i="0" u="none" strike="noStrike" baseline="0"/>
              <a:t>[</a:t>
            </a:r>
            <a:r>
              <a:rPr lang="en-US" b="0" i="0" u="none" strike="noStrike" baseline="0" err="1"/>
              <a:t>polinomio</a:t>
            </a:r>
            <a:r>
              <a:rPr lang="en-US" b="0" i="0" u="none" strike="noStrike" baseline="0"/>
              <a:t>]</a:t>
            </a:r>
            <a:r>
              <a:rPr b="0" u="none">
                <a:solidFill>
                  <a:srgbClr val="000000"/>
                </a:solidFill>
              </a:rPr>
              <a:t>:</a:t>
            </a:r>
            <a:r>
              <a:rPr b="0" i="0" u="none">
                <a:solidFill>
                  <a:srgbClr val="000000"/>
                </a:solidFill>
              </a:rPr>
              <a:t> </a:t>
            </a:r>
            <a:r>
              <a:rPr lang="en-US" b="0" i="0" u="none">
                <a:solidFill>
                  <a:srgbClr val="000000"/>
                </a:solidFill>
              </a:rPr>
              <a:t>a mathematical expression involving the sum of powers in one or more variables multiplied by coefficients</a:t>
            </a:r>
          </a:p>
        </p:txBody>
      </p:sp>
      <p:sp>
        <p:nvSpPr>
          <p:cNvPr id="3" name="Picture Placeholder 4">
            <a:extLst>
              <a:ext uri="{FF2B5EF4-FFF2-40B4-BE49-F238E27FC236}">
                <a16:creationId xmlns:a16="http://schemas.microsoft.com/office/drawing/2014/main" id="{BBC03BBE-95CB-DCDC-4CC1-E48783198449}"/>
              </a:ext>
            </a:extLst>
          </p:cNvPr>
          <p:cNvSpPr>
            <a:spLocks noGrp="1"/>
          </p:cNvSpPr>
          <p:nvPr>
            <p:ph type="pic" sz="quarter" idx="11"/>
          </p:nvPr>
        </p:nvSpPr>
        <p:spPr>
          <a:xfrm>
            <a:off x="777240" y="3429000"/>
            <a:ext cx="9952492" cy="2681290"/>
          </a:xfrm>
        </p:spPr>
        <p:txBody>
          <a:bodyPr/>
          <a:lstStyle/>
          <a:p>
            <a:pPr>
              <a:spcAft>
                <a:spcPts val="1800"/>
              </a:spcAft>
            </a:pPr>
            <a:r>
              <a:rPr lang="en-US" b="1">
                <a:solidFill>
                  <a:srgbClr val="000000"/>
                </a:solidFill>
              </a:rPr>
              <a:t>Example</a:t>
            </a:r>
          </a:p>
          <a:p>
            <a:pPr marL="457200" lvl="1" indent="0">
              <a:buNone/>
            </a:pPr>
            <a:r>
              <a:rPr lang="en-US" sz="2800">
                <a:solidFill>
                  <a:srgbClr val="000000"/>
                </a:solidFill>
              </a:rPr>
              <a:t>The expression 3</a:t>
            </a:r>
            <a:r>
              <a:rPr lang="en-US" sz="2800" i="1">
                <a:solidFill>
                  <a:srgbClr val="000000"/>
                </a:solidFill>
              </a:rPr>
              <a:t>x</a:t>
            </a:r>
            <a:r>
              <a:rPr lang="en-US" sz="2800" baseline="30000">
                <a:solidFill>
                  <a:srgbClr val="000000"/>
                </a:solidFill>
              </a:rPr>
              <a:t>3</a:t>
            </a:r>
            <a:r>
              <a:rPr lang="en-US" sz="2800">
                <a:solidFill>
                  <a:srgbClr val="000000"/>
                </a:solidFill>
              </a:rPr>
              <a:t> + 5</a:t>
            </a:r>
            <a:r>
              <a:rPr lang="en-US" sz="2800" i="1">
                <a:solidFill>
                  <a:srgbClr val="000000"/>
                </a:solidFill>
              </a:rPr>
              <a:t>x</a:t>
            </a:r>
            <a:r>
              <a:rPr lang="en-US" sz="2800">
                <a:solidFill>
                  <a:srgbClr val="000000"/>
                </a:solidFill>
              </a:rPr>
              <a:t> − 6</a:t>
            </a:r>
            <a:r>
              <a:rPr lang="en-US" sz="2800" i="1">
                <a:solidFill>
                  <a:srgbClr val="000000"/>
                </a:solidFill>
              </a:rPr>
              <a:t>x</a:t>
            </a:r>
            <a:r>
              <a:rPr lang="en-US" sz="2800">
                <a:solidFill>
                  <a:srgbClr val="000000"/>
                </a:solidFill>
              </a:rPr>
              <a:t> + 1 is a polynomial.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6E2B0-5C51-86FE-3905-BF836F37A07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F0B47B6-7802-018F-3621-A379CE16A970}"/>
              </a:ext>
            </a:extLst>
          </p:cNvPr>
          <p:cNvSpPr>
            <a:spLocks noGrp="1"/>
          </p:cNvSpPr>
          <p:nvPr>
            <p:ph type="title"/>
          </p:nvPr>
        </p:nvSpPr>
        <p:spPr/>
        <p:txBody>
          <a:bodyPr/>
          <a:lstStyle/>
          <a:p>
            <a:pPr algn="l"/>
            <a:r>
              <a:rPr lang="en-US" b="1"/>
              <a:t>Key Terms </a:t>
            </a:r>
            <a:r>
              <a:rPr lang="en-US" sz="2000" b="1">
                <a:solidFill>
                  <a:schemeClr val="bg1"/>
                </a:solidFill>
              </a:rPr>
              <a:t>(2 of 4)</a:t>
            </a:r>
          </a:p>
        </p:txBody>
      </p:sp>
      <p:sp>
        <p:nvSpPr>
          <p:cNvPr id="2" name="Text Placeholder 1">
            <a:extLst>
              <a:ext uri="{FF2B5EF4-FFF2-40B4-BE49-F238E27FC236}">
                <a16:creationId xmlns:a16="http://schemas.microsoft.com/office/drawing/2014/main" id="{5DAE04E1-F720-0B64-4331-9CA7A10142F8}"/>
              </a:ext>
            </a:extLst>
          </p:cNvPr>
          <p:cNvSpPr>
            <a:spLocks noGrp="1"/>
          </p:cNvSpPr>
          <p:nvPr>
            <p:ph type="body" sz="quarter" idx="10"/>
          </p:nvPr>
        </p:nvSpPr>
        <p:spPr>
          <a:xfrm>
            <a:off x="777241" y="1596044"/>
            <a:ext cx="9896302" cy="2161658"/>
          </a:xfrm>
          <a:prstGeom prst="rect">
            <a:avLst/>
          </a:prstGeom>
        </p:spPr>
        <p:txBody>
          <a:bodyPr>
            <a:normAutofit/>
          </a:bodyPr>
          <a:lstStyle/>
          <a:p>
            <a:pPr marL="0" indent="0">
              <a:buNone/>
            </a:pPr>
            <a:r>
              <a:rPr lang="en-US" b="1">
                <a:solidFill>
                  <a:srgbClr val="000000"/>
                </a:solidFill>
              </a:rPr>
              <a:t>degree</a:t>
            </a:r>
            <a:r>
              <a:rPr b="0" u="none">
                <a:solidFill>
                  <a:srgbClr val="000000"/>
                </a:solidFill>
              </a:rPr>
              <a:t>:</a:t>
            </a:r>
            <a:r>
              <a:rPr b="0" i="0" u="none">
                <a:solidFill>
                  <a:srgbClr val="000000"/>
                </a:solidFill>
              </a:rPr>
              <a:t> </a:t>
            </a:r>
            <a:r>
              <a:rPr lang="en-US">
                <a:solidFill>
                  <a:srgbClr val="000000"/>
                </a:solidFill>
              </a:rPr>
              <a:t>t</a:t>
            </a:r>
            <a:r>
              <a:rPr lang="en-US" b="0" i="0" u="none">
                <a:solidFill>
                  <a:srgbClr val="000000"/>
                </a:solidFill>
              </a:rPr>
              <a:t>he degree of a polynomial is the greatest variable exponent in the expression</a:t>
            </a:r>
          </a:p>
        </p:txBody>
      </p:sp>
      <p:sp>
        <p:nvSpPr>
          <p:cNvPr id="3" name="Picture Placeholder 4">
            <a:extLst>
              <a:ext uri="{FF2B5EF4-FFF2-40B4-BE49-F238E27FC236}">
                <a16:creationId xmlns:a16="http://schemas.microsoft.com/office/drawing/2014/main" id="{40F9B87B-C96D-8785-8A8D-C5EC83A8C3E2}"/>
              </a:ext>
            </a:extLst>
          </p:cNvPr>
          <p:cNvSpPr>
            <a:spLocks noGrp="1"/>
          </p:cNvSpPr>
          <p:nvPr>
            <p:ph type="pic" sz="quarter" idx="11"/>
          </p:nvPr>
        </p:nvSpPr>
        <p:spPr>
          <a:xfrm>
            <a:off x="777240" y="3429000"/>
            <a:ext cx="9952492" cy="552796"/>
          </a:xfrm>
        </p:spPr>
        <p:txBody>
          <a:bodyPr/>
          <a:lstStyle/>
          <a:p>
            <a:pPr>
              <a:spcAft>
                <a:spcPts val="1800"/>
              </a:spcAft>
            </a:pPr>
            <a:r>
              <a:rPr lang="en-US" b="1">
                <a:solidFill>
                  <a:srgbClr val="000000"/>
                </a:solidFill>
              </a:rPr>
              <a:t>Example</a:t>
            </a:r>
          </a:p>
        </p:txBody>
      </p:sp>
      <p:graphicFrame>
        <p:nvGraphicFramePr>
          <p:cNvPr id="5" name="Table 4">
            <a:extLst>
              <a:ext uri="{FF2B5EF4-FFF2-40B4-BE49-F238E27FC236}">
                <a16:creationId xmlns:a16="http://schemas.microsoft.com/office/drawing/2014/main" id="{8D2F5911-8CF6-E3AA-E014-422FCDA329AF}"/>
              </a:ext>
            </a:extLst>
          </p:cNvPr>
          <p:cNvGraphicFramePr>
            <a:graphicFrameLocks noGrp="1"/>
          </p:cNvGraphicFramePr>
          <p:nvPr>
            <p:extLst>
              <p:ext uri="{D42A27DB-BD31-4B8C-83A1-F6EECF244321}">
                <p14:modId xmlns:p14="http://schemas.microsoft.com/office/powerpoint/2010/main" val="3339030324"/>
              </p:ext>
            </p:extLst>
          </p:nvPr>
        </p:nvGraphicFramePr>
        <p:xfrm>
          <a:off x="1690014" y="4520276"/>
          <a:ext cx="5909381" cy="15849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28698792"/>
                    </a:ext>
                  </a:extLst>
                </a:gridCol>
                <a:gridCol w="2708981">
                  <a:extLst>
                    <a:ext uri="{9D8B030D-6E8A-4147-A177-3AD203B41FA5}">
                      <a16:colId xmlns:a16="http://schemas.microsoft.com/office/drawing/2014/main" val="3679534570"/>
                    </a:ext>
                  </a:extLst>
                </a:gridCol>
                <a:gridCol w="1371600">
                  <a:extLst>
                    <a:ext uri="{9D8B030D-6E8A-4147-A177-3AD203B41FA5}">
                      <a16:colId xmlns:a16="http://schemas.microsoft.com/office/drawing/2014/main" val="515854441"/>
                    </a:ext>
                  </a:extLst>
                </a:gridCol>
              </a:tblGrid>
              <a:tr h="370840">
                <a:tc>
                  <a:txBody>
                    <a:bodyPr/>
                    <a:lstStyle/>
                    <a:p>
                      <a:pPr algn="ctr"/>
                      <a:r>
                        <a:rPr lang="en-US" sz="2000" b="0">
                          <a:solidFill>
                            <a:srgbClr val="000000"/>
                          </a:solidFill>
                        </a:rPr>
                        <a:t>Constant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000" b="0" i="1">
                          <a:solidFill>
                            <a:srgbClr val="000000"/>
                          </a:solidFill>
                        </a:rPr>
                        <a:t>P</a:t>
                      </a:r>
                      <a:r>
                        <a:rPr lang="en-US" sz="2000" b="0">
                          <a:solidFill>
                            <a:srgbClr val="000000"/>
                          </a:solidFill>
                        </a:rPr>
                        <a:t>(</a:t>
                      </a:r>
                      <a:r>
                        <a:rPr lang="en-US" sz="2000" b="0" i="1">
                          <a:solidFill>
                            <a:srgbClr val="000000"/>
                          </a:solidFill>
                        </a:rPr>
                        <a:t>x</a:t>
                      </a:r>
                      <a:r>
                        <a:rPr lang="en-US" sz="2000" b="0">
                          <a:solidFill>
                            <a:srgbClr val="000000"/>
                          </a:solidFill>
                        </a:rPr>
                        <a:t>) = 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a:solidFill>
                            <a:srgbClr val="000000"/>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5748448"/>
                  </a:ext>
                </a:extLst>
              </a:tr>
              <a:tr h="370840">
                <a:tc>
                  <a:txBody>
                    <a:bodyPr/>
                    <a:lstStyle/>
                    <a:p>
                      <a:pPr algn="ctr"/>
                      <a:r>
                        <a:rPr lang="en-US" sz="2000">
                          <a:solidFill>
                            <a:srgbClr val="000000"/>
                          </a:solidFill>
                        </a:rPr>
                        <a:t>Linear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1">
                          <a:solidFill>
                            <a:srgbClr val="000000"/>
                          </a:solidFill>
                        </a:rPr>
                        <a:t>P</a:t>
                      </a:r>
                      <a:r>
                        <a:rPr lang="en-US" sz="2000" b="0">
                          <a:solidFill>
                            <a:srgbClr val="000000"/>
                          </a:solidFill>
                        </a:rPr>
                        <a:t>(</a:t>
                      </a:r>
                      <a:r>
                        <a:rPr lang="en-US" sz="2000" b="0" i="1">
                          <a:solidFill>
                            <a:srgbClr val="000000"/>
                          </a:solidFill>
                        </a:rPr>
                        <a:t>x</a:t>
                      </a:r>
                      <a:r>
                        <a:rPr lang="en-US" sz="2000" b="0">
                          <a:solidFill>
                            <a:srgbClr val="000000"/>
                          </a:solidFill>
                        </a:rPr>
                        <a:t>) = 2</a:t>
                      </a:r>
                      <a:r>
                        <a:rPr lang="en-US" sz="2000" b="0" i="1">
                          <a:solidFill>
                            <a:srgbClr val="000000"/>
                          </a:solidFill>
                        </a:rPr>
                        <a:t>x</a:t>
                      </a:r>
                      <a:r>
                        <a:rPr lang="en-US" sz="2000" b="0">
                          <a:solidFill>
                            <a:srgbClr val="000000"/>
                          </a:solidFill>
                        </a:rPr>
                        <a:t> –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a:solidFill>
                            <a:srgbClr val="000000"/>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7668779"/>
                  </a:ext>
                </a:extLst>
              </a:tr>
              <a:tr h="370840">
                <a:tc>
                  <a:txBody>
                    <a:bodyPr/>
                    <a:lstStyle/>
                    <a:p>
                      <a:pPr algn="ctr"/>
                      <a:r>
                        <a:rPr lang="en-US" sz="2000">
                          <a:solidFill>
                            <a:srgbClr val="000000"/>
                          </a:solidFill>
                        </a:rPr>
                        <a:t>Quadratic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1">
                          <a:solidFill>
                            <a:srgbClr val="000000"/>
                          </a:solidFill>
                        </a:rPr>
                        <a:t>P</a:t>
                      </a:r>
                      <a:r>
                        <a:rPr lang="en-US" sz="2000" b="0">
                          <a:solidFill>
                            <a:srgbClr val="000000"/>
                          </a:solidFill>
                        </a:rPr>
                        <a:t>(</a:t>
                      </a:r>
                      <a:r>
                        <a:rPr lang="en-US" sz="2000" b="0" i="1">
                          <a:solidFill>
                            <a:srgbClr val="000000"/>
                          </a:solidFill>
                        </a:rPr>
                        <a:t>x</a:t>
                      </a:r>
                      <a:r>
                        <a:rPr lang="en-US" sz="2000" b="0">
                          <a:solidFill>
                            <a:srgbClr val="000000"/>
                          </a:solidFill>
                        </a:rPr>
                        <a:t>) = 3</a:t>
                      </a:r>
                      <a:r>
                        <a:rPr lang="en-US" sz="2000" b="0" i="1">
                          <a:solidFill>
                            <a:srgbClr val="000000"/>
                          </a:solidFill>
                        </a:rPr>
                        <a:t>x</a:t>
                      </a:r>
                      <a:r>
                        <a:rPr lang="en-US" sz="2000" b="0" baseline="30000">
                          <a:solidFill>
                            <a:srgbClr val="000000"/>
                          </a:solidFill>
                        </a:rPr>
                        <a:t>2</a:t>
                      </a:r>
                      <a:r>
                        <a:rPr lang="en-US" sz="2000" b="0">
                          <a:solidFill>
                            <a:srgbClr val="000000"/>
                          </a:solidFill>
                        </a:rPr>
                        <a:t> – 2</a:t>
                      </a:r>
                      <a:r>
                        <a:rPr lang="en-US" sz="2000" b="0" i="1">
                          <a:solidFill>
                            <a:srgbClr val="000000"/>
                          </a:solidFill>
                        </a:rPr>
                        <a:t>x</a:t>
                      </a:r>
                      <a:r>
                        <a:rPr lang="en-US" sz="2000" b="0">
                          <a:solidFill>
                            <a:srgbClr val="000000"/>
                          </a:solidFill>
                        </a:rPr>
                        <a:t> + 4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a:solidFill>
                            <a:srgbClr val="000000"/>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6148486"/>
                  </a:ext>
                </a:extLst>
              </a:tr>
              <a:tr h="370840">
                <a:tc>
                  <a:txBody>
                    <a:bodyPr/>
                    <a:lstStyle/>
                    <a:p>
                      <a:pPr algn="ctr"/>
                      <a:r>
                        <a:rPr lang="en-US" sz="2000">
                          <a:solidFill>
                            <a:srgbClr val="000000"/>
                          </a:solidFill>
                        </a:rPr>
                        <a:t>Cubic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1">
                          <a:solidFill>
                            <a:srgbClr val="000000"/>
                          </a:solidFill>
                        </a:rPr>
                        <a:t>P</a:t>
                      </a:r>
                      <a:r>
                        <a:rPr lang="en-US" sz="2000" b="0">
                          <a:solidFill>
                            <a:srgbClr val="000000"/>
                          </a:solidFill>
                        </a:rPr>
                        <a:t>(</a:t>
                      </a:r>
                      <a:r>
                        <a:rPr lang="en-US" sz="2000" b="0" i="1">
                          <a:solidFill>
                            <a:srgbClr val="000000"/>
                          </a:solidFill>
                        </a:rPr>
                        <a:t>x</a:t>
                      </a:r>
                      <a:r>
                        <a:rPr lang="en-US" sz="2000" b="0">
                          <a:solidFill>
                            <a:srgbClr val="000000"/>
                          </a:solidFill>
                        </a:rPr>
                        <a:t>) = 4</a:t>
                      </a:r>
                      <a:r>
                        <a:rPr lang="en-US" sz="2000" b="0" i="1">
                          <a:solidFill>
                            <a:srgbClr val="000000"/>
                          </a:solidFill>
                        </a:rPr>
                        <a:t>x</a:t>
                      </a:r>
                      <a:r>
                        <a:rPr lang="en-US" sz="2000" b="0" baseline="30000">
                          <a:solidFill>
                            <a:srgbClr val="000000"/>
                          </a:solidFill>
                        </a:rPr>
                        <a:t>3</a:t>
                      </a:r>
                      <a:r>
                        <a:rPr lang="en-US" sz="2000" b="0">
                          <a:solidFill>
                            <a:srgbClr val="000000"/>
                          </a:solidFill>
                        </a:rPr>
                        <a:t> –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a:solidFill>
                            <a:srgbClr val="000000"/>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1027095"/>
                  </a:ext>
                </a:extLst>
              </a:tr>
            </a:tbl>
          </a:graphicData>
        </a:graphic>
      </p:graphicFrame>
      <p:graphicFrame>
        <p:nvGraphicFramePr>
          <p:cNvPr id="6" name="Table 5">
            <a:extLst>
              <a:ext uri="{FF2B5EF4-FFF2-40B4-BE49-F238E27FC236}">
                <a16:creationId xmlns:a16="http://schemas.microsoft.com/office/drawing/2014/main" id="{17B67552-F256-1A80-03C2-66E1B6C33873}"/>
              </a:ext>
            </a:extLst>
          </p:cNvPr>
          <p:cNvGraphicFramePr>
            <a:graphicFrameLocks noGrp="1"/>
          </p:cNvGraphicFramePr>
          <p:nvPr>
            <p:extLst>
              <p:ext uri="{D42A27DB-BD31-4B8C-83A1-F6EECF244321}">
                <p14:modId xmlns:p14="http://schemas.microsoft.com/office/powerpoint/2010/main" val="12961996"/>
              </p:ext>
            </p:extLst>
          </p:nvPr>
        </p:nvGraphicFramePr>
        <p:xfrm>
          <a:off x="1690014" y="4129116"/>
          <a:ext cx="5909381" cy="396240"/>
        </p:xfrm>
        <a:graphic>
          <a:graphicData uri="http://schemas.openxmlformats.org/drawingml/2006/table">
            <a:tbl>
              <a:tblPr firstRow="1" bandRow="1">
                <a:tableStyleId>{5C22544A-7EE6-4342-B048-85BDC9FD1C3A}</a:tableStyleId>
              </a:tblPr>
              <a:tblGrid>
                <a:gridCol w="4538137">
                  <a:extLst>
                    <a:ext uri="{9D8B030D-6E8A-4147-A177-3AD203B41FA5}">
                      <a16:colId xmlns:a16="http://schemas.microsoft.com/office/drawing/2014/main" val="3816947301"/>
                    </a:ext>
                  </a:extLst>
                </a:gridCol>
                <a:gridCol w="1371244">
                  <a:extLst>
                    <a:ext uri="{9D8B030D-6E8A-4147-A177-3AD203B41FA5}">
                      <a16:colId xmlns:a16="http://schemas.microsoft.com/office/drawing/2014/main" val="1316711807"/>
                    </a:ext>
                  </a:extLst>
                </a:gridCol>
              </a:tblGrid>
              <a:tr h="370840">
                <a:tc>
                  <a:txBody>
                    <a:bodyPr/>
                    <a:lstStyle/>
                    <a:p>
                      <a:pPr algn="ctr"/>
                      <a:r>
                        <a:rPr lang="en-US" sz="2000">
                          <a:solidFill>
                            <a:srgbClr val="000000"/>
                          </a:solidFill>
                        </a:rPr>
                        <a:t>Polynomial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C2A6"/>
                    </a:solidFill>
                  </a:tcPr>
                </a:tc>
                <a:tc>
                  <a:txBody>
                    <a:bodyPr/>
                    <a:lstStyle/>
                    <a:p>
                      <a:pPr algn="ctr"/>
                      <a:r>
                        <a:rPr lang="en-US" sz="2000">
                          <a:solidFill>
                            <a:srgbClr val="000000"/>
                          </a:solidFill>
                        </a:rPr>
                        <a:t>Degree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C2A6"/>
                    </a:solidFill>
                  </a:tcPr>
                </a:tc>
                <a:extLst>
                  <a:ext uri="{0D108BD9-81ED-4DB2-BD59-A6C34878D82A}">
                    <a16:rowId xmlns:a16="http://schemas.microsoft.com/office/drawing/2014/main" val="2036257319"/>
                  </a:ext>
                </a:extLst>
              </a:tr>
            </a:tbl>
          </a:graphicData>
        </a:graphic>
      </p:graphicFrame>
    </p:spTree>
    <p:extLst>
      <p:ext uri="{BB962C8B-B14F-4D97-AF65-F5344CB8AC3E}">
        <p14:creationId xmlns:p14="http://schemas.microsoft.com/office/powerpoint/2010/main" val="3397684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0A1B0-732B-05C6-D8CE-706D8FB8C01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1C7F10B-BDD8-A687-8274-AF35435C50E6}"/>
              </a:ext>
            </a:extLst>
          </p:cNvPr>
          <p:cNvSpPr>
            <a:spLocks noGrp="1"/>
          </p:cNvSpPr>
          <p:nvPr>
            <p:ph type="title"/>
          </p:nvPr>
        </p:nvSpPr>
        <p:spPr/>
        <p:txBody>
          <a:bodyPr/>
          <a:lstStyle/>
          <a:p>
            <a:pPr algn="l"/>
            <a:r>
              <a:rPr lang="en-US" b="1"/>
              <a:t>Key Terms </a:t>
            </a:r>
            <a:r>
              <a:rPr lang="en-US" sz="2000" b="1">
                <a:solidFill>
                  <a:schemeClr val="bg1"/>
                </a:solidFill>
              </a:rPr>
              <a:t>(3 of 4)</a:t>
            </a:r>
          </a:p>
        </p:txBody>
      </p:sp>
      <p:sp>
        <p:nvSpPr>
          <p:cNvPr id="2" name="Text Placeholder 1">
            <a:extLst>
              <a:ext uri="{FF2B5EF4-FFF2-40B4-BE49-F238E27FC236}">
                <a16:creationId xmlns:a16="http://schemas.microsoft.com/office/drawing/2014/main" id="{F65F7E53-827E-A043-A009-8FDAAC7C7C41}"/>
              </a:ext>
            </a:extLst>
          </p:cNvPr>
          <p:cNvSpPr>
            <a:spLocks noGrp="1"/>
          </p:cNvSpPr>
          <p:nvPr>
            <p:ph type="body" sz="quarter" idx="10"/>
          </p:nvPr>
        </p:nvSpPr>
        <p:spPr>
          <a:xfrm>
            <a:off x="777241" y="1596044"/>
            <a:ext cx="9896301" cy="1478752"/>
          </a:xfrm>
          <a:prstGeom prst="rect">
            <a:avLst/>
          </a:prstGeom>
        </p:spPr>
        <p:txBody>
          <a:bodyPr>
            <a:normAutofit/>
          </a:bodyPr>
          <a:lstStyle/>
          <a:p>
            <a:pPr marL="0" indent="0">
              <a:buNone/>
            </a:pPr>
            <a:r>
              <a:rPr lang="en-US" b="1">
                <a:solidFill>
                  <a:srgbClr val="000000"/>
                </a:solidFill>
              </a:rPr>
              <a:t>leading coefficient</a:t>
            </a:r>
            <a:r>
              <a:rPr b="0" u="none">
                <a:solidFill>
                  <a:srgbClr val="000000"/>
                </a:solidFill>
              </a:rPr>
              <a:t>:</a:t>
            </a:r>
            <a:r>
              <a:rPr b="0" i="0" u="none">
                <a:solidFill>
                  <a:srgbClr val="000000"/>
                </a:solidFill>
              </a:rPr>
              <a:t> </a:t>
            </a:r>
            <a:r>
              <a:rPr lang="en-US">
                <a:solidFill>
                  <a:srgbClr val="000000"/>
                </a:solidFill>
              </a:rPr>
              <a:t>t</a:t>
            </a:r>
            <a:r>
              <a:rPr lang="en-US" b="0" i="0" u="none">
                <a:solidFill>
                  <a:srgbClr val="000000"/>
                </a:solidFill>
              </a:rPr>
              <a:t>he leading coefficient of a polynomial is the numeric coefficient of the term with the greatest power</a:t>
            </a:r>
          </a:p>
        </p:txBody>
      </p:sp>
      <p:sp>
        <p:nvSpPr>
          <p:cNvPr id="3" name="Picture Placeholder 4">
            <a:extLst>
              <a:ext uri="{FF2B5EF4-FFF2-40B4-BE49-F238E27FC236}">
                <a16:creationId xmlns:a16="http://schemas.microsoft.com/office/drawing/2014/main" id="{58ADADFA-C6CD-69E5-4E81-231F8CA2D009}"/>
              </a:ext>
            </a:extLst>
          </p:cNvPr>
          <p:cNvSpPr>
            <a:spLocks noGrp="1"/>
          </p:cNvSpPr>
          <p:nvPr>
            <p:ph type="pic" sz="quarter" idx="11"/>
          </p:nvPr>
        </p:nvSpPr>
        <p:spPr>
          <a:xfrm>
            <a:off x="777240" y="3429000"/>
            <a:ext cx="9896302" cy="2681290"/>
          </a:xfrm>
        </p:spPr>
        <p:txBody>
          <a:bodyPr/>
          <a:lstStyle/>
          <a:p>
            <a:pPr>
              <a:spcAft>
                <a:spcPts val="1800"/>
              </a:spcAft>
            </a:pPr>
            <a:r>
              <a:rPr lang="en-US" b="1">
                <a:solidFill>
                  <a:srgbClr val="000000"/>
                </a:solidFill>
              </a:rPr>
              <a:t>Example</a:t>
            </a:r>
          </a:p>
          <a:p>
            <a:pPr marL="457200" lvl="1" indent="0">
              <a:buNone/>
            </a:pPr>
            <a:r>
              <a:rPr lang="en-US" sz="2800">
                <a:solidFill>
                  <a:srgbClr val="000000"/>
                </a:solidFill>
              </a:rPr>
              <a:t>In the polynomial −7</a:t>
            </a:r>
            <a:r>
              <a:rPr lang="en-US" sz="2800" i="1">
                <a:solidFill>
                  <a:srgbClr val="000000"/>
                </a:solidFill>
              </a:rPr>
              <a:t>x</a:t>
            </a:r>
            <a:r>
              <a:rPr lang="en-US" sz="2800" baseline="30000">
                <a:solidFill>
                  <a:srgbClr val="000000"/>
                </a:solidFill>
              </a:rPr>
              <a:t>2</a:t>
            </a:r>
            <a:r>
              <a:rPr lang="en-US" sz="2800">
                <a:solidFill>
                  <a:srgbClr val="000000"/>
                </a:solidFill>
              </a:rPr>
              <a:t> + </a:t>
            </a:r>
            <a:r>
              <a:rPr lang="en-US" sz="2800" i="1">
                <a:solidFill>
                  <a:srgbClr val="000000"/>
                </a:solidFill>
              </a:rPr>
              <a:t>x</a:t>
            </a:r>
            <a:r>
              <a:rPr lang="en-US" sz="2800">
                <a:solidFill>
                  <a:srgbClr val="000000"/>
                </a:solidFill>
              </a:rPr>
              <a:t> + 25, the value −7 is the</a:t>
            </a:r>
            <a:br>
              <a:rPr lang="en-US" sz="2800">
                <a:solidFill>
                  <a:srgbClr val="000000"/>
                </a:solidFill>
              </a:rPr>
            </a:br>
            <a:r>
              <a:rPr lang="en-US" sz="2800">
                <a:solidFill>
                  <a:srgbClr val="000000"/>
                </a:solidFill>
              </a:rPr>
              <a:t>leading coefficient.</a:t>
            </a:r>
          </a:p>
        </p:txBody>
      </p:sp>
    </p:spTree>
    <p:extLst>
      <p:ext uri="{BB962C8B-B14F-4D97-AF65-F5344CB8AC3E}">
        <p14:creationId xmlns:p14="http://schemas.microsoft.com/office/powerpoint/2010/main" val="2525785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199E1-7849-D668-A7E0-66CAD4EB5D7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B815FD9-4F2D-C296-812D-CB1949A3E3FF}"/>
              </a:ext>
            </a:extLst>
          </p:cNvPr>
          <p:cNvSpPr>
            <a:spLocks noGrp="1"/>
          </p:cNvSpPr>
          <p:nvPr>
            <p:ph type="title"/>
          </p:nvPr>
        </p:nvSpPr>
        <p:spPr/>
        <p:txBody>
          <a:bodyPr/>
          <a:lstStyle/>
          <a:p>
            <a:pPr algn="l"/>
            <a:r>
              <a:rPr lang="en-US" b="1"/>
              <a:t>Key Terms </a:t>
            </a:r>
            <a:r>
              <a:rPr lang="en-US" sz="2000" b="1">
                <a:solidFill>
                  <a:schemeClr val="bg1"/>
                </a:solidFill>
              </a:rPr>
              <a:t>(4 of 4)</a:t>
            </a:r>
          </a:p>
        </p:txBody>
      </p:sp>
      <p:sp>
        <p:nvSpPr>
          <p:cNvPr id="2" name="Text Placeholder 1">
            <a:extLst>
              <a:ext uri="{FF2B5EF4-FFF2-40B4-BE49-F238E27FC236}">
                <a16:creationId xmlns:a16="http://schemas.microsoft.com/office/drawing/2014/main" id="{B8747323-8BAC-C113-6D54-E210204C38D9}"/>
              </a:ext>
            </a:extLst>
          </p:cNvPr>
          <p:cNvSpPr>
            <a:spLocks noGrp="1"/>
          </p:cNvSpPr>
          <p:nvPr>
            <p:ph type="body" sz="quarter" idx="10"/>
          </p:nvPr>
        </p:nvSpPr>
        <p:spPr>
          <a:xfrm>
            <a:off x="777241" y="1604356"/>
            <a:ext cx="10335408" cy="1470440"/>
          </a:xfrm>
          <a:prstGeom prst="rect">
            <a:avLst/>
          </a:prstGeom>
        </p:spPr>
        <p:txBody>
          <a:bodyPr>
            <a:normAutofit/>
          </a:bodyPr>
          <a:lstStyle/>
          <a:p>
            <a:r>
              <a:rPr lang="en-US" b="1">
                <a:solidFill>
                  <a:srgbClr val="000000"/>
                </a:solidFill>
              </a:rPr>
              <a:t>zero of a function </a:t>
            </a:r>
            <a:r>
              <a:rPr lang="en-US"/>
              <a:t>[cero de </a:t>
            </a:r>
            <a:r>
              <a:rPr lang="en-US" err="1"/>
              <a:t>una</a:t>
            </a:r>
            <a:r>
              <a:rPr lang="en-US"/>
              <a:t> </a:t>
            </a:r>
            <a:r>
              <a:rPr lang="en-US" err="1"/>
              <a:t>función</a:t>
            </a:r>
            <a:r>
              <a:rPr lang="en-US"/>
              <a:t>]</a:t>
            </a:r>
            <a:r>
              <a:rPr lang="en-US" b="0" u="none">
                <a:solidFill>
                  <a:srgbClr val="000000"/>
                </a:solidFill>
              </a:rPr>
              <a:t>:</a:t>
            </a:r>
            <a:r>
              <a:rPr lang="en-US" b="0" i="0" u="none">
                <a:solidFill>
                  <a:srgbClr val="000000"/>
                </a:solidFill>
              </a:rPr>
              <a:t> a real number that makes the value of the function equal to zero, or </a:t>
            </a:r>
            <a:r>
              <a:rPr lang="en-US" b="0" i="1" u="none">
                <a:solidFill>
                  <a:srgbClr val="000000"/>
                </a:solidFill>
              </a:rPr>
              <a:t>f</a:t>
            </a:r>
            <a:r>
              <a:rPr lang="en-US" b="0" i="0" u="none">
                <a:solidFill>
                  <a:srgbClr val="000000"/>
                </a:solidFill>
              </a:rPr>
              <a:t>(</a:t>
            </a:r>
            <a:r>
              <a:rPr lang="en-US" b="0" i="1" u="none">
                <a:solidFill>
                  <a:srgbClr val="000000"/>
                </a:solidFill>
              </a:rPr>
              <a:t>x</a:t>
            </a:r>
            <a:r>
              <a:rPr lang="en-US" b="0" i="0" u="none">
                <a:solidFill>
                  <a:srgbClr val="000000"/>
                </a:solidFill>
              </a:rPr>
              <a:t>) = 0</a:t>
            </a:r>
          </a:p>
        </p:txBody>
      </p:sp>
      <p:sp>
        <p:nvSpPr>
          <p:cNvPr id="3" name="Picture Placeholder 4">
            <a:extLst>
              <a:ext uri="{FF2B5EF4-FFF2-40B4-BE49-F238E27FC236}">
                <a16:creationId xmlns:a16="http://schemas.microsoft.com/office/drawing/2014/main" id="{6D9B3A7F-0EE2-7C9A-5CF7-4A14C4FE8BF3}"/>
              </a:ext>
            </a:extLst>
          </p:cNvPr>
          <p:cNvSpPr>
            <a:spLocks noGrp="1"/>
          </p:cNvSpPr>
          <p:nvPr>
            <p:ph type="pic" sz="quarter" idx="11"/>
          </p:nvPr>
        </p:nvSpPr>
        <p:spPr>
          <a:xfrm>
            <a:off x="777240" y="3429000"/>
            <a:ext cx="9887989" cy="2681290"/>
          </a:xfrm>
        </p:spPr>
        <p:txBody>
          <a:bodyPr/>
          <a:lstStyle/>
          <a:p>
            <a:pPr>
              <a:spcAft>
                <a:spcPts val="1800"/>
              </a:spcAft>
            </a:pPr>
            <a:r>
              <a:rPr lang="en-US" b="1">
                <a:solidFill>
                  <a:srgbClr val="000000"/>
                </a:solidFill>
              </a:rPr>
              <a:t>Example</a:t>
            </a:r>
          </a:p>
          <a:p>
            <a:pPr marL="457200" lvl="1" indent="0">
              <a:buNone/>
            </a:pPr>
            <a:r>
              <a:rPr lang="en-US" sz="2800">
                <a:solidFill>
                  <a:srgbClr val="000000"/>
                </a:solidFill>
              </a:rPr>
              <a:t>The zero of the linear function </a:t>
            </a:r>
            <a:r>
              <a:rPr lang="en-US" sz="2800" i="1">
                <a:solidFill>
                  <a:srgbClr val="000000"/>
                </a:solidFill>
              </a:rPr>
              <a:t>f</a:t>
            </a:r>
            <a:r>
              <a:rPr lang="en-US" sz="2800">
                <a:solidFill>
                  <a:srgbClr val="000000"/>
                </a:solidFill>
              </a:rPr>
              <a:t>(</a:t>
            </a:r>
            <a:r>
              <a:rPr lang="en-US" sz="2800" i="1">
                <a:solidFill>
                  <a:srgbClr val="000000"/>
                </a:solidFill>
              </a:rPr>
              <a:t>x</a:t>
            </a:r>
            <a:r>
              <a:rPr lang="en-US" sz="2800">
                <a:solidFill>
                  <a:srgbClr val="000000"/>
                </a:solidFill>
              </a:rPr>
              <a:t>) = 2(</a:t>
            </a:r>
            <a:r>
              <a:rPr lang="en-US" sz="2800" i="1">
                <a:solidFill>
                  <a:srgbClr val="000000"/>
                </a:solidFill>
              </a:rPr>
              <a:t>x</a:t>
            </a:r>
            <a:r>
              <a:rPr lang="en-US" sz="2800">
                <a:solidFill>
                  <a:srgbClr val="000000"/>
                </a:solidFill>
              </a:rPr>
              <a:t> − 4) is (4, 0).</a:t>
            </a:r>
          </a:p>
        </p:txBody>
      </p:sp>
    </p:spTree>
    <p:extLst>
      <p:ext uri="{BB962C8B-B14F-4D97-AF65-F5344CB8AC3E}">
        <p14:creationId xmlns:p14="http://schemas.microsoft.com/office/powerpoint/2010/main" val="3748778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A3AC8-B56F-47DA-AEF2-F3F1E9E2CD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B9966A-6415-B35F-AC87-062F5FC26C5C}"/>
              </a:ext>
            </a:extLst>
          </p:cNvPr>
          <p:cNvSpPr>
            <a:spLocks noGrp="1"/>
          </p:cNvSpPr>
          <p:nvPr>
            <p:ph type="title"/>
          </p:nvPr>
        </p:nvSpPr>
        <p:spPr/>
        <p:txBody>
          <a:bodyPr/>
          <a:lstStyle/>
          <a:p>
            <a:pPr algn="l"/>
            <a:r>
              <a:rPr lang="en-US" b="1"/>
              <a:t>Essential Question </a:t>
            </a:r>
            <a:r>
              <a:rPr lang="en-US" sz="2000" b="1">
                <a:solidFill>
                  <a:schemeClr val="bg1"/>
                </a:solidFill>
              </a:rPr>
              <a:t>(1 of 3)</a:t>
            </a:r>
          </a:p>
        </p:txBody>
      </p:sp>
      <p:sp>
        <p:nvSpPr>
          <p:cNvPr id="9" name="Text Placeholder 2">
            <a:extLst>
              <a:ext uri="{FF2B5EF4-FFF2-40B4-BE49-F238E27FC236}">
                <a16:creationId xmlns:a16="http://schemas.microsoft.com/office/drawing/2014/main" id="{325B2EA2-DB03-43C5-FC66-7B772EA97525}"/>
              </a:ext>
            </a:extLst>
          </p:cNvPr>
          <p:cNvSpPr txBox="1">
            <a:spLocks/>
          </p:cNvSpPr>
          <p:nvPr/>
        </p:nvSpPr>
        <p:spPr>
          <a:xfrm>
            <a:off x="733399" y="1584575"/>
            <a:ext cx="10405655" cy="43512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a:solidFill>
                  <a:srgbClr val="000000"/>
                </a:solidFill>
              </a:rPr>
              <a:t>You know how to determine whether a relationship represents</a:t>
            </a:r>
            <a:r>
              <a:rPr lang="en-US" sz="2800">
                <a:solidFill>
                  <a:srgbClr val="000000"/>
                </a:solidFill>
              </a:rPr>
              <a:t> </a:t>
            </a:r>
            <a:r>
              <a:rPr lang="en-US" sz="2800" b="0" i="0" u="none" strike="noStrike" baseline="0">
                <a:solidFill>
                  <a:srgbClr val="000000"/>
                </a:solidFill>
              </a:rPr>
              <a:t>a linear function, and you know how to write an equation for</a:t>
            </a:r>
            <a:r>
              <a:rPr lang="en-US" sz="2800">
                <a:solidFill>
                  <a:srgbClr val="000000"/>
                </a:solidFill>
              </a:rPr>
              <a:t> </a:t>
            </a:r>
            <a:r>
              <a:rPr lang="en-US" sz="2800" b="0" i="0" u="none" strike="noStrike" baseline="0">
                <a:solidFill>
                  <a:srgbClr val="000000"/>
                </a:solidFill>
              </a:rPr>
              <a:t>the function.</a:t>
            </a:r>
          </a:p>
          <a:p>
            <a:pPr marL="0" indent="0" algn="l">
              <a:buNone/>
            </a:pPr>
            <a:endParaRPr lang="en-US" sz="2800">
              <a:solidFill>
                <a:srgbClr val="000000"/>
              </a:solidFill>
            </a:endParaRPr>
          </a:p>
          <a:p>
            <a:pPr marL="0" indent="0" algn="l">
              <a:buNone/>
            </a:pPr>
            <a:endParaRPr lang="en-US" sz="2800" b="0" i="0" u="none" strike="noStrike" baseline="0">
              <a:solidFill>
                <a:srgbClr val="000000"/>
              </a:solidFill>
            </a:endParaRPr>
          </a:p>
          <a:p>
            <a:pPr marL="0" indent="0" algn="l">
              <a:buNone/>
            </a:pPr>
            <a:endParaRPr lang="en-US" sz="2800" b="0" i="0" u="none" strike="noStrike" baseline="0">
              <a:solidFill>
                <a:srgbClr val="000000"/>
              </a:solidFill>
            </a:endParaRPr>
          </a:p>
          <a:p>
            <a:pPr marL="0" indent="0" algn="l">
              <a:buNone/>
            </a:pPr>
            <a:r>
              <a:rPr lang="en-US" sz="2800" b="0" i="0" u="none" strike="noStrike" baseline="0">
                <a:solidFill>
                  <a:srgbClr val="000000"/>
                </a:solidFill>
              </a:rPr>
              <a:t>How can you use the structure of the equation to identify characteristics of the function?</a:t>
            </a:r>
            <a:endParaRPr lang="en-US" sz="2800">
              <a:solidFill>
                <a:srgbClr val="000000"/>
              </a:solidFill>
            </a:endParaRPr>
          </a:p>
        </p:txBody>
      </p:sp>
    </p:spTree>
    <p:extLst>
      <p:ext uri="{BB962C8B-B14F-4D97-AF65-F5344CB8AC3E}">
        <p14:creationId xmlns:p14="http://schemas.microsoft.com/office/powerpoint/2010/main" val="2493083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E7D1-4EEC-73C8-A8B1-25799A7798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FA90BF-E127-672C-DE36-C0738BC656D8}"/>
              </a:ext>
            </a:extLst>
          </p:cNvPr>
          <p:cNvSpPr>
            <a:spLocks noGrp="1"/>
          </p:cNvSpPr>
          <p:nvPr>
            <p:ph type="title" idx="4294967295"/>
          </p:nvPr>
        </p:nvSpPr>
        <p:spPr>
          <a:xfrm>
            <a:off x="838200" y="-332509"/>
            <a:ext cx="10514013" cy="332509"/>
          </a:xfrm>
          <a:prstGeom prst="rect">
            <a:avLst/>
          </a:prstGeom>
        </p:spPr>
        <p:txBody>
          <a:bodyPr anchor="b"/>
          <a:lstStyle/>
          <a:p>
            <a:r>
              <a:rPr lang="en-US" sz="2000">
                <a:solidFill>
                  <a:schemeClr val="bg2"/>
                </a:solidFill>
              </a:rPr>
              <a:t>Day 1</a:t>
            </a:r>
          </a:p>
        </p:txBody>
      </p:sp>
      <p:sp>
        <p:nvSpPr>
          <p:cNvPr id="4" name="Text Placeholder 3">
            <a:extLst>
              <a:ext uri="{FF2B5EF4-FFF2-40B4-BE49-F238E27FC236}">
                <a16:creationId xmlns:a16="http://schemas.microsoft.com/office/drawing/2014/main" id="{1586B9D5-0714-C453-BF23-634EFB6E39F7}"/>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a:solidFill>
                  <a:srgbClr val="000000"/>
                </a:solidFill>
                <a:latin typeface="Calibri" panose="020F0502020204030204" pitchFamily="34" charset="0"/>
                <a:ea typeface="Calibri" panose="020F0502020204030204" pitchFamily="34" charset="0"/>
                <a:cs typeface="Calibri" panose="020F0502020204030204" pitchFamily="34" charset="0"/>
              </a:rPr>
              <a:t>1</a:t>
            </a:r>
          </a:p>
        </p:txBody>
      </p:sp>
    </p:spTree>
    <p:extLst>
      <p:ext uri="{BB962C8B-B14F-4D97-AF65-F5344CB8AC3E}">
        <p14:creationId xmlns:p14="http://schemas.microsoft.com/office/powerpoint/2010/main" val="3545096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3B6511-319C-24C4-E798-AB7E16128256}"/>
              </a:ext>
            </a:extLst>
          </p:cNvPr>
          <p:cNvSpPr>
            <a:spLocks noGrp="1"/>
          </p:cNvSpPr>
          <p:nvPr>
            <p:ph type="title" idx="4294967295"/>
          </p:nvPr>
        </p:nvSpPr>
        <p:spPr>
          <a:xfrm>
            <a:off x="838200" y="-332509"/>
            <a:ext cx="10514013" cy="332509"/>
          </a:xfrm>
          <a:prstGeom prst="rect">
            <a:avLst/>
          </a:prstGeom>
        </p:spPr>
        <p:txBody>
          <a:bodyPr anchor="b"/>
          <a:lstStyle/>
          <a:p>
            <a:r>
              <a:rPr lang="en-US" sz="2000">
                <a:solidFill>
                  <a:schemeClr val="bg2"/>
                </a:solidFill>
              </a:rPr>
              <a:t>Getting Started</a:t>
            </a:r>
          </a:p>
        </p:txBody>
      </p:sp>
      <p:sp>
        <p:nvSpPr>
          <p:cNvPr id="2" name="Text Placeholder 1" descr="10 to 15 minutes">
            <a:extLst>
              <a:ext uri="{FF2B5EF4-FFF2-40B4-BE49-F238E27FC236}">
                <a16:creationId xmlns:a16="http://schemas.microsoft.com/office/drawing/2014/main" id="{461C201E-12AD-57EF-47E5-2D96E6063E25}"/>
              </a:ext>
            </a:extLst>
          </p:cNvPr>
          <p:cNvSpPr>
            <a:spLocks noGrp="1"/>
          </p:cNvSpPr>
          <p:nvPr>
            <p:ph type="body" sz="quarter" idx="12"/>
          </p:nvPr>
        </p:nvSpPr>
        <p:spPr>
          <a:xfrm>
            <a:off x="10623303" y="5781277"/>
            <a:ext cx="863947" cy="795338"/>
          </a:xfrm>
        </p:spPr>
        <p:txBody>
          <a:bodyPr/>
          <a:lstStyle/>
          <a:p>
            <a:r>
              <a:rPr lang="en-US" b="1"/>
              <a:t>10–15</a:t>
            </a:r>
          </a:p>
        </p:txBody>
      </p:sp>
    </p:spTree>
    <p:extLst>
      <p:ext uri="{BB962C8B-B14F-4D97-AF65-F5344CB8AC3E}">
        <p14:creationId xmlns:p14="http://schemas.microsoft.com/office/powerpoint/2010/main" val="3719619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FD0B2-A9E7-0A4C-CC80-65AF82D6DF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62E77F-B1D6-40AE-592B-5BAB37399846}"/>
              </a:ext>
            </a:extLst>
          </p:cNvPr>
          <p:cNvSpPr>
            <a:spLocks noGrp="1"/>
          </p:cNvSpPr>
          <p:nvPr>
            <p:ph type="title"/>
          </p:nvPr>
        </p:nvSpPr>
        <p:spPr/>
        <p:txBody>
          <a:bodyPr/>
          <a:lstStyle/>
          <a:p>
            <a:pPr algn="l"/>
            <a:r>
              <a:rPr lang="en-US" b="1"/>
              <a:t>Well, Are Ya or Aren’t Ya? </a:t>
            </a:r>
            <a:r>
              <a:rPr lang="en-US" sz="2000" b="1">
                <a:solidFill>
                  <a:schemeClr val="bg1"/>
                </a:solidFill>
              </a:rPr>
              <a:t>(1 of 5)</a:t>
            </a:r>
          </a:p>
        </p:txBody>
      </p:sp>
      <p:sp>
        <p:nvSpPr>
          <p:cNvPr id="2" name="TextBox 1">
            <a:extLst>
              <a:ext uri="{FF2B5EF4-FFF2-40B4-BE49-F238E27FC236}">
                <a16:creationId xmlns:a16="http://schemas.microsoft.com/office/drawing/2014/main" id="{3481816B-0AB6-B7C3-67C6-B5D422E2A58E}"/>
              </a:ext>
            </a:extLst>
          </p:cNvPr>
          <p:cNvSpPr txBox="1"/>
          <p:nvPr/>
        </p:nvSpPr>
        <p:spPr>
          <a:xfrm>
            <a:off x="777240" y="1599846"/>
            <a:ext cx="9900285" cy="954107"/>
          </a:xfrm>
          <a:prstGeom prst="rect">
            <a:avLst/>
          </a:prstGeom>
          <a:noFill/>
        </p:spPr>
        <p:txBody>
          <a:bodyPr wrap="square" rtlCol="0">
            <a:spAutoFit/>
          </a:bodyPr>
          <a:lstStyle/>
          <a:p>
            <a:pPr marL="515938" indent="-515938">
              <a:buFont typeface="+mj-lt"/>
              <a:buAutoNum type="arabicPeriod"/>
            </a:pPr>
            <a:r>
              <a:rPr lang="en-US" sz="2800">
                <a:solidFill>
                  <a:srgbClr val="000000"/>
                </a:solidFill>
              </a:rPr>
              <a:t>Determine whether each representation models a linear or nonlinear function. Explain your reasoning.</a:t>
            </a:r>
          </a:p>
        </p:txBody>
      </p:sp>
      <p:sp>
        <p:nvSpPr>
          <p:cNvPr id="5" name="TextBox 4">
            <a:extLst>
              <a:ext uri="{FF2B5EF4-FFF2-40B4-BE49-F238E27FC236}">
                <a16:creationId xmlns:a16="http://schemas.microsoft.com/office/drawing/2014/main" id="{78D20F6B-E2F2-BE01-8C8C-7257AA2045F3}"/>
              </a:ext>
            </a:extLst>
          </p:cNvPr>
          <p:cNvSpPr txBox="1"/>
          <p:nvPr/>
        </p:nvSpPr>
        <p:spPr>
          <a:xfrm>
            <a:off x="1302384" y="2770483"/>
            <a:ext cx="1855960" cy="1569660"/>
          </a:xfrm>
          <a:prstGeom prst="rect">
            <a:avLst/>
          </a:prstGeom>
          <a:noFill/>
        </p:spPr>
        <p:txBody>
          <a:bodyPr wrap="square" rtlCol="0">
            <a:spAutoFit/>
          </a:bodyPr>
          <a:lstStyle/>
          <a:p>
            <a:r>
              <a:rPr lang="en-US" sz="2400" b="1">
                <a:solidFill>
                  <a:srgbClr val="000000"/>
                </a:solidFill>
              </a:rPr>
              <a:t>Scenario A</a:t>
            </a:r>
          </a:p>
          <a:p>
            <a:r>
              <a:rPr lang="en-US" sz="2400">
                <a:solidFill>
                  <a:srgbClr val="000000"/>
                </a:solidFill>
              </a:rPr>
              <a:t>A tree grows 3.5 inches each year.</a:t>
            </a:r>
          </a:p>
        </p:txBody>
      </p:sp>
      <p:sp>
        <p:nvSpPr>
          <p:cNvPr id="7" name="TextBox 6">
            <a:extLst>
              <a:ext uri="{FF2B5EF4-FFF2-40B4-BE49-F238E27FC236}">
                <a16:creationId xmlns:a16="http://schemas.microsoft.com/office/drawing/2014/main" id="{2581B44E-F3D0-BD8D-3F97-BDAC4B15688D}"/>
              </a:ext>
            </a:extLst>
          </p:cNvPr>
          <p:cNvSpPr txBox="1"/>
          <p:nvPr/>
        </p:nvSpPr>
        <p:spPr>
          <a:xfrm>
            <a:off x="3564239" y="2770483"/>
            <a:ext cx="4111783" cy="1569660"/>
          </a:xfrm>
          <a:prstGeom prst="rect">
            <a:avLst/>
          </a:prstGeom>
          <a:noFill/>
        </p:spPr>
        <p:txBody>
          <a:bodyPr wrap="square" rtlCol="0">
            <a:spAutoFit/>
          </a:bodyPr>
          <a:lstStyle/>
          <a:p>
            <a:r>
              <a:rPr lang="en-US" sz="2400" b="1">
                <a:solidFill>
                  <a:srgbClr val="000000"/>
                </a:solidFill>
              </a:rPr>
              <a:t>Scenario B</a:t>
            </a:r>
          </a:p>
          <a:p>
            <a:pPr algn="l"/>
            <a:r>
              <a:rPr lang="en-US" sz="2400" b="0" i="0" u="none" strike="noStrike" baseline="0">
                <a:solidFill>
                  <a:srgbClr val="000000"/>
                </a:solidFill>
              </a:rPr>
              <a:t>The strength of a medication decreases by 50% each hour it is in the patient’s system.</a:t>
            </a:r>
            <a:endParaRPr lang="en-US" sz="2400">
              <a:solidFill>
                <a:srgbClr val="000000"/>
              </a:solidFill>
            </a:endParaRPr>
          </a:p>
        </p:txBody>
      </p:sp>
      <p:sp>
        <p:nvSpPr>
          <p:cNvPr id="8" name="TextBox 7">
            <a:extLst>
              <a:ext uri="{FF2B5EF4-FFF2-40B4-BE49-F238E27FC236}">
                <a16:creationId xmlns:a16="http://schemas.microsoft.com/office/drawing/2014/main" id="{1412562E-F101-BCCA-F8AD-5B7F1BB6CAA1}"/>
              </a:ext>
            </a:extLst>
          </p:cNvPr>
          <p:cNvSpPr txBox="1"/>
          <p:nvPr/>
        </p:nvSpPr>
        <p:spPr>
          <a:xfrm>
            <a:off x="8345980" y="2770483"/>
            <a:ext cx="2592779" cy="1569660"/>
          </a:xfrm>
          <a:prstGeom prst="rect">
            <a:avLst/>
          </a:prstGeom>
          <a:noFill/>
        </p:spPr>
        <p:txBody>
          <a:bodyPr wrap="square" rtlCol="0">
            <a:spAutoFit/>
          </a:bodyPr>
          <a:lstStyle/>
          <a:p>
            <a:r>
              <a:rPr lang="en-US" sz="2400" b="1">
                <a:solidFill>
                  <a:srgbClr val="000000"/>
                </a:solidFill>
              </a:rPr>
              <a:t>Scenario C</a:t>
            </a:r>
          </a:p>
          <a:p>
            <a:pPr algn="l"/>
            <a:r>
              <a:rPr lang="en-US" sz="2400" b="0" i="0" u="none" strike="noStrike" baseline="0">
                <a:solidFill>
                  <a:srgbClr val="000000"/>
                </a:solidFill>
              </a:rPr>
              <a:t>The area of a</a:t>
            </a:r>
          </a:p>
          <a:p>
            <a:pPr algn="l"/>
            <a:r>
              <a:rPr lang="en-US" sz="2400" b="0" i="0" u="none" strike="noStrike" baseline="0">
                <a:solidFill>
                  <a:srgbClr val="000000"/>
                </a:solidFill>
              </a:rPr>
              <a:t>square depends on</a:t>
            </a:r>
          </a:p>
          <a:p>
            <a:pPr algn="l"/>
            <a:r>
              <a:rPr lang="en-US" sz="2400" b="0" i="0" u="none" strike="noStrike" baseline="0">
                <a:solidFill>
                  <a:srgbClr val="000000"/>
                </a:solidFill>
              </a:rPr>
              <a:t>its side length.</a:t>
            </a:r>
            <a:endParaRPr lang="en-US" sz="2400">
              <a:solidFill>
                <a:srgbClr val="000000"/>
              </a:solidFill>
            </a:endParaRPr>
          </a:p>
        </p:txBody>
      </p:sp>
      <p:sp>
        <p:nvSpPr>
          <p:cNvPr id="3" name="TextBox 2">
            <a:extLst>
              <a:ext uri="{FF2B5EF4-FFF2-40B4-BE49-F238E27FC236}">
                <a16:creationId xmlns:a16="http://schemas.microsoft.com/office/drawing/2014/main" id="{175FDA54-9635-B222-9386-EC468AD77EA9}"/>
              </a:ext>
            </a:extLst>
          </p:cNvPr>
          <p:cNvSpPr txBox="1"/>
          <p:nvPr/>
        </p:nvSpPr>
        <p:spPr>
          <a:xfrm>
            <a:off x="1302384" y="4671887"/>
            <a:ext cx="1855960" cy="830997"/>
          </a:xfrm>
          <a:prstGeom prst="rect">
            <a:avLst/>
          </a:prstGeom>
          <a:noFill/>
        </p:spPr>
        <p:txBody>
          <a:bodyPr wrap="square" rtlCol="0">
            <a:spAutoFit/>
          </a:bodyPr>
          <a:lstStyle/>
          <a:p>
            <a:r>
              <a:rPr lang="en-US" sz="2400" b="1">
                <a:solidFill>
                  <a:srgbClr val="000000"/>
                </a:solidFill>
              </a:rPr>
              <a:t>Equation A</a:t>
            </a:r>
          </a:p>
          <a:p>
            <a:r>
              <a:rPr lang="en-US" sz="2400" i="1">
                <a:solidFill>
                  <a:srgbClr val="000000"/>
                </a:solidFill>
              </a:rPr>
              <a:t>y</a:t>
            </a:r>
            <a:r>
              <a:rPr lang="en-US" sz="2400">
                <a:solidFill>
                  <a:srgbClr val="000000"/>
                </a:solidFill>
              </a:rPr>
              <a:t> = 14 − 9</a:t>
            </a:r>
            <a:r>
              <a:rPr lang="en-US" sz="2400" i="1">
                <a:solidFill>
                  <a:srgbClr val="000000"/>
                </a:solidFill>
              </a:rPr>
              <a:t>x</a:t>
            </a:r>
            <a:r>
              <a:rPr lang="en-US" sz="2400">
                <a:solidFill>
                  <a:srgbClr val="000000"/>
                </a:solidFill>
              </a:rPr>
              <a:t> </a:t>
            </a:r>
          </a:p>
        </p:txBody>
      </p:sp>
      <p:sp>
        <p:nvSpPr>
          <p:cNvPr id="6" name="TextBox 5">
            <a:extLst>
              <a:ext uri="{FF2B5EF4-FFF2-40B4-BE49-F238E27FC236}">
                <a16:creationId xmlns:a16="http://schemas.microsoft.com/office/drawing/2014/main" id="{92112E27-C02C-92C2-C5FC-F07AF2B73045}"/>
              </a:ext>
            </a:extLst>
          </p:cNvPr>
          <p:cNvSpPr txBox="1"/>
          <p:nvPr/>
        </p:nvSpPr>
        <p:spPr>
          <a:xfrm>
            <a:off x="3564239" y="4676796"/>
            <a:ext cx="4111783" cy="862608"/>
          </a:xfrm>
          <a:prstGeom prst="rect">
            <a:avLst/>
          </a:prstGeom>
          <a:noFill/>
        </p:spPr>
        <p:txBody>
          <a:bodyPr wrap="square" rtlCol="0">
            <a:spAutoFit/>
          </a:bodyPr>
          <a:lstStyle/>
          <a:p>
            <a:r>
              <a:rPr lang="en-US" sz="2400" b="1">
                <a:solidFill>
                  <a:srgbClr val="000000"/>
                </a:solidFill>
              </a:rPr>
              <a:t>Equation B</a:t>
            </a:r>
          </a:p>
          <a:p>
            <a:pPr algn="l"/>
            <a:r>
              <a:rPr lang="en-US" sz="2400" i="1">
                <a:solidFill>
                  <a:srgbClr val="000000"/>
                </a:solidFill>
              </a:rPr>
              <a:t>y</a:t>
            </a:r>
            <a:r>
              <a:rPr lang="en-US" sz="2400">
                <a:solidFill>
                  <a:srgbClr val="000000"/>
                </a:solidFill>
              </a:rPr>
              <a:t> = 2</a:t>
            </a:r>
            <a:r>
              <a:rPr lang="en-US" sz="2400" i="1" baseline="30000">
                <a:solidFill>
                  <a:srgbClr val="000000"/>
                </a:solidFill>
              </a:rPr>
              <a:t>x</a:t>
            </a:r>
            <a:r>
              <a:rPr lang="en-US" sz="2400">
                <a:solidFill>
                  <a:srgbClr val="000000"/>
                </a:solidFill>
              </a:rPr>
              <a:t> + 1</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E152A0A-262F-B79B-9C10-66BB1D8D5480}"/>
                  </a:ext>
                </a:extLst>
              </p:cNvPr>
              <p:cNvSpPr txBox="1"/>
              <p:nvPr/>
            </p:nvSpPr>
            <p:spPr>
              <a:xfrm>
                <a:off x="8345980" y="4676796"/>
                <a:ext cx="2592779" cy="983218"/>
              </a:xfrm>
              <a:prstGeom prst="rect">
                <a:avLst/>
              </a:prstGeom>
              <a:noFill/>
            </p:spPr>
            <p:txBody>
              <a:bodyPr wrap="square" rtlCol="0">
                <a:spAutoFit/>
              </a:bodyPr>
              <a:lstStyle/>
              <a:p>
                <a:r>
                  <a:rPr lang="en-US" sz="2400" b="1">
                    <a:solidFill>
                      <a:srgbClr val="000000"/>
                    </a:solidFill>
                  </a:rPr>
                  <a:t>Equation C</a:t>
                </a:r>
              </a:p>
              <a:p>
                <a:pPr algn="l"/>
                <a:r>
                  <a:rPr lang="en-US" sz="2400" b="0" i="1">
                    <a:solidFill>
                      <a:srgbClr val="000000"/>
                    </a:solidFill>
                  </a:rPr>
                  <a:t>y</a:t>
                </a:r>
                <a:r>
                  <a:rPr lang="en-US" sz="2400" b="0">
                    <a:solidFill>
                      <a:srgbClr val="000000"/>
                    </a:solidFill>
                  </a:rPr>
                  <a:t> = </a:t>
                </a:r>
                <a14:m>
                  <m:oMath xmlns:m="http://schemas.openxmlformats.org/officeDocument/2006/math">
                    <m:f>
                      <m:fPr>
                        <m:ctrlPr>
                          <a:rPr lang="en-US" sz="2400" b="0" i="1" smtClean="0">
                            <a:solidFill>
                              <a:srgbClr val="000000"/>
                            </a:solidFill>
                            <a:latin typeface="Cambria Math" panose="02040503050406030204" pitchFamily="18" charset="0"/>
                          </a:rPr>
                        </m:ctrlPr>
                      </m:fPr>
                      <m:num>
                        <m:r>
                          <a:rPr lang="en-US" sz="2400" b="0" i="1" smtClean="0">
                            <a:solidFill>
                              <a:srgbClr val="000000"/>
                            </a:solidFill>
                            <a:latin typeface="Cambria Math" panose="02040503050406030204" pitchFamily="18" charset="0"/>
                          </a:rPr>
                          <m:t>1</m:t>
                        </m:r>
                      </m:num>
                      <m:den>
                        <m:r>
                          <a:rPr lang="en-US" sz="2400" b="0" i="1" smtClean="0">
                            <a:solidFill>
                              <a:srgbClr val="000000"/>
                            </a:solidFill>
                            <a:latin typeface="Cambria Math" panose="02040503050406030204" pitchFamily="18" charset="0"/>
                          </a:rPr>
                          <m:t>4</m:t>
                        </m:r>
                      </m:den>
                    </m:f>
                  </m:oMath>
                </a14:m>
                <a:r>
                  <a:rPr lang="en-US" sz="2400">
                    <a:solidFill>
                      <a:srgbClr val="000000"/>
                    </a:solidFill>
                  </a:rPr>
                  <a:t>(</a:t>
                </a:r>
                <a:r>
                  <a:rPr lang="en-US" sz="2400" i="1">
                    <a:solidFill>
                      <a:srgbClr val="000000"/>
                    </a:solidFill>
                  </a:rPr>
                  <a:t>x</a:t>
                </a:r>
                <a:r>
                  <a:rPr lang="en-US" sz="2400">
                    <a:solidFill>
                      <a:srgbClr val="000000"/>
                    </a:solidFill>
                  </a:rPr>
                  <a:t> + 7) − 1</a:t>
                </a:r>
              </a:p>
            </p:txBody>
          </p:sp>
        </mc:Choice>
        <mc:Fallback xmlns="">
          <p:sp>
            <p:nvSpPr>
              <p:cNvPr id="9" name="TextBox 8">
                <a:extLst>
                  <a:ext uri="{FF2B5EF4-FFF2-40B4-BE49-F238E27FC236}">
                    <a16:creationId xmlns:a16="http://schemas.microsoft.com/office/drawing/2014/main" id="{7E152A0A-262F-B79B-9C10-66BB1D8D5480}"/>
                  </a:ext>
                </a:extLst>
              </p:cNvPr>
              <p:cNvSpPr txBox="1">
                <a:spLocks noRot="1" noChangeAspect="1" noMove="1" noResize="1" noEditPoints="1" noAdjustHandles="1" noChangeArrowheads="1" noChangeShapeType="1" noTextEdit="1"/>
              </p:cNvSpPr>
              <p:nvPr/>
            </p:nvSpPr>
            <p:spPr>
              <a:xfrm>
                <a:off x="8345980" y="4676796"/>
                <a:ext cx="2592779" cy="983218"/>
              </a:xfrm>
              <a:prstGeom prst="rect">
                <a:avLst/>
              </a:prstGeom>
              <a:blipFill>
                <a:blip r:embed="rId3"/>
                <a:stretch>
                  <a:fillRect l="-3529" t="-4969" b="-6211"/>
                </a:stretch>
              </a:blipFill>
            </p:spPr>
            <p:txBody>
              <a:bodyPr/>
              <a:lstStyle/>
              <a:p>
                <a:r>
                  <a:rPr lang="en-US">
                    <a:noFill/>
                  </a:rPr>
                  <a:t> </a:t>
                </a:r>
              </a:p>
            </p:txBody>
          </p:sp>
        </mc:Fallback>
      </mc:AlternateContent>
    </p:spTree>
    <p:extLst>
      <p:ext uri="{BB962C8B-B14F-4D97-AF65-F5344CB8AC3E}">
        <p14:creationId xmlns:p14="http://schemas.microsoft.com/office/powerpoint/2010/main" val="2582309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C7AD1-EC97-02B2-F2D7-A630CF9AD5A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917003-25E1-41FD-E9C9-D3CAE6877A6B}"/>
              </a:ext>
            </a:extLst>
          </p:cNvPr>
          <p:cNvSpPr>
            <a:spLocks noGrp="1"/>
          </p:cNvSpPr>
          <p:nvPr>
            <p:ph type="title"/>
          </p:nvPr>
        </p:nvSpPr>
        <p:spPr/>
        <p:txBody>
          <a:bodyPr/>
          <a:lstStyle/>
          <a:p>
            <a:pPr algn="l"/>
            <a:r>
              <a:rPr lang="en-US" b="1"/>
              <a:t>Well, Are Ya or Aren’t Ya? </a:t>
            </a:r>
            <a:r>
              <a:rPr lang="en-US" sz="2000" b="1">
                <a:solidFill>
                  <a:schemeClr val="bg1"/>
                </a:solidFill>
              </a:rPr>
              <a:t>(2 of 5)</a:t>
            </a:r>
          </a:p>
        </p:txBody>
      </p:sp>
      <p:sp>
        <p:nvSpPr>
          <p:cNvPr id="2" name="TextBox 1">
            <a:extLst>
              <a:ext uri="{FF2B5EF4-FFF2-40B4-BE49-F238E27FC236}">
                <a16:creationId xmlns:a16="http://schemas.microsoft.com/office/drawing/2014/main" id="{E794C8C8-0EC2-FE93-99D6-04B76B7A5648}"/>
              </a:ext>
            </a:extLst>
          </p:cNvPr>
          <p:cNvSpPr txBox="1"/>
          <p:nvPr/>
        </p:nvSpPr>
        <p:spPr>
          <a:xfrm>
            <a:off x="1334618" y="1936865"/>
            <a:ext cx="2033272" cy="400110"/>
          </a:xfrm>
          <a:prstGeom prst="rect">
            <a:avLst/>
          </a:prstGeom>
          <a:noFill/>
        </p:spPr>
        <p:txBody>
          <a:bodyPr wrap="square" rtlCol="0">
            <a:spAutoFit/>
          </a:bodyPr>
          <a:lstStyle/>
          <a:p>
            <a:pPr algn="ctr"/>
            <a:r>
              <a:rPr lang="en-US" sz="2000" b="1">
                <a:solidFill>
                  <a:srgbClr val="000000"/>
                </a:solidFill>
              </a:rPr>
              <a:t>Table A</a:t>
            </a:r>
          </a:p>
        </p:txBody>
      </p:sp>
      <p:graphicFrame>
        <p:nvGraphicFramePr>
          <p:cNvPr id="3" name="Table 2">
            <a:extLst>
              <a:ext uri="{FF2B5EF4-FFF2-40B4-BE49-F238E27FC236}">
                <a16:creationId xmlns:a16="http://schemas.microsoft.com/office/drawing/2014/main" id="{BF9E2E0A-4A67-5DE1-4CAF-7D711E4C1C28}"/>
              </a:ext>
            </a:extLst>
          </p:cNvPr>
          <p:cNvGraphicFramePr>
            <a:graphicFrameLocks noGrp="1"/>
          </p:cNvGraphicFramePr>
          <p:nvPr>
            <p:extLst>
              <p:ext uri="{D42A27DB-BD31-4B8C-83A1-F6EECF244321}">
                <p14:modId xmlns:p14="http://schemas.microsoft.com/office/powerpoint/2010/main" val="1529941987"/>
              </p:ext>
            </p:extLst>
          </p:nvPr>
        </p:nvGraphicFramePr>
        <p:xfrm>
          <a:off x="1334618" y="2331535"/>
          <a:ext cx="2033272" cy="1719944"/>
        </p:xfrm>
        <a:graphic>
          <a:graphicData uri="http://schemas.openxmlformats.org/drawingml/2006/table">
            <a:tbl>
              <a:tblPr firstRow="1" bandRow="1">
                <a:tableStyleId>{2D5ABB26-0587-4C30-8999-92F81FD0307C}</a:tableStyleId>
              </a:tblPr>
              <a:tblGrid>
                <a:gridCol w="1016636">
                  <a:extLst>
                    <a:ext uri="{9D8B030D-6E8A-4147-A177-3AD203B41FA5}">
                      <a16:colId xmlns:a16="http://schemas.microsoft.com/office/drawing/2014/main" val="1796223131"/>
                    </a:ext>
                  </a:extLst>
                </a:gridCol>
                <a:gridCol w="1016636">
                  <a:extLst>
                    <a:ext uri="{9D8B030D-6E8A-4147-A177-3AD203B41FA5}">
                      <a16:colId xmlns:a16="http://schemas.microsoft.com/office/drawing/2014/main" val="3282681700"/>
                    </a:ext>
                  </a:extLst>
                </a:gridCol>
              </a:tblGrid>
              <a:tr h="429986">
                <a:tc>
                  <a:txBody>
                    <a:bodyPr/>
                    <a:lstStyle/>
                    <a:p>
                      <a:pPr algn="ctr"/>
                      <a:r>
                        <a:rPr lang="en-US" i="1">
                          <a:solidFill>
                            <a:srgbClr val="000000"/>
                          </a:solidFill>
                        </a:rPr>
                        <a:t>x</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C2A6"/>
                    </a:solidFill>
                  </a:tcPr>
                </a:tc>
                <a:tc>
                  <a:txBody>
                    <a:bodyPr/>
                    <a:lstStyle/>
                    <a:p>
                      <a:pPr algn="ctr"/>
                      <a:r>
                        <a:rPr lang="en-US" i="1">
                          <a:solidFill>
                            <a:srgbClr val="000000"/>
                          </a:solidFill>
                        </a:rPr>
                        <a:t>y</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C2A6"/>
                    </a:solidFill>
                  </a:tcPr>
                </a:tc>
                <a:extLst>
                  <a:ext uri="{0D108BD9-81ED-4DB2-BD59-A6C34878D82A}">
                    <a16:rowId xmlns:a16="http://schemas.microsoft.com/office/drawing/2014/main" val="4187273701"/>
                  </a:ext>
                </a:extLst>
              </a:tr>
              <a:tr h="429986">
                <a:tc>
                  <a:txBody>
                    <a:bodyPr/>
                    <a:lstStyle/>
                    <a:p>
                      <a:pPr algn="ctr"/>
                      <a:r>
                        <a:rPr lang="en-US">
                          <a:solidFill>
                            <a:srgbClr val="000000"/>
                          </a:solidFill>
                        </a:rPr>
                        <a:t>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3</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2075516"/>
                  </a:ext>
                </a:extLst>
              </a:tr>
              <a:tr h="429986">
                <a:tc>
                  <a:txBody>
                    <a:bodyPr/>
                    <a:lstStyle/>
                    <a:p>
                      <a:pPr algn="ctr"/>
                      <a:r>
                        <a:rPr lang="en-US">
                          <a:solidFill>
                            <a:srgbClr val="000000"/>
                          </a:solidFill>
                        </a:rPr>
                        <a:t>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4</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584707"/>
                  </a:ext>
                </a:extLst>
              </a:tr>
              <a:tr h="429986">
                <a:tc>
                  <a:txBody>
                    <a:bodyPr/>
                    <a:lstStyle/>
                    <a:p>
                      <a:pPr algn="ctr"/>
                      <a:r>
                        <a:rPr lang="en-US">
                          <a:solidFill>
                            <a:srgbClr val="000000"/>
                          </a:solidFill>
                        </a:rPr>
                        <a:t>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1171273"/>
                  </a:ext>
                </a:extLst>
              </a:tr>
            </a:tbl>
          </a:graphicData>
        </a:graphic>
      </p:graphicFrame>
      <p:sp>
        <p:nvSpPr>
          <p:cNvPr id="5" name="TextBox 4">
            <a:extLst>
              <a:ext uri="{FF2B5EF4-FFF2-40B4-BE49-F238E27FC236}">
                <a16:creationId xmlns:a16="http://schemas.microsoft.com/office/drawing/2014/main" id="{910DE336-2CBF-14BF-15FA-651E3BEFFD72}"/>
              </a:ext>
            </a:extLst>
          </p:cNvPr>
          <p:cNvSpPr txBox="1"/>
          <p:nvPr/>
        </p:nvSpPr>
        <p:spPr>
          <a:xfrm>
            <a:off x="4892222" y="1936865"/>
            <a:ext cx="2033272" cy="400110"/>
          </a:xfrm>
          <a:prstGeom prst="rect">
            <a:avLst/>
          </a:prstGeom>
          <a:noFill/>
        </p:spPr>
        <p:txBody>
          <a:bodyPr wrap="square" rtlCol="0">
            <a:spAutoFit/>
          </a:bodyPr>
          <a:lstStyle/>
          <a:p>
            <a:pPr algn="ctr"/>
            <a:r>
              <a:rPr lang="en-US" sz="2000" b="1">
                <a:solidFill>
                  <a:srgbClr val="000000"/>
                </a:solidFill>
              </a:rPr>
              <a:t>Table B</a:t>
            </a:r>
          </a:p>
        </p:txBody>
      </p:sp>
      <p:graphicFrame>
        <p:nvGraphicFramePr>
          <p:cNvPr id="6" name="Table 5">
            <a:extLst>
              <a:ext uri="{FF2B5EF4-FFF2-40B4-BE49-F238E27FC236}">
                <a16:creationId xmlns:a16="http://schemas.microsoft.com/office/drawing/2014/main" id="{5FD4CA7F-CE9F-FD06-D5D7-86D51978D7E5}"/>
              </a:ext>
            </a:extLst>
          </p:cNvPr>
          <p:cNvGraphicFramePr>
            <a:graphicFrameLocks noGrp="1"/>
          </p:cNvGraphicFramePr>
          <p:nvPr>
            <p:extLst>
              <p:ext uri="{D42A27DB-BD31-4B8C-83A1-F6EECF244321}">
                <p14:modId xmlns:p14="http://schemas.microsoft.com/office/powerpoint/2010/main" val="1326723545"/>
              </p:ext>
            </p:extLst>
          </p:nvPr>
        </p:nvGraphicFramePr>
        <p:xfrm>
          <a:off x="4892222" y="2331535"/>
          <a:ext cx="2033272" cy="1719944"/>
        </p:xfrm>
        <a:graphic>
          <a:graphicData uri="http://schemas.openxmlformats.org/drawingml/2006/table">
            <a:tbl>
              <a:tblPr firstRow="1" bandRow="1">
                <a:tableStyleId>{2D5ABB26-0587-4C30-8999-92F81FD0307C}</a:tableStyleId>
              </a:tblPr>
              <a:tblGrid>
                <a:gridCol w="1016636">
                  <a:extLst>
                    <a:ext uri="{9D8B030D-6E8A-4147-A177-3AD203B41FA5}">
                      <a16:colId xmlns:a16="http://schemas.microsoft.com/office/drawing/2014/main" val="1796223131"/>
                    </a:ext>
                  </a:extLst>
                </a:gridCol>
                <a:gridCol w="1016636">
                  <a:extLst>
                    <a:ext uri="{9D8B030D-6E8A-4147-A177-3AD203B41FA5}">
                      <a16:colId xmlns:a16="http://schemas.microsoft.com/office/drawing/2014/main" val="3282681700"/>
                    </a:ext>
                  </a:extLst>
                </a:gridCol>
              </a:tblGrid>
              <a:tr h="429986">
                <a:tc>
                  <a:txBody>
                    <a:bodyPr/>
                    <a:lstStyle/>
                    <a:p>
                      <a:pPr algn="ctr"/>
                      <a:r>
                        <a:rPr lang="en-US" i="1">
                          <a:solidFill>
                            <a:srgbClr val="000000"/>
                          </a:solidFill>
                        </a:rPr>
                        <a:t>x</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C2A6"/>
                    </a:solidFill>
                  </a:tcPr>
                </a:tc>
                <a:tc>
                  <a:txBody>
                    <a:bodyPr/>
                    <a:lstStyle/>
                    <a:p>
                      <a:pPr algn="ctr"/>
                      <a:r>
                        <a:rPr lang="en-US" i="1">
                          <a:solidFill>
                            <a:srgbClr val="000000"/>
                          </a:solidFill>
                        </a:rPr>
                        <a:t>y</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C2A6"/>
                    </a:solidFill>
                  </a:tcPr>
                </a:tc>
                <a:extLst>
                  <a:ext uri="{0D108BD9-81ED-4DB2-BD59-A6C34878D82A}">
                    <a16:rowId xmlns:a16="http://schemas.microsoft.com/office/drawing/2014/main" val="4187273701"/>
                  </a:ext>
                </a:extLst>
              </a:tr>
              <a:tr h="429986">
                <a:tc>
                  <a:txBody>
                    <a:bodyPr/>
                    <a:lstStyle/>
                    <a:p>
                      <a:pPr algn="ctr"/>
                      <a:r>
                        <a:rPr lang="en-US">
                          <a:solidFill>
                            <a:srgbClr val="000000"/>
                          </a:solidFill>
                        </a:rPr>
                        <a:t>3</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2075516"/>
                  </a:ext>
                </a:extLst>
              </a:tr>
              <a:tr h="429986">
                <a:tc>
                  <a:txBody>
                    <a:bodyPr/>
                    <a:lstStyle/>
                    <a:p>
                      <a:pPr algn="ctr"/>
                      <a:r>
                        <a:rPr lang="en-US">
                          <a:solidFill>
                            <a:srgbClr val="000000"/>
                          </a:solidFill>
                        </a:rPr>
                        <a:t>4</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584707"/>
                  </a:ext>
                </a:extLst>
              </a:tr>
              <a:tr h="429986">
                <a:tc>
                  <a:txBody>
                    <a:bodyPr/>
                    <a:lstStyle/>
                    <a:p>
                      <a:pPr algn="ctr"/>
                      <a:r>
                        <a:rPr lang="en-US">
                          <a:solidFill>
                            <a:srgbClr val="000000"/>
                          </a:solidFill>
                        </a:rPr>
                        <a:t>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1171273"/>
                  </a:ext>
                </a:extLst>
              </a:tr>
            </a:tbl>
          </a:graphicData>
        </a:graphic>
      </p:graphicFrame>
      <p:sp>
        <p:nvSpPr>
          <p:cNvPr id="7" name="TextBox 6">
            <a:extLst>
              <a:ext uri="{FF2B5EF4-FFF2-40B4-BE49-F238E27FC236}">
                <a16:creationId xmlns:a16="http://schemas.microsoft.com/office/drawing/2014/main" id="{8A225A2A-BC91-2405-5F3D-0BFBA39B0DBD}"/>
              </a:ext>
            </a:extLst>
          </p:cNvPr>
          <p:cNvSpPr txBox="1"/>
          <p:nvPr/>
        </p:nvSpPr>
        <p:spPr>
          <a:xfrm>
            <a:off x="8449826" y="1931425"/>
            <a:ext cx="2033272" cy="400110"/>
          </a:xfrm>
          <a:prstGeom prst="rect">
            <a:avLst/>
          </a:prstGeom>
          <a:noFill/>
        </p:spPr>
        <p:txBody>
          <a:bodyPr wrap="square" rtlCol="0">
            <a:spAutoFit/>
          </a:bodyPr>
          <a:lstStyle/>
          <a:p>
            <a:pPr algn="ctr"/>
            <a:r>
              <a:rPr lang="en-US" sz="2000" b="1">
                <a:solidFill>
                  <a:srgbClr val="000000"/>
                </a:solidFill>
              </a:rPr>
              <a:t>Table C</a:t>
            </a:r>
          </a:p>
        </p:txBody>
      </p:sp>
      <p:graphicFrame>
        <p:nvGraphicFramePr>
          <p:cNvPr id="9" name="Table 8">
            <a:extLst>
              <a:ext uri="{FF2B5EF4-FFF2-40B4-BE49-F238E27FC236}">
                <a16:creationId xmlns:a16="http://schemas.microsoft.com/office/drawing/2014/main" id="{9968D446-2F62-3655-41F0-3A8E2F37F9D5}"/>
              </a:ext>
            </a:extLst>
          </p:cNvPr>
          <p:cNvGraphicFramePr>
            <a:graphicFrameLocks noGrp="1"/>
          </p:cNvGraphicFramePr>
          <p:nvPr>
            <p:extLst>
              <p:ext uri="{D42A27DB-BD31-4B8C-83A1-F6EECF244321}">
                <p14:modId xmlns:p14="http://schemas.microsoft.com/office/powerpoint/2010/main" val="460499064"/>
              </p:ext>
            </p:extLst>
          </p:nvPr>
        </p:nvGraphicFramePr>
        <p:xfrm>
          <a:off x="8449826" y="2331535"/>
          <a:ext cx="2033272" cy="1719944"/>
        </p:xfrm>
        <a:graphic>
          <a:graphicData uri="http://schemas.openxmlformats.org/drawingml/2006/table">
            <a:tbl>
              <a:tblPr firstRow="1" bandRow="1">
                <a:tableStyleId>{2D5ABB26-0587-4C30-8999-92F81FD0307C}</a:tableStyleId>
              </a:tblPr>
              <a:tblGrid>
                <a:gridCol w="1016636">
                  <a:extLst>
                    <a:ext uri="{9D8B030D-6E8A-4147-A177-3AD203B41FA5}">
                      <a16:colId xmlns:a16="http://schemas.microsoft.com/office/drawing/2014/main" val="1796223131"/>
                    </a:ext>
                  </a:extLst>
                </a:gridCol>
                <a:gridCol w="1016636">
                  <a:extLst>
                    <a:ext uri="{9D8B030D-6E8A-4147-A177-3AD203B41FA5}">
                      <a16:colId xmlns:a16="http://schemas.microsoft.com/office/drawing/2014/main" val="3282681700"/>
                    </a:ext>
                  </a:extLst>
                </a:gridCol>
              </a:tblGrid>
              <a:tr h="429986">
                <a:tc>
                  <a:txBody>
                    <a:bodyPr/>
                    <a:lstStyle/>
                    <a:p>
                      <a:pPr algn="ctr"/>
                      <a:r>
                        <a:rPr lang="en-US" i="1">
                          <a:solidFill>
                            <a:srgbClr val="000000"/>
                          </a:solidFill>
                        </a:rPr>
                        <a:t>x</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C2A6"/>
                    </a:solidFill>
                  </a:tcPr>
                </a:tc>
                <a:tc>
                  <a:txBody>
                    <a:bodyPr/>
                    <a:lstStyle/>
                    <a:p>
                      <a:pPr algn="ctr"/>
                      <a:r>
                        <a:rPr lang="en-US" i="1">
                          <a:solidFill>
                            <a:srgbClr val="000000"/>
                          </a:solidFill>
                        </a:rPr>
                        <a:t>y</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9C2A6"/>
                    </a:solidFill>
                  </a:tcPr>
                </a:tc>
                <a:extLst>
                  <a:ext uri="{0D108BD9-81ED-4DB2-BD59-A6C34878D82A}">
                    <a16:rowId xmlns:a16="http://schemas.microsoft.com/office/drawing/2014/main" val="4187273701"/>
                  </a:ext>
                </a:extLst>
              </a:tr>
              <a:tr h="429986">
                <a:tc>
                  <a:txBody>
                    <a:bodyPr/>
                    <a:lstStyle/>
                    <a:p>
                      <a:pPr algn="ctr"/>
                      <a:r>
                        <a:rPr lang="en-US">
                          <a:solidFill>
                            <a:srgbClr val="000000"/>
                          </a:solidFill>
                        </a:rPr>
                        <a:t>−9</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45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2075516"/>
                  </a:ext>
                </a:extLst>
              </a:tr>
              <a:tr h="429986">
                <a:tc>
                  <a:txBody>
                    <a:bodyPr/>
                    <a:lstStyle/>
                    <a:p>
                      <a:pPr algn="ctr"/>
                      <a:r>
                        <a:rPr lang="en-US">
                          <a:solidFill>
                            <a:srgbClr val="000000"/>
                          </a:solidFill>
                        </a:rPr>
                        <a:t>−8</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30</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584707"/>
                  </a:ext>
                </a:extLst>
              </a:tr>
              <a:tr h="429986">
                <a:tc>
                  <a:txBody>
                    <a:bodyPr/>
                    <a:lstStyle/>
                    <a:p>
                      <a:pPr algn="ctr"/>
                      <a:r>
                        <a:rPr lang="en-US">
                          <a:solidFill>
                            <a:srgbClr val="000000"/>
                          </a:solidFill>
                        </a:rPr>
                        <a:t>−7</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15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1171273"/>
                  </a:ext>
                </a:extLst>
              </a:tr>
            </a:tbl>
          </a:graphicData>
        </a:graphic>
      </p:graphicFrame>
    </p:spTree>
    <p:extLst>
      <p:ext uri="{BB962C8B-B14F-4D97-AF65-F5344CB8AC3E}">
        <p14:creationId xmlns:p14="http://schemas.microsoft.com/office/powerpoint/2010/main" val="937766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3EE70-1878-AE8A-7CAF-73932D92CF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C5D376C-74E3-DC49-3605-E600C3A5CB02}"/>
              </a:ext>
            </a:extLst>
          </p:cNvPr>
          <p:cNvSpPr>
            <a:spLocks noGrp="1"/>
          </p:cNvSpPr>
          <p:nvPr>
            <p:ph type="title"/>
          </p:nvPr>
        </p:nvSpPr>
        <p:spPr/>
        <p:txBody>
          <a:bodyPr/>
          <a:lstStyle/>
          <a:p>
            <a:pPr algn="l"/>
            <a:r>
              <a:rPr lang="en-US" b="1"/>
              <a:t>Well, Are Ya or Aren’t Ya? </a:t>
            </a:r>
            <a:r>
              <a:rPr lang="en-US" sz="2000" b="1">
                <a:solidFill>
                  <a:schemeClr val="bg1"/>
                </a:solidFill>
              </a:rPr>
              <a:t>(3 of 5)</a:t>
            </a:r>
          </a:p>
        </p:txBody>
      </p:sp>
      <p:sp>
        <p:nvSpPr>
          <p:cNvPr id="3" name="TextBox 2">
            <a:extLst>
              <a:ext uri="{FF2B5EF4-FFF2-40B4-BE49-F238E27FC236}">
                <a16:creationId xmlns:a16="http://schemas.microsoft.com/office/drawing/2014/main" id="{5F318A11-241C-E290-5B37-FB2E325C7D13}"/>
              </a:ext>
            </a:extLst>
          </p:cNvPr>
          <p:cNvSpPr txBox="1"/>
          <p:nvPr/>
        </p:nvSpPr>
        <p:spPr>
          <a:xfrm>
            <a:off x="1834115" y="1594022"/>
            <a:ext cx="1496691" cy="461665"/>
          </a:xfrm>
          <a:prstGeom prst="rect">
            <a:avLst/>
          </a:prstGeom>
          <a:noFill/>
        </p:spPr>
        <p:txBody>
          <a:bodyPr wrap="square" rtlCol="0">
            <a:spAutoFit/>
          </a:bodyPr>
          <a:lstStyle/>
          <a:p>
            <a:r>
              <a:rPr lang="en-US" sz="2400" b="1">
                <a:solidFill>
                  <a:srgbClr val="000000"/>
                </a:solidFill>
              </a:rPr>
              <a:t>Graph A</a:t>
            </a:r>
          </a:p>
        </p:txBody>
      </p:sp>
      <p:pic>
        <p:nvPicPr>
          <p:cNvPr id="7" name="Picture 6" descr="A graph of a curve on the coordinate plane. The curve rises from left to right with increasing steepness, from quadrant 2 to quadrant 1.">
            <a:extLst>
              <a:ext uri="{FF2B5EF4-FFF2-40B4-BE49-F238E27FC236}">
                <a16:creationId xmlns:a16="http://schemas.microsoft.com/office/drawing/2014/main" id="{F82D09B8-08B4-3401-3E09-8F08A0139002}"/>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333374" y="2480153"/>
            <a:ext cx="2629267" cy="2675662"/>
          </a:xfrm>
          <a:prstGeom prst="rect">
            <a:avLst/>
          </a:prstGeom>
        </p:spPr>
      </p:pic>
      <p:sp>
        <p:nvSpPr>
          <p:cNvPr id="5" name="TextBox 4">
            <a:extLst>
              <a:ext uri="{FF2B5EF4-FFF2-40B4-BE49-F238E27FC236}">
                <a16:creationId xmlns:a16="http://schemas.microsoft.com/office/drawing/2014/main" id="{A34989FB-D7A9-8AD4-F295-CFBEE6FB8849}"/>
              </a:ext>
            </a:extLst>
          </p:cNvPr>
          <p:cNvSpPr txBox="1"/>
          <p:nvPr/>
        </p:nvSpPr>
        <p:spPr>
          <a:xfrm>
            <a:off x="4959974" y="1594021"/>
            <a:ext cx="1496692" cy="461665"/>
          </a:xfrm>
          <a:prstGeom prst="rect">
            <a:avLst/>
          </a:prstGeom>
          <a:noFill/>
        </p:spPr>
        <p:txBody>
          <a:bodyPr wrap="square" rtlCol="0">
            <a:spAutoFit/>
          </a:bodyPr>
          <a:lstStyle/>
          <a:p>
            <a:r>
              <a:rPr lang="en-US" sz="2400" b="1">
                <a:solidFill>
                  <a:srgbClr val="000000"/>
                </a:solidFill>
              </a:rPr>
              <a:t>Graph B</a:t>
            </a:r>
          </a:p>
        </p:txBody>
      </p:sp>
      <p:pic>
        <p:nvPicPr>
          <p:cNvPr id="10" name="Picture 9" descr="A graph of a line on the coordinate plane. The line falls from left to right through the positive y axis and positive x axis.">
            <a:extLst>
              <a:ext uri="{FF2B5EF4-FFF2-40B4-BE49-F238E27FC236}">
                <a16:creationId xmlns:a16="http://schemas.microsoft.com/office/drawing/2014/main" id="{E09763CC-0742-EA24-5142-9B9C7D7D1A96}"/>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4488950" y="2480153"/>
            <a:ext cx="2438740" cy="2728056"/>
          </a:xfrm>
          <a:prstGeom prst="rect">
            <a:avLst/>
          </a:prstGeom>
        </p:spPr>
      </p:pic>
      <p:sp>
        <p:nvSpPr>
          <p:cNvPr id="6" name="TextBox 5">
            <a:extLst>
              <a:ext uri="{FF2B5EF4-FFF2-40B4-BE49-F238E27FC236}">
                <a16:creationId xmlns:a16="http://schemas.microsoft.com/office/drawing/2014/main" id="{AA0AE6C9-CDCE-45CE-6539-F212A4FE7E9D}"/>
              </a:ext>
            </a:extLst>
          </p:cNvPr>
          <p:cNvSpPr txBox="1"/>
          <p:nvPr/>
        </p:nvSpPr>
        <p:spPr>
          <a:xfrm>
            <a:off x="8580355" y="1594021"/>
            <a:ext cx="1269149" cy="461665"/>
          </a:xfrm>
          <a:prstGeom prst="rect">
            <a:avLst/>
          </a:prstGeom>
          <a:noFill/>
        </p:spPr>
        <p:txBody>
          <a:bodyPr wrap="square" rtlCol="0">
            <a:spAutoFit/>
          </a:bodyPr>
          <a:lstStyle/>
          <a:p>
            <a:r>
              <a:rPr lang="en-US" sz="2400" b="1">
                <a:solidFill>
                  <a:srgbClr val="000000"/>
                </a:solidFill>
              </a:rPr>
              <a:t>Graph C</a:t>
            </a:r>
          </a:p>
        </p:txBody>
      </p:sp>
      <p:pic>
        <p:nvPicPr>
          <p:cNvPr id="12" name="Picture 11" descr="A graph of a line on the coordinate plane. The line extends vertically through the negative x-axis.">
            <a:extLst>
              <a:ext uri="{FF2B5EF4-FFF2-40B4-BE49-F238E27FC236}">
                <a16:creationId xmlns:a16="http://schemas.microsoft.com/office/drawing/2014/main" id="{A79362F7-3738-C5AC-314C-2CC21EF6C8D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014613" y="2480153"/>
            <a:ext cx="2400635" cy="2723293"/>
          </a:xfrm>
          <a:prstGeom prst="rect">
            <a:avLst/>
          </a:prstGeom>
        </p:spPr>
      </p:pic>
    </p:spTree>
    <p:extLst>
      <p:ext uri="{BB962C8B-B14F-4D97-AF65-F5344CB8AC3E}">
        <p14:creationId xmlns:p14="http://schemas.microsoft.com/office/powerpoint/2010/main" val="3385325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6CB40-0D79-1E7B-1F34-046547D791D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74CED05-26A1-A188-5FCB-778697428A2A}"/>
              </a:ext>
            </a:extLst>
          </p:cNvPr>
          <p:cNvSpPr>
            <a:spLocks noGrp="1"/>
          </p:cNvSpPr>
          <p:nvPr>
            <p:ph type="title"/>
          </p:nvPr>
        </p:nvSpPr>
        <p:spPr/>
        <p:txBody>
          <a:bodyPr/>
          <a:lstStyle/>
          <a:p>
            <a:pPr algn="l"/>
            <a:r>
              <a:rPr lang="en-US" b="1"/>
              <a:t>Well, Are Ya or Aren’t Ya? </a:t>
            </a:r>
            <a:r>
              <a:rPr lang="en-US" sz="2000" b="1">
                <a:solidFill>
                  <a:schemeClr val="bg1"/>
                </a:solidFill>
              </a:rPr>
              <a:t>(4 of 5)</a:t>
            </a:r>
          </a:p>
        </p:txBody>
      </p:sp>
      <p:sp>
        <p:nvSpPr>
          <p:cNvPr id="9" name="Text Placeholder 2">
            <a:extLst>
              <a:ext uri="{FF2B5EF4-FFF2-40B4-BE49-F238E27FC236}">
                <a16:creationId xmlns:a16="http://schemas.microsoft.com/office/drawing/2014/main" id="{0D2C2BEF-8BA9-441B-2A86-57E11C1A06D3}"/>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a:solidFill>
                  <a:srgbClr val="000000"/>
                </a:solidFill>
              </a:rPr>
              <a:t>Let’s summarize our learning from the Getting Started!</a:t>
            </a:r>
          </a:p>
          <a:p>
            <a:pPr marL="0" indent="0" algn="l">
              <a:buNone/>
            </a:pPr>
            <a:endParaRPr lang="en-US" sz="2800">
              <a:solidFill>
                <a:srgbClr val="000000"/>
              </a:solidFill>
            </a:endParaRPr>
          </a:p>
          <a:p>
            <a:pPr marL="0" indent="0" algn="l">
              <a:buNone/>
            </a:pPr>
            <a:endParaRPr lang="en-US" sz="2800">
              <a:solidFill>
                <a:srgbClr val="000000"/>
              </a:solidFill>
            </a:endParaRPr>
          </a:p>
        </p:txBody>
      </p:sp>
      <p:pic>
        <p:nvPicPr>
          <p:cNvPr id="2" name="Picture 1">
            <a:extLst>
              <a:ext uri="{FF2B5EF4-FFF2-40B4-BE49-F238E27FC236}">
                <a16:creationId xmlns:a16="http://schemas.microsoft.com/office/drawing/2014/main" id="{9CA25821-CDE2-0583-B9E2-DECD92088E4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1784172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1E14D-F70B-3F9E-8B61-E850B537309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258205B-D785-0C93-1216-EED1D8CAA6D8}"/>
              </a:ext>
            </a:extLst>
          </p:cNvPr>
          <p:cNvSpPr>
            <a:spLocks noGrp="1"/>
          </p:cNvSpPr>
          <p:nvPr>
            <p:ph type="title"/>
          </p:nvPr>
        </p:nvSpPr>
        <p:spPr/>
        <p:txBody>
          <a:bodyPr/>
          <a:lstStyle/>
          <a:p>
            <a:pPr algn="l"/>
            <a:r>
              <a:rPr lang="en-US" b="1"/>
              <a:t>Well, Are Ya or Aren’t Ya? </a:t>
            </a:r>
            <a:r>
              <a:rPr lang="en-US" sz="2000" b="1">
                <a:solidFill>
                  <a:schemeClr val="bg1"/>
                </a:solidFill>
              </a:rPr>
              <a:t>(5 of 5)</a:t>
            </a:r>
          </a:p>
        </p:txBody>
      </p:sp>
      <p:sp>
        <p:nvSpPr>
          <p:cNvPr id="9" name="Text Placeholder 2">
            <a:extLst>
              <a:ext uri="{FF2B5EF4-FFF2-40B4-BE49-F238E27FC236}">
                <a16:creationId xmlns:a16="http://schemas.microsoft.com/office/drawing/2014/main" id="{D9650D63-4967-104F-6577-2F190C5A1A29}"/>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a:solidFill>
                <a:schemeClr val="bg2">
                  <a:lumMod val="25000"/>
                </a:schemeClr>
              </a:solidFill>
            </a:endParaRPr>
          </a:p>
        </p:txBody>
      </p:sp>
    </p:spTree>
    <p:extLst>
      <p:ext uri="{BB962C8B-B14F-4D97-AF65-F5344CB8AC3E}">
        <p14:creationId xmlns:p14="http://schemas.microsoft.com/office/powerpoint/2010/main" val="3215969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6FF4978-7BF0-DEFF-5C24-F7A17EDF55CE}"/>
              </a:ext>
            </a:extLst>
          </p:cNvPr>
          <p:cNvSpPr>
            <a:spLocks noGrp="1"/>
          </p:cNvSpPr>
          <p:nvPr>
            <p:ph type="title" idx="4294967295"/>
          </p:nvPr>
        </p:nvSpPr>
        <p:spPr>
          <a:xfrm>
            <a:off x="838200" y="1978429"/>
            <a:ext cx="10514013" cy="307571"/>
          </a:xfrm>
          <a:prstGeom prst="rect">
            <a:avLst/>
          </a:prstGeom>
        </p:spPr>
        <p:txBody>
          <a:bodyPr/>
          <a:lstStyle/>
          <a:p>
            <a:r>
              <a:rPr lang="en-US" sz="2000">
                <a:solidFill>
                  <a:schemeClr val="bg1"/>
                </a:solidFill>
              </a:rPr>
              <a:t>Activity 6.1</a:t>
            </a:r>
          </a:p>
        </p:txBody>
      </p:sp>
      <p:sp>
        <p:nvSpPr>
          <p:cNvPr id="3" name="Text Placeholder 2" descr="25 to 30 minutes">
            <a:extLst>
              <a:ext uri="{FF2B5EF4-FFF2-40B4-BE49-F238E27FC236}">
                <a16:creationId xmlns:a16="http://schemas.microsoft.com/office/drawing/2014/main" id="{BA063AF9-8F8B-5444-6AEC-5E8501EC7698}"/>
              </a:ext>
            </a:extLst>
          </p:cNvPr>
          <p:cNvSpPr>
            <a:spLocks noGrp="1"/>
          </p:cNvSpPr>
          <p:nvPr>
            <p:ph type="body" sz="quarter" idx="12"/>
          </p:nvPr>
        </p:nvSpPr>
        <p:spPr>
          <a:xfrm>
            <a:off x="10614990" y="5781277"/>
            <a:ext cx="863947" cy="795338"/>
          </a:xfrm>
        </p:spPr>
        <p:txBody>
          <a:bodyPr/>
          <a:lstStyle/>
          <a:p>
            <a:r>
              <a:rPr lang="en-US" b="1"/>
              <a:t>25–30</a:t>
            </a:r>
          </a:p>
        </p:txBody>
      </p:sp>
      <p:sp>
        <p:nvSpPr>
          <p:cNvPr id="2" name="Text Placeholder 1">
            <a:extLst>
              <a:ext uri="{FF2B5EF4-FFF2-40B4-BE49-F238E27FC236}">
                <a16:creationId xmlns:a16="http://schemas.microsoft.com/office/drawing/2014/main" id="{3D1465A3-2914-1151-1A78-CFD3B2A423BE}"/>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a:t>6.1</a:t>
            </a:r>
          </a:p>
        </p:txBody>
      </p:sp>
    </p:spTree>
    <p:extLst>
      <p:ext uri="{BB962C8B-B14F-4D97-AF65-F5344CB8AC3E}">
        <p14:creationId xmlns:p14="http://schemas.microsoft.com/office/powerpoint/2010/main" val="4250459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FB43-679B-E397-30E3-50A521E99F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9FA50D-5DB0-765E-2A80-183E705A899F}"/>
              </a:ext>
            </a:extLst>
          </p:cNvPr>
          <p:cNvSpPr>
            <a:spLocks noGrp="1"/>
          </p:cNvSpPr>
          <p:nvPr>
            <p:ph type="title"/>
          </p:nvPr>
        </p:nvSpPr>
        <p:spPr/>
        <p:txBody>
          <a:bodyPr/>
          <a:lstStyle/>
          <a:p>
            <a:pPr algn="l"/>
            <a:r>
              <a:rPr lang="en-US" b="1"/>
              <a:t>Interpreting Linear Functions </a:t>
            </a:r>
            <a:r>
              <a:rPr lang="en-US" sz="2000" b="1">
                <a:solidFill>
                  <a:schemeClr val="bg1"/>
                </a:solidFill>
              </a:rPr>
              <a:t>(1 of 10)</a:t>
            </a:r>
          </a:p>
        </p:txBody>
      </p:sp>
      <p:sp>
        <p:nvSpPr>
          <p:cNvPr id="9" name="Text Placeholder 2">
            <a:extLst>
              <a:ext uri="{FF2B5EF4-FFF2-40B4-BE49-F238E27FC236}">
                <a16:creationId xmlns:a16="http://schemas.microsoft.com/office/drawing/2014/main" id="{AEE2E1EC-37FF-202A-334C-24D7800D23D2}"/>
              </a:ext>
            </a:extLst>
          </p:cNvPr>
          <p:cNvSpPr txBox="1">
            <a:spLocks/>
          </p:cNvSpPr>
          <p:nvPr/>
        </p:nvSpPr>
        <p:spPr>
          <a:xfrm>
            <a:off x="777240" y="1587730"/>
            <a:ext cx="7965927" cy="385178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a:solidFill>
                  <a:srgbClr val="000000"/>
                </a:solidFill>
              </a:rPr>
              <a:t>Each table of values in the previous activity had consecutive input values. Tables in this format allow you to use differences to determine whether the representation is linear. Often, input values are in intervals other than 1, and sometimes the input values are in random order. To determine whether these tables represent linear functions, you need to make sure the slope, or average rate of change, is constant between all given points.</a:t>
            </a:r>
          </a:p>
        </p:txBody>
      </p:sp>
      <p:sp>
        <p:nvSpPr>
          <p:cNvPr id="2" name="Speech Bubble: Rectangle with Corners Rounded 1">
            <a:extLst>
              <a:ext uri="{FF2B5EF4-FFF2-40B4-BE49-F238E27FC236}">
                <a16:creationId xmlns:a16="http://schemas.microsoft.com/office/drawing/2014/main" id="{E20BC01F-A47B-6CEB-0CE5-582D0C0E2867}"/>
              </a:ext>
            </a:extLst>
          </p:cNvPr>
          <p:cNvSpPr/>
          <p:nvPr/>
        </p:nvSpPr>
        <p:spPr>
          <a:xfrm flipH="1">
            <a:off x="9199709" y="1811366"/>
            <a:ext cx="2213463" cy="1455536"/>
          </a:xfrm>
          <a:prstGeom prst="wedgeRoundRectCallout">
            <a:avLst>
              <a:gd name="adj1" fmla="val 37272"/>
              <a:gd name="adj2" fmla="val -64815"/>
              <a:gd name="adj3" fmla="val 16667"/>
            </a:avLst>
          </a:prstGeom>
          <a:solidFill>
            <a:schemeClr val="bg1"/>
          </a:solidFill>
          <a:ln>
            <a:solidFill>
              <a:srgbClr val="267D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a:solidFill>
                  <a:srgbClr val="267D42"/>
                </a:solidFill>
              </a:rPr>
              <a:t>Ask Yourself…</a:t>
            </a:r>
          </a:p>
          <a:p>
            <a:r>
              <a:rPr lang="en-US" sz="1800">
                <a:solidFill>
                  <a:srgbClr val="000000"/>
                </a:solidFill>
              </a:rPr>
              <a:t>Is there a pattern in the input values?</a:t>
            </a:r>
            <a:endParaRPr lang="en-US" sz="1800" b="1">
              <a:solidFill>
                <a:srgbClr val="000000"/>
              </a:solidFill>
            </a:endParaRPr>
          </a:p>
        </p:txBody>
      </p:sp>
    </p:spTree>
    <p:extLst>
      <p:ext uri="{BB962C8B-B14F-4D97-AF65-F5344CB8AC3E}">
        <p14:creationId xmlns:p14="http://schemas.microsoft.com/office/powerpoint/2010/main" val="4113801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9C6C9-3147-A4B0-52D6-51D6CE2744C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01DCD52-9B7E-7F69-73E6-C5261C510AE6}"/>
              </a:ext>
            </a:extLst>
          </p:cNvPr>
          <p:cNvSpPr>
            <a:spLocks noGrp="1"/>
          </p:cNvSpPr>
          <p:nvPr>
            <p:ph type="title"/>
          </p:nvPr>
        </p:nvSpPr>
        <p:spPr/>
        <p:txBody>
          <a:bodyPr/>
          <a:lstStyle/>
          <a:p>
            <a:pPr algn="l"/>
            <a:r>
              <a:rPr lang="en-US" b="1"/>
              <a:t>Interpreting Linear Functions </a:t>
            </a:r>
            <a:r>
              <a:rPr lang="en-US" sz="2000" b="1">
                <a:solidFill>
                  <a:schemeClr val="bg1"/>
                </a:solidFill>
              </a:rPr>
              <a:t>(2 of 10)</a:t>
            </a:r>
          </a:p>
        </p:txBody>
      </p:sp>
      <p:sp>
        <p:nvSpPr>
          <p:cNvPr id="9" name="Text Placeholder 2">
            <a:extLst>
              <a:ext uri="{FF2B5EF4-FFF2-40B4-BE49-F238E27FC236}">
                <a16:creationId xmlns:a16="http://schemas.microsoft.com/office/drawing/2014/main" id="{D8583C6E-1970-5BA2-1908-F266186142B4}"/>
              </a:ext>
            </a:extLst>
          </p:cNvPr>
          <p:cNvSpPr txBox="1">
            <a:spLocks/>
          </p:cNvSpPr>
          <p:nvPr/>
        </p:nvSpPr>
        <p:spPr>
          <a:xfrm>
            <a:off x="777240" y="1604356"/>
            <a:ext cx="8067996" cy="91398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a:solidFill>
                  <a:srgbClr val="000000"/>
                </a:solidFill>
              </a:rPr>
              <a:t>Determine whether each table represents a linear function. If so, write the function.</a:t>
            </a:r>
          </a:p>
        </p:txBody>
      </p:sp>
      <p:sp>
        <p:nvSpPr>
          <p:cNvPr id="13" name="TextBox 12">
            <a:extLst>
              <a:ext uri="{FF2B5EF4-FFF2-40B4-BE49-F238E27FC236}">
                <a16:creationId xmlns:a16="http://schemas.microsoft.com/office/drawing/2014/main" id="{42F2BE03-1F56-6D3E-6C71-56F6F22A4121}"/>
              </a:ext>
            </a:extLst>
          </p:cNvPr>
          <p:cNvSpPr txBox="1"/>
          <p:nvPr/>
        </p:nvSpPr>
        <p:spPr>
          <a:xfrm>
            <a:off x="777239" y="2714302"/>
            <a:ext cx="1309253" cy="523220"/>
          </a:xfrm>
          <a:prstGeom prst="rect">
            <a:avLst/>
          </a:prstGeom>
          <a:noFill/>
        </p:spPr>
        <p:txBody>
          <a:bodyPr wrap="square" rtlCol="0">
            <a:spAutoFit/>
          </a:bodyPr>
          <a:lstStyle/>
          <a:p>
            <a:pPr marL="515938"/>
            <a:r>
              <a:rPr lang="en-US" sz="2800">
                <a:solidFill>
                  <a:srgbClr val="000000"/>
                </a:solidFill>
              </a:rPr>
              <a:t>a.</a:t>
            </a:r>
          </a:p>
        </p:txBody>
      </p:sp>
      <p:graphicFrame>
        <p:nvGraphicFramePr>
          <p:cNvPr id="11" name="Table 10">
            <a:extLst>
              <a:ext uri="{FF2B5EF4-FFF2-40B4-BE49-F238E27FC236}">
                <a16:creationId xmlns:a16="http://schemas.microsoft.com/office/drawing/2014/main" id="{AE81139D-7A55-360A-082F-F8EBBE91440D}"/>
              </a:ext>
            </a:extLst>
          </p:cNvPr>
          <p:cNvGraphicFramePr>
            <a:graphicFrameLocks noGrp="1"/>
          </p:cNvGraphicFramePr>
          <p:nvPr>
            <p:extLst>
              <p:ext uri="{D42A27DB-BD31-4B8C-83A1-F6EECF244321}">
                <p14:modId xmlns:p14="http://schemas.microsoft.com/office/powerpoint/2010/main" val="2769341389"/>
              </p:ext>
            </p:extLst>
          </p:nvPr>
        </p:nvGraphicFramePr>
        <p:xfrm>
          <a:off x="1793668" y="2918302"/>
          <a:ext cx="2033272" cy="2149930"/>
        </p:xfrm>
        <a:graphic>
          <a:graphicData uri="http://schemas.openxmlformats.org/drawingml/2006/table">
            <a:tbl>
              <a:tblPr firstRow="1" bandRow="1">
                <a:tableStyleId>{2D5ABB26-0587-4C30-8999-92F81FD0307C}</a:tableStyleId>
              </a:tblPr>
              <a:tblGrid>
                <a:gridCol w="1016636">
                  <a:extLst>
                    <a:ext uri="{9D8B030D-6E8A-4147-A177-3AD203B41FA5}">
                      <a16:colId xmlns:a16="http://schemas.microsoft.com/office/drawing/2014/main" val="1796223131"/>
                    </a:ext>
                  </a:extLst>
                </a:gridCol>
                <a:gridCol w="1016636">
                  <a:extLst>
                    <a:ext uri="{9D8B030D-6E8A-4147-A177-3AD203B41FA5}">
                      <a16:colId xmlns:a16="http://schemas.microsoft.com/office/drawing/2014/main" val="3282681700"/>
                    </a:ext>
                  </a:extLst>
                </a:gridCol>
              </a:tblGrid>
              <a:tr h="429986">
                <a:tc>
                  <a:txBody>
                    <a:bodyPr/>
                    <a:lstStyle/>
                    <a:p>
                      <a:pPr algn="ctr"/>
                      <a:r>
                        <a:rPr lang="en-US" i="1">
                          <a:solidFill>
                            <a:srgbClr val="000000"/>
                          </a:solidFill>
                        </a:rPr>
                        <a:t>x</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tc>
                  <a:txBody>
                    <a:bodyPr/>
                    <a:lstStyle/>
                    <a:p>
                      <a:pPr algn="ctr"/>
                      <a:r>
                        <a:rPr lang="en-US" i="1">
                          <a:solidFill>
                            <a:srgbClr val="000000"/>
                          </a:solidFill>
                        </a:rPr>
                        <a:t>y</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extLst>
                  <a:ext uri="{0D108BD9-81ED-4DB2-BD59-A6C34878D82A}">
                    <a16:rowId xmlns:a16="http://schemas.microsoft.com/office/drawing/2014/main" val="4187273701"/>
                  </a:ext>
                </a:extLst>
              </a:tr>
              <a:tr h="429986">
                <a:tc>
                  <a:txBody>
                    <a:bodyPr/>
                    <a:lstStyle/>
                    <a:p>
                      <a:pPr algn="ctr"/>
                      <a:r>
                        <a:rPr lang="en-US">
                          <a:solidFill>
                            <a:srgbClr val="000000"/>
                          </a:solidFill>
                        </a:rPr>
                        <a:t>−2</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5.5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2075516"/>
                  </a:ext>
                </a:extLst>
              </a:tr>
              <a:tr h="429986">
                <a:tc>
                  <a:txBody>
                    <a:bodyPr/>
                    <a:lstStyle/>
                    <a:p>
                      <a:pPr algn="ctr"/>
                      <a:r>
                        <a:rPr lang="en-US">
                          <a:solidFill>
                            <a:srgbClr val="000000"/>
                          </a:solidFill>
                        </a:rPr>
                        <a:t>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4.75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584707"/>
                  </a:ext>
                </a:extLst>
              </a:tr>
              <a:tr h="429986">
                <a:tc>
                  <a:txBody>
                    <a:bodyPr/>
                    <a:lstStyle/>
                    <a:p>
                      <a:pPr algn="ctr"/>
                      <a:r>
                        <a:rPr lang="en-US">
                          <a:solidFill>
                            <a:srgbClr val="000000"/>
                          </a:solidFill>
                        </a:rPr>
                        <a:t>4</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4</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5287093"/>
                  </a:ext>
                </a:extLst>
              </a:tr>
              <a:tr h="429986">
                <a:tc>
                  <a:txBody>
                    <a:bodyPr/>
                    <a:lstStyle/>
                    <a:p>
                      <a:pPr algn="ctr"/>
                      <a:r>
                        <a:rPr lang="en-US">
                          <a:solidFill>
                            <a:srgbClr val="000000"/>
                          </a:solidFill>
                        </a:rPr>
                        <a:t>7</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3.25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1171273"/>
                  </a:ext>
                </a:extLst>
              </a:tr>
            </a:tbl>
          </a:graphicData>
        </a:graphic>
      </p:graphicFrame>
      <p:sp>
        <p:nvSpPr>
          <p:cNvPr id="14" name="TextBox 13">
            <a:extLst>
              <a:ext uri="{FF2B5EF4-FFF2-40B4-BE49-F238E27FC236}">
                <a16:creationId xmlns:a16="http://schemas.microsoft.com/office/drawing/2014/main" id="{F4C371E4-B94E-2659-54AB-FDF4B9B687F8}"/>
              </a:ext>
            </a:extLst>
          </p:cNvPr>
          <p:cNvSpPr txBox="1"/>
          <p:nvPr/>
        </p:nvSpPr>
        <p:spPr>
          <a:xfrm>
            <a:off x="4723347" y="2714302"/>
            <a:ext cx="473493" cy="523220"/>
          </a:xfrm>
          <a:prstGeom prst="rect">
            <a:avLst/>
          </a:prstGeom>
          <a:noFill/>
        </p:spPr>
        <p:txBody>
          <a:bodyPr wrap="square" rtlCol="0">
            <a:spAutoFit/>
          </a:bodyPr>
          <a:lstStyle/>
          <a:p>
            <a:r>
              <a:rPr lang="en-US" sz="2800">
                <a:solidFill>
                  <a:srgbClr val="000000"/>
                </a:solidFill>
              </a:rPr>
              <a:t>b.</a:t>
            </a:r>
          </a:p>
        </p:txBody>
      </p:sp>
      <p:graphicFrame>
        <p:nvGraphicFramePr>
          <p:cNvPr id="12" name="Table 11">
            <a:extLst>
              <a:ext uri="{FF2B5EF4-FFF2-40B4-BE49-F238E27FC236}">
                <a16:creationId xmlns:a16="http://schemas.microsoft.com/office/drawing/2014/main" id="{407EC006-42C1-DCED-ABE4-C69B9F7D811F}"/>
              </a:ext>
            </a:extLst>
          </p:cNvPr>
          <p:cNvGraphicFramePr>
            <a:graphicFrameLocks noGrp="1"/>
          </p:cNvGraphicFramePr>
          <p:nvPr>
            <p:extLst>
              <p:ext uri="{D42A27DB-BD31-4B8C-83A1-F6EECF244321}">
                <p14:modId xmlns:p14="http://schemas.microsoft.com/office/powerpoint/2010/main" val="170608481"/>
              </p:ext>
            </p:extLst>
          </p:nvPr>
        </p:nvGraphicFramePr>
        <p:xfrm>
          <a:off x="5364567" y="2918302"/>
          <a:ext cx="2033272" cy="2149930"/>
        </p:xfrm>
        <a:graphic>
          <a:graphicData uri="http://schemas.openxmlformats.org/drawingml/2006/table">
            <a:tbl>
              <a:tblPr firstRow="1" bandRow="1">
                <a:tableStyleId>{2D5ABB26-0587-4C30-8999-92F81FD0307C}</a:tableStyleId>
              </a:tblPr>
              <a:tblGrid>
                <a:gridCol w="1016636">
                  <a:extLst>
                    <a:ext uri="{9D8B030D-6E8A-4147-A177-3AD203B41FA5}">
                      <a16:colId xmlns:a16="http://schemas.microsoft.com/office/drawing/2014/main" val="1796223131"/>
                    </a:ext>
                  </a:extLst>
                </a:gridCol>
                <a:gridCol w="1016636">
                  <a:extLst>
                    <a:ext uri="{9D8B030D-6E8A-4147-A177-3AD203B41FA5}">
                      <a16:colId xmlns:a16="http://schemas.microsoft.com/office/drawing/2014/main" val="3282681700"/>
                    </a:ext>
                  </a:extLst>
                </a:gridCol>
              </a:tblGrid>
              <a:tr h="429986">
                <a:tc>
                  <a:txBody>
                    <a:bodyPr/>
                    <a:lstStyle/>
                    <a:p>
                      <a:pPr algn="ctr"/>
                      <a:r>
                        <a:rPr lang="en-US" i="1">
                          <a:solidFill>
                            <a:srgbClr val="000000"/>
                          </a:solidFill>
                        </a:rPr>
                        <a:t>x</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tc>
                  <a:txBody>
                    <a:bodyPr/>
                    <a:lstStyle/>
                    <a:p>
                      <a:pPr algn="ctr"/>
                      <a:r>
                        <a:rPr lang="en-US" i="1">
                          <a:solidFill>
                            <a:srgbClr val="000000"/>
                          </a:solidFill>
                        </a:rPr>
                        <a:t>y</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extLst>
                  <a:ext uri="{0D108BD9-81ED-4DB2-BD59-A6C34878D82A}">
                    <a16:rowId xmlns:a16="http://schemas.microsoft.com/office/drawing/2014/main" val="4187273701"/>
                  </a:ext>
                </a:extLst>
              </a:tr>
              <a:tr h="429986">
                <a:tc>
                  <a:txBody>
                    <a:bodyPr/>
                    <a:lstStyle/>
                    <a:p>
                      <a:pPr algn="ctr"/>
                      <a:r>
                        <a:rPr lang="en-US">
                          <a:solidFill>
                            <a:srgbClr val="000000"/>
                          </a:solidFill>
                        </a:rPr>
                        <a:t>0</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2075516"/>
                  </a:ext>
                </a:extLst>
              </a:tr>
              <a:tr h="429986">
                <a:tc>
                  <a:txBody>
                    <a:bodyPr/>
                    <a:lstStyle/>
                    <a:p>
                      <a:pPr algn="ctr"/>
                      <a:r>
                        <a:rPr lang="en-US">
                          <a:solidFill>
                            <a:srgbClr val="000000"/>
                          </a:solidFill>
                        </a:rPr>
                        <a:t>2</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13</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584707"/>
                  </a:ext>
                </a:extLst>
              </a:tr>
              <a:tr h="429986">
                <a:tc>
                  <a:txBody>
                    <a:bodyPr/>
                    <a:lstStyle/>
                    <a:p>
                      <a:pPr algn="ctr"/>
                      <a:r>
                        <a:rPr lang="en-US">
                          <a:solidFill>
                            <a:srgbClr val="000000"/>
                          </a:solidFill>
                        </a:rPr>
                        <a:t>4</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21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5287093"/>
                  </a:ext>
                </a:extLst>
              </a:tr>
              <a:tr h="429986">
                <a:tc>
                  <a:txBody>
                    <a:bodyPr/>
                    <a:lstStyle/>
                    <a:p>
                      <a:pPr algn="ctr"/>
                      <a:r>
                        <a:rPr lang="en-US">
                          <a:solidFill>
                            <a:srgbClr val="000000"/>
                          </a:solidFill>
                        </a:rPr>
                        <a:t>8</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29</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1171273"/>
                  </a:ext>
                </a:extLst>
              </a:tr>
            </a:tbl>
          </a:graphicData>
        </a:graphic>
      </p:graphicFrame>
      <p:sp>
        <p:nvSpPr>
          <p:cNvPr id="8" name="TextBox 7">
            <a:extLst>
              <a:ext uri="{FF2B5EF4-FFF2-40B4-BE49-F238E27FC236}">
                <a16:creationId xmlns:a16="http://schemas.microsoft.com/office/drawing/2014/main" id="{E6B35184-91C6-B5B2-AFD6-691052A75F88}"/>
              </a:ext>
            </a:extLst>
          </p:cNvPr>
          <p:cNvSpPr txBox="1"/>
          <p:nvPr/>
        </p:nvSpPr>
        <p:spPr>
          <a:xfrm>
            <a:off x="8988047" y="1021295"/>
            <a:ext cx="2651901" cy="5632311"/>
          </a:xfrm>
          <a:prstGeom prst="rect">
            <a:avLst/>
          </a:prstGeom>
          <a:noFill/>
          <a:ln w="38100" cap="rnd">
            <a:solidFill>
              <a:srgbClr val="2B8147"/>
            </a:solidFill>
            <a:prstDash val="sysDot"/>
          </a:ln>
        </p:spPr>
        <p:txBody>
          <a:bodyPr wrap="square" rtlCol="0">
            <a:spAutoFit/>
          </a:bodyPr>
          <a:lstStyle/>
          <a:p>
            <a:pPr algn="l"/>
            <a:r>
              <a:rPr lang="en-US" sz="2000" b="1" i="0" u="none" strike="noStrike" baseline="0">
                <a:solidFill>
                  <a:srgbClr val="267D42"/>
                </a:solidFill>
              </a:rPr>
              <a:t>Remember . . .</a:t>
            </a:r>
          </a:p>
          <a:p>
            <a:pPr algn="l"/>
            <a:r>
              <a:rPr lang="en-US" sz="2000" b="0" i="0" u="none" strike="noStrike" baseline="0">
                <a:solidFill>
                  <a:srgbClr val="000000"/>
                </a:solidFill>
              </a:rPr>
              <a:t>In a linear relationship,</a:t>
            </a:r>
          </a:p>
          <a:p>
            <a:pPr algn="l"/>
            <a:r>
              <a:rPr lang="en-US" sz="2000" b="0" i="0" u="none" strike="noStrike" baseline="0">
                <a:solidFill>
                  <a:srgbClr val="000000"/>
                </a:solidFill>
              </a:rPr>
              <a:t>when the value of the</a:t>
            </a:r>
          </a:p>
          <a:p>
            <a:pPr algn="l"/>
            <a:r>
              <a:rPr lang="en-US" sz="2000" b="0" i="0" u="none" strike="noStrike" baseline="0">
                <a:solidFill>
                  <a:srgbClr val="000000"/>
                </a:solidFill>
              </a:rPr>
              <a:t>dependent variable is</a:t>
            </a:r>
          </a:p>
          <a:p>
            <a:pPr algn="l"/>
            <a:r>
              <a:rPr lang="en-US" sz="2000" b="0" i="0" u="none" strike="noStrike" baseline="0">
                <a:solidFill>
                  <a:srgbClr val="000000"/>
                </a:solidFill>
              </a:rPr>
              <a:t>directly proportional</a:t>
            </a:r>
          </a:p>
          <a:p>
            <a:pPr algn="l"/>
            <a:r>
              <a:rPr lang="en-US" sz="2000" b="0" i="0" u="none" strike="noStrike" baseline="0">
                <a:solidFill>
                  <a:srgbClr val="000000"/>
                </a:solidFill>
              </a:rPr>
              <a:t>to the value of the</a:t>
            </a:r>
          </a:p>
          <a:p>
            <a:pPr algn="l"/>
            <a:r>
              <a:rPr lang="en-US" sz="2000" b="0" i="0" u="none" strike="noStrike" baseline="0">
                <a:solidFill>
                  <a:srgbClr val="000000"/>
                </a:solidFill>
              </a:rPr>
              <a:t>independent variable,</a:t>
            </a:r>
          </a:p>
          <a:p>
            <a:pPr algn="l"/>
            <a:r>
              <a:rPr lang="en-US" sz="2000" b="0" i="0" u="none" strike="noStrike" baseline="0">
                <a:solidFill>
                  <a:srgbClr val="000000"/>
                </a:solidFill>
              </a:rPr>
              <a:t>the relationship is</a:t>
            </a:r>
          </a:p>
          <a:p>
            <a:pPr algn="l"/>
            <a:r>
              <a:rPr lang="en-US" sz="2000" b="0" i="0" u="none" strike="noStrike" baseline="0">
                <a:solidFill>
                  <a:srgbClr val="000000"/>
                </a:solidFill>
              </a:rPr>
              <a:t>a direct variation.</a:t>
            </a:r>
          </a:p>
          <a:p>
            <a:pPr algn="l"/>
            <a:r>
              <a:rPr lang="en-US" sz="2000" b="0" i="0" u="none" strike="noStrike" baseline="0">
                <a:solidFill>
                  <a:srgbClr val="000000"/>
                </a:solidFill>
              </a:rPr>
              <a:t>Another way to say</a:t>
            </a:r>
          </a:p>
          <a:p>
            <a:pPr algn="l"/>
            <a:r>
              <a:rPr lang="en-US" sz="2000" b="0" i="0" u="none" strike="noStrike" baseline="0">
                <a:solidFill>
                  <a:srgbClr val="000000"/>
                </a:solidFill>
              </a:rPr>
              <a:t>this is that in a direct</a:t>
            </a:r>
          </a:p>
          <a:p>
            <a:pPr algn="l"/>
            <a:r>
              <a:rPr lang="en-US" sz="2000" b="0" i="0" u="none" strike="noStrike" baseline="0">
                <a:solidFill>
                  <a:srgbClr val="000000"/>
                </a:solidFill>
              </a:rPr>
              <a:t>variation the value</a:t>
            </a:r>
          </a:p>
          <a:p>
            <a:pPr algn="l"/>
            <a:r>
              <a:rPr lang="en-US" sz="2000" b="0" i="0" u="none" strike="noStrike" baseline="0">
                <a:solidFill>
                  <a:srgbClr val="000000"/>
                </a:solidFill>
              </a:rPr>
              <a:t>of the dependent</a:t>
            </a:r>
          </a:p>
          <a:p>
            <a:pPr algn="l"/>
            <a:r>
              <a:rPr lang="en-US" sz="2000" b="0" i="0" u="none" strike="noStrike" baseline="0">
                <a:solidFill>
                  <a:srgbClr val="000000"/>
                </a:solidFill>
              </a:rPr>
              <a:t>variable varies directly</a:t>
            </a:r>
          </a:p>
          <a:p>
            <a:pPr algn="l"/>
            <a:r>
              <a:rPr lang="en-US" sz="2000" b="0" i="0" u="none" strike="noStrike" baseline="0">
                <a:solidFill>
                  <a:srgbClr val="000000"/>
                </a:solidFill>
              </a:rPr>
              <a:t>with the independent</a:t>
            </a:r>
          </a:p>
          <a:p>
            <a:pPr algn="l"/>
            <a:r>
              <a:rPr lang="en-US" sz="2000" b="0" i="0" u="none" strike="noStrike" baseline="0">
                <a:solidFill>
                  <a:srgbClr val="000000"/>
                </a:solidFill>
              </a:rPr>
              <a:t>value. You can</a:t>
            </a:r>
          </a:p>
          <a:p>
            <a:pPr algn="l"/>
            <a:r>
              <a:rPr lang="en-US" sz="2000" b="0" i="0" u="none" strike="noStrike" baseline="0">
                <a:solidFill>
                  <a:srgbClr val="000000"/>
                </a:solidFill>
              </a:rPr>
              <a:t>use these phrases</a:t>
            </a:r>
          </a:p>
          <a:p>
            <a:pPr algn="l"/>
            <a:r>
              <a:rPr lang="en-US" sz="2000" b="0" i="0" u="none" strike="noStrike" baseline="0">
                <a:solidFill>
                  <a:srgbClr val="000000"/>
                </a:solidFill>
              </a:rPr>
              <a:t>interchangeably.</a:t>
            </a:r>
            <a:endParaRPr lang="en-US" sz="2000">
              <a:solidFill>
                <a:srgbClr val="000000"/>
              </a:solidFill>
            </a:endParaRPr>
          </a:p>
        </p:txBody>
      </p:sp>
      <p:cxnSp>
        <p:nvCxnSpPr>
          <p:cNvPr id="16" name="Straight Connector 15">
            <a:extLst>
              <a:ext uri="{FF2B5EF4-FFF2-40B4-BE49-F238E27FC236}">
                <a16:creationId xmlns:a16="http://schemas.microsoft.com/office/drawing/2014/main" id="{330E4C61-CF6B-472E-496F-0BF4092B45B8}"/>
              </a:ext>
              <a:ext uri="{C183D7F6-B498-43B3-948B-1728B52AA6E4}">
                <adec:decorative xmlns:adec="http://schemas.microsoft.com/office/drawing/2017/decorative" val="1"/>
              </a:ext>
            </a:extLst>
          </p:cNvPr>
          <p:cNvCxnSpPr>
            <a:cxnSpLocks/>
          </p:cNvCxnSpPr>
          <p:nvPr/>
        </p:nvCxnSpPr>
        <p:spPr>
          <a:xfrm>
            <a:off x="4366260" y="2918302"/>
            <a:ext cx="0" cy="2522378"/>
          </a:xfrm>
          <a:prstGeom prst="line">
            <a:avLst/>
          </a:prstGeom>
          <a:ln w="47625" cap="rnd">
            <a:solidFill>
              <a:srgbClr val="2B8147"/>
            </a:solidFill>
            <a:prstDash val="sysDot"/>
            <a:roun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6127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95889-D664-8184-F94E-0FE2455638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E02C674-4E27-96CA-0E0F-7F8305F3BAE0}"/>
              </a:ext>
            </a:extLst>
          </p:cNvPr>
          <p:cNvSpPr>
            <a:spLocks noGrp="1"/>
          </p:cNvSpPr>
          <p:nvPr>
            <p:ph type="title"/>
          </p:nvPr>
        </p:nvSpPr>
        <p:spPr/>
        <p:txBody>
          <a:bodyPr/>
          <a:lstStyle/>
          <a:p>
            <a:pPr algn="l"/>
            <a:r>
              <a:rPr lang="en-US" b="1"/>
              <a:t>Interpreting Linear Functions </a:t>
            </a:r>
            <a:r>
              <a:rPr lang="en-US" sz="2000" b="1">
                <a:solidFill>
                  <a:schemeClr val="bg1"/>
                </a:solidFill>
              </a:rPr>
              <a:t>(3 of 10)</a:t>
            </a:r>
          </a:p>
        </p:txBody>
      </p:sp>
      <p:sp>
        <p:nvSpPr>
          <p:cNvPr id="9" name="Text Placeholder 2">
            <a:extLst>
              <a:ext uri="{FF2B5EF4-FFF2-40B4-BE49-F238E27FC236}">
                <a16:creationId xmlns:a16="http://schemas.microsoft.com/office/drawing/2014/main" id="{5E39975E-3E22-4C65-6D1F-F0848B17DE15}"/>
              </a:ext>
            </a:extLst>
          </p:cNvPr>
          <p:cNvSpPr txBox="1">
            <a:spLocks/>
          </p:cNvSpPr>
          <p:nvPr/>
        </p:nvSpPr>
        <p:spPr>
          <a:xfrm>
            <a:off x="777240" y="1379913"/>
            <a:ext cx="8158942" cy="477484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spcAft>
                <a:spcPts val="1200"/>
              </a:spcAft>
              <a:buNone/>
            </a:pPr>
            <a:r>
              <a:rPr lang="en-US" sz="2800">
                <a:solidFill>
                  <a:srgbClr val="000000"/>
                </a:solidFill>
              </a:rPr>
              <a:t>Analyze each situation represented as a table of values.</a:t>
            </a:r>
          </a:p>
          <a:p>
            <a:pPr marL="515938" indent="-515938" algn="l">
              <a:buFont typeface="+mj-lt"/>
              <a:buAutoNum type="arabicPeriod" startAt="2"/>
            </a:pPr>
            <a:r>
              <a:rPr lang="en-US" sz="2800">
                <a:solidFill>
                  <a:srgbClr val="000000"/>
                </a:solidFill>
              </a:rPr>
              <a:t>Nakota sells pretzels at festivals on the weekends. The table shown is a record of past sales.</a:t>
            </a:r>
          </a:p>
          <a:p>
            <a:pPr marL="1030288" lvl="1" indent="-515938">
              <a:buFont typeface="+mj-lt"/>
              <a:buAutoNum type="alphaLcPeriod"/>
            </a:pPr>
            <a:r>
              <a:rPr lang="en-US">
                <a:solidFill>
                  <a:srgbClr val="000000"/>
                </a:solidFill>
              </a:rPr>
              <a:t>What does this table tell you about his sales?</a:t>
            </a:r>
          </a:p>
          <a:p>
            <a:pPr marL="857250" lvl="1" indent="-457200">
              <a:buFont typeface="+mj-lt"/>
              <a:buAutoNum type="alphaLcPeriod"/>
            </a:pPr>
            <a:endParaRPr lang="en-US">
              <a:solidFill>
                <a:srgbClr val="000000"/>
              </a:solidFill>
            </a:endParaRPr>
          </a:p>
          <a:p>
            <a:pPr marL="857250" lvl="1" indent="-457200">
              <a:buFont typeface="+mj-lt"/>
              <a:buAutoNum type="alphaLcPeriod"/>
            </a:pPr>
            <a:endParaRPr lang="en-US">
              <a:solidFill>
                <a:srgbClr val="000000"/>
              </a:solidFill>
            </a:endParaRPr>
          </a:p>
          <a:p>
            <a:pPr marL="973138" lvl="1" indent="-457200">
              <a:buFont typeface="+mj-lt"/>
              <a:buAutoNum type="alphaLcPeriod"/>
            </a:pPr>
            <a:r>
              <a:rPr lang="en-US">
                <a:solidFill>
                  <a:srgbClr val="000000"/>
                </a:solidFill>
              </a:rPr>
              <a:t>Determine whether the amount of money Nakota earns is directly proportional to the number of pretzels sold. Justify your reasoning.</a:t>
            </a:r>
          </a:p>
        </p:txBody>
      </p:sp>
      <p:graphicFrame>
        <p:nvGraphicFramePr>
          <p:cNvPr id="6" name="Table 5">
            <a:extLst>
              <a:ext uri="{FF2B5EF4-FFF2-40B4-BE49-F238E27FC236}">
                <a16:creationId xmlns:a16="http://schemas.microsoft.com/office/drawing/2014/main" id="{A51B7754-F0A7-D4E7-4A41-E43113039E40}"/>
              </a:ext>
            </a:extLst>
          </p:cNvPr>
          <p:cNvGraphicFramePr>
            <a:graphicFrameLocks noGrp="1"/>
          </p:cNvGraphicFramePr>
          <p:nvPr>
            <p:extLst>
              <p:ext uri="{D42A27DB-BD31-4B8C-83A1-F6EECF244321}">
                <p14:modId xmlns:p14="http://schemas.microsoft.com/office/powerpoint/2010/main" val="1991487165"/>
              </p:ext>
            </p:extLst>
          </p:nvPr>
        </p:nvGraphicFramePr>
        <p:xfrm>
          <a:off x="9069695" y="1762734"/>
          <a:ext cx="2343478" cy="2908664"/>
        </p:xfrm>
        <a:graphic>
          <a:graphicData uri="http://schemas.openxmlformats.org/drawingml/2006/table">
            <a:tbl>
              <a:tblPr firstRow="1" bandRow="1">
                <a:tableStyleId>{2D5ABB26-0587-4C30-8999-92F81FD0307C}</a:tableStyleId>
              </a:tblPr>
              <a:tblGrid>
                <a:gridCol w="1171739">
                  <a:extLst>
                    <a:ext uri="{9D8B030D-6E8A-4147-A177-3AD203B41FA5}">
                      <a16:colId xmlns:a16="http://schemas.microsoft.com/office/drawing/2014/main" val="1796223131"/>
                    </a:ext>
                  </a:extLst>
                </a:gridCol>
                <a:gridCol w="1171739">
                  <a:extLst>
                    <a:ext uri="{9D8B030D-6E8A-4147-A177-3AD203B41FA5}">
                      <a16:colId xmlns:a16="http://schemas.microsoft.com/office/drawing/2014/main" val="3282681700"/>
                    </a:ext>
                  </a:extLst>
                </a:gridCol>
              </a:tblGrid>
              <a:tr h="429986">
                <a:tc>
                  <a:txBody>
                    <a:bodyPr/>
                    <a:lstStyle/>
                    <a:p>
                      <a:pPr algn="ctr"/>
                      <a:r>
                        <a:rPr lang="en-US" b="1" i="0">
                          <a:solidFill>
                            <a:srgbClr val="000000"/>
                          </a:solidFill>
                        </a:rPr>
                        <a:t>Number of Pretzels sold</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tc>
                  <a:txBody>
                    <a:bodyPr/>
                    <a:lstStyle/>
                    <a:p>
                      <a:pPr algn="ctr"/>
                      <a:r>
                        <a:rPr lang="en-US" b="1" i="0">
                          <a:solidFill>
                            <a:srgbClr val="000000"/>
                          </a:solidFill>
                        </a:rPr>
                        <a:t>Amount of Money Earned (dollars)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extLst>
                  <a:ext uri="{0D108BD9-81ED-4DB2-BD59-A6C34878D82A}">
                    <a16:rowId xmlns:a16="http://schemas.microsoft.com/office/drawing/2014/main" val="4187273701"/>
                  </a:ext>
                </a:extLst>
              </a:tr>
              <a:tr h="429986">
                <a:tc>
                  <a:txBody>
                    <a:bodyPr/>
                    <a:lstStyle/>
                    <a:p>
                      <a:pPr algn="ctr"/>
                      <a:r>
                        <a:rPr lang="en-US">
                          <a:solidFill>
                            <a:srgbClr val="000000"/>
                          </a:solidFill>
                        </a:rPr>
                        <a:t>15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37.5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2075516"/>
                  </a:ext>
                </a:extLst>
              </a:tr>
              <a:tr h="429986">
                <a:tc>
                  <a:txBody>
                    <a:bodyPr/>
                    <a:lstStyle/>
                    <a:p>
                      <a:pPr algn="ctr"/>
                      <a:r>
                        <a:rPr lang="en-US">
                          <a:solidFill>
                            <a:srgbClr val="000000"/>
                          </a:solidFill>
                        </a:rPr>
                        <a:t>42</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105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584707"/>
                  </a:ext>
                </a:extLst>
              </a:tr>
              <a:tr h="429986">
                <a:tc>
                  <a:txBody>
                    <a:bodyPr/>
                    <a:lstStyle/>
                    <a:p>
                      <a:pPr algn="ctr"/>
                      <a:r>
                        <a:rPr lang="en-US">
                          <a:solidFill>
                            <a:srgbClr val="000000"/>
                          </a:solidFill>
                        </a:rPr>
                        <a:t>58</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145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5287093"/>
                  </a:ext>
                </a:extLst>
              </a:tr>
              <a:tr h="429986">
                <a:tc>
                  <a:txBody>
                    <a:bodyPr/>
                    <a:lstStyle/>
                    <a:p>
                      <a:pPr algn="ctr"/>
                      <a:r>
                        <a:rPr lang="en-US">
                          <a:solidFill>
                            <a:srgbClr val="000000"/>
                          </a:solidFill>
                        </a:rPr>
                        <a:t>29</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solidFill>
                            <a:srgbClr val="000000"/>
                          </a:solidFill>
                        </a:rPr>
                        <a:t>72.5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1171273"/>
                  </a:ext>
                </a:extLst>
              </a:tr>
            </a:tbl>
          </a:graphicData>
        </a:graphic>
      </p:graphicFrame>
    </p:spTree>
    <p:extLst>
      <p:ext uri="{BB962C8B-B14F-4D97-AF65-F5344CB8AC3E}">
        <p14:creationId xmlns:p14="http://schemas.microsoft.com/office/powerpoint/2010/main" val="3900736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DC2F5-1AF4-C8AD-96A6-2C203AFF6C5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F781291-2D12-F181-9C7C-183658D864CA}"/>
              </a:ext>
            </a:extLst>
          </p:cNvPr>
          <p:cNvSpPr>
            <a:spLocks noGrp="1"/>
          </p:cNvSpPr>
          <p:nvPr>
            <p:ph type="title"/>
          </p:nvPr>
        </p:nvSpPr>
        <p:spPr/>
        <p:txBody>
          <a:bodyPr/>
          <a:lstStyle/>
          <a:p>
            <a:pPr algn="l"/>
            <a:r>
              <a:rPr lang="en-US" b="1"/>
              <a:t>Interpreting Linear Functions </a:t>
            </a:r>
            <a:r>
              <a:rPr lang="en-US" sz="2000" b="1">
                <a:solidFill>
                  <a:schemeClr val="bg1"/>
                </a:solidFill>
              </a:rPr>
              <a:t>(4 of 10)</a:t>
            </a:r>
          </a:p>
        </p:txBody>
      </p:sp>
      <p:sp>
        <p:nvSpPr>
          <p:cNvPr id="9" name="Text Placeholder 2">
            <a:extLst>
              <a:ext uri="{FF2B5EF4-FFF2-40B4-BE49-F238E27FC236}">
                <a16:creationId xmlns:a16="http://schemas.microsoft.com/office/drawing/2014/main" id="{A0858383-C46F-D5B0-38E5-AB1ACC51AEB3}"/>
              </a:ext>
            </a:extLst>
          </p:cNvPr>
          <p:cNvSpPr txBox="1">
            <a:spLocks/>
          </p:cNvSpPr>
          <p:nvPr/>
        </p:nvSpPr>
        <p:spPr>
          <a:xfrm>
            <a:off x="777239" y="1693006"/>
            <a:ext cx="10630989" cy="477490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5938" lvl="1" indent="-515938">
              <a:buFont typeface="+mj-lt"/>
              <a:buAutoNum type="alphaLcPeriod" startAt="3"/>
            </a:pPr>
            <a:r>
              <a:rPr lang="en-US">
                <a:solidFill>
                  <a:srgbClr val="000000"/>
                </a:solidFill>
              </a:rPr>
              <a:t>Write an equation to represent the situation.</a:t>
            </a:r>
          </a:p>
          <a:p>
            <a:pPr marL="515938" lvl="1" indent="-515938">
              <a:buFont typeface="+mj-lt"/>
              <a:buAutoNum type="alphaLcPeriod" startAt="3"/>
            </a:pPr>
            <a:endParaRPr lang="en-US">
              <a:solidFill>
                <a:srgbClr val="000000"/>
              </a:solidFill>
            </a:endParaRPr>
          </a:p>
          <a:p>
            <a:pPr marL="515938" lvl="1" indent="-515938">
              <a:buFont typeface="+mj-lt"/>
              <a:buAutoNum type="alphaLcPeriod" startAt="3"/>
            </a:pPr>
            <a:endParaRPr lang="en-US">
              <a:solidFill>
                <a:srgbClr val="000000"/>
              </a:solidFill>
            </a:endParaRPr>
          </a:p>
          <a:p>
            <a:pPr marL="515938" lvl="1" indent="-515938">
              <a:buFont typeface="+mj-lt"/>
              <a:buAutoNum type="alphaLcPeriod" startAt="3"/>
            </a:pPr>
            <a:endParaRPr lang="en-US">
              <a:solidFill>
                <a:srgbClr val="000000"/>
              </a:solidFill>
            </a:endParaRPr>
          </a:p>
          <a:p>
            <a:pPr marL="515938" lvl="1" indent="-515938">
              <a:buFont typeface="+mj-lt"/>
              <a:buAutoNum type="alphaLcPeriod" startAt="3"/>
            </a:pPr>
            <a:r>
              <a:rPr lang="en-US">
                <a:solidFill>
                  <a:srgbClr val="000000"/>
                </a:solidFill>
              </a:rPr>
              <a:t>How much money does Nakota earn when he sells 75 pretzels?</a:t>
            </a:r>
          </a:p>
        </p:txBody>
      </p:sp>
    </p:spTree>
    <p:extLst>
      <p:ext uri="{BB962C8B-B14F-4D97-AF65-F5344CB8AC3E}">
        <p14:creationId xmlns:p14="http://schemas.microsoft.com/office/powerpoint/2010/main" val="220961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8A05F-5C90-F1F2-CB2A-B0F4F2A36B5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C6348D7-528A-BBE0-5790-60DA1F914020}"/>
              </a:ext>
            </a:extLst>
          </p:cNvPr>
          <p:cNvSpPr>
            <a:spLocks noGrp="1"/>
          </p:cNvSpPr>
          <p:nvPr>
            <p:ph type="title"/>
          </p:nvPr>
        </p:nvSpPr>
        <p:spPr/>
        <p:txBody>
          <a:bodyPr/>
          <a:lstStyle/>
          <a:p>
            <a:pPr algn="l"/>
            <a:r>
              <a:rPr lang="en-US" b="1"/>
              <a:t>Interpreting Linear Functions </a:t>
            </a:r>
            <a:r>
              <a:rPr lang="en-US" sz="2000" b="1">
                <a:solidFill>
                  <a:schemeClr val="bg1"/>
                </a:solidFill>
              </a:rPr>
              <a:t>(5 of 10)</a:t>
            </a:r>
          </a:p>
        </p:txBody>
      </p:sp>
      <p:graphicFrame>
        <p:nvGraphicFramePr>
          <p:cNvPr id="2" name="Table 1">
            <a:extLst>
              <a:ext uri="{FF2B5EF4-FFF2-40B4-BE49-F238E27FC236}">
                <a16:creationId xmlns:a16="http://schemas.microsoft.com/office/drawing/2014/main" id="{883DAABD-7CC0-F357-A704-D1ED0508509E}"/>
              </a:ext>
            </a:extLst>
          </p:cNvPr>
          <p:cNvGraphicFramePr>
            <a:graphicFrameLocks noGrp="1"/>
          </p:cNvGraphicFramePr>
          <p:nvPr>
            <p:extLst>
              <p:ext uri="{D42A27DB-BD31-4B8C-83A1-F6EECF244321}">
                <p14:modId xmlns:p14="http://schemas.microsoft.com/office/powerpoint/2010/main" val="380892134"/>
              </p:ext>
            </p:extLst>
          </p:nvPr>
        </p:nvGraphicFramePr>
        <p:xfrm>
          <a:off x="777240" y="2111828"/>
          <a:ext cx="2951990" cy="3030584"/>
        </p:xfrm>
        <a:graphic>
          <a:graphicData uri="http://schemas.openxmlformats.org/drawingml/2006/table">
            <a:tbl>
              <a:tblPr firstRow="1" bandRow="1">
                <a:tableStyleId>{2D5ABB26-0587-4C30-8999-92F81FD0307C}</a:tableStyleId>
              </a:tblPr>
              <a:tblGrid>
                <a:gridCol w="1475995">
                  <a:extLst>
                    <a:ext uri="{9D8B030D-6E8A-4147-A177-3AD203B41FA5}">
                      <a16:colId xmlns:a16="http://schemas.microsoft.com/office/drawing/2014/main" val="1796223131"/>
                    </a:ext>
                  </a:extLst>
                </a:gridCol>
                <a:gridCol w="1475995">
                  <a:extLst>
                    <a:ext uri="{9D8B030D-6E8A-4147-A177-3AD203B41FA5}">
                      <a16:colId xmlns:a16="http://schemas.microsoft.com/office/drawing/2014/main" val="3282681700"/>
                    </a:ext>
                  </a:extLst>
                </a:gridCol>
              </a:tblGrid>
              <a:tr h="429986">
                <a:tc>
                  <a:txBody>
                    <a:bodyPr/>
                    <a:lstStyle/>
                    <a:p>
                      <a:pPr algn="ctr"/>
                      <a:r>
                        <a:rPr lang="en-US" sz="2000" b="1" i="0">
                          <a:solidFill>
                            <a:srgbClr val="000000"/>
                          </a:solidFill>
                        </a:rPr>
                        <a:t>Number of Ride Tickets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tc>
                  <a:txBody>
                    <a:bodyPr/>
                    <a:lstStyle/>
                    <a:p>
                      <a:pPr algn="ctr"/>
                      <a:r>
                        <a:rPr lang="en-US" sz="2000" b="1" i="0">
                          <a:solidFill>
                            <a:srgbClr val="000000"/>
                          </a:solidFill>
                        </a:rPr>
                        <a:t>Amount of Money Spent (dollars)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extLst>
                  <a:ext uri="{0D108BD9-81ED-4DB2-BD59-A6C34878D82A}">
                    <a16:rowId xmlns:a16="http://schemas.microsoft.com/office/drawing/2014/main" val="4187273701"/>
                  </a:ext>
                </a:extLst>
              </a:tr>
              <a:tr h="429986">
                <a:tc>
                  <a:txBody>
                    <a:bodyPr/>
                    <a:lstStyle/>
                    <a:p>
                      <a:pPr algn="ctr"/>
                      <a:r>
                        <a:rPr lang="en-US" sz="2000">
                          <a:solidFill>
                            <a:srgbClr val="000000"/>
                          </a:solidFill>
                        </a:rPr>
                        <a:t>2</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a:solidFill>
                            <a:srgbClr val="000000"/>
                          </a:solidFill>
                        </a:rPr>
                        <a:t>7.5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2075516"/>
                  </a:ext>
                </a:extLst>
              </a:tr>
              <a:tr h="429986">
                <a:tc>
                  <a:txBody>
                    <a:bodyPr/>
                    <a:lstStyle/>
                    <a:p>
                      <a:pPr algn="ctr"/>
                      <a:r>
                        <a:rPr lang="en-US" sz="2000">
                          <a:solidFill>
                            <a:srgbClr val="000000"/>
                          </a:solidFill>
                        </a:rPr>
                        <a:t>4</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a:solidFill>
                            <a:srgbClr val="000000"/>
                          </a:solidFill>
                        </a:rPr>
                        <a:t>9</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584707"/>
                  </a:ext>
                </a:extLst>
              </a:tr>
              <a:tr h="429986">
                <a:tc>
                  <a:txBody>
                    <a:bodyPr/>
                    <a:lstStyle/>
                    <a:p>
                      <a:pPr algn="ctr"/>
                      <a:r>
                        <a:rPr lang="en-US" sz="2000">
                          <a:solidFill>
                            <a:srgbClr val="000000"/>
                          </a:solidFill>
                        </a:rPr>
                        <a:t>6</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a:solidFill>
                            <a:srgbClr val="000000"/>
                          </a:solidFill>
                        </a:rPr>
                        <a:t>10.5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5287093"/>
                  </a:ext>
                </a:extLst>
              </a:tr>
              <a:tr h="429986">
                <a:tc>
                  <a:txBody>
                    <a:bodyPr/>
                    <a:lstStyle/>
                    <a:p>
                      <a:pPr algn="ctr"/>
                      <a:r>
                        <a:rPr lang="en-US" sz="2000">
                          <a:solidFill>
                            <a:srgbClr val="000000"/>
                          </a:solidFill>
                        </a:rPr>
                        <a:t>11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a:solidFill>
                            <a:srgbClr val="000000"/>
                          </a:solidFill>
                        </a:rPr>
                        <a:t>14.25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1171273"/>
                  </a:ext>
                </a:extLst>
              </a:tr>
            </a:tbl>
          </a:graphicData>
        </a:graphic>
      </p:graphicFrame>
      <p:sp>
        <p:nvSpPr>
          <p:cNvPr id="9" name="Text Placeholder 2">
            <a:extLst>
              <a:ext uri="{FF2B5EF4-FFF2-40B4-BE49-F238E27FC236}">
                <a16:creationId xmlns:a16="http://schemas.microsoft.com/office/drawing/2014/main" id="{6F6D7115-DA8F-5094-784C-AD5332CE06B4}"/>
              </a:ext>
            </a:extLst>
          </p:cNvPr>
          <p:cNvSpPr txBox="1">
            <a:spLocks/>
          </p:cNvSpPr>
          <p:nvPr/>
        </p:nvSpPr>
        <p:spPr>
          <a:xfrm>
            <a:off x="3940231" y="1596043"/>
            <a:ext cx="8250181" cy="499594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5938" indent="-515938" algn="l">
              <a:spcAft>
                <a:spcPts val="600"/>
              </a:spcAft>
              <a:buFont typeface="+mj-lt"/>
              <a:buAutoNum type="arabicPeriod" startAt="3"/>
            </a:pPr>
            <a:r>
              <a:rPr lang="en-US" sz="2800" b="0" i="0" u="none" strike="noStrike" baseline="0">
                <a:solidFill>
                  <a:srgbClr val="000000"/>
                </a:solidFill>
              </a:rPr>
              <a:t>Alejandra and her friends recently went to the community fair. They had to pay an entrance fee and then purchase 1 ticket for each ride. Lauren is going to the fair tomorrow and wants to know the cost of each ride ticket. Alejandra and her friends help Lauren by writing down how much money they spent and the number of tickets they purchased.</a:t>
            </a:r>
          </a:p>
          <a:p>
            <a:pPr marL="1030288" lvl="1" indent="-515938">
              <a:buFont typeface="+mj-lt"/>
              <a:buAutoNum type="alphaLcPeriod"/>
            </a:pPr>
            <a:r>
              <a:rPr lang="en-US">
                <a:solidFill>
                  <a:srgbClr val="000000"/>
                </a:solidFill>
              </a:rPr>
              <a:t>What does this table tell you about the cost to go to the fair and ride the rides?</a:t>
            </a:r>
            <a:endParaRPr lang="en-US" b="0" i="0" u="none" strike="noStrike" baseline="0">
              <a:solidFill>
                <a:srgbClr val="000000"/>
              </a:solidFill>
            </a:endParaRPr>
          </a:p>
        </p:txBody>
      </p:sp>
    </p:spTree>
    <p:extLst>
      <p:ext uri="{BB962C8B-B14F-4D97-AF65-F5344CB8AC3E}">
        <p14:creationId xmlns:p14="http://schemas.microsoft.com/office/powerpoint/2010/main" val="299487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3010E-8AFA-0986-93F9-FC66AB3C9D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55C9B82-9604-07DE-74F2-56EC89BD3A2D}"/>
              </a:ext>
            </a:extLst>
          </p:cNvPr>
          <p:cNvSpPr>
            <a:spLocks noGrp="1"/>
          </p:cNvSpPr>
          <p:nvPr>
            <p:ph type="title"/>
          </p:nvPr>
        </p:nvSpPr>
        <p:spPr/>
        <p:txBody>
          <a:bodyPr/>
          <a:lstStyle/>
          <a:p>
            <a:pPr algn="l"/>
            <a:r>
              <a:rPr lang="en-US" b="1"/>
              <a:t>Interpreting Linear Functions </a:t>
            </a:r>
            <a:r>
              <a:rPr lang="en-US" sz="2000" b="1">
                <a:solidFill>
                  <a:schemeClr val="bg1"/>
                </a:solidFill>
              </a:rPr>
              <a:t>(6 of 10)</a:t>
            </a:r>
          </a:p>
        </p:txBody>
      </p:sp>
      <p:sp>
        <p:nvSpPr>
          <p:cNvPr id="9" name="Text Placeholder 2">
            <a:extLst>
              <a:ext uri="{FF2B5EF4-FFF2-40B4-BE49-F238E27FC236}">
                <a16:creationId xmlns:a16="http://schemas.microsoft.com/office/drawing/2014/main" id="{360BFC95-E711-EDD8-464B-EA00FE689DE4}"/>
              </a:ext>
            </a:extLst>
          </p:cNvPr>
          <p:cNvSpPr txBox="1">
            <a:spLocks/>
          </p:cNvSpPr>
          <p:nvPr/>
        </p:nvSpPr>
        <p:spPr>
          <a:xfrm>
            <a:off x="777241" y="1587731"/>
            <a:ext cx="9937864" cy="443789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5938" lvl="1" indent="-515938">
              <a:buFont typeface="+mj-lt"/>
              <a:buAutoNum type="alphaLcPeriod" startAt="2"/>
            </a:pPr>
            <a:r>
              <a:rPr lang="en-US" sz="2600">
                <a:solidFill>
                  <a:srgbClr val="000000"/>
                </a:solidFill>
              </a:rPr>
              <a:t>Determine whether the amount of money Alejandra and her friends spend varies directly with the number of ride tickets they purchased. Justify your reasoning.</a:t>
            </a:r>
            <a:br>
              <a:rPr lang="en-US" sz="2600">
                <a:solidFill>
                  <a:srgbClr val="000000"/>
                </a:solidFill>
              </a:rPr>
            </a:br>
            <a:endParaRPr lang="en-US" sz="2600">
              <a:solidFill>
                <a:srgbClr val="000000"/>
              </a:solidFill>
            </a:endParaRPr>
          </a:p>
          <a:p>
            <a:pPr marL="515938" lvl="1" indent="-515938">
              <a:buFont typeface="+mj-lt"/>
              <a:buAutoNum type="alphaLcPeriod" startAt="2"/>
            </a:pPr>
            <a:endParaRPr lang="en-US" sz="2600">
              <a:solidFill>
                <a:srgbClr val="000000"/>
              </a:solidFill>
            </a:endParaRPr>
          </a:p>
          <a:p>
            <a:pPr marL="515938" lvl="1" indent="-515938">
              <a:buFont typeface="+mj-lt"/>
              <a:buAutoNum type="alphaLcPeriod" startAt="2"/>
            </a:pPr>
            <a:r>
              <a:rPr lang="en-US" sz="2600">
                <a:solidFill>
                  <a:srgbClr val="000000"/>
                </a:solidFill>
              </a:rPr>
              <a:t>Write an equation to represent the situation.</a:t>
            </a:r>
          </a:p>
          <a:p>
            <a:pPr marL="515938" lvl="1" indent="-515938">
              <a:buFont typeface="+mj-lt"/>
              <a:buAutoNum type="alphaLcPeriod" startAt="2"/>
            </a:pPr>
            <a:endParaRPr lang="en-US" sz="2600">
              <a:solidFill>
                <a:srgbClr val="000000"/>
              </a:solidFill>
            </a:endParaRPr>
          </a:p>
          <a:p>
            <a:pPr marL="515938" lvl="1" indent="-515938">
              <a:buFont typeface="+mj-lt"/>
              <a:buAutoNum type="alphaLcPeriod" startAt="2"/>
            </a:pPr>
            <a:endParaRPr lang="en-US" sz="2600">
              <a:solidFill>
                <a:srgbClr val="000000"/>
              </a:solidFill>
            </a:endParaRPr>
          </a:p>
          <a:p>
            <a:pPr marL="515938" lvl="1" indent="-515938">
              <a:buFont typeface="+mj-lt"/>
              <a:buAutoNum type="alphaLcPeriod" startAt="2"/>
            </a:pPr>
            <a:r>
              <a:rPr lang="en-US" sz="2600">
                <a:solidFill>
                  <a:srgbClr val="000000"/>
                </a:solidFill>
              </a:rPr>
              <a:t>If Lauren has $20 to spend, how many ride tickets can she buy?</a:t>
            </a:r>
          </a:p>
        </p:txBody>
      </p:sp>
    </p:spTree>
    <p:extLst>
      <p:ext uri="{BB962C8B-B14F-4D97-AF65-F5344CB8AC3E}">
        <p14:creationId xmlns:p14="http://schemas.microsoft.com/office/powerpoint/2010/main" val="3106737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D3833-12EF-FCCF-A972-47B31CC6835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7BD5890-2403-8CAF-8DEF-09E1DE466733}"/>
              </a:ext>
            </a:extLst>
          </p:cNvPr>
          <p:cNvSpPr>
            <a:spLocks noGrp="1"/>
          </p:cNvSpPr>
          <p:nvPr>
            <p:ph type="title"/>
          </p:nvPr>
        </p:nvSpPr>
        <p:spPr/>
        <p:txBody>
          <a:bodyPr/>
          <a:lstStyle/>
          <a:p>
            <a:pPr algn="l"/>
            <a:r>
              <a:rPr lang="en-US" b="1"/>
              <a:t>Interpreting Linear Functions </a:t>
            </a:r>
            <a:r>
              <a:rPr lang="en-US" sz="2000" b="1">
                <a:solidFill>
                  <a:schemeClr val="bg1"/>
                </a:solidFill>
              </a:rPr>
              <a:t>(7 of 10)</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B61721E5-05C0-A536-BD02-286689DD3A2F}"/>
                  </a:ext>
                </a:extLst>
              </p:cNvPr>
              <p:cNvGraphicFramePr>
                <a:graphicFrameLocks noGrp="1"/>
              </p:cNvGraphicFramePr>
              <p:nvPr>
                <p:extLst>
                  <p:ext uri="{D42A27DB-BD31-4B8C-83A1-F6EECF244321}">
                    <p14:modId xmlns:p14="http://schemas.microsoft.com/office/powerpoint/2010/main" val="3485930638"/>
                  </p:ext>
                </p:extLst>
              </p:nvPr>
            </p:nvGraphicFramePr>
            <p:xfrm>
              <a:off x="777240" y="1820171"/>
              <a:ext cx="3166003" cy="3931920"/>
            </p:xfrm>
            <a:graphic>
              <a:graphicData uri="http://schemas.openxmlformats.org/drawingml/2006/table">
                <a:tbl>
                  <a:tblPr firstRow="1" bandRow="1">
                    <a:tableStyleId>{2D5ABB26-0587-4C30-8999-92F81FD0307C}</a:tableStyleId>
                  </a:tblPr>
                  <a:tblGrid>
                    <a:gridCol w="1154323">
                      <a:extLst>
                        <a:ext uri="{9D8B030D-6E8A-4147-A177-3AD203B41FA5}">
                          <a16:colId xmlns:a16="http://schemas.microsoft.com/office/drawing/2014/main" val="1796223131"/>
                        </a:ext>
                      </a:extLst>
                    </a:gridCol>
                    <a:gridCol w="2011680">
                      <a:extLst>
                        <a:ext uri="{9D8B030D-6E8A-4147-A177-3AD203B41FA5}">
                          <a16:colId xmlns:a16="http://schemas.microsoft.com/office/drawing/2014/main" val="3282681700"/>
                        </a:ext>
                      </a:extLst>
                    </a:gridCol>
                  </a:tblGrid>
                  <a:tr h="429986">
                    <a:tc>
                      <a:txBody>
                        <a:bodyPr/>
                        <a:lstStyle/>
                        <a:p>
                          <a:pPr algn="ctr"/>
                          <a:r>
                            <a:rPr lang="en-US" sz="2000" b="1" i="0">
                              <a:solidFill>
                                <a:srgbClr val="000000"/>
                              </a:solidFill>
                            </a:rPr>
                            <a:t>Time (hours)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tc>
                      <a:txBody>
                        <a:bodyPr/>
                        <a:lstStyle/>
                        <a:p>
                          <a:pPr algn="ctr"/>
                          <a:r>
                            <a:rPr lang="en-US" sz="2000" b="1" i="0">
                              <a:solidFill>
                                <a:srgbClr val="000000"/>
                              </a:solidFill>
                            </a:rPr>
                            <a:t>Amount of Water Remaining (gallons)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extLst>
                      <a:ext uri="{0D108BD9-81ED-4DB2-BD59-A6C34878D82A}">
                        <a16:rowId xmlns:a16="http://schemas.microsoft.com/office/drawing/2014/main" val="4187273701"/>
                      </a:ext>
                    </a:extLst>
                  </a:tr>
                  <a:tr h="731520">
                    <a:tc>
                      <a:txBody>
                        <a:bodyPr/>
                        <a:lstStyle/>
                        <a:p>
                          <a:pPr algn="ctr"/>
                          <a14:m>
                            <m:oMathPara xmlns:m="http://schemas.openxmlformats.org/officeDocument/2006/math">
                              <m:oMathParaPr>
                                <m:jc m:val="centerGroup"/>
                              </m:oMathParaPr>
                              <m:oMath xmlns:m="http://schemas.openxmlformats.org/officeDocument/2006/math">
                                <m:f>
                                  <m:fPr>
                                    <m:ctrlPr>
                                      <a:rPr lang="en-US" sz="200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1</m:t>
                                    </m:r>
                                  </m:num>
                                  <m:den>
                                    <m:r>
                                      <a:rPr lang="en-US" sz="2000" b="0" i="1" smtClean="0">
                                        <a:solidFill>
                                          <a:srgbClr val="000000"/>
                                        </a:solidFill>
                                        <a:latin typeface="Cambria Math" panose="02040503050406030204" pitchFamily="18" charset="0"/>
                                      </a:rPr>
                                      <m:t>4</m:t>
                                    </m:r>
                                  </m:den>
                                </m:f>
                              </m:oMath>
                            </m:oMathPara>
                          </a14:m>
                          <a:endParaRPr lang="en-US" sz="2000">
                            <a:solidFill>
                              <a:srgbClr val="000000"/>
                            </a:solidFill>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a:solidFill>
                                <a:srgbClr val="000000"/>
                              </a:solidFill>
                            </a:rPr>
                            <a:t>169</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2075516"/>
                      </a:ext>
                    </a:extLst>
                  </a:tr>
                  <a:tr h="731520">
                    <a:tc>
                      <a:txBody>
                        <a:bodyPr/>
                        <a:lstStyle/>
                        <a:p>
                          <a:pPr algn="ctr"/>
                          <a14:m>
                            <m:oMathPara xmlns:m="http://schemas.openxmlformats.org/officeDocument/2006/math">
                              <m:oMathParaPr>
                                <m:jc m:val="centerGroup"/>
                              </m:oMathParaPr>
                              <m:oMath xmlns:m="http://schemas.openxmlformats.org/officeDocument/2006/math">
                                <m:f>
                                  <m:fPr>
                                    <m:ctrlPr>
                                      <a:rPr lang="en-US" sz="200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1</m:t>
                                    </m:r>
                                  </m:num>
                                  <m:den>
                                    <m:r>
                                      <a:rPr lang="en-US" sz="2000" b="0" i="1" smtClean="0">
                                        <a:solidFill>
                                          <a:srgbClr val="000000"/>
                                        </a:solidFill>
                                        <a:latin typeface="Cambria Math" panose="02040503050406030204" pitchFamily="18" charset="0"/>
                                      </a:rPr>
                                      <m:t>2</m:t>
                                    </m:r>
                                  </m:den>
                                </m:f>
                              </m:oMath>
                            </m:oMathPara>
                          </a14:m>
                          <a:endParaRPr lang="en-US" sz="2000">
                            <a:solidFill>
                              <a:srgbClr val="000000"/>
                            </a:solidFill>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a:solidFill>
                                <a:srgbClr val="000000"/>
                              </a:solidFill>
                            </a:rPr>
                            <a:t>163</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584707"/>
                      </a:ext>
                    </a:extLst>
                  </a:tr>
                  <a:tr h="731520">
                    <a:tc>
                      <a:txBody>
                        <a:bodyPr/>
                        <a:lstStyle/>
                        <a:p>
                          <a:pPr algn="ctr"/>
                          <a14:m>
                            <m:oMathPara xmlns:m="http://schemas.openxmlformats.org/officeDocument/2006/math">
                              <m:oMathParaPr>
                                <m:jc m:val="centerGroup"/>
                              </m:oMathParaPr>
                              <m:oMath xmlns:m="http://schemas.openxmlformats.org/officeDocument/2006/math">
                                <m:f>
                                  <m:fPr>
                                    <m:ctrlPr>
                                      <a:rPr lang="en-US" sz="200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3</m:t>
                                    </m:r>
                                  </m:num>
                                  <m:den>
                                    <m:r>
                                      <a:rPr lang="en-US" sz="2000" b="0" i="1" smtClean="0">
                                        <a:solidFill>
                                          <a:srgbClr val="000000"/>
                                        </a:solidFill>
                                        <a:latin typeface="Cambria Math" panose="02040503050406030204" pitchFamily="18" charset="0"/>
                                      </a:rPr>
                                      <m:t>4</m:t>
                                    </m:r>
                                  </m:den>
                                </m:f>
                              </m:oMath>
                            </m:oMathPara>
                          </a14:m>
                          <a:endParaRPr lang="en-US" sz="2000">
                            <a:solidFill>
                              <a:srgbClr val="000000"/>
                            </a:solidFill>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a:solidFill>
                                <a:srgbClr val="000000"/>
                              </a:solidFill>
                            </a:rPr>
                            <a:t>157</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5287093"/>
                      </a:ext>
                    </a:extLst>
                  </a:tr>
                  <a:tr h="731520">
                    <a:tc>
                      <a:txBody>
                        <a:bodyPr/>
                        <a:lstStyle/>
                        <a:p>
                          <a:pPr algn="ctr"/>
                          <a:r>
                            <a:rPr lang="en-US" sz="2000">
                              <a:solidFill>
                                <a:srgbClr val="000000"/>
                              </a:solidFill>
                            </a:rPr>
                            <a:t>1</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a:solidFill>
                                <a:srgbClr val="000000"/>
                              </a:solidFill>
                            </a:rPr>
                            <a:t>151</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1171273"/>
                      </a:ext>
                    </a:extLst>
                  </a:tr>
                </a:tbl>
              </a:graphicData>
            </a:graphic>
          </p:graphicFrame>
        </mc:Choice>
        <mc:Fallback xmlns="">
          <p:graphicFrame>
            <p:nvGraphicFramePr>
              <p:cNvPr id="2" name="Table 1">
                <a:extLst>
                  <a:ext uri="{FF2B5EF4-FFF2-40B4-BE49-F238E27FC236}">
                    <a16:creationId xmlns:a16="http://schemas.microsoft.com/office/drawing/2014/main" id="{B61721E5-05C0-A536-BD02-286689DD3A2F}"/>
                  </a:ext>
                </a:extLst>
              </p:cNvPr>
              <p:cNvGraphicFramePr>
                <a:graphicFrameLocks noGrp="1"/>
              </p:cNvGraphicFramePr>
              <p:nvPr>
                <p:extLst>
                  <p:ext uri="{D42A27DB-BD31-4B8C-83A1-F6EECF244321}">
                    <p14:modId xmlns:p14="http://schemas.microsoft.com/office/powerpoint/2010/main" val="3485930638"/>
                  </p:ext>
                </p:extLst>
              </p:nvPr>
            </p:nvGraphicFramePr>
            <p:xfrm>
              <a:off x="777240" y="1820171"/>
              <a:ext cx="3166003" cy="3931920"/>
            </p:xfrm>
            <a:graphic>
              <a:graphicData uri="http://schemas.openxmlformats.org/drawingml/2006/table">
                <a:tbl>
                  <a:tblPr firstRow="1" bandRow="1">
                    <a:tableStyleId>{2D5ABB26-0587-4C30-8999-92F81FD0307C}</a:tableStyleId>
                  </a:tblPr>
                  <a:tblGrid>
                    <a:gridCol w="1154323">
                      <a:extLst>
                        <a:ext uri="{9D8B030D-6E8A-4147-A177-3AD203B41FA5}">
                          <a16:colId xmlns:a16="http://schemas.microsoft.com/office/drawing/2014/main" val="1796223131"/>
                        </a:ext>
                      </a:extLst>
                    </a:gridCol>
                    <a:gridCol w="2011680">
                      <a:extLst>
                        <a:ext uri="{9D8B030D-6E8A-4147-A177-3AD203B41FA5}">
                          <a16:colId xmlns:a16="http://schemas.microsoft.com/office/drawing/2014/main" val="3282681700"/>
                        </a:ext>
                      </a:extLst>
                    </a:gridCol>
                  </a:tblGrid>
                  <a:tr h="1005840">
                    <a:tc>
                      <a:txBody>
                        <a:bodyPr/>
                        <a:lstStyle/>
                        <a:p>
                          <a:pPr algn="ctr"/>
                          <a:r>
                            <a:rPr lang="en-US" sz="2000" b="1" i="0">
                              <a:solidFill>
                                <a:srgbClr val="000000"/>
                              </a:solidFill>
                            </a:rPr>
                            <a:t>Time (hours)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tc>
                      <a:txBody>
                        <a:bodyPr/>
                        <a:lstStyle/>
                        <a:p>
                          <a:pPr algn="ctr"/>
                          <a:r>
                            <a:rPr lang="en-US" sz="2000" b="1" i="0">
                              <a:solidFill>
                                <a:srgbClr val="000000"/>
                              </a:solidFill>
                            </a:rPr>
                            <a:t>Amount of Water Remaining (gallons)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extLst>
                      <a:ext uri="{0D108BD9-81ED-4DB2-BD59-A6C34878D82A}">
                        <a16:rowId xmlns:a16="http://schemas.microsoft.com/office/drawing/2014/main" val="4187273701"/>
                      </a:ext>
                    </a:extLst>
                  </a:tr>
                  <a:tr h="731520">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26" t="-141667" r="-174737" b="-302500"/>
                          </a:stretch>
                        </a:blipFill>
                      </a:tcPr>
                    </a:tc>
                    <a:tc>
                      <a:txBody>
                        <a:bodyPr/>
                        <a:lstStyle/>
                        <a:p>
                          <a:pPr algn="ctr"/>
                          <a:r>
                            <a:rPr lang="en-US" sz="2000">
                              <a:solidFill>
                                <a:srgbClr val="000000"/>
                              </a:solidFill>
                            </a:rPr>
                            <a:t>169</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2075516"/>
                      </a:ext>
                    </a:extLst>
                  </a:tr>
                  <a:tr h="731520">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26" t="-239669" r="-174737" b="-200000"/>
                          </a:stretch>
                        </a:blipFill>
                      </a:tcPr>
                    </a:tc>
                    <a:tc>
                      <a:txBody>
                        <a:bodyPr/>
                        <a:lstStyle/>
                        <a:p>
                          <a:pPr algn="ctr"/>
                          <a:r>
                            <a:rPr lang="en-US" sz="2000">
                              <a:solidFill>
                                <a:srgbClr val="000000"/>
                              </a:solidFill>
                            </a:rPr>
                            <a:t>163</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2584707"/>
                      </a:ext>
                    </a:extLst>
                  </a:tr>
                  <a:tr h="731520">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26" t="-342500" r="-174737" b="-101667"/>
                          </a:stretch>
                        </a:blipFill>
                      </a:tcPr>
                    </a:tc>
                    <a:tc>
                      <a:txBody>
                        <a:bodyPr/>
                        <a:lstStyle/>
                        <a:p>
                          <a:pPr algn="ctr"/>
                          <a:r>
                            <a:rPr lang="en-US" sz="2000">
                              <a:solidFill>
                                <a:srgbClr val="000000"/>
                              </a:solidFill>
                            </a:rPr>
                            <a:t>157</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5287093"/>
                      </a:ext>
                    </a:extLst>
                  </a:tr>
                  <a:tr h="731520">
                    <a:tc>
                      <a:txBody>
                        <a:bodyPr/>
                        <a:lstStyle/>
                        <a:p>
                          <a:pPr algn="ctr"/>
                          <a:r>
                            <a:rPr lang="en-US" sz="2000">
                              <a:solidFill>
                                <a:srgbClr val="000000"/>
                              </a:solidFill>
                            </a:rPr>
                            <a:t>1</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a:solidFill>
                                <a:srgbClr val="000000"/>
                              </a:solidFill>
                            </a:rPr>
                            <a:t>151</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1171273"/>
                      </a:ext>
                    </a:extLst>
                  </a:tr>
                </a:tbl>
              </a:graphicData>
            </a:graphic>
          </p:graphicFrame>
        </mc:Fallback>
      </mc:AlternateContent>
      <p:sp>
        <p:nvSpPr>
          <p:cNvPr id="9" name="Text Placeholder 2">
            <a:extLst>
              <a:ext uri="{FF2B5EF4-FFF2-40B4-BE49-F238E27FC236}">
                <a16:creationId xmlns:a16="http://schemas.microsoft.com/office/drawing/2014/main" id="{51CFB8DF-8110-5078-BCFA-13F8C6C435BE}"/>
              </a:ext>
            </a:extLst>
          </p:cNvPr>
          <p:cNvSpPr txBox="1">
            <a:spLocks/>
          </p:cNvSpPr>
          <p:nvPr/>
        </p:nvSpPr>
        <p:spPr>
          <a:xfrm>
            <a:off x="4064924" y="1402916"/>
            <a:ext cx="7822276" cy="494181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spcAft>
                <a:spcPts val="600"/>
              </a:spcAft>
              <a:buFont typeface="+mj-lt"/>
              <a:buAutoNum type="arabicPeriod" startAt="4"/>
            </a:pPr>
            <a:r>
              <a:rPr lang="en-US" sz="2600">
                <a:solidFill>
                  <a:srgbClr val="000000"/>
                </a:solidFill>
              </a:rPr>
              <a:t>The local pet store has a fish tank on display at the community fair. Darren is responsible for draining the tank at the end of the fair. The pet store manager provides him with this information from when they drained the tank at the end of the fair last year.</a:t>
            </a:r>
          </a:p>
          <a:p>
            <a:pPr marL="1028700" lvl="1" indent="-514350">
              <a:buFont typeface="+mj-lt"/>
              <a:buAutoNum type="alphaLcPeriod"/>
            </a:pPr>
            <a:r>
              <a:rPr lang="en-US" sz="2600">
                <a:solidFill>
                  <a:srgbClr val="000000"/>
                </a:solidFill>
              </a:rPr>
              <a:t>Determine whether the amount of water remaining is directly proportional to the</a:t>
            </a:r>
            <a:br>
              <a:rPr lang="en-US" sz="2600">
                <a:solidFill>
                  <a:srgbClr val="000000"/>
                </a:solidFill>
              </a:rPr>
            </a:br>
            <a:r>
              <a:rPr lang="en-US" sz="2600">
                <a:solidFill>
                  <a:srgbClr val="000000"/>
                </a:solidFill>
              </a:rPr>
              <a:t>time the drain spent draining the tank.</a:t>
            </a:r>
            <a:br>
              <a:rPr lang="en-US" sz="2600">
                <a:solidFill>
                  <a:srgbClr val="000000"/>
                </a:solidFill>
              </a:rPr>
            </a:br>
            <a:r>
              <a:rPr lang="en-US" sz="2600">
                <a:solidFill>
                  <a:srgbClr val="000000"/>
                </a:solidFill>
              </a:rPr>
              <a:t>Justify your reasoning.</a:t>
            </a:r>
          </a:p>
        </p:txBody>
      </p:sp>
    </p:spTree>
    <p:extLst>
      <p:ext uri="{BB962C8B-B14F-4D97-AF65-F5344CB8AC3E}">
        <p14:creationId xmlns:p14="http://schemas.microsoft.com/office/powerpoint/2010/main" val="7237526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55CC2-EEBB-86B3-9956-D0EA3243AF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487BF38-1C66-E861-7CA9-91C1EB06DA45}"/>
              </a:ext>
            </a:extLst>
          </p:cNvPr>
          <p:cNvSpPr>
            <a:spLocks noGrp="1"/>
          </p:cNvSpPr>
          <p:nvPr>
            <p:ph type="title"/>
          </p:nvPr>
        </p:nvSpPr>
        <p:spPr/>
        <p:txBody>
          <a:bodyPr/>
          <a:lstStyle/>
          <a:p>
            <a:pPr algn="l"/>
            <a:r>
              <a:rPr lang="en-US" b="1"/>
              <a:t>Interpreting Linear Functions </a:t>
            </a:r>
            <a:r>
              <a:rPr lang="en-US" sz="2000" b="1">
                <a:solidFill>
                  <a:schemeClr val="bg1"/>
                </a:solidFill>
              </a:rPr>
              <a:t>(8 of 10)</a:t>
            </a:r>
          </a:p>
        </p:txBody>
      </p:sp>
      <p:sp>
        <p:nvSpPr>
          <p:cNvPr id="9" name="Text Placeholder 2">
            <a:extLst>
              <a:ext uri="{FF2B5EF4-FFF2-40B4-BE49-F238E27FC236}">
                <a16:creationId xmlns:a16="http://schemas.microsoft.com/office/drawing/2014/main" id="{8ACD7616-0BF0-EEC6-82ED-1BA560FD8AD2}"/>
              </a:ext>
            </a:extLst>
          </p:cNvPr>
          <p:cNvSpPr txBox="1">
            <a:spLocks/>
          </p:cNvSpPr>
          <p:nvPr/>
        </p:nvSpPr>
        <p:spPr>
          <a:xfrm>
            <a:off x="777241" y="1596044"/>
            <a:ext cx="9896301" cy="483467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5938" lvl="1" indent="-515938">
              <a:buFont typeface="+mj-lt"/>
              <a:buAutoNum type="alphaLcPeriod" startAt="2"/>
            </a:pPr>
            <a:r>
              <a:rPr lang="en-US">
                <a:solidFill>
                  <a:srgbClr val="000000"/>
                </a:solidFill>
              </a:rPr>
              <a:t>How many gallons did the fish tank hold?</a:t>
            </a:r>
          </a:p>
          <a:p>
            <a:pPr marL="515938" lvl="1" indent="-515938">
              <a:buFont typeface="+mj-lt"/>
              <a:buAutoNum type="alphaLcPeriod" startAt="2"/>
            </a:pPr>
            <a:endParaRPr lang="en-US">
              <a:solidFill>
                <a:srgbClr val="000000"/>
              </a:solidFill>
            </a:endParaRPr>
          </a:p>
          <a:p>
            <a:pPr marL="515938" lvl="1" indent="-515938">
              <a:buFont typeface="+mj-lt"/>
              <a:buAutoNum type="alphaLcPeriod" startAt="2"/>
            </a:pPr>
            <a:endParaRPr lang="en-US">
              <a:solidFill>
                <a:srgbClr val="000000"/>
              </a:solidFill>
            </a:endParaRPr>
          </a:p>
          <a:p>
            <a:pPr marL="515938" lvl="1" indent="-515938">
              <a:buFont typeface="+mj-lt"/>
              <a:buAutoNum type="alphaLcPeriod" startAt="2"/>
            </a:pPr>
            <a:r>
              <a:rPr lang="en-US">
                <a:solidFill>
                  <a:srgbClr val="000000"/>
                </a:solidFill>
              </a:rPr>
              <a:t>Write an equation to represent the situation.</a:t>
            </a:r>
          </a:p>
          <a:p>
            <a:pPr marL="515938" lvl="1" indent="-515938">
              <a:buFont typeface="+mj-lt"/>
              <a:buAutoNum type="alphaLcPeriod" startAt="2"/>
            </a:pPr>
            <a:endParaRPr lang="en-US">
              <a:solidFill>
                <a:srgbClr val="000000"/>
              </a:solidFill>
            </a:endParaRPr>
          </a:p>
          <a:p>
            <a:pPr marL="515938" lvl="1" indent="-515938">
              <a:buFont typeface="+mj-lt"/>
              <a:buAutoNum type="alphaLcPeriod" startAt="2"/>
            </a:pPr>
            <a:endParaRPr lang="en-US">
              <a:solidFill>
                <a:srgbClr val="000000"/>
              </a:solidFill>
            </a:endParaRPr>
          </a:p>
          <a:p>
            <a:pPr marL="515938" lvl="1" indent="-515938">
              <a:buFont typeface="+mj-lt"/>
              <a:buAutoNum type="alphaLcPeriod" startAt="2"/>
            </a:pPr>
            <a:r>
              <a:rPr lang="en-US">
                <a:solidFill>
                  <a:srgbClr val="000000"/>
                </a:solidFill>
              </a:rPr>
              <a:t>When will the tank be empty?</a:t>
            </a:r>
          </a:p>
          <a:p>
            <a:pPr marL="400050" lvl="1" indent="0">
              <a:buNone/>
            </a:pPr>
            <a:endParaRPr lang="en-US">
              <a:solidFill>
                <a:srgbClr val="000000"/>
              </a:solidFill>
            </a:endParaRPr>
          </a:p>
        </p:txBody>
      </p:sp>
    </p:spTree>
    <p:extLst>
      <p:ext uri="{BB962C8B-B14F-4D97-AF65-F5344CB8AC3E}">
        <p14:creationId xmlns:p14="http://schemas.microsoft.com/office/powerpoint/2010/main" val="13645773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8A2B8-E7A5-239A-AB90-27F851486F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1D3B88-0F9E-47D9-4A39-F7295D961309}"/>
              </a:ext>
            </a:extLst>
          </p:cNvPr>
          <p:cNvSpPr>
            <a:spLocks noGrp="1"/>
          </p:cNvSpPr>
          <p:nvPr>
            <p:ph type="title"/>
          </p:nvPr>
        </p:nvSpPr>
        <p:spPr/>
        <p:txBody>
          <a:bodyPr/>
          <a:lstStyle/>
          <a:p>
            <a:pPr algn="l"/>
            <a:r>
              <a:rPr lang="en-US" b="1"/>
              <a:t>Interpreting Linear Functions </a:t>
            </a:r>
            <a:r>
              <a:rPr lang="en-US" sz="2000" b="1">
                <a:solidFill>
                  <a:schemeClr val="bg1"/>
                </a:solidFill>
              </a:rPr>
              <a:t>(9 of 10)</a:t>
            </a:r>
          </a:p>
        </p:txBody>
      </p:sp>
      <p:sp>
        <p:nvSpPr>
          <p:cNvPr id="9" name="Text Placeholder 2">
            <a:extLst>
              <a:ext uri="{FF2B5EF4-FFF2-40B4-BE49-F238E27FC236}">
                <a16:creationId xmlns:a16="http://schemas.microsoft.com/office/drawing/2014/main" id="{1E3F3D64-7D3E-6B78-AAE0-10266D78BD13}"/>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a:solidFill>
                  <a:srgbClr val="000000"/>
                </a:solidFill>
              </a:rPr>
              <a:t>Let’s revisit the Essential Question and summarize our learning from Activity 6.1!</a:t>
            </a:r>
          </a:p>
          <a:p>
            <a:pPr marL="0" indent="0" algn="l">
              <a:buNone/>
            </a:pPr>
            <a:endParaRPr lang="en-US" sz="2800">
              <a:solidFill>
                <a:srgbClr val="000000"/>
              </a:solidFill>
            </a:endParaRPr>
          </a:p>
          <a:p>
            <a:pPr marL="0" indent="0" algn="l">
              <a:buNone/>
            </a:pPr>
            <a:endParaRPr lang="en-US" sz="2800">
              <a:solidFill>
                <a:srgbClr val="000000"/>
              </a:solidFill>
            </a:endParaRPr>
          </a:p>
          <a:p>
            <a:pPr marL="0" indent="0">
              <a:buNone/>
            </a:pPr>
            <a:r>
              <a:rPr lang="en-US" sz="2800" b="1">
                <a:solidFill>
                  <a:srgbClr val="000000"/>
                </a:solidFill>
              </a:rPr>
              <a:t>Essential Question:</a:t>
            </a:r>
            <a:r>
              <a:rPr lang="en-US" sz="2800">
                <a:solidFill>
                  <a:srgbClr val="000000"/>
                </a:solidFill>
              </a:rPr>
              <a:t> </a:t>
            </a:r>
            <a:r>
              <a:rPr lang="en-US" sz="2800" b="0" i="0" u="none" strike="noStrike" baseline="0">
                <a:solidFill>
                  <a:srgbClr val="000000"/>
                </a:solidFill>
              </a:rPr>
              <a:t>How can you use the structure of the equation to identify characteristics of the function?</a:t>
            </a:r>
            <a:endParaRPr lang="en-US" sz="2800">
              <a:solidFill>
                <a:srgbClr val="000000"/>
              </a:solidFill>
            </a:endParaRPr>
          </a:p>
        </p:txBody>
      </p:sp>
      <p:pic>
        <p:nvPicPr>
          <p:cNvPr id="2" name="Picture 1">
            <a:extLst>
              <a:ext uri="{FF2B5EF4-FFF2-40B4-BE49-F238E27FC236}">
                <a16:creationId xmlns:a16="http://schemas.microsoft.com/office/drawing/2014/main" id="{98440FB1-39B9-061D-40CB-0A334D9564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40058835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8A2B8-E7A5-239A-AB90-27F851486F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1D3B88-0F9E-47D9-4A39-F7295D961309}"/>
              </a:ext>
            </a:extLst>
          </p:cNvPr>
          <p:cNvSpPr>
            <a:spLocks noGrp="1"/>
          </p:cNvSpPr>
          <p:nvPr>
            <p:ph type="title"/>
          </p:nvPr>
        </p:nvSpPr>
        <p:spPr/>
        <p:txBody>
          <a:bodyPr/>
          <a:lstStyle/>
          <a:p>
            <a:pPr algn="l"/>
            <a:r>
              <a:rPr lang="en-US" b="1"/>
              <a:t>Interpreting Linear Functions </a:t>
            </a:r>
            <a:r>
              <a:rPr lang="en-US" sz="2000" b="1">
                <a:solidFill>
                  <a:schemeClr val="bg1"/>
                </a:solidFill>
              </a:rPr>
              <a:t>(10 of 10)</a:t>
            </a:r>
          </a:p>
        </p:txBody>
      </p:sp>
      <p:sp>
        <p:nvSpPr>
          <p:cNvPr id="9" name="Text Placeholder 2">
            <a:extLst>
              <a:ext uri="{FF2B5EF4-FFF2-40B4-BE49-F238E27FC236}">
                <a16:creationId xmlns:a16="http://schemas.microsoft.com/office/drawing/2014/main" id="{1E3F3D64-7D3E-6B78-AAE0-10266D78BD13}"/>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a:solidFill>
                <a:schemeClr val="bg2">
                  <a:lumMod val="25000"/>
                </a:schemeClr>
              </a:solidFill>
            </a:endParaRPr>
          </a:p>
        </p:txBody>
      </p:sp>
    </p:spTree>
    <p:extLst>
      <p:ext uri="{BB962C8B-B14F-4D97-AF65-F5344CB8AC3E}">
        <p14:creationId xmlns:p14="http://schemas.microsoft.com/office/powerpoint/2010/main" val="2888071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C23B1-A7C4-B510-11E0-844AB5367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E40077-E9EB-22FE-3669-DBAB21E52430}"/>
              </a:ext>
            </a:extLst>
          </p:cNvPr>
          <p:cNvSpPr>
            <a:spLocks noGrp="1"/>
          </p:cNvSpPr>
          <p:nvPr>
            <p:ph type="title" idx="4294967295"/>
          </p:nvPr>
        </p:nvSpPr>
        <p:spPr>
          <a:xfrm>
            <a:off x="838200" y="-307571"/>
            <a:ext cx="10514013" cy="307571"/>
          </a:xfrm>
          <a:prstGeom prst="rect">
            <a:avLst/>
          </a:prstGeom>
        </p:spPr>
        <p:txBody>
          <a:bodyPr anchor="b"/>
          <a:lstStyle/>
          <a:p>
            <a:r>
              <a:rPr lang="en-US" sz="2000">
                <a:solidFill>
                  <a:schemeClr val="bg2"/>
                </a:solidFill>
              </a:rPr>
              <a:t>Day 2</a:t>
            </a:r>
          </a:p>
        </p:txBody>
      </p:sp>
      <p:sp>
        <p:nvSpPr>
          <p:cNvPr id="4" name="Text Placeholder 3">
            <a:extLst>
              <a:ext uri="{FF2B5EF4-FFF2-40B4-BE49-F238E27FC236}">
                <a16:creationId xmlns:a16="http://schemas.microsoft.com/office/drawing/2014/main" id="{0121904A-B8B4-6752-A102-C93D57D6149D}"/>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a:solidFill>
                  <a:srgbClr val="000000"/>
                </a:solidFill>
                <a:latin typeface="Calibri" panose="020F0502020204030204" pitchFamily="34" charset="0"/>
                <a:ea typeface="Calibri" panose="020F0502020204030204" pitchFamily="34" charset="0"/>
                <a:cs typeface="Calibri" panose="020F0502020204030204" pitchFamily="34" charset="0"/>
              </a:rPr>
              <a:t>2</a:t>
            </a:r>
          </a:p>
        </p:txBody>
      </p:sp>
    </p:spTree>
    <p:extLst>
      <p:ext uri="{BB962C8B-B14F-4D97-AF65-F5344CB8AC3E}">
        <p14:creationId xmlns:p14="http://schemas.microsoft.com/office/powerpoint/2010/main" val="3401305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39297-DC1A-EE1B-1BCD-85B926A062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9B73218-8467-BB46-14F9-C712C34E5D9D}"/>
              </a:ext>
            </a:extLst>
          </p:cNvPr>
          <p:cNvSpPr>
            <a:spLocks noGrp="1"/>
          </p:cNvSpPr>
          <p:nvPr>
            <p:ph type="title"/>
          </p:nvPr>
        </p:nvSpPr>
        <p:spPr/>
        <p:txBody>
          <a:bodyPr/>
          <a:lstStyle/>
          <a:p>
            <a:pPr algn="l"/>
            <a:r>
              <a:rPr lang="en-US" b="1"/>
              <a:t>Essential Question </a:t>
            </a:r>
            <a:r>
              <a:rPr lang="en-US" sz="2000" b="1">
                <a:solidFill>
                  <a:schemeClr val="bg1"/>
                </a:solidFill>
              </a:rPr>
              <a:t>(2 of 3)</a:t>
            </a:r>
          </a:p>
        </p:txBody>
      </p:sp>
      <p:sp>
        <p:nvSpPr>
          <p:cNvPr id="2" name="Text Placeholder 2">
            <a:extLst>
              <a:ext uri="{FF2B5EF4-FFF2-40B4-BE49-F238E27FC236}">
                <a16:creationId xmlns:a16="http://schemas.microsoft.com/office/drawing/2014/main" id="{92FDB5BD-B6FE-FA4D-9B15-7B3949553616}"/>
              </a:ext>
            </a:extLst>
          </p:cNvPr>
          <p:cNvSpPr txBox="1">
            <a:spLocks/>
          </p:cNvSpPr>
          <p:nvPr/>
        </p:nvSpPr>
        <p:spPr>
          <a:xfrm>
            <a:off x="777240" y="1604356"/>
            <a:ext cx="10515600" cy="436298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b="0" i="0" u="none" strike="noStrike" baseline="0">
                <a:solidFill>
                  <a:srgbClr val="000000"/>
                </a:solidFill>
              </a:rPr>
              <a:t>How can you use the structure of the equation to identify characteristics of the function?</a:t>
            </a:r>
            <a:endParaRPr lang="en-US" sz="2800">
              <a:solidFill>
                <a:srgbClr val="000000"/>
              </a:solidFill>
            </a:endParaRPr>
          </a:p>
        </p:txBody>
      </p:sp>
    </p:spTree>
    <p:extLst>
      <p:ext uri="{BB962C8B-B14F-4D97-AF65-F5344CB8AC3E}">
        <p14:creationId xmlns:p14="http://schemas.microsoft.com/office/powerpoint/2010/main" val="28149694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A8CAF8-33A1-73A0-1DF9-85DF59BD096A}"/>
              </a:ext>
            </a:extLst>
          </p:cNvPr>
          <p:cNvSpPr>
            <a:spLocks noGrp="1"/>
          </p:cNvSpPr>
          <p:nvPr>
            <p:ph type="title" idx="4294967295"/>
          </p:nvPr>
        </p:nvSpPr>
        <p:spPr>
          <a:xfrm>
            <a:off x="838200" y="-324196"/>
            <a:ext cx="10514013" cy="324196"/>
          </a:xfrm>
          <a:prstGeom prst="rect">
            <a:avLst/>
          </a:prstGeom>
        </p:spPr>
        <p:txBody>
          <a:bodyPr anchor="b"/>
          <a:lstStyle/>
          <a:p>
            <a:r>
              <a:rPr lang="en-US" sz="2000">
                <a:solidFill>
                  <a:schemeClr val="bg2"/>
                </a:solidFill>
              </a:rPr>
              <a:t>Activity 6.2</a:t>
            </a:r>
          </a:p>
        </p:txBody>
      </p:sp>
      <p:sp>
        <p:nvSpPr>
          <p:cNvPr id="3" name="Text Placeholder 2" descr="20 to 25 minutes">
            <a:extLst>
              <a:ext uri="{FF2B5EF4-FFF2-40B4-BE49-F238E27FC236}">
                <a16:creationId xmlns:a16="http://schemas.microsoft.com/office/drawing/2014/main" id="{3CD62AF3-8219-7AEB-1717-BB4B2CD0985B}"/>
              </a:ext>
            </a:extLst>
          </p:cNvPr>
          <p:cNvSpPr>
            <a:spLocks noGrp="1"/>
          </p:cNvSpPr>
          <p:nvPr>
            <p:ph type="body" sz="quarter" idx="12"/>
          </p:nvPr>
        </p:nvSpPr>
        <p:spPr>
          <a:xfrm>
            <a:off x="10614990" y="5781277"/>
            <a:ext cx="863947" cy="795338"/>
          </a:xfrm>
        </p:spPr>
        <p:txBody>
          <a:bodyPr/>
          <a:lstStyle/>
          <a:p>
            <a:r>
              <a:rPr lang="en-US" b="1"/>
              <a:t>20–25</a:t>
            </a:r>
          </a:p>
        </p:txBody>
      </p:sp>
      <p:sp>
        <p:nvSpPr>
          <p:cNvPr id="2" name="Text Placeholder 1">
            <a:extLst>
              <a:ext uri="{FF2B5EF4-FFF2-40B4-BE49-F238E27FC236}">
                <a16:creationId xmlns:a16="http://schemas.microsoft.com/office/drawing/2014/main" id="{7EB81C6C-A8E6-CE4C-2D52-7AD639B7578C}"/>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a:t>6.2</a:t>
            </a:r>
          </a:p>
        </p:txBody>
      </p:sp>
    </p:spTree>
    <p:extLst>
      <p:ext uri="{BB962C8B-B14F-4D97-AF65-F5344CB8AC3E}">
        <p14:creationId xmlns:p14="http://schemas.microsoft.com/office/powerpoint/2010/main" val="2191594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3B986-D4B8-867F-1186-EB6DEF0A290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83C9EA-1C4E-4C57-E6F2-D4F4B147F14B}"/>
              </a:ext>
            </a:extLst>
          </p:cNvPr>
          <p:cNvSpPr>
            <a:spLocks noGrp="1"/>
          </p:cNvSpPr>
          <p:nvPr>
            <p:ph type="title"/>
          </p:nvPr>
        </p:nvSpPr>
        <p:spPr/>
        <p:txBody>
          <a:bodyPr/>
          <a:lstStyle/>
          <a:p>
            <a:pPr algn="l"/>
            <a:r>
              <a:rPr lang="en-US" b="1"/>
              <a:t>Interpreting Graphs of Linear Functions </a:t>
            </a:r>
            <a:r>
              <a:rPr lang="en-US" sz="2000" b="1">
                <a:solidFill>
                  <a:schemeClr val="bg1"/>
                </a:solidFill>
              </a:rPr>
              <a:t>(1 of 11)</a:t>
            </a:r>
          </a:p>
        </p:txBody>
      </p:sp>
      <p:sp>
        <p:nvSpPr>
          <p:cNvPr id="9" name="Text Placeholder 2">
            <a:extLst>
              <a:ext uri="{FF2B5EF4-FFF2-40B4-BE49-F238E27FC236}">
                <a16:creationId xmlns:a16="http://schemas.microsoft.com/office/drawing/2014/main" id="{D6D453E8-F348-6E02-CE7D-F60E96A5EB3D}"/>
              </a:ext>
            </a:extLst>
          </p:cNvPr>
          <p:cNvSpPr txBox="1">
            <a:spLocks/>
          </p:cNvSpPr>
          <p:nvPr/>
        </p:nvSpPr>
        <p:spPr>
          <a:xfrm>
            <a:off x="777241" y="1371600"/>
            <a:ext cx="8192192" cy="230262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a:solidFill>
                  <a:srgbClr val="000000"/>
                </a:solidFill>
              </a:rPr>
              <a:t>Gracie sells silk screened T-shirts for her mom at</a:t>
            </a:r>
            <a:br>
              <a:rPr lang="en-US" sz="2800" b="0" i="0" u="none" strike="noStrike" baseline="0">
                <a:solidFill>
                  <a:srgbClr val="000000"/>
                </a:solidFill>
              </a:rPr>
            </a:br>
            <a:r>
              <a:rPr lang="en-US" sz="2800" b="0" i="0" u="none" strike="noStrike" baseline="0">
                <a:solidFill>
                  <a:srgbClr val="000000"/>
                </a:solidFill>
              </a:rPr>
              <a:t>local festivals. After each festival, she returns whatever money she earns to her mom. The graph shown represents her potential earnings based on the number of T-shirts she sells.</a:t>
            </a:r>
            <a:endParaRPr lang="en-US" sz="2800">
              <a:solidFill>
                <a:srgbClr val="000000"/>
              </a:solidFill>
            </a:endParaRPr>
          </a:p>
        </p:txBody>
      </p:sp>
      <p:sp>
        <p:nvSpPr>
          <p:cNvPr id="2" name="Google Shape;592;p16">
            <a:extLst>
              <a:ext uri="{FF2B5EF4-FFF2-40B4-BE49-F238E27FC236}">
                <a16:creationId xmlns:a16="http://schemas.microsoft.com/office/drawing/2014/main" id="{ABC6DBBB-DCF5-CD59-FAD7-2B1CA8F8EE55}"/>
              </a:ext>
            </a:extLst>
          </p:cNvPr>
          <p:cNvSpPr/>
          <p:nvPr/>
        </p:nvSpPr>
        <p:spPr>
          <a:xfrm>
            <a:off x="9285316" y="1886989"/>
            <a:ext cx="2127856" cy="2933710"/>
          </a:xfrm>
          <a:prstGeom prst="wedgeRoundRectCallout">
            <a:avLst>
              <a:gd name="adj1" fmla="val -37762"/>
              <a:gd name="adj2" fmla="val -59392"/>
              <a:gd name="adj3" fmla="val 16667"/>
            </a:avLst>
          </a:prstGeom>
          <a:solidFill>
            <a:schemeClr val="lt1"/>
          </a:solidFill>
          <a:ln w="19050" cap="flat" cmpd="sng">
            <a:solidFill>
              <a:srgbClr val="008F4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1">
                <a:solidFill>
                  <a:srgbClr val="267D42"/>
                </a:solidFill>
                <a:ea typeface="Calibri"/>
                <a:cs typeface="Calibri"/>
                <a:sym typeface="Calibri"/>
              </a:rPr>
              <a:t>Ask Yourself…</a:t>
            </a:r>
            <a:endParaRPr sz="2000">
              <a:solidFill>
                <a:srgbClr val="267D42"/>
              </a:solidFill>
            </a:endParaRPr>
          </a:p>
          <a:p>
            <a:pPr algn="l"/>
            <a:r>
              <a:rPr lang="en-US" sz="2000" b="0" i="0" u="none" strike="noStrike" baseline="0">
                <a:solidFill>
                  <a:srgbClr val="000000"/>
                </a:solidFill>
              </a:rPr>
              <a:t>What is the meaning of the slope, </a:t>
            </a:r>
            <a:r>
              <a:rPr lang="en-US" sz="2000" b="0" i="1" u="none" strike="noStrike" baseline="0">
                <a:solidFill>
                  <a:srgbClr val="000000"/>
                </a:solidFill>
              </a:rPr>
              <a:t>x</a:t>
            </a:r>
            <a:r>
              <a:rPr lang="en-US" sz="2000" b="0" i="0" u="none" strike="noStrike" baseline="0">
                <a:solidFill>
                  <a:srgbClr val="000000"/>
                </a:solidFill>
              </a:rPr>
              <a:t>- and</a:t>
            </a:r>
            <a:br>
              <a:rPr lang="en-US" sz="2000" b="0" i="0" u="none" strike="noStrike" baseline="0">
                <a:solidFill>
                  <a:srgbClr val="000000"/>
                </a:solidFill>
              </a:rPr>
            </a:br>
            <a:r>
              <a:rPr lang="en-US" sz="2000" b="0" i="1" u="none" strike="noStrike" baseline="0">
                <a:solidFill>
                  <a:srgbClr val="000000"/>
                </a:solidFill>
              </a:rPr>
              <a:t>y</a:t>
            </a:r>
            <a:r>
              <a:rPr lang="en-US" sz="2000" b="0" i="0" u="none" strike="noStrike" baseline="0">
                <a:solidFill>
                  <a:srgbClr val="000000"/>
                </a:solidFill>
              </a:rPr>
              <a:t>-intercepts, domain, and range in terms of this situation?</a:t>
            </a:r>
            <a:endParaRPr sz="2000">
              <a:solidFill>
                <a:srgbClr val="000000"/>
              </a:solidFill>
            </a:endParaRPr>
          </a:p>
        </p:txBody>
      </p:sp>
      <p:pic>
        <p:nvPicPr>
          <p:cNvPr id="6" name="Picture 5" descr="A graph of a line on the coordinate plane. The x axis represents number of t shirts, and the y axis represents potential earnings in dollars. The line rises from left to right through the points (0, 0) and (2, 30).">
            <a:extLst>
              <a:ext uri="{FF2B5EF4-FFF2-40B4-BE49-F238E27FC236}">
                <a16:creationId xmlns:a16="http://schemas.microsoft.com/office/drawing/2014/main" id="{EF7510EB-3986-0587-F1DE-3675629BCF41}"/>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4344743" y="3429000"/>
            <a:ext cx="3500926" cy="3334212"/>
          </a:xfrm>
          <a:prstGeom prst="rect">
            <a:avLst/>
          </a:prstGeom>
        </p:spPr>
      </p:pic>
    </p:spTree>
    <p:extLst>
      <p:ext uri="{BB962C8B-B14F-4D97-AF65-F5344CB8AC3E}">
        <p14:creationId xmlns:p14="http://schemas.microsoft.com/office/powerpoint/2010/main" val="34073212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F2929-24F5-761A-2E4E-0E972B4A328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D95D66A-7762-9EB3-8A2B-D1EAED054E1A}"/>
              </a:ext>
            </a:extLst>
          </p:cNvPr>
          <p:cNvSpPr>
            <a:spLocks noGrp="1"/>
          </p:cNvSpPr>
          <p:nvPr>
            <p:ph type="title"/>
          </p:nvPr>
        </p:nvSpPr>
        <p:spPr/>
        <p:txBody>
          <a:bodyPr/>
          <a:lstStyle/>
          <a:p>
            <a:pPr algn="l"/>
            <a:r>
              <a:rPr lang="en-US" b="1"/>
              <a:t>Interpreting Graphs of Linear Functions </a:t>
            </a:r>
            <a:r>
              <a:rPr lang="en-US" sz="2000" b="1">
                <a:solidFill>
                  <a:schemeClr val="bg1"/>
                </a:solidFill>
              </a:rPr>
              <a:t>(2 of 11)</a:t>
            </a:r>
          </a:p>
        </p:txBody>
      </p:sp>
      <p:sp>
        <p:nvSpPr>
          <p:cNvPr id="9" name="Text Placeholder 2">
            <a:extLst>
              <a:ext uri="{FF2B5EF4-FFF2-40B4-BE49-F238E27FC236}">
                <a16:creationId xmlns:a16="http://schemas.microsoft.com/office/drawing/2014/main" id="{E9BD0CB5-9585-7EF9-006F-C3AF2D3546E8}"/>
              </a:ext>
            </a:extLst>
          </p:cNvPr>
          <p:cNvSpPr txBox="1">
            <a:spLocks/>
          </p:cNvSpPr>
          <p:nvPr/>
        </p:nvSpPr>
        <p:spPr>
          <a:xfrm>
            <a:off x="777240" y="1596044"/>
            <a:ext cx="9945039" cy="48172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a:solidFill>
                  <a:srgbClr val="000000"/>
                </a:solidFill>
              </a:rPr>
              <a:t>Analyze and interpret the graph. List as many facts as you can about the scenario based on what you see in the graph and describe how they relate to the scenario.</a:t>
            </a:r>
            <a:endParaRPr lang="en-US" sz="4800">
              <a:solidFill>
                <a:srgbClr val="000000"/>
              </a:solidFill>
            </a:endParaRPr>
          </a:p>
        </p:txBody>
      </p:sp>
    </p:spTree>
    <p:extLst>
      <p:ext uri="{BB962C8B-B14F-4D97-AF65-F5344CB8AC3E}">
        <p14:creationId xmlns:p14="http://schemas.microsoft.com/office/powerpoint/2010/main" val="38320715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FF78C-B592-E6D0-AD84-9903B3667E7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21C7E8F-BC39-B160-18D6-173D75AC3D23}"/>
              </a:ext>
            </a:extLst>
          </p:cNvPr>
          <p:cNvSpPr>
            <a:spLocks noGrp="1"/>
          </p:cNvSpPr>
          <p:nvPr>
            <p:ph type="title"/>
          </p:nvPr>
        </p:nvSpPr>
        <p:spPr/>
        <p:txBody>
          <a:bodyPr/>
          <a:lstStyle/>
          <a:p>
            <a:pPr algn="l"/>
            <a:r>
              <a:rPr lang="en-US" b="1"/>
              <a:t>Interpreting Graphs of Linear Functions </a:t>
            </a:r>
            <a:r>
              <a:rPr lang="en-US" sz="2000" b="1">
                <a:solidFill>
                  <a:schemeClr val="bg1"/>
                </a:solidFill>
              </a:rPr>
              <a:t>(3 of 11)</a:t>
            </a:r>
          </a:p>
        </p:txBody>
      </p:sp>
      <p:sp>
        <p:nvSpPr>
          <p:cNvPr id="2" name="Google Shape;592;p16">
            <a:extLst>
              <a:ext uri="{FF2B5EF4-FFF2-40B4-BE49-F238E27FC236}">
                <a16:creationId xmlns:a16="http://schemas.microsoft.com/office/drawing/2014/main" id="{EFD4D115-DA28-3BCE-CFED-7DE256F7A4EB}"/>
              </a:ext>
            </a:extLst>
          </p:cNvPr>
          <p:cNvSpPr/>
          <p:nvPr/>
        </p:nvSpPr>
        <p:spPr>
          <a:xfrm flipH="1">
            <a:off x="777240" y="1885442"/>
            <a:ext cx="2190404" cy="2607398"/>
          </a:xfrm>
          <a:prstGeom prst="wedgeRoundRectCallout">
            <a:avLst>
              <a:gd name="adj1" fmla="val 12616"/>
              <a:gd name="adj2" fmla="val -60590"/>
              <a:gd name="adj3" fmla="val 16667"/>
            </a:avLst>
          </a:prstGeom>
          <a:solidFill>
            <a:schemeClr val="lt1"/>
          </a:solidFill>
          <a:ln w="19050" cap="flat" cmpd="sng">
            <a:solidFill>
              <a:srgbClr val="008F4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1">
                <a:solidFill>
                  <a:srgbClr val="267D42"/>
                </a:solidFill>
                <a:ea typeface="Calibri"/>
                <a:cs typeface="Calibri"/>
                <a:sym typeface="Calibri"/>
              </a:rPr>
              <a:t>Ask Yourself…</a:t>
            </a:r>
            <a:endParaRPr sz="2000">
              <a:solidFill>
                <a:srgbClr val="267D42"/>
              </a:solidFill>
            </a:endParaRPr>
          </a:p>
          <a:p>
            <a:pPr algn="l"/>
            <a:r>
              <a:rPr lang="en-US" sz="2000">
                <a:solidFill>
                  <a:srgbClr val="000000"/>
                </a:solidFill>
              </a:rPr>
              <a:t>Does the function </a:t>
            </a:r>
            <a:r>
              <a:rPr lang="en-US" sz="2000" i="1">
                <a:solidFill>
                  <a:srgbClr val="000000"/>
                </a:solidFill>
              </a:rPr>
              <a:t>E</a:t>
            </a:r>
            <a:r>
              <a:rPr lang="en-US" sz="2000">
                <a:solidFill>
                  <a:srgbClr val="000000"/>
                </a:solidFill>
              </a:rPr>
              <a:t>(</a:t>
            </a:r>
            <a:r>
              <a:rPr lang="en-US" sz="2000" i="1">
                <a:solidFill>
                  <a:srgbClr val="000000"/>
                </a:solidFill>
              </a:rPr>
              <a:t>t</a:t>
            </a:r>
            <a:r>
              <a:rPr lang="en-US" sz="2000">
                <a:solidFill>
                  <a:srgbClr val="000000"/>
                </a:solidFill>
              </a:rPr>
              <a:t>) represent a direct variation? Explain your reasoning.</a:t>
            </a:r>
            <a:endParaRPr sz="2000">
              <a:solidFill>
                <a:srgbClr val="000000"/>
              </a:solidFill>
            </a:endParaRPr>
          </a:p>
        </p:txBody>
      </p:sp>
      <p:sp>
        <p:nvSpPr>
          <p:cNvPr id="9" name="Text Placeholder 2">
            <a:extLst>
              <a:ext uri="{FF2B5EF4-FFF2-40B4-BE49-F238E27FC236}">
                <a16:creationId xmlns:a16="http://schemas.microsoft.com/office/drawing/2014/main" id="{0C5DCC94-43A3-2E02-4C0D-288E5EBEFCF8}"/>
              </a:ext>
            </a:extLst>
          </p:cNvPr>
          <p:cNvSpPr txBox="1">
            <a:spLocks/>
          </p:cNvSpPr>
          <p:nvPr/>
        </p:nvSpPr>
        <p:spPr>
          <a:xfrm>
            <a:off x="3419606" y="1665961"/>
            <a:ext cx="7852452" cy="439507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5938" indent="-515938">
              <a:lnSpc>
                <a:spcPts val="3000"/>
              </a:lnSpc>
              <a:spcBef>
                <a:spcPts val="0"/>
              </a:spcBef>
              <a:buFont typeface="+mj-lt"/>
              <a:buAutoNum type="arabicPeriod" startAt="2"/>
            </a:pPr>
            <a:r>
              <a:rPr lang="en-US" sz="2800">
                <a:solidFill>
                  <a:srgbClr val="000000"/>
                </a:solidFill>
              </a:rPr>
              <a:t>Interpret the meaning of the </a:t>
            </a:r>
            <a:r>
              <a:rPr lang="en-US" sz="2800" i="1">
                <a:solidFill>
                  <a:srgbClr val="000000"/>
                </a:solidFill>
              </a:rPr>
              <a:t>x</a:t>
            </a:r>
            <a:r>
              <a:rPr lang="en-US" sz="2800">
                <a:solidFill>
                  <a:srgbClr val="000000"/>
                </a:solidFill>
              </a:rPr>
              <a:t>- and </a:t>
            </a:r>
            <a:r>
              <a:rPr lang="en-US" sz="2800" i="1">
                <a:solidFill>
                  <a:srgbClr val="000000"/>
                </a:solidFill>
              </a:rPr>
              <a:t>y</a:t>
            </a:r>
            <a:r>
              <a:rPr lang="en-US" sz="2800">
                <a:solidFill>
                  <a:srgbClr val="000000"/>
                </a:solidFill>
              </a:rPr>
              <a:t>-intercept.</a:t>
            </a:r>
          </a:p>
          <a:p>
            <a:pPr marL="515938" indent="-515938">
              <a:lnSpc>
                <a:spcPts val="3000"/>
              </a:lnSpc>
              <a:spcBef>
                <a:spcPts val="0"/>
              </a:spcBef>
              <a:buFont typeface="+mj-lt"/>
              <a:buAutoNum type="arabicPeriod" startAt="2"/>
            </a:pPr>
            <a:endParaRPr lang="en-US" sz="2800">
              <a:solidFill>
                <a:srgbClr val="000000"/>
              </a:solidFill>
            </a:endParaRPr>
          </a:p>
          <a:p>
            <a:pPr marL="515938" indent="-515938">
              <a:lnSpc>
                <a:spcPts val="3000"/>
              </a:lnSpc>
              <a:spcBef>
                <a:spcPts val="0"/>
              </a:spcBef>
              <a:buFont typeface="+mj-lt"/>
              <a:buAutoNum type="arabicPeriod" startAt="2"/>
            </a:pPr>
            <a:endParaRPr lang="en-US" sz="2800">
              <a:solidFill>
                <a:srgbClr val="000000"/>
              </a:solidFill>
            </a:endParaRPr>
          </a:p>
          <a:p>
            <a:pPr marL="515938" indent="-515938" algn="l">
              <a:buFont typeface="+mj-lt"/>
              <a:buAutoNum type="arabicPeriod" startAt="2"/>
            </a:pPr>
            <a:r>
              <a:rPr lang="en-US" sz="2800" b="0" i="0" u="none" strike="noStrike" baseline="0">
                <a:solidFill>
                  <a:srgbClr val="000000"/>
                </a:solidFill>
              </a:rPr>
              <a:t>Write a function, </a:t>
            </a:r>
            <a:r>
              <a:rPr lang="en-US" sz="2800" b="0" i="1" u="none" strike="noStrike" baseline="0">
                <a:solidFill>
                  <a:srgbClr val="000000"/>
                </a:solidFill>
              </a:rPr>
              <a:t>E</a:t>
            </a:r>
            <a:r>
              <a:rPr lang="en-US" sz="2800" b="0" i="0" u="none" strike="noStrike" baseline="0">
                <a:solidFill>
                  <a:srgbClr val="000000"/>
                </a:solidFill>
              </a:rPr>
              <a:t>(</a:t>
            </a:r>
            <a:r>
              <a:rPr lang="en-US" sz="2800" b="0" i="1" u="none" strike="noStrike" baseline="0">
                <a:solidFill>
                  <a:srgbClr val="000000"/>
                </a:solidFill>
              </a:rPr>
              <a:t>t</a:t>
            </a:r>
            <a:r>
              <a:rPr lang="en-US" sz="2800" b="0" i="0" u="none" strike="noStrike" baseline="0">
                <a:solidFill>
                  <a:srgbClr val="000000"/>
                </a:solidFill>
              </a:rPr>
              <a:t>), to model Gracie’s potential earnings given the number of T-shirts she sells.</a:t>
            </a:r>
          </a:p>
          <a:p>
            <a:pPr marL="515938" indent="-515938" algn="l">
              <a:buNone/>
            </a:pPr>
            <a:br>
              <a:rPr lang="en-US" sz="2800">
                <a:solidFill>
                  <a:srgbClr val="000000"/>
                </a:solidFill>
              </a:rPr>
            </a:br>
            <a:endParaRPr lang="en-US" sz="2800">
              <a:solidFill>
                <a:srgbClr val="000000"/>
              </a:solidFill>
            </a:endParaRPr>
          </a:p>
          <a:p>
            <a:pPr marL="515938" indent="-515938" algn="l">
              <a:buFont typeface="+mj-lt"/>
              <a:buAutoNum type="arabicPeriod" startAt="4"/>
            </a:pPr>
            <a:r>
              <a:rPr lang="en-US" sz="2800" b="0" i="0" u="none" strike="noStrike" baseline="0">
                <a:solidFill>
                  <a:srgbClr val="000000"/>
                </a:solidFill>
              </a:rPr>
              <a:t>What does (</a:t>
            </a:r>
            <a:r>
              <a:rPr lang="en-US" sz="2800" b="0" i="1" u="none" strike="noStrike" baseline="0">
                <a:solidFill>
                  <a:srgbClr val="000000"/>
                </a:solidFill>
              </a:rPr>
              <a:t>t</a:t>
            </a:r>
            <a:r>
              <a:rPr lang="en-US" sz="2800" b="0" i="0" u="none" strike="noStrike" baseline="0">
                <a:solidFill>
                  <a:srgbClr val="000000"/>
                </a:solidFill>
              </a:rPr>
              <a:t>, </a:t>
            </a:r>
            <a:r>
              <a:rPr lang="en-US" sz="2800" b="0" i="1" u="none" strike="noStrike" baseline="0">
                <a:solidFill>
                  <a:srgbClr val="000000"/>
                </a:solidFill>
              </a:rPr>
              <a:t>E</a:t>
            </a:r>
            <a:r>
              <a:rPr lang="en-US" sz="2800" b="0" i="0" u="none" strike="noStrike" baseline="0">
                <a:solidFill>
                  <a:srgbClr val="000000"/>
                </a:solidFill>
              </a:rPr>
              <a:t>(</a:t>
            </a:r>
            <a:r>
              <a:rPr lang="en-US" sz="2800" b="0" i="1" u="none" strike="noStrike" baseline="0">
                <a:solidFill>
                  <a:srgbClr val="000000"/>
                </a:solidFill>
              </a:rPr>
              <a:t>t</a:t>
            </a:r>
            <a:r>
              <a:rPr lang="en-US" sz="2800" b="0" i="0" u="none" strike="noStrike" baseline="0">
                <a:solidFill>
                  <a:srgbClr val="000000"/>
                </a:solidFill>
              </a:rPr>
              <a:t>)) represent in terms of the function and the graph?</a:t>
            </a:r>
            <a:br>
              <a:rPr lang="en-US" sz="2800">
                <a:solidFill>
                  <a:srgbClr val="000000"/>
                </a:solidFill>
              </a:rPr>
            </a:br>
            <a:endParaRPr lang="en-US" sz="2800">
              <a:solidFill>
                <a:srgbClr val="000000"/>
              </a:solidFill>
            </a:endParaRPr>
          </a:p>
        </p:txBody>
      </p:sp>
    </p:spTree>
    <p:extLst>
      <p:ext uri="{BB962C8B-B14F-4D97-AF65-F5344CB8AC3E}">
        <p14:creationId xmlns:p14="http://schemas.microsoft.com/office/powerpoint/2010/main" val="15799048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73D6F-04C4-6917-45CE-1F46B515238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51412E-2B99-AA50-6CCE-814DA69E5B62}"/>
              </a:ext>
            </a:extLst>
          </p:cNvPr>
          <p:cNvSpPr>
            <a:spLocks noGrp="1"/>
          </p:cNvSpPr>
          <p:nvPr>
            <p:ph type="title"/>
          </p:nvPr>
        </p:nvSpPr>
        <p:spPr/>
        <p:txBody>
          <a:bodyPr/>
          <a:lstStyle/>
          <a:p>
            <a:pPr algn="l"/>
            <a:r>
              <a:rPr lang="en-US" b="1"/>
              <a:t>Interpreting Graphs of Linear Functions </a:t>
            </a:r>
            <a:r>
              <a:rPr lang="en-US" sz="2000" b="1">
                <a:solidFill>
                  <a:schemeClr val="bg1"/>
                </a:solidFill>
              </a:rPr>
              <a:t>(4 of 11)</a:t>
            </a:r>
          </a:p>
        </p:txBody>
      </p:sp>
      <p:sp>
        <p:nvSpPr>
          <p:cNvPr id="9" name="Text Placeholder 2">
            <a:extLst>
              <a:ext uri="{FF2B5EF4-FFF2-40B4-BE49-F238E27FC236}">
                <a16:creationId xmlns:a16="http://schemas.microsoft.com/office/drawing/2014/main" id="{A314ECAC-A242-ABFB-4DF0-22E0A461AA70}"/>
              </a:ext>
            </a:extLst>
          </p:cNvPr>
          <p:cNvSpPr txBox="1">
            <a:spLocks/>
          </p:cNvSpPr>
          <p:nvPr/>
        </p:nvSpPr>
        <p:spPr>
          <a:xfrm>
            <a:off x="777241" y="1587731"/>
            <a:ext cx="9945038" cy="424783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5"/>
            </a:pPr>
            <a:r>
              <a:rPr lang="en-US" sz="2800">
                <a:solidFill>
                  <a:srgbClr val="000000"/>
                </a:solidFill>
              </a:rPr>
              <a:t>Evaluate each and interpret the meaning in terms of the equation, the graph, and the scenario.</a:t>
            </a:r>
          </a:p>
          <a:p>
            <a:pPr marL="514350" indent="-514350">
              <a:buFont typeface="+mj-lt"/>
              <a:buAutoNum type="arabicPeriod" startAt="5"/>
            </a:pPr>
            <a:endParaRPr lang="en-US" sz="2800">
              <a:solidFill>
                <a:srgbClr val="000000"/>
              </a:solidFill>
            </a:endParaRPr>
          </a:p>
          <a:p>
            <a:pPr marL="515938" indent="0">
              <a:buNone/>
            </a:pPr>
            <a:r>
              <a:rPr lang="en-US" sz="2800">
                <a:solidFill>
                  <a:srgbClr val="000000"/>
                </a:solidFill>
              </a:rPr>
              <a:t>a.  </a:t>
            </a:r>
            <a:r>
              <a:rPr lang="en-US" sz="2800" i="1">
                <a:solidFill>
                  <a:srgbClr val="000000"/>
                </a:solidFill>
              </a:rPr>
              <a:t>E</a:t>
            </a:r>
            <a:r>
              <a:rPr lang="en-US" sz="2800">
                <a:solidFill>
                  <a:srgbClr val="000000"/>
                </a:solidFill>
              </a:rPr>
              <a:t>(2)			b.  </a:t>
            </a:r>
            <a:r>
              <a:rPr lang="en-US" sz="2800" i="1">
                <a:solidFill>
                  <a:srgbClr val="000000"/>
                </a:solidFill>
              </a:rPr>
              <a:t>E</a:t>
            </a:r>
            <a:r>
              <a:rPr lang="en-US" sz="2800">
                <a:solidFill>
                  <a:srgbClr val="000000"/>
                </a:solidFill>
              </a:rPr>
              <a:t>(5)			c.  </a:t>
            </a:r>
            <a:r>
              <a:rPr lang="en-US" sz="2800" i="1">
                <a:solidFill>
                  <a:srgbClr val="000000"/>
                </a:solidFill>
              </a:rPr>
              <a:t>E</a:t>
            </a:r>
            <a:r>
              <a:rPr lang="en-US" sz="2800">
                <a:solidFill>
                  <a:srgbClr val="000000"/>
                </a:solidFill>
              </a:rPr>
              <a:t>(2.75)</a:t>
            </a:r>
          </a:p>
        </p:txBody>
      </p:sp>
    </p:spTree>
    <p:extLst>
      <p:ext uri="{BB962C8B-B14F-4D97-AF65-F5344CB8AC3E}">
        <p14:creationId xmlns:p14="http://schemas.microsoft.com/office/powerpoint/2010/main" val="21203383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37495-09FD-B6B7-D45B-242C143BE6E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520785A-14E7-5D85-BA3B-D2293521A01C}"/>
              </a:ext>
            </a:extLst>
          </p:cNvPr>
          <p:cNvSpPr>
            <a:spLocks noGrp="1"/>
          </p:cNvSpPr>
          <p:nvPr>
            <p:ph type="title"/>
          </p:nvPr>
        </p:nvSpPr>
        <p:spPr/>
        <p:txBody>
          <a:bodyPr/>
          <a:lstStyle/>
          <a:p>
            <a:pPr algn="l"/>
            <a:r>
              <a:rPr lang="en-US" b="1"/>
              <a:t>Interpreting Graphs of Linear Functions </a:t>
            </a:r>
            <a:r>
              <a:rPr lang="en-US" sz="2000" b="1">
                <a:solidFill>
                  <a:schemeClr val="bg1"/>
                </a:solidFill>
              </a:rPr>
              <a:t>(5 of 11)</a:t>
            </a:r>
          </a:p>
        </p:txBody>
      </p:sp>
      <p:sp>
        <p:nvSpPr>
          <p:cNvPr id="9" name="Text Placeholder 2">
            <a:extLst>
              <a:ext uri="{FF2B5EF4-FFF2-40B4-BE49-F238E27FC236}">
                <a16:creationId xmlns:a16="http://schemas.microsoft.com/office/drawing/2014/main" id="{8817AB70-0D9B-5221-E51E-31C2B7DA0AF1}"/>
              </a:ext>
            </a:extLst>
          </p:cNvPr>
          <p:cNvSpPr txBox="1">
            <a:spLocks/>
          </p:cNvSpPr>
          <p:nvPr/>
        </p:nvSpPr>
        <p:spPr>
          <a:xfrm>
            <a:off x="777240" y="1468094"/>
            <a:ext cx="10635931" cy="104774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a:solidFill>
                  <a:srgbClr val="000000"/>
                </a:solidFill>
              </a:rPr>
              <a:t>Gracie has a goal to earn $100 at the festival. Let’s consider how to determine the number of T-shirts she needs to sell to meet her goal.</a:t>
            </a:r>
          </a:p>
        </p:txBody>
      </p:sp>
      <p:sp>
        <p:nvSpPr>
          <p:cNvPr id="2" name="Rectangle: Rounded Corners 1">
            <a:extLst>
              <a:ext uri="{FF2B5EF4-FFF2-40B4-BE49-F238E27FC236}">
                <a16:creationId xmlns:a16="http://schemas.microsoft.com/office/drawing/2014/main" id="{B2B3C055-ACF7-8F60-B7EE-5E6A0529CF27}"/>
              </a:ext>
              <a:ext uri="{C183D7F6-B498-43B3-948B-1728B52AA6E4}">
                <adec:decorative xmlns:adec="http://schemas.microsoft.com/office/drawing/2017/decorative" val="1"/>
              </a:ext>
            </a:extLst>
          </p:cNvPr>
          <p:cNvSpPr/>
          <p:nvPr/>
        </p:nvSpPr>
        <p:spPr>
          <a:xfrm>
            <a:off x="2038499" y="2934119"/>
            <a:ext cx="8113412" cy="3566386"/>
          </a:xfrm>
          <a:prstGeom prst="roundRect">
            <a:avLst/>
          </a:prstGeom>
          <a:noFill/>
          <a:ln w="50800" cmpd="dbl">
            <a:solidFill>
              <a:schemeClr val="bg2">
                <a:lumMod val="50000"/>
              </a:schemeClr>
            </a:solid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Worked Example">
            <a:extLst>
              <a:ext uri="{FF2B5EF4-FFF2-40B4-BE49-F238E27FC236}">
                <a16:creationId xmlns:a16="http://schemas.microsoft.com/office/drawing/2014/main" id="{D88EA481-26B5-9B15-2655-BDD23DFD664D}"/>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562778" y="2720740"/>
            <a:ext cx="2758679" cy="426757"/>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5856DDA-AAC1-409E-F423-E1D562E68749}"/>
                  </a:ext>
                </a:extLst>
              </p:cNvPr>
              <p:cNvSpPr txBox="1"/>
              <p:nvPr/>
            </p:nvSpPr>
            <p:spPr>
              <a:xfrm>
                <a:off x="2446590" y="3111712"/>
                <a:ext cx="7705320" cy="3211200"/>
              </a:xfrm>
              <a:prstGeom prst="rect">
                <a:avLst/>
              </a:prstGeom>
              <a:noFill/>
            </p:spPr>
            <p:txBody>
              <a:bodyPr wrap="square" rtlCol="0">
                <a:spAutoFit/>
              </a:bodyPr>
              <a:lstStyle/>
              <a:p>
                <a:pPr algn="l"/>
                <a:r>
                  <a:rPr lang="en-US" sz="2400" b="0" i="0" u="none" strike="noStrike" baseline="0">
                    <a:solidFill>
                      <a:srgbClr val="000000"/>
                    </a:solidFill>
                  </a:rPr>
                  <a:t>To determine the number of T-shirt sales it takes to earn $100 using the function, </a:t>
                </a:r>
                <a:r>
                  <a:rPr lang="en-US" sz="2400" b="0" i="1" u="none" strike="noStrike" baseline="0">
                    <a:solidFill>
                      <a:srgbClr val="000000"/>
                    </a:solidFill>
                  </a:rPr>
                  <a:t>E</a:t>
                </a:r>
                <a:r>
                  <a:rPr lang="en-US" sz="2400" b="0" i="0" u="none" strike="noStrike" baseline="0">
                    <a:solidFill>
                      <a:srgbClr val="000000"/>
                    </a:solidFill>
                  </a:rPr>
                  <a:t>(</a:t>
                </a:r>
                <a:r>
                  <a:rPr lang="en-US" sz="2400" b="0" i="1" u="none" strike="noStrike" baseline="0">
                    <a:solidFill>
                      <a:srgbClr val="000000"/>
                    </a:solidFill>
                  </a:rPr>
                  <a:t>t</a:t>
                </a:r>
                <a:r>
                  <a:rPr lang="en-US" sz="2400" b="0" i="0" u="none" strike="noStrike" baseline="0">
                    <a:solidFill>
                      <a:srgbClr val="000000"/>
                    </a:solidFill>
                  </a:rPr>
                  <a:t>) = 15</a:t>
                </a:r>
                <a:r>
                  <a:rPr lang="en-US" sz="2400" b="0" i="1" u="none" strike="noStrike" baseline="0">
                    <a:solidFill>
                      <a:srgbClr val="000000"/>
                    </a:solidFill>
                  </a:rPr>
                  <a:t>t</a:t>
                </a:r>
                <a:r>
                  <a:rPr lang="en-US" sz="2400" b="0" i="0" u="none" strike="noStrike" baseline="0">
                    <a:solidFill>
                      <a:srgbClr val="000000"/>
                    </a:solidFill>
                  </a:rPr>
                  <a:t>, substitute 100 for </a:t>
                </a:r>
                <a:r>
                  <a:rPr lang="en-US" sz="2400" b="0" i="1" u="none" strike="noStrike" baseline="0">
                    <a:solidFill>
                      <a:srgbClr val="000000"/>
                    </a:solidFill>
                  </a:rPr>
                  <a:t>E</a:t>
                </a:r>
                <a:r>
                  <a:rPr lang="en-US" sz="2400" b="0" i="0" u="none" strike="noStrike" baseline="0">
                    <a:solidFill>
                      <a:srgbClr val="000000"/>
                    </a:solidFill>
                  </a:rPr>
                  <a:t>(</a:t>
                </a:r>
                <a:r>
                  <a:rPr lang="en-US" sz="2400" b="0" i="1" u="none" strike="noStrike" baseline="0">
                    <a:solidFill>
                      <a:srgbClr val="000000"/>
                    </a:solidFill>
                  </a:rPr>
                  <a:t>t</a:t>
                </a:r>
                <a:r>
                  <a:rPr lang="en-US" sz="2400" b="0" i="0" u="none" strike="noStrike" baseline="0">
                    <a:solidFill>
                      <a:srgbClr val="000000"/>
                    </a:solidFill>
                  </a:rPr>
                  <a:t>) and solve.</a:t>
                </a:r>
                <a:br>
                  <a:rPr lang="en-US" sz="2400" b="0" i="0" u="none" strike="noStrike" baseline="0">
                    <a:solidFill>
                      <a:srgbClr val="000000"/>
                    </a:solidFill>
                  </a:rPr>
                </a:br>
                <a:endParaRPr lang="en-US" sz="2400" b="0" i="0" u="none" strike="noStrike" baseline="0">
                  <a:solidFill>
                    <a:srgbClr val="000000"/>
                  </a:solidFill>
                </a:endParaRPr>
              </a:p>
              <a:p>
                <a:pPr algn="ctr"/>
                <a:r>
                  <a:rPr lang="en-US" sz="2400" b="0" i="1" u="none" strike="noStrike" baseline="0">
                    <a:solidFill>
                      <a:srgbClr val="000000"/>
                    </a:solidFill>
                  </a:rPr>
                  <a:t>    E</a:t>
                </a:r>
                <a:r>
                  <a:rPr lang="en-US" sz="2400" b="0" u="none" strike="noStrike" baseline="0">
                    <a:solidFill>
                      <a:srgbClr val="000000"/>
                    </a:solidFill>
                  </a:rPr>
                  <a:t>(</a:t>
                </a:r>
                <a:r>
                  <a:rPr lang="en-US" sz="2400" b="0" i="1" u="none" strike="noStrike" baseline="0">
                    <a:solidFill>
                      <a:srgbClr val="000000"/>
                    </a:solidFill>
                  </a:rPr>
                  <a:t>t</a:t>
                </a:r>
                <a:r>
                  <a:rPr lang="en-US" sz="2400" b="0" u="none" strike="noStrike" baseline="0">
                    <a:solidFill>
                      <a:srgbClr val="000000"/>
                    </a:solidFill>
                  </a:rPr>
                  <a:t>) = 15</a:t>
                </a:r>
                <a:r>
                  <a:rPr lang="en-US" sz="2400" b="0" i="1" u="none" strike="noStrike" baseline="0">
                    <a:solidFill>
                      <a:srgbClr val="000000"/>
                    </a:solidFill>
                  </a:rPr>
                  <a:t>t</a:t>
                </a:r>
              </a:p>
              <a:p>
                <a:pPr algn="ctr"/>
                <a:r>
                  <a:rPr lang="en-US" sz="2400" b="0" u="none" strike="noStrike" baseline="0">
                    <a:solidFill>
                      <a:srgbClr val="000000"/>
                    </a:solidFill>
                  </a:rPr>
                  <a:t>    100 = 15</a:t>
                </a:r>
                <a:r>
                  <a:rPr lang="en-US" sz="2400" b="0" i="1" u="none" strike="noStrike" baseline="0">
                    <a:solidFill>
                      <a:srgbClr val="000000"/>
                    </a:solidFill>
                  </a:rPr>
                  <a:t>t</a:t>
                </a:r>
              </a:p>
              <a:p>
                <a:pPr algn="ctr"/>
                <a:r>
                  <a:rPr lang="en-US" sz="2400" b="0" u="none" strike="noStrike" baseline="0">
                    <a:solidFill>
                      <a:srgbClr val="000000"/>
                    </a:solidFill>
                  </a:rPr>
                  <a:t> </a:t>
                </a:r>
                <a14:m>
                  <m:oMath xmlns:m="http://schemas.openxmlformats.org/officeDocument/2006/math">
                    <m:f>
                      <m:fPr>
                        <m:ctrlPr>
                          <a:rPr lang="en-US" sz="2400" b="0" i="1" u="none" strike="noStrike" baseline="0" dirty="0" smtClean="0">
                            <a:solidFill>
                              <a:srgbClr val="000000"/>
                            </a:solidFill>
                            <a:latin typeface="Cambria Math" panose="02040503050406030204" pitchFamily="18" charset="0"/>
                          </a:rPr>
                        </m:ctrlPr>
                      </m:fPr>
                      <m:num>
                        <m:r>
                          <a:rPr lang="en-US" sz="2400" b="0" i="1" u="none" strike="noStrike" baseline="0" dirty="0" smtClean="0">
                            <a:solidFill>
                              <a:srgbClr val="000000"/>
                            </a:solidFill>
                            <a:latin typeface="Cambria Math" panose="02040503050406030204" pitchFamily="18" charset="0"/>
                          </a:rPr>
                          <m:t>100</m:t>
                        </m:r>
                      </m:num>
                      <m:den>
                        <m:r>
                          <a:rPr lang="en-US" sz="2400" b="0" i="1" u="none" strike="noStrike" baseline="0" dirty="0" smtClean="0">
                            <a:solidFill>
                              <a:srgbClr val="000000"/>
                            </a:solidFill>
                            <a:latin typeface="Cambria Math" panose="02040503050406030204" pitchFamily="18" charset="0"/>
                          </a:rPr>
                          <m:t>15</m:t>
                        </m:r>
                      </m:den>
                    </m:f>
                  </m:oMath>
                </a14:m>
                <a:r>
                  <a:rPr lang="en-US" sz="2400" b="0" i="1" u="none" strike="noStrike" baseline="0">
                    <a:solidFill>
                      <a:srgbClr val="000000"/>
                    </a:solidFill>
                  </a:rPr>
                  <a:t> </a:t>
                </a:r>
                <a:r>
                  <a:rPr lang="en-US" sz="2400" b="0" u="none" strike="noStrike" baseline="0">
                    <a:solidFill>
                      <a:srgbClr val="000000"/>
                    </a:solidFill>
                  </a:rPr>
                  <a:t>=</a:t>
                </a:r>
                <a:r>
                  <a:rPr lang="en-US" sz="2400" b="0" i="1" u="none" strike="noStrike" baseline="0">
                    <a:solidFill>
                      <a:srgbClr val="000000"/>
                    </a:solidFill>
                  </a:rPr>
                  <a:t> t</a:t>
                </a:r>
              </a:p>
              <a:p>
                <a:pPr algn="ctr"/>
                <a:r>
                  <a:rPr lang="en-US" sz="2400">
                    <a:solidFill>
                      <a:srgbClr val="000000"/>
                    </a:solidFill>
                  </a:rPr>
                  <a:t>6.67 = 1</a:t>
                </a:r>
              </a:p>
            </p:txBody>
          </p:sp>
        </mc:Choice>
        <mc:Fallback xmlns="">
          <p:sp>
            <p:nvSpPr>
              <p:cNvPr id="5" name="TextBox 4">
                <a:extLst>
                  <a:ext uri="{FF2B5EF4-FFF2-40B4-BE49-F238E27FC236}">
                    <a16:creationId xmlns:a16="http://schemas.microsoft.com/office/drawing/2014/main" id="{75856DDA-AAC1-409E-F423-E1D562E68749}"/>
                  </a:ext>
                </a:extLst>
              </p:cNvPr>
              <p:cNvSpPr txBox="1">
                <a:spLocks noRot="1" noChangeAspect="1" noMove="1" noResize="1" noEditPoints="1" noAdjustHandles="1" noChangeArrowheads="1" noChangeShapeType="1" noTextEdit="1"/>
              </p:cNvSpPr>
              <p:nvPr/>
            </p:nvSpPr>
            <p:spPr>
              <a:xfrm>
                <a:off x="2446590" y="3111712"/>
                <a:ext cx="7705320" cy="3211200"/>
              </a:xfrm>
              <a:prstGeom prst="rect">
                <a:avLst/>
              </a:prstGeom>
              <a:blipFill>
                <a:blip r:embed="rId4"/>
                <a:stretch>
                  <a:fillRect l="-1187" t="-1518" b="-3036"/>
                </a:stretch>
              </a:blipFill>
            </p:spPr>
            <p:txBody>
              <a:bodyPr/>
              <a:lstStyle/>
              <a:p>
                <a:r>
                  <a:rPr lang="en-US">
                    <a:noFill/>
                  </a:rPr>
                  <a:t> </a:t>
                </a:r>
              </a:p>
            </p:txBody>
          </p:sp>
        </mc:Fallback>
      </mc:AlternateContent>
    </p:spTree>
    <p:extLst>
      <p:ext uri="{BB962C8B-B14F-4D97-AF65-F5344CB8AC3E}">
        <p14:creationId xmlns:p14="http://schemas.microsoft.com/office/powerpoint/2010/main" val="13531214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97D2D-9FD5-5685-9755-749E80DFECF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6E49D3-F2C2-DC3A-2D61-05D4E04111DF}"/>
              </a:ext>
            </a:extLst>
          </p:cNvPr>
          <p:cNvSpPr>
            <a:spLocks noGrp="1"/>
          </p:cNvSpPr>
          <p:nvPr>
            <p:ph type="title"/>
          </p:nvPr>
        </p:nvSpPr>
        <p:spPr/>
        <p:txBody>
          <a:bodyPr/>
          <a:lstStyle/>
          <a:p>
            <a:pPr algn="l"/>
            <a:r>
              <a:rPr lang="en-US" b="1"/>
              <a:t>Interpreting Graphs of Linear Functions </a:t>
            </a:r>
            <a:r>
              <a:rPr lang="en-US" sz="2000" b="1">
                <a:solidFill>
                  <a:schemeClr val="bg1"/>
                </a:solidFill>
              </a:rPr>
              <a:t>(6 of 11)</a:t>
            </a:r>
          </a:p>
        </p:txBody>
      </p:sp>
      <p:sp>
        <p:nvSpPr>
          <p:cNvPr id="9" name="Text Placeholder 2">
            <a:extLst>
              <a:ext uri="{FF2B5EF4-FFF2-40B4-BE49-F238E27FC236}">
                <a16:creationId xmlns:a16="http://schemas.microsoft.com/office/drawing/2014/main" id="{C79DE6BE-DD40-9D2E-C259-0ED1FF80B72E}"/>
              </a:ext>
            </a:extLst>
          </p:cNvPr>
          <p:cNvSpPr txBox="1">
            <a:spLocks/>
          </p:cNvSpPr>
          <p:nvPr/>
        </p:nvSpPr>
        <p:spPr>
          <a:xfrm>
            <a:off x="777242" y="1620982"/>
            <a:ext cx="7161414" cy="421458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6"/>
            </a:pPr>
            <a:r>
              <a:rPr lang="en-US" sz="2800">
                <a:solidFill>
                  <a:srgbClr val="000000"/>
                </a:solidFill>
              </a:rPr>
              <a:t>Consider the Worked Example.</a:t>
            </a:r>
          </a:p>
          <a:p>
            <a:pPr marL="1030288" lvl="1" indent="-514350">
              <a:buFont typeface="+mj-lt"/>
              <a:buAutoNum type="alphaLcPeriod"/>
            </a:pPr>
            <a:r>
              <a:rPr lang="en-US">
                <a:solidFill>
                  <a:srgbClr val="000000"/>
                </a:solidFill>
              </a:rPr>
              <a:t>Interpret the meaning of </a:t>
            </a:r>
            <a:r>
              <a:rPr lang="en-US" i="1">
                <a:solidFill>
                  <a:srgbClr val="000000"/>
                </a:solidFill>
              </a:rPr>
              <a:t>t </a:t>
            </a:r>
            <a:r>
              <a:rPr lang="en-US">
                <a:solidFill>
                  <a:srgbClr val="000000"/>
                </a:solidFill>
              </a:rPr>
              <a:t>= 6.67.</a:t>
            </a:r>
          </a:p>
          <a:p>
            <a:pPr marL="914400" lvl="1" indent="-514350">
              <a:buFont typeface="+mj-lt"/>
              <a:buAutoNum type="alphaLcPeriod"/>
            </a:pPr>
            <a:endParaRPr lang="en-US">
              <a:solidFill>
                <a:srgbClr val="000000"/>
              </a:solidFill>
            </a:endParaRPr>
          </a:p>
          <a:p>
            <a:pPr marL="914400" lvl="1" indent="-514350">
              <a:buFont typeface="+mj-lt"/>
              <a:buAutoNum type="alphaLcPeriod"/>
            </a:pPr>
            <a:endParaRPr lang="en-US">
              <a:solidFill>
                <a:srgbClr val="000000"/>
              </a:solidFill>
            </a:endParaRPr>
          </a:p>
          <a:p>
            <a:pPr marL="1030288" lvl="1" indent="-514350">
              <a:buFont typeface="+mj-lt"/>
              <a:buAutoNum type="alphaLcPeriod"/>
            </a:pPr>
            <a:r>
              <a:rPr lang="en-US" b="0" i="0" u="none" strike="noStrike" baseline="0">
                <a:solidFill>
                  <a:srgbClr val="000000"/>
                </a:solidFill>
              </a:rPr>
              <a:t>Why can you substitute 100 for </a:t>
            </a:r>
            <a:r>
              <a:rPr lang="en-US" b="0" i="1" u="none" strike="noStrike" baseline="0">
                <a:solidFill>
                  <a:srgbClr val="000000"/>
                </a:solidFill>
              </a:rPr>
              <a:t>E</a:t>
            </a:r>
            <a:r>
              <a:rPr lang="en-US" b="0" i="0" u="none" strike="noStrike" baseline="0">
                <a:solidFill>
                  <a:srgbClr val="000000"/>
                </a:solidFill>
              </a:rPr>
              <a:t>(</a:t>
            </a:r>
            <a:r>
              <a:rPr lang="en-US" b="0" i="1" u="none" strike="noStrike" baseline="0">
                <a:solidFill>
                  <a:srgbClr val="000000"/>
                </a:solidFill>
              </a:rPr>
              <a:t>t</a:t>
            </a:r>
            <a:r>
              <a:rPr lang="en-US" b="0" i="0" u="none" strike="noStrike" baseline="0">
                <a:solidFill>
                  <a:srgbClr val="000000"/>
                </a:solidFill>
              </a:rPr>
              <a:t>)?</a:t>
            </a:r>
          </a:p>
        </p:txBody>
      </p:sp>
      <p:sp>
        <p:nvSpPr>
          <p:cNvPr id="2" name="TextBox 1">
            <a:extLst>
              <a:ext uri="{FF2B5EF4-FFF2-40B4-BE49-F238E27FC236}">
                <a16:creationId xmlns:a16="http://schemas.microsoft.com/office/drawing/2014/main" id="{1BA7BAA5-5B47-FD38-7D25-90E538FF932F}"/>
              </a:ext>
            </a:extLst>
          </p:cNvPr>
          <p:cNvSpPr txBox="1"/>
          <p:nvPr/>
        </p:nvSpPr>
        <p:spPr>
          <a:xfrm>
            <a:off x="8870590" y="1727726"/>
            <a:ext cx="2542581" cy="2000548"/>
          </a:xfrm>
          <a:prstGeom prst="rect">
            <a:avLst/>
          </a:prstGeom>
          <a:noFill/>
          <a:ln w="38100" cap="sq">
            <a:solidFill>
              <a:srgbClr val="2B8147"/>
            </a:solidFill>
            <a:prstDash val="sysDot"/>
            <a:round/>
          </a:ln>
        </p:spPr>
        <p:txBody>
          <a:bodyPr wrap="square" rtlCol="0">
            <a:spAutoFit/>
          </a:bodyPr>
          <a:lstStyle/>
          <a:p>
            <a:pPr algn="l"/>
            <a:r>
              <a:rPr lang="en-US" sz="2000" b="1" i="0" u="none" strike="noStrike" baseline="0">
                <a:solidFill>
                  <a:srgbClr val="267D42"/>
                </a:solidFill>
              </a:rPr>
              <a:t>Remember . . .</a:t>
            </a:r>
          </a:p>
          <a:p>
            <a:pPr algn="l"/>
            <a:r>
              <a:rPr lang="en-US" sz="2000" b="0" i="0" u="none" strike="noStrike" baseline="0">
                <a:solidFill>
                  <a:srgbClr val="000000"/>
                </a:solidFill>
              </a:rPr>
              <a:t>The graph of an equation plotted on the coordinate plane represents the set of all its solutions.</a:t>
            </a:r>
            <a:endParaRPr lang="en-US" sz="2000">
              <a:solidFill>
                <a:srgbClr val="000000"/>
              </a:solidFill>
            </a:endParaRPr>
          </a:p>
        </p:txBody>
      </p:sp>
    </p:spTree>
    <p:extLst>
      <p:ext uri="{BB962C8B-B14F-4D97-AF65-F5344CB8AC3E}">
        <p14:creationId xmlns:p14="http://schemas.microsoft.com/office/powerpoint/2010/main" val="18788792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34616-6F0A-B85F-CA50-7E6DB89DFCF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D605A60-E7CE-196B-8E7A-8E1C03AB81A9}"/>
              </a:ext>
            </a:extLst>
          </p:cNvPr>
          <p:cNvSpPr>
            <a:spLocks noGrp="1"/>
          </p:cNvSpPr>
          <p:nvPr>
            <p:ph type="title"/>
          </p:nvPr>
        </p:nvSpPr>
        <p:spPr/>
        <p:txBody>
          <a:bodyPr/>
          <a:lstStyle/>
          <a:p>
            <a:pPr algn="l"/>
            <a:r>
              <a:rPr lang="en-US" b="1"/>
              <a:t>Interpreting Graphs of Linear Functions </a:t>
            </a:r>
            <a:r>
              <a:rPr lang="en-US" sz="2000" b="1">
                <a:solidFill>
                  <a:schemeClr val="bg1"/>
                </a:solidFill>
              </a:rPr>
              <a:t>(7 of 11)</a:t>
            </a:r>
          </a:p>
        </p:txBody>
      </p:sp>
      <p:sp>
        <p:nvSpPr>
          <p:cNvPr id="5" name="TextBox 4">
            <a:extLst>
              <a:ext uri="{FF2B5EF4-FFF2-40B4-BE49-F238E27FC236}">
                <a16:creationId xmlns:a16="http://schemas.microsoft.com/office/drawing/2014/main" id="{3C5ACAFA-2527-7768-C7AC-6FD8A7E2D3A7}"/>
              </a:ext>
            </a:extLst>
          </p:cNvPr>
          <p:cNvSpPr txBox="1"/>
          <p:nvPr/>
        </p:nvSpPr>
        <p:spPr>
          <a:xfrm>
            <a:off x="1097280" y="1506320"/>
            <a:ext cx="9601200" cy="954107"/>
          </a:xfrm>
          <a:prstGeom prst="rect">
            <a:avLst/>
          </a:prstGeom>
          <a:noFill/>
        </p:spPr>
        <p:txBody>
          <a:bodyPr wrap="square" rtlCol="0">
            <a:spAutoFit/>
          </a:bodyPr>
          <a:lstStyle/>
          <a:p>
            <a:r>
              <a:rPr lang="en-US" sz="2800" b="0" i="0" u="none" strike="noStrike" baseline="0">
                <a:solidFill>
                  <a:srgbClr val="000000"/>
                </a:solidFill>
              </a:rPr>
              <a:t>You can also use the graph to determine the number of T-shirts Gracie needs to sell to earn $100.</a:t>
            </a:r>
            <a:endParaRPr lang="en-US" sz="2800">
              <a:solidFill>
                <a:srgbClr val="000000"/>
              </a:solidFill>
            </a:endParaRPr>
          </a:p>
        </p:txBody>
      </p:sp>
      <p:sp>
        <p:nvSpPr>
          <p:cNvPr id="2" name="Rectangle: Rounded Corners 1">
            <a:extLst>
              <a:ext uri="{FF2B5EF4-FFF2-40B4-BE49-F238E27FC236}">
                <a16:creationId xmlns:a16="http://schemas.microsoft.com/office/drawing/2014/main" id="{CA7B8276-971B-02E6-3608-564168A8298E}"/>
              </a:ext>
              <a:ext uri="{C183D7F6-B498-43B3-948B-1728B52AA6E4}">
                <adec:decorative xmlns:adec="http://schemas.microsoft.com/office/drawing/2017/decorative" val="1"/>
              </a:ext>
            </a:extLst>
          </p:cNvPr>
          <p:cNvSpPr/>
          <p:nvPr/>
        </p:nvSpPr>
        <p:spPr>
          <a:xfrm>
            <a:off x="1383556" y="2818024"/>
            <a:ext cx="9423300" cy="3890351"/>
          </a:xfrm>
          <a:prstGeom prst="roundRect">
            <a:avLst/>
          </a:prstGeom>
          <a:noFill/>
          <a:ln w="50800" cmpd="dbl">
            <a:solidFill>
              <a:schemeClr val="bg2">
                <a:lumMod val="50000"/>
              </a:schemeClr>
            </a:solid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Worked Example">
            <a:extLst>
              <a:ext uri="{FF2B5EF4-FFF2-40B4-BE49-F238E27FC236}">
                <a16:creationId xmlns:a16="http://schemas.microsoft.com/office/drawing/2014/main" id="{4306D3C2-B183-A5E2-E976-CFB8F0F00CCA}"/>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38678" y="2601288"/>
            <a:ext cx="2758679" cy="426757"/>
          </a:xfrm>
          <a:prstGeom prst="rect">
            <a:avLst/>
          </a:prstGeom>
        </p:spPr>
      </p:pic>
      <p:sp>
        <p:nvSpPr>
          <p:cNvPr id="6" name="TextBox 5">
            <a:extLst>
              <a:ext uri="{FF2B5EF4-FFF2-40B4-BE49-F238E27FC236}">
                <a16:creationId xmlns:a16="http://schemas.microsoft.com/office/drawing/2014/main" id="{2B052084-4BF8-2A89-AE29-B4195504C391}"/>
              </a:ext>
            </a:extLst>
          </p:cNvPr>
          <p:cNvSpPr txBox="1"/>
          <p:nvPr/>
        </p:nvSpPr>
        <p:spPr>
          <a:xfrm>
            <a:off x="1930612" y="3061151"/>
            <a:ext cx="8329188" cy="3539430"/>
          </a:xfrm>
          <a:prstGeom prst="rect">
            <a:avLst/>
          </a:prstGeom>
          <a:noFill/>
        </p:spPr>
        <p:txBody>
          <a:bodyPr wrap="square" rtlCol="0">
            <a:spAutoFit/>
          </a:bodyPr>
          <a:lstStyle/>
          <a:p>
            <a:pPr algn="l"/>
            <a:r>
              <a:rPr lang="en-US" sz="2800" b="0" i="0" u="none" strike="noStrike" baseline="0">
                <a:solidFill>
                  <a:srgbClr val="000000"/>
                </a:solidFill>
              </a:rPr>
              <a:t>To determine the number of T-shirts sales it takes to earn $100 using your graph, you need to determine the intersection of the two lines represented by the equation 100 = 15</a:t>
            </a:r>
            <a:r>
              <a:rPr lang="en-US" sz="2800" b="0" i="1" u="none" strike="noStrike" baseline="0">
                <a:solidFill>
                  <a:srgbClr val="000000"/>
                </a:solidFill>
              </a:rPr>
              <a:t>t</a:t>
            </a:r>
            <a:r>
              <a:rPr lang="en-US" sz="2800" b="0" i="0" u="none" strike="noStrike" baseline="0">
                <a:solidFill>
                  <a:srgbClr val="000000"/>
                </a:solidFill>
              </a:rPr>
              <a:t>.</a:t>
            </a:r>
          </a:p>
          <a:p>
            <a:pPr algn="l"/>
            <a:endParaRPr lang="en-US" sz="2800" b="0" i="0" u="none" strike="noStrike" baseline="0">
              <a:solidFill>
                <a:srgbClr val="000000"/>
              </a:solidFill>
            </a:endParaRPr>
          </a:p>
          <a:p>
            <a:pPr algn="l"/>
            <a:r>
              <a:rPr lang="en-US" sz="2800" b="0" i="0" u="none" strike="noStrike" baseline="0">
                <a:solidFill>
                  <a:srgbClr val="000000"/>
                </a:solidFill>
              </a:rPr>
              <a:t>First, graph the function defined by each side of the equation, and then determine the intersection point of the two graphs.</a:t>
            </a:r>
            <a:endParaRPr lang="en-US" sz="2800">
              <a:solidFill>
                <a:srgbClr val="000000"/>
              </a:solidFill>
            </a:endParaRPr>
          </a:p>
        </p:txBody>
      </p:sp>
    </p:spTree>
    <p:extLst>
      <p:ext uri="{BB962C8B-B14F-4D97-AF65-F5344CB8AC3E}">
        <p14:creationId xmlns:p14="http://schemas.microsoft.com/office/powerpoint/2010/main" val="672619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F8D6D-0494-5D28-F417-7B3FDFC2BEF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7A1C61E-5562-7936-C017-2B4B2E605EBF}"/>
              </a:ext>
            </a:extLst>
          </p:cNvPr>
          <p:cNvSpPr>
            <a:spLocks noGrp="1"/>
          </p:cNvSpPr>
          <p:nvPr>
            <p:ph type="title"/>
          </p:nvPr>
        </p:nvSpPr>
        <p:spPr/>
        <p:txBody>
          <a:bodyPr/>
          <a:lstStyle/>
          <a:p>
            <a:pPr algn="l"/>
            <a:r>
              <a:rPr lang="en-US" b="1"/>
              <a:t>Interpreting Graphs of Linear Functions </a:t>
            </a:r>
            <a:r>
              <a:rPr lang="en-US" sz="2000" b="1">
                <a:solidFill>
                  <a:schemeClr val="bg1"/>
                </a:solidFill>
              </a:rPr>
              <a:t>(8 of 11)</a:t>
            </a:r>
          </a:p>
        </p:txBody>
      </p:sp>
      <p:sp>
        <p:nvSpPr>
          <p:cNvPr id="2" name="Rectangle: Rounded Corners 1">
            <a:extLst>
              <a:ext uri="{FF2B5EF4-FFF2-40B4-BE49-F238E27FC236}">
                <a16:creationId xmlns:a16="http://schemas.microsoft.com/office/drawing/2014/main" id="{89E10046-2FD4-B39C-2FF0-12AC5C1CADE5}"/>
              </a:ext>
              <a:ext uri="{C183D7F6-B498-43B3-948B-1728B52AA6E4}">
                <adec:decorative xmlns:adec="http://schemas.microsoft.com/office/drawing/2017/decorative" val="1"/>
              </a:ext>
            </a:extLst>
          </p:cNvPr>
          <p:cNvSpPr/>
          <p:nvPr/>
        </p:nvSpPr>
        <p:spPr>
          <a:xfrm>
            <a:off x="1529542" y="1712916"/>
            <a:ext cx="9423300" cy="4780068"/>
          </a:xfrm>
          <a:prstGeom prst="roundRect">
            <a:avLst/>
          </a:prstGeom>
          <a:noFill/>
          <a:ln w="50800" cmpd="dbl">
            <a:solidFill>
              <a:schemeClr val="bg2">
                <a:lumMod val="50000"/>
              </a:schemeClr>
            </a:solid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Worked Example">
            <a:extLst>
              <a:ext uri="{FF2B5EF4-FFF2-40B4-BE49-F238E27FC236}">
                <a16:creationId xmlns:a16="http://schemas.microsoft.com/office/drawing/2014/main" id="{00732CFD-0C34-2D61-43C9-A5623DAB2095}"/>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182861" y="1500848"/>
            <a:ext cx="2758679" cy="426757"/>
          </a:xfrm>
          <a:prstGeom prst="rect">
            <a:avLst/>
          </a:prstGeom>
        </p:spPr>
      </p:pic>
      <p:sp>
        <p:nvSpPr>
          <p:cNvPr id="6" name="TextBox 5">
            <a:extLst>
              <a:ext uri="{FF2B5EF4-FFF2-40B4-BE49-F238E27FC236}">
                <a16:creationId xmlns:a16="http://schemas.microsoft.com/office/drawing/2014/main" id="{CE16119F-208F-6995-93E1-3CDBB15A847F}"/>
              </a:ext>
            </a:extLst>
          </p:cNvPr>
          <p:cNvSpPr txBox="1"/>
          <p:nvPr/>
        </p:nvSpPr>
        <p:spPr>
          <a:xfrm>
            <a:off x="2076598" y="2109100"/>
            <a:ext cx="8329188" cy="2308324"/>
          </a:xfrm>
          <a:prstGeom prst="rect">
            <a:avLst/>
          </a:prstGeom>
          <a:noFill/>
        </p:spPr>
        <p:txBody>
          <a:bodyPr wrap="square" rtlCol="0">
            <a:spAutoFit/>
          </a:bodyPr>
          <a:lstStyle/>
          <a:p>
            <a:pPr marL="4625975" indent="-623888" algn="ctr"/>
            <a:r>
              <a:rPr lang="en-US" sz="2400" b="0" i="1" u="none" strike="noStrike" baseline="0">
                <a:solidFill>
                  <a:srgbClr val="000000"/>
                </a:solidFill>
              </a:rPr>
              <a:t>h</a:t>
            </a:r>
            <a:r>
              <a:rPr lang="en-US" sz="2400" b="0" i="0" u="none" strike="noStrike" baseline="0">
                <a:solidFill>
                  <a:srgbClr val="000000"/>
                </a:solidFill>
              </a:rPr>
              <a:t>(</a:t>
            </a:r>
            <a:r>
              <a:rPr lang="en-US" sz="2400" b="0" i="1" u="none" strike="noStrike" baseline="0">
                <a:solidFill>
                  <a:srgbClr val="000000"/>
                </a:solidFill>
              </a:rPr>
              <a:t>t</a:t>
            </a:r>
            <a:r>
              <a:rPr lang="en-US" sz="2400" b="0" i="0" u="none" strike="noStrike" baseline="0">
                <a:solidFill>
                  <a:srgbClr val="000000"/>
                </a:solidFill>
              </a:rPr>
              <a:t>) = 15</a:t>
            </a:r>
            <a:r>
              <a:rPr lang="en-US" sz="2400" b="0" i="1" u="none" strike="noStrike" baseline="0">
                <a:solidFill>
                  <a:srgbClr val="000000"/>
                </a:solidFill>
              </a:rPr>
              <a:t>t</a:t>
            </a:r>
          </a:p>
          <a:p>
            <a:pPr marL="4625975" indent="-623888" algn="ctr"/>
            <a:r>
              <a:rPr lang="en-US" sz="2400" b="0" i="0" u="none" strike="noStrike" baseline="0">
                <a:solidFill>
                  <a:srgbClr val="000000"/>
                </a:solidFill>
              </a:rPr>
              <a:t>100 = 15</a:t>
            </a:r>
            <a:r>
              <a:rPr lang="en-US" sz="2400" b="0" i="1" u="none" strike="noStrike" baseline="0">
                <a:solidFill>
                  <a:srgbClr val="000000"/>
                </a:solidFill>
              </a:rPr>
              <a:t>t</a:t>
            </a:r>
          </a:p>
          <a:p>
            <a:pPr marL="4625975" indent="-623888" algn="ctr"/>
            <a:endParaRPr lang="en-US" sz="2400" b="0" i="1" u="none" strike="noStrike" baseline="0">
              <a:solidFill>
                <a:srgbClr val="000000"/>
              </a:solidFill>
            </a:endParaRPr>
          </a:p>
          <a:p>
            <a:pPr marL="4625975" indent="-623888" algn="ctr"/>
            <a:r>
              <a:rPr lang="es-ES" sz="2400" b="0" i="1" u="none" strike="noStrike" baseline="0">
                <a:solidFill>
                  <a:srgbClr val="000000"/>
                </a:solidFill>
              </a:rPr>
              <a:t>y </a:t>
            </a:r>
            <a:r>
              <a:rPr lang="es-ES" sz="2400" b="0" i="0" u="none" strike="noStrike" baseline="0">
                <a:solidFill>
                  <a:srgbClr val="000000"/>
                </a:solidFill>
              </a:rPr>
              <a:t>= 100          </a:t>
            </a:r>
            <a:r>
              <a:rPr lang="es-ES" sz="2400" b="0" i="1" u="none" strike="noStrike" baseline="0">
                <a:solidFill>
                  <a:srgbClr val="000000"/>
                </a:solidFill>
              </a:rPr>
              <a:t>y </a:t>
            </a:r>
            <a:r>
              <a:rPr lang="es-ES" sz="2400" b="0" i="0" u="none" strike="noStrike" baseline="0">
                <a:solidFill>
                  <a:srgbClr val="000000"/>
                </a:solidFill>
              </a:rPr>
              <a:t>= 15</a:t>
            </a:r>
            <a:r>
              <a:rPr lang="es-ES" sz="2400" b="0" i="1" u="none" strike="noStrike" baseline="0">
                <a:solidFill>
                  <a:srgbClr val="000000"/>
                </a:solidFill>
              </a:rPr>
              <a:t>x</a:t>
            </a:r>
          </a:p>
          <a:p>
            <a:pPr marL="4625975" indent="-623888" algn="ctr"/>
            <a:endParaRPr lang="en-US" sz="2400" b="0" i="0" u="none" strike="noStrike" baseline="0">
              <a:solidFill>
                <a:srgbClr val="000000"/>
              </a:solidFill>
            </a:endParaRPr>
          </a:p>
          <a:p>
            <a:pPr marL="4625975" indent="-623888" algn="ctr"/>
            <a:r>
              <a:rPr lang="en-US" sz="2400" b="0" i="0" u="none" strike="noStrike" baseline="0">
                <a:solidFill>
                  <a:srgbClr val="000000"/>
                </a:solidFill>
              </a:rPr>
              <a:t>Solution: (6.67, 100)</a:t>
            </a:r>
            <a:endParaRPr lang="en-US" sz="3600">
              <a:solidFill>
                <a:srgbClr val="000000"/>
              </a:solidFill>
            </a:endParaRPr>
          </a:p>
        </p:txBody>
      </p:sp>
      <p:pic>
        <p:nvPicPr>
          <p:cNvPr id="7" name="Picture 6" descr="A graph of 2 lines on the coordinate plane. One line rises from left to right through the points (0, 0) and (2, 30). The other line, y = 100, is horizontal. The two lines intersect at the point (6.67, 100), which represents the point (t, E of t).">
            <a:extLst>
              <a:ext uri="{FF2B5EF4-FFF2-40B4-BE49-F238E27FC236}">
                <a16:creationId xmlns:a16="http://schemas.microsoft.com/office/drawing/2014/main" id="{4CC63963-376D-3356-DD12-7E6EC8B45B6E}"/>
              </a:ext>
            </a:extLst>
          </p:cNvPr>
          <p:cNvPicPr>
            <a:picLocks noChangeAspect="1"/>
          </p:cNvPicPr>
          <p:nvPr/>
        </p:nvPicPr>
        <p:blipFill>
          <a:blip r:embed="rId4"/>
          <a:stretch>
            <a:fillRect/>
          </a:stretch>
        </p:blipFill>
        <p:spPr>
          <a:xfrm>
            <a:off x="2408329" y="2054325"/>
            <a:ext cx="3067478" cy="3115110"/>
          </a:xfrm>
          <a:prstGeom prst="rect">
            <a:avLst/>
          </a:prstGeom>
        </p:spPr>
      </p:pic>
      <p:cxnSp>
        <p:nvCxnSpPr>
          <p:cNvPr id="9" name="Straight Arrow Connector 8">
            <a:extLst>
              <a:ext uri="{FF2B5EF4-FFF2-40B4-BE49-F238E27FC236}">
                <a16:creationId xmlns:a16="http://schemas.microsoft.com/office/drawing/2014/main" id="{DA19BD2F-1E08-C018-ADAE-8E4DA5913C03}"/>
              </a:ext>
              <a:ext uri="{C183D7F6-B498-43B3-948B-1728B52AA6E4}">
                <adec:decorative xmlns:adec="http://schemas.microsoft.com/office/drawing/2017/decorative" val="1"/>
              </a:ext>
            </a:extLst>
          </p:cNvPr>
          <p:cNvCxnSpPr/>
          <p:nvPr/>
        </p:nvCxnSpPr>
        <p:spPr>
          <a:xfrm flipH="1">
            <a:off x="7565816" y="2880074"/>
            <a:ext cx="304260" cy="434566"/>
          </a:xfrm>
          <a:prstGeom prst="straightConnector1">
            <a:avLst/>
          </a:prstGeom>
          <a:ln w="3175">
            <a:solidFill>
              <a:srgbClr val="000000"/>
            </a:solidFill>
            <a:tailEnd type="arrow"/>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0A88A163-6C69-DBF1-284E-CE7AD475BEDA}"/>
              </a:ext>
              <a:ext uri="{C183D7F6-B498-43B3-948B-1728B52AA6E4}">
                <adec:decorative xmlns:adec="http://schemas.microsoft.com/office/drawing/2017/decorative" val="1"/>
              </a:ext>
            </a:extLst>
          </p:cNvPr>
          <p:cNvCxnSpPr>
            <a:cxnSpLocks/>
          </p:cNvCxnSpPr>
          <p:nvPr/>
        </p:nvCxnSpPr>
        <p:spPr>
          <a:xfrm>
            <a:off x="8569262" y="2925341"/>
            <a:ext cx="173505" cy="389299"/>
          </a:xfrm>
          <a:prstGeom prst="straightConnector1">
            <a:avLst/>
          </a:prstGeom>
          <a:ln w="12700">
            <a:solidFill>
              <a:srgbClr val="000000"/>
            </a:solidFill>
            <a:tailEnd type="arrow"/>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2EBECC3A-61A3-C5D9-87B9-0815AA803FE6}"/>
              </a:ext>
            </a:extLst>
          </p:cNvPr>
          <p:cNvSpPr txBox="1"/>
          <p:nvPr/>
        </p:nvSpPr>
        <p:spPr>
          <a:xfrm>
            <a:off x="1953491" y="5350930"/>
            <a:ext cx="8629516" cy="892552"/>
          </a:xfrm>
          <a:prstGeom prst="rect">
            <a:avLst/>
          </a:prstGeom>
          <a:noFill/>
        </p:spPr>
        <p:txBody>
          <a:bodyPr wrap="square" rtlCol="0">
            <a:spAutoFit/>
          </a:bodyPr>
          <a:lstStyle/>
          <a:p>
            <a:pPr algn="l"/>
            <a:r>
              <a:rPr lang="en-US" sz="2600" b="0" i="0" u="none" strike="noStrike" baseline="0">
                <a:solidFill>
                  <a:srgbClr val="000000"/>
                </a:solidFill>
              </a:rPr>
              <a:t>In terms of the graph, Gracie needs to sell 6.67 T-shirts to earn $100. In terms of the context, she needs to sell 7 T-shirts.</a:t>
            </a:r>
            <a:endParaRPr lang="en-US" sz="2600">
              <a:solidFill>
                <a:srgbClr val="000000"/>
              </a:solidFill>
            </a:endParaRPr>
          </a:p>
        </p:txBody>
      </p:sp>
    </p:spTree>
    <p:extLst>
      <p:ext uri="{BB962C8B-B14F-4D97-AF65-F5344CB8AC3E}">
        <p14:creationId xmlns:p14="http://schemas.microsoft.com/office/powerpoint/2010/main" val="22918530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FC48C-9191-7ED6-3540-7C658FDEA73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DA2445-ED6C-8F04-21ED-677350A8EC2B}"/>
              </a:ext>
            </a:extLst>
          </p:cNvPr>
          <p:cNvSpPr>
            <a:spLocks noGrp="1"/>
          </p:cNvSpPr>
          <p:nvPr>
            <p:ph type="title"/>
          </p:nvPr>
        </p:nvSpPr>
        <p:spPr/>
        <p:txBody>
          <a:bodyPr/>
          <a:lstStyle/>
          <a:p>
            <a:pPr algn="l"/>
            <a:r>
              <a:rPr lang="en-US" b="1"/>
              <a:t>Interpreting Graphs of Linear Functions </a:t>
            </a:r>
            <a:r>
              <a:rPr lang="en-US" sz="2000" b="1">
                <a:solidFill>
                  <a:schemeClr val="bg1"/>
                </a:solidFill>
              </a:rPr>
              <a:t>(9 of 11)</a:t>
            </a:r>
          </a:p>
        </p:txBody>
      </p:sp>
      <p:sp>
        <p:nvSpPr>
          <p:cNvPr id="9" name="Text Placeholder 2">
            <a:extLst>
              <a:ext uri="{FF2B5EF4-FFF2-40B4-BE49-F238E27FC236}">
                <a16:creationId xmlns:a16="http://schemas.microsoft.com/office/drawing/2014/main" id="{7C331DA5-C2E4-827D-D2B9-E506E10E289C}"/>
              </a:ext>
            </a:extLst>
          </p:cNvPr>
          <p:cNvSpPr txBox="1">
            <a:spLocks/>
          </p:cNvSpPr>
          <p:nvPr/>
        </p:nvSpPr>
        <p:spPr>
          <a:xfrm>
            <a:off x="777239" y="1601066"/>
            <a:ext cx="9887989" cy="270492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5938" indent="-515938" algn="l">
              <a:buFont typeface="+mj-lt"/>
              <a:buAutoNum type="arabicPeriod" startAt="7"/>
            </a:pPr>
            <a:r>
              <a:rPr lang="en-US" sz="2800" b="0" i="0" u="none" strike="noStrike" baseline="0">
                <a:solidFill>
                  <a:srgbClr val="000000"/>
                </a:solidFill>
              </a:rPr>
              <a:t>Consider the equation and graphical representations. What are the limitations of using each to answer questions about the number of T-shirts sold or the amount of money earned?</a:t>
            </a:r>
            <a:br>
              <a:rPr lang="en-US" sz="2800" b="0" i="0" u="none" strike="noStrike" baseline="0">
                <a:solidFill>
                  <a:srgbClr val="000000"/>
                </a:solidFill>
              </a:rPr>
            </a:br>
            <a:br>
              <a:rPr lang="en-US" sz="2800" b="0" i="0" u="none" strike="noStrike" baseline="0">
                <a:solidFill>
                  <a:srgbClr val="000000"/>
                </a:solidFill>
              </a:rPr>
            </a:br>
            <a:r>
              <a:rPr lang="en-US" sz="2800" b="0" i="0" u="none" strike="noStrike" baseline="0">
                <a:solidFill>
                  <a:srgbClr val="000000"/>
                </a:solidFill>
              </a:rPr>
              <a:t>a.  Equation			b.  Graph</a:t>
            </a:r>
            <a:endParaRPr lang="en-US">
              <a:solidFill>
                <a:srgbClr val="000000"/>
              </a:solidFill>
            </a:endParaRPr>
          </a:p>
        </p:txBody>
      </p:sp>
    </p:spTree>
    <p:extLst>
      <p:ext uri="{BB962C8B-B14F-4D97-AF65-F5344CB8AC3E}">
        <p14:creationId xmlns:p14="http://schemas.microsoft.com/office/powerpoint/2010/main" val="14605712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122D0-0CED-9ED5-5F4E-6007E33F1A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DDC5E7-E36A-864A-3449-49FB98A15BE6}"/>
              </a:ext>
            </a:extLst>
          </p:cNvPr>
          <p:cNvSpPr>
            <a:spLocks noGrp="1"/>
          </p:cNvSpPr>
          <p:nvPr>
            <p:ph type="title"/>
          </p:nvPr>
        </p:nvSpPr>
        <p:spPr>
          <a:xfrm>
            <a:off x="777239" y="1"/>
            <a:ext cx="11363697" cy="1263192"/>
          </a:xfrm>
        </p:spPr>
        <p:txBody>
          <a:bodyPr/>
          <a:lstStyle/>
          <a:p>
            <a:pPr algn="l"/>
            <a:r>
              <a:rPr lang="en-US" b="1"/>
              <a:t>Interpreting Graphs of Linear Functions </a:t>
            </a:r>
            <a:r>
              <a:rPr lang="en-US" sz="2000" b="1">
                <a:solidFill>
                  <a:schemeClr val="bg1"/>
                </a:solidFill>
              </a:rPr>
              <a:t>(10 of 11)</a:t>
            </a:r>
          </a:p>
        </p:txBody>
      </p:sp>
      <p:sp>
        <p:nvSpPr>
          <p:cNvPr id="9" name="Text Placeholder 2">
            <a:extLst>
              <a:ext uri="{FF2B5EF4-FFF2-40B4-BE49-F238E27FC236}">
                <a16:creationId xmlns:a16="http://schemas.microsoft.com/office/drawing/2014/main" id="{9F9E8E2B-B0E8-EF16-E503-9ECCF4F164D5}"/>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a:solidFill>
                  <a:srgbClr val="000000"/>
                </a:solidFill>
              </a:rPr>
              <a:t>Let’s summarize our learning from Activity 6.2!</a:t>
            </a:r>
          </a:p>
        </p:txBody>
      </p:sp>
      <p:pic>
        <p:nvPicPr>
          <p:cNvPr id="2" name="Picture 1">
            <a:extLst>
              <a:ext uri="{FF2B5EF4-FFF2-40B4-BE49-F238E27FC236}">
                <a16:creationId xmlns:a16="http://schemas.microsoft.com/office/drawing/2014/main" id="{412BAF3C-C3E1-4231-B8AF-8D51322A576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398467" y="372494"/>
            <a:ext cx="1501270" cy="518205"/>
          </a:xfrm>
          <a:prstGeom prst="rect">
            <a:avLst/>
          </a:prstGeom>
        </p:spPr>
      </p:pic>
    </p:spTree>
    <p:extLst>
      <p:ext uri="{BB962C8B-B14F-4D97-AF65-F5344CB8AC3E}">
        <p14:creationId xmlns:p14="http://schemas.microsoft.com/office/powerpoint/2010/main" val="13935781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ED268-CAAB-5EA4-F19C-6A237D4A0F2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290C8D4-450F-1FC3-0CA3-A43A84B2CF3D}"/>
              </a:ext>
            </a:extLst>
          </p:cNvPr>
          <p:cNvSpPr>
            <a:spLocks noGrp="1"/>
          </p:cNvSpPr>
          <p:nvPr>
            <p:ph type="title"/>
          </p:nvPr>
        </p:nvSpPr>
        <p:spPr/>
        <p:txBody>
          <a:bodyPr/>
          <a:lstStyle/>
          <a:p>
            <a:pPr algn="l"/>
            <a:r>
              <a:rPr lang="en-US" b="1"/>
              <a:t>Interpreting Graphs of Linear Functions </a:t>
            </a:r>
            <a:r>
              <a:rPr lang="en-US" sz="2000" b="1">
                <a:solidFill>
                  <a:schemeClr val="bg1"/>
                </a:solidFill>
              </a:rPr>
              <a:t>(11 of 11)</a:t>
            </a:r>
          </a:p>
        </p:txBody>
      </p:sp>
      <p:sp>
        <p:nvSpPr>
          <p:cNvPr id="9" name="Text Placeholder 2">
            <a:extLst>
              <a:ext uri="{FF2B5EF4-FFF2-40B4-BE49-F238E27FC236}">
                <a16:creationId xmlns:a16="http://schemas.microsoft.com/office/drawing/2014/main" id="{73976550-F4D5-70EE-8639-5A9D8ECED3F6}"/>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a:solidFill>
                <a:schemeClr val="bg2">
                  <a:lumMod val="25000"/>
                </a:schemeClr>
              </a:solidFill>
            </a:endParaRPr>
          </a:p>
        </p:txBody>
      </p:sp>
    </p:spTree>
    <p:extLst>
      <p:ext uri="{BB962C8B-B14F-4D97-AF65-F5344CB8AC3E}">
        <p14:creationId xmlns:p14="http://schemas.microsoft.com/office/powerpoint/2010/main" val="12888272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45512-BD22-27E2-EDF3-A4AE5F94BF5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03FD7F9-6EEB-A814-3B39-7DEEC9AD9112}"/>
              </a:ext>
            </a:extLst>
          </p:cNvPr>
          <p:cNvSpPr>
            <a:spLocks noGrp="1"/>
          </p:cNvSpPr>
          <p:nvPr>
            <p:ph type="title" idx="4294967295"/>
          </p:nvPr>
        </p:nvSpPr>
        <p:spPr>
          <a:xfrm>
            <a:off x="838200" y="-299258"/>
            <a:ext cx="10514013" cy="299258"/>
          </a:xfrm>
          <a:prstGeom prst="rect">
            <a:avLst/>
          </a:prstGeom>
        </p:spPr>
        <p:txBody>
          <a:bodyPr anchor="b"/>
          <a:lstStyle/>
          <a:p>
            <a:r>
              <a:rPr lang="en-US" sz="2000">
                <a:solidFill>
                  <a:schemeClr val="bg2"/>
                </a:solidFill>
              </a:rPr>
              <a:t>Activity 6.3</a:t>
            </a:r>
          </a:p>
        </p:txBody>
      </p:sp>
      <p:sp>
        <p:nvSpPr>
          <p:cNvPr id="3" name="Text Placeholder 2" descr="20 to 25 minutes">
            <a:extLst>
              <a:ext uri="{FF2B5EF4-FFF2-40B4-BE49-F238E27FC236}">
                <a16:creationId xmlns:a16="http://schemas.microsoft.com/office/drawing/2014/main" id="{A9610F69-DAB0-DBE1-A24D-59FCDE38979C}"/>
              </a:ext>
            </a:extLst>
          </p:cNvPr>
          <p:cNvSpPr>
            <a:spLocks noGrp="1"/>
          </p:cNvSpPr>
          <p:nvPr>
            <p:ph type="body" sz="quarter" idx="12"/>
          </p:nvPr>
        </p:nvSpPr>
        <p:spPr>
          <a:xfrm>
            <a:off x="10614990" y="5781277"/>
            <a:ext cx="863947" cy="795338"/>
          </a:xfrm>
        </p:spPr>
        <p:txBody>
          <a:bodyPr/>
          <a:lstStyle/>
          <a:p>
            <a:r>
              <a:rPr lang="en-US" b="1"/>
              <a:t>20–25</a:t>
            </a:r>
          </a:p>
        </p:txBody>
      </p:sp>
      <p:sp>
        <p:nvSpPr>
          <p:cNvPr id="2" name="Text Placeholder 1">
            <a:extLst>
              <a:ext uri="{FF2B5EF4-FFF2-40B4-BE49-F238E27FC236}">
                <a16:creationId xmlns:a16="http://schemas.microsoft.com/office/drawing/2014/main" id="{E404CBF2-51F3-2C0E-4A95-BD807CCB1889}"/>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a:t>6.3</a:t>
            </a:r>
          </a:p>
        </p:txBody>
      </p:sp>
    </p:spTree>
    <p:extLst>
      <p:ext uri="{BB962C8B-B14F-4D97-AF65-F5344CB8AC3E}">
        <p14:creationId xmlns:p14="http://schemas.microsoft.com/office/powerpoint/2010/main" val="22681661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673D8-BF22-1DCC-91ED-648208A6CE6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CAF8B9-6F10-8642-4707-E23F80EF784D}"/>
              </a:ext>
            </a:extLst>
          </p:cNvPr>
          <p:cNvSpPr>
            <a:spLocks noGrp="1"/>
          </p:cNvSpPr>
          <p:nvPr>
            <p:ph type="title"/>
          </p:nvPr>
        </p:nvSpPr>
        <p:spPr>
          <a:xfrm>
            <a:off x="789708" y="0"/>
            <a:ext cx="11400705" cy="1263192"/>
          </a:xfrm>
        </p:spPr>
        <p:txBody>
          <a:bodyPr/>
          <a:lstStyle/>
          <a:p>
            <a:pPr algn="l"/>
            <a:r>
              <a:rPr lang="en-US" sz="3200" b="1"/>
              <a:t>Interpreting Changes to the Graph of a Linear Function </a:t>
            </a:r>
            <a:r>
              <a:rPr lang="en-US" sz="2000" b="1">
                <a:solidFill>
                  <a:schemeClr val="bg1"/>
                </a:solidFill>
              </a:rPr>
              <a:t>(1 of 15)</a:t>
            </a:r>
          </a:p>
        </p:txBody>
      </p:sp>
      <p:sp>
        <p:nvSpPr>
          <p:cNvPr id="9" name="Text Placeholder 2">
            <a:extLst>
              <a:ext uri="{FF2B5EF4-FFF2-40B4-BE49-F238E27FC236}">
                <a16:creationId xmlns:a16="http://schemas.microsoft.com/office/drawing/2014/main" id="{D8AF4A33-E4AC-B21F-DB41-7776FCA37AB5}"/>
              </a:ext>
            </a:extLst>
          </p:cNvPr>
          <p:cNvSpPr txBox="1">
            <a:spLocks/>
          </p:cNvSpPr>
          <p:nvPr/>
        </p:nvSpPr>
        <p:spPr>
          <a:xfrm>
            <a:off x="789708" y="1604356"/>
            <a:ext cx="6384176" cy="424780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a:solidFill>
                  <a:srgbClr val="000000"/>
                </a:solidFill>
              </a:rPr>
              <a:t>For the next festival, Gracie’s mom suggests that she still sells each T-shirt for $15, but should give away 3 T-shirts in a raffle. This new relationship, </a:t>
            </a:r>
            <a:r>
              <a:rPr lang="en-US" sz="2800" i="1">
                <a:solidFill>
                  <a:srgbClr val="000000"/>
                </a:solidFill>
              </a:rPr>
              <a:t>G</a:t>
            </a:r>
            <a:r>
              <a:rPr lang="en-US" sz="2800">
                <a:solidFill>
                  <a:srgbClr val="000000"/>
                </a:solidFill>
              </a:rPr>
              <a:t>(</a:t>
            </a:r>
            <a:r>
              <a:rPr lang="en-US" sz="2800" i="1">
                <a:solidFill>
                  <a:srgbClr val="000000"/>
                </a:solidFill>
              </a:rPr>
              <a:t>t</a:t>
            </a:r>
            <a:r>
              <a:rPr lang="en-US" sz="2800">
                <a:solidFill>
                  <a:srgbClr val="000000"/>
                </a:solidFill>
              </a:rPr>
              <a:t>), is shown on the graph.</a:t>
            </a:r>
          </a:p>
          <a:p>
            <a:pPr marL="515938" indent="-515938" algn="l">
              <a:spcAft>
                <a:spcPts val="1200"/>
              </a:spcAft>
              <a:buFont typeface="+mj-lt"/>
              <a:buAutoNum type="arabicPeriod"/>
            </a:pPr>
            <a:r>
              <a:rPr lang="en-US" sz="2800" b="0" i="0" u="none" strike="noStrike" baseline="0">
                <a:solidFill>
                  <a:srgbClr val="000000"/>
                </a:solidFill>
              </a:rPr>
              <a:t>Compare the two graphs. What do</a:t>
            </a:r>
            <a:br>
              <a:rPr lang="en-US" sz="2800" b="0" i="0" u="none" strike="noStrike" baseline="0">
                <a:solidFill>
                  <a:srgbClr val="000000"/>
                </a:solidFill>
              </a:rPr>
            </a:br>
            <a:r>
              <a:rPr lang="en-US" sz="2800" b="0" i="0" u="none" strike="noStrike" baseline="0">
                <a:solidFill>
                  <a:srgbClr val="000000"/>
                </a:solidFill>
              </a:rPr>
              <a:t>you notice?</a:t>
            </a:r>
          </a:p>
          <a:p>
            <a:pPr marL="1030288" lvl="1" indent="-515938">
              <a:buFont typeface="+mj-lt"/>
              <a:buAutoNum type="alphaLcPeriod"/>
            </a:pPr>
            <a:r>
              <a:rPr lang="en-US" b="0" i="0" u="none" strike="noStrike" baseline="0">
                <a:solidFill>
                  <a:srgbClr val="000000"/>
                </a:solidFill>
              </a:rPr>
              <a:t>How do the graphs show the selling price per T-shirt remains the same?</a:t>
            </a:r>
            <a:endParaRPr lang="en-US">
              <a:solidFill>
                <a:srgbClr val="000000"/>
              </a:solidFill>
            </a:endParaRPr>
          </a:p>
        </p:txBody>
      </p:sp>
      <p:pic>
        <p:nvPicPr>
          <p:cNvPr id="6" name="Picture 5" descr="A graph of 2 lines on the coordinate plane. The x axis represents number of t shirts, and the y axis represents potential earnings in dollars. The 2 lines rise from left to right in the same direction. The line E of t = 15 t rises through the points (0, 0) and (2, 30). The line G of t rises through the points (3, 0) and (5, 30). ">
            <a:extLst>
              <a:ext uri="{FF2B5EF4-FFF2-40B4-BE49-F238E27FC236}">
                <a16:creationId xmlns:a16="http://schemas.microsoft.com/office/drawing/2014/main" id="{BD64E2BB-A36C-E935-EEC8-021EBDFEF47C}"/>
              </a:ext>
            </a:extLst>
          </p:cNvPr>
          <p:cNvPicPr>
            <a:picLocks noChangeAspect="1"/>
          </p:cNvPicPr>
          <p:nvPr/>
        </p:nvPicPr>
        <p:blipFill>
          <a:blip r:embed="rId3"/>
          <a:stretch>
            <a:fillRect/>
          </a:stretch>
        </p:blipFill>
        <p:spPr>
          <a:xfrm>
            <a:off x="7501955" y="1752020"/>
            <a:ext cx="4098227" cy="3952474"/>
          </a:xfrm>
          <a:prstGeom prst="rect">
            <a:avLst/>
          </a:prstGeom>
        </p:spPr>
      </p:pic>
    </p:spTree>
    <p:extLst>
      <p:ext uri="{BB962C8B-B14F-4D97-AF65-F5344CB8AC3E}">
        <p14:creationId xmlns:p14="http://schemas.microsoft.com/office/powerpoint/2010/main" val="28995718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6B13D-BFE6-1CF0-1257-77CF5991957B}"/>
            </a:ext>
          </a:extLst>
        </p:cNvPr>
        <p:cNvGrpSpPr/>
        <p:nvPr/>
      </p:nvGrpSpPr>
      <p:grpSpPr>
        <a:xfrm>
          <a:off x="0" y="0"/>
          <a:ext cx="0" cy="0"/>
          <a:chOff x="0" y="0"/>
          <a:chExt cx="0" cy="0"/>
        </a:xfrm>
      </p:grpSpPr>
      <p:sp>
        <p:nvSpPr>
          <p:cNvPr id="7" name="Title 3">
            <a:extLst>
              <a:ext uri="{FF2B5EF4-FFF2-40B4-BE49-F238E27FC236}">
                <a16:creationId xmlns:a16="http://schemas.microsoft.com/office/drawing/2014/main" id="{FC6EAFDD-F5B9-7C0A-FBDB-2D298F2C3735}"/>
              </a:ext>
            </a:extLst>
          </p:cNvPr>
          <p:cNvSpPr>
            <a:spLocks noGrp="1"/>
          </p:cNvSpPr>
          <p:nvPr>
            <p:ph type="title"/>
          </p:nvPr>
        </p:nvSpPr>
        <p:spPr>
          <a:xfrm>
            <a:off x="789708" y="0"/>
            <a:ext cx="11400705" cy="1263192"/>
          </a:xfrm>
        </p:spPr>
        <p:txBody>
          <a:bodyPr/>
          <a:lstStyle/>
          <a:p>
            <a:pPr algn="l"/>
            <a:r>
              <a:rPr lang="en-US" sz="3200" b="1"/>
              <a:t>Interpreting Changes to the Graph of a Linear Function </a:t>
            </a:r>
            <a:r>
              <a:rPr lang="en-US" sz="2000" b="1">
                <a:solidFill>
                  <a:schemeClr val="bg1"/>
                </a:solidFill>
              </a:rPr>
              <a:t>(2 of 15)</a:t>
            </a:r>
          </a:p>
        </p:txBody>
      </p:sp>
      <p:sp>
        <p:nvSpPr>
          <p:cNvPr id="2" name="Google Shape;592;p16">
            <a:extLst>
              <a:ext uri="{FF2B5EF4-FFF2-40B4-BE49-F238E27FC236}">
                <a16:creationId xmlns:a16="http://schemas.microsoft.com/office/drawing/2014/main" id="{31C9A73C-70A1-CB1C-F948-11512DA4092C}"/>
              </a:ext>
            </a:extLst>
          </p:cNvPr>
          <p:cNvSpPr/>
          <p:nvPr/>
        </p:nvSpPr>
        <p:spPr>
          <a:xfrm flipH="1">
            <a:off x="789708" y="2018536"/>
            <a:ext cx="2068689" cy="1623895"/>
          </a:xfrm>
          <a:prstGeom prst="wedgeRoundRectCallout">
            <a:avLst>
              <a:gd name="adj1" fmla="val 10205"/>
              <a:gd name="adj2" fmla="val -64173"/>
              <a:gd name="adj3" fmla="val 16667"/>
            </a:avLst>
          </a:prstGeom>
          <a:solidFill>
            <a:schemeClr val="lt1"/>
          </a:solidFill>
          <a:ln w="19050" cap="flat" cmpd="sng">
            <a:solidFill>
              <a:srgbClr val="008F4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1">
                <a:solidFill>
                  <a:srgbClr val="267D42"/>
                </a:solidFill>
                <a:latin typeface="Calibri"/>
                <a:ea typeface="Calibri"/>
                <a:cs typeface="Calibri"/>
                <a:sym typeface="Calibri"/>
              </a:rPr>
              <a:t>Ask Yourself…</a:t>
            </a:r>
            <a:endParaRPr>
              <a:solidFill>
                <a:srgbClr val="267D42"/>
              </a:solidFill>
            </a:endParaRPr>
          </a:p>
          <a:p>
            <a:pPr algn="l"/>
            <a:r>
              <a:rPr lang="en-US">
                <a:solidFill>
                  <a:srgbClr val="000000"/>
                </a:solidFill>
              </a:rPr>
              <a:t>Does </a:t>
            </a:r>
            <a:r>
              <a:rPr lang="en-US" i="1">
                <a:solidFill>
                  <a:srgbClr val="000000"/>
                </a:solidFill>
              </a:rPr>
              <a:t>G</a:t>
            </a:r>
            <a:r>
              <a:rPr lang="en-US">
                <a:solidFill>
                  <a:srgbClr val="000000"/>
                </a:solidFill>
              </a:rPr>
              <a:t>(</a:t>
            </a:r>
            <a:r>
              <a:rPr lang="en-US" i="1">
                <a:solidFill>
                  <a:srgbClr val="000000"/>
                </a:solidFill>
              </a:rPr>
              <a:t>t</a:t>
            </a:r>
            <a:r>
              <a:rPr lang="en-US">
                <a:solidFill>
                  <a:srgbClr val="000000"/>
                </a:solidFill>
              </a:rPr>
              <a:t>) vary directly with </a:t>
            </a:r>
            <a:r>
              <a:rPr lang="en-US" i="1">
                <a:solidFill>
                  <a:srgbClr val="000000"/>
                </a:solidFill>
              </a:rPr>
              <a:t>t</a:t>
            </a:r>
            <a:r>
              <a:rPr lang="en-US">
                <a:solidFill>
                  <a:srgbClr val="000000"/>
                </a:solidFill>
              </a:rPr>
              <a:t>?</a:t>
            </a:r>
          </a:p>
        </p:txBody>
      </p:sp>
      <p:sp>
        <p:nvSpPr>
          <p:cNvPr id="5" name="TextBox 4">
            <a:extLst>
              <a:ext uri="{FF2B5EF4-FFF2-40B4-BE49-F238E27FC236}">
                <a16:creationId xmlns:a16="http://schemas.microsoft.com/office/drawing/2014/main" id="{BC551D6A-6A0C-C82B-9D89-BEA81F60647B}"/>
              </a:ext>
            </a:extLst>
          </p:cNvPr>
          <p:cNvSpPr txBox="1"/>
          <p:nvPr/>
        </p:nvSpPr>
        <p:spPr>
          <a:xfrm>
            <a:off x="3250276" y="1838531"/>
            <a:ext cx="7888779" cy="3970318"/>
          </a:xfrm>
          <a:prstGeom prst="rect">
            <a:avLst/>
          </a:prstGeom>
          <a:noFill/>
        </p:spPr>
        <p:txBody>
          <a:bodyPr wrap="square" rtlCol="0">
            <a:spAutoFit/>
          </a:bodyPr>
          <a:lstStyle/>
          <a:p>
            <a:pPr marL="515938" indent="-515938" algn="l">
              <a:buFont typeface="+mj-lt"/>
              <a:buAutoNum type="alphaLcPeriod" startAt="2"/>
            </a:pPr>
            <a:r>
              <a:rPr lang="en-US" sz="2800" b="0" i="0" u="none" strike="noStrike" baseline="0">
                <a:solidFill>
                  <a:srgbClr val="000000"/>
                </a:solidFill>
              </a:rPr>
              <a:t>Determine and interpret the meaning of </a:t>
            </a:r>
            <a:r>
              <a:rPr lang="en-US" sz="2800" b="0" i="1" u="none" strike="noStrike" baseline="0">
                <a:solidFill>
                  <a:srgbClr val="000000"/>
                </a:solidFill>
              </a:rPr>
              <a:t>y </a:t>
            </a:r>
            <a:r>
              <a:rPr lang="en-US" sz="2800" b="0" i="0" u="none" strike="noStrike" baseline="0">
                <a:solidFill>
                  <a:srgbClr val="000000"/>
                </a:solidFill>
              </a:rPr>
              <a:t>= </a:t>
            </a:r>
            <a:r>
              <a:rPr lang="en-US" sz="2800" b="0" i="1" u="none" strike="noStrike" baseline="0">
                <a:solidFill>
                  <a:srgbClr val="000000"/>
                </a:solidFill>
              </a:rPr>
              <a:t>G</a:t>
            </a:r>
            <a:r>
              <a:rPr lang="en-US" sz="2800" b="0" i="0" u="none" strike="noStrike" baseline="0">
                <a:solidFill>
                  <a:srgbClr val="000000"/>
                </a:solidFill>
              </a:rPr>
              <a:t>(0) in terms of the graph and this scenario. Label the point on the graph.</a:t>
            </a:r>
            <a:br>
              <a:rPr lang="en-US" sz="2800" b="0" i="0" u="none" strike="noStrike" baseline="0">
                <a:solidFill>
                  <a:srgbClr val="000000"/>
                </a:solidFill>
              </a:rPr>
            </a:br>
            <a:br>
              <a:rPr lang="en-US" sz="2800" b="0" i="0" u="none" strike="noStrike" baseline="0">
                <a:solidFill>
                  <a:srgbClr val="000000"/>
                </a:solidFill>
              </a:rPr>
            </a:br>
            <a:br>
              <a:rPr lang="en-US" sz="2800" b="0" i="0" u="none" strike="noStrike" baseline="0">
                <a:solidFill>
                  <a:srgbClr val="000000"/>
                </a:solidFill>
              </a:rPr>
            </a:br>
            <a:endParaRPr lang="en-US" sz="2800" b="0" i="0" u="none" strike="noStrike" baseline="0">
              <a:solidFill>
                <a:srgbClr val="000000"/>
              </a:solidFill>
            </a:endParaRPr>
          </a:p>
          <a:p>
            <a:pPr marL="515938" indent="-515938" algn="l">
              <a:buFont typeface="+mj-lt"/>
              <a:buAutoNum type="alphaLcPeriod" startAt="2"/>
            </a:pPr>
            <a:r>
              <a:rPr lang="en-US" sz="2800" b="0" i="0" u="none" strike="noStrike" baseline="0">
                <a:solidFill>
                  <a:srgbClr val="000000"/>
                </a:solidFill>
              </a:rPr>
              <a:t>Determine and interpret the meaning of </a:t>
            </a:r>
            <a:r>
              <a:rPr lang="en-US" sz="2800" b="0" i="1" u="none" strike="noStrike" baseline="0">
                <a:solidFill>
                  <a:srgbClr val="000000"/>
                </a:solidFill>
              </a:rPr>
              <a:t>G</a:t>
            </a:r>
            <a:r>
              <a:rPr lang="en-US" sz="2800" b="0" i="0" u="none" strike="noStrike" baseline="0">
                <a:solidFill>
                  <a:srgbClr val="000000"/>
                </a:solidFill>
              </a:rPr>
              <a:t>(</a:t>
            </a:r>
            <a:r>
              <a:rPr lang="en-US" sz="2800" b="0" i="1" u="none" strike="noStrike" baseline="0">
                <a:solidFill>
                  <a:srgbClr val="000000"/>
                </a:solidFill>
              </a:rPr>
              <a:t>t</a:t>
            </a:r>
            <a:r>
              <a:rPr lang="en-US" sz="2800" b="0" i="0" u="none" strike="noStrike" baseline="0">
                <a:solidFill>
                  <a:srgbClr val="000000"/>
                </a:solidFill>
              </a:rPr>
              <a:t>) = 0 in terms of the graph and this scenario. Label the point on the graph.</a:t>
            </a:r>
            <a:endParaRPr lang="en-US" sz="2800">
              <a:solidFill>
                <a:srgbClr val="000000"/>
              </a:solidFill>
            </a:endParaRPr>
          </a:p>
        </p:txBody>
      </p:sp>
    </p:spTree>
    <p:extLst>
      <p:ext uri="{BB962C8B-B14F-4D97-AF65-F5344CB8AC3E}">
        <p14:creationId xmlns:p14="http://schemas.microsoft.com/office/powerpoint/2010/main" val="5858881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AC2A7-25F2-7634-E1C2-7ED49244AC82}"/>
            </a:ext>
          </a:extLst>
        </p:cNvPr>
        <p:cNvGrpSpPr/>
        <p:nvPr/>
      </p:nvGrpSpPr>
      <p:grpSpPr>
        <a:xfrm>
          <a:off x="0" y="0"/>
          <a:ext cx="0" cy="0"/>
          <a:chOff x="0" y="0"/>
          <a:chExt cx="0" cy="0"/>
        </a:xfrm>
      </p:grpSpPr>
      <p:sp>
        <p:nvSpPr>
          <p:cNvPr id="7" name="Title 3">
            <a:extLst>
              <a:ext uri="{FF2B5EF4-FFF2-40B4-BE49-F238E27FC236}">
                <a16:creationId xmlns:a16="http://schemas.microsoft.com/office/drawing/2014/main" id="{74BE9923-545C-2E6D-69AE-7F8CC82E2B29}"/>
              </a:ext>
            </a:extLst>
          </p:cNvPr>
          <p:cNvSpPr>
            <a:spLocks noGrp="1"/>
          </p:cNvSpPr>
          <p:nvPr>
            <p:ph type="title"/>
          </p:nvPr>
        </p:nvSpPr>
        <p:spPr>
          <a:xfrm>
            <a:off x="789708" y="0"/>
            <a:ext cx="11400705" cy="1263192"/>
          </a:xfrm>
        </p:spPr>
        <p:txBody>
          <a:bodyPr/>
          <a:lstStyle/>
          <a:p>
            <a:pPr algn="l"/>
            <a:r>
              <a:rPr lang="en-US" sz="3200" b="1"/>
              <a:t>Interpreting Changes to the Graph of a Linear Function </a:t>
            </a:r>
            <a:r>
              <a:rPr lang="en-US" sz="2000" b="1">
                <a:solidFill>
                  <a:schemeClr val="bg1"/>
                </a:solidFill>
              </a:rPr>
              <a:t>(3 of 15)</a:t>
            </a:r>
          </a:p>
        </p:txBody>
      </p:sp>
      <p:sp>
        <p:nvSpPr>
          <p:cNvPr id="5" name="TextBox 4">
            <a:extLst>
              <a:ext uri="{FF2B5EF4-FFF2-40B4-BE49-F238E27FC236}">
                <a16:creationId xmlns:a16="http://schemas.microsoft.com/office/drawing/2014/main" id="{B45EE177-8361-F359-E48A-04AC4FA10A05}"/>
              </a:ext>
            </a:extLst>
          </p:cNvPr>
          <p:cNvSpPr txBox="1"/>
          <p:nvPr/>
        </p:nvSpPr>
        <p:spPr>
          <a:xfrm>
            <a:off x="789708" y="1583228"/>
            <a:ext cx="8830281" cy="954107"/>
          </a:xfrm>
          <a:prstGeom prst="rect">
            <a:avLst/>
          </a:prstGeom>
          <a:noFill/>
        </p:spPr>
        <p:txBody>
          <a:bodyPr wrap="square" rtlCol="0">
            <a:spAutoFit/>
          </a:bodyPr>
          <a:lstStyle/>
          <a:p>
            <a:r>
              <a:rPr lang="en-US" sz="2800">
                <a:solidFill>
                  <a:srgbClr val="000000"/>
                </a:solidFill>
              </a:rPr>
              <a:t>Brianna and Hailey each wrote an equation to describe the effect of giving away three T-shirts.</a:t>
            </a:r>
          </a:p>
        </p:txBody>
      </p:sp>
      <p:pic>
        <p:nvPicPr>
          <p:cNvPr id="6" name="Picture 5" descr="Thumbs up.&#10;Brianna.&#10;Gracie is giving away 3 T shirts, so she has 3 fewer shirts to sell.&#10;G of T equals 15 times the difference of T minus 3.">
            <a:extLst>
              <a:ext uri="{FF2B5EF4-FFF2-40B4-BE49-F238E27FC236}">
                <a16:creationId xmlns:a16="http://schemas.microsoft.com/office/drawing/2014/main" id="{FB36C89B-11BA-7E16-44FA-6E4DD6F4B970}"/>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922713" y="2776451"/>
            <a:ext cx="3965172" cy="2668385"/>
          </a:xfrm>
          <a:prstGeom prst="rect">
            <a:avLst/>
          </a:prstGeom>
        </p:spPr>
      </p:pic>
      <p:pic>
        <p:nvPicPr>
          <p:cNvPr id="2" name="Picture 1" descr="Thumbs up.&#10;Hailey.&#10;The cost of giving away three shirts is 45 dollars.&#10;G of T equals 15 times T minus 45.">
            <a:extLst>
              <a:ext uri="{FF2B5EF4-FFF2-40B4-BE49-F238E27FC236}">
                <a16:creationId xmlns:a16="http://schemas.microsoft.com/office/drawing/2014/main" id="{D5F93B0D-AE8D-5EBE-276A-D8B99A0F10E5}"/>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398145" y="2776451"/>
            <a:ext cx="3887171" cy="2668386"/>
          </a:xfrm>
          <a:prstGeom prst="rect">
            <a:avLst/>
          </a:prstGeom>
        </p:spPr>
      </p:pic>
    </p:spTree>
    <p:extLst>
      <p:ext uri="{BB962C8B-B14F-4D97-AF65-F5344CB8AC3E}">
        <p14:creationId xmlns:p14="http://schemas.microsoft.com/office/powerpoint/2010/main" val="3456736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6D116-043E-DFA3-981E-5A1EDE17F2E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7210297-FD74-896B-512F-D27630435C58}"/>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(4 of 15)</a:t>
            </a:r>
          </a:p>
        </p:txBody>
      </p:sp>
      <p:sp>
        <p:nvSpPr>
          <p:cNvPr id="5" name="TextBox 4">
            <a:extLst>
              <a:ext uri="{FF2B5EF4-FFF2-40B4-BE49-F238E27FC236}">
                <a16:creationId xmlns:a16="http://schemas.microsoft.com/office/drawing/2014/main" id="{48F8F777-B108-1E92-C676-25913E93C56F}"/>
              </a:ext>
            </a:extLst>
          </p:cNvPr>
          <p:cNvSpPr txBox="1"/>
          <p:nvPr/>
        </p:nvSpPr>
        <p:spPr>
          <a:xfrm>
            <a:off x="777240" y="1613185"/>
            <a:ext cx="9951117" cy="3108543"/>
          </a:xfrm>
          <a:prstGeom prst="rect">
            <a:avLst/>
          </a:prstGeom>
          <a:noFill/>
        </p:spPr>
        <p:txBody>
          <a:bodyPr wrap="square" rtlCol="0">
            <a:spAutoFit/>
          </a:bodyPr>
          <a:lstStyle/>
          <a:p>
            <a:pPr marL="515938" indent="-515938" algn="l">
              <a:buFont typeface="+mj-lt"/>
              <a:buAutoNum type="arabicPeriod" startAt="2"/>
            </a:pPr>
            <a:r>
              <a:rPr lang="en-US" sz="2800" b="0" i="0" u="none" strike="noStrike" baseline="0">
                <a:solidFill>
                  <a:srgbClr val="000000"/>
                </a:solidFill>
              </a:rPr>
              <a:t>Verify the two equation representations are equivalent.</a:t>
            </a:r>
            <a:br>
              <a:rPr lang="en-US" sz="2800" b="0" i="0" u="none" strike="noStrike" baseline="0">
                <a:solidFill>
                  <a:srgbClr val="000000"/>
                </a:solidFill>
              </a:rPr>
            </a:br>
            <a:br>
              <a:rPr lang="en-US" sz="2800" b="0" i="0" u="none" strike="noStrike" baseline="0">
                <a:solidFill>
                  <a:srgbClr val="000000"/>
                </a:solidFill>
              </a:rPr>
            </a:br>
            <a:br>
              <a:rPr lang="en-US" sz="2800" b="0" i="0" u="none" strike="noStrike" baseline="0">
                <a:solidFill>
                  <a:srgbClr val="000000"/>
                </a:solidFill>
              </a:rPr>
            </a:br>
            <a:br>
              <a:rPr lang="en-US" sz="2800" b="0" i="0" u="none" strike="noStrike" baseline="0">
                <a:solidFill>
                  <a:srgbClr val="000000"/>
                </a:solidFill>
              </a:rPr>
            </a:br>
            <a:endParaRPr lang="en-US" sz="2800" b="0" i="0" u="none" strike="noStrike" baseline="0">
              <a:solidFill>
                <a:srgbClr val="000000"/>
              </a:solidFill>
            </a:endParaRPr>
          </a:p>
          <a:p>
            <a:pPr marL="515938" indent="-515938" algn="l">
              <a:buFont typeface="+mj-lt"/>
              <a:buAutoNum type="arabicPeriod" startAt="2"/>
            </a:pPr>
            <a:r>
              <a:rPr lang="en-US" sz="2800" b="0" i="0" u="none" strike="noStrike" baseline="0">
                <a:solidFill>
                  <a:srgbClr val="000000"/>
                </a:solidFill>
              </a:rPr>
              <a:t>How many T-shirts will Gracie need to sell to earn $100? Use the graph and an equation.</a:t>
            </a:r>
            <a:endParaRPr lang="en-US" sz="3600">
              <a:solidFill>
                <a:srgbClr val="000000"/>
              </a:solidFill>
            </a:endParaRPr>
          </a:p>
        </p:txBody>
      </p:sp>
    </p:spTree>
    <p:extLst>
      <p:ext uri="{BB962C8B-B14F-4D97-AF65-F5344CB8AC3E}">
        <p14:creationId xmlns:p14="http://schemas.microsoft.com/office/powerpoint/2010/main" val="22852295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A3957-EB6B-2203-7163-48032902DD8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6827C8D-4970-A0F6-1A32-AAFB2CA53F45}"/>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(5 of 15)</a:t>
            </a:r>
          </a:p>
        </p:txBody>
      </p:sp>
      <p:sp>
        <p:nvSpPr>
          <p:cNvPr id="5" name="TextBox 4">
            <a:extLst>
              <a:ext uri="{FF2B5EF4-FFF2-40B4-BE49-F238E27FC236}">
                <a16:creationId xmlns:a16="http://schemas.microsoft.com/office/drawing/2014/main" id="{2E502B39-6377-860C-3DE5-71BA5FA65013}"/>
              </a:ext>
            </a:extLst>
          </p:cNvPr>
          <p:cNvSpPr txBox="1"/>
          <p:nvPr/>
        </p:nvSpPr>
        <p:spPr>
          <a:xfrm>
            <a:off x="777240" y="1646159"/>
            <a:ext cx="9904615" cy="2677656"/>
          </a:xfrm>
          <a:prstGeom prst="rect">
            <a:avLst/>
          </a:prstGeom>
          <a:noFill/>
        </p:spPr>
        <p:txBody>
          <a:bodyPr wrap="square" rtlCol="0">
            <a:spAutoFit/>
          </a:bodyPr>
          <a:lstStyle/>
          <a:p>
            <a:pPr marL="515938" indent="-515938" algn="l">
              <a:buFont typeface="+mj-lt"/>
              <a:buAutoNum type="arabicPeriod" startAt="4"/>
            </a:pPr>
            <a:r>
              <a:rPr lang="en-US" sz="2800" b="0" i="0" u="none" strike="noStrike" baseline="0">
                <a:solidFill>
                  <a:srgbClr val="000000"/>
                </a:solidFill>
                <a:latin typeface="+mj-lt"/>
              </a:rPr>
              <a:t>Consider the expressions in the first two rows that define the quantities of the function and then the parts of each equation written by Brianna and Hailey to complete the table. First, determine the unit of measure for each expression. Then, describe the contextual meaning and the mathematical meaning of each part of the function.</a:t>
            </a:r>
            <a:endParaRPr lang="en-US" sz="2800">
              <a:solidFill>
                <a:srgbClr val="000000"/>
              </a:solidFill>
              <a:latin typeface="+mj-lt"/>
            </a:endParaRPr>
          </a:p>
        </p:txBody>
      </p:sp>
    </p:spTree>
    <p:extLst>
      <p:ext uri="{BB962C8B-B14F-4D97-AF65-F5344CB8AC3E}">
        <p14:creationId xmlns:p14="http://schemas.microsoft.com/office/powerpoint/2010/main" val="27749828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1812B-3DD5-16E0-2EBC-F7CE624D520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736F39D-664B-C2C5-65FA-03B44C85C902}"/>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(6 of 15)</a:t>
            </a:r>
          </a:p>
        </p:txBody>
      </p:sp>
      <p:graphicFrame>
        <p:nvGraphicFramePr>
          <p:cNvPr id="3" name="Table 2">
            <a:extLst>
              <a:ext uri="{FF2B5EF4-FFF2-40B4-BE49-F238E27FC236}">
                <a16:creationId xmlns:a16="http://schemas.microsoft.com/office/drawing/2014/main" id="{C65772A3-91DC-E489-76CE-B72586EC4D88}"/>
              </a:ext>
            </a:extLst>
          </p:cNvPr>
          <p:cNvGraphicFramePr>
            <a:graphicFrameLocks noGrp="1"/>
          </p:cNvGraphicFramePr>
          <p:nvPr>
            <p:extLst>
              <p:ext uri="{D42A27DB-BD31-4B8C-83A1-F6EECF244321}">
                <p14:modId xmlns:p14="http://schemas.microsoft.com/office/powerpoint/2010/main" val="391544180"/>
              </p:ext>
            </p:extLst>
          </p:nvPr>
        </p:nvGraphicFramePr>
        <p:xfrm>
          <a:off x="1292270" y="1778582"/>
          <a:ext cx="9605871" cy="4737120"/>
        </p:xfrm>
        <a:graphic>
          <a:graphicData uri="http://schemas.openxmlformats.org/drawingml/2006/table">
            <a:tbl>
              <a:tblPr firstRow="1" bandRow="1">
                <a:tableStyleId>{2D5ABB26-0587-4C30-8999-92F81FD0307C}</a:tableStyleId>
              </a:tblPr>
              <a:tblGrid>
                <a:gridCol w="1799116">
                  <a:extLst>
                    <a:ext uri="{9D8B030D-6E8A-4147-A177-3AD203B41FA5}">
                      <a16:colId xmlns:a16="http://schemas.microsoft.com/office/drawing/2014/main" val="1321206246"/>
                    </a:ext>
                  </a:extLst>
                </a:gridCol>
                <a:gridCol w="1389174">
                  <a:extLst>
                    <a:ext uri="{9D8B030D-6E8A-4147-A177-3AD203B41FA5}">
                      <a16:colId xmlns:a16="http://schemas.microsoft.com/office/drawing/2014/main" val="938947091"/>
                    </a:ext>
                  </a:extLst>
                </a:gridCol>
                <a:gridCol w="3203457">
                  <a:extLst>
                    <a:ext uri="{9D8B030D-6E8A-4147-A177-3AD203B41FA5}">
                      <a16:colId xmlns:a16="http://schemas.microsoft.com/office/drawing/2014/main" val="2171005411"/>
                    </a:ext>
                  </a:extLst>
                </a:gridCol>
                <a:gridCol w="3214124">
                  <a:extLst>
                    <a:ext uri="{9D8B030D-6E8A-4147-A177-3AD203B41FA5}">
                      <a16:colId xmlns:a16="http://schemas.microsoft.com/office/drawing/2014/main" val="440820864"/>
                    </a:ext>
                  </a:extLst>
                </a:gridCol>
              </a:tblGrid>
              <a:tr h="563520">
                <a:tc>
                  <a:txBody>
                    <a:bodyPr/>
                    <a:lstStyle/>
                    <a:p>
                      <a:pPr algn="ctr"/>
                      <a:r>
                        <a:rPr lang="en-US" sz="2000" b="1">
                          <a:solidFill>
                            <a:srgbClr val="000000"/>
                          </a:solidFill>
                          <a:latin typeface="+mn-lt"/>
                        </a:rPr>
                        <a:t>Expression</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tc>
                  <a:txBody>
                    <a:bodyPr/>
                    <a:lstStyle/>
                    <a:p>
                      <a:pPr algn="ctr"/>
                      <a:r>
                        <a:rPr lang="en-US" sz="2000" b="1">
                          <a:solidFill>
                            <a:srgbClr val="000000"/>
                          </a:solidFill>
                          <a:latin typeface="+mn-lt"/>
                        </a:rPr>
                        <a:t>Unit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tc>
                  <a:txBody>
                    <a:bodyPr/>
                    <a:lstStyle/>
                    <a:p>
                      <a:pPr algn="ctr"/>
                      <a:r>
                        <a:rPr lang="en-US" sz="2000" b="1">
                          <a:solidFill>
                            <a:srgbClr val="000000"/>
                          </a:solidFill>
                          <a:latin typeface="+mn-lt"/>
                        </a:rPr>
                        <a:t>Contextual Meaning</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tc>
                  <a:txBody>
                    <a:bodyPr/>
                    <a:lstStyle/>
                    <a:p>
                      <a:pPr algn="ctr"/>
                      <a:r>
                        <a:rPr lang="en-US" sz="2000" b="1">
                          <a:solidFill>
                            <a:srgbClr val="000000"/>
                          </a:solidFill>
                          <a:latin typeface="+mn-lt"/>
                        </a:rPr>
                        <a:t>Mathematical Meaning</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6E3D7"/>
                    </a:solidFill>
                  </a:tcPr>
                </a:tc>
                <a:extLst>
                  <a:ext uri="{0D108BD9-81ED-4DB2-BD59-A6C34878D82A}">
                    <a16:rowId xmlns:a16="http://schemas.microsoft.com/office/drawing/2014/main" val="4188336374"/>
                  </a:ext>
                </a:extLst>
              </a:tr>
              <a:tr h="563520">
                <a:tc>
                  <a:txBody>
                    <a:bodyPr/>
                    <a:lstStyle/>
                    <a:p>
                      <a:pPr algn="ctr"/>
                      <a:r>
                        <a:rPr lang="en-US" sz="2000" i="1">
                          <a:solidFill>
                            <a:srgbClr val="000000"/>
                          </a:solidFill>
                          <a:latin typeface="+mn-lt"/>
                        </a:rPr>
                        <a:t>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3582952"/>
                  </a:ext>
                </a:extLst>
              </a:tr>
              <a:tr h="563520">
                <a:tc>
                  <a:txBody>
                    <a:bodyPr/>
                    <a:lstStyle/>
                    <a:p>
                      <a:pPr algn="ctr"/>
                      <a:r>
                        <a:rPr lang="en-US" sz="2000" i="1">
                          <a:solidFill>
                            <a:srgbClr val="000000"/>
                          </a:solidFill>
                          <a:latin typeface="+mn-lt"/>
                        </a:rPr>
                        <a:t>G</a:t>
                      </a:r>
                      <a:r>
                        <a:rPr lang="en-US" sz="2000">
                          <a:solidFill>
                            <a:srgbClr val="000000"/>
                          </a:solidFill>
                          <a:latin typeface="+mn-lt"/>
                        </a:rPr>
                        <a:t>(</a:t>
                      </a:r>
                      <a:r>
                        <a:rPr lang="en-US" sz="2000" i="1">
                          <a:solidFill>
                            <a:srgbClr val="000000"/>
                          </a:solidFill>
                          <a:latin typeface="+mn-lt"/>
                        </a:rPr>
                        <a:t>t</a:t>
                      </a:r>
                      <a:r>
                        <a:rPr lang="en-US" sz="2000">
                          <a:solidFill>
                            <a:srgbClr val="000000"/>
                          </a:solidFill>
                          <a:latin typeface="+mn-lt"/>
                        </a:rPr>
                        <a: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5675729"/>
                  </a:ext>
                </a:extLst>
              </a:tr>
              <a:tr h="208261">
                <a:tc>
                  <a:txBody>
                    <a:bodyPr/>
                    <a:lstStyle/>
                    <a:p>
                      <a:pPr algn="ctr"/>
                      <a:endParaRPr lang="en-US" sz="2000">
                        <a:solidFill>
                          <a:srgbClr val="000000"/>
                        </a:solidFill>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CCC"/>
                    </a:solidFill>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CCC"/>
                    </a:solidFill>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CCC"/>
                    </a:solidFill>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CCC"/>
                    </a:solidFill>
                  </a:tcPr>
                </a:tc>
                <a:extLst>
                  <a:ext uri="{0D108BD9-81ED-4DB2-BD59-A6C34878D82A}">
                    <a16:rowId xmlns:a16="http://schemas.microsoft.com/office/drawing/2014/main" val="478093130"/>
                  </a:ext>
                </a:extLst>
              </a:tr>
              <a:tr h="563520">
                <a:tc>
                  <a:txBody>
                    <a:bodyPr/>
                    <a:lstStyle/>
                    <a:p>
                      <a:pPr algn="ctr"/>
                      <a:r>
                        <a:rPr lang="en-US" sz="2000" i="0">
                          <a:solidFill>
                            <a:srgbClr val="000000"/>
                          </a:solidFill>
                          <a:latin typeface="+mn-lt"/>
                        </a:rPr>
                        <a:t>15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100118"/>
                  </a:ext>
                </a:extLst>
              </a:tr>
              <a:tr h="563520">
                <a:tc>
                  <a:txBody>
                    <a:bodyPr/>
                    <a:lstStyle/>
                    <a:p>
                      <a:pPr algn="ctr"/>
                      <a:r>
                        <a:rPr lang="en-US" sz="2000">
                          <a:solidFill>
                            <a:srgbClr val="000000"/>
                          </a:solidFill>
                          <a:latin typeface="+mn-lt"/>
                        </a:rPr>
                        <a:t>(</a:t>
                      </a:r>
                      <a:r>
                        <a:rPr lang="en-US" sz="2000" i="1">
                          <a:solidFill>
                            <a:srgbClr val="000000"/>
                          </a:solidFill>
                          <a:latin typeface="+mn-lt"/>
                        </a:rPr>
                        <a:t>t</a:t>
                      </a:r>
                      <a:r>
                        <a:rPr lang="en-US" sz="2000">
                          <a:solidFill>
                            <a:srgbClr val="000000"/>
                          </a:solidFill>
                          <a:latin typeface="+mn-lt"/>
                        </a:rPr>
                        <a:t> </a:t>
                      </a:r>
                      <a:r>
                        <a:rPr lang="en-US" sz="2000" i="0">
                          <a:solidFill>
                            <a:srgbClr val="000000"/>
                          </a:solidFill>
                          <a:latin typeface="+mn-lt"/>
                        </a:rPr>
                        <a:t>− 3)</a:t>
                      </a:r>
                      <a:endParaRPr lang="en-US" sz="2000">
                        <a:solidFill>
                          <a:srgbClr val="000000"/>
                        </a:solidFill>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7790784"/>
                  </a:ext>
                </a:extLst>
              </a:tr>
              <a:tr h="3025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i="1">
                        <a:solidFill>
                          <a:srgbClr val="000000"/>
                        </a:solidFill>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CCC"/>
                    </a:solidFill>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CCC"/>
                    </a:solidFill>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CCC"/>
                    </a:solidFill>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CCC"/>
                    </a:solidFill>
                  </a:tcPr>
                </a:tc>
                <a:extLst>
                  <a:ext uri="{0D108BD9-81ED-4DB2-BD59-A6C34878D82A}">
                    <a16:rowId xmlns:a16="http://schemas.microsoft.com/office/drawing/2014/main" val="1682172381"/>
                  </a:ext>
                </a:extLst>
              </a:tr>
              <a:tr h="563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i="0">
                          <a:solidFill>
                            <a:srgbClr val="000000"/>
                          </a:solidFill>
                          <a:latin typeface="+mn-lt"/>
                        </a:rPr>
                        <a:t>15</a:t>
                      </a:r>
                      <a:r>
                        <a:rPr lang="en-US" sz="2000" i="1">
                          <a:solidFill>
                            <a:srgbClr val="000000"/>
                          </a:solidFill>
                          <a:latin typeface="+mn-lt"/>
                        </a:rPr>
                        <a:t>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4945606"/>
                  </a:ext>
                </a:extLst>
              </a:tr>
              <a:tr h="563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i="0">
                          <a:solidFill>
                            <a:srgbClr val="000000"/>
                          </a:solidFill>
                          <a:latin typeface="+mn-lt"/>
                        </a:rPr>
                        <a:t>−45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1699118"/>
                  </a:ext>
                </a:extLst>
              </a:tr>
            </a:tbl>
          </a:graphicData>
        </a:graphic>
      </p:graphicFrame>
      <p:graphicFrame>
        <p:nvGraphicFramePr>
          <p:cNvPr id="2" name="Table 1">
            <a:extLst>
              <a:ext uri="{FF2B5EF4-FFF2-40B4-BE49-F238E27FC236}">
                <a16:creationId xmlns:a16="http://schemas.microsoft.com/office/drawing/2014/main" id="{2E9F6D4D-ECA8-DA7D-BC23-F39E60999BAB}"/>
              </a:ext>
            </a:extLst>
          </p:cNvPr>
          <p:cNvGraphicFramePr>
            <a:graphicFrameLocks noGrp="1"/>
          </p:cNvGraphicFramePr>
          <p:nvPr>
            <p:extLst>
              <p:ext uri="{D42A27DB-BD31-4B8C-83A1-F6EECF244321}">
                <p14:modId xmlns:p14="http://schemas.microsoft.com/office/powerpoint/2010/main" val="2103575563"/>
              </p:ext>
            </p:extLst>
          </p:nvPr>
        </p:nvGraphicFramePr>
        <p:xfrm>
          <a:off x="4480559" y="1382803"/>
          <a:ext cx="6417581" cy="396240"/>
        </p:xfrm>
        <a:graphic>
          <a:graphicData uri="http://schemas.openxmlformats.org/drawingml/2006/table">
            <a:tbl>
              <a:tblPr firstRow="1" bandRow="1">
                <a:tableStyleId>{5C22544A-7EE6-4342-B048-85BDC9FD1C3A}</a:tableStyleId>
              </a:tblPr>
              <a:tblGrid>
                <a:gridCol w="6417581">
                  <a:extLst>
                    <a:ext uri="{9D8B030D-6E8A-4147-A177-3AD203B41FA5}">
                      <a16:colId xmlns:a16="http://schemas.microsoft.com/office/drawing/2014/main" val="2360227784"/>
                    </a:ext>
                  </a:extLst>
                </a:gridCol>
              </a:tblGrid>
              <a:tr h="370840">
                <a:tc>
                  <a:txBody>
                    <a:bodyPr/>
                    <a:lstStyle/>
                    <a:p>
                      <a:pPr algn="ctr"/>
                      <a:r>
                        <a:rPr lang="en-US" sz="2000">
                          <a:solidFill>
                            <a:schemeClr val="bg1"/>
                          </a:solidFill>
                        </a:rPr>
                        <a:t>What It Means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67D42"/>
                    </a:solidFill>
                  </a:tcPr>
                </a:tc>
                <a:extLst>
                  <a:ext uri="{0D108BD9-81ED-4DB2-BD59-A6C34878D82A}">
                    <a16:rowId xmlns:a16="http://schemas.microsoft.com/office/drawing/2014/main" val="1837792169"/>
                  </a:ext>
                </a:extLst>
              </a:tr>
            </a:tbl>
          </a:graphicData>
        </a:graphic>
      </p:graphicFrame>
    </p:spTree>
    <p:extLst>
      <p:ext uri="{BB962C8B-B14F-4D97-AF65-F5344CB8AC3E}">
        <p14:creationId xmlns:p14="http://schemas.microsoft.com/office/powerpoint/2010/main" val="40408731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3AEA4-B821-FF1A-10C0-F85586E4BC5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9B22210-5855-03A6-4151-0CBEB649E558}"/>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(7 of 15)</a:t>
            </a:r>
          </a:p>
        </p:txBody>
      </p:sp>
      <p:sp>
        <p:nvSpPr>
          <p:cNvPr id="3" name="TextBox 2">
            <a:extLst>
              <a:ext uri="{FF2B5EF4-FFF2-40B4-BE49-F238E27FC236}">
                <a16:creationId xmlns:a16="http://schemas.microsoft.com/office/drawing/2014/main" id="{7DC18A87-2DEF-AD00-8645-08C29DE0A6CD}"/>
              </a:ext>
            </a:extLst>
          </p:cNvPr>
          <p:cNvSpPr txBox="1"/>
          <p:nvPr/>
        </p:nvSpPr>
        <p:spPr>
          <a:xfrm>
            <a:off x="777239" y="3449782"/>
            <a:ext cx="2423161" cy="1631216"/>
          </a:xfrm>
          <a:prstGeom prst="rect">
            <a:avLst/>
          </a:prstGeom>
          <a:noFill/>
          <a:ln w="38100" cap="sq">
            <a:solidFill>
              <a:srgbClr val="2B8147"/>
            </a:solidFill>
            <a:prstDash val="sysDot"/>
          </a:ln>
        </p:spPr>
        <p:txBody>
          <a:bodyPr wrap="square" rtlCol="0">
            <a:spAutoFit/>
          </a:bodyPr>
          <a:lstStyle/>
          <a:p>
            <a:pPr algn="l"/>
            <a:r>
              <a:rPr lang="en-US" sz="2000" b="0" i="0" u="none" strike="noStrike" baseline="0">
                <a:solidFill>
                  <a:srgbClr val="000000"/>
                </a:solidFill>
              </a:rPr>
              <a:t>Polynomial comes</a:t>
            </a:r>
          </a:p>
          <a:p>
            <a:pPr algn="l"/>
            <a:r>
              <a:rPr lang="en-US" sz="2000" b="0" i="0" u="none" strike="noStrike" baseline="0">
                <a:solidFill>
                  <a:srgbClr val="000000"/>
                </a:solidFill>
              </a:rPr>
              <a:t>from </a:t>
            </a:r>
            <a:r>
              <a:rPr lang="en-US" sz="2000" b="0" i="1" u="none" strike="noStrike" baseline="0">
                <a:solidFill>
                  <a:srgbClr val="000000"/>
                </a:solidFill>
              </a:rPr>
              <a:t>poly</a:t>
            </a:r>
            <a:r>
              <a:rPr lang="en-US" sz="2000" b="0" i="0" u="none" strike="noStrike" baseline="0">
                <a:solidFill>
                  <a:srgbClr val="000000"/>
                </a:solidFill>
              </a:rPr>
              <a:t>- meaning</a:t>
            </a:r>
          </a:p>
          <a:p>
            <a:pPr algn="l"/>
            <a:r>
              <a:rPr lang="en-US" sz="2000" b="0" i="0" u="none" strike="noStrike" baseline="0">
                <a:solidFill>
                  <a:srgbClr val="000000"/>
                </a:solidFill>
              </a:rPr>
              <a:t>“many” and -</a:t>
            </a:r>
            <a:r>
              <a:rPr lang="en-US" sz="2000" b="0" i="1" u="none" strike="noStrike" baseline="0" err="1">
                <a:solidFill>
                  <a:srgbClr val="000000"/>
                </a:solidFill>
              </a:rPr>
              <a:t>nomial</a:t>
            </a:r>
            <a:endParaRPr lang="en-US" sz="2000" b="0" i="1" u="none" strike="noStrike" baseline="0">
              <a:solidFill>
                <a:srgbClr val="000000"/>
              </a:solidFill>
            </a:endParaRPr>
          </a:p>
          <a:p>
            <a:pPr algn="l"/>
            <a:r>
              <a:rPr lang="en-US" sz="2000" b="0" i="0" u="none" strike="noStrike" baseline="0">
                <a:solidFill>
                  <a:srgbClr val="000000"/>
                </a:solidFill>
              </a:rPr>
              <a:t>meaning “term,” so it means “many terms.”</a:t>
            </a:r>
            <a:endParaRPr lang="en-US" sz="2000">
              <a:solidFill>
                <a:srgbClr val="000000"/>
              </a:solidFill>
            </a:endParaRPr>
          </a:p>
        </p:txBody>
      </p:sp>
      <p:sp>
        <p:nvSpPr>
          <p:cNvPr id="5" name="TextBox 4">
            <a:extLst>
              <a:ext uri="{FF2B5EF4-FFF2-40B4-BE49-F238E27FC236}">
                <a16:creationId xmlns:a16="http://schemas.microsoft.com/office/drawing/2014/main" id="{BE383300-A19B-48BC-0677-1FE5F7E92570}"/>
              </a:ext>
            </a:extLst>
          </p:cNvPr>
          <p:cNvSpPr txBox="1"/>
          <p:nvPr/>
        </p:nvSpPr>
        <p:spPr>
          <a:xfrm>
            <a:off x="3424843" y="1595702"/>
            <a:ext cx="8329353" cy="4724370"/>
          </a:xfrm>
          <a:prstGeom prst="rect">
            <a:avLst/>
          </a:prstGeom>
          <a:noFill/>
        </p:spPr>
        <p:txBody>
          <a:bodyPr wrap="square" rtlCol="0">
            <a:spAutoFit/>
          </a:bodyPr>
          <a:lstStyle/>
          <a:p>
            <a:pPr algn="l">
              <a:spcAft>
                <a:spcPts val="1800"/>
              </a:spcAft>
            </a:pPr>
            <a:r>
              <a:rPr lang="en-US" sz="2600" b="0" i="0" u="none" strike="noStrike" baseline="0">
                <a:solidFill>
                  <a:srgbClr val="000000"/>
                </a:solidFill>
              </a:rPr>
              <a:t>The linear functions that Brianna and Hailey each wrote are equivalent; however, they are written in different forms. The linear function </a:t>
            </a:r>
            <a:r>
              <a:rPr lang="en-US" sz="2600" b="0" i="1" u="none" strike="noStrike" baseline="0">
                <a:solidFill>
                  <a:srgbClr val="000000"/>
                </a:solidFill>
              </a:rPr>
              <a:t>G</a:t>
            </a:r>
            <a:r>
              <a:rPr lang="en-US" sz="2600" b="0" i="0" u="none" strike="noStrike" baseline="0">
                <a:solidFill>
                  <a:srgbClr val="000000"/>
                </a:solidFill>
              </a:rPr>
              <a:t>(</a:t>
            </a:r>
            <a:r>
              <a:rPr lang="en-US" sz="2600" b="0" i="1" u="none" strike="noStrike" baseline="0">
                <a:solidFill>
                  <a:srgbClr val="000000"/>
                </a:solidFill>
              </a:rPr>
              <a:t>t</a:t>
            </a:r>
            <a:r>
              <a:rPr lang="en-US" sz="2600" b="0" i="0" u="none" strike="noStrike" baseline="0">
                <a:solidFill>
                  <a:srgbClr val="000000"/>
                </a:solidFill>
              </a:rPr>
              <a:t>) = 15(</a:t>
            </a:r>
            <a:r>
              <a:rPr lang="en-US" sz="2600" b="0" i="1" u="none" strike="noStrike" baseline="0">
                <a:solidFill>
                  <a:srgbClr val="000000"/>
                </a:solidFill>
              </a:rPr>
              <a:t>t</a:t>
            </a:r>
            <a:r>
              <a:rPr lang="en-US" sz="2600" b="0" i="0" u="none" strike="noStrike" baseline="0">
                <a:solidFill>
                  <a:srgbClr val="000000"/>
                </a:solidFill>
              </a:rPr>
              <a:t> − 3) is written in factored form and </a:t>
            </a:r>
            <a:r>
              <a:rPr lang="en-US" sz="2600" b="0" i="1" u="none" strike="noStrike" baseline="0">
                <a:solidFill>
                  <a:srgbClr val="000000"/>
                </a:solidFill>
              </a:rPr>
              <a:t>G</a:t>
            </a:r>
            <a:r>
              <a:rPr lang="en-US" sz="2600" b="0" i="0" u="none" strike="noStrike" baseline="0">
                <a:solidFill>
                  <a:srgbClr val="000000"/>
                </a:solidFill>
              </a:rPr>
              <a:t>(</a:t>
            </a:r>
            <a:r>
              <a:rPr lang="en-US" sz="2600" b="0" i="1" u="none" strike="noStrike" baseline="0">
                <a:solidFill>
                  <a:srgbClr val="000000"/>
                </a:solidFill>
              </a:rPr>
              <a:t>t</a:t>
            </a:r>
            <a:r>
              <a:rPr lang="en-US" sz="2600" b="0" i="0" u="none" strike="noStrike" baseline="0">
                <a:solidFill>
                  <a:srgbClr val="000000"/>
                </a:solidFill>
              </a:rPr>
              <a:t>) = 15</a:t>
            </a:r>
            <a:r>
              <a:rPr lang="en-US" sz="2600" b="0" i="1" u="none" strike="noStrike" baseline="0">
                <a:solidFill>
                  <a:srgbClr val="000000"/>
                </a:solidFill>
              </a:rPr>
              <a:t>t</a:t>
            </a:r>
            <a:r>
              <a:rPr lang="en-US" sz="2600" b="0" i="0" u="none" strike="noStrike" baseline="0">
                <a:solidFill>
                  <a:srgbClr val="000000"/>
                </a:solidFill>
              </a:rPr>
              <a:t> − 45 is written in general form</a:t>
            </a:r>
            <a:r>
              <a:rPr lang="en-US" sz="2600" b="0" i="0" u="none" strike="noStrike" baseline="0">
                <a:latin typeface="Lato-Regular"/>
              </a:rPr>
              <a:t>.</a:t>
            </a:r>
            <a:endParaRPr lang="en-US" sz="2600">
              <a:solidFill>
                <a:srgbClr val="000000"/>
              </a:solidFill>
              <a:latin typeface="Lato-Regular"/>
            </a:endParaRPr>
          </a:p>
          <a:p>
            <a:pPr algn="l">
              <a:spcAft>
                <a:spcPts val="1800"/>
              </a:spcAft>
            </a:pPr>
            <a:r>
              <a:rPr lang="en-US" sz="2600" b="0" i="0" u="none" strike="noStrike" baseline="0">
                <a:solidFill>
                  <a:srgbClr val="000000"/>
                </a:solidFill>
              </a:rPr>
              <a:t>A linear function can also be referred to as a </a:t>
            </a:r>
            <a:r>
              <a:rPr lang="en-US" sz="2600" b="0" i="1" u="none" strike="noStrike" baseline="0">
                <a:solidFill>
                  <a:srgbClr val="000000"/>
                </a:solidFill>
              </a:rPr>
              <a:t>polynomial </a:t>
            </a:r>
            <a:r>
              <a:rPr lang="en-US" sz="2600" b="0" i="0" u="none" strike="noStrike" baseline="0">
                <a:solidFill>
                  <a:srgbClr val="000000"/>
                </a:solidFill>
              </a:rPr>
              <a:t>function. A </a:t>
            </a:r>
            <a:r>
              <a:rPr lang="en-US" sz="2600" b="1" i="0" u="none" strike="noStrike" baseline="0">
                <a:solidFill>
                  <a:srgbClr val="000000"/>
                </a:solidFill>
              </a:rPr>
              <a:t>polynomial </a:t>
            </a:r>
            <a:r>
              <a:rPr lang="en-US" sz="2600" b="0" i="0" u="none" strike="noStrike" baseline="0">
                <a:solidFill>
                  <a:srgbClr val="000000"/>
                </a:solidFill>
              </a:rPr>
              <a:t>is a mathematical expression involving the sum of powers in one or more variables multiplied by coefficients. The </a:t>
            </a:r>
            <a:r>
              <a:rPr lang="en-US" sz="2600" b="1" i="0" u="none" strike="noStrike" baseline="0">
                <a:solidFill>
                  <a:srgbClr val="000000"/>
                </a:solidFill>
              </a:rPr>
              <a:t>degree </a:t>
            </a:r>
            <a:r>
              <a:rPr lang="en-US" sz="2600" b="0" i="0" u="none" strike="noStrike" baseline="0">
                <a:solidFill>
                  <a:srgbClr val="000000"/>
                </a:solidFill>
              </a:rPr>
              <a:t>of a polynomial is the greatest variable exponent in the expression. The </a:t>
            </a:r>
            <a:r>
              <a:rPr lang="en-US" sz="2600" b="1" i="0" u="none" strike="noStrike" baseline="0">
                <a:solidFill>
                  <a:srgbClr val="000000"/>
                </a:solidFill>
              </a:rPr>
              <a:t>leading coefficient </a:t>
            </a:r>
            <a:r>
              <a:rPr lang="en-US" sz="2600" b="0" i="0" u="none" strike="noStrike" baseline="0">
                <a:solidFill>
                  <a:srgbClr val="000000"/>
                </a:solidFill>
              </a:rPr>
              <a:t>of a polynomial is the numeric coefficient of the term with the greatest power.</a:t>
            </a:r>
            <a:endParaRPr lang="en-US" sz="2600">
              <a:solidFill>
                <a:srgbClr val="000000"/>
              </a:solidFill>
            </a:endParaRPr>
          </a:p>
        </p:txBody>
      </p:sp>
    </p:spTree>
    <p:extLst>
      <p:ext uri="{BB962C8B-B14F-4D97-AF65-F5344CB8AC3E}">
        <p14:creationId xmlns:p14="http://schemas.microsoft.com/office/powerpoint/2010/main" val="26193387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97DB3-38B7-639E-FABD-3134CA65877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1122732-0794-9F9C-DC91-3B21C046FA57}"/>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(8 of 15)</a:t>
            </a:r>
          </a:p>
        </p:txBody>
      </p:sp>
      <p:sp>
        <p:nvSpPr>
          <p:cNvPr id="3" name="TextBox 2">
            <a:extLst>
              <a:ext uri="{FF2B5EF4-FFF2-40B4-BE49-F238E27FC236}">
                <a16:creationId xmlns:a16="http://schemas.microsoft.com/office/drawing/2014/main" id="{4680F4C0-74FC-582A-7AEF-42065D62F2E6}"/>
              </a:ext>
            </a:extLst>
          </p:cNvPr>
          <p:cNvSpPr txBox="1"/>
          <p:nvPr/>
        </p:nvSpPr>
        <p:spPr>
          <a:xfrm>
            <a:off x="597385" y="3163610"/>
            <a:ext cx="2335938" cy="1938992"/>
          </a:xfrm>
          <a:prstGeom prst="rect">
            <a:avLst/>
          </a:prstGeom>
          <a:noFill/>
          <a:ln w="38100" cap="sq">
            <a:solidFill>
              <a:srgbClr val="2B8147"/>
            </a:solidFill>
            <a:prstDash val="sysDot"/>
          </a:ln>
        </p:spPr>
        <p:txBody>
          <a:bodyPr wrap="square" rtlCol="0">
            <a:spAutoFit/>
          </a:bodyPr>
          <a:lstStyle/>
          <a:p>
            <a:pPr algn="l"/>
            <a:r>
              <a:rPr lang="en-US" sz="2000" b="0" i="0" u="none" strike="noStrike" baseline="0">
                <a:solidFill>
                  <a:srgbClr val="000000"/>
                </a:solidFill>
              </a:rPr>
              <a:t>When you graph</a:t>
            </a:r>
          </a:p>
          <a:p>
            <a:pPr algn="l"/>
            <a:r>
              <a:rPr lang="en-US" sz="2000" b="0" i="0" u="none" strike="noStrike" baseline="0">
                <a:solidFill>
                  <a:srgbClr val="000000"/>
                </a:solidFill>
              </a:rPr>
              <a:t>a polynomial the</a:t>
            </a:r>
          </a:p>
          <a:p>
            <a:pPr algn="l"/>
            <a:r>
              <a:rPr lang="en-US" sz="2000" b="0" i="0" u="none" strike="noStrike" baseline="0">
                <a:solidFill>
                  <a:srgbClr val="000000"/>
                </a:solidFill>
              </a:rPr>
              <a:t>degree tells you the</a:t>
            </a:r>
          </a:p>
          <a:p>
            <a:pPr algn="l"/>
            <a:r>
              <a:rPr lang="en-US" sz="2000" b="0" i="0" u="none" strike="noStrike" baseline="0">
                <a:solidFill>
                  <a:srgbClr val="000000"/>
                </a:solidFill>
              </a:rPr>
              <a:t>maximum number of times the graph can cross the </a:t>
            </a:r>
            <a:r>
              <a:rPr lang="en-US" sz="2000" b="0" i="1" u="none" strike="noStrike" baseline="0">
                <a:solidFill>
                  <a:srgbClr val="000000"/>
                </a:solidFill>
              </a:rPr>
              <a:t>x</a:t>
            </a:r>
            <a:r>
              <a:rPr lang="en-US" sz="2000" b="0" i="0" u="none" strike="noStrike" baseline="0">
                <a:solidFill>
                  <a:srgbClr val="000000"/>
                </a:solidFill>
              </a:rPr>
              <a:t>-axis.</a:t>
            </a:r>
            <a:endParaRPr lang="en-US" sz="2800">
              <a:solidFill>
                <a:srgbClr val="000000"/>
              </a:solidFill>
            </a:endParaRPr>
          </a:p>
        </p:txBody>
      </p:sp>
      <p:sp>
        <p:nvSpPr>
          <p:cNvPr id="7" name="Rectangle: Rounded Corners 6">
            <a:extLst>
              <a:ext uri="{FF2B5EF4-FFF2-40B4-BE49-F238E27FC236}">
                <a16:creationId xmlns:a16="http://schemas.microsoft.com/office/drawing/2014/main" id="{6690737C-2ED3-F630-50E5-49C971CA8D3D}"/>
              </a:ext>
              <a:ext uri="{C183D7F6-B498-43B3-948B-1728B52AA6E4}">
                <adec:decorative xmlns:adec="http://schemas.microsoft.com/office/drawing/2017/decorative" val="1"/>
              </a:ext>
            </a:extLst>
          </p:cNvPr>
          <p:cNvSpPr/>
          <p:nvPr/>
        </p:nvSpPr>
        <p:spPr>
          <a:xfrm>
            <a:off x="3149998" y="2285998"/>
            <a:ext cx="8582527" cy="3492089"/>
          </a:xfrm>
          <a:prstGeom prst="roundRect">
            <a:avLst/>
          </a:prstGeom>
          <a:noFill/>
          <a:ln w="50800" cmpd="dbl">
            <a:solidFill>
              <a:schemeClr val="bg2">
                <a:lumMod val="50000"/>
              </a:schemeClr>
            </a:solid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Worked Example">
            <a:extLst>
              <a:ext uri="{FF2B5EF4-FFF2-40B4-BE49-F238E27FC236}">
                <a16:creationId xmlns:a16="http://schemas.microsoft.com/office/drawing/2014/main" id="{831FC6C2-31BA-2F02-456B-07F8795B71F8}"/>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731302" y="2072619"/>
            <a:ext cx="2758679" cy="426757"/>
          </a:xfrm>
          <a:prstGeom prst="rect">
            <a:avLst/>
          </a:prstGeom>
        </p:spPr>
      </p:pic>
      <p:sp>
        <p:nvSpPr>
          <p:cNvPr id="9" name="TextBox 8">
            <a:extLst>
              <a:ext uri="{FF2B5EF4-FFF2-40B4-BE49-F238E27FC236}">
                <a16:creationId xmlns:a16="http://schemas.microsoft.com/office/drawing/2014/main" id="{0A053DAF-0DC6-D0AF-DE26-8EFAC6FD696B}"/>
              </a:ext>
            </a:extLst>
          </p:cNvPr>
          <p:cNvSpPr txBox="1"/>
          <p:nvPr/>
        </p:nvSpPr>
        <p:spPr>
          <a:xfrm>
            <a:off x="3838089" y="2599255"/>
            <a:ext cx="7246762" cy="523220"/>
          </a:xfrm>
          <a:prstGeom prst="rect">
            <a:avLst/>
          </a:prstGeom>
          <a:noFill/>
        </p:spPr>
        <p:txBody>
          <a:bodyPr wrap="square" rtlCol="0">
            <a:spAutoFit/>
          </a:bodyPr>
          <a:lstStyle/>
          <a:p>
            <a:pPr algn="l"/>
            <a:r>
              <a:rPr lang="en-US" sz="2800" b="0" i="0" u="none" strike="noStrike" baseline="0">
                <a:solidFill>
                  <a:srgbClr val="000000"/>
                </a:solidFill>
              </a:rPr>
              <a:t>A few examples of polynomial functions.</a:t>
            </a:r>
            <a:endParaRPr lang="en-US" sz="2800">
              <a:solidFill>
                <a:srgbClr val="000000"/>
              </a:solidFill>
            </a:endParaRPr>
          </a:p>
        </p:txBody>
      </p:sp>
      <p:graphicFrame>
        <p:nvGraphicFramePr>
          <p:cNvPr id="2" name="Table 1">
            <a:extLst>
              <a:ext uri="{FF2B5EF4-FFF2-40B4-BE49-F238E27FC236}">
                <a16:creationId xmlns:a16="http://schemas.microsoft.com/office/drawing/2014/main" id="{4E526D17-6B74-B14F-73DC-1289F0EAA06A}"/>
              </a:ext>
            </a:extLst>
          </p:cNvPr>
          <p:cNvGraphicFramePr>
            <a:graphicFrameLocks noGrp="1"/>
          </p:cNvGraphicFramePr>
          <p:nvPr>
            <p:extLst>
              <p:ext uri="{D42A27DB-BD31-4B8C-83A1-F6EECF244321}">
                <p14:modId xmlns:p14="http://schemas.microsoft.com/office/powerpoint/2010/main" val="4175225257"/>
              </p:ext>
            </p:extLst>
          </p:nvPr>
        </p:nvGraphicFramePr>
        <p:xfrm>
          <a:off x="3838088" y="3302300"/>
          <a:ext cx="5422304" cy="370840"/>
        </p:xfrm>
        <a:graphic>
          <a:graphicData uri="http://schemas.openxmlformats.org/drawingml/2006/table">
            <a:tbl>
              <a:tblPr firstRow="1" bandRow="1">
                <a:tableStyleId>{5C22544A-7EE6-4342-B048-85BDC9FD1C3A}</a:tableStyleId>
              </a:tblPr>
              <a:tblGrid>
                <a:gridCol w="5422304">
                  <a:extLst>
                    <a:ext uri="{9D8B030D-6E8A-4147-A177-3AD203B41FA5}">
                      <a16:colId xmlns:a16="http://schemas.microsoft.com/office/drawing/2014/main" val="4079915735"/>
                    </a:ext>
                  </a:extLst>
                </a:gridCol>
              </a:tblGrid>
              <a:tr h="370840">
                <a:tc>
                  <a:txBody>
                    <a:bodyPr/>
                    <a:lstStyle/>
                    <a:p>
                      <a:pPr algn="ctr"/>
                      <a:r>
                        <a:rPr lang="en-US">
                          <a:solidFill>
                            <a:srgbClr val="000000"/>
                          </a:solidFill>
                        </a:rPr>
                        <a:t>Polynomial Functions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9DCCC"/>
                    </a:solidFill>
                  </a:tcPr>
                </a:tc>
                <a:extLst>
                  <a:ext uri="{0D108BD9-81ED-4DB2-BD59-A6C34878D82A}">
                    <a16:rowId xmlns:a16="http://schemas.microsoft.com/office/drawing/2014/main" val="1643519309"/>
                  </a:ext>
                </a:extLst>
              </a:tr>
            </a:tbl>
          </a:graphicData>
        </a:graphic>
      </p:graphicFrame>
      <p:graphicFrame>
        <p:nvGraphicFramePr>
          <p:cNvPr id="5" name="Table 4">
            <a:extLst>
              <a:ext uri="{FF2B5EF4-FFF2-40B4-BE49-F238E27FC236}">
                <a16:creationId xmlns:a16="http://schemas.microsoft.com/office/drawing/2014/main" id="{9A50B7AA-8B60-08B9-C3A8-12318AF42F36}"/>
              </a:ext>
            </a:extLst>
          </p:cNvPr>
          <p:cNvGraphicFramePr>
            <a:graphicFrameLocks noGrp="1"/>
          </p:cNvGraphicFramePr>
          <p:nvPr>
            <p:extLst>
              <p:ext uri="{D42A27DB-BD31-4B8C-83A1-F6EECF244321}">
                <p14:modId xmlns:p14="http://schemas.microsoft.com/office/powerpoint/2010/main" val="3496305514"/>
              </p:ext>
            </p:extLst>
          </p:nvPr>
        </p:nvGraphicFramePr>
        <p:xfrm>
          <a:off x="9260392" y="3302300"/>
          <a:ext cx="1824458" cy="370840"/>
        </p:xfrm>
        <a:graphic>
          <a:graphicData uri="http://schemas.openxmlformats.org/drawingml/2006/table">
            <a:tbl>
              <a:tblPr firstRow="1" bandRow="1">
                <a:tableStyleId>{5C22544A-7EE6-4342-B048-85BDC9FD1C3A}</a:tableStyleId>
              </a:tblPr>
              <a:tblGrid>
                <a:gridCol w="1824458">
                  <a:extLst>
                    <a:ext uri="{9D8B030D-6E8A-4147-A177-3AD203B41FA5}">
                      <a16:colId xmlns:a16="http://schemas.microsoft.com/office/drawing/2014/main" val="4079915735"/>
                    </a:ext>
                  </a:extLst>
                </a:gridCol>
              </a:tblGrid>
              <a:tr h="370840">
                <a:tc>
                  <a:txBody>
                    <a:bodyPr/>
                    <a:lstStyle/>
                    <a:p>
                      <a:pPr algn="ctr"/>
                      <a:r>
                        <a:rPr lang="en-US">
                          <a:solidFill>
                            <a:srgbClr val="000000"/>
                          </a:solidFill>
                        </a:rPr>
                        <a:t>Degree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9DCCC"/>
                    </a:solidFill>
                  </a:tcPr>
                </a:tc>
                <a:extLst>
                  <a:ext uri="{0D108BD9-81ED-4DB2-BD59-A6C34878D82A}">
                    <a16:rowId xmlns:a16="http://schemas.microsoft.com/office/drawing/2014/main" val="1643519309"/>
                  </a:ext>
                </a:extLst>
              </a:tr>
            </a:tbl>
          </a:graphicData>
        </a:graphic>
      </p:graphicFrame>
      <p:graphicFrame>
        <p:nvGraphicFramePr>
          <p:cNvPr id="10" name="Table 9">
            <a:extLst>
              <a:ext uri="{FF2B5EF4-FFF2-40B4-BE49-F238E27FC236}">
                <a16:creationId xmlns:a16="http://schemas.microsoft.com/office/drawing/2014/main" id="{A1115A4F-E3F1-DC37-F877-C75CDEF503D3}"/>
              </a:ext>
            </a:extLst>
          </p:cNvPr>
          <p:cNvGraphicFramePr>
            <a:graphicFrameLocks noGrp="1"/>
          </p:cNvGraphicFramePr>
          <p:nvPr>
            <p:extLst>
              <p:ext uri="{D42A27DB-BD31-4B8C-83A1-F6EECF244321}">
                <p14:modId xmlns:p14="http://schemas.microsoft.com/office/powerpoint/2010/main" val="3189165362"/>
              </p:ext>
            </p:extLst>
          </p:nvPr>
        </p:nvGraphicFramePr>
        <p:xfrm>
          <a:off x="3838088" y="3673140"/>
          <a:ext cx="7246762" cy="1584960"/>
        </p:xfrm>
        <a:graphic>
          <a:graphicData uri="http://schemas.openxmlformats.org/drawingml/2006/table">
            <a:tbl>
              <a:tblPr firstRow="1" bandRow="1">
                <a:tableStyleId>{5C22544A-7EE6-4342-B048-85BDC9FD1C3A}</a:tableStyleId>
              </a:tblPr>
              <a:tblGrid>
                <a:gridCol w="1998110">
                  <a:extLst>
                    <a:ext uri="{9D8B030D-6E8A-4147-A177-3AD203B41FA5}">
                      <a16:colId xmlns:a16="http://schemas.microsoft.com/office/drawing/2014/main" val="1600758578"/>
                    </a:ext>
                  </a:extLst>
                </a:gridCol>
                <a:gridCol w="3424194">
                  <a:extLst>
                    <a:ext uri="{9D8B030D-6E8A-4147-A177-3AD203B41FA5}">
                      <a16:colId xmlns:a16="http://schemas.microsoft.com/office/drawing/2014/main" val="1016691345"/>
                    </a:ext>
                  </a:extLst>
                </a:gridCol>
                <a:gridCol w="1824458">
                  <a:extLst>
                    <a:ext uri="{9D8B030D-6E8A-4147-A177-3AD203B41FA5}">
                      <a16:colId xmlns:a16="http://schemas.microsoft.com/office/drawing/2014/main" val="809410800"/>
                    </a:ext>
                  </a:extLst>
                </a:gridCol>
              </a:tblGrid>
              <a:tr h="370840">
                <a:tc>
                  <a:txBody>
                    <a:bodyPr/>
                    <a:lstStyle/>
                    <a:p>
                      <a:pPr algn="ctr"/>
                      <a:r>
                        <a:rPr lang="en-US" sz="2000" b="0">
                          <a:solidFill>
                            <a:srgbClr val="000000"/>
                          </a:solidFill>
                          <a:latin typeface="+mn-lt"/>
                        </a:rPr>
                        <a:t>Constant</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461963" indent="0"/>
                      <a:r>
                        <a:rPr lang="en-US" sz="2000" b="0" i="1" u="none" strike="noStrike" kern="1200" baseline="0">
                          <a:solidFill>
                            <a:srgbClr val="000000"/>
                          </a:solidFill>
                          <a:latin typeface="+mn-lt"/>
                          <a:ea typeface="+mn-ea"/>
                          <a:cs typeface="+mn-cs"/>
                        </a:rPr>
                        <a:t>P</a:t>
                      </a:r>
                      <a:r>
                        <a:rPr lang="en-US" sz="2000" b="0" i="0" u="none" strike="noStrike" kern="1200" baseline="0">
                          <a:solidFill>
                            <a:srgbClr val="000000"/>
                          </a:solidFill>
                          <a:latin typeface="+mn-lt"/>
                          <a:ea typeface="+mn-ea"/>
                          <a:cs typeface="+mn-cs"/>
                        </a:rPr>
                        <a:t>(</a:t>
                      </a:r>
                      <a:r>
                        <a:rPr lang="en-US" sz="2000" b="0" i="1" u="none" strike="noStrike" kern="1200" baseline="0">
                          <a:solidFill>
                            <a:srgbClr val="000000"/>
                          </a:solidFill>
                          <a:latin typeface="+mn-lt"/>
                          <a:ea typeface="+mn-ea"/>
                          <a:cs typeface="+mn-cs"/>
                        </a:rPr>
                        <a:t>x</a:t>
                      </a:r>
                      <a:r>
                        <a:rPr lang="en-US" sz="2000" b="0" i="0" u="none" strike="noStrike" kern="1200" baseline="0">
                          <a:solidFill>
                            <a:srgbClr val="000000"/>
                          </a:solidFill>
                          <a:latin typeface="+mn-lt"/>
                          <a:ea typeface="+mn-ea"/>
                          <a:cs typeface="+mn-cs"/>
                        </a:rPr>
                        <a:t>) = 7</a:t>
                      </a:r>
                      <a:endParaRPr lang="en-US" sz="2000" b="0">
                        <a:solidFill>
                          <a:srgbClr val="000000"/>
                        </a:solidFill>
                        <a:latin typeface="+mn-lt"/>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a:solidFill>
                            <a:srgbClr val="000000"/>
                          </a:solidFill>
                          <a:latin typeface="+mn-lt"/>
                        </a:rPr>
                        <a:t>0</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39816387"/>
                  </a:ext>
                </a:extLst>
              </a:tr>
              <a:tr h="370840">
                <a:tc>
                  <a:txBody>
                    <a:bodyPr/>
                    <a:lstStyle/>
                    <a:p>
                      <a:pPr algn="ctr"/>
                      <a:r>
                        <a:rPr lang="en-US" sz="2000">
                          <a:solidFill>
                            <a:srgbClr val="000000"/>
                          </a:solidFill>
                          <a:latin typeface="+mn-lt"/>
                        </a:rPr>
                        <a:t>Linear</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461963" indent="0"/>
                      <a:r>
                        <a:rPr lang="en-US" sz="2000" b="0" i="1" u="none" strike="noStrike" kern="1200" baseline="0">
                          <a:solidFill>
                            <a:srgbClr val="000000"/>
                          </a:solidFill>
                          <a:latin typeface="+mn-lt"/>
                          <a:ea typeface="+mn-ea"/>
                          <a:cs typeface="+mn-cs"/>
                        </a:rPr>
                        <a:t>P</a:t>
                      </a:r>
                      <a:r>
                        <a:rPr lang="en-US" sz="2000" b="0" i="0" u="none" strike="noStrike" kern="1200" baseline="0">
                          <a:solidFill>
                            <a:srgbClr val="000000"/>
                          </a:solidFill>
                          <a:latin typeface="+mn-lt"/>
                          <a:ea typeface="+mn-ea"/>
                          <a:cs typeface="+mn-cs"/>
                        </a:rPr>
                        <a:t>(</a:t>
                      </a:r>
                      <a:r>
                        <a:rPr lang="en-US" sz="2000" b="0" i="1" u="none" strike="noStrike" kern="1200" baseline="0">
                          <a:solidFill>
                            <a:srgbClr val="000000"/>
                          </a:solidFill>
                          <a:latin typeface="+mn-lt"/>
                          <a:ea typeface="+mn-ea"/>
                          <a:cs typeface="+mn-cs"/>
                        </a:rPr>
                        <a:t>x</a:t>
                      </a:r>
                      <a:r>
                        <a:rPr lang="en-US" sz="2000" b="0" i="0" u="none" strike="noStrike" kern="1200" baseline="0">
                          <a:solidFill>
                            <a:srgbClr val="000000"/>
                          </a:solidFill>
                          <a:latin typeface="+mn-lt"/>
                          <a:ea typeface="+mn-ea"/>
                          <a:cs typeface="+mn-cs"/>
                        </a:rPr>
                        <a:t>) = 2</a:t>
                      </a:r>
                      <a:r>
                        <a:rPr lang="en-US" sz="2000" b="0" i="1" u="none" strike="noStrike" kern="1200" baseline="0">
                          <a:solidFill>
                            <a:srgbClr val="000000"/>
                          </a:solidFill>
                          <a:latin typeface="+mn-lt"/>
                          <a:ea typeface="+mn-ea"/>
                          <a:cs typeface="+mn-cs"/>
                        </a:rPr>
                        <a:t>x </a:t>
                      </a:r>
                      <a:r>
                        <a:rPr lang="en-US" sz="2000" b="0" i="0" u="none" strike="noStrike" kern="1200" baseline="0">
                          <a:solidFill>
                            <a:srgbClr val="000000"/>
                          </a:solidFill>
                          <a:latin typeface="+mn-lt"/>
                          <a:ea typeface="+mn-ea"/>
                          <a:cs typeface="+mn-cs"/>
                        </a:rPr>
                        <a:t>− 5</a:t>
                      </a:r>
                      <a:endParaRPr lang="en-US" sz="2000">
                        <a:solidFill>
                          <a:srgbClr val="000000"/>
                        </a:solidFill>
                        <a:latin typeface="+mn-lt"/>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a:solidFill>
                            <a:srgbClr val="000000"/>
                          </a:solidFill>
                          <a:latin typeface="+mn-lt"/>
                        </a:rPr>
                        <a:t>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14933251"/>
                  </a:ext>
                </a:extLst>
              </a:tr>
              <a:tr h="370840">
                <a:tc>
                  <a:txBody>
                    <a:bodyPr/>
                    <a:lstStyle/>
                    <a:p>
                      <a:pPr algn="ctr"/>
                      <a:r>
                        <a:rPr lang="en-US" sz="2000">
                          <a:solidFill>
                            <a:srgbClr val="000000"/>
                          </a:solidFill>
                          <a:latin typeface="+mn-lt"/>
                        </a:rPr>
                        <a:t>Quadratic</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461963" indent="0"/>
                      <a:r>
                        <a:rPr lang="en-US" sz="2000" b="0" i="1" u="none" strike="noStrike" kern="1200" baseline="0">
                          <a:solidFill>
                            <a:srgbClr val="000000"/>
                          </a:solidFill>
                          <a:latin typeface="+mn-lt"/>
                          <a:ea typeface="+mn-ea"/>
                          <a:cs typeface="+mn-cs"/>
                        </a:rPr>
                        <a:t>P</a:t>
                      </a:r>
                      <a:r>
                        <a:rPr lang="en-US" sz="2000" b="0" i="0" u="none" strike="noStrike" kern="1200" baseline="0">
                          <a:solidFill>
                            <a:srgbClr val="000000"/>
                          </a:solidFill>
                          <a:latin typeface="+mn-lt"/>
                          <a:ea typeface="+mn-ea"/>
                          <a:cs typeface="+mn-cs"/>
                        </a:rPr>
                        <a:t>(</a:t>
                      </a:r>
                      <a:r>
                        <a:rPr lang="en-US" sz="2000" b="0" i="1" u="none" strike="noStrike" kern="1200" baseline="0">
                          <a:solidFill>
                            <a:srgbClr val="000000"/>
                          </a:solidFill>
                          <a:latin typeface="+mn-lt"/>
                          <a:ea typeface="+mn-ea"/>
                          <a:cs typeface="+mn-cs"/>
                        </a:rPr>
                        <a:t>x</a:t>
                      </a:r>
                      <a:r>
                        <a:rPr lang="en-US" sz="2000" b="0" i="0" u="none" strike="noStrike" kern="1200" baseline="0">
                          <a:solidFill>
                            <a:srgbClr val="000000"/>
                          </a:solidFill>
                          <a:latin typeface="+mn-lt"/>
                          <a:ea typeface="+mn-ea"/>
                          <a:cs typeface="+mn-cs"/>
                        </a:rPr>
                        <a:t>) = 3</a:t>
                      </a:r>
                      <a:r>
                        <a:rPr lang="en-US" sz="2000" b="0" i="1" u="none" strike="noStrike" kern="1200" baseline="0">
                          <a:solidFill>
                            <a:srgbClr val="000000"/>
                          </a:solidFill>
                          <a:latin typeface="+mn-lt"/>
                          <a:ea typeface="+mn-ea"/>
                          <a:cs typeface="+mn-cs"/>
                        </a:rPr>
                        <a:t>x</a:t>
                      </a:r>
                      <a:r>
                        <a:rPr lang="en-US" sz="2000" b="0" i="0" u="none" strike="noStrike" kern="1200" baseline="30000">
                          <a:solidFill>
                            <a:srgbClr val="000000"/>
                          </a:solidFill>
                          <a:latin typeface="+mn-lt"/>
                          <a:ea typeface="+mn-ea"/>
                          <a:cs typeface="+mn-cs"/>
                        </a:rPr>
                        <a:t>2</a:t>
                      </a:r>
                      <a:r>
                        <a:rPr lang="en-US" sz="2000" b="0" i="0" u="none" strike="noStrike" kern="1200" baseline="0">
                          <a:solidFill>
                            <a:srgbClr val="000000"/>
                          </a:solidFill>
                          <a:latin typeface="+mn-lt"/>
                          <a:ea typeface="+mn-ea"/>
                          <a:cs typeface="+mn-cs"/>
                        </a:rPr>
                        <a:t> − 2</a:t>
                      </a:r>
                      <a:r>
                        <a:rPr lang="en-US" sz="2000" b="0" i="1" u="none" strike="noStrike" kern="1200" baseline="0">
                          <a:solidFill>
                            <a:srgbClr val="000000"/>
                          </a:solidFill>
                          <a:latin typeface="+mn-lt"/>
                          <a:ea typeface="+mn-ea"/>
                          <a:cs typeface="+mn-cs"/>
                        </a:rPr>
                        <a:t>x </a:t>
                      </a:r>
                      <a:r>
                        <a:rPr lang="en-US" sz="2000" b="0" i="0" u="none" strike="noStrike" kern="1200" baseline="0">
                          <a:solidFill>
                            <a:srgbClr val="000000"/>
                          </a:solidFill>
                          <a:latin typeface="+mn-lt"/>
                          <a:ea typeface="+mn-ea"/>
                          <a:cs typeface="+mn-cs"/>
                        </a:rPr>
                        <a:t>+ 4</a:t>
                      </a:r>
                      <a:endParaRPr lang="en-US" sz="2000">
                        <a:solidFill>
                          <a:srgbClr val="000000"/>
                        </a:solidFill>
                        <a:latin typeface="+mn-lt"/>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a:solidFill>
                            <a:srgbClr val="000000"/>
                          </a:solidFill>
                          <a:latin typeface="+mn-lt"/>
                        </a:rPr>
                        <a:t>2</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73613374"/>
                  </a:ext>
                </a:extLst>
              </a:tr>
              <a:tr h="370840">
                <a:tc>
                  <a:txBody>
                    <a:bodyPr/>
                    <a:lstStyle/>
                    <a:p>
                      <a:pPr algn="ctr"/>
                      <a:r>
                        <a:rPr lang="en-US" sz="2000">
                          <a:solidFill>
                            <a:srgbClr val="000000"/>
                          </a:solidFill>
                          <a:latin typeface="+mn-lt"/>
                        </a:rPr>
                        <a:t>Cubic</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461963" indent="0"/>
                      <a:r>
                        <a:rPr lang="en-US" sz="2000" b="0" i="1" u="none" strike="noStrike" kern="1200" baseline="0">
                          <a:solidFill>
                            <a:srgbClr val="000000"/>
                          </a:solidFill>
                          <a:latin typeface="+mn-lt"/>
                          <a:ea typeface="+mn-ea"/>
                          <a:cs typeface="+mn-cs"/>
                        </a:rPr>
                        <a:t>P</a:t>
                      </a:r>
                      <a:r>
                        <a:rPr lang="en-US" sz="2000" b="0" i="0" u="none" strike="noStrike" kern="1200" baseline="0">
                          <a:solidFill>
                            <a:srgbClr val="000000"/>
                          </a:solidFill>
                          <a:latin typeface="+mn-lt"/>
                          <a:ea typeface="+mn-ea"/>
                          <a:cs typeface="+mn-cs"/>
                        </a:rPr>
                        <a:t>(</a:t>
                      </a:r>
                      <a:r>
                        <a:rPr lang="en-US" sz="2000" b="0" i="1" u="none" strike="noStrike" kern="1200" baseline="0">
                          <a:solidFill>
                            <a:srgbClr val="000000"/>
                          </a:solidFill>
                          <a:latin typeface="+mn-lt"/>
                          <a:ea typeface="+mn-ea"/>
                          <a:cs typeface="+mn-cs"/>
                        </a:rPr>
                        <a:t>x</a:t>
                      </a:r>
                      <a:r>
                        <a:rPr lang="en-US" sz="2000" b="0" i="0" u="none" strike="noStrike" kern="1200" baseline="0">
                          <a:solidFill>
                            <a:srgbClr val="000000"/>
                          </a:solidFill>
                          <a:latin typeface="+mn-lt"/>
                          <a:ea typeface="+mn-ea"/>
                          <a:cs typeface="+mn-cs"/>
                        </a:rPr>
                        <a:t>) = 4</a:t>
                      </a:r>
                      <a:r>
                        <a:rPr lang="en-US" sz="2000" b="0" i="1" u="none" strike="noStrike" kern="1200" baseline="0">
                          <a:solidFill>
                            <a:srgbClr val="000000"/>
                          </a:solidFill>
                          <a:latin typeface="+mn-lt"/>
                          <a:ea typeface="+mn-ea"/>
                          <a:cs typeface="+mn-cs"/>
                        </a:rPr>
                        <a:t>x</a:t>
                      </a:r>
                      <a:r>
                        <a:rPr lang="en-US" sz="2000" b="0" i="0" u="none" strike="noStrike" kern="1200" baseline="30000">
                          <a:solidFill>
                            <a:srgbClr val="000000"/>
                          </a:solidFill>
                          <a:latin typeface="+mn-lt"/>
                          <a:ea typeface="+mn-ea"/>
                          <a:cs typeface="+mn-cs"/>
                        </a:rPr>
                        <a:t>3</a:t>
                      </a:r>
                      <a:r>
                        <a:rPr lang="en-US" sz="2000" b="0" i="0" u="none" strike="noStrike" kern="1200" baseline="0">
                          <a:solidFill>
                            <a:srgbClr val="000000"/>
                          </a:solidFill>
                          <a:latin typeface="+mn-lt"/>
                          <a:ea typeface="+mn-ea"/>
                          <a:cs typeface="+mn-cs"/>
                        </a:rPr>
                        <a:t> − 2</a:t>
                      </a:r>
                      <a:endParaRPr lang="en-US" sz="2000">
                        <a:solidFill>
                          <a:srgbClr val="000000"/>
                        </a:solidFill>
                        <a:latin typeface="+mn-lt"/>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a:solidFill>
                            <a:srgbClr val="000000"/>
                          </a:solidFill>
                          <a:latin typeface="+mn-lt"/>
                        </a:rPr>
                        <a:t>3</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688609142"/>
                  </a:ext>
                </a:extLst>
              </a:tr>
            </a:tbl>
          </a:graphicData>
        </a:graphic>
      </p:graphicFrame>
    </p:spTree>
    <p:extLst>
      <p:ext uri="{BB962C8B-B14F-4D97-AF65-F5344CB8AC3E}">
        <p14:creationId xmlns:p14="http://schemas.microsoft.com/office/powerpoint/2010/main" val="15149678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8A6BA-7316-BA8E-338B-6659DCFCC3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98D49BB-F386-976D-6A9D-9DA0FDEC2265}"/>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(9 of 15)</a:t>
            </a:r>
          </a:p>
        </p:txBody>
      </p:sp>
      <p:sp>
        <p:nvSpPr>
          <p:cNvPr id="3" name="TextBox 2">
            <a:extLst>
              <a:ext uri="{FF2B5EF4-FFF2-40B4-BE49-F238E27FC236}">
                <a16:creationId xmlns:a16="http://schemas.microsoft.com/office/drawing/2014/main" id="{FDB4A4C4-C03C-A3B6-5F36-CB5287C7EB12}"/>
              </a:ext>
            </a:extLst>
          </p:cNvPr>
          <p:cNvSpPr txBox="1"/>
          <p:nvPr/>
        </p:nvSpPr>
        <p:spPr>
          <a:xfrm>
            <a:off x="777240" y="1746976"/>
            <a:ext cx="2417641" cy="3785652"/>
          </a:xfrm>
          <a:prstGeom prst="rect">
            <a:avLst/>
          </a:prstGeom>
          <a:noFill/>
          <a:ln w="38100" cap="sq">
            <a:solidFill>
              <a:srgbClr val="2B8147"/>
            </a:solidFill>
            <a:prstDash val="sysDot"/>
          </a:ln>
        </p:spPr>
        <p:txBody>
          <a:bodyPr wrap="square" rtlCol="0">
            <a:spAutoFit/>
          </a:bodyPr>
          <a:lstStyle/>
          <a:p>
            <a:pPr algn="l"/>
            <a:r>
              <a:rPr lang="en-US" sz="2000" b="0" i="0" u="none" strike="noStrike" baseline="0">
                <a:solidFill>
                  <a:srgbClr val="000000"/>
                </a:solidFill>
              </a:rPr>
              <a:t>The variables used</a:t>
            </a:r>
          </a:p>
          <a:p>
            <a:pPr algn="l"/>
            <a:r>
              <a:rPr lang="en-US" sz="2000" b="0" i="0" u="none" strike="noStrike" baseline="0">
                <a:solidFill>
                  <a:srgbClr val="000000"/>
                </a:solidFill>
              </a:rPr>
              <a:t>to represent any</a:t>
            </a:r>
          </a:p>
          <a:p>
            <a:pPr algn="l"/>
            <a:r>
              <a:rPr lang="en-US" sz="2000" b="0" i="0" u="none" strike="noStrike" baseline="0">
                <a:solidFill>
                  <a:srgbClr val="000000"/>
                </a:solidFill>
              </a:rPr>
              <a:t>real number in the</a:t>
            </a:r>
          </a:p>
          <a:p>
            <a:pPr algn="l"/>
            <a:r>
              <a:rPr lang="en-US" sz="2000" b="0" i="0" u="none" strike="noStrike" baseline="0">
                <a:solidFill>
                  <a:srgbClr val="000000"/>
                </a:solidFill>
              </a:rPr>
              <a:t>general linear form</a:t>
            </a:r>
          </a:p>
          <a:p>
            <a:pPr algn="l"/>
            <a:r>
              <a:rPr lang="en-US" sz="2000" b="0" i="0" u="none" strike="noStrike" baseline="0">
                <a:solidFill>
                  <a:srgbClr val="000000"/>
                </a:solidFill>
              </a:rPr>
              <a:t>are irrelevant. Think</a:t>
            </a:r>
          </a:p>
          <a:p>
            <a:pPr algn="l"/>
            <a:r>
              <a:rPr lang="en-US" sz="2000" b="0" i="0" u="none" strike="noStrike" baseline="0">
                <a:solidFill>
                  <a:srgbClr val="000000"/>
                </a:solidFill>
              </a:rPr>
              <a:t>about the position of</a:t>
            </a:r>
          </a:p>
          <a:p>
            <a:pPr algn="l"/>
            <a:r>
              <a:rPr lang="en-US" sz="2000" b="0" i="0" u="none" strike="noStrike" baseline="0">
                <a:solidFill>
                  <a:srgbClr val="000000"/>
                </a:solidFill>
              </a:rPr>
              <a:t>the number as either</a:t>
            </a:r>
          </a:p>
          <a:p>
            <a:pPr algn="l"/>
            <a:r>
              <a:rPr lang="en-US" sz="2000" b="0" i="0" u="none" strike="noStrike" baseline="0">
                <a:solidFill>
                  <a:srgbClr val="000000"/>
                </a:solidFill>
              </a:rPr>
              <a:t>the leading coefficient</a:t>
            </a:r>
          </a:p>
          <a:p>
            <a:pPr algn="l"/>
            <a:r>
              <a:rPr lang="en-US" sz="2000" b="0" i="0" u="none" strike="noStrike" baseline="0">
                <a:solidFill>
                  <a:srgbClr val="000000"/>
                </a:solidFill>
              </a:rPr>
              <a:t>or a constant and the</a:t>
            </a:r>
          </a:p>
          <a:p>
            <a:pPr algn="l"/>
            <a:r>
              <a:rPr lang="en-US" sz="2000" b="0" i="0" u="none" strike="noStrike" baseline="0">
                <a:solidFill>
                  <a:srgbClr val="000000"/>
                </a:solidFill>
              </a:rPr>
              <a:t>potential effect on</a:t>
            </a:r>
          </a:p>
          <a:p>
            <a:pPr algn="l"/>
            <a:r>
              <a:rPr lang="en-US" sz="2000" b="0" i="0" u="none" strike="noStrike" baseline="0">
                <a:solidFill>
                  <a:srgbClr val="000000"/>
                </a:solidFill>
              </a:rPr>
              <a:t>the function.</a:t>
            </a:r>
            <a:endParaRPr lang="en-US" sz="2000">
              <a:solidFill>
                <a:srgbClr val="000000"/>
              </a:solidFill>
            </a:endParaRPr>
          </a:p>
        </p:txBody>
      </p:sp>
      <p:sp>
        <p:nvSpPr>
          <p:cNvPr id="5" name="TextBox 4">
            <a:extLst>
              <a:ext uri="{FF2B5EF4-FFF2-40B4-BE49-F238E27FC236}">
                <a16:creationId xmlns:a16="http://schemas.microsoft.com/office/drawing/2014/main" id="{F969AE95-62FB-BC02-04CC-630B99A3A643}"/>
              </a:ext>
            </a:extLst>
          </p:cNvPr>
          <p:cNvSpPr txBox="1"/>
          <p:nvPr/>
        </p:nvSpPr>
        <p:spPr>
          <a:xfrm>
            <a:off x="3504288" y="1593021"/>
            <a:ext cx="7701269" cy="3539430"/>
          </a:xfrm>
          <a:prstGeom prst="rect">
            <a:avLst/>
          </a:prstGeom>
          <a:noFill/>
        </p:spPr>
        <p:txBody>
          <a:bodyPr wrap="square" rtlCol="0">
            <a:spAutoFit/>
          </a:bodyPr>
          <a:lstStyle/>
          <a:p>
            <a:r>
              <a:rPr lang="en-US" sz="2800">
                <a:solidFill>
                  <a:srgbClr val="000000"/>
                </a:solidFill>
              </a:rPr>
              <a:t>The structure of each linear function tells you important information about the graph. Let’s consider the general form of a linear function,</a:t>
            </a:r>
            <a:br>
              <a:rPr lang="en-US" sz="2800">
                <a:solidFill>
                  <a:srgbClr val="000000"/>
                </a:solidFill>
              </a:rPr>
            </a:br>
            <a:r>
              <a:rPr lang="en-US" sz="2800" i="1">
                <a:solidFill>
                  <a:srgbClr val="000000"/>
                </a:solidFill>
              </a:rPr>
              <a:t>f</a:t>
            </a:r>
            <a:r>
              <a:rPr lang="en-US" sz="2800">
                <a:solidFill>
                  <a:srgbClr val="000000"/>
                </a:solidFill>
              </a:rPr>
              <a:t>(</a:t>
            </a:r>
            <a:r>
              <a:rPr lang="en-US" sz="2800" i="1">
                <a:solidFill>
                  <a:srgbClr val="000000"/>
                </a:solidFill>
              </a:rPr>
              <a:t>x</a:t>
            </a:r>
            <a:r>
              <a:rPr lang="en-US" sz="2800">
                <a:solidFill>
                  <a:srgbClr val="000000"/>
                </a:solidFill>
              </a:rPr>
              <a:t>) = </a:t>
            </a:r>
            <a:r>
              <a:rPr lang="en-US" sz="2800" i="1">
                <a:solidFill>
                  <a:srgbClr val="000000"/>
                </a:solidFill>
              </a:rPr>
              <a:t>ax </a:t>
            </a:r>
            <a:r>
              <a:rPr lang="en-US" sz="2800">
                <a:solidFill>
                  <a:srgbClr val="000000"/>
                </a:solidFill>
              </a:rPr>
              <a:t>+ </a:t>
            </a:r>
            <a:r>
              <a:rPr lang="en-US" sz="2800" i="1">
                <a:solidFill>
                  <a:srgbClr val="000000"/>
                </a:solidFill>
              </a:rPr>
              <a:t>b</a:t>
            </a:r>
            <a:r>
              <a:rPr lang="en-US" sz="2800">
                <a:solidFill>
                  <a:srgbClr val="000000"/>
                </a:solidFill>
              </a:rPr>
              <a:t>, where </a:t>
            </a:r>
            <a:r>
              <a:rPr lang="en-US" sz="2800" i="1">
                <a:solidFill>
                  <a:srgbClr val="000000"/>
                </a:solidFill>
              </a:rPr>
              <a:t>a </a:t>
            </a:r>
            <a:r>
              <a:rPr lang="en-US" sz="2800">
                <a:solidFill>
                  <a:srgbClr val="000000"/>
                </a:solidFill>
              </a:rPr>
              <a:t>and </a:t>
            </a:r>
            <a:r>
              <a:rPr lang="en-US" sz="2800" i="1">
                <a:solidFill>
                  <a:srgbClr val="000000"/>
                </a:solidFill>
              </a:rPr>
              <a:t>b </a:t>
            </a:r>
            <a:r>
              <a:rPr lang="en-US" sz="2800">
                <a:solidFill>
                  <a:srgbClr val="000000"/>
                </a:solidFill>
              </a:rPr>
              <a:t>are real numbers</a:t>
            </a:r>
            <a:br>
              <a:rPr lang="en-US" sz="2800">
                <a:solidFill>
                  <a:srgbClr val="000000"/>
                </a:solidFill>
              </a:rPr>
            </a:br>
            <a:r>
              <a:rPr lang="en-US" sz="2800">
                <a:solidFill>
                  <a:srgbClr val="000000"/>
                </a:solidFill>
              </a:rPr>
              <a:t>and </a:t>
            </a:r>
            <a:r>
              <a:rPr lang="en-US" sz="2800" i="1">
                <a:solidFill>
                  <a:srgbClr val="000000"/>
                </a:solidFill>
              </a:rPr>
              <a:t>a </a:t>
            </a:r>
            <a:r>
              <a:rPr lang="en-US" sz="2800">
                <a:solidFill>
                  <a:srgbClr val="000000"/>
                </a:solidFill>
              </a:rPr>
              <a:t>≠ 0 . In this form, the </a:t>
            </a:r>
            <a:r>
              <a:rPr lang="en-US" sz="2800" i="1">
                <a:solidFill>
                  <a:srgbClr val="000000"/>
                </a:solidFill>
              </a:rPr>
              <a:t>a</a:t>
            </a:r>
            <a:r>
              <a:rPr lang="en-US" sz="2800">
                <a:solidFill>
                  <a:srgbClr val="000000"/>
                </a:solidFill>
              </a:rPr>
              <a:t>-value is the leading coefficient, which describes the steepness and direction of the line. The </a:t>
            </a:r>
            <a:r>
              <a:rPr lang="en-US" sz="2800" i="1">
                <a:solidFill>
                  <a:srgbClr val="000000"/>
                </a:solidFill>
              </a:rPr>
              <a:t>b</a:t>
            </a:r>
            <a:r>
              <a:rPr lang="en-US" sz="2800">
                <a:solidFill>
                  <a:srgbClr val="000000"/>
                </a:solidFill>
              </a:rPr>
              <a:t>-value describes the</a:t>
            </a:r>
            <a:br>
              <a:rPr lang="en-US" sz="2800">
                <a:solidFill>
                  <a:srgbClr val="000000"/>
                </a:solidFill>
              </a:rPr>
            </a:br>
            <a:r>
              <a:rPr lang="en-US" sz="2800" i="1">
                <a:solidFill>
                  <a:srgbClr val="000000"/>
                </a:solidFill>
              </a:rPr>
              <a:t>y</a:t>
            </a:r>
            <a:r>
              <a:rPr lang="en-US" sz="2800">
                <a:solidFill>
                  <a:srgbClr val="000000"/>
                </a:solidFill>
              </a:rPr>
              <a:t>-intercept.</a:t>
            </a:r>
          </a:p>
        </p:txBody>
      </p:sp>
    </p:spTree>
    <p:extLst>
      <p:ext uri="{BB962C8B-B14F-4D97-AF65-F5344CB8AC3E}">
        <p14:creationId xmlns:p14="http://schemas.microsoft.com/office/powerpoint/2010/main" val="29329474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F41CD-8B57-D023-AD65-AF0E7368175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BAC432B-0456-3ED2-8B09-2AF2783DFDF5}"/>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(10 of 15)</a:t>
            </a:r>
          </a:p>
        </p:txBody>
      </p:sp>
      <p:sp>
        <p:nvSpPr>
          <p:cNvPr id="5" name="TextBox 4">
            <a:extLst>
              <a:ext uri="{FF2B5EF4-FFF2-40B4-BE49-F238E27FC236}">
                <a16:creationId xmlns:a16="http://schemas.microsoft.com/office/drawing/2014/main" id="{D850E0DF-5878-2D08-2912-54AFFFA13420}"/>
              </a:ext>
            </a:extLst>
          </p:cNvPr>
          <p:cNvSpPr txBox="1"/>
          <p:nvPr/>
        </p:nvSpPr>
        <p:spPr>
          <a:xfrm>
            <a:off x="777241" y="1642897"/>
            <a:ext cx="9896302" cy="2677656"/>
          </a:xfrm>
          <a:prstGeom prst="rect">
            <a:avLst/>
          </a:prstGeom>
          <a:noFill/>
        </p:spPr>
        <p:txBody>
          <a:bodyPr wrap="square" rtlCol="0">
            <a:spAutoFit/>
          </a:bodyPr>
          <a:lstStyle/>
          <a:p>
            <a:r>
              <a:rPr lang="en-US" sz="2800">
                <a:solidFill>
                  <a:srgbClr val="000000"/>
                </a:solidFill>
              </a:rPr>
              <a:t>You know the form </a:t>
            </a:r>
            <a:r>
              <a:rPr lang="en-US" sz="2800" i="1">
                <a:solidFill>
                  <a:srgbClr val="000000"/>
                </a:solidFill>
              </a:rPr>
              <a:t>y </a:t>
            </a:r>
            <a:r>
              <a:rPr lang="en-US" sz="2800">
                <a:solidFill>
                  <a:srgbClr val="000000"/>
                </a:solidFill>
              </a:rPr>
              <a:t>= </a:t>
            </a:r>
            <a:r>
              <a:rPr lang="en-US" sz="2800" i="1">
                <a:solidFill>
                  <a:srgbClr val="000000"/>
                </a:solidFill>
              </a:rPr>
              <a:t>mx </a:t>
            </a:r>
            <a:r>
              <a:rPr lang="en-US" sz="2800">
                <a:solidFill>
                  <a:srgbClr val="000000"/>
                </a:solidFill>
              </a:rPr>
              <a:t>+ </a:t>
            </a:r>
            <a:r>
              <a:rPr lang="en-US" sz="2800" i="1">
                <a:solidFill>
                  <a:srgbClr val="000000"/>
                </a:solidFill>
              </a:rPr>
              <a:t>b </a:t>
            </a:r>
            <a:r>
              <a:rPr lang="en-US" sz="2800">
                <a:solidFill>
                  <a:srgbClr val="000000"/>
                </a:solidFill>
              </a:rPr>
              <a:t>as slope-intercept form, where </a:t>
            </a:r>
            <a:r>
              <a:rPr lang="en-US" sz="2800" i="1">
                <a:solidFill>
                  <a:srgbClr val="000000"/>
                </a:solidFill>
              </a:rPr>
              <a:t>m </a:t>
            </a:r>
            <a:r>
              <a:rPr lang="en-US" sz="2800">
                <a:solidFill>
                  <a:srgbClr val="000000"/>
                </a:solidFill>
              </a:rPr>
              <a:t>represents the slope and </a:t>
            </a:r>
            <a:r>
              <a:rPr lang="en-US" sz="2800" i="1">
                <a:solidFill>
                  <a:srgbClr val="000000"/>
                </a:solidFill>
              </a:rPr>
              <a:t>b </a:t>
            </a:r>
            <a:r>
              <a:rPr lang="en-US" sz="2800">
                <a:solidFill>
                  <a:srgbClr val="000000"/>
                </a:solidFill>
              </a:rPr>
              <a:t>represents the </a:t>
            </a:r>
            <a:r>
              <a:rPr lang="en-US" sz="2800" i="1">
                <a:solidFill>
                  <a:srgbClr val="000000"/>
                </a:solidFill>
              </a:rPr>
              <a:t>y</a:t>
            </a:r>
            <a:r>
              <a:rPr lang="en-US" sz="2800">
                <a:solidFill>
                  <a:srgbClr val="000000"/>
                </a:solidFill>
              </a:rPr>
              <a:t>-intercept. Notice that the general form has the same structure. The general form shows that a linear equation is a polynomial of degree 1. You will learn more about polynomials as you progress through future mathematical courses.</a:t>
            </a:r>
          </a:p>
        </p:txBody>
      </p:sp>
    </p:spTree>
    <p:extLst>
      <p:ext uri="{BB962C8B-B14F-4D97-AF65-F5344CB8AC3E}">
        <p14:creationId xmlns:p14="http://schemas.microsoft.com/office/powerpoint/2010/main" val="22497275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8868B-692B-D7DB-00B8-BCC56E08CED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64CF94D-514C-1D8B-5979-62254571ECBC}"/>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(11 of 15)</a:t>
            </a:r>
          </a:p>
        </p:txBody>
      </p:sp>
      <p:sp>
        <p:nvSpPr>
          <p:cNvPr id="5" name="TextBox 4">
            <a:extLst>
              <a:ext uri="{FF2B5EF4-FFF2-40B4-BE49-F238E27FC236}">
                <a16:creationId xmlns:a16="http://schemas.microsoft.com/office/drawing/2014/main" id="{C6321D50-9C54-6C7C-6101-F087816563C7}"/>
              </a:ext>
            </a:extLst>
          </p:cNvPr>
          <p:cNvSpPr txBox="1"/>
          <p:nvPr/>
        </p:nvSpPr>
        <p:spPr>
          <a:xfrm>
            <a:off x="758371" y="1609408"/>
            <a:ext cx="5651439" cy="3185487"/>
          </a:xfrm>
          <a:prstGeom prst="rect">
            <a:avLst/>
          </a:prstGeom>
          <a:noFill/>
        </p:spPr>
        <p:txBody>
          <a:bodyPr wrap="square" rtlCol="0">
            <a:spAutoFit/>
          </a:bodyPr>
          <a:lstStyle/>
          <a:p>
            <a:pPr marL="515938" indent="-515938">
              <a:spcAft>
                <a:spcPts val="600"/>
              </a:spcAft>
              <a:buFont typeface="+mj-lt"/>
              <a:buAutoNum type="arabicPeriod" startAt="5"/>
            </a:pPr>
            <a:r>
              <a:rPr lang="en-US" sz="2800">
                <a:solidFill>
                  <a:srgbClr val="000000"/>
                </a:solidFill>
              </a:rPr>
              <a:t>Consider the general form of the linear function </a:t>
            </a:r>
            <a:r>
              <a:rPr lang="en-US" sz="2800" i="1">
                <a:solidFill>
                  <a:srgbClr val="000000"/>
                </a:solidFill>
              </a:rPr>
              <a:t>G</a:t>
            </a:r>
            <a:r>
              <a:rPr lang="en-US" sz="2800">
                <a:solidFill>
                  <a:srgbClr val="000000"/>
                </a:solidFill>
              </a:rPr>
              <a:t>(</a:t>
            </a:r>
            <a:r>
              <a:rPr lang="en-US" sz="2800" i="1">
                <a:solidFill>
                  <a:srgbClr val="000000"/>
                </a:solidFill>
              </a:rPr>
              <a:t>t</a:t>
            </a:r>
            <a:r>
              <a:rPr lang="en-US" sz="2800">
                <a:solidFill>
                  <a:srgbClr val="000000"/>
                </a:solidFill>
              </a:rPr>
              <a:t>).</a:t>
            </a:r>
          </a:p>
          <a:p>
            <a:pPr marL="1030288" lvl="1" indent="-515938">
              <a:buFont typeface="+mj-lt"/>
              <a:buAutoNum type="alphaLcPeriod"/>
            </a:pPr>
            <a:r>
              <a:rPr lang="en-US" sz="2800">
                <a:solidFill>
                  <a:srgbClr val="000000"/>
                </a:solidFill>
              </a:rPr>
              <a:t>Label </a:t>
            </a:r>
            <a:r>
              <a:rPr lang="en-US" sz="2800" i="1">
                <a:solidFill>
                  <a:srgbClr val="000000"/>
                </a:solidFill>
              </a:rPr>
              <a:t>a </a:t>
            </a:r>
            <a:r>
              <a:rPr lang="en-US" sz="2800">
                <a:solidFill>
                  <a:srgbClr val="000000"/>
                </a:solidFill>
              </a:rPr>
              <a:t>on the graph.</a:t>
            </a:r>
          </a:p>
          <a:p>
            <a:pPr marL="800100" lvl="1" indent="-342900">
              <a:buFont typeface="+mj-lt"/>
              <a:buAutoNum type="alphaLcPeriod"/>
            </a:pPr>
            <a:endParaRPr lang="en-US" sz="2800">
              <a:solidFill>
                <a:srgbClr val="000000"/>
              </a:solidFill>
            </a:endParaRPr>
          </a:p>
          <a:p>
            <a:pPr marL="800100" lvl="1" indent="-342900">
              <a:buFont typeface="+mj-lt"/>
              <a:buAutoNum type="alphaLcPeriod"/>
            </a:pPr>
            <a:endParaRPr lang="en-US" sz="2800">
              <a:solidFill>
                <a:srgbClr val="000000"/>
              </a:solidFill>
            </a:endParaRPr>
          </a:p>
          <a:p>
            <a:pPr marL="800100" lvl="1" indent="-342900">
              <a:buFont typeface="+mj-lt"/>
              <a:buAutoNum type="alphaLcPeriod"/>
            </a:pPr>
            <a:endParaRPr lang="en-US" sz="2800">
              <a:solidFill>
                <a:srgbClr val="000000"/>
              </a:solidFill>
            </a:endParaRPr>
          </a:p>
          <a:p>
            <a:pPr marL="1030288" lvl="1" indent="-515938">
              <a:buFont typeface="+mj-lt"/>
              <a:buAutoNum type="alphaLcPeriod"/>
            </a:pPr>
            <a:r>
              <a:rPr lang="en-US" sz="2800">
                <a:solidFill>
                  <a:srgbClr val="000000"/>
                </a:solidFill>
              </a:rPr>
              <a:t>Label </a:t>
            </a:r>
            <a:r>
              <a:rPr lang="en-US" sz="2800" i="1">
                <a:solidFill>
                  <a:srgbClr val="000000"/>
                </a:solidFill>
              </a:rPr>
              <a:t>b </a:t>
            </a:r>
            <a:r>
              <a:rPr lang="en-US" sz="2800">
                <a:solidFill>
                  <a:srgbClr val="000000"/>
                </a:solidFill>
              </a:rPr>
              <a:t>on the graph.</a:t>
            </a:r>
          </a:p>
        </p:txBody>
      </p:sp>
      <p:pic>
        <p:nvPicPr>
          <p:cNvPr id="6" name="Picture 5" descr="A graph of a line on the coordinate plane. The x axis represents number of t shirts, and the y axis represents potential earnings in dollars. The line, g of t, rises from left to right through the points (3, 0) and (5, 30).">
            <a:extLst>
              <a:ext uri="{FF2B5EF4-FFF2-40B4-BE49-F238E27FC236}">
                <a16:creationId xmlns:a16="http://schemas.microsoft.com/office/drawing/2014/main" id="{1DCDD279-F71E-081B-0E1B-03E3CDA73CEB}"/>
              </a:ext>
            </a:extLst>
          </p:cNvPr>
          <p:cNvPicPr>
            <a:picLocks noChangeAspect="1"/>
          </p:cNvPicPr>
          <p:nvPr/>
        </p:nvPicPr>
        <p:blipFill>
          <a:blip r:embed="rId3"/>
          <a:stretch>
            <a:fillRect/>
          </a:stretch>
        </p:blipFill>
        <p:spPr>
          <a:xfrm>
            <a:off x="6609843" y="1609408"/>
            <a:ext cx="4822199" cy="4706559"/>
          </a:xfrm>
          <a:prstGeom prst="rect">
            <a:avLst/>
          </a:prstGeom>
        </p:spPr>
      </p:pic>
    </p:spTree>
    <p:extLst>
      <p:ext uri="{BB962C8B-B14F-4D97-AF65-F5344CB8AC3E}">
        <p14:creationId xmlns:p14="http://schemas.microsoft.com/office/powerpoint/2010/main" val="30558278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A6F98-9DC5-4E3A-1337-E397717ECD1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5B7DEDC-188B-AE8C-FC73-7B85E858FFA0}"/>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(12 of 15)</a:t>
            </a:r>
          </a:p>
        </p:txBody>
      </p:sp>
      <p:sp>
        <p:nvSpPr>
          <p:cNvPr id="5" name="TextBox 4">
            <a:extLst>
              <a:ext uri="{FF2B5EF4-FFF2-40B4-BE49-F238E27FC236}">
                <a16:creationId xmlns:a16="http://schemas.microsoft.com/office/drawing/2014/main" id="{BA8BAC93-4647-40C8-227C-4555EB372059}"/>
              </a:ext>
            </a:extLst>
          </p:cNvPr>
          <p:cNvSpPr txBox="1"/>
          <p:nvPr/>
        </p:nvSpPr>
        <p:spPr>
          <a:xfrm>
            <a:off x="777240" y="1585450"/>
            <a:ext cx="10023544" cy="3970318"/>
          </a:xfrm>
          <a:prstGeom prst="rect">
            <a:avLst/>
          </a:prstGeom>
          <a:noFill/>
        </p:spPr>
        <p:txBody>
          <a:bodyPr wrap="square" rtlCol="0">
            <a:spAutoFit/>
          </a:bodyPr>
          <a:lstStyle/>
          <a:p>
            <a:r>
              <a:rPr lang="en-US" sz="2800">
                <a:solidFill>
                  <a:srgbClr val="000000"/>
                </a:solidFill>
              </a:rPr>
              <a:t>Next, consider the factored form of a linear function, </a:t>
            </a:r>
            <a:r>
              <a:rPr lang="en-US" sz="2800" i="1">
                <a:solidFill>
                  <a:srgbClr val="000000"/>
                </a:solidFill>
              </a:rPr>
              <a:t>f</a:t>
            </a:r>
            <a:r>
              <a:rPr lang="en-US" sz="2800">
                <a:solidFill>
                  <a:srgbClr val="000000"/>
                </a:solidFill>
              </a:rPr>
              <a:t>(</a:t>
            </a:r>
            <a:r>
              <a:rPr lang="en-US" sz="2800" i="1">
                <a:solidFill>
                  <a:srgbClr val="000000"/>
                </a:solidFill>
              </a:rPr>
              <a:t>x</a:t>
            </a:r>
            <a:r>
              <a:rPr lang="en-US" sz="2800">
                <a:solidFill>
                  <a:srgbClr val="000000"/>
                </a:solidFill>
              </a:rPr>
              <a:t>) = </a:t>
            </a:r>
            <a:r>
              <a:rPr lang="en-US" sz="2800" i="1">
                <a:solidFill>
                  <a:srgbClr val="000000"/>
                </a:solidFill>
              </a:rPr>
              <a:t>a</a:t>
            </a:r>
            <a:r>
              <a:rPr lang="en-US" sz="2800">
                <a:solidFill>
                  <a:srgbClr val="000000"/>
                </a:solidFill>
              </a:rPr>
              <a:t>(</a:t>
            </a:r>
            <a:r>
              <a:rPr lang="en-US" sz="2800" i="1">
                <a:solidFill>
                  <a:srgbClr val="000000"/>
                </a:solidFill>
              </a:rPr>
              <a:t>x </a:t>
            </a:r>
            <a:r>
              <a:rPr lang="en-US" sz="2800">
                <a:solidFill>
                  <a:srgbClr val="000000"/>
                </a:solidFill>
              </a:rPr>
              <a:t>− </a:t>
            </a:r>
            <a:r>
              <a:rPr lang="en-US" sz="2800" i="1">
                <a:solidFill>
                  <a:srgbClr val="000000"/>
                </a:solidFill>
              </a:rPr>
              <a:t>c</a:t>
            </a:r>
            <a:r>
              <a:rPr lang="en-US" sz="2800">
                <a:solidFill>
                  <a:srgbClr val="000000"/>
                </a:solidFill>
              </a:rPr>
              <a:t>),</a:t>
            </a:r>
          </a:p>
          <a:p>
            <a:r>
              <a:rPr lang="en-US" sz="2800">
                <a:solidFill>
                  <a:srgbClr val="000000"/>
                </a:solidFill>
              </a:rPr>
              <a:t>where </a:t>
            </a:r>
            <a:r>
              <a:rPr lang="en-US" sz="2800" i="1">
                <a:solidFill>
                  <a:srgbClr val="000000"/>
                </a:solidFill>
              </a:rPr>
              <a:t>a </a:t>
            </a:r>
            <a:r>
              <a:rPr lang="en-US" sz="2800">
                <a:solidFill>
                  <a:srgbClr val="000000"/>
                </a:solidFill>
              </a:rPr>
              <a:t>and </a:t>
            </a:r>
            <a:r>
              <a:rPr lang="en-US" sz="2800" i="1">
                <a:solidFill>
                  <a:srgbClr val="000000"/>
                </a:solidFill>
              </a:rPr>
              <a:t>c </a:t>
            </a:r>
            <a:r>
              <a:rPr lang="en-US" sz="2800">
                <a:solidFill>
                  <a:srgbClr val="000000"/>
                </a:solidFill>
              </a:rPr>
              <a:t>are real numbers and </a:t>
            </a:r>
            <a:r>
              <a:rPr lang="en-US" sz="2800" i="1">
                <a:solidFill>
                  <a:srgbClr val="000000"/>
                </a:solidFill>
              </a:rPr>
              <a:t>a </a:t>
            </a:r>
            <a:r>
              <a:rPr lang="en-US" sz="2800">
                <a:solidFill>
                  <a:srgbClr val="000000"/>
                </a:solidFill>
              </a:rPr>
              <a:t>≠ 0. When a polynomial is in</a:t>
            </a:r>
          </a:p>
          <a:p>
            <a:r>
              <a:rPr lang="en-US" sz="2800">
                <a:solidFill>
                  <a:srgbClr val="000000"/>
                </a:solidFill>
              </a:rPr>
              <a:t>factored form, the value of </a:t>
            </a:r>
            <a:r>
              <a:rPr lang="en-US" sz="2800" i="1">
                <a:solidFill>
                  <a:srgbClr val="000000"/>
                </a:solidFill>
              </a:rPr>
              <a:t>x </a:t>
            </a:r>
            <a:r>
              <a:rPr lang="en-US" sz="2800">
                <a:solidFill>
                  <a:srgbClr val="000000"/>
                </a:solidFill>
              </a:rPr>
              <a:t>that makes the factor (</a:t>
            </a:r>
            <a:r>
              <a:rPr lang="en-US" sz="2800" i="1">
                <a:solidFill>
                  <a:srgbClr val="000000"/>
                </a:solidFill>
              </a:rPr>
              <a:t>x </a:t>
            </a:r>
            <a:r>
              <a:rPr lang="en-US" sz="2800">
                <a:solidFill>
                  <a:srgbClr val="000000"/>
                </a:solidFill>
              </a:rPr>
              <a:t>− </a:t>
            </a:r>
            <a:r>
              <a:rPr lang="en-US" sz="2800" i="1">
                <a:solidFill>
                  <a:srgbClr val="000000"/>
                </a:solidFill>
              </a:rPr>
              <a:t>c</a:t>
            </a:r>
            <a:r>
              <a:rPr lang="en-US" sz="2800">
                <a:solidFill>
                  <a:srgbClr val="000000"/>
                </a:solidFill>
              </a:rPr>
              <a:t>) equal to zero is the </a:t>
            </a:r>
            <a:r>
              <a:rPr lang="en-US" sz="2800" i="1">
                <a:solidFill>
                  <a:srgbClr val="000000"/>
                </a:solidFill>
              </a:rPr>
              <a:t>x</a:t>
            </a:r>
            <a:r>
              <a:rPr lang="en-US" sz="2800">
                <a:solidFill>
                  <a:srgbClr val="000000"/>
                </a:solidFill>
              </a:rPr>
              <a:t>-intercept. This value is called the </a:t>
            </a:r>
            <a:r>
              <a:rPr lang="en-US" sz="2800" i="1">
                <a:solidFill>
                  <a:srgbClr val="000000"/>
                </a:solidFill>
              </a:rPr>
              <a:t>zero of the function</a:t>
            </a:r>
            <a:r>
              <a:rPr lang="en-US" sz="2800">
                <a:solidFill>
                  <a:srgbClr val="000000"/>
                </a:solidFill>
              </a:rPr>
              <a:t>. A </a:t>
            </a:r>
            <a:r>
              <a:rPr lang="en-US" sz="2800" b="1">
                <a:solidFill>
                  <a:srgbClr val="000000"/>
                </a:solidFill>
              </a:rPr>
              <a:t>zero of a function </a:t>
            </a:r>
            <a:r>
              <a:rPr lang="en-US" sz="2800">
                <a:solidFill>
                  <a:srgbClr val="000000"/>
                </a:solidFill>
              </a:rPr>
              <a:t>is a real number that makes the value of the function equal to </a:t>
            </a:r>
            <a:r>
              <a:rPr lang="pt-BR" sz="2800">
                <a:solidFill>
                  <a:srgbClr val="000000"/>
                </a:solidFill>
              </a:rPr>
              <a:t>zero, or </a:t>
            </a:r>
            <a:r>
              <a:rPr lang="pt-BR" sz="2800" i="1">
                <a:solidFill>
                  <a:srgbClr val="000000"/>
                </a:solidFill>
              </a:rPr>
              <a:t>f</a:t>
            </a:r>
            <a:r>
              <a:rPr lang="pt-BR" sz="2800">
                <a:solidFill>
                  <a:srgbClr val="000000"/>
                </a:solidFill>
              </a:rPr>
              <a:t>(</a:t>
            </a:r>
            <a:r>
              <a:rPr lang="pt-BR" sz="2800" i="1">
                <a:solidFill>
                  <a:srgbClr val="000000"/>
                </a:solidFill>
              </a:rPr>
              <a:t>x</a:t>
            </a:r>
            <a:r>
              <a:rPr lang="pt-BR" sz="2800">
                <a:solidFill>
                  <a:srgbClr val="000000"/>
                </a:solidFill>
              </a:rPr>
              <a:t>) = 0.</a:t>
            </a:r>
          </a:p>
          <a:p>
            <a:endParaRPr lang="pt-BR" sz="2800">
              <a:solidFill>
                <a:srgbClr val="000000"/>
              </a:solidFill>
            </a:endParaRPr>
          </a:p>
          <a:p>
            <a:r>
              <a:rPr lang="en-US" sz="2800">
                <a:solidFill>
                  <a:srgbClr val="000000"/>
                </a:solidFill>
              </a:rPr>
              <a:t>You can set (</a:t>
            </a:r>
            <a:r>
              <a:rPr lang="en-US" sz="2800" i="1">
                <a:solidFill>
                  <a:srgbClr val="000000"/>
                </a:solidFill>
              </a:rPr>
              <a:t>x </a:t>
            </a:r>
            <a:r>
              <a:rPr lang="en-US" sz="2800">
                <a:solidFill>
                  <a:srgbClr val="000000"/>
                </a:solidFill>
              </a:rPr>
              <a:t>− </a:t>
            </a:r>
            <a:r>
              <a:rPr lang="en-US" sz="2800" i="1">
                <a:solidFill>
                  <a:srgbClr val="000000"/>
                </a:solidFill>
              </a:rPr>
              <a:t>c</a:t>
            </a:r>
            <a:r>
              <a:rPr lang="en-US" sz="2800">
                <a:solidFill>
                  <a:srgbClr val="000000"/>
                </a:solidFill>
              </a:rPr>
              <a:t>) equal to zero and determine the point where the</a:t>
            </a:r>
          </a:p>
          <a:p>
            <a:r>
              <a:rPr lang="en-US" sz="2800">
                <a:solidFill>
                  <a:srgbClr val="000000"/>
                </a:solidFill>
              </a:rPr>
              <a:t>graph crosses the </a:t>
            </a:r>
            <a:r>
              <a:rPr lang="en-US" sz="2800" i="1">
                <a:solidFill>
                  <a:srgbClr val="000000"/>
                </a:solidFill>
              </a:rPr>
              <a:t>x</a:t>
            </a:r>
            <a:r>
              <a:rPr lang="en-US" sz="2800">
                <a:solidFill>
                  <a:srgbClr val="000000"/>
                </a:solidFill>
              </a:rPr>
              <a:t>-axis.</a:t>
            </a:r>
          </a:p>
        </p:txBody>
      </p:sp>
    </p:spTree>
    <p:extLst>
      <p:ext uri="{BB962C8B-B14F-4D97-AF65-F5344CB8AC3E}">
        <p14:creationId xmlns:p14="http://schemas.microsoft.com/office/powerpoint/2010/main" val="39011520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33DF4-2D08-6AD6-858E-0B091455815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ACABFB-3857-2932-28A7-99D59ED381FF}"/>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(13 of 15)</a:t>
            </a:r>
          </a:p>
        </p:txBody>
      </p:sp>
      <p:sp>
        <p:nvSpPr>
          <p:cNvPr id="5" name="TextBox 4">
            <a:extLst>
              <a:ext uri="{FF2B5EF4-FFF2-40B4-BE49-F238E27FC236}">
                <a16:creationId xmlns:a16="http://schemas.microsoft.com/office/drawing/2014/main" id="{F368E199-9FA3-49B5-5B33-402CEFCB23C0}"/>
              </a:ext>
            </a:extLst>
          </p:cNvPr>
          <p:cNvSpPr txBox="1"/>
          <p:nvPr/>
        </p:nvSpPr>
        <p:spPr>
          <a:xfrm>
            <a:off x="777240" y="1582340"/>
            <a:ext cx="6113973" cy="3693319"/>
          </a:xfrm>
          <a:prstGeom prst="rect">
            <a:avLst/>
          </a:prstGeom>
          <a:noFill/>
        </p:spPr>
        <p:txBody>
          <a:bodyPr wrap="square" rtlCol="0">
            <a:spAutoFit/>
          </a:bodyPr>
          <a:lstStyle/>
          <a:p>
            <a:pPr marL="515938" indent="-515938" algn="l">
              <a:spcAft>
                <a:spcPts val="1200"/>
              </a:spcAft>
              <a:buFont typeface="+mj-lt"/>
              <a:buAutoNum type="arabicPeriod" startAt="6"/>
            </a:pPr>
            <a:r>
              <a:rPr lang="en-US" sz="2800" b="0" i="0" u="none" strike="noStrike" baseline="0">
                <a:solidFill>
                  <a:srgbClr val="000000"/>
                </a:solidFill>
              </a:rPr>
              <a:t>Consider the factored form of the linear function </a:t>
            </a:r>
            <a:r>
              <a:rPr lang="en-US" sz="2800" b="0" i="1" u="none" strike="noStrike" baseline="0">
                <a:solidFill>
                  <a:srgbClr val="000000"/>
                </a:solidFill>
              </a:rPr>
              <a:t>G</a:t>
            </a:r>
            <a:r>
              <a:rPr lang="en-US" sz="2800" b="0" i="0" u="none" strike="noStrike" baseline="0">
                <a:solidFill>
                  <a:srgbClr val="000000"/>
                </a:solidFill>
              </a:rPr>
              <a:t>(</a:t>
            </a:r>
            <a:r>
              <a:rPr lang="en-US" sz="2800" b="0" i="1" u="none" strike="noStrike" baseline="0">
                <a:solidFill>
                  <a:srgbClr val="000000"/>
                </a:solidFill>
              </a:rPr>
              <a:t>t</a:t>
            </a:r>
            <a:r>
              <a:rPr lang="en-US" sz="2800" b="0" i="0" u="none" strike="noStrike" baseline="0">
                <a:solidFill>
                  <a:srgbClr val="000000"/>
                </a:solidFill>
              </a:rPr>
              <a:t>).</a:t>
            </a:r>
          </a:p>
          <a:p>
            <a:pPr marL="1030288" lvl="1" indent="-515938">
              <a:buFont typeface="+mj-lt"/>
              <a:buAutoNum type="alphaLcPeriod"/>
            </a:pPr>
            <a:r>
              <a:rPr lang="en-US" sz="2800" b="0" i="0" u="none" strike="noStrike" baseline="0">
                <a:solidFill>
                  <a:srgbClr val="000000"/>
                </a:solidFill>
              </a:rPr>
              <a:t>Label </a:t>
            </a:r>
            <a:r>
              <a:rPr lang="en-US" sz="2800" b="0" i="1" u="none" strike="noStrike" baseline="0">
                <a:solidFill>
                  <a:srgbClr val="000000"/>
                </a:solidFill>
              </a:rPr>
              <a:t>a </a:t>
            </a:r>
            <a:r>
              <a:rPr lang="en-US" sz="2800" b="0" i="0" u="none" strike="noStrike" baseline="0">
                <a:solidFill>
                  <a:srgbClr val="000000"/>
                </a:solidFill>
              </a:rPr>
              <a:t>on the graph.</a:t>
            </a:r>
            <a:br>
              <a:rPr lang="en-US" sz="2800" b="0" i="0" u="none" strike="noStrike" baseline="0">
                <a:solidFill>
                  <a:srgbClr val="000000"/>
                </a:solidFill>
              </a:rPr>
            </a:br>
            <a:endParaRPr lang="en-US" sz="2800" b="0" i="0" u="none" strike="noStrike" baseline="0">
              <a:solidFill>
                <a:srgbClr val="000000"/>
              </a:solidFill>
            </a:endParaRPr>
          </a:p>
          <a:p>
            <a:pPr marL="1030288" lvl="1" indent="-515938">
              <a:buFont typeface="+mj-lt"/>
              <a:buAutoNum type="alphaLcPeriod"/>
            </a:pPr>
            <a:r>
              <a:rPr lang="en-US" sz="2800" b="0" i="0" u="none" strike="noStrike" baseline="0">
                <a:solidFill>
                  <a:srgbClr val="000000"/>
                </a:solidFill>
              </a:rPr>
              <a:t>Label </a:t>
            </a:r>
            <a:r>
              <a:rPr lang="en-US" sz="2800" b="0" i="1" u="none" strike="noStrike" baseline="0">
                <a:solidFill>
                  <a:srgbClr val="000000"/>
                </a:solidFill>
              </a:rPr>
              <a:t>c </a:t>
            </a:r>
            <a:r>
              <a:rPr lang="en-US" sz="2800" b="0" i="0" u="none" strike="noStrike" baseline="0">
                <a:solidFill>
                  <a:srgbClr val="000000"/>
                </a:solidFill>
              </a:rPr>
              <a:t>on the graph.</a:t>
            </a:r>
          </a:p>
          <a:p>
            <a:pPr lvl="1"/>
            <a:endParaRPr lang="en-US" sz="2800" b="0" i="0" u="none" strike="noStrike" baseline="0">
              <a:solidFill>
                <a:srgbClr val="000000"/>
              </a:solidFill>
            </a:endParaRPr>
          </a:p>
          <a:p>
            <a:pPr marL="514350" indent="-514350">
              <a:buFont typeface="+mj-lt"/>
              <a:buAutoNum type="arabicPeriod" startAt="7"/>
            </a:pPr>
            <a:r>
              <a:rPr lang="en-US" sz="2800" b="0" i="0" u="none" strike="noStrike" baseline="0">
                <a:solidFill>
                  <a:srgbClr val="000000"/>
                </a:solidFill>
              </a:rPr>
              <a:t>What is the zero of </a:t>
            </a:r>
            <a:r>
              <a:rPr lang="en-US" sz="2800" b="0" i="1" u="none" strike="noStrike" baseline="0">
                <a:solidFill>
                  <a:srgbClr val="000000"/>
                </a:solidFill>
              </a:rPr>
              <a:t>G</a:t>
            </a:r>
            <a:r>
              <a:rPr lang="en-US" sz="2800" b="0" i="0" u="none" strike="noStrike" baseline="0">
                <a:solidFill>
                  <a:srgbClr val="000000"/>
                </a:solidFill>
              </a:rPr>
              <a:t>(</a:t>
            </a:r>
            <a:r>
              <a:rPr lang="en-US" sz="2800" b="0" i="1" u="none" strike="noStrike" baseline="0">
                <a:solidFill>
                  <a:srgbClr val="000000"/>
                </a:solidFill>
              </a:rPr>
              <a:t>t</a:t>
            </a:r>
            <a:r>
              <a:rPr lang="en-US" sz="2800" b="0" i="0" u="none" strike="noStrike" baseline="0">
                <a:solidFill>
                  <a:srgbClr val="000000"/>
                </a:solidFill>
              </a:rPr>
              <a:t>)?</a:t>
            </a:r>
            <a:br>
              <a:rPr lang="en-US" sz="2800" b="0" i="0" u="none" strike="noStrike" baseline="0">
                <a:solidFill>
                  <a:srgbClr val="000000"/>
                </a:solidFill>
              </a:rPr>
            </a:br>
            <a:r>
              <a:rPr lang="en-US" sz="2800" b="0" i="0" u="none" strike="noStrike" baseline="0">
                <a:solidFill>
                  <a:srgbClr val="000000"/>
                </a:solidFill>
              </a:rPr>
              <a:t>Explain your reasoning.</a:t>
            </a:r>
            <a:endParaRPr lang="en-US" sz="2800">
              <a:solidFill>
                <a:srgbClr val="000000"/>
              </a:solidFill>
            </a:endParaRPr>
          </a:p>
        </p:txBody>
      </p:sp>
      <p:pic>
        <p:nvPicPr>
          <p:cNvPr id="2" name="Picture 1" descr="A graph of a line on the coordinate plane. The x axis represents number of t shirts, and the y axis represents potential earnings in dollars. The line, g of t, rises from left to right through the points (3, 0) and (5, 30).">
            <a:extLst>
              <a:ext uri="{FF2B5EF4-FFF2-40B4-BE49-F238E27FC236}">
                <a16:creationId xmlns:a16="http://schemas.microsoft.com/office/drawing/2014/main" id="{BD4AB22E-C12D-296D-9FE8-1BDBE67785F7}"/>
              </a:ext>
            </a:extLst>
          </p:cNvPr>
          <p:cNvPicPr>
            <a:picLocks noChangeAspect="1"/>
          </p:cNvPicPr>
          <p:nvPr/>
        </p:nvPicPr>
        <p:blipFill>
          <a:blip r:embed="rId3"/>
          <a:stretch>
            <a:fillRect/>
          </a:stretch>
        </p:blipFill>
        <p:spPr>
          <a:xfrm>
            <a:off x="6891213" y="1443841"/>
            <a:ext cx="4822199" cy="4706559"/>
          </a:xfrm>
          <a:prstGeom prst="rect">
            <a:avLst/>
          </a:prstGeom>
        </p:spPr>
      </p:pic>
    </p:spTree>
    <p:extLst>
      <p:ext uri="{BB962C8B-B14F-4D97-AF65-F5344CB8AC3E}">
        <p14:creationId xmlns:p14="http://schemas.microsoft.com/office/powerpoint/2010/main" val="9448558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5BA85-E3CD-D04C-89EE-91D7752FCCFD}"/>
            </a:ext>
          </a:extLst>
        </p:cNvPr>
        <p:cNvGrpSpPr/>
        <p:nvPr/>
      </p:nvGrpSpPr>
      <p:grpSpPr>
        <a:xfrm>
          <a:off x="0" y="0"/>
          <a:ext cx="0" cy="0"/>
          <a:chOff x="0" y="0"/>
          <a:chExt cx="0" cy="0"/>
        </a:xfrm>
      </p:grpSpPr>
      <p:sp>
        <p:nvSpPr>
          <p:cNvPr id="6" name="Title 3">
            <a:extLst>
              <a:ext uri="{FF2B5EF4-FFF2-40B4-BE49-F238E27FC236}">
                <a16:creationId xmlns:a16="http://schemas.microsoft.com/office/drawing/2014/main" id="{BB24BF66-4F12-0A82-9DA9-A0D959E3CB20}"/>
              </a:ext>
            </a:extLst>
          </p:cNvPr>
          <p:cNvSpPr>
            <a:spLocks noGrp="1"/>
          </p:cNvSpPr>
          <p:nvPr>
            <p:ph type="title"/>
          </p:nvPr>
        </p:nvSpPr>
        <p:spPr>
          <a:xfrm>
            <a:off x="777240" y="1"/>
            <a:ext cx="11425482" cy="1263192"/>
          </a:xfrm>
        </p:spPr>
        <p:txBody>
          <a:bodyPr/>
          <a:lstStyle/>
          <a:p>
            <a:pPr algn="l"/>
            <a:r>
              <a:rPr lang="en-US" sz="3200" b="1"/>
              <a:t>Interpreting Changes to the Graph of a Linear Function </a:t>
            </a:r>
            <a:r>
              <a:rPr lang="en-US" sz="2000" b="1">
                <a:solidFill>
                  <a:schemeClr val="bg1"/>
                </a:solidFill>
              </a:rPr>
              <a:t>(14 of 15)</a:t>
            </a:r>
          </a:p>
        </p:txBody>
      </p:sp>
      <p:sp>
        <p:nvSpPr>
          <p:cNvPr id="9" name="Text Placeholder 2">
            <a:extLst>
              <a:ext uri="{FF2B5EF4-FFF2-40B4-BE49-F238E27FC236}">
                <a16:creationId xmlns:a16="http://schemas.microsoft.com/office/drawing/2014/main" id="{A4A5A952-9A6A-E96A-771A-F7D37A05CA78}"/>
              </a:ext>
            </a:extLst>
          </p:cNvPr>
          <p:cNvSpPr txBox="1">
            <a:spLocks/>
          </p:cNvSpPr>
          <p:nvPr/>
        </p:nvSpPr>
        <p:spPr>
          <a:xfrm>
            <a:off x="777240" y="1587731"/>
            <a:ext cx="9893719" cy="405032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a:solidFill>
                  <a:srgbClr val="000000"/>
                </a:solidFill>
              </a:rPr>
              <a:t>Let’s revisit the Essential Question and summarize our learning from Activity 6.3!</a:t>
            </a:r>
          </a:p>
          <a:p>
            <a:pPr marL="0" indent="0" algn="l">
              <a:buNone/>
            </a:pPr>
            <a:endParaRPr lang="en-US" sz="2800">
              <a:solidFill>
                <a:srgbClr val="000000"/>
              </a:solidFill>
            </a:endParaRPr>
          </a:p>
          <a:p>
            <a:pPr marL="0" indent="0" algn="l">
              <a:buNone/>
            </a:pPr>
            <a:endParaRPr lang="en-US" sz="2800">
              <a:solidFill>
                <a:srgbClr val="000000"/>
              </a:solidFill>
            </a:endParaRPr>
          </a:p>
          <a:p>
            <a:pPr marL="0" indent="0">
              <a:buNone/>
            </a:pPr>
            <a:r>
              <a:rPr lang="en-US" sz="2800" b="1">
                <a:solidFill>
                  <a:srgbClr val="000000"/>
                </a:solidFill>
              </a:rPr>
              <a:t>Essential Question:</a:t>
            </a:r>
            <a:r>
              <a:rPr lang="en-US" sz="2800">
                <a:solidFill>
                  <a:srgbClr val="000000"/>
                </a:solidFill>
              </a:rPr>
              <a:t> </a:t>
            </a:r>
            <a:r>
              <a:rPr lang="en-US" sz="2800" b="0" i="0" u="none" strike="noStrike" baseline="0">
                <a:solidFill>
                  <a:srgbClr val="000000"/>
                </a:solidFill>
              </a:rPr>
              <a:t>How can you use the structure of the equation to identify characteristics of the function?</a:t>
            </a:r>
            <a:endParaRPr lang="en-US" sz="2800">
              <a:solidFill>
                <a:srgbClr val="000000"/>
              </a:solidFill>
            </a:endParaRPr>
          </a:p>
        </p:txBody>
      </p:sp>
      <p:pic>
        <p:nvPicPr>
          <p:cNvPr id="2" name="Picture 1">
            <a:extLst>
              <a:ext uri="{FF2B5EF4-FFF2-40B4-BE49-F238E27FC236}">
                <a16:creationId xmlns:a16="http://schemas.microsoft.com/office/drawing/2014/main" id="{77FEC57C-8B02-2827-E720-F0323391143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431717" y="372494"/>
            <a:ext cx="1501270" cy="518205"/>
          </a:xfrm>
          <a:prstGeom prst="rect">
            <a:avLst/>
          </a:prstGeom>
        </p:spPr>
      </p:pic>
    </p:spTree>
    <p:extLst>
      <p:ext uri="{BB962C8B-B14F-4D97-AF65-F5344CB8AC3E}">
        <p14:creationId xmlns:p14="http://schemas.microsoft.com/office/powerpoint/2010/main" val="9930523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A9796-FD12-815C-F9ED-141803BA9A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4436916-A8A9-4DCA-18C5-F1A5A33DADCE}"/>
              </a:ext>
            </a:extLst>
          </p:cNvPr>
          <p:cNvSpPr>
            <a:spLocks noGrp="1"/>
          </p:cNvSpPr>
          <p:nvPr>
            <p:ph type="title"/>
          </p:nvPr>
        </p:nvSpPr>
        <p:spPr/>
        <p:txBody>
          <a:bodyPr/>
          <a:lstStyle/>
          <a:p>
            <a:pPr algn="l"/>
            <a:r>
              <a:rPr lang="en-US" sz="3200" b="1"/>
              <a:t>Interpreting Changes to the Graph of a Linear Function </a:t>
            </a:r>
            <a:r>
              <a:rPr lang="en-US" sz="2000" b="1">
                <a:solidFill>
                  <a:schemeClr val="bg1"/>
                </a:solidFill>
              </a:rPr>
              <a:t>(15 of 15)</a:t>
            </a:r>
          </a:p>
        </p:txBody>
      </p:sp>
      <p:sp>
        <p:nvSpPr>
          <p:cNvPr id="9" name="Text Placeholder 2">
            <a:extLst>
              <a:ext uri="{FF2B5EF4-FFF2-40B4-BE49-F238E27FC236}">
                <a16:creationId xmlns:a16="http://schemas.microsoft.com/office/drawing/2014/main" id="{CB619427-FF7D-2988-0182-FE14841F9290}"/>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a:solidFill>
                <a:schemeClr val="bg2">
                  <a:lumMod val="25000"/>
                </a:schemeClr>
              </a:solidFill>
            </a:endParaRPr>
          </a:p>
        </p:txBody>
      </p:sp>
    </p:spTree>
    <p:extLst>
      <p:ext uri="{BB962C8B-B14F-4D97-AF65-F5344CB8AC3E}">
        <p14:creationId xmlns:p14="http://schemas.microsoft.com/office/powerpoint/2010/main" val="34352999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820C9-EBF0-D23A-E20F-271D21D9D2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8859F2-DB5F-8DC8-ECD8-F05B72975F5B}"/>
              </a:ext>
            </a:extLst>
          </p:cNvPr>
          <p:cNvSpPr>
            <a:spLocks noGrp="1"/>
          </p:cNvSpPr>
          <p:nvPr>
            <p:ph type="title" idx="4294967295"/>
          </p:nvPr>
        </p:nvSpPr>
        <p:spPr>
          <a:xfrm>
            <a:off x="838200" y="-307571"/>
            <a:ext cx="10514013" cy="307571"/>
          </a:xfrm>
          <a:prstGeom prst="rect">
            <a:avLst/>
          </a:prstGeom>
        </p:spPr>
        <p:txBody>
          <a:bodyPr anchor="b"/>
          <a:lstStyle/>
          <a:p>
            <a:r>
              <a:rPr lang="en-US" sz="2000">
                <a:solidFill>
                  <a:schemeClr val="bg2"/>
                </a:solidFill>
              </a:rPr>
              <a:t>Day 3</a:t>
            </a:r>
          </a:p>
        </p:txBody>
      </p:sp>
      <p:sp>
        <p:nvSpPr>
          <p:cNvPr id="4" name="Text Placeholder 3">
            <a:extLst>
              <a:ext uri="{FF2B5EF4-FFF2-40B4-BE49-F238E27FC236}">
                <a16:creationId xmlns:a16="http://schemas.microsoft.com/office/drawing/2014/main" id="{E5CEA382-0D4A-22DB-FA0D-19763DE91D5C}"/>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a:solidFill>
                  <a:srgbClr val="000000"/>
                </a:solidFill>
                <a:latin typeface="Calibri" panose="020F0502020204030204" pitchFamily="34" charset="0"/>
                <a:ea typeface="Calibri" panose="020F0502020204030204" pitchFamily="34" charset="0"/>
                <a:cs typeface="Calibri" panose="020F0502020204030204" pitchFamily="34" charset="0"/>
              </a:rPr>
              <a:t>3</a:t>
            </a:r>
          </a:p>
        </p:txBody>
      </p:sp>
    </p:spTree>
    <p:extLst>
      <p:ext uri="{BB962C8B-B14F-4D97-AF65-F5344CB8AC3E}">
        <p14:creationId xmlns:p14="http://schemas.microsoft.com/office/powerpoint/2010/main" val="32046791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CF553-B8F5-F875-3E9C-9BE21E9D4DC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3E2D72-7D23-826C-48B4-F1D2A1464013}"/>
              </a:ext>
            </a:extLst>
          </p:cNvPr>
          <p:cNvSpPr>
            <a:spLocks noGrp="1"/>
          </p:cNvSpPr>
          <p:nvPr>
            <p:ph type="title"/>
          </p:nvPr>
        </p:nvSpPr>
        <p:spPr/>
        <p:txBody>
          <a:bodyPr/>
          <a:lstStyle/>
          <a:p>
            <a:pPr algn="l"/>
            <a:r>
              <a:rPr lang="en-US" b="1"/>
              <a:t>Essential Question </a:t>
            </a:r>
            <a:r>
              <a:rPr lang="en-US" sz="2000" b="1">
                <a:solidFill>
                  <a:schemeClr val="bg1"/>
                </a:solidFill>
              </a:rPr>
              <a:t>(3 of 3)</a:t>
            </a:r>
          </a:p>
        </p:txBody>
      </p:sp>
      <p:sp>
        <p:nvSpPr>
          <p:cNvPr id="2" name="Text Placeholder 2">
            <a:extLst>
              <a:ext uri="{FF2B5EF4-FFF2-40B4-BE49-F238E27FC236}">
                <a16:creationId xmlns:a16="http://schemas.microsoft.com/office/drawing/2014/main" id="{EC3DD5AB-CBE4-2F19-A39C-086BBBAF34BB}"/>
              </a:ext>
            </a:extLst>
          </p:cNvPr>
          <p:cNvSpPr txBox="1">
            <a:spLocks/>
          </p:cNvSpPr>
          <p:nvPr/>
        </p:nvSpPr>
        <p:spPr>
          <a:xfrm>
            <a:off x="777240" y="1616140"/>
            <a:ext cx="10515600" cy="43512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b="0" i="0" u="none" strike="noStrike" baseline="0">
                <a:solidFill>
                  <a:srgbClr val="000000"/>
                </a:solidFill>
              </a:rPr>
              <a:t>How can you use the structure of the equation to identify characteristics of the function?</a:t>
            </a:r>
            <a:endParaRPr lang="en-US" sz="2800">
              <a:solidFill>
                <a:srgbClr val="000000"/>
              </a:solidFill>
            </a:endParaRPr>
          </a:p>
        </p:txBody>
      </p:sp>
    </p:spTree>
    <p:extLst>
      <p:ext uri="{BB962C8B-B14F-4D97-AF65-F5344CB8AC3E}">
        <p14:creationId xmlns:p14="http://schemas.microsoft.com/office/powerpoint/2010/main" val="41139909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6FC01-4346-C9A8-F46A-5DDB86DAD67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7F2BB5-3994-96BB-C146-476235EC4EF0}"/>
              </a:ext>
            </a:extLst>
          </p:cNvPr>
          <p:cNvSpPr>
            <a:spLocks noGrp="1"/>
          </p:cNvSpPr>
          <p:nvPr>
            <p:ph type="title" idx="4294967295"/>
          </p:nvPr>
        </p:nvSpPr>
        <p:spPr>
          <a:xfrm>
            <a:off x="838200" y="-315884"/>
            <a:ext cx="10514013" cy="315884"/>
          </a:xfrm>
          <a:prstGeom prst="rect">
            <a:avLst/>
          </a:prstGeom>
        </p:spPr>
        <p:txBody>
          <a:bodyPr anchor="b"/>
          <a:lstStyle/>
          <a:p>
            <a:r>
              <a:rPr lang="en-US" sz="2000">
                <a:solidFill>
                  <a:schemeClr val="bg2"/>
                </a:solidFill>
              </a:rPr>
              <a:t>Activity 6.4</a:t>
            </a:r>
          </a:p>
        </p:txBody>
      </p:sp>
      <p:sp>
        <p:nvSpPr>
          <p:cNvPr id="3" name="Text Placeholder 2" descr="15 to 20 minutes">
            <a:extLst>
              <a:ext uri="{FF2B5EF4-FFF2-40B4-BE49-F238E27FC236}">
                <a16:creationId xmlns:a16="http://schemas.microsoft.com/office/drawing/2014/main" id="{B2974A2C-68BA-CAC6-5091-07D785E3D434}"/>
              </a:ext>
            </a:extLst>
          </p:cNvPr>
          <p:cNvSpPr>
            <a:spLocks noGrp="1"/>
          </p:cNvSpPr>
          <p:nvPr>
            <p:ph type="body" sz="quarter" idx="12"/>
          </p:nvPr>
        </p:nvSpPr>
        <p:spPr>
          <a:xfrm>
            <a:off x="10614990" y="5781277"/>
            <a:ext cx="863947" cy="795338"/>
          </a:xfrm>
        </p:spPr>
        <p:txBody>
          <a:bodyPr/>
          <a:lstStyle/>
          <a:p>
            <a:r>
              <a:rPr lang="en-US" b="1"/>
              <a:t>15–20</a:t>
            </a:r>
          </a:p>
        </p:txBody>
      </p:sp>
      <p:sp>
        <p:nvSpPr>
          <p:cNvPr id="2" name="Text Placeholder 1">
            <a:extLst>
              <a:ext uri="{FF2B5EF4-FFF2-40B4-BE49-F238E27FC236}">
                <a16:creationId xmlns:a16="http://schemas.microsoft.com/office/drawing/2014/main" id="{61D8D0C0-5CB3-B191-E05B-A81C5263C16F}"/>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a:t>6.4</a:t>
            </a:r>
          </a:p>
        </p:txBody>
      </p:sp>
    </p:spTree>
    <p:extLst>
      <p:ext uri="{BB962C8B-B14F-4D97-AF65-F5344CB8AC3E}">
        <p14:creationId xmlns:p14="http://schemas.microsoft.com/office/powerpoint/2010/main" val="23906801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BFE04-A719-B74F-292F-B1C1C164E8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9EEE57E-F56E-8C34-574A-D50A730E5925}"/>
              </a:ext>
            </a:extLst>
          </p:cNvPr>
          <p:cNvSpPr>
            <a:spLocks noGrp="1"/>
          </p:cNvSpPr>
          <p:nvPr>
            <p:ph type="title"/>
          </p:nvPr>
        </p:nvSpPr>
        <p:spPr>
          <a:xfrm>
            <a:off x="498763" y="0"/>
            <a:ext cx="11691649" cy="1263192"/>
          </a:xfrm>
        </p:spPr>
        <p:txBody>
          <a:bodyPr/>
          <a:lstStyle/>
          <a:p>
            <a:pPr algn="l"/>
            <a:r>
              <a:rPr lang="en-US" sz="3200" b="1"/>
              <a:t>Interpreting More Changes to the Graph of a Linear Function </a:t>
            </a:r>
            <a:r>
              <a:rPr lang="en-US" sz="2000" b="1">
                <a:solidFill>
                  <a:schemeClr val="bg1"/>
                </a:solidFill>
              </a:rPr>
              <a:t>(1 of 7)</a:t>
            </a:r>
          </a:p>
        </p:txBody>
      </p:sp>
      <p:sp>
        <p:nvSpPr>
          <p:cNvPr id="9" name="Text Placeholder 2">
            <a:extLst>
              <a:ext uri="{FF2B5EF4-FFF2-40B4-BE49-F238E27FC236}">
                <a16:creationId xmlns:a16="http://schemas.microsoft.com/office/drawing/2014/main" id="{ED68BE8B-52E2-42FD-E7A9-5467E72D4C54}"/>
              </a:ext>
            </a:extLst>
          </p:cNvPr>
          <p:cNvSpPr txBox="1">
            <a:spLocks/>
          </p:cNvSpPr>
          <p:nvPr/>
        </p:nvSpPr>
        <p:spPr>
          <a:xfrm>
            <a:off x="714922" y="1451780"/>
            <a:ext cx="9958620" cy="151209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a:solidFill>
                  <a:srgbClr val="000000"/>
                </a:solidFill>
              </a:rPr>
              <a:t>The next festival that Gracie is attending charges a $35 fee to rent a booth. She is still selling her mom’s T-shirts for $15 each and giving 3 away in a raffle. The graph shows this new relationship, </a:t>
            </a:r>
            <a:r>
              <a:rPr lang="en-US" sz="2800" i="1">
                <a:solidFill>
                  <a:srgbClr val="000000"/>
                </a:solidFill>
              </a:rPr>
              <a:t>F(t)</a:t>
            </a:r>
            <a:r>
              <a:rPr lang="en-US" sz="2800">
                <a:solidFill>
                  <a:srgbClr val="000000"/>
                </a:solidFill>
              </a:rPr>
              <a:t>.</a:t>
            </a:r>
          </a:p>
        </p:txBody>
      </p:sp>
      <p:sp>
        <p:nvSpPr>
          <p:cNvPr id="5" name="Google Shape;592;p16">
            <a:extLst>
              <a:ext uri="{FF2B5EF4-FFF2-40B4-BE49-F238E27FC236}">
                <a16:creationId xmlns:a16="http://schemas.microsoft.com/office/drawing/2014/main" id="{8B4DE9F2-41B8-65AA-4A80-12711F667395}"/>
              </a:ext>
            </a:extLst>
          </p:cNvPr>
          <p:cNvSpPr/>
          <p:nvPr/>
        </p:nvSpPr>
        <p:spPr>
          <a:xfrm flipH="1">
            <a:off x="714922" y="3878313"/>
            <a:ext cx="2187605" cy="1623895"/>
          </a:xfrm>
          <a:prstGeom prst="wedgeRoundRectCallout">
            <a:avLst>
              <a:gd name="adj1" fmla="val 3496"/>
              <a:gd name="adj2" fmla="val -68780"/>
              <a:gd name="adj3" fmla="val 16667"/>
            </a:avLst>
          </a:prstGeom>
          <a:solidFill>
            <a:schemeClr val="lt1"/>
          </a:solidFill>
          <a:ln w="19050" cap="flat" cmpd="sng">
            <a:solidFill>
              <a:srgbClr val="008F4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1">
                <a:solidFill>
                  <a:srgbClr val="2B8147"/>
                </a:solidFill>
                <a:ea typeface="Calibri"/>
                <a:cs typeface="Calibri"/>
                <a:sym typeface="Calibri"/>
              </a:rPr>
              <a:t>Ask Yourself…</a:t>
            </a:r>
            <a:endParaRPr sz="2000"/>
          </a:p>
          <a:p>
            <a:r>
              <a:rPr lang="en-US" sz="2000">
                <a:solidFill>
                  <a:srgbClr val="000000"/>
                </a:solidFill>
              </a:rPr>
              <a:t>Is </a:t>
            </a:r>
            <a:r>
              <a:rPr lang="en-US" sz="2000" i="1">
                <a:solidFill>
                  <a:srgbClr val="000000"/>
                </a:solidFill>
              </a:rPr>
              <a:t>F</a:t>
            </a:r>
            <a:r>
              <a:rPr lang="en-US" sz="2000">
                <a:solidFill>
                  <a:srgbClr val="000000"/>
                </a:solidFill>
              </a:rPr>
              <a:t>(</a:t>
            </a:r>
            <a:r>
              <a:rPr lang="en-US" sz="2000" i="1">
                <a:solidFill>
                  <a:srgbClr val="000000"/>
                </a:solidFill>
              </a:rPr>
              <a:t>t</a:t>
            </a:r>
            <a:r>
              <a:rPr lang="en-US" sz="2000">
                <a:solidFill>
                  <a:srgbClr val="000000"/>
                </a:solidFill>
              </a:rPr>
              <a:t>) directly proportional to </a:t>
            </a:r>
            <a:r>
              <a:rPr lang="en-US" sz="2000" i="1">
                <a:solidFill>
                  <a:srgbClr val="000000"/>
                </a:solidFill>
              </a:rPr>
              <a:t>t</a:t>
            </a:r>
            <a:r>
              <a:rPr lang="en-US" sz="2000">
                <a:solidFill>
                  <a:srgbClr val="000000"/>
                </a:solidFill>
              </a:rPr>
              <a:t>?</a:t>
            </a:r>
          </a:p>
        </p:txBody>
      </p:sp>
      <p:pic>
        <p:nvPicPr>
          <p:cNvPr id="3" name="Picture 2" descr="A graph of 2 lines on the coordinate plane. The x axis represents number of t shirts, and the y axis represents potential earnings in dollars. The 2 lines rise from left to right in the same direction. The line G of t = 15 left parenthesis t minus 3 right parenthesis rises through the points (3, 0) and (5, 30). The line F of t rises through the points (6, 10) and (8, 40).">
            <a:extLst>
              <a:ext uri="{FF2B5EF4-FFF2-40B4-BE49-F238E27FC236}">
                <a16:creationId xmlns:a16="http://schemas.microsoft.com/office/drawing/2014/main" id="{7B882684-A1BC-8AD9-321C-9D6A134F13F3}"/>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977372" y="2792870"/>
            <a:ext cx="4235667" cy="3907039"/>
          </a:xfrm>
          <a:prstGeom prst="rect">
            <a:avLst/>
          </a:prstGeom>
        </p:spPr>
      </p:pic>
    </p:spTree>
    <p:extLst>
      <p:ext uri="{BB962C8B-B14F-4D97-AF65-F5344CB8AC3E}">
        <p14:creationId xmlns:p14="http://schemas.microsoft.com/office/powerpoint/2010/main" val="37097440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8AC52-BAD8-1C06-0732-51222006717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3DCE3A2-E2E7-F17E-0D61-76B4467B9183}"/>
              </a:ext>
            </a:extLst>
          </p:cNvPr>
          <p:cNvSpPr>
            <a:spLocks noGrp="1"/>
          </p:cNvSpPr>
          <p:nvPr>
            <p:ph type="title"/>
          </p:nvPr>
        </p:nvSpPr>
        <p:spPr>
          <a:xfrm>
            <a:off x="490451" y="0"/>
            <a:ext cx="11699961" cy="1263192"/>
          </a:xfrm>
        </p:spPr>
        <p:txBody>
          <a:bodyPr/>
          <a:lstStyle/>
          <a:p>
            <a:pPr algn="l"/>
            <a:r>
              <a:rPr lang="en-US" sz="3200" b="1"/>
              <a:t>Interpreting More Changes to the Graph of a Linear Function </a:t>
            </a:r>
            <a:r>
              <a:rPr lang="en-US" sz="2000" b="1">
                <a:solidFill>
                  <a:schemeClr val="bg1"/>
                </a:solidFill>
              </a:rPr>
              <a:t>(2 of 7)</a:t>
            </a:r>
          </a:p>
        </p:txBody>
      </p:sp>
      <p:pic>
        <p:nvPicPr>
          <p:cNvPr id="6" name="Picture 5" descr="Problem solving has 5 steps. Notice, organize, analyze, interpret, and report. Interpreting may also lead back to organizing.">
            <a:extLst>
              <a:ext uri="{FF2B5EF4-FFF2-40B4-BE49-F238E27FC236}">
                <a16:creationId xmlns:a16="http://schemas.microsoft.com/office/drawing/2014/main" id="{DA505AD5-E3E8-F9FD-1110-7046B209C420}"/>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16527" y="1710059"/>
            <a:ext cx="1835244" cy="2635385"/>
          </a:xfrm>
          <a:prstGeom prst="rect">
            <a:avLst/>
          </a:prstGeom>
        </p:spPr>
      </p:pic>
      <p:sp>
        <p:nvSpPr>
          <p:cNvPr id="5" name="TextBox 4">
            <a:extLst>
              <a:ext uri="{FF2B5EF4-FFF2-40B4-BE49-F238E27FC236}">
                <a16:creationId xmlns:a16="http://schemas.microsoft.com/office/drawing/2014/main" id="{D1A7ED6E-2854-EB4D-FC16-8F113B41B32E}"/>
              </a:ext>
            </a:extLst>
          </p:cNvPr>
          <p:cNvSpPr txBox="1"/>
          <p:nvPr/>
        </p:nvSpPr>
        <p:spPr>
          <a:xfrm>
            <a:off x="2835796" y="1710059"/>
            <a:ext cx="8893462" cy="3693319"/>
          </a:xfrm>
          <a:prstGeom prst="rect">
            <a:avLst/>
          </a:prstGeom>
          <a:noFill/>
        </p:spPr>
        <p:txBody>
          <a:bodyPr wrap="square" rtlCol="0">
            <a:spAutoFit/>
          </a:bodyPr>
          <a:lstStyle/>
          <a:p>
            <a:pPr marL="457200" indent="-457200" algn="l">
              <a:spcAft>
                <a:spcPts val="1200"/>
              </a:spcAft>
              <a:buFont typeface="+mj-lt"/>
              <a:buAutoNum type="arabicPeriod"/>
            </a:pPr>
            <a:r>
              <a:rPr lang="en-US" sz="2800">
                <a:solidFill>
                  <a:srgbClr val="000000"/>
                </a:solidFill>
              </a:rPr>
              <a:t>Consider the relationship between graphs of </a:t>
            </a:r>
            <a:r>
              <a:rPr lang="en-US" sz="2800" i="1">
                <a:solidFill>
                  <a:srgbClr val="000000"/>
                </a:solidFill>
              </a:rPr>
              <a:t>G</a:t>
            </a:r>
            <a:r>
              <a:rPr lang="en-US" sz="2800">
                <a:solidFill>
                  <a:srgbClr val="000000"/>
                </a:solidFill>
              </a:rPr>
              <a:t>(</a:t>
            </a:r>
            <a:r>
              <a:rPr lang="en-US" sz="2800" i="1">
                <a:solidFill>
                  <a:srgbClr val="000000"/>
                </a:solidFill>
              </a:rPr>
              <a:t>t</a:t>
            </a:r>
            <a:r>
              <a:rPr lang="en-US" sz="2800">
                <a:solidFill>
                  <a:srgbClr val="000000"/>
                </a:solidFill>
              </a:rPr>
              <a:t>) and </a:t>
            </a:r>
            <a:r>
              <a:rPr lang="en-US" sz="2800" i="1">
                <a:solidFill>
                  <a:srgbClr val="000000"/>
                </a:solidFill>
              </a:rPr>
              <a:t>F</a:t>
            </a:r>
            <a:r>
              <a:rPr lang="en-US" sz="2800">
                <a:solidFill>
                  <a:srgbClr val="000000"/>
                </a:solidFill>
              </a:rPr>
              <a:t>(</a:t>
            </a:r>
            <a:r>
              <a:rPr lang="en-US" sz="2800" i="1">
                <a:solidFill>
                  <a:srgbClr val="000000"/>
                </a:solidFill>
              </a:rPr>
              <a:t>t</a:t>
            </a:r>
            <a:r>
              <a:rPr lang="en-US" sz="2800">
                <a:solidFill>
                  <a:srgbClr val="000000"/>
                </a:solidFill>
              </a:rPr>
              <a:t>).</a:t>
            </a:r>
          </a:p>
          <a:p>
            <a:pPr marL="914400" lvl="1" indent="-457200">
              <a:buFont typeface="+mj-lt"/>
              <a:buAutoNum type="alphaLcPeriod"/>
            </a:pPr>
            <a:r>
              <a:rPr lang="en-US" sz="2800">
                <a:solidFill>
                  <a:srgbClr val="000000"/>
                </a:solidFill>
              </a:rPr>
              <a:t>How do the graphs show that the selling price per</a:t>
            </a:r>
            <a:br>
              <a:rPr lang="en-US" sz="2800">
                <a:solidFill>
                  <a:srgbClr val="000000"/>
                </a:solidFill>
              </a:rPr>
            </a:br>
            <a:r>
              <a:rPr lang="en-US" sz="2800">
                <a:solidFill>
                  <a:srgbClr val="000000"/>
                </a:solidFill>
              </a:rPr>
              <a:t>T-shirt remains the same?</a:t>
            </a:r>
            <a:br>
              <a:rPr lang="en-US" sz="2800">
                <a:solidFill>
                  <a:srgbClr val="000000"/>
                </a:solidFill>
              </a:rPr>
            </a:br>
            <a:br>
              <a:rPr lang="en-US" sz="2800">
                <a:solidFill>
                  <a:srgbClr val="000000"/>
                </a:solidFill>
              </a:rPr>
            </a:br>
            <a:br>
              <a:rPr lang="en-US" sz="2800">
                <a:solidFill>
                  <a:srgbClr val="000000"/>
                </a:solidFill>
              </a:rPr>
            </a:br>
            <a:endParaRPr lang="en-US" sz="2800">
              <a:solidFill>
                <a:srgbClr val="000000"/>
              </a:solidFill>
            </a:endParaRPr>
          </a:p>
          <a:p>
            <a:pPr marL="914400" lvl="1" indent="-457200">
              <a:buFont typeface="+mj-lt"/>
              <a:buAutoNum type="alphaLcPeriod"/>
            </a:pPr>
            <a:r>
              <a:rPr lang="en-US" sz="2800">
                <a:solidFill>
                  <a:srgbClr val="000000"/>
                </a:solidFill>
              </a:rPr>
              <a:t>How did the new booth fee of $35 change the graph?</a:t>
            </a:r>
          </a:p>
        </p:txBody>
      </p:sp>
    </p:spTree>
    <p:extLst>
      <p:ext uri="{BB962C8B-B14F-4D97-AF65-F5344CB8AC3E}">
        <p14:creationId xmlns:p14="http://schemas.microsoft.com/office/powerpoint/2010/main" val="31471772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9DC65-91CA-0873-D33C-B6B8CFB35F0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5C3A566-7DC4-3453-97FA-3BB8AE8DE01F}"/>
              </a:ext>
            </a:extLst>
          </p:cNvPr>
          <p:cNvSpPr>
            <a:spLocks noGrp="1"/>
          </p:cNvSpPr>
          <p:nvPr>
            <p:ph type="title"/>
          </p:nvPr>
        </p:nvSpPr>
        <p:spPr>
          <a:xfrm>
            <a:off x="498763" y="0"/>
            <a:ext cx="11691649" cy="1263192"/>
          </a:xfrm>
        </p:spPr>
        <p:txBody>
          <a:bodyPr/>
          <a:lstStyle/>
          <a:p>
            <a:pPr algn="l"/>
            <a:r>
              <a:rPr lang="en-US" sz="3200" b="1"/>
              <a:t>Interpreting More Changes to the Graph of a Linear Function </a:t>
            </a:r>
            <a:r>
              <a:rPr lang="en-US" sz="2000" b="1">
                <a:solidFill>
                  <a:schemeClr val="bg1"/>
                </a:solidFill>
              </a:rPr>
              <a:t>(3 of 7)</a:t>
            </a:r>
          </a:p>
        </p:txBody>
      </p:sp>
      <p:sp>
        <p:nvSpPr>
          <p:cNvPr id="5" name="TextBox 4">
            <a:extLst>
              <a:ext uri="{FF2B5EF4-FFF2-40B4-BE49-F238E27FC236}">
                <a16:creationId xmlns:a16="http://schemas.microsoft.com/office/drawing/2014/main" id="{CCE96922-C3CD-5867-CFEF-F839A66342AC}"/>
              </a:ext>
            </a:extLst>
          </p:cNvPr>
          <p:cNvSpPr txBox="1"/>
          <p:nvPr/>
        </p:nvSpPr>
        <p:spPr>
          <a:xfrm>
            <a:off x="739832" y="1596311"/>
            <a:ext cx="9948651" cy="3108543"/>
          </a:xfrm>
          <a:prstGeom prst="rect">
            <a:avLst/>
          </a:prstGeom>
          <a:noFill/>
        </p:spPr>
        <p:txBody>
          <a:bodyPr wrap="square" rtlCol="0">
            <a:spAutoFit/>
          </a:bodyPr>
          <a:lstStyle/>
          <a:p>
            <a:pPr marL="514350" indent="-514350" algn="l">
              <a:buFont typeface="+mj-lt"/>
              <a:buAutoNum type="alphaLcPeriod" startAt="3"/>
            </a:pPr>
            <a:r>
              <a:rPr lang="en-US" sz="2800">
                <a:solidFill>
                  <a:srgbClr val="000000"/>
                </a:solidFill>
              </a:rPr>
              <a:t>How many T-shirts will Gracie need to sell before she will have any money to return to her mom? Explain your reasoning.</a:t>
            </a:r>
            <a:br>
              <a:rPr lang="en-US" sz="2800">
                <a:solidFill>
                  <a:srgbClr val="000000"/>
                </a:solidFill>
              </a:rPr>
            </a:br>
            <a:br>
              <a:rPr lang="en-US" sz="2800">
                <a:solidFill>
                  <a:srgbClr val="000000"/>
                </a:solidFill>
              </a:rPr>
            </a:br>
            <a:br>
              <a:rPr lang="en-US" sz="2800">
                <a:solidFill>
                  <a:srgbClr val="000000"/>
                </a:solidFill>
              </a:rPr>
            </a:br>
            <a:br>
              <a:rPr lang="en-US" sz="2800">
                <a:solidFill>
                  <a:srgbClr val="000000"/>
                </a:solidFill>
              </a:rPr>
            </a:br>
            <a:endParaRPr lang="en-US" sz="2800">
              <a:solidFill>
                <a:srgbClr val="000000"/>
              </a:solidFill>
            </a:endParaRPr>
          </a:p>
          <a:p>
            <a:pPr marL="514350" indent="-514350" algn="l">
              <a:buFont typeface="+mj-lt"/>
              <a:buAutoNum type="alphaLcPeriod" startAt="3"/>
            </a:pPr>
            <a:r>
              <a:rPr lang="en-US" sz="2800">
                <a:solidFill>
                  <a:srgbClr val="000000"/>
                </a:solidFill>
              </a:rPr>
              <a:t>How many T-shirts will Gracie need to sell to earn $100?</a:t>
            </a:r>
          </a:p>
        </p:txBody>
      </p:sp>
    </p:spTree>
    <p:extLst>
      <p:ext uri="{BB962C8B-B14F-4D97-AF65-F5344CB8AC3E}">
        <p14:creationId xmlns:p14="http://schemas.microsoft.com/office/powerpoint/2010/main" val="26273002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5F22F-AF7A-970E-58C6-44ABDA6E712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45E85BC-DB7F-CD4E-E8F6-DD64F42FC5CC}"/>
              </a:ext>
            </a:extLst>
          </p:cNvPr>
          <p:cNvSpPr>
            <a:spLocks noGrp="1"/>
          </p:cNvSpPr>
          <p:nvPr>
            <p:ph type="title"/>
          </p:nvPr>
        </p:nvSpPr>
        <p:spPr>
          <a:xfrm>
            <a:off x="498764" y="0"/>
            <a:ext cx="11691648" cy="1263192"/>
          </a:xfrm>
        </p:spPr>
        <p:txBody>
          <a:bodyPr/>
          <a:lstStyle/>
          <a:p>
            <a:pPr algn="l"/>
            <a:r>
              <a:rPr lang="en-US" sz="3200" b="1"/>
              <a:t>Interpreting More Changes to the Graph of a Linear Function </a:t>
            </a:r>
            <a:r>
              <a:rPr lang="en-US" sz="2000" b="1">
                <a:solidFill>
                  <a:schemeClr val="bg1"/>
                </a:solidFill>
              </a:rPr>
              <a:t>(4 of 7)</a:t>
            </a:r>
          </a:p>
        </p:txBody>
      </p:sp>
      <p:sp>
        <p:nvSpPr>
          <p:cNvPr id="5" name="TextBox 4">
            <a:extLst>
              <a:ext uri="{FF2B5EF4-FFF2-40B4-BE49-F238E27FC236}">
                <a16:creationId xmlns:a16="http://schemas.microsoft.com/office/drawing/2014/main" id="{90D0E5BC-99A9-01F5-E1A1-CEA0D3449F6D}"/>
              </a:ext>
            </a:extLst>
          </p:cNvPr>
          <p:cNvSpPr txBox="1"/>
          <p:nvPr/>
        </p:nvSpPr>
        <p:spPr>
          <a:xfrm>
            <a:off x="714895" y="1596593"/>
            <a:ext cx="8462356" cy="3262432"/>
          </a:xfrm>
          <a:prstGeom prst="rect">
            <a:avLst/>
          </a:prstGeom>
          <a:noFill/>
        </p:spPr>
        <p:txBody>
          <a:bodyPr wrap="square" rtlCol="0">
            <a:spAutoFit/>
          </a:bodyPr>
          <a:lstStyle/>
          <a:p>
            <a:pPr marL="514350" indent="-514350" algn="l">
              <a:spcAft>
                <a:spcPts val="1200"/>
              </a:spcAft>
              <a:buFont typeface="+mj-lt"/>
              <a:buAutoNum type="arabicPeriod" startAt="2"/>
            </a:pPr>
            <a:r>
              <a:rPr lang="en-US" sz="2800">
                <a:solidFill>
                  <a:srgbClr val="000000"/>
                </a:solidFill>
              </a:rPr>
              <a:t>Consider the relationship between the equations of </a:t>
            </a:r>
            <a:r>
              <a:rPr lang="en-US" sz="2800" i="1">
                <a:solidFill>
                  <a:srgbClr val="000000"/>
                </a:solidFill>
              </a:rPr>
              <a:t>G</a:t>
            </a:r>
            <a:r>
              <a:rPr lang="en-US" sz="2800">
                <a:solidFill>
                  <a:srgbClr val="000000"/>
                </a:solidFill>
              </a:rPr>
              <a:t>(</a:t>
            </a:r>
            <a:r>
              <a:rPr lang="en-US" sz="2800" i="1">
                <a:solidFill>
                  <a:srgbClr val="000000"/>
                </a:solidFill>
              </a:rPr>
              <a:t>t</a:t>
            </a:r>
            <a:r>
              <a:rPr lang="en-US" sz="2800">
                <a:solidFill>
                  <a:srgbClr val="000000"/>
                </a:solidFill>
              </a:rPr>
              <a:t>) and </a:t>
            </a:r>
            <a:r>
              <a:rPr lang="en-US" sz="2800" i="1">
                <a:solidFill>
                  <a:srgbClr val="000000"/>
                </a:solidFill>
              </a:rPr>
              <a:t>F</a:t>
            </a:r>
            <a:r>
              <a:rPr lang="en-US" sz="2800">
                <a:solidFill>
                  <a:srgbClr val="000000"/>
                </a:solidFill>
              </a:rPr>
              <a:t>(</a:t>
            </a:r>
            <a:r>
              <a:rPr lang="en-US" sz="2800" i="1">
                <a:solidFill>
                  <a:srgbClr val="000000"/>
                </a:solidFill>
              </a:rPr>
              <a:t>t</a:t>
            </a:r>
            <a:r>
              <a:rPr lang="en-US" sz="2800">
                <a:solidFill>
                  <a:srgbClr val="000000"/>
                </a:solidFill>
              </a:rPr>
              <a:t>).</a:t>
            </a:r>
          </a:p>
          <a:p>
            <a:pPr marL="1030288" lvl="1" indent="-515938">
              <a:buFont typeface="+mj-lt"/>
              <a:buAutoNum type="alphaLcPeriod"/>
            </a:pPr>
            <a:r>
              <a:rPr lang="en-US" sz="2800">
                <a:solidFill>
                  <a:srgbClr val="000000"/>
                </a:solidFill>
              </a:rPr>
              <a:t>Write the function </a:t>
            </a:r>
            <a:r>
              <a:rPr lang="en-US" sz="2800" i="1">
                <a:solidFill>
                  <a:srgbClr val="000000"/>
                </a:solidFill>
              </a:rPr>
              <a:t>F</a:t>
            </a:r>
            <a:r>
              <a:rPr lang="en-US" sz="2800">
                <a:solidFill>
                  <a:srgbClr val="000000"/>
                </a:solidFill>
              </a:rPr>
              <a:t>(</a:t>
            </a:r>
            <a:r>
              <a:rPr lang="en-US" sz="2800" i="1">
                <a:solidFill>
                  <a:srgbClr val="000000"/>
                </a:solidFill>
              </a:rPr>
              <a:t>t</a:t>
            </a:r>
            <a:r>
              <a:rPr lang="en-US" sz="2800">
                <a:solidFill>
                  <a:srgbClr val="000000"/>
                </a:solidFill>
              </a:rPr>
              <a:t>) in terms of </a:t>
            </a:r>
            <a:r>
              <a:rPr lang="en-US" sz="2800" i="1">
                <a:solidFill>
                  <a:srgbClr val="000000"/>
                </a:solidFill>
              </a:rPr>
              <a:t>G</a:t>
            </a:r>
            <a:r>
              <a:rPr lang="en-US" sz="2800">
                <a:solidFill>
                  <a:srgbClr val="000000"/>
                </a:solidFill>
              </a:rPr>
              <a:t>(</a:t>
            </a:r>
            <a:r>
              <a:rPr lang="en-US" sz="2800" i="1">
                <a:solidFill>
                  <a:srgbClr val="000000"/>
                </a:solidFill>
              </a:rPr>
              <a:t>t</a:t>
            </a:r>
            <a:r>
              <a:rPr lang="en-US" sz="2800">
                <a:solidFill>
                  <a:srgbClr val="000000"/>
                </a:solidFill>
              </a:rPr>
              <a:t>).</a:t>
            </a:r>
            <a:br>
              <a:rPr lang="en-US" sz="2800">
                <a:solidFill>
                  <a:srgbClr val="000000"/>
                </a:solidFill>
              </a:rPr>
            </a:br>
            <a:br>
              <a:rPr lang="en-US" sz="2800">
                <a:solidFill>
                  <a:srgbClr val="000000"/>
                </a:solidFill>
              </a:rPr>
            </a:br>
            <a:endParaRPr lang="en-US" sz="2800">
              <a:solidFill>
                <a:srgbClr val="000000"/>
              </a:solidFill>
            </a:endParaRPr>
          </a:p>
          <a:p>
            <a:pPr marL="1030288" lvl="1" indent="-515938">
              <a:buFont typeface="+mj-lt"/>
              <a:buAutoNum type="alphaLcPeriod"/>
            </a:pPr>
            <a:r>
              <a:rPr lang="en-US" sz="2800">
                <a:solidFill>
                  <a:srgbClr val="000000"/>
                </a:solidFill>
              </a:rPr>
              <a:t>Rewrite </a:t>
            </a:r>
            <a:r>
              <a:rPr lang="en-US" sz="2800" i="1">
                <a:solidFill>
                  <a:srgbClr val="000000"/>
                </a:solidFill>
              </a:rPr>
              <a:t>F</a:t>
            </a:r>
            <a:r>
              <a:rPr lang="en-US" sz="2800">
                <a:solidFill>
                  <a:srgbClr val="000000"/>
                </a:solidFill>
              </a:rPr>
              <a:t>(</a:t>
            </a:r>
            <a:r>
              <a:rPr lang="en-US" sz="2800" i="1">
                <a:solidFill>
                  <a:srgbClr val="000000"/>
                </a:solidFill>
              </a:rPr>
              <a:t>t</a:t>
            </a:r>
            <a:r>
              <a:rPr lang="en-US" sz="2800">
                <a:solidFill>
                  <a:srgbClr val="000000"/>
                </a:solidFill>
              </a:rPr>
              <a:t>) in general form. Then describe how the </a:t>
            </a:r>
            <a:r>
              <a:rPr lang="en-US" sz="2800" i="1">
                <a:solidFill>
                  <a:srgbClr val="000000"/>
                </a:solidFill>
              </a:rPr>
              <a:t>a</a:t>
            </a:r>
            <a:r>
              <a:rPr lang="en-US" sz="2800">
                <a:solidFill>
                  <a:srgbClr val="000000"/>
                </a:solidFill>
              </a:rPr>
              <a:t>- and </a:t>
            </a:r>
            <a:r>
              <a:rPr lang="en-US" sz="2800" i="1">
                <a:solidFill>
                  <a:srgbClr val="000000"/>
                </a:solidFill>
              </a:rPr>
              <a:t>b</a:t>
            </a:r>
            <a:r>
              <a:rPr lang="en-US" sz="2800">
                <a:solidFill>
                  <a:srgbClr val="000000"/>
                </a:solidFill>
              </a:rPr>
              <a:t>-values are represented on the graph.</a:t>
            </a:r>
          </a:p>
        </p:txBody>
      </p:sp>
      <p:sp>
        <p:nvSpPr>
          <p:cNvPr id="2" name="TextBox 1">
            <a:extLst>
              <a:ext uri="{FF2B5EF4-FFF2-40B4-BE49-F238E27FC236}">
                <a16:creationId xmlns:a16="http://schemas.microsoft.com/office/drawing/2014/main" id="{972289E6-901C-0A3A-EED1-E999E89B7608}"/>
              </a:ext>
            </a:extLst>
          </p:cNvPr>
          <p:cNvSpPr txBox="1"/>
          <p:nvPr/>
        </p:nvSpPr>
        <p:spPr>
          <a:xfrm>
            <a:off x="9324697" y="4026241"/>
            <a:ext cx="2335938" cy="1015663"/>
          </a:xfrm>
          <a:prstGeom prst="rect">
            <a:avLst/>
          </a:prstGeom>
          <a:noFill/>
          <a:ln w="38100" cap="sq">
            <a:solidFill>
              <a:srgbClr val="2B8147"/>
            </a:solidFill>
            <a:prstDash val="sysDot"/>
          </a:ln>
        </p:spPr>
        <p:txBody>
          <a:bodyPr wrap="square" rtlCol="0">
            <a:spAutoFit/>
          </a:bodyPr>
          <a:lstStyle/>
          <a:p>
            <a:pPr algn="l"/>
            <a:r>
              <a:rPr lang="en-US" sz="2000">
                <a:solidFill>
                  <a:srgbClr val="000000"/>
                </a:solidFill>
              </a:rPr>
              <a:t>The general form of a linear function is</a:t>
            </a:r>
            <a:br>
              <a:rPr lang="en-US" sz="2000">
                <a:solidFill>
                  <a:srgbClr val="000000"/>
                </a:solidFill>
              </a:rPr>
            </a:br>
            <a:r>
              <a:rPr lang="en-US" sz="2000" i="1">
                <a:solidFill>
                  <a:srgbClr val="000000"/>
                </a:solidFill>
              </a:rPr>
              <a:t>f</a:t>
            </a:r>
            <a:r>
              <a:rPr lang="en-US" sz="2000">
                <a:solidFill>
                  <a:srgbClr val="000000"/>
                </a:solidFill>
              </a:rPr>
              <a:t>(</a:t>
            </a:r>
            <a:r>
              <a:rPr lang="en-US" sz="2000" i="1">
                <a:solidFill>
                  <a:srgbClr val="000000"/>
                </a:solidFill>
              </a:rPr>
              <a:t>x</a:t>
            </a:r>
            <a:r>
              <a:rPr lang="en-US" sz="2000">
                <a:solidFill>
                  <a:srgbClr val="000000"/>
                </a:solidFill>
              </a:rPr>
              <a:t>) = </a:t>
            </a:r>
            <a:r>
              <a:rPr lang="en-US" sz="2000" i="1">
                <a:solidFill>
                  <a:srgbClr val="000000"/>
                </a:solidFill>
              </a:rPr>
              <a:t>ax</a:t>
            </a:r>
            <a:r>
              <a:rPr lang="en-US" sz="2000">
                <a:solidFill>
                  <a:srgbClr val="000000"/>
                </a:solidFill>
              </a:rPr>
              <a:t> + </a:t>
            </a:r>
            <a:r>
              <a:rPr lang="en-US" sz="2000" i="1">
                <a:solidFill>
                  <a:srgbClr val="000000"/>
                </a:solidFill>
              </a:rPr>
              <a:t>b</a:t>
            </a:r>
            <a:r>
              <a:rPr lang="en-US" sz="2000">
                <a:solidFill>
                  <a:srgbClr val="000000"/>
                </a:solidFill>
              </a:rPr>
              <a:t>.</a:t>
            </a:r>
            <a:endParaRPr lang="en-US" sz="2800">
              <a:solidFill>
                <a:srgbClr val="000000"/>
              </a:solidFill>
            </a:endParaRPr>
          </a:p>
        </p:txBody>
      </p:sp>
    </p:spTree>
    <p:extLst>
      <p:ext uri="{BB962C8B-B14F-4D97-AF65-F5344CB8AC3E}">
        <p14:creationId xmlns:p14="http://schemas.microsoft.com/office/powerpoint/2010/main" val="13194591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ACC5E-5DCF-20AD-A310-2CDB57794D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E752CFA-2D90-5B0C-F9BC-ABA431C0D2DC}"/>
              </a:ext>
            </a:extLst>
          </p:cNvPr>
          <p:cNvSpPr>
            <a:spLocks noGrp="1"/>
          </p:cNvSpPr>
          <p:nvPr>
            <p:ph type="title"/>
          </p:nvPr>
        </p:nvSpPr>
        <p:spPr>
          <a:xfrm>
            <a:off x="511023" y="0"/>
            <a:ext cx="11679390" cy="1263192"/>
          </a:xfrm>
        </p:spPr>
        <p:txBody>
          <a:bodyPr/>
          <a:lstStyle/>
          <a:p>
            <a:pPr algn="l"/>
            <a:r>
              <a:rPr lang="en-US" sz="3200" b="1"/>
              <a:t>Interpreting More Changes to the Graph of a Linear Function </a:t>
            </a:r>
            <a:r>
              <a:rPr lang="en-US" sz="2000" b="1">
                <a:solidFill>
                  <a:schemeClr val="bg1"/>
                </a:solidFill>
              </a:rPr>
              <a:t>(5 of 7)</a:t>
            </a:r>
          </a:p>
        </p:txBody>
      </p:sp>
      <p:sp>
        <p:nvSpPr>
          <p:cNvPr id="5" name="TextBox 4">
            <a:extLst>
              <a:ext uri="{FF2B5EF4-FFF2-40B4-BE49-F238E27FC236}">
                <a16:creationId xmlns:a16="http://schemas.microsoft.com/office/drawing/2014/main" id="{1E0242FA-9E9A-A62B-063C-099A6D533275}"/>
              </a:ext>
            </a:extLst>
          </p:cNvPr>
          <p:cNvSpPr txBox="1"/>
          <p:nvPr/>
        </p:nvSpPr>
        <p:spPr>
          <a:xfrm>
            <a:off x="731519" y="1571163"/>
            <a:ext cx="7481455" cy="1384995"/>
          </a:xfrm>
          <a:prstGeom prst="rect">
            <a:avLst/>
          </a:prstGeom>
          <a:noFill/>
        </p:spPr>
        <p:txBody>
          <a:bodyPr wrap="square" rtlCol="0">
            <a:spAutoFit/>
          </a:bodyPr>
          <a:lstStyle/>
          <a:p>
            <a:pPr marL="515938" lvl="1" indent="-515938">
              <a:buFont typeface="+mj-lt"/>
              <a:buAutoNum type="alphaLcPeriod" startAt="3"/>
            </a:pPr>
            <a:r>
              <a:rPr lang="en-US" sz="2800">
                <a:solidFill>
                  <a:srgbClr val="000000"/>
                </a:solidFill>
              </a:rPr>
              <a:t>Rewrite </a:t>
            </a:r>
            <a:r>
              <a:rPr lang="en-US" sz="2800" i="1">
                <a:solidFill>
                  <a:srgbClr val="000000"/>
                </a:solidFill>
              </a:rPr>
              <a:t>F</a:t>
            </a:r>
            <a:r>
              <a:rPr lang="en-US" sz="2800">
                <a:solidFill>
                  <a:srgbClr val="000000"/>
                </a:solidFill>
              </a:rPr>
              <a:t>(</a:t>
            </a:r>
            <a:r>
              <a:rPr lang="en-US" sz="2800" i="1">
                <a:solidFill>
                  <a:srgbClr val="000000"/>
                </a:solidFill>
              </a:rPr>
              <a:t>t</a:t>
            </a:r>
            <a:r>
              <a:rPr lang="en-US" sz="2800">
                <a:solidFill>
                  <a:srgbClr val="000000"/>
                </a:solidFill>
              </a:rPr>
              <a:t>) in factored form. Use a fraction to represent the </a:t>
            </a:r>
            <a:r>
              <a:rPr lang="en-US" sz="2800" i="1">
                <a:solidFill>
                  <a:srgbClr val="000000"/>
                </a:solidFill>
              </a:rPr>
              <a:t>c</a:t>
            </a:r>
            <a:r>
              <a:rPr lang="en-US" sz="2800">
                <a:solidFill>
                  <a:srgbClr val="000000"/>
                </a:solidFill>
              </a:rPr>
              <a:t>-value. Then describe how the </a:t>
            </a:r>
            <a:r>
              <a:rPr lang="en-US" sz="2800" i="1">
                <a:solidFill>
                  <a:srgbClr val="000000"/>
                </a:solidFill>
              </a:rPr>
              <a:t>a</a:t>
            </a:r>
            <a:r>
              <a:rPr lang="en-US" sz="2800">
                <a:solidFill>
                  <a:srgbClr val="000000"/>
                </a:solidFill>
              </a:rPr>
              <a:t>- and </a:t>
            </a:r>
            <a:r>
              <a:rPr lang="en-US" sz="2800" i="1">
                <a:solidFill>
                  <a:srgbClr val="000000"/>
                </a:solidFill>
              </a:rPr>
              <a:t>c</a:t>
            </a:r>
            <a:r>
              <a:rPr lang="en-US" sz="2800">
                <a:solidFill>
                  <a:srgbClr val="000000"/>
                </a:solidFill>
              </a:rPr>
              <a:t>-values are represented on the graph.</a:t>
            </a:r>
          </a:p>
        </p:txBody>
      </p:sp>
      <p:sp>
        <p:nvSpPr>
          <p:cNvPr id="2" name="TextBox 1">
            <a:extLst>
              <a:ext uri="{FF2B5EF4-FFF2-40B4-BE49-F238E27FC236}">
                <a16:creationId xmlns:a16="http://schemas.microsoft.com/office/drawing/2014/main" id="{E804AAE5-6234-14C6-E579-F130B8B5C9DE}"/>
              </a:ext>
            </a:extLst>
          </p:cNvPr>
          <p:cNvSpPr txBox="1"/>
          <p:nvPr/>
        </p:nvSpPr>
        <p:spPr>
          <a:xfrm>
            <a:off x="9122955" y="1755458"/>
            <a:ext cx="2335938" cy="1015663"/>
          </a:xfrm>
          <a:prstGeom prst="rect">
            <a:avLst/>
          </a:prstGeom>
          <a:noFill/>
          <a:ln w="38100" cap="sq">
            <a:solidFill>
              <a:srgbClr val="2B8147"/>
            </a:solidFill>
            <a:prstDash val="sysDot"/>
          </a:ln>
        </p:spPr>
        <p:txBody>
          <a:bodyPr wrap="square" rtlCol="0">
            <a:spAutoFit/>
          </a:bodyPr>
          <a:lstStyle/>
          <a:p>
            <a:pPr algn="l"/>
            <a:r>
              <a:rPr lang="en-US" sz="2000">
                <a:solidFill>
                  <a:srgbClr val="000000"/>
                </a:solidFill>
              </a:rPr>
              <a:t>The factored form of a linear function is </a:t>
            </a:r>
          </a:p>
          <a:p>
            <a:pPr algn="l"/>
            <a:r>
              <a:rPr lang="en-US" sz="2000" i="1">
                <a:solidFill>
                  <a:srgbClr val="000000"/>
                </a:solidFill>
              </a:rPr>
              <a:t>f</a:t>
            </a:r>
            <a:r>
              <a:rPr lang="en-US" sz="2000">
                <a:solidFill>
                  <a:srgbClr val="000000"/>
                </a:solidFill>
              </a:rPr>
              <a:t>(</a:t>
            </a:r>
            <a:r>
              <a:rPr lang="en-US" sz="2000" i="1">
                <a:solidFill>
                  <a:srgbClr val="000000"/>
                </a:solidFill>
              </a:rPr>
              <a:t>x</a:t>
            </a:r>
            <a:r>
              <a:rPr lang="en-US" sz="2000">
                <a:solidFill>
                  <a:srgbClr val="000000"/>
                </a:solidFill>
              </a:rPr>
              <a:t>) = </a:t>
            </a:r>
            <a:r>
              <a:rPr lang="en-US" sz="2000" i="1">
                <a:solidFill>
                  <a:srgbClr val="000000"/>
                </a:solidFill>
              </a:rPr>
              <a:t>a</a:t>
            </a:r>
            <a:r>
              <a:rPr lang="en-US" sz="2000">
                <a:solidFill>
                  <a:srgbClr val="000000"/>
                </a:solidFill>
              </a:rPr>
              <a:t>(</a:t>
            </a:r>
            <a:r>
              <a:rPr lang="en-US" sz="2000" i="1">
                <a:solidFill>
                  <a:srgbClr val="000000"/>
                </a:solidFill>
              </a:rPr>
              <a:t>x</a:t>
            </a:r>
            <a:r>
              <a:rPr lang="en-US" sz="2000">
                <a:solidFill>
                  <a:srgbClr val="000000"/>
                </a:solidFill>
              </a:rPr>
              <a:t> − </a:t>
            </a:r>
            <a:r>
              <a:rPr lang="en-US" sz="2000" i="1">
                <a:solidFill>
                  <a:srgbClr val="000000"/>
                </a:solidFill>
              </a:rPr>
              <a:t>c</a:t>
            </a:r>
            <a:r>
              <a:rPr lang="en-US" sz="2000">
                <a:solidFill>
                  <a:srgbClr val="000000"/>
                </a:solidFill>
              </a:rPr>
              <a:t>).</a:t>
            </a:r>
          </a:p>
        </p:txBody>
      </p:sp>
      <p:sp>
        <p:nvSpPr>
          <p:cNvPr id="6" name="TextBox 5">
            <a:extLst>
              <a:ext uri="{FF2B5EF4-FFF2-40B4-BE49-F238E27FC236}">
                <a16:creationId xmlns:a16="http://schemas.microsoft.com/office/drawing/2014/main" id="{3A9025AF-A7BD-FFB1-0C20-10AB8AE4AD59}"/>
              </a:ext>
            </a:extLst>
          </p:cNvPr>
          <p:cNvSpPr txBox="1"/>
          <p:nvPr/>
        </p:nvSpPr>
        <p:spPr>
          <a:xfrm>
            <a:off x="9122955" y="3263387"/>
            <a:ext cx="2335938" cy="1015663"/>
          </a:xfrm>
          <a:prstGeom prst="rect">
            <a:avLst/>
          </a:prstGeom>
          <a:noFill/>
          <a:ln w="38100" cap="sq">
            <a:solidFill>
              <a:srgbClr val="2B8147"/>
            </a:solidFill>
            <a:prstDash val="sysDot"/>
          </a:ln>
        </p:spPr>
        <p:txBody>
          <a:bodyPr wrap="square" rtlCol="0">
            <a:spAutoFit/>
          </a:bodyPr>
          <a:lstStyle/>
          <a:p>
            <a:pPr algn="l"/>
            <a:r>
              <a:rPr lang="en-US" sz="2000">
                <a:solidFill>
                  <a:srgbClr val="000000"/>
                </a:solidFill>
              </a:rPr>
              <a:t>The values </a:t>
            </a:r>
            <a:r>
              <a:rPr lang="en-US" sz="2000" i="1">
                <a:solidFill>
                  <a:srgbClr val="000000"/>
                </a:solidFill>
              </a:rPr>
              <a:t>a</a:t>
            </a:r>
            <a:r>
              <a:rPr lang="en-US" sz="2000">
                <a:solidFill>
                  <a:srgbClr val="000000"/>
                </a:solidFill>
              </a:rPr>
              <a:t>, </a:t>
            </a:r>
            <a:r>
              <a:rPr lang="en-US" sz="2000" i="1">
                <a:solidFill>
                  <a:srgbClr val="000000"/>
                </a:solidFill>
              </a:rPr>
              <a:t>b</a:t>
            </a:r>
            <a:r>
              <a:rPr lang="en-US" sz="2000">
                <a:solidFill>
                  <a:srgbClr val="000000"/>
                </a:solidFill>
              </a:rPr>
              <a:t>, and </a:t>
            </a:r>
            <a:r>
              <a:rPr lang="en-US" sz="2000" i="1">
                <a:solidFill>
                  <a:srgbClr val="000000"/>
                </a:solidFill>
              </a:rPr>
              <a:t>c</a:t>
            </a:r>
            <a:r>
              <a:rPr lang="en-US" sz="2000">
                <a:solidFill>
                  <a:srgbClr val="000000"/>
                </a:solidFill>
              </a:rPr>
              <a:t> are real numbers and </a:t>
            </a:r>
            <a:r>
              <a:rPr lang="en-US" sz="2000" i="1">
                <a:solidFill>
                  <a:srgbClr val="000000"/>
                </a:solidFill>
              </a:rPr>
              <a:t>a</a:t>
            </a:r>
            <a:r>
              <a:rPr lang="en-US" sz="2000">
                <a:solidFill>
                  <a:srgbClr val="000000"/>
                </a:solidFill>
              </a:rPr>
              <a:t> ≠ 0.</a:t>
            </a:r>
          </a:p>
        </p:txBody>
      </p:sp>
    </p:spTree>
    <p:extLst>
      <p:ext uri="{BB962C8B-B14F-4D97-AF65-F5344CB8AC3E}">
        <p14:creationId xmlns:p14="http://schemas.microsoft.com/office/powerpoint/2010/main" val="2428379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29A39-1E10-36C6-08FF-A927150879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9CF4D8D-33CA-B1BA-6F31-F6A9BEB9D9B2}"/>
              </a:ext>
            </a:extLst>
          </p:cNvPr>
          <p:cNvSpPr>
            <a:spLocks noGrp="1"/>
          </p:cNvSpPr>
          <p:nvPr>
            <p:ph type="title"/>
          </p:nvPr>
        </p:nvSpPr>
        <p:spPr>
          <a:xfrm>
            <a:off x="490451" y="0"/>
            <a:ext cx="11699961" cy="1263192"/>
          </a:xfrm>
        </p:spPr>
        <p:txBody>
          <a:bodyPr/>
          <a:lstStyle/>
          <a:p>
            <a:pPr algn="l"/>
            <a:r>
              <a:rPr lang="en-US" sz="3200" b="1"/>
              <a:t>Interpreting More Changes to the Graph of a Linear Function </a:t>
            </a:r>
            <a:r>
              <a:rPr lang="en-US" sz="1800" b="1">
                <a:solidFill>
                  <a:schemeClr val="bg1"/>
                </a:solidFill>
              </a:rPr>
              <a:t>(6 of 7)</a:t>
            </a:r>
          </a:p>
        </p:txBody>
      </p:sp>
      <p:sp>
        <p:nvSpPr>
          <p:cNvPr id="9" name="Text Placeholder 2">
            <a:extLst>
              <a:ext uri="{FF2B5EF4-FFF2-40B4-BE49-F238E27FC236}">
                <a16:creationId xmlns:a16="http://schemas.microsoft.com/office/drawing/2014/main" id="{1F7121B0-34A1-1BAC-0488-FE8790D3CD2C}"/>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600" b="0" i="0" u="none" strike="noStrike" baseline="0">
                <a:solidFill>
                  <a:srgbClr val="000000"/>
                </a:solidFill>
              </a:rPr>
              <a:t>Let’s summarize our learning from Activity 6.4!</a:t>
            </a:r>
          </a:p>
          <a:p>
            <a:pPr marL="0" indent="0" algn="l">
              <a:buNone/>
            </a:pPr>
            <a:endParaRPr lang="en-US" sz="2600">
              <a:solidFill>
                <a:srgbClr val="000000"/>
              </a:solidFill>
            </a:endParaRPr>
          </a:p>
          <a:p>
            <a:pPr marL="0" indent="0" algn="l">
              <a:buNone/>
            </a:pPr>
            <a:endParaRPr lang="en-US" sz="2600">
              <a:solidFill>
                <a:srgbClr val="000000"/>
              </a:solidFill>
            </a:endParaRPr>
          </a:p>
        </p:txBody>
      </p:sp>
      <p:pic>
        <p:nvPicPr>
          <p:cNvPr id="2" name="Picture 1">
            <a:extLst>
              <a:ext uri="{FF2B5EF4-FFF2-40B4-BE49-F238E27FC236}">
                <a16:creationId xmlns:a16="http://schemas.microsoft.com/office/drawing/2014/main" id="{5995A515-BD8F-BDC8-0C4B-9BA1320C4E04}"/>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0793873" y="372493"/>
            <a:ext cx="1371600" cy="518205"/>
          </a:xfrm>
          <a:prstGeom prst="rect">
            <a:avLst/>
          </a:prstGeom>
        </p:spPr>
      </p:pic>
    </p:spTree>
    <p:extLst>
      <p:ext uri="{BB962C8B-B14F-4D97-AF65-F5344CB8AC3E}">
        <p14:creationId xmlns:p14="http://schemas.microsoft.com/office/powerpoint/2010/main" val="3066075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34972-EDAD-8509-0B5F-D72556B862B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5F72179-C75C-1FB7-A6A3-82E938E6DE44}"/>
              </a:ext>
            </a:extLst>
          </p:cNvPr>
          <p:cNvSpPr>
            <a:spLocks noGrp="1"/>
          </p:cNvSpPr>
          <p:nvPr>
            <p:ph type="title"/>
          </p:nvPr>
        </p:nvSpPr>
        <p:spPr>
          <a:xfrm>
            <a:off x="511023" y="0"/>
            <a:ext cx="11679390" cy="1263192"/>
          </a:xfrm>
        </p:spPr>
        <p:txBody>
          <a:bodyPr/>
          <a:lstStyle/>
          <a:p>
            <a:pPr algn="l"/>
            <a:r>
              <a:rPr lang="en-US" sz="3200" b="1"/>
              <a:t>Interpreting More Changes to the Graph of a Linear Function </a:t>
            </a:r>
            <a:r>
              <a:rPr lang="en-US" sz="2000" b="1">
                <a:solidFill>
                  <a:schemeClr val="bg1"/>
                </a:solidFill>
              </a:rPr>
              <a:t>(7 of 7) </a:t>
            </a:r>
          </a:p>
        </p:txBody>
      </p:sp>
      <p:sp>
        <p:nvSpPr>
          <p:cNvPr id="9" name="Text Placeholder 2">
            <a:extLst>
              <a:ext uri="{FF2B5EF4-FFF2-40B4-BE49-F238E27FC236}">
                <a16:creationId xmlns:a16="http://schemas.microsoft.com/office/drawing/2014/main" id="{58C6AE6D-CF01-3901-4003-B0BFB2A467DD}"/>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a:solidFill>
                <a:schemeClr val="bg2">
                  <a:lumMod val="25000"/>
                </a:schemeClr>
              </a:solidFill>
            </a:endParaRPr>
          </a:p>
        </p:txBody>
      </p:sp>
    </p:spTree>
    <p:extLst>
      <p:ext uri="{BB962C8B-B14F-4D97-AF65-F5344CB8AC3E}">
        <p14:creationId xmlns:p14="http://schemas.microsoft.com/office/powerpoint/2010/main" val="36923105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7B6D8E-F178-63BB-4647-BBEE59CD62FD}"/>
              </a:ext>
            </a:extLst>
          </p:cNvPr>
          <p:cNvSpPr>
            <a:spLocks noGrp="1"/>
          </p:cNvSpPr>
          <p:nvPr>
            <p:ph type="title" idx="4294967295"/>
          </p:nvPr>
        </p:nvSpPr>
        <p:spPr>
          <a:xfrm>
            <a:off x="838200" y="-324196"/>
            <a:ext cx="10514013" cy="324196"/>
          </a:xfrm>
          <a:prstGeom prst="rect">
            <a:avLst/>
          </a:prstGeom>
        </p:spPr>
        <p:txBody>
          <a:bodyPr anchor="b"/>
          <a:lstStyle/>
          <a:p>
            <a:r>
              <a:rPr lang="en-US" sz="2000">
                <a:solidFill>
                  <a:schemeClr val="bg2"/>
                </a:solidFill>
              </a:rPr>
              <a:t>Talk the Talk</a:t>
            </a:r>
          </a:p>
        </p:txBody>
      </p:sp>
      <p:sp>
        <p:nvSpPr>
          <p:cNvPr id="2" name="Text Placeholder 1" descr="20 to 25 minutes">
            <a:extLst>
              <a:ext uri="{FF2B5EF4-FFF2-40B4-BE49-F238E27FC236}">
                <a16:creationId xmlns:a16="http://schemas.microsoft.com/office/drawing/2014/main" id="{FC210BF6-188A-C9CF-0312-B6DC4E6EE108}"/>
              </a:ext>
            </a:extLst>
          </p:cNvPr>
          <p:cNvSpPr>
            <a:spLocks noGrp="1"/>
          </p:cNvSpPr>
          <p:nvPr>
            <p:ph type="body" sz="quarter" idx="12"/>
          </p:nvPr>
        </p:nvSpPr>
        <p:spPr>
          <a:xfrm>
            <a:off x="10614990" y="5781277"/>
            <a:ext cx="863947" cy="795338"/>
          </a:xfrm>
        </p:spPr>
        <p:txBody>
          <a:bodyPr/>
          <a:lstStyle/>
          <a:p>
            <a:r>
              <a:rPr lang="en-US" b="1"/>
              <a:t>20–25</a:t>
            </a:r>
          </a:p>
        </p:txBody>
      </p:sp>
    </p:spTree>
    <p:extLst>
      <p:ext uri="{BB962C8B-B14F-4D97-AF65-F5344CB8AC3E}">
        <p14:creationId xmlns:p14="http://schemas.microsoft.com/office/powerpoint/2010/main" val="33522238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B8DB3-2E03-6F25-3B0D-DD2508DEEF4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F611F6C-1C9E-DC34-95ED-7F74B405A97F}"/>
              </a:ext>
            </a:extLst>
          </p:cNvPr>
          <p:cNvSpPr>
            <a:spLocks noGrp="1"/>
          </p:cNvSpPr>
          <p:nvPr>
            <p:ph type="title"/>
          </p:nvPr>
        </p:nvSpPr>
        <p:spPr/>
        <p:txBody>
          <a:bodyPr/>
          <a:lstStyle/>
          <a:p>
            <a:pPr algn="l"/>
            <a:r>
              <a:rPr lang="en-US" b="1"/>
              <a:t>Reading Between the Lines </a:t>
            </a:r>
            <a:r>
              <a:rPr lang="en-US" sz="2000" b="1">
                <a:solidFill>
                  <a:schemeClr val="bg1"/>
                </a:solidFill>
              </a:rPr>
              <a:t>(1 of 9) </a:t>
            </a:r>
          </a:p>
        </p:txBody>
      </p:sp>
      <p:sp>
        <p:nvSpPr>
          <p:cNvPr id="9" name="Text Placeholder 2">
            <a:extLst>
              <a:ext uri="{FF2B5EF4-FFF2-40B4-BE49-F238E27FC236}">
                <a16:creationId xmlns:a16="http://schemas.microsoft.com/office/drawing/2014/main" id="{7C3A7EA6-1D88-3D7C-37CC-290549692E8C}"/>
              </a:ext>
            </a:extLst>
          </p:cNvPr>
          <p:cNvSpPr txBox="1">
            <a:spLocks/>
          </p:cNvSpPr>
          <p:nvPr/>
        </p:nvSpPr>
        <p:spPr>
          <a:xfrm>
            <a:off x="777240" y="1616149"/>
            <a:ext cx="9887216" cy="452695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a:solidFill>
                  <a:srgbClr val="000000"/>
                </a:solidFill>
              </a:rPr>
              <a:t>Complete each “I can” sentence using </a:t>
            </a:r>
            <a:r>
              <a:rPr lang="en-US" sz="2800" i="1">
                <a:solidFill>
                  <a:srgbClr val="000000"/>
                </a:solidFill>
              </a:rPr>
              <a:t>always</a:t>
            </a:r>
            <a:r>
              <a:rPr lang="en-US" sz="2800">
                <a:solidFill>
                  <a:srgbClr val="000000"/>
                </a:solidFill>
              </a:rPr>
              <a:t>, </a:t>
            </a:r>
            <a:r>
              <a:rPr lang="en-US" sz="2800" i="1">
                <a:solidFill>
                  <a:srgbClr val="000000"/>
                </a:solidFill>
              </a:rPr>
              <a:t>sometimes</a:t>
            </a:r>
            <a:r>
              <a:rPr lang="en-US" sz="2800">
                <a:solidFill>
                  <a:srgbClr val="000000"/>
                </a:solidFill>
              </a:rPr>
              <a:t>, or </a:t>
            </a:r>
            <a:r>
              <a:rPr lang="en-US" sz="2800" i="1">
                <a:solidFill>
                  <a:srgbClr val="000000"/>
                </a:solidFill>
              </a:rPr>
              <a:t>never.</a:t>
            </a:r>
            <a:br>
              <a:rPr lang="en-US" sz="2800" i="1">
                <a:solidFill>
                  <a:srgbClr val="000000"/>
                </a:solidFill>
              </a:rPr>
            </a:br>
            <a:endParaRPr lang="en-US" sz="2800" i="1">
              <a:solidFill>
                <a:srgbClr val="000000"/>
              </a:solidFill>
            </a:endParaRPr>
          </a:p>
          <a:p>
            <a:pPr marL="515938" lvl="1" indent="-514350">
              <a:spcAft>
                <a:spcPts val="600"/>
              </a:spcAft>
              <a:buFont typeface="+mj-lt"/>
              <a:buAutoNum type="arabicPeriod"/>
            </a:pPr>
            <a:r>
              <a:rPr lang="en-US">
                <a:solidFill>
                  <a:srgbClr val="000000"/>
                </a:solidFill>
              </a:rPr>
              <a:t>Suppose you are given a dependent value and need to calculate an independent value of a linear function.</a:t>
            </a:r>
          </a:p>
          <a:p>
            <a:pPr marL="1030288" indent="-515938">
              <a:buFont typeface="+mj-lt"/>
              <a:buAutoNum type="alphaLcPeriod"/>
            </a:pPr>
            <a:r>
              <a:rPr lang="en-US" sz="2800">
                <a:solidFill>
                  <a:srgbClr val="000000"/>
                </a:solidFill>
              </a:rPr>
              <a:t>I can __________ use a table to determine an</a:t>
            </a:r>
            <a:br>
              <a:rPr lang="en-US" sz="2800">
                <a:solidFill>
                  <a:srgbClr val="000000"/>
                </a:solidFill>
              </a:rPr>
            </a:br>
            <a:r>
              <a:rPr lang="en-US" sz="2800" i="1">
                <a:solidFill>
                  <a:srgbClr val="000000"/>
                </a:solidFill>
              </a:rPr>
              <a:t>approximate</a:t>
            </a:r>
            <a:r>
              <a:rPr lang="en-US" sz="2800">
                <a:solidFill>
                  <a:srgbClr val="000000"/>
                </a:solidFill>
              </a:rPr>
              <a:t> value.</a:t>
            </a:r>
            <a:br>
              <a:rPr lang="en-US" sz="2800">
                <a:solidFill>
                  <a:srgbClr val="000000"/>
                </a:solidFill>
              </a:rPr>
            </a:br>
            <a:endParaRPr lang="en-US" sz="2800">
              <a:solidFill>
                <a:srgbClr val="000000"/>
              </a:solidFill>
            </a:endParaRPr>
          </a:p>
          <a:p>
            <a:pPr marL="1030288" indent="-515938">
              <a:buFont typeface="+mj-lt"/>
              <a:buAutoNum type="alphaLcPeriod"/>
            </a:pPr>
            <a:r>
              <a:rPr lang="en-US" sz="2800">
                <a:solidFill>
                  <a:srgbClr val="000000"/>
                </a:solidFill>
              </a:rPr>
              <a:t>I can __________ use a table to calculate an</a:t>
            </a:r>
            <a:br>
              <a:rPr lang="en-US" sz="2800">
                <a:solidFill>
                  <a:srgbClr val="000000"/>
                </a:solidFill>
              </a:rPr>
            </a:br>
            <a:r>
              <a:rPr lang="en-US" sz="2800" i="1">
                <a:solidFill>
                  <a:srgbClr val="000000"/>
                </a:solidFill>
              </a:rPr>
              <a:t>exact</a:t>
            </a:r>
            <a:r>
              <a:rPr lang="en-US" sz="2800">
                <a:solidFill>
                  <a:srgbClr val="000000"/>
                </a:solidFill>
              </a:rPr>
              <a:t> value.</a:t>
            </a:r>
          </a:p>
        </p:txBody>
      </p:sp>
    </p:spTree>
    <p:extLst>
      <p:ext uri="{BB962C8B-B14F-4D97-AF65-F5344CB8AC3E}">
        <p14:creationId xmlns:p14="http://schemas.microsoft.com/office/powerpoint/2010/main" val="29256267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4158B-8186-F965-EE8E-325946E8C86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61D85F3-1065-F555-7E92-6BB6FB859AF1}"/>
              </a:ext>
            </a:extLst>
          </p:cNvPr>
          <p:cNvSpPr>
            <a:spLocks noGrp="1"/>
          </p:cNvSpPr>
          <p:nvPr>
            <p:ph type="title"/>
          </p:nvPr>
        </p:nvSpPr>
        <p:spPr/>
        <p:txBody>
          <a:bodyPr/>
          <a:lstStyle/>
          <a:p>
            <a:pPr algn="l"/>
            <a:r>
              <a:rPr lang="en-US" b="1"/>
              <a:t>Reading Between the Lines </a:t>
            </a:r>
            <a:r>
              <a:rPr lang="en-US" sz="2000" b="1">
                <a:solidFill>
                  <a:schemeClr val="bg1"/>
                </a:solidFill>
              </a:rPr>
              <a:t>(2 of 9) </a:t>
            </a:r>
          </a:p>
        </p:txBody>
      </p:sp>
      <p:sp>
        <p:nvSpPr>
          <p:cNvPr id="9" name="Text Placeholder 2">
            <a:extLst>
              <a:ext uri="{FF2B5EF4-FFF2-40B4-BE49-F238E27FC236}">
                <a16:creationId xmlns:a16="http://schemas.microsoft.com/office/drawing/2014/main" id="{A47C97D3-EFAA-FA5D-A6E8-084DD9269204}"/>
              </a:ext>
            </a:extLst>
          </p:cNvPr>
          <p:cNvSpPr txBox="1">
            <a:spLocks/>
          </p:cNvSpPr>
          <p:nvPr/>
        </p:nvSpPr>
        <p:spPr>
          <a:xfrm>
            <a:off x="777240" y="1479665"/>
            <a:ext cx="9829800" cy="519545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indent="-457200">
              <a:buFont typeface="+mj-lt"/>
              <a:buAutoNum type="alphaLcPeriod" startAt="3"/>
            </a:pPr>
            <a:r>
              <a:rPr lang="en-US" sz="2800">
                <a:solidFill>
                  <a:srgbClr val="000000"/>
                </a:solidFill>
              </a:rPr>
              <a:t>I can __________ use a graph to determine an</a:t>
            </a:r>
            <a:br>
              <a:rPr lang="en-US" sz="2800">
                <a:solidFill>
                  <a:srgbClr val="000000"/>
                </a:solidFill>
              </a:rPr>
            </a:br>
            <a:r>
              <a:rPr lang="en-US" sz="2800" i="1">
                <a:solidFill>
                  <a:srgbClr val="000000"/>
                </a:solidFill>
              </a:rPr>
              <a:t>approximate</a:t>
            </a:r>
            <a:r>
              <a:rPr lang="en-US" sz="2800">
                <a:solidFill>
                  <a:srgbClr val="000000"/>
                </a:solidFill>
              </a:rPr>
              <a:t> value.</a:t>
            </a:r>
            <a:br>
              <a:rPr lang="en-US" sz="2800">
                <a:solidFill>
                  <a:srgbClr val="000000"/>
                </a:solidFill>
              </a:rPr>
            </a:br>
            <a:endParaRPr lang="en-US" sz="2800">
              <a:solidFill>
                <a:srgbClr val="000000"/>
              </a:solidFill>
            </a:endParaRPr>
          </a:p>
          <a:p>
            <a:pPr marL="457200" indent="-457200">
              <a:buFont typeface="+mj-lt"/>
              <a:buAutoNum type="alphaLcPeriod" startAt="3"/>
            </a:pPr>
            <a:r>
              <a:rPr lang="en-US" sz="2800">
                <a:solidFill>
                  <a:srgbClr val="000000"/>
                </a:solidFill>
              </a:rPr>
              <a:t>I can __________ use a graph to calculate an</a:t>
            </a:r>
            <a:br>
              <a:rPr lang="en-US" sz="2800">
                <a:solidFill>
                  <a:srgbClr val="000000"/>
                </a:solidFill>
              </a:rPr>
            </a:br>
            <a:r>
              <a:rPr lang="en-US" sz="2800" i="1">
                <a:solidFill>
                  <a:srgbClr val="000000"/>
                </a:solidFill>
              </a:rPr>
              <a:t>exact</a:t>
            </a:r>
            <a:r>
              <a:rPr lang="en-US" sz="2800">
                <a:solidFill>
                  <a:srgbClr val="000000"/>
                </a:solidFill>
              </a:rPr>
              <a:t> value.</a:t>
            </a:r>
            <a:br>
              <a:rPr lang="en-US" sz="2800">
                <a:solidFill>
                  <a:srgbClr val="000000"/>
                </a:solidFill>
              </a:rPr>
            </a:br>
            <a:endParaRPr lang="en-US" sz="2800">
              <a:solidFill>
                <a:srgbClr val="000000"/>
              </a:solidFill>
            </a:endParaRPr>
          </a:p>
          <a:p>
            <a:pPr marL="457200" indent="-457200">
              <a:buFont typeface="+mj-lt"/>
              <a:buAutoNum type="alphaLcPeriod" startAt="3"/>
            </a:pPr>
            <a:r>
              <a:rPr lang="en-US" sz="2800">
                <a:solidFill>
                  <a:srgbClr val="000000"/>
                </a:solidFill>
              </a:rPr>
              <a:t>I can __________ use an equation to determine an </a:t>
            </a:r>
            <a:r>
              <a:rPr lang="en-US" sz="2800" i="1">
                <a:solidFill>
                  <a:srgbClr val="000000"/>
                </a:solidFill>
              </a:rPr>
              <a:t>approximate</a:t>
            </a:r>
            <a:r>
              <a:rPr lang="en-US" sz="2800">
                <a:solidFill>
                  <a:srgbClr val="000000"/>
                </a:solidFill>
              </a:rPr>
              <a:t> value.</a:t>
            </a:r>
            <a:br>
              <a:rPr lang="en-US" sz="2800">
                <a:solidFill>
                  <a:srgbClr val="000000"/>
                </a:solidFill>
              </a:rPr>
            </a:br>
            <a:endParaRPr lang="en-US" sz="2800">
              <a:solidFill>
                <a:srgbClr val="000000"/>
              </a:solidFill>
            </a:endParaRPr>
          </a:p>
          <a:p>
            <a:pPr marL="457200" indent="-457200">
              <a:buFont typeface="+mj-lt"/>
              <a:buAutoNum type="alphaLcPeriod" startAt="3"/>
            </a:pPr>
            <a:r>
              <a:rPr lang="en-US" sz="2800">
                <a:solidFill>
                  <a:srgbClr val="000000"/>
                </a:solidFill>
              </a:rPr>
              <a:t>I can __________ use an equation to calculate an</a:t>
            </a:r>
            <a:br>
              <a:rPr lang="en-US" sz="2800">
                <a:solidFill>
                  <a:srgbClr val="000000"/>
                </a:solidFill>
              </a:rPr>
            </a:br>
            <a:r>
              <a:rPr lang="en-US" sz="2800" i="1">
                <a:solidFill>
                  <a:srgbClr val="000000"/>
                </a:solidFill>
              </a:rPr>
              <a:t>exact</a:t>
            </a:r>
            <a:r>
              <a:rPr lang="en-US" sz="2800">
                <a:solidFill>
                  <a:srgbClr val="000000"/>
                </a:solidFill>
              </a:rPr>
              <a:t> value.</a:t>
            </a:r>
          </a:p>
        </p:txBody>
      </p:sp>
    </p:spTree>
    <p:extLst>
      <p:ext uri="{BB962C8B-B14F-4D97-AF65-F5344CB8AC3E}">
        <p14:creationId xmlns:p14="http://schemas.microsoft.com/office/powerpoint/2010/main" val="6348125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7DB26-2A56-E71A-8F07-8D863295A17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14FDF30-092A-D803-0315-9BC47B013A3D}"/>
              </a:ext>
            </a:extLst>
          </p:cNvPr>
          <p:cNvSpPr>
            <a:spLocks noGrp="1"/>
          </p:cNvSpPr>
          <p:nvPr>
            <p:ph type="title"/>
          </p:nvPr>
        </p:nvSpPr>
        <p:spPr/>
        <p:txBody>
          <a:bodyPr/>
          <a:lstStyle/>
          <a:p>
            <a:pPr algn="l"/>
            <a:r>
              <a:rPr lang="en-US" b="1"/>
              <a:t>Reading Between the Lines </a:t>
            </a:r>
            <a:r>
              <a:rPr lang="en-US" sz="2000" b="1">
                <a:solidFill>
                  <a:schemeClr val="bg1"/>
                </a:solidFill>
              </a:rPr>
              <a:t>(3 of 9) </a:t>
            </a:r>
          </a:p>
        </p:txBody>
      </p:sp>
      <p:sp>
        <p:nvSpPr>
          <p:cNvPr id="9" name="Text Placeholder 2">
            <a:extLst>
              <a:ext uri="{FF2B5EF4-FFF2-40B4-BE49-F238E27FC236}">
                <a16:creationId xmlns:a16="http://schemas.microsoft.com/office/drawing/2014/main" id="{1AFF8A30-7F30-C9CA-F33E-CE21A90D70EE}"/>
              </a:ext>
            </a:extLst>
          </p:cNvPr>
          <p:cNvSpPr txBox="1">
            <a:spLocks/>
          </p:cNvSpPr>
          <p:nvPr/>
        </p:nvSpPr>
        <p:spPr>
          <a:xfrm>
            <a:off x="777240" y="1616150"/>
            <a:ext cx="10450202" cy="144201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US" sz="2800">
                <a:solidFill>
                  <a:srgbClr val="000000"/>
                </a:solidFill>
              </a:rPr>
              <a:t>Write the function that models each table of values. Then, evaluate the function for each independent and dependent value.</a:t>
            </a:r>
          </a:p>
          <a:p>
            <a:pPr marL="1030288" lvl="1" indent="-514350">
              <a:buFont typeface="+mj-lt"/>
              <a:buAutoNum type="alphaLcPeriod"/>
            </a:pPr>
            <a:r>
              <a:rPr lang="en-US">
                <a:solidFill>
                  <a:srgbClr val="000000"/>
                </a:solidFill>
              </a:rPr>
              <a:t> </a:t>
            </a:r>
          </a:p>
        </p:txBody>
      </p:sp>
      <p:graphicFrame>
        <p:nvGraphicFramePr>
          <p:cNvPr id="2" name="Table 1">
            <a:extLst>
              <a:ext uri="{FF2B5EF4-FFF2-40B4-BE49-F238E27FC236}">
                <a16:creationId xmlns:a16="http://schemas.microsoft.com/office/drawing/2014/main" id="{0158B116-F4B8-F4A3-9D91-2BA1B53E91D8}"/>
              </a:ext>
            </a:extLst>
          </p:cNvPr>
          <p:cNvGraphicFramePr>
            <a:graphicFrameLocks noGrp="1"/>
          </p:cNvGraphicFramePr>
          <p:nvPr>
            <p:extLst>
              <p:ext uri="{D42A27DB-BD31-4B8C-83A1-F6EECF244321}">
                <p14:modId xmlns:p14="http://schemas.microsoft.com/office/powerpoint/2010/main" val="1875293029"/>
              </p:ext>
            </p:extLst>
          </p:nvPr>
        </p:nvGraphicFramePr>
        <p:xfrm>
          <a:off x="1815605" y="2775528"/>
          <a:ext cx="8126940" cy="792480"/>
        </p:xfrm>
        <a:graphic>
          <a:graphicData uri="http://schemas.openxmlformats.org/drawingml/2006/table">
            <a:tbl>
              <a:tblPr firstRow="1" bandRow="1">
                <a:tableStyleId>{5C22544A-7EE6-4342-B048-85BDC9FD1C3A}</a:tableStyleId>
              </a:tblPr>
              <a:tblGrid>
                <a:gridCol w="1354490">
                  <a:extLst>
                    <a:ext uri="{9D8B030D-6E8A-4147-A177-3AD203B41FA5}">
                      <a16:colId xmlns:a16="http://schemas.microsoft.com/office/drawing/2014/main" val="3951484314"/>
                    </a:ext>
                  </a:extLst>
                </a:gridCol>
                <a:gridCol w="1354490">
                  <a:extLst>
                    <a:ext uri="{9D8B030D-6E8A-4147-A177-3AD203B41FA5}">
                      <a16:colId xmlns:a16="http://schemas.microsoft.com/office/drawing/2014/main" val="1663335060"/>
                    </a:ext>
                  </a:extLst>
                </a:gridCol>
                <a:gridCol w="1354490">
                  <a:extLst>
                    <a:ext uri="{9D8B030D-6E8A-4147-A177-3AD203B41FA5}">
                      <a16:colId xmlns:a16="http://schemas.microsoft.com/office/drawing/2014/main" val="3449282011"/>
                    </a:ext>
                  </a:extLst>
                </a:gridCol>
                <a:gridCol w="1354490">
                  <a:extLst>
                    <a:ext uri="{9D8B030D-6E8A-4147-A177-3AD203B41FA5}">
                      <a16:colId xmlns:a16="http://schemas.microsoft.com/office/drawing/2014/main" val="2858380260"/>
                    </a:ext>
                  </a:extLst>
                </a:gridCol>
                <a:gridCol w="1354490">
                  <a:extLst>
                    <a:ext uri="{9D8B030D-6E8A-4147-A177-3AD203B41FA5}">
                      <a16:colId xmlns:a16="http://schemas.microsoft.com/office/drawing/2014/main" val="13968865"/>
                    </a:ext>
                  </a:extLst>
                </a:gridCol>
                <a:gridCol w="1354490">
                  <a:extLst>
                    <a:ext uri="{9D8B030D-6E8A-4147-A177-3AD203B41FA5}">
                      <a16:colId xmlns:a16="http://schemas.microsoft.com/office/drawing/2014/main" val="3049635258"/>
                    </a:ext>
                  </a:extLst>
                </a:gridCol>
              </a:tblGrid>
              <a:tr h="370840">
                <a:tc>
                  <a:txBody>
                    <a:bodyPr/>
                    <a:lstStyle/>
                    <a:p>
                      <a:pPr algn="ctr"/>
                      <a:r>
                        <a:rPr lang="en-US" sz="2000" b="0" i="1">
                          <a:solidFill>
                            <a:srgbClr val="000000"/>
                          </a:solidFill>
                          <a:latin typeface="+mn-lt"/>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9DCCC"/>
                    </a:solidFill>
                  </a:tcPr>
                </a:tc>
                <a:tc>
                  <a:txBody>
                    <a:bodyPr/>
                    <a:lstStyle/>
                    <a:p>
                      <a:pPr algn="ctr"/>
                      <a:r>
                        <a:rPr lang="en-US" sz="2000" b="0">
                          <a:solidFill>
                            <a:srgbClr val="000000"/>
                          </a:solidFill>
                          <a:latin typeface="+mn-l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1882011"/>
                  </a:ext>
                </a:extLst>
              </a:tr>
              <a:tr h="370840">
                <a:tc>
                  <a:txBody>
                    <a:bodyPr/>
                    <a:lstStyle/>
                    <a:p>
                      <a:pPr algn="ctr"/>
                      <a:r>
                        <a:rPr lang="en-US" sz="2000" b="0" i="1">
                          <a:solidFill>
                            <a:srgbClr val="000000"/>
                          </a:solidFill>
                          <a:latin typeface="+mn-lt"/>
                        </a:rPr>
                        <a:t>f</a:t>
                      </a:r>
                      <a:r>
                        <a:rPr lang="en-US" sz="2000" b="0">
                          <a:solidFill>
                            <a:srgbClr val="000000"/>
                          </a:solidFill>
                          <a:latin typeface="+mn-lt"/>
                        </a:rPr>
                        <a:t>(</a:t>
                      </a:r>
                      <a:r>
                        <a:rPr lang="en-US" sz="2000" b="0" i="1">
                          <a:solidFill>
                            <a:srgbClr val="000000"/>
                          </a:solidFill>
                          <a:latin typeface="+mn-lt"/>
                        </a:rPr>
                        <a:t>x</a:t>
                      </a:r>
                      <a:r>
                        <a:rPr lang="en-US" sz="2000" b="0">
                          <a:solidFill>
                            <a:srgbClr val="000000"/>
                          </a:solidFill>
                          <a:latin typeface="+mn-lt"/>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9DCCC"/>
                    </a:solidFill>
                  </a:tcPr>
                </a:tc>
                <a:tc>
                  <a:txBody>
                    <a:bodyPr/>
                    <a:lstStyle/>
                    <a:p>
                      <a:pPr algn="ctr"/>
                      <a:r>
                        <a:rPr lang="en-US" sz="2000" b="0">
                          <a:solidFill>
                            <a:srgbClr val="000000"/>
                          </a:solidFill>
                          <a:latin typeface="+mn-lt"/>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62718282"/>
                  </a:ext>
                </a:extLst>
              </a:tr>
            </a:tbl>
          </a:graphicData>
        </a:graphic>
      </p:graphicFrame>
      <p:sp>
        <p:nvSpPr>
          <p:cNvPr id="3" name="Text Placeholder 2">
            <a:extLst>
              <a:ext uri="{FF2B5EF4-FFF2-40B4-BE49-F238E27FC236}">
                <a16:creationId xmlns:a16="http://schemas.microsoft.com/office/drawing/2014/main" id="{FAFE5020-DEDB-37E3-AE6B-FE58A5356203}"/>
              </a:ext>
            </a:extLst>
          </p:cNvPr>
          <p:cNvSpPr txBox="1">
            <a:spLocks/>
          </p:cNvSpPr>
          <p:nvPr/>
        </p:nvSpPr>
        <p:spPr>
          <a:xfrm>
            <a:off x="777240" y="3841406"/>
            <a:ext cx="10450202" cy="212713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914400" indent="0">
              <a:spcAft>
                <a:spcPts val="1800"/>
              </a:spcAft>
              <a:buNone/>
            </a:pPr>
            <a:r>
              <a:rPr lang="en-US" sz="2800" i="1">
                <a:solidFill>
                  <a:srgbClr val="000000"/>
                </a:solidFill>
              </a:rPr>
              <a:t>f</a:t>
            </a:r>
            <a:r>
              <a:rPr lang="en-US" sz="2800">
                <a:solidFill>
                  <a:srgbClr val="000000"/>
                </a:solidFill>
              </a:rPr>
              <a:t>(</a:t>
            </a:r>
            <a:r>
              <a:rPr lang="en-US" sz="2800" i="1">
                <a:solidFill>
                  <a:srgbClr val="000000"/>
                </a:solidFill>
              </a:rPr>
              <a:t>x</a:t>
            </a:r>
            <a:r>
              <a:rPr lang="en-US" sz="2800">
                <a:solidFill>
                  <a:srgbClr val="000000"/>
                </a:solidFill>
              </a:rPr>
              <a:t>) =</a:t>
            </a:r>
          </a:p>
          <a:p>
            <a:pPr marL="914400" indent="0">
              <a:spcAft>
                <a:spcPts val="1800"/>
              </a:spcAft>
              <a:buNone/>
            </a:pPr>
            <a:r>
              <a:rPr lang="en-US" sz="2800" i="1">
                <a:solidFill>
                  <a:srgbClr val="000000"/>
                </a:solidFill>
              </a:rPr>
              <a:t>f</a:t>
            </a:r>
            <a:r>
              <a:rPr lang="en-US" sz="2800">
                <a:solidFill>
                  <a:srgbClr val="000000"/>
                </a:solidFill>
              </a:rPr>
              <a:t>(12) =</a:t>
            </a:r>
          </a:p>
          <a:p>
            <a:pPr marL="914400" indent="0">
              <a:buNone/>
            </a:pPr>
            <a:r>
              <a:rPr lang="en-US" sz="2800" i="1">
                <a:solidFill>
                  <a:srgbClr val="000000"/>
                </a:solidFill>
              </a:rPr>
              <a:t>f</a:t>
            </a:r>
            <a:r>
              <a:rPr lang="en-US" sz="2800">
                <a:solidFill>
                  <a:srgbClr val="000000"/>
                </a:solidFill>
              </a:rPr>
              <a:t>(</a:t>
            </a:r>
            <a:r>
              <a:rPr lang="en-US" sz="2800" i="1">
                <a:solidFill>
                  <a:srgbClr val="000000"/>
                </a:solidFill>
              </a:rPr>
              <a:t>x</a:t>
            </a:r>
            <a:r>
              <a:rPr lang="en-US" sz="2800">
                <a:solidFill>
                  <a:srgbClr val="000000"/>
                </a:solidFill>
              </a:rPr>
              <a:t>) = −145</a:t>
            </a:r>
            <a:endParaRPr lang="en-US">
              <a:solidFill>
                <a:srgbClr val="000000"/>
              </a:solidFill>
            </a:endParaRPr>
          </a:p>
        </p:txBody>
      </p:sp>
    </p:spTree>
    <p:extLst>
      <p:ext uri="{BB962C8B-B14F-4D97-AF65-F5344CB8AC3E}">
        <p14:creationId xmlns:p14="http://schemas.microsoft.com/office/powerpoint/2010/main" val="23888584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0D8C3-3199-2370-A4F6-DC1EF69209D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09272D2-3AFC-CE4A-B3DE-6C92C760F533}"/>
              </a:ext>
            </a:extLst>
          </p:cNvPr>
          <p:cNvSpPr>
            <a:spLocks noGrp="1"/>
          </p:cNvSpPr>
          <p:nvPr>
            <p:ph type="title"/>
          </p:nvPr>
        </p:nvSpPr>
        <p:spPr/>
        <p:txBody>
          <a:bodyPr/>
          <a:lstStyle/>
          <a:p>
            <a:pPr algn="l"/>
            <a:r>
              <a:rPr lang="en-US" b="1"/>
              <a:t>Reading Between the Lines </a:t>
            </a:r>
            <a:r>
              <a:rPr lang="en-US" sz="2000" b="1">
                <a:solidFill>
                  <a:schemeClr val="bg1"/>
                </a:solidFill>
              </a:rPr>
              <a:t>(4 of 9) </a:t>
            </a:r>
          </a:p>
        </p:txBody>
      </p:sp>
      <p:sp>
        <p:nvSpPr>
          <p:cNvPr id="9" name="Text Placeholder 2" descr="B">
            <a:extLst>
              <a:ext uri="{FF2B5EF4-FFF2-40B4-BE49-F238E27FC236}">
                <a16:creationId xmlns:a16="http://schemas.microsoft.com/office/drawing/2014/main" id="{093736B8-512D-B16B-864D-CCA0AE478911}"/>
              </a:ext>
            </a:extLst>
          </p:cNvPr>
          <p:cNvSpPr txBox="1">
            <a:spLocks/>
          </p:cNvSpPr>
          <p:nvPr/>
        </p:nvSpPr>
        <p:spPr>
          <a:xfrm>
            <a:off x="777240" y="1616150"/>
            <a:ext cx="10450202" cy="144201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5938" lvl="1" indent="-514350">
              <a:buFont typeface="+mj-lt"/>
              <a:buAutoNum type="alphaLcPeriod" startAt="2"/>
            </a:pPr>
            <a:r>
              <a:rPr lang="en-US">
                <a:solidFill>
                  <a:srgbClr val="000000"/>
                </a:solidFill>
              </a:rPr>
              <a:t> </a:t>
            </a:r>
          </a:p>
        </p:txBody>
      </p:sp>
      <p:graphicFrame>
        <p:nvGraphicFramePr>
          <p:cNvPr id="2" name="Table 1">
            <a:extLst>
              <a:ext uri="{FF2B5EF4-FFF2-40B4-BE49-F238E27FC236}">
                <a16:creationId xmlns:a16="http://schemas.microsoft.com/office/drawing/2014/main" id="{2C0F8E3E-C46F-454F-F1DF-4664E18B018A}"/>
              </a:ext>
            </a:extLst>
          </p:cNvPr>
          <p:cNvGraphicFramePr>
            <a:graphicFrameLocks noGrp="1"/>
          </p:cNvGraphicFramePr>
          <p:nvPr>
            <p:extLst>
              <p:ext uri="{D42A27DB-BD31-4B8C-83A1-F6EECF244321}">
                <p14:modId xmlns:p14="http://schemas.microsoft.com/office/powerpoint/2010/main" val="302170985"/>
              </p:ext>
            </p:extLst>
          </p:nvPr>
        </p:nvGraphicFramePr>
        <p:xfrm>
          <a:off x="1358405" y="1759819"/>
          <a:ext cx="8126940" cy="792480"/>
        </p:xfrm>
        <a:graphic>
          <a:graphicData uri="http://schemas.openxmlformats.org/drawingml/2006/table">
            <a:tbl>
              <a:tblPr firstRow="1" bandRow="1">
                <a:tableStyleId>{5C22544A-7EE6-4342-B048-85BDC9FD1C3A}</a:tableStyleId>
              </a:tblPr>
              <a:tblGrid>
                <a:gridCol w="1354490">
                  <a:extLst>
                    <a:ext uri="{9D8B030D-6E8A-4147-A177-3AD203B41FA5}">
                      <a16:colId xmlns:a16="http://schemas.microsoft.com/office/drawing/2014/main" val="3951484314"/>
                    </a:ext>
                  </a:extLst>
                </a:gridCol>
                <a:gridCol w="1354490">
                  <a:extLst>
                    <a:ext uri="{9D8B030D-6E8A-4147-A177-3AD203B41FA5}">
                      <a16:colId xmlns:a16="http://schemas.microsoft.com/office/drawing/2014/main" val="1663335060"/>
                    </a:ext>
                  </a:extLst>
                </a:gridCol>
                <a:gridCol w="1354490">
                  <a:extLst>
                    <a:ext uri="{9D8B030D-6E8A-4147-A177-3AD203B41FA5}">
                      <a16:colId xmlns:a16="http://schemas.microsoft.com/office/drawing/2014/main" val="3449282011"/>
                    </a:ext>
                  </a:extLst>
                </a:gridCol>
                <a:gridCol w="1354490">
                  <a:extLst>
                    <a:ext uri="{9D8B030D-6E8A-4147-A177-3AD203B41FA5}">
                      <a16:colId xmlns:a16="http://schemas.microsoft.com/office/drawing/2014/main" val="2858380260"/>
                    </a:ext>
                  </a:extLst>
                </a:gridCol>
                <a:gridCol w="1354490">
                  <a:extLst>
                    <a:ext uri="{9D8B030D-6E8A-4147-A177-3AD203B41FA5}">
                      <a16:colId xmlns:a16="http://schemas.microsoft.com/office/drawing/2014/main" val="13968865"/>
                    </a:ext>
                  </a:extLst>
                </a:gridCol>
                <a:gridCol w="1354490">
                  <a:extLst>
                    <a:ext uri="{9D8B030D-6E8A-4147-A177-3AD203B41FA5}">
                      <a16:colId xmlns:a16="http://schemas.microsoft.com/office/drawing/2014/main" val="3049635258"/>
                    </a:ext>
                  </a:extLst>
                </a:gridCol>
              </a:tblGrid>
              <a:tr h="370840">
                <a:tc>
                  <a:txBody>
                    <a:bodyPr/>
                    <a:lstStyle/>
                    <a:p>
                      <a:pPr algn="ctr"/>
                      <a:r>
                        <a:rPr lang="en-US" sz="2000" b="0" i="1">
                          <a:solidFill>
                            <a:srgbClr val="000000"/>
                          </a:solidFill>
                          <a:latin typeface="+mn-lt"/>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9DCCC"/>
                    </a:solidFill>
                  </a:tcPr>
                </a:tc>
                <a:tc>
                  <a:txBody>
                    <a:bodyPr/>
                    <a:lstStyle/>
                    <a:p>
                      <a:pPr algn="ctr"/>
                      <a:r>
                        <a:rPr lang="en-US" sz="2000" b="0">
                          <a:solidFill>
                            <a:srgbClr val="000000"/>
                          </a:solidFill>
                          <a:latin typeface="+mn-l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1882011"/>
                  </a:ext>
                </a:extLst>
              </a:tr>
              <a:tr h="370840">
                <a:tc>
                  <a:txBody>
                    <a:bodyPr/>
                    <a:lstStyle/>
                    <a:p>
                      <a:pPr algn="ctr"/>
                      <a:r>
                        <a:rPr lang="en-US" sz="2000" b="0" i="1">
                          <a:solidFill>
                            <a:srgbClr val="000000"/>
                          </a:solidFill>
                          <a:latin typeface="+mn-lt"/>
                        </a:rPr>
                        <a:t>g</a:t>
                      </a:r>
                      <a:r>
                        <a:rPr lang="en-US" sz="2000" b="0">
                          <a:solidFill>
                            <a:srgbClr val="000000"/>
                          </a:solidFill>
                          <a:latin typeface="+mn-lt"/>
                        </a:rPr>
                        <a:t>(</a:t>
                      </a:r>
                      <a:r>
                        <a:rPr lang="en-US" sz="2000" b="0" i="1">
                          <a:solidFill>
                            <a:srgbClr val="000000"/>
                          </a:solidFill>
                          <a:latin typeface="+mn-lt"/>
                        </a:rPr>
                        <a:t>x</a:t>
                      </a:r>
                      <a:r>
                        <a:rPr lang="en-US" sz="2000" b="0">
                          <a:solidFill>
                            <a:srgbClr val="000000"/>
                          </a:solidFill>
                          <a:latin typeface="+mn-lt"/>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9DCCC"/>
                    </a:solidFill>
                  </a:tcPr>
                </a:tc>
                <a:tc>
                  <a:txBody>
                    <a:bodyPr/>
                    <a:lstStyle/>
                    <a:p>
                      <a:pPr algn="ctr"/>
                      <a:r>
                        <a:rPr lang="en-US" sz="2000" b="0">
                          <a:solidFill>
                            <a:srgbClr val="000000"/>
                          </a:solidFill>
                          <a:latin typeface="+mn-lt"/>
                        </a:rPr>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0">
                          <a:solidFill>
                            <a:srgbClr val="000000"/>
                          </a:solidFill>
                          <a:latin typeface="+mn-lt"/>
                        </a:rPr>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62718282"/>
                  </a:ext>
                </a:extLst>
              </a:tr>
            </a:tbl>
          </a:graphicData>
        </a:graphic>
      </p:graphicFrame>
      <p:sp>
        <p:nvSpPr>
          <p:cNvPr id="3" name="Text Placeholder 2">
            <a:extLst>
              <a:ext uri="{FF2B5EF4-FFF2-40B4-BE49-F238E27FC236}">
                <a16:creationId xmlns:a16="http://schemas.microsoft.com/office/drawing/2014/main" id="{A7B7659C-5DF2-A309-2D1D-241CEE88A319}"/>
              </a:ext>
            </a:extLst>
          </p:cNvPr>
          <p:cNvSpPr txBox="1">
            <a:spLocks/>
          </p:cNvSpPr>
          <p:nvPr/>
        </p:nvSpPr>
        <p:spPr>
          <a:xfrm>
            <a:off x="777240" y="3009208"/>
            <a:ext cx="10450202" cy="212713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indent="0">
              <a:spcAft>
                <a:spcPts val="1800"/>
              </a:spcAft>
              <a:buNone/>
            </a:pPr>
            <a:r>
              <a:rPr lang="en-US" sz="2800" i="1">
                <a:solidFill>
                  <a:srgbClr val="000000"/>
                </a:solidFill>
              </a:rPr>
              <a:t>g</a:t>
            </a:r>
            <a:r>
              <a:rPr lang="en-US" sz="2800">
                <a:solidFill>
                  <a:srgbClr val="000000"/>
                </a:solidFill>
              </a:rPr>
              <a:t>(</a:t>
            </a:r>
            <a:r>
              <a:rPr lang="en-US" sz="2800" i="1">
                <a:solidFill>
                  <a:srgbClr val="000000"/>
                </a:solidFill>
              </a:rPr>
              <a:t>x</a:t>
            </a:r>
            <a:r>
              <a:rPr lang="en-US" sz="2800">
                <a:solidFill>
                  <a:srgbClr val="000000"/>
                </a:solidFill>
              </a:rPr>
              <a:t>) =</a:t>
            </a:r>
          </a:p>
          <a:p>
            <a:pPr marL="457200" indent="0">
              <a:spcAft>
                <a:spcPts val="1800"/>
              </a:spcAft>
              <a:buNone/>
            </a:pPr>
            <a:r>
              <a:rPr lang="en-US" sz="2800" i="1">
                <a:solidFill>
                  <a:srgbClr val="000000"/>
                </a:solidFill>
              </a:rPr>
              <a:t>g</a:t>
            </a:r>
            <a:r>
              <a:rPr lang="en-US" sz="2800">
                <a:solidFill>
                  <a:srgbClr val="000000"/>
                </a:solidFill>
              </a:rPr>
              <a:t>(−9) =</a:t>
            </a:r>
          </a:p>
          <a:p>
            <a:pPr marL="457200" indent="0">
              <a:buNone/>
            </a:pPr>
            <a:r>
              <a:rPr lang="en-US" sz="2800" i="1">
                <a:solidFill>
                  <a:srgbClr val="000000"/>
                </a:solidFill>
              </a:rPr>
              <a:t>g</a:t>
            </a:r>
            <a:r>
              <a:rPr lang="en-US" sz="2800">
                <a:solidFill>
                  <a:srgbClr val="000000"/>
                </a:solidFill>
              </a:rPr>
              <a:t>(</a:t>
            </a:r>
            <a:r>
              <a:rPr lang="en-US" sz="2800" i="1">
                <a:solidFill>
                  <a:srgbClr val="000000"/>
                </a:solidFill>
              </a:rPr>
              <a:t>x</a:t>
            </a:r>
            <a:r>
              <a:rPr lang="en-US" sz="2800">
                <a:solidFill>
                  <a:srgbClr val="000000"/>
                </a:solidFill>
              </a:rPr>
              <a:t>) = −54</a:t>
            </a:r>
            <a:endParaRPr lang="en-US">
              <a:solidFill>
                <a:srgbClr val="000000"/>
              </a:solidFill>
            </a:endParaRPr>
          </a:p>
        </p:txBody>
      </p:sp>
    </p:spTree>
    <p:extLst>
      <p:ext uri="{BB962C8B-B14F-4D97-AF65-F5344CB8AC3E}">
        <p14:creationId xmlns:p14="http://schemas.microsoft.com/office/powerpoint/2010/main" val="70814766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BA164-5EAB-13ED-B9B2-44513587B34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86116A7-549E-1F79-7765-2EB41764CB7C}"/>
              </a:ext>
            </a:extLst>
          </p:cNvPr>
          <p:cNvSpPr>
            <a:spLocks noGrp="1"/>
          </p:cNvSpPr>
          <p:nvPr>
            <p:ph type="title"/>
          </p:nvPr>
        </p:nvSpPr>
        <p:spPr/>
        <p:txBody>
          <a:bodyPr/>
          <a:lstStyle/>
          <a:p>
            <a:pPr algn="l"/>
            <a:r>
              <a:rPr lang="en-US" b="1"/>
              <a:t>Reading Between the Lines </a:t>
            </a:r>
            <a:r>
              <a:rPr lang="en-US" sz="2000" b="1">
                <a:solidFill>
                  <a:schemeClr val="bg1"/>
                </a:solidFill>
              </a:rPr>
              <a:t>(5 of 9)</a:t>
            </a:r>
          </a:p>
        </p:txBody>
      </p:sp>
      <p:sp>
        <p:nvSpPr>
          <p:cNvPr id="9" name="Text Placeholder 2">
            <a:extLst>
              <a:ext uri="{FF2B5EF4-FFF2-40B4-BE49-F238E27FC236}">
                <a16:creationId xmlns:a16="http://schemas.microsoft.com/office/drawing/2014/main" id="{E80DF474-A81B-BC2D-C62F-E118342A4E51}"/>
              </a:ext>
            </a:extLst>
          </p:cNvPr>
          <p:cNvSpPr txBox="1">
            <a:spLocks/>
          </p:cNvSpPr>
          <p:nvPr/>
        </p:nvSpPr>
        <p:spPr>
          <a:xfrm>
            <a:off x="777240" y="1616150"/>
            <a:ext cx="9887216" cy="455189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spcAft>
                <a:spcPts val="600"/>
              </a:spcAft>
              <a:buFont typeface="+mj-lt"/>
              <a:buAutoNum type="arabicPeriod" startAt="3"/>
            </a:pPr>
            <a:r>
              <a:rPr lang="en-US" sz="2800">
                <a:solidFill>
                  <a:srgbClr val="000000"/>
                </a:solidFill>
              </a:rPr>
              <a:t>Complete the graphic organizer located at the end of this lesson for the linear function </a:t>
            </a:r>
            <a:r>
              <a:rPr lang="en-US" sz="2800" i="1">
                <a:solidFill>
                  <a:srgbClr val="000000"/>
                </a:solidFill>
              </a:rPr>
              <a:t>f</a:t>
            </a:r>
            <a:r>
              <a:rPr lang="en-US" sz="2800">
                <a:solidFill>
                  <a:srgbClr val="000000"/>
                </a:solidFill>
              </a:rPr>
              <a:t>(</a:t>
            </a:r>
            <a:r>
              <a:rPr lang="en-US" sz="2800" i="1">
                <a:solidFill>
                  <a:srgbClr val="000000"/>
                </a:solidFill>
              </a:rPr>
              <a:t>x</a:t>
            </a:r>
            <a:r>
              <a:rPr lang="en-US" sz="2800">
                <a:solidFill>
                  <a:srgbClr val="000000"/>
                </a:solidFill>
              </a:rPr>
              <a:t>) = 2</a:t>
            </a:r>
            <a:r>
              <a:rPr lang="en-US" sz="2800" i="1">
                <a:solidFill>
                  <a:srgbClr val="000000"/>
                </a:solidFill>
              </a:rPr>
              <a:t>x</a:t>
            </a:r>
            <a:r>
              <a:rPr lang="en-US" sz="2800">
                <a:solidFill>
                  <a:srgbClr val="000000"/>
                </a:solidFill>
              </a:rPr>
              <a:t> – 8.</a:t>
            </a:r>
          </a:p>
          <a:p>
            <a:pPr marL="1030288" lvl="1" indent="-514350">
              <a:buFont typeface="+mj-lt"/>
              <a:buAutoNum type="alphaLcPeriod"/>
            </a:pPr>
            <a:r>
              <a:rPr lang="en-US">
                <a:solidFill>
                  <a:srgbClr val="000000"/>
                </a:solidFill>
              </a:rPr>
              <a:t>Write </a:t>
            </a:r>
            <a:r>
              <a:rPr lang="en-US" i="1">
                <a:solidFill>
                  <a:srgbClr val="000000"/>
                </a:solidFill>
              </a:rPr>
              <a:t>f</a:t>
            </a:r>
            <a:r>
              <a:rPr lang="en-US">
                <a:solidFill>
                  <a:srgbClr val="000000"/>
                </a:solidFill>
              </a:rPr>
              <a:t>(</a:t>
            </a:r>
            <a:r>
              <a:rPr lang="en-US" i="1">
                <a:solidFill>
                  <a:srgbClr val="000000"/>
                </a:solidFill>
              </a:rPr>
              <a:t>x</a:t>
            </a:r>
            <a:r>
              <a:rPr lang="en-US">
                <a:solidFill>
                  <a:srgbClr val="000000"/>
                </a:solidFill>
              </a:rPr>
              <a:t>) in general form. Then, describe the information given in this form.</a:t>
            </a:r>
            <a:br>
              <a:rPr lang="en-US">
                <a:solidFill>
                  <a:srgbClr val="000000"/>
                </a:solidFill>
              </a:rPr>
            </a:br>
            <a:br>
              <a:rPr lang="en-US">
                <a:solidFill>
                  <a:srgbClr val="000000"/>
                </a:solidFill>
              </a:rPr>
            </a:br>
            <a:endParaRPr lang="en-US">
              <a:solidFill>
                <a:srgbClr val="000000"/>
              </a:solidFill>
            </a:endParaRPr>
          </a:p>
          <a:p>
            <a:pPr marL="1030288" lvl="1" indent="-514350">
              <a:buFont typeface="+mj-lt"/>
              <a:buAutoNum type="alphaLcPeriod"/>
            </a:pPr>
            <a:r>
              <a:rPr lang="en-US">
                <a:solidFill>
                  <a:srgbClr val="000000"/>
                </a:solidFill>
              </a:rPr>
              <a:t>Write </a:t>
            </a:r>
            <a:r>
              <a:rPr lang="en-US" i="1">
                <a:solidFill>
                  <a:srgbClr val="000000"/>
                </a:solidFill>
              </a:rPr>
              <a:t>f</a:t>
            </a:r>
            <a:r>
              <a:rPr lang="en-US">
                <a:solidFill>
                  <a:srgbClr val="000000"/>
                </a:solidFill>
              </a:rPr>
              <a:t>(</a:t>
            </a:r>
            <a:r>
              <a:rPr lang="en-US" i="1">
                <a:solidFill>
                  <a:srgbClr val="000000"/>
                </a:solidFill>
              </a:rPr>
              <a:t>x</a:t>
            </a:r>
            <a:r>
              <a:rPr lang="en-US">
                <a:solidFill>
                  <a:srgbClr val="000000"/>
                </a:solidFill>
              </a:rPr>
              <a:t>) in factored form. Then, describe the information given in this form.</a:t>
            </a:r>
          </a:p>
        </p:txBody>
      </p:sp>
    </p:spTree>
    <p:extLst>
      <p:ext uri="{BB962C8B-B14F-4D97-AF65-F5344CB8AC3E}">
        <p14:creationId xmlns:p14="http://schemas.microsoft.com/office/powerpoint/2010/main" val="5087134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9D1FC-64D4-DEA9-889A-24A1ED407CE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5CF5AA3-CFCB-B574-46E3-1DC73F98FAAA}"/>
              </a:ext>
            </a:extLst>
          </p:cNvPr>
          <p:cNvSpPr>
            <a:spLocks noGrp="1"/>
          </p:cNvSpPr>
          <p:nvPr>
            <p:ph type="title"/>
          </p:nvPr>
        </p:nvSpPr>
        <p:spPr/>
        <p:txBody>
          <a:bodyPr/>
          <a:lstStyle/>
          <a:p>
            <a:pPr algn="l"/>
            <a:r>
              <a:rPr lang="en-US" b="1"/>
              <a:t>Reading Between the Lines </a:t>
            </a:r>
            <a:r>
              <a:rPr lang="en-US" sz="2000" b="1">
                <a:solidFill>
                  <a:schemeClr val="bg1"/>
                </a:solidFill>
              </a:rPr>
              <a:t>(6 of 9) </a:t>
            </a:r>
          </a:p>
        </p:txBody>
      </p:sp>
      <p:sp>
        <p:nvSpPr>
          <p:cNvPr id="9" name="Text Placeholder 2">
            <a:extLst>
              <a:ext uri="{FF2B5EF4-FFF2-40B4-BE49-F238E27FC236}">
                <a16:creationId xmlns:a16="http://schemas.microsoft.com/office/drawing/2014/main" id="{20968A85-280C-6F1C-CA1F-2E945F58D574}"/>
              </a:ext>
            </a:extLst>
          </p:cNvPr>
          <p:cNvSpPr txBox="1">
            <a:spLocks/>
          </p:cNvSpPr>
          <p:nvPr/>
        </p:nvSpPr>
        <p:spPr>
          <a:xfrm>
            <a:off x="777240" y="1477955"/>
            <a:ext cx="9572105" cy="126319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5938" lvl="1" indent="-514350">
              <a:buFont typeface="+mj-lt"/>
              <a:buAutoNum type="alphaLcPeriod" startAt="3"/>
            </a:pPr>
            <a:r>
              <a:rPr lang="en-US">
                <a:solidFill>
                  <a:srgbClr val="000000"/>
                </a:solidFill>
              </a:rPr>
              <a:t>Graph </a:t>
            </a:r>
            <a:r>
              <a:rPr lang="en-US" i="1">
                <a:solidFill>
                  <a:srgbClr val="000000"/>
                </a:solidFill>
              </a:rPr>
              <a:t>f</a:t>
            </a:r>
            <a:r>
              <a:rPr lang="en-US">
                <a:solidFill>
                  <a:srgbClr val="000000"/>
                </a:solidFill>
              </a:rPr>
              <a:t>(</a:t>
            </a:r>
            <a:r>
              <a:rPr lang="en-US" i="1">
                <a:solidFill>
                  <a:srgbClr val="000000"/>
                </a:solidFill>
              </a:rPr>
              <a:t>x</a:t>
            </a:r>
            <a:r>
              <a:rPr lang="en-US">
                <a:solidFill>
                  <a:srgbClr val="000000"/>
                </a:solidFill>
              </a:rPr>
              <a:t>). Describe how you know this graph can cross the </a:t>
            </a:r>
            <a:r>
              <a:rPr lang="en-US" i="1">
                <a:solidFill>
                  <a:srgbClr val="000000"/>
                </a:solidFill>
              </a:rPr>
              <a:t>x</a:t>
            </a:r>
            <a:r>
              <a:rPr lang="en-US">
                <a:solidFill>
                  <a:srgbClr val="000000"/>
                </a:solidFill>
              </a:rPr>
              <a:t>-axis only one time.</a:t>
            </a:r>
          </a:p>
        </p:txBody>
      </p:sp>
      <p:pic>
        <p:nvPicPr>
          <p:cNvPr id="3" name="Picture 2" descr="A coordinate plane.">
            <a:extLst>
              <a:ext uri="{FF2B5EF4-FFF2-40B4-BE49-F238E27FC236}">
                <a16:creationId xmlns:a16="http://schemas.microsoft.com/office/drawing/2014/main" id="{7DA1980D-A4F3-4313-763B-079AB2FB0308}"/>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157363" y="2400496"/>
            <a:ext cx="3931193" cy="4298951"/>
          </a:xfrm>
          <a:prstGeom prst="rect">
            <a:avLst/>
          </a:prstGeom>
        </p:spPr>
      </p:pic>
    </p:spTree>
    <p:extLst>
      <p:ext uri="{BB962C8B-B14F-4D97-AF65-F5344CB8AC3E}">
        <p14:creationId xmlns:p14="http://schemas.microsoft.com/office/powerpoint/2010/main" val="11058005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156BF-37E9-839A-A7B6-D0FFEC25A70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FF67ED3-4E7E-BA18-D03A-BD8395588CFE}"/>
              </a:ext>
            </a:extLst>
          </p:cNvPr>
          <p:cNvSpPr>
            <a:spLocks noGrp="1"/>
          </p:cNvSpPr>
          <p:nvPr>
            <p:ph type="title"/>
          </p:nvPr>
        </p:nvSpPr>
        <p:spPr/>
        <p:txBody>
          <a:bodyPr/>
          <a:lstStyle/>
          <a:p>
            <a:pPr algn="l"/>
            <a:r>
              <a:rPr lang="en-US" b="1"/>
              <a:t>Reading Between the Lines </a:t>
            </a:r>
            <a:r>
              <a:rPr lang="en-US" sz="2000" b="1">
                <a:solidFill>
                  <a:schemeClr val="bg1"/>
                </a:solidFill>
              </a:rPr>
              <a:t>(7 of 9) </a:t>
            </a:r>
          </a:p>
        </p:txBody>
      </p:sp>
      <p:sp>
        <p:nvSpPr>
          <p:cNvPr id="9" name="Text Placeholder 2">
            <a:extLst>
              <a:ext uri="{FF2B5EF4-FFF2-40B4-BE49-F238E27FC236}">
                <a16:creationId xmlns:a16="http://schemas.microsoft.com/office/drawing/2014/main" id="{A5E3B1A7-4597-463A-2D4A-4876C71B2E1A}"/>
              </a:ext>
            </a:extLst>
          </p:cNvPr>
          <p:cNvSpPr txBox="1">
            <a:spLocks/>
          </p:cNvSpPr>
          <p:nvPr/>
        </p:nvSpPr>
        <p:spPr>
          <a:xfrm>
            <a:off x="777241" y="1477955"/>
            <a:ext cx="5317966" cy="126319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14350">
              <a:buFont typeface="+mj-lt"/>
              <a:buAutoNum type="alphaLcPeriod" startAt="4"/>
            </a:pPr>
            <a:r>
              <a:rPr lang="en-US">
                <a:solidFill>
                  <a:srgbClr val="000000"/>
                </a:solidFill>
              </a:rPr>
              <a:t>Create a table of values for </a:t>
            </a:r>
            <a:r>
              <a:rPr lang="en-US" i="1">
                <a:solidFill>
                  <a:srgbClr val="000000"/>
                </a:solidFill>
              </a:rPr>
              <a:t>f</a:t>
            </a:r>
            <a:r>
              <a:rPr lang="en-US">
                <a:solidFill>
                  <a:srgbClr val="000000"/>
                </a:solidFill>
              </a:rPr>
              <a:t>(</a:t>
            </a:r>
            <a:r>
              <a:rPr lang="en-US" i="1">
                <a:solidFill>
                  <a:srgbClr val="000000"/>
                </a:solidFill>
              </a:rPr>
              <a:t>x</a:t>
            </a:r>
            <a:r>
              <a:rPr lang="en-US">
                <a:solidFill>
                  <a:srgbClr val="000000"/>
                </a:solidFill>
              </a:rPr>
              <a:t>).</a:t>
            </a:r>
          </a:p>
        </p:txBody>
      </p:sp>
      <p:graphicFrame>
        <p:nvGraphicFramePr>
          <p:cNvPr id="2" name="Table 1">
            <a:extLst>
              <a:ext uri="{FF2B5EF4-FFF2-40B4-BE49-F238E27FC236}">
                <a16:creationId xmlns:a16="http://schemas.microsoft.com/office/drawing/2014/main" id="{E79B23F9-7D62-BFDD-7450-DD71838D47A5}"/>
              </a:ext>
            </a:extLst>
          </p:cNvPr>
          <p:cNvGraphicFramePr>
            <a:graphicFrameLocks noGrp="1"/>
          </p:cNvGraphicFramePr>
          <p:nvPr>
            <p:extLst>
              <p:ext uri="{D42A27DB-BD31-4B8C-83A1-F6EECF244321}">
                <p14:modId xmlns:p14="http://schemas.microsoft.com/office/powerpoint/2010/main" val="1152808018"/>
              </p:ext>
            </p:extLst>
          </p:nvPr>
        </p:nvGraphicFramePr>
        <p:xfrm>
          <a:off x="1422001" y="2371232"/>
          <a:ext cx="2534858" cy="3200400"/>
        </p:xfrm>
        <a:graphic>
          <a:graphicData uri="http://schemas.openxmlformats.org/drawingml/2006/table">
            <a:tbl>
              <a:tblPr firstRow="1" bandRow="1">
                <a:tableStyleId>{5C22544A-7EE6-4342-B048-85BDC9FD1C3A}</a:tableStyleId>
              </a:tblPr>
              <a:tblGrid>
                <a:gridCol w="1267429">
                  <a:extLst>
                    <a:ext uri="{9D8B030D-6E8A-4147-A177-3AD203B41FA5}">
                      <a16:colId xmlns:a16="http://schemas.microsoft.com/office/drawing/2014/main" val="129985340"/>
                    </a:ext>
                  </a:extLst>
                </a:gridCol>
                <a:gridCol w="1267429">
                  <a:extLst>
                    <a:ext uri="{9D8B030D-6E8A-4147-A177-3AD203B41FA5}">
                      <a16:colId xmlns:a16="http://schemas.microsoft.com/office/drawing/2014/main" val="1984908727"/>
                    </a:ext>
                  </a:extLst>
                </a:gridCol>
              </a:tblGrid>
              <a:tr h="640080">
                <a:tc>
                  <a:txBody>
                    <a:bodyPr/>
                    <a:lstStyle/>
                    <a:p>
                      <a:pPr algn="ctr"/>
                      <a:r>
                        <a:rPr lang="en-US" sz="2000" i="1">
                          <a:solidFill>
                            <a:srgbClr val="000000"/>
                          </a:solidFill>
                          <a:latin typeface="+mn-lt"/>
                        </a:rPr>
                        <a:t>x</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CCC"/>
                    </a:solidFill>
                  </a:tcPr>
                </a:tc>
                <a:tc>
                  <a:txBody>
                    <a:bodyPr/>
                    <a:lstStyle/>
                    <a:p>
                      <a:pPr algn="ctr"/>
                      <a:r>
                        <a:rPr lang="en-US" sz="2000" i="1">
                          <a:solidFill>
                            <a:srgbClr val="000000"/>
                          </a:solidFill>
                          <a:latin typeface="+mn-lt"/>
                        </a:rPr>
                        <a:t>y</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CCC"/>
                    </a:solidFill>
                  </a:tcPr>
                </a:tc>
                <a:extLst>
                  <a:ext uri="{0D108BD9-81ED-4DB2-BD59-A6C34878D82A}">
                    <a16:rowId xmlns:a16="http://schemas.microsoft.com/office/drawing/2014/main" val="2384136485"/>
                  </a:ext>
                </a:extLst>
              </a:tr>
              <a:tr h="640080">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39638462"/>
                  </a:ext>
                </a:extLst>
              </a:tr>
              <a:tr h="640080">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74347187"/>
                  </a:ext>
                </a:extLst>
              </a:tr>
              <a:tr h="640080">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921337733"/>
                  </a:ext>
                </a:extLst>
              </a:tr>
              <a:tr h="640080">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endParaRPr lang="en-US" sz="2000">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33223204"/>
                  </a:ext>
                </a:extLst>
              </a:tr>
            </a:tbl>
          </a:graphicData>
        </a:graphic>
      </p:graphicFrame>
    </p:spTree>
    <p:extLst>
      <p:ext uri="{BB962C8B-B14F-4D97-AF65-F5344CB8AC3E}">
        <p14:creationId xmlns:p14="http://schemas.microsoft.com/office/powerpoint/2010/main" val="130393647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a:t>Reading Between the Lines </a:t>
            </a:r>
            <a:r>
              <a:rPr lang="en-US" sz="2000" b="1">
                <a:solidFill>
                  <a:schemeClr val="bg1"/>
                </a:solidFill>
              </a:rPr>
              <a:t>(8 of 9) </a:t>
            </a:r>
          </a:p>
        </p:txBody>
      </p:sp>
      <p:sp>
        <p:nvSpPr>
          <p:cNvPr id="9" name="Text Placeholder 2">
            <a:extLst>
              <a:ext uri="{FF2B5EF4-FFF2-40B4-BE49-F238E27FC236}">
                <a16:creationId xmlns:a16="http://schemas.microsoft.com/office/drawing/2014/main" id="{65F72D48-161D-34EA-1092-F01297B5BAE2}"/>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a:solidFill>
                  <a:srgbClr val="000000"/>
                </a:solidFill>
              </a:rPr>
              <a:t>Let’s answer the Essential Question and summarize our learning from the Talk the Talk!</a:t>
            </a:r>
          </a:p>
          <a:p>
            <a:pPr marL="0" indent="0" algn="l">
              <a:buNone/>
            </a:pPr>
            <a:endParaRPr lang="en-US" sz="2800">
              <a:solidFill>
                <a:srgbClr val="000000"/>
              </a:solidFill>
            </a:endParaRPr>
          </a:p>
          <a:p>
            <a:pPr marL="0" indent="0" algn="l">
              <a:buNone/>
            </a:pPr>
            <a:endParaRPr lang="en-US" sz="2800">
              <a:solidFill>
                <a:srgbClr val="000000"/>
              </a:solidFill>
            </a:endParaRPr>
          </a:p>
          <a:p>
            <a:pPr marL="0" indent="0">
              <a:buNone/>
            </a:pPr>
            <a:r>
              <a:rPr lang="en-US" sz="2800" b="1">
                <a:solidFill>
                  <a:srgbClr val="000000"/>
                </a:solidFill>
              </a:rPr>
              <a:t>Essential Question: </a:t>
            </a:r>
            <a:r>
              <a:rPr lang="en-US" sz="2800" b="0" i="0" u="none" strike="noStrike" baseline="0">
                <a:solidFill>
                  <a:srgbClr val="000000"/>
                </a:solidFill>
              </a:rPr>
              <a:t>How can you use the structure of the equation to identify characteristics of the function</a:t>
            </a:r>
            <a:r>
              <a:rPr lang="en-US" sz="2800">
                <a:solidFill>
                  <a:srgbClr val="000000"/>
                </a:solidFill>
              </a:rPr>
              <a:t>?</a:t>
            </a:r>
          </a:p>
          <a:p>
            <a:pPr marL="0" indent="0">
              <a:buNone/>
            </a:pPr>
            <a:endParaRPr lang="en-US" sz="2800" b="0" i="0" u="none" strike="noStrike" baseline="0">
              <a:solidFill>
                <a:srgbClr val="000000"/>
              </a:solidFill>
            </a:endParaRPr>
          </a:p>
        </p:txBody>
      </p:sp>
      <p:pic>
        <p:nvPicPr>
          <p:cNvPr id="2" name="Picture 1">
            <a:extLst>
              <a:ext uri="{FF2B5EF4-FFF2-40B4-BE49-F238E27FC236}">
                <a16:creationId xmlns:a16="http://schemas.microsoft.com/office/drawing/2014/main" id="{0F1413F2-FA04-568B-DA09-D35AB0EC72C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5830144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a:t>Reading Between the Lines </a:t>
            </a:r>
            <a:r>
              <a:rPr lang="en-US" sz="2000" b="1">
                <a:solidFill>
                  <a:schemeClr val="bg1"/>
                </a:solidFill>
              </a:rPr>
              <a:t>(9 of 9) </a:t>
            </a:r>
          </a:p>
        </p:txBody>
      </p:sp>
      <p:sp>
        <p:nvSpPr>
          <p:cNvPr id="9" name="Text Placeholder 2">
            <a:extLst>
              <a:ext uri="{FF2B5EF4-FFF2-40B4-BE49-F238E27FC236}">
                <a16:creationId xmlns:a16="http://schemas.microsoft.com/office/drawing/2014/main" id="{65F72D48-161D-34EA-1092-F01297B5BAE2}"/>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a:solidFill>
                <a:schemeClr val="bg2">
                  <a:lumMod val="25000"/>
                </a:schemeClr>
              </a:solidFill>
            </a:endParaRPr>
          </a:p>
        </p:txBody>
      </p:sp>
    </p:spTree>
    <p:extLst>
      <p:ext uri="{BB962C8B-B14F-4D97-AF65-F5344CB8AC3E}">
        <p14:creationId xmlns:p14="http://schemas.microsoft.com/office/powerpoint/2010/main" val="396640048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B7D387-9C61-158D-7FE8-B94543667394}"/>
              </a:ext>
            </a:extLst>
          </p:cNvPr>
          <p:cNvSpPr>
            <a:spLocks noGrp="1"/>
          </p:cNvSpPr>
          <p:nvPr>
            <p:ph type="title" idx="4294967295"/>
          </p:nvPr>
        </p:nvSpPr>
        <p:spPr>
          <a:xfrm>
            <a:off x="2252411" y="2395538"/>
            <a:ext cx="7685589" cy="103346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7500" b="1" i="0" u="none" strike="noStrike" kern="1200" cap="none" spc="0" normalizeH="0" baseline="0" noProof="0">
                <a:ln>
                  <a:noFill/>
                </a:ln>
                <a:solidFill>
                  <a:schemeClr val="bg2">
                    <a:lumMod val="25000"/>
                  </a:schemeClr>
                </a:solidFill>
                <a:effectLst/>
                <a:uLnTx/>
                <a:uFillTx/>
                <a:latin typeface="Calibri" panose="020F0502020204030204" pitchFamily="34" charset="0"/>
                <a:ea typeface="Calibri" panose="020F0502020204030204" pitchFamily="34" charset="0"/>
                <a:cs typeface="Calibri" panose="020F0502020204030204" pitchFamily="34" charset="0"/>
              </a:rPr>
              <a:t>Graphic Organizer</a:t>
            </a:r>
          </a:p>
        </p:txBody>
      </p:sp>
    </p:spTree>
    <p:extLst>
      <p:ext uri="{BB962C8B-B14F-4D97-AF65-F5344CB8AC3E}">
        <p14:creationId xmlns:p14="http://schemas.microsoft.com/office/powerpoint/2010/main" val="8232540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8D76E-B79A-4C2A-EC10-6CBC98A2C0E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42EA181-CCBB-EEC2-3647-B329008DBDF0}"/>
              </a:ext>
            </a:extLst>
          </p:cNvPr>
          <p:cNvSpPr>
            <a:spLocks noGrp="1"/>
          </p:cNvSpPr>
          <p:nvPr>
            <p:ph type="title"/>
          </p:nvPr>
        </p:nvSpPr>
        <p:spPr/>
        <p:txBody>
          <a:bodyPr/>
          <a:lstStyle/>
          <a:p>
            <a:pPr algn="l"/>
            <a:r>
              <a:rPr lang="en-US" b="1"/>
              <a:t>Graphic Organizer </a:t>
            </a:r>
            <a:r>
              <a:rPr lang="en-US" sz="2000" b="1">
                <a:solidFill>
                  <a:schemeClr val="bg1"/>
                </a:solidFill>
              </a:rPr>
              <a:t>(1 of 1)</a:t>
            </a:r>
          </a:p>
        </p:txBody>
      </p:sp>
      <p:sp>
        <p:nvSpPr>
          <p:cNvPr id="9" name="Text Placeholder 2">
            <a:extLst>
              <a:ext uri="{FF2B5EF4-FFF2-40B4-BE49-F238E27FC236}">
                <a16:creationId xmlns:a16="http://schemas.microsoft.com/office/drawing/2014/main" id="{ADCF9E9A-6E6D-CC19-496C-5B586AF5C46E}"/>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a:solidFill>
                <a:schemeClr val="bg2">
                  <a:lumMod val="25000"/>
                </a:schemeClr>
              </a:solidFill>
            </a:endParaRPr>
          </a:p>
        </p:txBody>
      </p:sp>
      <p:pic>
        <p:nvPicPr>
          <p:cNvPr id="5" name="Picture 4" descr="A graphic organizer. F of x = 2 x minus 8. General form: f of x = a x + b, where a and b are real numbers and a does not equal 0. Factored form: f of x = a left parenthesis x minus c right parenthesis, where a and c are real numbers and a does not equal 0. Graph: a coordinate plane. Table: a table with columns x and y and 4 blank rows.">
            <a:extLst>
              <a:ext uri="{FF2B5EF4-FFF2-40B4-BE49-F238E27FC236}">
                <a16:creationId xmlns:a16="http://schemas.microsoft.com/office/drawing/2014/main" id="{A629E8A2-E30E-2293-127B-16BABB8E049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489981" y="0"/>
            <a:ext cx="5096033" cy="6858000"/>
          </a:xfrm>
          <a:prstGeom prst="rect">
            <a:avLst/>
          </a:prstGeom>
        </p:spPr>
      </p:pic>
    </p:spTree>
    <p:extLst>
      <p:ext uri="{BB962C8B-B14F-4D97-AF65-F5344CB8AC3E}">
        <p14:creationId xmlns:p14="http://schemas.microsoft.com/office/powerpoint/2010/main" val="21335150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6526A4E-430A-7F6C-63B6-E74740858B16}"/>
              </a:ext>
            </a:extLst>
          </p:cNvPr>
          <p:cNvSpPr>
            <a:spLocks noGrp="1"/>
          </p:cNvSpPr>
          <p:nvPr>
            <p:ph type="title" idx="4294967295"/>
          </p:nvPr>
        </p:nvSpPr>
        <p:spPr>
          <a:xfrm>
            <a:off x="838200" y="-299258"/>
            <a:ext cx="10514013" cy="299258"/>
          </a:xfrm>
          <a:prstGeom prst="rect">
            <a:avLst/>
          </a:prstGeom>
        </p:spPr>
        <p:txBody>
          <a:bodyPr anchor="b"/>
          <a:lstStyle/>
          <a:p>
            <a:r>
              <a:rPr lang="en-US" sz="2000">
                <a:solidFill>
                  <a:schemeClr val="bg2"/>
                </a:solidFill>
              </a:rPr>
              <a:t>Prepare</a:t>
            </a:r>
          </a:p>
        </p:txBody>
      </p:sp>
    </p:spTree>
    <p:extLst>
      <p:ext uri="{BB962C8B-B14F-4D97-AF65-F5344CB8AC3E}">
        <p14:creationId xmlns:p14="http://schemas.microsoft.com/office/powerpoint/2010/main" val="7845629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1C6DF-139C-D914-CA27-4043490378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9A76E7-5405-452B-A5DD-6B559DABE30F}"/>
              </a:ext>
            </a:extLst>
          </p:cNvPr>
          <p:cNvSpPr>
            <a:spLocks noGrp="1"/>
          </p:cNvSpPr>
          <p:nvPr>
            <p:ph type="title"/>
          </p:nvPr>
        </p:nvSpPr>
        <p:spPr/>
        <p:txBody>
          <a:bodyPr/>
          <a:lstStyle/>
          <a:p>
            <a:pPr algn="l"/>
            <a:r>
              <a:rPr lang="en-US" b="1"/>
              <a:t>Prepare for Module 2 Topic 2 Lesson 1</a:t>
            </a:r>
          </a:p>
        </p:txBody>
      </p:sp>
      <p:sp>
        <p:nvSpPr>
          <p:cNvPr id="2" name="Text Placeholder 2">
            <a:extLst>
              <a:ext uri="{FF2B5EF4-FFF2-40B4-BE49-F238E27FC236}">
                <a16:creationId xmlns:a16="http://schemas.microsoft.com/office/drawing/2014/main" id="{06890774-7848-58D0-0262-B11B4D8F7BE9}"/>
              </a:ext>
            </a:extLst>
          </p:cNvPr>
          <p:cNvSpPr txBox="1">
            <a:spLocks/>
          </p:cNvSpPr>
          <p:nvPr/>
        </p:nvSpPr>
        <p:spPr>
          <a:xfrm>
            <a:off x="777240" y="1616140"/>
            <a:ext cx="9223287" cy="3962857"/>
          </a:xfrm>
          <a:prstGeom prst="rect">
            <a:avLst/>
          </a:prstGeom>
        </p:spPr>
        <p:txBody>
          <a:bodyPr lIns="91440" tIns="45720" rIns="91440" bIns="45720"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a:solidFill>
                  <a:srgbClr val="000000"/>
                </a:solidFill>
              </a:rPr>
              <a:t>Determine each value, given the function </a:t>
            </a:r>
            <a:r>
              <a:rPr lang="en-US" sz="2800" i="1">
                <a:solidFill>
                  <a:srgbClr val="000000"/>
                </a:solidFill>
              </a:rPr>
              <a:t>h</a:t>
            </a:r>
            <a:r>
              <a:rPr lang="en-US" sz="2800">
                <a:solidFill>
                  <a:srgbClr val="000000"/>
                </a:solidFill>
              </a:rPr>
              <a:t>(</a:t>
            </a:r>
            <a:r>
              <a:rPr lang="en-US" sz="2800" i="1">
                <a:solidFill>
                  <a:srgbClr val="000000"/>
                </a:solidFill>
              </a:rPr>
              <a:t>x</a:t>
            </a:r>
            <a:r>
              <a:rPr lang="en-US" sz="2800">
                <a:solidFill>
                  <a:srgbClr val="000000"/>
                </a:solidFill>
              </a:rPr>
              <a:t>) = −2</a:t>
            </a:r>
            <a:r>
              <a:rPr lang="en-US" sz="2800" i="1">
                <a:solidFill>
                  <a:srgbClr val="000000"/>
                </a:solidFill>
              </a:rPr>
              <a:t>x</a:t>
            </a:r>
            <a:r>
              <a:rPr lang="en-US" sz="2800">
                <a:solidFill>
                  <a:srgbClr val="000000"/>
                </a:solidFill>
              </a:rPr>
              <a:t> – 5.</a:t>
            </a:r>
          </a:p>
          <a:p>
            <a:pPr marL="514350" indent="-514350">
              <a:buFont typeface="+mj-lt"/>
              <a:buAutoNum type="arabicPeriod"/>
            </a:pPr>
            <a:r>
              <a:rPr lang="en-US" sz="2800">
                <a:solidFill>
                  <a:srgbClr val="000000"/>
                </a:solidFill>
              </a:rPr>
              <a:t> </a:t>
            </a:r>
            <a:r>
              <a:rPr lang="en-US" sz="2800" i="1">
                <a:solidFill>
                  <a:srgbClr val="000000"/>
                </a:solidFill>
              </a:rPr>
              <a:t>h</a:t>
            </a:r>
            <a:r>
              <a:rPr lang="en-US" sz="2800">
                <a:solidFill>
                  <a:srgbClr val="000000"/>
                </a:solidFill>
              </a:rPr>
              <a:t>(3)</a:t>
            </a:r>
            <a:br>
              <a:rPr lang="en-US" sz="2800">
                <a:solidFill>
                  <a:srgbClr val="000000"/>
                </a:solidFill>
              </a:rPr>
            </a:br>
            <a:endParaRPr lang="en-US" sz="2800">
              <a:solidFill>
                <a:srgbClr val="000000"/>
              </a:solidFill>
            </a:endParaRPr>
          </a:p>
          <a:p>
            <a:pPr marL="514350" indent="-514350">
              <a:buFont typeface="+mj-lt"/>
              <a:buAutoNum type="arabicPeriod"/>
            </a:pPr>
            <a:r>
              <a:rPr lang="en-US" sz="2800">
                <a:solidFill>
                  <a:srgbClr val="000000"/>
                </a:solidFill>
              </a:rPr>
              <a:t> 2 ∙ </a:t>
            </a:r>
            <a:r>
              <a:rPr lang="en-US" sz="2800" i="1">
                <a:solidFill>
                  <a:srgbClr val="000000"/>
                </a:solidFill>
              </a:rPr>
              <a:t>h</a:t>
            </a:r>
            <a:r>
              <a:rPr lang="en-US" sz="2800">
                <a:solidFill>
                  <a:srgbClr val="000000"/>
                </a:solidFill>
              </a:rPr>
              <a:t>(−2)</a:t>
            </a:r>
            <a:br>
              <a:rPr lang="en-US" sz="2800">
                <a:solidFill>
                  <a:srgbClr val="000000"/>
                </a:solidFill>
              </a:rPr>
            </a:br>
            <a:endParaRPr lang="en-US" sz="2800">
              <a:solidFill>
                <a:srgbClr val="000000"/>
              </a:solidFill>
            </a:endParaRPr>
          </a:p>
          <a:p>
            <a:pPr marL="514350" indent="-514350">
              <a:buFont typeface="+mj-lt"/>
              <a:buAutoNum type="arabicPeriod"/>
            </a:pPr>
            <a:r>
              <a:rPr lang="en-US" sz="2800">
                <a:solidFill>
                  <a:srgbClr val="000000"/>
                </a:solidFill>
              </a:rPr>
              <a:t>−1 ∙ </a:t>
            </a:r>
            <a:r>
              <a:rPr lang="en-US" sz="2800" i="1">
                <a:solidFill>
                  <a:srgbClr val="000000"/>
                </a:solidFill>
              </a:rPr>
              <a:t>h</a:t>
            </a:r>
            <a:r>
              <a:rPr lang="en-US" sz="2800">
                <a:solidFill>
                  <a:srgbClr val="000000"/>
                </a:solidFill>
              </a:rPr>
              <a:t>(1) + 5</a:t>
            </a:r>
            <a:br>
              <a:rPr lang="en-US" sz="2800">
                <a:solidFill>
                  <a:srgbClr val="000000"/>
                </a:solidFill>
              </a:rPr>
            </a:br>
            <a:endParaRPr lang="en-US" sz="2800">
              <a:solidFill>
                <a:srgbClr val="000000"/>
              </a:solidFill>
            </a:endParaRPr>
          </a:p>
          <a:p>
            <a:pPr marL="514350" indent="-514350">
              <a:buFont typeface="+mj-lt"/>
              <a:buAutoNum type="arabicPeriod"/>
            </a:pPr>
            <a:r>
              <a:rPr lang="en-US" sz="2800">
                <a:solidFill>
                  <a:srgbClr val="000000"/>
                </a:solidFill>
              </a:rPr>
              <a:t>5 ∙ </a:t>
            </a:r>
            <a:r>
              <a:rPr lang="en-US" sz="2800" i="1">
                <a:solidFill>
                  <a:srgbClr val="000000"/>
                </a:solidFill>
              </a:rPr>
              <a:t>h</a:t>
            </a:r>
            <a:r>
              <a:rPr lang="en-US" sz="2800">
                <a:solidFill>
                  <a:srgbClr val="000000"/>
                </a:solidFill>
              </a:rPr>
              <a:t>(0) + 5</a:t>
            </a:r>
          </a:p>
        </p:txBody>
      </p:sp>
    </p:spTree>
    <p:extLst>
      <p:ext uri="{BB962C8B-B14F-4D97-AF65-F5344CB8AC3E}">
        <p14:creationId xmlns:p14="http://schemas.microsoft.com/office/powerpoint/2010/main" val="349278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AF44A-A2BF-5213-0768-B06DA52229A6}"/>
              </a:ext>
            </a:extLst>
          </p:cNvPr>
          <p:cNvSpPr>
            <a:spLocks noGrp="1"/>
          </p:cNvSpPr>
          <p:nvPr>
            <p:ph type="title" idx="4294967295"/>
          </p:nvPr>
        </p:nvSpPr>
        <p:spPr>
          <a:xfrm>
            <a:off x="838200" y="-357447"/>
            <a:ext cx="10514013" cy="357447"/>
          </a:xfrm>
          <a:prstGeom prst="rect">
            <a:avLst/>
          </a:prstGeom>
        </p:spPr>
        <p:txBody>
          <a:bodyPr anchor="b"/>
          <a:lstStyle/>
          <a:p>
            <a:r>
              <a:rPr lang="en-US" sz="2000">
                <a:solidFill>
                  <a:schemeClr val="bg2"/>
                </a:solidFill>
              </a:rPr>
              <a:t>Acknowledgment and Notice</a:t>
            </a:r>
          </a:p>
        </p:txBody>
      </p:sp>
    </p:spTree>
    <p:extLst>
      <p:ext uri="{BB962C8B-B14F-4D97-AF65-F5344CB8AC3E}">
        <p14:creationId xmlns:p14="http://schemas.microsoft.com/office/powerpoint/2010/main" val="36328778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05E585-903C-AE75-891E-98E899BA927D}"/>
              </a:ext>
            </a:extLst>
          </p:cNvPr>
          <p:cNvSpPr>
            <a:spLocks noGrp="1"/>
          </p:cNvSpPr>
          <p:nvPr>
            <p:ph type="title" idx="4294967295"/>
          </p:nvPr>
        </p:nvSpPr>
        <p:spPr>
          <a:xfrm>
            <a:off x="8155889" y="4975063"/>
            <a:ext cx="3431356" cy="414778"/>
          </a:xfrm>
          <a:prstGeom prst="rect">
            <a:avLst/>
          </a:prstGeom>
          <a:solidFill>
            <a:srgbClr val="2B8147"/>
          </a:solidFill>
          <a:ln>
            <a:noFill/>
            <a:prstDash/>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a:ln>
                  <a:noFill/>
                </a:ln>
                <a:solidFill>
                  <a:schemeClr val="bg1"/>
                </a:solidFill>
                <a:effectLst/>
                <a:uLnTx/>
                <a:uFillTx/>
                <a:latin typeface="+mn-lt"/>
                <a:ea typeface="+mn-ea"/>
                <a:cs typeface="+mn-cs"/>
              </a:rPr>
              <a:t>BLMATH_AlgI_M2_T1_L6_DCS_ENG</a:t>
            </a:r>
            <a:endParaRPr kumimoji="0" lang="en-US" sz="1800" b="0" i="0" u="none" strike="noStrike" kern="1200" cap="none" spc="0" normalizeH="0" baseline="0" noProof="0">
              <a:ln>
                <a:noFill/>
              </a:ln>
              <a:solidFill>
                <a:schemeClr val="bg1"/>
              </a:solidFill>
              <a:effectLst/>
              <a:uLnTx/>
              <a:uFillTx/>
              <a:latin typeface="+mn-lt"/>
              <a:ea typeface="Calibri"/>
              <a:cs typeface="Calibri"/>
            </a:endParaRPr>
          </a:p>
        </p:txBody>
      </p:sp>
    </p:spTree>
    <p:extLst>
      <p:ext uri="{BB962C8B-B14F-4D97-AF65-F5344CB8AC3E}">
        <p14:creationId xmlns:p14="http://schemas.microsoft.com/office/powerpoint/2010/main" val="1308572728"/>
      </p:ext>
    </p:extLst>
  </p:cSld>
  <p:clrMapOvr>
    <a:masterClrMapping/>
  </p:clrMapOvr>
</p:sld>
</file>

<file path=ppt/theme/theme1.xml><?xml version="1.0" encoding="utf-8"?>
<a:theme xmlns:a="http://schemas.openxmlformats.org/drawingml/2006/main" name="A1_green">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7_navy">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G8_purple">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G6_teal">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aa991ed-cfdb-45f0-90fe-74f6c83d7f1e" xsi:nil="true"/>
    <lcf76f155ced4ddcb4097134ff3c332f xmlns="33e0dbe9-2ee3-4e40-8d2a-c14405aa398e">
      <Terms xmlns="http://schemas.microsoft.com/office/infopath/2007/PartnerControls"/>
    </lcf76f155ced4ddcb4097134ff3c332f>
    <Uploaded xmlns="33e0dbe9-2ee3-4e40-8d2a-c14405aa398e">true</Uploaded>
    <SharedWithUsers xmlns="5aa991ed-cfdb-45f0-90fe-74f6c83d7f1e">
      <UserInfo>
        <DisplayName/>
        <AccountId xsi:nil="true"/>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AE0C664B4FDA64F8529B02C06F03698" ma:contentTypeVersion="15" ma:contentTypeDescription="Create a new document." ma:contentTypeScope="" ma:versionID="4bf8706da78cd0fcda70025af99f6a26">
  <xsd:schema xmlns:xsd="http://www.w3.org/2001/XMLSchema" xmlns:xs="http://www.w3.org/2001/XMLSchema" xmlns:p="http://schemas.microsoft.com/office/2006/metadata/properties" xmlns:ns2="33e0dbe9-2ee3-4e40-8d2a-c14405aa398e" xmlns:ns3="5aa991ed-cfdb-45f0-90fe-74f6c83d7f1e" targetNamespace="http://schemas.microsoft.com/office/2006/metadata/properties" ma:root="true" ma:fieldsID="aff2f77c8a19f3557e1e9d39b143470b" ns2:_="" ns3:_="">
    <xsd:import namespace="33e0dbe9-2ee3-4e40-8d2a-c14405aa398e"/>
    <xsd:import namespace="5aa991ed-cfdb-45f0-90fe-74f6c83d7f1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Upload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e0dbe9-2ee3-4e40-8d2a-c14405aa39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b7a77b5-e59d-49f3-97a2-3dde868dbe2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Uploaded" ma:index="22" nillable="true" ma:displayName="Uploaded" ma:default="1" ma:description="Check for uploaded into Sharefile" ma:format="Dropdown" ma:internalName="Upload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5aa991ed-cfdb-45f0-90fe-74f6c83d7f1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57405ce4-92a5-4ced-b4fb-968b1592fafc}" ma:internalName="TaxCatchAll" ma:showField="CatchAllData" ma:web="5aa991ed-cfdb-45f0-90fe-74f6c83d7f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4C40A32-31E8-4858-87A9-973F15D55D2C}">
  <ds:schemaRefs>
    <ds:schemaRef ds:uri="http://schemas.microsoft.com/sharepoint/v3/contenttype/forms"/>
  </ds:schemaRefs>
</ds:datastoreItem>
</file>

<file path=customXml/itemProps2.xml><?xml version="1.0" encoding="utf-8"?>
<ds:datastoreItem xmlns:ds="http://schemas.openxmlformats.org/officeDocument/2006/customXml" ds:itemID="{788DFB36-FBAE-42FF-A732-AA8F5E6D15D5}">
  <ds:schemaRefs>
    <ds:schemaRef ds:uri="33e0dbe9-2ee3-4e40-8d2a-c14405aa398e"/>
    <ds:schemaRef ds:uri="5aa991ed-cfdb-45f0-90fe-74f6c83d7f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94E78E5-0154-4C1E-9E02-E002822E6ADC}">
  <ds:schemaRefs>
    <ds:schemaRef ds:uri="33e0dbe9-2ee3-4e40-8d2a-c14405aa398e"/>
    <ds:schemaRef ds:uri="5aa991ed-cfdb-45f0-90fe-74f6c83d7f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8362</Words>
  <Application>Microsoft Office PowerPoint</Application>
  <PresentationFormat>Custom</PresentationFormat>
  <Paragraphs>885</Paragraphs>
  <Slides>81</Slides>
  <Notes>81</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81</vt:i4>
      </vt:variant>
    </vt:vector>
  </HeadingPairs>
  <TitlesOfParts>
    <vt:vector size="90" baseType="lpstr">
      <vt:lpstr>Arial</vt:lpstr>
      <vt:lpstr>Calibri</vt:lpstr>
      <vt:lpstr>Cambria Math</vt:lpstr>
      <vt:lpstr>Lato-Regular</vt:lpstr>
      <vt:lpstr>Wingdings</vt:lpstr>
      <vt:lpstr>A1_green</vt:lpstr>
      <vt:lpstr>G7_navy</vt:lpstr>
      <vt:lpstr>G8_purple</vt:lpstr>
      <vt:lpstr>G6_teal</vt:lpstr>
      <vt:lpstr>Making Sense of Different Representations of a Linear Function</vt:lpstr>
      <vt:lpstr>Objectives</vt:lpstr>
      <vt:lpstr>Key Terms (1 of 4)</vt:lpstr>
      <vt:lpstr>Key Terms (2 of 4)</vt:lpstr>
      <vt:lpstr>Key Terms (3 of 4)</vt:lpstr>
      <vt:lpstr>Key Terms (4 of 4)</vt:lpstr>
      <vt:lpstr>Essential Question (1 of 3)</vt:lpstr>
      <vt:lpstr>Day 1</vt:lpstr>
      <vt:lpstr>Getting Started</vt:lpstr>
      <vt:lpstr>Well, Are Ya or Aren’t Ya? (1 of 5)</vt:lpstr>
      <vt:lpstr>Well, Are Ya or Aren’t Ya? (2 of 5)</vt:lpstr>
      <vt:lpstr>Well, Are Ya or Aren’t Ya? (3 of 5)</vt:lpstr>
      <vt:lpstr>Well, Are Ya or Aren’t Ya? (4 of 5)</vt:lpstr>
      <vt:lpstr>Well, Are Ya or Aren’t Ya? (5 of 5)</vt:lpstr>
      <vt:lpstr>Activity 6.1</vt:lpstr>
      <vt:lpstr>Interpreting Linear Functions (1 of 10)</vt:lpstr>
      <vt:lpstr>Interpreting Linear Functions (2 of 10)</vt:lpstr>
      <vt:lpstr>Interpreting Linear Functions (3 of 10)</vt:lpstr>
      <vt:lpstr>Interpreting Linear Functions (4 of 10)</vt:lpstr>
      <vt:lpstr>Interpreting Linear Functions (5 of 10)</vt:lpstr>
      <vt:lpstr>Interpreting Linear Functions (6 of 10)</vt:lpstr>
      <vt:lpstr>Interpreting Linear Functions (7 of 10)</vt:lpstr>
      <vt:lpstr>Interpreting Linear Functions (8 of 10)</vt:lpstr>
      <vt:lpstr>Interpreting Linear Functions (9 of 10)</vt:lpstr>
      <vt:lpstr>Interpreting Linear Functions (10 of 10)</vt:lpstr>
      <vt:lpstr>Day 2</vt:lpstr>
      <vt:lpstr>Essential Question (2 of 3)</vt:lpstr>
      <vt:lpstr>Activity 6.2</vt:lpstr>
      <vt:lpstr>Interpreting Graphs of Linear Functions (1 of 11)</vt:lpstr>
      <vt:lpstr>Interpreting Graphs of Linear Functions (2 of 11)</vt:lpstr>
      <vt:lpstr>Interpreting Graphs of Linear Functions (3 of 11)</vt:lpstr>
      <vt:lpstr>Interpreting Graphs of Linear Functions (4 of 11)</vt:lpstr>
      <vt:lpstr>Interpreting Graphs of Linear Functions (5 of 11)</vt:lpstr>
      <vt:lpstr>Interpreting Graphs of Linear Functions (6 of 11)</vt:lpstr>
      <vt:lpstr>Interpreting Graphs of Linear Functions (7 of 11)</vt:lpstr>
      <vt:lpstr>Interpreting Graphs of Linear Functions (8 of 11)</vt:lpstr>
      <vt:lpstr>Interpreting Graphs of Linear Functions (9 of 11)</vt:lpstr>
      <vt:lpstr>Interpreting Graphs of Linear Functions (10 of 11)</vt:lpstr>
      <vt:lpstr>Interpreting Graphs of Linear Functions (11 of 11)</vt:lpstr>
      <vt:lpstr>Activity 6.3</vt:lpstr>
      <vt:lpstr>Interpreting Changes to the Graph of a Linear Function (1 of 15)</vt:lpstr>
      <vt:lpstr>Interpreting Changes to the Graph of a Linear Function (2 of 15)</vt:lpstr>
      <vt:lpstr>Interpreting Changes to the Graph of a Linear Function (3 of 15)</vt:lpstr>
      <vt:lpstr>Interpreting Changes to the Graph of a Linear Function (4 of 15)</vt:lpstr>
      <vt:lpstr>Interpreting Changes to the Graph of a Linear Function (5 of 15)</vt:lpstr>
      <vt:lpstr>Interpreting Changes to the Graph of a Linear Function (6 of 15)</vt:lpstr>
      <vt:lpstr>Interpreting Changes to the Graph of a Linear Function (7 of 15)</vt:lpstr>
      <vt:lpstr>Interpreting Changes to the Graph of a Linear Function (8 of 15)</vt:lpstr>
      <vt:lpstr>Interpreting Changes to the Graph of a Linear Function (9 of 15)</vt:lpstr>
      <vt:lpstr>Interpreting Changes to the Graph of a Linear Function (10 of 15)</vt:lpstr>
      <vt:lpstr>Interpreting Changes to the Graph of a Linear Function (11 of 15)</vt:lpstr>
      <vt:lpstr>Interpreting Changes to the Graph of a Linear Function (12 of 15)</vt:lpstr>
      <vt:lpstr>Interpreting Changes to the Graph of a Linear Function (13 of 15)</vt:lpstr>
      <vt:lpstr>Interpreting Changes to the Graph of a Linear Function (14 of 15)</vt:lpstr>
      <vt:lpstr>Interpreting Changes to the Graph of a Linear Function (15 of 15)</vt:lpstr>
      <vt:lpstr>Day 3</vt:lpstr>
      <vt:lpstr>Essential Question (3 of 3)</vt:lpstr>
      <vt:lpstr>Activity 6.4</vt:lpstr>
      <vt:lpstr>Interpreting More Changes to the Graph of a Linear Function (1 of 7)</vt:lpstr>
      <vt:lpstr>Interpreting More Changes to the Graph of a Linear Function (2 of 7)</vt:lpstr>
      <vt:lpstr>Interpreting More Changes to the Graph of a Linear Function (3 of 7)</vt:lpstr>
      <vt:lpstr>Interpreting More Changes to the Graph of a Linear Function (4 of 7)</vt:lpstr>
      <vt:lpstr>Interpreting More Changes to the Graph of a Linear Function (5 of 7)</vt:lpstr>
      <vt:lpstr>Interpreting More Changes to the Graph of a Linear Function (6 of 7)</vt:lpstr>
      <vt:lpstr>Interpreting More Changes to the Graph of a Linear Function (7 of 7) </vt:lpstr>
      <vt:lpstr>Talk the Talk</vt:lpstr>
      <vt:lpstr>Reading Between the Lines (1 of 9) </vt:lpstr>
      <vt:lpstr>Reading Between the Lines (2 of 9) </vt:lpstr>
      <vt:lpstr>Reading Between the Lines (3 of 9) </vt:lpstr>
      <vt:lpstr>Reading Between the Lines (4 of 9) </vt:lpstr>
      <vt:lpstr>Reading Between the Lines (5 of 9)</vt:lpstr>
      <vt:lpstr>Reading Between the Lines (6 of 9) </vt:lpstr>
      <vt:lpstr>Reading Between the Lines (7 of 9) </vt:lpstr>
      <vt:lpstr>Reading Between the Lines (8 of 9) </vt:lpstr>
      <vt:lpstr>Reading Between the Lines (9 of 9) </vt:lpstr>
      <vt:lpstr>Graphic Organizer</vt:lpstr>
      <vt:lpstr>Graphic Organizer (1 of 1)</vt:lpstr>
      <vt:lpstr>Prepare</vt:lpstr>
      <vt:lpstr>Prepare for Module 2 Topic 2 Lesson 1</vt:lpstr>
      <vt:lpstr>Acknowledgment and Notice</vt:lpstr>
      <vt:lpstr>BLMATH_AlgI_M2_T1_L6_DCS_ENG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Singh Amandeep</dc:creator>
  <cp:lastModifiedBy>Gann, Nickole</cp:lastModifiedBy>
  <cp:revision>1</cp:revision>
  <dcterms:created xsi:type="dcterms:W3CDTF">2024-02-22T09:58:00Z</dcterms:created>
  <dcterms:modified xsi:type="dcterms:W3CDTF">2025-05-28T18:52:01Z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A7190AC9080C4877A6E26CA982D6CC88_12</vt:lpwstr>
  </property>
  <property fmtid="{D5CDD505-2E9C-101B-9397-08002B2CF9AE}" pid="3" name="KSOProductBuildVer">
    <vt:lpwstr>1033-12.2.0.16731</vt:lpwstr>
  </property>
  <property fmtid="{D5CDD505-2E9C-101B-9397-08002B2CF9AE}" pid="4" name="ContentTypeId">
    <vt:lpwstr>0x0101009AE0C664B4FDA64F8529B02C06F03698</vt:lpwstr>
  </property>
  <property fmtid="{D5CDD505-2E9C-101B-9397-08002B2CF9AE}" pid="5" name="MediaServiceImageTags">
    <vt:lpwstr/>
  </property>
  <property fmtid="{D5CDD505-2E9C-101B-9397-08002B2CF9AE}" pid="6" name="Order">
    <vt:r8>3629600</vt:r8>
  </property>
  <property fmtid="{D5CDD505-2E9C-101B-9397-08002B2CF9AE}" pid="7" name="xd_Signature">
    <vt:bool>false</vt:bool>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