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5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0" r:id="rId4"/>
    <p:sldMasterId id="2147483779" r:id="rId5"/>
    <p:sldMasterId id="2147483799" r:id="rId6"/>
    <p:sldMasterId id="2147483819" r:id="rId7"/>
  </p:sldMasterIdLst>
  <p:notesMasterIdLst>
    <p:notesMasterId r:id="rId66"/>
  </p:notesMasterIdLst>
  <p:sldIdLst>
    <p:sldId id="329" r:id="rId8"/>
    <p:sldId id="300" r:id="rId9"/>
    <p:sldId id="363" r:id="rId10"/>
    <p:sldId id="365" r:id="rId11"/>
    <p:sldId id="366" r:id="rId12"/>
    <p:sldId id="360" r:id="rId13"/>
    <p:sldId id="378" r:id="rId14"/>
    <p:sldId id="334" r:id="rId15"/>
    <p:sldId id="425" r:id="rId16"/>
    <p:sldId id="333" r:id="rId17"/>
    <p:sldId id="367" r:id="rId18"/>
    <p:sldId id="352" r:id="rId19"/>
    <p:sldId id="359" r:id="rId20"/>
    <p:sldId id="368" r:id="rId21"/>
    <p:sldId id="383" r:id="rId22"/>
    <p:sldId id="385" r:id="rId23"/>
    <p:sldId id="387" r:id="rId24"/>
    <p:sldId id="386" r:id="rId25"/>
    <p:sldId id="388" r:id="rId26"/>
    <p:sldId id="389" r:id="rId27"/>
    <p:sldId id="390" r:id="rId28"/>
    <p:sldId id="391" r:id="rId29"/>
    <p:sldId id="392" r:id="rId30"/>
    <p:sldId id="393" r:id="rId31"/>
    <p:sldId id="396" r:id="rId32"/>
    <p:sldId id="397" r:id="rId33"/>
    <p:sldId id="427" r:id="rId34"/>
    <p:sldId id="428" r:id="rId35"/>
    <p:sldId id="394" r:id="rId36"/>
    <p:sldId id="398" r:id="rId37"/>
    <p:sldId id="399" r:id="rId38"/>
    <p:sldId id="404" r:id="rId39"/>
    <p:sldId id="400" r:id="rId40"/>
    <p:sldId id="401" r:id="rId41"/>
    <p:sldId id="402" r:id="rId42"/>
    <p:sldId id="426" r:id="rId43"/>
    <p:sldId id="403" r:id="rId44"/>
    <p:sldId id="405" r:id="rId45"/>
    <p:sldId id="406" r:id="rId46"/>
    <p:sldId id="407" r:id="rId47"/>
    <p:sldId id="408" r:id="rId48"/>
    <p:sldId id="409" r:id="rId49"/>
    <p:sldId id="410" r:id="rId50"/>
    <p:sldId id="411" r:id="rId51"/>
    <p:sldId id="412" r:id="rId52"/>
    <p:sldId id="413" r:id="rId53"/>
    <p:sldId id="414" r:id="rId54"/>
    <p:sldId id="415" r:id="rId55"/>
    <p:sldId id="416" r:id="rId56"/>
    <p:sldId id="417" r:id="rId57"/>
    <p:sldId id="418" r:id="rId58"/>
    <p:sldId id="419" r:id="rId59"/>
    <p:sldId id="373" r:id="rId60"/>
    <p:sldId id="356" r:id="rId61"/>
    <p:sldId id="422" r:id="rId62"/>
    <p:sldId id="423" r:id="rId63"/>
    <p:sldId id="429" r:id="rId74"/>
    <p:sldId id="357" r:id="rId64"/>
    <p:sldId id="294" r:id="rId65"/>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C325DA1-0459-4F8C-ADD2-2F71BA12DE8E}">
          <p14:sldIdLst>
            <p14:sldId id="329"/>
            <p14:sldId id="300"/>
            <p14:sldId id="363"/>
            <p14:sldId id="365"/>
            <p14:sldId id="366"/>
            <p14:sldId id="360"/>
            <p14:sldId id="378"/>
            <p14:sldId id="334"/>
            <p14:sldId id="425"/>
            <p14:sldId id="333"/>
            <p14:sldId id="367"/>
            <p14:sldId id="352"/>
            <p14:sldId id="359"/>
            <p14:sldId id="368"/>
            <p14:sldId id="383"/>
            <p14:sldId id="385"/>
            <p14:sldId id="387"/>
            <p14:sldId id="386"/>
            <p14:sldId id="388"/>
            <p14:sldId id="389"/>
            <p14:sldId id="390"/>
            <p14:sldId id="391"/>
            <p14:sldId id="392"/>
            <p14:sldId id="393"/>
            <p14:sldId id="396"/>
            <p14:sldId id="397"/>
            <p14:sldId id="427"/>
            <p14:sldId id="428"/>
            <p14:sldId id="394"/>
            <p14:sldId id="398"/>
            <p14:sldId id="399"/>
            <p14:sldId id="404"/>
            <p14:sldId id="400"/>
            <p14:sldId id="401"/>
            <p14:sldId id="402"/>
            <p14:sldId id="426"/>
            <p14:sldId id="403"/>
            <p14:sldId id="405"/>
            <p14:sldId id="406"/>
            <p14:sldId id="407"/>
            <p14:sldId id="408"/>
            <p14:sldId id="409"/>
            <p14:sldId id="410"/>
            <p14:sldId id="411"/>
            <p14:sldId id="412"/>
            <p14:sldId id="413"/>
            <p14:sldId id="414"/>
            <p14:sldId id="415"/>
            <p14:sldId id="416"/>
            <p14:sldId id="417"/>
            <p14:sldId id="418"/>
            <p14:sldId id="419"/>
            <p14:sldId id="373"/>
            <p14:sldId id="356"/>
            <p14:sldId id="422"/>
            <p14:sldId id="423"/>
            <p14:sldId id="357"/>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8DC81B-4C28-527E-885E-9B2AED89ECFE}" name="Melissa Elias" initials="ME" userId="S::Melissa.Elias@greatminds.org::e7d7a35f-474b-4e63-8079-946b19bb5503" providerId="AD"/>
  <p188:author id="{C99B7E20-C849-7B22-A7A7-103B5A04F691}" name="Seidman, Peter" initials="PS" userId="S::pseidman@pcgus.com::ff44f5d8-e3d0-428b-b9dd-4e94c9627a04" providerId="AD"/>
  <p188:author id="{86DFD92F-4DE3-A83D-6DF7-63FE6F0E1BD1}" name="Hanna, Whitney" initials="HW" userId="S::whanna@pcgus.com::3c096e95-afb8-40fa-be4f-086ecf1c96e8" providerId="AD"/>
  <p188:author id="{D9382532-E0D8-1FFA-47B6-DA50BC81D150}" name="Johnson, Todd" initials="TJ" userId="S::tjohnson@carnegielearning.com::1d57ac6d-5688-4915-9324-719f9ae41858" providerId="AD"/>
  <p188:author id="{065EFF33-37C5-A205-D5AA-889922E9D811}" name="Amanda Roose" initials="" userId="S::amanda.roose@greatminds.org::7db39d93-b694-49c7-b4bd-248f45df22ce" providerId="AD"/>
  <p188:author id="{988EB554-08BA-14AA-D6CF-C08243099DC1}" name="Gomez1, Lauren" initials="GL" userId="S::lauren.gomez1@tea.texas.gov::a90766d5-07f7-4ca5-8968-79b6619a6150" providerId="AD"/>
  <p188:author id="{002C6C79-BE9A-0D70-2E77-61ECDD33941B}" name="Hammock, Jenny" initials="JH" userId="S::jhammock@pcgus.com::15029899-d5e2-409a-961b-cfbdbd993f94" providerId="AD"/>
  <p188:author id="{C7BE2D7E-998E-A4E0-AD02-4BBA80009BAC}" name="Christina Ducoing" initials="CD" userId="S::Christina.Ducoing@greatminds.org::81b6c2ec-3d44-4fb5-ae4f-fe9b81a5cc7a" providerId="AD"/>
  <p188:author id="{94FF968A-DC53-8678-529B-6C704B5A2CA3}" name="Hanna, Whitney" initials="WH" userId="S::WHanna@pcgus.com::3c096e95-afb8-40fa-be4f-086ecf1c96e8" providerId="AD"/>
  <p188:author id="{11B319B1-D9A7-B492-301D-12240F429F30}" name="Hanna, Whitney" initials="HW" userId="S::whanna_pcgus.com#ext#@texasedu.onmicrosoft.com::7f18c26a-2264-4c3d-9f52-29dc121134d3" providerId="AD"/>
  <p188:author id="{B79159B2-0C77-EFD3-021B-B4143BBE19B1}" name="Christina Ducoing" initials="CD" userId="S::christina.ducoing@greatminds.org::81b6c2ec-3d44-4fb5-ae4f-fe9b81a5cc7a" providerId="AD"/>
  <p188:author id="{66455CB8-CF59-3D20-181D-433FF248BDED}" name="Smart, Martha" initials="SM" userId="S::martha.smart@tea.texas.gov::f37755a5-ea91-4589-9c56-edd64412883a" providerId="AD"/>
  <p188:author id="{D3473FEC-4EDE-E801-D969-22C5DB952E2C}" name="Bala, Kelly" initials="BK" userId="S::kelly.bala@tea.texas.gov::ca818e28-acbd-4039-adec-acd623c9d0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6739"/>
    <a:srgbClr val="000000"/>
    <a:srgbClr val="2B8147"/>
    <a:srgbClr val="0084AC"/>
    <a:srgbClr val="61449B"/>
    <a:srgbClr val="143965"/>
    <a:srgbClr val="008F4C"/>
    <a:srgbClr val="242E61"/>
    <a:srgbClr val="1449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16E69F-A243-EC78-A7A7-6955DABBD750}" v="10" dt="2025-09-08T18:29:21.4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863" autoAdjust="0"/>
    <p:restoredTop sz="79644" autoAdjust="0"/>
  </p:normalViewPr>
  <p:slideViewPr>
    <p:cSldViewPr snapToGrid="0">
      <p:cViewPr varScale="1">
        <p:scale>
          <a:sx n="125" d="100"/>
          <a:sy n="125" d="100"/>
        </p:scale>
        <p:origin x="1074" y="114"/>
      </p:cViewPr>
      <p:guideLst>
        <p:guide orient="horz" pos="2160"/>
        <p:guide pos="3840"/>
      </p:guideLst>
    </p:cSldViewPr>
  </p:slideViewPr>
  <p:outlineViewPr>
    <p:cViewPr>
      <p:scale>
        <a:sx n="33" d="100"/>
        <a:sy n="33" d="100"/>
      </p:scale>
      <p:origin x="0" y="-3006"/>
    </p:cViewPr>
  </p:outlineViewPr>
  <p:notesTextViewPr>
    <p:cViewPr>
      <p:scale>
        <a:sx n="100" d="100"/>
        <a:sy n="100" d="100"/>
      </p:scale>
      <p:origin x="0" y="0"/>
    </p:cViewPr>
  </p:notesTextViewPr>
  <p:notesViewPr>
    <p:cSldViewPr snapToGrid="0">
      <p:cViewPr>
        <p:scale>
          <a:sx n="1" d="2"/>
          <a:sy n="1" d="2"/>
        </p:scale>
        <p:origin x="0" y="0"/>
      </p:cViewPr>
      <p:guideLst/>
    </p:cSldViewPr>
  </p:notesViewPr>
  <p:gridSpacing cx="38100" cy="381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presProps" Target="pres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 Type="http://schemas.openxmlformats.org/officeDocument/2006/relationships/slideMaster" Target="slideMasters/slideMaster4.xml"/><Relationship Id="rId71" Type="http://schemas.microsoft.com/office/2016/11/relationships/changesInfo" Target="changesInfos/changesInfo1.xml"/><Relationship Id="rId74" Type="http://schemas.openxmlformats.org/officeDocument/2006/relationships/slide" Target="slides/slide5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er Montague, Kristina" userId="63c103e5-6141-480e-825f-260f173eba02" providerId="ADAL" clId="{990BD007-1F34-4A88-92C7-DB76D5B50485}"/>
    <pc:docChg chg="modSld">
      <pc:chgData name="Moyer Montague, Kristina" userId="63c103e5-6141-480e-825f-260f173eba02" providerId="ADAL" clId="{990BD007-1F34-4A88-92C7-DB76D5B50485}" dt="2025-07-29T22:08:45.978" v="66" actId="20577"/>
      <pc:docMkLst>
        <pc:docMk/>
      </pc:docMkLst>
      <pc:sldChg chg="modNotesTx">
        <pc:chgData name="Moyer Montague, Kristina" userId="63c103e5-6141-480e-825f-260f173eba02" providerId="ADAL" clId="{990BD007-1F34-4A88-92C7-DB76D5B50485}" dt="2025-07-29T21:50:08.373" v="1" actId="20577"/>
        <pc:sldMkLst>
          <pc:docMk/>
          <pc:sldMk cId="3398606512" sldId="300"/>
        </pc:sldMkLst>
      </pc:sldChg>
      <pc:sldChg chg="modNotesTx">
        <pc:chgData name="Moyer Montague, Kristina" userId="63c103e5-6141-480e-825f-260f173eba02" providerId="ADAL" clId="{990BD007-1F34-4A88-92C7-DB76D5B50485}" dt="2025-07-29T21:49:34.303" v="0" actId="20577"/>
        <pc:sldMkLst>
          <pc:docMk/>
          <pc:sldMk cId="2181925416" sldId="329"/>
        </pc:sldMkLst>
      </pc:sldChg>
      <pc:sldChg chg="modNotesTx">
        <pc:chgData name="Moyer Montague, Kristina" userId="63c103e5-6141-480e-825f-260f173eba02" providerId="ADAL" clId="{990BD007-1F34-4A88-92C7-DB76D5B50485}" dt="2025-07-29T21:51:30.193" v="2" actId="114"/>
        <pc:sldMkLst>
          <pc:docMk/>
          <pc:sldMk cId="1617016214" sldId="385"/>
        </pc:sldMkLst>
      </pc:sldChg>
      <pc:sldChg chg="modNotesTx">
        <pc:chgData name="Moyer Montague, Kristina" userId="63c103e5-6141-480e-825f-260f173eba02" providerId="ADAL" clId="{990BD007-1F34-4A88-92C7-DB76D5B50485}" dt="2025-07-29T21:51:33.972" v="3" actId="114"/>
        <pc:sldMkLst>
          <pc:docMk/>
          <pc:sldMk cId="461620243" sldId="387"/>
        </pc:sldMkLst>
      </pc:sldChg>
      <pc:sldChg chg="modSp mod">
        <pc:chgData name="Moyer Montague, Kristina" userId="63c103e5-6141-480e-825f-260f173eba02" providerId="ADAL" clId="{990BD007-1F34-4A88-92C7-DB76D5B50485}" dt="2025-07-29T21:53:49.561" v="15" actId="1037"/>
        <pc:sldMkLst>
          <pc:docMk/>
          <pc:sldMk cId="3407190411" sldId="389"/>
        </pc:sldMkLst>
      </pc:sldChg>
      <pc:sldChg chg="modSp modNotesTx">
        <pc:chgData name="Moyer Montague, Kristina" userId="63c103e5-6141-480e-825f-260f173eba02" providerId="ADAL" clId="{990BD007-1F34-4A88-92C7-DB76D5B50485}" dt="2025-07-29T21:57:11.419" v="18" actId="114"/>
        <pc:sldMkLst>
          <pc:docMk/>
          <pc:sldMk cId="3988566783" sldId="390"/>
        </pc:sldMkLst>
      </pc:sldChg>
      <pc:sldChg chg="modNotesTx">
        <pc:chgData name="Moyer Montague, Kristina" userId="63c103e5-6141-480e-825f-260f173eba02" providerId="ADAL" clId="{990BD007-1F34-4A88-92C7-DB76D5B50485}" dt="2025-07-29T21:57:15.603" v="19"/>
        <pc:sldMkLst>
          <pc:docMk/>
          <pc:sldMk cId="3419735411" sldId="391"/>
        </pc:sldMkLst>
      </pc:sldChg>
      <pc:sldChg chg="modSp modNotesTx">
        <pc:chgData name="Moyer Montague, Kristina" userId="63c103e5-6141-480e-825f-260f173eba02" providerId="ADAL" clId="{990BD007-1F34-4A88-92C7-DB76D5B50485}" dt="2025-07-29T21:58:05.310" v="23" actId="20577"/>
        <pc:sldMkLst>
          <pc:docMk/>
          <pc:sldMk cId="2054295092" sldId="392"/>
        </pc:sldMkLst>
      </pc:sldChg>
      <pc:sldChg chg="modSp mod modNotesTx">
        <pc:chgData name="Moyer Montague, Kristina" userId="63c103e5-6141-480e-825f-260f173eba02" providerId="ADAL" clId="{990BD007-1F34-4A88-92C7-DB76D5B50485}" dt="2025-07-29T21:58:27.492" v="31" actId="20577"/>
        <pc:sldMkLst>
          <pc:docMk/>
          <pc:sldMk cId="2303286866" sldId="393"/>
        </pc:sldMkLst>
      </pc:sldChg>
      <pc:sldChg chg="modNotesTx">
        <pc:chgData name="Moyer Montague, Kristina" userId="63c103e5-6141-480e-825f-260f173eba02" providerId="ADAL" clId="{990BD007-1F34-4A88-92C7-DB76D5B50485}" dt="2025-07-29T21:59:03.346" v="35" actId="20577"/>
        <pc:sldMkLst>
          <pc:docMk/>
          <pc:sldMk cId="1043974012" sldId="396"/>
        </pc:sldMkLst>
      </pc:sldChg>
      <pc:sldChg chg="modNotesTx">
        <pc:chgData name="Moyer Montague, Kristina" userId="63c103e5-6141-480e-825f-260f173eba02" providerId="ADAL" clId="{990BD007-1F34-4A88-92C7-DB76D5B50485}" dt="2025-07-29T22:01:56.353" v="38"/>
        <pc:sldMkLst>
          <pc:docMk/>
          <pc:sldMk cId="3759711435" sldId="400"/>
        </pc:sldMkLst>
      </pc:sldChg>
      <pc:sldChg chg="modNotesTx">
        <pc:chgData name="Moyer Montague, Kristina" userId="63c103e5-6141-480e-825f-260f173eba02" providerId="ADAL" clId="{990BD007-1F34-4A88-92C7-DB76D5B50485}" dt="2025-07-29T22:02:00.943" v="39"/>
        <pc:sldMkLst>
          <pc:docMk/>
          <pc:sldMk cId="653775348" sldId="401"/>
        </pc:sldMkLst>
      </pc:sldChg>
      <pc:sldChg chg="modNotesTx">
        <pc:chgData name="Moyer Montague, Kristina" userId="63c103e5-6141-480e-825f-260f173eba02" providerId="ADAL" clId="{990BD007-1F34-4A88-92C7-DB76D5B50485}" dt="2025-07-29T22:02:07.820" v="40"/>
        <pc:sldMkLst>
          <pc:docMk/>
          <pc:sldMk cId="239483934" sldId="402"/>
        </pc:sldMkLst>
      </pc:sldChg>
      <pc:sldChg chg="modSp mod">
        <pc:chgData name="Moyer Montague, Kristina" userId="63c103e5-6141-480e-825f-260f173eba02" providerId="ADAL" clId="{990BD007-1F34-4A88-92C7-DB76D5B50485}" dt="2025-07-29T22:04:03.405" v="50" actId="1076"/>
        <pc:sldMkLst>
          <pc:docMk/>
          <pc:sldMk cId="2753956985" sldId="403"/>
        </pc:sldMkLst>
      </pc:sldChg>
      <pc:sldChg chg="modNotesTx">
        <pc:chgData name="Moyer Montague, Kristina" userId="63c103e5-6141-480e-825f-260f173eba02" providerId="ADAL" clId="{990BD007-1F34-4A88-92C7-DB76D5B50485}" dt="2025-07-29T22:01:43.587" v="37" actId="114"/>
        <pc:sldMkLst>
          <pc:docMk/>
          <pc:sldMk cId="2727826793" sldId="404"/>
        </pc:sldMkLst>
      </pc:sldChg>
      <pc:sldChg chg="modSp mod">
        <pc:chgData name="Moyer Montague, Kristina" userId="63c103e5-6141-480e-825f-260f173eba02" providerId="ADAL" clId="{990BD007-1F34-4A88-92C7-DB76D5B50485}" dt="2025-07-29T22:05:06.816" v="52" actId="20577"/>
        <pc:sldMkLst>
          <pc:docMk/>
          <pc:sldMk cId="1665544468" sldId="405"/>
        </pc:sldMkLst>
      </pc:sldChg>
      <pc:sldChg chg="modNotesTx">
        <pc:chgData name="Moyer Montague, Kristina" userId="63c103e5-6141-480e-825f-260f173eba02" providerId="ADAL" clId="{990BD007-1F34-4A88-92C7-DB76D5B50485}" dt="2025-07-29T22:06:31.775" v="54" actId="114"/>
        <pc:sldMkLst>
          <pc:docMk/>
          <pc:sldMk cId="3622178335" sldId="409"/>
        </pc:sldMkLst>
      </pc:sldChg>
      <pc:sldChg chg="modNotesTx">
        <pc:chgData name="Moyer Montague, Kristina" userId="63c103e5-6141-480e-825f-260f173eba02" providerId="ADAL" clId="{990BD007-1F34-4A88-92C7-DB76D5B50485}" dt="2025-07-29T22:06:37.894" v="55"/>
        <pc:sldMkLst>
          <pc:docMk/>
          <pc:sldMk cId="671425901" sldId="410"/>
        </pc:sldMkLst>
      </pc:sldChg>
      <pc:sldChg chg="modNotesTx">
        <pc:chgData name="Moyer Montague, Kristina" userId="63c103e5-6141-480e-825f-260f173eba02" providerId="ADAL" clId="{990BD007-1F34-4A88-92C7-DB76D5B50485}" dt="2025-07-29T22:06:42.785" v="56"/>
        <pc:sldMkLst>
          <pc:docMk/>
          <pc:sldMk cId="919238700" sldId="411"/>
        </pc:sldMkLst>
      </pc:sldChg>
      <pc:sldChg chg="modNotesTx">
        <pc:chgData name="Moyer Montague, Kristina" userId="63c103e5-6141-480e-825f-260f173eba02" providerId="ADAL" clId="{990BD007-1F34-4A88-92C7-DB76D5B50485}" dt="2025-07-29T22:06:44.938" v="57"/>
        <pc:sldMkLst>
          <pc:docMk/>
          <pc:sldMk cId="2095787018" sldId="412"/>
        </pc:sldMkLst>
      </pc:sldChg>
      <pc:sldChg chg="modNotesTx">
        <pc:chgData name="Moyer Montague, Kristina" userId="63c103e5-6141-480e-825f-260f173eba02" providerId="ADAL" clId="{990BD007-1F34-4A88-92C7-DB76D5B50485}" dt="2025-07-29T22:06:53.083" v="59" actId="114"/>
        <pc:sldMkLst>
          <pc:docMk/>
          <pc:sldMk cId="837479521" sldId="413"/>
        </pc:sldMkLst>
      </pc:sldChg>
      <pc:sldChg chg="modNotesTx">
        <pc:chgData name="Moyer Montague, Kristina" userId="63c103e5-6141-480e-825f-260f173eba02" providerId="ADAL" clId="{990BD007-1F34-4A88-92C7-DB76D5B50485}" dt="2025-07-29T22:07:07.281" v="60" actId="114"/>
        <pc:sldMkLst>
          <pc:docMk/>
          <pc:sldMk cId="3273807513" sldId="414"/>
        </pc:sldMkLst>
      </pc:sldChg>
      <pc:sldChg chg="modNotesTx">
        <pc:chgData name="Moyer Montague, Kristina" userId="63c103e5-6141-480e-825f-260f173eba02" providerId="ADAL" clId="{990BD007-1F34-4A88-92C7-DB76D5B50485}" dt="2025-07-29T22:07:43.553" v="62" actId="114"/>
        <pc:sldMkLst>
          <pc:docMk/>
          <pc:sldMk cId="4036458852" sldId="418"/>
        </pc:sldMkLst>
      </pc:sldChg>
      <pc:sldChg chg="modSp modNotesTx">
        <pc:chgData name="Moyer Montague, Kristina" userId="63c103e5-6141-480e-825f-260f173eba02" providerId="ADAL" clId="{990BD007-1F34-4A88-92C7-DB76D5B50485}" dt="2025-07-29T22:08:22.269" v="64"/>
        <pc:sldMkLst>
          <pc:docMk/>
          <pc:sldMk cId="1902278926" sldId="419"/>
        </pc:sldMkLst>
      </pc:sldChg>
      <pc:sldChg chg="modSp">
        <pc:chgData name="Moyer Montague, Kristina" userId="63c103e5-6141-480e-825f-260f173eba02" providerId="ADAL" clId="{990BD007-1F34-4A88-92C7-DB76D5B50485}" dt="2025-07-29T22:08:45.978" v="66" actId="20577"/>
        <pc:sldMkLst>
          <pc:docMk/>
          <pc:sldMk cId="3186086813" sldId="423"/>
        </pc:sldMkLst>
      </pc:sldChg>
      <pc:sldChg chg="modNotesTx">
        <pc:chgData name="Moyer Montague, Kristina" userId="63c103e5-6141-480e-825f-260f173eba02" providerId="ADAL" clId="{990BD007-1F34-4A88-92C7-DB76D5B50485}" dt="2025-07-29T22:02:10.899" v="41"/>
        <pc:sldMkLst>
          <pc:docMk/>
          <pc:sldMk cId="3286640500" sldId="426"/>
        </pc:sldMkLst>
      </pc:sldChg>
    </pc:docChg>
  </pc:docChgLst>
  <pc:docChgLst>
    <pc:chgData name="Goodroe, Hunter" userId="S::matthew.goodroe@tea.texas.gov::2596e579-e8cb-48d7-bceb-d5f26f88144e" providerId="AD" clId="Web-{5616E69F-A243-EC78-A7A7-6955DABBD750}"/>
    <pc:docChg chg="modSld">
      <pc:chgData name="Goodroe, Hunter" userId="S::matthew.goodroe@tea.texas.gov::2596e579-e8cb-48d7-bceb-d5f26f88144e" providerId="AD" clId="Web-{5616E69F-A243-EC78-A7A7-6955DABBD750}" dt="2025-09-08T18:29:21.428" v="9" actId="1076"/>
      <pc:docMkLst>
        <pc:docMk/>
      </pc:docMkLst>
      <pc:sldChg chg="modSp">
        <pc:chgData name="Goodroe, Hunter" userId="S::matthew.goodroe@tea.texas.gov::2596e579-e8cb-48d7-bceb-d5f26f88144e" providerId="AD" clId="Web-{5616E69F-A243-EC78-A7A7-6955DABBD750}" dt="2025-09-08T18:29:21.428" v="9" actId="1076"/>
        <pc:sldMkLst>
          <pc:docMk/>
          <pc:sldMk cId="1636545958" sldId="415"/>
        </pc:sldMkLst>
        <pc:spChg chg="mod">
          <ac:chgData name="Goodroe, Hunter" userId="S::matthew.goodroe@tea.texas.gov::2596e579-e8cb-48d7-bceb-d5f26f88144e" providerId="AD" clId="Web-{5616E69F-A243-EC78-A7A7-6955DABBD750}" dt="2025-09-08T18:28:11.949" v="7" actId="1076"/>
          <ac:spMkLst>
            <pc:docMk/>
            <pc:sldMk cId="1636545958" sldId="415"/>
            <ac:spMk id="4" creationId="{9FB96E88-BB2E-CCCC-A8DB-844709AE19B8}"/>
          </ac:spMkLst>
        </pc:spChg>
        <pc:picChg chg="mod">
          <ac:chgData name="Goodroe, Hunter" userId="S::matthew.goodroe@tea.texas.gov::2596e579-e8cb-48d7-bceb-d5f26f88144e" providerId="AD" clId="Web-{5616E69F-A243-EC78-A7A7-6955DABBD750}" dt="2025-09-08T18:29:21.428" v="9" actId="1076"/>
          <ac:picMkLst>
            <pc:docMk/>
            <pc:sldMk cId="1636545958" sldId="415"/>
            <ac:picMk id="3" creationId="{ED191E3C-F915-873D-627B-FE0FCB70ED3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9/8/2025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DE13-B41D-3707-0F63-98FF6B54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90164-D8B6-9B96-17F1-E4BEEAECC00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1B017C-0EB2-59BB-93AF-C7FDDD863E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this lesson is two 45-minute sessions.</a:t>
            </a:r>
          </a:p>
        </p:txBody>
      </p:sp>
      <p:sp>
        <p:nvSpPr>
          <p:cNvPr id="4" name="Slide Number Placeholder 3">
            <a:extLst>
              <a:ext uri="{FF2B5EF4-FFF2-40B4-BE49-F238E27FC236}">
                <a16:creationId xmlns:a16="http://schemas.microsoft.com/office/drawing/2014/main" id="{3B0F8F5D-2E1F-DFCE-F030-3FF9914FEF64}"/>
              </a:ext>
            </a:extLst>
          </p:cNvPr>
          <p:cNvSpPr>
            <a:spLocks noGrp="1"/>
          </p:cNvSpPr>
          <p:nvPr>
            <p:ph type="sldNum" sz="quarter" idx="5"/>
          </p:nvPr>
        </p:nvSpPr>
        <p:spPr/>
        <p:txBody>
          <a:bodyPr/>
          <a:lstStyle/>
          <a:p>
            <a:fld id="{BB5E49A5-4136-284D-997B-48E1D791AD67}" type="slidenum">
              <a:rPr lang="en-US" smtClean="0"/>
              <a:t>1</a:t>
            </a:fld>
            <a:endParaRPr lang="en-US"/>
          </a:p>
        </p:txBody>
      </p:sp>
    </p:spTree>
    <p:extLst>
      <p:ext uri="{BB962C8B-B14F-4D97-AF65-F5344CB8AC3E}">
        <p14:creationId xmlns:p14="http://schemas.microsoft.com/office/powerpoint/2010/main" val="269108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TEKS:</a:t>
                </a:r>
              </a:p>
              <a:p>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A.1A: apply mathematics to problems arising in everyday life, society, and the workplace.</a:t>
                </a:r>
              </a:p>
              <a:p>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A.1D: communicate mathematical ideas, reasoning, and their implications using multiple representations, including symbols, diagrams, graphs, and language as appropriate.</a:t>
                </a:r>
              </a:p>
              <a:p>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A.2B: write linear equations in two variables in various forms, including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25000" dirty="0">
                    <a:solidFill>
                      <a:srgbClr val="000000"/>
                    </a:solidFill>
                    <a:latin typeface="Calibri" panose="020F0502020204030204" pitchFamily="34" charset="0"/>
                    <a:ea typeface="Calibri" panose="020F0502020204030204" pitchFamily="34" charset="0"/>
                    <a:cs typeface="Calibri" panose="020F0502020204030204" pitchFamily="34" charset="0"/>
                  </a:rPr>
                  <a:t>1</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25000" dirty="0">
                    <a:solidFill>
                      <a:srgbClr val="000000"/>
                    </a:solidFill>
                    <a:latin typeface="Calibri" panose="020F0502020204030204" pitchFamily="34" charset="0"/>
                    <a:ea typeface="Calibri" panose="020F0502020204030204" pitchFamily="34" charset="0"/>
                    <a:cs typeface="Calibri" panose="020F0502020204030204" pitchFamily="34" charset="0"/>
                  </a:rPr>
                  <a:t>1</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given one point and the slope and given two points.</a:t>
                </a:r>
              </a:p>
              <a:p>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A.3A: determine the slope of a line given a table of values, a graph, two points on the line, and an equation written in various forms, including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mx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25000" dirty="0">
                    <a:solidFill>
                      <a:srgbClr val="000000"/>
                    </a:solidFill>
                    <a:latin typeface="Calibri" panose="020F0502020204030204" pitchFamily="34" charset="0"/>
                    <a:ea typeface="Calibri" panose="020F0502020204030204" pitchFamily="34" charset="0"/>
                    <a:cs typeface="Calibri" panose="020F0502020204030204" pitchFamily="34" charset="0"/>
                  </a:rPr>
                  <a:t>1</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25000" dirty="0">
                    <a:solidFill>
                      <a:srgbClr val="000000"/>
                    </a:solidFill>
                    <a:latin typeface="Calibri" panose="020F0502020204030204" pitchFamily="34" charset="0"/>
                    <a:ea typeface="Calibri" panose="020F0502020204030204" pitchFamily="34" charset="0"/>
                    <a:cs typeface="Calibri" panose="020F0502020204030204" pitchFamily="34" charset="0"/>
                  </a:rPr>
                  <a:t>1</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A.12E: solve mathematic and scientific formulas, and other literal equations, for a specified variable.</a:t>
                </a:r>
              </a:p>
              <a:p>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ELPS: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3A: practice producing sounds of newly acquired vocabulary such as long and short vowels, silent letters, and consonant clusters to pronounce English words in a manner that is increasingly comprehensible.</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4D: use prereading supports such as graphic organizers, illustrations, and </a:t>
                </a:r>
                <a:r>
                  <a:rPr lang="en-US" sz="1200" b="0" i="0" u="none" strike="noStrike" baseline="0" dirty="0" err="1">
                    <a:solidFill>
                      <a:srgbClr val="000000"/>
                    </a:solidFill>
                    <a:latin typeface="Calibri" panose="020F0502020204030204" pitchFamily="34" charset="0"/>
                    <a:ea typeface="Calibri" panose="020F0502020204030204" pitchFamily="34" charset="0"/>
                    <a:cs typeface="Calibri" panose="020F0502020204030204" pitchFamily="34" charset="0"/>
                  </a:rPr>
                  <a:t>pretaught</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topic-related vocabulary and other prereading activities to enhance comprehension of written text.</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4J: demonstrate English comprehension and expand reading skills by employing inferential skills such as predicting, making connections between ideas, drawing inferences and conclusions from text and graphic sources, and finding supporting text evidence commensurate with content area needs.</a:t>
                </a:r>
              </a:p>
            </p:txBody>
          </p:sp>
        </mc:Choice>
        <mc:Fallback xmlns="">
          <p:sp>
            <p:nvSpPr>
              <p:cNvPr id="3" name="Notes Placeholder 2"/>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TEKS:</a:t>
                </a:r>
              </a:p>
              <a:p>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A.1E: create and use representations to organize, record, and communicate mathematical ideas.</a:t>
                </a:r>
              </a:p>
              <a:p>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A.1G: display, explain, and justify mathematical ideas and arguments using precise mathematical language in written or oral communication.</a:t>
                </a:r>
              </a:p>
              <a:p>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A.3C: graph linear functions on the coordinate plane and identify key features, including </a:t>
                </a:r>
                <a:r>
                  <a:rPr lang="en-US" sz="1200" b="0" i="0" u="none" strike="noStrike" baseline="0" dirty="0">
                    <a:latin typeface="Cambria Math" panose="02040503050406030204" pitchFamily="18" charset="0"/>
                    <a:ea typeface="Calibri" panose="020F0502020204030204" pitchFamily="34" charset="0"/>
                    <a:cs typeface="Calibri" panose="020F0502020204030204" pitchFamily="34" charset="0"/>
                  </a:rPr>
                  <a:t>𝑥</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-intercept, </a:t>
                </a:r>
                <a:r>
                  <a:rPr lang="en-US" sz="1200" b="0" i="0" u="none" strike="noStrike" baseline="0" dirty="0">
                    <a:latin typeface="Cambria Math" panose="02040503050406030204" pitchFamily="18" charset="0"/>
                    <a:ea typeface="Calibri" panose="020F0502020204030204" pitchFamily="34" charset="0"/>
                    <a:cs typeface="Calibri" panose="020F0502020204030204" pitchFamily="34" charset="0"/>
                  </a:rPr>
                  <a:t>𝑦</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-intercept, zeros, and slope, in mathematical and real-world problems.</a:t>
                </a:r>
                <a:endParaRPr lang="en-US" sz="1200" b="0" i="0" u="sng" strike="noStrike" baseline="0" dirty="0">
                  <a:latin typeface="Calibri" panose="020F0502020204030204" pitchFamily="34" charset="0"/>
                  <a:ea typeface="Calibri" panose="020F0502020204030204" pitchFamily="34" charset="0"/>
                  <a:cs typeface="Calibri" panose="020F0502020204030204" pitchFamily="34" charset="0"/>
                </a:endParaRPr>
              </a:p>
              <a:p>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A.7A: graph quadratic functions on the coordinate plane and use the graph to identify key attributes, if possible, including </a:t>
                </a:r>
                <a:r>
                  <a:rPr lang="en-US" sz="1200" b="0" i="0" u="none" strike="noStrike" baseline="0" dirty="0">
                    <a:latin typeface="Cambria Math" panose="02040503050406030204" pitchFamily="18" charset="0"/>
                    <a:ea typeface="Calibri" panose="020F0502020204030204" pitchFamily="34" charset="0"/>
                    <a:cs typeface="Calibri" panose="020F0502020204030204" pitchFamily="34" charset="0"/>
                  </a:rPr>
                  <a:t>𝑥</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-intercept, </a:t>
                </a:r>
                <a:r>
                  <a:rPr lang="en-US" sz="1200" b="0" i="0" u="none" strike="noStrike" baseline="0" dirty="0">
                    <a:latin typeface="Cambria Math" panose="02040503050406030204" pitchFamily="18" charset="0"/>
                    <a:ea typeface="Calibri" panose="020F0502020204030204" pitchFamily="34" charset="0"/>
                    <a:cs typeface="Calibri" panose="020F0502020204030204" pitchFamily="34" charset="0"/>
                  </a:rPr>
                  <a:t>𝑦</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-intercept, zeros, maximum value, minimum values, vertex, and the equation of the axis of symmetry.</a:t>
                </a:r>
                <a:endParaRPr lang="en-US" sz="1200" b="0" i="0" u="sng" strike="noStrike" baseline="0" dirty="0">
                  <a:latin typeface="Calibri" panose="020F0502020204030204" pitchFamily="34" charset="0"/>
                  <a:ea typeface="Calibri" panose="020F0502020204030204" pitchFamily="34" charset="0"/>
                  <a:cs typeface="Calibri" panose="020F0502020204030204" pitchFamily="34" charset="0"/>
                </a:endParaRPr>
              </a:p>
              <a:p>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A.9D: graph exponential functions that model growth and decay and identify key features, including </a:t>
                </a:r>
                <a:r>
                  <a:rPr lang="en-US" sz="1200" b="0" i="0" u="none" strike="noStrike" baseline="0" dirty="0">
                    <a:latin typeface="Cambria Math" panose="02040503050406030204" pitchFamily="18" charset="0"/>
                    <a:ea typeface="Calibri" panose="020F0502020204030204" pitchFamily="34" charset="0"/>
                    <a:cs typeface="Calibri" panose="020F0502020204030204" pitchFamily="34" charset="0"/>
                  </a:rPr>
                  <a:t>𝑦</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-intercept and asymptote, in mathematical and real-world problems.</a:t>
                </a:r>
              </a:p>
              <a:p>
                <a:endParaRPr lang="en-US" sz="12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ELPS: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1A: use prior knowledge and experiences to understand meanings in English.</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1B: monitor oral and written language production and employ self-corrective techniques or other resources.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1F: use accessible language and learn new and essential language in the process.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3D: speak using grade-level content area vocabulary in context to internalize new English words and build academic language proficiency.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3E: share information in cooperative learning interactions.</a:t>
                </a:r>
              </a:p>
              <a:p>
                <a:pPr algn="l"/>
                <a:endParaRPr lang="en-US" sz="1200" b="1" i="0" u="none" strike="noStrike" baseline="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2</a:t>
            </a:fld>
            <a:endParaRPr lang="en-US"/>
          </a:p>
        </p:txBody>
      </p:sp>
    </p:spTree>
    <p:extLst>
      <p:ext uri="{BB962C8B-B14F-4D97-AF65-F5344CB8AC3E}">
        <p14:creationId xmlns:p14="http://schemas.microsoft.com/office/powerpoint/2010/main" val="31580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Literal equation is introduced on Day 1.</a:t>
            </a:r>
          </a:p>
        </p:txBody>
      </p:sp>
      <p:sp>
        <p:nvSpPr>
          <p:cNvPr id="4" name="Slide Number Placeholder 3"/>
          <p:cNvSpPr>
            <a:spLocks noGrp="1"/>
          </p:cNvSpPr>
          <p:nvPr>
            <p:ph type="sldNum" sz="quarter" idx="5"/>
          </p:nvPr>
        </p:nvSpPr>
        <p:spPr/>
        <p:txBody>
          <a:bodyPr/>
          <a:lstStyle/>
          <a:p>
            <a:fld id="{BB5E49A5-4136-284D-997B-48E1D791AD67}" type="slidenum">
              <a:rPr lang="en-US" smtClean="0"/>
              <a:t>3</a:t>
            </a:fld>
            <a:endParaRPr lang="en-US"/>
          </a:p>
        </p:txBody>
      </p:sp>
    </p:spTree>
    <p:extLst>
      <p:ext uri="{BB962C8B-B14F-4D97-AF65-F5344CB8AC3E}">
        <p14:creationId xmlns:p14="http://schemas.microsoft.com/office/powerpoint/2010/main" val="586247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Setting the Stage: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Tap into your student’s prior learning by reading the narrative statement.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Provide a sense of direction by reading the Essential Question.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4</a:t>
            </a:fld>
            <a:endParaRPr lang="en-US"/>
          </a:p>
        </p:txBody>
      </p:sp>
    </p:spTree>
    <p:extLst>
      <p:ext uri="{BB962C8B-B14F-4D97-AF65-F5344CB8AC3E}">
        <p14:creationId xmlns:p14="http://schemas.microsoft.com/office/powerpoint/2010/main" val="4061725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1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5</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 minutes allotted for the Getting Started.</a:t>
            </a:r>
          </a:p>
        </p:txBody>
      </p:sp>
      <p:sp>
        <p:nvSpPr>
          <p:cNvPr id="4" name="Slide Number Placeholder 3"/>
          <p:cNvSpPr>
            <a:spLocks noGrp="1"/>
          </p:cNvSpPr>
          <p:nvPr>
            <p:ph type="sldNum" sz="quarter" idx="5"/>
          </p:nvPr>
        </p:nvSpPr>
        <p:spPr/>
        <p:txBody>
          <a:bodyPr/>
          <a:lstStyle/>
          <a:p>
            <a:fld id="{BB5E49A5-4136-284D-997B-48E1D791AD67}" type="slidenum">
              <a:rPr lang="en-US" smtClean="0"/>
              <a:t>6</a:t>
            </a:fld>
            <a:endParaRPr lang="en-US"/>
          </a:p>
        </p:txBody>
      </p:sp>
    </p:spTree>
    <p:extLst>
      <p:ext uri="{BB962C8B-B14F-4D97-AF65-F5344CB8AC3E}">
        <p14:creationId xmlns:p14="http://schemas.microsoft.com/office/powerpoint/2010/main" val="3157587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7</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8</a:t>
            </a:fld>
            <a:endParaRPr lang="en-US"/>
          </a:p>
        </p:txBody>
      </p:sp>
    </p:spTree>
    <p:extLst>
      <p:ext uri="{BB962C8B-B14F-4D97-AF65-F5344CB8AC3E}">
        <p14:creationId xmlns:p14="http://schemas.microsoft.com/office/powerpoint/2010/main" val="3611987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C32C5-E280-39EA-ED8D-6BE64498C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C651C-C956-B236-C5A1-EB4125360FB6}"/>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94251A6-ABFA-7C7A-63D9-A4C5FE243A00}"/>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Juan need to determine the park’s width?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Was it more difficult to solve this equation than previous equations? Why or why not?</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your steps to isolate the variable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properties did you apply to solve for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show both equations are equivalent to the perimeter equation?</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expression </a:t>
                </a:r>
                <a14:m>
                  <m:oMath xmlns:m="http://schemas.openxmlformats.org/officeDocument/2006/math">
                    <m:f>
                      <m:fPr>
                        <m:ctrlP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a:rPr lang="en-IN"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1</m:t>
                        </m:r>
                      </m:num>
                      <m:den>
                        <m:r>
                          <a:rPr lang="en-IN"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l</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relate to the diagram?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to show both equations are equivalent to the perimeter equation?</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694251A6-ABFA-7C7A-63D9-A4C5FE243A00}"/>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Juan need to determine the park’s width?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Was it more difficult to solve this equation than previous equations? Why or why not?</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your steps to isolate the variable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properties did you apply to solve for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show both equations are equivalent to the perimeter equation?</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expression </a:t>
                </a:r>
                <a:r>
                  <a:rPr lang="en-IN" sz="1200" b="0" i="0" u="none" strike="noStrike" baseline="0">
                    <a:solidFill>
                      <a:srgbClr val="000000"/>
                    </a:solidFill>
                    <a:latin typeface="Cambria Math" panose="02040503050406030204" pitchFamily="18" charset="0"/>
                    <a:ea typeface="Calibri" panose="020F0502020204030204" pitchFamily="34" charset="0"/>
                    <a:cs typeface="Calibri" panose="020F0502020204030204" pitchFamily="34" charset="0"/>
                  </a:rPr>
                  <a:t>1</a:t>
                </a:r>
                <a:r>
                  <a:rPr lang="en-US" sz="1200" b="0" i="0" u="none" strike="noStrike" baseline="0">
                    <a:solidFill>
                      <a:srgbClr val="000000"/>
                    </a:solidFill>
                    <a:latin typeface="Cambria Math" panose="02040503050406030204" pitchFamily="18" charset="0"/>
                    <a:ea typeface="Calibri" panose="020F0502020204030204" pitchFamily="34" charset="0"/>
                    <a:cs typeface="Calibri" panose="020F0502020204030204" pitchFamily="34" charset="0"/>
                  </a:rPr>
                  <a:t>/</a:t>
                </a:r>
                <a:r>
                  <a:rPr lang="en-IN" sz="1200" b="0" i="0" u="none" strike="noStrike" baseline="0">
                    <a:solidFill>
                      <a:srgbClr val="000000"/>
                    </a:solidFill>
                    <a:latin typeface="Cambria Math" panose="02040503050406030204" pitchFamily="18" charset="0"/>
                    <a:ea typeface="Calibri" panose="020F0502020204030204" pitchFamily="34" charset="0"/>
                    <a:cs typeface="Calibri" panose="020F0502020204030204" pitchFamily="34" charset="0"/>
                  </a:rPr>
                  <a:t>2</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l relate to the diagram?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to show both equations are equivalent to the perimeter equation?</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F2B227FC-DE83-37BD-459E-77B640B4F93C}"/>
              </a:ext>
            </a:extLst>
          </p:cNvPr>
          <p:cNvSpPr>
            <a:spLocks noGrp="1"/>
          </p:cNvSpPr>
          <p:nvPr>
            <p:ph type="sldNum" sz="quarter" idx="5"/>
          </p:nvPr>
        </p:nvSpPr>
        <p:spPr/>
        <p:txBody>
          <a:bodyPr/>
          <a:lstStyle/>
          <a:p>
            <a:fld id="{BB5E49A5-4136-284D-997B-48E1D791AD67}" type="slidenum">
              <a:rPr lang="en-US" smtClean="0"/>
              <a:t>9</a:t>
            </a:fld>
            <a:endParaRPr lang="en-US"/>
          </a:p>
        </p:txBody>
      </p:sp>
    </p:spTree>
    <p:extLst>
      <p:ext uri="{BB962C8B-B14F-4D97-AF65-F5344CB8AC3E}">
        <p14:creationId xmlns:p14="http://schemas.microsoft.com/office/powerpoint/2010/main" val="3844560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Juan need to determine the park’s width?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Was it more difficult to solve this equation than previous equations? Why or why not?</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your steps to isolate the variable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properties did you apply to solve for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show both equations are equivalent to the perimeter equation?</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expression </a:t>
                </a:r>
                <a14:m>
                  <m:oMath xmlns:m="http://schemas.openxmlformats.org/officeDocument/2006/math">
                    <m:f>
                      <m:fPr>
                        <m:ctrlP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a:rPr lang="en-IN"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1</m:t>
                        </m:r>
                      </m:num>
                      <m:den>
                        <m:r>
                          <a:rPr lang="en-IN"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l</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relate to the diagram?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to show both equations are equivalent to the perimeter equation?</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p:txBody>
          </p:sp>
        </mc:Choice>
        <mc:Fallback xmlns="">
          <p:sp>
            <p:nvSpPr>
              <p:cNvPr id="3" name="Notes Placeholder 2"/>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Juan need to determine the park’s width?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Was it more difficult to solve this equation than previous equations? Why or why not?</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your steps to isolate the variable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properties did you apply to solve for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show both equations are equivalent to the perimeter equation?</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expression </a:t>
                </a:r>
                <a:r>
                  <a:rPr lang="en-IN" sz="1200" b="0" i="0" u="none" strike="noStrike" baseline="0">
                    <a:solidFill>
                      <a:srgbClr val="000000"/>
                    </a:solidFill>
                    <a:latin typeface="Cambria Math" panose="02040503050406030204" pitchFamily="18" charset="0"/>
                    <a:ea typeface="Calibri" panose="020F0502020204030204" pitchFamily="34" charset="0"/>
                    <a:cs typeface="Calibri" panose="020F0502020204030204" pitchFamily="34" charset="0"/>
                  </a:rPr>
                  <a:t>1</a:t>
                </a:r>
                <a:r>
                  <a:rPr lang="en-US" sz="1200" b="0" i="0" u="none" strike="noStrike" baseline="0">
                    <a:solidFill>
                      <a:srgbClr val="000000"/>
                    </a:solidFill>
                    <a:latin typeface="Cambria Math" panose="02040503050406030204" pitchFamily="18" charset="0"/>
                    <a:ea typeface="Calibri" panose="020F0502020204030204" pitchFamily="34" charset="0"/>
                    <a:cs typeface="Calibri" panose="020F0502020204030204" pitchFamily="34" charset="0"/>
                  </a:rPr>
                  <a:t>/</a:t>
                </a:r>
                <a:r>
                  <a:rPr lang="en-IN" sz="1200" b="0" i="0" u="none" strike="noStrike" baseline="0">
                    <a:solidFill>
                      <a:srgbClr val="000000"/>
                    </a:solidFill>
                    <a:latin typeface="Cambria Math" panose="02040503050406030204" pitchFamily="18" charset="0"/>
                    <a:ea typeface="Calibri" panose="020F0502020204030204" pitchFamily="34" charset="0"/>
                    <a:cs typeface="Calibri" panose="020F0502020204030204" pitchFamily="34" charset="0"/>
                  </a:rPr>
                  <a:t>2</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l relate to the diagram?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to show both equations are equivalent to the perimeter equation?</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10</a:t>
            </a:fld>
            <a:endParaRPr lang="en-US"/>
          </a:p>
        </p:txBody>
      </p:sp>
    </p:spTree>
    <p:extLst>
      <p:ext uri="{BB962C8B-B14F-4D97-AF65-F5344CB8AC3E}">
        <p14:creationId xmlns:p14="http://schemas.microsoft.com/office/powerpoint/2010/main" val="2716064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Getting Started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 formula involving more than one variable can be rewritten in an equivalent form to solve a problem situation.</a:t>
            </a: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11</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12</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25-30 minutes allotted for Activity 2.1.</a:t>
            </a:r>
          </a:p>
        </p:txBody>
      </p:sp>
      <p:sp>
        <p:nvSpPr>
          <p:cNvPr id="4" name="Slide Number Placeholder 3"/>
          <p:cNvSpPr>
            <a:spLocks noGrp="1"/>
          </p:cNvSpPr>
          <p:nvPr>
            <p:ph type="sldNum" sz="quarter" idx="5"/>
          </p:nvPr>
        </p:nvSpPr>
        <p:spPr/>
        <p:txBody>
          <a:bodyPr/>
          <a:lstStyle/>
          <a:p>
            <a:fld id="{BB5E49A5-4136-284D-997B-48E1D791AD67}" type="slidenum">
              <a:rPr lang="en-US" smtClean="0"/>
              <a:t>13</a:t>
            </a:fld>
            <a:endParaRPr lang="en-US"/>
          </a:p>
        </p:txBody>
      </p:sp>
    </p:spTree>
    <p:extLst>
      <p:ext uri="{BB962C8B-B14F-4D97-AF65-F5344CB8AC3E}">
        <p14:creationId xmlns:p14="http://schemas.microsoft.com/office/powerpoint/2010/main" val="1614653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characteristics of the linear function were apparent from the equation?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How was your strategy related to the meaning of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p:txBody>
      </p:sp>
      <p:sp>
        <p:nvSpPr>
          <p:cNvPr id="4" name="Slide Number Placeholder 3"/>
          <p:cNvSpPr>
            <a:spLocks noGrp="1"/>
          </p:cNvSpPr>
          <p:nvPr>
            <p:ph type="sldNum" sz="quarter" idx="5"/>
          </p:nvPr>
        </p:nvSpPr>
        <p:spPr/>
        <p:txBody>
          <a:bodyPr/>
          <a:lstStyle/>
          <a:p>
            <a:fld id="{BB5E49A5-4136-284D-997B-48E1D791AD67}" type="slidenum">
              <a:rPr lang="en-US" smtClean="0"/>
              <a:t>14</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4FE19-66B9-E7BC-8738-B8E6D992C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045C4-D5BC-1825-7552-72D52B3C5BA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963CCAD-DA51-DFDD-CB3D-8B1F3DDE45BC}"/>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characteristics of the linear function were apparent from the equation?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How was your strategy related to the meaning of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p:txBody>
      </p:sp>
      <p:sp>
        <p:nvSpPr>
          <p:cNvPr id="4" name="Slide Number Placeholder 3">
            <a:extLst>
              <a:ext uri="{FF2B5EF4-FFF2-40B4-BE49-F238E27FC236}">
                <a16:creationId xmlns:a16="http://schemas.microsoft.com/office/drawing/2014/main" id="{F40874FD-D687-602B-70AC-1DCB9A7DCA9C}"/>
              </a:ext>
            </a:extLst>
          </p:cNvPr>
          <p:cNvSpPr>
            <a:spLocks noGrp="1"/>
          </p:cNvSpPr>
          <p:nvPr>
            <p:ph type="sldNum" sz="quarter" idx="5"/>
          </p:nvPr>
        </p:nvSpPr>
        <p:spPr/>
        <p:txBody>
          <a:bodyPr/>
          <a:lstStyle/>
          <a:p>
            <a:fld id="{BB5E49A5-4136-284D-997B-48E1D791AD67}" type="slidenum">
              <a:rPr lang="en-US" smtClean="0"/>
              <a:t>15</a:t>
            </a:fld>
            <a:endParaRPr lang="en-US"/>
          </a:p>
        </p:txBody>
      </p:sp>
    </p:spTree>
    <p:extLst>
      <p:ext uri="{BB962C8B-B14F-4D97-AF65-F5344CB8AC3E}">
        <p14:creationId xmlns:p14="http://schemas.microsoft.com/office/powerpoint/2010/main" val="8348875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39759-DBBA-C841-ACBB-06074C8F28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6AC73-60AF-7CE4-07AD-E87D4571C6D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6FFECA6-76A7-4E9F-68CE-982373719295}"/>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determined the value of each characteristic.</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substitution to show why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is (2, 0).</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structure of the equation to identify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8EDEFDF-9DC2-6CA0-B237-D6F5E393C265}"/>
              </a:ext>
            </a:extLst>
          </p:cNvPr>
          <p:cNvSpPr>
            <a:spLocks noGrp="1"/>
          </p:cNvSpPr>
          <p:nvPr>
            <p:ph type="sldNum" sz="quarter" idx="5"/>
          </p:nvPr>
        </p:nvSpPr>
        <p:spPr/>
        <p:txBody>
          <a:bodyPr/>
          <a:lstStyle/>
          <a:p>
            <a:fld id="{BB5E49A5-4136-284D-997B-48E1D791AD67}" type="slidenum">
              <a:rPr lang="en-US" smtClean="0"/>
              <a:t>16</a:t>
            </a:fld>
            <a:endParaRPr lang="en-US"/>
          </a:p>
        </p:txBody>
      </p:sp>
    </p:spTree>
    <p:extLst>
      <p:ext uri="{BB962C8B-B14F-4D97-AF65-F5344CB8AC3E}">
        <p14:creationId xmlns:p14="http://schemas.microsoft.com/office/powerpoint/2010/main" val="21156145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61552-35B4-44D6-372E-82196E51E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870247-BD3A-F230-AB7B-648AD27D7CD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13EED3C-C07F-6716-A88C-EBDAF37441F8}"/>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determined the value of each characteristic.</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substitution to show why the x-intercept is (2, 0).</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structure of the equation to identify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01C1CDC-197B-9A39-74F1-58EC57585777}"/>
              </a:ext>
            </a:extLst>
          </p:cNvPr>
          <p:cNvSpPr>
            <a:spLocks noGrp="1"/>
          </p:cNvSpPr>
          <p:nvPr>
            <p:ph type="sldNum" sz="quarter" idx="5"/>
          </p:nvPr>
        </p:nvSpPr>
        <p:spPr/>
        <p:txBody>
          <a:bodyPr/>
          <a:lstStyle/>
          <a:p>
            <a:fld id="{BB5E49A5-4136-284D-997B-48E1D791AD67}" type="slidenum">
              <a:rPr lang="en-US" smtClean="0"/>
              <a:t>17</a:t>
            </a:fld>
            <a:endParaRPr lang="en-US"/>
          </a:p>
        </p:txBody>
      </p:sp>
    </p:spTree>
    <p:extLst>
      <p:ext uri="{BB962C8B-B14F-4D97-AF65-F5344CB8AC3E}">
        <p14:creationId xmlns:p14="http://schemas.microsoft.com/office/powerpoint/2010/main" val="1457637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CB019-B8C8-E533-CE99-03972AC6D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7ECB0-34F5-91BB-300D-5155C1955DC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B2FD550-8173-C40B-B719-795CD7CF0639}"/>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identify the intercepts? The slope?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characteristics of the graph are obvious when the equation is written in this form?</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97109F5-861A-97C1-E893-4E8486E5B1CD}"/>
              </a:ext>
            </a:extLst>
          </p:cNvPr>
          <p:cNvSpPr>
            <a:spLocks noGrp="1"/>
          </p:cNvSpPr>
          <p:nvPr>
            <p:ph type="sldNum" sz="quarter" idx="5"/>
          </p:nvPr>
        </p:nvSpPr>
        <p:spPr/>
        <p:txBody>
          <a:bodyPr/>
          <a:lstStyle/>
          <a:p>
            <a:fld id="{BB5E49A5-4136-284D-997B-48E1D791AD67}" type="slidenum">
              <a:rPr lang="en-US" smtClean="0"/>
              <a:t>18</a:t>
            </a:fld>
            <a:endParaRPr lang="en-US"/>
          </a:p>
        </p:txBody>
      </p:sp>
    </p:spTree>
    <p:extLst>
      <p:ext uri="{BB962C8B-B14F-4D97-AF65-F5344CB8AC3E}">
        <p14:creationId xmlns:p14="http://schemas.microsoft.com/office/powerpoint/2010/main" val="36392556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AB2B6-FE94-BDC0-4B9D-95F92F132D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201FAC-DD88-C7AF-CED2-8EE1A30046B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1B3BF9B-745B-7511-02A9-5104FD4F79EE}"/>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identify the intercepts? The slope?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characteristics of the graph are obvious when the equation is written in this form?</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0B56976-C360-26CD-3416-9B6AA97EE5C8}"/>
              </a:ext>
            </a:extLst>
          </p:cNvPr>
          <p:cNvSpPr>
            <a:spLocks noGrp="1"/>
          </p:cNvSpPr>
          <p:nvPr>
            <p:ph type="sldNum" sz="quarter" idx="5"/>
          </p:nvPr>
        </p:nvSpPr>
        <p:spPr/>
        <p:txBody>
          <a:bodyPr/>
          <a:lstStyle/>
          <a:p>
            <a:fld id="{BB5E49A5-4136-284D-997B-48E1D791AD67}" type="slidenum">
              <a:rPr lang="en-US" smtClean="0"/>
              <a:t>19</a:t>
            </a:fld>
            <a:endParaRPr lang="en-US"/>
          </a:p>
        </p:txBody>
      </p:sp>
    </p:spTree>
    <p:extLst>
      <p:ext uri="{BB962C8B-B14F-4D97-AF65-F5344CB8AC3E}">
        <p14:creationId xmlns:p14="http://schemas.microsoft.com/office/powerpoint/2010/main" val="7572686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148B0-0A97-689A-EA46-C388D2FC3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17EC3C-AF65-19F6-6CC8-8ED444D18CE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ABB586A-FA42-CCCF-007A-305396ECC1B2}"/>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do slope-intercept form and point-slope form have in common?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form can you also refer to as the slope-intercept form? Why?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easily identify the point-slope form of a linear equation?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Describe the structure of a linear equation in standard form.</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374B448-69BC-9E26-EF9A-EA5B353F4D63}"/>
              </a:ext>
            </a:extLst>
          </p:cNvPr>
          <p:cNvSpPr>
            <a:spLocks noGrp="1"/>
          </p:cNvSpPr>
          <p:nvPr>
            <p:ph type="sldNum" sz="quarter" idx="5"/>
          </p:nvPr>
        </p:nvSpPr>
        <p:spPr/>
        <p:txBody>
          <a:bodyPr/>
          <a:lstStyle/>
          <a:p>
            <a:fld id="{BB5E49A5-4136-284D-997B-48E1D791AD67}" type="slidenum">
              <a:rPr lang="en-US" smtClean="0"/>
              <a:t>20</a:t>
            </a:fld>
            <a:endParaRPr lang="en-US"/>
          </a:p>
        </p:txBody>
      </p:sp>
    </p:spTree>
    <p:extLst>
      <p:ext uri="{BB962C8B-B14F-4D97-AF65-F5344CB8AC3E}">
        <p14:creationId xmlns:p14="http://schemas.microsoft.com/office/powerpoint/2010/main" val="21709205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D3AF8-D892-DB5E-CD60-76DA15130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DCC418-CFA7-3F0F-D491-62D640EA2F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CD7A878-A1FF-4D36-2D7C-18D887CD533F}"/>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Show how you applied the same thinking you used in Question 3 to solve for these characteristics.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identify the slope and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point-slope form?</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any of these purposes, are there multiple forms of the equation that are equally efficient? Explain your reasoning.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form do you prefer to start with when rewriting an equation in slope-intercept form? point-slope form? standard form?</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D8D4C66-279F-D0EB-B5AF-D146CED4B4DB}"/>
              </a:ext>
            </a:extLst>
          </p:cNvPr>
          <p:cNvSpPr>
            <a:spLocks noGrp="1"/>
          </p:cNvSpPr>
          <p:nvPr>
            <p:ph type="sldNum" sz="quarter" idx="5"/>
          </p:nvPr>
        </p:nvSpPr>
        <p:spPr/>
        <p:txBody>
          <a:bodyPr/>
          <a:lstStyle/>
          <a:p>
            <a:fld id="{BB5E49A5-4136-284D-997B-48E1D791AD67}" type="slidenum">
              <a:rPr lang="en-US" smtClean="0"/>
              <a:t>21</a:t>
            </a:fld>
            <a:endParaRPr lang="en-US"/>
          </a:p>
        </p:txBody>
      </p:sp>
    </p:spTree>
    <p:extLst>
      <p:ext uri="{BB962C8B-B14F-4D97-AF65-F5344CB8AC3E}">
        <p14:creationId xmlns:p14="http://schemas.microsoft.com/office/powerpoint/2010/main" val="23827894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4079E-23ED-1D79-0005-7DCEC4FE3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918899-187F-4EE3-CC53-B85C63410E1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546BDF9-66EB-8F2F-BAC8-C8B7110CBD07}"/>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Show how you applied the same thinking you used in Question 3 to solve for these characteristics.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identify the slope and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point-slope form?</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any of these purposes, are there multiple forms of the equation that are equally efficient? Explain your reasoning.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form do you prefer to start with when rewriting an equation in slope-intercept form? point-slope form? standard form?</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0748861-217F-C8BC-DD6A-8C5CB9482D51}"/>
              </a:ext>
            </a:extLst>
          </p:cNvPr>
          <p:cNvSpPr>
            <a:spLocks noGrp="1"/>
          </p:cNvSpPr>
          <p:nvPr>
            <p:ph type="sldNum" sz="quarter" idx="5"/>
          </p:nvPr>
        </p:nvSpPr>
        <p:spPr/>
        <p:txBody>
          <a:bodyPr/>
          <a:lstStyle/>
          <a:p>
            <a:fld id="{BB5E49A5-4136-284D-997B-48E1D791AD67}" type="slidenum">
              <a:rPr lang="en-US" smtClean="0"/>
              <a:t>22</a:t>
            </a:fld>
            <a:endParaRPr lang="en-US"/>
          </a:p>
        </p:txBody>
      </p:sp>
    </p:spTree>
    <p:extLst>
      <p:ext uri="{BB962C8B-B14F-4D97-AF65-F5344CB8AC3E}">
        <p14:creationId xmlns:p14="http://schemas.microsoft.com/office/powerpoint/2010/main" val="6597366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74C8B-DD98-6065-D483-8ACA44DB1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BF4BA-944E-67D8-0130-8A05E61172B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2524B0B-D5F4-F893-A3D9-4F477642BE86}"/>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Show how you applied the same thinking you used in Question 3 to solve for these characteristics.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identify the slope and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point-slope form?</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any of these purposes, are there multiple forms of the equation that are equally efficient? Explain your reasoning.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form do you prefer to start with when rewriting an equation in slope-intercept form? point-slope form? standard form?</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A2C0443-5E47-9DA0-6A7B-C78F1D738C1A}"/>
              </a:ext>
            </a:extLst>
          </p:cNvPr>
          <p:cNvSpPr>
            <a:spLocks noGrp="1"/>
          </p:cNvSpPr>
          <p:nvPr>
            <p:ph type="sldNum" sz="quarter" idx="5"/>
          </p:nvPr>
        </p:nvSpPr>
        <p:spPr/>
        <p:txBody>
          <a:bodyPr/>
          <a:lstStyle/>
          <a:p>
            <a:fld id="{BB5E49A5-4136-284D-997B-48E1D791AD67}" type="slidenum">
              <a:rPr lang="en-US" smtClean="0"/>
              <a:t>23</a:t>
            </a:fld>
            <a:endParaRPr lang="en-US"/>
          </a:p>
        </p:txBody>
      </p:sp>
    </p:spTree>
    <p:extLst>
      <p:ext uri="{BB962C8B-B14F-4D97-AF65-F5344CB8AC3E}">
        <p14:creationId xmlns:p14="http://schemas.microsoft.com/office/powerpoint/2010/main" val="5819498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7ABBA-906B-58DE-9348-026EA0B0A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28CC8-8821-6FC0-6A5B-2F5E7133F5C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CDEC877-F12D-ED56-8455-5EAEEB352E70}"/>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Show how you applied the same thinking you used in Question 3 to solve for these characteristics.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identify the slope and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point-slope form?</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any of these purposes, are there multiple forms of the equation that are equally efficient? Explain your reasoning.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form do you prefer to start with when rewriting an equation in slope-intercept form? point-slope form? standard form?</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TE correction: the TE gives x − 2y = −7 and 4x + y = 7. With slope 1/2 through (−3, 5): y − 5 = ½(x + 3), so x − 2y = −13. With slope −4 through (2, 1): y − 1 = −4(x − 2), so y = −4x + 9 and 4x + y = 9.</a:t>
            </a:r>
          </a:p>
        </p:txBody>
      </p:sp>
      <p:sp>
        <p:nvSpPr>
          <p:cNvPr id="4" name="Slide Number Placeholder 3">
            <a:extLst>
              <a:ext uri="{FF2B5EF4-FFF2-40B4-BE49-F238E27FC236}">
                <a16:creationId xmlns:a16="http://schemas.microsoft.com/office/drawing/2014/main" id="{3D413D1C-1D1F-4269-BE5F-CD9E168F4436}"/>
              </a:ext>
            </a:extLst>
          </p:cNvPr>
          <p:cNvSpPr>
            <a:spLocks noGrp="1"/>
          </p:cNvSpPr>
          <p:nvPr>
            <p:ph type="sldNum" sz="quarter" idx="5"/>
          </p:nvPr>
        </p:nvSpPr>
        <p:spPr/>
        <p:txBody>
          <a:bodyPr/>
          <a:lstStyle/>
          <a:p>
            <a:fld id="{BB5E49A5-4136-284D-997B-48E1D791AD67}" type="slidenum">
              <a:rPr lang="en-US" smtClean="0"/>
              <a:t>24</a:t>
            </a:fld>
            <a:endParaRPr lang="en-US"/>
          </a:p>
        </p:txBody>
      </p:sp>
    </p:spTree>
    <p:extLst>
      <p:ext uri="{BB962C8B-B14F-4D97-AF65-F5344CB8AC3E}">
        <p14:creationId xmlns:p14="http://schemas.microsoft.com/office/powerpoint/2010/main" val="21607241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5FEDD-2C87-812F-2696-D8F4A3F9D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33CE13-23C4-C287-9DA9-0097D3016EB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412F287-1A28-0BAE-3F41-374493CD4AE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Note:</a:t>
            </a:r>
            <a:r>
              <a:rPr lang="en-GB"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To close Day 1 session, have students reread the Essential Question and read the activity summaries to the class.</a:t>
            </a:r>
            <a:endParaRPr lang="en-GB"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2.1 Summary:</a:t>
            </a:r>
          </a:p>
          <a:p>
            <a:pPr algn="l"/>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Slope-intercept form of a linear equation is the most useful form to identify the slope and </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Point-slope form of a linear equation is the most useful form to identify the slope and a point on the line.</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8F2803A-B38C-6F69-5BB0-DCEAC411E746}"/>
              </a:ext>
            </a:extLst>
          </p:cNvPr>
          <p:cNvSpPr>
            <a:spLocks noGrp="1"/>
          </p:cNvSpPr>
          <p:nvPr>
            <p:ph type="sldNum" sz="quarter" idx="5"/>
          </p:nvPr>
        </p:nvSpPr>
        <p:spPr/>
        <p:txBody>
          <a:bodyPr/>
          <a:lstStyle/>
          <a:p>
            <a:fld id="{BB5E49A5-4136-284D-997B-48E1D791AD67}" type="slidenum">
              <a:rPr lang="en-US" smtClean="0"/>
              <a:t>25</a:t>
            </a:fld>
            <a:endParaRPr lang="en-US"/>
          </a:p>
        </p:txBody>
      </p:sp>
    </p:spTree>
    <p:extLst>
      <p:ext uri="{BB962C8B-B14F-4D97-AF65-F5344CB8AC3E}">
        <p14:creationId xmlns:p14="http://schemas.microsoft.com/office/powerpoint/2010/main" val="37664011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85C07-9732-2469-0BBC-5BC067DADC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47D47-CC05-FF4A-A4CA-026F8764DCB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CD531B4-E116-674C-4407-93CEB142AC6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8173702-30E0-8CAD-2D93-F80B5C8EBD41}"/>
              </a:ext>
            </a:extLst>
          </p:cNvPr>
          <p:cNvSpPr>
            <a:spLocks noGrp="1"/>
          </p:cNvSpPr>
          <p:nvPr>
            <p:ph type="sldNum" sz="quarter" idx="5"/>
          </p:nvPr>
        </p:nvSpPr>
        <p:spPr/>
        <p:txBody>
          <a:bodyPr/>
          <a:lstStyle/>
          <a:p>
            <a:fld id="{BB5E49A5-4136-284D-997B-48E1D791AD67}" type="slidenum">
              <a:rPr lang="en-US" smtClean="0"/>
              <a:t>26</a:t>
            </a:fld>
            <a:endParaRPr lang="en-US"/>
          </a:p>
        </p:txBody>
      </p:sp>
    </p:spTree>
    <p:extLst>
      <p:ext uri="{BB962C8B-B14F-4D97-AF65-F5344CB8AC3E}">
        <p14:creationId xmlns:p14="http://schemas.microsoft.com/office/powerpoint/2010/main" val="19048932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2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27</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0F87E-C244-77D8-8B0A-0C8023A6E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151F0A-D8CB-C977-66AC-DEB6468031F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B8E7409-B6E2-A8C9-C574-5AC4F16313F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2,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71F6118-D9CF-08BA-24FA-A78D94EA3E1D}"/>
              </a:ext>
            </a:extLst>
          </p:cNvPr>
          <p:cNvSpPr>
            <a:spLocks noGrp="1"/>
          </p:cNvSpPr>
          <p:nvPr>
            <p:ph type="sldNum" sz="quarter" idx="5"/>
          </p:nvPr>
        </p:nvSpPr>
        <p:spPr/>
        <p:txBody>
          <a:bodyPr/>
          <a:lstStyle/>
          <a:p>
            <a:fld id="{BB5E49A5-4136-284D-997B-48E1D791AD67}" type="slidenum">
              <a:rPr lang="en-US" smtClean="0"/>
              <a:t>28</a:t>
            </a:fld>
            <a:endParaRPr lang="en-US"/>
          </a:p>
        </p:txBody>
      </p:sp>
    </p:spTree>
    <p:extLst>
      <p:ext uri="{BB962C8B-B14F-4D97-AF65-F5344CB8AC3E}">
        <p14:creationId xmlns:p14="http://schemas.microsoft.com/office/powerpoint/2010/main" val="20383930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EB811-6DC3-20CA-0007-CE7494B73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7FB0C-D583-FB7B-0235-7FA7F06797C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FA8D000-B9D7-29CC-1C97-21315B52387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2.2.</a:t>
            </a:r>
          </a:p>
        </p:txBody>
      </p:sp>
      <p:sp>
        <p:nvSpPr>
          <p:cNvPr id="4" name="Slide Number Placeholder 3">
            <a:extLst>
              <a:ext uri="{FF2B5EF4-FFF2-40B4-BE49-F238E27FC236}">
                <a16:creationId xmlns:a16="http://schemas.microsoft.com/office/drawing/2014/main" id="{84A62837-C1C5-CBA5-1157-16E1C0B3E479}"/>
              </a:ext>
            </a:extLst>
          </p:cNvPr>
          <p:cNvSpPr>
            <a:spLocks noGrp="1"/>
          </p:cNvSpPr>
          <p:nvPr>
            <p:ph type="sldNum" sz="quarter" idx="5"/>
          </p:nvPr>
        </p:nvSpPr>
        <p:spPr/>
        <p:txBody>
          <a:bodyPr/>
          <a:lstStyle/>
          <a:p>
            <a:fld id="{BB5E49A5-4136-284D-997B-48E1D791AD67}" type="slidenum">
              <a:rPr lang="en-US" smtClean="0"/>
              <a:t>29</a:t>
            </a:fld>
            <a:endParaRPr lang="en-US"/>
          </a:p>
        </p:txBody>
      </p:sp>
    </p:spTree>
    <p:extLst>
      <p:ext uri="{BB962C8B-B14F-4D97-AF65-F5344CB8AC3E}">
        <p14:creationId xmlns:p14="http://schemas.microsoft.com/office/powerpoint/2010/main" val="32039787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DD4BD-3139-C769-4FD3-2F41C3812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55E484-56DE-5E75-10E1-620E8D5CCE7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B700DC0-BA38-8540-EFC2-9125C527EF0F}"/>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part of the world measures temperatures using degrees Celsius? Degrees Fahrenheit?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an equation is set up to convert from Celsius to Fahrenheit or Fahrenheit to Celsius?</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Slide typo: the formula shows C = −5/9(F − 32). It is C = 5/9(F − 32), as on slide 38 and in the Student Edition.</a:t>
            </a:r>
          </a:p>
        </p:txBody>
      </p:sp>
      <p:sp>
        <p:nvSpPr>
          <p:cNvPr id="4" name="Slide Number Placeholder 3">
            <a:extLst>
              <a:ext uri="{FF2B5EF4-FFF2-40B4-BE49-F238E27FC236}">
                <a16:creationId xmlns:a16="http://schemas.microsoft.com/office/drawing/2014/main" id="{F1E79CE2-5071-1995-A839-B027AFBA66D8}"/>
              </a:ext>
            </a:extLst>
          </p:cNvPr>
          <p:cNvSpPr>
            <a:spLocks noGrp="1"/>
          </p:cNvSpPr>
          <p:nvPr>
            <p:ph type="sldNum" sz="quarter" idx="5"/>
          </p:nvPr>
        </p:nvSpPr>
        <p:spPr/>
        <p:txBody>
          <a:bodyPr/>
          <a:lstStyle/>
          <a:p>
            <a:fld id="{BB5E49A5-4136-284D-997B-48E1D791AD67}" type="slidenum">
              <a:rPr lang="en-US" smtClean="0"/>
              <a:t>30</a:t>
            </a:fld>
            <a:endParaRPr lang="en-US"/>
          </a:p>
        </p:txBody>
      </p:sp>
    </p:spTree>
    <p:extLst>
      <p:ext uri="{BB962C8B-B14F-4D97-AF65-F5344CB8AC3E}">
        <p14:creationId xmlns:p14="http://schemas.microsoft.com/office/powerpoint/2010/main" val="28452520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579C3-7CC5-48E4-C0A8-DFA04D832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541C4-EB0B-38C4-3E70-D404FE4ECE1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B277B01-C91A-F40B-0705-8022051DFE28}"/>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part of the world measures temperatures using degrees Celsius? Degrees Fahrenheit?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an equation is set up to convert from Celsius to Fahrenheit or Fahrenheit to Celsius?</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32166A2-7850-E9ED-322F-E29A0BD71DD0}"/>
              </a:ext>
            </a:extLst>
          </p:cNvPr>
          <p:cNvSpPr>
            <a:spLocks noGrp="1"/>
          </p:cNvSpPr>
          <p:nvPr>
            <p:ph type="sldNum" sz="quarter" idx="5"/>
          </p:nvPr>
        </p:nvSpPr>
        <p:spPr/>
        <p:txBody>
          <a:bodyPr/>
          <a:lstStyle/>
          <a:p>
            <a:fld id="{BB5E49A5-4136-284D-997B-48E1D791AD67}" type="slidenum">
              <a:rPr lang="en-US" smtClean="0"/>
              <a:t>31</a:t>
            </a:fld>
            <a:endParaRPr lang="en-US"/>
          </a:p>
        </p:txBody>
      </p:sp>
    </p:spTree>
    <p:extLst>
      <p:ext uri="{BB962C8B-B14F-4D97-AF65-F5344CB8AC3E}">
        <p14:creationId xmlns:p14="http://schemas.microsoft.com/office/powerpoint/2010/main" val="12404915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48FA9-5C88-3CEE-0424-12F61489D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C2E861-6E60-94BC-26FA-5726B21233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753A770-4CBC-F71D-A43B-70241AAE644F}"/>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What is another way?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Jayden’s steps be if he substituted 77 in the original formula?</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method do you prefer, substituting the 77 in the original formula and solving the equation or isolating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first and using substitution? Why?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did Isabella multiply both sides by 9?</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term did Isabella add to both sides?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Compare your strategy to Isabella’s strategy.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difference in the errors Ethan and Minh made when using the distributive property.</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rewritten formula relates to the original formula.</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Isabella apply first?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94A0226-027B-D4C1-4F1D-FF7CCE0399AD}"/>
              </a:ext>
            </a:extLst>
          </p:cNvPr>
          <p:cNvSpPr>
            <a:spLocks noGrp="1"/>
          </p:cNvSpPr>
          <p:nvPr>
            <p:ph type="sldNum" sz="quarter" idx="5"/>
          </p:nvPr>
        </p:nvSpPr>
        <p:spPr/>
        <p:txBody>
          <a:bodyPr/>
          <a:lstStyle/>
          <a:p>
            <a:fld id="{BB5E49A5-4136-284D-997B-48E1D791AD67}" type="slidenum">
              <a:rPr lang="en-US" smtClean="0"/>
              <a:t>32</a:t>
            </a:fld>
            <a:endParaRPr lang="en-US"/>
          </a:p>
        </p:txBody>
      </p:sp>
    </p:spTree>
    <p:extLst>
      <p:ext uri="{BB962C8B-B14F-4D97-AF65-F5344CB8AC3E}">
        <p14:creationId xmlns:p14="http://schemas.microsoft.com/office/powerpoint/2010/main" val="14867103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C84B5-6DB3-3A06-0BBC-524DB3A0E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3956C-C300-F356-49DD-E14D3D6260C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33E28C8-4787-E53A-E009-22D1AE51D8FD}"/>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What is another way?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Jayden’s steps be if he substituted 77 in the original formula?</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method do you prefer, substituting the 77 in the original formula and solving the equation or isolating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first and using substitution? Why?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did Isabella multiply both sides by 9?</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term did Isabella add to both sides?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Compare your strategy to Isabella’s strategy.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difference in the errors Ethan and Minh made when using the distributive property.</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rewritten formula relates to the original formula.</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Isabella apply first?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250FC7D-503B-EED5-3774-539B51851B8B}"/>
              </a:ext>
            </a:extLst>
          </p:cNvPr>
          <p:cNvSpPr>
            <a:spLocks noGrp="1"/>
          </p:cNvSpPr>
          <p:nvPr>
            <p:ph type="sldNum" sz="quarter" idx="5"/>
          </p:nvPr>
        </p:nvSpPr>
        <p:spPr/>
        <p:txBody>
          <a:bodyPr/>
          <a:lstStyle/>
          <a:p>
            <a:fld id="{BB5E49A5-4136-284D-997B-48E1D791AD67}" type="slidenum">
              <a:rPr lang="en-US" smtClean="0"/>
              <a:t>33</a:t>
            </a:fld>
            <a:endParaRPr lang="en-US"/>
          </a:p>
        </p:txBody>
      </p:sp>
    </p:spTree>
    <p:extLst>
      <p:ext uri="{BB962C8B-B14F-4D97-AF65-F5344CB8AC3E}">
        <p14:creationId xmlns:p14="http://schemas.microsoft.com/office/powerpoint/2010/main" val="14010648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94418-DC05-BAB8-C109-A7C875BCF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6A1F9-C6B2-4715-02D3-F340894F2DB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8766C37-66CE-27B2-6444-A613AEAB8CE7}"/>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What is another way?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Jayden’s steps be if he substituted 77 in the original formula?</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method do you prefer, substituting the 77 in the original formula and solving the equation or isolating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first and using substitution? Why?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did Isabella multiply both sides by 9?</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term did Isabella add to both sides?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Compare your strategy to Isabella’s strategy.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difference in the errors Ethan and Minh made when using the distributive property.</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rewritten formula relates to the original formula.</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Isabella apply first?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D83AB8B-A474-75AA-E76C-8D25141778A8}"/>
              </a:ext>
            </a:extLst>
          </p:cNvPr>
          <p:cNvSpPr>
            <a:spLocks noGrp="1"/>
          </p:cNvSpPr>
          <p:nvPr>
            <p:ph type="sldNum" sz="quarter" idx="5"/>
          </p:nvPr>
        </p:nvSpPr>
        <p:spPr/>
        <p:txBody>
          <a:bodyPr/>
          <a:lstStyle/>
          <a:p>
            <a:fld id="{BB5E49A5-4136-284D-997B-48E1D791AD67}" type="slidenum">
              <a:rPr lang="en-US" smtClean="0"/>
              <a:t>34</a:t>
            </a:fld>
            <a:endParaRPr lang="en-US"/>
          </a:p>
        </p:txBody>
      </p:sp>
    </p:spTree>
    <p:extLst>
      <p:ext uri="{BB962C8B-B14F-4D97-AF65-F5344CB8AC3E}">
        <p14:creationId xmlns:p14="http://schemas.microsoft.com/office/powerpoint/2010/main" val="12017860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C8E55-9C4E-4300-486B-ECA6C3C2F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F57A34-8BF0-7E5A-53C5-80ECC8DE389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E6C4400-779C-D57A-E756-742FDD918A80}"/>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What is another way?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Jayden’s steps be if he substituted 77 in the original formula?</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method do you prefer, substituting the 77 in the original formula and solving the equation or isolating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first and using substitution? Why?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did Isabella multiply both sides by 9?</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term did Isabella add to both sides?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Compare your strategy to Isabella’s strategy.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difference in the errors Ethan and Minh made when using the distributive property.</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rewritten formula relates to the original formula.</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Isabella apply first?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3855461-A84C-A38B-38A0-C9813A6FAFED}"/>
              </a:ext>
            </a:extLst>
          </p:cNvPr>
          <p:cNvSpPr>
            <a:spLocks noGrp="1"/>
          </p:cNvSpPr>
          <p:nvPr>
            <p:ph type="sldNum" sz="quarter" idx="5"/>
          </p:nvPr>
        </p:nvSpPr>
        <p:spPr/>
        <p:txBody>
          <a:bodyPr/>
          <a:lstStyle/>
          <a:p>
            <a:fld id="{BB5E49A5-4136-284D-997B-48E1D791AD67}" type="slidenum">
              <a:rPr lang="en-US" smtClean="0"/>
              <a:t>35</a:t>
            </a:fld>
            <a:endParaRPr lang="en-US"/>
          </a:p>
        </p:txBody>
      </p:sp>
    </p:spTree>
    <p:extLst>
      <p:ext uri="{BB962C8B-B14F-4D97-AF65-F5344CB8AC3E}">
        <p14:creationId xmlns:p14="http://schemas.microsoft.com/office/powerpoint/2010/main" val="3209335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D2F95-BE61-B164-47AA-049CEB6A4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807BB-83F6-7070-295C-527C641614A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06567AD-C61E-C52B-2E65-E1EAB325649A}"/>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What is another way?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Jayden’s steps be if he substituted 77 in the original formula?</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method do you prefer, substituting the 77 in the original formula and solving the equation or isolating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first and using substitution? Why?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did Isabella multiply both sides by 9?</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term did Isabella add to both sides?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Compare your strategy to Isabella’s strategy.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difference in the errors Ethan and Minh made when using the distributive property.</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rewritten formula relates to the original formula.</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Isabella apply first?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B4C856F7-470E-DFB6-FA06-A3F5F3EF466A}"/>
              </a:ext>
            </a:extLst>
          </p:cNvPr>
          <p:cNvSpPr>
            <a:spLocks noGrp="1"/>
          </p:cNvSpPr>
          <p:nvPr>
            <p:ph type="sldNum" sz="quarter" idx="5"/>
          </p:nvPr>
        </p:nvSpPr>
        <p:spPr/>
        <p:txBody>
          <a:bodyPr/>
          <a:lstStyle/>
          <a:p>
            <a:fld id="{BB5E49A5-4136-284D-997B-48E1D791AD67}" type="slidenum">
              <a:rPr lang="en-US" smtClean="0"/>
              <a:t>36</a:t>
            </a:fld>
            <a:endParaRPr lang="en-US"/>
          </a:p>
        </p:txBody>
      </p:sp>
    </p:spTree>
    <p:extLst>
      <p:ext uri="{BB962C8B-B14F-4D97-AF65-F5344CB8AC3E}">
        <p14:creationId xmlns:p14="http://schemas.microsoft.com/office/powerpoint/2010/main" val="3286029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01269-A9A8-2726-5BC4-35B4E7625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B835F-AC1E-040A-C050-B95DC5D21FB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3C732EF-EC33-5FAA-ABC3-537084BC832D}"/>
              </a:ext>
            </a:extLst>
          </p:cNvPr>
          <p:cNvSpPr>
            <a:spLocks noGrp="1"/>
          </p:cNvSpPr>
          <p:nvPr>
            <p:ph type="body" idx="1"/>
          </p:nvPr>
        </p:nvSpPr>
        <p:spPr/>
        <p:txBody>
          <a:bodyPr/>
          <a:lstStyle/>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E99792A-295F-2074-C3AA-7CF4DFEEBEFC}"/>
              </a:ext>
            </a:extLst>
          </p:cNvPr>
          <p:cNvSpPr>
            <a:spLocks noGrp="1"/>
          </p:cNvSpPr>
          <p:nvPr>
            <p:ph type="sldNum" sz="quarter" idx="5"/>
          </p:nvPr>
        </p:nvSpPr>
        <p:spPr/>
        <p:txBody>
          <a:bodyPr/>
          <a:lstStyle/>
          <a:p>
            <a:fld id="{BB5E49A5-4136-284D-997B-48E1D791AD67}" type="slidenum">
              <a:rPr lang="en-US" smtClean="0"/>
              <a:t>37</a:t>
            </a:fld>
            <a:endParaRPr lang="en-US"/>
          </a:p>
        </p:txBody>
      </p:sp>
    </p:spTree>
    <p:extLst>
      <p:ext uri="{BB962C8B-B14F-4D97-AF65-F5344CB8AC3E}">
        <p14:creationId xmlns:p14="http://schemas.microsoft.com/office/powerpoint/2010/main" val="10576031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1509C-0B90-194E-1AA9-36D0EFD01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C6400A-AA4D-AD52-6937-2D8A0B01FB7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E1645DE-E5FB-6DC3-C9CF-F7B7F4E594DE}"/>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Determine the forms of the equations.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form of this equation?</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the equations in the Worked Example and what you wrote in Question 4 equivalent?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EC4766D-AFF7-36E8-ABE0-105DEB9C6ADA}"/>
              </a:ext>
            </a:extLst>
          </p:cNvPr>
          <p:cNvSpPr>
            <a:spLocks noGrp="1"/>
          </p:cNvSpPr>
          <p:nvPr>
            <p:ph type="sldNum" sz="quarter" idx="5"/>
          </p:nvPr>
        </p:nvSpPr>
        <p:spPr/>
        <p:txBody>
          <a:bodyPr/>
          <a:lstStyle/>
          <a:p>
            <a:fld id="{BB5E49A5-4136-284D-997B-48E1D791AD67}" type="slidenum">
              <a:rPr lang="en-US" smtClean="0"/>
              <a:t>38</a:t>
            </a:fld>
            <a:endParaRPr lang="en-US"/>
          </a:p>
        </p:txBody>
      </p:sp>
    </p:spTree>
    <p:extLst>
      <p:ext uri="{BB962C8B-B14F-4D97-AF65-F5344CB8AC3E}">
        <p14:creationId xmlns:p14="http://schemas.microsoft.com/office/powerpoint/2010/main" val="15792533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EA691-2F89-A81B-7A67-8938DAAC2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E12E7-279D-79F8-DF0B-A32BBD16B65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4254B2A-785A-B3FD-7C05-89F548C56143}"/>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2.2 Summary:</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 formula that includes more than one variable may be rewritten to isolate a different variable in the formula for efficiency in solving problems.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FA98976-EB83-8832-DF70-35DA7377D3B1}"/>
              </a:ext>
            </a:extLst>
          </p:cNvPr>
          <p:cNvSpPr>
            <a:spLocks noGrp="1"/>
          </p:cNvSpPr>
          <p:nvPr>
            <p:ph type="sldNum" sz="quarter" idx="5"/>
          </p:nvPr>
        </p:nvSpPr>
        <p:spPr/>
        <p:txBody>
          <a:bodyPr/>
          <a:lstStyle/>
          <a:p>
            <a:fld id="{BB5E49A5-4136-284D-997B-48E1D791AD67}" type="slidenum">
              <a:rPr lang="en-US" smtClean="0"/>
              <a:t>39</a:t>
            </a:fld>
            <a:endParaRPr lang="en-US"/>
          </a:p>
        </p:txBody>
      </p:sp>
    </p:spTree>
    <p:extLst>
      <p:ext uri="{BB962C8B-B14F-4D97-AF65-F5344CB8AC3E}">
        <p14:creationId xmlns:p14="http://schemas.microsoft.com/office/powerpoint/2010/main" val="26066081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E675E-FE57-06AF-033A-09D267261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DB9E1-6E66-9A66-65BA-2799F829902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8ED38E6-2EEC-4220-90D1-8DFA9FA728B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9A261C2-F75B-2F1E-9A13-A1E2EA72A74B}"/>
              </a:ext>
            </a:extLst>
          </p:cNvPr>
          <p:cNvSpPr>
            <a:spLocks noGrp="1"/>
          </p:cNvSpPr>
          <p:nvPr>
            <p:ph type="sldNum" sz="quarter" idx="5"/>
          </p:nvPr>
        </p:nvSpPr>
        <p:spPr/>
        <p:txBody>
          <a:bodyPr/>
          <a:lstStyle/>
          <a:p>
            <a:fld id="{BB5E49A5-4136-284D-997B-48E1D791AD67}" type="slidenum">
              <a:rPr lang="en-US" smtClean="0"/>
              <a:t>40</a:t>
            </a:fld>
            <a:endParaRPr lang="en-US"/>
          </a:p>
        </p:txBody>
      </p:sp>
    </p:spTree>
    <p:extLst>
      <p:ext uri="{BB962C8B-B14F-4D97-AF65-F5344CB8AC3E}">
        <p14:creationId xmlns:p14="http://schemas.microsoft.com/office/powerpoint/2010/main" val="35175094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C29BE-DA97-11A0-3EB1-6C005A7A5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DB7427-B48E-D0CA-1EA0-3A5DA566B58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68C0DBF-F75A-266F-1F38-1EB672C1ACB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2.3.</a:t>
            </a:r>
          </a:p>
        </p:txBody>
      </p:sp>
      <p:sp>
        <p:nvSpPr>
          <p:cNvPr id="4" name="Slide Number Placeholder 3">
            <a:extLst>
              <a:ext uri="{FF2B5EF4-FFF2-40B4-BE49-F238E27FC236}">
                <a16:creationId xmlns:a16="http://schemas.microsoft.com/office/drawing/2014/main" id="{96CF6A8B-1442-11F9-C260-990C90C552ED}"/>
              </a:ext>
            </a:extLst>
          </p:cNvPr>
          <p:cNvSpPr>
            <a:spLocks noGrp="1"/>
          </p:cNvSpPr>
          <p:nvPr>
            <p:ph type="sldNum" sz="quarter" idx="5"/>
          </p:nvPr>
        </p:nvSpPr>
        <p:spPr/>
        <p:txBody>
          <a:bodyPr/>
          <a:lstStyle/>
          <a:p>
            <a:fld id="{BB5E49A5-4136-284D-997B-48E1D791AD67}" type="slidenum">
              <a:rPr lang="en-US" smtClean="0"/>
              <a:t>41</a:t>
            </a:fld>
            <a:endParaRPr lang="en-US"/>
          </a:p>
        </p:txBody>
      </p:sp>
    </p:spTree>
    <p:extLst>
      <p:ext uri="{BB962C8B-B14F-4D97-AF65-F5344CB8AC3E}">
        <p14:creationId xmlns:p14="http://schemas.microsoft.com/office/powerpoint/2010/main" val="29061158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53B9A-7F7B-309F-4B6E-541EA5803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B890CF-CD23-953D-597A-EF1A7CE02B31}"/>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6AB98C5-0378-312A-2A33-D85A270849F4}"/>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14:m>
                  <m:oMath xmlns:m="http://schemas.openxmlformats.org/officeDocument/2006/math">
                    <m:f>
                      <m:fPr>
                        <m:ctrlPr>
                          <a:rPr lang="en-US" sz="1200" b="0" i="1"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m:rPr>
                            <m:sty m:val="p"/>
                          </m:rPr>
                          <a:rPr lang="en-US"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US"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num>
                      <m:den>
                        <m:r>
                          <m:rPr>
                            <m:sty m:val="p"/>
                          </m:rPr>
                          <a:rPr lang="en-IN"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IN"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16AB98C5-0378-312A-2A33-D85A270849F4}"/>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US"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3</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a:t>
                </a:r>
                <a:r>
                  <a:rPr lang="en-IN"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IN"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2</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DFA10A11-FF05-4B3E-53BC-2736189589C2}"/>
              </a:ext>
            </a:extLst>
          </p:cNvPr>
          <p:cNvSpPr>
            <a:spLocks noGrp="1"/>
          </p:cNvSpPr>
          <p:nvPr>
            <p:ph type="sldNum" sz="quarter" idx="5"/>
          </p:nvPr>
        </p:nvSpPr>
        <p:spPr/>
        <p:txBody>
          <a:bodyPr/>
          <a:lstStyle/>
          <a:p>
            <a:fld id="{BB5E49A5-4136-284D-997B-48E1D791AD67}" type="slidenum">
              <a:rPr lang="en-US" smtClean="0"/>
              <a:t>42</a:t>
            </a:fld>
            <a:endParaRPr lang="en-US"/>
          </a:p>
        </p:txBody>
      </p:sp>
    </p:spTree>
    <p:extLst>
      <p:ext uri="{BB962C8B-B14F-4D97-AF65-F5344CB8AC3E}">
        <p14:creationId xmlns:p14="http://schemas.microsoft.com/office/powerpoint/2010/main" val="31985512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60265-86AE-34AC-9AC9-FFCFFDDFD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23895-CDC0-2BC6-9188-80E8AC090C77}"/>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426DDA0-D267-D467-46BA-1713E9F06787}"/>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14:m>
                  <m:oMath xmlns:m="http://schemas.openxmlformats.org/officeDocument/2006/math">
                    <m:f>
                      <m:fPr>
                        <m:ctrlPr>
                          <a:rPr lang="en-US" sz="1200" b="0" i="1"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m:rPr>
                            <m:sty m:val="p"/>
                          </m:rPr>
                          <a:rPr lang="en-US"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US"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num>
                      <m:den>
                        <m:r>
                          <m:rPr>
                            <m:sty m:val="p"/>
                          </m:rPr>
                          <a:rPr lang="en-IN"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IN"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8426DDA0-D267-D467-46BA-1713E9F06787}"/>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US"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3</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a:t>
                </a:r>
                <a:r>
                  <a:rPr lang="en-IN"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IN"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2</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60A8F7C5-D0B4-704D-5CFA-9545596EBA03}"/>
              </a:ext>
            </a:extLst>
          </p:cNvPr>
          <p:cNvSpPr>
            <a:spLocks noGrp="1"/>
          </p:cNvSpPr>
          <p:nvPr>
            <p:ph type="sldNum" sz="quarter" idx="5"/>
          </p:nvPr>
        </p:nvSpPr>
        <p:spPr/>
        <p:txBody>
          <a:bodyPr/>
          <a:lstStyle/>
          <a:p>
            <a:fld id="{BB5E49A5-4136-284D-997B-48E1D791AD67}" type="slidenum">
              <a:rPr lang="en-US" smtClean="0"/>
              <a:t>43</a:t>
            </a:fld>
            <a:endParaRPr lang="en-US"/>
          </a:p>
        </p:txBody>
      </p:sp>
    </p:spTree>
    <p:extLst>
      <p:ext uri="{BB962C8B-B14F-4D97-AF65-F5344CB8AC3E}">
        <p14:creationId xmlns:p14="http://schemas.microsoft.com/office/powerpoint/2010/main" val="40739603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C43F7-1B82-C037-36E3-B3A4E62F2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C5E5F-85A5-D2AE-B33C-E6C5524EF0EE}"/>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262FCCC-BCBD-366F-053A-C765E223D445}"/>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14:m>
                  <m:oMath xmlns:m="http://schemas.openxmlformats.org/officeDocument/2006/math">
                    <m:f>
                      <m:fPr>
                        <m:ctrlPr>
                          <a:rPr lang="en-US" sz="1200" b="0" i="1"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m:rPr>
                            <m:sty m:val="p"/>
                          </m:rPr>
                          <a:rPr lang="en-US"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US"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num>
                      <m:den>
                        <m:r>
                          <m:rPr>
                            <m:sty m:val="p"/>
                          </m:rPr>
                          <a:rPr lang="en-IN"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IN"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3262FCCC-BCBD-366F-053A-C765E223D445}"/>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US"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3</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a:t>
                </a:r>
                <a:r>
                  <a:rPr lang="en-IN"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IN"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2</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E0635B2C-92EC-D99F-2D52-46FD7CD82D62}"/>
              </a:ext>
            </a:extLst>
          </p:cNvPr>
          <p:cNvSpPr>
            <a:spLocks noGrp="1"/>
          </p:cNvSpPr>
          <p:nvPr>
            <p:ph type="sldNum" sz="quarter" idx="5"/>
          </p:nvPr>
        </p:nvSpPr>
        <p:spPr/>
        <p:txBody>
          <a:bodyPr/>
          <a:lstStyle/>
          <a:p>
            <a:fld id="{BB5E49A5-4136-284D-997B-48E1D791AD67}" type="slidenum">
              <a:rPr lang="en-US" smtClean="0"/>
              <a:t>44</a:t>
            </a:fld>
            <a:endParaRPr lang="en-US"/>
          </a:p>
        </p:txBody>
      </p:sp>
    </p:spTree>
    <p:extLst>
      <p:ext uri="{BB962C8B-B14F-4D97-AF65-F5344CB8AC3E}">
        <p14:creationId xmlns:p14="http://schemas.microsoft.com/office/powerpoint/2010/main" val="17050966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69606-A922-ACE1-91D9-443ECCDF83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726C28-1270-9D69-0F49-6F4AC74CC261}"/>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BE34753-5C09-8298-A365-C08A65603479}"/>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14:m>
                  <m:oMath xmlns:m="http://schemas.openxmlformats.org/officeDocument/2006/math">
                    <m:f>
                      <m:fPr>
                        <m:ctrlPr>
                          <a:rPr lang="en-US" sz="1200" b="0" i="1"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m:rPr>
                            <m:sty m:val="p"/>
                          </m:rPr>
                          <a:rPr lang="en-US"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US"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num>
                      <m:den>
                        <m:r>
                          <m:rPr>
                            <m:sty m:val="p"/>
                          </m:rPr>
                          <a:rPr lang="en-IN"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IN"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0BE34753-5C09-8298-A365-C08A65603479}"/>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US"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3</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a:t>
                </a:r>
                <a:r>
                  <a:rPr lang="en-IN"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IN"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2</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BBC1232F-99D1-C11A-CC68-DAC3CD17BCEE}"/>
              </a:ext>
            </a:extLst>
          </p:cNvPr>
          <p:cNvSpPr>
            <a:spLocks noGrp="1"/>
          </p:cNvSpPr>
          <p:nvPr>
            <p:ph type="sldNum" sz="quarter" idx="5"/>
          </p:nvPr>
        </p:nvSpPr>
        <p:spPr/>
        <p:txBody>
          <a:bodyPr/>
          <a:lstStyle/>
          <a:p>
            <a:fld id="{BB5E49A5-4136-284D-997B-48E1D791AD67}" type="slidenum">
              <a:rPr lang="en-US" smtClean="0"/>
              <a:t>45</a:t>
            </a:fld>
            <a:endParaRPr lang="en-US"/>
          </a:p>
        </p:txBody>
      </p:sp>
    </p:spTree>
    <p:extLst>
      <p:ext uri="{BB962C8B-B14F-4D97-AF65-F5344CB8AC3E}">
        <p14:creationId xmlns:p14="http://schemas.microsoft.com/office/powerpoint/2010/main" val="36473164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8CC13-44E4-24F7-6EB3-643C2F1F61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134765-DC67-3C20-A482-D959E07354D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9D40D38-CDE9-04A5-E4B4-9A06A1202DF7}"/>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Did you apply the distributive property to solve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could you solve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without applying the distributive property?</a:t>
            </a:r>
          </a:p>
        </p:txBody>
      </p:sp>
      <p:sp>
        <p:nvSpPr>
          <p:cNvPr id="4" name="Slide Number Placeholder 3">
            <a:extLst>
              <a:ext uri="{FF2B5EF4-FFF2-40B4-BE49-F238E27FC236}">
                <a16:creationId xmlns:a16="http://schemas.microsoft.com/office/drawing/2014/main" id="{4EC9358E-EE2A-6C80-F9FE-78580391C70A}"/>
              </a:ext>
            </a:extLst>
          </p:cNvPr>
          <p:cNvSpPr>
            <a:spLocks noGrp="1"/>
          </p:cNvSpPr>
          <p:nvPr>
            <p:ph type="sldNum" sz="quarter" idx="5"/>
          </p:nvPr>
        </p:nvSpPr>
        <p:spPr/>
        <p:txBody>
          <a:bodyPr/>
          <a:lstStyle/>
          <a:p>
            <a:fld id="{BB5E49A5-4136-284D-997B-48E1D791AD67}" type="slidenum">
              <a:rPr lang="en-US" smtClean="0"/>
              <a:t>46</a:t>
            </a:fld>
            <a:endParaRPr lang="en-US"/>
          </a:p>
        </p:txBody>
      </p:sp>
    </p:spTree>
    <p:extLst>
      <p:ext uri="{BB962C8B-B14F-4D97-AF65-F5344CB8AC3E}">
        <p14:creationId xmlns:p14="http://schemas.microsoft.com/office/powerpoint/2010/main" val="26393640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E7BB8-05EB-72FD-0178-0F06519C2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E1367-3370-E280-42B7-736C242402A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442B2AA-0D46-EED2-7D99-BE1A5093F456}"/>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another way to express the equation in part (a)?</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operation did you use so that</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was no longer in the denominator?</a:t>
            </a:r>
          </a:p>
        </p:txBody>
      </p:sp>
      <p:sp>
        <p:nvSpPr>
          <p:cNvPr id="4" name="Slide Number Placeholder 3">
            <a:extLst>
              <a:ext uri="{FF2B5EF4-FFF2-40B4-BE49-F238E27FC236}">
                <a16:creationId xmlns:a16="http://schemas.microsoft.com/office/drawing/2014/main" id="{4CCB4668-7810-FF41-8513-E32D7933EF4D}"/>
              </a:ext>
            </a:extLst>
          </p:cNvPr>
          <p:cNvSpPr>
            <a:spLocks noGrp="1"/>
          </p:cNvSpPr>
          <p:nvPr>
            <p:ph type="sldNum" sz="quarter" idx="5"/>
          </p:nvPr>
        </p:nvSpPr>
        <p:spPr/>
        <p:txBody>
          <a:bodyPr/>
          <a:lstStyle/>
          <a:p>
            <a:fld id="{BB5E49A5-4136-284D-997B-48E1D791AD67}" type="slidenum">
              <a:rPr lang="en-US" smtClean="0"/>
              <a:t>47</a:t>
            </a:fld>
            <a:endParaRPr lang="en-US"/>
          </a:p>
        </p:txBody>
      </p:sp>
    </p:spTree>
    <p:extLst>
      <p:ext uri="{BB962C8B-B14F-4D97-AF65-F5344CB8AC3E}">
        <p14:creationId xmlns:p14="http://schemas.microsoft.com/office/powerpoint/2010/main" val="17048953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ABAEB-0EDA-1447-3E76-C71332D888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6DFEC5-5999-8974-A7E8-FA4A4104C96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9FB5DAA-E53B-029C-8773-F19155173662}"/>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2.3 Summary:</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 formula that includes more than one variable may be rewritten to isolate any variable contained in the formula by applying properties of equality and number properties.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67E9CCE-8C9A-A885-B0D1-49BD655DDD9C}"/>
              </a:ext>
            </a:extLst>
          </p:cNvPr>
          <p:cNvSpPr>
            <a:spLocks noGrp="1"/>
          </p:cNvSpPr>
          <p:nvPr>
            <p:ph type="sldNum" sz="quarter" idx="5"/>
          </p:nvPr>
        </p:nvSpPr>
        <p:spPr/>
        <p:txBody>
          <a:bodyPr/>
          <a:lstStyle/>
          <a:p>
            <a:fld id="{BB5E49A5-4136-284D-997B-48E1D791AD67}" type="slidenum">
              <a:rPr lang="en-US" smtClean="0"/>
              <a:t>48</a:t>
            </a:fld>
            <a:endParaRPr lang="en-US"/>
          </a:p>
        </p:txBody>
      </p:sp>
    </p:spTree>
    <p:extLst>
      <p:ext uri="{BB962C8B-B14F-4D97-AF65-F5344CB8AC3E}">
        <p14:creationId xmlns:p14="http://schemas.microsoft.com/office/powerpoint/2010/main" val="19085697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C48B7-27D9-FA8D-F2EB-D46D00323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B77CC-6665-BFF7-957E-B244F60D8DB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C6FCF2A-44B4-D635-AAEB-560A4983D3A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868F491-9B12-F110-4AA7-B2332D6B2998}"/>
              </a:ext>
            </a:extLst>
          </p:cNvPr>
          <p:cNvSpPr>
            <a:spLocks noGrp="1"/>
          </p:cNvSpPr>
          <p:nvPr>
            <p:ph type="sldNum" sz="quarter" idx="5"/>
          </p:nvPr>
        </p:nvSpPr>
        <p:spPr/>
        <p:txBody>
          <a:bodyPr/>
          <a:lstStyle/>
          <a:p>
            <a:fld id="{BB5E49A5-4136-284D-997B-48E1D791AD67}" type="slidenum">
              <a:rPr lang="en-US" smtClean="0"/>
              <a:t>49</a:t>
            </a:fld>
            <a:endParaRPr lang="en-US"/>
          </a:p>
        </p:txBody>
      </p:sp>
    </p:spTree>
    <p:extLst>
      <p:ext uri="{BB962C8B-B14F-4D97-AF65-F5344CB8AC3E}">
        <p14:creationId xmlns:p14="http://schemas.microsoft.com/office/powerpoint/2010/main" val="40971605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6A79E-DB44-58EB-64D4-958D7BE338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CEA1F-B549-9853-4B85-82771413360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8042ABC-5B30-4EE6-2539-82F737149B7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5-10 minutes allotted for the Talk the Talk.</a:t>
            </a:r>
          </a:p>
        </p:txBody>
      </p:sp>
      <p:sp>
        <p:nvSpPr>
          <p:cNvPr id="4" name="Slide Number Placeholder 3">
            <a:extLst>
              <a:ext uri="{FF2B5EF4-FFF2-40B4-BE49-F238E27FC236}">
                <a16:creationId xmlns:a16="http://schemas.microsoft.com/office/drawing/2014/main" id="{1FB335AC-7087-2B8B-2120-DEC8D13E4D07}"/>
              </a:ext>
            </a:extLst>
          </p:cNvPr>
          <p:cNvSpPr>
            <a:spLocks noGrp="1"/>
          </p:cNvSpPr>
          <p:nvPr>
            <p:ph type="sldNum" sz="quarter" idx="5"/>
          </p:nvPr>
        </p:nvSpPr>
        <p:spPr/>
        <p:txBody>
          <a:bodyPr/>
          <a:lstStyle/>
          <a:p>
            <a:fld id="{BB5E49A5-4136-284D-997B-48E1D791AD67}" type="slidenum">
              <a:rPr lang="en-US" smtClean="0"/>
              <a:t>50</a:t>
            </a:fld>
            <a:endParaRPr lang="en-US"/>
          </a:p>
        </p:txBody>
      </p:sp>
    </p:spTree>
    <p:extLst>
      <p:ext uri="{BB962C8B-B14F-4D97-AF65-F5344CB8AC3E}">
        <p14:creationId xmlns:p14="http://schemas.microsoft.com/office/powerpoint/2010/main" val="41799470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46B4D-A5B0-B103-B738-29FAF74827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A45024-865F-3050-327C-2E3BC846847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407F9C5-0896-0FE5-0566-56ED3C2EFA29}"/>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most efficient way to solve for</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it easier to use your response in Question 1 rather than the original formula to calculate the value of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relationship between your steps to solve the equation in Question 3 and those to solve a twostep equation?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Would you rather substitute the value of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in the original formula and then solve the resulting equation or solve the literal equation first and then evaluate the resulting expression? Why?</a:t>
            </a:r>
          </a:p>
        </p:txBody>
      </p:sp>
      <p:sp>
        <p:nvSpPr>
          <p:cNvPr id="4" name="Slide Number Placeholder 3">
            <a:extLst>
              <a:ext uri="{FF2B5EF4-FFF2-40B4-BE49-F238E27FC236}">
                <a16:creationId xmlns:a16="http://schemas.microsoft.com/office/drawing/2014/main" id="{2C9AC8E3-23AB-ED9D-2447-28B3A934C123}"/>
              </a:ext>
            </a:extLst>
          </p:cNvPr>
          <p:cNvSpPr>
            <a:spLocks noGrp="1"/>
          </p:cNvSpPr>
          <p:nvPr>
            <p:ph type="sldNum" sz="quarter" idx="5"/>
          </p:nvPr>
        </p:nvSpPr>
        <p:spPr/>
        <p:txBody>
          <a:bodyPr/>
          <a:lstStyle/>
          <a:p>
            <a:fld id="{BB5E49A5-4136-284D-997B-48E1D791AD67}" type="slidenum">
              <a:rPr lang="en-US" smtClean="0"/>
              <a:t>51</a:t>
            </a:fld>
            <a:endParaRPr lang="en-US"/>
          </a:p>
        </p:txBody>
      </p:sp>
    </p:spTree>
    <p:extLst>
      <p:ext uri="{BB962C8B-B14F-4D97-AF65-F5344CB8AC3E}">
        <p14:creationId xmlns:p14="http://schemas.microsoft.com/office/powerpoint/2010/main" val="38437074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768B1-BC24-A456-FACA-376E870F71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F5925-5D5B-AC8B-2E07-207A4405D26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25564D0-ED02-622B-00D0-E7CB83338C40}"/>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most efficient way to solve for</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it easier to use your response in Question 1 rather than the original formula to calculate the value of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relationship between your steps to solve the equation in Question 3 and those to solve a twostep equation?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Would you rather substitute the value of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in the original formula and then solve the resulting equation or solve the literal equation first and then evaluate the resulting expression? Why?</a:t>
            </a:r>
          </a:p>
        </p:txBody>
      </p:sp>
      <p:sp>
        <p:nvSpPr>
          <p:cNvPr id="4" name="Slide Number Placeholder 3">
            <a:extLst>
              <a:ext uri="{FF2B5EF4-FFF2-40B4-BE49-F238E27FC236}">
                <a16:creationId xmlns:a16="http://schemas.microsoft.com/office/drawing/2014/main" id="{3225A19E-BE42-29F1-F0A8-D6B3B8E85B51}"/>
              </a:ext>
            </a:extLst>
          </p:cNvPr>
          <p:cNvSpPr>
            <a:spLocks noGrp="1"/>
          </p:cNvSpPr>
          <p:nvPr>
            <p:ph type="sldNum" sz="quarter" idx="5"/>
          </p:nvPr>
        </p:nvSpPr>
        <p:spPr/>
        <p:txBody>
          <a:bodyPr/>
          <a:lstStyle/>
          <a:p>
            <a:fld id="{BB5E49A5-4136-284D-997B-48E1D791AD67}" type="slidenum">
              <a:rPr lang="en-US" smtClean="0"/>
              <a:t>52</a:t>
            </a:fld>
            <a:endParaRPr lang="en-US"/>
          </a:p>
        </p:txBody>
      </p:sp>
    </p:spTree>
    <p:extLst>
      <p:ext uri="{BB962C8B-B14F-4D97-AF65-F5344CB8AC3E}">
        <p14:creationId xmlns:p14="http://schemas.microsoft.com/office/powerpoint/2010/main" val="518275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2,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Essential Question:</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Sample answer: I can use the properties to isolate one specific variable on one side of the equation with all other terms on the other side.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Talk the Talk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 formula that includes more than one variable may be rewritten to isolate any variable contained in the formula by applying properties of equality and number properties.</a:t>
            </a: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53</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54</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EE008-9FDD-1CEE-0E4D-74C0586D0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4C880C-DA8A-D38F-27A4-CDAD8349A50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2E66CE0-5F80-250B-FD73-62D5BE67096B}"/>
              </a:ext>
            </a:extLst>
          </p:cNvPr>
          <p:cNvSpPr>
            <a:spLocks noGrp="1"/>
          </p:cNvSpPr>
          <p:nvPr>
            <p:ph type="body" idx="1"/>
          </p:nvPr>
        </p:nvSpPr>
        <p:spPr/>
        <p:txBody>
          <a:bodyPr/>
          <a:lstStyle/>
          <a:p>
            <a:pPr algn="l" rtl="0" fontAlgn="base"/>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can you identify whether students are ready for new learning?</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l" rtl="0" fontAlgn="base"/>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Depending on available time, you can assign the Prepare section of the Lesson Assignments as homework or as a warm-up to identify students' prior knowledge for the upcoming lesson's activities.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83804D7-97D5-D30F-92A6-0B417175DB68}"/>
              </a:ext>
            </a:extLst>
          </p:cNvPr>
          <p:cNvSpPr>
            <a:spLocks noGrp="1"/>
          </p:cNvSpPr>
          <p:nvPr>
            <p:ph type="sldNum" sz="quarter" idx="5"/>
          </p:nvPr>
        </p:nvSpPr>
        <p:spPr/>
        <p:txBody>
          <a:bodyPr/>
          <a:lstStyle/>
          <a:p>
            <a:fld id="{BB5E49A5-4136-284D-997B-48E1D791AD67}" type="slidenum">
              <a:rPr lang="en-US" smtClean="0"/>
              <a:t>55</a:t>
            </a:fld>
            <a:endParaRPr lang="en-US"/>
          </a:p>
        </p:txBody>
      </p:sp>
    </p:spTree>
    <p:extLst>
      <p:ext uri="{BB962C8B-B14F-4D97-AF65-F5344CB8AC3E}">
        <p14:creationId xmlns:p14="http://schemas.microsoft.com/office/powerpoint/2010/main" val="24728067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7A192-55B3-2194-D98E-1D75F615B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86020C-79AA-C230-D4A2-5941DB52258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C94E1D2-F92D-F9A8-2D71-0A13D6CE8F7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6040F09-933B-80FA-8043-D84D67BB3FCB}"/>
              </a:ext>
            </a:extLst>
          </p:cNvPr>
          <p:cNvSpPr>
            <a:spLocks noGrp="1"/>
          </p:cNvSpPr>
          <p:nvPr>
            <p:ph type="sldNum" sz="quarter" idx="5"/>
          </p:nvPr>
        </p:nvSpPr>
        <p:spPr/>
        <p:txBody>
          <a:bodyPr/>
          <a:lstStyle/>
          <a:p>
            <a:fld id="{BB5E49A5-4136-284D-997B-48E1D791AD67}" type="slidenum">
              <a:rPr lang="en-US" smtClean="0"/>
              <a:t>56</a:t>
            </a:fld>
            <a:endParaRPr lang="en-US"/>
          </a:p>
        </p:txBody>
      </p:sp>
    </p:spTree>
    <p:extLst>
      <p:ext uri="{BB962C8B-B14F-4D97-AF65-F5344CB8AC3E}">
        <p14:creationId xmlns:p14="http://schemas.microsoft.com/office/powerpoint/2010/main" val="207240994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57</a:t>
            </a:fld>
            <a:endParaRPr lang="en-US"/>
          </a:p>
        </p:txBody>
      </p:sp>
    </p:spTree>
    <p:extLst>
      <p:ext uri="{BB962C8B-B14F-4D97-AF65-F5344CB8AC3E}">
        <p14:creationId xmlns:p14="http://schemas.microsoft.com/office/powerpoint/2010/main" val="6502529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58</a:t>
            </a:fld>
            <a:endParaRPr lang="en-US"/>
          </a:p>
        </p:txBody>
      </p:sp>
    </p:spTree>
    <p:extLst>
      <p:ext uri="{BB962C8B-B14F-4D97-AF65-F5344CB8AC3E}">
        <p14:creationId xmlns:p14="http://schemas.microsoft.com/office/powerpoint/2010/main" val="1096310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creativecommons.org/licenses/by-nc/4.0"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6.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1.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236739"/>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236739"/>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7" name="Picture 6">
            <a:extLst>
              <a:ext uri="{FF2B5EF4-FFF2-40B4-BE49-F238E27FC236}">
                <a16:creationId xmlns:a16="http://schemas.microsoft.com/office/drawing/2014/main" id="{F3AD9D6D-E5B1-9F4C-296E-9D558E47F581}"/>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663225"/>
            <a:ext cx="12190413" cy="2194775"/>
          </a:xfrm>
          <a:prstGeom prst="rect">
            <a:avLst/>
          </a:prstGeom>
        </p:spPr>
      </p:pic>
    </p:spTree>
    <p:extLst>
      <p:ext uri="{BB962C8B-B14F-4D97-AF65-F5344CB8AC3E}">
        <p14:creationId xmlns:p14="http://schemas.microsoft.com/office/powerpoint/2010/main" val="244819002"/>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descr="A pattern with circles and lines&#10;&#10;AI-generated content may be incorrect.">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932192"/>
            <a:ext cx="12190413"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rgbClr val="000000"/>
                </a:solidFill>
              </a:rPr>
              <a:t>Acknowledgment</a:t>
            </a:r>
          </a:p>
          <a:p>
            <a:r>
              <a:rPr lang="en-US" dirty="0">
                <a:solidFill>
                  <a:srgbClr val="000000"/>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rgbClr val="000000"/>
              </a:solidFill>
              <a:cs typeface="Calibri"/>
            </a:endParaRPr>
          </a:p>
          <a:p>
            <a:endParaRPr lang="en-US" dirty="0">
              <a:solidFill>
                <a:srgbClr val="000000"/>
              </a:solidFill>
            </a:endParaRPr>
          </a:p>
          <a:p>
            <a:r>
              <a:rPr lang="en-US" b="1" dirty="0">
                <a:solidFill>
                  <a:srgbClr val="000000"/>
                </a:solidFill>
              </a:rPr>
              <a:t>Notice</a:t>
            </a:r>
            <a:endParaRPr lang="en-US" b="1" dirty="0">
              <a:solidFill>
                <a:srgbClr val="000000"/>
              </a:solidFill>
              <a:cs typeface="Calibri"/>
            </a:endParaRPr>
          </a:p>
          <a:p>
            <a:r>
              <a:rPr lang="en-US" dirty="0">
                <a:solidFill>
                  <a:srgbClr val="000000"/>
                </a:solidFill>
              </a:rPr>
              <a:t>These learning resources have been built for Texas students, aligned to the Texas Essential Knowledge and Skills, and are made available pursuant to Chapter 31, Subchapter B-1 of the Texas Education Code.</a:t>
            </a:r>
            <a:endParaRPr lang="en-US" dirty="0">
              <a:solidFill>
                <a:srgbClr val="000000"/>
              </a:solidFill>
              <a:cs typeface="Calibri"/>
            </a:endParaRPr>
          </a:p>
          <a:p>
            <a:r>
              <a:rPr lang="en-US" dirty="0">
                <a:solidFill>
                  <a:srgbClr val="000000"/>
                </a:solidFill>
              </a:rPr>
              <a:t>If you have further questions or to report an error, please email </a:t>
            </a:r>
            <a:r>
              <a:rPr lang="en-US" dirty="0">
                <a:solidFill>
                  <a:srgbClr val="000000"/>
                </a:solidFill>
                <a:hlinkClick r:id="rId3">
                  <a:extLst>
                    <a:ext uri="{A12FA001-AC4F-418D-AE19-62706E023703}">
                      <ahyp:hlinkClr xmlns:ahyp="http://schemas.microsoft.com/office/drawing/2018/hyperlinkcolor" val="tx"/>
                    </a:ext>
                  </a:extLst>
                </a:hlinkClick>
              </a:rPr>
              <a:t>openeducationresources@tea.texas.gov</a:t>
            </a:r>
            <a:r>
              <a:rPr lang="en-US" dirty="0">
                <a:solidFill>
                  <a:srgbClr val="000000"/>
                </a:solidFill>
              </a:rPr>
              <a:t>.</a:t>
            </a:r>
          </a:p>
          <a:p>
            <a:endParaRPr lang="en-US" dirty="0">
              <a:solidFill>
                <a:srgbClr val="000000"/>
              </a:solidFill>
              <a:cs typeface="Calibri"/>
            </a:endParaRPr>
          </a:p>
          <a:p>
            <a:r>
              <a:rPr lang="en-US" dirty="0">
                <a:solidFill>
                  <a:srgbClr val="000000"/>
                </a:solidFill>
                <a:cs typeface="Calibri"/>
              </a:rPr>
              <a:t>©2024-2025 Texas Education Agency. Portions of this work are adapted, with permission, from the originals created by and copyright ©2021 Carnegie Learning, Inc. </a:t>
            </a:r>
          </a:p>
          <a:p>
            <a:endParaRPr lang="en-US" dirty="0">
              <a:solidFill>
                <a:srgbClr val="000000"/>
              </a:solidFill>
              <a:cs typeface="Calibri"/>
            </a:endParaRPr>
          </a:p>
          <a:p>
            <a:r>
              <a:rPr lang="en-US" dirty="0">
                <a:solidFill>
                  <a:srgbClr val="000000"/>
                </a:solidFill>
                <a:cs typeface="Calibri"/>
              </a:rPr>
              <a:t>This work is licensed under a Creative Commons Attribution-Non-Commercial-4.0 International License. For information, visit: </a:t>
            </a:r>
            <a:r>
              <a:rPr lang="en-US" u="none" dirty="0">
                <a:solidFill>
                  <a:srgbClr val="000000"/>
                </a:solidFill>
                <a:cs typeface="Calibri"/>
                <a:hlinkClick r:id="rId4">
                  <a:extLst>
                    <a:ext uri="{A12FA001-AC4F-418D-AE19-62706E023703}">
                      <ahyp:hlinkClr xmlns:ahyp="http://schemas.microsoft.com/office/drawing/2018/hyperlinkcolor" val="tx"/>
                    </a:ext>
                  </a:extLst>
                </a:hlinkClick>
              </a:rPr>
              <a:t>https://creativecommons.org/licenses/by-nc/4.0</a:t>
            </a:r>
            <a:r>
              <a:rPr lang="en-US" dirty="0">
                <a:solidFill>
                  <a:srgbClr val="000000"/>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866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2"/>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02198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4A51F5-E78D-80F2-C30C-54D8CE7AD7E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2"/>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77543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413361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92929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2" name="Picture 1">
            <a:extLst>
              <a:ext uri="{FF2B5EF4-FFF2-40B4-BE49-F238E27FC236}">
                <a16:creationId xmlns:a16="http://schemas.microsoft.com/office/drawing/2014/main" id="{B9C392F0-D9CA-045E-DC33-AD0DC6B7D52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pic>
        <p:nvPicPr>
          <p:cNvPr id="4" name="Picture 3">
            <a:extLst>
              <a:ext uri="{FF2B5EF4-FFF2-40B4-BE49-F238E27FC236}">
                <a16:creationId xmlns:a16="http://schemas.microsoft.com/office/drawing/2014/main" id="{CB26F559-C57E-C96A-5BDB-3214E7F526F9}"/>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794" y="-12700"/>
            <a:ext cx="12190413" cy="2194775"/>
          </a:xfrm>
          <a:prstGeom prst="rect">
            <a:avLst/>
          </a:prstGeom>
        </p:spPr>
      </p:pic>
    </p:spTree>
    <p:extLst>
      <p:ext uri="{BB962C8B-B14F-4D97-AF65-F5344CB8AC3E}">
        <p14:creationId xmlns:p14="http://schemas.microsoft.com/office/powerpoint/2010/main" val="240945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737A2645-EE86-77F8-BA51-02B334B382F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22503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3E638D-838D-E791-FA97-DF1E0C1C5B0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2B8147"/>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39255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2367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75441" y="0"/>
            <a:ext cx="4614971"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2669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18384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839BE6FA-B7B5-A88C-E18F-876B4ED3DA8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82D8885F-4E7F-EF80-4D84-7E5D714299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63931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792E169A-E915-E3DE-BA92-93C09B36D4A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148376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6D9F641A-4A14-37E2-75D5-B878BE1C5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63194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06F759EE-3C87-F94D-DE8B-C1F8F6267F4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33111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4B87CF12-0B39-5309-9556-C2A6135451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E6E2F58D-FAE6-FF3D-033D-1E9A7E4431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60755373-B3E7-9C1B-E82F-11A7F4765E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143965"/>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descr="A blue and white pattern&#10;&#10;AI-generated content may be incorrect.">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0843309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932192"/>
            <a:ext cx="12190412"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494423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341915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40DD2-1F97-577C-F238-A8F3D80AC38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831863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3183D7-68B4-CBF0-CC42-25ECAFF9E40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50159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C1395B-02F4-8526-B036-AE6FDC3AA60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1494220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descr="A blue and white pattern&#10;&#10;AI-generated content may be incorrect.">
            <a:extLst>
              <a:ext uri="{FF2B5EF4-FFF2-40B4-BE49-F238E27FC236}">
                <a16:creationId xmlns:a16="http://schemas.microsoft.com/office/drawing/2014/main" id="{5B5A1052-DF6F-F0CD-A7AF-D701A09712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pic>
        <p:nvPicPr>
          <p:cNvPr id="7" name="Picture 6" descr="A blue and white pattern&#10;&#10;AI-generated content may be incorrect.">
            <a:extLst>
              <a:ext uri="{FF2B5EF4-FFF2-40B4-BE49-F238E27FC236}">
                <a16:creationId xmlns:a16="http://schemas.microsoft.com/office/drawing/2014/main" id="{B958C75F-ADDF-4683-07D9-8A46AFB8C4C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794" y="0"/>
            <a:ext cx="12190413" cy="2194775"/>
          </a:xfrm>
          <a:prstGeom prst="rect">
            <a:avLst/>
          </a:prstGeom>
        </p:spPr>
      </p:pic>
    </p:spTree>
    <p:extLst>
      <p:ext uri="{BB962C8B-B14F-4D97-AF65-F5344CB8AC3E}">
        <p14:creationId xmlns:p14="http://schemas.microsoft.com/office/powerpoint/2010/main" val="402435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blue and white pattern&#10;&#10;AI-generated content may be incorrect.">
            <a:extLst>
              <a:ext uri="{FF2B5EF4-FFF2-40B4-BE49-F238E27FC236}">
                <a16:creationId xmlns:a16="http://schemas.microsoft.com/office/drawing/2014/main" id="{26C4D152-DE0B-2942-C2AB-74253AD709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2525525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2" name="Picture 1" descr="A blue and white pattern&#10;&#10;AI-generated content may be incorrect.">
            <a:extLst>
              <a:ext uri="{FF2B5EF4-FFF2-40B4-BE49-F238E27FC236}">
                <a16:creationId xmlns:a16="http://schemas.microsoft.com/office/drawing/2014/main" id="{EFD95E81-EE85-94A2-01EB-DDD35923FA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143965"/>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986837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2" y="0"/>
            <a:ext cx="4614969"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164916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104978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323D0D43-B8FF-1B82-5425-940CCCC8FE2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9875669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A2207E90-1B20-894B-22B8-12466116766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19626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37B0BDED-D83D-FD4E-94F0-3B2616AA53F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4087480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F8B88EEA-3A54-4860-556B-D6A6A0166F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5721512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5C37EC70-3A95-9848-5065-7C7A9E822BC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1606292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C1E68608-310E-87E2-6084-F27D1E68B5C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65791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88EBEE1F-D893-3AC1-EA24-B31DCC78785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567136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6EEE28E3-A4D4-3431-633F-B27968B18E9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9038245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61449B"/>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2284903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932192"/>
            <a:ext cx="12190412"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3997474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6384794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47A7CF-FA6E-9D63-4999-01B9A163DA2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843213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8B0634-51E2-A394-6F7B-F27A1B40C70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528388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06744-2E5F-1C5E-C83C-024AB6A1E91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422871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a:extLst>
              <a:ext uri="{FF2B5EF4-FFF2-40B4-BE49-F238E27FC236}">
                <a16:creationId xmlns:a16="http://schemas.microsoft.com/office/drawing/2014/main" id="{5B5A1052-DF6F-F0CD-A7AF-D701A097127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pic>
        <p:nvPicPr>
          <p:cNvPr id="2" name="Picture 1">
            <a:extLst>
              <a:ext uri="{FF2B5EF4-FFF2-40B4-BE49-F238E27FC236}">
                <a16:creationId xmlns:a16="http://schemas.microsoft.com/office/drawing/2014/main" id="{E083018B-9E78-94F8-9F15-923743DC097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0800000">
            <a:off x="6" y="0"/>
            <a:ext cx="12190407" cy="2194775"/>
          </a:xfrm>
          <a:prstGeom prst="rect">
            <a:avLst/>
          </a:prstGeom>
        </p:spPr>
      </p:pic>
    </p:spTree>
    <p:extLst>
      <p:ext uri="{BB962C8B-B14F-4D97-AF65-F5344CB8AC3E}">
        <p14:creationId xmlns:p14="http://schemas.microsoft.com/office/powerpoint/2010/main" val="1496294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04EF9367-6309-BD09-F10A-FF6AF59B626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4274146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1AE3BF-9E99-B24F-E743-EB1A42651CB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21094338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2" y="0"/>
            <a:ext cx="4614969"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90232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972774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16C20936-BAEF-0860-376C-E62AEA172F3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3406987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BCE33224-DA35-0C93-D411-F621BA6DFD2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1759009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1F38F35C-E1EA-7E26-CFA2-D2EABDFABD4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5712563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E9096B68-4A77-76B9-2D56-7D11D872FDE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1015459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DA82E847-E70E-3A6A-CC65-DAD8C517488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9635808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E929BE76-65BC-6165-2E99-A58E49A36F9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134319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2D8527D9-6738-140E-CAE9-854D12AA994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18228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90177C41-8A77-B2A7-EC04-03F37364BC9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0623482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0084AC"/>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592599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932192"/>
            <a:ext cx="12190410"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166374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485143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1893B-1034-6084-9BBE-7D15B94B1E1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21672218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9BCCF-AB16-EB3C-7687-F7D6FB68E7A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7902808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1D682-097A-FF63-0838-13F3C038ED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6887234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4" name="Picture 3">
            <a:extLst>
              <a:ext uri="{FF2B5EF4-FFF2-40B4-BE49-F238E27FC236}">
                <a16:creationId xmlns:a16="http://schemas.microsoft.com/office/drawing/2014/main" id="{2AF4CA13-B3B2-4BA4-7193-B4133FC2D70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pic>
        <p:nvPicPr>
          <p:cNvPr id="7" name="Picture 6">
            <a:extLst>
              <a:ext uri="{FF2B5EF4-FFF2-40B4-BE49-F238E27FC236}">
                <a16:creationId xmlns:a16="http://schemas.microsoft.com/office/drawing/2014/main" id="{7B57EC7F-8C07-36E7-51B3-4FA22CB8F05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0800000">
            <a:off x="-791" y="0"/>
            <a:ext cx="12190407" cy="2194774"/>
          </a:xfrm>
          <a:prstGeom prst="rect">
            <a:avLst/>
          </a:prstGeom>
        </p:spPr>
      </p:pic>
    </p:spTree>
    <p:extLst>
      <p:ext uri="{BB962C8B-B14F-4D97-AF65-F5344CB8AC3E}">
        <p14:creationId xmlns:p14="http://schemas.microsoft.com/office/powerpoint/2010/main" val="1648889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2F258156-D89E-4D80-5BE1-77691C6E7C9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12316759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2" name="Picture 1">
            <a:extLst>
              <a:ext uri="{FF2B5EF4-FFF2-40B4-BE49-F238E27FC236}">
                <a16:creationId xmlns:a16="http://schemas.microsoft.com/office/drawing/2014/main" id="{54470327-EAA5-821F-E3D6-48241C357F0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6131889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4" y="0"/>
            <a:ext cx="4614964"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2343018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24327331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ED2E1254-4CBF-B3B8-A0FA-52C76A42152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712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E121D3C0-2E42-5D5F-22BD-412584AA83A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6159135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41A4ACEA-4667-3962-B002-3BD86CD9C6A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11327828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CACF947A-00B8-B4E6-8437-40F83AFF95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1492360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0C4ADE8B-E120-4425-CAA6-828BBE47E80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290449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24CC20CC-020F-E41D-34BB-D60790E85A9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497554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5FCA9C5B-9241-83A6-BF90-D80A2C82D82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137031586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187C8F92-FBD4-BA03-506E-C3D26BFEEC7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9233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548417"/>
      </p:ext>
    </p:extLst>
  </p:cSld>
  <p:clrMap bg1="lt1" tx1="dk1" bg2="lt2" tx2="dk2" accent1="accent1" accent2="accent2" accent3="accent3" accent4="accent4" accent5="accent5" accent6="accent6" hlink="hlink" folHlink="folHlink"/>
  <p:sldLayoutIdLst>
    <p:sldLayoutId id="2147483755" r:id="rId1"/>
    <p:sldLayoutId id="2147483777" r:id="rId2"/>
    <p:sldLayoutId id="2147483745" r:id="rId3"/>
    <p:sldLayoutId id="2147483747" r:id="rId4"/>
    <p:sldLayoutId id="2147483744" r:id="rId5"/>
    <p:sldLayoutId id="2147483778" r:id="rId6"/>
    <p:sldLayoutId id="2147483743" r:id="rId7"/>
    <p:sldLayoutId id="2147483746" r:id="rId8"/>
    <p:sldLayoutId id="2147483749" r:id="rId9"/>
    <p:sldLayoutId id="2147483753" r:id="rId10"/>
    <p:sldLayoutId id="2147483754" r:id="rId11"/>
    <p:sldLayoutId id="2147483653" r:id="rId12"/>
    <p:sldLayoutId id="2147483776" r:id="rId13"/>
    <p:sldLayoutId id="2147483670" r:id="rId14"/>
    <p:sldLayoutId id="2147483673" r:id="rId15"/>
    <p:sldLayoutId id="2147483672" r:id="rId16"/>
    <p:sldLayoutId id="2147483660" r:id="rId17"/>
    <p:sldLayoutId id="2147483661" r:id="rId18"/>
    <p:sldLayoutId id="214748366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72801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5262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6327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11.xml"/><Relationship Id="rId5" Type="http://schemas.openxmlformats.org/officeDocument/2006/relationships/image" Target="../media/image43.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11.xml"/><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6FC3-E137-F9C8-0911-3C626A34090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F3F9AB4-72EE-E557-D442-1A774A8F85C1}"/>
              </a:ext>
            </a:extLst>
          </p:cNvPr>
          <p:cNvSpPr>
            <a:spLocks noGrp="1"/>
          </p:cNvSpPr>
          <p:nvPr>
            <p:ph type="title" idx="4294967295"/>
          </p:nvPr>
        </p:nvSpPr>
        <p:spPr>
          <a:xfrm>
            <a:off x="-1590" y="1624693"/>
            <a:ext cx="12192003" cy="181720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6000" b="1" i="0" u="none" strike="noStrike" kern="1200" cap="none" spc="0" normalizeH="0" baseline="0" noProof="0" dirty="0">
                <a:ln>
                  <a:noFill/>
                </a:ln>
                <a:solidFill>
                  <a:srgbClr val="236739"/>
                </a:solidFill>
                <a:effectLst/>
                <a:uLnTx/>
                <a:uFillTx/>
                <a:latin typeface="+mn-lt"/>
                <a:ea typeface="+mn-ea"/>
                <a:cs typeface="+mn-cs"/>
              </a:rPr>
              <a:t>Literal Equations</a:t>
            </a:r>
          </a:p>
        </p:txBody>
      </p:sp>
      <p:sp>
        <p:nvSpPr>
          <p:cNvPr id="4" name="Text Placeholder 3">
            <a:extLst>
              <a:ext uri="{FF2B5EF4-FFF2-40B4-BE49-F238E27FC236}">
                <a16:creationId xmlns:a16="http://schemas.microsoft.com/office/drawing/2014/main" id="{C4BC507F-0143-6704-9C2B-18134FD88522}"/>
              </a:ext>
            </a:extLst>
          </p:cNvPr>
          <p:cNvSpPr>
            <a:spLocks noGrp="1"/>
          </p:cNvSpPr>
          <p:nvPr>
            <p:ph type="body" sz="quarter" idx="13"/>
          </p:nvPr>
        </p:nvSpPr>
        <p:spPr/>
        <p:txBody>
          <a:bodyPr/>
          <a:lstStyle/>
          <a:p>
            <a:r>
              <a:rPr lang="en-US" dirty="0"/>
              <a:t>Algebra I | Module 3 | Topic 1 | Lesson 2</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extLst>
      <p:ext uri="{BB962C8B-B14F-4D97-AF65-F5344CB8AC3E}">
        <p14:creationId xmlns:p14="http://schemas.microsoft.com/office/powerpoint/2010/main" val="218192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B788BD-5AC8-F66E-ABEF-AD5339EB2C99}"/>
              </a:ext>
            </a:extLst>
          </p:cNvPr>
          <p:cNvSpPr>
            <a:spLocks noGrp="1"/>
          </p:cNvSpPr>
          <p:nvPr>
            <p:ph type="title"/>
          </p:nvPr>
        </p:nvSpPr>
        <p:spPr>
          <a:xfrm>
            <a:off x="1587" y="13855"/>
            <a:ext cx="6094413" cy="926757"/>
          </a:xfrm>
          <a:noFill/>
        </p:spPr>
        <p:txBody>
          <a:bodyPr/>
          <a:lstStyle/>
          <a:p>
            <a:r>
              <a:rPr lang="en-US" sz="4000" dirty="0"/>
              <a:t>Objectives</a:t>
            </a:r>
          </a:p>
        </p:txBody>
      </p:sp>
      <p:sp>
        <p:nvSpPr>
          <p:cNvPr id="4" name="Text Placeholder 3">
            <a:extLst>
              <a:ext uri="{FF2B5EF4-FFF2-40B4-BE49-F238E27FC236}">
                <a16:creationId xmlns:a16="http://schemas.microsoft.com/office/drawing/2014/main" id="{7B3EF6D6-21DA-06B8-522B-BDF27854BF2C}"/>
              </a:ext>
            </a:extLst>
          </p:cNvPr>
          <p:cNvSpPr>
            <a:spLocks noGrp="1"/>
          </p:cNvSpPr>
          <p:nvPr>
            <p:ph type="body" sz="quarter" idx="10"/>
          </p:nvPr>
        </p:nvSpPr>
        <p:spPr>
          <a:xfrm>
            <a:off x="836614" y="1830256"/>
            <a:ext cx="10515599" cy="3956418"/>
          </a:xfrm>
        </p:spPr>
        <p:txBody>
          <a:bodyPr/>
          <a:lstStyle/>
          <a:p>
            <a:pPr marL="457200" indent="-457200" algn="l">
              <a:buFont typeface="Arial" panose="020B0604020202020204" pitchFamily="34" charset="0"/>
              <a:buChar char="•"/>
            </a:pPr>
            <a:r>
              <a:rPr lang="en-US" sz="2800" dirty="0"/>
              <a:t>Rewrite linear equations in different forms.</a:t>
            </a:r>
          </a:p>
          <a:p>
            <a:pPr marL="457200" indent="-457200" algn="l">
              <a:buFont typeface="Arial" panose="020B0604020202020204" pitchFamily="34" charset="0"/>
              <a:buChar char="•"/>
            </a:pPr>
            <a:r>
              <a:rPr lang="en-US" sz="2800" dirty="0"/>
              <a:t>Analyze the structure of different forms of linear equations.</a:t>
            </a:r>
          </a:p>
          <a:p>
            <a:pPr marL="457200" indent="-457200" algn="l">
              <a:buFont typeface="Arial" panose="020B0604020202020204" pitchFamily="34" charset="0"/>
              <a:buChar char="•"/>
            </a:pPr>
            <a:r>
              <a:rPr lang="en-US" sz="2800" dirty="0"/>
              <a:t>Recognize and use literal equations.</a:t>
            </a:r>
          </a:p>
          <a:p>
            <a:pPr marL="457200" indent="-457200" algn="l">
              <a:buFont typeface="Arial" panose="020B0604020202020204" pitchFamily="34" charset="0"/>
              <a:buChar char="•"/>
            </a:pPr>
            <a:r>
              <a:rPr lang="en-US" sz="2800" dirty="0"/>
              <a:t>Rearrange literal equations to highlight quantities of interest. </a:t>
            </a:r>
          </a:p>
          <a:p>
            <a:pPr algn="l"/>
            <a:endParaRPr lang="en-US" sz="2800"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357</a:t>
            </a:r>
          </a:p>
        </p:txBody>
      </p:sp>
    </p:spTree>
    <p:extLst>
      <p:ext uri="{BB962C8B-B14F-4D97-AF65-F5344CB8AC3E}">
        <p14:creationId xmlns:p14="http://schemas.microsoft.com/office/powerpoint/2010/main" val="33986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70F2F3-8205-D13B-F2FC-C7F18E6181C0}"/>
              </a:ext>
            </a:extLst>
          </p:cNvPr>
          <p:cNvSpPr>
            <a:spLocks noGrp="1"/>
          </p:cNvSpPr>
          <p:nvPr>
            <p:ph type="title"/>
          </p:nvPr>
        </p:nvSpPr>
        <p:spPr/>
        <p:txBody>
          <a:bodyPr/>
          <a:lstStyle/>
          <a:p>
            <a:pPr algn="l"/>
            <a:r>
              <a:rPr lang="en-US" b="1" dirty="0"/>
              <a:t>Key Terms </a:t>
            </a:r>
            <a:r>
              <a:rPr lang="en-US" sz="2000" b="1" dirty="0">
                <a:solidFill>
                  <a:schemeClr val="bg1"/>
                </a:solidFill>
              </a:rPr>
              <a:t>(1 of 1)</a:t>
            </a:r>
          </a:p>
        </p:txBody>
      </p:sp>
      <p:sp>
        <p:nvSpPr>
          <p:cNvPr id="10" name="Text Placeholder 1">
            <a:extLst>
              <a:ext uri="{FF2B5EF4-FFF2-40B4-BE49-F238E27FC236}">
                <a16:creationId xmlns:a16="http://schemas.microsoft.com/office/drawing/2014/main" id="{F7EC44D6-1E06-D576-D850-80AC0AC8A2DD}"/>
              </a:ext>
            </a:extLst>
          </p:cNvPr>
          <p:cNvSpPr txBox="1">
            <a:spLocks/>
          </p:cNvSpPr>
          <p:nvPr/>
        </p:nvSpPr>
        <p:spPr>
          <a:xfrm>
            <a:off x="777240" y="1600201"/>
            <a:ext cx="9885315" cy="996243"/>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00000"/>
                </a:solidFill>
              </a:rPr>
              <a:t>literal equation </a:t>
            </a:r>
            <a:r>
              <a:rPr lang="en-US" b="0" i="0" u="none" strike="noStrike" baseline="0" dirty="0"/>
              <a:t>[</a:t>
            </a:r>
            <a:r>
              <a:rPr lang="en-US" b="0" i="0" u="none" strike="noStrike" baseline="0" dirty="0" err="1"/>
              <a:t>ecuación</a:t>
            </a:r>
            <a:r>
              <a:rPr lang="en-US" b="0" i="0" u="none" strike="noStrike" baseline="0" dirty="0"/>
              <a:t> literal]</a:t>
            </a:r>
            <a:r>
              <a:rPr lang="en-US" dirty="0">
                <a:solidFill>
                  <a:srgbClr val="000000"/>
                </a:solidFill>
              </a:rPr>
              <a:t>: Literal equations are equations in which the variables represent specific measures</a:t>
            </a:r>
          </a:p>
          <a:p>
            <a:endParaRPr lang="en-US" i="1" dirty="0">
              <a:solidFill>
                <a:srgbClr val="000000"/>
              </a:solidFill>
            </a:endParaRPr>
          </a:p>
        </p:txBody>
      </p:sp>
      <p:sp>
        <p:nvSpPr>
          <p:cNvPr id="2" name="Text Placeholder 1">
            <a:extLst>
              <a:ext uri="{FF2B5EF4-FFF2-40B4-BE49-F238E27FC236}">
                <a16:creationId xmlns:a16="http://schemas.microsoft.com/office/drawing/2014/main" id="{760E26A2-942A-B4EC-C20E-342940C66B16}"/>
              </a:ext>
            </a:extLst>
          </p:cNvPr>
          <p:cNvSpPr txBox="1">
            <a:spLocks/>
          </p:cNvSpPr>
          <p:nvPr/>
        </p:nvSpPr>
        <p:spPr>
          <a:xfrm>
            <a:off x="777238" y="3429000"/>
            <a:ext cx="9885317" cy="1785256"/>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1200"/>
              </a:spcAft>
            </a:pPr>
            <a:r>
              <a:rPr lang="en-US" b="1" dirty="0">
                <a:solidFill>
                  <a:srgbClr val="000000"/>
                </a:solidFill>
              </a:rPr>
              <a:t>Example</a:t>
            </a:r>
          </a:p>
          <a:p>
            <a:pPr marL="457200" lvl="1" indent="0">
              <a:buNone/>
            </a:pPr>
            <a:r>
              <a:rPr lang="en-US" sz="2800" dirty="0">
                <a:solidFill>
                  <a:srgbClr val="000000"/>
                </a:solidFill>
              </a:rPr>
              <a:t>The equations </a:t>
            </a:r>
            <a:r>
              <a:rPr lang="en-US" sz="2800" i="1" dirty="0">
                <a:solidFill>
                  <a:srgbClr val="000000"/>
                </a:solidFill>
              </a:rPr>
              <a:t>I</a:t>
            </a:r>
            <a:r>
              <a:rPr lang="en-US" sz="2800" dirty="0">
                <a:solidFill>
                  <a:srgbClr val="000000"/>
                </a:solidFill>
              </a:rPr>
              <a:t> = </a:t>
            </a:r>
            <a:r>
              <a:rPr lang="en-US" sz="2800" i="1" dirty="0" err="1">
                <a:solidFill>
                  <a:srgbClr val="000000"/>
                </a:solidFill>
              </a:rPr>
              <a:t>Prt</a:t>
            </a:r>
            <a:r>
              <a:rPr lang="en-US" sz="2800" dirty="0">
                <a:solidFill>
                  <a:srgbClr val="000000"/>
                </a:solidFill>
              </a:rPr>
              <a:t> and </a:t>
            </a:r>
            <a:r>
              <a:rPr lang="en-US" sz="2800" i="1" dirty="0">
                <a:solidFill>
                  <a:srgbClr val="000000"/>
                </a:solidFill>
              </a:rPr>
              <a:t>A</a:t>
            </a:r>
            <a:r>
              <a:rPr lang="en-US" sz="2800" dirty="0">
                <a:solidFill>
                  <a:srgbClr val="000000"/>
                </a:solidFill>
              </a:rPr>
              <a:t> = </a:t>
            </a:r>
            <a:r>
              <a:rPr lang="en-US" sz="2800" i="1" dirty="0" err="1">
                <a:solidFill>
                  <a:srgbClr val="000000"/>
                </a:solidFill>
              </a:rPr>
              <a:t>lw</a:t>
            </a:r>
            <a:r>
              <a:rPr lang="en-US" sz="2800" dirty="0">
                <a:solidFill>
                  <a:srgbClr val="000000"/>
                </a:solidFill>
              </a:rPr>
              <a:t> are literal equations.</a:t>
            </a:r>
          </a:p>
        </p:txBody>
      </p:sp>
      <p:sp>
        <p:nvSpPr>
          <p:cNvPr id="1010" name="Slide Number 101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
        <p:nvSpPr>
          <p:cNvPr id="1011" name="Answer 1011"/>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357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3AC8-B56F-47DA-AEF2-F3F1E9E2CD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B9966A-6415-B35F-AC87-062F5FC26C5C}"/>
              </a:ext>
            </a:extLst>
          </p:cNvPr>
          <p:cNvSpPr>
            <a:spLocks noGrp="1"/>
          </p:cNvSpPr>
          <p:nvPr>
            <p:ph type="title"/>
          </p:nvPr>
        </p:nvSpPr>
        <p:spPr>
          <a:xfrm>
            <a:off x="734787" y="10892"/>
            <a:ext cx="10123714" cy="1263192"/>
          </a:xfrm>
        </p:spPr>
        <p:txBody>
          <a:bodyPr/>
          <a:lstStyle/>
          <a:p>
            <a:pPr algn="l"/>
            <a:r>
              <a:rPr lang="en-US" b="1" dirty="0"/>
              <a:t>Essential Question </a:t>
            </a:r>
            <a:r>
              <a:rPr lang="en-US" sz="2000" b="1" kern="1200" dirty="0">
                <a:solidFill>
                  <a:schemeClr val="bg1"/>
                </a:solidFill>
                <a:latin typeface="+mj-lt"/>
                <a:ea typeface="+mj-ea"/>
                <a:cs typeface="+mj-cs"/>
              </a:rPr>
              <a:t>(1 of 2)</a:t>
            </a:r>
          </a:p>
        </p:txBody>
      </p:sp>
      <p:sp>
        <p:nvSpPr>
          <p:cNvPr id="9" name="Text Placeholder 2">
            <a:extLst>
              <a:ext uri="{FF2B5EF4-FFF2-40B4-BE49-F238E27FC236}">
                <a16:creationId xmlns:a16="http://schemas.microsoft.com/office/drawing/2014/main" id="{325B2EA2-DB03-43C5-FC66-7B772EA97525}"/>
              </a:ext>
            </a:extLst>
          </p:cNvPr>
          <p:cNvSpPr txBox="1">
            <a:spLocks/>
          </p:cNvSpPr>
          <p:nvPr/>
        </p:nvSpPr>
        <p:spPr>
          <a:xfrm>
            <a:off x="734787" y="1616529"/>
            <a:ext cx="9935934" cy="418836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You have used different properties to solve linear equations to determine which value makes the equation true.</a:t>
            </a:r>
          </a:p>
          <a:p>
            <a:pPr marL="0" indent="0">
              <a:spcBef>
                <a:spcPts val="24"/>
              </a:spcBef>
              <a:buNone/>
            </a:pPr>
            <a:br>
              <a:rPr lang="en-US" sz="2800" dirty="0">
                <a:solidFill>
                  <a:srgbClr val="000000"/>
                </a:solidFill>
              </a:rPr>
            </a:b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How can you use those same properties to solve for one specific variable in an equation that has multiple variables?</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357</a:t>
            </a:r>
          </a:p>
        </p:txBody>
      </p:sp>
    </p:spTree>
    <p:extLst>
      <p:ext uri="{BB962C8B-B14F-4D97-AF65-F5344CB8AC3E}">
        <p14:creationId xmlns:p14="http://schemas.microsoft.com/office/powerpoint/2010/main" val="2493083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Day 1</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1</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extLst>
      <p:ext uri="{BB962C8B-B14F-4D97-AF65-F5344CB8AC3E}">
        <p14:creationId xmlns:p14="http://schemas.microsoft.com/office/powerpoint/2010/main" val="3545096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3B6511-319C-24C4-E798-AB7E16128256}"/>
              </a:ext>
            </a:extLst>
          </p:cNvPr>
          <p:cNvSpPr>
            <a:spLocks noGrp="1"/>
          </p:cNvSpPr>
          <p:nvPr>
            <p:ph type="title" idx="4294967295"/>
          </p:nvPr>
        </p:nvSpPr>
        <p:spPr>
          <a:xfrm>
            <a:off x="838200" y="-506186"/>
            <a:ext cx="10514013" cy="506186"/>
          </a:xfrm>
          <a:prstGeom prst="rect">
            <a:avLst/>
          </a:prstGeom>
        </p:spPr>
        <p:txBody>
          <a:bodyPr anchor="b"/>
          <a:lstStyle/>
          <a:p>
            <a:r>
              <a:rPr lang="en-US" sz="2000" dirty="0">
                <a:solidFill>
                  <a:schemeClr val="bg2"/>
                </a:solidFill>
              </a:rPr>
              <a:t>Getting Started</a:t>
            </a:r>
          </a:p>
        </p:txBody>
      </p:sp>
      <p:sp>
        <p:nvSpPr>
          <p:cNvPr id="2" name="Text Placeholder 1" descr="15 to 20 minutes">
            <a:extLst>
              <a:ext uri="{FF2B5EF4-FFF2-40B4-BE49-F238E27FC236}">
                <a16:creationId xmlns:a16="http://schemas.microsoft.com/office/drawing/2014/main" id="{461C201E-12AD-57EF-47E5-2D96E6063E25}"/>
              </a:ext>
            </a:extLst>
          </p:cNvPr>
          <p:cNvSpPr>
            <a:spLocks noGrp="1"/>
          </p:cNvSpPr>
          <p:nvPr>
            <p:ph type="body" sz="quarter" idx="12"/>
          </p:nvPr>
        </p:nvSpPr>
        <p:spPr>
          <a:xfrm>
            <a:off x="10614990" y="5781873"/>
            <a:ext cx="863947" cy="795338"/>
          </a:xfrm>
        </p:spPr>
        <p:txBody>
          <a:bodyPr/>
          <a:lstStyle/>
          <a:p>
            <a:r>
              <a:rPr lang="en-US" b="1" dirty="0"/>
              <a:t>15</a:t>
            </a:r>
          </a:p>
        </p:txBody>
      </p:sp>
      <p:sp>
        <p:nvSpPr>
          <p:cNvPr id="1003" name="Slide Number 100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
        <p:nvSpPr>
          <p:cNvPr id="1005" name="Answer 1005"/>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3719619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US" b="1" dirty="0"/>
              <a:t>Perimeter Perspectives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(1 of 6)</a:t>
            </a:r>
          </a:p>
        </p:txBody>
      </p:sp>
      <p:sp>
        <p:nvSpPr>
          <p:cNvPr id="2" name="Text Placeholder 2">
            <a:extLst>
              <a:ext uri="{FF2B5EF4-FFF2-40B4-BE49-F238E27FC236}">
                <a16:creationId xmlns:a16="http://schemas.microsoft.com/office/drawing/2014/main" id="{70C1E34C-7E62-1005-A795-8E05218D3CB1}"/>
              </a:ext>
            </a:extLst>
          </p:cNvPr>
          <p:cNvSpPr txBox="1">
            <a:spLocks/>
          </p:cNvSpPr>
          <p:nvPr/>
        </p:nvSpPr>
        <p:spPr>
          <a:xfrm>
            <a:off x="777240" y="1608364"/>
            <a:ext cx="9890759" cy="164283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Juan and Mia have rectangular backyards that each share a side with a neighborhood park. The sides shared with the park are adjacent to each other as shown.</a:t>
            </a:r>
          </a:p>
          <a:p>
            <a:pPr marL="0" indent="0">
              <a:buNone/>
            </a:pPr>
            <a:endParaRPr lang="en-US" sz="2800" dirty="0">
              <a:solidFill>
                <a:srgbClr val="000000"/>
              </a:solidFill>
            </a:endParaRPr>
          </a:p>
        </p:txBody>
      </p:sp>
      <p:pic>
        <p:nvPicPr>
          <p:cNvPr id="6" name="Picture 5" descr="A diagram of the 2 backyards and the park. The park is a rectangle with length l and width w. Juan's backyard shares the left width side of the park. Mia's backyard shares the bottom length side of the park.">
            <a:extLst>
              <a:ext uri="{FF2B5EF4-FFF2-40B4-BE49-F238E27FC236}">
                <a16:creationId xmlns:a16="http://schemas.microsoft.com/office/drawing/2014/main" id="{3EE76978-574B-E4AF-2221-3ADCFFBCD0AD}"/>
              </a:ext>
            </a:extLst>
          </p:cNvPr>
          <p:cNvPicPr>
            <a:picLocks noChangeAspect="1"/>
          </p:cNvPicPr>
          <p:nvPr/>
        </p:nvPicPr>
        <p:blipFill>
          <a:blip r:embed="rId3"/>
          <a:stretch>
            <a:fillRect/>
          </a:stretch>
        </p:blipFill>
        <p:spPr>
          <a:xfrm>
            <a:off x="3388995" y="3293533"/>
            <a:ext cx="3706868" cy="1956103"/>
          </a:xfrm>
          <a:prstGeom prst="rect">
            <a:avLst/>
          </a:prstGeom>
        </p:spPr>
      </p:pic>
      <p:sp>
        <p:nvSpPr>
          <p:cNvPr id="1006" name="Slide Number 10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
        <p:nvSpPr>
          <p:cNvPr id="1007" name="Answer 1007"/>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358</a:t>
            </a:r>
          </a:p>
        </p:txBody>
      </p:sp>
    </p:spTree>
    <p:extLst>
      <p:ext uri="{BB962C8B-B14F-4D97-AF65-F5344CB8AC3E}">
        <p14:creationId xmlns:p14="http://schemas.microsoft.com/office/powerpoint/2010/main" val="2678771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0B2-A9E7-0A4C-CC80-65AF82D6DF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2E77F-B1D6-40AE-592B-5BAB37399846}"/>
              </a:ext>
            </a:extLst>
          </p:cNvPr>
          <p:cNvSpPr>
            <a:spLocks noGrp="1"/>
          </p:cNvSpPr>
          <p:nvPr>
            <p:ph type="title"/>
          </p:nvPr>
        </p:nvSpPr>
        <p:spPr>
          <a:xfrm>
            <a:off x="777240" y="1"/>
            <a:ext cx="11425482" cy="1263192"/>
          </a:xfrm>
        </p:spPr>
        <p:txBody>
          <a:bodyPr/>
          <a:lstStyle/>
          <a:p>
            <a:pPr algn="l" defTabSz="914400" rtl="0" eaLnBrk="1" latinLnBrk="0" hangingPunct="1">
              <a:lnSpc>
                <a:spcPct val="90000"/>
              </a:lnSpc>
              <a:spcBef>
                <a:spcPct val="0"/>
              </a:spcBef>
              <a:buNone/>
            </a:pPr>
            <a:r>
              <a:rPr lang="en-US" b="1" dirty="0"/>
              <a:t>Perimeter Perspectives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(2 of 6)</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FA83B29-9DEA-CBCC-B3E2-32D4ACF98923}"/>
                  </a:ext>
                </a:extLst>
              </p:cNvPr>
              <p:cNvSpPr txBox="1"/>
              <p:nvPr/>
            </p:nvSpPr>
            <p:spPr>
              <a:xfrm>
                <a:off x="777239" y="1765166"/>
                <a:ext cx="2914227" cy="1663834"/>
              </a:xfrm>
              <a:prstGeom prst="rect">
                <a:avLst/>
              </a:prstGeom>
              <a:noFill/>
              <a:ln w="31750">
                <a:solidFill>
                  <a:srgbClr val="008F4C"/>
                </a:solidFill>
                <a:prstDash val="sysDot"/>
              </a:ln>
            </p:spPr>
            <p:txBody>
              <a:bodyPr wrap="square" lIns="182880" rtlCol="0" anchor="ctr" anchorCtr="0">
                <a:noAutofit/>
              </a:bodyPr>
              <a:lstStyle/>
              <a:p>
                <a:r>
                  <a:rPr lang="en-US" sz="2000" b="1" dirty="0">
                    <a:solidFill>
                      <a:srgbClr val="2B8147"/>
                    </a:solidFill>
                  </a:rPr>
                  <a:t>Remember…</a:t>
                </a:r>
                <a:endParaRPr lang="en-US" sz="2000" dirty="0">
                  <a:solidFill>
                    <a:schemeClr val="bg2">
                      <a:lumMod val="25000"/>
                    </a:schemeClr>
                  </a:solidFill>
                </a:endParaRPr>
              </a:p>
              <a:p>
                <a:r>
                  <a:rPr lang="en-US" sz="2000" dirty="0">
                    <a:solidFill>
                      <a:schemeClr val="bg2">
                        <a:lumMod val="25000"/>
                      </a:schemeClr>
                    </a:solidFill>
                  </a:rPr>
                  <a:t>The formula for the</a:t>
                </a:r>
              </a:p>
              <a:p>
                <a:r>
                  <a:rPr lang="en-US" sz="2000" dirty="0">
                    <a:solidFill>
                      <a:schemeClr val="bg2">
                        <a:lumMod val="25000"/>
                      </a:schemeClr>
                    </a:solidFill>
                  </a:rPr>
                  <a:t>perimeter of a rectangle</a:t>
                </a:r>
              </a:p>
              <a:p>
                <a:r>
                  <a:rPr lang="en-US" sz="2000" dirty="0">
                    <a:solidFill>
                      <a:schemeClr val="bg2">
                        <a:lumMod val="25000"/>
                      </a:schemeClr>
                    </a:solidFill>
                  </a:rPr>
                  <a:t>is </a:t>
                </a:r>
                <a14:m>
                  <m:oMath xmlns:m="http://schemas.openxmlformats.org/officeDocument/2006/math">
                    <m:r>
                      <a:rPr lang="en-US" sz="2000" i="1" dirty="0" smtClean="0">
                        <a:solidFill>
                          <a:schemeClr val="bg2">
                            <a:lumMod val="25000"/>
                          </a:schemeClr>
                        </a:solidFill>
                        <a:latin typeface="Cambria Math" panose="02040503050406030204" pitchFamily="18" charset="0"/>
                      </a:rPr>
                      <m:t>𝑃</m:t>
                    </m:r>
                    <m:r>
                      <a:rPr lang="en-US" sz="2000" i="1" dirty="0" smtClean="0">
                        <a:solidFill>
                          <a:schemeClr val="bg2">
                            <a:lumMod val="25000"/>
                          </a:schemeClr>
                        </a:solidFill>
                        <a:latin typeface="Cambria Math" panose="02040503050406030204" pitchFamily="18" charset="0"/>
                      </a:rPr>
                      <m:t>=2ℓ+ 2</m:t>
                    </m:r>
                    <m:r>
                      <a:rPr lang="en-US" sz="2000" i="1" dirty="0" smtClean="0">
                        <a:solidFill>
                          <a:schemeClr val="bg2">
                            <a:lumMod val="25000"/>
                          </a:schemeClr>
                        </a:solidFill>
                        <a:latin typeface="Cambria Math" panose="02040503050406030204" pitchFamily="18" charset="0"/>
                      </a:rPr>
                      <m:t>𝑤</m:t>
                    </m:r>
                  </m:oMath>
                </a14:m>
                <a:r>
                  <a:rPr lang="en-US" sz="2000" dirty="0">
                    <a:solidFill>
                      <a:schemeClr val="bg2">
                        <a:lumMod val="25000"/>
                      </a:schemeClr>
                    </a:solidFill>
                  </a:rPr>
                  <a:t>.</a:t>
                </a:r>
              </a:p>
            </p:txBody>
          </p:sp>
        </mc:Choice>
        <mc:Fallback xmlns="">
          <p:sp>
            <p:nvSpPr>
              <p:cNvPr id="2" name="TextBox 1">
                <a:extLst>
                  <a:ext uri="{FF2B5EF4-FFF2-40B4-BE49-F238E27FC236}">
                    <a16:creationId xmlns:a16="http://schemas.microsoft.com/office/drawing/2014/main" id="{BFA83B29-9DEA-CBCC-B3E2-32D4ACF98923}"/>
                  </a:ext>
                </a:extLst>
              </p:cNvPr>
              <p:cNvSpPr txBox="1">
                <a:spLocks noRot="1" noChangeAspect="1" noMove="1" noResize="1" noEditPoints="1" noAdjustHandles="1" noChangeArrowheads="1" noChangeShapeType="1" noTextEdit="1"/>
              </p:cNvSpPr>
              <p:nvPr/>
            </p:nvSpPr>
            <p:spPr>
              <a:xfrm>
                <a:off x="777239" y="1765166"/>
                <a:ext cx="2914227" cy="1663834"/>
              </a:xfrm>
              <a:prstGeom prst="rect">
                <a:avLst/>
              </a:prstGeom>
              <a:blipFill>
                <a:blip r:embed="rId3"/>
                <a:stretch>
                  <a:fillRect/>
                </a:stretch>
              </a:blipFill>
              <a:ln w="31750">
                <a:solidFill>
                  <a:srgbClr val="008F4C"/>
                </a:solidFill>
                <a:prstDash val="sysDot"/>
              </a:ln>
            </p:spPr>
            <p:txBody>
              <a:bodyPr/>
              <a:lstStyle/>
              <a:p>
                <a:r>
                  <a:rPr lang="en-US">
                    <a:noFill/>
                  </a:rPr>
                  <a:t> </a:t>
                </a:r>
              </a:p>
            </p:txBody>
          </p:sp>
        </mc:Fallback>
      </mc:AlternateContent>
      <p:sp>
        <p:nvSpPr>
          <p:cNvPr id="9" name="Text Placeholder 2">
            <a:extLst>
              <a:ext uri="{FF2B5EF4-FFF2-40B4-BE49-F238E27FC236}">
                <a16:creationId xmlns:a16="http://schemas.microsoft.com/office/drawing/2014/main" id="{88A40426-95CC-EF9E-540F-D1B1DE38C8D6}"/>
              </a:ext>
            </a:extLst>
          </p:cNvPr>
          <p:cNvSpPr txBox="1">
            <a:spLocks/>
          </p:cNvSpPr>
          <p:nvPr/>
        </p:nvSpPr>
        <p:spPr>
          <a:xfrm>
            <a:off x="3928533" y="1608364"/>
            <a:ext cx="7225020" cy="452150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chemeClr val="bg2">
                    <a:lumMod val="25000"/>
                  </a:schemeClr>
                </a:solidFill>
              </a:rPr>
              <a:t>Juan and Mia are each responsible for constructing their own fence to separate their yard from the park. The city gives them the measure of the perimeter of the park in feet. So that each knows how much fencing to buy, Juan needs to determine the width of the park, and Mia needs to determine the length of the park.</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358</a:t>
            </a:r>
          </a:p>
        </p:txBody>
      </p:sp>
    </p:spTree>
    <p:extLst>
      <p:ext uri="{BB962C8B-B14F-4D97-AF65-F5344CB8AC3E}">
        <p14:creationId xmlns:p14="http://schemas.microsoft.com/office/powerpoint/2010/main" val="2582309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F1BFF-14F4-BEA8-59A2-6CBE93CFE7B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BA6A1A-FA89-DD6A-EFFC-03853B84F64A}"/>
              </a:ext>
            </a:extLst>
          </p:cNvPr>
          <p:cNvSpPr>
            <a:spLocks noGrp="1"/>
          </p:cNvSpPr>
          <p:nvPr>
            <p:ph type="title"/>
          </p:nvPr>
        </p:nvSpPr>
        <p:spPr>
          <a:xfrm>
            <a:off x="777240" y="1"/>
            <a:ext cx="11425482" cy="1263192"/>
          </a:xfrm>
        </p:spPr>
        <p:txBody>
          <a:bodyPr/>
          <a:lstStyle/>
          <a:p>
            <a:pPr algn="l" defTabSz="914400" rtl="0" eaLnBrk="1" latinLnBrk="0" hangingPunct="1">
              <a:lnSpc>
                <a:spcPct val="90000"/>
              </a:lnSpc>
              <a:spcBef>
                <a:spcPct val="0"/>
              </a:spcBef>
              <a:buNone/>
            </a:pPr>
            <a:r>
              <a:rPr lang="en-US" b="1" dirty="0"/>
              <a:t>Perimeter Perspectives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(3 of 6)</a:t>
            </a:r>
          </a:p>
        </p:txBody>
      </p:sp>
      <p:sp>
        <p:nvSpPr>
          <p:cNvPr id="9" name="Text Placeholder 2">
            <a:extLst>
              <a:ext uri="{FF2B5EF4-FFF2-40B4-BE49-F238E27FC236}">
                <a16:creationId xmlns:a16="http://schemas.microsoft.com/office/drawing/2014/main" id="{A99AA9CB-A5EE-DECF-B298-6DD9E7A44C05}"/>
              </a:ext>
            </a:extLst>
          </p:cNvPr>
          <p:cNvSpPr txBox="1">
            <a:spLocks/>
          </p:cNvSpPr>
          <p:nvPr/>
        </p:nvSpPr>
        <p:spPr>
          <a:xfrm>
            <a:off x="722489" y="1608364"/>
            <a:ext cx="10792178" cy="452150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chemeClr val="bg2">
                    <a:lumMod val="25000"/>
                  </a:schemeClr>
                </a:solidFill>
              </a:rPr>
              <a:t>How can you write an equation for the perimeter of the park from each person’s perspective to help them determine the information they need?</a:t>
            </a:r>
          </a:p>
          <a:p>
            <a:pPr marL="514350" lvl="1" indent="0">
              <a:lnSpc>
                <a:spcPct val="100000"/>
              </a:lnSpc>
              <a:spcBef>
                <a:spcPts val="200"/>
              </a:spcBef>
              <a:spcAft>
                <a:spcPts val="600"/>
              </a:spcAft>
              <a:buNone/>
            </a:pPr>
            <a:r>
              <a:rPr lang="en-US" sz="2000" dirty="0">
                <a:solidFill>
                  <a:srgbClr val="FF0000"/>
                </a:solidFill>
              </a:rPr>
              <a:t>Juan: w = P/2 − ℓ. Mia: ℓ = P/2 − w. Each solves P = 2ℓ + 2w for the side they need.</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358</a:t>
            </a:r>
          </a:p>
        </p:txBody>
      </p:sp>
    </p:spTree>
    <p:extLst>
      <p:ext uri="{BB962C8B-B14F-4D97-AF65-F5344CB8AC3E}">
        <p14:creationId xmlns:p14="http://schemas.microsoft.com/office/powerpoint/2010/main" val="177580555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3BC3-0910-50A8-9745-83599954E1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A00DA2-53A3-69D8-9F1F-AB5EE1C786E0}"/>
              </a:ext>
            </a:extLst>
          </p:cNvPr>
          <p:cNvSpPr>
            <a:spLocks noGrp="1"/>
          </p:cNvSpPr>
          <p:nvPr>
            <p:ph type="title"/>
          </p:nvPr>
        </p:nvSpPr>
        <p:spPr/>
        <p:txBody>
          <a:bodyPr/>
          <a:lstStyle/>
          <a:p>
            <a:pPr algn="l"/>
            <a:r>
              <a:rPr lang="en-US" b="1" dirty="0"/>
              <a:t>Perimeter Perspectives </a:t>
            </a:r>
            <a:r>
              <a:rPr lang="en-US" sz="2000" b="1" dirty="0">
                <a:solidFill>
                  <a:schemeClr val="bg1"/>
                </a:solidFill>
              </a:rPr>
              <a:t>(4 of 6)</a:t>
            </a:r>
          </a:p>
        </p:txBody>
      </p:sp>
      <p:sp>
        <p:nvSpPr>
          <p:cNvPr id="3" name="TextBox 2">
            <a:extLst>
              <a:ext uri="{FF2B5EF4-FFF2-40B4-BE49-F238E27FC236}">
                <a16:creationId xmlns:a16="http://schemas.microsoft.com/office/drawing/2014/main" id="{9CCAA1A5-2471-9470-FEF0-7EA26DBD9090}"/>
              </a:ext>
            </a:extLst>
          </p:cNvPr>
          <p:cNvSpPr txBox="1"/>
          <p:nvPr/>
        </p:nvSpPr>
        <p:spPr>
          <a:xfrm>
            <a:off x="745062" y="1617674"/>
            <a:ext cx="7901820" cy="1384995"/>
          </a:xfrm>
          <a:prstGeom prst="rect">
            <a:avLst/>
          </a:prstGeom>
          <a:noFill/>
        </p:spPr>
        <p:txBody>
          <a:bodyPr wrap="square" rtlCol="0">
            <a:spAutoFit/>
          </a:bodyPr>
          <a:lstStyle/>
          <a:p>
            <a:pPr marL="514350" indent="-514350">
              <a:buFont typeface="+mj-lt"/>
              <a:buAutoNum type="arabicPeriod" startAt="2"/>
            </a:pPr>
            <a:r>
              <a:rPr lang="en-US" sz="2800" dirty="0">
                <a:solidFill>
                  <a:srgbClr val="000000"/>
                </a:solidFill>
              </a:rPr>
              <a:t>Show that the two equations are equivalent.</a:t>
            </a:r>
            <a:br>
              <a:rPr lang="en-US" sz="2800" dirty="0">
                <a:solidFill>
                  <a:srgbClr val="000000"/>
                </a:solidFill>
              </a:rPr>
            </a:br>
            <a:endParaRPr lang="en-US" sz="2800" dirty="0">
              <a:solidFill>
                <a:srgbClr val="000000"/>
              </a:solidFill>
            </a:endParaRPr>
          </a:p>
          <a:p>
            <a:pPr marL="514350" lvl="1" indent="0">
              <a:lnSpc>
                <a:spcPct val="100000"/>
              </a:lnSpc>
              <a:spcBef>
                <a:spcPts val="200"/>
              </a:spcBef>
              <a:spcAft>
                <a:spcPts val="600"/>
              </a:spcAft>
              <a:buNone/>
            </a:pPr>
            <a:r>
              <a:rPr lang="en-US" sz="2000" dirty="0">
                <a:solidFill>
                  <a:srgbClr val="FF0000"/>
                </a:solidFill>
              </a:rPr>
              <a:t>Multiply each by 2: 2w = P − 2ℓ and 2ℓ = P − 2w. Both rearrange to 2ℓ + 2w = P.</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358</a:t>
            </a:r>
          </a:p>
        </p:txBody>
      </p:sp>
    </p:spTree>
    <p:extLst>
      <p:ext uri="{BB962C8B-B14F-4D97-AF65-F5344CB8AC3E}">
        <p14:creationId xmlns:p14="http://schemas.microsoft.com/office/powerpoint/2010/main" val="404739516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b="1" dirty="0"/>
              <a:t>Perimeter Perspectives </a:t>
            </a:r>
            <a:r>
              <a:rPr lang="en-US" sz="2000" b="1" dirty="0">
                <a:solidFill>
                  <a:schemeClr val="bg1"/>
                </a:solidFill>
              </a:rPr>
              <a:t>(5 of 6) </a:t>
            </a:r>
          </a:p>
        </p:txBody>
      </p:sp>
      <p:sp>
        <p:nvSpPr>
          <p:cNvPr id="9" name="Text Placeholder 2">
            <a:extLst>
              <a:ext uri="{FF2B5EF4-FFF2-40B4-BE49-F238E27FC236}">
                <a16:creationId xmlns:a16="http://schemas.microsoft.com/office/drawing/2014/main" id="{0224E92D-72C0-6DF3-2985-6F8E2D67E2FE}"/>
              </a:ext>
            </a:extLst>
          </p:cNvPr>
          <p:cNvSpPr txBox="1">
            <a:spLocks/>
          </p:cNvSpPr>
          <p:nvPr/>
        </p:nvSpPr>
        <p:spPr>
          <a:xfrm>
            <a:off x="777240" y="1616140"/>
            <a:ext cx="9902597"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the Getting Started!</a:t>
            </a:r>
          </a:p>
        </p:txBody>
      </p:sp>
      <p:pic>
        <p:nvPicPr>
          <p:cNvPr id="3" name="Picture 2">
            <a:extLst>
              <a:ext uri="{FF2B5EF4-FFF2-40B4-BE49-F238E27FC236}">
                <a16:creationId xmlns:a16="http://schemas.microsoft.com/office/drawing/2014/main" id="{83CFE51C-FECE-9C46-8848-6BF918D18E2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358</a:t>
            </a:r>
          </a:p>
        </p:txBody>
      </p:sp>
    </p:spTree>
    <p:extLst>
      <p:ext uri="{BB962C8B-B14F-4D97-AF65-F5344CB8AC3E}">
        <p14:creationId xmlns:p14="http://schemas.microsoft.com/office/powerpoint/2010/main" val="2981204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b="1" dirty="0"/>
              <a:t>Perimeter Perspectives </a:t>
            </a:r>
            <a:r>
              <a:rPr lang="en-US" sz="2000" b="1" dirty="0">
                <a:solidFill>
                  <a:schemeClr val="bg1"/>
                </a:solidFill>
              </a:rPr>
              <a:t>(6 of 6) </a:t>
            </a:r>
          </a:p>
        </p:txBody>
      </p:sp>
      <p:sp>
        <p:nvSpPr>
          <p:cNvPr id="9" name="Text Placeholder 2">
            <a:extLst>
              <a:ext uri="{FF2B5EF4-FFF2-40B4-BE49-F238E27FC236}">
                <a16:creationId xmlns:a16="http://schemas.microsoft.com/office/drawing/2014/main" id="{0224E92D-72C0-6DF3-2985-6F8E2D67E2FE}"/>
              </a:ext>
              <a:ext uri="{C183D7F6-B498-43B3-948B-1728B52AA6E4}">
                <adec:decorative xmlns:adec="http://schemas.microsoft.com/office/drawing/2017/decorative" val="1"/>
              </a:ext>
            </a:extLst>
          </p:cNvPr>
          <p:cNvSpPr txBox="1">
            <a:spLocks/>
          </p:cNvSpPr>
          <p:nvPr/>
        </p:nvSpPr>
        <p:spPr>
          <a:xfrm>
            <a:off x="777240" y="1616140"/>
            <a:ext cx="9900285"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a:p>
            <a:pPr marL="0" indent="0" algn="ctr">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358</a:t>
            </a:r>
          </a:p>
        </p:txBody>
      </p:sp>
    </p:spTree>
    <p:extLst>
      <p:ext uri="{BB962C8B-B14F-4D97-AF65-F5344CB8AC3E}">
        <p14:creationId xmlns:p14="http://schemas.microsoft.com/office/powerpoint/2010/main" val="2743475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5F7022-D266-6CB6-8FDC-29242A2ED071}"/>
              </a:ext>
            </a:extLst>
          </p:cNvPr>
          <p:cNvSpPr>
            <a:spLocks noGrp="1"/>
          </p:cNvSpPr>
          <p:nvPr>
            <p:ph type="title" idx="4294967295"/>
          </p:nvPr>
        </p:nvSpPr>
        <p:spPr>
          <a:xfrm>
            <a:off x="838200" y="-530679"/>
            <a:ext cx="10514013" cy="530679"/>
          </a:xfrm>
          <a:prstGeom prst="rect">
            <a:avLst/>
          </a:prstGeom>
        </p:spPr>
        <p:txBody>
          <a:bodyPr anchor="b"/>
          <a:lstStyle/>
          <a:p>
            <a:r>
              <a:rPr lang="en-US" sz="2000" dirty="0">
                <a:solidFill>
                  <a:schemeClr val="bg2"/>
                </a:solidFill>
              </a:rPr>
              <a:t>Activity 2.1</a:t>
            </a:r>
          </a:p>
        </p:txBody>
      </p:sp>
      <p:sp>
        <p:nvSpPr>
          <p:cNvPr id="3" name="Text Placeholder 2" descr="10 to 15 minutes">
            <a:extLst>
              <a:ext uri="{FF2B5EF4-FFF2-40B4-BE49-F238E27FC236}">
                <a16:creationId xmlns:a16="http://schemas.microsoft.com/office/drawing/2014/main" id="{BA063AF9-8F8B-5444-6AEC-5E8501EC7698}"/>
              </a:ext>
            </a:extLst>
          </p:cNvPr>
          <p:cNvSpPr>
            <a:spLocks noGrp="1"/>
          </p:cNvSpPr>
          <p:nvPr>
            <p:ph type="body" sz="quarter" idx="12"/>
          </p:nvPr>
        </p:nvSpPr>
        <p:spPr>
          <a:xfrm>
            <a:off x="10614990" y="5781873"/>
            <a:ext cx="863947" cy="795338"/>
          </a:xfrm>
        </p:spPr>
        <p:txBody>
          <a:bodyPr/>
          <a:lstStyle/>
          <a:p>
            <a:r>
              <a:rPr lang="en-US" b="1" dirty="0"/>
              <a:t>25–30</a:t>
            </a:r>
          </a:p>
        </p:txBody>
      </p:sp>
      <p:sp>
        <p:nvSpPr>
          <p:cNvPr id="2" name="Text Placeholder 1">
            <a:extLst>
              <a:ext uri="{FF2B5EF4-FFF2-40B4-BE49-F238E27FC236}">
                <a16:creationId xmlns:a16="http://schemas.microsoft.com/office/drawing/2014/main" id="{3D1465A3-2914-1151-1A78-CFD3B2A423BE}"/>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2.1</a:t>
            </a:r>
          </a:p>
        </p:txBody>
      </p:sp>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
        <p:nvSpPr>
          <p:cNvPr id="1007" name="Answer 1007"/>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4250459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(1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70C1E34C-7E62-1005-A795-8E05218D3CB1}"/>
                  </a:ext>
                </a:extLst>
              </p:cNvPr>
              <p:cNvSpPr txBox="1">
                <a:spLocks/>
              </p:cNvSpPr>
              <p:nvPr/>
            </p:nvSpPr>
            <p:spPr>
              <a:xfrm>
                <a:off x="777240" y="1600200"/>
                <a:ext cx="9518227" cy="393728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The slope, </a:t>
                </a:r>
                <a14:m>
                  <m:oMath xmlns:m="http://schemas.openxmlformats.org/officeDocument/2006/math">
                    <m:r>
                      <a:rPr lang="en-US" sz="2800" i="1" dirty="0" smtClean="0">
                        <a:solidFill>
                          <a:srgbClr val="000000"/>
                        </a:solidFill>
                        <a:latin typeface="Cambria Math" panose="02040503050406030204" pitchFamily="18" charset="0"/>
                      </a:rPr>
                      <m:t>𝑥</m:t>
                    </m:r>
                  </m:oMath>
                </a14:m>
                <a:r>
                  <a:rPr lang="en-US" sz="2800" dirty="0">
                    <a:solidFill>
                      <a:srgbClr val="000000"/>
                    </a:solidFill>
                  </a:rPr>
                  <a:t>-intercept, and </a:t>
                </a:r>
                <a14:m>
                  <m:oMath xmlns:m="http://schemas.openxmlformats.org/officeDocument/2006/math">
                    <m:r>
                      <a:rPr lang="en-US" sz="2800" i="1" dirty="0" smtClean="0">
                        <a:solidFill>
                          <a:srgbClr val="000000"/>
                        </a:solidFill>
                        <a:latin typeface="Cambria Math" panose="02040503050406030204" pitchFamily="18" charset="0"/>
                      </a:rPr>
                      <m:t>𝑦</m:t>
                    </m:r>
                  </m:oMath>
                </a14:m>
                <a:r>
                  <a:rPr lang="en-US" sz="2800" dirty="0">
                    <a:solidFill>
                      <a:srgbClr val="000000"/>
                    </a:solidFill>
                  </a:rPr>
                  <a:t>-intercept are each important characteristics of linear functions. The structure of equations can reveal these characteristics of a function.</a:t>
                </a:r>
              </a:p>
              <a:p>
                <a:pPr marL="514350" indent="-514350">
                  <a:buFont typeface="+mj-lt"/>
                  <a:buAutoNum type="arabicPeriod"/>
                </a:pPr>
                <a:r>
                  <a:rPr lang="en-US" sz="2800" dirty="0">
                    <a:solidFill>
                      <a:srgbClr val="000000"/>
                    </a:solidFill>
                  </a:rPr>
                  <a:t>Consider the equation </a:t>
                </a:r>
                <a14:m>
                  <m:oMath xmlns:m="http://schemas.openxmlformats.org/officeDocument/2006/math">
                    <m:r>
                      <a:rPr lang="en-US" sz="2800" i="1" dirty="0" smtClean="0">
                        <a:solidFill>
                          <a:srgbClr val="000000"/>
                        </a:solidFill>
                        <a:latin typeface="Cambria Math" panose="02040503050406030204" pitchFamily="18" charset="0"/>
                      </a:rPr>
                      <m:t>𝑦</m:t>
                    </m:r>
                    <m:r>
                      <a:rPr lang="en-US" sz="2800" b="0" i="1" dirty="0" smtClean="0">
                        <a:solidFill>
                          <a:srgbClr val="000000"/>
                        </a:solidFill>
                        <a:latin typeface="Cambria Math" panose="02040503050406030204" pitchFamily="18" charset="0"/>
                      </a:rPr>
                      <m:t>= </m:t>
                    </m:r>
                    <m:r>
                      <a:rPr lang="en-US" sz="2800" i="1" dirty="0" smtClean="0">
                        <a:solidFill>
                          <a:srgbClr val="000000"/>
                        </a:solidFill>
                        <a:latin typeface="Cambria Math" panose="02040503050406030204" pitchFamily="18" charset="0"/>
                      </a:rPr>
                      <m:t>‒</m:t>
                    </m:r>
                    <m:f>
                      <m:fPr>
                        <m:ctrlPr>
                          <a:rPr lang="en-US" sz="2800" i="1" dirty="0" smtClean="0">
                            <a:solidFill>
                              <a:srgbClr val="000000"/>
                            </a:solidFill>
                            <a:latin typeface="Cambria Math" panose="02040503050406030204" pitchFamily="18" charset="0"/>
                          </a:rPr>
                        </m:ctrlPr>
                      </m:fPr>
                      <m:num>
                        <m:r>
                          <a:rPr lang="en-IN" sz="2800" b="0" i="1" dirty="0" smtClean="0">
                            <a:solidFill>
                              <a:srgbClr val="000000"/>
                            </a:solidFill>
                            <a:latin typeface="Cambria Math" panose="02040503050406030204" pitchFamily="18" charset="0"/>
                          </a:rPr>
                          <m:t>2</m:t>
                        </m:r>
                      </m:num>
                      <m:den>
                        <m:r>
                          <a:rPr lang="en-IN" sz="2800" b="0" i="1" dirty="0" smtClean="0">
                            <a:solidFill>
                              <a:srgbClr val="000000"/>
                            </a:solidFill>
                            <a:latin typeface="Cambria Math" panose="02040503050406030204" pitchFamily="18" charset="0"/>
                          </a:rPr>
                          <m:t>3</m:t>
                        </m:r>
                      </m:den>
                    </m:f>
                    <m:r>
                      <a:rPr lang="en-US" sz="280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4</m:t>
                    </m:r>
                  </m:oMath>
                </a14:m>
                <a:r>
                  <a:rPr lang="en-US" sz="2800" dirty="0">
                    <a:solidFill>
                      <a:srgbClr val="000000"/>
                    </a:solidFill>
                  </a:rPr>
                  <a:t>. Determine each characteristic and then explain your work.</a:t>
                </a:r>
              </a:p>
              <a:p>
                <a:pPr marL="982663" lvl="1" indent="-441325">
                  <a:buFont typeface="+mj-lt"/>
                  <a:buAutoNum type="alphaLcPeriod"/>
                </a:pPr>
                <a:r>
                  <a:rPr lang="en-US" dirty="0">
                    <a:solidFill>
                      <a:srgbClr val="000000"/>
                    </a:solidFill>
                  </a:rPr>
                  <a:t>Slope</a:t>
                </a:r>
              </a:p>
              <a:p>
                <a:pPr marL="982663" lvl="2" indent="0">
                  <a:lnSpc>
                    <a:spcPct val="100000"/>
                  </a:lnSpc>
                  <a:spcBef>
                    <a:spcPts val="200"/>
                  </a:spcBef>
                  <a:spcAft>
                    <a:spcPts val="600"/>
                  </a:spcAft>
                  <a:buNone/>
                </a:pPr>
                <a:r>
                  <a:rPr lang="en-US" sz="2000" dirty="0">
                    <a:solidFill>
                      <a:srgbClr val="FF0000"/>
                    </a:solidFill>
                  </a:rPr>
                  <a:t>−2/3</a:t>
                </a:r>
              </a:p>
            </p:txBody>
          </p:sp>
        </mc:Choice>
        <mc:Fallback xmlns="">
          <p:sp>
            <p:nvSpPr>
              <p:cNvPr id="2" name="Text Placeholder 2">
                <a:extLst>
                  <a:ext uri="{FF2B5EF4-FFF2-40B4-BE49-F238E27FC236}">
                    <a16:creationId xmlns:a16="http://schemas.microsoft.com/office/drawing/2014/main" id="{70C1E34C-7E62-1005-A795-8E05218D3CB1}"/>
                  </a:ext>
                </a:extLst>
              </p:cNvPr>
              <p:cNvSpPr txBox="1">
                <a:spLocks noRot="1" noChangeAspect="1" noMove="1" noResize="1" noEditPoints="1" noAdjustHandles="1" noChangeArrowheads="1" noChangeShapeType="1" noTextEdit="1"/>
              </p:cNvSpPr>
              <p:nvPr/>
            </p:nvSpPr>
            <p:spPr>
              <a:xfrm>
                <a:off x="777240" y="1600200"/>
                <a:ext cx="9518227" cy="3937280"/>
              </a:xfrm>
              <a:prstGeom prst="rect">
                <a:avLst/>
              </a:prstGeom>
              <a:blipFill>
                <a:blip r:embed="rId3"/>
                <a:stretch>
                  <a:fillRect l="-1345" t="-1550"/>
                </a:stretch>
              </a:blipFill>
            </p:spPr>
            <p:txBody>
              <a:bodyPr/>
              <a:lstStyle/>
              <a:p>
                <a:r>
                  <a:rPr lang="en-IN">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359</a:t>
            </a:r>
          </a:p>
        </p:txBody>
      </p:sp>
    </p:spTree>
    <p:extLst>
      <p:ext uri="{BB962C8B-B14F-4D97-AF65-F5344CB8AC3E}">
        <p14:creationId xmlns:p14="http://schemas.microsoft.com/office/powerpoint/2010/main" val="206436745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A95E3-2D75-186A-8DEA-CCEC34DDD4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DB613C3-558C-60C1-5578-980EFF51B25C}"/>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(2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8A93CF99-A97C-021B-6965-B94643642869}"/>
                  </a:ext>
                </a:extLst>
              </p:cNvPr>
              <p:cNvSpPr txBox="1">
                <a:spLocks/>
              </p:cNvSpPr>
              <p:nvPr/>
            </p:nvSpPr>
            <p:spPr>
              <a:xfrm>
                <a:off x="777240" y="1600200"/>
                <a:ext cx="9890759" cy="393728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𝑦</m:t>
                    </m:r>
                  </m:oMath>
                </a14:m>
                <a:r>
                  <a:rPr lang="en-US" sz="2800" dirty="0">
                    <a:solidFill>
                      <a:srgbClr val="000000"/>
                    </a:solidFill>
                  </a:rPr>
                  <a:t>-intercept</a:t>
                </a:r>
              </a:p>
              <a:p>
                <a:pPr marL="514350" lvl="1" indent="0">
                  <a:lnSpc>
                    <a:spcPct val="100000"/>
                  </a:lnSpc>
                  <a:spcBef>
                    <a:spcPts val="200"/>
                  </a:spcBef>
                  <a:spcAft>
                    <a:spcPts val="600"/>
                  </a:spcAft>
                  <a:buNone/>
                </a:pPr>
                <a:r>
                  <a:rPr lang="en-US" sz="2000" dirty="0">
                    <a:solidFill>
                      <a:srgbClr val="FF0000"/>
                    </a:solidFill>
                  </a:rPr>
                  <a:t>(0, 4)</a:t>
                </a: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𝑥</m:t>
                    </m:r>
                  </m:oMath>
                </a14:m>
                <a:r>
                  <a:rPr lang="en-US" sz="2800" dirty="0">
                    <a:solidFill>
                      <a:srgbClr val="000000"/>
                    </a:solidFill>
                  </a:rPr>
                  <a:t>-intercept</a:t>
                </a:r>
              </a:p>
              <a:p>
                <a:pPr marL="514350" lvl="1" indent="0">
                  <a:lnSpc>
                    <a:spcPct val="100000"/>
                  </a:lnSpc>
                  <a:spcBef>
                    <a:spcPts val="200"/>
                  </a:spcBef>
                  <a:spcAft>
                    <a:spcPts val="600"/>
                  </a:spcAft>
                  <a:buNone/>
                </a:pPr>
                <a:r>
                  <a:rPr lang="en-US" sz="2000" dirty="0">
                    <a:solidFill>
                      <a:srgbClr val="FF0000"/>
                    </a:solidFill>
                  </a:rPr>
                  <a:t>(6, 0)</a:t>
                </a: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r>
                  <a:rPr lang="en-US" sz="2800" dirty="0">
                    <a:solidFill>
                      <a:srgbClr val="000000"/>
                    </a:solidFill>
                  </a:rPr>
                  <a:t> How did you determine each characteristic?</a:t>
                </a:r>
              </a:p>
              <a:p>
                <a:pPr marL="514350" lvl="1" indent="0">
                  <a:lnSpc>
                    <a:spcPct val="100000"/>
                  </a:lnSpc>
                  <a:spcBef>
                    <a:spcPts val="200"/>
                  </a:spcBef>
                  <a:spcAft>
                    <a:spcPts val="600"/>
                  </a:spcAft>
                  <a:buNone/>
                </a:pPr>
                <a:r>
                  <a:rPr lang="en-US" sz="1800" dirty="0">
                    <a:solidFill>
                      <a:srgbClr val="FF0000"/>
                    </a:solidFill>
                  </a:rPr>
                  <a:t>Slope and y-intercept come straight from y = mx + b. For the x-intercept, substitute 0 for y and solve.</a:t>
                </a:r>
              </a:p>
              <a:p>
                <a:pPr marL="514350" indent="-514350">
                  <a:buFont typeface="+mj-lt"/>
                  <a:buAutoNum type="alphaLcPeriod" startAt="2"/>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8A93CF99-A97C-021B-6965-B94643642869}"/>
                  </a:ext>
                </a:extLst>
              </p:cNvPr>
              <p:cNvSpPr txBox="1">
                <a:spLocks noRot="1" noChangeAspect="1" noMove="1" noResize="1" noEditPoints="1" noAdjustHandles="1" noChangeArrowheads="1" noChangeShapeType="1" noTextEdit="1"/>
              </p:cNvSpPr>
              <p:nvPr/>
            </p:nvSpPr>
            <p:spPr>
              <a:xfrm>
                <a:off x="777240" y="1600200"/>
                <a:ext cx="9890759" cy="3937280"/>
              </a:xfrm>
              <a:prstGeom prst="rect">
                <a:avLst/>
              </a:prstGeom>
              <a:blipFill>
                <a:blip r:embed="rId3"/>
                <a:stretch>
                  <a:fillRect l="-1295" t="-17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D3A9493-EA65-D943-6D35-F27F123D5CBA}"/>
                  </a:ext>
                </a:extLst>
              </p:cNvPr>
              <p:cNvSpPr txBox="1"/>
              <p:nvPr/>
            </p:nvSpPr>
            <p:spPr>
              <a:xfrm>
                <a:off x="8284350" y="1765167"/>
                <a:ext cx="3004539" cy="3766390"/>
              </a:xfrm>
              <a:prstGeom prst="rect">
                <a:avLst/>
              </a:prstGeom>
              <a:noFill/>
              <a:ln w="31750">
                <a:solidFill>
                  <a:srgbClr val="008F4C"/>
                </a:solidFill>
                <a:prstDash val="sysDot"/>
              </a:ln>
            </p:spPr>
            <p:txBody>
              <a:bodyPr wrap="square" lIns="182880" rtlCol="0" anchor="ctr" anchorCtr="0">
                <a:noAutofit/>
              </a:bodyPr>
              <a:lstStyle/>
              <a:p>
                <a:r>
                  <a:rPr lang="en-US" sz="2000" b="1" dirty="0">
                    <a:solidFill>
                      <a:srgbClr val="2B8147"/>
                    </a:solidFill>
                  </a:rPr>
                  <a:t>Remember…</a:t>
                </a:r>
                <a:endParaRPr lang="en-US" sz="2000" dirty="0">
                  <a:solidFill>
                    <a:schemeClr val="bg2">
                      <a:lumMod val="25000"/>
                    </a:schemeClr>
                  </a:solidFill>
                </a:endParaRPr>
              </a:p>
              <a:p>
                <a:pPr marL="342900" indent="-342900">
                  <a:buFont typeface="Arial" panose="020B0604020202020204" pitchFamily="34" charset="0"/>
                  <a:buChar char="•"/>
                </a:pPr>
                <a:r>
                  <a:rPr lang="en-US" sz="2000" dirty="0">
                    <a:solidFill>
                      <a:schemeClr val="bg2">
                        <a:lumMod val="25000"/>
                      </a:schemeClr>
                    </a:solidFill>
                  </a:rPr>
                  <a:t>You can calculate slope using </a:t>
                </a:r>
                <a14:m>
                  <m:oMath xmlns:m="http://schemas.openxmlformats.org/officeDocument/2006/math">
                    <m:f>
                      <m:fPr>
                        <m:ctrlPr>
                          <a:rPr lang="en-US" sz="2000" i="1" smtClean="0">
                            <a:solidFill>
                              <a:schemeClr val="bg2">
                                <a:lumMod val="25000"/>
                              </a:schemeClr>
                            </a:solidFill>
                            <a:latin typeface="Cambria Math" panose="02040503050406030204" pitchFamily="18" charset="0"/>
                          </a:rPr>
                        </m:ctrlPr>
                      </m:fPr>
                      <m:num>
                        <m:sSub>
                          <m:sSubPr>
                            <m:ctrlPr>
                              <a:rPr lang="en-US" sz="2000" i="1" smtClean="0">
                                <a:solidFill>
                                  <a:schemeClr val="bg2">
                                    <a:lumMod val="25000"/>
                                  </a:schemeClr>
                                </a:solidFill>
                                <a:latin typeface="Cambria Math" panose="02040503050406030204" pitchFamily="18" charset="0"/>
                              </a:rPr>
                            </m:ctrlPr>
                          </m:sSubPr>
                          <m:e>
                            <m:r>
                              <a:rPr lang="en-US" sz="2000" b="0" i="1" smtClean="0">
                                <a:solidFill>
                                  <a:schemeClr val="bg2">
                                    <a:lumMod val="25000"/>
                                  </a:schemeClr>
                                </a:solidFill>
                                <a:latin typeface="Cambria Math" panose="02040503050406030204" pitchFamily="18" charset="0"/>
                              </a:rPr>
                              <m:t>𝑦</m:t>
                            </m:r>
                          </m:e>
                          <m:sub>
                            <m:r>
                              <a:rPr lang="en-US" sz="2000" b="0" i="1" smtClean="0">
                                <a:solidFill>
                                  <a:schemeClr val="bg2">
                                    <a:lumMod val="25000"/>
                                  </a:schemeClr>
                                </a:solidFill>
                                <a:latin typeface="Cambria Math" panose="02040503050406030204" pitchFamily="18" charset="0"/>
                              </a:rPr>
                              <m:t>2 −</m:t>
                            </m:r>
                          </m:sub>
                        </m:sSub>
                        <m:sSub>
                          <m:sSubPr>
                            <m:ctrlPr>
                              <a:rPr lang="en-US" sz="2000" i="1">
                                <a:solidFill>
                                  <a:schemeClr val="bg2">
                                    <a:lumMod val="25000"/>
                                  </a:schemeClr>
                                </a:solidFill>
                                <a:latin typeface="Cambria Math" panose="02040503050406030204" pitchFamily="18" charset="0"/>
                              </a:rPr>
                            </m:ctrlPr>
                          </m:sSubPr>
                          <m:e>
                            <m:r>
                              <a:rPr lang="en-IN" sz="2000" b="0" i="1" smtClean="0">
                                <a:solidFill>
                                  <a:schemeClr val="bg2">
                                    <a:lumMod val="25000"/>
                                  </a:schemeClr>
                                </a:solidFill>
                                <a:latin typeface="Cambria Math" panose="02040503050406030204" pitchFamily="18" charset="0"/>
                              </a:rPr>
                              <m:t>𝑦</m:t>
                            </m:r>
                          </m:e>
                          <m:sub>
                            <m:r>
                              <a:rPr lang="en-US" sz="2000" b="0" i="1" smtClean="0">
                                <a:solidFill>
                                  <a:schemeClr val="bg2">
                                    <a:lumMod val="25000"/>
                                  </a:schemeClr>
                                </a:solidFill>
                                <a:latin typeface="Cambria Math" panose="02040503050406030204" pitchFamily="18" charset="0"/>
                              </a:rPr>
                              <m:t>1</m:t>
                            </m:r>
                            <m:r>
                              <a:rPr lang="en-US" sz="2000" i="1">
                                <a:solidFill>
                                  <a:schemeClr val="bg2">
                                    <a:lumMod val="25000"/>
                                  </a:schemeClr>
                                </a:solidFill>
                                <a:latin typeface="Cambria Math" panose="02040503050406030204" pitchFamily="18" charset="0"/>
                              </a:rPr>
                              <m:t> </m:t>
                            </m:r>
                          </m:sub>
                        </m:sSub>
                      </m:num>
                      <m:den>
                        <m:sSub>
                          <m:sSubPr>
                            <m:ctrlPr>
                              <a:rPr lang="en-US" sz="2000" i="1" smtClean="0">
                                <a:solidFill>
                                  <a:schemeClr val="bg2">
                                    <a:lumMod val="25000"/>
                                  </a:schemeClr>
                                </a:solidFill>
                                <a:latin typeface="Cambria Math" panose="02040503050406030204" pitchFamily="18" charset="0"/>
                              </a:rPr>
                            </m:ctrlPr>
                          </m:sSubPr>
                          <m:e>
                            <m:r>
                              <a:rPr lang="en-US" sz="2000" b="0" i="1" smtClean="0">
                                <a:solidFill>
                                  <a:schemeClr val="bg2">
                                    <a:lumMod val="25000"/>
                                  </a:schemeClr>
                                </a:solidFill>
                                <a:latin typeface="Cambria Math" panose="02040503050406030204" pitchFamily="18" charset="0"/>
                              </a:rPr>
                              <m:t>𝑥</m:t>
                            </m:r>
                          </m:e>
                          <m:sub>
                            <m:r>
                              <a:rPr lang="en-US" sz="2000" b="0" i="1" smtClean="0">
                                <a:solidFill>
                                  <a:schemeClr val="bg2">
                                    <a:lumMod val="25000"/>
                                  </a:schemeClr>
                                </a:solidFill>
                                <a:latin typeface="Cambria Math" panose="02040503050406030204" pitchFamily="18" charset="0"/>
                              </a:rPr>
                              <m:t>2</m:t>
                            </m:r>
                          </m:sub>
                        </m:sSub>
                        <m:r>
                          <a:rPr lang="en-US" sz="2000" b="0" i="1" smtClean="0">
                            <a:solidFill>
                              <a:schemeClr val="bg2">
                                <a:lumMod val="25000"/>
                              </a:schemeClr>
                            </a:solidFill>
                            <a:latin typeface="Cambria Math" panose="02040503050406030204" pitchFamily="18" charset="0"/>
                          </a:rPr>
                          <m:t>−</m:t>
                        </m:r>
                        <m:sSub>
                          <m:sSubPr>
                            <m:ctrlPr>
                              <a:rPr lang="en-US" sz="2000" i="1">
                                <a:solidFill>
                                  <a:schemeClr val="bg2">
                                    <a:lumMod val="25000"/>
                                  </a:schemeClr>
                                </a:solidFill>
                                <a:latin typeface="Cambria Math" panose="02040503050406030204" pitchFamily="18" charset="0"/>
                              </a:rPr>
                            </m:ctrlPr>
                          </m:sSubPr>
                          <m:e>
                            <m:r>
                              <a:rPr lang="en-US" sz="2000" b="0" i="1" smtClean="0">
                                <a:solidFill>
                                  <a:schemeClr val="bg2">
                                    <a:lumMod val="25000"/>
                                  </a:schemeClr>
                                </a:solidFill>
                                <a:latin typeface="Cambria Math" panose="02040503050406030204" pitchFamily="18" charset="0"/>
                              </a:rPr>
                              <m:t>𝑥</m:t>
                            </m:r>
                          </m:e>
                          <m:sub>
                            <m:r>
                              <a:rPr lang="en-US" sz="2000" b="0" i="1" smtClean="0">
                                <a:solidFill>
                                  <a:schemeClr val="bg2">
                                    <a:lumMod val="25000"/>
                                  </a:schemeClr>
                                </a:solidFill>
                                <a:latin typeface="Cambria Math" panose="02040503050406030204" pitchFamily="18" charset="0"/>
                              </a:rPr>
                              <m:t>1</m:t>
                            </m:r>
                            <m:r>
                              <a:rPr lang="en-US" sz="2000" i="1">
                                <a:solidFill>
                                  <a:schemeClr val="bg2">
                                    <a:lumMod val="25000"/>
                                  </a:schemeClr>
                                </a:solidFill>
                                <a:latin typeface="Cambria Math" panose="02040503050406030204" pitchFamily="18" charset="0"/>
                              </a:rPr>
                              <m:t> </m:t>
                            </m:r>
                          </m:sub>
                        </m:sSub>
                      </m:den>
                    </m:f>
                  </m:oMath>
                </a14:m>
                <a:r>
                  <a:rPr lang="en-US" sz="2000" dirty="0">
                    <a:solidFill>
                      <a:schemeClr val="bg2">
                        <a:lumMod val="25000"/>
                      </a:schemeClr>
                    </a:solidFill>
                  </a:rPr>
                  <a:t>.</a:t>
                </a:r>
              </a:p>
              <a:p>
                <a:pPr marL="342900" indent="-342900">
                  <a:buFont typeface="Arial" panose="020B0604020202020204" pitchFamily="34" charset="0"/>
                  <a:buChar char="•"/>
                </a:pPr>
                <a:r>
                  <a:rPr lang="en-US" sz="2000" dirty="0">
                    <a:solidFill>
                      <a:schemeClr val="bg2">
                        <a:lumMod val="25000"/>
                      </a:schemeClr>
                    </a:solidFill>
                  </a:rPr>
                  <a:t>You can determine the </a:t>
                </a:r>
                <a14:m>
                  <m:oMath xmlns:m="http://schemas.openxmlformats.org/officeDocument/2006/math">
                    <m:r>
                      <a:rPr lang="en-IN" sz="2000" b="0" i="1" smtClean="0">
                        <a:solidFill>
                          <a:schemeClr val="bg2">
                            <a:lumMod val="25000"/>
                          </a:schemeClr>
                        </a:solidFill>
                        <a:latin typeface="Cambria Math" panose="02040503050406030204" pitchFamily="18" charset="0"/>
                      </a:rPr>
                      <m:t>𝑦</m:t>
                    </m:r>
                  </m:oMath>
                </a14:m>
                <a:r>
                  <a:rPr lang="en-US" sz="2000" dirty="0">
                    <a:solidFill>
                      <a:schemeClr val="bg2">
                        <a:lumMod val="25000"/>
                      </a:schemeClr>
                    </a:solidFill>
                  </a:rPr>
                  <a:t>-intercept by substituting 0 for </a:t>
                </a:r>
                <a14:m>
                  <m:oMath xmlns:m="http://schemas.openxmlformats.org/officeDocument/2006/math">
                    <m:r>
                      <a:rPr lang="en-US" sz="2000" i="1" dirty="0" smtClean="0">
                        <a:solidFill>
                          <a:schemeClr val="bg2">
                            <a:lumMod val="25000"/>
                          </a:schemeClr>
                        </a:solidFill>
                        <a:latin typeface="Cambria Math" panose="02040503050406030204" pitchFamily="18" charset="0"/>
                      </a:rPr>
                      <m:t>𝑥</m:t>
                    </m:r>
                  </m:oMath>
                </a14:m>
                <a:r>
                  <a:rPr lang="en-US" sz="2000" dirty="0">
                    <a:solidFill>
                      <a:schemeClr val="bg2">
                        <a:lumMod val="25000"/>
                      </a:schemeClr>
                    </a:solidFill>
                  </a:rPr>
                  <a:t> and solving for </a:t>
                </a:r>
                <a14:m>
                  <m:oMath xmlns:m="http://schemas.openxmlformats.org/officeDocument/2006/math">
                    <m:r>
                      <a:rPr lang="en-US" sz="2000" i="1" dirty="0" smtClean="0">
                        <a:solidFill>
                          <a:schemeClr val="bg2">
                            <a:lumMod val="25000"/>
                          </a:schemeClr>
                        </a:solidFill>
                        <a:latin typeface="Cambria Math" panose="02040503050406030204" pitchFamily="18" charset="0"/>
                      </a:rPr>
                      <m:t>𝑦</m:t>
                    </m:r>
                  </m:oMath>
                </a14:m>
                <a:r>
                  <a:rPr lang="en-US" sz="2000" dirty="0">
                    <a:solidFill>
                      <a:schemeClr val="bg2">
                        <a:lumMod val="25000"/>
                      </a:schemeClr>
                    </a:solidFill>
                  </a:rPr>
                  <a:t>.</a:t>
                </a:r>
              </a:p>
              <a:p>
                <a:pPr marL="342900" indent="-342900">
                  <a:buFont typeface="Arial" panose="020B0604020202020204" pitchFamily="34" charset="0"/>
                  <a:buChar char="•"/>
                </a:pPr>
                <a:r>
                  <a:rPr lang="en-US" sz="2000" dirty="0">
                    <a:solidFill>
                      <a:schemeClr val="bg2">
                        <a:lumMod val="25000"/>
                      </a:schemeClr>
                    </a:solidFill>
                  </a:rPr>
                  <a:t>You can determine the </a:t>
                </a:r>
                <a14:m>
                  <m:oMath xmlns:m="http://schemas.openxmlformats.org/officeDocument/2006/math">
                    <m:r>
                      <a:rPr lang="en-US" sz="2000" i="1" dirty="0" smtClean="0">
                        <a:solidFill>
                          <a:schemeClr val="bg2">
                            <a:lumMod val="25000"/>
                          </a:schemeClr>
                        </a:solidFill>
                        <a:latin typeface="Cambria Math" panose="02040503050406030204" pitchFamily="18" charset="0"/>
                      </a:rPr>
                      <m:t>𝑥</m:t>
                    </m:r>
                  </m:oMath>
                </a14:m>
                <a:r>
                  <a:rPr lang="en-US" sz="2000" dirty="0">
                    <a:solidFill>
                      <a:schemeClr val="bg2">
                        <a:lumMod val="25000"/>
                      </a:schemeClr>
                    </a:solidFill>
                  </a:rPr>
                  <a:t>-intercept by substituting 0 for </a:t>
                </a:r>
                <a14:m>
                  <m:oMath xmlns:m="http://schemas.openxmlformats.org/officeDocument/2006/math">
                    <m:r>
                      <a:rPr lang="en-US" sz="2000" i="1" dirty="0" smtClean="0">
                        <a:solidFill>
                          <a:schemeClr val="bg2">
                            <a:lumMod val="25000"/>
                          </a:schemeClr>
                        </a:solidFill>
                        <a:latin typeface="Cambria Math" panose="02040503050406030204" pitchFamily="18" charset="0"/>
                      </a:rPr>
                      <m:t>𝑦</m:t>
                    </m:r>
                  </m:oMath>
                </a14:m>
                <a:r>
                  <a:rPr lang="en-US" sz="2000" dirty="0">
                    <a:solidFill>
                      <a:schemeClr val="bg2">
                        <a:lumMod val="25000"/>
                      </a:schemeClr>
                    </a:solidFill>
                  </a:rPr>
                  <a:t> and solving for </a:t>
                </a:r>
                <a14:m>
                  <m:oMath xmlns:m="http://schemas.openxmlformats.org/officeDocument/2006/math">
                    <m:r>
                      <a:rPr lang="en-US" sz="2000" i="1" dirty="0" smtClean="0">
                        <a:solidFill>
                          <a:schemeClr val="bg2">
                            <a:lumMod val="25000"/>
                          </a:schemeClr>
                        </a:solidFill>
                        <a:latin typeface="Cambria Math" panose="02040503050406030204" pitchFamily="18" charset="0"/>
                      </a:rPr>
                      <m:t>𝑥</m:t>
                    </m:r>
                  </m:oMath>
                </a14:m>
                <a:r>
                  <a:rPr lang="en-US" sz="2000" dirty="0">
                    <a:solidFill>
                      <a:schemeClr val="bg2">
                        <a:lumMod val="25000"/>
                      </a:schemeClr>
                    </a:solidFill>
                  </a:rPr>
                  <a:t>.</a:t>
                </a:r>
              </a:p>
            </p:txBody>
          </p:sp>
        </mc:Choice>
        <mc:Fallback xmlns="">
          <p:sp>
            <p:nvSpPr>
              <p:cNvPr id="3" name="TextBox 2">
                <a:extLst>
                  <a:ext uri="{FF2B5EF4-FFF2-40B4-BE49-F238E27FC236}">
                    <a16:creationId xmlns:a16="http://schemas.microsoft.com/office/drawing/2014/main" id="{DD3A9493-EA65-D943-6D35-F27F123D5CBA}"/>
                  </a:ext>
                </a:extLst>
              </p:cNvPr>
              <p:cNvSpPr txBox="1">
                <a:spLocks noRot="1" noChangeAspect="1" noMove="1" noResize="1" noEditPoints="1" noAdjustHandles="1" noChangeArrowheads="1" noChangeShapeType="1" noTextEdit="1"/>
              </p:cNvSpPr>
              <p:nvPr/>
            </p:nvSpPr>
            <p:spPr>
              <a:xfrm>
                <a:off x="8284350" y="1765167"/>
                <a:ext cx="3004539" cy="3766390"/>
              </a:xfrm>
              <a:prstGeom prst="rect">
                <a:avLst/>
              </a:prstGeom>
              <a:blipFill>
                <a:blip r:embed="rId4"/>
                <a:stretch>
                  <a:fillRect r="-2811" b="-161"/>
                </a:stretch>
              </a:blipFill>
              <a:ln w="31750">
                <a:solidFill>
                  <a:srgbClr val="008F4C"/>
                </a:solidFill>
                <a:prstDash val="sysDot"/>
              </a:ln>
            </p:spPr>
            <p:txBody>
              <a:bodyPr/>
              <a:lstStyle/>
              <a:p>
                <a:r>
                  <a:rPr lang="en-IN">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359</a:t>
            </a:r>
          </a:p>
        </p:txBody>
      </p:sp>
    </p:spTree>
    <p:extLst>
      <p:ext uri="{BB962C8B-B14F-4D97-AF65-F5344CB8AC3E}">
        <p14:creationId xmlns:p14="http://schemas.microsoft.com/office/powerpoint/2010/main" val="363386231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DE8B1-D666-BADD-607F-6E8CAD4D28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418961-05D8-C7E5-2078-FBF626780E7E}"/>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(3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42FE1B45-3C54-594E-19F9-60D011B8C1E5}"/>
                  </a:ext>
                </a:extLst>
              </p:cNvPr>
              <p:cNvSpPr txBox="1">
                <a:spLocks/>
              </p:cNvSpPr>
              <p:nvPr/>
            </p:nvSpPr>
            <p:spPr>
              <a:xfrm>
                <a:off x="777240" y="1600200"/>
                <a:ext cx="10703560" cy="393728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3550" indent="-463550">
                  <a:buFont typeface="+mj-lt"/>
                  <a:buAutoNum type="arabicPeriod" startAt="2"/>
                </a:pPr>
                <a:r>
                  <a:rPr lang="en-US" sz="2800" dirty="0">
                    <a:solidFill>
                      <a:srgbClr val="000000"/>
                    </a:solidFill>
                  </a:rPr>
                  <a:t>Consider the equation </a:t>
                </a:r>
                <a14:m>
                  <m:oMath xmlns:m="http://schemas.openxmlformats.org/officeDocument/2006/math">
                    <m:r>
                      <a:rPr lang="en-US" sz="2800" i="1" dirty="0" smtClean="0">
                        <a:solidFill>
                          <a:srgbClr val="000000"/>
                        </a:solidFill>
                        <a:latin typeface="Cambria Math" panose="02040503050406030204" pitchFamily="18" charset="0"/>
                      </a:rPr>
                      <m:t>𝑦</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4(</m:t>
                    </m:r>
                    <m:r>
                      <a:rPr lang="en-US" sz="2800" i="1" dirty="0" smtClean="0">
                        <a:solidFill>
                          <a:srgbClr val="000000"/>
                        </a:solidFill>
                        <a:latin typeface="Cambria Math" panose="02040503050406030204" pitchFamily="18" charset="0"/>
                      </a:rPr>
                      <m:t>𝑥</m:t>
                    </m:r>
                    <m:r>
                      <a:rPr lang="en-US" sz="2800" i="1" dirty="0" smtClean="0">
                        <a:solidFill>
                          <a:srgbClr val="000000"/>
                        </a:solidFill>
                        <a:latin typeface="Cambria Math" panose="02040503050406030204" pitchFamily="18" charset="0"/>
                      </a:rPr>
                      <m:t> –2)</m:t>
                    </m:r>
                  </m:oMath>
                </a14:m>
                <a:r>
                  <a:rPr lang="en-US" sz="2800" dirty="0">
                    <a:solidFill>
                      <a:srgbClr val="000000"/>
                    </a:solidFill>
                  </a:rPr>
                  <a:t>. Determine each characteristic and then explain your work.</a:t>
                </a:r>
              </a:p>
              <a:p>
                <a:pPr marL="977900" indent="-514350">
                  <a:buFont typeface="+mj-lt"/>
                  <a:buAutoNum type="alphaLcPeriod"/>
                </a:pPr>
                <a:r>
                  <a:rPr lang="en-US" sz="2800" dirty="0">
                    <a:solidFill>
                      <a:srgbClr val="000000"/>
                    </a:solidFill>
                  </a:rPr>
                  <a:t> Slope</a:t>
                </a:r>
              </a:p>
              <a:p>
                <a:pPr marL="977900" lvl="1" indent="0">
                  <a:lnSpc>
                    <a:spcPct val="100000"/>
                  </a:lnSpc>
                  <a:spcBef>
                    <a:spcPts val="200"/>
                  </a:spcBef>
                  <a:spcAft>
                    <a:spcPts val="600"/>
                  </a:spcAft>
                  <a:buNone/>
                </a:pPr>
                <a:r>
                  <a:rPr lang="en-US" sz="2000" dirty="0">
                    <a:solidFill>
                      <a:srgbClr val="FF0000"/>
                    </a:solidFill>
                  </a:rPr>
                  <a:t>4</a:t>
                </a:r>
              </a:p>
              <a:p>
                <a:pPr marL="977900" indent="-514350">
                  <a:buFont typeface="+mj-lt"/>
                  <a:buAutoNum type="alphaLcPeriod"/>
                </a:pPr>
                <a:endParaRPr lang="en-US" sz="2800" dirty="0">
                  <a:solidFill>
                    <a:srgbClr val="000000"/>
                  </a:solidFill>
                </a:endParaRPr>
              </a:p>
              <a:p>
                <a:pPr marL="977900" indent="-514350">
                  <a:buFont typeface="+mj-lt"/>
                  <a:buAutoNum type="alphaLcPeriod"/>
                </a:pPr>
                <a:endParaRPr lang="en-US" sz="2800" dirty="0">
                  <a:solidFill>
                    <a:srgbClr val="000000"/>
                  </a:solidFill>
                </a:endParaRPr>
              </a:p>
              <a:p>
                <a:pPr marL="980694" indent="-514350">
                  <a:buFont typeface="+mj-lt"/>
                  <a:buAutoNum type="alphaLcPeriod"/>
                </a:pPr>
                <a:r>
                  <a:rPr lang="en-US" sz="2800" b="0" dirty="0">
                    <a:solidFill>
                      <a:srgbClr val="000000"/>
                    </a:solidFill>
                  </a:rPr>
                  <a:t> </a:t>
                </a:r>
                <a14:m>
                  <m:oMath xmlns:m="http://schemas.openxmlformats.org/officeDocument/2006/math">
                    <m:r>
                      <a:rPr lang="en-US" sz="2800" b="0" i="1" dirty="0" smtClean="0">
                        <a:solidFill>
                          <a:srgbClr val="000000"/>
                        </a:solidFill>
                        <a:latin typeface="Cambria Math" panose="02040503050406030204" pitchFamily="18" charset="0"/>
                      </a:rPr>
                      <m:t>𝑦</m:t>
                    </m:r>
                  </m:oMath>
                </a14:m>
                <a:r>
                  <a:rPr lang="en-US" sz="2800" dirty="0">
                    <a:solidFill>
                      <a:srgbClr val="000000"/>
                    </a:solidFill>
                  </a:rPr>
                  <a:t>-intercept</a:t>
                </a:r>
              </a:p>
              <a:p>
                <a:pPr marL="980694" lvl="1" indent="0">
                  <a:lnSpc>
                    <a:spcPct val="100000"/>
                  </a:lnSpc>
                  <a:spcBef>
                    <a:spcPts val="200"/>
                  </a:spcBef>
                  <a:spcAft>
                    <a:spcPts val="600"/>
                  </a:spcAft>
                  <a:buNone/>
                </a:pPr>
                <a:r>
                  <a:rPr lang="en-US" sz="2000" dirty="0">
                    <a:solidFill>
                      <a:srgbClr val="FF0000"/>
                    </a:solidFill>
                  </a:rPr>
                  <a:t>(0, −8)</a:t>
                </a:r>
              </a:p>
              <a:p>
                <a:pPr marL="0" indent="0">
                  <a:buNone/>
                </a:pPr>
                <a:endParaRPr lang="en-US" sz="2800" dirty="0">
                  <a:solidFill>
                    <a:srgbClr val="000000"/>
                  </a:solidFill>
                </a:endParaRP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42FE1B45-3C54-594E-19F9-60D011B8C1E5}"/>
                  </a:ext>
                </a:extLst>
              </p:cNvPr>
              <p:cNvSpPr txBox="1">
                <a:spLocks noRot="1" noChangeAspect="1" noMove="1" noResize="1" noEditPoints="1" noAdjustHandles="1" noChangeArrowheads="1" noChangeShapeType="1" noTextEdit="1"/>
              </p:cNvSpPr>
              <p:nvPr/>
            </p:nvSpPr>
            <p:spPr>
              <a:xfrm>
                <a:off x="777240" y="1600200"/>
                <a:ext cx="10703560" cy="3937280"/>
              </a:xfrm>
              <a:prstGeom prst="rect">
                <a:avLst/>
              </a:prstGeom>
              <a:blipFill>
                <a:blip r:embed="rId3"/>
                <a:stretch>
                  <a:fillRect l="-1197" t="-1705"/>
                </a:stretch>
              </a:blipFill>
            </p:spPr>
            <p:txBody>
              <a:bodyPr/>
              <a:lstStyle/>
              <a:p>
                <a:r>
                  <a:rPr lang="en-US">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359</a:t>
            </a:r>
          </a:p>
        </p:txBody>
      </p:sp>
    </p:spTree>
    <p:extLst>
      <p:ext uri="{BB962C8B-B14F-4D97-AF65-F5344CB8AC3E}">
        <p14:creationId xmlns:p14="http://schemas.microsoft.com/office/powerpoint/2010/main" val="161701621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E9297-9DE4-D91C-64CA-F3484BE5E28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34F769-B8CA-89EE-D36A-F6E6466517AF}"/>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(4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BDB316B8-955E-CF22-A67A-DCB2D8D19D83}"/>
                  </a:ext>
                </a:extLst>
              </p:cNvPr>
              <p:cNvSpPr txBox="1">
                <a:spLocks/>
              </p:cNvSpPr>
              <p:nvPr/>
            </p:nvSpPr>
            <p:spPr>
              <a:xfrm>
                <a:off x="777240" y="1600200"/>
                <a:ext cx="9890759" cy="393728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buFont typeface="+mj-lt"/>
                  <a:buAutoNum type="alphaLcPeriod" startAt="3"/>
                </a:pPr>
                <a14:m>
                  <m:oMath xmlns:m="http://schemas.openxmlformats.org/officeDocument/2006/math">
                    <m:r>
                      <a:rPr lang="en-US" sz="2800" dirty="0">
                        <a:solidFill>
                          <a:srgbClr val="000000"/>
                        </a:solidFill>
                        <a:latin typeface="Cambria Math" panose="02040503050406030204" pitchFamily="18" charset="0"/>
                      </a:rPr>
                      <m:t>𝑥</m:t>
                    </m:r>
                  </m:oMath>
                </a14:m>
                <a:r>
                  <a:rPr lang="en-US" sz="2800" dirty="0">
                    <a:solidFill>
                      <a:srgbClr val="000000"/>
                    </a:solidFill>
                  </a:rPr>
                  <a:t>-intercept</a:t>
                </a:r>
              </a:p>
              <a:p>
                <a:pPr marL="466344" lvl="1" indent="0">
                  <a:lnSpc>
                    <a:spcPct val="100000"/>
                  </a:lnSpc>
                  <a:spcBef>
                    <a:spcPts val="200"/>
                  </a:spcBef>
                  <a:spcAft>
                    <a:spcPts val="600"/>
                  </a:spcAft>
                  <a:buNone/>
                </a:pPr>
                <a:r>
                  <a:rPr lang="en-US" sz="2000" dirty="0">
                    <a:solidFill>
                      <a:srgbClr val="FF0000"/>
                    </a:solidFill>
                  </a:rPr>
                  <a:t>(2, 0)</a:t>
                </a:r>
              </a:p>
              <a:p>
                <a:pPr marL="514350" indent="-514350">
                  <a:buFont typeface="+mj-lt"/>
                  <a:buAutoNum type="alphaLcPeriod" startAt="3"/>
                </a:pPr>
                <a:endParaRPr lang="en-US" sz="2800" dirty="0">
                  <a:solidFill>
                    <a:srgbClr val="000000"/>
                  </a:solidFill>
                </a:endParaRPr>
              </a:p>
              <a:p>
                <a:pPr marL="514350" indent="-514350">
                  <a:buFont typeface="+mj-lt"/>
                  <a:buAutoNum type="alphaLcPeriod" startAt="3"/>
                </a:pPr>
                <a:endParaRPr lang="en-US" sz="2800" dirty="0">
                  <a:solidFill>
                    <a:srgbClr val="000000"/>
                  </a:solidFill>
                </a:endParaRPr>
              </a:p>
              <a:p>
                <a:pPr marL="466344" indent="-466344">
                  <a:buFont typeface="+mj-lt"/>
                  <a:buAutoNum type="alphaLcPeriod" startAt="3"/>
                </a:pPr>
                <a:r>
                  <a:rPr lang="en-US" sz="2800" dirty="0">
                    <a:solidFill>
                      <a:srgbClr val="000000"/>
                    </a:solidFill>
                  </a:rPr>
                  <a:t>How did you determine each characteristic?</a:t>
                </a:r>
              </a:p>
              <a:p>
                <a:pPr marL="466344" lvl="1" indent="0">
                  <a:lnSpc>
                    <a:spcPct val="100000"/>
                  </a:lnSpc>
                  <a:spcBef>
                    <a:spcPts val="200"/>
                  </a:spcBef>
                  <a:spcAft>
                    <a:spcPts val="600"/>
                  </a:spcAft>
                  <a:buNone/>
                </a:pPr>
                <a:r>
                  <a:rPr lang="en-US" sz="1800" dirty="0">
                    <a:solidFill>
                      <a:srgbClr val="FF0000"/>
                    </a:solidFill>
                  </a:rPr>
                  <a:t>The slope and x-intercept come from the equation (x − 2 = 0 at x = 2). Distribute, y = 4x − 8, for the y-intercept.</a:t>
                </a: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BDB316B8-955E-CF22-A67A-DCB2D8D19D83}"/>
                  </a:ext>
                </a:extLst>
              </p:cNvPr>
              <p:cNvSpPr txBox="1">
                <a:spLocks noRot="1" noChangeAspect="1" noMove="1" noResize="1" noEditPoints="1" noAdjustHandles="1" noChangeArrowheads="1" noChangeShapeType="1" noTextEdit="1"/>
              </p:cNvSpPr>
              <p:nvPr/>
            </p:nvSpPr>
            <p:spPr>
              <a:xfrm>
                <a:off x="777240" y="1600200"/>
                <a:ext cx="9890759" cy="3937280"/>
              </a:xfrm>
              <a:prstGeom prst="rect">
                <a:avLst/>
              </a:prstGeom>
              <a:blipFill>
                <a:blip r:embed="rId3"/>
                <a:stretch>
                  <a:fillRect l="-1295" t="-1550"/>
                </a:stretch>
              </a:blipFill>
            </p:spPr>
            <p:txBody>
              <a:bodyPr/>
              <a:lstStyle/>
              <a:p>
                <a:r>
                  <a:rPr lang="en-US">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359</a:t>
            </a:r>
          </a:p>
        </p:txBody>
      </p:sp>
    </p:spTree>
    <p:extLst>
      <p:ext uri="{BB962C8B-B14F-4D97-AF65-F5344CB8AC3E}">
        <p14:creationId xmlns:p14="http://schemas.microsoft.com/office/powerpoint/2010/main" val="46162024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427F7-D16B-F8B6-7241-C30FCED2954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7C5457D-4753-81BD-214D-6D319806F8BD}"/>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(5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11657AE2-50AC-AE8E-C088-629BCB172685}"/>
                  </a:ext>
                </a:extLst>
              </p:cNvPr>
              <p:cNvSpPr txBox="1">
                <a:spLocks/>
              </p:cNvSpPr>
              <p:nvPr/>
            </p:nvSpPr>
            <p:spPr>
              <a:xfrm>
                <a:off x="777240" y="1600200"/>
                <a:ext cx="10206849" cy="393728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buFont typeface="+mj-lt"/>
                  <a:buAutoNum type="arabicPeriod" startAt="3"/>
                </a:pPr>
                <a:r>
                  <a:rPr lang="en-US" sz="2800" dirty="0">
                    <a:solidFill>
                      <a:srgbClr val="000000"/>
                    </a:solidFill>
                  </a:rPr>
                  <a:t>Consider the equation </a:t>
                </a:r>
                <a14:m>
                  <m:oMath xmlns:m="http://schemas.openxmlformats.org/officeDocument/2006/math">
                    <m:r>
                      <a:rPr lang="en-US" sz="2800" b="0" i="0" dirty="0" smtClean="0">
                        <a:solidFill>
                          <a:srgbClr val="000000"/>
                        </a:solidFill>
                        <a:latin typeface="Cambria Math" panose="02040503050406030204" pitchFamily="18" charset="0"/>
                      </a:rPr>
                      <m:t>3</m:t>
                    </m:r>
                    <m:r>
                      <a:rPr lang="en-US" sz="2800" b="0" i="1" dirty="0" smtClean="0">
                        <a:solidFill>
                          <a:srgbClr val="000000"/>
                        </a:solidFill>
                        <a:latin typeface="Cambria Math" panose="02040503050406030204" pitchFamily="18" charset="0"/>
                      </a:rPr>
                      <m:t>𝑥</m:t>
                    </m:r>
                    <m:r>
                      <a:rPr lang="en-IN" sz="2800" b="0" i="1" dirty="0" smtClean="0">
                        <a:solidFill>
                          <a:srgbClr val="000000"/>
                        </a:solidFill>
                        <a:latin typeface="Cambria Math" panose="02040503050406030204" pitchFamily="18" charset="0"/>
                      </a:rPr>
                      <m:t> </m:t>
                    </m:r>
                    <m:r>
                      <a:rPr lang="en-US" sz="2800" b="0" i="1" dirty="0" smtClean="0">
                        <a:solidFill>
                          <a:srgbClr val="000000"/>
                        </a:solidFill>
                        <a:latin typeface="Cambria Math" panose="02040503050406030204" pitchFamily="18" charset="0"/>
                      </a:rPr>
                      <m:t>–2</m:t>
                    </m:r>
                    <m:r>
                      <a:rPr lang="en-US" sz="2800" b="0" i="1" dirty="0" smtClean="0">
                        <a:solidFill>
                          <a:srgbClr val="000000"/>
                        </a:solidFill>
                        <a:latin typeface="Cambria Math" panose="02040503050406030204" pitchFamily="18" charset="0"/>
                      </a:rPr>
                      <m:t>𝑦</m:t>
                    </m:r>
                    <m:r>
                      <a:rPr lang="en-US" sz="2800" b="0" i="1" dirty="0" smtClean="0">
                        <a:solidFill>
                          <a:srgbClr val="000000"/>
                        </a:solidFill>
                        <a:latin typeface="Cambria Math" panose="02040503050406030204" pitchFamily="18" charset="0"/>
                      </a:rPr>
                      <m:t>=8</m:t>
                    </m:r>
                  </m:oMath>
                </a14:m>
                <a:r>
                  <a:rPr lang="en-US" sz="2800" dirty="0">
                    <a:solidFill>
                      <a:srgbClr val="000000"/>
                    </a:solidFill>
                  </a:rPr>
                  <a:t>. Determine each characteristic and then explain your work.</a:t>
                </a:r>
              </a:p>
              <a:p>
                <a:pPr marL="980694" indent="-514350">
                  <a:buFont typeface="+mj-lt"/>
                  <a:buAutoNum type="alphaLcPeriod"/>
                </a:pPr>
                <a:r>
                  <a:rPr lang="en-US" sz="2800" dirty="0">
                    <a:solidFill>
                      <a:srgbClr val="000000"/>
                    </a:solidFill>
                  </a:rPr>
                  <a:t>Slope</a:t>
                </a:r>
              </a:p>
              <a:p>
                <a:pPr marL="980694" lvl="1" indent="0">
                  <a:lnSpc>
                    <a:spcPct val="100000"/>
                  </a:lnSpc>
                  <a:spcBef>
                    <a:spcPts val="200"/>
                  </a:spcBef>
                  <a:spcAft>
                    <a:spcPts val="600"/>
                  </a:spcAft>
                  <a:buNone/>
                </a:pPr>
                <a:r>
                  <a:rPr lang="en-US" sz="2000" dirty="0">
                    <a:solidFill>
                      <a:srgbClr val="FF0000"/>
                    </a:solidFill>
                  </a:rPr>
                  <a:t>3/2</a:t>
                </a:r>
              </a:p>
              <a:p>
                <a:pPr marL="0" indent="0">
                  <a:buNone/>
                </a:pPr>
                <a:endParaRPr lang="en-US" sz="2800" dirty="0">
                  <a:solidFill>
                    <a:srgbClr val="000000"/>
                  </a:solidFill>
                </a:endParaRPr>
              </a:p>
              <a:p>
                <a:pPr marL="0" indent="0">
                  <a:buNone/>
                </a:pPr>
                <a:endParaRPr lang="en-US" sz="2800" dirty="0">
                  <a:solidFill>
                    <a:srgbClr val="000000"/>
                  </a:solidFill>
                </a:endParaRPr>
              </a:p>
              <a:p>
                <a:pPr marL="466344" indent="0">
                  <a:buNone/>
                </a:pPr>
                <a:r>
                  <a:rPr lang="en-US" sz="2800" dirty="0">
                    <a:solidFill>
                      <a:srgbClr val="000000"/>
                    </a:solidFill>
                  </a:rPr>
                  <a:t>b.   </a:t>
                </a:r>
                <a14:m>
                  <m:oMath xmlns:m="http://schemas.openxmlformats.org/officeDocument/2006/math">
                    <m:r>
                      <a:rPr lang="en-US" sz="2800" i="1" dirty="0" smtClean="0">
                        <a:solidFill>
                          <a:srgbClr val="000000"/>
                        </a:solidFill>
                        <a:latin typeface="Cambria Math" panose="02040503050406030204" pitchFamily="18" charset="0"/>
                      </a:rPr>
                      <m:t>𝑦</m:t>
                    </m:r>
                  </m:oMath>
                </a14:m>
                <a:r>
                  <a:rPr lang="en-US" sz="2800" dirty="0">
                    <a:solidFill>
                      <a:srgbClr val="000000"/>
                    </a:solidFill>
                  </a:rPr>
                  <a:t>-intercept</a:t>
                </a:r>
              </a:p>
              <a:p>
                <a:pPr marL="466344" lvl="1" indent="0">
                  <a:lnSpc>
                    <a:spcPct val="100000"/>
                  </a:lnSpc>
                  <a:spcBef>
                    <a:spcPts val="200"/>
                  </a:spcBef>
                  <a:spcAft>
                    <a:spcPts val="600"/>
                  </a:spcAft>
                  <a:buNone/>
                </a:pPr>
                <a:r>
                  <a:rPr lang="en-US" sz="2000" dirty="0">
                    <a:solidFill>
                      <a:srgbClr val="FF0000"/>
                    </a:solidFill>
                  </a:rPr>
                  <a:t>(0, −4)</a:t>
                </a:r>
              </a:p>
              <a:p>
                <a:pPr marL="0" indent="0">
                  <a:buNone/>
                </a:pPr>
                <a:endParaRPr lang="en-US" sz="2800" dirty="0">
                  <a:solidFill>
                    <a:srgbClr val="000000"/>
                  </a:solidFill>
                </a:endParaRP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11657AE2-50AC-AE8E-C088-629BCB172685}"/>
                  </a:ext>
                </a:extLst>
              </p:cNvPr>
              <p:cNvSpPr txBox="1">
                <a:spLocks noRot="1" noChangeAspect="1" noMove="1" noResize="1" noEditPoints="1" noAdjustHandles="1" noChangeArrowheads="1" noChangeShapeType="1" noTextEdit="1"/>
              </p:cNvSpPr>
              <p:nvPr/>
            </p:nvSpPr>
            <p:spPr>
              <a:xfrm>
                <a:off x="777240" y="1600200"/>
                <a:ext cx="10206849" cy="3937280"/>
              </a:xfrm>
              <a:prstGeom prst="rect">
                <a:avLst/>
              </a:prstGeom>
              <a:blipFill>
                <a:blip r:embed="rId3"/>
                <a:stretch>
                  <a:fillRect l="-1254" t="-1705" r="-1852"/>
                </a:stretch>
              </a:blipFill>
            </p:spPr>
            <p:txBody>
              <a:bodyPr/>
              <a:lstStyle/>
              <a:p>
                <a:r>
                  <a:rPr lang="en-US">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360</a:t>
            </a:r>
          </a:p>
        </p:txBody>
      </p:sp>
    </p:spTree>
    <p:extLst>
      <p:ext uri="{BB962C8B-B14F-4D97-AF65-F5344CB8AC3E}">
        <p14:creationId xmlns:p14="http://schemas.microsoft.com/office/powerpoint/2010/main" val="2710248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E81D4-ECAF-9926-B7F1-1B9EE04295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CB7027-D700-5D32-357F-CAB926D3BD9B}"/>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(6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AA39235C-DBE9-7005-9AFD-871FE626692D}"/>
                  </a:ext>
                </a:extLst>
              </p:cNvPr>
              <p:cNvSpPr txBox="1">
                <a:spLocks/>
              </p:cNvSpPr>
              <p:nvPr/>
            </p:nvSpPr>
            <p:spPr>
              <a:xfrm>
                <a:off x="777240" y="1600200"/>
                <a:ext cx="9890759" cy="393728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buFont typeface="+mj-lt"/>
                  <a:buAutoNum type="alphaLcPeriod" startAt="3"/>
                </a:pPr>
                <a14:m>
                  <m:oMath xmlns:m="http://schemas.openxmlformats.org/officeDocument/2006/math">
                    <m:r>
                      <a:rPr lang="en-US" sz="2800" dirty="0">
                        <a:solidFill>
                          <a:srgbClr val="000000"/>
                        </a:solidFill>
                        <a:latin typeface="Cambria Math" panose="02040503050406030204" pitchFamily="18" charset="0"/>
                      </a:rPr>
                      <m:t>𝑥</m:t>
                    </m:r>
                  </m:oMath>
                </a14:m>
                <a:r>
                  <a:rPr lang="en-US" sz="2800" dirty="0">
                    <a:solidFill>
                      <a:srgbClr val="000000"/>
                    </a:solidFill>
                  </a:rPr>
                  <a:t>-intercept</a:t>
                </a:r>
              </a:p>
              <a:p>
                <a:pPr marL="466344" lvl="1" indent="0">
                  <a:lnSpc>
                    <a:spcPct val="100000"/>
                  </a:lnSpc>
                  <a:spcBef>
                    <a:spcPts val="200"/>
                  </a:spcBef>
                  <a:spcAft>
                    <a:spcPts val="600"/>
                  </a:spcAft>
                  <a:buNone/>
                </a:pPr>
                <a:r>
                  <a:rPr lang="en-US" sz="2000" dirty="0">
                    <a:solidFill>
                      <a:srgbClr val="FF0000"/>
                    </a:solidFill>
                  </a:rPr>
                  <a:t>(8/3, 0)</a:t>
                </a:r>
              </a:p>
              <a:p>
                <a:pPr marL="514350" indent="-514350">
                  <a:buFont typeface="+mj-lt"/>
                  <a:buAutoNum type="alphaLcPeriod" startAt="3"/>
                </a:pPr>
                <a:endParaRPr lang="en-US" sz="2800" dirty="0">
                  <a:solidFill>
                    <a:srgbClr val="000000"/>
                  </a:solidFill>
                </a:endParaRPr>
              </a:p>
              <a:p>
                <a:pPr marL="514350" indent="-514350">
                  <a:buFont typeface="+mj-lt"/>
                  <a:buAutoNum type="alphaLcPeriod" startAt="3"/>
                </a:pPr>
                <a:endParaRPr lang="en-US" sz="2800" dirty="0">
                  <a:solidFill>
                    <a:srgbClr val="000000"/>
                  </a:solidFill>
                </a:endParaRPr>
              </a:p>
              <a:p>
                <a:pPr marL="466344" indent="-466344">
                  <a:buFont typeface="+mj-lt"/>
                  <a:buAutoNum type="alphaLcPeriod" startAt="3"/>
                </a:pPr>
                <a:r>
                  <a:rPr lang="en-US" sz="2800" dirty="0">
                    <a:solidFill>
                      <a:srgbClr val="000000"/>
                    </a:solidFill>
                  </a:rPr>
                  <a:t>How did you determine each characteristic?</a:t>
                </a:r>
              </a:p>
              <a:p>
                <a:pPr marL="466344" lvl="1" indent="0">
                  <a:lnSpc>
                    <a:spcPct val="100000"/>
                  </a:lnSpc>
                  <a:spcBef>
                    <a:spcPts val="200"/>
                  </a:spcBef>
                  <a:spcAft>
                    <a:spcPts val="600"/>
                  </a:spcAft>
                  <a:buNone/>
                </a:pPr>
                <a:r>
                  <a:rPr lang="en-US" sz="1800" dirty="0">
                    <a:solidFill>
                      <a:srgbClr val="FF0000"/>
                    </a:solidFill>
                  </a:rPr>
                  <a:t>Rewrite in slope-intercept form, y = (3/2)x − 4, for the slope and y-intercept. Substitute 0 for y for the x-intercept.</a:t>
                </a: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AA39235C-DBE9-7005-9AFD-871FE626692D}"/>
                  </a:ext>
                </a:extLst>
              </p:cNvPr>
              <p:cNvSpPr txBox="1">
                <a:spLocks noRot="1" noChangeAspect="1" noMove="1" noResize="1" noEditPoints="1" noAdjustHandles="1" noChangeArrowheads="1" noChangeShapeType="1" noTextEdit="1"/>
              </p:cNvSpPr>
              <p:nvPr/>
            </p:nvSpPr>
            <p:spPr>
              <a:xfrm>
                <a:off x="777240" y="1600200"/>
                <a:ext cx="9890759" cy="3937280"/>
              </a:xfrm>
              <a:prstGeom prst="rect">
                <a:avLst/>
              </a:prstGeom>
              <a:blipFill>
                <a:blip r:embed="rId3"/>
                <a:stretch>
                  <a:fillRect l="-1295" t="-1550"/>
                </a:stretch>
              </a:blipFill>
            </p:spPr>
            <p:txBody>
              <a:bodyPr/>
              <a:lstStyle/>
              <a:p>
                <a:r>
                  <a:rPr lang="en-US">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360</a:t>
            </a:r>
          </a:p>
        </p:txBody>
      </p:sp>
    </p:spTree>
    <p:extLst>
      <p:ext uri="{BB962C8B-B14F-4D97-AF65-F5344CB8AC3E}">
        <p14:creationId xmlns:p14="http://schemas.microsoft.com/office/powerpoint/2010/main" val="85969359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BA0A2-B924-7836-D9A8-71B2FC605A0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13FCED0-6DA7-C9C6-2782-D75DAC9CF645}"/>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(7 of 13)</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8CF15ED-F7FD-D671-EF2B-2C23B71A5094}"/>
                  </a:ext>
                </a:extLst>
              </p:cNvPr>
              <p:cNvSpPr txBox="1"/>
              <p:nvPr/>
            </p:nvSpPr>
            <p:spPr>
              <a:xfrm>
                <a:off x="788529" y="1713089"/>
                <a:ext cx="2167321" cy="4942891"/>
              </a:xfrm>
              <a:prstGeom prst="rect">
                <a:avLst/>
              </a:prstGeom>
              <a:noFill/>
              <a:ln w="31750">
                <a:solidFill>
                  <a:srgbClr val="008F4C"/>
                </a:solidFill>
                <a:prstDash val="sysDot"/>
              </a:ln>
            </p:spPr>
            <p:txBody>
              <a:bodyPr wrap="square" lIns="182880" rtlCol="0" anchor="ctr" anchorCtr="0">
                <a:noAutofit/>
              </a:bodyPr>
              <a:lstStyle/>
              <a:p>
                <a:r>
                  <a:rPr lang="en-US" sz="2000" dirty="0">
                    <a:solidFill>
                      <a:schemeClr val="bg2">
                        <a:lumMod val="25000"/>
                      </a:schemeClr>
                    </a:solidFill>
                  </a:rPr>
                  <a:t>In slope-intercept and point-slope form, the values of </a:t>
                </a:r>
                <a14:m>
                  <m:oMath xmlns:m="http://schemas.openxmlformats.org/officeDocument/2006/math">
                    <m:r>
                      <a:rPr lang="en-US" sz="2000" i="1" dirty="0" smtClean="0">
                        <a:solidFill>
                          <a:schemeClr val="bg2">
                            <a:lumMod val="25000"/>
                          </a:schemeClr>
                        </a:solidFill>
                        <a:latin typeface="Cambria Math" panose="02040503050406030204" pitchFamily="18" charset="0"/>
                      </a:rPr>
                      <m:t>𝑚</m:t>
                    </m:r>
                  </m:oMath>
                </a14:m>
                <a:r>
                  <a:rPr lang="en-US" sz="2000" dirty="0">
                    <a:solidFill>
                      <a:schemeClr val="bg2">
                        <a:lumMod val="25000"/>
                      </a:schemeClr>
                    </a:solidFill>
                  </a:rPr>
                  <a:t>, </a:t>
                </a:r>
                <a14:m>
                  <m:oMath xmlns:m="http://schemas.openxmlformats.org/officeDocument/2006/math">
                    <m:r>
                      <a:rPr lang="en-US" sz="2000" i="1" dirty="0" smtClean="0">
                        <a:solidFill>
                          <a:schemeClr val="bg2">
                            <a:lumMod val="25000"/>
                          </a:schemeClr>
                        </a:solidFill>
                        <a:latin typeface="Cambria Math" panose="02040503050406030204" pitchFamily="18" charset="0"/>
                      </a:rPr>
                      <m:t>𝑥</m:t>
                    </m:r>
                    <m:r>
                      <a:rPr lang="en-US" sz="2000" i="1" baseline="-25000" dirty="0" smtClean="0">
                        <a:solidFill>
                          <a:schemeClr val="bg2">
                            <a:lumMod val="25000"/>
                          </a:schemeClr>
                        </a:solidFill>
                        <a:latin typeface="Cambria Math" panose="02040503050406030204" pitchFamily="18" charset="0"/>
                      </a:rPr>
                      <m:t>1</m:t>
                    </m:r>
                  </m:oMath>
                </a14:m>
                <a:r>
                  <a:rPr lang="en-US" sz="2000" dirty="0">
                    <a:solidFill>
                      <a:schemeClr val="bg2">
                        <a:lumMod val="25000"/>
                      </a:schemeClr>
                    </a:solidFill>
                  </a:rPr>
                  <a:t>, and </a:t>
                </a:r>
                <a14:m>
                  <m:oMath xmlns:m="http://schemas.openxmlformats.org/officeDocument/2006/math">
                    <m:r>
                      <a:rPr lang="en-US" sz="2000" i="1" dirty="0" smtClean="0">
                        <a:solidFill>
                          <a:schemeClr val="bg2">
                            <a:lumMod val="25000"/>
                          </a:schemeClr>
                        </a:solidFill>
                        <a:latin typeface="Cambria Math" panose="02040503050406030204" pitchFamily="18" charset="0"/>
                      </a:rPr>
                      <m:t>𝑦</m:t>
                    </m:r>
                    <m:r>
                      <a:rPr lang="en-US" sz="2000" i="1" baseline="-25000" dirty="0" smtClean="0">
                        <a:solidFill>
                          <a:schemeClr val="bg2">
                            <a:lumMod val="25000"/>
                          </a:schemeClr>
                        </a:solidFill>
                        <a:latin typeface="Cambria Math" panose="02040503050406030204" pitchFamily="18" charset="0"/>
                      </a:rPr>
                      <m:t>1</m:t>
                    </m:r>
                  </m:oMath>
                </a14:m>
                <a:r>
                  <a:rPr lang="en-US" sz="2000" dirty="0">
                    <a:solidFill>
                      <a:schemeClr val="bg2">
                        <a:lumMod val="25000"/>
                      </a:schemeClr>
                    </a:solidFill>
                  </a:rPr>
                  <a:t> can be any real numbers. In standard form, however, there are constraints on the variables: </a:t>
                </a:r>
                <a14:m>
                  <m:oMath xmlns:m="http://schemas.openxmlformats.org/officeDocument/2006/math">
                    <m:r>
                      <a:rPr lang="en-US" sz="2000" i="1" dirty="0" smtClean="0">
                        <a:solidFill>
                          <a:schemeClr val="bg2">
                            <a:lumMod val="25000"/>
                          </a:schemeClr>
                        </a:solidFill>
                        <a:latin typeface="Cambria Math" panose="02040503050406030204" pitchFamily="18" charset="0"/>
                      </a:rPr>
                      <m:t>𝐴</m:t>
                    </m:r>
                  </m:oMath>
                </a14:m>
                <a:r>
                  <a:rPr lang="en-US" sz="2000" dirty="0">
                    <a:solidFill>
                      <a:schemeClr val="bg2">
                        <a:lumMod val="25000"/>
                      </a:schemeClr>
                    </a:solidFill>
                  </a:rPr>
                  <a:t>, </a:t>
                </a:r>
                <a14:m>
                  <m:oMath xmlns:m="http://schemas.openxmlformats.org/officeDocument/2006/math">
                    <m:r>
                      <a:rPr lang="en-US" sz="2000" i="1" dirty="0" smtClean="0">
                        <a:solidFill>
                          <a:schemeClr val="bg2">
                            <a:lumMod val="25000"/>
                          </a:schemeClr>
                        </a:solidFill>
                        <a:latin typeface="Cambria Math" panose="02040503050406030204" pitchFamily="18" charset="0"/>
                      </a:rPr>
                      <m:t>𝐵</m:t>
                    </m:r>
                  </m:oMath>
                </a14:m>
                <a:r>
                  <a:rPr lang="en-US" sz="2000" dirty="0">
                    <a:solidFill>
                      <a:schemeClr val="bg2">
                        <a:lumMod val="25000"/>
                      </a:schemeClr>
                    </a:solidFill>
                  </a:rPr>
                  <a:t>, and </a:t>
                </a:r>
                <a14:m>
                  <m:oMath xmlns:m="http://schemas.openxmlformats.org/officeDocument/2006/math">
                    <m:r>
                      <a:rPr lang="en-US" sz="2000" i="1" dirty="0" smtClean="0">
                        <a:solidFill>
                          <a:schemeClr val="bg2">
                            <a:lumMod val="25000"/>
                          </a:schemeClr>
                        </a:solidFill>
                        <a:latin typeface="Cambria Math" panose="02040503050406030204" pitchFamily="18" charset="0"/>
                      </a:rPr>
                      <m:t>𝐶</m:t>
                    </m:r>
                  </m:oMath>
                </a14:m>
                <a:r>
                  <a:rPr lang="en-US" sz="2000" dirty="0">
                    <a:solidFill>
                      <a:schemeClr val="bg2">
                        <a:lumMod val="25000"/>
                      </a:schemeClr>
                    </a:solidFill>
                  </a:rPr>
                  <a:t> must be integers, and </a:t>
                </a:r>
                <a14:m>
                  <m:oMath xmlns:m="http://schemas.openxmlformats.org/officeDocument/2006/math">
                    <m:r>
                      <a:rPr lang="en-US" sz="2000" i="1" dirty="0" smtClean="0">
                        <a:solidFill>
                          <a:schemeClr val="bg2">
                            <a:lumMod val="25000"/>
                          </a:schemeClr>
                        </a:solidFill>
                        <a:latin typeface="Cambria Math" panose="02040503050406030204" pitchFamily="18" charset="0"/>
                      </a:rPr>
                      <m:t>𝐴</m:t>
                    </m:r>
                  </m:oMath>
                </a14:m>
                <a:r>
                  <a:rPr lang="en-US" sz="2000" dirty="0">
                    <a:solidFill>
                      <a:schemeClr val="bg2">
                        <a:lumMod val="25000"/>
                      </a:schemeClr>
                    </a:solidFill>
                  </a:rPr>
                  <a:t> and </a:t>
                </a:r>
                <a14:m>
                  <m:oMath xmlns:m="http://schemas.openxmlformats.org/officeDocument/2006/math">
                    <m:r>
                      <a:rPr lang="en-US" sz="2000" i="1" dirty="0" smtClean="0">
                        <a:solidFill>
                          <a:schemeClr val="bg2">
                            <a:lumMod val="25000"/>
                          </a:schemeClr>
                        </a:solidFill>
                        <a:latin typeface="Cambria Math" panose="02040503050406030204" pitchFamily="18" charset="0"/>
                      </a:rPr>
                      <m:t>𝐵</m:t>
                    </m:r>
                  </m:oMath>
                </a14:m>
                <a:r>
                  <a:rPr lang="en-US" sz="2000" dirty="0">
                    <a:solidFill>
                      <a:schemeClr val="bg2">
                        <a:lumMod val="25000"/>
                      </a:schemeClr>
                    </a:solidFill>
                  </a:rPr>
                  <a:t> cannot both be 0.</a:t>
                </a:r>
              </a:p>
            </p:txBody>
          </p:sp>
        </mc:Choice>
        <mc:Fallback xmlns="">
          <p:sp>
            <p:nvSpPr>
              <p:cNvPr id="3" name="TextBox 2">
                <a:extLst>
                  <a:ext uri="{FF2B5EF4-FFF2-40B4-BE49-F238E27FC236}">
                    <a16:creationId xmlns:a16="http://schemas.microsoft.com/office/drawing/2014/main" id="{08CF15ED-F7FD-D671-EF2B-2C23B71A5094}"/>
                  </a:ext>
                </a:extLst>
              </p:cNvPr>
              <p:cNvSpPr txBox="1">
                <a:spLocks noRot="1" noChangeAspect="1" noMove="1" noResize="1" noEditPoints="1" noAdjustHandles="1" noChangeArrowheads="1" noChangeShapeType="1" noTextEdit="1"/>
              </p:cNvSpPr>
              <p:nvPr/>
            </p:nvSpPr>
            <p:spPr>
              <a:xfrm>
                <a:off x="788529" y="1713089"/>
                <a:ext cx="2167321" cy="4942891"/>
              </a:xfrm>
              <a:prstGeom prst="rect">
                <a:avLst/>
              </a:prstGeom>
              <a:blipFill>
                <a:blip r:embed="rId3"/>
                <a:stretch>
                  <a:fillRect r="-2770"/>
                </a:stretch>
              </a:blipFill>
              <a:ln w="31750">
                <a:solidFill>
                  <a:srgbClr val="008F4C"/>
                </a:solidFill>
                <a:prstDash val="sysDot"/>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DAF002AC-C767-1FA6-F81B-97589C510030}"/>
                  </a:ext>
                </a:extLst>
              </p:cNvPr>
              <p:cNvSpPr txBox="1">
                <a:spLocks/>
              </p:cNvSpPr>
              <p:nvPr/>
            </p:nvSpPr>
            <p:spPr>
              <a:xfrm>
                <a:off x="3318369" y="1600200"/>
                <a:ext cx="8826324" cy="151514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Recall that there are three useful forms of linear equations.</a:t>
                </a:r>
              </a:p>
              <a:p>
                <a:pPr marL="0" indent="0">
                  <a:buNone/>
                </a:pPr>
                <a:r>
                  <a:rPr lang="en-US" sz="2600" b="1" dirty="0">
                    <a:solidFill>
                      <a:srgbClr val="000000"/>
                    </a:solidFill>
                  </a:rPr>
                  <a:t>Slope-Intercept Form</a:t>
                </a:r>
                <a:r>
                  <a:rPr lang="en-US" sz="2600" dirty="0">
                    <a:solidFill>
                      <a:srgbClr val="000000"/>
                    </a:solidFill>
                  </a:rPr>
                  <a:t>   </a:t>
                </a:r>
                <a:r>
                  <a:rPr lang="en-US" sz="2600" b="1" dirty="0">
                    <a:solidFill>
                      <a:srgbClr val="000000"/>
                    </a:solidFill>
                  </a:rPr>
                  <a:t>Point-Slope Form</a:t>
                </a:r>
                <a:r>
                  <a:rPr lang="en-US" sz="2600" dirty="0">
                    <a:solidFill>
                      <a:srgbClr val="000000"/>
                    </a:solidFill>
                  </a:rPr>
                  <a:t>         </a:t>
                </a:r>
                <a:r>
                  <a:rPr lang="en-US" sz="2600" b="1" dirty="0">
                    <a:solidFill>
                      <a:srgbClr val="000000"/>
                    </a:solidFill>
                  </a:rPr>
                  <a:t>Standard Form</a:t>
                </a:r>
              </a:p>
              <a:p>
                <a:pPr marL="0" indent="0">
                  <a:buNone/>
                </a:pPr>
                <a14:m>
                  <m:oMath xmlns:m="http://schemas.openxmlformats.org/officeDocument/2006/math">
                    <m:r>
                      <a:rPr lang="es-ES" sz="2600" i="1" dirty="0" smtClean="0">
                        <a:solidFill>
                          <a:srgbClr val="000000"/>
                        </a:solidFill>
                        <a:latin typeface="Cambria Math" panose="02040503050406030204" pitchFamily="18" charset="0"/>
                      </a:rPr>
                      <m:t>𝑦</m:t>
                    </m:r>
                    <m:r>
                      <a:rPr lang="en-US" sz="2600" b="0" i="1" dirty="0" smtClean="0">
                        <a:solidFill>
                          <a:srgbClr val="000000"/>
                        </a:solidFill>
                        <a:latin typeface="Cambria Math" panose="02040503050406030204" pitchFamily="18" charset="0"/>
                      </a:rPr>
                      <m:t>=</m:t>
                    </m:r>
                    <m:r>
                      <a:rPr lang="es-ES" sz="2600" i="1" dirty="0" err="1" smtClean="0">
                        <a:solidFill>
                          <a:srgbClr val="000000"/>
                        </a:solidFill>
                        <a:latin typeface="Cambria Math" panose="02040503050406030204" pitchFamily="18" charset="0"/>
                      </a:rPr>
                      <m:t>𝑚𝑥</m:t>
                    </m:r>
                    <m:r>
                      <a:rPr lang="en-US" sz="2600" b="0" i="1" dirty="0" smtClean="0">
                        <a:solidFill>
                          <a:srgbClr val="000000"/>
                        </a:solidFill>
                        <a:latin typeface="Cambria Math" panose="02040503050406030204" pitchFamily="18" charset="0"/>
                      </a:rPr>
                      <m:t>+</m:t>
                    </m:r>
                    <m:r>
                      <a:rPr lang="es-ES" sz="2600" i="1" dirty="0" smtClean="0">
                        <a:solidFill>
                          <a:srgbClr val="000000"/>
                        </a:solidFill>
                        <a:latin typeface="Cambria Math" panose="02040503050406030204" pitchFamily="18" charset="0"/>
                      </a:rPr>
                      <m:t>𝑏</m:t>
                    </m:r>
                  </m:oMath>
                </a14:m>
                <a:r>
                  <a:rPr lang="es-ES" sz="2600" dirty="0">
                    <a:solidFill>
                      <a:srgbClr val="000000"/>
                    </a:solidFill>
                  </a:rPr>
                  <a:t>	                 </a:t>
                </a:r>
                <a14:m>
                  <m:oMath xmlns:m="http://schemas.openxmlformats.org/officeDocument/2006/math">
                    <m:r>
                      <a:rPr lang="es-ES" sz="2600" i="1" dirty="0" smtClean="0">
                        <a:solidFill>
                          <a:srgbClr val="000000"/>
                        </a:solidFill>
                        <a:latin typeface="Cambria Math" panose="02040503050406030204" pitchFamily="18" charset="0"/>
                      </a:rPr>
                      <m:t>𝑦</m:t>
                    </m:r>
                    <m:r>
                      <a:rPr lang="es-ES" sz="2600" i="1" dirty="0" smtClean="0">
                        <a:solidFill>
                          <a:srgbClr val="000000"/>
                        </a:solidFill>
                        <a:latin typeface="Cambria Math" panose="02040503050406030204" pitchFamily="18" charset="0"/>
                      </a:rPr>
                      <m:t> – </m:t>
                    </m:r>
                    <m:r>
                      <a:rPr lang="es-ES" sz="2600" i="1" dirty="0" smtClean="0">
                        <a:solidFill>
                          <a:srgbClr val="000000"/>
                        </a:solidFill>
                        <a:latin typeface="Cambria Math" panose="02040503050406030204" pitchFamily="18" charset="0"/>
                      </a:rPr>
                      <m:t>𝑦</m:t>
                    </m:r>
                    <m:r>
                      <a:rPr lang="es-ES" sz="2600" i="1" baseline="-25000" dirty="0" smtClean="0">
                        <a:solidFill>
                          <a:srgbClr val="000000"/>
                        </a:solidFill>
                        <a:latin typeface="Cambria Math" panose="02040503050406030204" pitchFamily="18" charset="0"/>
                      </a:rPr>
                      <m:t>1</m:t>
                    </m:r>
                    <m:r>
                      <a:rPr lang="es-ES" sz="2600" i="1" dirty="0" smtClean="0">
                        <a:solidFill>
                          <a:srgbClr val="000000"/>
                        </a:solidFill>
                        <a:latin typeface="Cambria Math" panose="02040503050406030204" pitchFamily="18" charset="0"/>
                      </a:rPr>
                      <m:t>=</m:t>
                    </m:r>
                    <m:r>
                      <a:rPr lang="es-ES" sz="2600" i="1" dirty="0" smtClean="0">
                        <a:solidFill>
                          <a:srgbClr val="000000"/>
                        </a:solidFill>
                        <a:latin typeface="Cambria Math" panose="02040503050406030204" pitchFamily="18" charset="0"/>
                      </a:rPr>
                      <m:t>𝑚</m:t>
                    </m:r>
                    <m:r>
                      <a:rPr lang="es-ES" sz="2600" i="1" dirty="0" smtClean="0">
                        <a:solidFill>
                          <a:srgbClr val="000000"/>
                        </a:solidFill>
                        <a:latin typeface="Cambria Math" panose="02040503050406030204" pitchFamily="18" charset="0"/>
                      </a:rPr>
                      <m:t>(</m:t>
                    </m:r>
                    <m:r>
                      <a:rPr lang="es-ES" sz="2600" i="1" dirty="0" smtClean="0">
                        <a:solidFill>
                          <a:srgbClr val="000000"/>
                        </a:solidFill>
                        <a:latin typeface="Cambria Math" panose="02040503050406030204" pitchFamily="18" charset="0"/>
                      </a:rPr>
                      <m:t>𝑥</m:t>
                    </m:r>
                    <m:r>
                      <a:rPr lang="en-US" sz="2600" b="0" i="1" dirty="0" smtClean="0">
                        <a:solidFill>
                          <a:srgbClr val="000000"/>
                        </a:solidFill>
                        <a:latin typeface="Cambria Math" panose="02040503050406030204" pitchFamily="18" charset="0"/>
                      </a:rPr>
                      <m:t>–</m:t>
                    </m:r>
                    <m:r>
                      <a:rPr lang="es-ES" sz="2600" i="1" dirty="0" smtClean="0">
                        <a:solidFill>
                          <a:srgbClr val="000000"/>
                        </a:solidFill>
                        <a:latin typeface="Cambria Math" panose="02040503050406030204" pitchFamily="18" charset="0"/>
                      </a:rPr>
                      <m:t>𝑥</m:t>
                    </m:r>
                    <m:r>
                      <a:rPr lang="es-ES" sz="2600" i="1" baseline="-25000" dirty="0" smtClean="0">
                        <a:solidFill>
                          <a:srgbClr val="000000"/>
                        </a:solidFill>
                        <a:latin typeface="Cambria Math" panose="02040503050406030204" pitchFamily="18" charset="0"/>
                      </a:rPr>
                      <m:t>1</m:t>
                    </m:r>
                    <m:r>
                      <a:rPr lang="es-ES" sz="2600" i="1" dirty="0" smtClean="0">
                        <a:solidFill>
                          <a:srgbClr val="000000"/>
                        </a:solidFill>
                        <a:latin typeface="Cambria Math" panose="02040503050406030204" pitchFamily="18" charset="0"/>
                      </a:rPr>
                      <m:t>)</m:t>
                    </m:r>
                  </m:oMath>
                </a14:m>
                <a:r>
                  <a:rPr lang="es-ES" sz="2600" dirty="0">
                    <a:solidFill>
                      <a:srgbClr val="000000"/>
                    </a:solidFill>
                  </a:rPr>
                  <a:t>     </a:t>
                </a:r>
                <a14:m>
                  <m:oMath xmlns:m="http://schemas.openxmlformats.org/officeDocument/2006/math">
                    <m:r>
                      <a:rPr lang="en-US" sz="2600" b="0" i="0" dirty="0" smtClean="0">
                        <a:solidFill>
                          <a:srgbClr val="000000"/>
                        </a:solidFill>
                        <a:latin typeface="Cambria Math" panose="02040503050406030204" pitchFamily="18" charset="0"/>
                      </a:rPr>
                      <m:t> </m:t>
                    </m:r>
                    <m:r>
                      <a:rPr lang="en-US" sz="2600" i="1" dirty="0" smtClean="0">
                        <a:solidFill>
                          <a:srgbClr val="000000"/>
                        </a:solidFill>
                        <a:latin typeface="Cambria Math" panose="02040503050406030204" pitchFamily="18" charset="0"/>
                      </a:rPr>
                      <m:t>𝐴𝑥</m:t>
                    </m:r>
                    <m:r>
                      <a:rPr lang="en-US" sz="2600" b="0" i="1" dirty="0" smtClean="0">
                        <a:solidFill>
                          <a:srgbClr val="000000"/>
                        </a:solidFill>
                        <a:latin typeface="Cambria Math" panose="02040503050406030204" pitchFamily="18" charset="0"/>
                      </a:rPr>
                      <m:t>+</m:t>
                    </m:r>
                    <m:r>
                      <a:rPr lang="en-US" sz="2600" i="1" dirty="0" smtClean="0">
                        <a:solidFill>
                          <a:srgbClr val="000000"/>
                        </a:solidFill>
                        <a:latin typeface="Cambria Math" panose="02040503050406030204" pitchFamily="18" charset="0"/>
                      </a:rPr>
                      <m:t>𝐵𝑦</m:t>
                    </m:r>
                    <m:r>
                      <a:rPr lang="en-US" sz="2600" b="0" i="1" dirty="0" smtClean="0">
                        <a:solidFill>
                          <a:srgbClr val="000000"/>
                        </a:solidFill>
                        <a:latin typeface="Cambria Math" panose="02040503050406030204" pitchFamily="18" charset="0"/>
                      </a:rPr>
                      <m:t>=</m:t>
                    </m:r>
                    <m:r>
                      <a:rPr lang="en-US" sz="2600" i="1" dirty="0" smtClean="0">
                        <a:solidFill>
                          <a:srgbClr val="000000"/>
                        </a:solidFill>
                        <a:latin typeface="Cambria Math" panose="02040503050406030204" pitchFamily="18" charset="0"/>
                      </a:rPr>
                      <m:t>𝐶</m:t>
                    </m:r>
                    <m:r>
                      <a:rPr lang="en-US" sz="2600" b="0" i="1" dirty="0" smtClean="0">
                        <a:solidFill>
                          <a:srgbClr val="000000"/>
                        </a:solidFill>
                        <a:latin typeface="Cambria Math" panose="02040503050406030204" pitchFamily="18" charset="0"/>
                      </a:rPr>
                      <m:t> </m:t>
                    </m:r>
                  </m:oMath>
                </a14:m>
                <a:endParaRPr lang="en-US" sz="2600" dirty="0">
                  <a:solidFill>
                    <a:srgbClr val="000000"/>
                  </a:solidFill>
                </a:endParaRP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DAF002AC-C767-1FA6-F81B-97589C510030}"/>
                  </a:ext>
                </a:extLst>
              </p:cNvPr>
              <p:cNvSpPr txBox="1">
                <a:spLocks noRot="1" noChangeAspect="1" noMove="1" noResize="1" noEditPoints="1" noAdjustHandles="1" noChangeArrowheads="1" noChangeShapeType="1" noTextEdit="1"/>
              </p:cNvSpPr>
              <p:nvPr/>
            </p:nvSpPr>
            <p:spPr>
              <a:xfrm>
                <a:off x="3318369" y="1600200"/>
                <a:ext cx="8826324" cy="1515140"/>
              </a:xfrm>
              <a:prstGeom prst="rect">
                <a:avLst/>
              </a:prstGeom>
              <a:blipFill>
                <a:blip r:embed="rId4"/>
                <a:stretch>
                  <a:fillRect l="-1381" t="-4032"/>
                </a:stretch>
              </a:blipFill>
            </p:spPr>
            <p:txBody>
              <a:bodyPr/>
              <a:lstStyle/>
              <a:p>
                <a:r>
                  <a:rPr lang="en-US">
                    <a:noFill/>
                  </a:rPr>
                  <a:t> </a:t>
                </a:r>
              </a:p>
            </p:txBody>
          </p:sp>
        </mc:Fallback>
      </mc:AlternateContent>
      <p:sp>
        <p:nvSpPr>
          <p:cNvPr id="5" name="Text Placeholder 2">
            <a:extLst>
              <a:ext uri="{FF2B5EF4-FFF2-40B4-BE49-F238E27FC236}">
                <a16:creationId xmlns:a16="http://schemas.microsoft.com/office/drawing/2014/main" id="{EB710443-9F63-5BAE-27A4-6FC3D69A2085}"/>
              </a:ext>
            </a:extLst>
          </p:cNvPr>
          <p:cNvSpPr txBox="1">
            <a:spLocks/>
          </p:cNvSpPr>
          <p:nvPr/>
        </p:nvSpPr>
        <p:spPr>
          <a:xfrm>
            <a:off x="3364089" y="3742661"/>
            <a:ext cx="8107116" cy="19670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buFont typeface="+mj-lt"/>
              <a:buAutoNum type="arabicPeriod" startAt="4"/>
            </a:pPr>
            <a:r>
              <a:rPr lang="en-US" sz="2800" dirty="0">
                <a:solidFill>
                  <a:srgbClr val="000000"/>
                </a:solidFill>
              </a:rPr>
              <a:t>Identify the form for each equation in Questions 1 through 3.</a:t>
            </a:r>
          </a:p>
          <a:p>
            <a:pPr marL="466344" lvl="1" indent="0">
              <a:lnSpc>
                <a:spcPct val="100000"/>
              </a:lnSpc>
              <a:spcBef>
                <a:spcPts val="200"/>
              </a:spcBef>
              <a:spcAft>
                <a:spcPts val="600"/>
              </a:spcAft>
              <a:buNone/>
            </a:pPr>
            <a:r>
              <a:rPr lang="en-US" sz="2000" dirty="0">
                <a:solidFill>
                  <a:srgbClr val="FF0000"/>
                </a:solidFill>
              </a:rPr>
              <a:t>Q1: slope-intercept form. Q2: point-slope form. Q3: standard form.</a:t>
            </a:r>
          </a:p>
        </p:txBody>
      </p:sp>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
        <p:nvSpPr>
          <p:cNvPr id="1006" name="Answer 100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360</a:t>
            </a:r>
          </a:p>
        </p:txBody>
      </p:sp>
    </p:spTree>
    <p:extLst>
      <p:ext uri="{BB962C8B-B14F-4D97-AF65-F5344CB8AC3E}">
        <p14:creationId xmlns:p14="http://schemas.microsoft.com/office/powerpoint/2010/main" val="3407190411"/>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8040E-E5C2-8287-4DD7-CEFB44E3C9F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AE2D66D-716A-CA1E-71C4-0645EFFC46E0}"/>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(8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91BBFCE1-D966-4D39-315C-018317D0BAF9}"/>
                  </a:ext>
                </a:extLst>
              </p:cNvPr>
              <p:cNvSpPr txBox="1">
                <a:spLocks/>
              </p:cNvSpPr>
              <p:nvPr/>
            </p:nvSpPr>
            <p:spPr>
              <a:xfrm>
                <a:off x="777240" y="1600200"/>
                <a:ext cx="10534227" cy="50038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Consider how the structure of the standard form of a linear function reveals its key characteristics.</a:t>
                </a:r>
              </a:p>
              <a:p>
                <a:pPr marL="514350" indent="-514350">
                  <a:buFont typeface="+mj-lt"/>
                  <a:buAutoNum type="alphaLcPeriod" startAt="3"/>
                </a:pPr>
                <a:endParaRPr lang="en-US" sz="1200" dirty="0">
                  <a:solidFill>
                    <a:srgbClr val="000000"/>
                  </a:solidFill>
                </a:endParaRPr>
              </a:p>
              <a:p>
                <a:pPr marL="466344" indent="-466344">
                  <a:buFont typeface="+mj-lt"/>
                  <a:buAutoNum type="arabicPeriod" startAt="5"/>
                </a:pPr>
                <a:r>
                  <a:rPr lang="en-US" sz="2800" dirty="0">
                    <a:solidFill>
                      <a:srgbClr val="000000"/>
                    </a:solidFill>
                  </a:rPr>
                  <a:t>For the equation </a:t>
                </a:r>
                <a14:m>
                  <m:oMath xmlns:m="http://schemas.openxmlformats.org/officeDocument/2006/math">
                    <m:r>
                      <a:rPr lang="en-US" sz="2800" i="1" dirty="0" smtClean="0">
                        <a:solidFill>
                          <a:srgbClr val="000000"/>
                        </a:solidFill>
                        <a:latin typeface="Cambria Math" panose="02040503050406030204" pitchFamily="18" charset="0"/>
                      </a:rPr>
                      <m:t>𝐴𝑥</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𝐵𝑦</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𝐶</m:t>
                    </m:r>
                  </m:oMath>
                </a14:m>
                <a:r>
                  <a:rPr lang="en-US" sz="2800" dirty="0">
                    <a:solidFill>
                      <a:srgbClr val="000000"/>
                    </a:solidFill>
                  </a:rPr>
                  <a:t>, determine the slope, </a:t>
                </a:r>
                <a14:m>
                  <m:oMath xmlns:m="http://schemas.openxmlformats.org/officeDocument/2006/math">
                    <m:r>
                      <a:rPr lang="en-US" sz="2800" i="1" dirty="0" smtClean="0">
                        <a:solidFill>
                          <a:srgbClr val="000000"/>
                        </a:solidFill>
                        <a:latin typeface="Cambria Math" panose="02040503050406030204" pitchFamily="18" charset="0"/>
                      </a:rPr>
                      <m:t>𝑥</m:t>
                    </m:r>
                  </m:oMath>
                </a14:m>
                <a:r>
                  <a:rPr lang="en-US" sz="2800" dirty="0">
                    <a:solidFill>
                      <a:srgbClr val="000000"/>
                    </a:solidFill>
                  </a:rPr>
                  <a:t>-intercept, and </a:t>
                </a:r>
                <a14:m>
                  <m:oMath xmlns:m="http://schemas.openxmlformats.org/officeDocument/2006/math">
                    <m:r>
                      <a:rPr lang="en-US" sz="2800" i="1" dirty="0" smtClean="0">
                        <a:solidFill>
                          <a:srgbClr val="000000"/>
                        </a:solidFill>
                        <a:latin typeface="Cambria Math" panose="02040503050406030204" pitchFamily="18" charset="0"/>
                      </a:rPr>
                      <m:t>𝑦</m:t>
                    </m:r>
                  </m:oMath>
                </a14:m>
                <a:r>
                  <a:rPr lang="en-US" sz="2800" dirty="0">
                    <a:solidFill>
                      <a:srgbClr val="000000"/>
                    </a:solidFill>
                  </a:rPr>
                  <a:t>-intercept.</a:t>
                </a:r>
              </a:p>
              <a:p>
                <a:pPr marL="466344" lvl="1" indent="0">
                  <a:lnSpc>
                    <a:spcPct val="100000"/>
                  </a:lnSpc>
                  <a:spcBef>
                    <a:spcPts val="200"/>
                  </a:spcBef>
                  <a:spcAft>
                    <a:spcPts val="600"/>
                  </a:spcAft>
                  <a:buNone/>
                </a:pPr>
                <a:r>
                  <a:rPr lang="en-US" sz="2000" dirty="0">
                    <a:solidFill>
                      <a:srgbClr val="FF0000"/>
                    </a:solidFill>
                  </a:rPr>
                  <a:t>Slope −A/B; x-intercept (C/A, 0); y-intercept (0, C/B)</a:t>
                </a:r>
              </a:p>
            </p:txBody>
          </p:sp>
        </mc:Choice>
        <mc:Fallback xmlns="">
          <p:sp>
            <p:nvSpPr>
              <p:cNvPr id="2" name="Text Placeholder 2">
                <a:extLst>
                  <a:ext uri="{FF2B5EF4-FFF2-40B4-BE49-F238E27FC236}">
                    <a16:creationId xmlns:a16="http://schemas.microsoft.com/office/drawing/2014/main" id="{91BBFCE1-D966-4D39-315C-018317D0BAF9}"/>
                  </a:ext>
                </a:extLst>
              </p:cNvPr>
              <p:cNvSpPr txBox="1">
                <a:spLocks noRot="1" noChangeAspect="1" noMove="1" noResize="1" noEditPoints="1" noAdjustHandles="1" noChangeArrowheads="1" noChangeShapeType="1" noTextEdit="1"/>
              </p:cNvSpPr>
              <p:nvPr/>
            </p:nvSpPr>
            <p:spPr>
              <a:xfrm>
                <a:off x="777240" y="1600200"/>
                <a:ext cx="10534227" cy="5003800"/>
              </a:xfrm>
              <a:prstGeom prst="rect">
                <a:avLst/>
              </a:prstGeom>
              <a:blipFill>
                <a:blip r:embed="rId3"/>
                <a:stretch>
                  <a:fillRect l="-1215" t="-1220"/>
                </a:stretch>
              </a:blipFill>
            </p:spPr>
            <p:txBody>
              <a:bodyPr/>
              <a:lstStyle/>
              <a:p>
                <a:r>
                  <a:rPr lang="en-US">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360</a:t>
            </a:r>
          </a:p>
        </p:txBody>
      </p:sp>
    </p:spTree>
    <p:extLst>
      <p:ext uri="{BB962C8B-B14F-4D97-AF65-F5344CB8AC3E}">
        <p14:creationId xmlns:p14="http://schemas.microsoft.com/office/powerpoint/2010/main" val="398856678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FA550-5626-738C-4269-3684B4A0AF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C8A7FD-E8D9-BFE4-E781-8D905249A40C}"/>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(9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3D3DC473-2F1B-20C6-74AB-F87DC0DC4376}"/>
                  </a:ext>
                </a:extLst>
              </p:cNvPr>
              <p:cNvSpPr txBox="1">
                <a:spLocks/>
              </p:cNvSpPr>
              <p:nvPr/>
            </p:nvSpPr>
            <p:spPr>
              <a:xfrm>
                <a:off x="777240" y="1600200"/>
                <a:ext cx="10658404" cy="51054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buFont typeface="+mj-lt"/>
                  <a:buAutoNum type="arabicPeriod" startAt="6"/>
                </a:pPr>
                <a:r>
                  <a:rPr lang="en-US" sz="2800" dirty="0">
                    <a:solidFill>
                      <a:srgbClr val="000000"/>
                    </a:solidFill>
                  </a:rPr>
                  <a:t>Which form of a linear equation is more efficient for determining each characteristic?</a:t>
                </a:r>
              </a:p>
              <a:p>
                <a:pPr marL="466344" indent="0">
                  <a:buFont typeface="+mj-lt"/>
                  <a:buAutoNum type="alphaLcPeriod"/>
                </a:pPr>
                <a:r>
                  <a:rPr lang="en-US" sz="2800" dirty="0">
                    <a:solidFill>
                      <a:srgbClr val="000000"/>
                    </a:solidFill>
                  </a:rPr>
                  <a:t> Slope</a:t>
                </a:r>
              </a:p>
              <a:p>
                <a:pPr marL="466344" lvl="1" indent="0">
                  <a:lnSpc>
                    <a:spcPct val="100000"/>
                  </a:lnSpc>
                  <a:spcBef>
                    <a:spcPts val="200"/>
                  </a:spcBef>
                  <a:spcAft>
                    <a:spcPts val="600"/>
                  </a:spcAft>
                  <a:buNone/>
                </a:pPr>
                <a:r>
                  <a:rPr lang="en-US" sz="2000" dirty="0">
                    <a:solidFill>
                      <a:srgbClr val="FF0000"/>
                    </a:solidFill>
                  </a:rPr>
                  <a:t>slope-intercept form or point-slope form</a:t>
                </a:r>
              </a:p>
              <a:p>
                <a:pPr marL="466344" indent="0">
                  <a:buNone/>
                </a:pPr>
                <a:endParaRPr lang="en-US" sz="4000" dirty="0">
                  <a:solidFill>
                    <a:srgbClr val="000000"/>
                  </a:solidFill>
                </a:endParaRPr>
              </a:p>
              <a:p>
                <a:pPr marL="466344" indent="0">
                  <a:buAutoNum type="alphaLcPeriod" startAt="2"/>
                </a:pPr>
                <a:r>
                  <a:rPr lang="en-US" sz="2800" dirty="0">
                    <a:solidFill>
                      <a:srgbClr val="000000"/>
                    </a:solidFill>
                  </a:rPr>
                  <a:t> a point on the line</a:t>
                </a:r>
              </a:p>
              <a:p>
                <a:pPr marL="466344" lvl="1" indent="0">
                  <a:lnSpc>
                    <a:spcPct val="100000"/>
                  </a:lnSpc>
                  <a:spcBef>
                    <a:spcPts val="200"/>
                  </a:spcBef>
                  <a:spcAft>
                    <a:spcPts val="600"/>
                  </a:spcAft>
                  <a:buNone/>
                </a:pPr>
                <a:r>
                  <a:rPr lang="en-US" sz="2000" dirty="0">
                    <a:solidFill>
                      <a:srgbClr val="FF0000"/>
                    </a:solidFill>
                  </a:rPr>
                  <a:t>point-slope form</a:t>
                </a:r>
              </a:p>
              <a:p>
                <a:pPr marL="514350" indent="-514350">
                  <a:buAutoNum type="alphaLcPeriod" startAt="2"/>
                </a:pPr>
                <a:endParaRPr lang="en-US" sz="4000" dirty="0">
                  <a:solidFill>
                    <a:srgbClr val="000000"/>
                  </a:solidFill>
                </a:endParaRPr>
              </a:p>
              <a:p>
                <a:pPr marL="466344" indent="0">
                  <a:buFont typeface="+mj-lt"/>
                  <a:buAutoNum type="alphaLcPeriod" startAt="3"/>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𝑦</m:t>
                    </m:r>
                  </m:oMath>
                </a14:m>
                <a:r>
                  <a:rPr lang="en-US" sz="2800" dirty="0">
                    <a:solidFill>
                      <a:srgbClr val="000000"/>
                    </a:solidFill>
                  </a:rPr>
                  <a:t>-intercept</a:t>
                </a:r>
              </a:p>
              <a:p>
                <a:pPr marL="466344" lvl="1" indent="0">
                  <a:lnSpc>
                    <a:spcPct val="100000"/>
                  </a:lnSpc>
                  <a:spcBef>
                    <a:spcPts val="200"/>
                  </a:spcBef>
                  <a:spcAft>
                    <a:spcPts val="600"/>
                  </a:spcAft>
                  <a:buNone/>
                </a:pPr>
                <a:r>
                  <a:rPr lang="en-US" sz="2000" dirty="0">
                    <a:solidFill>
                      <a:srgbClr val="FF0000"/>
                    </a:solidFill>
                  </a:rPr>
                  <a:t>slope-intercept form</a:t>
                </a: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3D3DC473-2F1B-20C6-74AB-F87DC0DC4376}"/>
                  </a:ext>
                </a:extLst>
              </p:cNvPr>
              <p:cNvSpPr txBox="1">
                <a:spLocks noRot="1" noChangeAspect="1" noMove="1" noResize="1" noEditPoints="1" noAdjustHandles="1" noChangeArrowheads="1" noChangeShapeType="1" noTextEdit="1"/>
              </p:cNvSpPr>
              <p:nvPr/>
            </p:nvSpPr>
            <p:spPr>
              <a:xfrm>
                <a:off x="777240" y="1600200"/>
                <a:ext cx="10658404" cy="5105400"/>
              </a:xfrm>
              <a:prstGeom prst="rect">
                <a:avLst/>
              </a:prstGeom>
              <a:blipFill>
                <a:blip r:embed="rId3"/>
                <a:stretch>
                  <a:fillRect l="-1201" t="-1314"/>
                </a:stretch>
              </a:blipFill>
            </p:spPr>
            <p:txBody>
              <a:bodyPr/>
              <a:lstStyle/>
              <a:p>
                <a:r>
                  <a:rPr lang="en-US">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361</a:t>
            </a:r>
          </a:p>
        </p:txBody>
      </p:sp>
    </p:spTree>
    <p:extLst>
      <p:ext uri="{BB962C8B-B14F-4D97-AF65-F5344CB8AC3E}">
        <p14:creationId xmlns:p14="http://schemas.microsoft.com/office/powerpoint/2010/main" val="3419735411"/>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DF978-719A-5652-FEF6-538E7E035D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7013869-2C5A-FAE7-BD91-6F48FD2C405B}"/>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(10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8ED76EC6-0A71-F567-F64D-D750673255FF}"/>
                  </a:ext>
                </a:extLst>
              </p:cNvPr>
              <p:cNvSpPr txBox="1">
                <a:spLocks/>
              </p:cNvSpPr>
              <p:nvPr/>
            </p:nvSpPr>
            <p:spPr>
              <a:xfrm>
                <a:off x="777240" y="1600200"/>
                <a:ext cx="9890759" cy="42022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buFont typeface="+mj-lt"/>
                  <a:buAutoNum type="arabicPeriod" startAt="7"/>
                </a:pPr>
                <a:r>
                  <a:rPr lang="en-US" sz="2800" dirty="0">
                    <a:solidFill>
                      <a:srgbClr val="000000"/>
                    </a:solidFill>
                  </a:rPr>
                  <a:t>If you want to graph an equation using technology, which form is more efficient? Explain your reasoning.</a:t>
                </a:r>
              </a:p>
              <a:p>
                <a:pPr marL="466344" lvl="1" indent="0">
                  <a:lnSpc>
                    <a:spcPct val="100000"/>
                  </a:lnSpc>
                  <a:spcBef>
                    <a:spcPts val="200"/>
                  </a:spcBef>
                  <a:spcAft>
                    <a:spcPts val="600"/>
                  </a:spcAft>
                  <a:buNone/>
                </a:pPr>
                <a:r>
                  <a:rPr lang="en-US" sz="2000" dirty="0">
                    <a:solidFill>
                      <a:srgbClr val="FF0000"/>
                    </a:solidFill>
                  </a:rPr>
                  <a:t>Slope-intercept form: graphing technology takes y = … directly.</a:t>
                </a:r>
              </a:p>
              <a:p>
                <a:pPr marL="514350" indent="-514350">
                  <a:buFont typeface="+mj-lt"/>
                  <a:buAutoNum type="arabicPeriod" startAt="7"/>
                </a:pPr>
                <a:endParaRPr lang="en-US" sz="2800" dirty="0">
                  <a:solidFill>
                    <a:srgbClr val="000000"/>
                  </a:solidFill>
                </a:endParaRPr>
              </a:p>
              <a:p>
                <a:pPr marL="514350" indent="-514350">
                  <a:buFont typeface="+mj-lt"/>
                  <a:buAutoNum type="arabicPeriod" startAt="7"/>
                </a:pPr>
                <a:endParaRPr lang="en-US" sz="2800" dirty="0">
                  <a:solidFill>
                    <a:srgbClr val="000000"/>
                  </a:solidFill>
                </a:endParaRPr>
              </a:p>
              <a:p>
                <a:pPr marL="466344" indent="-466344">
                  <a:buFont typeface="+mj-lt"/>
                  <a:buAutoNum type="arabicPeriod" startAt="7"/>
                </a:pPr>
                <a:r>
                  <a:rPr lang="en-US" sz="2800" dirty="0">
                    <a:solidFill>
                      <a:srgbClr val="000000"/>
                    </a:solidFill>
                  </a:rPr>
                  <a:t>Rewrite each equation in slope-intercept form.</a:t>
                </a:r>
              </a:p>
              <a:p>
                <a:pPr marL="866394" lvl="1" indent="-457200">
                  <a:buFont typeface="+mj-lt"/>
                  <a:buAutoNum type="alphaLcPeriod"/>
                </a:pPr>
                <a:r>
                  <a:rPr lang="es-ES" dirty="0">
                    <a:solidFill>
                      <a:srgbClr val="000000"/>
                    </a:solidFill>
                  </a:rPr>
                  <a:t> </a:t>
                </a:r>
                <a14:m>
                  <m:oMath xmlns:m="http://schemas.openxmlformats.org/officeDocument/2006/math">
                    <m:r>
                      <a:rPr lang="es-ES" i="1" dirty="0" smtClean="0">
                        <a:solidFill>
                          <a:srgbClr val="000000"/>
                        </a:solidFill>
                        <a:latin typeface="Cambria Math" panose="02040503050406030204" pitchFamily="18" charset="0"/>
                      </a:rPr>
                      <m:t>𝑦</m:t>
                    </m:r>
                    <m:r>
                      <a:rPr lang="en-US" b="0" i="1" dirty="0" smtClean="0">
                        <a:solidFill>
                          <a:srgbClr val="000000"/>
                        </a:solidFill>
                        <a:latin typeface="Cambria Math" panose="02040503050406030204" pitchFamily="18" charset="0"/>
                      </a:rPr>
                      <m:t>–</m:t>
                    </m:r>
                    <m:r>
                      <a:rPr lang="es-ES" i="1" dirty="0" smtClean="0">
                        <a:solidFill>
                          <a:srgbClr val="000000"/>
                        </a:solidFill>
                        <a:latin typeface="Cambria Math" panose="02040503050406030204" pitchFamily="18" charset="0"/>
                      </a:rPr>
                      <m:t>2</m:t>
                    </m:r>
                    <m:r>
                      <a:rPr lang="en-US" b="0" i="1" dirty="0" smtClean="0">
                        <a:solidFill>
                          <a:srgbClr val="000000"/>
                        </a:solidFill>
                        <a:latin typeface="Cambria Math" panose="02040503050406030204" pitchFamily="18" charset="0"/>
                      </a:rPr>
                      <m:t>=</m:t>
                    </m:r>
                    <m:r>
                      <a:rPr lang="es-ES" i="1" dirty="0" smtClean="0">
                        <a:solidFill>
                          <a:srgbClr val="000000"/>
                        </a:solidFill>
                        <a:latin typeface="Cambria Math" panose="02040503050406030204" pitchFamily="18" charset="0"/>
                      </a:rPr>
                      <m:t>5(</m:t>
                    </m:r>
                    <m:r>
                      <a:rPr lang="es-ES" i="1" dirty="0" smtClean="0">
                        <a:solidFill>
                          <a:srgbClr val="000000"/>
                        </a:solidFill>
                        <a:latin typeface="Cambria Math" panose="02040503050406030204" pitchFamily="18" charset="0"/>
                      </a:rPr>
                      <m:t>𝑥</m:t>
                    </m:r>
                    <m:r>
                      <a:rPr lang="en-US" b="0" i="1" dirty="0" smtClean="0">
                        <a:solidFill>
                          <a:srgbClr val="000000"/>
                        </a:solidFill>
                        <a:latin typeface="Cambria Math" panose="02040503050406030204" pitchFamily="18" charset="0"/>
                      </a:rPr>
                      <m:t> –</m:t>
                    </m:r>
                    <m:r>
                      <a:rPr lang="es-ES" i="1" dirty="0" smtClean="0">
                        <a:solidFill>
                          <a:srgbClr val="000000"/>
                        </a:solidFill>
                        <a:latin typeface="Cambria Math" panose="02040503050406030204" pitchFamily="18" charset="0"/>
                      </a:rPr>
                      <m:t>7)</m:t>
                    </m:r>
                  </m:oMath>
                </a14:m>
                <a:endParaRPr lang="en-US" dirty="0">
                  <a:solidFill>
                    <a:srgbClr val="000000"/>
                  </a:solidFill>
                </a:endParaRPr>
              </a:p>
              <a:p>
                <a:pPr marL="866394" lvl="2" indent="0">
                  <a:lnSpc>
                    <a:spcPct val="100000"/>
                  </a:lnSpc>
                  <a:spcBef>
                    <a:spcPts val="200"/>
                  </a:spcBef>
                  <a:spcAft>
                    <a:spcPts val="600"/>
                  </a:spcAft>
                  <a:buNone/>
                </a:pPr>
                <a:r>
                  <a:rPr lang="en-US" sz="2000" dirty="0">
                    <a:solidFill>
                      <a:srgbClr val="FF0000"/>
                    </a:solidFill>
                  </a:rPr>
                  <a:t>y = 5x − 33</a:t>
                </a:r>
              </a:p>
            </p:txBody>
          </p:sp>
        </mc:Choice>
        <mc:Fallback xmlns="">
          <p:sp>
            <p:nvSpPr>
              <p:cNvPr id="2" name="Text Placeholder 2">
                <a:extLst>
                  <a:ext uri="{FF2B5EF4-FFF2-40B4-BE49-F238E27FC236}">
                    <a16:creationId xmlns:a16="http://schemas.microsoft.com/office/drawing/2014/main" id="{8ED76EC6-0A71-F567-F64D-D750673255FF}"/>
                  </a:ext>
                </a:extLst>
              </p:cNvPr>
              <p:cNvSpPr txBox="1">
                <a:spLocks noRot="1" noChangeAspect="1" noMove="1" noResize="1" noEditPoints="1" noAdjustHandles="1" noChangeArrowheads="1" noChangeShapeType="1" noTextEdit="1"/>
              </p:cNvSpPr>
              <p:nvPr/>
            </p:nvSpPr>
            <p:spPr>
              <a:xfrm>
                <a:off x="777240" y="1600200"/>
                <a:ext cx="9890759" cy="4202289"/>
              </a:xfrm>
              <a:prstGeom prst="rect">
                <a:avLst/>
              </a:prstGeom>
              <a:blipFill>
                <a:blip r:embed="rId3"/>
                <a:stretch>
                  <a:fillRect l="-1295" t="-1597"/>
                </a:stretch>
              </a:blipFill>
            </p:spPr>
            <p:txBody>
              <a:bodyPr/>
              <a:lstStyle/>
              <a:p>
                <a:r>
                  <a:rPr lang="en-US">
                    <a:noFill/>
                  </a:rPr>
                  <a:t> </a:t>
                </a:r>
              </a:p>
            </p:txBody>
          </p:sp>
        </mc:Fallback>
      </mc:AlternateContent>
      <p:cxnSp>
        <p:nvCxnSpPr>
          <p:cNvPr id="3" name="Straight Connector 2">
            <a:extLst>
              <a:ext uri="{FF2B5EF4-FFF2-40B4-BE49-F238E27FC236}">
                <a16:creationId xmlns:a16="http://schemas.microsoft.com/office/drawing/2014/main" id="{DD43CD07-9CD9-E217-FD92-7EFFF5E42D74}"/>
              </a:ext>
              <a:ext uri="{C183D7F6-B498-43B3-948B-1728B52AA6E4}">
                <adec:decorative xmlns:adec="http://schemas.microsoft.com/office/drawing/2017/decorative" val="1"/>
              </a:ext>
            </a:extLst>
          </p:cNvPr>
          <p:cNvCxnSpPr>
            <a:cxnSpLocks/>
          </p:cNvCxnSpPr>
          <p:nvPr/>
        </p:nvCxnSpPr>
        <p:spPr>
          <a:xfrm>
            <a:off x="5863000" y="4242859"/>
            <a:ext cx="0" cy="2016000"/>
          </a:xfrm>
          <a:prstGeom prst="line">
            <a:avLst/>
          </a:prstGeom>
          <a:ln w="31750">
            <a:solidFill>
              <a:srgbClr val="236739"/>
            </a:solidFill>
            <a:prstDash val="sysDot"/>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D7C14196-ACAD-F85C-51A9-3365FD7A26FF}"/>
                  </a:ext>
                </a:extLst>
              </p:cNvPr>
              <p:cNvSpPr txBox="1">
                <a:spLocks/>
              </p:cNvSpPr>
              <p:nvPr/>
            </p:nvSpPr>
            <p:spPr>
              <a:xfrm>
                <a:off x="6146801" y="4089401"/>
                <a:ext cx="3683000" cy="7239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s-ES" dirty="0">
                    <a:solidFill>
                      <a:srgbClr val="000000"/>
                    </a:solidFill>
                  </a:rPr>
                  <a:t> </a:t>
                </a:r>
                <a14:m>
                  <m:oMath xmlns:m="http://schemas.openxmlformats.org/officeDocument/2006/math">
                    <m:r>
                      <a:rPr lang="es-ES" i="1" dirty="0" smtClean="0">
                        <a:solidFill>
                          <a:srgbClr val="000000"/>
                        </a:solidFill>
                        <a:latin typeface="Cambria Math" panose="02040503050406030204" pitchFamily="18" charset="0"/>
                      </a:rPr>
                      <m:t>8</m:t>
                    </m:r>
                    <m:r>
                      <a:rPr lang="es-ES" i="1" dirty="0" smtClean="0">
                        <a:solidFill>
                          <a:srgbClr val="000000"/>
                        </a:solidFill>
                        <a:latin typeface="Cambria Math" panose="02040503050406030204" pitchFamily="18" charset="0"/>
                      </a:rPr>
                      <m:t>𝑥</m:t>
                    </m:r>
                    <m:r>
                      <a:rPr lang="en-US" b="0" i="1" dirty="0" smtClean="0">
                        <a:solidFill>
                          <a:srgbClr val="000000"/>
                        </a:solidFill>
                        <a:latin typeface="Cambria Math" panose="02040503050406030204" pitchFamily="18" charset="0"/>
                      </a:rPr>
                      <m:t> –</m:t>
                    </m:r>
                    <m:r>
                      <a:rPr lang="es-ES" i="1" dirty="0" smtClean="0">
                        <a:solidFill>
                          <a:srgbClr val="000000"/>
                        </a:solidFill>
                        <a:latin typeface="Cambria Math" panose="02040503050406030204" pitchFamily="18" charset="0"/>
                      </a:rPr>
                      <m:t>2</m:t>
                    </m:r>
                    <m:r>
                      <a:rPr lang="es-ES" i="1" dirty="0" smtClean="0">
                        <a:solidFill>
                          <a:srgbClr val="000000"/>
                        </a:solidFill>
                        <a:latin typeface="Cambria Math" panose="02040503050406030204" pitchFamily="18" charset="0"/>
                      </a:rPr>
                      <m:t>𝑦</m:t>
                    </m:r>
                    <m:r>
                      <a:rPr lang="en-US" b="0" i="1" dirty="0" smtClean="0">
                        <a:solidFill>
                          <a:srgbClr val="000000"/>
                        </a:solidFill>
                        <a:latin typeface="Cambria Math" panose="02040503050406030204" pitchFamily="18" charset="0"/>
                      </a:rPr>
                      <m:t>=</m:t>
                    </m:r>
                    <m:r>
                      <a:rPr lang="es-ES" i="1" dirty="0" smtClean="0">
                        <a:solidFill>
                          <a:srgbClr val="000000"/>
                        </a:solidFill>
                        <a:latin typeface="Cambria Math" panose="02040503050406030204" pitchFamily="18" charset="0"/>
                      </a:rPr>
                      <m:t>12</m:t>
                    </m:r>
                  </m:oMath>
                </a14:m>
                <a:endParaRPr lang="es-ES" dirty="0">
                  <a:solidFill>
                    <a:srgbClr val="000000"/>
                  </a:solidFill>
                </a:endParaRPr>
              </a:p>
              <a:p>
                <a:pPr marL="514350" lvl="1" indent="0">
                  <a:lnSpc>
                    <a:spcPct val="100000"/>
                  </a:lnSpc>
                  <a:spcBef>
                    <a:spcPts val="200"/>
                  </a:spcBef>
                  <a:spcAft>
                    <a:spcPts val="600"/>
                  </a:spcAft>
                  <a:buNone/>
                </a:pPr>
                <a:r>
                  <a:rPr lang="en-US" sz="2000" dirty="0">
                    <a:solidFill>
                      <a:srgbClr val="FF0000"/>
                    </a:solidFill>
                  </a:rPr>
                  <a:t>y = 4x − 6</a:t>
                </a:r>
              </a:p>
              <a:p>
                <a:pPr marL="466344" indent="0">
                  <a:buFont typeface="+mj-lt"/>
                  <a:buAutoNum type="alphaLcPeriod"/>
                </a:pPr>
                <a:endParaRPr lang="es-ES" sz="2800" dirty="0">
                  <a:solidFill>
                    <a:srgbClr val="000000"/>
                  </a:solidFill>
                </a:endParaRPr>
              </a:p>
              <a:p>
                <a:pPr marL="0" indent="0">
                  <a:buNone/>
                </a:pPr>
                <a:endParaRPr lang="en-US" sz="2800" dirty="0">
                  <a:solidFill>
                    <a:srgbClr val="000000"/>
                  </a:solidFill>
                </a:endParaRPr>
              </a:p>
            </p:txBody>
          </p:sp>
        </mc:Choice>
        <mc:Fallback xmlns="">
          <p:sp>
            <p:nvSpPr>
              <p:cNvPr id="5" name="Text Placeholder 2">
                <a:extLst>
                  <a:ext uri="{FF2B5EF4-FFF2-40B4-BE49-F238E27FC236}">
                    <a16:creationId xmlns:a16="http://schemas.microsoft.com/office/drawing/2014/main" id="{D7C14196-ACAD-F85C-51A9-3365FD7A26FF}"/>
                  </a:ext>
                </a:extLst>
              </p:cNvPr>
              <p:cNvSpPr txBox="1">
                <a:spLocks noRot="1" noChangeAspect="1" noMove="1" noResize="1" noEditPoints="1" noAdjustHandles="1" noChangeArrowheads="1" noChangeShapeType="1" noTextEdit="1"/>
              </p:cNvSpPr>
              <p:nvPr/>
            </p:nvSpPr>
            <p:spPr>
              <a:xfrm>
                <a:off x="6146801" y="4089401"/>
                <a:ext cx="3683000" cy="723900"/>
              </a:xfrm>
              <a:prstGeom prst="rect">
                <a:avLst/>
              </a:prstGeom>
              <a:blipFill>
                <a:blip r:embed="rId4"/>
                <a:stretch>
                  <a:fillRect l="-4298" t="-12605" b="-9244"/>
                </a:stretch>
              </a:blipFill>
            </p:spPr>
            <p:txBody>
              <a:bodyPr/>
              <a:lstStyle/>
              <a:p>
                <a:r>
                  <a:rPr lang="en-US">
                    <a:noFill/>
                  </a:rPr>
                  <a:t> </a:t>
                </a:r>
              </a:p>
            </p:txBody>
          </p:sp>
        </mc:Fallback>
      </mc:AlternateContent>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
        <p:nvSpPr>
          <p:cNvPr id="1006" name="Answer 100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361</a:t>
            </a:r>
          </a:p>
        </p:txBody>
      </p:sp>
    </p:spTree>
    <p:extLst>
      <p:ext uri="{BB962C8B-B14F-4D97-AF65-F5344CB8AC3E}">
        <p14:creationId xmlns:p14="http://schemas.microsoft.com/office/powerpoint/2010/main" val="205429509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E3CCF-72A8-D472-A922-43D7A127E4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CFAD9D-C076-5B9C-BFFC-465BCB320CD7}"/>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(11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EC72BA6F-6982-97AE-5BFF-3C36D43D0DC4}"/>
                  </a:ext>
                </a:extLst>
              </p:cNvPr>
              <p:cNvSpPr txBox="1">
                <a:spLocks/>
              </p:cNvSpPr>
              <p:nvPr/>
            </p:nvSpPr>
            <p:spPr>
              <a:xfrm>
                <a:off x="777240" y="1600200"/>
                <a:ext cx="10640060" cy="515055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3400" indent="-533400">
                  <a:buNone/>
                </a:pPr>
                <a:r>
                  <a:rPr lang="en-US" sz="2800" dirty="0">
                    <a:solidFill>
                      <a:srgbClr val="000000"/>
                    </a:solidFill>
                  </a:rPr>
                  <a:t>9.	Rewrite each equation in standard form.</a:t>
                </a:r>
              </a:p>
              <a:p>
                <a:pPr marL="990600" lvl="1" indent="-457200">
                  <a:buFont typeface="+mj-lt"/>
                  <a:buAutoNum type="alphaLcPeriod"/>
                </a:pPr>
                <a:r>
                  <a:rPr lang="es-ES" dirty="0">
                    <a:solidFill>
                      <a:srgbClr val="000000"/>
                    </a:solidFill>
                  </a:rPr>
                  <a:t> </a:t>
                </a:r>
                <a14:m>
                  <m:oMath xmlns:m="http://schemas.openxmlformats.org/officeDocument/2006/math">
                    <m:r>
                      <a:rPr lang="es-ES" i="1" dirty="0" smtClean="0">
                        <a:solidFill>
                          <a:srgbClr val="000000"/>
                        </a:solidFill>
                        <a:latin typeface="Cambria Math" panose="02040503050406030204" pitchFamily="18" charset="0"/>
                      </a:rPr>
                      <m:t>𝑦</m:t>
                    </m:r>
                    <m:r>
                      <a:rPr lang="en-US" b="0" i="1" dirty="0" smtClean="0">
                        <a:solidFill>
                          <a:srgbClr val="000000"/>
                        </a:solidFill>
                        <a:latin typeface="Cambria Math" panose="02040503050406030204" pitchFamily="18" charset="0"/>
                      </a:rPr>
                      <m:t>+</m:t>
                    </m:r>
                    <m:r>
                      <a:rPr lang="es-ES" i="1" dirty="0" smtClean="0">
                        <a:solidFill>
                          <a:srgbClr val="000000"/>
                        </a:solidFill>
                        <a:latin typeface="Cambria Math" panose="02040503050406030204" pitchFamily="18" charset="0"/>
                      </a:rPr>
                      <m:t>7</m:t>
                    </m:r>
                    <m:r>
                      <a:rPr lang="en-US" b="0" i="1" dirty="0" smtClean="0">
                        <a:solidFill>
                          <a:srgbClr val="000000"/>
                        </a:solidFill>
                        <a:latin typeface="Cambria Math" panose="02040503050406030204" pitchFamily="18" charset="0"/>
                      </a:rPr>
                      <m:t>=</m:t>
                    </m:r>
                    <m:r>
                      <a:rPr lang="es-ES" i="1" dirty="0" smtClean="0">
                        <a:solidFill>
                          <a:srgbClr val="000000"/>
                        </a:solidFill>
                        <a:latin typeface="Cambria Math" panose="02040503050406030204" pitchFamily="18" charset="0"/>
                      </a:rPr>
                      <m:t>0.5(</m:t>
                    </m:r>
                    <m:r>
                      <a:rPr lang="es-ES" i="1" dirty="0" smtClean="0">
                        <a:solidFill>
                          <a:srgbClr val="000000"/>
                        </a:solidFill>
                        <a:latin typeface="Cambria Math" panose="02040503050406030204" pitchFamily="18" charset="0"/>
                      </a:rPr>
                      <m:t>𝑥</m:t>
                    </m:r>
                    <m:r>
                      <a:rPr lang="es-ES" i="1" dirty="0" smtClean="0">
                        <a:solidFill>
                          <a:srgbClr val="000000"/>
                        </a:solidFill>
                        <a:latin typeface="Cambria Math" panose="02040503050406030204" pitchFamily="18" charset="0"/>
                      </a:rPr>
                      <m:t> –1)</m:t>
                    </m:r>
                  </m:oMath>
                </a14:m>
                <a:endParaRPr lang="es-ES" dirty="0">
                  <a:solidFill>
                    <a:srgbClr val="000000"/>
                  </a:solidFill>
                </a:endParaRPr>
              </a:p>
              <a:p>
                <a:pPr marL="990600" lvl="2" indent="0">
                  <a:lnSpc>
                    <a:spcPct val="100000"/>
                  </a:lnSpc>
                  <a:spcBef>
                    <a:spcPts val="200"/>
                  </a:spcBef>
                  <a:spcAft>
                    <a:spcPts val="600"/>
                  </a:spcAft>
                  <a:buNone/>
                </a:pPr>
                <a:r>
                  <a:rPr lang="en-US" sz="2000" dirty="0">
                    <a:solidFill>
                      <a:srgbClr val="FF0000"/>
                    </a:solidFill>
                  </a:rPr>
                  <a:t>x − 2y = 15</a:t>
                </a:r>
              </a:p>
              <a:p>
                <a:pPr marL="466344" indent="0">
                  <a:buFont typeface="+mj-lt"/>
                  <a:buAutoNum type="alphaLcPeriod"/>
                </a:pPr>
                <a:endParaRPr lang="es-ES" sz="2800" dirty="0">
                  <a:solidFill>
                    <a:srgbClr val="000000"/>
                  </a:solidFill>
                </a:endParaRPr>
              </a:p>
              <a:p>
                <a:pPr marL="466344" indent="0">
                  <a:buFont typeface="+mj-lt"/>
                  <a:buAutoNum type="alphaLcPeriod"/>
                </a:pPr>
                <a:endParaRPr lang="es-ES" sz="2800" dirty="0">
                  <a:solidFill>
                    <a:srgbClr val="000000"/>
                  </a:solidFill>
                </a:endParaRPr>
              </a:p>
              <a:p>
                <a:pPr marL="533400" indent="-533400">
                  <a:buFont typeface="+mj-lt"/>
                  <a:buAutoNum type="arabicPeriod" startAt="10"/>
                </a:pPr>
                <a:r>
                  <a:rPr lang="en-US" sz="2800" dirty="0">
                    <a:solidFill>
                      <a:srgbClr val="000000"/>
                    </a:solidFill>
                  </a:rPr>
                  <a:t>Write the equation for a line in standard form that passes through the given point with the identified slope.</a:t>
                </a:r>
                <a:endParaRPr lang="en-US" dirty="0">
                  <a:solidFill>
                    <a:srgbClr val="000000"/>
                  </a:solidFill>
                </a:endParaRPr>
              </a:p>
              <a:p>
                <a:pPr marL="990600" lvl="1" indent="-457200">
                  <a:buFont typeface="+mj-lt"/>
                  <a:buAutoNum type="alphaLcPeriod"/>
                </a:pPr>
                <a:r>
                  <a:rPr lang="es-ES" dirty="0" err="1">
                    <a:solidFill>
                      <a:srgbClr val="000000"/>
                    </a:solidFill>
                  </a:rPr>
                  <a:t>Slope</a:t>
                </a:r>
                <a:r>
                  <a:rPr lang="es-ES" dirty="0">
                    <a:solidFill>
                      <a:srgbClr val="000000"/>
                    </a:solidFill>
                  </a:rPr>
                  <a:t> </a:t>
                </a:r>
                <a14:m>
                  <m:oMath xmlns:m="http://schemas.openxmlformats.org/officeDocument/2006/math">
                    <m:r>
                      <a:rPr lang="en-US" b="0" i="1" dirty="0" smtClean="0">
                        <a:solidFill>
                          <a:srgbClr val="000000"/>
                        </a:solidFill>
                        <a:latin typeface="Cambria Math" panose="02040503050406030204" pitchFamily="18" charset="0"/>
                      </a:rPr>
                      <m:t>=</m:t>
                    </m:r>
                    <m:f>
                      <m:fPr>
                        <m:ctrlPr>
                          <a:rPr lang="en-US" b="0" i="1" dirty="0" smtClean="0">
                            <a:solidFill>
                              <a:srgbClr val="000000"/>
                            </a:solidFill>
                            <a:latin typeface="Cambria Math" panose="02040503050406030204" pitchFamily="18" charset="0"/>
                          </a:rPr>
                        </m:ctrlPr>
                      </m:fPr>
                      <m:num>
                        <m:r>
                          <a:rPr lang="en-US" b="0" i="1" dirty="0" smtClean="0">
                            <a:solidFill>
                              <a:srgbClr val="000000"/>
                            </a:solidFill>
                            <a:latin typeface="Cambria Math" panose="02040503050406030204" pitchFamily="18" charset="0"/>
                          </a:rPr>
                          <m:t>1</m:t>
                        </m:r>
                      </m:num>
                      <m:den>
                        <m:r>
                          <a:rPr lang="en-US" b="0" i="1" dirty="0" smtClean="0">
                            <a:solidFill>
                              <a:srgbClr val="000000"/>
                            </a:solidFill>
                            <a:latin typeface="Cambria Math" panose="02040503050406030204" pitchFamily="18" charset="0"/>
                          </a:rPr>
                          <m:t>2</m:t>
                        </m:r>
                      </m:den>
                    </m:f>
                  </m:oMath>
                </a14:m>
                <a:r>
                  <a:rPr lang="es-ES" dirty="0">
                    <a:solidFill>
                      <a:srgbClr val="000000"/>
                    </a:solidFill>
                  </a:rPr>
                  <a:t> </a:t>
                </a:r>
              </a:p>
              <a:p>
                <a:pPr marL="88900" lvl="1" indent="0">
                  <a:buNone/>
                </a:pPr>
                <a:r>
                  <a:rPr lang="es-ES" sz="2800" dirty="0">
                    <a:solidFill>
                      <a:srgbClr val="000000"/>
                    </a:solidFill>
                  </a:rPr>
                  <a:t>	 </a:t>
                </a:r>
                <a:r>
                  <a:rPr lang="en-US" sz="2800" dirty="0">
                    <a:solidFill>
                      <a:srgbClr val="000000"/>
                    </a:solidFill>
                  </a:rPr>
                  <a:t>Passes through </a:t>
                </a:r>
                <a14:m>
                  <m:oMath xmlns:m="http://schemas.openxmlformats.org/officeDocument/2006/math">
                    <m:r>
                      <a:rPr lang="en-US" sz="2800" i="1" dirty="0" smtClean="0">
                        <a:solidFill>
                          <a:srgbClr val="000000"/>
                        </a:solidFill>
                        <a:latin typeface="Cambria Math" panose="02040503050406030204" pitchFamily="18" charset="0"/>
                      </a:rPr>
                      <m:t>(</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3, 5)</m:t>
                    </m:r>
                  </m:oMath>
                </a14:m>
                <a:r>
                  <a:rPr lang="en-US" sz="2800" dirty="0">
                    <a:solidFill>
                      <a:srgbClr val="000000"/>
                    </a:solidFill>
                  </a:rPr>
                  <a:t>	</a:t>
                </a:r>
              </a:p>
              <a:p>
                <a:pPr marL="88900" lvl="2" indent="0">
                  <a:lnSpc>
                    <a:spcPct val="100000"/>
                  </a:lnSpc>
                  <a:spcBef>
                    <a:spcPts val="200"/>
                  </a:spcBef>
                  <a:spcAft>
                    <a:spcPts val="600"/>
                  </a:spcAft>
                  <a:buNone/>
                </a:pPr>
                <a:r>
                  <a:rPr lang="en-US" sz="2000" dirty="0">
                    <a:solidFill>
                      <a:srgbClr val="FF0000"/>
                    </a:solidFill>
                  </a:rPr>
                  <a:t>x − 2y = −13</a:t>
                </a:r>
              </a:p>
            </p:txBody>
          </p:sp>
        </mc:Choice>
        <mc:Fallback xmlns="">
          <p:sp>
            <p:nvSpPr>
              <p:cNvPr id="2" name="Text Placeholder 2">
                <a:extLst>
                  <a:ext uri="{FF2B5EF4-FFF2-40B4-BE49-F238E27FC236}">
                    <a16:creationId xmlns:a16="http://schemas.microsoft.com/office/drawing/2014/main" id="{EC72BA6F-6982-97AE-5BFF-3C36D43D0DC4}"/>
                  </a:ext>
                </a:extLst>
              </p:cNvPr>
              <p:cNvSpPr txBox="1">
                <a:spLocks noRot="1" noChangeAspect="1" noMove="1" noResize="1" noEditPoints="1" noAdjustHandles="1" noChangeArrowheads="1" noChangeShapeType="1" noTextEdit="1"/>
              </p:cNvSpPr>
              <p:nvPr/>
            </p:nvSpPr>
            <p:spPr>
              <a:xfrm>
                <a:off x="777240" y="1600200"/>
                <a:ext cx="10640060" cy="5150556"/>
              </a:xfrm>
              <a:prstGeom prst="rect">
                <a:avLst/>
              </a:prstGeom>
              <a:blipFill>
                <a:blip r:embed="rId3"/>
                <a:stretch>
                  <a:fillRect l="-1203" t="-1185"/>
                </a:stretch>
              </a:blipFill>
            </p:spPr>
            <p:txBody>
              <a:bodyPr/>
              <a:lstStyle/>
              <a:p>
                <a:r>
                  <a:rPr lang="en-US">
                    <a:noFill/>
                  </a:rPr>
                  <a:t> </a:t>
                </a:r>
              </a:p>
            </p:txBody>
          </p:sp>
        </mc:Fallback>
      </mc:AlternateContent>
      <p:cxnSp>
        <p:nvCxnSpPr>
          <p:cNvPr id="3" name="Straight Connector 2">
            <a:extLst>
              <a:ext uri="{FF2B5EF4-FFF2-40B4-BE49-F238E27FC236}">
                <a16:creationId xmlns:a16="http://schemas.microsoft.com/office/drawing/2014/main" id="{899B1FE7-D825-8052-A897-74C70BD63F78}"/>
              </a:ext>
              <a:ext uri="{C183D7F6-B498-43B3-948B-1728B52AA6E4}">
                <adec:decorative xmlns:adec="http://schemas.microsoft.com/office/drawing/2017/decorative" val="1"/>
              </a:ext>
            </a:extLst>
          </p:cNvPr>
          <p:cNvCxnSpPr>
            <a:cxnSpLocks/>
          </p:cNvCxnSpPr>
          <p:nvPr/>
        </p:nvCxnSpPr>
        <p:spPr>
          <a:xfrm>
            <a:off x="5863000" y="2185459"/>
            <a:ext cx="0" cy="1296000"/>
          </a:xfrm>
          <a:prstGeom prst="line">
            <a:avLst/>
          </a:prstGeom>
          <a:ln w="31750">
            <a:solidFill>
              <a:srgbClr val="236739"/>
            </a:solidFill>
            <a:prstDash val="sysDot"/>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0AF51DA5-E38B-118B-F696-2A8ACD729DB4}"/>
                  </a:ext>
                </a:extLst>
              </p:cNvPr>
              <p:cNvSpPr txBox="1">
                <a:spLocks/>
              </p:cNvSpPr>
              <p:nvPr/>
            </p:nvSpPr>
            <p:spPr>
              <a:xfrm>
                <a:off x="6108701" y="2108201"/>
                <a:ext cx="3683000" cy="7239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US" dirty="0">
                    <a:solidFill>
                      <a:srgbClr val="000000"/>
                    </a:solidFill>
                  </a:rPr>
                  <a:t> </a:t>
                </a:r>
                <a14:m>
                  <m:oMath xmlns:m="http://schemas.openxmlformats.org/officeDocument/2006/math">
                    <m:r>
                      <a:rPr lang="en-US" i="1" dirty="0">
                        <a:solidFill>
                          <a:srgbClr val="000000"/>
                        </a:solidFill>
                        <a:latin typeface="Cambria Math" panose="02040503050406030204" pitchFamily="18" charset="0"/>
                      </a:rPr>
                      <m:t>𝑦</m:t>
                    </m:r>
                    <m:r>
                      <a:rPr lang="en-US" i="1" dirty="0">
                        <a:solidFill>
                          <a:srgbClr val="000000"/>
                        </a:solidFill>
                        <a:latin typeface="Cambria Math" panose="02040503050406030204" pitchFamily="18" charset="0"/>
                      </a:rPr>
                      <m:t>=–4</m:t>
                    </m:r>
                    <m:r>
                      <a:rPr lang="en-US" i="1" dirty="0">
                        <a:solidFill>
                          <a:srgbClr val="000000"/>
                        </a:solidFill>
                        <a:latin typeface="Cambria Math" panose="02040503050406030204" pitchFamily="18" charset="0"/>
                      </a:rPr>
                      <m:t>𝑥</m:t>
                    </m:r>
                    <m:r>
                      <a:rPr lang="en-US" i="1" dirty="0">
                        <a:solidFill>
                          <a:srgbClr val="000000"/>
                        </a:solidFill>
                        <a:latin typeface="Cambria Math" panose="02040503050406030204" pitchFamily="18" charset="0"/>
                      </a:rPr>
                      <m:t>+3</m:t>
                    </m:r>
                  </m:oMath>
                </a14:m>
                <a:endParaRPr lang="es-ES" dirty="0">
                  <a:solidFill>
                    <a:srgbClr val="000000"/>
                  </a:solidFill>
                </a:endParaRPr>
              </a:p>
              <a:p>
                <a:pPr marL="514350" lvl="1" indent="0">
                  <a:lnSpc>
                    <a:spcPct val="100000"/>
                  </a:lnSpc>
                  <a:spcBef>
                    <a:spcPts val="200"/>
                  </a:spcBef>
                  <a:spcAft>
                    <a:spcPts val="600"/>
                  </a:spcAft>
                  <a:buNone/>
                </a:pPr>
                <a:r>
                  <a:rPr lang="en-US" sz="2000" dirty="0">
                    <a:solidFill>
                      <a:srgbClr val="FF0000"/>
                    </a:solidFill>
                  </a:rPr>
                  <a:t>4x + y = 3</a:t>
                </a:r>
              </a:p>
              <a:p>
                <a:pPr marL="466344" indent="0">
                  <a:buFont typeface="+mj-lt"/>
                  <a:buAutoNum type="alphaLcPeriod"/>
                </a:pPr>
                <a:endParaRPr lang="es-ES" sz="2800" dirty="0">
                  <a:solidFill>
                    <a:srgbClr val="000000"/>
                  </a:solidFill>
                </a:endParaRPr>
              </a:p>
              <a:p>
                <a:pPr marL="0" indent="0">
                  <a:buNone/>
                </a:pPr>
                <a:endParaRPr lang="en-US" sz="2800" dirty="0">
                  <a:solidFill>
                    <a:srgbClr val="000000"/>
                  </a:solidFill>
                </a:endParaRPr>
              </a:p>
            </p:txBody>
          </p:sp>
        </mc:Choice>
        <mc:Fallback xmlns="">
          <p:sp>
            <p:nvSpPr>
              <p:cNvPr id="5" name="Text Placeholder 2">
                <a:extLst>
                  <a:ext uri="{FF2B5EF4-FFF2-40B4-BE49-F238E27FC236}">
                    <a16:creationId xmlns:a16="http://schemas.microsoft.com/office/drawing/2014/main" id="{0AF51DA5-E38B-118B-F696-2A8ACD729DB4}"/>
                  </a:ext>
                </a:extLst>
              </p:cNvPr>
              <p:cNvSpPr txBox="1">
                <a:spLocks noRot="1" noChangeAspect="1" noMove="1" noResize="1" noEditPoints="1" noAdjustHandles="1" noChangeArrowheads="1" noChangeShapeType="1" noTextEdit="1"/>
              </p:cNvSpPr>
              <p:nvPr/>
            </p:nvSpPr>
            <p:spPr>
              <a:xfrm>
                <a:off x="6108701" y="2108201"/>
                <a:ext cx="3683000" cy="723900"/>
              </a:xfrm>
              <a:prstGeom prst="rect">
                <a:avLst/>
              </a:prstGeom>
              <a:blipFill>
                <a:blip r:embed="rId4"/>
                <a:stretch>
                  <a:fillRect l="-4305" t="-12605" b="-9244"/>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D0FF0F23-56A1-844E-5D15-D83C1AD20675}"/>
              </a:ext>
              <a:ext uri="{C183D7F6-B498-43B3-948B-1728B52AA6E4}">
                <adec:decorative xmlns:adec="http://schemas.microsoft.com/office/drawing/2017/decorative" val="1"/>
              </a:ext>
            </a:extLst>
          </p:cNvPr>
          <p:cNvCxnSpPr>
            <a:cxnSpLocks/>
          </p:cNvCxnSpPr>
          <p:nvPr/>
        </p:nvCxnSpPr>
        <p:spPr>
          <a:xfrm>
            <a:off x="5863000" y="4827059"/>
            <a:ext cx="0" cy="1296000"/>
          </a:xfrm>
          <a:prstGeom prst="line">
            <a:avLst/>
          </a:prstGeom>
          <a:ln w="31750">
            <a:solidFill>
              <a:srgbClr val="236739"/>
            </a:solidFill>
            <a:prstDash val="sysDot"/>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 name="Text Placeholder 2">
                <a:extLst>
                  <a:ext uri="{FF2B5EF4-FFF2-40B4-BE49-F238E27FC236}">
                    <a16:creationId xmlns:a16="http://schemas.microsoft.com/office/drawing/2014/main" id="{6A5EE599-EC20-1699-4BB6-8DD276034F61}"/>
                  </a:ext>
                </a:extLst>
              </p:cNvPr>
              <p:cNvSpPr txBox="1">
                <a:spLocks/>
              </p:cNvSpPr>
              <p:nvPr/>
            </p:nvSpPr>
            <p:spPr>
              <a:xfrm>
                <a:off x="6261100" y="4699000"/>
                <a:ext cx="3949699" cy="143509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s-ES" sz="2800" dirty="0">
                    <a:solidFill>
                      <a:srgbClr val="000000"/>
                    </a:solidFill>
                  </a:rPr>
                  <a:t>Slope </a:t>
                </a:r>
                <a14:m>
                  <m:oMath xmlns:m="http://schemas.openxmlformats.org/officeDocument/2006/math">
                    <m:r>
                      <a:rPr lang="en-US" sz="2800" i="1" dirty="0">
                        <a:solidFill>
                          <a:srgbClr val="000000"/>
                        </a:solidFill>
                        <a:latin typeface="Cambria Math" panose="02040503050406030204" pitchFamily="18" charset="0"/>
                      </a:rPr>
                      <m:t>=</m:t>
                    </m:r>
                    <m:r>
                      <a:rPr lang="en-IN" sz="2800" b="0" i="1" dirty="0" smtClean="0">
                        <a:solidFill>
                          <a:srgbClr val="000000"/>
                        </a:solidFill>
                        <a:latin typeface="Cambria Math" panose="02040503050406030204" pitchFamily="18" charset="0"/>
                      </a:rPr>
                      <m:t> </m:t>
                    </m:r>
                    <m:r>
                      <a:rPr lang="en-US" sz="2800" i="1" dirty="0">
                        <a:solidFill>
                          <a:srgbClr val="000000"/>
                        </a:solidFill>
                        <a:latin typeface="Cambria Math" panose="02040503050406030204" pitchFamily="18" charset="0"/>
                      </a:rPr>
                      <m:t>–4</m:t>
                    </m:r>
                  </m:oMath>
                </a14:m>
                <a:endParaRPr lang="es-ES" sz="2800" dirty="0">
                  <a:solidFill>
                    <a:srgbClr val="000000"/>
                  </a:solidFill>
                </a:endParaRPr>
              </a:p>
              <a:p>
                <a:pPr marL="466344" indent="0">
                  <a:buNone/>
                </a:pPr>
                <a:r>
                  <a:rPr lang="en-US" sz="2800" dirty="0">
                    <a:solidFill>
                      <a:srgbClr val="000000"/>
                    </a:solidFill>
                  </a:rPr>
                  <a:t>Passes through </a:t>
                </a:r>
                <a14:m>
                  <m:oMath xmlns:m="http://schemas.openxmlformats.org/officeDocument/2006/math">
                    <m:r>
                      <a:rPr lang="en-US" sz="2800" i="1" dirty="0" smtClean="0">
                        <a:solidFill>
                          <a:srgbClr val="000000"/>
                        </a:solidFill>
                        <a:latin typeface="Cambria Math" panose="02040503050406030204" pitchFamily="18" charset="0"/>
                      </a:rPr>
                      <m:t>(2, 1)</m:t>
                    </m:r>
                  </m:oMath>
                </a14:m>
                <a:endParaRPr lang="es-ES" sz="2800" dirty="0">
                  <a:solidFill>
                    <a:srgbClr val="000000"/>
                  </a:solidFill>
                </a:endParaRPr>
              </a:p>
              <a:p>
                <a:pPr marL="466344" lvl="1" indent="0">
                  <a:lnSpc>
                    <a:spcPct val="100000"/>
                  </a:lnSpc>
                  <a:spcBef>
                    <a:spcPts val="200"/>
                  </a:spcBef>
                  <a:spcAft>
                    <a:spcPts val="600"/>
                  </a:spcAft>
                  <a:buNone/>
                </a:pPr>
                <a:r>
                  <a:rPr lang="en-US" sz="2000" dirty="0">
                    <a:solidFill>
                      <a:srgbClr val="FF0000"/>
                    </a:solidFill>
                  </a:rPr>
                  <a:t>4x + y = 9</a:t>
                </a:r>
              </a:p>
              <a:p>
                <a:pPr marL="0" indent="0">
                  <a:buNone/>
                </a:pPr>
                <a:endParaRPr lang="en-US" sz="2800" dirty="0">
                  <a:solidFill>
                    <a:srgbClr val="000000"/>
                  </a:solidFill>
                </a:endParaRPr>
              </a:p>
            </p:txBody>
          </p:sp>
        </mc:Choice>
        <mc:Fallback xmlns="">
          <p:sp>
            <p:nvSpPr>
              <p:cNvPr id="7" name="Text Placeholder 2">
                <a:extLst>
                  <a:ext uri="{FF2B5EF4-FFF2-40B4-BE49-F238E27FC236}">
                    <a16:creationId xmlns:a16="http://schemas.microsoft.com/office/drawing/2014/main" id="{6A5EE599-EC20-1699-4BB6-8DD276034F61}"/>
                  </a:ext>
                </a:extLst>
              </p:cNvPr>
              <p:cNvSpPr txBox="1">
                <a:spLocks noRot="1" noChangeAspect="1" noMove="1" noResize="1" noEditPoints="1" noAdjustHandles="1" noChangeArrowheads="1" noChangeShapeType="1" noTextEdit="1"/>
              </p:cNvSpPr>
              <p:nvPr/>
            </p:nvSpPr>
            <p:spPr>
              <a:xfrm>
                <a:off x="6261100" y="4699000"/>
                <a:ext cx="3949699" cy="1435099"/>
              </a:xfrm>
              <a:prstGeom prst="rect">
                <a:avLst/>
              </a:prstGeom>
              <a:blipFill>
                <a:blip r:embed="rId5"/>
                <a:stretch>
                  <a:fillRect l="-3241" t="-4681"/>
                </a:stretch>
              </a:blipFill>
            </p:spPr>
            <p:txBody>
              <a:bodyPr/>
              <a:lstStyle/>
              <a:p>
                <a:r>
                  <a:rPr lang="en-IN">
                    <a:noFill/>
                  </a:rPr>
                  <a:t> </a:t>
                </a:r>
              </a:p>
            </p:txBody>
          </p:sp>
        </mc:Fallback>
      </mc:AlternateContent>
      <p:sp>
        <p:nvSpPr>
          <p:cNvPr id="1007" name="Slide Number 1007"/>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
        <p:nvSpPr>
          <p:cNvPr id="1008" name="Answer 1008"/>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361</a:t>
            </a:r>
          </a:p>
        </p:txBody>
      </p:sp>
    </p:spTree>
    <p:extLst>
      <p:ext uri="{BB962C8B-B14F-4D97-AF65-F5344CB8AC3E}">
        <p14:creationId xmlns:p14="http://schemas.microsoft.com/office/powerpoint/2010/main" val="230328686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build="p"/>
      <p:bldP spid="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6A4C3-D7E8-8DEB-BC59-B0E18B53FD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CC96222-60F7-42C3-E50A-374C0D97686A}"/>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(12 of 13)</a:t>
            </a:r>
          </a:p>
        </p:txBody>
      </p:sp>
      <p:sp>
        <p:nvSpPr>
          <p:cNvPr id="9" name="Text Placeholder 2">
            <a:extLst>
              <a:ext uri="{FF2B5EF4-FFF2-40B4-BE49-F238E27FC236}">
                <a16:creationId xmlns:a16="http://schemas.microsoft.com/office/drawing/2014/main" id="{23C10AAC-6AAD-E0CF-9435-A082A9C401FB}"/>
              </a:ext>
            </a:extLst>
          </p:cNvPr>
          <p:cNvSpPr txBox="1">
            <a:spLocks/>
          </p:cNvSpPr>
          <p:nvPr/>
        </p:nvSpPr>
        <p:spPr>
          <a:xfrm>
            <a:off x="777240" y="1616140"/>
            <a:ext cx="10259060"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revisit the Essential Question and summarize our learning from Activity 2.1!</a:t>
            </a:r>
          </a:p>
          <a:p>
            <a:pPr marL="0" indent="0" algn="l">
              <a:buNone/>
            </a:pPr>
            <a:endParaRPr lang="en-US" sz="2800" dirty="0">
              <a:solidFill>
                <a:srgbClr val="000000"/>
              </a:solidFill>
            </a:endParaRPr>
          </a:p>
          <a:p>
            <a:pPr marL="0" indent="0" algn="l">
              <a:buNone/>
            </a:pPr>
            <a:endParaRPr lang="en-US" sz="2800" b="0" i="0" u="none" strike="noStrike" baseline="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How can you use those same properties to solve for one specific variable in an equation that has multiple variables?</a:t>
            </a:r>
          </a:p>
          <a:p>
            <a:pPr marL="0" indent="0" algn="l">
              <a:buNone/>
            </a:pPr>
            <a:endParaRPr lang="en-US" sz="2800" b="0" i="0" u="none" strike="noStrike" baseline="0" dirty="0">
              <a:solidFill>
                <a:srgbClr val="000000"/>
              </a:solidFill>
            </a:endParaRPr>
          </a:p>
        </p:txBody>
      </p:sp>
      <p:pic>
        <p:nvPicPr>
          <p:cNvPr id="2" name="Picture 1">
            <a:extLst>
              <a:ext uri="{FF2B5EF4-FFF2-40B4-BE49-F238E27FC236}">
                <a16:creationId xmlns:a16="http://schemas.microsoft.com/office/drawing/2014/main" id="{D9208D25-C9B4-85AE-96E3-FEED0B1ED42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361</a:t>
            </a:r>
          </a:p>
        </p:txBody>
      </p:sp>
    </p:spTree>
    <p:extLst>
      <p:ext uri="{BB962C8B-B14F-4D97-AF65-F5344CB8AC3E}">
        <p14:creationId xmlns:p14="http://schemas.microsoft.com/office/powerpoint/2010/main" val="1043974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4E86F-B27E-7898-4546-3A7CD196AD0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A2FDD4-A704-2847-E793-56E0BD4C19E7}"/>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(13 of 13)</a:t>
            </a:r>
          </a:p>
        </p:txBody>
      </p:sp>
      <p:sp>
        <p:nvSpPr>
          <p:cNvPr id="9" name="Text Placeholder 2">
            <a:extLst>
              <a:ext uri="{FF2B5EF4-FFF2-40B4-BE49-F238E27FC236}">
                <a16:creationId xmlns:a16="http://schemas.microsoft.com/office/drawing/2014/main" id="{C9C7CA46-0412-6865-D5CE-79D44C387F0B}"/>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26</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361</a:t>
            </a:r>
          </a:p>
        </p:txBody>
      </p:sp>
    </p:spTree>
    <p:extLst>
      <p:ext uri="{BB962C8B-B14F-4D97-AF65-F5344CB8AC3E}">
        <p14:creationId xmlns:p14="http://schemas.microsoft.com/office/powerpoint/2010/main" val="31622327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Day 2</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2</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27</a:t>
            </a:fld>
          </a:p>
        </p:txBody>
      </p:sp>
    </p:spTree>
    <p:extLst>
      <p:ext uri="{BB962C8B-B14F-4D97-AF65-F5344CB8AC3E}">
        <p14:creationId xmlns:p14="http://schemas.microsoft.com/office/powerpoint/2010/main" val="3805389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39303-CF51-4B38-A43B-2064501134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AC0F160-2B3C-CD78-9454-F6D334741728}"/>
              </a:ext>
            </a:extLst>
          </p:cNvPr>
          <p:cNvSpPr>
            <a:spLocks noGrp="1"/>
          </p:cNvSpPr>
          <p:nvPr>
            <p:ph type="title"/>
          </p:nvPr>
        </p:nvSpPr>
        <p:spPr>
          <a:xfrm>
            <a:off x="734787" y="10892"/>
            <a:ext cx="10123714" cy="1263192"/>
          </a:xfrm>
        </p:spPr>
        <p:txBody>
          <a:bodyPr/>
          <a:lstStyle/>
          <a:p>
            <a:pPr algn="l"/>
            <a:r>
              <a:rPr lang="en-US" b="1" dirty="0"/>
              <a:t>Essential Question</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(2 of 2)</a:t>
            </a:r>
          </a:p>
        </p:txBody>
      </p:sp>
      <p:sp>
        <p:nvSpPr>
          <p:cNvPr id="9" name="Text Placeholder 2">
            <a:extLst>
              <a:ext uri="{FF2B5EF4-FFF2-40B4-BE49-F238E27FC236}">
                <a16:creationId xmlns:a16="http://schemas.microsoft.com/office/drawing/2014/main" id="{3857AF43-116F-2EEC-CBD1-E0CECFFBB808}"/>
              </a:ext>
            </a:extLst>
          </p:cNvPr>
          <p:cNvSpPr txBox="1">
            <a:spLocks/>
          </p:cNvSpPr>
          <p:nvPr/>
        </p:nvSpPr>
        <p:spPr>
          <a:xfrm>
            <a:off x="734787" y="1616529"/>
            <a:ext cx="9935934" cy="418836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How can you use those same properties to solve for one specific variable in an equation that has multiple variables?</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357</a:t>
            </a:r>
          </a:p>
        </p:txBody>
      </p:sp>
    </p:spTree>
    <p:extLst>
      <p:ext uri="{BB962C8B-B14F-4D97-AF65-F5344CB8AC3E}">
        <p14:creationId xmlns:p14="http://schemas.microsoft.com/office/powerpoint/2010/main" val="996459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EDE78-11DD-0A45-609B-FD8BD60BB2B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30D5E1F-9692-EDA3-9A8A-A335142E25DC}"/>
              </a:ext>
            </a:extLst>
          </p:cNvPr>
          <p:cNvSpPr>
            <a:spLocks noGrp="1"/>
          </p:cNvSpPr>
          <p:nvPr>
            <p:ph type="title" idx="4294967295"/>
          </p:nvPr>
        </p:nvSpPr>
        <p:spPr>
          <a:xfrm>
            <a:off x="838200" y="-530679"/>
            <a:ext cx="10514013" cy="530679"/>
          </a:xfrm>
          <a:prstGeom prst="rect">
            <a:avLst/>
          </a:prstGeom>
        </p:spPr>
        <p:txBody>
          <a:bodyPr anchor="b"/>
          <a:lstStyle/>
          <a:p>
            <a:r>
              <a:rPr lang="en-US" sz="2000" dirty="0">
                <a:solidFill>
                  <a:schemeClr val="bg2"/>
                </a:solidFill>
              </a:rPr>
              <a:t>Activity 2.2</a:t>
            </a:r>
          </a:p>
        </p:txBody>
      </p:sp>
      <p:sp>
        <p:nvSpPr>
          <p:cNvPr id="3" name="Text Placeholder 2" descr="10 to 15 minutes">
            <a:extLst>
              <a:ext uri="{FF2B5EF4-FFF2-40B4-BE49-F238E27FC236}">
                <a16:creationId xmlns:a16="http://schemas.microsoft.com/office/drawing/2014/main" id="{685D4BDD-EA9C-DAD5-09C7-6128E3D1D7CE}"/>
              </a:ext>
            </a:extLst>
          </p:cNvPr>
          <p:cNvSpPr>
            <a:spLocks noGrp="1"/>
          </p:cNvSpPr>
          <p:nvPr>
            <p:ph type="body" sz="quarter" idx="12"/>
          </p:nvPr>
        </p:nvSpPr>
        <p:spPr>
          <a:xfrm>
            <a:off x="10614990" y="5781873"/>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03486D40-03F6-C342-CD02-C9125C1A0AD8}"/>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2.2</a:t>
            </a:r>
          </a:p>
        </p:txBody>
      </p:sp>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29</a:t>
            </a:fld>
          </a:p>
        </p:txBody>
      </p:sp>
      <p:sp>
        <p:nvSpPr>
          <p:cNvPr id="1007" name="Answer 1007"/>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4199837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F119E-B381-8948-5734-B2FA9DB19F6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E165B7A-4943-6D97-5409-548CB83FD387}"/>
              </a:ext>
            </a:extLst>
          </p:cNvPr>
          <p:cNvSpPr>
            <a:spLocks noGrp="1"/>
          </p:cNvSpPr>
          <p:nvPr>
            <p:ph type="title"/>
          </p:nvPr>
        </p:nvSpPr>
        <p:spPr/>
        <p:txBody>
          <a:bodyPr/>
          <a:lstStyle/>
          <a:p>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(1 of 11)</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BE588C40-188C-A6E0-2294-FB8598D53039}"/>
                  </a:ext>
                </a:extLst>
              </p:cNvPr>
              <p:cNvSpPr txBox="1">
                <a:spLocks/>
              </p:cNvSpPr>
              <p:nvPr/>
            </p:nvSpPr>
            <p:spPr>
              <a:xfrm>
                <a:off x="734787" y="1616529"/>
                <a:ext cx="9935934"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b="1" dirty="0">
                    <a:solidFill>
                      <a:srgbClr val="000000"/>
                    </a:solidFill>
                  </a:rPr>
                  <a:t>Literal equations</a:t>
                </a:r>
                <a:r>
                  <a:rPr lang="en-US" sz="2800" dirty="0">
                    <a:solidFill>
                      <a:srgbClr val="000000"/>
                    </a:solidFill>
                  </a:rPr>
                  <a:t> are equations in which the variables represent</a:t>
                </a:r>
              </a:p>
              <a:p>
                <a:pPr marL="0" indent="0">
                  <a:spcBef>
                    <a:spcPts val="24"/>
                  </a:spcBef>
                  <a:buNone/>
                </a:pPr>
                <a:r>
                  <a:rPr lang="en-US" sz="2800" dirty="0">
                    <a:solidFill>
                      <a:srgbClr val="000000"/>
                    </a:solidFill>
                  </a:rPr>
                  <a:t>specific measures. You most often see literal equations when you study formulas. These literal equations can be manipulated in order to allow you to solve for one specific variable.</a:t>
                </a:r>
                <a:br>
                  <a:rPr lang="en-US" sz="2800" dirty="0">
                    <a:solidFill>
                      <a:srgbClr val="000000"/>
                    </a:solidFill>
                  </a:rPr>
                </a:br>
                <a:endParaRPr lang="en-US" sz="2800" dirty="0">
                  <a:solidFill>
                    <a:srgbClr val="000000"/>
                  </a:solidFill>
                </a:endParaRPr>
              </a:p>
              <a:p>
                <a:pPr marL="0" indent="0">
                  <a:spcBef>
                    <a:spcPts val="24"/>
                  </a:spcBef>
                  <a:buNone/>
                </a:pPr>
                <a:r>
                  <a:rPr lang="en-US" sz="2800" dirty="0">
                    <a:solidFill>
                      <a:srgbClr val="000000"/>
                    </a:solidFill>
                  </a:rPr>
                  <a:t>You have used a common literal equation, the formula for converting degrees Fahrenheit to degrees Celsius.</a:t>
                </a:r>
              </a:p>
              <a:p>
                <a:pPr marL="0" indent="0">
                  <a:spcBef>
                    <a:spcPts val="24"/>
                  </a:spcBef>
                  <a:buNone/>
                </a:pPr>
                <a:endParaRPr lang="en-US" sz="2800" dirty="0">
                  <a:solidFill>
                    <a:srgbClr val="000000"/>
                  </a:solidFill>
                </a:endParaRPr>
              </a:p>
              <a:p>
                <a:pPr marL="0" indent="0">
                  <a:spcBef>
                    <a:spcPts val="24"/>
                  </a:spcBef>
                  <a:buNone/>
                </a:pPr>
                <a14:m>
                  <m:oMathPara xmlns:m="http://schemas.openxmlformats.org/officeDocument/2006/math">
                    <m:oMathParaPr>
                      <m:jc m:val="centerGroup"/>
                    </m:oMathParaPr>
                    <m:oMath xmlns:m="http://schemas.openxmlformats.org/officeDocument/2006/math">
                      <m:r>
                        <a:rPr lang="en-US" sz="2800" b="0" i="1" dirty="0" smtClean="0">
                          <a:solidFill>
                            <a:srgbClr val="000000"/>
                          </a:solidFill>
                          <a:latin typeface="Cambria Math" panose="02040503050406030204" pitchFamily="18" charset="0"/>
                        </a:rPr>
                        <m:t>𝐶</m:t>
                      </m:r>
                      <m:r>
                        <a:rPr lang="en-US" sz="2800" b="0" i="1" dirty="0" smtClean="0">
                          <a:solidFill>
                            <a:srgbClr val="000000"/>
                          </a:solidFill>
                          <a:latin typeface="Cambria Math" panose="02040503050406030204" pitchFamily="18" charset="0"/>
                        </a:rPr>
                        <m:t>= ‒</m:t>
                      </m:r>
                      <m:f>
                        <m:fPr>
                          <m:ctrlPr>
                            <a:rPr lang="en-US" sz="2800" i="1" dirty="0" smtClean="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5</m:t>
                          </m:r>
                        </m:num>
                        <m:den>
                          <m:r>
                            <a:rPr lang="en-US" sz="2800" b="0" i="1" dirty="0" smtClean="0">
                              <a:solidFill>
                                <a:srgbClr val="000000"/>
                              </a:solidFill>
                              <a:latin typeface="Cambria Math" panose="02040503050406030204" pitchFamily="18" charset="0"/>
                            </a:rPr>
                            <m:t>9</m:t>
                          </m:r>
                        </m:den>
                      </m:f>
                      <m:r>
                        <a:rPr lang="en-IN" sz="2800" b="0" i="1" dirty="0" smtClean="0">
                          <a:solidFill>
                            <a:srgbClr val="000000"/>
                          </a:solidFill>
                          <a:latin typeface="Cambria Math" panose="02040503050406030204" pitchFamily="18" charset="0"/>
                        </a:rPr>
                        <m:t>(</m:t>
                      </m:r>
                      <m:r>
                        <a:rPr lang="en-US" sz="2800" b="0" i="1" dirty="0" smtClean="0">
                          <a:solidFill>
                            <a:srgbClr val="000000"/>
                          </a:solidFill>
                          <a:latin typeface="Cambria Math" panose="02040503050406030204" pitchFamily="18" charset="0"/>
                        </a:rPr>
                        <m:t>𝐹</m:t>
                      </m:r>
                      <m:r>
                        <a:rPr lang="en-US" sz="2800" b="0" i="1" dirty="0" smtClean="0">
                          <a:solidFill>
                            <a:srgbClr val="000000"/>
                          </a:solidFill>
                          <a:latin typeface="Cambria Math" panose="02040503050406030204" pitchFamily="18" charset="0"/>
                        </a:rPr>
                        <m:t>–32)</m:t>
                      </m:r>
                    </m:oMath>
                  </m:oMathPara>
                </a14:m>
                <a:endParaRPr lang="en-US" sz="2800" dirty="0">
                  <a:solidFill>
                    <a:srgbClr val="000000"/>
                  </a:solidFill>
                </a:endParaRPr>
              </a:p>
            </p:txBody>
          </p:sp>
        </mc:Choice>
        <mc:Fallback xmlns="">
          <p:sp>
            <p:nvSpPr>
              <p:cNvPr id="9" name="Text Placeholder 2">
                <a:extLst>
                  <a:ext uri="{FF2B5EF4-FFF2-40B4-BE49-F238E27FC236}">
                    <a16:creationId xmlns:a16="http://schemas.microsoft.com/office/drawing/2014/main" id="{BE588C40-188C-A6E0-2294-FB8598D53039}"/>
                  </a:ext>
                </a:extLst>
              </p:cNvPr>
              <p:cNvSpPr txBox="1">
                <a:spLocks noRot="1" noChangeAspect="1" noMove="1" noResize="1" noEditPoints="1" noAdjustHandles="1" noChangeArrowheads="1" noChangeShapeType="1" noTextEdit="1"/>
              </p:cNvSpPr>
              <p:nvPr/>
            </p:nvSpPr>
            <p:spPr>
              <a:xfrm>
                <a:off x="734787" y="1616529"/>
                <a:ext cx="9935934" cy="4716538"/>
              </a:xfrm>
              <a:prstGeom prst="rect">
                <a:avLst/>
              </a:prstGeom>
              <a:blipFill>
                <a:blip r:embed="rId3"/>
                <a:stretch>
                  <a:fillRect l="-1289" t="-1163" r="-1964"/>
                </a:stretch>
              </a:blipFill>
            </p:spPr>
            <p:txBody>
              <a:bodyPr/>
              <a:lstStyle/>
              <a:p>
                <a:r>
                  <a:rPr lang="en-IN">
                    <a:noFill/>
                  </a:rPr>
                  <a:t> </a:t>
                </a:r>
              </a:p>
            </p:txBody>
          </p:sp>
        </mc:Fallback>
      </mc:AlternateContent>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30</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362</a:t>
            </a:r>
          </a:p>
        </p:txBody>
      </p:sp>
    </p:spTree>
    <p:extLst>
      <p:ext uri="{BB962C8B-B14F-4D97-AF65-F5344CB8AC3E}">
        <p14:creationId xmlns:p14="http://schemas.microsoft.com/office/powerpoint/2010/main" val="1405678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6FE54-7B45-132D-8987-028A851D78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BD7BA13-00A7-97E6-EF83-C747CFD72720}"/>
              </a:ext>
            </a:extLst>
          </p:cNvPr>
          <p:cNvSpPr>
            <a:spLocks noGrp="1"/>
          </p:cNvSpPr>
          <p:nvPr>
            <p:ph type="title"/>
          </p:nvPr>
        </p:nvSpPr>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(2 of 11)</a:t>
            </a:r>
          </a:p>
        </p:txBody>
      </p:sp>
      <p:sp>
        <p:nvSpPr>
          <p:cNvPr id="9" name="Text Placeholder 2">
            <a:extLst>
              <a:ext uri="{FF2B5EF4-FFF2-40B4-BE49-F238E27FC236}">
                <a16:creationId xmlns:a16="http://schemas.microsoft.com/office/drawing/2014/main" id="{42B4ECAB-E37A-5933-BC37-EAA155FFAFAB}"/>
              </a:ext>
            </a:extLst>
          </p:cNvPr>
          <p:cNvSpPr txBox="1">
            <a:spLocks/>
          </p:cNvSpPr>
          <p:nvPr/>
        </p:nvSpPr>
        <p:spPr>
          <a:xfrm>
            <a:off x="734786" y="1616529"/>
            <a:ext cx="9972199" cy="30457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Jayden is talking on the phone to his friend Mateo who lives in Europe. Mateo is used to describing temperatures in °C, while Jayden is used to describing temperatures in °F. Mateo can use the formula above to quickly convert the temperatures Jayden describes to °C.</a:t>
            </a:r>
            <a:br>
              <a:rPr lang="en-US" sz="2800" dirty="0">
                <a:solidFill>
                  <a:srgbClr val="000000"/>
                </a:solidFill>
              </a:rPr>
            </a:br>
            <a:endParaRPr lang="en-US" sz="2800" dirty="0">
              <a:solidFill>
                <a:srgbClr val="000000"/>
              </a:solidFill>
            </a:endParaRPr>
          </a:p>
          <a:p>
            <a:pPr marL="0" indent="0">
              <a:spcBef>
                <a:spcPts val="24"/>
              </a:spcBef>
              <a:buNone/>
            </a:pPr>
            <a:endParaRPr lang="en-US" sz="2800"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31</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362</a:t>
            </a:r>
          </a:p>
        </p:txBody>
      </p:sp>
    </p:spTree>
    <p:extLst>
      <p:ext uri="{BB962C8B-B14F-4D97-AF65-F5344CB8AC3E}">
        <p14:creationId xmlns:p14="http://schemas.microsoft.com/office/powerpoint/2010/main" val="3960431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48B9C-F6C9-E2D5-1DA1-DE25880D30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487B2F7-87F9-C357-40B8-6E8B5AC8B18A}"/>
              </a:ext>
            </a:extLst>
          </p:cNvPr>
          <p:cNvSpPr>
            <a:spLocks noGrp="1"/>
          </p:cNvSpPr>
          <p:nvPr>
            <p:ph type="title"/>
          </p:nvPr>
        </p:nvSpPr>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(3 of 11)</a:t>
            </a:r>
          </a:p>
        </p:txBody>
      </p:sp>
      <p:sp>
        <p:nvSpPr>
          <p:cNvPr id="9" name="Text Placeholder 2">
            <a:extLst>
              <a:ext uri="{FF2B5EF4-FFF2-40B4-BE49-F238E27FC236}">
                <a16:creationId xmlns:a16="http://schemas.microsoft.com/office/drawing/2014/main" id="{23861A58-7978-5C6A-EDED-3A1E45D43B80}"/>
              </a:ext>
            </a:extLst>
          </p:cNvPr>
          <p:cNvSpPr txBox="1">
            <a:spLocks/>
          </p:cNvSpPr>
          <p:nvPr/>
        </p:nvSpPr>
        <p:spPr>
          <a:xfrm>
            <a:off x="734787" y="1616529"/>
            <a:ext cx="9935934"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spcBef>
                <a:spcPts val="24"/>
              </a:spcBef>
              <a:buFont typeface="+mj-lt"/>
              <a:buAutoNum type="arabicPeriod"/>
            </a:pPr>
            <a:r>
              <a:rPr lang="en-US" sz="2800" dirty="0">
                <a:solidFill>
                  <a:srgbClr val="000000"/>
                </a:solidFill>
              </a:rPr>
              <a:t>How can you rewrite the formula so that Jayden can quickly convert the temperatures that Mateo describes to °F? Justify your solution method.</a:t>
            </a:r>
          </a:p>
          <a:p>
            <a:pPr marL="466344" lvl="1" indent="0">
              <a:lnSpc>
                <a:spcPct val="100000"/>
              </a:lnSpc>
              <a:spcBef>
                <a:spcPts val="200"/>
              </a:spcBef>
              <a:spcAft>
                <a:spcPts val="600"/>
              </a:spcAft>
              <a:buNone/>
            </a:pPr>
            <a:r>
              <a:rPr lang="en-US" sz="2000" dirty="0">
                <a:solidFill>
                  <a:srgbClr val="FF0000"/>
                </a:solidFill>
              </a:rPr>
              <a:t>Multiply both sides by 9/5: (9/5)C = F − 32. Add 32 to both sides: F = (9/5)C + 32.</a:t>
            </a:r>
          </a:p>
          <a:p>
            <a:pPr marL="0" indent="0">
              <a:spcBef>
                <a:spcPts val="24"/>
              </a:spcBef>
              <a:buNone/>
            </a:pPr>
            <a:endParaRPr lang="en-US" sz="2800" dirty="0">
              <a:solidFill>
                <a:srgbClr val="000000"/>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362</a:t>
            </a:r>
          </a:p>
        </p:txBody>
      </p:sp>
    </p:spTree>
    <p:extLst>
      <p:ext uri="{BB962C8B-B14F-4D97-AF65-F5344CB8AC3E}">
        <p14:creationId xmlns:p14="http://schemas.microsoft.com/office/powerpoint/2010/main" val="272782679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D5AF5-DEEF-3AA4-4C63-F8E35F357B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459820-7CCA-92E4-4059-296E8F7C7477}"/>
              </a:ext>
            </a:extLst>
          </p:cNvPr>
          <p:cNvSpPr>
            <a:spLocks noGrp="1"/>
          </p:cNvSpPr>
          <p:nvPr>
            <p:ph type="title"/>
          </p:nvPr>
        </p:nvSpPr>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(4 of 11)</a:t>
            </a:r>
          </a:p>
        </p:txBody>
      </p:sp>
      <p:pic>
        <p:nvPicPr>
          <p:cNvPr id="3" name="Picture 2" descr="Who's correct problem.">
            <a:extLst>
              <a:ext uri="{FF2B5EF4-FFF2-40B4-BE49-F238E27FC236}">
                <a16:creationId xmlns:a16="http://schemas.microsoft.com/office/drawing/2014/main" id="{36543AF1-AD5B-A941-C050-D5AB39450E61}"/>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668" y="1392865"/>
            <a:ext cx="9412177" cy="5172399"/>
          </a:xfrm>
          <a:prstGeom prst="rect">
            <a:avLst/>
          </a:prstGeom>
        </p:spPr>
      </p:pic>
      <p:sp>
        <p:nvSpPr>
          <p:cNvPr id="5" name="TextBox 4">
            <a:extLst>
              <a:ext uri="{FF2B5EF4-FFF2-40B4-BE49-F238E27FC236}">
                <a16:creationId xmlns:a16="http://schemas.microsoft.com/office/drawing/2014/main" id="{78ACAFFE-4F7E-711C-4E55-ED4077390CA7}"/>
              </a:ext>
            </a:extLst>
          </p:cNvPr>
          <p:cNvSpPr txBox="1"/>
          <p:nvPr/>
        </p:nvSpPr>
        <p:spPr>
          <a:xfrm>
            <a:off x="2442694" y="1937955"/>
            <a:ext cx="7498748" cy="2492990"/>
          </a:xfrm>
          <a:prstGeom prst="rect">
            <a:avLst/>
          </a:prstGeom>
          <a:noFill/>
        </p:spPr>
        <p:txBody>
          <a:bodyPr wrap="square" rtlCol="0">
            <a:spAutoFit/>
          </a:bodyPr>
          <a:lstStyle/>
          <a:p>
            <a:pPr marL="514350" indent="-514350" algn="l">
              <a:buFont typeface="+mj-lt"/>
              <a:buAutoNum type="arabicPeriod" startAt="2"/>
            </a:pPr>
            <a:r>
              <a:rPr lang="en-US" sz="2600" dirty="0">
                <a:solidFill>
                  <a:srgbClr val="000000"/>
                </a:solidFill>
              </a:rPr>
              <a:t>Jayden tells Mateo that the temperature where he lives is currently 77°F. Mateo tells Jayden that the temperature where he lives is currently 30°C. Jayden says it is warmer where he lives and Mateo says it is warmer where he lives. Who is correct? Explain your reasoning.</a:t>
            </a:r>
          </a:p>
          <a:p>
            <a:pPr marL="514350" lvl="1" indent="0">
              <a:lnSpc>
                <a:spcPct val="100000"/>
              </a:lnSpc>
              <a:spcBef>
                <a:spcPts val="200"/>
              </a:spcBef>
              <a:spcAft>
                <a:spcPts val="600"/>
              </a:spcAft>
              <a:buNone/>
            </a:pPr>
            <a:r>
              <a:rPr lang="en-US" sz="1800" dirty="0">
                <a:solidFill>
                  <a:srgbClr val="FF0000"/>
                </a:solidFill>
              </a:rPr>
              <a:t>Mateo is correct: 30°C = (9/5)(30) + 32 = 86°F, which is warmer than 77°F (77°F = 25°C).</a:t>
            </a:r>
          </a:p>
        </p:txBody>
      </p:sp>
      <p:sp>
        <p:nvSpPr>
          <p:cNvPr id="1006" name="Slide Number 10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33</a:t>
            </a:fld>
          </a:p>
        </p:txBody>
      </p:sp>
      <p:sp>
        <p:nvSpPr>
          <p:cNvPr id="1007" name="Answer 1007"/>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362</a:t>
            </a:r>
          </a:p>
        </p:txBody>
      </p:sp>
    </p:spTree>
    <p:extLst>
      <p:ext uri="{BB962C8B-B14F-4D97-AF65-F5344CB8AC3E}">
        <p14:creationId xmlns:p14="http://schemas.microsoft.com/office/powerpoint/2010/main" val="375971143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EC432-76F7-2E24-19DE-429C8A13C10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3C8A9A8-5046-2D2E-FDD9-D8EB2B1FAF52}"/>
              </a:ext>
            </a:extLst>
          </p:cNvPr>
          <p:cNvSpPr>
            <a:spLocks noGrp="1"/>
          </p:cNvSpPr>
          <p:nvPr>
            <p:ph type="title"/>
          </p:nvPr>
        </p:nvSpPr>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(5 of 11)</a:t>
            </a:r>
          </a:p>
        </p:txBody>
      </p:sp>
      <p:sp>
        <p:nvSpPr>
          <p:cNvPr id="9" name="Text Placeholder 2">
            <a:extLst>
              <a:ext uri="{FF2B5EF4-FFF2-40B4-BE49-F238E27FC236}">
                <a16:creationId xmlns:a16="http://schemas.microsoft.com/office/drawing/2014/main" id="{25F15941-0591-0AF7-BF0C-DFBA5784E314}"/>
              </a:ext>
            </a:extLst>
          </p:cNvPr>
          <p:cNvSpPr txBox="1">
            <a:spLocks/>
          </p:cNvSpPr>
          <p:nvPr/>
        </p:nvSpPr>
        <p:spPr>
          <a:xfrm>
            <a:off x="734787" y="1616529"/>
            <a:ext cx="10466613" cy="1174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Bef>
                <a:spcPts val="24"/>
              </a:spcBef>
              <a:buFont typeface="+mj-lt"/>
              <a:buAutoNum type="arabicPeriod" startAt="3"/>
            </a:pPr>
            <a:r>
              <a:rPr lang="en-US" sz="2800" dirty="0">
                <a:solidFill>
                  <a:srgbClr val="000000"/>
                </a:solidFill>
              </a:rPr>
              <a:t>Isabella, Ethan, and Minh each convert the given formula to degrees Fahrenheit.</a:t>
            </a:r>
          </a:p>
        </p:txBody>
      </p:sp>
      <p:pic>
        <p:nvPicPr>
          <p:cNvPr id="3" name="Picture 2" descr="Thumbs up problem.">
            <a:extLst>
              <a:ext uri="{FF2B5EF4-FFF2-40B4-BE49-F238E27FC236}">
                <a16:creationId xmlns:a16="http://schemas.microsoft.com/office/drawing/2014/main" id="{C1288FB0-25FC-1702-A41E-3C19EC04E60F}"/>
              </a:ext>
            </a:extLst>
          </p:cNvPr>
          <p:cNvPicPr>
            <a:picLocks noChangeAspect="1"/>
          </p:cNvPicPr>
          <p:nvPr/>
        </p:nvPicPr>
        <p:blipFill>
          <a:blip r:embed="rId3"/>
          <a:stretch>
            <a:fillRect/>
          </a:stretch>
        </p:blipFill>
        <p:spPr>
          <a:xfrm>
            <a:off x="1375568" y="2791411"/>
            <a:ext cx="3280539" cy="3295762"/>
          </a:xfrm>
          <a:prstGeom prst="rect">
            <a:avLst/>
          </a:prstGeom>
        </p:spPr>
      </p:pic>
      <p:sp>
        <p:nvSpPr>
          <p:cNvPr id="4" name="TextBox 3">
            <a:extLst>
              <a:ext uri="{FF2B5EF4-FFF2-40B4-BE49-F238E27FC236}">
                <a16:creationId xmlns:a16="http://schemas.microsoft.com/office/drawing/2014/main" id="{59438BA2-D049-66B8-C8B9-FE9A5CD51581}"/>
              </a:ext>
            </a:extLst>
          </p:cNvPr>
          <p:cNvSpPr txBox="1"/>
          <p:nvPr/>
        </p:nvSpPr>
        <p:spPr>
          <a:xfrm>
            <a:off x="5178056" y="2892056"/>
            <a:ext cx="5252484" cy="800219"/>
          </a:xfrm>
          <a:prstGeom prst="rect">
            <a:avLst/>
          </a:prstGeom>
          <a:noFill/>
        </p:spPr>
        <p:txBody>
          <a:bodyPr wrap="square" rtlCol="0">
            <a:spAutoFit/>
          </a:bodyPr>
          <a:lstStyle/>
          <a:p>
            <a:pPr marL="342900" indent="-342900">
              <a:buFont typeface="+mj-lt"/>
              <a:buAutoNum type="alphaLcPeriod"/>
            </a:pPr>
            <a:r>
              <a:rPr lang="en-US" sz="2800" dirty="0">
                <a:solidFill>
                  <a:srgbClr val="000000"/>
                </a:solidFill>
              </a:rPr>
              <a:t>Explain Isabella’s reasoning.</a:t>
            </a:r>
          </a:p>
          <a:p>
            <a:pPr marL="342900" lvl="1" indent="0">
              <a:lnSpc>
                <a:spcPct val="100000"/>
              </a:lnSpc>
              <a:spcBef>
                <a:spcPts val="200"/>
              </a:spcBef>
              <a:spcAft>
                <a:spcPts val="600"/>
              </a:spcAft>
              <a:buNone/>
            </a:pPr>
            <a:r>
              <a:rPr lang="en-US" sz="1800" dirty="0">
                <a:solidFill>
                  <a:srgbClr val="FF0000"/>
                </a:solidFill>
              </a:rPr>
              <a:t>She distributed 5/9, multiplied both sides by 9, added 160, then divided by 5: F = (9/5)C + 32.</a:t>
            </a:r>
          </a:p>
          <a:p>
            <a:endParaRPr lang="en-US" dirty="0"/>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363</a:t>
            </a:r>
          </a:p>
        </p:txBody>
      </p:sp>
    </p:spTree>
    <p:extLst>
      <p:ext uri="{BB962C8B-B14F-4D97-AF65-F5344CB8AC3E}">
        <p14:creationId xmlns:p14="http://schemas.microsoft.com/office/powerpoint/2010/main" val="65377534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2C664-509A-1561-4C15-AE1A1E6BC54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4CAD04DD-A495-50C0-0AAD-6BFA8F9BB6E9}"/>
              </a:ext>
            </a:extLst>
          </p:cNvPr>
          <p:cNvSpPr>
            <a:spLocks noGrp="1"/>
          </p:cNvSpPr>
          <p:nvPr>
            <p:ph type="title"/>
          </p:nvPr>
        </p:nvSpPr>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(6 of 11)</a:t>
            </a:r>
          </a:p>
        </p:txBody>
      </p:sp>
      <p:pic>
        <p:nvPicPr>
          <p:cNvPr id="3" name="Picture 2" descr="Thumbs down problem.">
            <a:extLst>
              <a:ext uri="{FF2B5EF4-FFF2-40B4-BE49-F238E27FC236}">
                <a16:creationId xmlns:a16="http://schemas.microsoft.com/office/drawing/2014/main" id="{7EF9DE5A-5DC7-324B-DD47-5DF0F436CD67}"/>
              </a:ext>
            </a:extLst>
          </p:cNvPr>
          <p:cNvPicPr>
            <a:picLocks noChangeAspect="1"/>
          </p:cNvPicPr>
          <p:nvPr/>
        </p:nvPicPr>
        <p:blipFill>
          <a:blip r:embed="rId3"/>
          <a:stretch>
            <a:fillRect/>
          </a:stretch>
        </p:blipFill>
        <p:spPr>
          <a:xfrm>
            <a:off x="2302446" y="1741250"/>
            <a:ext cx="3191320" cy="3400900"/>
          </a:xfrm>
          <a:prstGeom prst="rect">
            <a:avLst/>
          </a:prstGeom>
        </p:spPr>
      </p:pic>
      <p:cxnSp>
        <p:nvCxnSpPr>
          <p:cNvPr id="6" name="Straight Connector 5">
            <a:extLst>
              <a:ext uri="{FF2B5EF4-FFF2-40B4-BE49-F238E27FC236}">
                <a16:creationId xmlns:a16="http://schemas.microsoft.com/office/drawing/2014/main" id="{101A04E2-D059-4BCB-5D6C-CCFD122D4BA5}"/>
              </a:ext>
              <a:ext uri="{C183D7F6-B498-43B3-948B-1728B52AA6E4}">
                <adec:decorative xmlns:adec="http://schemas.microsoft.com/office/drawing/2017/decorative" val="1"/>
              </a:ext>
            </a:extLst>
          </p:cNvPr>
          <p:cNvCxnSpPr>
            <a:cxnSpLocks/>
          </p:cNvCxnSpPr>
          <p:nvPr/>
        </p:nvCxnSpPr>
        <p:spPr>
          <a:xfrm>
            <a:off x="5864224" y="1791759"/>
            <a:ext cx="0" cy="4572000"/>
          </a:xfrm>
          <a:prstGeom prst="line">
            <a:avLst/>
          </a:prstGeom>
          <a:ln w="31750">
            <a:solidFill>
              <a:srgbClr val="236739"/>
            </a:solidFill>
            <a:prstDash val="sysDot"/>
          </a:ln>
        </p:spPr>
        <p:style>
          <a:lnRef idx="2">
            <a:schemeClr val="dk1"/>
          </a:lnRef>
          <a:fillRef idx="0">
            <a:schemeClr val="dk1"/>
          </a:fillRef>
          <a:effectRef idx="1">
            <a:schemeClr val="dk1"/>
          </a:effectRef>
          <a:fontRef idx="minor">
            <a:schemeClr val="tx1"/>
          </a:fontRef>
        </p:style>
      </p:cxnSp>
      <p:pic>
        <p:nvPicPr>
          <p:cNvPr id="5" name="Picture 4" descr="Thumbs down problem.">
            <a:extLst>
              <a:ext uri="{FF2B5EF4-FFF2-40B4-BE49-F238E27FC236}">
                <a16:creationId xmlns:a16="http://schemas.microsoft.com/office/drawing/2014/main" id="{29AB9BF1-5F44-4633-2C75-B8AE7466B19B}"/>
              </a:ext>
            </a:extLst>
          </p:cNvPr>
          <p:cNvPicPr>
            <a:picLocks noChangeAspect="1"/>
          </p:cNvPicPr>
          <p:nvPr/>
        </p:nvPicPr>
        <p:blipFill>
          <a:blip r:embed="rId4"/>
          <a:stretch>
            <a:fillRect/>
          </a:stretch>
        </p:blipFill>
        <p:spPr>
          <a:xfrm>
            <a:off x="6234682" y="1742839"/>
            <a:ext cx="3200847" cy="3372321"/>
          </a:xfrm>
          <a:prstGeom prst="rect">
            <a:avLst/>
          </a:prstGeom>
        </p:spPr>
      </p:pic>
      <p:sp>
        <p:nvSpPr>
          <p:cNvPr id="1011" name="Slide Number 101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35</a:t>
            </a:fld>
          </a:p>
        </p:txBody>
      </p:sp>
      <p:sp>
        <p:nvSpPr>
          <p:cNvPr id="1012" name="Answer 101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363</a:t>
            </a:r>
          </a:p>
        </p:txBody>
      </p:sp>
    </p:spTree>
    <p:extLst>
      <p:ext uri="{BB962C8B-B14F-4D97-AF65-F5344CB8AC3E}">
        <p14:creationId xmlns:p14="http://schemas.microsoft.com/office/powerpoint/2010/main" val="239483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81AE3-50F6-1309-C0D3-656D4E7B4AAC}"/>
            </a:ext>
          </a:extLst>
        </p:cNvPr>
        <p:cNvGrpSpPr/>
        <p:nvPr/>
      </p:nvGrpSpPr>
      <p:grpSpPr>
        <a:xfrm>
          <a:off x="0" y="0"/>
          <a:ext cx="0" cy="0"/>
          <a:chOff x="0" y="0"/>
          <a:chExt cx="0" cy="0"/>
        </a:xfrm>
      </p:grpSpPr>
      <p:sp>
        <p:nvSpPr>
          <p:cNvPr id="15" name="Title 2">
            <a:extLst>
              <a:ext uri="{FF2B5EF4-FFF2-40B4-BE49-F238E27FC236}">
                <a16:creationId xmlns:a16="http://schemas.microsoft.com/office/drawing/2014/main" id="{5E0394C5-6646-5BD9-4192-48D0705EA6E0}"/>
              </a:ext>
            </a:extLst>
          </p:cNvPr>
          <p:cNvSpPr>
            <a:spLocks noGrp="1"/>
          </p:cNvSpPr>
          <p:nvPr>
            <p:ph type="title"/>
          </p:nvPr>
        </p:nvSpPr>
        <p:spPr>
          <a:xfrm>
            <a:off x="777240" y="1"/>
            <a:ext cx="11425482" cy="1263192"/>
          </a:xfrm>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(7 of 11)</a:t>
            </a:r>
          </a:p>
        </p:txBody>
      </p:sp>
      <p:sp>
        <p:nvSpPr>
          <p:cNvPr id="6" name="Text Placeholder 2">
            <a:extLst>
              <a:ext uri="{FF2B5EF4-FFF2-40B4-BE49-F238E27FC236}">
                <a16:creationId xmlns:a16="http://schemas.microsoft.com/office/drawing/2014/main" id="{419D49B1-881A-ACB7-B72F-6D9AB4A1EBCB}"/>
              </a:ext>
            </a:extLst>
          </p:cNvPr>
          <p:cNvSpPr txBox="1">
            <a:spLocks/>
          </p:cNvSpPr>
          <p:nvPr/>
        </p:nvSpPr>
        <p:spPr>
          <a:xfrm>
            <a:off x="734788" y="1616529"/>
            <a:ext cx="4517695"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Bef>
                <a:spcPts val="24"/>
              </a:spcBef>
              <a:buFont typeface="+mj-lt"/>
              <a:buAutoNum type="alphaLcPeriod" startAt="2"/>
            </a:pPr>
            <a:r>
              <a:rPr lang="en-US" sz="2800" dirty="0">
                <a:solidFill>
                  <a:srgbClr val="000000"/>
                </a:solidFill>
              </a:rPr>
              <a:t>Explain the error in Ethan’s work.</a:t>
            </a:r>
          </a:p>
          <a:p>
            <a:pPr marL="514350" lvl="1" indent="0">
              <a:lnSpc>
                <a:spcPct val="100000"/>
              </a:lnSpc>
              <a:spcBef>
                <a:spcPts val="200"/>
              </a:spcBef>
              <a:spcAft>
                <a:spcPts val="600"/>
              </a:spcAft>
              <a:buNone/>
            </a:pPr>
            <a:r>
              <a:rPr lang="en-US" sz="2000" dirty="0">
                <a:solidFill>
                  <a:srgbClr val="FF0000"/>
                </a:solidFill>
              </a:rPr>
              <a:t>In line 2 he did not distribute 5/9 to the 32.</a:t>
            </a:r>
          </a:p>
        </p:txBody>
      </p:sp>
      <p:cxnSp>
        <p:nvCxnSpPr>
          <p:cNvPr id="10" name="Straight Connector 9">
            <a:extLst>
              <a:ext uri="{FF2B5EF4-FFF2-40B4-BE49-F238E27FC236}">
                <a16:creationId xmlns:a16="http://schemas.microsoft.com/office/drawing/2014/main" id="{FF60B01C-E5C5-F257-A1B7-5F9BB092720D}"/>
              </a:ext>
              <a:ext uri="{C183D7F6-B498-43B3-948B-1728B52AA6E4}">
                <adec:decorative xmlns:adec="http://schemas.microsoft.com/office/drawing/2017/decorative" val="1"/>
              </a:ext>
            </a:extLst>
          </p:cNvPr>
          <p:cNvCxnSpPr>
            <a:cxnSpLocks/>
          </p:cNvCxnSpPr>
          <p:nvPr/>
        </p:nvCxnSpPr>
        <p:spPr>
          <a:xfrm>
            <a:off x="5575921" y="1855555"/>
            <a:ext cx="0" cy="1296000"/>
          </a:xfrm>
          <a:prstGeom prst="line">
            <a:avLst/>
          </a:prstGeom>
          <a:ln w="31750">
            <a:solidFill>
              <a:srgbClr val="236739"/>
            </a:solidFill>
            <a:prstDash val="sysDot"/>
          </a:ln>
        </p:spPr>
        <p:style>
          <a:lnRef idx="2">
            <a:schemeClr val="dk1"/>
          </a:lnRef>
          <a:fillRef idx="0">
            <a:schemeClr val="dk1"/>
          </a:fillRef>
          <a:effectRef idx="1">
            <a:schemeClr val="dk1"/>
          </a:effectRef>
          <a:fontRef idx="minor">
            <a:schemeClr val="tx1"/>
          </a:fontRef>
        </p:style>
      </p:cxnSp>
      <p:sp>
        <p:nvSpPr>
          <p:cNvPr id="11" name="Text Placeholder 2">
            <a:extLst>
              <a:ext uri="{FF2B5EF4-FFF2-40B4-BE49-F238E27FC236}">
                <a16:creationId xmlns:a16="http://schemas.microsoft.com/office/drawing/2014/main" id="{2834C263-86F8-AA33-C159-EFAE5CF7A0DB}"/>
              </a:ext>
            </a:extLst>
          </p:cNvPr>
          <p:cNvSpPr txBox="1">
            <a:spLocks/>
          </p:cNvSpPr>
          <p:nvPr/>
        </p:nvSpPr>
        <p:spPr>
          <a:xfrm>
            <a:off x="6121400" y="1587500"/>
            <a:ext cx="4341036" cy="124459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3"/>
            </a:pPr>
            <a:r>
              <a:rPr lang="en-US" sz="2800" dirty="0">
                <a:solidFill>
                  <a:srgbClr val="000000"/>
                </a:solidFill>
              </a:rPr>
              <a:t>Explain the error in Minh’s work.</a:t>
            </a:r>
            <a:endParaRPr lang="es-ES" sz="2800" dirty="0">
              <a:solidFill>
                <a:srgbClr val="000000"/>
              </a:solidFill>
            </a:endParaRPr>
          </a:p>
          <a:p>
            <a:pPr marL="514350" lvl="1" indent="0">
              <a:lnSpc>
                <a:spcPct val="100000"/>
              </a:lnSpc>
              <a:spcBef>
                <a:spcPts val="200"/>
              </a:spcBef>
              <a:spcAft>
                <a:spcPts val="600"/>
              </a:spcAft>
              <a:buNone/>
            </a:pPr>
            <a:r>
              <a:rPr lang="en-US" sz="2000" dirty="0">
                <a:solidFill>
                  <a:srgbClr val="FF0000"/>
                </a:solidFill>
              </a:rPr>
              <a:t>He multiplied by 9 wrong: 9 · (5/9)F = 5F (not 45F) and 9 · (160/9) = 160 (not 1440).</a:t>
            </a:r>
          </a:p>
          <a:p>
            <a:pPr marL="466344" indent="0">
              <a:buFont typeface="+mj-lt"/>
              <a:buAutoNum type="alphaLcPeriod"/>
            </a:pPr>
            <a:endParaRPr lang="es-ES" sz="2800" dirty="0">
              <a:solidFill>
                <a:srgbClr val="000000"/>
              </a:solidFill>
            </a:endParaRPr>
          </a:p>
          <a:p>
            <a:pPr marL="0" indent="0">
              <a:buNone/>
            </a:pPr>
            <a:endParaRPr lang="en-US" sz="2800" dirty="0">
              <a:solidFill>
                <a:srgbClr val="000000"/>
              </a:solidFill>
            </a:endParaRPr>
          </a:p>
        </p:txBody>
      </p:sp>
      <p:sp>
        <p:nvSpPr>
          <p:cNvPr id="1015" name="Slide Number 101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36</a:t>
            </a:fld>
          </a:p>
        </p:txBody>
      </p:sp>
      <p:sp>
        <p:nvSpPr>
          <p:cNvPr id="1016" name="Answer 101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363</a:t>
            </a:r>
          </a:p>
        </p:txBody>
      </p:sp>
    </p:spTree>
    <p:extLst>
      <p:ext uri="{BB962C8B-B14F-4D97-AF65-F5344CB8AC3E}">
        <p14:creationId xmlns:p14="http://schemas.microsoft.com/office/powerpoint/2010/main" val="3286640500"/>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334C5-CE38-1005-45F6-E049077EB357}"/>
            </a:ext>
          </a:extLst>
        </p:cNvPr>
        <p:cNvGrpSpPr/>
        <p:nvPr/>
      </p:nvGrpSpPr>
      <p:grpSpPr>
        <a:xfrm>
          <a:off x="0" y="0"/>
          <a:ext cx="0" cy="0"/>
          <a:chOff x="0" y="0"/>
          <a:chExt cx="0" cy="0"/>
        </a:xfrm>
      </p:grpSpPr>
      <p:sp>
        <p:nvSpPr>
          <p:cNvPr id="7" name="Title 2">
            <a:extLst>
              <a:ext uri="{FF2B5EF4-FFF2-40B4-BE49-F238E27FC236}">
                <a16:creationId xmlns:a16="http://schemas.microsoft.com/office/drawing/2014/main" id="{D840211E-09AD-1861-54BE-D1244060903E}"/>
              </a:ext>
            </a:extLst>
          </p:cNvPr>
          <p:cNvSpPr>
            <a:spLocks noGrp="1"/>
          </p:cNvSpPr>
          <p:nvPr>
            <p:ph type="title"/>
          </p:nvPr>
        </p:nvSpPr>
        <p:spPr>
          <a:xfrm>
            <a:off x="777240" y="1"/>
            <a:ext cx="11425482" cy="1263192"/>
          </a:xfrm>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(8 of 11)</a:t>
            </a:r>
          </a:p>
        </p:txBody>
      </p:sp>
      <p:sp>
        <p:nvSpPr>
          <p:cNvPr id="2" name="Rectangle: Rounded Corners 1">
            <a:extLst>
              <a:ext uri="{FF2B5EF4-FFF2-40B4-BE49-F238E27FC236}">
                <a16:creationId xmlns:a16="http://schemas.microsoft.com/office/drawing/2014/main" id="{07ED3D1B-11F7-DBF1-06B0-9D8E7B0EDF5E}"/>
              </a:ext>
              <a:ext uri="{C183D7F6-B498-43B3-948B-1728B52AA6E4}">
                <adec:decorative xmlns:adec="http://schemas.microsoft.com/office/drawing/2017/decorative" val="1"/>
              </a:ext>
            </a:extLst>
          </p:cNvPr>
          <p:cNvSpPr/>
          <p:nvPr/>
        </p:nvSpPr>
        <p:spPr>
          <a:xfrm>
            <a:off x="888999" y="1420585"/>
            <a:ext cx="10693401" cy="4929415"/>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Worked Example">
            <a:extLst>
              <a:ext uri="{FF2B5EF4-FFF2-40B4-BE49-F238E27FC236}">
                <a16:creationId xmlns:a16="http://schemas.microsoft.com/office/drawing/2014/main" id="{E4807412-FB7B-CA86-FF95-B44B4A0803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5466" y="1207206"/>
            <a:ext cx="2758679" cy="426757"/>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E318706-D06A-867A-E1AB-A68A91AF0320}"/>
                  </a:ext>
                </a:extLst>
              </p:cNvPr>
              <p:cNvSpPr txBox="1"/>
              <p:nvPr/>
            </p:nvSpPr>
            <p:spPr>
              <a:xfrm>
                <a:off x="1339845" y="1649198"/>
                <a:ext cx="10166355" cy="4688656"/>
              </a:xfrm>
              <a:prstGeom prst="rect">
                <a:avLst/>
              </a:prstGeom>
              <a:noFill/>
            </p:spPr>
            <p:txBody>
              <a:bodyPr wrap="square" rtlCol="0">
                <a:spAutoFit/>
              </a:bodyPr>
              <a:lstStyle/>
              <a:p>
                <a:pPr algn="l"/>
                <a:r>
                  <a:rPr lang="en-US" sz="2800" b="0" i="0" u="none" strike="noStrike" baseline="0" dirty="0">
                    <a:solidFill>
                      <a:srgbClr val="000000"/>
                    </a:solidFill>
                  </a:rPr>
                  <a:t>You can use multiplication to rewrite an equation without fractions.</a:t>
                </a:r>
              </a:p>
              <a:p>
                <a:pPr algn="l"/>
                <a:r>
                  <a:rPr lang="en-US" sz="2800" b="0" i="0" u="none" strike="noStrike" baseline="0" dirty="0">
                    <a:solidFill>
                      <a:srgbClr val="000000"/>
                    </a:solidFill>
                  </a:rPr>
                  <a:t>Consider the final equation from Isabella’s work.</a:t>
                </a:r>
              </a:p>
              <a:p>
                <a:pPr algn="l"/>
                <a:endParaRPr lang="en-US" sz="2800" dirty="0">
                  <a:solidFill>
                    <a:srgbClr val="000000"/>
                  </a:solidFill>
                </a:endParaRPr>
              </a:p>
              <a:p>
                <a:pPr algn="l"/>
                <a14:m>
                  <m:oMath xmlns:m="http://schemas.openxmlformats.org/officeDocument/2006/math">
                    <m:f>
                      <m:fPr>
                        <m:ctrlPr>
                          <a:rPr lang="en-US" sz="2800" i="1" dirty="0" smtClean="0">
                            <a:solidFill>
                              <a:srgbClr val="000000"/>
                            </a:solidFill>
                            <a:latin typeface="Cambria Math" panose="02040503050406030204" pitchFamily="18" charset="0"/>
                          </a:rPr>
                        </m:ctrlPr>
                      </m:fPr>
                      <m:num>
                        <m:r>
                          <a:rPr lang="en-IN" sz="2800" b="0" i="1" dirty="0" smtClean="0">
                            <a:solidFill>
                              <a:srgbClr val="000000"/>
                            </a:solidFill>
                            <a:latin typeface="Cambria Math" panose="02040503050406030204" pitchFamily="18" charset="0"/>
                          </a:rPr>
                          <m:t>9</m:t>
                        </m:r>
                      </m:num>
                      <m:den>
                        <m:r>
                          <a:rPr lang="en-IN" sz="2800" b="0" i="1" dirty="0" smtClean="0">
                            <a:solidFill>
                              <a:srgbClr val="000000"/>
                            </a:solidFill>
                            <a:latin typeface="Cambria Math" panose="02040503050406030204" pitchFamily="18" charset="0"/>
                          </a:rPr>
                          <m:t>5</m:t>
                        </m:r>
                      </m:den>
                    </m:f>
                    <m:r>
                      <a:rPr lang="en-US" sz="2800" b="0" i="1" dirty="0" smtClean="0">
                        <a:solidFill>
                          <a:srgbClr val="000000"/>
                        </a:solidFill>
                        <a:latin typeface="Cambria Math" panose="02040503050406030204" pitchFamily="18" charset="0"/>
                      </a:rPr>
                      <m:t>𝐶</m:t>
                    </m:r>
                    <m:r>
                      <a:rPr lang="en-US" sz="2800" b="0" i="1" dirty="0" smtClean="0">
                        <a:solidFill>
                          <a:srgbClr val="000000"/>
                        </a:solidFill>
                        <a:latin typeface="Cambria Math" panose="02040503050406030204" pitchFamily="18" charset="0"/>
                      </a:rPr>
                      <m:t>+32</m:t>
                    </m:r>
                    <m:r>
                      <a:rPr lang="en-US" sz="2800" b="0" i="0" dirty="0" smtClean="0">
                        <a:solidFill>
                          <a:srgbClr val="000000"/>
                        </a:solidFill>
                        <a:latin typeface="Cambria Math" panose="02040503050406030204" pitchFamily="18" charset="0"/>
                      </a:rPr>
                      <m:t>=</m:t>
                    </m:r>
                    <m:r>
                      <a:rPr lang="en-US" sz="2800" b="0" i="1" dirty="0" smtClean="0">
                        <a:solidFill>
                          <a:srgbClr val="000000"/>
                        </a:solidFill>
                        <a:latin typeface="Cambria Math" panose="02040503050406030204" pitchFamily="18" charset="0"/>
                      </a:rPr>
                      <m:t>𝐹</m:t>
                    </m:r>
                  </m:oMath>
                </a14:m>
                <a:r>
                  <a:rPr lang="en-US" sz="2800" dirty="0">
                    <a:solidFill>
                      <a:srgbClr val="000000"/>
                    </a:solidFill>
                  </a:rPr>
                  <a:t>  </a:t>
                </a:r>
              </a:p>
              <a:p>
                <a:pPr/>
                <a14:m>
                  <m:oMathPara xmlns:m="http://schemas.openxmlformats.org/officeDocument/2006/math">
                    <m:oMathParaPr>
                      <m:jc m:val="left"/>
                    </m:oMathParaPr>
                    <m:oMath xmlns:m="http://schemas.openxmlformats.org/officeDocument/2006/math">
                      <m:r>
                        <a:rPr lang="en-US" sz="2800" b="0" i="0" smtClean="0">
                          <a:solidFill>
                            <a:srgbClr val="000000"/>
                          </a:solidFill>
                          <a:latin typeface="Cambria Math" panose="02040503050406030204" pitchFamily="18" charset="0"/>
                        </a:rPr>
                        <m:t>5</m:t>
                      </m:r>
                      <m:d>
                        <m:dPr>
                          <m:ctrlPr>
                            <a:rPr lang="en-US" sz="2800" i="1" smtClean="0">
                              <a:solidFill>
                                <a:srgbClr val="000000"/>
                              </a:solidFill>
                              <a:latin typeface="Cambria Math" panose="02040503050406030204" pitchFamily="18" charset="0"/>
                            </a:rPr>
                          </m:ctrlPr>
                        </m:dPr>
                        <m:e>
                          <m:f>
                            <m:fPr>
                              <m:ctrlPr>
                                <a:rPr lang="en-US" sz="2800" i="1" dirty="0">
                                  <a:solidFill>
                                    <a:srgbClr val="000000"/>
                                  </a:solidFill>
                                  <a:latin typeface="Cambria Math" panose="02040503050406030204" pitchFamily="18" charset="0"/>
                                </a:rPr>
                              </m:ctrlPr>
                            </m:fPr>
                            <m:num>
                              <m:r>
                                <a:rPr lang="en-IN" sz="2800" b="0" i="1" dirty="0" smtClean="0">
                                  <a:solidFill>
                                    <a:srgbClr val="000000"/>
                                  </a:solidFill>
                                  <a:latin typeface="Cambria Math" panose="02040503050406030204" pitchFamily="18" charset="0"/>
                                </a:rPr>
                                <m:t>9</m:t>
                              </m:r>
                            </m:num>
                            <m:den>
                              <m:r>
                                <a:rPr lang="en-IN" sz="2800" b="0" i="1" dirty="0" smtClean="0">
                                  <a:solidFill>
                                    <a:srgbClr val="000000"/>
                                  </a:solidFill>
                                  <a:latin typeface="Cambria Math" panose="02040503050406030204" pitchFamily="18" charset="0"/>
                                </a:rPr>
                                <m:t>5</m:t>
                              </m:r>
                            </m:den>
                          </m:f>
                          <m:r>
                            <a:rPr lang="en-US" sz="2800" i="1" dirty="0">
                              <a:solidFill>
                                <a:srgbClr val="000000"/>
                              </a:solidFill>
                              <a:latin typeface="Cambria Math" panose="02040503050406030204" pitchFamily="18" charset="0"/>
                            </a:rPr>
                            <m:t>𝐶</m:t>
                          </m:r>
                          <m:r>
                            <a:rPr lang="en-US" sz="2800" i="1" dirty="0">
                              <a:solidFill>
                                <a:srgbClr val="000000"/>
                              </a:solidFill>
                              <a:latin typeface="Cambria Math" panose="02040503050406030204" pitchFamily="18" charset="0"/>
                            </a:rPr>
                            <m:t>+32</m:t>
                          </m:r>
                        </m:e>
                      </m:d>
                      <m:r>
                        <a:rPr lang="en-US" sz="2800" dirty="0">
                          <a:solidFill>
                            <a:srgbClr val="000000"/>
                          </a:solidFill>
                          <a:latin typeface="Cambria Math" panose="02040503050406030204" pitchFamily="18" charset="0"/>
                        </a:rPr>
                        <m:t>=</m:t>
                      </m:r>
                      <m:r>
                        <a:rPr lang="en-US" sz="2800" b="0" i="0" dirty="0" smtClean="0">
                          <a:solidFill>
                            <a:srgbClr val="000000"/>
                          </a:solidFill>
                          <a:latin typeface="Cambria Math" panose="02040503050406030204" pitchFamily="18" charset="0"/>
                        </a:rPr>
                        <m:t>(5)</m:t>
                      </m:r>
                      <m:r>
                        <a:rPr lang="en-US" sz="2800" i="1" dirty="0">
                          <a:solidFill>
                            <a:srgbClr val="000000"/>
                          </a:solidFill>
                          <a:latin typeface="Cambria Math" panose="02040503050406030204" pitchFamily="18" charset="0"/>
                        </a:rPr>
                        <m:t>𝐹</m:t>
                      </m:r>
                    </m:oMath>
                  </m:oMathPara>
                </a14:m>
                <a:endParaRPr lang="en-US" sz="2800" i="1" dirty="0">
                  <a:solidFill>
                    <a:srgbClr val="000000"/>
                  </a:solidFill>
                </a:endParaRPr>
              </a:p>
              <a:p>
                <a:endParaRPr lang="en-US" sz="2800" dirty="0">
                  <a:solidFill>
                    <a:srgbClr val="000000"/>
                  </a:solidFill>
                </a:endParaRPr>
              </a:p>
              <a:p>
                <a:pPr/>
                <a14:m>
                  <m:oMathPara xmlns:m="http://schemas.openxmlformats.org/officeDocument/2006/math">
                    <m:oMathParaPr>
                      <m:jc m:val="left"/>
                    </m:oMathParaPr>
                    <m:oMath xmlns:m="http://schemas.openxmlformats.org/officeDocument/2006/math">
                      <m:r>
                        <a:rPr lang="en-US" sz="2800" i="1" dirty="0" smtClean="0">
                          <a:solidFill>
                            <a:srgbClr val="000000"/>
                          </a:solidFill>
                          <a:latin typeface="Cambria Math" panose="02040503050406030204" pitchFamily="18" charset="0"/>
                        </a:rPr>
                        <m:t>9</m:t>
                      </m:r>
                      <m:r>
                        <a:rPr lang="en-US" sz="2800" i="1" dirty="0" smtClean="0">
                          <a:solidFill>
                            <a:srgbClr val="000000"/>
                          </a:solidFill>
                          <a:latin typeface="Cambria Math" panose="02040503050406030204" pitchFamily="18" charset="0"/>
                        </a:rPr>
                        <m:t>𝐶</m:t>
                      </m:r>
                      <m:r>
                        <a:rPr lang="en-US" sz="2800" b="0" i="1" dirty="0" smtClean="0">
                          <a:solidFill>
                            <a:srgbClr val="000000"/>
                          </a:solidFill>
                          <a:latin typeface="Cambria Math" panose="02040503050406030204" pitchFamily="18" charset="0"/>
                        </a:rPr>
                        <m:t>+160=</m:t>
                      </m:r>
                      <m:r>
                        <a:rPr lang="en-IN" sz="2800" b="0" i="1" dirty="0" smtClean="0">
                          <a:solidFill>
                            <a:srgbClr val="000000"/>
                          </a:solidFill>
                          <a:latin typeface="Cambria Math" panose="02040503050406030204" pitchFamily="18" charset="0"/>
                        </a:rPr>
                        <m:t>5</m:t>
                      </m:r>
                      <m:r>
                        <a:rPr lang="en-US" sz="2800" i="1" dirty="0" smtClean="0">
                          <a:solidFill>
                            <a:srgbClr val="000000"/>
                          </a:solidFill>
                          <a:latin typeface="Cambria Math" panose="02040503050406030204" pitchFamily="18" charset="0"/>
                        </a:rPr>
                        <m:t>𝐹</m:t>
                      </m:r>
                    </m:oMath>
                  </m:oMathPara>
                </a14:m>
                <a:endParaRPr lang="en-US" sz="2800" dirty="0">
                  <a:solidFill>
                    <a:srgbClr val="000000"/>
                  </a:solidFill>
                </a:endParaRPr>
              </a:p>
              <a:p>
                <a:pPr/>
                <a14:m>
                  <m:oMathPara xmlns:m="http://schemas.openxmlformats.org/officeDocument/2006/math">
                    <m:oMathParaPr>
                      <m:jc m:val="left"/>
                    </m:oMathParaPr>
                    <m:oMath xmlns:m="http://schemas.openxmlformats.org/officeDocument/2006/math">
                      <m:r>
                        <a:rPr lang="en-US" sz="2800" i="1" dirty="0" smtClean="0">
                          <a:solidFill>
                            <a:srgbClr val="000000"/>
                          </a:solidFill>
                          <a:latin typeface="Cambria Math" panose="02040503050406030204" pitchFamily="18" charset="0"/>
                        </a:rPr>
                        <m:t>160</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5</m:t>
                      </m:r>
                      <m:r>
                        <a:rPr lang="en-US" sz="2800" i="1" dirty="0" smtClean="0">
                          <a:solidFill>
                            <a:srgbClr val="000000"/>
                          </a:solidFill>
                          <a:latin typeface="Cambria Math" panose="02040503050406030204" pitchFamily="18" charset="0"/>
                        </a:rPr>
                        <m:t>𝐹</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9</m:t>
                      </m:r>
                      <m:r>
                        <a:rPr lang="en-US" sz="2800" i="1" dirty="0" smtClean="0">
                          <a:solidFill>
                            <a:srgbClr val="000000"/>
                          </a:solidFill>
                          <a:latin typeface="Cambria Math" panose="02040503050406030204" pitchFamily="18" charset="0"/>
                        </a:rPr>
                        <m:t>𝐶</m:t>
                      </m:r>
                    </m:oMath>
                  </m:oMathPara>
                </a14:m>
                <a:endParaRPr lang="en-US" sz="2800" dirty="0">
                  <a:solidFill>
                    <a:srgbClr val="000000"/>
                  </a:solidFill>
                </a:endParaRPr>
              </a:p>
              <a:p>
                <a:endParaRPr lang="en-US" sz="2800" dirty="0">
                  <a:solidFill>
                    <a:srgbClr val="000000"/>
                  </a:solidFill>
                </a:endParaRPr>
              </a:p>
            </p:txBody>
          </p:sp>
        </mc:Choice>
        <mc:Fallback xmlns="">
          <p:sp>
            <p:nvSpPr>
              <p:cNvPr id="5" name="TextBox 4">
                <a:extLst>
                  <a:ext uri="{FF2B5EF4-FFF2-40B4-BE49-F238E27FC236}">
                    <a16:creationId xmlns:a16="http://schemas.microsoft.com/office/drawing/2014/main" id="{DE318706-D06A-867A-E1AB-A68A91AF0320}"/>
                  </a:ext>
                </a:extLst>
              </p:cNvPr>
              <p:cNvSpPr txBox="1">
                <a:spLocks noRot="1" noChangeAspect="1" noMove="1" noResize="1" noEditPoints="1" noAdjustHandles="1" noChangeArrowheads="1" noChangeShapeType="1" noTextEdit="1"/>
              </p:cNvSpPr>
              <p:nvPr/>
            </p:nvSpPr>
            <p:spPr>
              <a:xfrm>
                <a:off x="1339845" y="1649198"/>
                <a:ext cx="10166355" cy="4688656"/>
              </a:xfrm>
              <a:prstGeom prst="rect">
                <a:avLst/>
              </a:prstGeom>
              <a:blipFill>
                <a:blip r:embed="rId4"/>
                <a:stretch>
                  <a:fillRect l="-1259" t="-1300"/>
                </a:stretch>
              </a:blipFill>
            </p:spPr>
            <p:txBody>
              <a:bodyPr/>
              <a:lstStyle/>
              <a:p>
                <a:r>
                  <a:rPr lang="en-US">
                    <a:noFill/>
                  </a:rPr>
                  <a:t> </a:t>
                </a:r>
              </a:p>
            </p:txBody>
          </p:sp>
        </mc:Fallback>
      </mc:AlternateContent>
      <p:sp>
        <p:nvSpPr>
          <p:cNvPr id="6" name="Text Placeholder 2">
            <a:extLst>
              <a:ext uri="{FF2B5EF4-FFF2-40B4-BE49-F238E27FC236}">
                <a16:creationId xmlns:a16="http://schemas.microsoft.com/office/drawing/2014/main" id="{F88DD73F-369B-7995-29CE-05C0543DDF8D}"/>
              </a:ext>
            </a:extLst>
          </p:cNvPr>
          <p:cNvSpPr txBox="1">
            <a:spLocks/>
          </p:cNvSpPr>
          <p:nvPr/>
        </p:nvSpPr>
        <p:spPr>
          <a:xfrm>
            <a:off x="4769127" y="3627663"/>
            <a:ext cx="6737073" cy="234698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Multiply both sides of the equation by 5 to</a:t>
            </a:r>
          </a:p>
          <a:p>
            <a:pPr marL="0" indent="0">
              <a:spcBef>
                <a:spcPts val="24"/>
              </a:spcBef>
              <a:buNone/>
            </a:pPr>
            <a:r>
              <a:rPr lang="en-US" sz="2800" dirty="0">
                <a:solidFill>
                  <a:srgbClr val="000000"/>
                </a:solidFill>
              </a:rPr>
              <a:t>eliminate the fraction.</a:t>
            </a: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Subtract 9</a:t>
            </a:r>
            <a:r>
              <a:rPr lang="en-US" sz="2800" i="1" dirty="0">
                <a:solidFill>
                  <a:srgbClr val="000000"/>
                </a:solidFill>
              </a:rPr>
              <a:t>C</a:t>
            </a:r>
            <a:r>
              <a:rPr lang="en-US" sz="2800" dirty="0">
                <a:solidFill>
                  <a:srgbClr val="000000"/>
                </a:solidFill>
              </a:rPr>
              <a:t> from both sides of the equation.</a:t>
            </a:r>
            <a:br>
              <a:rPr lang="en-US" sz="2800" dirty="0">
                <a:solidFill>
                  <a:srgbClr val="000000"/>
                </a:solidFill>
              </a:rPr>
            </a:br>
            <a:endParaRPr lang="en-US" sz="2800" dirty="0">
              <a:solidFill>
                <a:srgbClr val="000000"/>
              </a:solidFill>
            </a:endParaRPr>
          </a:p>
          <a:p>
            <a:pPr marL="0" indent="0">
              <a:spcBef>
                <a:spcPts val="24"/>
              </a:spcBef>
              <a:buNone/>
            </a:pPr>
            <a:endParaRPr lang="en-US" sz="2800" dirty="0">
              <a:solidFill>
                <a:srgbClr val="000000"/>
              </a:solidFill>
            </a:endParaRPr>
          </a:p>
        </p:txBody>
      </p:sp>
      <p:sp>
        <p:nvSpPr>
          <p:cNvPr id="1007" name="Slide Number 1007"/>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37</a:t>
            </a:fld>
          </a:p>
        </p:txBody>
      </p:sp>
      <p:sp>
        <p:nvSpPr>
          <p:cNvPr id="1008" name="Answer 1008"/>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364</a:t>
            </a:r>
          </a:p>
        </p:txBody>
      </p:sp>
    </p:spTree>
    <p:extLst>
      <p:ext uri="{BB962C8B-B14F-4D97-AF65-F5344CB8AC3E}">
        <p14:creationId xmlns:p14="http://schemas.microsoft.com/office/powerpoint/2010/main" val="27539569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3B6A5-00A4-DE63-328A-FC4C9EA5AD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B12C08-F09E-0A0B-B38A-6E5B9037BAB6}"/>
              </a:ext>
            </a:extLst>
          </p:cNvPr>
          <p:cNvSpPr>
            <a:spLocks noGrp="1"/>
          </p:cNvSpPr>
          <p:nvPr>
            <p:ph type="title"/>
          </p:nvPr>
        </p:nvSpPr>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(9 of 11)</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B33759ED-4865-0C05-63DE-D01107317A76}"/>
                  </a:ext>
                </a:extLst>
              </p:cNvPr>
              <p:cNvSpPr txBox="1">
                <a:spLocks/>
              </p:cNvSpPr>
              <p:nvPr/>
            </p:nvSpPr>
            <p:spPr>
              <a:xfrm>
                <a:off x="734787" y="1616529"/>
                <a:ext cx="9935934"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spcBef>
                    <a:spcPts val="24"/>
                  </a:spcBef>
                  <a:buFont typeface="+mj-lt"/>
                  <a:buAutoNum type="arabicPeriod" startAt="4"/>
                </a:pPr>
                <a:r>
                  <a:rPr lang="en-US" sz="2800" dirty="0">
                    <a:solidFill>
                      <a:srgbClr val="000000"/>
                    </a:solidFill>
                  </a:rPr>
                  <a:t>Use the strategy from the Worked Example to rewrite Isabella’s</a:t>
                </a:r>
              </a:p>
              <a:p>
                <a:pPr marL="0" indent="0">
                  <a:spcBef>
                    <a:spcPts val="24"/>
                  </a:spcBef>
                  <a:buNone/>
                </a:pPr>
                <a:r>
                  <a:rPr lang="en-US" sz="2800" dirty="0">
                    <a:solidFill>
                      <a:srgbClr val="000000"/>
                    </a:solidFill>
                  </a:rPr>
                  <a:t>      original equation </a:t>
                </a:r>
                <a14:m>
                  <m:oMath xmlns:m="http://schemas.openxmlformats.org/officeDocument/2006/math">
                    <m:r>
                      <a:rPr lang="en-US" sz="2800" b="0" i="1" dirty="0" smtClean="0">
                        <a:solidFill>
                          <a:srgbClr val="000000"/>
                        </a:solidFill>
                        <a:latin typeface="Cambria Math" panose="02040503050406030204" pitchFamily="18" charset="0"/>
                      </a:rPr>
                      <m:t>𝐶</m:t>
                    </m:r>
                    <m:r>
                      <a:rPr lang="en-US" sz="2800" b="0" i="0" dirty="0" smtClean="0">
                        <a:solidFill>
                          <a:srgbClr val="000000"/>
                        </a:solidFill>
                        <a:latin typeface="Cambria Math" panose="02040503050406030204" pitchFamily="18" charset="0"/>
                      </a:rPr>
                      <m:t>=</m:t>
                    </m:r>
                    <m:f>
                      <m:fPr>
                        <m:ctrlPr>
                          <a:rPr lang="en-US" sz="2800" i="1" dirty="0" smtClean="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5</m:t>
                        </m:r>
                      </m:num>
                      <m:den>
                        <m:r>
                          <a:rPr lang="en-US" sz="2800" b="0" i="1" dirty="0" smtClean="0">
                            <a:solidFill>
                              <a:srgbClr val="000000"/>
                            </a:solidFill>
                            <a:latin typeface="Cambria Math" panose="02040503050406030204" pitchFamily="18" charset="0"/>
                          </a:rPr>
                          <m:t>9</m:t>
                        </m:r>
                      </m:den>
                    </m:f>
                    <m:r>
                      <a:rPr lang="en-US" sz="2800" b="0" i="1" dirty="0" smtClean="0">
                        <a:solidFill>
                          <a:srgbClr val="000000"/>
                        </a:solidFill>
                        <a:latin typeface="Cambria Math" panose="02040503050406030204" pitchFamily="18" charset="0"/>
                      </a:rPr>
                      <m:t>(</m:t>
                    </m:r>
                    <m:r>
                      <a:rPr lang="en-US" sz="2800" b="0" i="1" dirty="0" smtClean="0">
                        <a:solidFill>
                          <a:srgbClr val="000000"/>
                        </a:solidFill>
                        <a:latin typeface="Cambria Math" panose="02040503050406030204" pitchFamily="18" charset="0"/>
                      </a:rPr>
                      <m:t>𝐹</m:t>
                    </m:r>
                    <m:r>
                      <a:rPr lang="en-US" sz="2800" b="0" i="1" dirty="0" smtClean="0">
                        <a:solidFill>
                          <a:srgbClr val="000000"/>
                        </a:solidFill>
                        <a:latin typeface="Cambria Math" panose="02040503050406030204" pitchFamily="18" charset="0"/>
                      </a:rPr>
                      <m:t>–32)</m:t>
                    </m:r>
                  </m:oMath>
                </a14:m>
                <a:r>
                  <a:rPr lang="en-US" sz="2800" dirty="0">
                    <a:solidFill>
                      <a:srgbClr val="000000"/>
                    </a:solidFill>
                  </a:rPr>
                  <a:t> without fractions.</a:t>
                </a:r>
              </a:p>
              <a:p>
                <a:pPr marL="0" lvl="1" indent="0">
                  <a:lnSpc>
                    <a:spcPct val="100000"/>
                  </a:lnSpc>
                  <a:spcBef>
                    <a:spcPts val="200"/>
                  </a:spcBef>
                  <a:spcAft>
                    <a:spcPts val="600"/>
                  </a:spcAft>
                  <a:buNone/>
                </a:pPr>
                <a:r>
                  <a:rPr lang="en-US" sz="2000" dirty="0">
                    <a:solidFill>
                      <a:srgbClr val="FF0000"/>
                    </a:solidFill>
                  </a:rPr>
                  <a:t>9C = 5(F − 32) → 9C = 5F − 160 → 9C − 5F = −160</a:t>
                </a:r>
              </a:p>
            </p:txBody>
          </p:sp>
        </mc:Choice>
        <mc:Fallback xmlns="">
          <p:sp>
            <p:nvSpPr>
              <p:cNvPr id="9" name="Text Placeholder 2">
                <a:extLst>
                  <a:ext uri="{FF2B5EF4-FFF2-40B4-BE49-F238E27FC236}">
                    <a16:creationId xmlns:a16="http://schemas.microsoft.com/office/drawing/2014/main" id="{B33759ED-4865-0C05-63DE-D01107317A76}"/>
                  </a:ext>
                </a:extLst>
              </p:cNvPr>
              <p:cNvSpPr txBox="1">
                <a:spLocks noRot="1" noChangeAspect="1" noMove="1" noResize="1" noEditPoints="1" noAdjustHandles="1" noChangeArrowheads="1" noChangeShapeType="1" noTextEdit="1"/>
              </p:cNvSpPr>
              <p:nvPr/>
            </p:nvSpPr>
            <p:spPr>
              <a:xfrm>
                <a:off x="734787" y="1616529"/>
                <a:ext cx="9935934" cy="4716538"/>
              </a:xfrm>
              <a:prstGeom prst="rect">
                <a:avLst/>
              </a:prstGeom>
              <a:blipFill>
                <a:blip r:embed="rId3"/>
                <a:stretch>
                  <a:fillRect l="-1289" t="-1421"/>
                </a:stretch>
              </a:blipFill>
            </p:spPr>
            <p:txBody>
              <a:bodyPr/>
              <a:lstStyle/>
              <a:p>
                <a:r>
                  <a:rPr lang="en-US">
                    <a:noFill/>
                  </a:rPr>
                  <a:t> </a:t>
                </a:r>
              </a:p>
            </p:txBody>
          </p:sp>
        </mc:Fallback>
      </mc:AlternateContent>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364</a:t>
            </a:r>
          </a:p>
        </p:txBody>
      </p:sp>
    </p:spTree>
    <p:extLst>
      <p:ext uri="{BB962C8B-B14F-4D97-AF65-F5344CB8AC3E}">
        <p14:creationId xmlns:p14="http://schemas.microsoft.com/office/powerpoint/2010/main" val="166554446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8D126-920B-9EB3-EA3C-CD9F4D4332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3B6174-E48E-031A-23DD-2266341FF809}"/>
              </a:ext>
            </a:extLst>
          </p:cNvPr>
          <p:cNvSpPr>
            <a:spLocks noGrp="1"/>
          </p:cNvSpPr>
          <p:nvPr>
            <p:ph type="title"/>
          </p:nvPr>
        </p:nvSpPr>
        <p:spPr/>
        <p:txBody>
          <a:bodyPr/>
          <a:lstStyle/>
          <a:p>
            <a:pPr algn="l" defTabSz="914400" rtl="0" eaLnBrk="1" latinLnBrk="0" hangingPunct="1">
              <a:lnSpc>
                <a:spcPct val="90000"/>
              </a:lnSpc>
              <a:spcBef>
                <a:spcPct val="0"/>
              </a:spcBef>
              <a:buNone/>
            </a:pPr>
            <a:r>
              <a:rPr lang="en-US" b="1" dirty="0"/>
              <a:t>Rewriting Literal Equations </a:t>
            </a:r>
            <a:r>
              <a:rPr lang="en-US" sz="2000" b="1" kern="1200" dirty="0">
                <a:solidFill>
                  <a:schemeClr val="bg1"/>
                </a:solidFill>
                <a:latin typeface="+mj-lt"/>
                <a:ea typeface="+mj-ea"/>
                <a:cs typeface="+mj-cs"/>
              </a:rPr>
              <a:t>(10 of 11)</a:t>
            </a:r>
          </a:p>
        </p:txBody>
      </p:sp>
      <p:sp>
        <p:nvSpPr>
          <p:cNvPr id="9" name="Text Placeholder 2">
            <a:extLst>
              <a:ext uri="{FF2B5EF4-FFF2-40B4-BE49-F238E27FC236}">
                <a16:creationId xmlns:a16="http://schemas.microsoft.com/office/drawing/2014/main" id="{56ABB7E8-72A8-C1F9-5B94-04A97A1755AE}"/>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2.2!</a:t>
            </a:r>
          </a:p>
        </p:txBody>
      </p:sp>
      <p:pic>
        <p:nvPicPr>
          <p:cNvPr id="2" name="Picture 1">
            <a:extLst>
              <a:ext uri="{FF2B5EF4-FFF2-40B4-BE49-F238E27FC236}">
                <a16:creationId xmlns:a16="http://schemas.microsoft.com/office/drawing/2014/main" id="{D2173AB5-9DAF-694F-EC3E-CF36EE34984B}"/>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364</a:t>
            </a:r>
          </a:p>
        </p:txBody>
      </p:sp>
    </p:spTree>
    <p:extLst>
      <p:ext uri="{BB962C8B-B14F-4D97-AF65-F5344CB8AC3E}">
        <p14:creationId xmlns:p14="http://schemas.microsoft.com/office/powerpoint/2010/main" val="5887392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C0A3C-2C1A-1605-5674-4D6F1DD8FA1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5518275-4322-35C9-4A5A-13E4F79646B5}"/>
              </a:ext>
            </a:extLst>
          </p:cNvPr>
          <p:cNvSpPr>
            <a:spLocks noGrp="1"/>
          </p:cNvSpPr>
          <p:nvPr>
            <p:ph type="title"/>
          </p:nvPr>
        </p:nvSpPr>
        <p:spPr/>
        <p:txBody>
          <a:bodyPr/>
          <a:lstStyle/>
          <a:p>
            <a:pPr algn="l"/>
            <a:r>
              <a:rPr lang="en-US" b="1" dirty="0"/>
              <a:t>Rewriting Literal Equations </a:t>
            </a:r>
            <a:r>
              <a:rPr lang="en-US" sz="2000" b="1" dirty="0">
                <a:solidFill>
                  <a:schemeClr val="bg1"/>
                </a:solidFill>
              </a:rPr>
              <a:t>(11 of 11)</a:t>
            </a:r>
          </a:p>
        </p:txBody>
      </p:sp>
      <p:sp>
        <p:nvSpPr>
          <p:cNvPr id="9" name="Text Placeholder 2">
            <a:extLst>
              <a:ext uri="{FF2B5EF4-FFF2-40B4-BE49-F238E27FC236}">
                <a16:creationId xmlns:a16="http://schemas.microsoft.com/office/drawing/2014/main" id="{0BB9CE28-05B7-86DA-219F-D43DAD7A4564}"/>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40</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364</a:t>
            </a:r>
          </a:p>
        </p:txBody>
      </p:sp>
    </p:spTree>
    <p:extLst>
      <p:ext uri="{BB962C8B-B14F-4D97-AF65-F5344CB8AC3E}">
        <p14:creationId xmlns:p14="http://schemas.microsoft.com/office/powerpoint/2010/main" val="23670345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6BB5F-B442-7625-0F8A-0EC57B41C3A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AE3279C-DA17-605E-5119-E993D2AE2AA1}"/>
              </a:ext>
            </a:extLst>
          </p:cNvPr>
          <p:cNvSpPr>
            <a:spLocks noGrp="1"/>
          </p:cNvSpPr>
          <p:nvPr>
            <p:ph type="title" idx="4294967295"/>
          </p:nvPr>
        </p:nvSpPr>
        <p:spPr>
          <a:xfrm>
            <a:off x="838200" y="-530679"/>
            <a:ext cx="10514013" cy="530679"/>
          </a:xfrm>
          <a:prstGeom prst="rect">
            <a:avLst/>
          </a:prstGeom>
        </p:spPr>
        <p:txBody>
          <a:bodyPr anchor="b"/>
          <a:lstStyle/>
          <a:p>
            <a:r>
              <a:rPr lang="en-US" sz="2000" dirty="0">
                <a:solidFill>
                  <a:schemeClr val="bg2"/>
                </a:solidFill>
              </a:rPr>
              <a:t>Activity 2.3</a:t>
            </a:r>
          </a:p>
        </p:txBody>
      </p:sp>
      <p:sp>
        <p:nvSpPr>
          <p:cNvPr id="3" name="Text Placeholder 2" descr="10 to 15 minutes">
            <a:extLst>
              <a:ext uri="{FF2B5EF4-FFF2-40B4-BE49-F238E27FC236}">
                <a16:creationId xmlns:a16="http://schemas.microsoft.com/office/drawing/2014/main" id="{4D3AC88B-2CC4-95A0-D044-4D320724EE01}"/>
              </a:ext>
            </a:extLst>
          </p:cNvPr>
          <p:cNvSpPr>
            <a:spLocks noGrp="1"/>
          </p:cNvSpPr>
          <p:nvPr>
            <p:ph type="body" sz="quarter" idx="12"/>
          </p:nvPr>
        </p:nvSpPr>
        <p:spPr>
          <a:xfrm>
            <a:off x="10614990" y="5781873"/>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0C0898FA-549A-D73D-0F57-46E3FD452FC5}"/>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2.3</a:t>
            </a:r>
          </a:p>
        </p:txBody>
      </p:sp>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41</a:t>
            </a:fld>
          </a:p>
        </p:txBody>
      </p:sp>
      <p:sp>
        <p:nvSpPr>
          <p:cNvPr id="1007" name="Answer 1007"/>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4312253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B9112-D879-AE3B-D3CB-10D456160B5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2AD06A-5CBC-4CDF-7294-927A83492ABA}"/>
              </a:ext>
            </a:extLst>
          </p:cNvPr>
          <p:cNvSpPr>
            <a:spLocks noGrp="1"/>
          </p:cNvSpPr>
          <p:nvPr>
            <p:ph type="title"/>
          </p:nvPr>
        </p:nvSpPr>
        <p:spPr>
          <a:xfrm>
            <a:off x="734787" y="10892"/>
            <a:ext cx="10123714" cy="1263192"/>
          </a:xfrm>
        </p:spPr>
        <p:txBody>
          <a:bodyPr/>
          <a:lstStyle/>
          <a:p>
            <a:pPr algn="l" defTabSz="914400" rtl="0" eaLnBrk="1" latinLnBrk="0" hangingPunct="1">
              <a:lnSpc>
                <a:spcPct val="90000"/>
              </a:lnSpc>
              <a:spcBef>
                <a:spcPct val="0"/>
              </a:spcBef>
              <a:buNone/>
            </a:pPr>
            <a:r>
              <a:rPr lang="en-US" sz="3800" b="1" dirty="0"/>
              <a:t>Solving Literal Equations for Specific Variables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(1 of 8)</a:t>
            </a:r>
          </a:p>
        </p:txBody>
      </p:sp>
      <p:sp>
        <p:nvSpPr>
          <p:cNvPr id="9" name="Text Placeholder 2">
            <a:extLst>
              <a:ext uri="{FF2B5EF4-FFF2-40B4-BE49-F238E27FC236}">
                <a16:creationId xmlns:a16="http://schemas.microsoft.com/office/drawing/2014/main" id="{740E04C3-8F39-5E6F-34CD-8435FBAE7B0E}"/>
              </a:ext>
            </a:extLst>
          </p:cNvPr>
          <p:cNvSpPr txBox="1">
            <a:spLocks/>
          </p:cNvSpPr>
          <p:nvPr/>
        </p:nvSpPr>
        <p:spPr>
          <a:xfrm>
            <a:off x="734787" y="1616529"/>
            <a:ext cx="8129813"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Convert each literal equation to solve for the given variable.</a:t>
            </a:r>
            <a:br>
              <a:rPr lang="en-US" sz="2800" dirty="0">
                <a:solidFill>
                  <a:srgbClr val="000000"/>
                </a:solidFill>
              </a:rPr>
            </a:br>
            <a:endParaRPr lang="en-US" sz="2000" dirty="0">
              <a:solidFill>
                <a:srgbClr val="000000"/>
              </a:solidFill>
            </a:endParaRPr>
          </a:p>
          <a:p>
            <a:pPr marL="466344" indent="-466344">
              <a:spcBef>
                <a:spcPts val="24"/>
              </a:spcBef>
              <a:buFont typeface="+mj-lt"/>
              <a:buAutoNum type="arabicPeriod"/>
            </a:pPr>
            <a:r>
              <a:rPr lang="en-US" sz="2800" dirty="0">
                <a:solidFill>
                  <a:srgbClr val="000000"/>
                </a:solidFill>
              </a:rPr>
              <a:t>Think Inside the Box is manufacturing new boxes for Pack-n-Ship. Pack-n-Ship told Think Inside the Box that the boxes must have a specific volume and area of the base. However, Pack-n-Ship did not specify a height for the boxes.</a:t>
            </a:r>
          </a:p>
          <a:p>
            <a:pPr marL="0" indent="0">
              <a:spcBef>
                <a:spcPts val="24"/>
              </a:spcBef>
              <a:buNone/>
            </a:pPr>
            <a:r>
              <a:rPr lang="en-US" sz="2800" dirty="0">
                <a:solidFill>
                  <a:srgbClr val="000000"/>
                </a:solidFill>
              </a:rPr>
              <a:t> </a:t>
            </a:r>
          </a:p>
        </p:txBody>
      </p:sp>
      <p:sp>
        <p:nvSpPr>
          <p:cNvPr id="2" name="TextBox 1">
            <a:extLst>
              <a:ext uri="{FF2B5EF4-FFF2-40B4-BE49-F238E27FC236}">
                <a16:creationId xmlns:a16="http://schemas.microsoft.com/office/drawing/2014/main" id="{EC06DF4C-CDDC-0338-69BF-530BBCADBE72}"/>
              </a:ext>
            </a:extLst>
          </p:cNvPr>
          <p:cNvSpPr txBox="1"/>
          <p:nvPr/>
        </p:nvSpPr>
        <p:spPr>
          <a:xfrm>
            <a:off x="9093199" y="1824524"/>
            <a:ext cx="2476501" cy="2486461"/>
          </a:xfrm>
          <a:prstGeom prst="rect">
            <a:avLst/>
          </a:prstGeom>
          <a:noFill/>
          <a:ln w="31750">
            <a:solidFill>
              <a:srgbClr val="008F4C"/>
            </a:solidFill>
            <a:prstDash val="sysDot"/>
          </a:ln>
        </p:spPr>
        <p:txBody>
          <a:bodyPr wrap="square" lIns="182880" rtlCol="0" anchor="ctr" anchorCtr="0">
            <a:noAutofit/>
          </a:bodyPr>
          <a:lstStyle/>
          <a:p>
            <a:r>
              <a:rPr lang="en-US" sz="2000" b="1" dirty="0">
                <a:solidFill>
                  <a:srgbClr val="2B8147"/>
                </a:solidFill>
              </a:rPr>
              <a:t>Remember…</a:t>
            </a:r>
            <a:endParaRPr lang="en-US" sz="2000" dirty="0">
              <a:solidFill>
                <a:schemeClr val="bg2">
                  <a:lumMod val="25000"/>
                </a:schemeClr>
              </a:solidFill>
            </a:endParaRPr>
          </a:p>
          <a:p>
            <a:r>
              <a:rPr lang="en-US" sz="2000" dirty="0">
                <a:solidFill>
                  <a:schemeClr val="bg2">
                    <a:lumMod val="25000"/>
                  </a:schemeClr>
                </a:solidFill>
              </a:rPr>
              <a:t>Volume is measured in cubic units since it’s calculated using three dimensions. </a:t>
            </a:r>
          </a:p>
          <a:p>
            <a:r>
              <a:rPr lang="en-US" sz="2000" dirty="0">
                <a:solidFill>
                  <a:schemeClr val="bg2">
                    <a:lumMod val="25000"/>
                  </a:schemeClr>
                </a:solidFill>
              </a:rPr>
              <a:t>Height measures only one dimension.</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365</a:t>
            </a:r>
          </a:p>
        </p:txBody>
      </p:sp>
    </p:spTree>
    <p:extLst>
      <p:ext uri="{BB962C8B-B14F-4D97-AF65-F5344CB8AC3E}">
        <p14:creationId xmlns:p14="http://schemas.microsoft.com/office/powerpoint/2010/main" val="36221783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79F44-7381-47E6-CE53-1D839F676C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E69945-2A48-FCCE-A0EB-0D471003833F}"/>
              </a:ext>
            </a:extLst>
          </p:cNvPr>
          <p:cNvSpPr>
            <a:spLocks noGrp="1"/>
          </p:cNvSpPr>
          <p:nvPr>
            <p:ph type="title"/>
          </p:nvPr>
        </p:nvSpPr>
        <p:spPr>
          <a:xfrm>
            <a:off x="734787" y="10892"/>
            <a:ext cx="10123714" cy="1263192"/>
          </a:xfrm>
        </p:spPr>
        <p:txBody>
          <a:bodyPr/>
          <a:lstStyle/>
          <a:p>
            <a:pPr algn="l" defTabSz="914400" rtl="0" eaLnBrk="1" latinLnBrk="0" hangingPunct="1">
              <a:lnSpc>
                <a:spcPct val="90000"/>
              </a:lnSpc>
              <a:spcBef>
                <a:spcPct val="0"/>
              </a:spcBef>
              <a:buNone/>
            </a:pPr>
            <a:r>
              <a:rPr lang="en-US" sz="3800" b="1" dirty="0"/>
              <a:t>Solving Literal Equations for Specific Variables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(2 of 8)</a:t>
            </a:r>
          </a:p>
        </p:txBody>
      </p:sp>
      <p:sp>
        <p:nvSpPr>
          <p:cNvPr id="9" name="Text Placeholder 2">
            <a:extLst>
              <a:ext uri="{FF2B5EF4-FFF2-40B4-BE49-F238E27FC236}">
                <a16:creationId xmlns:a16="http://schemas.microsoft.com/office/drawing/2014/main" id="{BE363466-9D25-1FC1-660C-98AC1397F737}"/>
              </a:ext>
            </a:extLst>
          </p:cNvPr>
          <p:cNvSpPr txBox="1">
            <a:spLocks/>
          </p:cNvSpPr>
          <p:nvPr/>
        </p:nvSpPr>
        <p:spPr>
          <a:xfrm>
            <a:off x="734787" y="1616529"/>
            <a:ext cx="9935934"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Bef>
                <a:spcPts val="24"/>
              </a:spcBef>
              <a:buFont typeface="+mj-lt"/>
              <a:buAutoNum type="alphaLcPeriod"/>
            </a:pPr>
            <a:r>
              <a:rPr lang="en-US" sz="2800" dirty="0">
                <a:solidFill>
                  <a:srgbClr val="000000"/>
                </a:solidFill>
              </a:rPr>
              <a:t>Write a literal equation to calculate the volume of a box. Then,</a:t>
            </a:r>
          </a:p>
          <a:p>
            <a:pPr marL="0" indent="0">
              <a:spcBef>
                <a:spcPts val="24"/>
              </a:spcBef>
              <a:buNone/>
            </a:pPr>
            <a:r>
              <a:rPr lang="en-US" sz="2800" dirty="0">
                <a:solidFill>
                  <a:srgbClr val="000000"/>
                </a:solidFill>
              </a:rPr>
              <a:t>      convert the volume formula to solve for height.</a:t>
            </a:r>
          </a:p>
          <a:p>
            <a:pPr marL="0" lvl="1" indent="0">
              <a:lnSpc>
                <a:spcPct val="100000"/>
              </a:lnSpc>
              <a:spcBef>
                <a:spcPts val="200"/>
              </a:spcBef>
              <a:spcAft>
                <a:spcPts val="600"/>
              </a:spcAft>
              <a:buNone/>
            </a:pPr>
            <a:r>
              <a:rPr lang="en-US" sz="2000" dirty="0">
                <a:solidFill>
                  <a:srgbClr val="FF0000"/>
                </a:solidFill>
              </a:rPr>
              <a:t>V = Bh, so h = V/B</a:t>
            </a:r>
          </a:p>
          <a:p>
            <a:pPr marL="466344" indent="-466344">
              <a:spcBef>
                <a:spcPts val="24"/>
              </a:spcBef>
              <a:buFont typeface="+mj-lt"/>
              <a:buAutoNum type="alphaLcPeriod" startAt="2"/>
            </a:pPr>
            <a:endParaRPr lang="en-US" sz="2800" dirty="0">
              <a:solidFill>
                <a:srgbClr val="000000"/>
              </a:solidFill>
            </a:endParaRPr>
          </a:p>
          <a:p>
            <a:pPr marL="0" indent="0">
              <a:spcBef>
                <a:spcPts val="24"/>
              </a:spcBef>
              <a:buNone/>
            </a:pPr>
            <a:endParaRPr lang="en-US" sz="2800" dirty="0">
              <a:solidFill>
                <a:srgbClr val="000000"/>
              </a:solidFill>
            </a:endParaRPr>
          </a:p>
          <a:p>
            <a:pPr marL="466344" indent="-466344">
              <a:spcBef>
                <a:spcPts val="24"/>
              </a:spcBef>
              <a:buFont typeface="+mj-lt"/>
              <a:buAutoNum type="alphaLcPeriod" startAt="2"/>
            </a:pPr>
            <a:r>
              <a:rPr lang="en-US" sz="2800" dirty="0">
                <a:solidFill>
                  <a:srgbClr val="000000"/>
                </a:solidFill>
              </a:rPr>
              <a:t>Pack-n-Ship specified the volume of the box must be 450 cubic</a:t>
            </a:r>
          </a:p>
          <a:p>
            <a:pPr marL="0" indent="0">
              <a:spcBef>
                <a:spcPts val="24"/>
              </a:spcBef>
              <a:buNone/>
            </a:pPr>
            <a:r>
              <a:rPr lang="en-US" sz="2800" dirty="0">
                <a:solidFill>
                  <a:srgbClr val="000000"/>
                </a:solidFill>
              </a:rPr>
              <a:t>      inches and the area of the base must be 75 square inches. Use</a:t>
            </a:r>
          </a:p>
          <a:p>
            <a:pPr marL="0" indent="0">
              <a:spcBef>
                <a:spcPts val="24"/>
              </a:spcBef>
              <a:buNone/>
            </a:pPr>
            <a:r>
              <a:rPr lang="en-US" sz="2800" dirty="0">
                <a:solidFill>
                  <a:srgbClr val="000000"/>
                </a:solidFill>
              </a:rPr>
              <a:t>      your formula to determine the height of the new boxes.</a:t>
            </a:r>
          </a:p>
          <a:p>
            <a:pPr marL="0" lvl="1" indent="0">
              <a:lnSpc>
                <a:spcPct val="100000"/>
              </a:lnSpc>
              <a:spcBef>
                <a:spcPts val="200"/>
              </a:spcBef>
              <a:spcAft>
                <a:spcPts val="600"/>
              </a:spcAft>
              <a:buNone/>
            </a:pPr>
            <a:r>
              <a:rPr lang="en-US" sz="2000" dirty="0">
                <a:solidFill>
                  <a:srgbClr val="FF0000"/>
                </a:solidFill>
              </a:rPr>
              <a:t>h = 450 ÷ 75 = 6 inches</a:t>
            </a: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 </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365</a:t>
            </a:r>
          </a:p>
        </p:txBody>
      </p:sp>
    </p:spTree>
    <p:extLst>
      <p:ext uri="{BB962C8B-B14F-4D97-AF65-F5344CB8AC3E}">
        <p14:creationId xmlns:p14="http://schemas.microsoft.com/office/powerpoint/2010/main" val="671425901"/>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F46AC-903A-73F4-143E-EF4325EEF78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2CB92E-7B8E-B8B5-6280-D2DA447383EB}"/>
              </a:ext>
            </a:extLst>
          </p:cNvPr>
          <p:cNvSpPr>
            <a:spLocks noGrp="1"/>
          </p:cNvSpPr>
          <p:nvPr>
            <p:ph type="title"/>
          </p:nvPr>
        </p:nvSpPr>
        <p:spPr>
          <a:xfrm>
            <a:off x="734787" y="10892"/>
            <a:ext cx="10123714" cy="1263192"/>
          </a:xfrm>
        </p:spPr>
        <p:txBody>
          <a:bodyPr/>
          <a:lstStyle/>
          <a:p>
            <a:pPr algn="l" defTabSz="914400" rtl="0" eaLnBrk="1" latinLnBrk="0" hangingPunct="1">
              <a:lnSpc>
                <a:spcPct val="90000"/>
              </a:lnSpc>
              <a:spcBef>
                <a:spcPct val="0"/>
              </a:spcBef>
              <a:buNone/>
            </a:pPr>
            <a:r>
              <a:rPr lang="en-US" sz="3800" b="1" dirty="0"/>
              <a:t>Solving Literal Equations for Specific Variables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(3 of 8)</a:t>
            </a:r>
          </a:p>
        </p:txBody>
      </p:sp>
      <p:sp>
        <p:nvSpPr>
          <p:cNvPr id="9" name="Text Placeholder 2">
            <a:extLst>
              <a:ext uri="{FF2B5EF4-FFF2-40B4-BE49-F238E27FC236}">
                <a16:creationId xmlns:a16="http://schemas.microsoft.com/office/drawing/2014/main" id="{DA5D3B78-DDAA-5F55-2A17-2DB87DB2698D}"/>
              </a:ext>
            </a:extLst>
          </p:cNvPr>
          <p:cNvSpPr txBox="1">
            <a:spLocks/>
          </p:cNvSpPr>
          <p:nvPr/>
        </p:nvSpPr>
        <p:spPr>
          <a:xfrm>
            <a:off x="734787" y="1616529"/>
            <a:ext cx="8066313"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spcBef>
                <a:spcPts val="24"/>
              </a:spcBef>
              <a:buFont typeface="+mj-lt"/>
              <a:buAutoNum type="arabicPeriod" startAt="2"/>
            </a:pPr>
            <a:r>
              <a:rPr lang="en-US" sz="2800" dirty="0">
                <a:solidFill>
                  <a:srgbClr val="000000"/>
                </a:solidFill>
              </a:rPr>
              <a:t>The volume of an ice cream cone is the measure </a:t>
            </a:r>
            <a:br>
              <a:rPr lang="en-US" sz="2800" dirty="0">
                <a:solidFill>
                  <a:srgbClr val="000000"/>
                </a:solidFill>
              </a:rPr>
            </a:br>
            <a:r>
              <a:rPr lang="en-US" sz="2800" dirty="0">
                <a:solidFill>
                  <a:srgbClr val="000000"/>
                </a:solidFill>
              </a:rPr>
              <a:t>of how much ice cream fits inside the cone. An ice cream cone company wants to make an ice cream cone with a greater height that still holds the same amount of ice cream.</a:t>
            </a:r>
          </a:p>
          <a:p>
            <a:pPr marL="866394" lvl="1" indent="-457200">
              <a:spcBef>
                <a:spcPts val="24"/>
              </a:spcBef>
              <a:buFont typeface="+mj-lt"/>
              <a:buAutoNum type="alphaLcPeriod"/>
            </a:pPr>
            <a:r>
              <a:rPr lang="en-US" dirty="0">
                <a:solidFill>
                  <a:srgbClr val="000000"/>
                </a:solidFill>
              </a:rPr>
              <a:t>Write an equation to calculate the volume of a cone. Then, convert the equation to solve for the height.</a:t>
            </a:r>
          </a:p>
          <a:p>
            <a:pPr marL="866394" lvl="2" indent="0">
              <a:lnSpc>
                <a:spcPct val="100000"/>
              </a:lnSpc>
              <a:spcBef>
                <a:spcPts val="200"/>
              </a:spcBef>
              <a:spcAft>
                <a:spcPts val="600"/>
              </a:spcAft>
              <a:buNone/>
            </a:pPr>
            <a:r>
              <a:rPr lang="en-US" sz="2000" dirty="0">
                <a:solidFill>
                  <a:srgbClr val="FF0000"/>
                </a:solidFill>
              </a:rPr>
              <a:t>V = (1/3)πr²h, so h = 3V/(πr²)</a:t>
            </a:r>
          </a:p>
          <a:p>
            <a:pPr marL="0" indent="0">
              <a:spcBef>
                <a:spcPts val="24"/>
              </a:spcBef>
              <a:buNone/>
            </a:pPr>
            <a:r>
              <a:rPr lang="en-US" sz="2800" dirty="0">
                <a:solidFill>
                  <a:srgbClr val="000000"/>
                </a:solidFill>
              </a:rPr>
              <a:t>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C2DF804-3024-7BFE-8DC9-BA655389FE8A}"/>
                  </a:ext>
                </a:extLst>
              </p:cNvPr>
              <p:cNvSpPr txBox="1"/>
              <p:nvPr/>
            </p:nvSpPr>
            <p:spPr>
              <a:xfrm>
                <a:off x="9112801" y="1700347"/>
                <a:ext cx="2619130" cy="2706553"/>
              </a:xfrm>
              <a:prstGeom prst="rect">
                <a:avLst/>
              </a:prstGeom>
              <a:noFill/>
              <a:ln w="31750">
                <a:solidFill>
                  <a:srgbClr val="008F4C"/>
                </a:solidFill>
                <a:prstDash val="sysDot"/>
              </a:ln>
            </p:spPr>
            <p:txBody>
              <a:bodyPr wrap="square" lIns="182880" rtlCol="0" anchor="ctr" anchorCtr="0">
                <a:noAutofit/>
              </a:bodyPr>
              <a:lstStyle/>
              <a:p>
                <a:r>
                  <a:rPr lang="en-US" sz="2000" dirty="0">
                    <a:solidFill>
                      <a:schemeClr val="bg2">
                        <a:lumMod val="25000"/>
                      </a:schemeClr>
                    </a:solidFill>
                  </a:rPr>
                  <a:t>The formula for the</a:t>
                </a:r>
              </a:p>
              <a:p>
                <a:r>
                  <a:rPr lang="en-US" sz="2000" dirty="0">
                    <a:solidFill>
                      <a:schemeClr val="bg2">
                        <a:lumMod val="25000"/>
                      </a:schemeClr>
                    </a:solidFill>
                  </a:rPr>
                  <a:t>volume of a cone is </a:t>
                </a:r>
                <a14:m>
                  <m:oMath xmlns:m="http://schemas.openxmlformats.org/officeDocument/2006/math">
                    <m:r>
                      <a:rPr lang="en-US" sz="2000" i="1" dirty="0" smtClean="0">
                        <a:solidFill>
                          <a:schemeClr val="bg2">
                            <a:lumMod val="25000"/>
                          </a:schemeClr>
                        </a:solidFill>
                        <a:latin typeface="Cambria Math" panose="02040503050406030204" pitchFamily="18" charset="0"/>
                      </a:rPr>
                      <m:t>𝑉</m:t>
                    </m:r>
                    <m:r>
                      <a:rPr lang="en-US" sz="2000" i="1" dirty="0" smtClean="0">
                        <a:solidFill>
                          <a:schemeClr val="bg2">
                            <a:lumMod val="25000"/>
                          </a:schemeClr>
                        </a:solidFill>
                        <a:latin typeface="Cambria Math" panose="02040503050406030204" pitchFamily="18" charset="0"/>
                      </a:rPr>
                      <m:t>=</m:t>
                    </m:r>
                    <m:f>
                      <m:fPr>
                        <m:ctrlPr>
                          <a:rPr lang="en-US" sz="2000" i="1" smtClean="0">
                            <a:solidFill>
                              <a:schemeClr val="bg2">
                                <a:lumMod val="25000"/>
                              </a:schemeClr>
                            </a:solidFill>
                            <a:latin typeface="Cambria Math" panose="02040503050406030204" pitchFamily="18" charset="0"/>
                          </a:rPr>
                        </m:ctrlPr>
                      </m:fPr>
                      <m:num>
                        <m:r>
                          <a:rPr lang="en-US" sz="2000" b="0" i="1" smtClean="0">
                            <a:solidFill>
                              <a:schemeClr val="bg2">
                                <a:lumMod val="25000"/>
                              </a:schemeClr>
                            </a:solidFill>
                            <a:latin typeface="Cambria Math" panose="02040503050406030204" pitchFamily="18" charset="0"/>
                          </a:rPr>
                          <m:t>1</m:t>
                        </m:r>
                      </m:num>
                      <m:den>
                        <m:r>
                          <a:rPr lang="en-US" sz="2000" b="0" i="1" smtClean="0">
                            <a:solidFill>
                              <a:schemeClr val="bg2">
                                <a:lumMod val="25000"/>
                              </a:schemeClr>
                            </a:solidFill>
                            <a:latin typeface="Cambria Math" panose="02040503050406030204" pitchFamily="18" charset="0"/>
                          </a:rPr>
                          <m:t>3</m:t>
                        </m:r>
                      </m:den>
                    </m:f>
                    <m:r>
                      <a:rPr lang="en-US" sz="2000" i="1" dirty="0" smtClean="0">
                        <a:solidFill>
                          <a:schemeClr val="bg2">
                            <a:lumMod val="25000"/>
                          </a:schemeClr>
                        </a:solidFill>
                        <a:latin typeface="Cambria Math" panose="02040503050406030204" pitchFamily="18" charset="0"/>
                      </a:rPr>
                      <m:t>𝐵h</m:t>
                    </m:r>
                    <m:r>
                      <a:rPr lang="en-US" sz="2000" i="1" dirty="0" smtClean="0">
                        <a:solidFill>
                          <a:schemeClr val="bg2">
                            <a:lumMod val="25000"/>
                          </a:schemeClr>
                        </a:solidFill>
                        <a:latin typeface="Cambria Math" panose="02040503050406030204" pitchFamily="18" charset="0"/>
                      </a:rPr>
                      <m:t>= </m:t>
                    </m:r>
                    <m:f>
                      <m:fPr>
                        <m:ctrlPr>
                          <a:rPr lang="en-US" sz="2000" i="1">
                            <a:solidFill>
                              <a:schemeClr val="bg2">
                                <a:lumMod val="25000"/>
                              </a:schemeClr>
                            </a:solidFill>
                            <a:latin typeface="Cambria Math" panose="02040503050406030204" pitchFamily="18" charset="0"/>
                          </a:rPr>
                        </m:ctrlPr>
                      </m:fPr>
                      <m:num>
                        <m:r>
                          <a:rPr lang="en-US" sz="2000" i="1">
                            <a:solidFill>
                              <a:schemeClr val="bg2">
                                <a:lumMod val="25000"/>
                              </a:schemeClr>
                            </a:solidFill>
                            <a:latin typeface="Cambria Math" panose="02040503050406030204" pitchFamily="18" charset="0"/>
                          </a:rPr>
                          <m:t>1</m:t>
                        </m:r>
                      </m:num>
                      <m:den>
                        <m:r>
                          <a:rPr lang="en-US" sz="2000" i="1">
                            <a:solidFill>
                              <a:schemeClr val="bg2">
                                <a:lumMod val="25000"/>
                              </a:schemeClr>
                            </a:solidFill>
                            <a:latin typeface="Cambria Math" panose="02040503050406030204" pitchFamily="18" charset="0"/>
                          </a:rPr>
                          <m:t>3</m:t>
                        </m:r>
                      </m:den>
                    </m:f>
                    <m:r>
                      <m:rPr>
                        <m:sty m:val="p"/>
                      </m:rPr>
                      <a:rPr lang="el-GR" sz="2000" i="1" dirty="0" smtClean="0">
                        <a:solidFill>
                          <a:srgbClr val="000000"/>
                        </a:solidFill>
                        <a:latin typeface="Cambria Math" panose="02040503050406030204" pitchFamily="18" charset="0"/>
                      </a:rPr>
                      <m:t>π</m:t>
                    </m:r>
                    <m:r>
                      <a:rPr lang="en-US" sz="2000" i="1" dirty="0" smtClean="0">
                        <a:solidFill>
                          <a:srgbClr val="000000"/>
                        </a:solidFill>
                        <a:latin typeface="Cambria Math" panose="02040503050406030204" pitchFamily="18" charset="0"/>
                      </a:rPr>
                      <m:t>𝑟</m:t>
                    </m:r>
                    <m:r>
                      <a:rPr lang="en-US" sz="2000" i="1" baseline="30000" dirty="0" smtClean="0">
                        <a:solidFill>
                          <a:srgbClr val="000000"/>
                        </a:solidFill>
                        <a:latin typeface="Cambria Math" panose="02040503050406030204" pitchFamily="18" charset="0"/>
                      </a:rPr>
                      <m:t>2</m:t>
                    </m:r>
                    <m:r>
                      <a:rPr lang="en-US" sz="2000" i="1" dirty="0" smtClean="0">
                        <a:solidFill>
                          <a:srgbClr val="000000"/>
                        </a:solidFill>
                        <a:latin typeface="Cambria Math" panose="02040503050406030204" pitchFamily="18" charset="0"/>
                      </a:rPr>
                      <m:t>h</m:t>
                    </m:r>
                    <m:r>
                      <a:rPr lang="en-US" sz="2000" i="1" dirty="0" smtClean="0">
                        <a:solidFill>
                          <a:srgbClr val="000000"/>
                        </a:solidFill>
                        <a:latin typeface="Cambria Math" panose="02040503050406030204" pitchFamily="18" charset="0"/>
                      </a:rPr>
                      <m:t>, </m:t>
                    </m:r>
                  </m:oMath>
                </a14:m>
                <a:endParaRPr lang="en-US" sz="2000" dirty="0">
                  <a:solidFill>
                    <a:schemeClr val="bg2">
                      <a:lumMod val="25000"/>
                    </a:schemeClr>
                  </a:solidFill>
                </a:endParaRPr>
              </a:p>
              <a:p>
                <a:r>
                  <a:rPr lang="en-US" sz="2000" dirty="0">
                    <a:solidFill>
                      <a:schemeClr val="bg2">
                        <a:lumMod val="25000"/>
                      </a:schemeClr>
                    </a:solidFill>
                  </a:rPr>
                  <a:t>where </a:t>
                </a:r>
                <a14:m>
                  <m:oMath xmlns:m="http://schemas.openxmlformats.org/officeDocument/2006/math">
                    <m:r>
                      <a:rPr lang="en-US" sz="2000" i="1" dirty="0" smtClean="0">
                        <a:solidFill>
                          <a:schemeClr val="bg2">
                            <a:lumMod val="25000"/>
                          </a:schemeClr>
                        </a:solidFill>
                        <a:latin typeface="Cambria Math" panose="02040503050406030204" pitchFamily="18" charset="0"/>
                      </a:rPr>
                      <m:t>𝐵</m:t>
                    </m:r>
                  </m:oMath>
                </a14:m>
                <a:r>
                  <a:rPr lang="en-US" sz="2000" dirty="0">
                    <a:solidFill>
                      <a:schemeClr val="bg2">
                        <a:lumMod val="25000"/>
                      </a:schemeClr>
                    </a:solidFill>
                  </a:rPr>
                  <a:t> is the area of</a:t>
                </a:r>
              </a:p>
              <a:p>
                <a:r>
                  <a:rPr lang="en-US" sz="2000" dirty="0">
                    <a:solidFill>
                      <a:schemeClr val="bg2">
                        <a:lumMod val="25000"/>
                      </a:schemeClr>
                    </a:solidFill>
                  </a:rPr>
                  <a:t>the base of the cone,</a:t>
                </a:r>
              </a:p>
              <a:p>
                <a14:m>
                  <m:oMath xmlns:m="http://schemas.openxmlformats.org/officeDocument/2006/math">
                    <m:r>
                      <a:rPr lang="en-US" sz="2000" i="1" dirty="0" smtClean="0">
                        <a:solidFill>
                          <a:schemeClr val="bg2">
                            <a:lumMod val="25000"/>
                          </a:schemeClr>
                        </a:solidFill>
                        <a:latin typeface="Cambria Math" panose="02040503050406030204" pitchFamily="18" charset="0"/>
                      </a:rPr>
                      <m:t>𝑟</m:t>
                    </m:r>
                  </m:oMath>
                </a14:m>
                <a:r>
                  <a:rPr lang="en-US" sz="2000" dirty="0">
                    <a:solidFill>
                      <a:schemeClr val="bg2">
                        <a:lumMod val="25000"/>
                      </a:schemeClr>
                    </a:solidFill>
                  </a:rPr>
                  <a:t> is the radius and </a:t>
                </a:r>
                <a14:m>
                  <m:oMath xmlns:m="http://schemas.openxmlformats.org/officeDocument/2006/math">
                    <m:r>
                      <a:rPr lang="en-US" sz="2000" i="1" dirty="0" smtClean="0">
                        <a:solidFill>
                          <a:schemeClr val="bg2">
                            <a:lumMod val="25000"/>
                          </a:schemeClr>
                        </a:solidFill>
                        <a:latin typeface="Cambria Math" panose="02040503050406030204" pitchFamily="18" charset="0"/>
                      </a:rPr>
                      <m:t>h</m:t>
                    </m:r>
                  </m:oMath>
                </a14:m>
                <a:r>
                  <a:rPr lang="en-US" sz="2000" dirty="0">
                    <a:solidFill>
                      <a:schemeClr val="bg2">
                        <a:lumMod val="25000"/>
                      </a:schemeClr>
                    </a:solidFill>
                  </a:rPr>
                  <a:t> is</a:t>
                </a:r>
              </a:p>
              <a:p>
                <a:r>
                  <a:rPr lang="en-US" sz="2000" dirty="0">
                    <a:solidFill>
                      <a:schemeClr val="bg2">
                        <a:lumMod val="25000"/>
                      </a:schemeClr>
                    </a:solidFill>
                  </a:rPr>
                  <a:t>the height.</a:t>
                </a:r>
                <a:r>
                  <a:rPr lang="en-US" sz="1800" b="0" i="0" u="none" strike="noStrike" baseline="0" dirty="0">
                    <a:latin typeface="MathematicalPiLTStd-1" panose="02000500000000000000" pitchFamily="50" charset="0"/>
                  </a:rPr>
                  <a:t> </a:t>
                </a:r>
                <a:endParaRPr lang="en-US" sz="2000" dirty="0">
                  <a:solidFill>
                    <a:schemeClr val="bg2">
                      <a:lumMod val="25000"/>
                    </a:schemeClr>
                  </a:solidFill>
                </a:endParaRPr>
              </a:p>
            </p:txBody>
          </p:sp>
        </mc:Choice>
        <mc:Fallback xmlns="">
          <p:sp>
            <p:nvSpPr>
              <p:cNvPr id="2" name="TextBox 1">
                <a:extLst>
                  <a:ext uri="{FF2B5EF4-FFF2-40B4-BE49-F238E27FC236}">
                    <a16:creationId xmlns:a16="http://schemas.microsoft.com/office/drawing/2014/main" id="{EC2DF804-3024-7BFE-8DC9-BA655389FE8A}"/>
                  </a:ext>
                </a:extLst>
              </p:cNvPr>
              <p:cNvSpPr txBox="1">
                <a:spLocks noRot="1" noChangeAspect="1" noMove="1" noResize="1" noEditPoints="1" noAdjustHandles="1" noChangeArrowheads="1" noChangeShapeType="1" noTextEdit="1"/>
              </p:cNvSpPr>
              <p:nvPr/>
            </p:nvSpPr>
            <p:spPr>
              <a:xfrm>
                <a:off x="9112801" y="1700347"/>
                <a:ext cx="2619130" cy="2706553"/>
              </a:xfrm>
              <a:prstGeom prst="rect">
                <a:avLst/>
              </a:prstGeom>
              <a:blipFill>
                <a:blip r:embed="rId3"/>
                <a:stretch>
                  <a:fillRect/>
                </a:stretch>
              </a:blipFill>
              <a:ln w="31750">
                <a:solidFill>
                  <a:srgbClr val="008F4C"/>
                </a:solidFill>
                <a:prstDash val="sysDot"/>
              </a:ln>
            </p:spPr>
            <p:txBody>
              <a:bodyPr/>
              <a:lstStyle/>
              <a:p>
                <a:r>
                  <a:rPr lang="en-US">
                    <a:noFill/>
                  </a:rPr>
                  <a:t> </a:t>
                </a:r>
              </a:p>
            </p:txBody>
          </p:sp>
        </mc:Fallback>
      </mc:AlternateContent>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365</a:t>
            </a:r>
          </a:p>
        </p:txBody>
      </p:sp>
    </p:spTree>
    <p:extLst>
      <p:ext uri="{BB962C8B-B14F-4D97-AF65-F5344CB8AC3E}">
        <p14:creationId xmlns:p14="http://schemas.microsoft.com/office/powerpoint/2010/main" val="919238700"/>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021E-0CB3-248F-BCF2-10848C3C1F0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9F76DC-F2E3-FAF6-9433-21DF10DC3F16}"/>
              </a:ext>
            </a:extLst>
          </p:cNvPr>
          <p:cNvSpPr>
            <a:spLocks noGrp="1"/>
          </p:cNvSpPr>
          <p:nvPr>
            <p:ph type="title"/>
          </p:nvPr>
        </p:nvSpPr>
        <p:spPr>
          <a:xfrm>
            <a:off x="734787" y="10892"/>
            <a:ext cx="10123714" cy="1263192"/>
          </a:xfrm>
        </p:spPr>
        <p:txBody>
          <a:bodyPr/>
          <a:lstStyle/>
          <a:p>
            <a:pPr algn="l"/>
            <a:r>
              <a:rPr lang="en-US" sz="3800" b="1" dirty="0"/>
              <a:t>Solving Literal Equations for Specific Variables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(4 of 8)</a:t>
            </a:r>
          </a:p>
        </p:txBody>
      </p:sp>
      <p:sp>
        <p:nvSpPr>
          <p:cNvPr id="9" name="Text Placeholder 2">
            <a:extLst>
              <a:ext uri="{FF2B5EF4-FFF2-40B4-BE49-F238E27FC236}">
                <a16:creationId xmlns:a16="http://schemas.microsoft.com/office/drawing/2014/main" id="{F5D305E9-386F-7525-46DB-F9424F739560}"/>
              </a:ext>
            </a:extLst>
          </p:cNvPr>
          <p:cNvSpPr txBox="1">
            <a:spLocks/>
          </p:cNvSpPr>
          <p:nvPr/>
        </p:nvSpPr>
        <p:spPr>
          <a:xfrm>
            <a:off x="734786" y="1616529"/>
            <a:ext cx="10530114"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spcBef>
                <a:spcPts val="24"/>
              </a:spcBef>
              <a:buFont typeface="+mj-lt"/>
              <a:buAutoNum type="alphaLcPeriod" startAt="2"/>
            </a:pPr>
            <a:r>
              <a:rPr lang="en-GB" sz="2800" dirty="0">
                <a:solidFill>
                  <a:srgbClr val="000000"/>
                </a:solidFill>
              </a:rPr>
              <a:t>Explain how your equation determines a linear measurement when the original equation determined a cubic measurement.</a:t>
            </a:r>
            <a:endParaRPr lang="en-US" sz="2800" dirty="0">
              <a:solidFill>
                <a:srgbClr val="000000"/>
              </a:solidFill>
            </a:endParaRPr>
          </a:p>
          <a:p>
            <a:pPr marL="457200" lvl="1" indent="0">
              <a:lnSpc>
                <a:spcPct val="100000"/>
              </a:lnSpc>
              <a:spcBef>
                <a:spcPts val="200"/>
              </a:spcBef>
              <a:spcAft>
                <a:spcPts val="600"/>
              </a:spcAft>
              <a:buNone/>
            </a:pPr>
            <a:r>
              <a:rPr lang="en-US" sz="2000" dirty="0">
                <a:solidFill>
                  <a:srgbClr val="FF0000"/>
                </a:solidFill>
              </a:rPr>
              <a:t>Volume (cubic units) divided by the base area (square units, r · r) leaves a linear unit for the height.</a:t>
            </a: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 </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45</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365</a:t>
            </a:r>
          </a:p>
        </p:txBody>
      </p:sp>
    </p:spTree>
    <p:extLst>
      <p:ext uri="{BB962C8B-B14F-4D97-AF65-F5344CB8AC3E}">
        <p14:creationId xmlns:p14="http://schemas.microsoft.com/office/powerpoint/2010/main" val="209578701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0675A-6DB2-5D71-F362-408B8C96FA2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A71AD9-9E77-7B74-E2C0-7557110E7F01}"/>
              </a:ext>
            </a:extLst>
          </p:cNvPr>
          <p:cNvSpPr>
            <a:spLocks noGrp="1"/>
          </p:cNvSpPr>
          <p:nvPr>
            <p:ph type="title"/>
          </p:nvPr>
        </p:nvSpPr>
        <p:spPr/>
        <p:txBody>
          <a:bodyPr/>
          <a:lstStyle/>
          <a:p>
            <a:pPr algn="l"/>
            <a:r>
              <a:rPr lang="en-US" sz="3800" b="1" dirty="0"/>
              <a:t>Solving Literal Equations for Specific Variables </a:t>
            </a:r>
            <a:r>
              <a:rPr lang="en-US" sz="2000" b="1" dirty="0">
                <a:solidFill>
                  <a:schemeClr val="bg1"/>
                </a:solidFill>
              </a:rPr>
              <a:t>(5 of 8)</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981BF970-1B19-F1F2-A5B2-705E52E6944D}"/>
                  </a:ext>
                </a:extLst>
              </p:cNvPr>
              <p:cNvSpPr txBox="1">
                <a:spLocks/>
              </p:cNvSpPr>
              <p:nvPr/>
            </p:nvSpPr>
            <p:spPr>
              <a:xfrm>
                <a:off x="777240" y="1600200"/>
                <a:ext cx="10589260" cy="49149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The formula for the area of a trapezoid is </a:t>
                </a:r>
                <a14:m>
                  <m:oMath xmlns:m="http://schemas.openxmlformats.org/officeDocument/2006/math">
                    <m:r>
                      <a:rPr lang="en-US" sz="2800" i="1" dirty="0" smtClean="0">
                        <a:solidFill>
                          <a:srgbClr val="000000"/>
                        </a:solidFill>
                        <a:latin typeface="Cambria Math" panose="02040503050406030204" pitchFamily="18" charset="0"/>
                      </a:rPr>
                      <m:t>𝐴</m:t>
                    </m:r>
                    <m:r>
                      <a:rPr lang="en-US" sz="2800" i="1" dirty="0" smtClean="0">
                        <a:solidFill>
                          <a:srgbClr val="000000"/>
                        </a:solidFill>
                        <a:latin typeface="Cambria Math" panose="02040503050406030204" pitchFamily="18" charset="0"/>
                      </a:rPr>
                      <m:t>=</m:t>
                    </m:r>
                  </m:oMath>
                </a14:m>
                <a:r>
                  <a:rPr lang="en-US" sz="2800" dirty="0">
                    <a:solidFill>
                      <a:srgbClr val="000000"/>
                    </a:solidFill>
                  </a:rPr>
                  <a:t> </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2</m:t>
                        </m:r>
                      </m:den>
                    </m:f>
                    <m:r>
                      <a:rPr lang="en-US" sz="2800" b="0" i="1" smtClean="0">
                        <a:solidFill>
                          <a:srgbClr val="000000"/>
                        </a:solidFill>
                        <a:latin typeface="Cambria Math" panose="02040503050406030204" pitchFamily="18" charset="0"/>
                      </a:rPr>
                      <m:t>h</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𝑏</m:t>
                    </m:r>
                    <m:r>
                      <a:rPr lang="en-US" sz="2800" b="0" i="1" baseline="-25000" smtClean="0">
                        <a:solidFill>
                          <a:srgbClr val="000000"/>
                        </a:solidFill>
                        <a:latin typeface="Cambria Math" panose="02040503050406030204" pitchFamily="18" charset="0"/>
                      </a:rPr>
                      <m:t>1</m:t>
                    </m:r>
                    <m:r>
                      <a:rPr lang="en-US" sz="2800" i="1" dirty="0" smtClean="0">
                        <a:solidFill>
                          <a:srgbClr val="000000"/>
                        </a:solidFill>
                        <a:latin typeface="Cambria Math" panose="02040503050406030204" pitchFamily="18" charset="0"/>
                      </a:rPr>
                      <m:t>+</m:t>
                    </m:r>
                    <m:r>
                      <a:rPr lang="en-US" sz="2800" b="0" i="1" dirty="0" smtClean="0">
                        <a:solidFill>
                          <a:srgbClr val="000000"/>
                        </a:solidFill>
                        <a:latin typeface="Cambria Math" panose="02040503050406030204" pitchFamily="18" charset="0"/>
                      </a:rPr>
                      <m:t>𝑏</m:t>
                    </m:r>
                    <m:r>
                      <a:rPr lang="en-US" sz="2800" b="0" i="1" baseline="-25000" dirty="0" smtClean="0">
                        <a:solidFill>
                          <a:srgbClr val="000000"/>
                        </a:solidFill>
                        <a:latin typeface="Cambria Math" panose="02040503050406030204" pitchFamily="18" charset="0"/>
                      </a:rPr>
                      <m:t>2</m:t>
                    </m:r>
                    <m:r>
                      <a:rPr lang="en-US" sz="2800" i="1" dirty="0" smtClean="0">
                        <a:solidFill>
                          <a:srgbClr val="000000"/>
                        </a:solidFill>
                        <a:latin typeface="Cambria Math" panose="02040503050406030204" pitchFamily="18" charset="0"/>
                      </a:rPr>
                      <m:t>)</m:t>
                    </m:r>
                  </m:oMath>
                </a14:m>
                <a:r>
                  <a:rPr lang="en-US" sz="2800" dirty="0">
                    <a:solidFill>
                      <a:srgbClr val="000000"/>
                    </a:solidFill>
                  </a:rPr>
                  <a:t> , where </a:t>
                </a:r>
                <a14:m>
                  <m:oMath xmlns:m="http://schemas.openxmlformats.org/officeDocument/2006/math">
                    <m:r>
                      <a:rPr lang="en-US" sz="2800" i="1" dirty="0" smtClean="0">
                        <a:solidFill>
                          <a:srgbClr val="000000"/>
                        </a:solidFill>
                        <a:latin typeface="Cambria Math" panose="02040503050406030204" pitchFamily="18" charset="0"/>
                      </a:rPr>
                      <m:t>h</m:t>
                    </m:r>
                  </m:oMath>
                </a14:m>
                <a:r>
                  <a:rPr lang="en-US" sz="2800" dirty="0">
                    <a:solidFill>
                      <a:srgbClr val="000000"/>
                    </a:solidFill>
                  </a:rPr>
                  <a:t> is the height and </a:t>
                </a:r>
                <a14:m>
                  <m:oMath xmlns:m="http://schemas.openxmlformats.org/officeDocument/2006/math">
                    <m:r>
                      <a:rPr lang="en-US" sz="2800" i="1" dirty="0" smtClean="0">
                        <a:solidFill>
                          <a:srgbClr val="000000"/>
                        </a:solidFill>
                        <a:latin typeface="Cambria Math" panose="02040503050406030204" pitchFamily="18" charset="0"/>
                      </a:rPr>
                      <m:t>𝑏</m:t>
                    </m:r>
                    <m:r>
                      <a:rPr lang="en-US" sz="2800" i="1" baseline="-25000" dirty="0" smtClean="0">
                        <a:solidFill>
                          <a:srgbClr val="000000"/>
                        </a:solidFill>
                        <a:latin typeface="Cambria Math" panose="02040503050406030204" pitchFamily="18" charset="0"/>
                      </a:rPr>
                      <m:t>1</m:t>
                    </m:r>
                  </m:oMath>
                </a14:m>
                <a:r>
                  <a:rPr lang="en-US" sz="2800" dirty="0">
                    <a:solidFill>
                      <a:srgbClr val="000000"/>
                    </a:solidFill>
                  </a:rPr>
                  <a:t> and </a:t>
                </a:r>
                <a14:m>
                  <m:oMath xmlns:m="http://schemas.openxmlformats.org/officeDocument/2006/math">
                    <m:r>
                      <a:rPr lang="en-US" sz="2800" i="1" dirty="0" smtClean="0">
                        <a:solidFill>
                          <a:srgbClr val="000000"/>
                        </a:solidFill>
                        <a:latin typeface="Cambria Math" panose="02040503050406030204" pitchFamily="18" charset="0"/>
                      </a:rPr>
                      <m:t>𝑏</m:t>
                    </m:r>
                    <m:r>
                      <a:rPr lang="en-US" sz="2800" i="1" baseline="-25000" dirty="0" smtClean="0">
                        <a:solidFill>
                          <a:srgbClr val="000000"/>
                        </a:solidFill>
                        <a:latin typeface="Cambria Math" panose="02040503050406030204" pitchFamily="18" charset="0"/>
                      </a:rPr>
                      <m:t>2</m:t>
                    </m:r>
                  </m:oMath>
                </a14:m>
                <a:r>
                  <a:rPr lang="en-US" sz="2800" dirty="0">
                    <a:solidFill>
                      <a:srgbClr val="000000"/>
                    </a:solidFill>
                  </a:rPr>
                  <a:t> are the lengths of each base.</a:t>
                </a:r>
              </a:p>
              <a:p>
                <a:pPr marL="914400" indent="-449263">
                  <a:buFont typeface="+mj-lt"/>
                  <a:buAutoNum type="alphaLcPeriod"/>
                </a:pPr>
                <a:r>
                  <a:rPr lang="en-GB" sz="2800" dirty="0">
                    <a:solidFill>
                      <a:srgbClr val="000000"/>
                    </a:solidFill>
                  </a:rPr>
                  <a:t>Convert the area formula to solve for the height.</a:t>
                </a:r>
                <a:endParaRPr lang="en-US" sz="2800" dirty="0">
                  <a:solidFill>
                    <a:srgbClr val="000000"/>
                  </a:solidFill>
                </a:endParaRPr>
              </a:p>
              <a:p>
                <a:pPr marL="914400" lvl="1" indent="0">
                  <a:lnSpc>
                    <a:spcPct val="100000"/>
                  </a:lnSpc>
                  <a:spcBef>
                    <a:spcPts val="200"/>
                  </a:spcBef>
                  <a:spcAft>
                    <a:spcPts val="600"/>
                  </a:spcAft>
                  <a:buNone/>
                </a:pPr>
                <a:r>
                  <a:rPr lang="en-US" sz="2000" dirty="0">
                    <a:solidFill>
                      <a:srgbClr val="FF0000"/>
                    </a:solidFill>
                  </a:rPr>
                  <a:t>h = 2A/(b₁ + b₂)</a:t>
                </a:r>
              </a:p>
              <a:p>
                <a:pPr marL="514350" indent="-514350">
                  <a:buFont typeface="+mj-lt"/>
                  <a:buAutoNum type="alphaLcPeriod"/>
                </a:pPr>
                <a:endParaRPr lang="en-US" sz="2800" dirty="0">
                  <a:solidFill>
                    <a:srgbClr val="000000"/>
                  </a:solidFill>
                </a:endParaRPr>
              </a:p>
              <a:p>
                <a:pPr marL="514350" indent="-514350">
                  <a:buFont typeface="+mj-lt"/>
                  <a:buAutoNum type="alphaLcPeriod"/>
                </a:pPr>
                <a:endParaRPr lang="en-US" sz="2800" dirty="0">
                  <a:solidFill>
                    <a:srgbClr val="000000"/>
                  </a:solidFill>
                </a:endParaRPr>
              </a:p>
              <a:p>
                <a:pPr marL="914400" indent="-449263">
                  <a:buFont typeface="+mj-lt"/>
                  <a:buAutoNum type="alphaLcPeriod"/>
                </a:pPr>
                <a:r>
                  <a:rPr lang="en-US" sz="2800" dirty="0">
                    <a:solidFill>
                      <a:srgbClr val="000000"/>
                    </a:solidFill>
                  </a:rPr>
                  <a:t>Use your formula to determine the height of a trapezoid with an area of 24 square centimeters and base lengths of 9 cm and 7 cm.</a:t>
                </a:r>
              </a:p>
              <a:p>
                <a:pPr marL="914400" lvl="1" indent="0">
                  <a:lnSpc>
                    <a:spcPct val="100000"/>
                  </a:lnSpc>
                  <a:spcBef>
                    <a:spcPts val="200"/>
                  </a:spcBef>
                  <a:spcAft>
                    <a:spcPts val="600"/>
                  </a:spcAft>
                  <a:buNone/>
                </a:pPr>
                <a:r>
                  <a:rPr lang="en-US" sz="2000" dirty="0">
                    <a:solidFill>
                      <a:srgbClr val="FF0000"/>
                    </a:solidFill>
                  </a:rPr>
                  <a:t>h = 2(24)/(9 + 7) = 48/16 = 3 cm</a:t>
                </a:r>
              </a:p>
            </p:txBody>
          </p:sp>
        </mc:Choice>
        <mc:Fallback xmlns="">
          <p:sp>
            <p:nvSpPr>
              <p:cNvPr id="2" name="Text Placeholder 2">
                <a:extLst>
                  <a:ext uri="{FF2B5EF4-FFF2-40B4-BE49-F238E27FC236}">
                    <a16:creationId xmlns:a16="http://schemas.microsoft.com/office/drawing/2014/main" id="{981BF970-1B19-F1F2-A5B2-705E52E6944D}"/>
                  </a:ext>
                </a:extLst>
              </p:cNvPr>
              <p:cNvSpPr txBox="1">
                <a:spLocks noRot="1" noChangeAspect="1" noMove="1" noResize="1" noEditPoints="1" noAdjustHandles="1" noChangeArrowheads="1" noChangeShapeType="1" noTextEdit="1"/>
              </p:cNvSpPr>
              <p:nvPr/>
            </p:nvSpPr>
            <p:spPr>
              <a:xfrm>
                <a:off x="777240" y="1600200"/>
                <a:ext cx="10589260" cy="4914900"/>
              </a:xfrm>
              <a:prstGeom prst="rect">
                <a:avLst/>
              </a:prstGeom>
              <a:blipFill>
                <a:blip r:embed="rId3"/>
                <a:stretch>
                  <a:fillRect l="-1209" r="-979"/>
                </a:stretch>
              </a:blipFill>
            </p:spPr>
            <p:txBody>
              <a:bodyPr/>
              <a:lstStyle/>
              <a:p>
                <a:r>
                  <a:rPr lang="en-IN">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46</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366</a:t>
            </a:r>
          </a:p>
        </p:txBody>
      </p:sp>
    </p:spTree>
    <p:extLst>
      <p:ext uri="{BB962C8B-B14F-4D97-AF65-F5344CB8AC3E}">
        <p14:creationId xmlns:p14="http://schemas.microsoft.com/office/powerpoint/2010/main" val="837479521"/>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E3CB1-74D9-7052-8D14-1416F2960F8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47DA22-9F67-DCA3-EE24-A348DE7D3ADF}"/>
              </a:ext>
            </a:extLst>
          </p:cNvPr>
          <p:cNvSpPr>
            <a:spLocks noGrp="1"/>
          </p:cNvSpPr>
          <p:nvPr>
            <p:ph type="title"/>
          </p:nvPr>
        </p:nvSpPr>
        <p:spPr/>
        <p:txBody>
          <a:bodyPr/>
          <a:lstStyle/>
          <a:p>
            <a:pPr algn="l"/>
            <a:r>
              <a:rPr lang="en-US" sz="3800" b="1" dirty="0"/>
              <a:t>Solving Literal Equations for Specific Variables </a:t>
            </a:r>
            <a:r>
              <a:rPr lang="en-US" sz="2000" b="1" dirty="0">
                <a:solidFill>
                  <a:schemeClr val="bg1"/>
                </a:solidFill>
              </a:rPr>
              <a:t>(6 of 8)</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841DE675-3A77-526F-5848-8D915B7B1C38}"/>
                  </a:ext>
                </a:extLst>
              </p:cNvPr>
              <p:cNvSpPr txBox="1">
                <a:spLocks/>
              </p:cNvSpPr>
              <p:nvPr/>
            </p:nvSpPr>
            <p:spPr>
              <a:xfrm>
                <a:off x="777240" y="1562100"/>
                <a:ext cx="9890759" cy="44323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buFont typeface="+mj-lt"/>
                  <a:buAutoNum type="arabicPeriod" startAt="4"/>
                </a:pPr>
                <a:r>
                  <a:rPr lang="en-US" sz="2800" dirty="0">
                    <a:solidFill>
                      <a:srgbClr val="000000"/>
                    </a:solidFill>
                  </a:rPr>
                  <a:t>For the given literal equation </a:t>
                </a:r>
                <a14:m>
                  <m:oMath xmlns:m="http://schemas.openxmlformats.org/officeDocument/2006/math">
                    <m:r>
                      <a:rPr lang="en-US" sz="2800" i="1" dirty="0" smtClean="0">
                        <a:solidFill>
                          <a:srgbClr val="000000"/>
                        </a:solidFill>
                        <a:latin typeface="Cambria Math" panose="02040503050406030204" pitchFamily="18" charset="0"/>
                      </a:rPr>
                      <m:t>𝑍</m:t>
                    </m:r>
                    <m:r>
                      <a:rPr lang="en-US" sz="2800" i="1" dirty="0" smtClean="0">
                        <a:solidFill>
                          <a:srgbClr val="000000"/>
                        </a:solidFill>
                        <a:latin typeface="Cambria Math" panose="02040503050406030204" pitchFamily="18" charset="0"/>
                      </a:rPr>
                      <m:t>=</m:t>
                    </m:r>
                    <m:f>
                      <m:fPr>
                        <m:ctrlPr>
                          <a:rPr lang="en-US" sz="2800" i="1" dirty="0" smtClean="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𝐴</m:t>
                        </m:r>
                      </m:num>
                      <m:den>
                        <m:r>
                          <a:rPr lang="en-US" sz="2800" b="0" i="1" dirty="0" smtClean="0">
                            <a:solidFill>
                              <a:srgbClr val="000000"/>
                            </a:solidFill>
                            <a:latin typeface="Cambria Math" panose="02040503050406030204" pitchFamily="18" charset="0"/>
                          </a:rPr>
                          <m:t>𝐵</m:t>
                        </m:r>
                      </m:den>
                    </m:f>
                    <m:r>
                      <a:rPr lang="en-US" sz="2800" b="0" i="1" dirty="0" smtClean="0">
                        <a:solidFill>
                          <a:srgbClr val="000000"/>
                        </a:solidFill>
                        <a:latin typeface="Cambria Math" panose="02040503050406030204" pitchFamily="18" charset="0"/>
                      </a:rPr>
                      <m:t>+</m:t>
                    </m:r>
                    <m:f>
                      <m:fPr>
                        <m:ctrlPr>
                          <a:rPr lang="en-US" sz="2800" i="1" dirty="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𝐶</m:t>
                        </m:r>
                      </m:num>
                      <m:den>
                        <m:r>
                          <a:rPr lang="en-US" sz="2800" b="0" i="1" dirty="0" smtClean="0">
                            <a:solidFill>
                              <a:srgbClr val="000000"/>
                            </a:solidFill>
                            <a:latin typeface="Cambria Math" panose="02040503050406030204" pitchFamily="18" charset="0"/>
                          </a:rPr>
                          <m:t>𝐷</m:t>
                        </m:r>
                      </m:den>
                    </m:f>
                  </m:oMath>
                </a14:m>
                <a:r>
                  <a:rPr lang="en-US" sz="2800" dirty="0">
                    <a:solidFill>
                      <a:srgbClr val="000000"/>
                    </a:solidFill>
                  </a:rPr>
                  <a:t>, solve for each variable given. Justify your solution method.</a:t>
                </a:r>
              </a:p>
              <a:p>
                <a:pPr marL="865188" lvl="1" indent="-420688">
                  <a:buFont typeface="+mj-lt"/>
                  <a:buAutoNum type="alphaLcPeriod"/>
                </a:pPr>
                <a:r>
                  <a:rPr lang="en-US" dirty="0">
                    <a:solidFill>
                      <a:srgbClr val="000000"/>
                    </a:solidFill>
                  </a:rPr>
                  <a:t> </a:t>
                </a:r>
                <a:r>
                  <a:rPr lang="en-US" i="1" dirty="0">
                    <a:solidFill>
                      <a:srgbClr val="000000"/>
                    </a:solidFill>
                  </a:rPr>
                  <a:t>A</a:t>
                </a:r>
              </a:p>
              <a:p>
                <a:pPr marL="865188" lvl="2" indent="0">
                  <a:lnSpc>
                    <a:spcPct val="100000"/>
                  </a:lnSpc>
                  <a:spcBef>
                    <a:spcPts val="200"/>
                  </a:spcBef>
                  <a:spcAft>
                    <a:spcPts val="600"/>
                  </a:spcAft>
                  <a:buNone/>
                </a:pPr>
                <a:r>
                  <a:rPr lang="en-US" sz="2000" dirty="0">
                    <a:solidFill>
                      <a:srgbClr val="FF0000"/>
                    </a:solidFill>
                  </a:rPr>
                  <a:t>A = BZ − BC/D: multiply both sides by B, then subtract BC/D.</a:t>
                </a:r>
              </a:p>
              <a:p>
                <a:pPr marL="866394" lvl="1" indent="-466344">
                  <a:buFont typeface="+mj-lt"/>
                  <a:buAutoNum type="alphaLcPeriod"/>
                </a:pPr>
                <a:endParaRPr lang="en-US" sz="2800" i="1" dirty="0">
                  <a:solidFill>
                    <a:srgbClr val="000000"/>
                  </a:solidFill>
                </a:endParaRPr>
              </a:p>
              <a:p>
                <a:pPr marL="866394" lvl="1" indent="-466344">
                  <a:buFont typeface="+mj-lt"/>
                  <a:buAutoNum type="alphaLcPeriod"/>
                </a:pPr>
                <a:endParaRPr lang="en-US" i="1" dirty="0">
                  <a:solidFill>
                    <a:srgbClr val="000000"/>
                  </a:solidFill>
                </a:endParaRPr>
              </a:p>
              <a:p>
                <a:pPr marL="866394" lvl="1" indent="-466344">
                  <a:buFont typeface="+mj-lt"/>
                  <a:buAutoNum type="alphaLcPeriod"/>
                </a:pPr>
                <a:endParaRPr lang="en-US" sz="2800" i="1" dirty="0">
                  <a:solidFill>
                    <a:srgbClr val="000000"/>
                  </a:solidFill>
                </a:endParaRPr>
              </a:p>
              <a:p>
                <a:pPr marL="865188" lvl="1" indent="-420688">
                  <a:buFont typeface="+mj-lt"/>
                  <a:buAutoNum type="alphaLcPeriod"/>
                </a:pPr>
                <a:r>
                  <a:rPr lang="en-US" sz="2800" dirty="0">
                    <a:solidFill>
                      <a:srgbClr val="000000"/>
                    </a:solidFill>
                  </a:rPr>
                  <a:t> </a:t>
                </a:r>
                <a:r>
                  <a:rPr lang="en-US" sz="2800" i="1" dirty="0">
                    <a:solidFill>
                      <a:srgbClr val="000000"/>
                    </a:solidFill>
                  </a:rPr>
                  <a:t>D</a:t>
                </a:r>
              </a:p>
              <a:p>
                <a:pPr marL="865188" lvl="2" indent="0">
                  <a:lnSpc>
                    <a:spcPct val="100000"/>
                  </a:lnSpc>
                  <a:spcBef>
                    <a:spcPts val="200"/>
                  </a:spcBef>
                  <a:spcAft>
                    <a:spcPts val="600"/>
                  </a:spcAft>
                  <a:buNone/>
                </a:pPr>
                <a:r>
                  <a:rPr lang="en-US" sz="2000" dirty="0">
                    <a:solidFill>
                      <a:srgbClr val="FF0000"/>
                    </a:solidFill>
                  </a:rPr>
                  <a:t>D = BC/(BZ − A): multiply by BD, move the D terms to one side, factor out D, divide by BZ − A.</a:t>
                </a:r>
              </a:p>
              <a:p>
                <a:pPr marL="466344" indent="0">
                  <a:buFont typeface="+mj-lt"/>
                  <a:buAutoNum type="alphaLcPeriod"/>
                </a:pPr>
                <a:endParaRPr lang="es-ES" sz="2800" dirty="0">
                  <a:solidFill>
                    <a:srgbClr val="000000"/>
                  </a:solidFill>
                </a:endParaRP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841DE675-3A77-526F-5848-8D915B7B1C38}"/>
                  </a:ext>
                </a:extLst>
              </p:cNvPr>
              <p:cNvSpPr txBox="1">
                <a:spLocks noRot="1" noChangeAspect="1" noMove="1" noResize="1" noEditPoints="1" noAdjustHandles="1" noChangeArrowheads="1" noChangeShapeType="1" noTextEdit="1"/>
              </p:cNvSpPr>
              <p:nvPr/>
            </p:nvSpPr>
            <p:spPr>
              <a:xfrm>
                <a:off x="777240" y="1562100"/>
                <a:ext cx="9890759" cy="4432300"/>
              </a:xfrm>
              <a:prstGeom prst="rect">
                <a:avLst/>
              </a:prstGeom>
              <a:blipFill>
                <a:blip r:embed="rId3"/>
                <a:stretch>
                  <a:fillRect l="-1295" r="-740"/>
                </a:stretch>
              </a:blipFill>
            </p:spPr>
            <p:txBody>
              <a:bodyPr/>
              <a:lstStyle/>
              <a:p>
                <a:r>
                  <a:rPr lang="en-US">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47</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366</a:t>
            </a:r>
          </a:p>
        </p:txBody>
      </p:sp>
    </p:spTree>
    <p:extLst>
      <p:ext uri="{BB962C8B-B14F-4D97-AF65-F5344CB8AC3E}">
        <p14:creationId xmlns:p14="http://schemas.microsoft.com/office/powerpoint/2010/main" val="327380751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E680C-687E-ADE3-3B99-3A67A183D0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FB96E88-BB2E-CCCC-A8DB-844709AE19B8}"/>
              </a:ext>
            </a:extLst>
          </p:cNvPr>
          <p:cNvSpPr>
            <a:spLocks noGrp="1"/>
          </p:cNvSpPr>
          <p:nvPr>
            <p:ph type="title"/>
          </p:nvPr>
        </p:nvSpPr>
        <p:spPr/>
        <p:txBody>
          <a:bodyPr/>
          <a:lstStyle/>
          <a:p>
            <a:pPr algn="l"/>
            <a:r>
              <a:rPr lang="en-US" sz="3800" b="1" dirty="0"/>
              <a:t>Solving Literal Equations for Specific Variables </a:t>
            </a:r>
            <a:r>
              <a:rPr lang="en-US" sz="2000" b="1" dirty="0">
                <a:solidFill>
                  <a:schemeClr val="bg1"/>
                </a:solidFill>
              </a:rPr>
              <a:t>(7 of 8)</a:t>
            </a:r>
          </a:p>
        </p:txBody>
      </p:sp>
      <p:sp>
        <p:nvSpPr>
          <p:cNvPr id="9" name="Text Placeholder 2">
            <a:extLst>
              <a:ext uri="{FF2B5EF4-FFF2-40B4-BE49-F238E27FC236}">
                <a16:creationId xmlns:a16="http://schemas.microsoft.com/office/drawing/2014/main" id="{71BF5C85-DFDF-480D-3B0C-5ACB78A2EDF7}"/>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2.3!</a:t>
            </a:r>
          </a:p>
        </p:txBody>
      </p:sp>
      <p:pic>
        <p:nvPicPr>
          <p:cNvPr id="3" name="Picture 2">
            <a:extLst>
              <a:ext uri="{FF2B5EF4-FFF2-40B4-BE49-F238E27FC236}">
                <a16:creationId xmlns:a16="http://schemas.microsoft.com/office/drawing/2014/main" id="{ED191E3C-F915-873D-627B-FE0FCB70ED3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366</a:t>
            </a:r>
          </a:p>
        </p:txBody>
      </p:sp>
    </p:spTree>
    <p:extLst>
      <p:ext uri="{BB962C8B-B14F-4D97-AF65-F5344CB8AC3E}">
        <p14:creationId xmlns:p14="http://schemas.microsoft.com/office/powerpoint/2010/main" val="16365459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B83FC-1328-5286-4D58-7A5939A559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1394877-95B0-0EA2-F5D2-F2B383DB4A33}"/>
              </a:ext>
            </a:extLst>
          </p:cNvPr>
          <p:cNvSpPr>
            <a:spLocks noGrp="1"/>
          </p:cNvSpPr>
          <p:nvPr>
            <p:ph type="title"/>
          </p:nvPr>
        </p:nvSpPr>
        <p:spPr/>
        <p:txBody>
          <a:bodyPr/>
          <a:lstStyle/>
          <a:p>
            <a:pPr algn="l"/>
            <a:r>
              <a:rPr lang="en-US" sz="3800" b="1" dirty="0"/>
              <a:t>Solving Literal Equations for Specific Variables </a:t>
            </a:r>
            <a:r>
              <a:rPr lang="en-US" sz="2000" b="1" dirty="0">
                <a:solidFill>
                  <a:schemeClr val="bg1"/>
                </a:solidFill>
              </a:rPr>
              <a:t>(8 of 8)</a:t>
            </a:r>
          </a:p>
        </p:txBody>
      </p:sp>
      <p:sp>
        <p:nvSpPr>
          <p:cNvPr id="9" name="Text Placeholder 2">
            <a:extLst>
              <a:ext uri="{FF2B5EF4-FFF2-40B4-BE49-F238E27FC236}">
                <a16:creationId xmlns:a16="http://schemas.microsoft.com/office/drawing/2014/main" id="{8BAA74F2-A56A-99BB-CC00-B0FCF17FAAC8}"/>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366</a:t>
            </a:r>
          </a:p>
        </p:txBody>
      </p:sp>
    </p:spTree>
    <p:extLst>
      <p:ext uri="{BB962C8B-B14F-4D97-AF65-F5344CB8AC3E}">
        <p14:creationId xmlns:p14="http://schemas.microsoft.com/office/powerpoint/2010/main" val="10233094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EAD63-4C4E-2061-9958-31BD7F29442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08FFB5-D2FB-D2B3-04E1-6A986A718A76}"/>
              </a:ext>
            </a:extLst>
          </p:cNvPr>
          <p:cNvSpPr>
            <a:spLocks noGrp="1"/>
          </p:cNvSpPr>
          <p:nvPr>
            <p:ph type="title" idx="4294967295"/>
          </p:nvPr>
        </p:nvSpPr>
        <p:spPr>
          <a:xfrm>
            <a:off x="838200" y="-465364"/>
            <a:ext cx="10514013" cy="465364"/>
          </a:xfrm>
          <a:prstGeom prst="rect">
            <a:avLst/>
          </a:prstGeom>
        </p:spPr>
        <p:txBody>
          <a:bodyPr anchor="b"/>
          <a:lstStyle/>
          <a:p>
            <a:r>
              <a:rPr lang="en-US" sz="2000" dirty="0">
                <a:solidFill>
                  <a:schemeClr val="bg2"/>
                </a:solidFill>
              </a:rPr>
              <a:t>Talk the Talk</a:t>
            </a:r>
          </a:p>
        </p:txBody>
      </p:sp>
      <p:sp>
        <p:nvSpPr>
          <p:cNvPr id="2" name="Text Placeholder 1" descr="10 minutes">
            <a:extLst>
              <a:ext uri="{FF2B5EF4-FFF2-40B4-BE49-F238E27FC236}">
                <a16:creationId xmlns:a16="http://schemas.microsoft.com/office/drawing/2014/main" id="{BD57B785-5750-9E46-B9C6-10A79E0561EC}"/>
              </a:ext>
            </a:extLst>
          </p:cNvPr>
          <p:cNvSpPr>
            <a:spLocks noGrp="1"/>
          </p:cNvSpPr>
          <p:nvPr>
            <p:ph type="body" sz="quarter" idx="12"/>
          </p:nvPr>
        </p:nvSpPr>
        <p:spPr>
          <a:xfrm>
            <a:off x="10614990" y="5781873"/>
            <a:ext cx="863947" cy="795338"/>
          </a:xfrm>
        </p:spPr>
        <p:txBody>
          <a:bodyPr/>
          <a:lstStyle/>
          <a:p>
            <a:r>
              <a:rPr lang="en-US" b="1" dirty="0"/>
              <a:t>5–10</a:t>
            </a:r>
          </a:p>
        </p:txBody>
      </p:sp>
      <p:sp>
        <p:nvSpPr>
          <p:cNvPr id="1003" name="Slide Number 100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50</a:t>
            </a:fld>
          </a:p>
        </p:txBody>
      </p:sp>
      <p:sp>
        <p:nvSpPr>
          <p:cNvPr id="1005" name="Answer 1005"/>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extLst>
      <p:ext uri="{BB962C8B-B14F-4D97-AF65-F5344CB8AC3E}">
        <p14:creationId xmlns:p14="http://schemas.microsoft.com/office/powerpoint/2010/main" val="9466332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67D09-547F-BA76-F921-EACDC00E3F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08B2D93-5465-C64B-8A99-7F9667A85C11}"/>
              </a:ext>
            </a:extLst>
          </p:cNvPr>
          <p:cNvSpPr>
            <a:spLocks noGrp="1"/>
          </p:cNvSpPr>
          <p:nvPr>
            <p:ph type="title"/>
          </p:nvPr>
        </p:nvSpPr>
        <p:spPr/>
        <p:txBody>
          <a:bodyPr/>
          <a:lstStyle/>
          <a:p>
            <a:pPr algn="l"/>
            <a:r>
              <a:rPr lang="en-US" b="1" dirty="0"/>
              <a:t>Rearrange It </a:t>
            </a:r>
            <a:r>
              <a:rPr lang="en-US" sz="2000" b="1" dirty="0">
                <a:solidFill>
                  <a:schemeClr val="bg1"/>
                </a:solidFill>
              </a:rPr>
              <a:t>(1 of 4)</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DC1CADD1-83AF-A351-D7D5-CC9F7586B036}"/>
                  </a:ext>
                </a:extLst>
              </p:cNvPr>
              <p:cNvSpPr txBox="1">
                <a:spLocks/>
              </p:cNvSpPr>
              <p:nvPr/>
            </p:nvSpPr>
            <p:spPr>
              <a:xfrm>
                <a:off x="777240" y="1634519"/>
                <a:ext cx="9865951" cy="467597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chemeClr val="bg2">
                        <a:lumMod val="25000"/>
                      </a:schemeClr>
                    </a:solidFill>
                  </a:rPr>
                  <a:t>The formula for the lateral surface area of a cylinder is  </a:t>
                </a:r>
                <a14:m>
                  <m:oMath xmlns:m="http://schemas.openxmlformats.org/officeDocument/2006/math">
                    <m:r>
                      <a:rPr lang="en-US" sz="2800" dirty="0">
                        <a:solidFill>
                          <a:schemeClr val="bg2">
                            <a:lumMod val="25000"/>
                          </a:schemeClr>
                        </a:solidFill>
                        <a:latin typeface="Cambria Math" panose="02040503050406030204" pitchFamily="18" charset="0"/>
                      </a:rPr>
                      <m:t>𝑆</m:t>
                    </m:r>
                    <m:r>
                      <a:rPr lang="en-US" sz="2800" dirty="0">
                        <a:solidFill>
                          <a:schemeClr val="bg2">
                            <a:lumMod val="25000"/>
                          </a:schemeClr>
                        </a:solidFill>
                        <a:latin typeface="Cambria Math" panose="02040503050406030204" pitchFamily="18" charset="0"/>
                      </a:rPr>
                      <m:t>=2</m:t>
                    </m:r>
                    <m:r>
                      <a:rPr lang="en-US" sz="2800" dirty="0">
                        <a:solidFill>
                          <a:schemeClr val="bg2">
                            <a:lumMod val="25000"/>
                          </a:schemeClr>
                        </a:solidFill>
                        <a:latin typeface="Cambria Math" panose="02040503050406030204" pitchFamily="18" charset="0"/>
                      </a:rPr>
                      <m:t>𝜋</m:t>
                    </m:r>
                    <m:r>
                      <a:rPr lang="en-US" sz="2800" dirty="0">
                        <a:solidFill>
                          <a:schemeClr val="bg2">
                            <a:lumMod val="25000"/>
                          </a:schemeClr>
                        </a:solidFill>
                        <a:latin typeface="Cambria Math" panose="02040503050406030204" pitchFamily="18" charset="0"/>
                      </a:rPr>
                      <m:t>𝑟h</m:t>
                    </m:r>
                  </m:oMath>
                </a14:m>
                <a:r>
                  <a:rPr lang="en-US" sz="2800" dirty="0">
                    <a:solidFill>
                      <a:schemeClr val="bg2">
                        <a:lumMod val="25000"/>
                      </a:schemeClr>
                    </a:solidFill>
                  </a:rPr>
                  <a:t>, where </a:t>
                </a:r>
                <a14:m>
                  <m:oMath xmlns:m="http://schemas.openxmlformats.org/officeDocument/2006/math">
                    <m:r>
                      <a:rPr lang="en-US" sz="2800" dirty="0">
                        <a:solidFill>
                          <a:schemeClr val="bg2">
                            <a:lumMod val="25000"/>
                          </a:schemeClr>
                        </a:solidFill>
                        <a:latin typeface="Cambria Math" panose="02040503050406030204" pitchFamily="18" charset="0"/>
                      </a:rPr>
                      <m:t>𝑆</m:t>
                    </m:r>
                  </m:oMath>
                </a14:m>
                <a:r>
                  <a:rPr lang="en-US" sz="2800" dirty="0">
                    <a:solidFill>
                      <a:schemeClr val="bg2">
                        <a:lumMod val="25000"/>
                      </a:schemeClr>
                    </a:solidFill>
                  </a:rPr>
                  <a:t> is the lateral surface area, </a:t>
                </a:r>
                <a14:m>
                  <m:oMath xmlns:m="http://schemas.openxmlformats.org/officeDocument/2006/math">
                    <m:r>
                      <a:rPr lang="en-US" sz="2800" dirty="0">
                        <a:solidFill>
                          <a:schemeClr val="bg2">
                            <a:lumMod val="25000"/>
                          </a:schemeClr>
                        </a:solidFill>
                        <a:latin typeface="Cambria Math" panose="02040503050406030204" pitchFamily="18" charset="0"/>
                      </a:rPr>
                      <m:t>𝑟</m:t>
                    </m:r>
                  </m:oMath>
                </a14:m>
                <a:r>
                  <a:rPr lang="en-US" sz="2800" dirty="0">
                    <a:solidFill>
                      <a:schemeClr val="bg2">
                        <a:lumMod val="25000"/>
                      </a:schemeClr>
                    </a:solidFill>
                  </a:rPr>
                  <a:t> is the length of the radius of the base, and </a:t>
                </a:r>
                <a14:m>
                  <m:oMath xmlns:m="http://schemas.openxmlformats.org/officeDocument/2006/math">
                    <m:r>
                      <a:rPr lang="en-US" sz="2800" dirty="0">
                        <a:solidFill>
                          <a:schemeClr val="bg2">
                            <a:lumMod val="25000"/>
                          </a:schemeClr>
                        </a:solidFill>
                        <a:latin typeface="Cambria Math" panose="02040503050406030204" pitchFamily="18" charset="0"/>
                      </a:rPr>
                      <m:t>h</m:t>
                    </m:r>
                  </m:oMath>
                </a14:m>
                <a:r>
                  <a:rPr lang="en-US" sz="2800" dirty="0">
                    <a:solidFill>
                      <a:schemeClr val="bg2">
                        <a:lumMod val="25000"/>
                      </a:schemeClr>
                    </a:solidFill>
                  </a:rPr>
                  <a:t> is the height. Convert the formula to solve for the height.</a:t>
                </a:r>
              </a:p>
              <a:p>
                <a:pPr marL="514350" lvl="1" indent="0">
                  <a:lnSpc>
                    <a:spcPct val="100000"/>
                  </a:lnSpc>
                  <a:spcBef>
                    <a:spcPts val="200"/>
                  </a:spcBef>
                  <a:spcAft>
                    <a:spcPts val="600"/>
                  </a:spcAft>
                  <a:buNone/>
                </a:pPr>
                <a:r>
                  <a:rPr lang="en-US" sz="2000" dirty="0">
                    <a:solidFill>
                      <a:srgbClr val="FF0000"/>
                    </a:solidFill>
                  </a:rPr>
                  <a:t>h = S/(2πr)</a:t>
                </a:r>
              </a:p>
              <a:p>
                <a:pPr marL="514350" indent="-514350">
                  <a:buFont typeface="+mj-lt"/>
                  <a:buAutoNum type="arabicPeriod"/>
                </a:pPr>
                <a:endParaRPr lang="en-US" sz="2800" dirty="0">
                  <a:solidFill>
                    <a:schemeClr val="bg2">
                      <a:lumMod val="25000"/>
                    </a:schemeClr>
                  </a:solidFill>
                </a:endParaRPr>
              </a:p>
              <a:p>
                <a:pPr marL="514350" indent="-514350">
                  <a:buFont typeface="+mj-lt"/>
                  <a:buAutoNum type="arabicPeriod"/>
                </a:pPr>
                <a:endParaRPr lang="en-US" sz="2800" dirty="0">
                  <a:solidFill>
                    <a:schemeClr val="bg2">
                      <a:lumMod val="25000"/>
                    </a:schemeClr>
                  </a:solidFill>
                </a:endParaRPr>
              </a:p>
              <a:p>
                <a:pPr marL="514350" indent="-514350">
                  <a:buFont typeface="+mj-lt"/>
                  <a:buAutoNum type="arabicPeriod"/>
                </a:pPr>
                <a:r>
                  <a:rPr lang="en-US" sz="2800" dirty="0">
                    <a:solidFill>
                      <a:schemeClr val="bg2">
                        <a:lumMod val="25000"/>
                      </a:schemeClr>
                    </a:solidFill>
                  </a:rPr>
                  <a:t>The lateral surface area of a can of soup is 37.68 square inches, and the length of the radius of the base of the can is 1.5 inches. Use your formula to determine the height of the can of soup. Use 3.14 for </a:t>
                </a:r>
                <a14:m>
                  <m:oMath xmlns:m="http://schemas.openxmlformats.org/officeDocument/2006/math">
                    <m:r>
                      <a:rPr lang="en-US" sz="2800" b="0" i="1" u="none" strike="noStrike" baseline="0" dirty="0" smtClean="0">
                        <a:solidFill>
                          <a:schemeClr val="bg2">
                            <a:lumMod val="25000"/>
                          </a:schemeClr>
                        </a:solidFill>
                        <a:latin typeface="Cambria Math" panose="02040503050406030204" pitchFamily="18" charset="0"/>
                        <a:ea typeface="Cambria Math" panose="02040503050406030204" pitchFamily="18" charset="0"/>
                      </a:rPr>
                      <m:t>𝜋</m:t>
                    </m:r>
                  </m:oMath>
                </a14:m>
                <a:r>
                  <a:rPr lang="en-US" sz="2800" dirty="0">
                    <a:solidFill>
                      <a:schemeClr val="bg2">
                        <a:lumMod val="25000"/>
                      </a:schemeClr>
                    </a:solidFill>
                  </a:rPr>
                  <a:t>.</a:t>
                </a:r>
                <a:endParaRPr lang="en-US" sz="2800" b="0" i="0" u="none" strike="noStrike" baseline="0" dirty="0">
                  <a:solidFill>
                    <a:schemeClr val="bg2">
                      <a:lumMod val="25000"/>
                    </a:schemeClr>
                  </a:solidFill>
                </a:endParaRPr>
              </a:p>
              <a:p>
                <a:pPr marL="514350" lvl="1" indent="0">
                  <a:lnSpc>
                    <a:spcPct val="100000"/>
                  </a:lnSpc>
                  <a:spcBef>
                    <a:spcPts val="200"/>
                  </a:spcBef>
                  <a:spcAft>
                    <a:spcPts val="600"/>
                  </a:spcAft>
                  <a:buNone/>
                </a:pPr>
                <a:r>
                  <a:rPr lang="en-US" sz="2000" dirty="0">
                    <a:solidFill>
                      <a:srgbClr val="FF0000"/>
                    </a:solidFill>
                  </a:rPr>
                  <a:t>h = 37.68 ÷ (2 · 3.14 · 1.5) = 37.68 ÷ 9.42 = 4 in.</a:t>
                </a:r>
              </a:p>
              <a:p>
                <a:pPr marL="0" indent="0" algn="ctr">
                  <a:buNone/>
                </a:pPr>
                <a:endParaRPr lang="en-US" sz="2800" dirty="0">
                  <a:solidFill>
                    <a:schemeClr val="bg2">
                      <a:lumMod val="25000"/>
                    </a:schemeClr>
                  </a:solidFill>
                </a:endParaRPr>
              </a:p>
            </p:txBody>
          </p:sp>
        </mc:Choice>
        <mc:Fallback xmlns="">
          <p:sp>
            <p:nvSpPr>
              <p:cNvPr id="9" name="Text Placeholder 2">
                <a:extLst>
                  <a:ext uri="{FF2B5EF4-FFF2-40B4-BE49-F238E27FC236}">
                    <a16:creationId xmlns:a16="http://schemas.microsoft.com/office/drawing/2014/main" id="{DC1CADD1-83AF-A351-D7D5-CC9F7586B036}"/>
                  </a:ext>
                </a:extLst>
              </p:cNvPr>
              <p:cNvSpPr txBox="1">
                <a:spLocks noRot="1" noChangeAspect="1" noMove="1" noResize="1" noEditPoints="1" noAdjustHandles="1" noChangeArrowheads="1" noChangeShapeType="1" noTextEdit="1"/>
              </p:cNvSpPr>
              <p:nvPr/>
            </p:nvSpPr>
            <p:spPr>
              <a:xfrm>
                <a:off x="777240" y="1634519"/>
                <a:ext cx="9865951" cy="4675970"/>
              </a:xfrm>
              <a:prstGeom prst="rect">
                <a:avLst/>
              </a:prstGeom>
              <a:blipFill>
                <a:blip r:embed="rId3"/>
                <a:stretch>
                  <a:fillRect l="-1298" t="-1434" r="-1916" b="-2477"/>
                </a:stretch>
              </a:blipFill>
            </p:spPr>
            <p:txBody>
              <a:bodyPr/>
              <a:lstStyle/>
              <a:p>
                <a:r>
                  <a:rPr lang="en-US">
                    <a:noFill/>
                  </a:rPr>
                  <a:t> </a:t>
                </a:r>
              </a:p>
            </p:txBody>
          </p:sp>
        </mc:Fallback>
      </mc:AlternateContent>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51</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367</a:t>
            </a:r>
          </a:p>
        </p:txBody>
      </p:sp>
    </p:spTree>
    <p:extLst>
      <p:ext uri="{BB962C8B-B14F-4D97-AF65-F5344CB8AC3E}">
        <p14:creationId xmlns:p14="http://schemas.microsoft.com/office/powerpoint/2010/main" val="403645885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4E479-2C4E-BBAF-A6F8-C7A1FBBA43D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D89E467-3BB7-0CFC-0479-9092878AADB3}"/>
              </a:ext>
            </a:extLst>
          </p:cNvPr>
          <p:cNvSpPr>
            <a:spLocks noGrp="1"/>
          </p:cNvSpPr>
          <p:nvPr>
            <p:ph type="title"/>
          </p:nvPr>
        </p:nvSpPr>
        <p:spPr/>
        <p:txBody>
          <a:bodyPr/>
          <a:lstStyle/>
          <a:p>
            <a:pPr algn="l"/>
            <a:r>
              <a:rPr lang="en-US" b="1" dirty="0"/>
              <a:t>Rearrange It </a:t>
            </a:r>
            <a:r>
              <a:rPr lang="en-US" sz="2000" b="1" dirty="0">
                <a:solidFill>
                  <a:schemeClr val="bg1"/>
                </a:solidFill>
              </a:rPr>
              <a:t>(2 of 4)</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139F9077-105C-DEC6-97B6-CB32368DFBA9}"/>
                  </a:ext>
                </a:extLst>
              </p:cNvPr>
              <p:cNvSpPr txBox="1">
                <a:spLocks/>
              </p:cNvSpPr>
              <p:nvPr/>
            </p:nvSpPr>
            <p:spPr>
              <a:xfrm>
                <a:off x="777240" y="1634519"/>
                <a:ext cx="10493272" cy="467597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The formula for the surface area of a cylinder is </a:t>
                </a:r>
                <a14:m>
                  <m:oMath xmlns:m="http://schemas.openxmlformats.org/officeDocument/2006/math">
                    <m:r>
                      <a:rPr lang="en-US" sz="2800" dirty="0">
                        <a:solidFill>
                          <a:srgbClr val="000000"/>
                        </a:solidFill>
                        <a:latin typeface="Cambria Math" panose="02040503050406030204" pitchFamily="18" charset="0"/>
                      </a:rPr>
                      <m:t>𝑆</m:t>
                    </m:r>
                    <m:r>
                      <a:rPr lang="en-US" sz="2800" dirty="0">
                        <a:solidFill>
                          <a:srgbClr val="000000"/>
                        </a:solidFill>
                        <a:latin typeface="Cambria Math" panose="02040503050406030204" pitchFamily="18" charset="0"/>
                      </a:rPr>
                      <m:t>=2</m:t>
                    </m:r>
                    <m:r>
                      <a:rPr lang="en-US" sz="2800" dirty="0">
                        <a:solidFill>
                          <a:srgbClr val="000000"/>
                        </a:solidFill>
                        <a:latin typeface="Cambria Math" panose="02040503050406030204" pitchFamily="18" charset="0"/>
                      </a:rPr>
                      <m:t>𝜋</m:t>
                    </m:r>
                    <m:r>
                      <a:rPr lang="en-US" sz="2800" dirty="0">
                        <a:solidFill>
                          <a:srgbClr val="000000"/>
                        </a:solidFill>
                        <a:latin typeface="Cambria Math" panose="02040503050406030204" pitchFamily="18" charset="0"/>
                      </a:rPr>
                      <m:t>𝑟</m:t>
                    </m:r>
                    <m:r>
                      <a:rPr lang="en-US" sz="2800" baseline="30000" dirty="0">
                        <a:solidFill>
                          <a:srgbClr val="000000"/>
                        </a:solidFill>
                        <a:latin typeface="Cambria Math" panose="02040503050406030204" pitchFamily="18" charset="0"/>
                      </a:rPr>
                      <m:t>2</m:t>
                    </m:r>
                    <m:r>
                      <a:rPr lang="en-US" sz="2800" dirty="0">
                        <a:solidFill>
                          <a:srgbClr val="000000"/>
                        </a:solidFill>
                        <a:latin typeface="Cambria Math" panose="02040503050406030204" pitchFamily="18" charset="0"/>
                      </a:rPr>
                      <m:t>+2</m:t>
                    </m:r>
                    <m:r>
                      <a:rPr lang="en-US" sz="2800" dirty="0">
                        <a:solidFill>
                          <a:srgbClr val="000000"/>
                        </a:solidFill>
                        <a:latin typeface="Cambria Math" panose="02040503050406030204" pitchFamily="18" charset="0"/>
                      </a:rPr>
                      <m:t>𝜋</m:t>
                    </m:r>
                    <m:r>
                      <a:rPr lang="en-US" sz="2800" dirty="0">
                        <a:solidFill>
                          <a:srgbClr val="000000"/>
                        </a:solidFill>
                        <a:latin typeface="Cambria Math" panose="02040503050406030204" pitchFamily="18" charset="0"/>
                      </a:rPr>
                      <m:t>𝑟</m:t>
                    </m:r>
                    <m:r>
                      <m:rPr>
                        <m:sty m:val="p"/>
                      </m:rPr>
                      <a:rPr lang="en-IN" sz="2800" b="0" i="0" dirty="0" smtClean="0">
                        <a:solidFill>
                          <a:srgbClr val="000000"/>
                        </a:solidFill>
                        <a:latin typeface="Cambria Math" panose="02040503050406030204" pitchFamily="18" charset="0"/>
                      </a:rPr>
                      <m:t>h</m:t>
                    </m:r>
                  </m:oMath>
                </a14:m>
                <a:r>
                  <a:rPr lang="en-US" sz="2800" dirty="0">
                    <a:solidFill>
                      <a:srgbClr val="000000"/>
                    </a:solidFill>
                  </a:rPr>
                  <a:t>, where </a:t>
                </a:r>
                <a14:m>
                  <m:oMath xmlns:m="http://schemas.openxmlformats.org/officeDocument/2006/math">
                    <m:r>
                      <a:rPr lang="en-US" sz="2800" dirty="0">
                        <a:solidFill>
                          <a:srgbClr val="000000"/>
                        </a:solidFill>
                        <a:latin typeface="Cambria Math" panose="02040503050406030204" pitchFamily="18" charset="0"/>
                      </a:rPr>
                      <m:t>𝑆</m:t>
                    </m:r>
                  </m:oMath>
                </a14:m>
                <a:r>
                  <a:rPr lang="en-US" sz="2800" dirty="0">
                    <a:solidFill>
                      <a:srgbClr val="000000"/>
                    </a:solidFill>
                  </a:rPr>
                  <a:t> is the surface area, </a:t>
                </a:r>
                <a14:m>
                  <m:oMath xmlns:m="http://schemas.openxmlformats.org/officeDocument/2006/math">
                    <m:r>
                      <a:rPr lang="en-US" sz="2800" i="1" dirty="0" smtClean="0">
                        <a:solidFill>
                          <a:srgbClr val="000000"/>
                        </a:solidFill>
                        <a:latin typeface="Cambria Math" panose="02040503050406030204" pitchFamily="18" charset="0"/>
                      </a:rPr>
                      <m:t>𝑟</m:t>
                    </m:r>
                  </m:oMath>
                </a14:m>
                <a:r>
                  <a:rPr lang="en-US" sz="2800" dirty="0">
                    <a:solidFill>
                      <a:srgbClr val="000000"/>
                    </a:solidFill>
                  </a:rPr>
                  <a:t> is the length of the radius of the base, and </a:t>
                </a:r>
                <a14:m>
                  <m:oMath xmlns:m="http://schemas.openxmlformats.org/officeDocument/2006/math">
                    <m:r>
                      <a:rPr lang="en-US" sz="2800" i="1" dirty="0" smtClean="0">
                        <a:solidFill>
                          <a:srgbClr val="000000"/>
                        </a:solidFill>
                        <a:latin typeface="Cambria Math" panose="02040503050406030204" pitchFamily="18" charset="0"/>
                      </a:rPr>
                      <m:t>h</m:t>
                    </m:r>
                  </m:oMath>
                </a14:m>
                <a:r>
                  <a:rPr lang="en-US" sz="2800" dirty="0">
                    <a:solidFill>
                      <a:srgbClr val="000000"/>
                    </a:solidFill>
                  </a:rPr>
                  <a:t> is the height. Convert the formula to solve for the height.</a:t>
                </a:r>
              </a:p>
              <a:p>
                <a:pPr marL="514350" lvl="1" indent="0">
                  <a:lnSpc>
                    <a:spcPct val="100000"/>
                  </a:lnSpc>
                  <a:spcBef>
                    <a:spcPts val="200"/>
                  </a:spcBef>
                  <a:spcAft>
                    <a:spcPts val="600"/>
                  </a:spcAft>
                  <a:buNone/>
                </a:pPr>
                <a:r>
                  <a:rPr lang="en-US" sz="2000" dirty="0">
                    <a:solidFill>
                      <a:srgbClr val="FF0000"/>
                    </a:solidFill>
                  </a:rPr>
                  <a:t>h = (S − 2πr²)/(2πr)</a:t>
                </a:r>
              </a:p>
              <a:p>
                <a:pPr marL="514350" indent="-514350">
                  <a:buFont typeface="+mj-lt"/>
                  <a:buAutoNum type="arabicPeriod" startAt="3"/>
                </a:pPr>
                <a:endParaRPr lang="en-US" sz="2800" dirty="0">
                  <a:solidFill>
                    <a:schemeClr val="bg2">
                      <a:lumMod val="25000"/>
                    </a:schemeClr>
                  </a:solidFill>
                </a:endParaRPr>
              </a:p>
              <a:p>
                <a:pPr marL="514350" indent="-514350">
                  <a:buFont typeface="+mj-lt"/>
                  <a:buAutoNum type="arabicPeriod" startAt="3"/>
                </a:pPr>
                <a:endParaRPr lang="en-US" sz="2800" dirty="0">
                  <a:solidFill>
                    <a:schemeClr val="bg2">
                      <a:lumMod val="25000"/>
                    </a:schemeClr>
                  </a:solidFill>
                </a:endParaRPr>
              </a:p>
              <a:p>
                <a:pPr marL="514350" indent="-514350">
                  <a:buFont typeface="+mj-lt"/>
                  <a:buAutoNum type="arabicPeriod" startAt="3"/>
                </a:pPr>
                <a:r>
                  <a:rPr lang="en-US" sz="2800" dirty="0">
                    <a:solidFill>
                      <a:schemeClr val="bg2">
                        <a:lumMod val="25000"/>
                      </a:schemeClr>
                    </a:solidFill>
                  </a:rPr>
                  <a:t>The surface area of a can of soup is 51.81 square inches, and the length of the radius of the base is 1.5 inches. Use your formula to determine the height of the can of soup. Use 3.14 for </a:t>
                </a:r>
                <a14:m>
                  <m:oMath xmlns:m="http://schemas.openxmlformats.org/officeDocument/2006/math">
                    <m:r>
                      <a:rPr lang="en-US" sz="2800" b="0" i="1" u="none" strike="noStrike" baseline="0" dirty="0" smtClean="0">
                        <a:solidFill>
                          <a:schemeClr val="bg2">
                            <a:lumMod val="25000"/>
                          </a:schemeClr>
                        </a:solidFill>
                        <a:latin typeface="Cambria Math" panose="02040503050406030204" pitchFamily="18" charset="0"/>
                        <a:ea typeface="Cambria Math" panose="02040503050406030204" pitchFamily="18" charset="0"/>
                      </a:rPr>
                      <m:t>𝜋</m:t>
                    </m:r>
                  </m:oMath>
                </a14:m>
                <a:r>
                  <a:rPr lang="en-US" sz="2800" dirty="0">
                    <a:solidFill>
                      <a:schemeClr val="bg2">
                        <a:lumMod val="25000"/>
                      </a:schemeClr>
                    </a:solidFill>
                  </a:rPr>
                  <a:t>.</a:t>
                </a:r>
              </a:p>
              <a:p>
                <a:pPr marL="514350" lvl="1" indent="0">
                  <a:lnSpc>
                    <a:spcPct val="100000"/>
                  </a:lnSpc>
                  <a:spcBef>
                    <a:spcPts val="200"/>
                  </a:spcBef>
                  <a:spcAft>
                    <a:spcPts val="600"/>
                  </a:spcAft>
                  <a:buNone/>
                </a:pPr>
                <a:r>
                  <a:rPr lang="en-US" sz="2000" dirty="0">
                    <a:solidFill>
                      <a:srgbClr val="FF0000"/>
                    </a:solidFill>
                  </a:rPr>
                  <a:t>h = (51.81 − 14.13) ÷ 9.42 = 4 in.</a:t>
                </a:r>
              </a:p>
            </p:txBody>
          </p:sp>
        </mc:Choice>
        <mc:Fallback xmlns="">
          <p:sp>
            <p:nvSpPr>
              <p:cNvPr id="9" name="Text Placeholder 2">
                <a:extLst>
                  <a:ext uri="{FF2B5EF4-FFF2-40B4-BE49-F238E27FC236}">
                    <a16:creationId xmlns:a16="http://schemas.microsoft.com/office/drawing/2014/main" id="{139F9077-105C-DEC6-97B6-CB32368DFBA9}"/>
                  </a:ext>
                </a:extLst>
              </p:cNvPr>
              <p:cNvSpPr txBox="1">
                <a:spLocks noRot="1" noChangeAspect="1" noMove="1" noResize="1" noEditPoints="1" noAdjustHandles="1" noChangeArrowheads="1" noChangeShapeType="1" noTextEdit="1"/>
              </p:cNvSpPr>
              <p:nvPr/>
            </p:nvSpPr>
            <p:spPr>
              <a:xfrm>
                <a:off x="777240" y="1634519"/>
                <a:ext cx="10493272" cy="4675970"/>
              </a:xfrm>
              <a:prstGeom prst="rect">
                <a:avLst/>
              </a:prstGeom>
              <a:blipFill>
                <a:blip r:embed="rId3"/>
                <a:stretch>
                  <a:fillRect l="-1220" t="-1434" r="-1859"/>
                </a:stretch>
              </a:blipFill>
            </p:spPr>
            <p:txBody>
              <a:bodyPr/>
              <a:lstStyle/>
              <a:p>
                <a:r>
                  <a:rPr lang="en-US">
                    <a:noFill/>
                  </a:rPr>
                  <a:t> </a:t>
                </a:r>
              </a:p>
            </p:txBody>
          </p:sp>
        </mc:Fallback>
      </mc:AlternateContent>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367</a:t>
            </a:r>
          </a:p>
        </p:txBody>
      </p:sp>
    </p:spTree>
    <p:extLst>
      <p:ext uri="{BB962C8B-B14F-4D97-AF65-F5344CB8AC3E}">
        <p14:creationId xmlns:p14="http://schemas.microsoft.com/office/powerpoint/2010/main" val="190227892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Rearrange It </a:t>
            </a:r>
            <a:r>
              <a:rPr lang="en-US" sz="2000" b="1" dirty="0">
                <a:solidFill>
                  <a:schemeClr val="bg1"/>
                </a:solidFill>
              </a:rPr>
              <a:t>(3 of 4)</a:t>
            </a:r>
            <a:endParaRPr lang="en-US" b="1" dirty="0">
              <a:solidFill>
                <a:schemeClr val="bg1"/>
              </a:solidFill>
            </a:endParaRPr>
          </a:p>
        </p:txBody>
      </p:sp>
      <p:sp>
        <p:nvSpPr>
          <p:cNvPr id="9" name="Text Placeholder 2">
            <a:extLst>
              <a:ext uri="{FF2B5EF4-FFF2-40B4-BE49-F238E27FC236}">
                <a16:creationId xmlns:a16="http://schemas.microsoft.com/office/drawing/2014/main" id="{65F72D48-161D-34EA-1092-F01297B5BAE2}"/>
              </a:ext>
            </a:extLst>
          </p:cNvPr>
          <p:cNvSpPr txBox="1">
            <a:spLocks/>
          </p:cNvSpPr>
          <p:nvPr/>
        </p:nvSpPr>
        <p:spPr>
          <a:xfrm>
            <a:off x="777240" y="1616140"/>
            <a:ext cx="10195560"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answer the Essential Question and summarize our learning from the Talk the Talk!</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spcBef>
                <a:spcPts val="24"/>
              </a:spcBef>
              <a:buNone/>
            </a:pPr>
            <a:r>
              <a:rPr lang="en-US" sz="2800" b="1" dirty="0">
                <a:solidFill>
                  <a:srgbClr val="000000"/>
                </a:solidFill>
              </a:rPr>
              <a:t>Essential Question: </a:t>
            </a:r>
            <a:r>
              <a:rPr lang="en-US" sz="2800" dirty="0">
                <a:solidFill>
                  <a:srgbClr val="000000"/>
                </a:solidFill>
              </a:rPr>
              <a:t>How can you use those same properties to solve for one specific variable in an equation that has multiple variables?</a:t>
            </a:r>
          </a:p>
          <a:p>
            <a:pPr marL="0" lvl="1" indent="0">
              <a:lnSpc>
                <a:spcPct val="100000"/>
              </a:lnSpc>
              <a:spcBef>
                <a:spcPts val="200"/>
              </a:spcBef>
              <a:spcAft>
                <a:spcPts val="600"/>
              </a:spcAft>
              <a:buNone/>
            </a:pPr>
            <a:r>
              <a:rPr lang="en-US" sz="1800" dirty="0">
                <a:solidFill>
                  <a:srgbClr val="FF0000"/>
                </a:solidFill>
              </a:rPr>
              <a:t>Use the same properties of equality to isolate that one variable, treating every other letter like a number.</a:t>
            </a:r>
          </a:p>
          <a:p>
            <a:pPr marL="0" indent="0">
              <a:buNone/>
            </a:pPr>
            <a:endParaRPr lang="en-US" sz="2800" b="0" i="0" u="none" strike="noStrike" baseline="0" dirty="0">
              <a:solidFill>
                <a:srgbClr val="000000"/>
              </a:solidFill>
            </a:endParaRPr>
          </a:p>
        </p:txBody>
      </p:sp>
      <p:pic>
        <p:nvPicPr>
          <p:cNvPr id="2" name="Picture 1">
            <a:extLst>
              <a:ext uri="{FF2B5EF4-FFF2-40B4-BE49-F238E27FC236}">
                <a16:creationId xmlns:a16="http://schemas.microsoft.com/office/drawing/2014/main" id="{0F1413F2-FA04-568B-DA09-D35AB0EC72C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367</a:t>
            </a:r>
          </a:p>
        </p:txBody>
      </p:sp>
    </p:spTree>
    <p:extLst>
      <p:ext uri="{BB962C8B-B14F-4D97-AF65-F5344CB8AC3E}">
        <p14:creationId xmlns:p14="http://schemas.microsoft.com/office/powerpoint/2010/main" val="58301444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Rearrange It </a:t>
            </a:r>
            <a:r>
              <a:rPr lang="en-US" sz="2000" b="1" dirty="0">
                <a:solidFill>
                  <a:schemeClr val="bg1"/>
                </a:solidFill>
              </a:rPr>
              <a:t>(4 of 4)</a:t>
            </a:r>
            <a:endParaRPr lang="en-US" b="1" dirty="0">
              <a:solidFill>
                <a:schemeClr val="bg1"/>
              </a:solidFill>
            </a:endParaRPr>
          </a:p>
        </p:txBody>
      </p:sp>
      <p:sp>
        <p:nvSpPr>
          <p:cNvPr id="9" name="Text Placeholder 2">
            <a:extLst>
              <a:ext uri="{FF2B5EF4-FFF2-40B4-BE49-F238E27FC236}">
                <a16:creationId xmlns:a16="http://schemas.microsoft.com/office/drawing/2014/main" id="{65F72D48-161D-34EA-1092-F01297B5BAE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367</a:t>
            </a:r>
          </a:p>
        </p:txBody>
      </p:sp>
    </p:spTree>
    <p:extLst>
      <p:ext uri="{BB962C8B-B14F-4D97-AF65-F5344CB8AC3E}">
        <p14:creationId xmlns:p14="http://schemas.microsoft.com/office/powerpoint/2010/main" val="39664004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E1C33-24D1-529C-DE6E-F8E8ED46DA1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4C3ED9B-4ACF-E7ED-D95F-81E3C03375E6}"/>
              </a:ext>
            </a:extLst>
          </p:cNvPr>
          <p:cNvSpPr>
            <a:spLocks noGrp="1"/>
          </p:cNvSpPr>
          <p:nvPr>
            <p:ph type="title" idx="4294967295"/>
          </p:nvPr>
        </p:nvSpPr>
        <p:spPr>
          <a:xfrm>
            <a:off x="838200" y="-334736"/>
            <a:ext cx="10514013" cy="334736"/>
          </a:xfrm>
          <a:prstGeom prst="rect">
            <a:avLst/>
          </a:prstGeom>
        </p:spPr>
        <p:txBody>
          <a:bodyPr anchor="b"/>
          <a:lstStyle/>
          <a:p>
            <a:r>
              <a:rPr lang="en-US" sz="2000" dirty="0">
                <a:solidFill>
                  <a:schemeClr val="bg2"/>
                </a:solidFill>
              </a:rPr>
              <a:t>Prepare</a:t>
            </a:r>
          </a:p>
        </p:txBody>
      </p:sp>
      <p:sp>
        <p:nvSpPr>
          <p:cNvPr id="1006" name="Slide Number 10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55</a:t>
            </a:fld>
          </a:p>
        </p:txBody>
      </p:sp>
    </p:spTree>
    <p:extLst>
      <p:ext uri="{BB962C8B-B14F-4D97-AF65-F5344CB8AC3E}">
        <p14:creationId xmlns:p14="http://schemas.microsoft.com/office/powerpoint/2010/main" val="38840056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F34DC-540F-DD6E-4454-ACAECB21B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916504-D971-8F3E-A4DD-694DE0336C22}"/>
              </a:ext>
            </a:extLst>
          </p:cNvPr>
          <p:cNvSpPr>
            <a:spLocks noGrp="1"/>
          </p:cNvSpPr>
          <p:nvPr>
            <p:ph type="title"/>
          </p:nvPr>
        </p:nvSpPr>
        <p:spPr/>
        <p:txBody>
          <a:bodyPr/>
          <a:lstStyle/>
          <a:p>
            <a:pPr algn="l"/>
            <a:r>
              <a:rPr lang="en-US" b="1" dirty="0"/>
              <a:t>Prepare for Module 3 Topic 1 Lesson 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3237D0C3-0B1D-2A16-535D-FCBFEB28D717}"/>
                  </a:ext>
                </a:extLst>
              </p:cNvPr>
              <p:cNvSpPr txBox="1">
                <a:spLocks/>
              </p:cNvSpPr>
              <p:nvPr/>
            </p:nvSpPr>
            <p:spPr>
              <a:xfrm>
                <a:off x="777240" y="1600200"/>
                <a:ext cx="10054239" cy="4829174"/>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Solve each statement for </a:t>
                </a:r>
                <a14:m>
                  <m:oMath xmlns:m="http://schemas.openxmlformats.org/officeDocument/2006/math">
                    <m:r>
                      <a:rPr lang="en-US" sz="2800" i="1" dirty="0" smtClean="0">
                        <a:solidFill>
                          <a:srgbClr val="000000"/>
                        </a:solidFill>
                        <a:latin typeface="Cambria Math" panose="02040503050406030204" pitchFamily="18" charset="0"/>
                      </a:rPr>
                      <m:t>𝑥</m:t>
                    </m:r>
                  </m:oMath>
                </a14:m>
                <a:r>
                  <a:rPr lang="en-US" sz="2800" dirty="0">
                    <a:solidFill>
                      <a:srgbClr val="000000"/>
                    </a:solidFill>
                  </a:rPr>
                  <a:t>. </a:t>
                </a:r>
              </a:p>
              <a:p>
                <a:pPr marL="514350" indent="-514350">
                  <a:buFont typeface="+mj-lt"/>
                  <a:buAutoNum type="arabicPeriod"/>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1</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6</m:t>
                    </m:r>
                  </m:oMath>
                </a14:m>
                <a:r>
                  <a:rPr lang="en-US" sz="2800" dirty="0">
                    <a:solidFill>
                      <a:srgbClr val="000000"/>
                    </a:solidFill>
                  </a:rPr>
                  <a:t>	  		          3.   </a:t>
                </a:r>
                <a14:m>
                  <m:oMath xmlns:m="http://schemas.openxmlformats.org/officeDocument/2006/math">
                    <m:f>
                      <m:fPr>
                        <m:ctrlPr>
                          <a:rPr lang="en-US" sz="2800" i="1" dirty="0" smtClean="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𝑥</m:t>
                        </m:r>
                      </m:num>
                      <m:den>
                        <m:r>
                          <a:rPr lang="en-US" sz="2800" b="0" i="1" dirty="0" smtClean="0">
                            <a:solidFill>
                              <a:srgbClr val="000000"/>
                            </a:solidFill>
                            <a:latin typeface="Cambria Math" panose="02040503050406030204" pitchFamily="18" charset="0"/>
                          </a:rPr>
                          <m:t>3</m:t>
                        </m:r>
                      </m:den>
                    </m:f>
                    <m:r>
                      <a:rPr lang="en-US" sz="2800" i="1" dirty="0" smtClean="0">
                        <a:solidFill>
                          <a:srgbClr val="000000"/>
                        </a:solidFill>
                        <a:latin typeface="Cambria Math" panose="02040503050406030204" pitchFamily="18" charset="0"/>
                        <a:ea typeface="Cambria Math" panose="02040503050406030204" pitchFamily="18" charset="0"/>
                      </a:rPr>
                      <m:t>≤</m:t>
                    </m:r>
                    <m:r>
                      <a:rPr lang="en-US" sz="2800" b="0" i="1" dirty="0" smtClean="0">
                        <a:solidFill>
                          <a:srgbClr val="000000"/>
                        </a:solidFill>
                        <a:latin typeface="Cambria Math" panose="02040503050406030204" pitchFamily="18" charset="0"/>
                        <a:ea typeface="Cambria Math" panose="02040503050406030204" pitchFamily="18" charset="0"/>
                      </a:rPr>
                      <m:t> –1</m:t>
                    </m:r>
                  </m:oMath>
                </a14:m>
                <a:endParaRPr lang="en-US" sz="2800" dirty="0">
                  <a:solidFill>
                    <a:srgbClr val="000000"/>
                  </a:solidFill>
                </a:endParaRPr>
              </a:p>
              <a:p>
                <a:pPr marL="514350" indent="-514350">
                  <a:buFont typeface="+mj-lt"/>
                  <a:buAutoNum type="arabicPeriod"/>
                </a:pPr>
                <a:endParaRPr lang="en-US" sz="2800" dirty="0">
                  <a:solidFill>
                    <a:srgbClr val="000000"/>
                  </a:solidFill>
                </a:endParaRPr>
              </a:p>
              <a:p>
                <a:pPr marL="0" indent="0">
                  <a:buNone/>
                </a:pPr>
                <a:endParaRPr lang="en-US" sz="2800" dirty="0">
                  <a:solidFill>
                    <a:srgbClr val="000000"/>
                  </a:solidFill>
                </a:endParaRPr>
              </a:p>
              <a:p>
                <a:pPr marL="514350" indent="-514350">
                  <a:buFont typeface="+mj-lt"/>
                  <a:buAutoNum type="arabicPeriod" startAt="2"/>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 –</m:t>
                    </m:r>
                    <m:r>
                      <a:rPr lang="en-US" sz="2800" i="1" dirty="0" smtClean="0">
                        <a:solidFill>
                          <a:srgbClr val="000000"/>
                        </a:solidFill>
                        <a:latin typeface="Cambria Math" panose="02040503050406030204" pitchFamily="18" charset="0"/>
                      </a:rPr>
                      <m:t>2</m:t>
                    </m:r>
                    <m:r>
                      <a:rPr lang="en-US" sz="2800" b="0" i="1" dirty="0" smtClean="0">
                        <a:solidFill>
                          <a:srgbClr val="000000"/>
                        </a:solidFill>
                        <a:latin typeface="Cambria Math" panose="02040503050406030204" pitchFamily="18" charset="0"/>
                      </a:rPr>
                      <m:t>&gt;</m:t>
                    </m:r>
                    <m:r>
                      <a:rPr lang="en-US" sz="2800" i="1" dirty="0" smtClean="0">
                        <a:solidFill>
                          <a:srgbClr val="000000"/>
                        </a:solidFill>
                        <a:latin typeface="Cambria Math" panose="02040503050406030204" pitchFamily="18" charset="0"/>
                      </a:rPr>
                      <m:t>5</m:t>
                    </m:r>
                  </m:oMath>
                </a14:m>
                <a:r>
                  <a:rPr lang="en-US" sz="2800" dirty="0">
                    <a:solidFill>
                      <a:srgbClr val="000000"/>
                    </a:solidFill>
                  </a:rPr>
                  <a:t>				4.  –</a:t>
                </a:r>
                <a14:m>
                  <m:oMath xmlns:m="http://schemas.openxmlformats.org/officeDocument/2006/math">
                    <m:r>
                      <a:rPr lang="en-US" sz="2800" i="1" dirty="0">
                        <a:solidFill>
                          <a:srgbClr val="000000"/>
                        </a:solidFill>
                        <a:latin typeface="Cambria Math" panose="02040503050406030204" pitchFamily="18" charset="0"/>
                      </a:rPr>
                      <m:t>𝑥</m:t>
                    </m:r>
                    <m:r>
                      <a:rPr lang="en-US" sz="2800" i="1" dirty="0">
                        <a:solidFill>
                          <a:srgbClr val="000000"/>
                        </a:solidFill>
                        <a:latin typeface="Cambria Math" panose="02040503050406030204" pitchFamily="18" charset="0"/>
                      </a:rPr>
                      <m:t>&gt;4</m:t>
                    </m:r>
                  </m:oMath>
                </a14:m>
                <a:endParaRPr lang="en-US" sz="2800" dirty="0">
                  <a:solidFill>
                    <a:srgbClr val="000000"/>
                  </a:solidFill>
                </a:endParaRPr>
              </a:p>
              <a:p>
                <a:pPr marL="0" indent="0">
                  <a:buNone/>
                </a:pPr>
                <a:endParaRPr lang="en-US" sz="2800" dirty="0">
                  <a:solidFill>
                    <a:srgbClr val="000000"/>
                  </a:solidFill>
                </a:endParaRPr>
              </a:p>
              <a:p>
                <a:pPr marL="514350" indent="-514350">
                  <a:buFont typeface="+mj-lt"/>
                  <a:buAutoNum type="arabicPeriod" startAt="2"/>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3237D0C3-0B1D-2A16-535D-FCBFEB28D717}"/>
                  </a:ext>
                </a:extLst>
              </p:cNvPr>
              <p:cNvSpPr txBox="1">
                <a:spLocks noRot="1" noChangeAspect="1" noMove="1" noResize="1" noEditPoints="1" noAdjustHandles="1" noChangeArrowheads="1" noChangeShapeType="1" noTextEdit="1"/>
              </p:cNvSpPr>
              <p:nvPr/>
            </p:nvSpPr>
            <p:spPr>
              <a:xfrm>
                <a:off x="777240" y="1600200"/>
                <a:ext cx="10054239" cy="4829174"/>
              </a:xfrm>
              <a:prstGeom prst="rect">
                <a:avLst/>
              </a:prstGeom>
              <a:blipFill>
                <a:blip r:embed="rId3"/>
                <a:stretch>
                  <a:fillRect l="-1273" t="-1263"/>
                </a:stretch>
              </a:blipFill>
            </p:spPr>
            <p:txBody>
              <a:bodyPr/>
              <a:lstStyle/>
              <a:p>
                <a:r>
                  <a:rPr lang="en-US">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56</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370</a:t>
            </a:r>
          </a:p>
        </p:txBody>
      </p:sp>
      <p:sp>
        <p:nvSpPr>
          <p:cNvPr id="1006" name="Answer 1006"/>
          <p:cNvSpPr txBox="1"/>
          <p:nvPr/>
        </p:nvSpPr>
        <p:spPr>
          <a:xfrm>
            <a:off x="3302000" y="2190750"/>
            <a:ext cx="2413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x = 5</a:t>
            </a:r>
          </a:p>
        </p:txBody>
      </p:sp>
      <p:sp>
        <p:nvSpPr>
          <p:cNvPr id="1007" name="Answer 1007"/>
          <p:cNvSpPr txBox="1"/>
          <p:nvPr/>
        </p:nvSpPr>
        <p:spPr>
          <a:xfrm>
            <a:off x="8001000" y="2190750"/>
            <a:ext cx="28575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x ≤ −3</a:t>
            </a:r>
          </a:p>
        </p:txBody>
      </p:sp>
      <p:sp>
        <p:nvSpPr>
          <p:cNvPr id="1008" name="Answer 1008"/>
          <p:cNvSpPr txBox="1"/>
          <p:nvPr/>
        </p:nvSpPr>
        <p:spPr>
          <a:xfrm>
            <a:off x="3302000" y="3810000"/>
            <a:ext cx="24130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x &gt; 7</a:t>
            </a:r>
          </a:p>
        </p:txBody>
      </p:sp>
      <p:sp>
        <p:nvSpPr>
          <p:cNvPr id="1009" name="Answer 1009"/>
          <p:cNvSpPr txBox="1"/>
          <p:nvPr/>
        </p:nvSpPr>
        <p:spPr>
          <a:xfrm>
            <a:off x="8001000" y="3810000"/>
            <a:ext cx="2857500" cy="444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x &lt; −4</a:t>
            </a:r>
          </a:p>
        </p:txBody>
      </p:sp>
    </p:spTree>
    <p:extLst>
      <p:ext uri="{BB962C8B-B14F-4D97-AF65-F5344CB8AC3E}">
        <p14:creationId xmlns:p14="http://schemas.microsoft.com/office/powerpoint/2010/main" val="3186086813"/>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0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0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F44A-A2BF-5213-0768-B06DA52229A6}"/>
              </a:ext>
            </a:extLst>
          </p:cNvPr>
          <p:cNvSpPr>
            <a:spLocks noGrp="1"/>
          </p:cNvSpPr>
          <p:nvPr>
            <p:ph type="title" idx="4294967295"/>
          </p:nvPr>
        </p:nvSpPr>
        <p:spPr>
          <a:xfrm>
            <a:off x="838200" y="-351064"/>
            <a:ext cx="10514013" cy="351064"/>
          </a:xfrm>
          <a:prstGeom prst="rect">
            <a:avLst/>
          </a:prstGeom>
        </p:spPr>
        <p:txBody>
          <a:bodyPr anchor="b"/>
          <a:lstStyle/>
          <a:p>
            <a:r>
              <a:rPr lang="en-US" sz="2000" dirty="0">
                <a:solidFill>
                  <a:schemeClr val="bg2"/>
                </a:solidFill>
              </a:rPr>
              <a:t>Acknowledgment and Notice</a:t>
            </a:r>
          </a:p>
        </p:txBody>
      </p:sp>
      <p:sp>
        <p:nvSpPr>
          <p:cNvPr id="1002" name="Slide Number 100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58</a:t>
            </a:fld>
          </a:p>
        </p:txBody>
      </p:sp>
    </p:spTree>
    <p:extLst>
      <p:ext uri="{BB962C8B-B14F-4D97-AF65-F5344CB8AC3E}">
        <p14:creationId xmlns:p14="http://schemas.microsoft.com/office/powerpoint/2010/main" val="36328778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5E585-903C-AE75-891E-98E899BA927D}"/>
              </a:ext>
            </a:extLst>
          </p:cNvPr>
          <p:cNvSpPr>
            <a:spLocks noGrp="1"/>
          </p:cNvSpPr>
          <p:nvPr>
            <p:ph type="title" idx="4294967295"/>
          </p:nvPr>
        </p:nvSpPr>
        <p:spPr>
          <a:xfrm>
            <a:off x="6095206" y="4975063"/>
            <a:ext cx="5492039" cy="414778"/>
          </a:xfrm>
          <a:prstGeom prst="rect">
            <a:avLst/>
          </a:prstGeom>
          <a:solidFill>
            <a:srgbClr val="2B8147"/>
          </a:solidFill>
          <a:ln>
            <a:noFill/>
            <a:prstDash/>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mn-lt"/>
                <a:ea typeface="+mn-ea"/>
                <a:cs typeface="+mn-cs"/>
              </a:rPr>
              <a:t>BLMathematics_AlgI_M3_T1_</a:t>
            </a:r>
            <a:r>
              <a:rPr kumimoji="0" lang="en-US" sz="1800" b="0" i="0" u="none" strike="noStrike" kern="1200" cap="none" spc="0" normalizeH="0" baseline="0" noProof="0">
                <a:ln>
                  <a:noFill/>
                </a:ln>
                <a:solidFill>
                  <a:schemeClr val="bg1"/>
                </a:solidFill>
                <a:effectLst/>
                <a:uLnTx/>
                <a:uFillTx/>
                <a:latin typeface="+mn-lt"/>
                <a:ea typeface="+mn-ea"/>
                <a:cs typeface="+mn-cs"/>
              </a:rPr>
              <a:t>L2_LessonSlides_ENG_2025</a:t>
            </a:r>
            <a:endParaRPr kumimoji="0" lang="en-US" sz="1800" b="0" i="0" u="none" strike="noStrike" kern="1200" cap="none" spc="0" normalizeH="0" baseline="0" noProof="0" dirty="0">
              <a:ln>
                <a:noFill/>
              </a:ln>
              <a:solidFill>
                <a:schemeClr val="bg1"/>
              </a:solidFill>
              <a:effectLst/>
              <a:uLnTx/>
              <a:uFillTx/>
              <a:latin typeface="+mn-lt"/>
              <a:ea typeface="Calibri"/>
              <a:cs typeface="Calibri"/>
            </a:endParaRPr>
          </a:p>
        </p:txBody>
      </p:sp>
      <p:sp>
        <p:nvSpPr>
          <p:cNvPr id="1002" name="Slide Number 100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59</a:t>
            </a:fld>
          </a:p>
        </p:txBody>
      </p:sp>
    </p:spTree>
    <p:extLst>
      <p:ext uri="{BB962C8B-B14F-4D97-AF65-F5344CB8AC3E}">
        <p14:creationId xmlns:p14="http://schemas.microsoft.com/office/powerpoint/2010/main" val="13085727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nswer 2"/>
          <p:cNvSpPr txBox="1"/>
          <p:nvPr/>
        </p:nvSpPr>
        <p:spPr>
          <a:xfrm>
            <a:off x="869950" y="571500"/>
            <a:ext cx="10795000" cy="1244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3400" b="1" dirty="0">
                <a:solidFill>
                  <a:srgbClr val="2E7D4F"/>
                </a:solidFill>
              </a:rPr>
              <a:t>Teacher Edition and slide corrections for this deck</a:t>
            </a:r>
          </a:p>
        </p:txBody>
      </p:sp>
      <p:sp>
        <p:nvSpPr>
          <p:cNvPr id="3" name="Answer 3"/>
          <p:cNvSpPr txBox="1"/>
          <p:nvPr/>
        </p:nvSpPr>
        <p:spPr>
          <a:xfrm>
            <a:off x="869950" y="1816100"/>
            <a:ext cx="10795000" cy="1244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Activity 2.1 Q10a (slope 1/2 through (−3, 5)): x − 2y = −13, not −7 as the TE says.</a:t>
            </a:r>
          </a:p>
        </p:txBody>
      </p:sp>
      <p:sp>
        <p:nvSpPr>
          <p:cNvPr id="4" name="Answer 4"/>
          <p:cNvSpPr txBox="1"/>
          <p:nvPr/>
        </p:nvSpPr>
        <p:spPr>
          <a:xfrm>
            <a:off x="869950" y="3060700"/>
            <a:ext cx="10795000" cy="1244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Activity 2.1 Q10b (slope −4 through (2, 1)): 4x + y = 9, not 7 as the TE says.</a:t>
            </a:r>
          </a:p>
        </p:txBody>
      </p:sp>
      <p:sp>
        <p:nvSpPr>
          <p:cNvPr id="5" name="Answer 5"/>
          <p:cNvSpPr txBox="1"/>
          <p:nvPr/>
        </p:nvSpPr>
        <p:spPr>
          <a:xfrm>
            <a:off x="869950" y="4305300"/>
            <a:ext cx="10795000" cy="1244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Slide 30: the formula has a stray minus sign; it is C = 5/9(F − 32).</a:t>
            </a:r>
          </a:p>
        </p:txBody>
      </p:sp>
      <p:sp>
        <p:nvSpPr>
          <p:cNvPr id="6" name="Answer 6"/>
          <p:cNvSpPr txBox="1"/>
          <p:nvPr/>
        </p:nvSpPr>
        <p:spPr>
          <a:xfrm>
            <a:off x="869950" y="5549900"/>
            <a:ext cx="10795000" cy="1244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16171D"/>
                </a:solidFill>
              </a:rPr>
              <a:t>• Every other TE answer was re-solved and is correct.</a:t>
            </a:r>
          </a:p>
        </p:txBody>
      </p:sp>
      <p:sp>
        <p:nvSpPr>
          <p:cNvPr id="999" name="Slide Number 99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57</a:t>
            </a:fld>
          </a:p>
        </p:txBody>
      </p:sp>
    </p:spTree>
  </p:cSld>
  <p:clrMapOvr>
    <a:masterClrMapping/>
  </p:clrMapOvr>
</p:sld>
</file>

<file path=ppt/theme/theme1.xml><?xml version="1.0" encoding="utf-8"?>
<a:theme xmlns:a="http://schemas.openxmlformats.org/drawingml/2006/main" name="A1_green">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7_navy">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G8_purple">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6_teal">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aa991ed-cfdb-45f0-90fe-74f6c83d7f1e" xsi:nil="true"/>
    <lcf76f155ced4ddcb4097134ff3c332f xmlns="33e0dbe9-2ee3-4e40-8d2a-c14405aa398e">
      <Terms xmlns="http://schemas.microsoft.com/office/infopath/2007/PartnerControls"/>
    </lcf76f155ced4ddcb4097134ff3c332f>
    <Uploaded xmlns="33e0dbe9-2ee3-4e40-8d2a-c14405aa398e">true</Uploaded>
    <SharedWithUsers xmlns="5aa991ed-cfdb-45f0-90fe-74f6c83d7f1e">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C40A32-31E8-4858-87A9-973F15D55D2C}">
  <ds:schemaRefs>
    <ds:schemaRef ds:uri="http://schemas.microsoft.com/sharepoint/v3/contenttype/forms"/>
  </ds:schemaRefs>
</ds:datastoreItem>
</file>

<file path=customXml/itemProps2.xml><?xml version="1.0" encoding="utf-8"?>
<ds:datastoreItem xmlns:ds="http://schemas.openxmlformats.org/officeDocument/2006/customXml" ds:itemID="{788DFB36-FBAE-42FF-A732-AA8F5E6D15D5}">
  <ds:schemaRefs>
    <ds:schemaRef ds:uri="5aa991ed-cfdb-45f0-90fe-74f6c83d7f1e"/>
    <ds:schemaRef ds:uri="http://purl.org/dc/terms/"/>
    <ds:schemaRef ds:uri="33e0dbe9-2ee3-4e40-8d2a-c14405aa398e"/>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E94E78E5-0154-4C1E-9E02-E002822E6A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12231</TotalTime>
  <Words>5267</Words>
  <Application>Microsoft Office PowerPoint</Application>
  <PresentationFormat>Custom</PresentationFormat>
  <Paragraphs>574</Paragraphs>
  <Slides>58</Slides>
  <Notes>58</Notes>
  <HiddenSlides>0</HiddenSlides>
  <MMClips>0</MMClips>
  <ScaleCrop>false</ScaleCrop>
  <HeadingPairs>
    <vt:vector size="4" baseType="variant">
      <vt:variant>
        <vt:lpstr>Theme</vt:lpstr>
      </vt:variant>
      <vt:variant>
        <vt:i4>4</vt:i4>
      </vt:variant>
      <vt:variant>
        <vt:lpstr>Slide Titles</vt:lpstr>
      </vt:variant>
      <vt:variant>
        <vt:i4>58</vt:i4>
      </vt:variant>
    </vt:vector>
  </HeadingPairs>
  <TitlesOfParts>
    <vt:vector size="62" baseType="lpstr">
      <vt:lpstr>A1_green</vt:lpstr>
      <vt:lpstr>G7_navy</vt:lpstr>
      <vt:lpstr>G8_purple</vt:lpstr>
      <vt:lpstr>G6_teal</vt:lpstr>
      <vt:lpstr>Literal Equations</vt:lpstr>
      <vt:lpstr>Objectives</vt:lpstr>
      <vt:lpstr>Key Terms (1 of 1)</vt:lpstr>
      <vt:lpstr>Essential Question (1 of 2)</vt:lpstr>
      <vt:lpstr>Day 1</vt:lpstr>
      <vt:lpstr>Getting Started</vt:lpstr>
      <vt:lpstr>Perimeter Perspectives (1 of 6)</vt:lpstr>
      <vt:lpstr>Perimeter Perspectives (2 of 6)</vt:lpstr>
      <vt:lpstr>Perimeter Perspectives (3 of 6)</vt:lpstr>
      <vt:lpstr>Perimeter Perspectives (4 of 6)</vt:lpstr>
      <vt:lpstr>Perimeter Perspectives (5 of 6) </vt:lpstr>
      <vt:lpstr>Perimeter Perspectives (6 of 6) </vt:lpstr>
      <vt:lpstr>Activity 2.1</vt:lpstr>
      <vt:lpstr>Equations in Different Forms (1 of 13)</vt:lpstr>
      <vt:lpstr>Equations in Different Forms (2 of 13)</vt:lpstr>
      <vt:lpstr>Equations in Different Forms (3 of 13)</vt:lpstr>
      <vt:lpstr>Equations in Different Forms (4 of 13)</vt:lpstr>
      <vt:lpstr>Equations in Different Forms (5 of 13)</vt:lpstr>
      <vt:lpstr>Equations in Different Forms (6 of 13)</vt:lpstr>
      <vt:lpstr>Equations in Different Forms (7 of 13)</vt:lpstr>
      <vt:lpstr>Equations in Different Forms (8 of 13)</vt:lpstr>
      <vt:lpstr>Equations in Different Forms (9 of 13)</vt:lpstr>
      <vt:lpstr>Equations in Different Forms (10 of 13)</vt:lpstr>
      <vt:lpstr>Equations in Different Forms (11 of 13)</vt:lpstr>
      <vt:lpstr>Equations in Different Forms (12 of 13)</vt:lpstr>
      <vt:lpstr>Equations in Different Forms (13 of 13)</vt:lpstr>
      <vt:lpstr>Day 2</vt:lpstr>
      <vt:lpstr>Essential Question (2 of 2)</vt:lpstr>
      <vt:lpstr>Activity 2.2</vt:lpstr>
      <vt:lpstr>Rewriting Literal Equations (1 of 11)</vt:lpstr>
      <vt:lpstr>Rewriting Literal Equations (2 of 11)</vt:lpstr>
      <vt:lpstr>Rewriting Literal Equations (3 of 11)</vt:lpstr>
      <vt:lpstr>Rewriting Literal Equations (4 of 11)</vt:lpstr>
      <vt:lpstr>Rewriting Literal Equations (5 of 11)</vt:lpstr>
      <vt:lpstr>Rewriting Literal Equations (6 of 11)</vt:lpstr>
      <vt:lpstr>Rewriting Literal Equations (7 of 11)</vt:lpstr>
      <vt:lpstr>Rewriting Literal Equations (8 of 11)</vt:lpstr>
      <vt:lpstr>Rewriting Literal Equations (9 of 11)</vt:lpstr>
      <vt:lpstr>Rewriting Literal Equations (10 of 11)</vt:lpstr>
      <vt:lpstr>Rewriting Literal Equations (11 of 11)</vt:lpstr>
      <vt:lpstr>Activity 2.3</vt:lpstr>
      <vt:lpstr>Solving Literal Equations for Specific Variables (1 of 8)</vt:lpstr>
      <vt:lpstr>Solving Literal Equations for Specific Variables (2 of 8)</vt:lpstr>
      <vt:lpstr>Solving Literal Equations for Specific Variables (3 of 8)</vt:lpstr>
      <vt:lpstr>Solving Literal Equations for Specific Variables (4 of 8)</vt:lpstr>
      <vt:lpstr>Solving Literal Equations for Specific Variables (5 of 8)</vt:lpstr>
      <vt:lpstr>Solving Literal Equations for Specific Variables (6 of 8)</vt:lpstr>
      <vt:lpstr>Solving Literal Equations for Specific Variables (7 of 8)</vt:lpstr>
      <vt:lpstr>Solving Literal Equations for Specific Variables (8 of 8)</vt:lpstr>
      <vt:lpstr>Talk the Talk</vt:lpstr>
      <vt:lpstr>Rearrange It (1 of 4)</vt:lpstr>
      <vt:lpstr>Rearrange It (2 of 4)</vt:lpstr>
      <vt:lpstr>Rearrange It (3 of 4)</vt:lpstr>
      <vt:lpstr>Rearrange It (4 of 4)</vt:lpstr>
      <vt:lpstr>Prepare</vt:lpstr>
      <vt:lpstr>Prepare for Module 3 Topic 1 Lesson 3</vt:lpstr>
      <vt:lpstr>Acknowledgment and Notice</vt:lpstr>
      <vt:lpstr>BLMathematics_AlgI_M3_T1_L2_LessonSlides_ENG_2025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Amandeep</dc:creator>
  <cp:lastModifiedBy>Moyer Montague, Kristina</cp:lastModifiedBy>
  <cp:revision>428</cp:revision>
  <dcterms:created xsi:type="dcterms:W3CDTF">2024-02-22T09:58:00Z</dcterms:created>
  <dcterms:modified xsi:type="dcterms:W3CDTF">2025-09-08T18:29:30Z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