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day on the 150-day calendar (Thu Nov 5): Getting Started, Activities 1.1 and 1.2 (all starred). Activity 1.3 Tic-Tac-Bingo is not starred and is saved for the Nov 19 retake day. Talk the Talk is included as a short test-style area problem because it matches End of Topic Assessment question 11.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Have this up as students walk in; they work silently while you take attendance (about 5 minutes). The same 4 questions are on the online Day 1 bell work. Reveal the answers one at a time. Answer key: 1. Start at $35 (b) and add $15 each week (m): y = 15x + 35. Like test Q1. 2. Distribute: 3x − 6 = 12, so 3x = 18 and x = 6. 4⅔ forgets to multiply the 2. 3. Substitute: 5(2) − 1 = 10 − 1 = 9. A true statement means 2 is a solution. 4. Distribute: 4x + 8 − x = 3x + 8.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objective aloud as it appears.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write the Essential Question at the top of their notes. Don't answer it yet; we come back to it at the end of the lesson.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Getting Started, 15 minutes. Look for students who multiply or divide only the x-term instead of every term (TE common misconception). Algebra tiles help.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Explicit instruction. TE suggestion: make a poster of both property tables; Lessons 2 and 3 use them again.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1. Assistance for All: multiply Sofia's equation by 2 first to clear the fraction (4x = 10 − x).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properties (commutative, associative, distributive) are on SE p. 348. Check b: 0.6(−3) = −1.8 and 4(−2) + 6.2 = −1.8. Questions 2 and 3 are the TE's check point; for more practice assign Skills Practice Set A.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Why do you think Chloe chose 4 as the divisor? Whose method do you prefer?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 1–3. Common misconception: 8 = 8 does not mean x = 8; it means the value we substituted works.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4 and the TE's Seeing Structure questions. Stamp the learning: one solution, no solution, or infinite solutions. Skills Practice Set B.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On the test, 'No solution' is a real answer choice: simplify both sides before guessing.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starred; included because End of Topic question 11 is the same kind of problem. Skip if short on time.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answer the Essential Question on the lesson opener page.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Printed copy: EXIT TICKET/T1-Exit-Ticket-Thu-11-05.pdf (written like the End of Topic 1 test). Give about 8 minutes. Work: 1. 1 − 3p = 5 − 2p → −p = 4 → p = −4. 2. 2x − 3 = −1.5x + 4 → 3.5x = 7 → x = 2. 3. 4x + 3 = 4x + 4: same x-coefficient, different constants, so 3 = 4 is never true. 4. ½(6)(x + 5) = 4(x − 1) → 3x + 15 = 4x − 4 → x = 19.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Practice 2 answers: a none, b x = 7, c x = 2, d infinite, e none, f infinite.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algebra1m2u1l4.vercel.app/Module 3 topic 1/m3t1-lesson1-bellwork-day1.html" TargetMode="External"/><Relationship Id="rId4" Type="http://schemas.openxmlformats.org/officeDocument/2006/relationships/hyperlink" Target="https://creativecommons.org/licenses/by-nc/4.0/" TargetMode="Externa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Bluebonnet Algebra I · Module 3 · Topic 1 · Lesson 1 · Student Edition pp. 345–356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923544"/>
            <a:ext cx="10820095" cy="6949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42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Solving Linear Equations</a:t>
            </a:r>
            <a:endParaRPr lang="en-US" sz="42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866138"/>
            <a:ext cx="10820095" cy="5120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000" dirty="0">
                <a:solidFill>
                  <a:srgbClr val="16171D"/>
                </a:solidFill>
                <a:latin typeface="Cambria"/>
                <a:cs typeface="Cambria"/>
              </a:rPr>
              <a:t xml:space="preserve">one solution · no solution · infinite solutions</a:t>
            </a:r>
            <a:endParaRPr lang="en-US" sz="300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606802"/>
            <a:ext cx="10820095" cy="3291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Bell work: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3"/>
              </a:rPr>
              <a:t xml:space="preserve">Day 1 →</a:t>
            </a:r>
            <a:endParaRPr lang="en-US" sz="180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107436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Click, or press → / Space, to reveal each step. ← goes back. F = full screen.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5500116"/>
            <a:ext cx="10820095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5F6272"/>
                </a:solidFill>
                <a:latin typeface="Segoe UI"/>
                <a:cs typeface="Segoe UI"/>
              </a:rPr>
              <a:t xml:space="preserve">Bluebonnet Algebra I</a:t>
            </a: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 · a companion to Bluebonnet Learning Secondary Mathematics, Algebra I, Edition 1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This work is based on original works of the Texas Education Agency and Carnegie Learning, Inc. This work is made available under a Creative Commons Attribution-Non-Commercial-4.0 International License. This does not in any way imply endorsement by those authors of this work.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©2024–2025 Texas Education Agency, portions ©2021 Carnegie Learning, Inc.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Licensed </a:t>
            </a:r>
            <a:r>
              <a:rPr lang="en-US" sz="1125" dirty="0">
                <a:solidFill>
                  <a:srgbClr val="3050B8"/>
                </a:solidFill>
                <a:latin typeface="Segoe UI"/>
                <a:cs typeface="Segoe UI"/>
                <a:hlinkClick r:id="rId4"/>
              </a:rPr>
              <a:t xml:space="preserve">CC BY-NC 4.0</a:t>
            </a: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.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 b="1">
                <a:solidFill>
                  <a:srgbClr val="5F6272"/>
                </a:solidFill>
                <a:latin typeface="Segoe UI"/>
                <a:cs typeface="Segoe UI"/>
              </a:rPr>
              <a:t xml:space="preserve">This is a private site for Algebra I teachers and is not publicly available.</a:t>
            </a:r>
            <a:endParaRPr lang="en-US" sz="1125" dirty="0"/>
          </a:p>
        </p:txBody>
      </p:sp>
      <p:sp>
        <p:nvSpPr>
          <p:cNvPr id="8" name="Slide Number 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</a:t>
            </a:fld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Bell Work · Review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Warm up: work these on your own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5143348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Marcus has $35 and saves $15 per week. Which equation gives the amount he has saved,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, after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weeks?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755392"/>
            <a:ext cx="3902979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15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+ 35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541014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What value of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makes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3(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− 2) = 12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true?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4323588"/>
            <a:ext cx="207888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6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362548" y="1675638"/>
            <a:ext cx="51433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Is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2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 solution of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5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− 1 = 9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362548" y="2161032"/>
            <a:ext cx="489793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Yes, because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9 = 9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362548" y="2946654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4. Which expression is equivalent to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4(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+ 2) −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6362548" y="3729228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+ 8</a:t>
            </a:r>
            <a:endParaRPr lang="en-US" sz="2325" dirty="0"/>
          </a:p>
        </p:txBody>
      </p:sp>
      <p:sp>
        <p:nvSpPr>
          <p:cNvPr id="12" name="Slide Number 1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Lesson 1 · SE p. 345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Today you will…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565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Write equivalent equations using properties of equality.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038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Use properties of equality to solve linear equations and justify a solution method.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55117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Determine whether an equation has one solution, no solution, or infinite solutions.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2998470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4. Solve linear equations with variables on both sides.</a:t>
            </a: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521964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New key terms: solution · no solution · infinite solutions</a:t>
            </a:r>
            <a:endParaRPr lang="en-US" sz="1575" dirty="0"/>
          </a:p>
        </p:txBody>
      </p:sp>
      <p:sp>
        <p:nvSpPr>
          <p:cNvPr id="9" name="Slide Number 9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Essential Question · SE p. 345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11064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You know that equations are one way to represent a linear function.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525268"/>
            <a:ext cx="10820095" cy="8778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700" dirty="0">
                <a:solidFill>
                  <a:srgbClr val="16171D"/>
                </a:solidFill>
                <a:latin typeface="Segoe UI"/>
                <a:cs typeface="Segoe UI"/>
              </a:rPr>
              <a:t xml:space="preserve">How can you use equations to solve for unknown input values of a function?</a:t>
            </a:r>
            <a:endParaRPr lang="en-US" sz="2700" dirty="0"/>
          </a:p>
        </p:txBody>
      </p:sp>
      <p:sp>
        <p:nvSpPr>
          <p:cNvPr id="5" name="Slide Number 5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4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Getting Started · Equation Creation · SE p. 346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Build harder equations from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 = 2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A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solution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to an equation is a value for the variable that makes the equation a true statement.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660142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a. Add 3 to each side: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+ 3 = 5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050286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b. Multiply each side by 4: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+ 12 = 20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440430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c. Subtract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+ 12 = −2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+ 20</a:t>
            </a:r>
            <a:endParaRPr lang="en-US" sz="157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830574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d. Divide each side by 2: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+ 6 = 10 −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6286348" y="1618488"/>
            <a:ext cx="5219548" cy="2706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495898" y="1789938"/>
            <a:ext cx="48004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 Partner check</a:t>
            </a:r>
            <a:endParaRPr lang="en-US" sz="2100" dirty="0"/>
          </a:p>
        </p:txBody>
      </p:sp>
      <p:sp>
        <p:nvSpPr>
          <p:cNvPr id="10" name="Shape 10"/>
          <p:cNvSpPr txBox="1"/>
          <p:nvPr/>
        </p:nvSpPr>
        <p:spPr>
          <a:xfrm>
            <a:off x="6495898" y="2260092"/>
            <a:ext cx="48004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Substitute 2 into your partner's last equation.</a:t>
            </a:r>
            <a:endParaRPr lang="en-US" sz="1575" dirty="0"/>
          </a:p>
        </p:txBody>
      </p:sp>
      <p:sp>
        <p:nvSpPr>
          <p:cNvPr id="11" name="Shape 11"/>
          <p:cNvSpPr txBox="1"/>
          <p:nvPr/>
        </p:nvSpPr>
        <p:spPr>
          <a:xfrm>
            <a:off x="6495898" y="2650236"/>
            <a:ext cx="480044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2 + 6 = 10 − 2 → 8 = 8 ✓</a:t>
            </a:r>
            <a:endParaRPr lang="en-US" sz="2325" dirty="0"/>
          </a:p>
        </p:txBody>
      </p:sp>
      <p:sp>
        <p:nvSpPr>
          <p:cNvPr id="12" name="Shape 12"/>
          <p:cNvSpPr txBox="1"/>
          <p:nvPr/>
        </p:nvSpPr>
        <p:spPr>
          <a:xfrm>
            <a:off x="6495898" y="3618738"/>
            <a:ext cx="48004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Same operation on </a:t>
            </a:r>
            <a:r>
              <a:rPr lang="en-US" sz="1575" dirty="0" b="1">
                <a:solidFill>
                  <a:srgbClr val="5F6272"/>
                </a:solidFill>
                <a:latin typeface="Segoe UI"/>
                <a:cs typeface="Segoe UI"/>
              </a:rPr>
              <a:t xml:space="preserve">both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 sides, to </a:t>
            </a:r>
            <a:r>
              <a:rPr lang="en-US" sz="1575" dirty="0" b="1">
                <a:solidFill>
                  <a:srgbClr val="5F6272"/>
                </a:solidFill>
                <a:latin typeface="Segoe UI"/>
                <a:cs typeface="Segoe UI"/>
              </a:rPr>
              <a:t xml:space="preserve">every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 term, keeps the solution.</a:t>
            </a:r>
            <a:endParaRPr lang="en-US" sz="1575" dirty="0"/>
          </a:p>
        </p:txBody>
      </p:sp>
      <p:sp>
        <p:nvSpPr>
          <p:cNvPr id="14" name="Slide Number 14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5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Activity 1.1 · Using Properties to Justify Solutions · SE p. 347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Properties of equality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2351532" cy="44348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Property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3037332" y="1618488"/>
            <a:ext cx="5055870" cy="44348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For all numbers a, b, and c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061972"/>
            <a:ext cx="2351532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addition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3037332" y="2061972"/>
            <a:ext cx="5055870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I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,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e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.</a:t>
            </a: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2505456"/>
            <a:ext cx="2351532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subtraction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3037332" y="2505456"/>
            <a:ext cx="5055870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I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,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e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.</a:t>
            </a:r>
            <a:endParaRPr lang="en-US" sz="1950" dirty="0"/>
          </a:p>
        </p:txBody>
      </p:sp>
      <p:sp>
        <p:nvSpPr>
          <p:cNvPr id="10" name="Shape 10"/>
          <p:cNvSpPr txBox="1"/>
          <p:nvPr/>
        </p:nvSpPr>
        <p:spPr>
          <a:xfrm>
            <a:off x="685800" y="2948940"/>
            <a:ext cx="2351532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multiplication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3037332" y="2948940"/>
            <a:ext cx="5055870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I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,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e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.</a:t>
            </a:r>
            <a:endParaRPr lang="en-US" sz="1950" dirty="0"/>
          </a:p>
        </p:txBody>
      </p:sp>
      <p:sp>
        <p:nvSpPr>
          <p:cNvPr id="12" name="Shape 12"/>
          <p:cNvSpPr txBox="1"/>
          <p:nvPr/>
        </p:nvSpPr>
        <p:spPr>
          <a:xfrm>
            <a:off x="685800" y="3392424"/>
            <a:ext cx="2351532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division</a:t>
            </a:r>
            <a:endParaRPr lang="en-US" sz="1950" dirty="0"/>
          </a:p>
        </p:txBody>
      </p:sp>
      <p:sp>
        <p:nvSpPr>
          <p:cNvPr id="13" name="Shape 13"/>
          <p:cNvSpPr txBox="1"/>
          <p:nvPr/>
        </p:nvSpPr>
        <p:spPr>
          <a:xfrm>
            <a:off x="3037332" y="3392424"/>
            <a:ext cx="5055870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I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≠ 0,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e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.</a:t>
            </a:r>
            <a:endParaRPr lang="en-US" sz="1950" dirty="0"/>
          </a:p>
        </p:txBody>
      </p:sp>
      <p:sp>
        <p:nvSpPr>
          <p:cNvPr id="14" name="Shape 14"/>
          <p:cNvSpPr txBox="1"/>
          <p:nvPr/>
        </p:nvSpPr>
        <p:spPr>
          <a:xfrm>
            <a:off x="685800" y="4007358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These rules keep both sides balanced while you isolate the variable.</a:t>
            </a:r>
            <a:endParaRPr lang="en-US" sz="1575" dirty="0"/>
          </a:p>
        </p:txBody>
      </p:sp>
      <p:sp>
        <p:nvSpPr>
          <p:cNvPr id="15" name="Slide Number 15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6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Activity 1.1 · Question 1 · SE p. 347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Harper and Sofia both started from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 = 2</a:t>
            </a:r>
            <a:endParaRPr lang="en-US" sz="34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1618488"/>
            <a:ext cx="5295748" cy="26167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48766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Harper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48766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−3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+ 14 = 18 − 5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764536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Substitute: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−6 + 14 = 18 − 10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895350" y="3154680"/>
            <a:ext cx="3073847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8 = 8 ✓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895350" y="3768852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Properties: add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5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subtract 14 →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4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→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2</a:t>
            </a:r>
            <a:endParaRPr lang="en-US" sz="1575" dirty="0"/>
          </a:p>
        </p:txBody>
      </p:sp>
      <p:sp>
        <p:nvSpPr>
          <p:cNvPr id="15" name="Shape 15"/>
          <p:cNvSpPr txBox="1"/>
          <p:nvPr/>
        </p:nvSpPr>
        <p:spPr>
          <a:xfrm>
            <a:off x="6210148" y="1618488"/>
            <a:ext cx="5295748" cy="285673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0" name="Shape 10"/>
          <p:cNvSpPr txBox="1"/>
          <p:nvPr/>
        </p:nvSpPr>
        <p:spPr>
          <a:xfrm>
            <a:off x="6419698" y="1789938"/>
            <a:ext cx="48766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Sofia</a:t>
            </a:r>
            <a:endParaRPr lang="en-US" sz="2100" dirty="0"/>
          </a:p>
        </p:txBody>
      </p:sp>
      <p:sp>
        <p:nvSpPr>
          <p:cNvPr id="11" name="Shape 11"/>
          <p:cNvSpPr txBox="1"/>
          <p:nvPr/>
        </p:nvSpPr>
        <p:spPr>
          <a:xfrm>
            <a:off x="6419698" y="2260092"/>
            <a:ext cx="48766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5 − ½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2325" dirty="0"/>
          </a:p>
        </p:txBody>
      </p:sp>
      <p:sp>
        <p:nvSpPr>
          <p:cNvPr id="12" name="Shape 12"/>
          <p:cNvSpPr txBox="1"/>
          <p:nvPr/>
        </p:nvSpPr>
        <p:spPr>
          <a:xfrm>
            <a:off x="6419698" y="2764536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Substitute: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4 = 5 − 1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6419698" y="3154680"/>
            <a:ext cx="3073847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4 = 4 ✓</a:t>
            </a:r>
            <a:endParaRPr lang="en-US" sz="2325" dirty="0"/>
          </a:p>
        </p:txBody>
      </p:sp>
      <p:sp>
        <p:nvSpPr>
          <p:cNvPr id="14" name="Shape 14"/>
          <p:cNvSpPr txBox="1"/>
          <p:nvPr/>
        </p:nvSpPr>
        <p:spPr>
          <a:xfrm>
            <a:off x="6419698" y="3768852"/>
            <a:ext cx="48766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Properties: add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½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→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5/2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5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multiply by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2/5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→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2</a:t>
            </a:r>
            <a:endParaRPr lang="en-US" sz="157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7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Activity 1.1 · Question 2 · SE p. 348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Solve, check, and name each property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. 0.6(2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+ 1) = 4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+ 6.2</a:t>
            </a:r>
            <a:endParaRPr lang="en-US" sz="232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22932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1.2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+ 0.6 = 4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+ 6.2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distributive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513076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−2.8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+ 0.6 = 6.2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subtraction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2903220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−2.8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5.6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subtraction</a:t>
            </a:r>
            <a:endParaRPr lang="en-US" sz="157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293364"/>
            <a:ext cx="473211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x = −2 (division)</a:t>
            </a:r>
            <a:endParaRPr lang="en-US" sz="2325" dirty="0"/>
          </a:p>
        </p:txBody>
      </p:sp>
      <p:sp>
        <p:nvSpPr>
          <p:cNvPr id="9" name="Shape 9"/>
          <p:cNvSpPr txBox="1"/>
          <p:nvPr/>
        </p:nvSpPr>
        <p:spPr>
          <a:xfrm>
            <a:off x="6286348" y="1618488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. ½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− 6 = 2 + (2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+ 1)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286348" y="2122932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½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− 6 = 3 + 2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commutative, associative</a:t>
            </a:r>
            <a:endParaRPr lang="en-US" sz="1575" dirty="0"/>
          </a:p>
        </p:txBody>
      </p:sp>
      <p:sp>
        <p:nvSpPr>
          <p:cNvPr id="11" name="Shape 11"/>
          <p:cNvSpPr txBox="1"/>
          <p:nvPr/>
        </p:nvSpPr>
        <p:spPr>
          <a:xfrm>
            <a:off x="6286348" y="2513076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−9 = 3/2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subtraction</a:t>
            </a:r>
            <a:endParaRPr lang="en-US" sz="1575" dirty="0"/>
          </a:p>
        </p:txBody>
      </p:sp>
      <p:sp>
        <p:nvSpPr>
          <p:cNvPr id="12" name="Shape 12"/>
          <p:cNvSpPr txBox="1"/>
          <p:nvPr/>
        </p:nvSpPr>
        <p:spPr>
          <a:xfrm>
            <a:off x="6286348" y="2903220"/>
            <a:ext cx="521954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x = −6 (multiplication by ⅔)</a:t>
            </a:r>
            <a:endParaRPr lang="en-US" sz="2325" dirty="0"/>
          </a:p>
        </p:txBody>
      </p:sp>
      <p:sp>
        <p:nvSpPr>
          <p:cNvPr id="13" name="Slide Number 13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8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Activity 1.1 · Question 3 · SE p. 349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11064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Daniel and Chloe: same equation, different first step</a:t>
            </a:r>
            <a:endParaRPr lang="en-US" sz="34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2144268"/>
            <a:ext cx="5295748" cy="26167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2315718"/>
            <a:ext cx="48766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Daniel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785872"/>
            <a:ext cx="48766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4(3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+ 2) = 8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+ 4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3290316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12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+ 8 = 8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+ 4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distributive first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895350" y="3680460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−4</a:t>
            </a:r>
            <a:endParaRPr lang="en-US" sz="1575" dirty="0"/>
          </a:p>
        </p:txBody>
      </p:sp>
      <p:sp>
        <p:nvSpPr>
          <p:cNvPr id="8" name="Shape 8"/>
          <p:cNvSpPr txBox="1"/>
          <p:nvPr/>
        </p:nvSpPr>
        <p:spPr>
          <a:xfrm>
            <a:off x="895350" y="4070604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−1</a:t>
            </a:r>
            <a:endParaRPr lang="en-US" sz="2325" dirty="0"/>
          </a:p>
        </p:txBody>
      </p:sp>
      <p:sp>
        <p:nvSpPr>
          <p:cNvPr id="15" name="Shape 15"/>
          <p:cNvSpPr txBox="1"/>
          <p:nvPr/>
        </p:nvSpPr>
        <p:spPr>
          <a:xfrm>
            <a:off x="6210148" y="2144268"/>
            <a:ext cx="5295748" cy="26167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0" name="Shape 10"/>
          <p:cNvSpPr txBox="1"/>
          <p:nvPr/>
        </p:nvSpPr>
        <p:spPr>
          <a:xfrm>
            <a:off x="6419698" y="2315718"/>
            <a:ext cx="48766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Chloe</a:t>
            </a:r>
            <a:endParaRPr lang="en-US" sz="2100" dirty="0"/>
          </a:p>
        </p:txBody>
      </p:sp>
      <p:sp>
        <p:nvSpPr>
          <p:cNvPr id="11" name="Shape 11"/>
          <p:cNvSpPr txBox="1"/>
          <p:nvPr/>
        </p:nvSpPr>
        <p:spPr>
          <a:xfrm>
            <a:off x="6419698" y="2785872"/>
            <a:ext cx="48766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4(3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+ 2) = 8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+ 4</a:t>
            </a:r>
            <a:endParaRPr lang="en-US" sz="2325" dirty="0"/>
          </a:p>
        </p:txBody>
      </p:sp>
      <p:sp>
        <p:nvSpPr>
          <p:cNvPr id="12" name="Shape 12"/>
          <p:cNvSpPr txBox="1"/>
          <p:nvPr/>
        </p:nvSpPr>
        <p:spPr>
          <a:xfrm>
            <a:off x="6419698" y="3290316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+ 2 = 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+ 1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divide by 4 first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6419698" y="3680460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−1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6419698" y="4070604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−1</a:t>
            </a:r>
            <a:endParaRPr lang="en-US" sz="2325" dirty="0"/>
          </a:p>
        </p:txBody>
      </p:sp>
      <p:sp>
        <p:nvSpPr>
          <p:cNvPr id="16" name="Shape 16"/>
          <p:cNvSpPr txBox="1"/>
          <p:nvPr/>
        </p:nvSpPr>
        <p:spPr>
          <a:xfrm>
            <a:off x="685800" y="4932426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More than one correct path. Both finish with subtraction and division properties.</a:t>
            </a:r>
            <a:endParaRPr lang="en-US" sz="1575" dirty="0"/>
          </a:p>
        </p:txBody>
      </p:sp>
      <p:sp>
        <p:nvSpPr>
          <p:cNvPr id="17" name="Slide Number 1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9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Activity 1.2 · Solutions to Linear Equations · SE pp. 349–350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Can you change the truth of a sentence?</a:t>
            </a:r>
            <a:endParaRPr lang="en-US" sz="34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1618488"/>
            <a:ext cx="5295748" cy="18882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48766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 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2 = 2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Add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2 +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2 +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650236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Multiply by 5: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10 + 5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10 + 5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895350" y="3040380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Still always true.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6210148" y="1618488"/>
            <a:ext cx="5295748" cy="18882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419698" y="1789938"/>
            <a:ext cx="48766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 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2 = 3</a:t>
            </a:r>
            <a:endParaRPr lang="en-US" sz="2100" dirty="0"/>
          </a:p>
        </p:txBody>
      </p:sp>
      <p:sp>
        <p:nvSpPr>
          <p:cNvPr id="10" name="Shape 10"/>
          <p:cNvSpPr txBox="1"/>
          <p:nvPr/>
        </p:nvSpPr>
        <p:spPr>
          <a:xfrm>
            <a:off x="6419698" y="2260092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Add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2 +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3 +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1575" dirty="0"/>
          </a:p>
        </p:txBody>
      </p:sp>
      <p:sp>
        <p:nvSpPr>
          <p:cNvPr id="11" name="Shape 11"/>
          <p:cNvSpPr txBox="1"/>
          <p:nvPr/>
        </p:nvSpPr>
        <p:spPr>
          <a:xfrm>
            <a:off x="6419698" y="2650236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Multiply by 5: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5(2 +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5(3 +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1575" dirty="0"/>
          </a:p>
        </p:txBody>
      </p:sp>
      <p:sp>
        <p:nvSpPr>
          <p:cNvPr id="12" name="Shape 12"/>
          <p:cNvSpPr txBox="1"/>
          <p:nvPr/>
        </p:nvSpPr>
        <p:spPr>
          <a:xfrm>
            <a:off x="6419698" y="3040380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Still always false.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685800" y="3678174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No solution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no value makes the equation true.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Infinite solutions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every value makes it true.</a:t>
            </a:r>
            <a:endParaRPr lang="en-US" sz="1575" dirty="0"/>
          </a:p>
        </p:txBody>
      </p:sp>
      <p:sp>
        <p:nvSpPr>
          <p:cNvPr id="15" name="Slide Number 15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10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Activity 1.2 · Question 4 + Seeing Structure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Simplify each side, then compare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2331720" cy="42062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Equation</a:t>
            </a:r>
            <a:endParaRPr lang="en-US" sz="1800" dirty="0"/>
          </a:p>
        </p:txBody>
      </p:sp>
      <p:sp>
        <p:nvSpPr>
          <p:cNvPr id="5" name="Shape 5"/>
          <p:cNvSpPr txBox="1"/>
          <p:nvPr/>
        </p:nvSpPr>
        <p:spPr>
          <a:xfrm>
            <a:off x="3017520" y="1618488"/>
            <a:ext cx="4828032" cy="42062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Simplified</a:t>
            </a:r>
            <a:endParaRPr lang="en-US" sz="1800" dirty="0"/>
          </a:p>
        </p:txBody>
      </p:sp>
      <p:sp>
        <p:nvSpPr>
          <p:cNvPr id="6" name="Shape 6"/>
          <p:cNvSpPr txBox="1"/>
          <p:nvPr/>
        </p:nvSpPr>
        <p:spPr>
          <a:xfrm>
            <a:off x="7845552" y="1618488"/>
            <a:ext cx="1737360" cy="42062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Solutions</a:t>
            </a:r>
            <a:endParaRPr lang="en-US" sz="180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2039112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 + 5 = 2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 + 5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3017520" y="2039112"/>
            <a:ext cx="482803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same coefficient, same constant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845552" y="2039112"/>
            <a:ext cx="1737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dirty="0"/>
          </a:p>
        </p:txBody>
      </p:sp>
      <p:sp>
        <p:nvSpPr>
          <p:cNvPr id="10" name="Shape 10"/>
          <p:cNvSpPr txBox="1"/>
          <p:nvPr/>
        </p:nvSpPr>
        <p:spPr>
          <a:xfrm>
            <a:off x="7845552" y="2039112"/>
            <a:ext cx="1737360" cy="42062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Cambria"/>
                <a:cs typeface="Cambria"/>
              </a:rPr>
              <a:t xml:space="preserve">infinite</a:t>
            </a:r>
            <a:endParaRPr lang="en-US" sz="1800" dirty="0"/>
          </a:p>
        </p:txBody>
      </p:sp>
      <p:sp>
        <p:nvSpPr>
          <p:cNvPr id="11" name="Shape 11"/>
          <p:cNvSpPr txBox="1"/>
          <p:nvPr/>
        </p:nvSpPr>
        <p:spPr>
          <a:xfrm>
            <a:off x="685800" y="2459736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 + 5 = 2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 + 7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3017520" y="2459736"/>
            <a:ext cx="482803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same coefficient, different constant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845552" y="2459736"/>
            <a:ext cx="1737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dirty="0"/>
          </a:p>
        </p:txBody>
      </p:sp>
      <p:sp>
        <p:nvSpPr>
          <p:cNvPr id="14" name="Shape 14"/>
          <p:cNvSpPr txBox="1"/>
          <p:nvPr/>
        </p:nvSpPr>
        <p:spPr>
          <a:xfrm>
            <a:off x="7845552" y="2459736"/>
            <a:ext cx="1737360" cy="42062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Cambria"/>
                <a:cs typeface="Cambria"/>
              </a:rPr>
              <a:t xml:space="preserve">none</a:t>
            </a:r>
            <a:endParaRPr lang="en-US" sz="1800" dirty="0"/>
          </a:p>
        </p:txBody>
      </p:sp>
      <p:sp>
        <p:nvSpPr>
          <p:cNvPr id="15" name="Shape 15"/>
          <p:cNvSpPr txBox="1"/>
          <p:nvPr/>
        </p:nvSpPr>
        <p:spPr>
          <a:xfrm>
            <a:off x="685800" y="2880360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 + 5 = 3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 + 5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3017520" y="2880360"/>
            <a:ext cx="482803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different coefficients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845552" y="2880360"/>
            <a:ext cx="1737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dirty="0"/>
          </a:p>
        </p:txBody>
      </p:sp>
      <p:sp>
        <p:nvSpPr>
          <p:cNvPr id="18" name="Shape 18"/>
          <p:cNvSpPr txBox="1"/>
          <p:nvPr/>
        </p:nvSpPr>
        <p:spPr>
          <a:xfrm>
            <a:off x="7845552" y="2880360"/>
            <a:ext cx="1737360" cy="42062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o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e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: 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 = 0</a:t>
            </a:r>
            <a:endParaRPr lang="en-US" sz="1800" dirty="0"/>
          </a:p>
        </p:txBody>
      </p:sp>
      <p:sp>
        <p:nvSpPr>
          <p:cNvPr id="19" name="Shape 19"/>
          <p:cNvSpPr txBox="1"/>
          <p:nvPr/>
        </p:nvSpPr>
        <p:spPr>
          <a:xfrm>
            <a:off x="685800" y="3300984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 = 3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1800" dirty="0"/>
          </a:p>
        </p:txBody>
      </p:sp>
      <p:sp>
        <p:nvSpPr>
          <p:cNvPr id="20" name="Shape 20"/>
          <p:cNvSpPr txBox="1"/>
          <p:nvPr/>
        </p:nvSpPr>
        <p:spPr>
          <a:xfrm>
            <a:off x="3017520" y="3300984"/>
            <a:ext cx="482803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different coefficients</a:t>
            </a:r>
            <a:endParaRPr lang="en-US" sz="1800" dirty="0"/>
          </a:p>
        </p:txBody>
      </p:sp>
      <p:sp>
        <p:nvSpPr>
          <p:cNvPr id="21" name="Shape 21"/>
          <p:cNvSpPr txBox="1"/>
          <p:nvPr/>
        </p:nvSpPr>
        <p:spPr>
          <a:xfrm>
            <a:off x="7845552" y="3300984"/>
            <a:ext cx="1737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dirty="0"/>
          </a:p>
        </p:txBody>
      </p:sp>
      <p:sp>
        <p:nvSpPr>
          <p:cNvPr id="22" name="Shape 22"/>
          <p:cNvSpPr txBox="1"/>
          <p:nvPr/>
        </p:nvSpPr>
        <p:spPr>
          <a:xfrm>
            <a:off x="7845552" y="3300984"/>
            <a:ext cx="1737360" cy="42062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o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e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: 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 = 0</a:t>
            </a:r>
            <a:endParaRPr lang="en-US" sz="1800" dirty="0"/>
          </a:p>
        </p:txBody>
      </p:sp>
      <p:sp>
        <p:nvSpPr>
          <p:cNvPr id="23" name="Slide Number 23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11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Test Practice · Like End of Topic Questions 2 and 5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Which kind of solution?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What value of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makes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6 − 4(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+ 2) = 3 − 2(2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+ 1)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true?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362962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−4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− 2 = −4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+ 1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753106"/>
            <a:ext cx="521954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No solution (−2 ≠ 1)</a:t>
            </a:r>
            <a:endParaRPr lang="en-US" sz="2325" dirty="0"/>
          </a:p>
        </p:txBody>
      </p:sp>
      <p:sp>
        <p:nvSpPr>
          <p:cNvPr id="7" name="Shape 7"/>
          <p:cNvSpPr txBox="1"/>
          <p:nvPr/>
        </p:nvSpPr>
        <p:spPr>
          <a:xfrm>
            <a:off x="6286348" y="1618488"/>
            <a:ext cx="52195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One solution, no solution, or infinite?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¼(8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+ 12) = 2(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+ 2) − 1</a:t>
            </a: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6286348" y="2362962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+ 3 = 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+ 3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6286348" y="2753106"/>
            <a:ext cx="521954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Infinite solutions: the two sides are equivalent</a:t>
            </a:r>
            <a:endParaRPr lang="en-US" sz="2325" dirty="0"/>
          </a:p>
        </p:txBody>
      </p:sp>
      <p:sp>
        <p:nvSpPr>
          <p:cNvPr id="10" name="Slide Number 1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12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Talk the Talk · One Step at a Time · SE p. 352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Equal areas (like test question 11)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Rectangle A: width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(5 + 2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in., length 6 in. Rectangle B: width 8 in., length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+ 5)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in. Same area. Find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660142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6(5 + 2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8(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+ 5)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286348" y="1618488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30 + 12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8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+ 40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distributive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6286348" y="2008632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12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8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+ 10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subtraction</a:t>
            </a:r>
            <a:endParaRPr lang="en-US" sz="1575" dirty="0"/>
          </a:p>
        </p:txBody>
      </p:sp>
      <p:sp>
        <p:nvSpPr>
          <p:cNvPr id="8" name="Shape 8"/>
          <p:cNvSpPr txBox="1"/>
          <p:nvPr/>
        </p:nvSpPr>
        <p:spPr>
          <a:xfrm>
            <a:off x="6286348" y="2398776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10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subtraction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6286348" y="2788920"/>
            <a:ext cx="489793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x = 2.5 (division)</a:t>
            </a:r>
            <a:endParaRPr lang="en-US" sz="2325" dirty="0"/>
          </a:p>
        </p:txBody>
      </p:sp>
      <p:sp>
        <p:nvSpPr>
          <p:cNvPr id="10" name="Slide Number 1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13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Essential Question · Answered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11064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How can you use equations to solve for unknown inputs?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20141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Use properties of equality to isolate the variable, and name the property for each step.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743962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Simplify each side first. Same coefficient and constant: infinite. Same coefficient, different constant: none. Otherwise: one solution.</a:t>
            </a:r>
            <a:endParaRPr lang="en-US" sz="1950" dirty="0"/>
          </a:p>
        </p:txBody>
      </p:sp>
      <p:sp>
        <p:nvSpPr>
          <p:cNvPr id="6" name="Slide Number 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14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Exit Ticket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Show what you know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565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Solve: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7 − 3(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+ 2) = 10 − (2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+ 5)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03882"/>
            <a:ext cx="2244715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−4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718054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Solve: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0.5(4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− 6) = −1.5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+ 4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65348"/>
            <a:ext cx="2742194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2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779520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One, none, or infinite?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½(8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+ 6) = 2(2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+ 1) + 2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4226814"/>
            <a:ext cx="373715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No solution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85800" y="484098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4. Triangle: base 6, height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+ 5)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Rectangle: 4 by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− 1)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Equal areas. Find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685800" y="5288280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19</a:t>
            </a:r>
            <a:endParaRPr lang="en-US" sz="2325" dirty="0"/>
          </a:p>
        </p:txBody>
      </p:sp>
      <p:sp>
        <p:nvSpPr>
          <p:cNvPr id="12" name="Slide Number 1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15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Homework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Lesson 1 Assignment · SE pp. 355–356</a:t>
            </a:r>
            <a:endParaRPr lang="en-US" sz="34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1618488"/>
            <a:ext cx="10820095" cy="11079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104009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Practice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104009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1a–e: solve and write the property for each step. 2a–f: one solution, no solution, or infinite?</a:t>
            </a:r>
            <a:endParaRPr lang="en-US" sz="1575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16</a:t>
            </a:fld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Solving Linear Equation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16</Slides>
  <Notes>16</Notes>
</Properties>
</file>

<file path=docProps/core.xml><?xml version="1.0" encoding="utf-8"?>
<cp:coreProperties xmlns:cp="http://schemas.openxmlformats.org/package/2006/metadata/core-properties" xmlns:dc="http://purl.org/dc/elements/1.1/">
  <dc:title>Solving Linear Equations</dc:title>
  <dc:subject>Bluebonnet Algebra I</dc:subject>
</cp:coreProperties>
</file>