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days on the 150-day calendar (Mon Nov 9 and Tue Nov 10). Every activity is starred: Day 1 Getting Started and Activity 2.1; Day 2 Activities 2.2, 2.3 and Talk the Talk. End of Topic questions 7, 8 and 10 come from this lesson.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Have this up as students walk in; they work silently while you take attendance (about 5 minutes). The same 4 questions are on the online Day 1 bell work. Reveal the answers one at a time. Answer key: 1. 2x + 6 = x − 4, so x = −10. 2. Same x-term, different constants: 1 ≠ −5, never true. 3. In y = mx + b, m = −2 and b = 7. 4. Set y = 0: 0 = 2x − 6, x = 3.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objective aloud as it appears.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write the Essential Question at the top of their notes. Don't answer it yet; we come back to it at the end of the lesson.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Getting Started, 15 minutes. Remember: the perimeter of a rectangle is P = 2ℓ + 2w. Same formula, solved for the variable each person needs.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 1–3, pairs. Q3: rewrite in slope-intercept form (y = 3/2x − 4) or use intercepts.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Explicit instruction (Questions 4–6). For graphing technology, slope-intercept form is the most efficient (Q7). Skills Practice Sets A–C.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9a, multiply by 2 to clear the decimal: 2y + 14 = x − 1, so x − 2y = 15.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Standard form: subtract the x-term, then divide every term. Point-slope: distribute, then move the constant.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Printed copy: EXIT TICKET/T1-Exit-Ticket-Mon-11-09.pdf (written like the End of Topic 1 test). Give about 8 minutes. Work: 1. 3y = −6x + 12 → y = −2x + 4. 2. y − 4 = 3x + 6 → y = 3x + 10. 3. y = 0: 2x = 10, x = 5. x = 0: −5y = 10, y = −2.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this, then go to the bell work while you take attendance. Afterward, ask two or three students to summarize Day 1: Which form of a line shows the slope and y-intercept fastest?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Have this up as students walk in; they work silently while you take attendance (about 5 minutes). The same 4 questions are on the online Day 2 bell work. Reveal the answers one at a time. Answer key: 1. Subtract 4x: 2y = −4x + 10. Divide by 2: y = −2x + 5. 2. Add 7: 3x = 18. Divide by 3: x = 6. 3. 30 = 2ℓ + 10, so 2ℓ = 20 and ℓ = 10. 4. 50 − 32 = 18, and 5/9 · 18 = 10.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2.2, 15–20 minutes. Either convert 30°C to °F (86) or 77°F to °C (25).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Isabella is correct: distribute, multiply by 9, add 160, divide by 5. The Worked Example multiplies by the denominator to clear the fraction.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 1–3, 15–20 minutes. Skills Practice Set D.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b is a challenge: collect the D terms on one side and factor out D.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the Talk, 10 minutes. Q4: 51.81 − 14.13 = 37.68, and 37.68 ÷ 9.42 = 4.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Undo the operations on the variable you want, in reverse order.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answer the Essential Question on the lesson opener page.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Printed copy: EXIT TICKET/T1-Exit-Ticket-Tue-11-10.pdf (written like the End of Topic 1 test). Give about 8 minutes. Work: 1. Divide both sides by ℓ. 2. Divide both sides by πr². 3. Divide both sides by t. 4. h = S/(2πr) = 37.68 ÷ 9.42 = 4.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Practice 1: a 3x − 4y = 32, b y = −3x + 15, c y = 5/2x + 9, d x − 2y = 22. Prepare: x = 5, x &gt; 7, x ≤ −3, x &lt; −4.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algebra1m2u1l4.vercel.app/Module 3 topic 1/m3t1-lesson2-bellwork-day1.html" TargetMode="External"/><Relationship Id="rId4" Type="http://schemas.openxmlformats.org/officeDocument/2006/relationships/hyperlink" Target="https://algebra1m2u1l4.vercel.app/Module 3 topic 1/m3t1-lesson2-bellwork-day2.html" TargetMode="External"/><Relationship Id="rId5" Type="http://schemas.openxmlformats.org/officeDocument/2006/relationships/hyperlink" Target="https://creativecommons.org/licenses/by-nc/4.0/" TargetMode="Externa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Bluebonnet Algebra I · Module 3 · Topic 1 · Lesson 2 · Student Edition pp. 357–370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923544"/>
            <a:ext cx="10820095" cy="6949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2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Literal Equations</a:t>
            </a:r>
            <a:endParaRPr lang="en-US" sz="42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866138"/>
            <a:ext cx="10820095" cy="5120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00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3000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30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 + </a:t>
            </a:r>
            <a:r>
              <a:rPr lang="en-US" sz="300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 · </a:t>
            </a:r>
            <a:r>
              <a:rPr lang="en-US" sz="300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 − </a:t>
            </a:r>
            <a:r>
              <a:rPr lang="en-US" sz="300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₁ = </a:t>
            </a:r>
            <a:r>
              <a:rPr lang="en-US" sz="3000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0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 − </a:t>
            </a:r>
            <a:r>
              <a:rPr lang="en-US" sz="30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₁) · </a:t>
            </a:r>
            <a:r>
              <a:rPr lang="en-US" sz="300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30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 + </a:t>
            </a:r>
            <a:r>
              <a:rPr lang="en-US" sz="300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300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3000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endParaRPr lang="en-US" sz="300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606802"/>
            <a:ext cx="10820095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Bell work: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3"/>
              </a:rPr>
              <a:t xml:space="preserve">Day 1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4"/>
              </a:rPr>
              <a:t xml:space="preserve">Day 2 →</a:t>
            </a:r>
            <a:endParaRPr lang="en-US" sz="180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107436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Click, or press → / Space, to reveal each step. ← goes back. F = full screen.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5500116"/>
            <a:ext cx="10820095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5F6272"/>
                </a:solidFill>
                <a:latin typeface="Segoe UI"/>
                <a:cs typeface="Segoe UI"/>
              </a:rPr>
              <a:t xml:space="preserve">Bluebonnet Algebra I</a:t>
            </a: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 · a companion to Bluebonnet Learning Secondary Mathematics, Algebra I, Edition 1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This work is based on original works of the Texas Education Agency and Carnegie Learning, Inc. This work is made available under a Creative Commons Attribution-Non-Commercial-4.0 International License. This does not in any way imply endorsement by those authors of this work.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©2024–2025 Texas Education Agency, portions ©2021 Carnegie Learning, Inc.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Licensed </a:t>
            </a:r>
            <a:r>
              <a:rPr lang="en-US" sz="1125" dirty="0">
                <a:solidFill>
                  <a:srgbClr val="3050B8"/>
                </a:solidFill>
                <a:latin typeface="Segoe UI"/>
                <a:cs typeface="Segoe UI"/>
                <a:hlinkClick r:id="rId5"/>
              </a:rPr>
              <a:t xml:space="preserve">CC BY-NC 4.0</a:t>
            </a: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.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 b="1">
                <a:solidFill>
                  <a:srgbClr val="5F6272"/>
                </a:solidFill>
                <a:latin typeface="Segoe UI"/>
                <a:cs typeface="Segoe UI"/>
              </a:rPr>
              <a:t xml:space="preserve">This is a private site for Algebra I teachers and is not publicly available.</a:t>
            </a:r>
            <a:endParaRPr lang="en-US" sz="1125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Bell Work · Review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Warm up: work these on your own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What value of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makes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2(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+ 3)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− 4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true?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58212"/>
            <a:ext cx="241054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−10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243834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How many solutions does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+ 1 = 3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− 5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have?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4026408"/>
            <a:ext cx="373715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No solution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362548" y="1675638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What are the slope and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 of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−2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+ 7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362548" y="2458212"/>
            <a:ext cx="4566285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slope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,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(0, 7)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362548" y="3243834"/>
            <a:ext cx="51433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4. What is the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 of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− 6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6362548" y="3729228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(3, 0)</a:t>
            </a:r>
            <a:endParaRPr lang="en-US" sz="2325" dirty="0"/>
          </a:p>
        </p:txBody>
      </p:sp>
      <p:sp>
        <p:nvSpPr>
          <p:cNvPr id="12" name="Slide Number 1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Lesson 2 · SE p. 357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Today you will…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565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Rewrite linear equations in different forms.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038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Analyze the structure of different forms of linear equations.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55117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Recognize and use literal equations.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299847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4. Rearrange literal equations to highlight quantities of interest.</a:t>
            </a: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521964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New key term: literal equation</a:t>
            </a:r>
            <a:endParaRPr lang="en-US" sz="1575" dirty="0"/>
          </a:p>
        </p:txBody>
      </p:sp>
      <p:sp>
        <p:nvSpPr>
          <p:cNvPr id="9" name="Slide Number 9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Essential Question · SE p. 357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16322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You have used different properties to solve linear equations to determine which value makes the equation true.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3051048"/>
            <a:ext cx="10820095" cy="8778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700" dirty="0">
                <a:solidFill>
                  <a:srgbClr val="16171D"/>
                </a:solidFill>
                <a:latin typeface="Segoe UI"/>
                <a:cs typeface="Segoe UI"/>
              </a:rPr>
              <a:t xml:space="preserve">How can you use those same properties to solve for one specific variable in an equation that has multiple variables?</a:t>
            </a:r>
            <a:endParaRPr lang="en-US" sz="2700" dirty="0"/>
          </a:p>
        </p:txBody>
      </p:sp>
      <p:sp>
        <p:nvSpPr>
          <p:cNvPr id="5" name="Slide Number 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4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Getting Started · Perimeter Perspectives · SE p. 358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Two backyards share sides with a park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The city gives Juan and Mia the perimeter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of the park. Juan needs the width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w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; Mia needs the length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ℓ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66014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Juan: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w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/2 − ℓ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050286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Mia: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ℓ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/2 −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w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6286348" y="1618488"/>
            <a:ext cx="5219548" cy="2076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495898" y="1789938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 Show they are equivalent</a:t>
            </a:r>
            <a:endParaRPr lang="en-US" sz="2100" dirty="0"/>
          </a:p>
        </p:txBody>
      </p:sp>
      <p:sp>
        <p:nvSpPr>
          <p:cNvPr id="8" name="Shape 8"/>
          <p:cNvSpPr txBox="1"/>
          <p:nvPr/>
        </p:nvSpPr>
        <p:spPr>
          <a:xfrm>
            <a:off x="6495898" y="2260092"/>
            <a:ext cx="48004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Multiply each by 2: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w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− 2ℓ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2ℓ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− 2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w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6495898" y="2650236"/>
            <a:ext cx="480044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o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e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o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e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2ℓ + 2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w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endParaRPr lang="en-US" sz="2325" dirty="0"/>
          </a:p>
        </p:txBody>
      </p:sp>
      <p:sp>
        <p:nvSpPr>
          <p:cNvPr id="11" name="Slide Number 11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5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Activity 2.1 · Equations in Different Forms · SE pp. 359–360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Find the slope and both intercepts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618488"/>
            <a:ext cx="3479698" cy="23004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605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= −⅔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+ 4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306059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s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l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o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e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−⅔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874264"/>
            <a:ext cx="30605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(0, 4) · (6, 0)</a:t>
            </a:r>
            <a:endParaRPr lang="en-US" sz="2325" dirty="0"/>
          </a:p>
        </p:txBody>
      </p:sp>
      <p:sp>
        <p:nvSpPr>
          <p:cNvPr id="11" name="Shape 11"/>
          <p:cNvSpPr txBox="1"/>
          <p:nvPr/>
        </p:nvSpPr>
        <p:spPr>
          <a:xfrm>
            <a:off x="4355998" y="1618488"/>
            <a:ext cx="3479698" cy="23004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4565548" y="1789938"/>
            <a:ext cx="30605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= 4(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− 2)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4565548" y="2260092"/>
            <a:ext cx="306059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s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l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o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e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4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4565548" y="2874264"/>
            <a:ext cx="30605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(0, −8) · (2, 0)</a:t>
            </a:r>
            <a:endParaRPr lang="en-US" sz="2325" dirty="0"/>
          </a:p>
        </p:txBody>
      </p:sp>
      <p:sp>
        <p:nvSpPr>
          <p:cNvPr id="15" name="Shape 15"/>
          <p:cNvSpPr txBox="1"/>
          <p:nvPr/>
        </p:nvSpPr>
        <p:spPr>
          <a:xfrm>
            <a:off x="8026197" y="1618488"/>
            <a:ext cx="3479698" cy="2654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2" name="Shape 12"/>
          <p:cNvSpPr txBox="1"/>
          <p:nvPr/>
        </p:nvSpPr>
        <p:spPr>
          <a:xfrm>
            <a:off x="8235747" y="1789938"/>
            <a:ext cx="30605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3. 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− 2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= 8</a:t>
            </a:r>
            <a:endParaRPr lang="en-US" sz="2100" dirty="0"/>
          </a:p>
        </p:txBody>
      </p:sp>
      <p:sp>
        <p:nvSpPr>
          <p:cNvPr id="13" name="Shape 13"/>
          <p:cNvSpPr txBox="1"/>
          <p:nvPr/>
        </p:nvSpPr>
        <p:spPr>
          <a:xfrm>
            <a:off x="8235747" y="2260092"/>
            <a:ext cx="30605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s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l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o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e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3/2</a:t>
            </a:r>
            <a:endParaRPr lang="en-US" sz="2325" dirty="0"/>
          </a:p>
        </p:txBody>
      </p:sp>
      <p:sp>
        <p:nvSpPr>
          <p:cNvPr id="14" name="Shape 14"/>
          <p:cNvSpPr txBox="1"/>
          <p:nvPr/>
        </p:nvSpPr>
        <p:spPr>
          <a:xfrm>
            <a:off x="8235747" y="3228594"/>
            <a:ext cx="30605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(0, −4) · (8/3, 0)</a:t>
            </a:r>
            <a:endParaRPr lang="en-US" sz="2325" dirty="0"/>
          </a:p>
        </p:txBody>
      </p:sp>
      <p:sp>
        <p:nvSpPr>
          <p:cNvPr id="16" name="Shape 16"/>
          <p:cNvSpPr txBox="1"/>
          <p:nvPr/>
        </p:nvSpPr>
        <p:spPr>
          <a:xfrm>
            <a:off x="685800" y="4444746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y-intercept: put 0 in for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x-intercept: put 0 in for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17" name="Slide Number 1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6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Activity 2.1 · Three Forms · SE p. 360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Which form shows what?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2331720" cy="42062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Form</a:t>
            </a:r>
            <a:endParaRPr lang="en-US" sz="1800" dirty="0"/>
          </a:p>
        </p:txBody>
      </p:sp>
      <p:sp>
        <p:nvSpPr>
          <p:cNvPr id="5" name="Shape 5"/>
          <p:cNvSpPr txBox="1"/>
          <p:nvPr/>
        </p:nvSpPr>
        <p:spPr>
          <a:xfrm>
            <a:off x="3017520" y="1618488"/>
            <a:ext cx="2688336" cy="42062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Equation</a:t>
            </a:r>
            <a:endParaRPr lang="en-US" sz="1800" dirty="0"/>
          </a:p>
        </p:txBody>
      </p:sp>
      <p:sp>
        <p:nvSpPr>
          <p:cNvPr id="6" name="Shape 6"/>
          <p:cNvSpPr txBox="1"/>
          <p:nvPr/>
        </p:nvSpPr>
        <p:spPr>
          <a:xfrm>
            <a:off x="5705856" y="1618488"/>
            <a:ext cx="5541264" cy="42062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Shows quickly</a:t>
            </a:r>
            <a:endParaRPr lang="en-US" sz="180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2039112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slope-intercept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3017520" y="2039112"/>
            <a:ext cx="268833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+ 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5705856" y="2039112"/>
            <a:ext cx="5541264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dirty="0"/>
          </a:p>
        </p:txBody>
      </p:sp>
      <p:sp>
        <p:nvSpPr>
          <p:cNvPr id="10" name="Shape 10"/>
          <p:cNvSpPr txBox="1"/>
          <p:nvPr/>
        </p:nvSpPr>
        <p:spPr>
          <a:xfrm>
            <a:off x="5705856" y="2039112"/>
            <a:ext cx="5541264" cy="42062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slope, y-intercept</a:t>
            </a:r>
            <a:endParaRPr lang="en-US" sz="1800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2459736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point-slope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3017520" y="2459736"/>
            <a:ext cx="268833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− 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₁ = 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− 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₁)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5705856" y="2459736"/>
            <a:ext cx="5541264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dirty="0"/>
          </a:p>
        </p:txBody>
      </p:sp>
      <p:sp>
        <p:nvSpPr>
          <p:cNvPr id="14" name="Shape 14"/>
          <p:cNvSpPr txBox="1"/>
          <p:nvPr/>
        </p:nvSpPr>
        <p:spPr>
          <a:xfrm>
            <a:off x="5705856" y="2459736"/>
            <a:ext cx="5541264" cy="42062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slope, a point</a:t>
            </a:r>
            <a:endParaRPr lang="en-US" sz="1800" dirty="0"/>
          </a:p>
        </p:txBody>
      </p:sp>
      <p:sp>
        <p:nvSpPr>
          <p:cNvPr id="15" name="Shape 15"/>
          <p:cNvSpPr txBox="1"/>
          <p:nvPr/>
        </p:nvSpPr>
        <p:spPr>
          <a:xfrm>
            <a:off x="685800" y="2880360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standard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3017520" y="2880360"/>
            <a:ext cx="268833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+ 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5705856" y="2880360"/>
            <a:ext cx="5541264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dirty="0"/>
          </a:p>
        </p:txBody>
      </p:sp>
      <p:sp>
        <p:nvSpPr>
          <p:cNvPr id="18" name="Shape 18"/>
          <p:cNvSpPr txBox="1"/>
          <p:nvPr/>
        </p:nvSpPr>
        <p:spPr>
          <a:xfrm>
            <a:off x="5705856" y="2880360"/>
            <a:ext cx="5541264" cy="42062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s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l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o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e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−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, 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-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i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(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, 0), 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-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i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(0, 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1800" dirty="0"/>
          </a:p>
        </p:txBody>
      </p:sp>
      <p:sp>
        <p:nvSpPr>
          <p:cNvPr id="19" name="Shape 19"/>
          <p:cNvSpPr txBox="1"/>
          <p:nvPr/>
        </p:nvSpPr>
        <p:spPr>
          <a:xfrm>
            <a:off x="685800" y="3472434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In standard form A, B, and C are integers, and A and B are not both 0.</a:t>
            </a:r>
            <a:endParaRPr lang="en-US" sz="1575" dirty="0"/>
          </a:p>
        </p:txBody>
      </p:sp>
      <p:sp>
        <p:nvSpPr>
          <p:cNvPr id="20" name="Slide Number 2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7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Activity 2.1 · Questions 8–9 · SE p. 361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Rewrite each equation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8. Slope-intercept form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65782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.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− 2 = 5(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− 7)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570226"/>
            <a:ext cx="373715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5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− 33</a:t>
            </a:r>
            <a:endParaRPr lang="en-US" sz="232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84398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. 8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12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688842"/>
            <a:ext cx="3571326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4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− 6</a:t>
            </a:r>
            <a:endParaRPr lang="en-US" sz="2325" dirty="0"/>
          </a:p>
        </p:txBody>
      </p:sp>
      <p:sp>
        <p:nvSpPr>
          <p:cNvPr id="9" name="Shape 9"/>
          <p:cNvSpPr txBox="1"/>
          <p:nvPr/>
        </p:nvSpPr>
        <p:spPr>
          <a:xfrm>
            <a:off x="6286348" y="1618488"/>
            <a:ext cx="52195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9. Standard form</a:t>
            </a: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6286348" y="2065782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.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+ 7 = 0.5(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− 1)</a:t>
            </a:r>
            <a:endParaRPr lang="en-US" sz="2325" dirty="0"/>
          </a:p>
        </p:txBody>
      </p:sp>
      <p:sp>
        <p:nvSpPr>
          <p:cNvPr id="11" name="Shape 11"/>
          <p:cNvSpPr txBox="1"/>
          <p:nvPr/>
        </p:nvSpPr>
        <p:spPr>
          <a:xfrm>
            <a:off x="6286348" y="2570226"/>
            <a:ext cx="373715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15</a:t>
            </a:r>
            <a:endParaRPr lang="en-US" sz="2325" dirty="0"/>
          </a:p>
        </p:txBody>
      </p:sp>
      <p:sp>
        <p:nvSpPr>
          <p:cNvPr id="12" name="Shape 12"/>
          <p:cNvSpPr txBox="1"/>
          <p:nvPr/>
        </p:nvSpPr>
        <p:spPr>
          <a:xfrm>
            <a:off x="6286348" y="3184398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.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−4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+ 3</a:t>
            </a:r>
            <a:endParaRPr lang="en-US" sz="2325" dirty="0"/>
          </a:p>
        </p:txBody>
      </p:sp>
      <p:sp>
        <p:nvSpPr>
          <p:cNvPr id="13" name="Shape 13"/>
          <p:cNvSpPr txBox="1"/>
          <p:nvPr/>
        </p:nvSpPr>
        <p:spPr>
          <a:xfrm>
            <a:off x="6286348" y="3688842"/>
            <a:ext cx="3571326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3</a:t>
            </a:r>
            <a:endParaRPr lang="en-US" sz="2325" dirty="0"/>
          </a:p>
        </p:txBody>
      </p:sp>
      <p:sp>
        <p:nvSpPr>
          <p:cNvPr id="14" name="Slide Number 14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8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Test Practice · Like End of Topic Questions 7 and 10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Rewrite in slope-intercept form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1. 2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+ 4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8</a:t>
            </a:r>
            <a:endParaRPr lang="en-US" sz="232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2293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−2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+ 8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513076"/>
            <a:ext cx="373715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−½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+ 2</a:t>
            </a:r>
            <a:endParaRPr lang="en-US" sz="2325" dirty="0"/>
          </a:p>
        </p:txBody>
      </p:sp>
      <p:sp>
        <p:nvSpPr>
          <p:cNvPr id="7" name="Shape 7"/>
          <p:cNvSpPr txBox="1"/>
          <p:nvPr/>
        </p:nvSpPr>
        <p:spPr>
          <a:xfrm>
            <a:off x="6286348" y="1618488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2.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+ 1 = −3(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− 2)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286348" y="212293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+ 1 = −3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+ 6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6286348" y="2513076"/>
            <a:ext cx="373715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−3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+ 5</a:t>
            </a:r>
            <a:endParaRPr lang="en-US" sz="2325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9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Exit Ticket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Show what you know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5658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Rewrite the equation in slope-intercept form.</a:t>
            </a:r>
            <a:b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6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+ 3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12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01062"/>
            <a:ext cx="373715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+ 4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015234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Rewrite the equation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− 4 = 3(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+ 2)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in slope-intercept form.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462528"/>
            <a:ext cx="373715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3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+ 10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407670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What are the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- and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-intercepts of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− 5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10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4523994"/>
            <a:ext cx="489793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(5, 0)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and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(0, −2)</a:t>
            </a:r>
            <a:endParaRPr lang="en-US" sz="2325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10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210312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Lesson 2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2512314"/>
            <a:ext cx="10820095" cy="13121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8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2</a:t>
            </a:r>
            <a:endParaRPr lang="en-US" sz="8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3995928"/>
            <a:ext cx="10820095" cy="7863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Essential Question: How can you use those same properties to solve for one specific variable in an equation that has multiple variables?</a:t>
            </a:r>
            <a:endParaRPr lang="en-US" sz="2400" dirty="0"/>
          </a:p>
        </p:txBody>
      </p:sp>
      <p:sp>
        <p:nvSpPr>
          <p:cNvPr id="5" name="Slide Number 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11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Bell Work · Review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Warm up: work these on your own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Which equation is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+ 2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10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written in slope-intercept form?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58212"/>
            <a:ext cx="373715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+ 5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243834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What value of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makes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− 7 = 11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true?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4026408"/>
            <a:ext cx="207888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6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362548" y="1675638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2ℓ + 2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w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What is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ℓ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when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30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w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5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362548" y="2458212"/>
            <a:ext cx="2244715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10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362548" y="3243834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4.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5/9(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− 32)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What is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when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50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6362548" y="4026408"/>
            <a:ext cx="2244715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10</a:t>
            </a:r>
            <a:endParaRPr lang="en-US" sz="2325" dirty="0"/>
          </a:p>
        </p:txBody>
      </p:sp>
      <p:sp>
        <p:nvSpPr>
          <p:cNvPr id="12" name="Slide Number 1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12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Activity 2.2 · Rewriting Literal Equations · SE p. 362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Celsius and Fahrenheit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A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literal equation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is an equation in which the variables represent specific measures, like a formula.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660142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5/9(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− 32)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164586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1. Multiply by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9/5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9/5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− 32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554730"/>
            <a:ext cx="4234632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9/5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+ 32</a:t>
            </a:r>
            <a:endParaRPr lang="en-US" sz="2325" dirty="0"/>
          </a:p>
        </p:txBody>
      </p:sp>
      <p:sp>
        <p:nvSpPr>
          <p:cNvPr id="12" name="Shape 12"/>
          <p:cNvSpPr txBox="1"/>
          <p:nvPr/>
        </p:nvSpPr>
        <p:spPr>
          <a:xfrm>
            <a:off x="6286348" y="1618488"/>
            <a:ext cx="5219548" cy="2112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495898" y="1789938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 Who is warmer?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6495898" y="2260092"/>
            <a:ext cx="48004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Jayden: 77°F. Mateo: 30°C.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6495898" y="2650236"/>
            <a:ext cx="48004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9/5(30) + 32 = 86</a:t>
            </a:r>
            <a:endParaRPr lang="en-US" sz="1575" dirty="0"/>
          </a:p>
        </p:txBody>
      </p:sp>
      <p:sp>
        <p:nvSpPr>
          <p:cNvPr id="11" name="Shape 11"/>
          <p:cNvSpPr txBox="1"/>
          <p:nvPr/>
        </p:nvSpPr>
        <p:spPr>
          <a:xfrm>
            <a:off x="6495898" y="3040380"/>
            <a:ext cx="480044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Mateo: 86°F &gt; 77°F</a:t>
            </a:r>
            <a:endParaRPr lang="en-US" sz="2325" dirty="0"/>
          </a:p>
        </p:txBody>
      </p:sp>
      <p:sp>
        <p:nvSpPr>
          <p:cNvPr id="13" name="Slide Number 13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13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Activity 2.2 · Question 3 and Worked Example · SE pp. 363–364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Find the error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618488"/>
            <a:ext cx="34796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605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Ethan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30605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5/9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− 32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764536"/>
            <a:ext cx="30605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Error: he did not distribute 5/9 to the 32.</a:t>
            </a:r>
            <a:endParaRPr lang="en-US" sz="1575" dirty="0"/>
          </a:p>
        </p:txBody>
      </p:sp>
      <p:sp>
        <p:nvSpPr>
          <p:cNvPr id="11" name="Shape 11"/>
          <p:cNvSpPr txBox="1"/>
          <p:nvPr/>
        </p:nvSpPr>
        <p:spPr>
          <a:xfrm>
            <a:off x="4355998" y="1618488"/>
            <a:ext cx="34796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4565548" y="1789938"/>
            <a:ext cx="30605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Minh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4565548" y="2260092"/>
            <a:ext cx="30605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9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45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− 1440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4565548" y="2764536"/>
            <a:ext cx="30605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Error: he multiplied 9 · 5/9 F wrong (it is 5F, not 45F).</a:t>
            </a:r>
            <a:endParaRPr lang="en-US" sz="1575" dirty="0"/>
          </a:p>
        </p:txBody>
      </p:sp>
      <p:sp>
        <p:nvSpPr>
          <p:cNvPr id="15" name="Shape 15"/>
          <p:cNvSpPr txBox="1"/>
          <p:nvPr/>
        </p:nvSpPr>
        <p:spPr>
          <a:xfrm>
            <a:off x="8026197" y="1618488"/>
            <a:ext cx="3479698" cy="2190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2" name="Shape 12"/>
          <p:cNvSpPr txBox="1"/>
          <p:nvPr/>
        </p:nvSpPr>
        <p:spPr>
          <a:xfrm>
            <a:off x="8235747" y="1789938"/>
            <a:ext cx="30605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4. No fractions</a:t>
            </a:r>
            <a:endParaRPr lang="en-US" sz="2100" dirty="0"/>
          </a:p>
        </p:txBody>
      </p:sp>
      <p:sp>
        <p:nvSpPr>
          <p:cNvPr id="13" name="Shape 13"/>
          <p:cNvSpPr txBox="1"/>
          <p:nvPr/>
        </p:nvSpPr>
        <p:spPr>
          <a:xfrm>
            <a:off x="8235747" y="2260092"/>
            <a:ext cx="30605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9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5(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− 32)</a:t>
            </a:r>
            <a:endParaRPr lang="en-US" sz="2325" dirty="0"/>
          </a:p>
        </p:txBody>
      </p:sp>
      <p:sp>
        <p:nvSpPr>
          <p:cNvPr id="14" name="Shape 14"/>
          <p:cNvSpPr txBox="1"/>
          <p:nvPr/>
        </p:nvSpPr>
        <p:spPr>
          <a:xfrm>
            <a:off x="8235747" y="2764536"/>
            <a:ext cx="30605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9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− 5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−160</a:t>
            </a:r>
            <a:endParaRPr lang="en-US" sz="23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14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Activity 2.3 · Solving Literal Equations for Specific Variables · SE pp. 365–366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Solve for the height</a:t>
            </a:r>
            <a:endParaRPr lang="en-US" sz="34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1618488"/>
            <a:ext cx="3492398" cy="22265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 Box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V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764536"/>
            <a:ext cx="307329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V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endParaRPr lang="en-US" sz="2325" dirty="0"/>
          </a:p>
        </p:txBody>
      </p:sp>
      <p:sp>
        <p:nvSpPr>
          <p:cNvPr id="7" name="Shape 7"/>
          <p:cNvSpPr txBox="1"/>
          <p:nvPr/>
        </p:nvSpPr>
        <p:spPr>
          <a:xfrm>
            <a:off x="895350" y="3378708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V = 450, B = 75: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6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in.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4349648" y="1618488"/>
            <a:ext cx="3492398" cy="28209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4559198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 Cone</a:t>
            </a:r>
            <a:endParaRPr lang="en-US" sz="2100" dirty="0"/>
          </a:p>
        </p:txBody>
      </p:sp>
      <p:sp>
        <p:nvSpPr>
          <p:cNvPr id="10" name="Shape 10"/>
          <p:cNvSpPr txBox="1"/>
          <p:nvPr/>
        </p:nvSpPr>
        <p:spPr>
          <a:xfrm>
            <a:off x="4559198" y="2260092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V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⅓π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²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endParaRPr lang="en-US" sz="2325" dirty="0"/>
          </a:p>
        </p:txBody>
      </p:sp>
      <p:sp>
        <p:nvSpPr>
          <p:cNvPr id="11" name="Shape 11"/>
          <p:cNvSpPr txBox="1"/>
          <p:nvPr/>
        </p:nvSpPr>
        <p:spPr>
          <a:xfrm>
            <a:off x="4559198" y="2764536"/>
            <a:ext cx="30732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3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V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/(π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²)</a:t>
            </a:r>
            <a:endParaRPr lang="en-US" sz="2325" dirty="0"/>
          </a:p>
        </p:txBody>
      </p:sp>
      <p:sp>
        <p:nvSpPr>
          <p:cNvPr id="12" name="Shape 12"/>
          <p:cNvSpPr txBox="1"/>
          <p:nvPr/>
        </p:nvSpPr>
        <p:spPr>
          <a:xfrm>
            <a:off x="4559198" y="3733038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cubic ÷ square units = linear units</a:t>
            </a:r>
            <a:endParaRPr lang="en-US" sz="1575" dirty="0"/>
          </a:p>
        </p:txBody>
      </p:sp>
      <p:sp>
        <p:nvSpPr>
          <p:cNvPr id="18" name="Shape 18"/>
          <p:cNvSpPr txBox="1"/>
          <p:nvPr/>
        </p:nvSpPr>
        <p:spPr>
          <a:xfrm>
            <a:off x="8013497" y="1618488"/>
            <a:ext cx="3492398" cy="28209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4" name="Shape 14"/>
          <p:cNvSpPr txBox="1"/>
          <p:nvPr/>
        </p:nvSpPr>
        <p:spPr>
          <a:xfrm>
            <a:off x="8223047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3. Trapezoid</a:t>
            </a:r>
            <a:endParaRPr lang="en-US" sz="2100" dirty="0"/>
          </a:p>
        </p:txBody>
      </p:sp>
      <p:sp>
        <p:nvSpPr>
          <p:cNvPr id="15" name="Shape 15"/>
          <p:cNvSpPr txBox="1"/>
          <p:nvPr/>
        </p:nvSpPr>
        <p:spPr>
          <a:xfrm>
            <a:off x="8223047" y="2260092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½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₁ +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₂)</a:t>
            </a:r>
            <a:endParaRPr lang="en-US" sz="2325" dirty="0"/>
          </a:p>
        </p:txBody>
      </p:sp>
      <p:sp>
        <p:nvSpPr>
          <p:cNvPr id="16" name="Shape 16"/>
          <p:cNvSpPr txBox="1"/>
          <p:nvPr/>
        </p:nvSpPr>
        <p:spPr>
          <a:xfrm>
            <a:off x="8223047" y="2764536"/>
            <a:ext cx="30732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/(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₁ +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₂)</a:t>
            </a:r>
            <a:endParaRPr lang="en-US" sz="2325" dirty="0"/>
          </a:p>
        </p:txBody>
      </p:sp>
      <p:sp>
        <p:nvSpPr>
          <p:cNvPr id="17" name="Shape 17"/>
          <p:cNvSpPr txBox="1"/>
          <p:nvPr/>
        </p:nvSpPr>
        <p:spPr>
          <a:xfrm>
            <a:off x="8223047" y="3733038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 = 24, bases 9 and 7: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3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cm</a:t>
            </a:r>
            <a:endParaRPr lang="en-US" sz="1575" dirty="0"/>
          </a:p>
        </p:txBody>
      </p:sp>
      <p:sp>
        <p:nvSpPr>
          <p:cNvPr id="19" name="Slide Number 19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15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Activity 2.3 · Question 4 · SE p. 366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Solve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Z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 +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for each variable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618488"/>
            <a:ext cx="5295748" cy="1722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48766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a. Solve for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Multiply by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Z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650236"/>
            <a:ext cx="4068806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Z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endParaRPr lang="en-US" sz="2325" dirty="0"/>
          </a:p>
        </p:txBody>
      </p:sp>
      <p:sp>
        <p:nvSpPr>
          <p:cNvPr id="12" name="Shape 12"/>
          <p:cNvSpPr txBox="1"/>
          <p:nvPr/>
        </p:nvSpPr>
        <p:spPr>
          <a:xfrm>
            <a:off x="6210148" y="1618488"/>
            <a:ext cx="5295748" cy="2112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419698" y="1789938"/>
            <a:ext cx="48766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b. Solve for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(challenge)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6419698" y="2260092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Multiply by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Z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6419698" y="2650236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Factor out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Z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−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endParaRPr lang="en-US" sz="1575" dirty="0"/>
          </a:p>
        </p:txBody>
      </p:sp>
      <p:sp>
        <p:nvSpPr>
          <p:cNvPr id="11" name="Shape 11"/>
          <p:cNvSpPr txBox="1"/>
          <p:nvPr/>
        </p:nvSpPr>
        <p:spPr>
          <a:xfrm>
            <a:off x="6419698" y="3040380"/>
            <a:ext cx="4400459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/(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Z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325" dirty="0"/>
          </a:p>
        </p:txBody>
      </p:sp>
      <p:sp>
        <p:nvSpPr>
          <p:cNvPr id="13" name="Slide Number 13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16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Talk the Talk · Rearrange It · SE p. 367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Cans of soup (use 3.14 for π)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Lateral area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S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2π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Solve for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65782"/>
            <a:ext cx="373715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S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/(2π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79954"/>
            <a:ext cx="52195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S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37.68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1.5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27248"/>
            <a:ext cx="3405500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4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i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.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286348" y="1618488"/>
            <a:ext cx="52195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Surface area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S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2π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² + 2π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Solve for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286348" y="2362962"/>
            <a:ext cx="521954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S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− 2π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²)/(2π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286348" y="2977134"/>
            <a:ext cx="52195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4.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S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51.81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1.5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6286348" y="3424428"/>
            <a:ext cx="3405500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4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i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.</a:t>
            </a:r>
            <a:endParaRPr lang="en-US" sz="2325" dirty="0"/>
          </a:p>
        </p:txBody>
      </p:sp>
      <p:sp>
        <p:nvSpPr>
          <p:cNvPr id="12" name="Slide Number 1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17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Test Practice · Like End of Topic Question 8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Solve each formula for the given variable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1.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½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o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endParaRPr lang="en-US" sz="232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2293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Multiply by 2: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513076"/>
            <a:ext cx="323967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endParaRPr lang="en-US" sz="2325" dirty="0"/>
          </a:p>
        </p:txBody>
      </p:sp>
      <p:sp>
        <p:nvSpPr>
          <p:cNvPr id="7" name="Shape 7"/>
          <p:cNvSpPr txBox="1"/>
          <p:nvPr/>
        </p:nvSpPr>
        <p:spPr>
          <a:xfrm>
            <a:off x="6286348" y="1618488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2.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I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o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286348" y="212293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Divide by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6286348" y="2513076"/>
            <a:ext cx="3571326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I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/(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325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18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Essential Question · Answered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How do you solve for one variable in a formula?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Use the same properties of equality: undo each operation on that variable, doing the same to both sides.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51536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Every other letter is treated like a number.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057906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Pick the form that shows what you need: slope-intercept for the slope and y-intercept, point-slope for a point.</a:t>
            </a:r>
            <a:endParaRPr lang="en-US" sz="1950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19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Exit Ticket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Show what you know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565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The formula for the area of a rectangle is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ℓ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w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Solve the equation for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w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03882"/>
            <a:ext cx="3073847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w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/ℓ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718054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The formula for the volume of a cylinder is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V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π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²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Solve the equation for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65348"/>
            <a:ext cx="373715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V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/(π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²)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77952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Which equation is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solved for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4226814"/>
            <a:ext cx="3073847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85800" y="484098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4.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S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2π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S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37.68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1.5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Find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5288280"/>
            <a:ext cx="3405500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4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in.</a:t>
            </a:r>
            <a:endParaRPr lang="en-US" sz="2325" dirty="0"/>
          </a:p>
        </p:txBody>
      </p:sp>
      <p:sp>
        <p:nvSpPr>
          <p:cNvPr id="12" name="Slide Number 1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20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Homework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Lesson 2 Assignment · SE pp. 369–370</a:t>
            </a:r>
            <a:endParaRPr lang="en-US" sz="34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1618488"/>
            <a:ext cx="5295748" cy="11079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48766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1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Practice 1a–d: rewrite in the given form.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6210148" y="1618488"/>
            <a:ext cx="529574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419698" y="1789938"/>
            <a:ext cx="48766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2</a:t>
            </a:r>
            <a:endParaRPr lang="en-US" sz="2100" dirty="0"/>
          </a:p>
        </p:txBody>
      </p:sp>
      <p:sp>
        <p:nvSpPr>
          <p:cNvPr id="8" name="Shape 8"/>
          <p:cNvSpPr txBox="1"/>
          <p:nvPr/>
        </p:nvSpPr>
        <p:spPr>
          <a:xfrm>
            <a:off x="6419698" y="2260092"/>
            <a:ext cx="48766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Practice 2–3: formulas, plus Prepare (inequalities).</a:t>
            </a:r>
            <a:endParaRPr lang="en-US" sz="1575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21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Literal Equation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21</Slides>
  <Notes>21</Notes>
</Properties>
</file>

<file path=docProps/core.xml><?xml version="1.0" encoding="utf-8"?>
<cp:coreProperties xmlns:cp="http://schemas.openxmlformats.org/package/2006/metadata/core-properties" xmlns:dc="http://purl.org/dc/elements/1.1/">
  <dc:title>Literal Equations</dc:title>
  <dc:subject>Bluebonnet Algebra I</dc:subject>
</cp:coreProperties>
</file>