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79"/>
  </p:notesMasterIdLst>
  <p:sldIdLst>
    <p:sldId id="329" r:id="rId8"/>
    <p:sldId id="300" r:id="rId9"/>
    <p:sldId id="380" r:id="rId10"/>
    <p:sldId id="513" r:id="rId11"/>
    <p:sldId id="365" r:id="rId12"/>
    <p:sldId id="366" r:id="rId13"/>
    <p:sldId id="360" r:id="rId14"/>
    <p:sldId id="334" r:id="rId15"/>
    <p:sldId id="512" r:id="rId16"/>
    <p:sldId id="459" r:id="rId17"/>
    <p:sldId id="508" r:id="rId18"/>
    <p:sldId id="367" r:id="rId19"/>
    <p:sldId id="352" r:id="rId20"/>
    <p:sldId id="359" r:id="rId21"/>
    <p:sldId id="368" r:id="rId22"/>
    <p:sldId id="460" r:id="rId23"/>
    <p:sldId id="461" r:id="rId24"/>
    <p:sldId id="509" r:id="rId25"/>
    <p:sldId id="462" r:id="rId26"/>
    <p:sldId id="463" r:id="rId27"/>
    <p:sldId id="510" r:id="rId28"/>
    <p:sldId id="464" r:id="rId29"/>
    <p:sldId id="465" r:id="rId30"/>
    <p:sldId id="511" r:id="rId31"/>
    <p:sldId id="466" r:id="rId32"/>
    <p:sldId id="467" r:id="rId33"/>
    <p:sldId id="468" r:id="rId34"/>
    <p:sldId id="469" r:id="rId35"/>
    <p:sldId id="470" r:id="rId36"/>
    <p:sldId id="471" r:id="rId37"/>
    <p:sldId id="472" r:id="rId38"/>
    <p:sldId id="473" r:id="rId39"/>
    <p:sldId id="443" r:id="rId40"/>
    <p:sldId id="444" r:id="rId41"/>
    <p:sldId id="474" r:id="rId42"/>
    <p:sldId id="475" r:id="rId43"/>
    <p:sldId id="476" r:id="rId44"/>
    <p:sldId id="477" r:id="rId45"/>
    <p:sldId id="478" r:id="rId46"/>
    <p:sldId id="479" r:id="rId47"/>
    <p:sldId id="481" r:id="rId48"/>
    <p:sldId id="482" r:id="rId49"/>
    <p:sldId id="483" r:id="rId50"/>
    <p:sldId id="486" r:id="rId51"/>
    <p:sldId id="485" r:id="rId52"/>
    <p:sldId id="487" r:id="rId53"/>
    <p:sldId id="488" r:id="rId54"/>
    <p:sldId id="489" r:id="rId55"/>
    <p:sldId id="490" r:id="rId56"/>
    <p:sldId id="491" r:id="rId57"/>
    <p:sldId id="492" r:id="rId58"/>
    <p:sldId id="493" r:id="rId59"/>
    <p:sldId id="494" r:id="rId60"/>
    <p:sldId id="495" r:id="rId61"/>
    <p:sldId id="496" r:id="rId62"/>
    <p:sldId id="497" r:id="rId63"/>
    <p:sldId id="498" r:id="rId64"/>
    <p:sldId id="499" r:id="rId65"/>
    <p:sldId id="500" r:id="rId66"/>
    <p:sldId id="501" r:id="rId67"/>
    <p:sldId id="502" r:id="rId68"/>
    <p:sldId id="503" r:id="rId69"/>
    <p:sldId id="504" r:id="rId70"/>
    <p:sldId id="505" r:id="rId71"/>
    <p:sldId id="506" r:id="rId72"/>
    <p:sldId id="373" r:id="rId73"/>
    <p:sldId id="356" r:id="rId74"/>
    <p:sldId id="374" r:id="rId75"/>
    <p:sldId id="375" r:id="rId76"/>
    <p:sldId id="357" r:id="rId77"/>
    <p:sldId id="294" r:id="rId7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80"/>
            <p14:sldId id="513"/>
            <p14:sldId id="365"/>
            <p14:sldId id="366"/>
            <p14:sldId id="360"/>
            <p14:sldId id="334"/>
            <p14:sldId id="512"/>
            <p14:sldId id="459"/>
            <p14:sldId id="508"/>
            <p14:sldId id="367"/>
            <p14:sldId id="352"/>
            <p14:sldId id="359"/>
            <p14:sldId id="368"/>
            <p14:sldId id="460"/>
            <p14:sldId id="461"/>
            <p14:sldId id="509"/>
            <p14:sldId id="462"/>
            <p14:sldId id="463"/>
            <p14:sldId id="510"/>
            <p14:sldId id="464"/>
            <p14:sldId id="465"/>
            <p14:sldId id="511"/>
            <p14:sldId id="466"/>
            <p14:sldId id="467"/>
            <p14:sldId id="468"/>
            <p14:sldId id="469"/>
            <p14:sldId id="470"/>
            <p14:sldId id="471"/>
            <p14:sldId id="472"/>
            <p14:sldId id="473"/>
            <p14:sldId id="443"/>
            <p14:sldId id="444"/>
            <p14:sldId id="474"/>
            <p14:sldId id="475"/>
            <p14:sldId id="476"/>
            <p14:sldId id="477"/>
            <p14:sldId id="478"/>
            <p14:sldId id="479"/>
            <p14:sldId id="481"/>
            <p14:sldId id="482"/>
            <p14:sldId id="483"/>
            <p14:sldId id="486"/>
            <p14:sldId id="485"/>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373"/>
            <p14:sldId id="356"/>
            <p14:sldId id="374"/>
            <p14:sldId id="375"/>
            <p14:sldId id="357"/>
            <p14:sldId id="294"/>
          </p14:sldIdLst>
        </p14:section>
      </p14:sectionLst>
    </p:ext>
    <p:ext uri="{EFAFB233-063F-42B5-8137-9DF3F51BA10A}">
      <p15:sldGuideLst xmlns:p15="http://schemas.microsoft.com/office/powerpoint/2012/main">
        <p15:guide id="1" orient="horz" pos="2115"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0084AC"/>
    <a:srgbClr val="61449B"/>
    <a:srgbClr val="143965"/>
    <a:srgbClr val="008F4C"/>
    <a:srgbClr val="242E61"/>
    <a:srgbClr val="236739"/>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D403A8-CA7C-4A5F-BA4D-AE7A1B576B04}" v="9" dt="2025-07-29T21:11:48.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28" autoAdjust="0"/>
    <p:restoredTop sz="75822" autoAdjust="0"/>
  </p:normalViewPr>
  <p:slideViewPr>
    <p:cSldViewPr snapToGrid="0">
      <p:cViewPr varScale="1">
        <p:scale>
          <a:sx n="119" d="100"/>
          <a:sy n="119" d="100"/>
        </p:scale>
        <p:origin x="1314" y="108"/>
      </p:cViewPr>
      <p:guideLst>
        <p:guide orient="horz" pos="2115"/>
        <p:guide pos="3864"/>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4939" y="120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slide" Target="slides/slide69.xml"/><Relationship Id="rId84" Type="http://schemas.microsoft.com/office/2016/11/relationships/changesInfo" Target="changesInfos/changesInfo1.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4.xml"/><Relationship Id="rId82" Type="http://schemas.openxmlformats.org/officeDocument/2006/relationships/theme" Target="theme/theme1.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viewProps" Target="viewProps.xml"/><Relationship Id="rId86"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74D403A8-CA7C-4A5F-BA4D-AE7A1B576B04}"/>
    <pc:docChg chg="undo custSel modSld">
      <pc:chgData name="Moyer Montague, Kristina" userId="63c103e5-6141-480e-825f-260f173eba02" providerId="ADAL" clId="{74D403A8-CA7C-4A5F-BA4D-AE7A1B576B04}" dt="2025-07-29T21:14:24.036" v="28"/>
      <pc:docMkLst>
        <pc:docMk/>
      </pc:docMkLst>
      <pc:sldChg chg="modSp mod">
        <pc:chgData name="Moyer Montague, Kristina" userId="63c103e5-6141-480e-825f-260f173eba02" providerId="ADAL" clId="{74D403A8-CA7C-4A5F-BA4D-AE7A1B576B04}" dt="2025-07-29T21:08:56.639" v="4"/>
        <pc:sldMkLst>
          <pc:docMk/>
          <pc:sldMk cId="1079807920" sldId="468"/>
        </pc:sldMkLst>
        <pc:spChg chg="mod">
          <ac:chgData name="Moyer Montague, Kristina" userId="63c103e5-6141-480e-825f-260f173eba02" providerId="ADAL" clId="{74D403A8-CA7C-4A5F-BA4D-AE7A1B576B04}" dt="2025-07-29T21:08:56.639" v="4"/>
          <ac:spMkLst>
            <pc:docMk/>
            <pc:sldMk cId="1079807920" sldId="468"/>
            <ac:spMk id="9" creationId="{B1948629-0BBE-3F91-DC6B-BBFD9610EFB2}"/>
          </ac:spMkLst>
        </pc:spChg>
      </pc:sldChg>
      <pc:sldChg chg="modSp mod">
        <pc:chgData name="Moyer Montague, Kristina" userId="63c103e5-6141-480e-825f-260f173eba02" providerId="ADAL" clId="{74D403A8-CA7C-4A5F-BA4D-AE7A1B576B04}" dt="2025-07-29T21:09:14.548" v="5"/>
        <pc:sldMkLst>
          <pc:docMk/>
          <pc:sldMk cId="177747357" sldId="471"/>
        </pc:sldMkLst>
        <pc:spChg chg="mod">
          <ac:chgData name="Moyer Montague, Kristina" userId="63c103e5-6141-480e-825f-260f173eba02" providerId="ADAL" clId="{74D403A8-CA7C-4A5F-BA4D-AE7A1B576B04}" dt="2025-07-29T21:09:14.548" v="5"/>
          <ac:spMkLst>
            <pc:docMk/>
            <pc:sldMk cId="177747357" sldId="471"/>
            <ac:spMk id="2" creationId="{237775DB-5656-C3EB-E8E9-D53E1D1366DC}"/>
          </ac:spMkLst>
        </pc:spChg>
      </pc:sldChg>
      <pc:sldChg chg="modNotesTx">
        <pc:chgData name="Moyer Montague, Kristina" userId="63c103e5-6141-480e-825f-260f173eba02" providerId="ADAL" clId="{74D403A8-CA7C-4A5F-BA4D-AE7A1B576B04}" dt="2025-07-29T21:10:09.946" v="7" actId="114"/>
        <pc:sldMkLst>
          <pc:docMk/>
          <pc:sldMk cId="3624607264" sldId="481"/>
        </pc:sldMkLst>
      </pc:sldChg>
      <pc:sldChg chg="modNotesTx">
        <pc:chgData name="Moyer Montague, Kristina" userId="63c103e5-6141-480e-825f-260f173eba02" providerId="ADAL" clId="{74D403A8-CA7C-4A5F-BA4D-AE7A1B576B04}" dt="2025-07-29T21:10:14.307" v="8"/>
        <pc:sldMkLst>
          <pc:docMk/>
          <pc:sldMk cId="2767122116" sldId="482"/>
        </pc:sldMkLst>
      </pc:sldChg>
      <pc:sldChg chg="modNotesTx">
        <pc:chgData name="Moyer Montague, Kristina" userId="63c103e5-6141-480e-825f-260f173eba02" providerId="ADAL" clId="{74D403A8-CA7C-4A5F-BA4D-AE7A1B576B04}" dt="2025-07-29T21:10:16.939" v="9"/>
        <pc:sldMkLst>
          <pc:docMk/>
          <pc:sldMk cId="2950057578" sldId="483"/>
        </pc:sldMkLst>
      </pc:sldChg>
      <pc:sldChg chg="modSp mod">
        <pc:chgData name="Moyer Montague, Kristina" userId="63c103e5-6141-480e-825f-260f173eba02" providerId="ADAL" clId="{74D403A8-CA7C-4A5F-BA4D-AE7A1B576B04}" dt="2025-07-29T21:09:22.644" v="6"/>
        <pc:sldMkLst>
          <pc:docMk/>
          <pc:sldMk cId="1480426654" sldId="492"/>
        </pc:sldMkLst>
        <pc:spChg chg="mod">
          <ac:chgData name="Moyer Montague, Kristina" userId="63c103e5-6141-480e-825f-260f173eba02" providerId="ADAL" clId="{74D403A8-CA7C-4A5F-BA4D-AE7A1B576B04}" dt="2025-07-29T21:09:22.644" v="6"/>
          <ac:spMkLst>
            <pc:docMk/>
            <pc:sldMk cId="1480426654" sldId="492"/>
            <ac:spMk id="2" creationId="{E47C6D0B-1AC1-2ABD-B1AB-5CCBF3F38349}"/>
          </ac:spMkLst>
        </pc:spChg>
      </pc:sldChg>
      <pc:sldChg chg="modSp mod">
        <pc:chgData name="Moyer Montague, Kristina" userId="63c103e5-6141-480e-825f-260f173eba02" providerId="ADAL" clId="{74D403A8-CA7C-4A5F-BA4D-AE7A1B576B04}" dt="2025-07-29T21:12:01.058" v="19" actId="14100"/>
        <pc:sldMkLst>
          <pc:docMk/>
          <pc:sldMk cId="1561476441" sldId="495"/>
        </pc:sldMkLst>
        <pc:spChg chg="mod">
          <ac:chgData name="Moyer Montague, Kristina" userId="63c103e5-6141-480e-825f-260f173eba02" providerId="ADAL" clId="{74D403A8-CA7C-4A5F-BA4D-AE7A1B576B04}" dt="2025-07-29T21:12:01.058" v="19" actId="14100"/>
          <ac:spMkLst>
            <pc:docMk/>
            <pc:sldMk cId="1561476441" sldId="495"/>
            <ac:spMk id="5" creationId="{F5807850-4E16-BC18-F15F-76B8400DD837}"/>
          </ac:spMkLst>
        </pc:spChg>
      </pc:sldChg>
      <pc:sldChg chg="modNotesTx">
        <pc:chgData name="Moyer Montague, Kristina" userId="63c103e5-6141-480e-825f-260f173eba02" providerId="ADAL" clId="{74D403A8-CA7C-4A5F-BA4D-AE7A1B576B04}" dt="2025-07-29T21:12:30.809" v="20" actId="6549"/>
        <pc:sldMkLst>
          <pc:docMk/>
          <pc:sldMk cId="112711240" sldId="498"/>
        </pc:sldMkLst>
      </pc:sldChg>
      <pc:sldChg chg="modNotesTx">
        <pc:chgData name="Moyer Montague, Kristina" userId="63c103e5-6141-480e-825f-260f173eba02" providerId="ADAL" clId="{74D403A8-CA7C-4A5F-BA4D-AE7A1B576B04}" dt="2025-07-29T21:14:09.625" v="27" actId="20577"/>
        <pc:sldMkLst>
          <pc:docMk/>
          <pc:sldMk cId="1937410966" sldId="499"/>
        </pc:sldMkLst>
      </pc:sldChg>
      <pc:sldChg chg="modNotesTx">
        <pc:chgData name="Moyer Montague, Kristina" userId="63c103e5-6141-480e-825f-260f173eba02" providerId="ADAL" clId="{74D403A8-CA7C-4A5F-BA4D-AE7A1B576B04}" dt="2025-07-29T21:14:24.036" v="28"/>
        <pc:sldMkLst>
          <pc:docMk/>
          <pc:sldMk cId="2042536187" sldId="500"/>
        </pc:sldMkLst>
      </pc:sldChg>
      <pc:sldChg chg="modSp mod">
        <pc:chgData name="Moyer Montague, Kristina" userId="63c103e5-6141-480e-825f-260f173eba02" providerId="ADAL" clId="{74D403A8-CA7C-4A5F-BA4D-AE7A1B576B04}" dt="2025-07-29T21:07:24.814" v="3" actId="2710"/>
        <pc:sldMkLst>
          <pc:docMk/>
          <pc:sldMk cId="3162269310" sldId="513"/>
        </pc:sldMkLst>
        <pc:spChg chg="mod">
          <ac:chgData name="Moyer Montague, Kristina" userId="63c103e5-6141-480e-825f-260f173eba02" providerId="ADAL" clId="{74D403A8-CA7C-4A5F-BA4D-AE7A1B576B04}" dt="2025-07-29T21:07:24.814" v="3" actId="2710"/>
          <ac:spMkLst>
            <pc:docMk/>
            <pc:sldMk cId="3162269310" sldId="513"/>
            <ac:spMk id="3" creationId="{825F713B-B472-F409-C25D-D7E7C2AC62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7/29/2025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A.5B: solve linear inequalities in one variable, including those for which the application of the distributive property is necessary and for which variables are included on both sides.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2.C: learn new language structures, expressions, and basic and academic vocabulary heard during classroom instruction and interactions.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5.D: edit writing for standard grammar and usage, including subject-verb agreement, pronoun agreement, and appropriate verb tenses commensurate with grade-level expectations as more English is acquired.</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5.E: employ increasingly complex grammatical structures in content area writing commensurate with grade level expectations such as (</a:t>
                </a:r>
                <a:r>
                  <a:rPr lang="en-US"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i</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using correct verbs, tenses, and pronouns/antecedents; (ii) using possessive case (apostrophe -s) correctly; and, (iii) using negatives and contractions correctly.</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r>
                  <a:rPr lang="en-US" sz="1200" b="0" dirty="0">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dirty="0">
                    <a:latin typeface="Calibri" panose="020F0502020204030204" pitchFamily="34" charset="0"/>
                    <a:ea typeface="Calibri" panose="020F0502020204030204" pitchFamily="34" charset="0"/>
                    <a:cs typeface="Calibri" panose="020F0502020204030204" pitchFamily="34" charset="0"/>
                  </a:rPr>
                  <a:t>A.1F:analyze mathematical relationships to connect and communicate mathematical ideas.</a:t>
                </a:r>
              </a:p>
              <a:p>
                <a:r>
                  <a:rPr lang="en-US" sz="1200" b="0" dirty="0">
                    <a:latin typeface="Calibri" panose="020F0502020204030204" pitchFamily="34" charset="0"/>
                    <a:ea typeface="Calibri" panose="020F0502020204030204" pitchFamily="34" charset="0"/>
                    <a:cs typeface="Calibri" panose="020F0502020204030204" pitchFamily="34" charset="0"/>
                  </a:rPr>
                  <a:t>A.1G:display, explain, and justify mathematical ideas and arguments using precise mathematical language in written or oral communication.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A.2A: determine the domain and range of a linear function in mathematical problems; determine reasonable domain and range values for real-world situations, both</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continuous and discrete; and represent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A.3C: graph linear functions on the coordinate plane and identify key features, including x-intercept, y-intercept, zeros, and slope, in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A.6A: determine the domain and range of quadratic functions and represent the domain and range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A.7A: graph quadratic functions on the coordinate plane and use the graph to identify key attributes, if possible, including x-intercept, y-intercept, zeros, maximum value, minimum values, vertex, and the equation of the axis of symmetry.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A.9A: determine the domain and range of exponential functions of the form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𝑓</a:t>
                </a:r>
                <a:r>
                  <a:rPr lang="en-US" sz="1200" b="0" i="0" u="none" strike="noStrike" baseline="0">
                    <a:latin typeface="Cambria Math" panose="02040503050406030204" pitchFamily="18" charset="0"/>
                    <a:cs typeface="Calibri" panose="020F0502020204030204" pitchFamily="34" charset="0"/>
                  </a:rPr>
                  <a:t>(</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𝑥)=𝑎</a:t>
                </a:r>
                <a:r>
                  <a:rPr lang="en-US" sz="1200" b="0" i="0" u="none" strike="noStrike" baseline="0">
                    <a:latin typeface="Cambria Math" panose="02040503050406030204" pitchFamily="18" charset="0"/>
                    <a:cs typeface="Calibri" panose="020F0502020204030204" pitchFamily="34" charset="0"/>
                  </a:rPr>
                  <a:t>𝑏^𝑥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 represent the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A.9D: graph exponential functions that model growth and decay and identify key features, including y-intercept and asymptote, in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A.12A: decide whether relations represented verbally, tabularly, graphically, and symbolically define a function.</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1C: use strategic learning techniques such as concept mapping, drawing, memorizing, comparing, contrasting, and reviewing to acquire basic and grade-level vocabulary.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3D: speak using grade-level content area vocabulary in context to internalize new English words and build academic language proficiency.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3H: narrate, describe, and explain with increasing specificity and detail as more English is acquired.</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4C: develop basic sight vocabulary, derive meaning of environmental print, and comprehend English vocabulary and language structures used routinely in written classroom materials.</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D9C0-44C2-45E6-6AD5-B60224A8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648EC-EF94-C3D4-6B8B-2C8B91786E5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5195271-F73A-F044-0463-139BDBE1B12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Linear inequality is introduced on Day 1.</a:t>
            </a:r>
          </a:p>
        </p:txBody>
      </p:sp>
      <p:sp>
        <p:nvSpPr>
          <p:cNvPr id="4" name="Slide Number Placeholder 3">
            <a:extLst>
              <a:ext uri="{FF2B5EF4-FFF2-40B4-BE49-F238E27FC236}">
                <a16:creationId xmlns:a16="http://schemas.microsoft.com/office/drawing/2014/main" id="{90BAD487-E1B1-4703-4346-7E4DC2DC500F}"/>
              </a:ext>
            </a:extLst>
          </p:cNvPr>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3797387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D0E1-61A9-FB2A-1704-73364D4DD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66CB9-1243-3FF6-3386-B70329C7D4D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74188C7-5391-A99A-8064-DF2E84C470B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Linear inequality is introduced on Day 1.</a:t>
            </a:r>
          </a:p>
        </p:txBody>
      </p:sp>
      <p:sp>
        <p:nvSpPr>
          <p:cNvPr id="4" name="Slide Number Placeholder 3">
            <a:extLst>
              <a:ext uri="{FF2B5EF4-FFF2-40B4-BE49-F238E27FC236}">
                <a16:creationId xmlns:a16="http://schemas.microsoft.com/office/drawing/2014/main" id="{2E8F2327-42E6-C27C-9B4E-E680B1D05EC5}"/>
              </a:ext>
            </a:extLst>
          </p:cNvPr>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148781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scenario in your own words.</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371D3-D3A3-4837-E065-F16CBE1C7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FB186-9FAA-B4FC-6D10-894187DDFB3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8D717D-5322-9416-278E-82DE0485696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4CF6118-EE08-61CA-8D70-CEE2C62FED31}"/>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4276591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855B1-72A6-FDF3-CC35-4DB56A995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B2916-2277-A075-1600-AB7D20E65EF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89BF93B-1734-561A-0B39-8F085B77F1CC}"/>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032C640-15E9-253E-DD59-8BED0BDDE43A}"/>
              </a:ext>
            </a:extLst>
          </p:cNvPr>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3128005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9B4F-3D7F-2D83-17BD-CF7125D24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3E519-C40B-B62F-544D-136C4C599A5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91DFC7A-E147-7D4D-0347-328000D112F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key features of the function identifiable in the scenario given?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function notation to represent the independent and dependent quantities?</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slope?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7EE6C14-56FF-FD2E-5BEA-9E482C7AF4D9}"/>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3393612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scenario can be represented by a function that describes the rate of change and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3.1.</a:t>
            </a:r>
          </a:p>
        </p:txBody>
      </p:sp>
      <p:sp>
        <p:nvSpPr>
          <p:cNvPr id="4" name="Slide Number Placeholder 3"/>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AC59-C558-B1C6-3121-C033F3371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CDC1A-C173-E463-FB27-A60EC2154643}"/>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37E1850-C417-9DD3-FB56-F132FF06007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A761828C-48AB-CCC2-EAE5-715927A2C109}"/>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4187253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8B32-1C2C-A7A4-2192-057A5D4C7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F27D3-3946-09A1-D73C-F827B8404D2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86FBC01-C1C0-BBE3-4BC0-17480A097AD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9EFD93E-30EE-018D-4A4E-72A652BF97F9}"/>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28516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D44CF-19F6-7FB6-CF6F-18A23DE35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9C06D-71C5-6BEF-A7B5-C3156FE924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A4D5B22-A0CC-8465-C8E3-89563E4EC93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p:sp>
        <p:nvSpPr>
          <p:cNvPr id="4" name="Slide Number Placeholder 3">
            <a:extLst>
              <a:ext uri="{FF2B5EF4-FFF2-40B4-BE49-F238E27FC236}">
                <a16:creationId xmlns:a16="http://schemas.microsoft.com/office/drawing/2014/main" id="{941AE58C-7465-973A-F286-64D64D95796F}"/>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30862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394C6-077E-8D4C-FD8E-E72CEFC4C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76FFA-8237-D7CB-C883-C0F3ED807CD5}"/>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77C19C1-1544-C6A5-3E99-D0FCC9ECB76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22A80E29-2426-1355-B99B-D2E48995474F}"/>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3480512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CBF54-C703-C369-955E-32133D79A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E3BF0-685A-58C6-3214-3CF8F82FFDF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B9ED98C-8FE4-0F09-AFE1-A528237003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BFB50C9-3E81-F3D5-1F57-48FA615D1279}"/>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4054962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D7829-8B0A-CD36-0D89-CD4197AB3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88164-4AE7-FCE0-3811-871DF3956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E89A051-D395-E576-A4FA-D3607489CD3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p:sp>
        <p:nvSpPr>
          <p:cNvPr id="4" name="Slide Number Placeholder 3">
            <a:extLst>
              <a:ext uri="{FF2B5EF4-FFF2-40B4-BE49-F238E27FC236}">
                <a16:creationId xmlns:a16="http://schemas.microsoft.com/office/drawing/2014/main" id="{3BE2F4C9-6383-E126-2A3C-A11CDA0A88E5}"/>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373514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BA66-F489-0246-1BB2-5C867CB16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F55E3-B9B4-3944-BBB5-040A39EA2CA4}"/>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365DCAC-B4B9-916E-41AD-B90334C623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C365DCAC-B4B9-916E-41AD-B90334C623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solidFill>
                      <a:srgbClr val="000000"/>
                    </a:solidFill>
                    <a:latin typeface="Cambria Math" panose="02040503050406030204" pitchFamily="18" charset="0"/>
                    <a:ea typeface="Calibri" panose="020F0502020204030204" pitchFamily="34" charset="0"/>
                    <a:cs typeface="Calibri" panose="020F0502020204030204" pitchFamily="34" charset="0"/>
                  </a:rPr>
                  <a:t>𝑦</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a:t>
                </a:r>
              </a:p>
            </p:txBody>
          </p:sp>
        </mc:Fallback>
      </mc:AlternateContent>
      <p:sp>
        <p:nvSpPr>
          <p:cNvPr id="4" name="Slide Number Placeholder 3">
            <a:extLst>
              <a:ext uri="{FF2B5EF4-FFF2-40B4-BE49-F238E27FC236}">
                <a16:creationId xmlns:a16="http://schemas.microsoft.com/office/drawing/2014/main" id="{4E867E5A-C668-16F2-351C-B8F78260B977}"/>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444304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0E78-4951-4095-8D12-2468A85DC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2B1F1-563C-4715-CC22-3EB813921358}"/>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C035F00-71D8-5AA4-B567-07509A2A1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situation require only Quadrant I of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number line in part (c) relate to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your inequality symbol include an equals sign?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Mark the described region on the graph.</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inequality in terms of the independent variable?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your response on the number line related to the information on the coordinate plane?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only positive integers make sense for this situation?</a:t>
                </a:r>
              </a:p>
            </p:txBody>
          </p:sp>
        </mc:Choice>
        <mc:Fallback xmlns="">
          <p:sp>
            <p:nvSpPr>
              <p:cNvPr id="3" name="Notes Placeholder 2">
                <a:extLst>
                  <a:ext uri="{FF2B5EF4-FFF2-40B4-BE49-F238E27FC236}">
                    <a16:creationId xmlns:a16="http://schemas.microsoft.com/office/drawing/2014/main" id="{418B1BDB-1CA2-6B1E-1B30-864DCE230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latin typeface="Cambria Math" panose="02040503050406030204" pitchFamily="18" charset="0"/>
                    <a:ea typeface="Calibri" panose="020F0502020204030204" pitchFamily="34" charset="0"/>
                    <a:cs typeface="Calibri" panose="020F0502020204030204" pitchFamily="34" charset="0"/>
                  </a:rPr>
                  <a:t>𝑦</a:t>
                </a:r>
                <a:r>
                  <a:rPr lang="en-US" dirty="0">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13B9D1CE-DEAC-1A65-0CC1-8C2F19EEB967}"/>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25701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260E-C808-F9E5-6D2C-79B1C3448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AAE5D-56E2-3F91-FBA7-814EC066C1E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24ECE3F-DA18-24C6-FD29-F21C3765C69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at least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p:txBody>
      </p:sp>
      <p:sp>
        <p:nvSpPr>
          <p:cNvPr id="4" name="Slide Number Placeholder 3">
            <a:extLst>
              <a:ext uri="{FF2B5EF4-FFF2-40B4-BE49-F238E27FC236}">
                <a16:creationId xmlns:a16="http://schemas.microsoft.com/office/drawing/2014/main" id="{A4F3C08A-CAEF-23FD-CA83-E746F8F5DD2B}"/>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1207732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73BEA-6854-BDF9-D798-405C2D504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86324-5E99-77B0-2964-7577C8BB798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2751C76-51C6-1BF3-0557-564E21DDE0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least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40C22DB0-B810-5B03-E71C-3AE6943BC3B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769913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1034-5C77-DF74-32DC-48CADDA47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B75C-63BF-39D2-30D3-46C7487937A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8773ACD-D769-59D3-44DD-A186F13209C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phrase at least means.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modify the original function to write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values of the independent variable that apply to this question?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is part (c) different than parts (a) and (b)? How is this difference reflected in your response?</a:t>
            </a:r>
          </a:p>
        </p:txBody>
      </p:sp>
      <p:sp>
        <p:nvSpPr>
          <p:cNvPr id="4" name="Slide Number Placeholder 3">
            <a:extLst>
              <a:ext uri="{FF2B5EF4-FFF2-40B4-BE49-F238E27FC236}">
                <a16:creationId xmlns:a16="http://schemas.microsoft.com/office/drawing/2014/main" id="{352D66F6-1DEB-C186-7415-3144BB10E3F1}"/>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374951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6DB03-9D87-0F4E-35CE-C729226C0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96358-AF5A-FBD9-D81A-56CDD99D893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26E901D-1D3D-312C-8F3B-F9C4FA37632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3.2 Summary: </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Regions of a graphed function can be represented on a number line as solutions to an inequality.</a:t>
            </a:r>
          </a:p>
        </p:txBody>
      </p:sp>
      <p:sp>
        <p:nvSpPr>
          <p:cNvPr id="4" name="Slide Number Placeholder 3">
            <a:extLst>
              <a:ext uri="{FF2B5EF4-FFF2-40B4-BE49-F238E27FC236}">
                <a16:creationId xmlns:a16="http://schemas.microsoft.com/office/drawing/2014/main" id="{420D7A42-BE5C-8B34-8574-D3FE074941DB}"/>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1081537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D7E9-E161-3C8A-D67C-34EB7A80B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CB957-BE39-E5BB-C9E8-AAE88436F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67AFCFB-588C-C26A-950C-9C9155968D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7C5F4ED-39BA-E343-28DC-5BABB5F0C41B}"/>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257071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02AA-76A3-CD20-325E-677EB0D0C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A9269-231B-AAA5-B7D2-F150A068AB0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58FC5D-A115-B105-5B7F-CA433BE7A2B9}"/>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a:extLst>
              <a:ext uri="{FF2B5EF4-FFF2-40B4-BE49-F238E27FC236}">
                <a16:creationId xmlns:a16="http://schemas.microsoft.com/office/drawing/2014/main" id="{9FDBE252-8D30-E3C0-5705-552644B91287}"/>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1964852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4DCC-C2C7-47AA-46E3-72DB6DFE7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9C53F-5C07-687B-49B7-FE2829A92A4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B3C90B5-AA21-A987-07E1-DA27C83CAF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469AC30-DE19-45D0-5658-AFEB1AACA52E}"/>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41185575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45F2-FF05-83AE-A8A8-02D29AC6F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93DFA-334C-59FF-3FFC-2C3A96710E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CED8CD3-18F4-9BFE-A781-A6E3ABDF5C7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3.2.</a:t>
            </a:r>
          </a:p>
        </p:txBody>
      </p:sp>
      <p:sp>
        <p:nvSpPr>
          <p:cNvPr id="4" name="Slide Number Placeholder 3">
            <a:extLst>
              <a:ext uri="{FF2B5EF4-FFF2-40B4-BE49-F238E27FC236}">
                <a16:creationId xmlns:a16="http://schemas.microsoft.com/office/drawing/2014/main" id="{015AA990-6AA1-A967-5441-82B4FCB9D099}"/>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27136239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92980-5B40-6845-478E-5D238CCFB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54074-2E44-D200-B5D8-FC3841D4C04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54F215A-08DE-BEA9-6DEF-1BEF5DE60D18}"/>
              </a:ext>
            </a:extLst>
          </p:cNvPr>
          <p:cNvSpPr>
            <a:spLocks noGrp="1"/>
          </p:cNvSpPr>
          <p:nvPr>
            <p:ph type="body" idx="1"/>
          </p:nvPr>
        </p:nvSpPr>
        <p:spPr/>
        <p:txBody>
          <a:bodyPr/>
          <a:lstStyle/>
          <a:p>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1B98BC7-3807-1192-5AAE-7B0A6648E7CB}"/>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33747419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59A1-8B21-D2E2-6B9F-6C21DEEA7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8E7E7-2F24-455F-8780-148DCCE21C7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116B3F2-E335-EEB4-96F0-DCE40C9BCCC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A68C33A-88A7-E8E1-B664-5572BA4AF3EA}"/>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8357151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6F5F-CFBC-832D-2265-21F50B7CA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45366-A283-71AA-1AAC-7E9429F1A3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D72FE19-51DE-0376-898D-DB0CD3133E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inequality makes sense for the situation in the Worked Example.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Since the situation involves whole boxes of popcorn only, how did you know whether the solution 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286 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287?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steps to solve an inequality and the steps to solve an equation?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EA0E8D0-4DFE-676B-5C28-661C43AA6589}"/>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801467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F4CA-5705-B2D0-3105-D540C0ABB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9D75F-72C9-8EF9-9D7F-FD47377255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1DD43D9-14AE-1ECC-D828-E9C3A6DA386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A7E830E8-A376-3E9E-249A-5B92AF9DBCE2}"/>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2761474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F259-A89C-E70B-11B5-961035B66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9CCC9-D18D-BEA3-AE8B-C38975ED970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0A70B9C-6693-2947-C5BF-78086EE73F7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D8786288-4289-7E25-8BCD-C033B1EB708B}"/>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8575992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83F0-A0D4-9AB5-2281-B069DDBA5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48889-B897-A3C6-3F33-FEDD1F6E22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E93086-5A51-2A99-97CA-810114BC61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know what inequality symbol to use for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the inequality?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round up or down to the nearest integer?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Consider the inequality 3.75</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+ 25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1500. How would you rewrite this inequality if you wanted 1500 to be on the left side of the inequality?</a:t>
            </a:r>
          </a:p>
        </p:txBody>
      </p:sp>
      <p:sp>
        <p:nvSpPr>
          <p:cNvPr id="4" name="Slide Number Placeholder 3">
            <a:extLst>
              <a:ext uri="{FF2B5EF4-FFF2-40B4-BE49-F238E27FC236}">
                <a16:creationId xmlns:a16="http://schemas.microsoft.com/office/drawing/2014/main" id="{949A9ACF-D525-4C7D-ECE4-00422EC223ED}"/>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3166884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551D-1890-1DDE-E895-49028481C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960B2-12C2-399F-1C11-DECA9DEE365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89F02BE-562B-1B4F-F96F-70CFF5D1DFA8}"/>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3.2 Summary: </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Problems in context can be represented and solved using inequalities. Solving an inequality is similar to solving an equation; both involve using properties of equality and number properties.</a:t>
            </a:r>
          </a:p>
          <a:p>
            <a:endParaRPr lang="en-US" sz="12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B5D67CA-43B7-6794-4AB1-48493E7C685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064317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6A30E-4AB9-DE1D-5A5E-509101139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B6CE1-AE56-9651-DF9A-9B22DE56EF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4B43F21-52DA-C3D2-C9B5-08DF4612768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BD76E08B-290C-EBAA-0C07-D245C31097F5}"/>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42258400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C04E-0DC4-BBEA-26A6-57D798E37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4C865-89B0-DB0E-F5E1-17B42954B3E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94B3F4-0E42-DEB8-9E86-3774CF68C88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3.3.</a:t>
            </a:r>
          </a:p>
        </p:txBody>
      </p:sp>
      <p:sp>
        <p:nvSpPr>
          <p:cNvPr id="4" name="Slide Number Placeholder 3">
            <a:extLst>
              <a:ext uri="{FF2B5EF4-FFF2-40B4-BE49-F238E27FC236}">
                <a16:creationId xmlns:a16="http://schemas.microsoft.com/office/drawing/2014/main" id="{129D5A76-B6BF-BF35-99F2-D36DE65D5BD9}"/>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630111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B7A1-ACFC-840A-169F-6BE7FF927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22EA3-6336-B6D9-A826-EAE30D60E8C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EF63294-FADE-0C3E-CDE6-91456C489C7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5B7FD5-44D8-464B-5C6E-ED949C680FCF}"/>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3396789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E9A5-FD55-A969-BEA6-AE5A470C8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8A8EF-C1E2-11D1-042B-4790B68D11D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D16E6C-0D59-DEDB-E4F0-627AF22F4AC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72943EB-D370-EB14-9CBA-0E9C19E6B661}"/>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6341974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3898-3889-73C3-EA7D-AA6AF1DBF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EDCC4-A466-790A-5CAC-90A8F215EA4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02D020-E688-C9BF-7E8D-E03B317D67A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Which type of function models this scenario? Why?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prefer to write the function as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rather than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–20</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+ 4800?</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coefficient of the variable a negative number?</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determine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the equation?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identified the domain.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DB383E6-1A79-08D0-804C-AB0288079A5F}"/>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0361775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5C3B-0B0A-B234-8954-AAA6BF0CF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6C403-CD1D-2122-8890-95ECA253E1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AE9626E-6050-CF2F-320F-D66DE8156A4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graph to determine the smallest independent value that makes sense in this situation?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solve the inequality.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Are your algebraic and graphical solutions the same? Explain.</a:t>
                </a:r>
              </a:p>
            </p:txBody>
          </p:sp>
        </mc:Choice>
        <mc:Fallback xmlns="">
          <p:sp>
            <p:nvSpPr>
              <p:cNvPr id="3" name="Notes Placeholder 2">
                <a:extLst>
                  <a:ext uri="{FF2B5EF4-FFF2-40B4-BE49-F238E27FC236}">
                    <a16:creationId xmlns:a16="http://schemas.microsoft.com/office/drawing/2014/main" id="{9AE9626E-6050-CF2F-320F-D66DE8156A4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the table represent a function when both 5 and 6 have the same </a:t>
                </a:r>
                <a:r>
                  <a:rPr lang="en-US" i="0" dirty="0">
                    <a:solidFill>
                      <a:srgbClr val="000000"/>
                    </a:solidFill>
                    <a:latin typeface="Cambria Math" panose="02040503050406030204" pitchFamily="18" charset="0"/>
                    <a:ea typeface="Calibri" panose="020F0502020204030204" pitchFamily="34" charset="0"/>
                    <a:cs typeface="Calibri" panose="020F0502020204030204" pitchFamily="34" charset="0"/>
                  </a:rPr>
                  <a:t>𝑦</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modify the table so that is does not represent a function?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be this mapping look like as a table of values?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this relation still a function when two students have the same birthday? Explain your thinking.</a:t>
                </a:r>
              </a:p>
            </p:txBody>
          </p:sp>
        </mc:Fallback>
      </mc:AlternateContent>
      <p:sp>
        <p:nvSpPr>
          <p:cNvPr id="4" name="Slide Number Placeholder 3">
            <a:extLst>
              <a:ext uri="{FF2B5EF4-FFF2-40B4-BE49-F238E27FC236}">
                <a16:creationId xmlns:a16="http://schemas.microsoft.com/office/drawing/2014/main" id="{2C976F78-FD37-F77F-6016-DE3808F3C65B}"/>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37117616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7940-7F16-5C60-0C7E-B8F285B12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54E26-1D39-FCB4-DD7E-F3C474F7909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1B2B276-80CC-4708-0355-1B994479C5F1}"/>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graph to determine the smallest independent value that makes sense in this situation?</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solve the inequality.</a:t>
            </a:r>
          </a:p>
          <a:p>
            <a:pPr marL="171450" indent="-171450" algn="l">
              <a:buFont typeface="Arial" panose="020B0604020202020204" pitchFamily="34" charset="0"/>
              <a:buChar cha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Are your algebraic and graphical solutions the same? Explain.</a:t>
            </a:r>
          </a:p>
        </p:txBody>
      </p:sp>
      <p:sp>
        <p:nvSpPr>
          <p:cNvPr id="4" name="Slide Number Placeholder 3">
            <a:extLst>
              <a:ext uri="{FF2B5EF4-FFF2-40B4-BE49-F238E27FC236}">
                <a16:creationId xmlns:a16="http://schemas.microsoft.com/office/drawing/2014/main" id="{547B5921-DEE1-FFE7-E1E7-497B106FD34F}"/>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4020682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E582-3E2C-D101-F37B-0186513F2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7B10C-1803-F8C0-1241-5B39428EAC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2C73C65-9D09-6FFF-CD46-E0708AA9048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you reverse the inequality symbols in this scenario but not in Elijah’s popcorn sales scenario? What is different about the scenarios?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reverse the inequality symbol and when to keep it as is?</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AE222CBB-1E41-A495-AEC0-4C9C927EB58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648672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A29E-DB13-D4E5-7ED9-29D07912A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8D51C-F8FC-0A26-D57D-9BAC12CD395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4C1B0F2-7A4E-134C-3254-5AA652A5825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you reverse the inequality symbols in this scenario but not in Elijah’s popcorn sales scenario? What is different about the scenarios?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reverse the inequality symbol and when to keep it as is?</a:t>
            </a:r>
          </a:p>
        </p:txBody>
      </p:sp>
      <p:sp>
        <p:nvSpPr>
          <p:cNvPr id="4" name="Slide Number Placeholder 3">
            <a:extLst>
              <a:ext uri="{FF2B5EF4-FFF2-40B4-BE49-F238E27FC236}">
                <a16:creationId xmlns:a16="http://schemas.microsoft.com/office/drawing/2014/main" id="{A39519A7-8410-EA68-9438-87ED8064824C}"/>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5753301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1E801-CF3B-5769-FE7E-B5258EDB8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C10FC-5605-44B2-0F6E-1FBEC5AA46A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E692778-F05C-912B-BFE6-D6A1CB2E7CE7}"/>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3.3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When both sides of an inequality are multiplied or divided by a negative number, the sign of the resulting inequality is reversed.</a:t>
                </a:r>
              </a:p>
            </p:txBody>
          </p:sp>
        </mc:Choice>
        <mc:Fallback xmlns="">
          <p:sp>
            <p:nvSpPr>
              <p:cNvPr id="3" name="Notes Placeholder 2">
                <a:extLst>
                  <a:ext uri="{FF2B5EF4-FFF2-40B4-BE49-F238E27FC236}">
                    <a16:creationId xmlns:a16="http://schemas.microsoft.com/office/drawing/2014/main" id="{6B20963F-8393-BD5D-1923-CF04ED009D98}"/>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Activity 3.3 Summary:</a:t>
                </a:r>
              </a:p>
              <a:p>
                <a:r>
                  <a:rPr lang="en-US" sz="1200" b="0" dirty="0">
                    <a:latin typeface="Calibri" panose="020F0502020204030204" pitchFamily="34" charset="0"/>
                    <a:ea typeface="Calibri" panose="020F0502020204030204" pitchFamily="34" charset="0"/>
                    <a:cs typeface="Calibri" panose="020F0502020204030204" pitchFamily="34" charset="0"/>
                  </a:rPr>
                  <a:t>The family of linear functions includes functions of the form </a:t>
                </a:r>
                <a:r>
                  <a:rPr lang="en-US" sz="1200" b="0" i="0">
                    <a:latin typeface="Cambria Math" panose="02040503050406030204" pitchFamily="18" charset="0"/>
                    <a:ea typeface="Calibri" panose="020F0502020204030204" pitchFamily="34" charset="0"/>
                    <a:cs typeface="Calibri" panose="020F0502020204030204" pitchFamily="34" charset="0"/>
                  </a:rPr>
                  <a:t>𝑓</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𝑥)=𝑎𝑥+𝑏</a:t>
                </a:r>
                <a:r>
                  <a:rPr lang="en-US" sz="1200" b="0" dirty="0">
                    <a:latin typeface="Calibri" panose="020F0502020204030204" pitchFamily="34" charset="0"/>
                    <a:ea typeface="Calibri" panose="020F0502020204030204" pitchFamily="34" charset="0"/>
                    <a:cs typeface="Calibri" panose="020F0502020204030204" pitchFamily="34" charset="0"/>
                  </a:rPr>
                  <a:t>, where a and b are real numbers. The family of exponential functions includes</a:t>
                </a:r>
              </a:p>
              <a:p>
                <a:r>
                  <a:rPr lang="en-US" sz="1200" b="0" dirty="0">
                    <a:latin typeface="Calibri" panose="020F0502020204030204" pitchFamily="34" charset="0"/>
                    <a:ea typeface="Calibri" panose="020F0502020204030204" pitchFamily="34" charset="0"/>
                    <a:cs typeface="Calibri" panose="020F0502020204030204" pitchFamily="34" charset="0"/>
                  </a:rPr>
                  <a:t>functions of the form </a:t>
                </a:r>
                <a:r>
                  <a:rPr lang="en-US" sz="1200" b="0" i="0">
                    <a:latin typeface="Cambria Math" panose="02040503050406030204" pitchFamily="18" charset="0"/>
                    <a:ea typeface="Calibri" panose="020F0502020204030204" pitchFamily="34" charset="0"/>
                    <a:cs typeface="Calibri" panose="020F0502020204030204" pitchFamily="34" charset="0"/>
                  </a:rPr>
                  <a:t>𝑓</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𝑥)=𝑎</a:t>
                </a:r>
                <a:r>
                  <a:rPr lang="en-US" sz="1200" b="0" i="0">
                    <a:latin typeface="Cambria Math" panose="02040503050406030204" pitchFamily="18" charset="0"/>
                    <a:cs typeface="Calibri" panose="020F0502020204030204" pitchFamily="34" charset="0"/>
                  </a:rPr>
                  <a:t>𝑏^𝑥</a:t>
                </a:r>
                <a:r>
                  <a:rPr lang="en-US" sz="1200" b="0" dirty="0">
                    <a:latin typeface="Calibri" panose="020F0502020204030204" pitchFamily="34" charset="0"/>
                    <a:ea typeface="Calibri" panose="020F0502020204030204" pitchFamily="34" charset="0"/>
                    <a:cs typeface="Calibri" panose="020F0502020204030204" pitchFamily="34" charset="0"/>
                  </a:rPr>
                  <a:t>, where a and b are real numbers, and b is greater than 0 but is not equal to 1.</a:t>
                </a:r>
              </a:p>
            </p:txBody>
          </p:sp>
        </mc:Fallback>
      </mc:AlternateContent>
      <p:sp>
        <p:nvSpPr>
          <p:cNvPr id="4" name="Slide Number Placeholder 3">
            <a:extLst>
              <a:ext uri="{FF2B5EF4-FFF2-40B4-BE49-F238E27FC236}">
                <a16:creationId xmlns:a16="http://schemas.microsoft.com/office/drawing/2014/main" id="{849C35F7-3F2F-F06E-A035-D0C823A6803F}"/>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7470901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832B-F000-8C76-7CF0-6F6740AF1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821AA-1466-F567-6205-A49E5060388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212EA64-407C-B57D-86E1-A33F4E73508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5A04C642-C819-2209-75B2-B4AD6C581FD7}"/>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32997734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B05B-E203-E20C-F03E-1D973664F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B629C-0D6B-AAB5-4A25-E6DCCA1707A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2A8FFE3-DE44-9C4A-7B09-0345CC6EBD15}"/>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9D5D6C44-8C6A-149F-FE5C-86FD68DEDEB1}"/>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27557472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E1E32-5115-C785-408C-27C88ACBD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B4BAE-AC93-CED0-3961-5DDB28D2752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7E90EED-ED06-11EF-A431-A19C8EE29C3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036EEE0-7F1C-8ABC-376A-126D6DF0A71E}"/>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484984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1282-CC03-8DD0-3E6A-47171B3DA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BFEFB-CDD8-7D6D-7B4F-FF2225483E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813F6DA-BACB-00B5-25C3-1B38AC034D4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3.4.</a:t>
            </a:r>
          </a:p>
        </p:txBody>
      </p:sp>
      <p:sp>
        <p:nvSpPr>
          <p:cNvPr id="4" name="Slide Number Placeholder 3">
            <a:extLst>
              <a:ext uri="{FF2B5EF4-FFF2-40B4-BE49-F238E27FC236}">
                <a16:creationId xmlns:a16="http://schemas.microsoft.com/office/drawing/2014/main" id="{26B90B78-C80B-DF69-136A-C7AF153F57AA}"/>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5051144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474C-6BDB-C073-C105-9FCDF227B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E8CE2-32C8-3B4E-E118-8CE89824B5E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06F51EE-92D5-95FD-93EC-2B1C2B100011}"/>
              </a:ext>
            </a:extLst>
          </p:cNvPr>
          <p:cNvSpPr>
            <a:spLocks noGrp="1"/>
          </p:cNvSpPr>
          <p:nvPr>
            <p:ph type="body" idx="1"/>
          </p:nvPr>
        </p:nvSpPr>
        <p:spPr/>
        <p:txBody>
          <a:bodyPr/>
          <a:lstStyle/>
          <a:p>
            <a:pPr marL="0" indent="0" algn="l">
              <a:buFont typeface="Arial" panose="020B0604020202020204" pitchFamily="34" charset="0"/>
              <a:buNone/>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C4282A9-E9CB-38AD-6B15-02EEA51292F7}"/>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0547306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A61A-E10D-05A4-9BF2-54E1512EE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72B8F-057B-938F-3695-ADFF6EBB7BA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201434D-3028-8A2F-C95A-DEB28CC5F82C}"/>
              </a:ext>
            </a:extLst>
          </p:cNvPr>
          <p:cNvSpPr>
            <a:spLocks noGrp="1"/>
          </p:cNvSpPr>
          <p:nvPr>
            <p:ph type="body" idx="1"/>
          </p:nvPr>
        </p:nvSpPr>
        <p:spPr/>
        <p:txBody>
          <a:bodyPr/>
          <a:lstStyle/>
          <a:p>
            <a:pPr marL="0" indent="0" algn="l">
              <a:buFont typeface="Arial" panose="020B0604020202020204" pitchFamily="34" charset="0"/>
              <a:buNone/>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51795C6-B979-40E3-1D81-5E904718EB4B}"/>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12927086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D7F51-3B0E-A4A0-2D4F-F4686749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579F4-6F5D-F2DE-9500-77F934EC94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9D06BFB-0C08-6E3F-B5D1-81C93E35D8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Whose process do you prefer? Why?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are Victoria’s and Kai’s processes the same? Different?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the rule about reversing the signs applies to both division and multiplication?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00F6A0-4BAA-D45D-484A-9504BEAEB5B2}"/>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11690825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968DE-4D3C-9F75-D410-D456416E4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5D5CA-A1A0-78F2-4C1B-562FC3F2661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50A21B2-1A3F-839F-C98C-2BFFEDD6C1B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Whose process do you prefer? Why?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are Victoria’s and Kai’s processes the same? Different?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the rule about reversing the signs applies to both division and multiplication?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4875376-B7FC-5D1C-FF93-3A4513C203A6}"/>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3682991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B9886-190D-9BD5-A79C-338B5BC0A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CCFDE-744C-6F01-261D-B11D0B59106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024ABF7-F3A9-2250-E23A-3DC4269FA53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7A6E35B-C620-CC85-0413-3C9F51A12F15}"/>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16491256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3463-9D60-A89F-6B1B-6517FC058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9DBAC-81BF-BCA8-B2FF-E0A3C5DE66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B9729D-D854-4149-7F91-B185EA99B78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did Ava reverse the inequality symbol earlier in her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didn’t Aaliyah reverse the inequality symbol when she used the distributive property to multiply by a negative number?</a:t>
            </a:r>
          </a:p>
        </p:txBody>
      </p:sp>
      <p:sp>
        <p:nvSpPr>
          <p:cNvPr id="4" name="Slide Number Placeholder 3">
            <a:extLst>
              <a:ext uri="{FF2B5EF4-FFF2-40B4-BE49-F238E27FC236}">
                <a16:creationId xmlns:a16="http://schemas.microsoft.com/office/drawing/2014/main" id="{D2C9E227-C388-5B62-A20F-84712678366C}"/>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25037110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4FD1-D7A0-00C6-C132-B6D5C6646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F38E1-4A8D-1A2C-3D19-EC3F3B8938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EC3A2ED-A30A-4161-5A65-A6A6FF5C71D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Why did Ava reverse the inequality symbol earlier in her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didn’t Aaliyah reverse the inequality symbol when she used the distributive property to multiply by a negative number?</a:t>
            </a:r>
          </a:p>
        </p:txBody>
      </p:sp>
      <p:sp>
        <p:nvSpPr>
          <p:cNvPr id="4" name="Slide Number Placeholder 3">
            <a:extLst>
              <a:ext uri="{FF2B5EF4-FFF2-40B4-BE49-F238E27FC236}">
                <a16:creationId xmlns:a16="http://schemas.microsoft.com/office/drawing/2014/main" id="{3E582EAE-6B55-250A-7AEE-7051587C350C}"/>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3088073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D0939-73FF-E8BA-70C9-DA917661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6D09B-84C1-6542-95B1-36B45B6EF6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48E4679-C6C9-3F60-59A4-C05C078F571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3.4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There are multiple solution paths when solving more complex linear inequalities. All correct solution paths involve the same steps as solving a linear equation as well as reversing the sign of the inequality symbol when both sides of the inequality are multiplied or divided by a negative number.</a:t>
            </a:r>
          </a:p>
        </p:txBody>
      </p:sp>
      <p:sp>
        <p:nvSpPr>
          <p:cNvPr id="4" name="Slide Number Placeholder 3">
            <a:extLst>
              <a:ext uri="{FF2B5EF4-FFF2-40B4-BE49-F238E27FC236}">
                <a16:creationId xmlns:a16="http://schemas.microsoft.com/office/drawing/2014/main" id="{30801B8A-D00F-B62C-717C-3FC0188A5246}"/>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2166377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2DCF-7B03-F2AE-59AA-BBE81C9D6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673B6-A6C9-9DA2-E6FB-A95E078C753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A89F14-D2D7-E71F-BFCE-4B36E4B7D9E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10C9F9C3-23C0-6819-D1BA-5B913D7BD195}"/>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19381036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BF43-A28D-7509-4251-1DBC7993B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C09C6-22D7-C53E-C177-56BBAE4BC80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A05441B-00D7-746B-3A4E-144EF79444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Talk the Talk.</a:t>
            </a:r>
          </a:p>
        </p:txBody>
      </p:sp>
      <p:sp>
        <p:nvSpPr>
          <p:cNvPr id="4" name="Slide Number Placeholder 3">
            <a:extLst>
              <a:ext uri="{FF2B5EF4-FFF2-40B4-BE49-F238E27FC236}">
                <a16:creationId xmlns:a16="http://schemas.microsoft.com/office/drawing/2014/main" id="{3592581B-A86E-454B-C8EB-4BFB7883E78C}"/>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10878143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4D9A-31B7-0674-0F18-E61FB557F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682DF-C239-DCCB-4FC1-60959BB58878}"/>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C182D4-0692-8723-57D2-239AEBDF17C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mc:Choice>
        <mc:Fallback xmlns="">
          <p:sp>
            <p:nvSpPr>
              <p:cNvPr id="3" name="Notes Placeholder 2">
                <a:extLst>
                  <a:ext uri="{FF2B5EF4-FFF2-40B4-BE49-F238E27FC236}">
                    <a16:creationId xmlns:a16="http://schemas.microsoft.com/office/drawing/2014/main" id="{BABE10CE-00AE-04C5-9D8D-46DF2A9CEE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Seeing Structure: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𝐶(10)</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Calibri" panose="020F0502020204030204" pitchFamily="34" charset="0"/>
                    <a:ea typeface="Calibri" panose="020F0502020204030204" pitchFamily="34" charset="0"/>
                    <a:cs typeface="Calibri" panose="020F0502020204030204" pitchFamily="34" charset="0"/>
                  </a:rPr>
                  <a:t>What do you think </a:t>
                </a:r>
                <a:r>
                  <a:rPr lang="en-US" sz="1200" b="0" i="0">
                    <a:latin typeface="Cambria Math" panose="02040503050406030204" pitchFamily="18" charset="0"/>
                    <a:ea typeface="Calibri" panose="020F0502020204030204" pitchFamily="34" charset="0"/>
                    <a:cs typeface="Calibri" panose="020F0502020204030204" pitchFamily="34" charset="0"/>
                  </a:rPr>
                  <a:t>𝐶</a:t>
                </a:r>
                <a:r>
                  <a:rPr lang="en-US" sz="1200" b="0" i="0">
                    <a:latin typeface="Cambria Math" panose="02040503050406030204" pitchFamily="18" charset="0"/>
                    <a:cs typeface="Calibri" panose="020F0502020204030204" pitchFamily="34" charset="0"/>
                  </a:rPr>
                  <a:t>(</a:t>
                </a:r>
                <a:r>
                  <a:rPr lang="en-US" sz="1200" b="0" i="0">
                    <a:latin typeface="Cambria Math" panose="02040503050406030204" pitchFamily="18" charset="0"/>
                    <a:ea typeface="Calibri" panose="020F0502020204030204" pitchFamily="34" charset="0"/>
                    <a:cs typeface="Calibri" panose="020F0502020204030204" pitchFamily="34" charset="0"/>
                  </a:rPr>
                  <a:t>𝑠)=55</a:t>
                </a:r>
                <a:r>
                  <a:rPr lang="en-US" sz="1200" b="0" dirty="0">
                    <a:latin typeface="Calibri" panose="020F0502020204030204" pitchFamily="34" charset="0"/>
                    <a:ea typeface="Calibri" panose="020F0502020204030204" pitchFamily="34" charset="0"/>
                    <a:cs typeface="Calibri" panose="020F0502020204030204" pitchFamily="34" charset="0"/>
                  </a:rPr>
                  <a:t> means?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Identify the domain and range for when you can order up to 5 shirts. </a:t>
                </a:r>
              </a:p>
            </p:txBody>
          </p:sp>
        </mc:Fallback>
      </mc:AlternateContent>
      <p:sp>
        <p:nvSpPr>
          <p:cNvPr id="4" name="Slide Number Placeholder 3">
            <a:extLst>
              <a:ext uri="{FF2B5EF4-FFF2-40B4-BE49-F238E27FC236}">
                <a16:creationId xmlns:a16="http://schemas.microsoft.com/office/drawing/2014/main" id="{31CDC157-D0D3-3F70-9A86-D368033FE2E3}"/>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36348994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A1EA-190D-E324-8FBE-57B094055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EDFF8-CB8C-3961-4F34-945D3AC95DD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2F90CA-3B52-1E01-A18B-1AAFCA18999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p:sp>
        <p:nvSpPr>
          <p:cNvPr id="4" name="Slide Number Placeholder 3">
            <a:extLst>
              <a:ext uri="{FF2B5EF4-FFF2-40B4-BE49-F238E27FC236}">
                <a16:creationId xmlns:a16="http://schemas.microsoft.com/office/drawing/2014/main" id="{17112F28-BF72-932A-56AC-F56156C8D297}"/>
              </a:ext>
            </a:extLst>
          </p:cNvPr>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36527857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B82D-E4AE-E22D-E1CB-D4C202618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CFD2F-D681-AE08-5836-E24F0D65ABE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5F6BB4A-FB54-76D6-61B5-38C3EABE77F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Did you rewrite the inequality in Question 2 before you solved it so that the variable was on the left side of the inequality symbol? If so, explain your 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If you didn’t write the inequality in Question 2, explain how you graphed the solution – 9 &lt;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For what inequalities did you have to apply the rule to reverse the inequality symbol?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5b, why is the equation true only for specific values of 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rules to solve inequalities to complete these statements?</a:t>
            </a:r>
          </a:p>
        </p:txBody>
      </p:sp>
      <p:sp>
        <p:nvSpPr>
          <p:cNvPr id="4" name="Slide Number Placeholder 3">
            <a:extLst>
              <a:ext uri="{FF2B5EF4-FFF2-40B4-BE49-F238E27FC236}">
                <a16:creationId xmlns:a16="http://schemas.microsoft.com/office/drawing/2014/main" id="{C05CDEFC-35A6-DCA3-D4EF-F771DB2F799E}"/>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10333118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can use the same methods as long as I reverse the direction of the inequality symbol when multiplying or dividing both sides by a negative number.</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There are multiple solution paths when solving more complex linear inequalities. All correct solution paths involve the same steps as solving a linear equation as well as reversing the sign of the inequality symbol when both sides of the inequality are multiplied or divided by a negative number.</a:t>
                </a:r>
              </a:p>
            </p:txBody>
          </p:sp>
        </mc:Choice>
        <mc:Fallback xmlns="">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latin typeface="Calibri" panose="020F0502020204030204" pitchFamily="34" charset="0"/>
                    <a:ea typeface="Calibri" panose="020F0502020204030204" pitchFamily="34" charset="0"/>
                    <a:cs typeface="Calibri" panose="020F0502020204030204" pitchFamily="34" charset="0"/>
                  </a:rPr>
                  <a:t>Sample answer: A function is a relation that assigns exactly one element of the range to each element of the domain. Some different function families include linear functions, exponential functions, and quadratic functions.</a:t>
                </a:r>
              </a:p>
              <a:p>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latin typeface="Calibri" panose="020F0502020204030204" pitchFamily="34" charset="0"/>
                    <a:ea typeface="Calibri" panose="020F0502020204030204" pitchFamily="34" charset="0"/>
                    <a:cs typeface="Calibri" panose="020F0502020204030204" pitchFamily="34" charset="0"/>
                  </a:rPr>
                  <a:t>Different function families can have different numbers of </a:t>
                </a:r>
                <a:r>
                  <a:rPr lang="en-US" sz="1200" b="0" i="0" dirty="0">
                    <a:latin typeface="Cambria Math" panose="02040503050406030204" pitchFamily="18" charset="0"/>
                    <a:ea typeface="Calibri" panose="020F0502020204030204" pitchFamily="34" charset="0"/>
                    <a:cs typeface="Calibri" panose="020F0502020204030204" pitchFamily="34" charset="0"/>
                  </a:rPr>
                  <a:t>𝑥</a:t>
                </a:r>
                <a:r>
                  <a:rPr lang="en-US" sz="1200" b="0" dirty="0">
                    <a:latin typeface="Calibri" panose="020F0502020204030204" pitchFamily="34" charset="0"/>
                    <a:ea typeface="Calibri" panose="020F0502020204030204" pitchFamily="34" charset="0"/>
                    <a:cs typeface="Calibri" panose="020F0502020204030204" pitchFamily="34" charset="0"/>
                  </a:rPr>
                  <a:t>-intercepts, and at most, one </a:t>
                </a:r>
                <a:r>
                  <a:rPr lang="en-US" sz="1200" b="0" i="0" dirty="0">
                    <a:latin typeface="Cambria Math" panose="02040503050406030204" pitchFamily="18" charset="0"/>
                    <a:ea typeface="Calibri" panose="020F0502020204030204" pitchFamily="34" charset="0"/>
                    <a:cs typeface="Calibri" panose="020F0502020204030204" pitchFamily="34" charset="0"/>
                  </a:rPr>
                  <a:t>𝑦</a:t>
                </a:r>
                <a:r>
                  <a:rPr lang="en-US" sz="1200" b="0" dirty="0">
                    <a:latin typeface="Calibri" panose="020F0502020204030204" pitchFamily="34" charset="0"/>
                    <a:ea typeface="Calibri" panose="020F0502020204030204" pitchFamily="34" charset="0"/>
                    <a:cs typeface="Calibri" panose="020F0502020204030204" pitchFamily="34" charset="0"/>
                  </a:rPr>
                  <a:t>-intercept.</a:t>
                </a:r>
              </a:p>
            </p:txBody>
          </p:sp>
        </mc:Fallback>
      </mc:AlternateContent>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69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1.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3.xml"/><Relationship Id="rId1" Type="http://schemas.openxmlformats.org/officeDocument/2006/relationships/slideLayout" Target="../slideLayouts/slideLayout11.xml"/><Relationship Id="rId5" Type="http://schemas.openxmlformats.org/officeDocument/2006/relationships/image" Target="../media/image43.png"/><Relationship Id="rId4" Type="http://schemas.openxmlformats.org/officeDocument/2006/relationships/image" Target="../media/image42.png"/></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45.png"/><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11.xml"/><Relationship Id="rId5" Type="http://schemas.openxmlformats.org/officeDocument/2006/relationships/image" Target="../media/image50.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59"/>
            <a:ext cx="12192003" cy="181913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Modeling Linear Inequalities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3</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US" sz="2800" dirty="0">
                <a:solidFill>
                  <a:srgbClr val="000000"/>
                </a:solidFill>
              </a:rPr>
              <a:t>Write and solve inequalities.</a:t>
            </a:r>
          </a:p>
          <a:p>
            <a:pPr marL="457200" indent="-457200" algn="l">
              <a:buFont typeface="Arial" panose="020B0604020202020204" pitchFamily="34" charset="0"/>
              <a:buChar char="•"/>
            </a:pPr>
            <a:r>
              <a:rPr lang="en-US" sz="2800" dirty="0">
                <a:solidFill>
                  <a:srgbClr val="000000"/>
                </a:solidFill>
              </a:rPr>
              <a:t>Analyze a graph on a coordinate plane to solve problems </a:t>
            </a:r>
            <a:br>
              <a:rPr lang="en-US" sz="2800" dirty="0">
                <a:solidFill>
                  <a:srgbClr val="000000"/>
                </a:solidFill>
              </a:rPr>
            </a:br>
            <a:r>
              <a:rPr lang="en-US" sz="2800" dirty="0">
                <a:solidFill>
                  <a:srgbClr val="000000"/>
                </a:solidFill>
              </a:rPr>
              <a:t>involving inequalities.</a:t>
            </a:r>
          </a:p>
          <a:p>
            <a:pPr marL="457200" indent="-457200" algn="l">
              <a:buFont typeface="Arial" panose="020B0604020202020204" pitchFamily="34" charset="0"/>
              <a:buChar char="•"/>
            </a:pPr>
            <a:r>
              <a:rPr lang="en-US" sz="2800" dirty="0">
                <a:solidFill>
                  <a:srgbClr val="000000"/>
                </a:solidFill>
              </a:rPr>
              <a:t>Interpret how a negative rate affects how to solve</a:t>
            </a:r>
            <a:br>
              <a:rPr lang="en-US" sz="2800" dirty="0">
                <a:solidFill>
                  <a:srgbClr val="000000"/>
                </a:solidFill>
              </a:rPr>
            </a:br>
            <a:r>
              <a:rPr lang="en-US" sz="2800" dirty="0">
                <a:solidFill>
                  <a:srgbClr val="000000"/>
                </a:solidFill>
              </a:rPr>
              <a:t>an inequality.</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DC350-F4EF-8C40-5822-B8CA5D3E2A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B5808C-DF8A-2747-4FBB-1AA8CF221977}"/>
              </a:ext>
            </a:extLst>
          </p:cNvPr>
          <p:cNvSpPr>
            <a:spLocks noGrp="1"/>
          </p:cNvSpPr>
          <p:nvPr>
            <p:ph type="title"/>
          </p:nvPr>
        </p:nvSpPr>
        <p:spPr/>
        <p:txBody>
          <a:bodyPr/>
          <a:lstStyle/>
          <a:p>
            <a:pPr algn="l"/>
            <a:r>
              <a:rPr lang="en-US" b="1" dirty="0"/>
              <a:t>Key Terms </a:t>
            </a:r>
            <a:r>
              <a:rPr lang="en-US" sz="2000" b="1" dirty="0">
                <a:solidFill>
                  <a:schemeClr val="bg1"/>
                </a:solidFill>
              </a:rPr>
              <a:t>(1 of 2)</a:t>
            </a:r>
          </a:p>
        </p:txBody>
      </p:sp>
      <p:sp>
        <p:nvSpPr>
          <p:cNvPr id="2" name="Text Placeholder 1">
            <a:extLst>
              <a:ext uri="{FF2B5EF4-FFF2-40B4-BE49-F238E27FC236}">
                <a16:creationId xmlns:a16="http://schemas.microsoft.com/office/drawing/2014/main" id="{91D46324-EBC9-6381-F346-70CC51A93D83}"/>
              </a:ext>
            </a:extLst>
          </p:cNvPr>
          <p:cNvSpPr>
            <a:spLocks noGrp="1"/>
          </p:cNvSpPr>
          <p:nvPr>
            <p:ph type="body" sz="quarter" idx="10"/>
          </p:nvPr>
        </p:nvSpPr>
        <p:spPr>
          <a:xfrm>
            <a:off x="777240" y="1652588"/>
            <a:ext cx="9884842" cy="1263192"/>
          </a:xfrm>
          <a:prstGeom prst="rect">
            <a:avLst/>
          </a:prstGeom>
        </p:spPr>
        <p:txBody>
          <a:bodyPr>
            <a:normAutofit/>
          </a:bodyPr>
          <a:lstStyle/>
          <a:p>
            <a:pPr marL="0" indent="0">
              <a:buNone/>
            </a:pPr>
            <a:r>
              <a:rPr lang="en-US" b="1" u="none" dirty="0">
                <a:solidFill>
                  <a:srgbClr val="000000"/>
                </a:solidFill>
              </a:rPr>
              <a:t>linear inequality</a:t>
            </a:r>
            <a:r>
              <a:rPr lang="en-US" b="0" u="none" dirty="0">
                <a:solidFill>
                  <a:srgbClr val="000000"/>
                </a:solidFill>
              </a:rPr>
              <a:t> [</a:t>
            </a:r>
            <a:r>
              <a:rPr lang="en-US" b="0" u="none" dirty="0" err="1">
                <a:solidFill>
                  <a:srgbClr val="000000"/>
                </a:solidFill>
              </a:rPr>
              <a:t>desigualdad</a:t>
            </a:r>
            <a:r>
              <a:rPr lang="en-US" b="0" u="none" dirty="0">
                <a:solidFill>
                  <a:srgbClr val="000000"/>
                </a:solidFill>
              </a:rPr>
              <a:t> lineal]</a:t>
            </a:r>
            <a:r>
              <a:rPr b="0" u="none" dirty="0">
                <a:solidFill>
                  <a:srgbClr val="000000"/>
                </a:solidFill>
              </a:rPr>
              <a:t>:</a:t>
            </a:r>
            <a:r>
              <a:rPr lang="en-US" b="0" u="none" dirty="0">
                <a:solidFill>
                  <a:srgbClr val="000000"/>
                </a:solidFill>
              </a:rPr>
              <a:t> a linear inequality is a </a:t>
            </a:r>
            <a:br>
              <a:rPr lang="en-US" b="0" u="none" dirty="0">
                <a:solidFill>
                  <a:srgbClr val="000000"/>
                </a:solidFill>
              </a:rPr>
            </a:br>
            <a:r>
              <a:rPr lang="en-US" b="0" u="none" dirty="0">
                <a:solidFill>
                  <a:srgbClr val="000000"/>
                </a:solidFill>
              </a:rPr>
              <a:t>non-equal comparison of two linear expressions</a:t>
            </a:r>
            <a:endParaRPr lang="en-US" b="0" i="0" u="none" dirty="0">
              <a:solidFill>
                <a:srgbClr val="000000"/>
              </a:solidFill>
            </a:endParaRPr>
          </a:p>
        </p:txBody>
      </p:sp>
      <p:sp>
        <p:nvSpPr>
          <p:cNvPr id="3" name="Text Placeholder 4">
            <a:extLst>
              <a:ext uri="{FF2B5EF4-FFF2-40B4-BE49-F238E27FC236}">
                <a16:creationId xmlns:a16="http://schemas.microsoft.com/office/drawing/2014/main" id="{773F5037-B6EC-27EF-9648-937E8D1CC31D}"/>
              </a:ext>
            </a:extLst>
          </p:cNvPr>
          <p:cNvSpPr txBox="1">
            <a:spLocks/>
          </p:cNvSpPr>
          <p:nvPr/>
        </p:nvSpPr>
        <p:spPr>
          <a:xfrm>
            <a:off x="777240" y="2957049"/>
            <a:ext cx="10590848" cy="36502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GB" sz="2800" dirty="0">
                <a:solidFill>
                  <a:srgbClr val="000000"/>
                </a:solidFill>
              </a:rPr>
              <a:t>Diego has $25 in his gift fund that he is going to use to buy  graduation gifts. Graduation is 9 weeks away. He would like to have at least $70 to buy gifts, how much should he save each week?</a:t>
            </a:r>
          </a:p>
        </p:txBody>
      </p:sp>
    </p:spTree>
    <p:extLst>
      <p:ext uri="{BB962C8B-B14F-4D97-AF65-F5344CB8AC3E}">
        <p14:creationId xmlns:p14="http://schemas.microsoft.com/office/powerpoint/2010/main" val="26339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2083F-32C6-4632-6F54-33192E25CB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9724EC-F9C7-29E5-C3B2-59F918AE4206}"/>
              </a:ext>
            </a:extLst>
          </p:cNvPr>
          <p:cNvSpPr>
            <a:spLocks noGrp="1"/>
          </p:cNvSpPr>
          <p:nvPr>
            <p:ph type="title"/>
          </p:nvPr>
        </p:nvSpPr>
        <p:spPr/>
        <p:txBody>
          <a:bodyPr/>
          <a:lstStyle/>
          <a:p>
            <a:pPr algn="l"/>
            <a:r>
              <a:rPr lang="en-US" b="1" dirty="0"/>
              <a:t>Key Terms </a:t>
            </a:r>
            <a:r>
              <a:rPr lang="en-US" sz="2000" b="1" dirty="0">
                <a:solidFill>
                  <a:schemeClr val="bg1"/>
                </a:solidFill>
              </a:rPr>
              <a:t>(2 of 2)</a:t>
            </a:r>
          </a:p>
        </p:txBody>
      </p:sp>
      <mc:AlternateContent xmlns:mc="http://schemas.openxmlformats.org/markup-compatibility/2006">
        <mc:Choice xmlns:a14="http://schemas.microsoft.com/office/drawing/2010/main" Requires="a14">
          <p:sp>
            <p:nvSpPr>
              <p:cNvPr id="3" name="Text Placeholder 4">
                <a:extLst>
                  <a:ext uri="{FF2B5EF4-FFF2-40B4-BE49-F238E27FC236}">
                    <a16:creationId xmlns:a16="http://schemas.microsoft.com/office/drawing/2014/main" id="{825F713B-B472-F409-C25D-D7E7C2AC625C}"/>
                  </a:ext>
                </a:extLst>
              </p:cNvPr>
              <p:cNvSpPr txBox="1">
                <a:spLocks/>
              </p:cNvSpPr>
              <p:nvPr/>
            </p:nvSpPr>
            <p:spPr>
              <a:xfrm>
                <a:off x="674001" y="1423217"/>
                <a:ext cx="10590848" cy="43139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US" sz="2800" dirty="0">
                    <a:solidFill>
                      <a:srgbClr val="000000"/>
                    </a:solidFill>
                  </a:rPr>
                  <a:t>The function is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25 + 9</a:t>
                </a:r>
                <a:r>
                  <a:rPr lang="en-US" sz="2800" i="1" dirty="0">
                    <a:solidFill>
                      <a:srgbClr val="000000"/>
                    </a:solidFill>
                  </a:rPr>
                  <a:t>x</a:t>
                </a:r>
                <a:r>
                  <a:rPr lang="en-US" sz="2800" dirty="0">
                    <a:solidFill>
                      <a:srgbClr val="000000"/>
                    </a:solidFill>
                  </a:rPr>
                  <a:t>, so </a:t>
                </a:r>
                <a:r>
                  <a:rPr lang="en-GB" sz="2800" dirty="0">
                    <a:solidFill>
                      <a:srgbClr val="000000"/>
                    </a:solidFill>
                  </a:rPr>
                  <a:t>the inequality is 25 + 9</a:t>
                </a:r>
                <a:r>
                  <a:rPr lang="en-GB" sz="2800" i="1" dirty="0">
                    <a:solidFill>
                      <a:srgbClr val="000000"/>
                    </a:solidFill>
                  </a:rPr>
                  <a:t>x</a:t>
                </a:r>
                <a:r>
                  <a:rPr lang="en-GB" sz="2800" dirty="0">
                    <a:solidFill>
                      <a:srgbClr val="000000"/>
                    </a:solidFill>
                  </a:rPr>
                  <a:t> </a:t>
                </a:r>
                <a:r>
                  <a:rPr lang="en-GB" sz="2800" dirty="0">
                    <a:solidFill>
                      <a:srgbClr val="000000"/>
                    </a:solidFill>
                    <a:latin typeface="Times New Roman" panose="02020603050405020304" pitchFamily="18" charset="0"/>
                    <a:cs typeface="Times New Roman" panose="02020603050405020304" pitchFamily="18" charset="0"/>
                  </a:rPr>
                  <a:t>≥</a:t>
                </a:r>
                <a:r>
                  <a:rPr lang="en-GB" sz="2800" dirty="0">
                    <a:solidFill>
                      <a:srgbClr val="000000"/>
                    </a:solidFill>
                  </a:rPr>
                  <a:t> 70.</a:t>
                </a:r>
              </a:p>
              <a:p>
                <a:pPr marL="457200" lvl="1" indent="0">
                  <a:spcBef>
                    <a:spcPts val="0"/>
                  </a:spcBef>
                  <a:buNone/>
                </a:pPr>
                <a:endParaRPr lang="en-IN" sz="2800" b="0" i="1" dirty="0">
                  <a:solidFill>
                    <a:srgbClr val="000000"/>
                  </a:solidFill>
                  <a:latin typeface="Cambria Math" panose="02040503050406030204" pitchFamily="18" charset="0"/>
                </a:endParaRPr>
              </a:p>
              <a:p>
                <a:pPr marL="457200" lvl="1" indent="0">
                  <a:lnSpc>
                    <a:spcPct val="100000"/>
                  </a:lnSpc>
                  <a:spcBef>
                    <a:spcPts val="600"/>
                  </a:spcBef>
                  <a:spcAft>
                    <a:spcPts val="600"/>
                  </a:spcAft>
                  <a:buNone/>
                </a:pPr>
                <a:r>
                  <a:rPr lang="en-IN" sz="2800" dirty="0">
                    <a:solidFill>
                      <a:srgbClr val="000000"/>
                    </a:solidFill>
                    <a:latin typeface="+mn-lt"/>
                  </a:rPr>
                  <a:t>				</a:t>
                </a:r>
                <a14:m>
                  <m:oMath xmlns:m="http://schemas.openxmlformats.org/officeDocument/2006/math">
                    <m:r>
                      <a:rPr lang="en-US" sz="2800" b="0" i="0"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25+9</m:t>
                    </m:r>
                    <m:r>
                      <a:rPr lang="en-US" sz="2800" b="0" i="1" smtClean="0">
                        <a:solidFill>
                          <a:srgbClr val="000000"/>
                        </a:solidFill>
                        <a:latin typeface="Cambria Math" panose="02040503050406030204" pitchFamily="18" charset="0"/>
                      </a:rPr>
                      <m:t>𝑥</m:t>
                    </m:r>
                    <m:r>
                      <m:rPr>
                        <m:aln/>
                      </m:rPr>
                      <a:rPr lang="en-US" sz="2800" b="0" i="1" smtClean="0">
                        <a:solidFill>
                          <a:srgbClr val="000000"/>
                        </a:solidFill>
                        <a:latin typeface="Cambria Math" panose="02040503050406030204" pitchFamily="18" charset="0"/>
                        <a:ea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70</m:t>
                    </m:r>
                  </m:oMath>
                </a14:m>
                <a:br>
                  <a:rPr lang="en-US" sz="2800" b="0" i="1" dirty="0">
                    <a:solidFill>
                      <a:srgbClr val="000000"/>
                    </a:solidFill>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ea typeface="Cambria Math" panose="02040503050406030204" pitchFamily="18" charset="0"/>
                        </a:rPr>
                        <m:t>25+9</m:t>
                      </m:r>
                      <m:r>
                        <a:rPr lang="en-US" sz="2800" b="0" i="1" smtClean="0">
                          <a:solidFill>
                            <a:srgbClr val="000000"/>
                          </a:solidFill>
                          <a:latin typeface="Cambria Math" panose="02040503050406030204" pitchFamily="18" charset="0"/>
                          <a:ea typeface="Cambria Math" panose="02040503050406030204" pitchFamily="18" charset="0"/>
                        </a:rPr>
                        <m:t>𝑥</m:t>
                      </m:r>
                      <m:r>
                        <a:rPr lang="en-US" sz="2800" b="0" i="1" smtClean="0">
                          <a:solidFill>
                            <a:srgbClr val="000000"/>
                          </a:solidFill>
                          <a:latin typeface="Cambria Math" panose="02040503050406030204" pitchFamily="18" charset="0"/>
                          <a:ea typeface="Cambria Math" panose="02040503050406030204" pitchFamily="18" charset="0"/>
                        </a:rPr>
                        <m:t> −25</m:t>
                      </m:r>
                      <m:r>
                        <m:rPr>
                          <m:aln/>
                        </m:rPr>
                        <a:rPr lang="en-US" sz="2800" b="0" i="1" smtClean="0">
                          <a:solidFill>
                            <a:srgbClr val="000000"/>
                          </a:solidFill>
                          <a:latin typeface="Cambria Math" panose="02040503050406030204" pitchFamily="18" charset="0"/>
                          <a:ea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70−25</m:t>
                      </m:r>
                    </m:oMath>
                    <m:oMath xmlns:m="http://schemas.openxmlformats.org/officeDocument/2006/math">
                      <m:r>
                        <a:rPr lang="en-IN" sz="2800" b="0" i="1" smtClean="0">
                          <a:solidFill>
                            <a:srgbClr val="000000"/>
                          </a:solidFill>
                          <a:latin typeface="Cambria Math" panose="02040503050406030204" pitchFamily="18" charset="0"/>
                        </a:rPr>
                        <m:t>9</m:t>
                      </m:r>
                      <m:r>
                        <a:rPr lang="en-IN" sz="2800" b="0" i="1" smtClean="0">
                          <a:solidFill>
                            <a:srgbClr val="000000"/>
                          </a:solidFill>
                          <a:latin typeface="Cambria Math" panose="02040503050406030204" pitchFamily="18" charset="0"/>
                        </a:rPr>
                        <m:t>𝑥</m:t>
                      </m:r>
                      <m:r>
                        <m:rPr>
                          <m:aln/>
                        </m:rPr>
                        <a:rPr lang="en-IN" sz="2800" b="0" i="1" smtClean="0">
                          <a:solidFill>
                            <a:srgbClr val="000000"/>
                          </a:solidFill>
                          <a:latin typeface="Cambria Math" panose="02040503050406030204" pitchFamily="18" charset="0"/>
                        </a:rPr>
                        <m:t>≥</m:t>
                      </m:r>
                      <m:r>
                        <a:rPr lang="en-IN" sz="2800" b="0" i="1" smtClean="0">
                          <a:solidFill>
                            <a:srgbClr val="000000"/>
                          </a:solidFill>
                          <a:latin typeface="Cambria Math" panose="02040503050406030204" pitchFamily="18" charset="0"/>
                        </a:rPr>
                        <m:t>45</m:t>
                      </m:r>
                    </m:oMath>
                    <m:oMath xmlns:m="http://schemas.openxmlformats.org/officeDocument/2006/math">
                      <m:f>
                        <m:fPr>
                          <m:ctrlPr>
                            <a:rPr lang="en-IN" sz="2800" b="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9</m:t>
                          </m:r>
                          <m:r>
                            <a:rPr lang="en-IN" sz="2800" b="0" i="1" smtClean="0">
                              <a:solidFill>
                                <a:srgbClr val="000000"/>
                              </a:solidFill>
                              <a:latin typeface="Cambria Math" panose="02040503050406030204" pitchFamily="18" charset="0"/>
                            </a:rPr>
                            <m:t>𝑥</m:t>
                          </m:r>
                        </m:num>
                        <m:den>
                          <m:r>
                            <a:rPr lang="en-IN" sz="2800" b="0" i="1" smtClean="0">
                              <a:solidFill>
                                <a:srgbClr val="000000"/>
                              </a:solidFill>
                              <a:latin typeface="Cambria Math" panose="02040503050406030204" pitchFamily="18" charset="0"/>
                            </a:rPr>
                            <m:t>9</m:t>
                          </m:r>
                        </m:den>
                      </m:f>
                      <m:r>
                        <m:rPr>
                          <m:aln/>
                        </m:rPr>
                        <a:rPr lang="en-IN" sz="2800" i="1">
                          <a:solidFill>
                            <a:srgbClr val="000000"/>
                          </a:solidFill>
                          <a:latin typeface="Cambria Math" panose="02040503050406030204" pitchFamily="18" charset="0"/>
                        </a:rPr>
                        <m:t>≥</m:t>
                      </m:r>
                      <m:f>
                        <m:fPr>
                          <m:ctrlPr>
                            <a:rPr lang="en-IN" sz="280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45</m:t>
                          </m:r>
                        </m:num>
                        <m:den>
                          <m:r>
                            <a:rPr lang="en-IN" sz="2800" b="0" i="1" smtClean="0">
                              <a:solidFill>
                                <a:srgbClr val="000000"/>
                              </a:solidFill>
                              <a:latin typeface="Cambria Math" panose="02040503050406030204" pitchFamily="18" charset="0"/>
                            </a:rPr>
                            <m:t>9</m:t>
                          </m:r>
                        </m:den>
                      </m:f>
                    </m:oMath>
                    <m:oMath xmlns:m="http://schemas.openxmlformats.org/officeDocument/2006/math">
                      <m:r>
                        <a:rPr lang="en-IN" sz="2800" b="0" i="1" smtClean="0">
                          <a:solidFill>
                            <a:srgbClr val="000000"/>
                          </a:solidFill>
                          <a:latin typeface="Cambria Math" panose="02040503050406030204" pitchFamily="18" charset="0"/>
                        </a:rPr>
                        <m:t>𝑥</m:t>
                      </m:r>
                      <m:r>
                        <m:rPr>
                          <m:aln/>
                        </m:rPr>
                        <a:rPr lang="en-IN" sz="2800" b="0" i="1" smtClean="0">
                          <a:solidFill>
                            <a:srgbClr val="000000"/>
                          </a:solidFill>
                          <a:latin typeface="Cambria Math" panose="02040503050406030204" pitchFamily="18" charset="0"/>
                        </a:rPr>
                        <m:t>≥</m:t>
                      </m:r>
                      <m:r>
                        <a:rPr lang="en-IN" sz="2800" b="0" i="1" smtClean="0">
                          <a:solidFill>
                            <a:srgbClr val="000000"/>
                          </a:solidFill>
                          <a:latin typeface="Cambria Math" panose="02040503050406030204" pitchFamily="18" charset="0"/>
                        </a:rPr>
                        <m:t>5</m:t>
                      </m:r>
                    </m:oMath>
                  </m:oMathPara>
                </a14:m>
                <a:endParaRPr lang="en-US" sz="2800" dirty="0">
                  <a:solidFill>
                    <a:srgbClr val="000000"/>
                  </a:solidFill>
                </a:endParaRPr>
              </a:p>
            </p:txBody>
          </p:sp>
        </mc:Choice>
        <mc:Fallback>
          <p:sp>
            <p:nvSpPr>
              <p:cNvPr id="3" name="Text Placeholder 4">
                <a:extLst>
                  <a:ext uri="{FF2B5EF4-FFF2-40B4-BE49-F238E27FC236}">
                    <a16:creationId xmlns:a16="http://schemas.microsoft.com/office/drawing/2014/main" id="{825F713B-B472-F409-C25D-D7E7C2AC625C}"/>
                  </a:ext>
                </a:extLst>
              </p:cNvPr>
              <p:cNvSpPr txBox="1">
                <a:spLocks noRot="1" noChangeAspect="1" noMove="1" noResize="1" noEditPoints="1" noAdjustHandles="1" noChangeArrowheads="1" noChangeShapeType="1" noTextEdit="1"/>
              </p:cNvSpPr>
              <p:nvPr/>
            </p:nvSpPr>
            <p:spPr>
              <a:xfrm>
                <a:off x="674001" y="1423217"/>
                <a:ext cx="10590848" cy="4313906"/>
              </a:xfrm>
              <a:prstGeom prst="rect">
                <a:avLst/>
              </a:prstGeom>
              <a:blipFill>
                <a:blip r:embed="rId3"/>
                <a:stretch>
                  <a:fillRect l="-1151" t="-226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162269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400" y="1608363"/>
            <a:ext cx="10102240" cy="43274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used horizontal lines on a graph and properties of equality with equations to solve problems that can be modeled with linear equations.</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Can you use these same methods to solve problems involving linear inequalities?</a:t>
            </a:r>
          </a:p>
        </p:txBody>
      </p:sp>
    </p:spTree>
    <p:extLst>
      <p:ext uri="{BB962C8B-B14F-4D97-AF65-F5344CB8AC3E}">
        <p14:creationId xmlns:p14="http://schemas.microsoft.com/office/powerpoint/2010/main" val="249308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424543"/>
            <a:ext cx="10514013" cy="424543"/>
          </a:xfrm>
          <a:prstGeom prst="rect">
            <a:avLst/>
          </a:prstGeom>
        </p:spPr>
        <p:txBody>
          <a:bodyPr anchor="b"/>
          <a:lstStyle/>
          <a:p>
            <a:r>
              <a:rPr lang="en-US" sz="2000" dirty="0">
                <a:solidFill>
                  <a:schemeClr val="bg2"/>
                </a:solidFill>
              </a:rPr>
              <a:t>Getting Started</a:t>
            </a:r>
          </a:p>
        </p:txBody>
      </p:sp>
      <p:sp>
        <p:nvSpPr>
          <p:cNvPr id="2" name="Text Placeholder 1" descr="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9815"/>
            <a:ext cx="863947" cy="795338"/>
          </a:xfrm>
        </p:spPr>
        <p:txBody>
          <a:bodyPr/>
          <a:lstStyle/>
          <a:p>
            <a:r>
              <a:rPr lang="en-US" b="1" dirty="0"/>
              <a:t>10–15</a:t>
            </a:r>
          </a:p>
        </p:txBody>
      </p:sp>
    </p:spTree>
    <p:extLst>
      <p:ext uri="{BB962C8B-B14F-4D97-AF65-F5344CB8AC3E}">
        <p14:creationId xmlns:p14="http://schemas.microsoft.com/office/powerpoint/2010/main" val="3719619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(1 of 6)</a:t>
            </a:r>
          </a:p>
        </p:txBody>
      </p:sp>
      <p:sp>
        <p:nvSpPr>
          <p:cNvPr id="5" name="Speech Bubble: Rectangle with Corners Rounded 1">
            <a:extLst>
              <a:ext uri="{FF2B5EF4-FFF2-40B4-BE49-F238E27FC236}">
                <a16:creationId xmlns:a16="http://schemas.microsoft.com/office/drawing/2014/main" id="{B0386F91-7660-7A93-C41A-0184F04172DA}"/>
              </a:ext>
            </a:extLst>
          </p:cNvPr>
          <p:cNvSpPr/>
          <p:nvPr/>
        </p:nvSpPr>
        <p:spPr>
          <a:xfrm>
            <a:off x="777240" y="1892768"/>
            <a:ext cx="2078737" cy="1903484"/>
          </a:xfrm>
          <a:prstGeom prst="wedgeRoundRectCallout">
            <a:avLst>
              <a:gd name="adj1" fmla="val -11788"/>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How will you</a:t>
            </a:r>
          </a:p>
          <a:p>
            <a:r>
              <a:rPr lang="en-US" sz="2000" dirty="0">
                <a:solidFill>
                  <a:srgbClr val="000000"/>
                </a:solidFill>
              </a:rPr>
              <a:t>represent the</a:t>
            </a:r>
          </a:p>
          <a:p>
            <a:r>
              <a:rPr lang="en-US" sz="2000" dirty="0">
                <a:solidFill>
                  <a:srgbClr val="000000"/>
                </a:solidFill>
              </a:rPr>
              <a:t>$25 credit in</a:t>
            </a:r>
          </a:p>
          <a:p>
            <a:r>
              <a:rPr lang="en-US" sz="2000" dirty="0">
                <a:solidFill>
                  <a:srgbClr val="000000"/>
                </a:solidFill>
              </a:rPr>
              <a:t>your function?</a:t>
            </a:r>
          </a:p>
        </p:txBody>
      </p:sp>
      <p:sp>
        <p:nvSpPr>
          <p:cNvPr id="2" name="Text Placeholder 2">
            <a:extLst>
              <a:ext uri="{FF2B5EF4-FFF2-40B4-BE49-F238E27FC236}">
                <a16:creationId xmlns:a16="http://schemas.microsoft.com/office/drawing/2014/main" id="{5E82F0F8-158A-F13B-9550-4E32633EA140}"/>
              </a:ext>
            </a:extLst>
          </p:cNvPr>
          <p:cNvSpPr txBox="1">
            <a:spLocks/>
          </p:cNvSpPr>
          <p:nvPr/>
        </p:nvSpPr>
        <p:spPr>
          <a:xfrm>
            <a:off x="3051314" y="1621568"/>
            <a:ext cx="7613374"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lnSpc>
                <a:spcPts val="3000"/>
              </a:lnSpc>
              <a:spcBef>
                <a:spcPts val="0"/>
              </a:spcBef>
              <a:buNone/>
            </a:pPr>
            <a:r>
              <a:rPr lang="en-US" sz="2800" dirty="0">
                <a:solidFill>
                  <a:srgbClr val="000000"/>
                </a:solidFill>
              </a:rPr>
              <a:t>Elijah’s camping troop is selling popcorn to earn money for an upcoming camping trip. Each camper starts with a credit of $25 toward his sales, and each box of popcorn sells for $3.75.</a:t>
            </a:r>
          </a:p>
          <a:p>
            <a:pPr marL="0" indent="0" algn="l">
              <a:lnSpc>
                <a:spcPts val="3000"/>
              </a:lnSpc>
              <a:spcBef>
                <a:spcPts val="0"/>
              </a:spcBef>
              <a:buNone/>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p:txBody>
      </p:sp>
    </p:spTree>
    <p:extLst>
      <p:ext uri="{BB962C8B-B14F-4D97-AF65-F5344CB8AC3E}">
        <p14:creationId xmlns:p14="http://schemas.microsoft.com/office/powerpoint/2010/main" val="258230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8F3F-E567-C184-DC7C-517DB68139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320ACA-FD24-86E6-68DF-F3C53776C516}"/>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(2 of 6)</a:t>
            </a:r>
          </a:p>
        </p:txBody>
      </p:sp>
      <p:sp>
        <p:nvSpPr>
          <p:cNvPr id="2" name="Text Placeholder 2">
            <a:extLst>
              <a:ext uri="{FF2B5EF4-FFF2-40B4-BE49-F238E27FC236}">
                <a16:creationId xmlns:a16="http://schemas.microsoft.com/office/drawing/2014/main" id="{6F609A57-51CF-8EF5-8FA1-8CED9CACC757}"/>
              </a:ext>
            </a:extLst>
          </p:cNvPr>
          <p:cNvSpPr txBox="1">
            <a:spLocks/>
          </p:cNvSpPr>
          <p:nvPr/>
        </p:nvSpPr>
        <p:spPr>
          <a:xfrm>
            <a:off x="788671" y="1621568"/>
            <a:ext cx="10595610"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rabicPeriod"/>
            </a:pPr>
            <a:r>
              <a:rPr lang="en-US" sz="2800" dirty="0">
                <a:solidFill>
                  <a:srgbClr val="000000"/>
                </a:solidFill>
              </a:rPr>
              <a:t>Write a function, </a:t>
            </a:r>
            <a:r>
              <a:rPr lang="en-US" sz="2800" i="1" dirty="0">
                <a:solidFill>
                  <a:srgbClr val="000000"/>
                </a:solidFill>
                <a:latin typeface="+mj-lt"/>
              </a:rPr>
              <a:t>f</a:t>
            </a:r>
            <a:r>
              <a:rPr lang="en-US" sz="2800" dirty="0">
                <a:solidFill>
                  <a:srgbClr val="000000"/>
                </a:solidFill>
                <a:latin typeface="+mj-lt"/>
              </a:rPr>
              <a:t>(</a:t>
            </a:r>
            <a:r>
              <a:rPr lang="en-US" sz="2800" i="1" dirty="0">
                <a:solidFill>
                  <a:srgbClr val="000000"/>
                </a:solidFill>
                <a:latin typeface="+mj-lt"/>
              </a:rPr>
              <a:t>b</a:t>
            </a:r>
            <a:r>
              <a:rPr lang="en-US" sz="2800" dirty="0">
                <a:solidFill>
                  <a:srgbClr val="000000"/>
                </a:solidFill>
                <a:latin typeface="+mj-lt"/>
              </a:rPr>
              <a:t>)</a:t>
            </a:r>
            <a:r>
              <a:rPr lang="en-US" sz="2800" dirty="0">
                <a:solidFill>
                  <a:srgbClr val="000000"/>
                </a:solidFill>
              </a:rPr>
              <a:t>, to show Elijah’s total sales as a function of the number of boxes of popcorn he sells, </a:t>
            </a:r>
            <a:r>
              <a:rPr lang="en-US" sz="2800" i="1" dirty="0">
                <a:solidFill>
                  <a:srgbClr val="000000"/>
                </a:solidFill>
                <a:latin typeface="+mj-lt"/>
              </a:rPr>
              <a:t>b</a:t>
            </a:r>
            <a:r>
              <a:rPr lang="en-US" sz="2800" dirty="0">
                <a:solidFill>
                  <a:srgbClr val="000000"/>
                </a:solidFill>
              </a:rPr>
              <a:t>.</a:t>
            </a: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a:p>
            <a:pPr marL="514350" indent="-514350">
              <a:lnSpc>
                <a:spcPts val="3000"/>
              </a:lnSpc>
              <a:spcBef>
                <a:spcPts val="0"/>
              </a:spcBef>
              <a:buFont typeface="+mj-lt"/>
              <a:buAutoNum type="arabicPeriod"/>
            </a:pPr>
            <a:endParaRPr lang="en-US" sz="2800" dirty="0">
              <a:solidFill>
                <a:srgbClr val="000000"/>
              </a:solidFill>
            </a:endParaRPr>
          </a:p>
        </p:txBody>
      </p:sp>
    </p:spTree>
    <p:extLst>
      <p:ext uri="{BB962C8B-B14F-4D97-AF65-F5344CB8AC3E}">
        <p14:creationId xmlns:p14="http://schemas.microsoft.com/office/powerpoint/2010/main" val="463494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4962-2B8F-B0C4-AC46-7A77B2D4EC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29E48B-03C0-91A8-D7EC-D90E97A88A2F}"/>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(3 of 6)</a:t>
            </a:r>
          </a:p>
        </p:txBody>
      </p:sp>
      <p:sp>
        <p:nvSpPr>
          <p:cNvPr id="2" name="Text Placeholder 2">
            <a:extLst>
              <a:ext uri="{FF2B5EF4-FFF2-40B4-BE49-F238E27FC236}">
                <a16:creationId xmlns:a16="http://schemas.microsoft.com/office/drawing/2014/main" id="{E87FEEC9-358E-C6E5-6EFC-8F7FEE1F7596}"/>
              </a:ext>
            </a:extLst>
          </p:cNvPr>
          <p:cNvSpPr txBox="1">
            <a:spLocks/>
          </p:cNvSpPr>
          <p:nvPr/>
        </p:nvSpPr>
        <p:spPr>
          <a:xfrm>
            <a:off x="777241" y="1610138"/>
            <a:ext cx="9897385"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rabicPeriod" startAt="2"/>
            </a:pPr>
            <a:r>
              <a:rPr lang="en-US" sz="2800" dirty="0">
                <a:solidFill>
                  <a:srgbClr val="000000"/>
                </a:solidFill>
              </a:rPr>
              <a:t>Analyze the function you wrote.</a:t>
            </a:r>
          </a:p>
          <a:p>
            <a:pPr marL="982663" lvl="1" indent="-446088">
              <a:lnSpc>
                <a:spcPts val="3000"/>
              </a:lnSpc>
              <a:spcBef>
                <a:spcPts val="0"/>
              </a:spcBef>
              <a:buFont typeface="+mj-lt"/>
              <a:buAutoNum type="alphaLcPeriod"/>
            </a:pPr>
            <a:r>
              <a:rPr lang="en-US" dirty="0">
                <a:solidFill>
                  <a:srgbClr val="000000"/>
                </a:solidFill>
              </a:rPr>
              <a:t>Identify the independent and dependent quantities and their units.</a:t>
            </a: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endParaRPr lang="en-US" dirty="0">
              <a:solidFill>
                <a:srgbClr val="000000"/>
              </a:solidFill>
            </a:endParaRPr>
          </a:p>
          <a:p>
            <a:pPr marL="982663" lvl="1" indent="-446088">
              <a:lnSpc>
                <a:spcPts val="3000"/>
              </a:lnSpc>
              <a:spcBef>
                <a:spcPts val="0"/>
              </a:spcBef>
              <a:buFont typeface="+mj-lt"/>
              <a:buAutoNum type="alphaLcPeriod"/>
            </a:pPr>
            <a:r>
              <a:rPr lang="en-US" dirty="0">
                <a:solidFill>
                  <a:srgbClr val="000000"/>
                </a:solidFill>
              </a:rPr>
              <a:t>What is the slope of the function? What does it represent in this problem situation?</a:t>
            </a:r>
          </a:p>
          <a:p>
            <a:pPr marL="982663" lvl="1" indent="-446088">
              <a:lnSpc>
                <a:spcPts val="3000"/>
              </a:lnSpc>
              <a:spcBef>
                <a:spcPts val="0"/>
              </a:spcBef>
              <a:buFont typeface="+mj-lt"/>
              <a:buAutoNum type="alphaLcPeriod"/>
            </a:pPr>
            <a:endParaRPr lang="en-US" dirty="0">
              <a:solidFill>
                <a:srgbClr val="000000"/>
              </a:solidFill>
            </a:endParaRP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p:txBody>
      </p:sp>
    </p:spTree>
    <p:extLst>
      <p:ext uri="{BB962C8B-B14F-4D97-AF65-F5344CB8AC3E}">
        <p14:creationId xmlns:p14="http://schemas.microsoft.com/office/powerpoint/2010/main" val="2456716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C9B33-57F6-040C-11A4-38D691712F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1178B6-0B62-F6A7-E2F2-A297806F95D8}"/>
              </a:ext>
            </a:extLst>
          </p:cNvPr>
          <p:cNvSpPr>
            <a:spLocks noGrp="1"/>
          </p:cNvSpPr>
          <p:nvPr>
            <p:ph type="title"/>
          </p:nvPr>
        </p:nvSpPr>
        <p:spPr>
          <a:xfrm>
            <a:off x="777240" y="0"/>
            <a:ext cx="11425482" cy="1263192"/>
          </a:xfrm>
        </p:spPr>
        <p:txBody>
          <a:bodyPr/>
          <a:lstStyle/>
          <a:p>
            <a:pPr algn="l"/>
            <a:r>
              <a:rPr lang="en-US" b="1" dirty="0"/>
              <a:t>Fundraising Function </a:t>
            </a:r>
            <a:r>
              <a:rPr lang="en-US" sz="2000" b="1" dirty="0">
                <a:solidFill>
                  <a:schemeClr val="bg1"/>
                </a:solidFill>
              </a:rPr>
              <a:t>(4 of 6)</a:t>
            </a:r>
          </a:p>
        </p:txBody>
      </p:sp>
      <p:sp>
        <p:nvSpPr>
          <p:cNvPr id="2" name="Text Placeholder 2">
            <a:extLst>
              <a:ext uri="{FF2B5EF4-FFF2-40B4-BE49-F238E27FC236}">
                <a16:creationId xmlns:a16="http://schemas.microsoft.com/office/drawing/2014/main" id="{774E7278-BA4C-DE7C-BB8C-E7AFD2369BBD}"/>
              </a:ext>
            </a:extLst>
          </p:cNvPr>
          <p:cNvSpPr txBox="1">
            <a:spLocks/>
          </p:cNvSpPr>
          <p:nvPr/>
        </p:nvSpPr>
        <p:spPr>
          <a:xfrm>
            <a:off x="777241" y="1610138"/>
            <a:ext cx="10892789" cy="488210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ts val="3000"/>
              </a:lnSpc>
              <a:spcBef>
                <a:spcPts val="0"/>
              </a:spcBef>
              <a:buFont typeface="+mj-lt"/>
              <a:buAutoNum type="alphaLcPeriod" startAt="3"/>
            </a:pPr>
            <a:r>
              <a:rPr lang="en-US" sz="2800" dirty="0">
                <a:solidFill>
                  <a:srgbClr val="000000"/>
                </a:solidFill>
              </a:rPr>
              <a:t>What is the </a:t>
            </a:r>
            <a:r>
              <a:rPr lang="en-US" sz="2800" i="1" dirty="0">
                <a:solidFill>
                  <a:srgbClr val="000000"/>
                </a:solidFill>
                <a:latin typeface="+mj-lt"/>
              </a:rPr>
              <a:t>y</a:t>
            </a:r>
            <a:r>
              <a:rPr lang="en-US" sz="2800" dirty="0">
                <a:solidFill>
                  <a:srgbClr val="000000"/>
                </a:solidFill>
              </a:rPr>
              <a:t>-intercept? What does it represent in this problem situation?</a:t>
            </a: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endParaRPr lang="en-US" sz="2800" dirty="0">
              <a:solidFill>
                <a:srgbClr val="000000"/>
              </a:solidFill>
            </a:endParaRPr>
          </a:p>
        </p:txBody>
      </p:sp>
    </p:spTree>
    <p:extLst>
      <p:ext uri="{BB962C8B-B14F-4D97-AF65-F5344CB8AC3E}">
        <p14:creationId xmlns:p14="http://schemas.microsoft.com/office/powerpoint/2010/main" val="125778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Fundraising Function </a:t>
            </a:r>
            <a:r>
              <a:rPr lang="en-US" sz="2000" b="1" dirty="0">
                <a:solidFill>
                  <a:schemeClr val="bg1"/>
                </a:solidFill>
              </a:rPr>
              <a:t>(5 of 6)</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81204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Fundraising Function </a:t>
            </a:r>
            <a:r>
              <a:rPr lang="en-US" sz="2000" b="1" dirty="0">
                <a:solidFill>
                  <a:schemeClr val="bg1"/>
                </a:solidFill>
              </a:rPr>
              <a:t>(6 of 6)</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274347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424543"/>
            <a:ext cx="10514013" cy="424543"/>
          </a:xfrm>
          <a:prstGeom prst="rect">
            <a:avLst/>
          </a:prstGeom>
        </p:spPr>
        <p:txBody>
          <a:bodyPr anchor="b"/>
          <a:lstStyle/>
          <a:p>
            <a:r>
              <a:rPr lang="en-US" sz="2000" dirty="0">
                <a:solidFill>
                  <a:schemeClr val="bg2"/>
                </a:solidFill>
              </a:rPr>
              <a:t>Activity 3.1</a:t>
            </a:r>
          </a:p>
        </p:txBody>
      </p:sp>
      <p:sp>
        <p:nvSpPr>
          <p:cNvPr id="3" name="Text Placeholder 2" descr="35 to 4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9815"/>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3.1</a:t>
            </a:r>
          </a:p>
        </p:txBody>
      </p:sp>
    </p:spTree>
    <p:extLst>
      <p:ext uri="{BB962C8B-B14F-4D97-AF65-F5344CB8AC3E}">
        <p14:creationId xmlns:p14="http://schemas.microsoft.com/office/powerpoint/2010/main" val="4250459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 of 14)</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16529"/>
                <a:ext cx="10858500" cy="126319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graph shown represents the function you wrote in the previous activity, </a:t>
                </a:r>
                <a14:m>
                  <m:oMath xmlns:m="http://schemas.openxmlformats.org/officeDocument/2006/math">
                    <m:r>
                      <a:rPr lang="en-US" sz="2800" i="1" dirty="0" smtClean="0">
                        <a:solidFill>
                          <a:srgbClr val="000000"/>
                        </a:solidFill>
                        <a:latin typeface="Cambria Math" panose="02040503050406030204" pitchFamily="18" charset="0"/>
                      </a:rPr>
                      <m:t>𝑓</m:t>
                    </m:r>
                    <m:d>
                      <m:dPr>
                        <m:ctrlPr>
                          <a:rPr lang="en-US" sz="2800" i="1" dirty="0" smtClean="0">
                            <a:solidFill>
                              <a:srgbClr val="000000"/>
                            </a:solidFill>
                            <a:latin typeface="Cambria Math" panose="02040503050406030204" pitchFamily="18" charset="0"/>
                          </a:rPr>
                        </m:ctrlPr>
                      </m:dPr>
                      <m:e>
                        <m:r>
                          <a:rPr lang="en-US" sz="2800" i="1" dirty="0" smtClean="0">
                            <a:solidFill>
                              <a:srgbClr val="000000"/>
                            </a:solidFill>
                            <a:latin typeface="Cambria Math" panose="02040503050406030204" pitchFamily="18" charset="0"/>
                          </a:rPr>
                          <m:t>𝑏</m:t>
                        </m:r>
                      </m:e>
                    </m:d>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25</m:t>
                    </m:r>
                  </m:oMath>
                </a14:m>
                <a:r>
                  <a:rPr lang="en-US" sz="2800" dirty="0">
                    <a:solidFill>
                      <a:srgbClr val="000000"/>
                    </a:solidFill>
                  </a:rPr>
                  <a:t>.</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0" y="1616529"/>
                <a:ext cx="10858500" cy="1263193"/>
              </a:xfrm>
              <a:prstGeom prst="rect">
                <a:avLst/>
              </a:prstGeom>
              <a:blipFill>
                <a:blip r:embed="rId3"/>
                <a:stretch>
                  <a:fillRect l="-1179" t="-4348"/>
                </a:stretch>
              </a:blipFill>
            </p:spPr>
            <p:txBody>
              <a:bodyPr/>
              <a:lstStyle/>
              <a:p>
                <a:r>
                  <a:rPr lang="en-US">
                    <a:noFill/>
                  </a:rPr>
                  <a:t> </a:t>
                </a:r>
              </a:p>
            </p:txBody>
          </p:sp>
        </mc:Fallback>
      </mc:AlternateContent>
      <p:pic>
        <p:nvPicPr>
          <p:cNvPr id="3" name="Picture 2" descr="A graph of a line on the coordinate plane. The x axis represents number of boxes sold. The y axis represents total sales in dollars. The line rises from left to right from the point (0, 25) through the point (420, 1600).">
            <a:extLst>
              <a:ext uri="{FF2B5EF4-FFF2-40B4-BE49-F238E27FC236}">
                <a16:creationId xmlns:a16="http://schemas.microsoft.com/office/drawing/2014/main" id="{A1859E15-044F-464B-DF46-C3CFECCB56D3}"/>
              </a:ext>
            </a:extLst>
          </p:cNvPr>
          <p:cNvPicPr>
            <a:picLocks noChangeAspect="1"/>
          </p:cNvPicPr>
          <p:nvPr/>
        </p:nvPicPr>
        <p:blipFill>
          <a:blip r:embed="rId4"/>
          <a:stretch>
            <a:fillRect/>
          </a:stretch>
        </p:blipFill>
        <p:spPr>
          <a:xfrm>
            <a:off x="4128213" y="2879722"/>
            <a:ext cx="3933986" cy="3639551"/>
          </a:xfrm>
          <a:prstGeom prst="rect">
            <a:avLst/>
          </a:prstGeom>
        </p:spPr>
      </p:pic>
    </p:spTree>
    <p:extLst>
      <p:ext uri="{BB962C8B-B14F-4D97-AF65-F5344CB8AC3E}">
        <p14:creationId xmlns:p14="http://schemas.microsoft.com/office/powerpoint/2010/main" val="206436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6FA4-2B7E-DF5A-D052-0D1FE03C21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5F2F26-8554-5F51-4E92-2E90F12CF22A}"/>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(2 of 14) </a:t>
            </a:r>
          </a:p>
        </p:txBody>
      </p:sp>
      <p:sp>
        <p:nvSpPr>
          <p:cNvPr id="9" name="Text Placeholder 2">
            <a:extLst>
              <a:ext uri="{FF2B5EF4-FFF2-40B4-BE49-F238E27FC236}">
                <a16:creationId xmlns:a16="http://schemas.microsoft.com/office/drawing/2014/main" id="{4F8221D1-234B-B7D5-A72E-70B4E17E1FA5}"/>
              </a:ext>
            </a:extLst>
          </p:cNvPr>
          <p:cNvSpPr txBox="1">
            <a:spLocks/>
          </p:cNvSpPr>
          <p:nvPr/>
        </p:nvSpPr>
        <p:spPr>
          <a:xfrm>
            <a:off x="777240" y="1608363"/>
            <a:ext cx="8555603"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Suppose Elijah has a sales goal of $1600.</a:t>
            </a:r>
          </a:p>
          <a:p>
            <a:pPr marL="1028700" lvl="1" indent="-514350">
              <a:buFont typeface="+mj-lt"/>
              <a:buAutoNum type="alphaLcPeriod"/>
            </a:pPr>
            <a:r>
              <a:rPr lang="en-US" dirty="0">
                <a:solidFill>
                  <a:srgbClr val="000000"/>
                </a:solidFill>
              </a:rPr>
              <a:t>Draw a horizontal line from the </a:t>
            </a:r>
            <a:r>
              <a:rPr lang="en-US" i="1" dirty="0">
                <a:solidFill>
                  <a:srgbClr val="000000"/>
                </a:solidFill>
                <a:latin typeface="+mj-lt"/>
              </a:rPr>
              <a:t>y</a:t>
            </a:r>
            <a:r>
              <a:rPr lang="en-US" dirty="0">
                <a:solidFill>
                  <a:srgbClr val="000000"/>
                </a:solidFill>
              </a:rPr>
              <a:t>-axis until it intersects with the graphed function to determine the point on the graph that </a:t>
            </a:r>
            <a:r>
              <a:rPr lang="en-GB" dirty="0">
                <a:solidFill>
                  <a:srgbClr val="000000"/>
                </a:solidFill>
              </a:rPr>
              <a:t>represents $1600 in total sales.</a:t>
            </a:r>
            <a:endParaRPr lang="en-US" dirty="0">
              <a:solidFill>
                <a:srgbClr val="000000"/>
              </a:solidFill>
            </a:endParaRPr>
          </a:p>
          <a:p>
            <a:pPr marL="1028700" lvl="1" indent="-514350">
              <a:buFont typeface="+mj-lt"/>
              <a:buAutoNum type="alphaLcPeriod"/>
            </a:pPr>
            <a:endParaRPr lang="en-US" dirty="0">
              <a:solidFill>
                <a:srgbClr val="000000"/>
              </a:solidFill>
            </a:endParaRPr>
          </a:p>
          <a:p>
            <a:pPr marL="1028700" lvl="1" indent="-514350">
              <a:buFont typeface="+mj-lt"/>
              <a:buAutoNum type="alphaLcPeriod"/>
            </a:pPr>
            <a:r>
              <a:rPr lang="en-US" dirty="0">
                <a:solidFill>
                  <a:srgbClr val="000000"/>
                </a:solidFill>
              </a:rPr>
              <a:t>How many boxes would Elijah have to sell to make $1600 in total sales? Explain your reasoning.</a:t>
            </a:r>
            <a:br>
              <a:rPr lang="en-US" dirty="0">
                <a:solidFill>
                  <a:srgbClr val="000000"/>
                </a:solidFill>
              </a:rPr>
            </a:br>
            <a:br>
              <a:rPr lang="en-US" dirty="0">
                <a:solidFill>
                  <a:srgbClr val="000000"/>
                </a:solidFill>
              </a:rPr>
            </a:br>
            <a:endParaRPr lang="en-US" dirty="0">
              <a:solidFill>
                <a:srgbClr val="000000"/>
              </a:solidFill>
            </a:endParaRPr>
          </a:p>
        </p:txBody>
      </p:sp>
      <p:sp>
        <p:nvSpPr>
          <p:cNvPr id="2" name="Speech Bubble: Rectangle with Corners Rounded 1">
            <a:extLst>
              <a:ext uri="{FF2B5EF4-FFF2-40B4-BE49-F238E27FC236}">
                <a16:creationId xmlns:a16="http://schemas.microsoft.com/office/drawing/2014/main" id="{EB4237C0-34F4-F836-8DE2-111E8B8D1C3F}"/>
              </a:ext>
            </a:extLst>
          </p:cNvPr>
          <p:cNvSpPr/>
          <p:nvPr/>
        </p:nvSpPr>
        <p:spPr>
          <a:xfrm>
            <a:off x="9490379" y="3304123"/>
            <a:ext cx="2217420" cy="2030475"/>
          </a:xfrm>
          <a:prstGeom prst="wedgeRoundRectCallout">
            <a:avLst>
              <a:gd name="adj1" fmla="val -35695"/>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Will the points</a:t>
            </a:r>
          </a:p>
          <a:p>
            <a:r>
              <a:rPr lang="en-US" sz="2000" dirty="0">
                <a:solidFill>
                  <a:srgbClr val="000000"/>
                </a:solidFill>
              </a:rPr>
              <a:t>you graph on the number line be open or closed?</a:t>
            </a:r>
          </a:p>
        </p:txBody>
      </p:sp>
    </p:spTree>
    <p:extLst>
      <p:ext uri="{BB962C8B-B14F-4D97-AF65-F5344CB8AC3E}">
        <p14:creationId xmlns:p14="http://schemas.microsoft.com/office/powerpoint/2010/main" val="739843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77C65-9BA5-0A3F-E7C6-7F879940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89AEEA-031A-150B-D9F2-57926FF4B2EF}"/>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(3 of 14) </a:t>
            </a:r>
          </a:p>
        </p:txBody>
      </p:sp>
      <p:sp>
        <p:nvSpPr>
          <p:cNvPr id="9" name="Text Placeholder 2">
            <a:extLst>
              <a:ext uri="{FF2B5EF4-FFF2-40B4-BE49-F238E27FC236}">
                <a16:creationId xmlns:a16="http://schemas.microsoft.com/office/drawing/2014/main" id="{A5F728EC-2A67-A64C-F7E8-88AD87F4C07A}"/>
              </a:ext>
            </a:extLst>
          </p:cNvPr>
          <p:cNvSpPr txBox="1">
            <a:spLocks/>
          </p:cNvSpPr>
          <p:nvPr/>
        </p:nvSpPr>
        <p:spPr>
          <a:xfrm>
            <a:off x="799306" y="1577339"/>
            <a:ext cx="10722134"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3"/>
            </a:pPr>
            <a:r>
              <a:rPr lang="en-US" sz="2800" dirty="0">
                <a:solidFill>
                  <a:srgbClr val="000000"/>
                </a:solidFill>
              </a:rPr>
              <a:t>Use the number line to represent the number of boxes sold if the total sales is equal to $1600.</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buFont typeface="+mj-lt"/>
              <a:buAutoNum type="arabicPeriod" startAt="2"/>
            </a:pPr>
            <a:endParaRPr lang="en-US" sz="2800" dirty="0">
              <a:solidFill>
                <a:srgbClr val="000000"/>
              </a:solidFill>
            </a:endParaRPr>
          </a:p>
        </p:txBody>
      </p:sp>
      <p:pic>
        <p:nvPicPr>
          <p:cNvPr id="2" name="Picture 1" descr="A number line labeled Number of Boxes Sold. The line extends from 0 to 600 in intervals of 60.">
            <a:extLst>
              <a:ext uri="{FF2B5EF4-FFF2-40B4-BE49-F238E27FC236}">
                <a16:creationId xmlns:a16="http://schemas.microsoft.com/office/drawing/2014/main" id="{86370A0A-C7B5-CFDD-6959-BB4C8890E12A}"/>
              </a:ext>
            </a:extLst>
          </p:cNvPr>
          <p:cNvPicPr>
            <a:picLocks noChangeAspect="1"/>
          </p:cNvPicPr>
          <p:nvPr/>
        </p:nvPicPr>
        <p:blipFill>
          <a:blip r:embed="rId3"/>
          <a:stretch>
            <a:fillRect/>
          </a:stretch>
        </p:blipFill>
        <p:spPr>
          <a:xfrm>
            <a:off x="1446991" y="2920036"/>
            <a:ext cx="4713382" cy="693463"/>
          </a:xfrm>
          <a:prstGeom prst="rect">
            <a:avLst/>
          </a:prstGeom>
        </p:spPr>
      </p:pic>
    </p:spTree>
    <p:extLst>
      <p:ext uri="{BB962C8B-B14F-4D97-AF65-F5344CB8AC3E}">
        <p14:creationId xmlns:p14="http://schemas.microsoft.com/office/powerpoint/2010/main" val="2992520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3847B-0518-F189-D2D9-E5A383BF4E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E4FEC6-F73F-1D16-082D-B41EABEB5150}"/>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(4 of 14) </a:t>
            </a:r>
          </a:p>
        </p:txBody>
      </p:sp>
      <p:sp>
        <p:nvSpPr>
          <p:cNvPr id="3" name="TextBox 2">
            <a:extLst>
              <a:ext uri="{FF2B5EF4-FFF2-40B4-BE49-F238E27FC236}">
                <a16:creationId xmlns:a16="http://schemas.microsoft.com/office/drawing/2014/main" id="{4E59CE4D-5CCE-BFD7-4554-7189B30599C9}"/>
              </a:ext>
            </a:extLst>
          </p:cNvPr>
          <p:cNvSpPr txBox="1"/>
          <p:nvPr/>
        </p:nvSpPr>
        <p:spPr>
          <a:xfrm>
            <a:off x="845820" y="1725930"/>
            <a:ext cx="2286000" cy="1360170"/>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A </a:t>
            </a:r>
            <a:r>
              <a:rPr lang="en-US" sz="2000" b="1" dirty="0">
                <a:solidFill>
                  <a:srgbClr val="000000"/>
                </a:solidFill>
              </a:rPr>
              <a:t>linear inequality</a:t>
            </a:r>
            <a:r>
              <a:rPr lang="en-US" sz="2000" dirty="0">
                <a:solidFill>
                  <a:srgbClr val="000000"/>
                </a:solidFill>
              </a:rPr>
              <a:t> is a non-equal comparison of two linear expressions.</a:t>
            </a:r>
          </a:p>
        </p:txBody>
      </p:sp>
      <p:sp>
        <p:nvSpPr>
          <p:cNvPr id="9" name="Text Placeholder 2">
            <a:extLst>
              <a:ext uri="{FF2B5EF4-FFF2-40B4-BE49-F238E27FC236}">
                <a16:creationId xmlns:a16="http://schemas.microsoft.com/office/drawing/2014/main" id="{98C65675-A3E9-4377-6142-E698DEFDD53B}"/>
              </a:ext>
            </a:extLst>
          </p:cNvPr>
          <p:cNvSpPr txBox="1">
            <a:spLocks/>
          </p:cNvSpPr>
          <p:nvPr/>
        </p:nvSpPr>
        <p:spPr>
          <a:xfrm>
            <a:off x="3337560" y="1577339"/>
            <a:ext cx="844677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Analyze the region of the graph that lies below the horizontal line you drew, up to and including the point intersected by the line.</a:t>
            </a:r>
          </a:p>
          <a:p>
            <a:pPr marL="1033272" indent="-514350">
              <a:buFont typeface="+mj-lt"/>
              <a:buAutoNum type="alphaLcPeriod"/>
            </a:pPr>
            <a:r>
              <a:rPr lang="en-US" sz="2800" dirty="0">
                <a:solidFill>
                  <a:srgbClr val="000000"/>
                </a:solidFill>
              </a:rPr>
              <a:t>What does this region of the graph represent?</a:t>
            </a:r>
          </a:p>
          <a:p>
            <a:pPr marL="0" indent="0">
              <a:buNone/>
            </a:pPr>
            <a:endParaRPr lang="en-US" sz="2800" dirty="0">
              <a:solidFill>
                <a:srgbClr val="000000"/>
              </a:solidFill>
            </a:endParaRPr>
          </a:p>
        </p:txBody>
      </p:sp>
    </p:spTree>
    <p:extLst>
      <p:ext uri="{BB962C8B-B14F-4D97-AF65-F5344CB8AC3E}">
        <p14:creationId xmlns:p14="http://schemas.microsoft.com/office/powerpoint/2010/main" val="1037557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E03C-A585-493A-01E0-D24A40B0A3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5F5FD0-EEFC-BE8E-526E-388A5435DC18}"/>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(5 of 14) </a:t>
            </a:r>
          </a:p>
        </p:txBody>
      </p:sp>
      <p:sp>
        <p:nvSpPr>
          <p:cNvPr id="5" name="TextBox 4">
            <a:extLst>
              <a:ext uri="{FF2B5EF4-FFF2-40B4-BE49-F238E27FC236}">
                <a16:creationId xmlns:a16="http://schemas.microsoft.com/office/drawing/2014/main" id="{07173B13-5F20-678E-5E78-86D90C37DF55}"/>
              </a:ext>
            </a:extLst>
          </p:cNvPr>
          <p:cNvSpPr txBox="1"/>
          <p:nvPr/>
        </p:nvSpPr>
        <p:spPr>
          <a:xfrm>
            <a:off x="672737" y="1804305"/>
            <a:ext cx="3007723" cy="3249390"/>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Remember…</a:t>
            </a:r>
          </a:p>
          <a:p>
            <a:r>
              <a:rPr lang="en-US" sz="2000" dirty="0">
                <a:solidFill>
                  <a:srgbClr val="000000"/>
                </a:solidFill>
              </a:rPr>
              <a:t>There are five inequality signs, less than (&lt;), greater than (&gt;), less than or equal (≤), greater than or equal (≥) and not equal (≠). The solution set of an inequality is all the values that make the inequality statement true.</a:t>
            </a:r>
          </a:p>
        </p:txBody>
      </p:sp>
      <p:sp>
        <p:nvSpPr>
          <p:cNvPr id="9" name="Text Placeholder 2">
            <a:extLst>
              <a:ext uri="{FF2B5EF4-FFF2-40B4-BE49-F238E27FC236}">
                <a16:creationId xmlns:a16="http://schemas.microsoft.com/office/drawing/2014/main" id="{9ED9B6C7-92CA-9DF5-D057-E349F85BD78C}"/>
              </a:ext>
            </a:extLst>
          </p:cNvPr>
          <p:cNvSpPr txBox="1">
            <a:spLocks/>
          </p:cNvSpPr>
          <p:nvPr/>
        </p:nvSpPr>
        <p:spPr>
          <a:xfrm>
            <a:off x="3966210" y="1699803"/>
            <a:ext cx="7406640" cy="30436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Write an inequality to represent this region.</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Use the number line to represent the number of boxes that are solutions to the inequality you wrote.</a:t>
            </a:r>
            <a:br>
              <a:rPr lang="en-US" sz="2800" dirty="0">
                <a:solidFill>
                  <a:srgbClr val="000000"/>
                </a:solidFill>
              </a:rPr>
            </a:br>
            <a:endParaRPr lang="en-US" sz="2800" dirty="0">
              <a:solidFill>
                <a:srgbClr val="000000"/>
              </a:solidFill>
            </a:endParaRPr>
          </a:p>
        </p:txBody>
      </p:sp>
      <p:pic>
        <p:nvPicPr>
          <p:cNvPr id="3" name="Picture 2" descr="A number line labeled Number of Boxes Sold. The line extends from 0 to 600 in intervals of 60.">
            <a:extLst>
              <a:ext uri="{FF2B5EF4-FFF2-40B4-BE49-F238E27FC236}">
                <a16:creationId xmlns:a16="http://schemas.microsoft.com/office/drawing/2014/main" id="{752345F1-7CA3-0214-4E81-49F8670524B8}"/>
              </a:ext>
            </a:extLst>
          </p:cNvPr>
          <p:cNvPicPr>
            <a:picLocks noChangeAspect="1"/>
          </p:cNvPicPr>
          <p:nvPr/>
        </p:nvPicPr>
        <p:blipFill>
          <a:blip r:embed="rId3"/>
          <a:stretch>
            <a:fillRect/>
          </a:stretch>
        </p:blipFill>
        <p:spPr>
          <a:xfrm>
            <a:off x="4583488" y="4743135"/>
            <a:ext cx="4591484" cy="830123"/>
          </a:xfrm>
          <a:prstGeom prst="rect">
            <a:avLst/>
          </a:prstGeom>
        </p:spPr>
      </p:pic>
    </p:spTree>
    <p:extLst>
      <p:ext uri="{BB962C8B-B14F-4D97-AF65-F5344CB8AC3E}">
        <p14:creationId xmlns:p14="http://schemas.microsoft.com/office/powerpoint/2010/main" val="2270698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09FD-38C3-8A26-F586-846413DA5E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4FB6DD-6738-ABBF-D56F-934B4CD1AD82}"/>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(6 of 14) </a:t>
            </a:r>
          </a:p>
        </p:txBody>
      </p:sp>
      <p:sp>
        <p:nvSpPr>
          <p:cNvPr id="9" name="Text Placeholder 2">
            <a:extLst>
              <a:ext uri="{FF2B5EF4-FFF2-40B4-BE49-F238E27FC236}">
                <a16:creationId xmlns:a16="http://schemas.microsoft.com/office/drawing/2014/main" id="{CC055BA7-D8F6-22CB-726A-2048AAE36BF8}"/>
              </a:ext>
            </a:extLst>
          </p:cNvPr>
          <p:cNvSpPr txBox="1">
            <a:spLocks/>
          </p:cNvSpPr>
          <p:nvPr/>
        </p:nvSpPr>
        <p:spPr>
          <a:xfrm>
            <a:off x="777240" y="1600199"/>
            <a:ext cx="1027557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4"/>
            </a:pPr>
            <a:r>
              <a:rPr lang="en-US" sz="2800" dirty="0">
                <a:solidFill>
                  <a:srgbClr val="000000"/>
                </a:solidFill>
              </a:rPr>
              <a:t>Do all the solutions make sense in context of the problem? Explain your reasoning.</a:t>
            </a:r>
          </a:p>
        </p:txBody>
      </p:sp>
    </p:spTree>
    <p:extLst>
      <p:ext uri="{BB962C8B-B14F-4D97-AF65-F5344CB8AC3E}">
        <p14:creationId xmlns:p14="http://schemas.microsoft.com/office/powerpoint/2010/main" val="1906520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1D50-3532-DC76-BA52-5631443D4F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C075B0-1DDD-4FB2-7A57-6CCC84AE077B}"/>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(7 of 14) </a:t>
            </a:r>
          </a:p>
        </p:txBody>
      </p:sp>
      <p:sp>
        <p:nvSpPr>
          <p:cNvPr id="9" name="Text Placeholder 2">
            <a:extLst>
              <a:ext uri="{FF2B5EF4-FFF2-40B4-BE49-F238E27FC236}">
                <a16:creationId xmlns:a16="http://schemas.microsoft.com/office/drawing/2014/main" id="{BF80D8B6-D030-BE79-428A-69538DA437EA}"/>
              </a:ext>
            </a:extLst>
          </p:cNvPr>
          <p:cNvSpPr txBox="1">
            <a:spLocks/>
          </p:cNvSpPr>
          <p:nvPr/>
        </p:nvSpPr>
        <p:spPr>
          <a:xfrm>
            <a:off x="777240" y="1600199"/>
            <a:ext cx="1018413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Analyze the region of the graph that lies above the horizontal line you drew, not including the point intersected by the line.</a:t>
            </a:r>
          </a:p>
          <a:p>
            <a:pPr marL="1033272" indent="-514350">
              <a:buFont typeface="+mj-lt"/>
              <a:buAutoNum type="alphaLcPeriod"/>
            </a:pPr>
            <a:r>
              <a:rPr lang="en-US" sz="2800" dirty="0">
                <a:solidFill>
                  <a:srgbClr val="000000"/>
                </a:solidFill>
              </a:rPr>
              <a:t>What does this region of the graph represent?</a:t>
            </a:r>
          </a:p>
          <a:p>
            <a:pPr marL="1033272" indent="-514350">
              <a:buFont typeface="+mj-lt"/>
              <a:buAutoNum type="alphaLcPeriod"/>
            </a:pPr>
            <a:endParaRPr lang="en-US" sz="2800" dirty="0">
              <a:solidFill>
                <a:srgbClr val="000000"/>
              </a:solidFill>
            </a:endParaRPr>
          </a:p>
          <a:p>
            <a:pPr marL="1033272" indent="-514350">
              <a:buFont typeface="+mj-lt"/>
              <a:buAutoNum type="alphaLcPeriod"/>
            </a:pPr>
            <a:endParaRPr lang="en-US" sz="2800" dirty="0">
              <a:solidFill>
                <a:srgbClr val="000000"/>
              </a:solidFill>
            </a:endParaRPr>
          </a:p>
          <a:p>
            <a:pPr marL="1033272" indent="-514350">
              <a:buFont typeface="+mj-lt"/>
              <a:buAutoNum type="alphaLcPeriod"/>
            </a:pPr>
            <a:endParaRPr lang="en-US" sz="2800" dirty="0">
              <a:solidFill>
                <a:srgbClr val="000000"/>
              </a:solidFill>
            </a:endParaRPr>
          </a:p>
          <a:p>
            <a:pPr marL="1033272" indent="-514350">
              <a:buFont typeface="+mj-lt"/>
              <a:buAutoNum type="alphaLcPeriod"/>
            </a:pPr>
            <a:r>
              <a:rPr lang="en-US" sz="2800" dirty="0">
                <a:solidFill>
                  <a:srgbClr val="000000"/>
                </a:solidFill>
              </a:rPr>
              <a:t>Write an inequality to represent this region.</a:t>
            </a:r>
          </a:p>
          <a:p>
            <a:pPr marL="0" indent="0">
              <a:buNone/>
            </a:pPr>
            <a:endParaRPr lang="en-US" sz="2800" dirty="0">
              <a:solidFill>
                <a:srgbClr val="000000"/>
              </a:solidFill>
            </a:endParaRPr>
          </a:p>
        </p:txBody>
      </p:sp>
    </p:spTree>
    <p:extLst>
      <p:ext uri="{BB962C8B-B14F-4D97-AF65-F5344CB8AC3E}">
        <p14:creationId xmlns:p14="http://schemas.microsoft.com/office/powerpoint/2010/main" val="3067002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06FCA-4948-F8CC-A1AB-3FDA04B87D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B0E58F-12CD-221C-7C16-142539CD7BED}"/>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(8 of 14) </a:t>
            </a:r>
          </a:p>
        </p:txBody>
      </p:sp>
      <p:sp>
        <p:nvSpPr>
          <p:cNvPr id="3" name="TextBox 2">
            <a:extLst>
              <a:ext uri="{FF2B5EF4-FFF2-40B4-BE49-F238E27FC236}">
                <a16:creationId xmlns:a16="http://schemas.microsoft.com/office/drawing/2014/main" id="{73CC8DAA-D6D5-C145-8784-EF7018045B44}"/>
              </a:ext>
            </a:extLst>
          </p:cNvPr>
          <p:cNvSpPr txBox="1"/>
          <p:nvPr/>
        </p:nvSpPr>
        <p:spPr>
          <a:xfrm>
            <a:off x="835679" y="1668780"/>
            <a:ext cx="2273281" cy="2697480"/>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Graphing the</a:t>
            </a:r>
          </a:p>
          <a:p>
            <a:r>
              <a:rPr lang="en-US" sz="2000" dirty="0">
                <a:solidFill>
                  <a:srgbClr val="000000"/>
                </a:solidFill>
              </a:rPr>
              <a:t>solutions to</a:t>
            </a:r>
          </a:p>
          <a:p>
            <a:r>
              <a:rPr lang="en-US" sz="2000" dirty="0">
                <a:solidFill>
                  <a:srgbClr val="000000"/>
                </a:solidFill>
              </a:rPr>
              <a:t>inequalities on</a:t>
            </a:r>
          </a:p>
          <a:p>
            <a:r>
              <a:rPr lang="en-US" sz="2000" dirty="0">
                <a:solidFill>
                  <a:srgbClr val="000000"/>
                </a:solidFill>
              </a:rPr>
              <a:t>number lines will</a:t>
            </a:r>
          </a:p>
          <a:p>
            <a:r>
              <a:rPr lang="en-US" sz="2000" dirty="0">
                <a:solidFill>
                  <a:srgbClr val="000000"/>
                </a:solidFill>
              </a:rPr>
              <a:t>prepare you for</a:t>
            </a:r>
          </a:p>
          <a:p>
            <a:r>
              <a:rPr lang="en-US" sz="2000" dirty="0">
                <a:solidFill>
                  <a:srgbClr val="000000"/>
                </a:solidFill>
              </a:rPr>
              <a:t>graphing linear</a:t>
            </a:r>
          </a:p>
          <a:p>
            <a:r>
              <a:rPr lang="en-US" sz="2000" dirty="0">
                <a:solidFill>
                  <a:srgbClr val="000000"/>
                </a:solidFill>
              </a:rPr>
              <a:t>inequalities in two</a:t>
            </a:r>
          </a:p>
          <a:p>
            <a:r>
              <a:rPr lang="en-US" sz="2000" dirty="0">
                <a:solidFill>
                  <a:srgbClr val="000000"/>
                </a:solidFill>
              </a:rPr>
              <a:t>variables.</a:t>
            </a:r>
          </a:p>
        </p:txBody>
      </p:sp>
      <p:sp>
        <p:nvSpPr>
          <p:cNvPr id="9" name="Text Placeholder 2">
            <a:extLst>
              <a:ext uri="{FF2B5EF4-FFF2-40B4-BE49-F238E27FC236}">
                <a16:creationId xmlns:a16="http://schemas.microsoft.com/office/drawing/2014/main" id="{FEDD66A5-2323-ADD4-E823-74E86C08246A}"/>
              </a:ext>
            </a:extLst>
          </p:cNvPr>
          <p:cNvSpPr txBox="1">
            <a:spLocks/>
          </p:cNvSpPr>
          <p:nvPr/>
        </p:nvSpPr>
        <p:spPr>
          <a:xfrm>
            <a:off x="3337560" y="1600199"/>
            <a:ext cx="8298180" cy="39662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6575" indent="-514350">
              <a:buFont typeface="+mj-lt"/>
              <a:buAutoNum type="alphaLcPeriod" startAt="3"/>
            </a:pPr>
            <a:r>
              <a:rPr lang="en-US" sz="2800" dirty="0">
                <a:solidFill>
                  <a:srgbClr val="000000"/>
                </a:solidFill>
              </a:rPr>
              <a:t>Use the number line to represent the number of boxes that are solutions to the inequality you wrote.</a:t>
            </a:r>
          </a:p>
          <a:p>
            <a:pPr marL="536575" indent="-514350">
              <a:buFont typeface="+mj-lt"/>
              <a:buAutoNum type="alphaLcPeriod" startAt="3"/>
            </a:pPr>
            <a:endParaRPr lang="en-US" sz="2800" dirty="0">
              <a:solidFill>
                <a:srgbClr val="000000"/>
              </a:solidFill>
            </a:endParaRPr>
          </a:p>
          <a:p>
            <a:pPr marL="536575" indent="-514350">
              <a:buFont typeface="+mj-lt"/>
              <a:buAutoNum type="alphaLcPeriod" startAt="3"/>
            </a:pPr>
            <a:endParaRPr lang="en-US" sz="2800" dirty="0">
              <a:solidFill>
                <a:srgbClr val="000000"/>
              </a:solidFill>
            </a:endParaRPr>
          </a:p>
          <a:p>
            <a:pPr marL="536575" indent="-514350">
              <a:buFont typeface="+mj-lt"/>
              <a:buAutoNum type="alphaLcPeriod" startAt="3"/>
            </a:pPr>
            <a:endParaRPr lang="en-US" sz="2800" dirty="0">
              <a:solidFill>
                <a:srgbClr val="000000"/>
              </a:solidFill>
            </a:endParaRPr>
          </a:p>
        </p:txBody>
      </p:sp>
      <p:pic>
        <p:nvPicPr>
          <p:cNvPr id="5" name="Picture 4" descr="A number line labeled Number of Boxes Sold. The line extends from 0 to 600 in intervals of 60.">
            <a:extLst>
              <a:ext uri="{FF2B5EF4-FFF2-40B4-BE49-F238E27FC236}">
                <a16:creationId xmlns:a16="http://schemas.microsoft.com/office/drawing/2014/main" id="{125B29B3-ED70-0AB1-560B-8E72CA03D584}"/>
              </a:ext>
            </a:extLst>
          </p:cNvPr>
          <p:cNvPicPr>
            <a:picLocks noChangeAspect="1"/>
          </p:cNvPicPr>
          <p:nvPr/>
        </p:nvPicPr>
        <p:blipFill>
          <a:blip r:embed="rId3"/>
          <a:stretch>
            <a:fillRect/>
          </a:stretch>
        </p:blipFill>
        <p:spPr>
          <a:xfrm>
            <a:off x="3998593" y="2867926"/>
            <a:ext cx="4982270" cy="733527"/>
          </a:xfrm>
          <a:prstGeom prst="rect">
            <a:avLst/>
          </a:prstGeom>
        </p:spPr>
      </p:pic>
    </p:spTree>
    <p:extLst>
      <p:ext uri="{BB962C8B-B14F-4D97-AF65-F5344CB8AC3E}">
        <p14:creationId xmlns:p14="http://schemas.microsoft.com/office/powerpoint/2010/main" val="1200117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7E2A-08C6-D22D-2C59-1A2DD67617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4CF635-CD76-2F72-A68F-CFB5BA8C0432}"/>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(9 of 14) </a:t>
            </a:r>
          </a:p>
        </p:txBody>
      </p:sp>
      <p:sp>
        <p:nvSpPr>
          <p:cNvPr id="9" name="Text Placeholder 2">
            <a:extLst>
              <a:ext uri="{FF2B5EF4-FFF2-40B4-BE49-F238E27FC236}">
                <a16:creationId xmlns:a16="http://schemas.microsoft.com/office/drawing/2014/main" id="{4FAC07A9-EB88-D320-2095-AB6B0E2D4E52}"/>
              </a:ext>
            </a:extLst>
          </p:cNvPr>
          <p:cNvSpPr txBox="1">
            <a:spLocks/>
          </p:cNvSpPr>
          <p:nvPr/>
        </p:nvSpPr>
        <p:spPr>
          <a:xfrm>
            <a:off x="777240" y="1600199"/>
            <a:ext cx="992124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4"/>
            </a:pPr>
            <a:r>
              <a:rPr lang="en-US" sz="2800" dirty="0">
                <a:solidFill>
                  <a:srgbClr val="000000"/>
                </a:solidFill>
              </a:rPr>
              <a:t>Do all the solutions make sense in context of the problem? Explain your reasoning.</a:t>
            </a:r>
            <a:br>
              <a:rPr lang="en-US" sz="2800" dirty="0">
                <a:solidFill>
                  <a:srgbClr val="000000"/>
                </a:solidFill>
              </a:rPr>
            </a:br>
            <a:br>
              <a:rPr lang="en-US" sz="2800" dirty="0">
                <a:solidFill>
                  <a:srgbClr val="000000"/>
                </a:solidFill>
              </a:rPr>
            </a:br>
            <a:endParaRPr lang="en-US" sz="2800" dirty="0">
              <a:solidFill>
                <a:srgbClr val="000000"/>
              </a:solidFill>
            </a:endParaRPr>
          </a:p>
        </p:txBody>
      </p:sp>
    </p:spTree>
    <p:extLst>
      <p:ext uri="{BB962C8B-B14F-4D97-AF65-F5344CB8AC3E}">
        <p14:creationId xmlns:p14="http://schemas.microsoft.com/office/powerpoint/2010/main" val="610297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A82C3-137D-3B55-191D-481D104418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EBCD2B-3B12-501B-0216-C1743DCC8AA4}"/>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(10 of 14) </a:t>
            </a:r>
          </a:p>
        </p:txBody>
      </p:sp>
      <p:sp>
        <p:nvSpPr>
          <p:cNvPr id="9" name="Text Placeholder 2">
            <a:extLst>
              <a:ext uri="{FF2B5EF4-FFF2-40B4-BE49-F238E27FC236}">
                <a16:creationId xmlns:a16="http://schemas.microsoft.com/office/drawing/2014/main" id="{C28F3653-F920-6558-B21F-2D472EDF1B6F}"/>
              </a:ext>
            </a:extLst>
          </p:cNvPr>
          <p:cNvSpPr txBox="1">
            <a:spLocks/>
          </p:cNvSpPr>
          <p:nvPr/>
        </p:nvSpPr>
        <p:spPr>
          <a:xfrm>
            <a:off x="777240" y="1600199"/>
            <a:ext cx="804672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Explain the difference between the open and closed circles on your number lines.</a:t>
            </a:r>
          </a:p>
        </p:txBody>
      </p:sp>
      <p:sp>
        <p:nvSpPr>
          <p:cNvPr id="3" name="Speech Bubble: Rectangle with Corners Rounded 2">
            <a:extLst>
              <a:ext uri="{FF2B5EF4-FFF2-40B4-BE49-F238E27FC236}">
                <a16:creationId xmlns:a16="http://schemas.microsoft.com/office/drawing/2014/main" id="{C77641FB-22B1-B260-0771-B4F535C497DD}"/>
              </a:ext>
            </a:extLst>
          </p:cNvPr>
          <p:cNvSpPr/>
          <p:nvPr/>
        </p:nvSpPr>
        <p:spPr>
          <a:xfrm>
            <a:off x="8517835" y="1715091"/>
            <a:ext cx="2766061" cy="1945988"/>
          </a:xfrm>
          <a:prstGeom prst="wedgeRoundRectCallout">
            <a:avLst>
              <a:gd name="adj1" fmla="val 18833"/>
              <a:gd name="adj2" fmla="val 65657"/>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How does determining the intersection point help you determine your answers?</a:t>
            </a:r>
          </a:p>
        </p:txBody>
      </p:sp>
    </p:spTree>
    <p:extLst>
      <p:ext uri="{BB962C8B-B14F-4D97-AF65-F5344CB8AC3E}">
        <p14:creationId xmlns:p14="http://schemas.microsoft.com/office/powerpoint/2010/main" val="1708253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C599-39A6-6587-E9BE-E03B9C0335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7F7773-2C69-B679-B0E0-CC6B5D193C0C}"/>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(11 of 14) </a:t>
            </a:r>
          </a:p>
        </p:txBody>
      </p:sp>
      <p:sp>
        <p:nvSpPr>
          <p:cNvPr id="9" name="Text Placeholder 2">
            <a:extLst>
              <a:ext uri="{FF2B5EF4-FFF2-40B4-BE49-F238E27FC236}">
                <a16:creationId xmlns:a16="http://schemas.microsoft.com/office/drawing/2014/main" id="{FED8FE1C-A72A-A27F-6F28-DFA61089EDF0}"/>
              </a:ext>
            </a:extLst>
          </p:cNvPr>
          <p:cNvSpPr txBox="1">
            <a:spLocks/>
          </p:cNvSpPr>
          <p:nvPr/>
        </p:nvSpPr>
        <p:spPr>
          <a:xfrm>
            <a:off x="777240" y="1608363"/>
            <a:ext cx="106527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Use the graph to answer each question. Write an equation or inequality statement for each.</a:t>
            </a:r>
          </a:p>
          <a:p>
            <a:pPr marL="1028700" lvl="1" indent="-514350">
              <a:buFont typeface="+mj-lt"/>
              <a:buAutoNum type="alphaLcPeriod"/>
            </a:pPr>
            <a:r>
              <a:rPr lang="en-US" dirty="0">
                <a:solidFill>
                  <a:srgbClr val="000000"/>
                </a:solidFill>
              </a:rPr>
              <a:t>How many boxes would Elijah have to sell to earn at least $925?</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3265907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FBA76-F5CD-6093-C90F-3A93D6ED42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AF31B6-3B06-D014-AF19-5B42BAFD397C}"/>
              </a:ext>
            </a:extLst>
          </p:cNvPr>
          <p:cNvSpPr>
            <a:spLocks noGrp="1"/>
          </p:cNvSpPr>
          <p:nvPr>
            <p:ph type="title"/>
          </p:nvPr>
        </p:nvSpPr>
        <p:spPr/>
        <p:txBody>
          <a:bodyPr/>
          <a:lstStyle/>
          <a:p>
            <a:pPr algn="l"/>
            <a:r>
              <a:rPr lang="en-US" sz="4000" b="1" dirty="0"/>
              <a:t>Modeling Linear Inequalities </a:t>
            </a:r>
            <a:r>
              <a:rPr lang="en-US" sz="2000" b="1" dirty="0">
                <a:solidFill>
                  <a:schemeClr val="bg1"/>
                </a:solidFill>
              </a:rPr>
              <a:t>(12 of 14) </a:t>
            </a:r>
          </a:p>
        </p:txBody>
      </p:sp>
      <p:sp>
        <p:nvSpPr>
          <p:cNvPr id="9" name="Text Placeholder 2">
            <a:extLst>
              <a:ext uri="{FF2B5EF4-FFF2-40B4-BE49-F238E27FC236}">
                <a16:creationId xmlns:a16="http://schemas.microsoft.com/office/drawing/2014/main" id="{ED32D85C-E0FC-A08F-3996-5C04DFD6D35B}"/>
              </a:ext>
            </a:extLst>
          </p:cNvPr>
          <p:cNvSpPr txBox="1">
            <a:spLocks/>
          </p:cNvSpPr>
          <p:nvPr/>
        </p:nvSpPr>
        <p:spPr>
          <a:xfrm>
            <a:off x="777240" y="1608363"/>
            <a:ext cx="10104120" cy="28950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How many boxes would Elijah have to sell to earn less</a:t>
            </a:r>
            <a:br>
              <a:rPr lang="en-US" sz="2800" dirty="0">
                <a:solidFill>
                  <a:srgbClr val="000000"/>
                </a:solidFill>
              </a:rPr>
            </a:br>
            <a:r>
              <a:rPr lang="en-US" sz="2800" dirty="0">
                <a:solidFill>
                  <a:srgbClr val="000000"/>
                </a:solidFill>
              </a:rPr>
              <a:t>than $2050?</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How many boxes would Elijah have to sell to earn exactly $700?</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3251997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5858-5F72-0770-5A93-9CE0E24D3F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9E1AC8-F966-919C-C6D0-4E4935EAC637}"/>
              </a:ext>
            </a:extLst>
          </p:cNvPr>
          <p:cNvSpPr>
            <a:spLocks noGrp="1"/>
          </p:cNvSpPr>
          <p:nvPr>
            <p:ph type="title"/>
          </p:nvPr>
        </p:nvSpPr>
        <p:spPr/>
        <p:txBody>
          <a:bodyPr/>
          <a:lstStyle/>
          <a:p>
            <a:pPr algn="l"/>
            <a:r>
              <a:rPr lang="en-US" b="1" dirty="0"/>
              <a:t>Modeling Linear Inequalities </a:t>
            </a:r>
            <a:r>
              <a:rPr lang="en-US" sz="2000" b="1" dirty="0">
                <a:solidFill>
                  <a:schemeClr val="bg1"/>
                </a:solidFill>
              </a:rPr>
              <a:t>(13 of 14) </a:t>
            </a:r>
          </a:p>
        </p:txBody>
      </p:sp>
      <p:sp>
        <p:nvSpPr>
          <p:cNvPr id="9" name="Text Placeholder 2">
            <a:extLst>
              <a:ext uri="{FF2B5EF4-FFF2-40B4-BE49-F238E27FC236}">
                <a16:creationId xmlns:a16="http://schemas.microsoft.com/office/drawing/2014/main" id="{B1948629-0BBE-3F91-DC6B-BBFD9610EFB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3.</a:t>
            </a:r>
            <a:r>
              <a:rPr lang="en-US" sz="2800" dirty="0">
                <a:solidFill>
                  <a:srgbClr val="000000"/>
                </a:solidFill>
              </a:rPr>
              <a:t>2</a:t>
            </a:r>
            <a:r>
              <a:rPr lang="en-US" sz="2800" b="0" i="0" u="none" strike="noStrike" baseline="0" dirty="0">
                <a:solidFill>
                  <a:srgbClr val="000000"/>
                </a:solidFill>
              </a:rPr>
              <a:t>!</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9E404DE2-2CD2-17B3-5101-AEF206D2D1B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079807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DABD7-0098-73F0-4A9D-E77A60EBF9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EC7972-0BDB-9874-5F2E-65F4011F1A2A}"/>
              </a:ext>
            </a:extLst>
          </p:cNvPr>
          <p:cNvSpPr>
            <a:spLocks noGrp="1"/>
          </p:cNvSpPr>
          <p:nvPr>
            <p:ph type="title"/>
          </p:nvPr>
        </p:nvSpPr>
        <p:spPr/>
        <p:txBody>
          <a:bodyPr/>
          <a:lstStyle/>
          <a:p>
            <a:pPr algn="l"/>
            <a:r>
              <a:rPr lang="en-US" b="1" dirty="0"/>
              <a:t>Modeling Linear Inequalities</a:t>
            </a:r>
            <a:r>
              <a:rPr lang="en-US" sz="3800" b="1" dirty="0"/>
              <a:t> </a:t>
            </a:r>
            <a:r>
              <a:rPr lang="en-US" sz="2000" b="1" dirty="0">
                <a:solidFill>
                  <a:schemeClr val="bg1"/>
                </a:solidFill>
              </a:rPr>
              <a:t>(14 of 14) </a:t>
            </a:r>
          </a:p>
        </p:txBody>
      </p:sp>
      <p:sp>
        <p:nvSpPr>
          <p:cNvPr id="9" name="Text Placeholder 2">
            <a:extLst>
              <a:ext uri="{FF2B5EF4-FFF2-40B4-BE49-F238E27FC236}">
                <a16:creationId xmlns:a16="http://schemas.microsoft.com/office/drawing/2014/main" id="{6E12254D-CC0B-378D-F8F3-A1448455CD7B}"/>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368145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E46B-EC75-FFDC-368F-4E445242B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F4849-B168-BEBD-960C-BEFF4D9493BA}"/>
              </a:ext>
            </a:extLst>
          </p:cNvPr>
          <p:cNvSpPr>
            <a:spLocks noGrp="1"/>
          </p:cNvSpPr>
          <p:nvPr>
            <p:ph type="title" idx="4294967295"/>
          </p:nvPr>
        </p:nvSpPr>
        <p:spPr>
          <a:xfrm>
            <a:off x="838200" y="-467139"/>
            <a:ext cx="10514013" cy="467139"/>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14003DF8-B1C0-E418-95BC-6B8ED59AFB61}"/>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62133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682E-8EE3-888A-A267-F3C7E671A1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C8964-3E16-2824-C953-C2C6CA019A91}"/>
              </a:ext>
            </a:extLst>
          </p:cNvPr>
          <p:cNvSpPr>
            <a:spLocks noGrp="1"/>
          </p:cNvSpPr>
          <p:nvPr>
            <p:ph type="title"/>
          </p:nvPr>
        </p:nvSpPr>
        <p:spPr/>
        <p:txBody>
          <a:bodyPr/>
          <a:lstStyle/>
          <a:p>
            <a:pPr algn="l"/>
            <a:r>
              <a:rPr lang="en-US" b="1" dirty="0"/>
              <a:t>Essential Question </a:t>
            </a:r>
            <a:r>
              <a:rPr lang="en-US" sz="2000" b="1" dirty="0">
                <a:solidFill>
                  <a:schemeClr val="bg1"/>
                </a:solidFill>
              </a:rPr>
              <a:t>(2 of 3)</a:t>
            </a:r>
          </a:p>
        </p:txBody>
      </p:sp>
      <p:sp>
        <p:nvSpPr>
          <p:cNvPr id="2" name="Text Placeholder 2">
            <a:extLst>
              <a:ext uri="{FF2B5EF4-FFF2-40B4-BE49-F238E27FC236}">
                <a16:creationId xmlns:a16="http://schemas.microsoft.com/office/drawing/2014/main" id="{237775DB-5656-C3EB-E8E9-D53E1D1366DC}"/>
              </a:ext>
            </a:extLst>
          </p:cNvPr>
          <p:cNvSpPr txBox="1">
            <a:spLocks/>
          </p:cNvSpPr>
          <p:nvPr/>
        </p:nvSpPr>
        <p:spPr>
          <a:xfrm>
            <a:off x="777240" y="1610139"/>
            <a:ext cx="9893481" cy="4357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Can you use these same methods to solve problems involving linear inequalities?</a:t>
            </a:r>
          </a:p>
          <a:p>
            <a:pPr marL="0" indent="0">
              <a:spcBef>
                <a:spcPts val="24"/>
              </a:spcBef>
              <a:buNone/>
            </a:pPr>
            <a:endParaRPr lang="en-US" sz="2800" dirty="0">
              <a:solidFill>
                <a:srgbClr val="000000"/>
              </a:solidFill>
            </a:endParaRPr>
          </a:p>
        </p:txBody>
      </p:sp>
    </p:spTree>
    <p:extLst>
      <p:ext uri="{BB962C8B-B14F-4D97-AF65-F5344CB8AC3E}">
        <p14:creationId xmlns:p14="http://schemas.microsoft.com/office/powerpoint/2010/main" val="177747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8CD5F-BB04-92EA-52C3-2F39B22DAE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33F0E8-5804-C5E2-48C2-F86C67A42B6F}"/>
              </a:ext>
            </a:extLst>
          </p:cNvPr>
          <p:cNvSpPr>
            <a:spLocks noGrp="1"/>
          </p:cNvSpPr>
          <p:nvPr>
            <p:ph type="title" idx="4294967295"/>
          </p:nvPr>
        </p:nvSpPr>
        <p:spPr>
          <a:xfrm>
            <a:off x="838200" y="-477078"/>
            <a:ext cx="10514013" cy="477078"/>
          </a:xfrm>
          <a:prstGeom prst="rect">
            <a:avLst/>
          </a:prstGeom>
        </p:spPr>
        <p:txBody>
          <a:bodyPr anchor="b"/>
          <a:lstStyle/>
          <a:p>
            <a:r>
              <a:rPr lang="en-US" sz="2000" dirty="0">
                <a:solidFill>
                  <a:schemeClr val="bg2"/>
                </a:solidFill>
              </a:rPr>
              <a:t>Activity 3.2</a:t>
            </a:r>
          </a:p>
        </p:txBody>
      </p:sp>
      <p:sp>
        <p:nvSpPr>
          <p:cNvPr id="3" name="Text Placeholder 2" descr="15 to 20 minutes">
            <a:extLst>
              <a:ext uri="{FF2B5EF4-FFF2-40B4-BE49-F238E27FC236}">
                <a16:creationId xmlns:a16="http://schemas.microsoft.com/office/drawing/2014/main" id="{3FF04DB6-B94F-E4E5-A870-6DAC9C1E6D71}"/>
              </a:ext>
            </a:extLst>
          </p:cNvPr>
          <p:cNvSpPr>
            <a:spLocks noGrp="1"/>
          </p:cNvSpPr>
          <p:nvPr>
            <p:ph type="body" sz="quarter" idx="12"/>
          </p:nvPr>
        </p:nvSpPr>
        <p:spPr>
          <a:xfrm>
            <a:off x="10614990" y="5781577"/>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CAF8E170-D1FB-D202-5039-34F017B53117}"/>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3.2</a:t>
            </a:r>
          </a:p>
        </p:txBody>
      </p:sp>
    </p:spTree>
    <p:extLst>
      <p:ext uri="{BB962C8B-B14F-4D97-AF65-F5344CB8AC3E}">
        <p14:creationId xmlns:p14="http://schemas.microsoft.com/office/powerpoint/2010/main" val="3192032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37D4-1ADE-A517-23DB-B711554F17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4C9937-963F-FB62-EE13-051833C4084F}"/>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(1 of 8)</a:t>
            </a:r>
          </a:p>
        </p:txBody>
      </p:sp>
      <p:sp>
        <p:nvSpPr>
          <p:cNvPr id="2" name="TextBox 1">
            <a:extLst>
              <a:ext uri="{FF2B5EF4-FFF2-40B4-BE49-F238E27FC236}">
                <a16:creationId xmlns:a16="http://schemas.microsoft.com/office/drawing/2014/main" id="{5FE96B71-7E6C-3F66-377C-5BF8DAE033CC}"/>
              </a:ext>
            </a:extLst>
          </p:cNvPr>
          <p:cNvSpPr txBox="1"/>
          <p:nvPr/>
        </p:nvSpPr>
        <p:spPr>
          <a:xfrm>
            <a:off x="775607" y="1778988"/>
            <a:ext cx="2539094" cy="1850286"/>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To solve an inequality means to determine the values of the variable that make the inequality true.</a:t>
            </a:r>
          </a:p>
        </p:txBody>
      </p:sp>
      <p:sp>
        <p:nvSpPr>
          <p:cNvPr id="9" name="Text Placeholder 2">
            <a:extLst>
              <a:ext uri="{FF2B5EF4-FFF2-40B4-BE49-F238E27FC236}">
                <a16:creationId xmlns:a16="http://schemas.microsoft.com/office/drawing/2014/main" id="{C1F7A96B-EE68-7A1A-CF7A-978EEA96308D}"/>
              </a:ext>
            </a:extLst>
          </p:cNvPr>
          <p:cNvSpPr txBox="1">
            <a:spLocks/>
          </p:cNvSpPr>
          <p:nvPr/>
        </p:nvSpPr>
        <p:spPr>
          <a:xfrm>
            <a:off x="3611880" y="1608362"/>
            <a:ext cx="8092440" cy="43274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Another way to determine the solution set of any inequality is to solve it algebraically. The objective when solving an inequality is similar to the objective when solving an equation: You want to isolate the variable on one side of the inequality symbol.</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To make the first deposit on the trip, Elijah’s total sales, </a:t>
            </a:r>
            <a:r>
              <a:rPr lang="en-US" sz="2800" i="1" dirty="0">
                <a:solidFill>
                  <a:srgbClr val="000000"/>
                </a:solidFill>
                <a:latin typeface="+mj-lt"/>
              </a:rPr>
              <a:t>f(b)</a:t>
            </a:r>
            <a:r>
              <a:rPr lang="en-US" sz="2800" dirty="0">
                <a:solidFill>
                  <a:srgbClr val="000000"/>
                </a:solidFill>
              </a:rPr>
              <a:t>, need to be at least $1100.</a:t>
            </a:r>
          </a:p>
        </p:txBody>
      </p:sp>
    </p:spTree>
    <p:extLst>
      <p:ext uri="{BB962C8B-B14F-4D97-AF65-F5344CB8AC3E}">
        <p14:creationId xmlns:p14="http://schemas.microsoft.com/office/powerpoint/2010/main" val="3009411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1934B-DDD8-06D4-2F85-4CDAD4F4F53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8ED7D9-8AF6-CFFF-65B7-375AF284954B}"/>
              </a:ext>
              <a:ext uri="{C183D7F6-B498-43B3-948B-1728B52AA6E4}">
                <adec:decorative xmlns:adec="http://schemas.microsoft.com/office/drawing/2017/decorative" val="1"/>
              </a:ext>
            </a:extLst>
          </p:cNvPr>
          <p:cNvSpPr/>
          <p:nvPr/>
        </p:nvSpPr>
        <p:spPr>
          <a:xfrm>
            <a:off x="850719" y="1420585"/>
            <a:ext cx="10693581" cy="5014505"/>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55148CB-5C10-B2F6-D0A8-E7A1550C60E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(2 of 8) </a:t>
            </a:r>
          </a:p>
        </p:txBody>
      </p:sp>
      <p:pic>
        <p:nvPicPr>
          <p:cNvPr id="5" name="Picture 4" descr="Worked Example">
            <a:extLst>
              <a:ext uri="{FF2B5EF4-FFF2-40B4-BE49-F238E27FC236}">
                <a16:creationId xmlns:a16="http://schemas.microsoft.com/office/drawing/2014/main" id="{8A6A297D-6095-46CA-2A80-2E86B5984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186" y="1207206"/>
            <a:ext cx="2758679" cy="42675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DCE165-8885-18EA-D6C9-5C4A39706315}"/>
                  </a:ext>
                </a:extLst>
              </p:cNvPr>
              <p:cNvSpPr txBox="1"/>
              <p:nvPr/>
            </p:nvSpPr>
            <p:spPr>
              <a:xfrm>
                <a:off x="1234435" y="1649198"/>
                <a:ext cx="10138415" cy="4671215"/>
              </a:xfrm>
              <a:prstGeom prst="rect">
                <a:avLst/>
              </a:prstGeom>
              <a:noFill/>
            </p:spPr>
            <p:txBody>
              <a:bodyPr wrap="square" rtlCol="0">
                <a:spAutoFit/>
              </a:bodyPr>
              <a:lstStyle/>
              <a:p>
                <a:pPr algn="l"/>
                <a:r>
                  <a:rPr lang="en-US" sz="2800" b="0" i="0" u="none" strike="noStrike" baseline="0" dirty="0">
                    <a:solidFill>
                      <a:srgbClr val="000000"/>
                    </a:solidFill>
                  </a:rPr>
                  <a:t>You can set up an inequality and solve it to determine the number</a:t>
                </a:r>
              </a:p>
              <a:p>
                <a:pPr algn="l"/>
                <a:r>
                  <a:rPr lang="en-US" sz="2800" b="0" i="0" u="none" strike="noStrike" baseline="0" dirty="0">
                    <a:solidFill>
                      <a:srgbClr val="000000"/>
                    </a:solidFill>
                  </a:rPr>
                  <a:t>of boxes Elijah needs to sell.</a:t>
                </a: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𝑓</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)≥1100</m:t>
                    </m:r>
                  </m:oMath>
                </a14:m>
                <a:endParaRPr lang="en-US" sz="2800" dirty="0">
                  <a:solidFill>
                    <a:srgbClr val="000000"/>
                  </a:solidFill>
                </a:endParaRP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+25≥1100</m:t>
                      </m:r>
                    </m:oMath>
                  </m:oMathPara>
                </a14:m>
                <a:endParaRPr lang="en-US" sz="2800" dirty="0">
                  <a:solidFill>
                    <a:srgbClr val="000000"/>
                  </a:solidFill>
                </a:endParaRPr>
              </a:p>
              <a:p>
                <a:pPr algn="ctr"/>
                <a:r>
                  <a:rPr lang="en-US" sz="2800" dirty="0">
                    <a:solidFill>
                      <a:srgbClr val="000000"/>
                    </a:solidFill>
                  </a:rPr>
                  <a:t>Solve the inequality in the same way you would solve an equation.</a:t>
                </a: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+25≥1100</m:t>
                      </m:r>
                    </m:oMath>
                  </m:oMathPara>
                </a14:m>
                <a:endParaRPr lang="en-US" sz="2800" dirty="0">
                  <a:solidFill>
                    <a:srgbClr val="000000"/>
                  </a:solidFill>
                </a:endParaRPr>
              </a:p>
              <a:p>
                <a:pPr algn="ctr"/>
                <a14:m>
                  <m:oMathPara xmlns:m="http://schemas.openxmlformats.org/officeDocument/2006/math">
                    <m:oMathParaPr>
                      <m:jc m:val="centerGroup"/>
                    </m:oMathParaPr>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+25 –25≥1100 –25</m:t>
                      </m:r>
                    </m:oMath>
                  </m:oMathPara>
                </a14:m>
                <a:endParaRPr lang="en-US" sz="2800" dirty="0">
                  <a:solidFill>
                    <a:srgbClr val="000000"/>
                  </a:solidFill>
                </a:endParaRP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3.75</m:t>
                    </m:r>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≥1075</m:t>
                    </m:r>
                  </m:oMath>
                </a14:m>
                <a:endParaRPr lang="en-US" sz="2800" dirty="0">
                  <a:solidFill>
                    <a:srgbClr val="000000"/>
                  </a:solidFill>
                </a:endParaRPr>
              </a:p>
              <a:p>
                <a:pPr algn="ctr"/>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m:rPr>
                            <m:nor/>
                          </m:rPr>
                          <a:rPr lang="en-US" sz="2800" dirty="0">
                            <a:solidFill>
                              <a:srgbClr val="000000"/>
                            </a:solidFill>
                            <a:latin typeface="Cambria Math" panose="02040503050406030204" pitchFamily="18" charset="0"/>
                            <a:ea typeface="Cambria Math" panose="02040503050406030204" pitchFamily="18" charset="0"/>
                          </a:rPr>
                          <m:t>3.75</m:t>
                        </m:r>
                        <m:r>
                          <m:rPr>
                            <m:nor/>
                          </m:rPr>
                          <a:rPr lang="en-US" sz="2800" i="1" dirty="0">
                            <a:solidFill>
                              <a:srgbClr val="000000"/>
                            </a:solidFill>
                            <a:latin typeface="Cambria Math" panose="02040503050406030204" pitchFamily="18" charset="0"/>
                            <a:ea typeface="Cambria Math" panose="02040503050406030204" pitchFamily="18" charset="0"/>
                          </a:rPr>
                          <m:t>b</m:t>
                        </m:r>
                      </m:num>
                      <m:den>
                        <m:r>
                          <m:rPr>
                            <m:nor/>
                          </m:rPr>
                          <a:rPr lang="en-US" sz="2800" dirty="0">
                            <a:solidFill>
                              <a:srgbClr val="000000"/>
                            </a:solidFill>
                            <a:latin typeface="Cambria Math" panose="02040503050406030204" pitchFamily="18" charset="0"/>
                            <a:ea typeface="Cambria Math" panose="02040503050406030204" pitchFamily="18" charset="0"/>
                          </a:rPr>
                          <m:t>3.75</m:t>
                        </m:r>
                      </m:den>
                    </m:f>
                  </m:oMath>
                </a14:m>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m:rPr>
                            <m:nor/>
                          </m:rPr>
                          <a:rPr lang="en-US" sz="2800" dirty="0">
                            <a:solidFill>
                              <a:srgbClr val="000000"/>
                            </a:solidFill>
                            <a:latin typeface="Cambria Math" panose="02040503050406030204" pitchFamily="18" charset="0"/>
                            <a:ea typeface="Cambria Math" panose="02040503050406030204" pitchFamily="18" charset="0"/>
                          </a:rPr>
                          <m:t>1075</m:t>
                        </m:r>
                        <m:r>
                          <m:rPr>
                            <m:nor/>
                          </m:rPr>
                          <a:rPr lang="en-US" sz="2800" dirty="0">
                            <a:solidFill>
                              <a:srgbClr val="000000"/>
                            </a:solidFill>
                          </a:rPr>
                          <m:t> </m:t>
                        </m:r>
                      </m:num>
                      <m:den>
                        <m:r>
                          <m:rPr>
                            <m:nor/>
                          </m:rPr>
                          <a:rPr lang="en-US" sz="2800" dirty="0">
                            <a:solidFill>
                              <a:srgbClr val="000000"/>
                            </a:solidFill>
                            <a:latin typeface="Cambria Math" panose="02040503050406030204" pitchFamily="18" charset="0"/>
                            <a:ea typeface="Cambria Math" panose="02040503050406030204" pitchFamily="18" charset="0"/>
                          </a:rPr>
                          <m:t>3.75</m:t>
                        </m:r>
                      </m:den>
                    </m:f>
                  </m:oMath>
                </a14:m>
                <a:r>
                  <a:rPr lang="en-US" sz="2800" dirty="0">
                    <a:solidFill>
                      <a:srgbClr val="000000"/>
                    </a:solidFill>
                  </a:rPr>
                  <a:t> </a:t>
                </a:r>
              </a:p>
              <a:p>
                <a:pPr algn="ct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dirty="0" smtClean="0">
                        <a:solidFill>
                          <a:srgbClr val="000000"/>
                        </a:solidFill>
                        <a:latin typeface="Cambria Math" panose="02040503050406030204" pitchFamily="18" charset="0"/>
                      </a:rPr>
                      <m:t>≥286.</m:t>
                    </m:r>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6</m:t>
                        </m:r>
                      </m:e>
                    </m:acc>
                  </m:oMath>
                </a14:m>
                <a:endParaRPr lang="en-US" sz="2800" dirty="0">
                  <a:solidFill>
                    <a:srgbClr val="000000"/>
                  </a:solidFill>
                </a:endParaRPr>
              </a:p>
            </p:txBody>
          </p:sp>
        </mc:Choice>
        <mc:Fallback xmlns="">
          <p:sp>
            <p:nvSpPr>
              <p:cNvPr id="7" name="TextBox 6">
                <a:extLst>
                  <a:ext uri="{FF2B5EF4-FFF2-40B4-BE49-F238E27FC236}">
                    <a16:creationId xmlns:a16="http://schemas.microsoft.com/office/drawing/2014/main" id="{FFDCE165-8885-18EA-D6C9-5C4A39706315}"/>
                  </a:ext>
                </a:extLst>
              </p:cNvPr>
              <p:cNvSpPr txBox="1">
                <a:spLocks noRot="1" noChangeAspect="1" noMove="1" noResize="1" noEditPoints="1" noAdjustHandles="1" noChangeArrowheads="1" noChangeShapeType="1" noTextEdit="1"/>
              </p:cNvSpPr>
              <p:nvPr/>
            </p:nvSpPr>
            <p:spPr>
              <a:xfrm>
                <a:off x="1234435" y="1649198"/>
                <a:ext cx="10138415" cy="4671215"/>
              </a:xfrm>
              <a:prstGeom prst="rect">
                <a:avLst/>
              </a:prstGeom>
              <a:blipFill>
                <a:blip r:embed="rId4"/>
                <a:stretch>
                  <a:fillRect l="-1202" t="-1305"/>
                </a:stretch>
              </a:blipFill>
            </p:spPr>
            <p:txBody>
              <a:bodyPr/>
              <a:lstStyle/>
              <a:p>
                <a:r>
                  <a:rPr lang="en-US">
                    <a:noFill/>
                  </a:rPr>
                  <a:t> </a:t>
                </a:r>
              </a:p>
            </p:txBody>
          </p:sp>
        </mc:Fallback>
      </mc:AlternateContent>
    </p:spTree>
    <p:extLst>
      <p:ext uri="{BB962C8B-B14F-4D97-AF65-F5344CB8AC3E}">
        <p14:creationId xmlns:p14="http://schemas.microsoft.com/office/powerpoint/2010/main" val="1507029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FB13-8145-422B-B120-5BEB834FD3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BD744D-CC4F-1570-6B39-31D4257A16A5}"/>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(3 of 8) </a:t>
            </a:r>
          </a:p>
        </p:txBody>
      </p:sp>
      <p:sp>
        <p:nvSpPr>
          <p:cNvPr id="2" name="TextBox 1">
            <a:extLst>
              <a:ext uri="{FF2B5EF4-FFF2-40B4-BE49-F238E27FC236}">
                <a16:creationId xmlns:a16="http://schemas.microsoft.com/office/drawing/2014/main" id="{0C7989FD-159B-7D29-C0B5-8A1270BBB4B4}"/>
              </a:ext>
            </a:extLst>
          </p:cNvPr>
          <p:cNvSpPr txBox="1"/>
          <p:nvPr/>
        </p:nvSpPr>
        <p:spPr>
          <a:xfrm>
            <a:off x="934136" y="1592035"/>
            <a:ext cx="2276203" cy="1443448"/>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Think about…</a:t>
            </a:r>
            <a:br>
              <a:rPr lang="en-US" sz="2000" b="1" dirty="0">
                <a:solidFill>
                  <a:srgbClr val="2B8147"/>
                </a:solidFill>
              </a:rPr>
            </a:br>
            <a:r>
              <a:rPr lang="en-US" sz="2000" dirty="0">
                <a:solidFill>
                  <a:srgbClr val="000000"/>
                </a:solidFill>
              </a:rPr>
              <a:t>How accurate does your answer need to be?</a:t>
            </a:r>
          </a:p>
        </p:txBody>
      </p:sp>
      <p:sp>
        <p:nvSpPr>
          <p:cNvPr id="9" name="Text Placeholder 2">
            <a:extLst>
              <a:ext uri="{FF2B5EF4-FFF2-40B4-BE49-F238E27FC236}">
                <a16:creationId xmlns:a16="http://schemas.microsoft.com/office/drawing/2014/main" id="{A84FB255-DC46-E5F0-355A-2059A366EF84}"/>
              </a:ext>
            </a:extLst>
          </p:cNvPr>
          <p:cNvSpPr txBox="1">
            <a:spLocks/>
          </p:cNvSpPr>
          <p:nvPr/>
        </p:nvSpPr>
        <p:spPr>
          <a:xfrm>
            <a:off x="3210339" y="1592035"/>
            <a:ext cx="7225748" cy="45479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How many boxes of popcorn does Elijah need to sell to make the first deposit? Explain your reasoning.</a:t>
            </a: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514350" indent="-514350">
              <a:buFont typeface="+mj-lt"/>
              <a:buAutoNum type="arabicPeriod"/>
            </a:pPr>
            <a:endParaRPr lang="en-US" sz="2800" dirty="0">
              <a:solidFill>
                <a:srgbClr val="000000"/>
              </a:solidFill>
            </a:endParaRPr>
          </a:p>
        </p:txBody>
      </p:sp>
    </p:spTree>
    <p:extLst>
      <p:ext uri="{BB962C8B-B14F-4D97-AF65-F5344CB8AC3E}">
        <p14:creationId xmlns:p14="http://schemas.microsoft.com/office/powerpoint/2010/main" val="252759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77E8-B3E8-CB83-24AE-B0D7493AC8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E91A4D-E101-58EB-F00C-DCD8EBD3E6B1}"/>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(4 of 8) </a:t>
            </a:r>
          </a:p>
        </p:txBody>
      </p:sp>
      <p:sp>
        <p:nvSpPr>
          <p:cNvPr id="9" name="Text Placeholder 2">
            <a:extLst>
              <a:ext uri="{FF2B5EF4-FFF2-40B4-BE49-F238E27FC236}">
                <a16:creationId xmlns:a16="http://schemas.microsoft.com/office/drawing/2014/main" id="{04B262E4-08E6-61FD-53F1-0DC2B5B6D145}"/>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Write and solve an inequality for each. Show your work.</a:t>
            </a:r>
          </a:p>
          <a:p>
            <a:pPr marL="1074738" lvl="1" indent="-514350">
              <a:buFont typeface="+mj-lt"/>
              <a:buAutoNum type="alphaLcPeriod"/>
            </a:pPr>
            <a:r>
              <a:rPr lang="en-US" dirty="0">
                <a:solidFill>
                  <a:srgbClr val="000000"/>
                </a:solidFill>
              </a:rPr>
              <a:t>What is the greatest number of boxes Elijah could sell and still not have made $600 in sales?</a:t>
            </a: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3745700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7EFB-B854-0B2D-841A-9A94DC364C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BA9BA1-20D5-B696-FC83-20869F9AF56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(5 of 8) </a:t>
            </a:r>
          </a:p>
        </p:txBody>
      </p:sp>
      <p:sp>
        <p:nvSpPr>
          <p:cNvPr id="9" name="Text Placeholder 2">
            <a:extLst>
              <a:ext uri="{FF2B5EF4-FFF2-40B4-BE49-F238E27FC236}">
                <a16:creationId xmlns:a16="http://schemas.microsoft.com/office/drawing/2014/main" id="{70E23CB9-1D2E-CEE0-2187-8A0B516A8FA7}"/>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At least how many boxes would Elijah have to sell to make $1500 in sales?</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436796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58915-5E37-E89D-0F69-D053A3875C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609A61-CD82-0DEF-B56C-292FF826DABF}"/>
              </a:ext>
            </a:extLst>
          </p:cNvPr>
          <p:cNvSpPr>
            <a:spLocks noGrp="1"/>
          </p:cNvSpPr>
          <p:nvPr>
            <p:ph type="title"/>
          </p:nvPr>
        </p:nvSpPr>
        <p:spPr/>
        <p:txBody>
          <a:bodyPr/>
          <a:lstStyle/>
          <a:p>
            <a:pPr algn="l"/>
            <a:r>
              <a:rPr lang="en-US" sz="4000" b="1" dirty="0"/>
              <a:t>Solving Two-Step Linear Inequalities </a:t>
            </a:r>
            <a:r>
              <a:rPr lang="en-US" sz="2000" b="1" dirty="0">
                <a:solidFill>
                  <a:schemeClr val="bg1"/>
                </a:solidFill>
              </a:rPr>
              <a:t>(6 of 8) </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ADB9BC2-792F-A5AC-8D0A-B03225C4A114}"/>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Worked Example showed how to solve an inequality of the form,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𝑚𝑥</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𝑏</m:t>
                    </m:r>
                  </m:oMath>
                </a14:m>
                <a:r>
                  <a:rPr lang="en-US" sz="2800" dirty="0">
                    <a:solidFill>
                      <a:srgbClr val="000000"/>
                    </a:solidFill>
                  </a:rPr>
                  <a:t>. How does your method change if the inequality is in a different form?</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Choice>
        <mc:Fallback xmlns="">
          <p:sp>
            <p:nvSpPr>
              <p:cNvPr id="9" name="Text Placeholder 2">
                <a:extLst>
                  <a:ext uri="{FF2B5EF4-FFF2-40B4-BE49-F238E27FC236}">
                    <a16:creationId xmlns:a16="http://schemas.microsoft.com/office/drawing/2014/main" id="{8ADB9BC2-792F-A5AC-8D0A-B03225C4A114}"/>
                  </a:ext>
                </a:extLst>
              </p:cNvPr>
              <p:cNvSpPr txBox="1">
                <a:spLocks noRot="1" noChangeAspect="1" noMove="1" noResize="1" noEditPoints="1" noAdjustHandles="1" noChangeArrowheads="1" noChangeShapeType="1" noTextEdit="1"/>
              </p:cNvSpPr>
              <p:nvPr/>
            </p:nvSpPr>
            <p:spPr>
              <a:xfrm>
                <a:off x="777240" y="1608363"/>
                <a:ext cx="10104120" cy="4655277"/>
              </a:xfrm>
              <a:prstGeom prst="rect">
                <a:avLst/>
              </a:prstGeom>
              <a:blipFill>
                <a:blip r:embed="rId3"/>
                <a:stretch>
                  <a:fillRect l="-1267" t="-1440"/>
                </a:stretch>
              </a:blipFill>
            </p:spPr>
            <p:txBody>
              <a:bodyPr/>
              <a:lstStyle/>
              <a:p>
                <a:r>
                  <a:rPr lang="en-US">
                    <a:noFill/>
                  </a:rPr>
                  <a:t> </a:t>
                </a:r>
              </a:p>
            </p:txBody>
          </p:sp>
        </mc:Fallback>
      </mc:AlternateContent>
    </p:spTree>
    <p:extLst>
      <p:ext uri="{BB962C8B-B14F-4D97-AF65-F5344CB8AC3E}">
        <p14:creationId xmlns:p14="http://schemas.microsoft.com/office/powerpoint/2010/main" val="3878881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30B7-7139-AD0B-141B-59AB2D441D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00C045-A031-70BD-9CCB-FCF37EC4D45B}"/>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(7 of 8)</a:t>
            </a:r>
            <a:endParaRPr lang="en-US" b="1" dirty="0">
              <a:solidFill>
                <a:schemeClr val="bg1"/>
              </a:solidFill>
            </a:endParaRPr>
          </a:p>
        </p:txBody>
      </p:sp>
      <p:sp>
        <p:nvSpPr>
          <p:cNvPr id="9" name="Text Placeholder 2">
            <a:extLst>
              <a:ext uri="{FF2B5EF4-FFF2-40B4-BE49-F238E27FC236}">
                <a16:creationId xmlns:a16="http://schemas.microsoft.com/office/drawing/2014/main" id="{B6E9927C-49CB-9BC3-2880-310DC1C21048}"/>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3.2!</a:t>
            </a:r>
          </a:p>
        </p:txBody>
      </p:sp>
      <p:pic>
        <p:nvPicPr>
          <p:cNvPr id="2" name="Picture 1">
            <a:extLst>
              <a:ext uri="{FF2B5EF4-FFF2-40B4-BE49-F238E27FC236}">
                <a16:creationId xmlns:a16="http://schemas.microsoft.com/office/drawing/2014/main" id="{3088B086-3D25-5D1C-FA47-38E058E5BD3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527495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E215-7F6A-3877-3BA6-2161D597CD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9FA5D9-6383-CEEA-CCD4-83CB50BB8699}"/>
              </a:ext>
            </a:extLst>
          </p:cNvPr>
          <p:cNvSpPr>
            <a:spLocks noGrp="1"/>
          </p:cNvSpPr>
          <p:nvPr>
            <p:ph type="title"/>
          </p:nvPr>
        </p:nvSpPr>
        <p:spPr/>
        <p:txBody>
          <a:bodyPr/>
          <a:lstStyle/>
          <a:p>
            <a:pPr algn="l"/>
            <a:r>
              <a:rPr lang="en-US" b="1" dirty="0"/>
              <a:t>Solving Two-Step Linear Inequalities </a:t>
            </a:r>
            <a:r>
              <a:rPr lang="en-US" sz="2000" b="1" dirty="0">
                <a:solidFill>
                  <a:schemeClr val="bg1"/>
                </a:solidFill>
              </a:rPr>
              <a:t>(8 of 8)</a:t>
            </a:r>
            <a:endParaRPr lang="en-US" b="1" dirty="0">
              <a:solidFill>
                <a:schemeClr val="bg1"/>
              </a:solidFill>
            </a:endParaRPr>
          </a:p>
        </p:txBody>
      </p:sp>
      <p:sp>
        <p:nvSpPr>
          <p:cNvPr id="9" name="Text Placeholder 2">
            <a:extLst>
              <a:ext uri="{FF2B5EF4-FFF2-40B4-BE49-F238E27FC236}">
                <a16:creationId xmlns:a16="http://schemas.microsoft.com/office/drawing/2014/main" id="{61389335-23F5-5A66-D262-0664C6BD7304}"/>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505348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949D3-4B56-09E3-269C-941756620E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86D028-D540-6726-D488-1006DE3CCCF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Activity 3.3</a:t>
            </a:r>
          </a:p>
        </p:txBody>
      </p:sp>
      <p:sp>
        <p:nvSpPr>
          <p:cNvPr id="3" name="Text Placeholder 2" descr="20 to 25 minutes">
            <a:extLst>
              <a:ext uri="{FF2B5EF4-FFF2-40B4-BE49-F238E27FC236}">
                <a16:creationId xmlns:a16="http://schemas.microsoft.com/office/drawing/2014/main" id="{6B44CD25-E16A-9ED8-36E6-18FB27DA1876}"/>
              </a:ext>
            </a:extLst>
          </p:cNvPr>
          <p:cNvSpPr>
            <a:spLocks noGrp="1"/>
          </p:cNvSpPr>
          <p:nvPr>
            <p:ph type="body" sz="quarter" idx="12"/>
          </p:nvPr>
        </p:nvSpPr>
        <p:spPr>
          <a:xfrm>
            <a:off x="10623228" y="578981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8B0254E6-F757-72BB-384A-88143293F591}"/>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3.3</a:t>
            </a:r>
          </a:p>
        </p:txBody>
      </p:sp>
    </p:spTree>
    <p:extLst>
      <p:ext uri="{BB962C8B-B14F-4D97-AF65-F5344CB8AC3E}">
        <p14:creationId xmlns:p14="http://schemas.microsoft.com/office/powerpoint/2010/main" val="2134149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0740-36C4-578C-AE72-1FAD8C5722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AE1530-18D0-2D01-A57D-75054D9C9DC5}"/>
              </a:ext>
            </a:extLst>
          </p:cNvPr>
          <p:cNvSpPr>
            <a:spLocks noGrp="1"/>
          </p:cNvSpPr>
          <p:nvPr>
            <p:ph type="title"/>
          </p:nvPr>
        </p:nvSpPr>
        <p:spPr>
          <a:xfrm>
            <a:off x="777240" y="0"/>
            <a:ext cx="11425482" cy="1263192"/>
          </a:xfrm>
        </p:spPr>
        <p:txBody>
          <a:bodyPr/>
          <a:lstStyle/>
          <a:p>
            <a:pPr algn="l"/>
            <a:r>
              <a:rPr lang="en-US" b="1" dirty="0"/>
              <a:t>Reversing Inequality Signs </a:t>
            </a:r>
            <a:r>
              <a:rPr lang="en-US" sz="2000" b="1" dirty="0">
                <a:solidFill>
                  <a:schemeClr val="bg1"/>
                </a:solidFill>
              </a:rPr>
              <a:t>(1 of 9)</a:t>
            </a:r>
          </a:p>
        </p:txBody>
      </p:sp>
      <p:sp>
        <p:nvSpPr>
          <p:cNvPr id="6" name="TextBox 5">
            <a:extLst>
              <a:ext uri="{FF2B5EF4-FFF2-40B4-BE49-F238E27FC236}">
                <a16:creationId xmlns:a16="http://schemas.microsoft.com/office/drawing/2014/main" id="{341B8846-C263-B27F-2AC9-F9C1417FF955}"/>
              </a:ext>
            </a:extLst>
          </p:cNvPr>
          <p:cNvSpPr txBox="1"/>
          <p:nvPr/>
        </p:nvSpPr>
        <p:spPr>
          <a:xfrm>
            <a:off x="878477" y="1688373"/>
            <a:ext cx="1636123" cy="1146267"/>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Sea level has an elevation of 0 feet.</a:t>
            </a:r>
          </a:p>
        </p:txBody>
      </p:sp>
      <p:sp>
        <p:nvSpPr>
          <p:cNvPr id="2" name="Text Placeholder 2">
            <a:extLst>
              <a:ext uri="{FF2B5EF4-FFF2-40B4-BE49-F238E27FC236}">
                <a16:creationId xmlns:a16="http://schemas.microsoft.com/office/drawing/2014/main" id="{05E31FB1-4D3A-BFA8-54EE-24876F764F00}"/>
              </a:ext>
            </a:extLst>
          </p:cNvPr>
          <p:cNvSpPr txBox="1">
            <a:spLocks/>
          </p:cNvSpPr>
          <p:nvPr/>
        </p:nvSpPr>
        <p:spPr>
          <a:xfrm>
            <a:off x="2680655" y="1587278"/>
            <a:ext cx="8909365" cy="140411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lnSpc>
                <a:spcPts val="3000"/>
              </a:lnSpc>
              <a:spcBef>
                <a:spcPts val="0"/>
              </a:spcBef>
              <a:buNone/>
            </a:pPr>
            <a:r>
              <a:rPr lang="en-US" sz="2600" dirty="0">
                <a:solidFill>
                  <a:srgbClr val="000000"/>
                </a:solidFill>
              </a:rPr>
              <a:t>Elijah’s camping troop hikes down from their campsite at an elevation of 4800 feet to the base of the mountain, which is at sea level. They hike down at a rate of 20 feet per minute.</a:t>
            </a:r>
          </a:p>
          <a:p>
            <a:pPr marL="0" indent="0" algn="l">
              <a:lnSpc>
                <a:spcPts val="3000"/>
              </a:lnSpc>
              <a:spcBef>
                <a:spcPts val="0"/>
              </a:spcBef>
              <a:buNone/>
            </a:pPr>
            <a:endParaRPr lang="en-US" sz="2600" dirty="0">
              <a:solidFill>
                <a:srgbClr val="000000"/>
              </a:solidFill>
            </a:endParaRPr>
          </a:p>
          <a:p>
            <a:pPr marL="0" indent="0">
              <a:lnSpc>
                <a:spcPts val="3000"/>
              </a:lnSpc>
              <a:spcBef>
                <a:spcPts val="0"/>
              </a:spcBef>
              <a:buNone/>
            </a:pPr>
            <a:endParaRPr lang="en-US" sz="2600" dirty="0">
              <a:solidFill>
                <a:srgbClr val="000000"/>
              </a:solidFill>
            </a:endParaRPr>
          </a:p>
        </p:txBody>
      </p:sp>
      <p:sp>
        <p:nvSpPr>
          <p:cNvPr id="7" name="Text Placeholder 2">
            <a:extLst>
              <a:ext uri="{FF2B5EF4-FFF2-40B4-BE49-F238E27FC236}">
                <a16:creationId xmlns:a16="http://schemas.microsoft.com/office/drawing/2014/main" id="{E9C9DAED-209F-72E9-5971-C2CEEDAC7772}"/>
              </a:ext>
            </a:extLst>
          </p:cNvPr>
          <p:cNvSpPr txBox="1">
            <a:spLocks/>
          </p:cNvSpPr>
          <p:nvPr/>
        </p:nvSpPr>
        <p:spPr>
          <a:xfrm>
            <a:off x="2686050" y="2991393"/>
            <a:ext cx="5109210" cy="33065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600" dirty="0">
                <a:solidFill>
                  <a:srgbClr val="000000"/>
                </a:solidFill>
              </a:rPr>
              <a:t>Write a function, </a:t>
            </a:r>
            <a:r>
              <a:rPr lang="en-US" sz="2600" i="1" dirty="0">
                <a:solidFill>
                  <a:srgbClr val="000000"/>
                </a:solidFill>
                <a:latin typeface="+mj-lt"/>
              </a:rPr>
              <a:t>h(m)</a:t>
            </a:r>
            <a:r>
              <a:rPr lang="en-US" sz="2600" dirty="0">
                <a:solidFill>
                  <a:srgbClr val="000000"/>
                </a:solidFill>
              </a:rPr>
              <a:t>, to show the troop’s elevation as a function of time in minutes. Label the function on the coordinate plane.</a:t>
            </a:r>
          </a:p>
        </p:txBody>
      </p:sp>
      <p:pic>
        <p:nvPicPr>
          <p:cNvPr id="3" name="Picture 2" descr="A graph of a line on the coordinate plane. The x axis represents time in minutes. The y axis represents elevation in feet. The line falls from left to right from the point (0, 4800) through the approximate point (70, 3200) to the point (240, 0).">
            <a:extLst>
              <a:ext uri="{FF2B5EF4-FFF2-40B4-BE49-F238E27FC236}">
                <a16:creationId xmlns:a16="http://schemas.microsoft.com/office/drawing/2014/main" id="{7B192ECF-EDEF-6F9C-83BF-3EA6EFB68531}"/>
              </a:ext>
            </a:extLst>
          </p:cNvPr>
          <p:cNvPicPr>
            <a:picLocks noChangeAspect="1"/>
          </p:cNvPicPr>
          <p:nvPr/>
        </p:nvPicPr>
        <p:blipFill>
          <a:blip r:embed="rId3"/>
          <a:stretch>
            <a:fillRect/>
          </a:stretch>
        </p:blipFill>
        <p:spPr>
          <a:xfrm>
            <a:off x="7567833" y="2991393"/>
            <a:ext cx="3588323" cy="3434538"/>
          </a:xfrm>
          <a:prstGeom prst="rect">
            <a:avLst/>
          </a:prstGeom>
        </p:spPr>
      </p:pic>
    </p:spTree>
    <p:extLst>
      <p:ext uri="{BB962C8B-B14F-4D97-AF65-F5344CB8AC3E}">
        <p14:creationId xmlns:p14="http://schemas.microsoft.com/office/powerpoint/2010/main" val="3624607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5E80F-DE93-31BD-2B19-F376714C55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1F8C18-729F-E4F3-7CFF-F0E556ACFE37}"/>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(2 of 9) </a:t>
            </a:r>
          </a:p>
        </p:txBody>
      </p:sp>
      <p:sp>
        <p:nvSpPr>
          <p:cNvPr id="2" name="Speech Bubble: Rectangle with Corners Rounded 1">
            <a:extLst>
              <a:ext uri="{FF2B5EF4-FFF2-40B4-BE49-F238E27FC236}">
                <a16:creationId xmlns:a16="http://schemas.microsoft.com/office/drawing/2014/main" id="{EC065DA9-9F11-FA82-54B5-F2AE73DBE290}"/>
              </a:ext>
            </a:extLst>
          </p:cNvPr>
          <p:cNvSpPr/>
          <p:nvPr/>
        </p:nvSpPr>
        <p:spPr>
          <a:xfrm>
            <a:off x="715687" y="1860202"/>
            <a:ext cx="1970364" cy="2134165"/>
          </a:xfrm>
          <a:prstGeom prst="wedgeRoundRectCallout">
            <a:avLst>
              <a:gd name="adj1" fmla="val -14534"/>
              <a:gd name="adj2" fmla="val -59149"/>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are the</a:t>
            </a:r>
          </a:p>
          <a:p>
            <a:r>
              <a:rPr lang="en-US" sz="2000" dirty="0">
                <a:solidFill>
                  <a:srgbClr val="000000"/>
                </a:solidFill>
              </a:rPr>
              <a:t>independent</a:t>
            </a:r>
          </a:p>
          <a:p>
            <a:r>
              <a:rPr lang="en-US" sz="2000" dirty="0">
                <a:solidFill>
                  <a:srgbClr val="000000"/>
                </a:solidFill>
              </a:rPr>
              <a:t>and dependent</a:t>
            </a:r>
          </a:p>
          <a:p>
            <a:r>
              <a:rPr lang="en-US" sz="2000" dirty="0">
                <a:solidFill>
                  <a:srgbClr val="000000"/>
                </a:solidFill>
              </a:rPr>
              <a:t>quantities and</a:t>
            </a:r>
          </a:p>
          <a:p>
            <a:r>
              <a:rPr lang="en-US" sz="2000" dirty="0">
                <a:solidFill>
                  <a:srgbClr val="000000"/>
                </a:solidFill>
              </a:rPr>
              <a:t>their units?</a:t>
            </a:r>
          </a:p>
        </p:txBody>
      </p:sp>
      <p:sp>
        <p:nvSpPr>
          <p:cNvPr id="9" name="Text Placeholder 2">
            <a:extLst>
              <a:ext uri="{FF2B5EF4-FFF2-40B4-BE49-F238E27FC236}">
                <a16:creationId xmlns:a16="http://schemas.microsoft.com/office/drawing/2014/main" id="{2E607116-FB8D-46BC-49AC-FBB36079B2B3}"/>
              </a:ext>
            </a:extLst>
          </p:cNvPr>
          <p:cNvSpPr txBox="1">
            <a:spLocks/>
          </p:cNvSpPr>
          <p:nvPr/>
        </p:nvSpPr>
        <p:spPr>
          <a:xfrm>
            <a:off x="2971800" y="1608363"/>
            <a:ext cx="789813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Analyze the function. Identify each characteristic and explain what it means in terms of this problem situation.</a:t>
            </a:r>
          </a:p>
          <a:p>
            <a:pPr marL="982663" lvl="1" indent="-446088">
              <a:buFont typeface="+mj-lt"/>
              <a:buAutoNum type="alphaLcPeriod"/>
            </a:pPr>
            <a:r>
              <a:rPr lang="en-US" dirty="0">
                <a:solidFill>
                  <a:srgbClr val="000000"/>
                </a:solidFill>
              </a:rPr>
              <a:t> Slope</a:t>
            </a:r>
          </a:p>
          <a:p>
            <a:pPr marL="982663" lvl="1" indent="-446088">
              <a:buFont typeface="+mj-lt"/>
              <a:buAutoNum type="alphaLcPeriod"/>
            </a:pPr>
            <a:endParaRPr lang="en-US" dirty="0">
              <a:solidFill>
                <a:srgbClr val="000000"/>
              </a:solidFill>
            </a:endParaRPr>
          </a:p>
          <a:p>
            <a:pPr marL="982663" lvl="1" indent="-446088">
              <a:buFont typeface="+mj-lt"/>
              <a:buAutoNum type="alphaLcPeriod"/>
            </a:pPr>
            <a:endParaRPr lang="en-US" dirty="0">
              <a:solidFill>
                <a:srgbClr val="000000"/>
              </a:solidFill>
            </a:endParaRPr>
          </a:p>
          <a:p>
            <a:pPr marL="982663" lvl="1" indent="-446088">
              <a:buFont typeface="+mj-lt"/>
              <a:buAutoNum type="alphaLcPeriod"/>
            </a:pPr>
            <a:r>
              <a:rPr lang="en-US" dirty="0">
                <a:solidFill>
                  <a:srgbClr val="000000"/>
                </a:solidFill>
              </a:rPr>
              <a:t> </a:t>
            </a:r>
            <a:r>
              <a:rPr lang="en-US" i="1" dirty="0">
                <a:solidFill>
                  <a:srgbClr val="000000"/>
                </a:solidFill>
              </a:rPr>
              <a:t>y</a:t>
            </a:r>
            <a:r>
              <a:rPr lang="en-US" dirty="0">
                <a:solidFill>
                  <a:srgbClr val="000000"/>
                </a:solidFill>
              </a:rPr>
              <a:t>-intercept</a:t>
            </a:r>
          </a:p>
          <a:p>
            <a:pPr marL="982663" lvl="1" indent="-446088">
              <a:buFont typeface="+mj-lt"/>
              <a:buAutoNum type="alphaLcPeriod"/>
            </a:pPr>
            <a:endParaRPr lang="en-US" dirty="0">
              <a:solidFill>
                <a:srgbClr val="000000"/>
              </a:solidFill>
            </a:endParaRPr>
          </a:p>
          <a:p>
            <a:pPr marL="982663" lvl="1" indent="-446088">
              <a:buFont typeface="+mj-lt"/>
              <a:buAutoNum type="alphaLcPeriod"/>
            </a:pPr>
            <a:endParaRPr lang="en-US" dirty="0">
              <a:solidFill>
                <a:srgbClr val="000000"/>
              </a:solidFill>
            </a:endParaRP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2767122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1300A-B567-A894-36AC-F9495211E8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7B77A2-886C-5F23-02FA-A6B22F844D49}"/>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(3 of 9) </a:t>
            </a:r>
          </a:p>
        </p:txBody>
      </p:sp>
      <p:sp>
        <p:nvSpPr>
          <p:cNvPr id="9" name="Text Placeholder 2">
            <a:extLst>
              <a:ext uri="{FF2B5EF4-FFF2-40B4-BE49-F238E27FC236}">
                <a16:creationId xmlns:a16="http://schemas.microsoft.com/office/drawing/2014/main" id="{973420FA-7B25-659C-13B9-8F7AA5A290A7}"/>
              </a:ext>
            </a:extLst>
          </p:cNvPr>
          <p:cNvSpPr txBox="1">
            <a:spLocks/>
          </p:cNvSpPr>
          <p:nvPr/>
        </p:nvSpPr>
        <p:spPr>
          <a:xfrm>
            <a:off x="777240" y="1608363"/>
            <a:ext cx="10104120" cy="414092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latin typeface="+mj-lt"/>
              </a:rPr>
              <a:t> </a:t>
            </a:r>
            <a:r>
              <a:rPr lang="en-US" sz="2800" i="1" dirty="0">
                <a:solidFill>
                  <a:srgbClr val="000000"/>
                </a:solidFill>
                <a:latin typeface="+mj-lt"/>
              </a:rPr>
              <a:t>x</a:t>
            </a:r>
            <a:r>
              <a:rPr lang="en-US" sz="2800" dirty="0">
                <a:solidFill>
                  <a:srgbClr val="000000"/>
                </a:solidFill>
              </a:rPr>
              <a:t>-intercept</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r>
              <a:rPr lang="en-US" sz="2800" dirty="0">
                <a:solidFill>
                  <a:srgbClr val="000000"/>
                </a:solidFill>
              </a:rPr>
              <a:t>Domain of the function</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2950057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F3F7-BC22-0209-85FE-C98AC9A304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832CD0-50D2-7FB2-C80C-7F3FF71D52D4}"/>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(4 of 9) </a:t>
            </a:r>
          </a:p>
        </p:txBody>
      </p:sp>
      <p:sp>
        <p:nvSpPr>
          <p:cNvPr id="9" name="Text Placeholder 2">
            <a:extLst>
              <a:ext uri="{FF2B5EF4-FFF2-40B4-BE49-F238E27FC236}">
                <a16:creationId xmlns:a16="http://schemas.microsoft.com/office/drawing/2014/main" id="{88240538-24DD-B846-EC89-E14F113B14D7}"/>
              </a:ext>
            </a:extLst>
          </p:cNvPr>
          <p:cNvSpPr txBox="1">
            <a:spLocks/>
          </p:cNvSpPr>
          <p:nvPr/>
        </p:nvSpPr>
        <p:spPr>
          <a:xfrm>
            <a:off x="777240" y="1600199"/>
            <a:ext cx="7104490" cy="502920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Use the graph to determine how many minutes passed if the troop is below 3200 feet. Draw an oval on the graph to represent this part of the function and write the corresponding inequality statement.</a:t>
            </a:r>
            <a:br>
              <a:rPr lang="en-US" sz="2800" dirty="0">
                <a:solidFill>
                  <a:srgbClr val="000000"/>
                </a:solidFill>
              </a:rPr>
            </a:br>
            <a:endParaRPr lang="en-US" sz="2800" dirty="0">
              <a:solidFill>
                <a:srgbClr val="000000"/>
              </a:solidFill>
            </a:endParaRPr>
          </a:p>
        </p:txBody>
      </p:sp>
      <p:pic>
        <p:nvPicPr>
          <p:cNvPr id="3" name="Picture 2" descr="A graph of a line on the coordinate plane. The x axis represents time in minutes. The y axis represents elevation in feet. The line falls from left to right from the point (0, 4800) through the approximate point (70, 3200) to the point (240, 0).">
            <a:extLst>
              <a:ext uri="{FF2B5EF4-FFF2-40B4-BE49-F238E27FC236}">
                <a16:creationId xmlns:a16="http://schemas.microsoft.com/office/drawing/2014/main" id="{4F80604B-1BBE-26D0-9EC1-5796DDD38360}"/>
              </a:ext>
            </a:extLst>
          </p:cNvPr>
          <p:cNvPicPr>
            <a:picLocks noChangeAspect="1"/>
          </p:cNvPicPr>
          <p:nvPr/>
        </p:nvPicPr>
        <p:blipFill>
          <a:blip r:embed="rId3"/>
          <a:stretch>
            <a:fillRect/>
          </a:stretch>
        </p:blipFill>
        <p:spPr>
          <a:xfrm>
            <a:off x="7997391" y="1600199"/>
            <a:ext cx="3273724" cy="3098346"/>
          </a:xfrm>
          <a:prstGeom prst="rect">
            <a:avLst/>
          </a:prstGeom>
        </p:spPr>
      </p:pic>
    </p:spTree>
    <p:extLst>
      <p:ext uri="{BB962C8B-B14F-4D97-AF65-F5344CB8AC3E}">
        <p14:creationId xmlns:p14="http://schemas.microsoft.com/office/powerpoint/2010/main" val="1198384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863C-43D7-4BA3-B8A6-CD79C4C06E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254540-18E9-2D54-569B-3DF2C17E0A05}"/>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(5 of 9) </a:t>
            </a:r>
          </a:p>
        </p:txBody>
      </p:sp>
      <p:sp>
        <p:nvSpPr>
          <p:cNvPr id="9" name="Text Placeholder 2">
            <a:extLst>
              <a:ext uri="{FF2B5EF4-FFF2-40B4-BE49-F238E27FC236}">
                <a16:creationId xmlns:a16="http://schemas.microsoft.com/office/drawing/2014/main" id="{B95AF2FA-6F43-CD0D-26D0-E801EC3D9654}"/>
              </a:ext>
            </a:extLst>
          </p:cNvPr>
          <p:cNvSpPr txBox="1">
            <a:spLocks/>
          </p:cNvSpPr>
          <p:nvPr/>
        </p:nvSpPr>
        <p:spPr>
          <a:xfrm>
            <a:off x="777240" y="1608363"/>
            <a:ext cx="1019556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Write and solve an inequality to verify the solution set you interpreted from the graph. </a:t>
            </a: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endParaRPr lang="en-US" sz="2800" dirty="0">
              <a:solidFill>
                <a:srgbClr val="000000"/>
              </a:solidFill>
            </a:endParaRPr>
          </a:p>
          <a:p>
            <a:pPr marL="514350" indent="-514350">
              <a:buFont typeface="+mj-lt"/>
              <a:buAutoNum type="arabicPeriod" startAt="4"/>
            </a:pPr>
            <a:r>
              <a:rPr lang="en-US" sz="2800" dirty="0">
                <a:solidFill>
                  <a:srgbClr val="000000"/>
                </a:solidFill>
              </a:rPr>
              <a:t>Compare and contrast the solution sets you wrote using the graph and the function. What do you notice?</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19014447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4E99-CA5B-C38F-832E-225A455F79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B8BFEF-F668-BE44-47FF-5237EC0B4310}"/>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(6 of 9) </a:t>
            </a:r>
          </a:p>
        </p:txBody>
      </p:sp>
      <p:sp>
        <p:nvSpPr>
          <p:cNvPr id="9" name="Text Placeholder 2">
            <a:extLst>
              <a:ext uri="{FF2B5EF4-FFF2-40B4-BE49-F238E27FC236}">
                <a16:creationId xmlns:a16="http://schemas.microsoft.com/office/drawing/2014/main" id="{E606CF3F-EDF1-EEDF-3598-9719E85EB5D2}"/>
              </a:ext>
            </a:extLst>
          </p:cNvPr>
          <p:cNvSpPr txBox="1">
            <a:spLocks/>
          </p:cNvSpPr>
          <p:nvPr/>
        </p:nvSpPr>
        <p:spPr>
          <a:xfrm>
            <a:off x="777240" y="1608363"/>
            <a:ext cx="649224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dirty="0">
                <a:solidFill>
                  <a:srgbClr val="000000"/>
                </a:solidFill>
              </a:rPr>
              <a:t>Analyze the relationship between the inequality statements representing </a:t>
            </a:r>
            <a:r>
              <a:rPr lang="en-US" sz="2800" i="1" dirty="0">
                <a:solidFill>
                  <a:srgbClr val="000000"/>
                </a:solidFill>
                <a:latin typeface="+mj-lt"/>
              </a:rPr>
              <a:t>h(m)</a:t>
            </a:r>
            <a:r>
              <a:rPr lang="en-US" sz="2800" dirty="0">
                <a:solidFill>
                  <a:srgbClr val="000000"/>
                </a:solidFill>
              </a:rPr>
              <a:t> and </a:t>
            </a:r>
            <a:r>
              <a:rPr lang="en-US" sz="2800" i="1" dirty="0">
                <a:solidFill>
                  <a:srgbClr val="000000"/>
                </a:solidFill>
                <a:latin typeface="+mj-lt"/>
              </a:rPr>
              <a:t>m</a:t>
            </a:r>
            <a:r>
              <a:rPr lang="en-US" sz="2800" dirty="0">
                <a:solidFill>
                  <a:srgbClr val="000000"/>
                </a:solidFill>
              </a:rPr>
              <a:t>.</a:t>
            </a:r>
          </a:p>
          <a:p>
            <a:pPr marL="1028700" lvl="1" indent="-514350">
              <a:buFont typeface="+mj-lt"/>
              <a:buAutoNum type="alphaLcPeriod"/>
            </a:pPr>
            <a:r>
              <a:rPr lang="en-US" dirty="0">
                <a:solidFill>
                  <a:srgbClr val="000000"/>
                </a:solidFill>
              </a:rPr>
              <a:t>Complete the table by writing the corresponding inequality statement </a:t>
            </a:r>
            <a:br>
              <a:rPr lang="en-US" dirty="0">
                <a:solidFill>
                  <a:srgbClr val="000000"/>
                </a:solidFill>
              </a:rPr>
            </a:br>
            <a:r>
              <a:rPr lang="en-US" dirty="0">
                <a:solidFill>
                  <a:srgbClr val="000000"/>
                </a:solidFill>
              </a:rPr>
              <a:t>that represents the number of minutes for each height.</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AlternateContent xmlns:mc="http://schemas.openxmlformats.org/markup-compatibility/2006" xmlns:a14="http://schemas.microsoft.com/office/drawing/2010/main">
        <mc:Choice Requires="a14">
          <p:graphicFrame>
            <p:nvGraphicFramePr>
              <p:cNvPr id="2" name="Table 1" descr="Two-column table: Functions, Non-Functions.">
                <a:extLst>
                  <a:ext uri="{FF2B5EF4-FFF2-40B4-BE49-F238E27FC236}">
                    <a16:creationId xmlns:a16="http://schemas.microsoft.com/office/drawing/2014/main" id="{46C93917-FFB1-E946-AAE3-D3AE93361412}"/>
                  </a:ext>
                </a:extLst>
              </p:cNvPr>
              <p:cNvGraphicFramePr>
                <a:graphicFrameLocks noGrp="1"/>
              </p:cNvGraphicFramePr>
              <p:nvPr>
                <p:extLst>
                  <p:ext uri="{D42A27DB-BD31-4B8C-83A1-F6EECF244321}">
                    <p14:modId xmlns:p14="http://schemas.microsoft.com/office/powerpoint/2010/main" val="3804752817"/>
                  </p:ext>
                </p:extLst>
              </p:nvPr>
            </p:nvGraphicFramePr>
            <p:xfrm>
              <a:off x="7468484" y="1608363"/>
              <a:ext cx="3576586" cy="4077421"/>
            </p:xfrm>
            <a:graphic>
              <a:graphicData uri="http://schemas.openxmlformats.org/drawingml/2006/table">
                <a:tbl>
                  <a:tblPr firstRow="1" bandRow="1">
                    <a:tableStyleId>{F5AB1C69-6EDB-4FF4-983F-18BD219EF322}</a:tableStyleId>
                  </a:tblPr>
                  <a:tblGrid>
                    <a:gridCol w="1788293">
                      <a:extLst>
                        <a:ext uri="{9D8B030D-6E8A-4147-A177-3AD203B41FA5}">
                          <a16:colId xmlns:a16="http://schemas.microsoft.com/office/drawing/2014/main" val="2190691202"/>
                        </a:ext>
                      </a:extLst>
                    </a:gridCol>
                    <a:gridCol w="1788293">
                      <a:extLst>
                        <a:ext uri="{9D8B030D-6E8A-4147-A177-3AD203B41FA5}">
                          <a16:colId xmlns:a16="http://schemas.microsoft.com/office/drawing/2014/main" val="1684969595"/>
                        </a:ext>
                      </a:extLst>
                    </a:gridCol>
                  </a:tblGrid>
                  <a:tr h="572221">
                    <a:tc>
                      <a:txBody>
                        <a:bodyPr/>
                        <a:lstStyle/>
                        <a:p>
                          <a:pPr algn="ctr"/>
                          <a14:m>
                            <m:oMath xmlns:m="http://schemas.openxmlformats.org/officeDocument/2006/math">
                              <m:r>
                                <a:rPr lang="en-US" sz="2000" i="1" dirty="0" smtClean="0">
                                  <a:solidFill>
                                    <a:schemeClr val="bg1"/>
                                  </a:solidFill>
                                  <a:latin typeface="Cambria Math" panose="02040503050406030204" pitchFamily="18" charset="0"/>
                                </a:rPr>
                                <m:t>h</m:t>
                              </m:r>
                              <m:r>
                                <a:rPr lang="en-US" sz="2000" i="1" dirty="0" smtClean="0">
                                  <a:solidFill>
                                    <a:schemeClr val="bg1"/>
                                  </a:solidFill>
                                  <a:latin typeface="Cambria Math" panose="02040503050406030204" pitchFamily="18" charset="0"/>
                                </a:rPr>
                                <m:t>(</m:t>
                              </m:r>
                              <m:r>
                                <a:rPr lang="en-US" sz="2000" i="1" dirty="0" smtClean="0">
                                  <a:solidFill>
                                    <a:schemeClr val="bg1"/>
                                  </a:solidFill>
                                  <a:latin typeface="Cambria Math" panose="02040503050406030204" pitchFamily="18" charset="0"/>
                                </a:rPr>
                                <m:t>𝑚</m:t>
                              </m:r>
                              <m:r>
                                <a:rPr lang="en-US" sz="2000" i="1" dirty="0" smtClean="0">
                                  <a:solidFill>
                                    <a:schemeClr val="bg1"/>
                                  </a:solidFill>
                                  <a:latin typeface="Cambria Math" panose="02040503050406030204" pitchFamily="18" charset="0"/>
                                </a:rPr>
                                <m:t>)</m:t>
                              </m:r>
                            </m:oMath>
                          </a14:m>
                          <a:r>
                            <a:rPr lang="en-US" sz="2000" i="1" dirty="0">
                              <a:solidFill>
                                <a:schemeClr val="bg1"/>
                              </a:solidFill>
                            </a:rPr>
                            <a:t>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14:m>
                            <m:oMath xmlns:m="http://schemas.openxmlformats.org/officeDocument/2006/math">
                              <m:r>
                                <a:rPr lang="en-US" sz="2000" i="1" dirty="0" smtClean="0">
                                  <a:solidFill>
                                    <a:schemeClr val="bg1"/>
                                  </a:solidFill>
                                  <a:latin typeface="Cambria Math" panose="02040503050406030204" pitchFamily="18" charset="0"/>
                                </a:rPr>
                                <m:t>𝑚</m:t>
                              </m:r>
                            </m:oMath>
                          </a14:m>
                          <a:r>
                            <a:rPr lang="en-US" sz="2000" i="1" dirty="0">
                              <a:solidFill>
                                <a:schemeClr val="bg1"/>
                              </a:solidFill>
                            </a:rPr>
                            <a:t>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3539703105"/>
                      </a:ext>
                    </a:extLst>
                  </a:tr>
                  <a:tr h="701040">
                    <a:tc>
                      <a:txBody>
                        <a:bodyPr/>
                        <a:lstStyle/>
                        <a:p>
                          <a:pPr algn="ct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)&gt;3200</m:t>
                                </m:r>
                              </m:oMath>
                            </m:oMathPara>
                          </a14:m>
                          <a:endParaRPr lang="en-US" sz="2000" dirty="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5303573"/>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2484476"/>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339588"/>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)&lt;3200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0185847"/>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𝑚</m:t>
                                </m:r>
                                <m:r>
                                  <a:rPr lang="en-US" sz="2000" i="1" dirty="0" smtClean="0">
                                    <a:solidFill>
                                      <a:srgbClr val="000000"/>
                                    </a:solidFill>
                                    <a:latin typeface="Cambria Math" panose="02040503050406030204" pitchFamily="18" charset="0"/>
                                  </a:rPr>
                                  <m:t>)≤3200</m:t>
                                </m:r>
                              </m:oMath>
                            </m:oMathPara>
                          </a14:m>
                          <a:endParaRPr lang="en-US" sz="2000" dirty="0">
                            <a:solidFill>
                              <a:srgbClr val="000000"/>
                            </a:solidFill>
                          </a:endParaRPr>
                        </a:p>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942285"/>
                      </a:ext>
                    </a:extLst>
                  </a:tr>
                </a:tbl>
              </a:graphicData>
            </a:graphic>
          </p:graphicFrame>
        </mc:Choice>
        <mc:Fallback xmlns="">
          <p:graphicFrame>
            <p:nvGraphicFramePr>
              <p:cNvPr id="2" name="Table 1" descr="Two-column table: Functions, Non-Functions.">
                <a:extLst>
                  <a:ext uri="{FF2B5EF4-FFF2-40B4-BE49-F238E27FC236}">
                    <a16:creationId xmlns:a16="http://schemas.microsoft.com/office/drawing/2014/main" id="{46C93917-FFB1-E946-AAE3-D3AE93361412}"/>
                  </a:ext>
                </a:extLst>
              </p:cNvPr>
              <p:cNvGraphicFramePr>
                <a:graphicFrameLocks noGrp="1"/>
              </p:cNvGraphicFramePr>
              <p:nvPr>
                <p:extLst>
                  <p:ext uri="{D42A27DB-BD31-4B8C-83A1-F6EECF244321}">
                    <p14:modId xmlns:p14="http://schemas.microsoft.com/office/powerpoint/2010/main" val="3804752817"/>
                  </p:ext>
                </p:extLst>
              </p:nvPr>
            </p:nvGraphicFramePr>
            <p:xfrm>
              <a:off x="7468484" y="1608363"/>
              <a:ext cx="3576586" cy="4077421"/>
            </p:xfrm>
            <a:graphic>
              <a:graphicData uri="http://schemas.openxmlformats.org/drawingml/2006/table">
                <a:tbl>
                  <a:tblPr firstRow="1" bandRow="1">
                    <a:tableStyleId>{F5AB1C69-6EDB-4FF4-983F-18BD219EF322}</a:tableStyleId>
                  </a:tblPr>
                  <a:tblGrid>
                    <a:gridCol w="1788293">
                      <a:extLst>
                        <a:ext uri="{9D8B030D-6E8A-4147-A177-3AD203B41FA5}">
                          <a16:colId xmlns:a16="http://schemas.microsoft.com/office/drawing/2014/main" val="2190691202"/>
                        </a:ext>
                      </a:extLst>
                    </a:gridCol>
                    <a:gridCol w="1788293">
                      <a:extLst>
                        <a:ext uri="{9D8B030D-6E8A-4147-A177-3AD203B41FA5}">
                          <a16:colId xmlns:a16="http://schemas.microsoft.com/office/drawing/2014/main" val="1684969595"/>
                        </a:ext>
                      </a:extLst>
                    </a:gridCol>
                  </a:tblGrid>
                  <a:tr h="572221">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1064" r="-100340" b="-614894"/>
                          </a:stretch>
                        </a:blipFill>
                      </a:tcPr>
                    </a:tc>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683" t="-1064" r="-683" b="-614894"/>
                          </a:stretch>
                        </a:blipFill>
                      </a:tcPr>
                    </a:tc>
                    <a:extLst>
                      <a:ext uri="{0D108BD9-81ED-4DB2-BD59-A6C34878D82A}">
                        <a16:rowId xmlns:a16="http://schemas.microsoft.com/office/drawing/2014/main" val="3539703105"/>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82609" r="-100340" b="-40260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5303573"/>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182609" r="-100340" b="-30260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2484476"/>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280172" r="-100340" b="-200000"/>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339588"/>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383478" r="-100340" b="-10173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0185847"/>
                      </a:ext>
                    </a:extLst>
                  </a:tr>
                  <a:tr h="70104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0" t="-483478" r="-100340" b="-1739"/>
                          </a:stretch>
                        </a:blipFill>
                      </a:tcPr>
                    </a:tc>
                    <a:tc>
                      <a:txBody>
                        <a:bodyPr/>
                        <a:lstStyle/>
                        <a:p>
                          <a:pPr algn="ctr"/>
                          <a:endParaRPr lang="en-US" sz="2000" dirty="0"/>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942285"/>
                      </a:ext>
                    </a:extLst>
                  </a:tr>
                </a:tbl>
              </a:graphicData>
            </a:graphic>
          </p:graphicFrame>
        </mc:Fallback>
      </mc:AlternateContent>
    </p:spTree>
    <p:extLst>
      <p:ext uri="{BB962C8B-B14F-4D97-AF65-F5344CB8AC3E}">
        <p14:creationId xmlns:p14="http://schemas.microsoft.com/office/powerpoint/2010/main" val="3197383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C8E8-748D-606E-265B-DA53A66046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AACDCB-8D61-54E7-1625-D75A6453B3D4}"/>
              </a:ext>
            </a:extLst>
          </p:cNvPr>
          <p:cNvSpPr>
            <a:spLocks noGrp="1"/>
          </p:cNvSpPr>
          <p:nvPr>
            <p:ph type="title"/>
          </p:nvPr>
        </p:nvSpPr>
        <p:spPr/>
        <p:txBody>
          <a:bodyPr/>
          <a:lstStyle/>
          <a:p>
            <a:pPr algn="l"/>
            <a:r>
              <a:rPr lang="en-US" sz="4000" b="1" dirty="0"/>
              <a:t>Reversing Inequality Signs </a:t>
            </a:r>
            <a:r>
              <a:rPr lang="en-US" sz="2000" b="1" dirty="0">
                <a:solidFill>
                  <a:schemeClr val="bg1"/>
                </a:solidFill>
              </a:rPr>
              <a:t>(7 of 9) </a:t>
            </a:r>
          </a:p>
        </p:txBody>
      </p:sp>
      <p:sp>
        <p:nvSpPr>
          <p:cNvPr id="9" name="Text Placeholder 2">
            <a:extLst>
              <a:ext uri="{FF2B5EF4-FFF2-40B4-BE49-F238E27FC236}">
                <a16:creationId xmlns:a16="http://schemas.microsoft.com/office/drawing/2014/main" id="{AA397022-8B33-84C5-D360-51C88EFEDE05}"/>
              </a:ext>
            </a:extLst>
          </p:cNvPr>
          <p:cNvSpPr txBox="1">
            <a:spLocks/>
          </p:cNvSpPr>
          <p:nvPr/>
        </p:nvSpPr>
        <p:spPr>
          <a:xfrm>
            <a:off x="777240" y="1608363"/>
            <a:ext cx="10104120" cy="465527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Compare each row in the table shown. What do you notice about the inequality signs? </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Explain your answer from part (b). Use what you know about solving inequalities when you have to multiply or divide by a negative number.</a:t>
            </a:r>
          </a:p>
          <a:p>
            <a:pPr marL="0" indent="0">
              <a:buNone/>
            </a:pPr>
            <a:br>
              <a:rPr lang="en-US" sz="2800" dirty="0">
                <a:solidFill>
                  <a:srgbClr val="000000"/>
                </a:solidFill>
              </a:rPr>
            </a:br>
            <a:endParaRPr lang="en-US" sz="2800"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4218826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3C2F4-59DB-CC10-C217-46D4D4FA3E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4CE480-1143-1E88-C8DD-39D2564AC90C}"/>
              </a:ext>
            </a:extLst>
          </p:cNvPr>
          <p:cNvSpPr>
            <a:spLocks noGrp="1"/>
          </p:cNvSpPr>
          <p:nvPr>
            <p:ph type="title"/>
          </p:nvPr>
        </p:nvSpPr>
        <p:spPr/>
        <p:txBody>
          <a:bodyPr/>
          <a:lstStyle/>
          <a:p>
            <a:pPr algn="l"/>
            <a:r>
              <a:rPr lang="en-US" b="1" dirty="0"/>
              <a:t>Reversing Inequality Signs</a:t>
            </a:r>
            <a:r>
              <a:rPr lang="en-US" sz="3200" b="1" dirty="0"/>
              <a:t> </a:t>
            </a:r>
            <a:r>
              <a:rPr lang="en-US" sz="2000" b="1" dirty="0">
                <a:solidFill>
                  <a:schemeClr val="bg1"/>
                </a:solidFill>
              </a:rPr>
              <a:t>(8 of 9)</a:t>
            </a:r>
          </a:p>
        </p:txBody>
      </p:sp>
      <p:sp>
        <p:nvSpPr>
          <p:cNvPr id="9" name="Text Placeholder 2">
            <a:extLst>
              <a:ext uri="{FF2B5EF4-FFF2-40B4-BE49-F238E27FC236}">
                <a16:creationId xmlns:a16="http://schemas.microsoft.com/office/drawing/2014/main" id="{C4DA120B-A8B4-ABA2-CFCD-240AE31F0ED1}"/>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3.3!</a:t>
            </a:r>
          </a:p>
          <a:p>
            <a:pPr marL="0" indent="0" algn="l">
              <a:buNone/>
            </a:pPr>
            <a:endParaRPr lang="en-US" sz="2800" dirty="0">
              <a:solidFill>
                <a:srgbClr val="000000"/>
              </a:solidFill>
            </a:endParaRPr>
          </a:p>
          <a:p>
            <a:pPr marL="0" indent="0" algn="l">
              <a:buNone/>
            </a:pPr>
            <a:endParaRPr lang="en-US" sz="2800" b="0" i="0" u="none" strike="noStrike" baseline="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B049E144-171C-D6A8-6F89-22C40C22DDD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998451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377D-9400-6CDF-DF15-CA09000FEF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CF2015-3472-C9FF-AF02-1FDADD0D880E}"/>
              </a:ext>
            </a:extLst>
          </p:cNvPr>
          <p:cNvSpPr>
            <a:spLocks noGrp="1"/>
          </p:cNvSpPr>
          <p:nvPr>
            <p:ph type="title"/>
          </p:nvPr>
        </p:nvSpPr>
        <p:spPr/>
        <p:txBody>
          <a:bodyPr/>
          <a:lstStyle/>
          <a:p>
            <a:pPr algn="l"/>
            <a:r>
              <a:rPr lang="en-US" b="1" dirty="0"/>
              <a:t>Reversing Inequality Signs</a:t>
            </a:r>
            <a:r>
              <a:rPr lang="en-US" sz="3200" b="1" dirty="0"/>
              <a:t> </a:t>
            </a:r>
            <a:r>
              <a:rPr lang="en-US" sz="2000" b="1" dirty="0">
                <a:solidFill>
                  <a:schemeClr val="bg1"/>
                </a:solidFill>
              </a:rPr>
              <a:t>(9 of 9)</a:t>
            </a:r>
          </a:p>
        </p:txBody>
      </p:sp>
      <p:sp>
        <p:nvSpPr>
          <p:cNvPr id="9" name="Text Placeholder 2">
            <a:extLst>
              <a:ext uri="{FF2B5EF4-FFF2-40B4-BE49-F238E27FC236}">
                <a16:creationId xmlns:a16="http://schemas.microsoft.com/office/drawing/2014/main" id="{2B0AC9A5-9E38-0057-153F-53E161A0549A}"/>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3891205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4BE8-8C07-EB8F-D6E3-925762ECE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6F716-AD6F-DC5D-61B2-F6B9D9835DEA}"/>
              </a:ext>
            </a:extLst>
          </p:cNvPr>
          <p:cNvSpPr>
            <a:spLocks noGrp="1"/>
          </p:cNvSpPr>
          <p:nvPr>
            <p:ph type="title" idx="4294967295"/>
          </p:nvPr>
        </p:nvSpPr>
        <p:spPr>
          <a:xfrm>
            <a:off x="838200" y="-447261"/>
            <a:ext cx="10514013" cy="447261"/>
          </a:xfrm>
          <a:prstGeom prst="rect">
            <a:avLst/>
          </a:prstGeom>
        </p:spPr>
        <p:txBody>
          <a:bodyPr anchor="b"/>
          <a:lstStyle/>
          <a:p>
            <a:r>
              <a:rPr lang="en-US" sz="2000" dirty="0">
                <a:solidFill>
                  <a:schemeClr val="bg2"/>
                </a:solidFill>
              </a:rPr>
              <a:t>Day 3</a:t>
            </a:r>
          </a:p>
        </p:txBody>
      </p:sp>
      <p:sp>
        <p:nvSpPr>
          <p:cNvPr id="4" name="Text Placeholder 3">
            <a:extLst>
              <a:ext uri="{FF2B5EF4-FFF2-40B4-BE49-F238E27FC236}">
                <a16:creationId xmlns:a16="http://schemas.microsoft.com/office/drawing/2014/main" id="{C755AC4A-72CE-D68B-9F9B-E3444424D9D8}"/>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427636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9FB61-A31B-C4C8-94D3-543D71084B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7B38BE-0EDE-EF49-C423-9A8397C3D063}"/>
              </a:ext>
            </a:extLst>
          </p:cNvPr>
          <p:cNvSpPr>
            <a:spLocks noGrp="1"/>
          </p:cNvSpPr>
          <p:nvPr>
            <p:ph type="title"/>
          </p:nvPr>
        </p:nvSpPr>
        <p:spPr/>
        <p:txBody>
          <a:bodyPr/>
          <a:lstStyle/>
          <a:p>
            <a:pPr algn="l"/>
            <a:r>
              <a:rPr lang="en-US" b="1" dirty="0"/>
              <a:t>Essential Question </a:t>
            </a:r>
            <a:r>
              <a:rPr lang="en-US" sz="2000" b="1" dirty="0">
                <a:solidFill>
                  <a:schemeClr val="bg1"/>
                </a:solidFill>
              </a:rPr>
              <a:t>(3 of 3)</a:t>
            </a:r>
          </a:p>
        </p:txBody>
      </p:sp>
      <p:sp>
        <p:nvSpPr>
          <p:cNvPr id="2" name="Text Placeholder 2">
            <a:extLst>
              <a:ext uri="{FF2B5EF4-FFF2-40B4-BE49-F238E27FC236}">
                <a16:creationId xmlns:a16="http://schemas.microsoft.com/office/drawing/2014/main" id="{E47C6D0B-1AC1-2ABD-B1AB-5CCBF3F38349}"/>
              </a:ext>
            </a:extLst>
          </p:cNvPr>
          <p:cNvSpPr txBox="1">
            <a:spLocks/>
          </p:cNvSpPr>
          <p:nvPr/>
        </p:nvSpPr>
        <p:spPr>
          <a:xfrm>
            <a:off x="777240" y="1616528"/>
            <a:ext cx="9885317" cy="43508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Can you use these same methods to solve problems involving linear inequalities?</a:t>
            </a:r>
          </a:p>
          <a:p>
            <a:pPr marL="0" indent="0">
              <a:spcBef>
                <a:spcPts val="24"/>
              </a:spcBef>
              <a:buNone/>
            </a:pPr>
            <a:endParaRPr lang="en-US" sz="2800" dirty="0">
              <a:solidFill>
                <a:srgbClr val="000000"/>
              </a:solidFill>
            </a:endParaRPr>
          </a:p>
        </p:txBody>
      </p:sp>
    </p:spTree>
    <p:extLst>
      <p:ext uri="{BB962C8B-B14F-4D97-AF65-F5344CB8AC3E}">
        <p14:creationId xmlns:p14="http://schemas.microsoft.com/office/powerpoint/2010/main" val="14804266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C097-01F8-35BE-E383-8D422E44E1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58A31B-9BF1-89A7-6BBD-26421504FF1C}"/>
              </a:ext>
            </a:extLst>
          </p:cNvPr>
          <p:cNvSpPr>
            <a:spLocks noGrp="1"/>
          </p:cNvSpPr>
          <p:nvPr>
            <p:ph type="title" idx="4294967295"/>
          </p:nvPr>
        </p:nvSpPr>
        <p:spPr>
          <a:xfrm>
            <a:off x="838200" y="-467139"/>
            <a:ext cx="10514013" cy="467139"/>
          </a:xfrm>
          <a:prstGeom prst="rect">
            <a:avLst/>
          </a:prstGeom>
        </p:spPr>
        <p:txBody>
          <a:bodyPr anchor="b"/>
          <a:lstStyle/>
          <a:p>
            <a:r>
              <a:rPr lang="en-US" sz="2000" dirty="0">
                <a:solidFill>
                  <a:schemeClr val="bg2"/>
                </a:solidFill>
              </a:rPr>
              <a:t>Activity 3.4</a:t>
            </a:r>
          </a:p>
        </p:txBody>
      </p:sp>
      <p:sp>
        <p:nvSpPr>
          <p:cNvPr id="3" name="Text Placeholder 2" descr="15 to 20 minutes">
            <a:extLst>
              <a:ext uri="{FF2B5EF4-FFF2-40B4-BE49-F238E27FC236}">
                <a16:creationId xmlns:a16="http://schemas.microsoft.com/office/drawing/2014/main" id="{FB419509-5B19-3881-0336-A7A3B5683EF1}"/>
              </a:ext>
            </a:extLst>
          </p:cNvPr>
          <p:cNvSpPr>
            <a:spLocks noGrp="1"/>
          </p:cNvSpPr>
          <p:nvPr>
            <p:ph type="body" sz="quarter" idx="12"/>
          </p:nvPr>
        </p:nvSpPr>
        <p:spPr>
          <a:xfrm>
            <a:off x="10614990" y="5781577"/>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67AD0208-88D9-F14F-C7AC-542265A0E147}"/>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3.4</a:t>
            </a:r>
          </a:p>
        </p:txBody>
      </p:sp>
    </p:spTree>
    <p:extLst>
      <p:ext uri="{BB962C8B-B14F-4D97-AF65-F5344CB8AC3E}">
        <p14:creationId xmlns:p14="http://schemas.microsoft.com/office/powerpoint/2010/main" val="3615300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05B39-1621-6217-C6D7-57AA32A80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E5E170-99B9-374E-81B6-D20288002ADA}"/>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(1 of 9)</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29C8EB87-5A65-73BC-A79F-630A6E4926E9}"/>
                  </a:ext>
                </a:extLst>
              </p:cNvPr>
              <p:cNvSpPr txBox="1">
                <a:spLocks/>
              </p:cNvSpPr>
              <p:nvPr/>
            </p:nvSpPr>
            <p:spPr>
              <a:xfrm>
                <a:off x="777241" y="1600200"/>
                <a:ext cx="10492739" cy="2336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ts val="3000"/>
                  </a:lnSpc>
                  <a:spcBef>
                    <a:spcPts val="0"/>
                  </a:spcBef>
                  <a:buNone/>
                </a:pPr>
                <a:r>
                  <a:rPr lang="en-US" sz="2800" dirty="0">
                    <a:solidFill>
                      <a:srgbClr val="000000"/>
                    </a:solidFill>
                  </a:rPr>
                  <a:t>The inequalities that you have solved in this lesson so far have all been two-step inequalities. Let’s consider inequalities in different forms.</a:t>
                </a:r>
              </a:p>
              <a:p>
                <a:pPr marL="0" indent="0">
                  <a:lnSpc>
                    <a:spcPts val="3000"/>
                  </a:lnSpc>
                  <a:spcBef>
                    <a:spcPts val="0"/>
                  </a:spcBef>
                  <a:buNone/>
                </a:pPr>
                <a:endParaRPr lang="en-US" sz="2800" dirty="0">
                  <a:solidFill>
                    <a:srgbClr val="000000"/>
                  </a:solidFill>
                </a:endParaRPr>
              </a:p>
              <a:p>
                <a:pPr marL="0" indent="0">
                  <a:lnSpc>
                    <a:spcPts val="3000"/>
                  </a:lnSpc>
                  <a:spcBef>
                    <a:spcPts val="0"/>
                  </a:spcBef>
                  <a:buNone/>
                </a:pPr>
                <a:r>
                  <a:rPr lang="en-US" sz="2800" dirty="0">
                    <a:solidFill>
                      <a:srgbClr val="000000"/>
                    </a:solidFill>
                  </a:rPr>
                  <a:t>Victoria and Kai each solved the inequality </a:t>
                </a:r>
                <a14:m>
                  <m:oMath xmlns:m="http://schemas.openxmlformats.org/officeDocument/2006/math">
                    <m:r>
                      <a:rPr lang="en-US" sz="280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2≥3</m:t>
                    </m:r>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10</m:t>
                    </m:r>
                  </m:oMath>
                </a14:m>
                <a:r>
                  <a:rPr lang="en-US" sz="2800" dirty="0">
                    <a:solidFill>
                      <a:srgbClr val="000000"/>
                    </a:solidFill>
                  </a:rPr>
                  <a:t>.</a:t>
                </a:r>
              </a:p>
            </p:txBody>
          </p:sp>
        </mc:Choice>
        <mc:Fallback xmlns="">
          <p:sp>
            <p:nvSpPr>
              <p:cNvPr id="9" name="Text Placeholder 2">
                <a:extLst>
                  <a:ext uri="{FF2B5EF4-FFF2-40B4-BE49-F238E27FC236}">
                    <a16:creationId xmlns:a16="http://schemas.microsoft.com/office/drawing/2014/main" id="{29C8EB87-5A65-73BC-A79F-630A6E4926E9}"/>
                  </a:ext>
                </a:extLst>
              </p:cNvPr>
              <p:cNvSpPr txBox="1">
                <a:spLocks noRot="1" noChangeAspect="1" noMove="1" noResize="1" noEditPoints="1" noAdjustHandles="1" noChangeArrowheads="1" noChangeShapeType="1" noTextEdit="1"/>
              </p:cNvSpPr>
              <p:nvPr/>
            </p:nvSpPr>
            <p:spPr>
              <a:xfrm>
                <a:off x="777241" y="1600200"/>
                <a:ext cx="10492739" cy="2336800"/>
              </a:xfrm>
              <a:prstGeom prst="rect">
                <a:avLst/>
              </a:prstGeom>
              <a:blipFill>
                <a:blip r:embed="rId3"/>
                <a:stretch>
                  <a:fillRect l="-1220" t="-4700" r="-523"/>
                </a:stretch>
              </a:blipFill>
            </p:spPr>
            <p:txBody>
              <a:bodyPr/>
              <a:lstStyle/>
              <a:p>
                <a:r>
                  <a:rPr lang="en-US">
                    <a:noFill/>
                  </a:rPr>
                  <a:t> </a:t>
                </a:r>
              </a:p>
            </p:txBody>
          </p:sp>
        </mc:Fallback>
      </mc:AlternateContent>
    </p:spTree>
    <p:extLst>
      <p:ext uri="{BB962C8B-B14F-4D97-AF65-F5344CB8AC3E}">
        <p14:creationId xmlns:p14="http://schemas.microsoft.com/office/powerpoint/2010/main" val="10798545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333B4-3FE1-91D0-2CD5-381A5815BE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F8767A-8155-711B-DF2F-71791E6F4ECA}"/>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(2 of 9)</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5807850-4E16-BC18-F15F-76B8400DD837}"/>
                  </a:ext>
                </a:extLst>
              </p:cNvPr>
              <p:cNvSpPr txBox="1"/>
              <p:nvPr/>
            </p:nvSpPr>
            <p:spPr>
              <a:xfrm>
                <a:off x="777239" y="1627955"/>
                <a:ext cx="2463265" cy="3264086"/>
              </a:xfrm>
              <a:prstGeom prst="rect">
                <a:avLst/>
              </a:prstGeom>
              <a:noFill/>
              <a:ln w="31750">
                <a:solidFill>
                  <a:srgbClr val="008F4C"/>
                </a:solidFill>
                <a:prstDash val="sysDot"/>
              </a:ln>
            </p:spPr>
            <p:txBody>
              <a:bodyPr wrap="square" lIns="182880" rIns="91440" rtlCol="0" anchor="ctr" anchorCtr="0">
                <a:noAutofit/>
              </a:bodyPr>
              <a:lstStyle/>
              <a:p>
                <a:r>
                  <a:rPr lang="en-US" sz="2000" dirty="0">
                    <a:solidFill>
                      <a:srgbClr val="000000"/>
                    </a:solidFill>
                  </a:rPr>
                  <a:t>You can rewrite Kai’s solution to show it is equivalent to Victoria’s. It is sometimes preferred to have the variable on the left side of the inequality. So, </a:t>
                </a:r>
                <a14:m>
                  <m:oMath xmlns:m="http://schemas.openxmlformats.org/officeDocument/2006/math">
                    <m:r>
                      <a:rPr lang="en-US" sz="2000" i="1" dirty="0" smtClean="0">
                        <a:solidFill>
                          <a:srgbClr val="000000"/>
                        </a:solidFill>
                        <a:latin typeface="Cambria Math" panose="02040503050406030204" pitchFamily="18" charset="0"/>
                      </a:rPr>
                      <m:t>–6</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𝑥</m:t>
                    </m:r>
                  </m:oMath>
                </a14:m>
                <a:r>
                  <a:rPr lang="en-US" sz="2000" dirty="0">
                    <a:solidFill>
                      <a:srgbClr val="000000"/>
                    </a:solidFill>
                  </a:rPr>
                  <a:t> is equivalent to </a:t>
                </a:r>
                <a14:m>
                  <m:oMath xmlns:m="http://schemas.openxmlformats.org/officeDocument/2006/math">
                    <m:r>
                      <a:rPr lang="en-US" sz="2000" i="1" dirty="0" smtClean="0">
                        <a:solidFill>
                          <a:srgbClr val="000000"/>
                        </a:solidFill>
                        <a:latin typeface="Cambria Math" panose="02040503050406030204" pitchFamily="18" charset="0"/>
                      </a:rPr>
                      <m:t>𝑥</m:t>
                    </m:r>
                    <m:r>
                      <a:rPr lang="en-US" sz="2000" i="1" dirty="0" smtClean="0">
                        <a:solidFill>
                          <a:srgbClr val="000000"/>
                        </a:solidFill>
                        <a:latin typeface="Cambria Math" panose="02040503050406030204" pitchFamily="18" charset="0"/>
                      </a:rPr>
                      <m:t>≥ –6</m:t>
                    </m:r>
                  </m:oMath>
                </a14:m>
                <a:r>
                  <a:rPr lang="en-US" sz="2000" dirty="0">
                    <a:solidFill>
                      <a:srgbClr val="000000"/>
                    </a:solidFill>
                  </a:rPr>
                  <a:t>.</a:t>
                </a:r>
              </a:p>
            </p:txBody>
          </p:sp>
        </mc:Choice>
        <mc:Fallback>
          <p:sp>
            <p:nvSpPr>
              <p:cNvPr id="5" name="TextBox 4">
                <a:extLst>
                  <a:ext uri="{FF2B5EF4-FFF2-40B4-BE49-F238E27FC236}">
                    <a16:creationId xmlns:a16="http://schemas.microsoft.com/office/drawing/2014/main" id="{F5807850-4E16-BC18-F15F-76B8400DD837}"/>
                  </a:ext>
                </a:extLst>
              </p:cNvPr>
              <p:cNvSpPr txBox="1">
                <a:spLocks noRot="1" noChangeAspect="1" noMove="1" noResize="1" noEditPoints="1" noAdjustHandles="1" noChangeArrowheads="1" noChangeShapeType="1" noTextEdit="1"/>
              </p:cNvSpPr>
              <p:nvPr/>
            </p:nvSpPr>
            <p:spPr>
              <a:xfrm>
                <a:off x="777239" y="1627955"/>
                <a:ext cx="2463265" cy="3264086"/>
              </a:xfrm>
              <a:prstGeom prst="rect">
                <a:avLst/>
              </a:prstGeom>
              <a:blipFill>
                <a:blip r:embed="rId3"/>
                <a:stretch>
                  <a:fillRect r="-3171" b="-739"/>
                </a:stretch>
              </a:blipFill>
              <a:ln w="31750">
                <a:solidFill>
                  <a:srgbClr val="008F4C"/>
                </a:solidFill>
                <a:prstDash val="sysDot"/>
              </a:ln>
            </p:spPr>
            <p:txBody>
              <a:bodyPr/>
              <a:lstStyle/>
              <a:p>
                <a:r>
                  <a:rPr lang="en-US">
                    <a:noFill/>
                  </a:rPr>
                  <a:t> </a:t>
                </a:r>
              </a:p>
            </p:txBody>
          </p:sp>
        </mc:Fallback>
      </mc:AlternateContent>
      <p:pic>
        <p:nvPicPr>
          <p:cNvPr id="2" name="Picture 1" descr="Thumbs up problem.">
            <a:extLst>
              <a:ext uri="{FF2B5EF4-FFF2-40B4-BE49-F238E27FC236}">
                <a16:creationId xmlns:a16="http://schemas.microsoft.com/office/drawing/2014/main" id="{D3A43F78-8BBD-FCEC-A3C6-FDDE2D259468}"/>
              </a:ext>
            </a:extLst>
          </p:cNvPr>
          <p:cNvPicPr>
            <a:picLocks noChangeAspect="1"/>
          </p:cNvPicPr>
          <p:nvPr/>
        </p:nvPicPr>
        <p:blipFill>
          <a:blip r:embed="rId4"/>
          <a:stretch>
            <a:fillRect/>
          </a:stretch>
        </p:blipFill>
        <p:spPr>
          <a:xfrm>
            <a:off x="3936747" y="1599169"/>
            <a:ext cx="5983904" cy="3659662"/>
          </a:xfrm>
          <a:prstGeom prst="rect">
            <a:avLst/>
          </a:prstGeom>
        </p:spPr>
      </p:pic>
    </p:spTree>
    <p:extLst>
      <p:ext uri="{BB962C8B-B14F-4D97-AF65-F5344CB8AC3E}">
        <p14:creationId xmlns:p14="http://schemas.microsoft.com/office/powerpoint/2010/main" val="1561476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5EB8-36CC-51EC-0680-BE2906A404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812819-C14C-6233-C0AB-77FC68E804B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(3 of 9) </a:t>
            </a:r>
          </a:p>
        </p:txBody>
      </p:sp>
      <p:sp>
        <p:nvSpPr>
          <p:cNvPr id="3" name="TextBox 2">
            <a:extLst>
              <a:ext uri="{FF2B5EF4-FFF2-40B4-BE49-F238E27FC236}">
                <a16:creationId xmlns:a16="http://schemas.microsoft.com/office/drawing/2014/main" id="{9FE89E50-A7E8-8CF5-AE5A-D357DEC394CB}"/>
              </a:ext>
            </a:extLst>
          </p:cNvPr>
          <p:cNvSpPr txBox="1"/>
          <p:nvPr/>
        </p:nvSpPr>
        <p:spPr>
          <a:xfrm>
            <a:off x="844187" y="1665513"/>
            <a:ext cx="2173333" cy="2757898"/>
          </a:xfrm>
          <a:prstGeom prst="rect">
            <a:avLst/>
          </a:prstGeom>
          <a:noFill/>
          <a:ln w="31750">
            <a:solidFill>
              <a:srgbClr val="008F4C"/>
            </a:solidFill>
            <a:prstDash val="sysDot"/>
          </a:ln>
        </p:spPr>
        <p:txBody>
          <a:bodyPr wrap="square" lIns="182880" rIns="91440" rtlCol="0" anchor="ctr" anchorCtr="0">
            <a:noAutofit/>
          </a:bodyPr>
          <a:lstStyle/>
          <a:p>
            <a:r>
              <a:rPr lang="en-US" sz="2000" b="1" dirty="0">
                <a:solidFill>
                  <a:srgbClr val="2B8147"/>
                </a:solidFill>
              </a:rPr>
              <a:t>Remember…</a:t>
            </a:r>
            <a:br>
              <a:rPr lang="en-US" sz="2000" b="1" dirty="0">
                <a:solidFill>
                  <a:srgbClr val="2B8147"/>
                </a:solidFill>
              </a:rPr>
            </a:br>
            <a:r>
              <a:rPr lang="en-US" sz="2000" dirty="0">
                <a:solidFill>
                  <a:srgbClr val="000000"/>
                </a:solidFill>
              </a:rPr>
              <a:t>When multiplying or dividing by a negative number while solving inequalities,  the inequality sign reverses.</a:t>
            </a:r>
          </a:p>
        </p:txBody>
      </p:sp>
      <p:sp>
        <p:nvSpPr>
          <p:cNvPr id="2" name="Text Placeholder 2">
            <a:extLst>
              <a:ext uri="{FF2B5EF4-FFF2-40B4-BE49-F238E27FC236}">
                <a16:creationId xmlns:a16="http://schemas.microsoft.com/office/drawing/2014/main" id="{05892A2B-DBD9-6CE5-59D3-DB7F864E3BED}"/>
              </a:ext>
            </a:extLst>
          </p:cNvPr>
          <p:cNvSpPr txBox="1">
            <a:spLocks/>
          </p:cNvSpPr>
          <p:nvPr/>
        </p:nvSpPr>
        <p:spPr>
          <a:xfrm>
            <a:off x="3371850" y="1562643"/>
            <a:ext cx="760984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Describe the process each student used to solve the inequality.</a:t>
            </a:r>
          </a:p>
          <a:p>
            <a:pPr marL="1028700" lvl="1" indent="-514350">
              <a:buFont typeface="+mj-lt"/>
              <a:buAutoNum type="alphaLcPeriod"/>
            </a:pPr>
            <a:r>
              <a:rPr lang="en-US" dirty="0">
                <a:solidFill>
                  <a:srgbClr val="000000"/>
                </a:solidFill>
              </a:rPr>
              <a:t>Victoria				b.   Kai</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11206080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ED570-11A6-9DDE-01FF-A73FFAE468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64F4C4-ABF9-1DAD-77B0-152B8399FA1F}"/>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(4 of 9) </a:t>
            </a:r>
          </a:p>
        </p:txBody>
      </p:sp>
      <p:sp>
        <p:nvSpPr>
          <p:cNvPr id="2" name="Text Placeholder 2">
            <a:extLst>
              <a:ext uri="{FF2B5EF4-FFF2-40B4-BE49-F238E27FC236}">
                <a16:creationId xmlns:a16="http://schemas.microsoft.com/office/drawing/2014/main" id="{34CA7536-34FB-1992-95BC-893A48CCA354}"/>
              </a:ext>
            </a:extLst>
          </p:cNvPr>
          <p:cNvSpPr txBox="1">
            <a:spLocks/>
          </p:cNvSpPr>
          <p:nvPr/>
        </p:nvSpPr>
        <p:spPr>
          <a:xfrm>
            <a:off x="777240" y="1608363"/>
            <a:ext cx="95986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How does the process of solving an inequality with variables on both sides compare to the process of solving an equation with variables on both sides?</a:t>
            </a:r>
            <a:endParaRPr lang="en-US" dirty="0">
              <a:solidFill>
                <a:srgbClr val="000000"/>
              </a:solidFill>
            </a:endParaRPr>
          </a:p>
        </p:txBody>
      </p:sp>
    </p:spTree>
    <p:extLst>
      <p:ext uri="{BB962C8B-B14F-4D97-AF65-F5344CB8AC3E}">
        <p14:creationId xmlns:p14="http://schemas.microsoft.com/office/powerpoint/2010/main" val="2626744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3F03-F17C-4332-F2FF-984A9398FF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3D665F-55F9-AE2E-4691-35B6B54938C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(5 of 9) </a:t>
            </a:r>
          </a:p>
        </p:txBody>
      </p:sp>
      <p:sp>
        <p:nvSpPr>
          <p:cNvPr id="2" name="Text Placeholder 2">
            <a:extLst>
              <a:ext uri="{FF2B5EF4-FFF2-40B4-BE49-F238E27FC236}">
                <a16:creationId xmlns:a16="http://schemas.microsoft.com/office/drawing/2014/main" id="{16EA41A2-BD0F-AD0B-1D9B-9BFEC26F5CEE}"/>
              </a:ext>
            </a:extLst>
          </p:cNvPr>
          <p:cNvSpPr txBox="1">
            <a:spLocks/>
          </p:cNvSpPr>
          <p:nvPr/>
        </p:nvSpPr>
        <p:spPr>
          <a:xfrm>
            <a:off x="777240" y="1608363"/>
            <a:ext cx="9598660" cy="8046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Aaliyah and Ava each solved the inequality –4(</a:t>
            </a:r>
            <a:r>
              <a:rPr lang="en-US" sz="2800" i="1" dirty="0">
                <a:solidFill>
                  <a:srgbClr val="000000"/>
                </a:solidFill>
              </a:rPr>
              <a:t>x </a:t>
            </a:r>
            <a:r>
              <a:rPr lang="en-US" sz="2800" dirty="0">
                <a:solidFill>
                  <a:srgbClr val="000000"/>
                </a:solidFill>
              </a:rPr>
              <a:t>– 6) &lt; 2.</a:t>
            </a:r>
            <a:br>
              <a:rPr lang="en-US" dirty="0">
                <a:solidFill>
                  <a:srgbClr val="000000"/>
                </a:solidFill>
              </a:rPr>
            </a:br>
            <a:br>
              <a:rPr lang="en-US" dirty="0">
                <a:solidFill>
                  <a:srgbClr val="000000"/>
                </a:solidFill>
              </a:rPr>
            </a:br>
            <a:endParaRPr lang="en-US" dirty="0">
              <a:solidFill>
                <a:srgbClr val="000000"/>
              </a:solidFill>
            </a:endParaRPr>
          </a:p>
        </p:txBody>
      </p:sp>
      <p:pic>
        <p:nvPicPr>
          <p:cNvPr id="3" name="Picture 2" descr="Thumbs up problem.">
            <a:extLst>
              <a:ext uri="{FF2B5EF4-FFF2-40B4-BE49-F238E27FC236}">
                <a16:creationId xmlns:a16="http://schemas.microsoft.com/office/drawing/2014/main" id="{BD8E98B9-05FA-4C7E-E5A8-2518ED60A2FA}"/>
              </a:ext>
            </a:extLst>
          </p:cNvPr>
          <p:cNvPicPr>
            <a:picLocks noChangeAspect="1"/>
          </p:cNvPicPr>
          <p:nvPr/>
        </p:nvPicPr>
        <p:blipFill>
          <a:blip r:embed="rId3"/>
          <a:stretch>
            <a:fillRect/>
          </a:stretch>
        </p:blipFill>
        <p:spPr>
          <a:xfrm>
            <a:off x="886596" y="2397858"/>
            <a:ext cx="6113491" cy="3426471"/>
          </a:xfrm>
          <a:prstGeom prst="rect">
            <a:avLst/>
          </a:prstGeom>
        </p:spPr>
      </p:pic>
    </p:spTree>
    <p:extLst>
      <p:ext uri="{BB962C8B-B14F-4D97-AF65-F5344CB8AC3E}">
        <p14:creationId xmlns:p14="http://schemas.microsoft.com/office/powerpoint/2010/main" val="1127112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B5D0A-7025-E537-8EA0-9BB7CB07EE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6599F8-9344-BDC4-1DED-8A06D177CF8C}"/>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(6 of 9) </a:t>
            </a:r>
          </a:p>
        </p:txBody>
      </p:sp>
      <p:sp>
        <p:nvSpPr>
          <p:cNvPr id="2" name="Text Placeholder 2">
            <a:extLst>
              <a:ext uri="{FF2B5EF4-FFF2-40B4-BE49-F238E27FC236}">
                <a16:creationId xmlns:a16="http://schemas.microsoft.com/office/drawing/2014/main" id="{83F2A590-DD5B-6FC7-5815-02E9A8F0D935}"/>
              </a:ext>
            </a:extLst>
          </p:cNvPr>
          <p:cNvSpPr txBox="1">
            <a:spLocks/>
          </p:cNvSpPr>
          <p:nvPr/>
        </p:nvSpPr>
        <p:spPr>
          <a:xfrm>
            <a:off x="777240" y="1608363"/>
            <a:ext cx="9903460" cy="4702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Describe the process each student used to solve the inequality.</a:t>
            </a:r>
          </a:p>
          <a:p>
            <a:pPr marL="1028700" lvl="1" indent="-514350">
              <a:buFont typeface="+mj-lt"/>
              <a:buAutoNum type="alphaLcPeriod"/>
            </a:pPr>
            <a:r>
              <a:rPr lang="en-US" dirty="0">
                <a:solidFill>
                  <a:srgbClr val="000000"/>
                </a:solidFill>
              </a:rPr>
              <a:t>Aaliyah				b. Ava</a:t>
            </a: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1937410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AC8-CCF1-9B34-20B9-A3FF7D3B2E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3B4995-2217-ECEA-5B13-B55E592F6607}"/>
              </a:ext>
            </a:extLst>
          </p:cNvPr>
          <p:cNvSpPr>
            <a:spLocks noGrp="1"/>
          </p:cNvSpPr>
          <p:nvPr>
            <p:ph type="title"/>
          </p:nvPr>
        </p:nvSpPr>
        <p:spPr/>
        <p:txBody>
          <a:bodyPr/>
          <a:lstStyle/>
          <a:p>
            <a:pPr algn="l"/>
            <a:r>
              <a:rPr lang="en-US" sz="4000" b="1" dirty="0"/>
              <a:t>Solving Other Linear Inequalities </a:t>
            </a:r>
            <a:r>
              <a:rPr lang="en-US" sz="2000" b="1" dirty="0">
                <a:solidFill>
                  <a:schemeClr val="bg1"/>
                </a:solidFill>
              </a:rPr>
              <a:t>(7 of 9) </a:t>
            </a:r>
          </a:p>
        </p:txBody>
      </p:sp>
      <p:sp>
        <p:nvSpPr>
          <p:cNvPr id="2" name="Text Placeholder 2">
            <a:extLst>
              <a:ext uri="{FF2B5EF4-FFF2-40B4-BE49-F238E27FC236}">
                <a16:creationId xmlns:a16="http://schemas.microsoft.com/office/drawing/2014/main" id="{CB8A2254-1A04-F1A8-1D9B-525CFC99E50E}"/>
              </a:ext>
            </a:extLst>
          </p:cNvPr>
          <p:cNvSpPr txBox="1">
            <a:spLocks/>
          </p:cNvSpPr>
          <p:nvPr/>
        </p:nvSpPr>
        <p:spPr>
          <a:xfrm>
            <a:off x="777240" y="1608363"/>
            <a:ext cx="10561320" cy="31160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How does the process of solving an inequality using the distributive property compare to the process of solving an equation using the distributive property?</a:t>
            </a:r>
            <a:br>
              <a:rPr lang="en-US" dirty="0">
                <a:solidFill>
                  <a:srgbClr val="000000"/>
                </a:solidFill>
              </a:rPr>
            </a:br>
            <a:br>
              <a:rPr lang="en-US" dirty="0">
                <a:solidFill>
                  <a:srgbClr val="000000"/>
                </a:solidFill>
              </a:rPr>
            </a:br>
            <a:endParaRPr lang="en-US" dirty="0">
              <a:solidFill>
                <a:srgbClr val="000000"/>
              </a:solidFill>
            </a:endParaRPr>
          </a:p>
        </p:txBody>
      </p:sp>
    </p:spTree>
    <p:extLst>
      <p:ext uri="{BB962C8B-B14F-4D97-AF65-F5344CB8AC3E}">
        <p14:creationId xmlns:p14="http://schemas.microsoft.com/office/powerpoint/2010/main" val="20425361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424CE-21EB-445B-42D8-B7F4707487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016337-631B-BF65-C7C9-18EFB9312D84}"/>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(8 of 9)</a:t>
            </a:r>
            <a:endParaRPr lang="en-US" b="1" dirty="0">
              <a:solidFill>
                <a:schemeClr val="bg1"/>
              </a:solidFill>
            </a:endParaRPr>
          </a:p>
        </p:txBody>
      </p:sp>
      <p:sp>
        <p:nvSpPr>
          <p:cNvPr id="9" name="Text Placeholder 2">
            <a:extLst>
              <a:ext uri="{FF2B5EF4-FFF2-40B4-BE49-F238E27FC236}">
                <a16:creationId xmlns:a16="http://schemas.microsoft.com/office/drawing/2014/main" id="{78918331-34D9-AF33-09D6-4829DD83F313}"/>
              </a:ext>
            </a:extLst>
          </p:cNvPr>
          <p:cNvSpPr txBox="1">
            <a:spLocks/>
          </p:cNvSpPr>
          <p:nvPr/>
        </p:nvSpPr>
        <p:spPr>
          <a:xfrm>
            <a:off x="777240" y="1635686"/>
            <a:ext cx="9893719" cy="40023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3.4!</a:t>
            </a:r>
          </a:p>
        </p:txBody>
      </p:sp>
      <p:pic>
        <p:nvPicPr>
          <p:cNvPr id="2" name="Picture 1">
            <a:extLst>
              <a:ext uri="{FF2B5EF4-FFF2-40B4-BE49-F238E27FC236}">
                <a16:creationId xmlns:a16="http://schemas.microsoft.com/office/drawing/2014/main" id="{D90F99BA-30CB-2428-D379-EC6AEA9EE22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5130618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4E3E6-9812-3E62-A862-A457FD1645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D5CD6D-499F-9C82-353E-17FFAEB11048}"/>
              </a:ext>
            </a:extLst>
          </p:cNvPr>
          <p:cNvSpPr>
            <a:spLocks noGrp="1"/>
          </p:cNvSpPr>
          <p:nvPr>
            <p:ph type="title"/>
          </p:nvPr>
        </p:nvSpPr>
        <p:spPr/>
        <p:txBody>
          <a:bodyPr/>
          <a:lstStyle/>
          <a:p>
            <a:pPr algn="l"/>
            <a:r>
              <a:rPr lang="en-US" b="1" dirty="0"/>
              <a:t>Solving Other Linear Inequalities </a:t>
            </a:r>
            <a:r>
              <a:rPr lang="en-US" sz="2000" b="1" dirty="0">
                <a:solidFill>
                  <a:schemeClr val="bg1"/>
                </a:solidFill>
              </a:rPr>
              <a:t>(9 of 9)</a:t>
            </a:r>
            <a:endParaRPr lang="en-US" b="1" dirty="0">
              <a:solidFill>
                <a:schemeClr val="bg1"/>
              </a:solidFill>
            </a:endParaRPr>
          </a:p>
        </p:txBody>
      </p:sp>
      <p:sp>
        <p:nvSpPr>
          <p:cNvPr id="9" name="Text Placeholder 2">
            <a:extLst>
              <a:ext uri="{FF2B5EF4-FFF2-40B4-BE49-F238E27FC236}">
                <a16:creationId xmlns:a16="http://schemas.microsoft.com/office/drawing/2014/main" id="{CF217419-530F-F85C-C865-8CB4002C924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754544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D9D91-5440-D5DB-2F23-EAE7383ACE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DC09C9-87F8-765B-5704-8CB682F6C335}"/>
              </a:ext>
            </a:extLst>
          </p:cNvPr>
          <p:cNvSpPr>
            <a:spLocks noGrp="1"/>
          </p:cNvSpPr>
          <p:nvPr>
            <p:ph type="title" idx="4294967295"/>
          </p:nvPr>
        </p:nvSpPr>
        <p:spPr>
          <a:xfrm>
            <a:off x="838200" y="-447261"/>
            <a:ext cx="10514013" cy="447261"/>
          </a:xfrm>
          <a:prstGeom prst="rect">
            <a:avLst/>
          </a:prstGeom>
        </p:spPr>
        <p:txBody>
          <a:bodyPr anchor="b"/>
          <a:lstStyle/>
          <a:p>
            <a:r>
              <a:rPr lang="en-US" sz="2000" dirty="0">
                <a:solidFill>
                  <a:schemeClr val="bg2"/>
                </a:solidFill>
              </a:rPr>
              <a:t>Talk the Talk</a:t>
            </a:r>
          </a:p>
        </p:txBody>
      </p:sp>
      <p:sp>
        <p:nvSpPr>
          <p:cNvPr id="2" name="Text Placeholder 1" descr="5 minutes">
            <a:extLst>
              <a:ext uri="{FF2B5EF4-FFF2-40B4-BE49-F238E27FC236}">
                <a16:creationId xmlns:a16="http://schemas.microsoft.com/office/drawing/2014/main" id="{C506A5DC-8161-9254-A513-769FD0756A71}"/>
              </a:ext>
            </a:extLst>
          </p:cNvPr>
          <p:cNvSpPr>
            <a:spLocks noGrp="1"/>
          </p:cNvSpPr>
          <p:nvPr>
            <p:ph type="body" sz="quarter" idx="12"/>
          </p:nvPr>
        </p:nvSpPr>
        <p:spPr>
          <a:xfrm>
            <a:off x="10614990" y="5781577"/>
            <a:ext cx="863947" cy="795338"/>
          </a:xfrm>
        </p:spPr>
        <p:txBody>
          <a:bodyPr/>
          <a:lstStyle/>
          <a:p>
            <a:r>
              <a:rPr lang="en-US" b="1" dirty="0"/>
              <a:t>10–15</a:t>
            </a:r>
          </a:p>
        </p:txBody>
      </p:sp>
    </p:spTree>
    <p:extLst>
      <p:ext uri="{BB962C8B-B14F-4D97-AF65-F5344CB8AC3E}">
        <p14:creationId xmlns:p14="http://schemas.microsoft.com/office/powerpoint/2010/main" val="812544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50BF5-80FC-7926-52D7-7740A49E95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5B13CE-F04A-688E-CD85-3E01BA8B2112}"/>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(1 of 5) </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CA450191-C258-1DD9-FF6B-2EB65E5098A2}"/>
                  </a:ext>
                </a:extLst>
              </p:cNvPr>
              <p:cNvSpPr txBox="1">
                <a:spLocks/>
              </p:cNvSpPr>
              <p:nvPr/>
            </p:nvSpPr>
            <p:spPr>
              <a:xfrm>
                <a:off x="777240" y="1608364"/>
                <a:ext cx="10172700" cy="12578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Solve each inequality and graph the solution on the number line.</a:t>
                </a:r>
              </a:p>
              <a:p>
                <a:pPr marL="1028700" lvl="1" indent="-514350">
                  <a:buFont typeface="+mj-lt"/>
                  <a:buAutoNum type="alphaLcPeriod"/>
                </a:pPr>
                <a:r>
                  <a:rPr lang="en-US" dirty="0">
                    <a:solidFill>
                      <a:srgbClr val="000000"/>
                    </a:solidFill>
                  </a:rPr>
                  <a:t> –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m:t>
                        </m:r>
                      </m:num>
                      <m:den>
                        <m:r>
                          <a:rPr lang="en-US" b="0" i="1" smtClean="0">
                            <a:solidFill>
                              <a:srgbClr val="000000"/>
                            </a:solidFill>
                            <a:latin typeface="Cambria Math" panose="02040503050406030204" pitchFamily="18" charset="0"/>
                          </a:rPr>
                          <m:t>3</m:t>
                        </m:r>
                      </m:den>
                    </m:f>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0" smtClean="0">
                        <a:solidFill>
                          <a:srgbClr val="000000"/>
                        </a:solidFill>
                        <a:latin typeface="Cambria Math" panose="02040503050406030204" pitchFamily="18" charset="0"/>
                      </a:rPr>
                      <m:t> </m:t>
                    </m:r>
                  </m:oMath>
                </a14:m>
                <a:r>
                  <a:rPr lang="en-US" dirty="0">
                    <a:solidFill>
                      <a:srgbClr val="000000"/>
                    </a:solidFill>
                  </a:rPr>
                  <a:t>7</a:t>
                </a:r>
              </a:p>
              <a:p>
                <a:pPr marL="1028700" lvl="1" indent="-514350">
                  <a:buFont typeface="+mj-lt"/>
                  <a:buAutoNum type="alphaLcPeriod"/>
                </a:pPr>
                <a:endParaRPr lang="en-US" dirty="0">
                  <a:solidFill>
                    <a:srgbClr val="000000"/>
                  </a:solidFill>
                </a:endParaRPr>
              </a:p>
              <a:p>
                <a:pPr marL="514350" lvl="1" indent="0">
                  <a:buNone/>
                </a:pPr>
                <a:br>
                  <a:rPr lang="en-US" dirty="0">
                    <a:solidFill>
                      <a:srgbClr val="000000"/>
                    </a:solidFill>
                  </a:rPr>
                </a:br>
                <a:br>
                  <a:rPr lang="en-US" dirty="0">
                    <a:solidFill>
                      <a:srgbClr val="000000"/>
                    </a:solidFill>
                  </a:rPr>
                </a:br>
                <a:endParaRPr lang="en-US" dirty="0">
                  <a:solidFill>
                    <a:srgbClr val="000000"/>
                  </a:solidFill>
                </a:endParaRPr>
              </a:p>
            </p:txBody>
          </p:sp>
        </mc:Choice>
        <mc:Fallback xmlns="">
          <p:sp>
            <p:nvSpPr>
              <p:cNvPr id="9" name="Text Placeholder 2">
                <a:extLst>
                  <a:ext uri="{FF2B5EF4-FFF2-40B4-BE49-F238E27FC236}">
                    <a16:creationId xmlns:a16="http://schemas.microsoft.com/office/drawing/2014/main" id="{CA450191-C258-1DD9-FF6B-2EB65E5098A2}"/>
                  </a:ext>
                </a:extLst>
              </p:cNvPr>
              <p:cNvSpPr txBox="1">
                <a:spLocks noRot="1" noChangeAspect="1" noMove="1" noResize="1" noEditPoints="1" noAdjustHandles="1" noChangeArrowheads="1" noChangeShapeType="1" noTextEdit="1"/>
              </p:cNvSpPr>
              <p:nvPr/>
            </p:nvSpPr>
            <p:spPr>
              <a:xfrm>
                <a:off x="777240" y="1608364"/>
                <a:ext cx="10172700" cy="1257820"/>
              </a:xfrm>
              <a:prstGeom prst="rect">
                <a:avLst/>
              </a:prstGeom>
              <a:blipFill>
                <a:blip r:embed="rId3"/>
                <a:stretch>
                  <a:fillRect l="-1259" t="-5340" b="-6311"/>
                </a:stretch>
              </a:blipFill>
            </p:spPr>
            <p:txBody>
              <a:bodyPr/>
              <a:lstStyle/>
              <a:p>
                <a:r>
                  <a:rPr lang="en-IN">
                    <a:noFill/>
                  </a:rPr>
                  <a:t> </a:t>
                </a:r>
              </a:p>
            </p:txBody>
          </p:sp>
        </mc:Fallback>
      </mc:AlternateContent>
      <p:pic>
        <p:nvPicPr>
          <p:cNvPr id="3" name="Picture 2" descr="A number line.">
            <a:extLst>
              <a:ext uri="{FF2B5EF4-FFF2-40B4-BE49-F238E27FC236}">
                <a16:creationId xmlns:a16="http://schemas.microsoft.com/office/drawing/2014/main" id="{3D6B952A-4AC3-A642-3FDC-C87D690CA1BB}"/>
              </a:ext>
            </a:extLst>
          </p:cNvPr>
          <p:cNvPicPr>
            <a:picLocks noChangeAspect="1"/>
          </p:cNvPicPr>
          <p:nvPr/>
        </p:nvPicPr>
        <p:blipFill>
          <a:blip r:embed="rId4"/>
          <a:stretch>
            <a:fillRect/>
          </a:stretch>
        </p:blipFill>
        <p:spPr>
          <a:xfrm>
            <a:off x="2006652" y="3220473"/>
            <a:ext cx="6326188" cy="371255"/>
          </a:xfrm>
          <a:prstGeom prst="rect">
            <a:avLst/>
          </a:prstGeom>
        </p:spPr>
      </p:pic>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00C586E-56A6-C42A-D045-EDE36329EF6A}"/>
                  </a:ext>
                </a:extLst>
              </p:cNvPr>
              <p:cNvSpPr txBox="1">
                <a:spLocks/>
              </p:cNvSpPr>
              <p:nvPr/>
            </p:nvSpPr>
            <p:spPr>
              <a:xfrm>
                <a:off x="1280160" y="4317274"/>
                <a:ext cx="10001250" cy="68243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32&gt;23 –</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𝑥</m:t>
                    </m:r>
                  </m:oMath>
                </a14:m>
                <a:br>
                  <a:rPr lang="en-US" sz="2800" dirty="0">
                    <a:solidFill>
                      <a:srgbClr val="000000"/>
                    </a:solidFill>
                  </a:rPr>
                </a:b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00C586E-56A6-C42A-D045-EDE36329EF6A}"/>
                  </a:ext>
                </a:extLst>
              </p:cNvPr>
              <p:cNvSpPr txBox="1">
                <a:spLocks noRot="1" noChangeAspect="1" noMove="1" noResize="1" noEditPoints="1" noAdjustHandles="1" noChangeArrowheads="1" noChangeShapeType="1" noTextEdit="1"/>
              </p:cNvSpPr>
              <p:nvPr/>
            </p:nvSpPr>
            <p:spPr>
              <a:xfrm>
                <a:off x="1280160" y="4317274"/>
                <a:ext cx="10001250" cy="682430"/>
              </a:xfrm>
              <a:prstGeom prst="rect">
                <a:avLst/>
              </a:prstGeom>
              <a:blipFill>
                <a:blip r:embed="rId5"/>
                <a:stretch>
                  <a:fillRect l="-1280" t="-9821" b="-2679"/>
                </a:stretch>
              </a:blipFill>
            </p:spPr>
            <p:txBody>
              <a:bodyPr/>
              <a:lstStyle/>
              <a:p>
                <a:r>
                  <a:rPr lang="en-IN">
                    <a:noFill/>
                  </a:rPr>
                  <a:t> </a:t>
                </a:r>
              </a:p>
            </p:txBody>
          </p:sp>
        </mc:Fallback>
      </mc:AlternateContent>
      <p:pic>
        <p:nvPicPr>
          <p:cNvPr id="5" name="Picture 4" descr="A number line.">
            <a:extLst>
              <a:ext uri="{FF2B5EF4-FFF2-40B4-BE49-F238E27FC236}">
                <a16:creationId xmlns:a16="http://schemas.microsoft.com/office/drawing/2014/main" id="{A91D0FC7-E50E-7AFD-3DA7-22391BE30428}"/>
              </a:ext>
            </a:extLst>
          </p:cNvPr>
          <p:cNvPicPr>
            <a:picLocks noChangeAspect="1"/>
          </p:cNvPicPr>
          <p:nvPr/>
        </p:nvPicPr>
        <p:blipFill>
          <a:blip r:embed="rId4"/>
          <a:stretch>
            <a:fillRect/>
          </a:stretch>
        </p:blipFill>
        <p:spPr>
          <a:xfrm>
            <a:off x="2006652" y="5249636"/>
            <a:ext cx="5534921" cy="324819"/>
          </a:xfrm>
          <a:prstGeom prst="rect">
            <a:avLst/>
          </a:prstGeom>
        </p:spPr>
      </p:pic>
    </p:spTree>
    <p:extLst>
      <p:ext uri="{BB962C8B-B14F-4D97-AF65-F5344CB8AC3E}">
        <p14:creationId xmlns:p14="http://schemas.microsoft.com/office/powerpoint/2010/main" val="26251891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22D3-3B37-C5CB-0D15-23FD23759F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15D47D-455D-BCE9-4489-652F5D8E4CEF}"/>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(2 of 5)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7E83D0B-AB18-57A5-0312-C93ECB701F12}"/>
                  </a:ext>
                </a:extLst>
              </p:cNvPr>
              <p:cNvSpPr txBox="1">
                <a:spLocks/>
              </p:cNvSpPr>
              <p:nvPr/>
            </p:nvSpPr>
            <p:spPr>
              <a:xfrm>
                <a:off x="849630" y="1589314"/>
                <a:ext cx="10001250" cy="7450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15 –4</m:t>
                    </m:r>
                    <m:r>
                      <a:rPr lang="en-US" sz="2800" b="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 ≤</m:t>
                    </m:r>
                    <m:r>
                      <a:rPr lang="en-US" sz="2800" b="0" i="1" dirty="0" smtClean="0">
                        <a:solidFill>
                          <a:srgbClr val="000000"/>
                        </a:solidFill>
                        <a:latin typeface="Cambria Math" panose="02040503050406030204" pitchFamily="18" charset="0"/>
                      </a:rPr>
                      <m:t>3</m:t>
                    </m:r>
                    <m:r>
                      <a:rPr lang="en-US" sz="2800" i="1" dirty="0" smtClean="0">
                        <a:solidFill>
                          <a:srgbClr val="000000"/>
                        </a:solidFill>
                        <a:latin typeface="Cambria Math" panose="02040503050406030204" pitchFamily="18" charset="0"/>
                      </a:rPr>
                      <m:t>𝑥</m:t>
                    </m:r>
                  </m:oMath>
                </a14:m>
                <a:r>
                  <a:rPr lang="en-US" sz="2800" dirty="0">
                    <a:solidFill>
                      <a:srgbClr val="000000"/>
                    </a:solidFill>
                  </a:rPr>
                  <a:t> – 6</a:t>
                </a:r>
                <a:br>
                  <a:rPr lang="en-US" sz="2800" dirty="0">
                    <a:solidFill>
                      <a:srgbClr val="000000"/>
                    </a:solidFill>
                  </a:rPr>
                </a:br>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E7E83D0B-AB18-57A5-0312-C93ECB701F12}"/>
                  </a:ext>
                </a:extLst>
              </p:cNvPr>
              <p:cNvSpPr txBox="1">
                <a:spLocks noRot="1" noChangeAspect="1" noMove="1" noResize="1" noEditPoints="1" noAdjustHandles="1" noChangeArrowheads="1" noChangeShapeType="1" noTextEdit="1"/>
              </p:cNvSpPr>
              <p:nvPr/>
            </p:nvSpPr>
            <p:spPr>
              <a:xfrm>
                <a:off x="849630" y="1589314"/>
                <a:ext cx="10001250" cy="745034"/>
              </a:xfrm>
              <a:prstGeom prst="rect">
                <a:avLst/>
              </a:prstGeom>
              <a:blipFill>
                <a:blip r:embed="rId3"/>
                <a:stretch>
                  <a:fillRect l="-1280" t="-9016"/>
                </a:stretch>
              </a:blipFill>
            </p:spPr>
            <p:txBody>
              <a:bodyPr/>
              <a:lstStyle/>
              <a:p>
                <a:r>
                  <a:rPr lang="en-IN">
                    <a:noFill/>
                  </a:rPr>
                  <a:t> </a:t>
                </a:r>
              </a:p>
            </p:txBody>
          </p:sp>
        </mc:Fallback>
      </mc:AlternateContent>
      <p:pic>
        <p:nvPicPr>
          <p:cNvPr id="7" name="Picture 6" descr="A number line.">
            <a:extLst>
              <a:ext uri="{FF2B5EF4-FFF2-40B4-BE49-F238E27FC236}">
                <a16:creationId xmlns:a16="http://schemas.microsoft.com/office/drawing/2014/main" id="{A6A0E419-6D43-C9B0-B63E-F84758959D80}"/>
              </a:ext>
            </a:extLst>
          </p:cNvPr>
          <p:cNvPicPr>
            <a:picLocks noChangeAspect="1"/>
          </p:cNvPicPr>
          <p:nvPr/>
        </p:nvPicPr>
        <p:blipFill>
          <a:blip r:embed="rId4"/>
          <a:stretch>
            <a:fillRect/>
          </a:stretch>
        </p:blipFill>
        <p:spPr>
          <a:xfrm>
            <a:off x="1539363" y="2500163"/>
            <a:ext cx="5463216" cy="320611"/>
          </a:xfrm>
          <a:prstGeom prst="rect">
            <a:avLst/>
          </a:prstGeom>
        </p:spPr>
      </p:pic>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3393C643-25EE-C8EE-47D7-091C94637A8F}"/>
                  </a:ext>
                </a:extLst>
              </p:cNvPr>
              <p:cNvSpPr txBox="1">
                <a:spLocks/>
              </p:cNvSpPr>
              <p:nvPr/>
            </p:nvSpPr>
            <p:spPr>
              <a:xfrm>
                <a:off x="365760" y="4065813"/>
                <a:ext cx="10001250" cy="74503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33272" indent="-514350">
                  <a:buFont typeface="+mj-lt"/>
                  <a:buAutoNum type="alphaLcPeriod" startAt="4"/>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2(</m:t>
                    </m:r>
                    <m:r>
                      <a:rPr lang="en-US" sz="280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+6)&lt;14+4</m:t>
                    </m:r>
                    <m:r>
                      <a:rPr lang="en-US" sz="2800" i="1" dirty="0">
                        <a:solidFill>
                          <a:srgbClr val="000000"/>
                        </a:solidFill>
                        <a:latin typeface="Cambria Math" panose="02040503050406030204" pitchFamily="18" charset="0"/>
                      </a:rPr>
                      <m:t>𝑥</m:t>
                    </m:r>
                  </m:oMath>
                </a14:m>
                <a:br>
                  <a:rPr lang="en-US" sz="2800" dirty="0">
                    <a:solidFill>
                      <a:srgbClr val="000000"/>
                    </a:solidFill>
                  </a:rPr>
                </a:br>
                <a:endParaRPr lang="en-US" sz="2800" dirty="0">
                  <a:solidFill>
                    <a:srgbClr val="000000"/>
                  </a:solidFill>
                </a:endParaRPr>
              </a:p>
            </p:txBody>
          </p:sp>
        </mc:Choice>
        <mc:Fallback xmlns="">
          <p:sp>
            <p:nvSpPr>
              <p:cNvPr id="8" name="Text Placeholder 2">
                <a:extLst>
                  <a:ext uri="{FF2B5EF4-FFF2-40B4-BE49-F238E27FC236}">
                    <a16:creationId xmlns:a16="http://schemas.microsoft.com/office/drawing/2014/main" id="{3393C643-25EE-C8EE-47D7-091C94637A8F}"/>
                  </a:ext>
                </a:extLst>
              </p:cNvPr>
              <p:cNvSpPr txBox="1">
                <a:spLocks noRot="1" noChangeAspect="1" noMove="1" noResize="1" noEditPoints="1" noAdjustHandles="1" noChangeArrowheads="1" noChangeShapeType="1" noTextEdit="1"/>
              </p:cNvSpPr>
              <p:nvPr/>
            </p:nvSpPr>
            <p:spPr>
              <a:xfrm>
                <a:off x="365760" y="4065813"/>
                <a:ext cx="10001250" cy="745035"/>
              </a:xfrm>
              <a:prstGeom prst="rect">
                <a:avLst/>
              </a:prstGeom>
              <a:blipFill>
                <a:blip r:embed="rId5"/>
                <a:stretch>
                  <a:fillRect t="-9016"/>
                </a:stretch>
              </a:blipFill>
            </p:spPr>
            <p:txBody>
              <a:bodyPr/>
              <a:lstStyle/>
              <a:p>
                <a:r>
                  <a:rPr lang="en-IN">
                    <a:noFill/>
                  </a:rPr>
                  <a:t> </a:t>
                </a:r>
              </a:p>
            </p:txBody>
          </p:sp>
        </mc:Fallback>
      </mc:AlternateContent>
      <p:pic>
        <p:nvPicPr>
          <p:cNvPr id="10" name="Picture 9" descr="A number line.">
            <a:extLst>
              <a:ext uri="{FF2B5EF4-FFF2-40B4-BE49-F238E27FC236}">
                <a16:creationId xmlns:a16="http://schemas.microsoft.com/office/drawing/2014/main" id="{6F14D574-C1F8-CC5C-2647-5CB477A3255D}"/>
              </a:ext>
            </a:extLst>
          </p:cNvPr>
          <p:cNvPicPr>
            <a:picLocks noChangeAspect="1"/>
          </p:cNvPicPr>
          <p:nvPr/>
        </p:nvPicPr>
        <p:blipFill>
          <a:blip r:embed="rId4"/>
          <a:stretch>
            <a:fillRect/>
          </a:stretch>
        </p:blipFill>
        <p:spPr>
          <a:xfrm>
            <a:off x="1503510" y="5033625"/>
            <a:ext cx="5534921" cy="324819"/>
          </a:xfrm>
          <a:prstGeom prst="rect">
            <a:avLst/>
          </a:prstGeom>
        </p:spPr>
      </p:pic>
    </p:spTree>
    <p:extLst>
      <p:ext uri="{BB962C8B-B14F-4D97-AF65-F5344CB8AC3E}">
        <p14:creationId xmlns:p14="http://schemas.microsoft.com/office/powerpoint/2010/main" val="15079942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54B8-FAF2-8C6D-A274-436160BA79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BFA372-82E7-F3F5-7CB7-4CAA2F615548}"/>
              </a:ext>
            </a:extLst>
          </p:cNvPr>
          <p:cNvSpPr>
            <a:spLocks noGrp="1"/>
          </p:cNvSpPr>
          <p:nvPr>
            <p:ph type="title"/>
          </p:nvPr>
        </p:nvSpPr>
        <p:spPr/>
        <p:txBody>
          <a:bodyPr/>
          <a:lstStyle/>
          <a:p>
            <a:pPr algn="l"/>
            <a:r>
              <a:rPr lang="en-US" sz="4000" b="1" dirty="0"/>
              <a:t>It’s About Solutions, More or Less </a:t>
            </a:r>
            <a:r>
              <a:rPr lang="en-US" sz="2000" b="1" dirty="0">
                <a:solidFill>
                  <a:schemeClr val="bg1"/>
                </a:solidFill>
              </a:rPr>
              <a:t>(3 of 5) </a:t>
            </a:r>
          </a:p>
        </p:txBody>
      </p:sp>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2D67CACE-D8B2-AA0C-EF1D-BCF8D1D67EC1}"/>
                  </a:ext>
                </a:extLst>
              </p:cNvPr>
              <p:cNvSpPr txBox="1">
                <a:spLocks/>
              </p:cNvSpPr>
              <p:nvPr/>
            </p:nvSpPr>
            <p:spPr>
              <a:xfrm>
                <a:off x="849630" y="1612173"/>
                <a:ext cx="10001250" cy="10319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 If </a:t>
                </a:r>
                <a14:m>
                  <m:oMath xmlns:m="http://schemas.openxmlformats.org/officeDocument/2006/math">
                    <m:r>
                      <a:rPr lang="en-US" sz="2800" i="1" dirty="0" smtClean="0">
                        <a:solidFill>
                          <a:srgbClr val="000000"/>
                        </a:solidFill>
                        <a:latin typeface="Cambria Math" panose="02040503050406030204" pitchFamily="18" charset="0"/>
                      </a:rPr>
                      <m:t>𝐴</m:t>
                    </m:r>
                    <m:r>
                      <a:rPr lang="en-US" sz="2800" i="1" dirty="0" smtClean="0">
                        <a:solidFill>
                          <a:srgbClr val="000000"/>
                        </a:solidFill>
                        <a:latin typeface="Cambria Math" panose="02040503050406030204" pitchFamily="18" charset="0"/>
                      </a:rPr>
                      <m:t>&lt;</m:t>
                    </m:r>
                    <m:r>
                      <a:rPr lang="en-US" sz="2800" i="1" dirty="0" smtClean="0">
                        <a:solidFill>
                          <a:srgbClr val="000000"/>
                        </a:solidFill>
                        <a:latin typeface="Cambria Math" panose="02040503050406030204" pitchFamily="18" charset="0"/>
                      </a:rPr>
                      <m:t>𝐵</m:t>
                    </m:r>
                  </m:oMath>
                </a14:m>
                <a:r>
                  <a:rPr lang="en-US" sz="2800" dirty="0">
                    <a:solidFill>
                      <a:srgbClr val="000000"/>
                    </a:solidFill>
                  </a:rPr>
                  <a:t> , identify the constraints to make each statement true.</a:t>
                </a:r>
                <a:br>
                  <a:rPr lang="en-US" sz="2800" dirty="0">
                    <a:solidFill>
                      <a:srgbClr val="000000"/>
                    </a:solidFill>
                  </a:rPr>
                </a:br>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2D67CACE-D8B2-AA0C-EF1D-BCF8D1D67EC1}"/>
                  </a:ext>
                </a:extLst>
              </p:cNvPr>
              <p:cNvSpPr txBox="1">
                <a:spLocks noRot="1" noChangeAspect="1" noMove="1" noResize="1" noEditPoints="1" noAdjustHandles="1" noChangeArrowheads="1" noChangeShapeType="1" noTextEdit="1"/>
              </p:cNvSpPr>
              <p:nvPr/>
            </p:nvSpPr>
            <p:spPr>
              <a:xfrm>
                <a:off x="849630" y="1612173"/>
                <a:ext cx="10001250" cy="1031967"/>
              </a:xfrm>
              <a:prstGeom prst="rect">
                <a:avLst/>
              </a:prstGeom>
              <a:blipFill>
                <a:blip r:embed="rId3"/>
                <a:stretch>
                  <a:fillRect l="-1280" t="-5882" r="-3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27F4155-A9A5-7AB2-C4CC-42D301312191}"/>
                  </a:ext>
                </a:extLst>
              </p:cNvPr>
              <p:cNvSpPr txBox="1">
                <a:spLocks/>
              </p:cNvSpPr>
              <p:nvPr/>
            </p:nvSpPr>
            <p:spPr>
              <a:xfrm>
                <a:off x="1440180" y="2191293"/>
                <a:ext cx="10001250" cy="40494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a:pPr>
                <a:r>
                  <a:rPr lang="pt-BR" sz="2800" dirty="0">
                    <a:solidFill>
                      <a:srgbClr val="000000"/>
                    </a:solidFill>
                  </a:rPr>
                  <a:t> </a:t>
                </a:r>
                <a14:m>
                  <m:oMath xmlns:m="http://schemas.openxmlformats.org/officeDocument/2006/math">
                    <m:r>
                      <a:rPr lang="pt-BR" sz="2800" i="1" dirty="0" smtClean="0">
                        <a:solidFill>
                          <a:srgbClr val="000000"/>
                        </a:solidFill>
                        <a:latin typeface="Cambria Math" panose="02040503050406030204" pitchFamily="18" charset="0"/>
                      </a:rPr>
                      <m:t>𝐴</m:t>
                    </m:r>
                    <m:r>
                      <a:rPr lang="pt-BR" sz="2800" i="1" dirty="0" smtClean="0">
                        <a:solidFill>
                          <a:srgbClr val="000000"/>
                        </a:solidFill>
                        <a:latin typeface="Cambria Math" panose="02040503050406030204" pitchFamily="18" charset="0"/>
                      </a:rPr>
                      <m:t>+</m:t>
                    </m:r>
                    <m:r>
                      <a:rPr lang="pt-BR" sz="2800" i="1" dirty="0" smtClean="0">
                        <a:solidFill>
                          <a:srgbClr val="000000"/>
                        </a:solidFill>
                        <a:latin typeface="Cambria Math" panose="02040503050406030204" pitchFamily="18" charset="0"/>
                      </a:rPr>
                      <m:t>𝐶</m:t>
                    </m:r>
                    <m:r>
                      <a:rPr lang="pt-BR" sz="2800" i="1" dirty="0" smtClean="0">
                        <a:solidFill>
                          <a:srgbClr val="000000"/>
                        </a:solidFill>
                        <a:latin typeface="Cambria Math" panose="02040503050406030204" pitchFamily="18" charset="0"/>
                      </a:rPr>
                      <m:t>&lt;</m:t>
                    </m:r>
                    <m:r>
                      <a:rPr lang="pt-BR" sz="2800" i="1" dirty="0" smtClean="0">
                        <a:solidFill>
                          <a:srgbClr val="000000"/>
                        </a:solidFill>
                        <a:latin typeface="Cambria Math" panose="02040503050406030204" pitchFamily="18" charset="0"/>
                      </a:rPr>
                      <m:t>𝐵</m:t>
                    </m:r>
                    <m:r>
                      <a:rPr lang="pt-BR" sz="2800" i="1" dirty="0" smtClean="0">
                        <a:solidFill>
                          <a:srgbClr val="000000"/>
                        </a:solidFill>
                        <a:latin typeface="Cambria Math" panose="02040503050406030204" pitchFamily="18" charset="0"/>
                      </a:rPr>
                      <m:t>+</m:t>
                    </m:r>
                    <m:r>
                      <a:rPr lang="pt-BR" sz="2800" i="1" dirty="0" smtClean="0">
                        <a:solidFill>
                          <a:srgbClr val="000000"/>
                        </a:solidFill>
                        <a:latin typeface="Cambria Math" panose="02040503050406030204" pitchFamily="18" charset="0"/>
                      </a:rPr>
                      <m:t>𝐶</m:t>
                    </m:r>
                  </m:oMath>
                </a14:m>
                <a:endParaRPr lang="pt-BR" sz="2800" dirty="0">
                  <a:solidFill>
                    <a:srgbClr val="000000"/>
                  </a:solidFill>
                </a:endParaRPr>
              </a:p>
              <a:p>
                <a:pPr marL="514350" indent="-514350">
                  <a:buFont typeface="+mj-lt"/>
                  <a:buAutoNum type="alphaLcPeriod"/>
                </a:pPr>
                <a:endParaRPr lang="pt-BR" sz="4400" dirty="0">
                  <a:solidFill>
                    <a:srgbClr val="000000"/>
                  </a:solidFill>
                </a:endParaRPr>
              </a:p>
              <a:p>
                <a:pPr marL="514350" indent="-514350">
                  <a:buFont typeface="+mj-lt"/>
                  <a:buAutoNum type="alphaL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𝐴𝐶</m:t>
                    </m:r>
                    <m:r>
                      <a:rPr lang="en-US" sz="2800" i="1" dirty="0" smtClean="0">
                        <a:solidFill>
                          <a:srgbClr val="000000"/>
                        </a:solidFill>
                        <a:latin typeface="Cambria Math" panose="02040503050406030204" pitchFamily="18" charset="0"/>
                      </a:rPr>
                      <m:t>&gt;</m:t>
                    </m:r>
                    <m:r>
                      <a:rPr lang="en-US" sz="2800" i="1" dirty="0" smtClean="0">
                        <a:solidFill>
                          <a:srgbClr val="000000"/>
                        </a:solidFill>
                        <a:latin typeface="Cambria Math" panose="02040503050406030204" pitchFamily="18" charset="0"/>
                      </a:rPr>
                      <m:t>𝐵𝐶</m:t>
                    </m:r>
                  </m:oMath>
                </a14:m>
                <a:endParaRPr lang="en-US" sz="2800" dirty="0">
                  <a:solidFill>
                    <a:srgbClr val="000000"/>
                  </a:solidFill>
                </a:endParaRPr>
              </a:p>
              <a:p>
                <a:pPr marL="514350" indent="-514350">
                  <a:buFont typeface="+mj-lt"/>
                  <a:buAutoNum type="alphaLcPeriod"/>
                </a:pPr>
                <a:endParaRPr lang="en-US" sz="4400" dirty="0">
                  <a:solidFill>
                    <a:srgbClr val="000000"/>
                  </a:solidFill>
                </a:endParaRPr>
              </a:p>
              <a:p>
                <a:pPr marL="514350" indent="-514350">
                  <a:buFont typeface="+mj-lt"/>
                  <a:buAutoNum type="alphaL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𝐴</m:t>
                    </m:r>
                    <m:r>
                      <a:rPr lang="en-US" sz="2800" i="1" dirty="0">
                        <a:solidFill>
                          <a:srgbClr val="000000"/>
                        </a:solidFill>
                        <a:latin typeface="Cambria Math" panose="02040503050406030204" pitchFamily="18" charset="0"/>
                      </a:rPr>
                      <m:t>&lt;</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𝐵</m:t>
                    </m:r>
                  </m:oMath>
                </a14:m>
                <a:br>
                  <a:rPr lang="en-US" sz="2800" dirty="0">
                    <a:solidFill>
                      <a:srgbClr val="000000"/>
                    </a:solidFill>
                  </a:rPr>
                </a:br>
                <a:br>
                  <a:rPr lang="en-US" sz="2800" dirty="0">
                    <a:solidFill>
                      <a:srgbClr val="000000"/>
                    </a:solidFill>
                  </a:rPr>
                </a:br>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A27F4155-A9A5-7AB2-C4CC-42D301312191}"/>
                  </a:ext>
                </a:extLst>
              </p:cNvPr>
              <p:cNvSpPr txBox="1">
                <a:spLocks noRot="1" noChangeAspect="1" noMove="1" noResize="1" noEditPoints="1" noAdjustHandles="1" noChangeArrowheads="1" noChangeShapeType="1" noTextEdit="1"/>
              </p:cNvSpPr>
              <p:nvPr/>
            </p:nvSpPr>
            <p:spPr>
              <a:xfrm>
                <a:off x="1440180" y="2191293"/>
                <a:ext cx="10001250" cy="4049487"/>
              </a:xfrm>
              <a:prstGeom prst="rect">
                <a:avLst/>
              </a:prstGeom>
              <a:blipFill>
                <a:blip r:embed="rId4"/>
                <a:stretch>
                  <a:fillRect l="-1280" t="-1504"/>
                </a:stretch>
              </a:blipFill>
            </p:spPr>
            <p:txBody>
              <a:bodyPr/>
              <a:lstStyle/>
              <a:p>
                <a:r>
                  <a:rPr lang="en-US">
                    <a:noFill/>
                  </a:rPr>
                  <a:t> </a:t>
                </a:r>
              </a:p>
            </p:txBody>
          </p:sp>
        </mc:Fallback>
      </mc:AlternateContent>
    </p:spTree>
    <p:extLst>
      <p:ext uri="{BB962C8B-B14F-4D97-AF65-F5344CB8AC3E}">
        <p14:creationId xmlns:p14="http://schemas.microsoft.com/office/powerpoint/2010/main" val="24123217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It’s About Solutions, More or Less </a:t>
            </a:r>
            <a:r>
              <a:rPr lang="en-US" sz="2000" b="1" dirty="0">
                <a:solidFill>
                  <a:schemeClr val="bg1"/>
                </a:solidFill>
              </a:rPr>
              <a:t>(4 of 5)</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Can you use these same methods to solve problems involving linear inequalities?</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It’s About Solutions, More or Less </a:t>
            </a:r>
            <a:r>
              <a:rPr lang="en-US" sz="2000" b="1" dirty="0">
                <a:solidFill>
                  <a:schemeClr val="bg1"/>
                </a:solidFill>
              </a:rPr>
              <a:t>(5 of 5)</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97565"/>
            <a:ext cx="10514013" cy="397565"/>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2 Lesson 1</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1"/>
            <a:ext cx="10778490" cy="878582"/>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0" i="0" u="none" strike="noStrike" baseline="0" dirty="0">
                <a:solidFill>
                  <a:srgbClr val="000000"/>
                </a:solidFill>
              </a:rPr>
              <a:t>Determine an ordered pair that represents a solution to each equation.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B87999-7D76-C6B0-0290-6B58A66CEA99}"/>
                  </a:ext>
                </a:extLst>
              </p:cNvPr>
              <p:cNvSpPr txBox="1"/>
              <p:nvPr/>
            </p:nvSpPr>
            <p:spPr>
              <a:xfrm>
                <a:off x="797117" y="2270776"/>
                <a:ext cx="3288703" cy="523220"/>
              </a:xfrm>
              <a:prstGeom prst="rect">
                <a:avLst/>
              </a:prstGeom>
              <a:noFill/>
            </p:spPr>
            <p:txBody>
              <a:bodyPr wrap="square" rtlCol="0">
                <a:spAutoFit/>
              </a:bodyPr>
              <a:lstStyle/>
              <a:p>
                <a:pPr marL="517525" indent="-517525">
                  <a:buFont typeface="+mj-lt"/>
                  <a:buAutoNum type="arabicPeriod"/>
                </a:pPr>
                <a:r>
                  <a:rPr lang="es-ES" sz="2800" dirty="0">
                    <a:solidFill>
                      <a:srgbClr val="000000"/>
                    </a:solidFill>
                  </a:rPr>
                  <a:t> </a:t>
                </a:r>
                <a14:m>
                  <m:oMath xmlns:m="http://schemas.openxmlformats.org/officeDocument/2006/math">
                    <m:r>
                      <a:rPr lang="es-ES" sz="2800" i="1" dirty="0" smtClean="0">
                        <a:solidFill>
                          <a:srgbClr val="000000"/>
                        </a:solidFill>
                        <a:latin typeface="Cambria Math" panose="02040503050406030204" pitchFamily="18" charset="0"/>
                      </a:rPr>
                      <m:t>4</m:t>
                    </m:r>
                    <m:r>
                      <a:rPr lang="es-ES" sz="2800" i="1" dirty="0" smtClean="0">
                        <a:solidFill>
                          <a:srgbClr val="000000"/>
                        </a:solidFill>
                        <a:latin typeface="Cambria Math" panose="02040503050406030204" pitchFamily="18" charset="0"/>
                      </a:rPr>
                      <m:t>𝑥</m:t>
                    </m:r>
                    <m:r>
                      <a:rPr lang="es-ES" sz="2800" i="1" dirty="0" smtClean="0">
                        <a:solidFill>
                          <a:srgbClr val="000000"/>
                        </a:solidFill>
                        <a:latin typeface="Cambria Math" panose="02040503050406030204" pitchFamily="18" charset="0"/>
                      </a:rPr>
                      <m:t>+7</m:t>
                    </m:r>
                    <m:r>
                      <a:rPr lang="es-ES" sz="2800" i="1" dirty="0" smtClean="0">
                        <a:solidFill>
                          <a:srgbClr val="000000"/>
                        </a:solidFill>
                        <a:latin typeface="Cambria Math" panose="02040503050406030204" pitchFamily="18" charset="0"/>
                      </a:rPr>
                      <m:t>𝑦</m:t>
                    </m:r>
                    <m:r>
                      <a:rPr lang="es-ES" sz="2800" i="1" dirty="0" smtClean="0">
                        <a:solidFill>
                          <a:srgbClr val="000000"/>
                        </a:solidFill>
                        <a:latin typeface="Cambria Math" panose="02040503050406030204" pitchFamily="18" charset="0"/>
                      </a:rPr>
                      <m:t>=24</m:t>
                    </m:r>
                  </m:oMath>
                </a14:m>
                <a:endParaRPr lang="en-US" sz="2800" dirty="0">
                  <a:solidFill>
                    <a:srgbClr val="000000"/>
                  </a:solidFill>
                </a:endParaRPr>
              </a:p>
            </p:txBody>
          </p:sp>
        </mc:Choice>
        <mc:Fallback xmlns="">
          <p:sp>
            <p:nvSpPr>
              <p:cNvPr id="3" name="TextBox 2">
                <a:extLst>
                  <a:ext uri="{FF2B5EF4-FFF2-40B4-BE49-F238E27FC236}">
                    <a16:creationId xmlns:a16="http://schemas.microsoft.com/office/drawing/2014/main" id="{99B87999-7D76-C6B0-0290-6B58A66CEA99}"/>
                  </a:ext>
                </a:extLst>
              </p:cNvPr>
              <p:cNvSpPr txBox="1">
                <a:spLocks noRot="1" noChangeAspect="1" noMove="1" noResize="1" noEditPoints="1" noAdjustHandles="1" noChangeArrowheads="1" noChangeShapeType="1" noTextEdit="1"/>
              </p:cNvSpPr>
              <p:nvPr/>
            </p:nvSpPr>
            <p:spPr>
              <a:xfrm>
                <a:off x="797117" y="2270776"/>
                <a:ext cx="3288703" cy="523220"/>
              </a:xfrm>
              <a:prstGeom prst="rect">
                <a:avLst/>
              </a:prstGeom>
              <a:blipFill>
                <a:blip r:embed="rId3"/>
                <a:stretch>
                  <a:fillRect l="-3896" t="-12941"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17570B-9738-D907-2871-88C85DCD2595}"/>
                  </a:ext>
                </a:extLst>
              </p:cNvPr>
              <p:cNvSpPr txBox="1"/>
              <p:nvPr/>
            </p:nvSpPr>
            <p:spPr>
              <a:xfrm>
                <a:off x="4228409" y="2249517"/>
                <a:ext cx="3288703" cy="523220"/>
              </a:xfrm>
              <a:prstGeom prst="rect">
                <a:avLst/>
              </a:prstGeom>
              <a:noFill/>
            </p:spPr>
            <p:txBody>
              <a:bodyPr wrap="square" rtlCol="0">
                <a:spAutoFit/>
              </a:bodyPr>
              <a:lstStyle/>
              <a:p>
                <a:pPr marL="517525" indent="-517525">
                  <a:buFont typeface="+mj-lt"/>
                  <a:buAutoNum type="arabicPeriod" startAt="2"/>
                </a:pPr>
                <a:r>
                  <a:rPr lang="es-ES" sz="2800" dirty="0">
                    <a:solidFill>
                      <a:srgbClr val="000000"/>
                    </a:solidFill>
                  </a:rPr>
                  <a:t> </a:t>
                </a:r>
                <a14:m>
                  <m:oMath xmlns:m="http://schemas.openxmlformats.org/officeDocument/2006/math">
                    <m:r>
                      <a:rPr lang="es-ES" sz="2800" i="1" dirty="0" smtClean="0">
                        <a:solidFill>
                          <a:srgbClr val="000000"/>
                        </a:solidFill>
                        <a:latin typeface="Cambria Math" panose="02040503050406030204" pitchFamily="18" charset="0"/>
                      </a:rPr>
                      <m:t>5</m:t>
                    </m:r>
                    <m:r>
                      <a:rPr lang="es-E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s-ES" sz="2800" i="1" dirty="0" smtClean="0">
                        <a:solidFill>
                          <a:srgbClr val="000000"/>
                        </a:solidFill>
                        <a:latin typeface="Cambria Math" panose="02040503050406030204" pitchFamily="18" charset="0"/>
                      </a:rPr>
                      <m:t>–2</m:t>
                    </m:r>
                    <m:r>
                      <a:rPr lang="es-ES" sz="2800" i="1" dirty="0" smtClean="0">
                        <a:solidFill>
                          <a:srgbClr val="000000"/>
                        </a:solidFill>
                        <a:latin typeface="Cambria Math" panose="02040503050406030204" pitchFamily="18" charset="0"/>
                      </a:rPr>
                      <m:t>𝑦</m:t>
                    </m:r>
                    <m:r>
                      <a:rPr lang="es-ES" sz="2800" i="1" dirty="0" smtClean="0">
                        <a:solidFill>
                          <a:srgbClr val="000000"/>
                        </a:solidFill>
                        <a:latin typeface="Cambria Math" panose="02040503050406030204" pitchFamily="18" charset="0"/>
                      </a:rPr>
                      <m:t>= –6</m:t>
                    </m:r>
                  </m:oMath>
                </a14:m>
                <a:endParaRPr lang="en-US" sz="2800" dirty="0">
                  <a:solidFill>
                    <a:srgbClr val="000000"/>
                  </a:solidFill>
                </a:endParaRPr>
              </a:p>
            </p:txBody>
          </p:sp>
        </mc:Choice>
        <mc:Fallback xmlns="">
          <p:sp>
            <p:nvSpPr>
              <p:cNvPr id="6" name="TextBox 5">
                <a:extLst>
                  <a:ext uri="{FF2B5EF4-FFF2-40B4-BE49-F238E27FC236}">
                    <a16:creationId xmlns:a16="http://schemas.microsoft.com/office/drawing/2014/main" id="{7C17570B-9738-D907-2871-88C85DCD2595}"/>
                  </a:ext>
                </a:extLst>
              </p:cNvPr>
              <p:cNvSpPr txBox="1">
                <a:spLocks noRot="1" noChangeAspect="1" noMove="1" noResize="1" noEditPoints="1" noAdjustHandles="1" noChangeArrowheads="1" noChangeShapeType="1" noTextEdit="1"/>
              </p:cNvSpPr>
              <p:nvPr/>
            </p:nvSpPr>
            <p:spPr>
              <a:xfrm>
                <a:off x="4228409" y="2249517"/>
                <a:ext cx="3288703" cy="523220"/>
              </a:xfrm>
              <a:prstGeom prst="rect">
                <a:avLst/>
              </a:prstGeom>
              <a:blipFill>
                <a:blip r:embed="rId4"/>
                <a:stretch>
                  <a:fillRect l="-3896" t="-12791" b="-337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C2C7DF-46A4-977E-9CEE-5F516705A414}"/>
                  </a:ext>
                </a:extLst>
              </p:cNvPr>
              <p:cNvSpPr txBox="1"/>
              <p:nvPr/>
            </p:nvSpPr>
            <p:spPr>
              <a:xfrm>
                <a:off x="7636808" y="2160774"/>
                <a:ext cx="4341832" cy="700705"/>
              </a:xfrm>
              <a:prstGeom prst="rect">
                <a:avLst/>
              </a:prstGeom>
              <a:noFill/>
            </p:spPr>
            <p:txBody>
              <a:bodyPr wrap="square" rtlCol="0">
                <a:spAutoFit/>
              </a:bodyPr>
              <a:lstStyle/>
              <a:p>
                <a:pPr marL="517525" indent="-517525">
                  <a:buFont typeface="+mj-lt"/>
                  <a:buAutoNum type="arabicPeriod" startAt="3"/>
                </a:pPr>
                <a:r>
                  <a:rPr lang="es-ES" sz="2800" dirty="0">
                    <a:solidFill>
                      <a:srgbClr val="000000"/>
                    </a:solidFill>
                  </a:rPr>
                  <a:t> </a:t>
                </a:r>
                <a14:m>
                  <m:oMath xmlns:m="http://schemas.openxmlformats.org/officeDocument/2006/math">
                    <m:f>
                      <m:fPr>
                        <m:ctrlPr>
                          <a:rPr lang="es-E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1</m:t>
                        </m:r>
                      </m:num>
                      <m:den>
                        <m:r>
                          <a:rPr lang="en-US" sz="2800" b="0" i="1" dirty="0" smtClean="0">
                            <a:solidFill>
                              <a:srgbClr val="000000"/>
                            </a:solidFill>
                            <a:latin typeface="Cambria Math" panose="02040503050406030204" pitchFamily="18" charset="0"/>
                          </a:rPr>
                          <m:t>2</m:t>
                        </m:r>
                      </m:den>
                    </m:f>
                    <m:r>
                      <a:rPr lang="en-US" sz="2800" b="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f>
                      <m:fPr>
                        <m:ctrlPr>
                          <a:rPr lang="es-ES" sz="2800" i="1" dirty="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3</m:t>
                        </m:r>
                      </m:num>
                      <m:den>
                        <m:r>
                          <a:rPr lang="en-US" sz="2800" b="0" i="1" dirty="0" smtClean="0">
                            <a:solidFill>
                              <a:srgbClr val="000000"/>
                            </a:solidFill>
                            <a:latin typeface="Cambria Math" panose="02040503050406030204" pitchFamily="18" charset="0"/>
                          </a:rPr>
                          <m:t>4</m:t>
                        </m:r>
                      </m:den>
                    </m:f>
                    <m:r>
                      <a:rPr lang="en-US" sz="2800" b="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=10</m:t>
                    </m:r>
                  </m:oMath>
                </a14:m>
                <a:endParaRPr lang="en-US" sz="2800" dirty="0">
                  <a:solidFill>
                    <a:srgbClr val="000000"/>
                  </a:solidFill>
                </a:endParaRPr>
              </a:p>
            </p:txBody>
          </p:sp>
        </mc:Choice>
        <mc:Fallback xmlns="">
          <p:sp>
            <p:nvSpPr>
              <p:cNvPr id="5" name="TextBox 4">
                <a:extLst>
                  <a:ext uri="{FF2B5EF4-FFF2-40B4-BE49-F238E27FC236}">
                    <a16:creationId xmlns:a16="http://schemas.microsoft.com/office/drawing/2014/main" id="{4BC2C7DF-46A4-977E-9CEE-5F516705A414}"/>
                  </a:ext>
                </a:extLst>
              </p:cNvPr>
              <p:cNvSpPr txBox="1">
                <a:spLocks noRot="1" noChangeAspect="1" noMove="1" noResize="1" noEditPoints="1" noAdjustHandles="1" noChangeArrowheads="1" noChangeShapeType="1" noTextEdit="1"/>
              </p:cNvSpPr>
              <p:nvPr/>
            </p:nvSpPr>
            <p:spPr>
              <a:xfrm>
                <a:off x="7636808" y="2160774"/>
                <a:ext cx="4341832" cy="700705"/>
              </a:xfrm>
              <a:prstGeom prst="rect">
                <a:avLst/>
              </a:prstGeom>
              <a:blipFill>
                <a:blip r:embed="rId5"/>
                <a:stretch>
                  <a:fillRect l="-2949" b="-13043"/>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8A07FEF3-AD24-8808-C727-C4BBF4B260D0}"/>
              </a:ext>
              <a:ext uri="{C183D7F6-B498-43B3-948B-1728B52AA6E4}">
                <adec:decorative xmlns:adec="http://schemas.microsoft.com/office/drawing/2017/decorative" val="1"/>
              </a:ext>
            </a:extLst>
          </p:cNvPr>
          <p:cNvCxnSpPr>
            <a:cxnSpLocks/>
          </p:cNvCxnSpPr>
          <p:nvPr/>
        </p:nvCxnSpPr>
        <p:spPr>
          <a:xfrm>
            <a:off x="3942760" y="234547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3DB88EE0-9873-0CD8-C322-7686BA44E5B5}"/>
              </a:ext>
              <a:ext uri="{C183D7F6-B498-43B3-948B-1728B52AA6E4}">
                <adec:decorative xmlns:adec="http://schemas.microsoft.com/office/drawing/2017/decorative" val="1"/>
              </a:ext>
            </a:extLst>
          </p:cNvPr>
          <p:cNvCxnSpPr>
            <a:cxnSpLocks/>
          </p:cNvCxnSpPr>
          <p:nvPr/>
        </p:nvCxnSpPr>
        <p:spPr>
          <a:xfrm>
            <a:off x="7348900" y="234547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9278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78941"/>
            <a:ext cx="10514013" cy="378941"/>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L3_LessonSlides_ENG_2025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5aa991ed-cfdb-45f0-90fe-74f6c83d7f1e"/>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33e0dbe9-2ee3-4e40-8d2a-c14405aa398e"/>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9055</TotalTime>
  <Words>6080</Words>
  <Application>Microsoft Office PowerPoint</Application>
  <PresentationFormat>Custom</PresentationFormat>
  <Paragraphs>684</Paragraphs>
  <Slides>71</Slides>
  <Notes>71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71</vt:i4>
      </vt:variant>
    </vt:vector>
  </HeadingPairs>
  <TitlesOfParts>
    <vt:vector size="80" baseType="lpstr">
      <vt:lpstr>Arial</vt:lpstr>
      <vt:lpstr>Calibri</vt:lpstr>
      <vt:lpstr>Cambria Math</vt:lpstr>
      <vt:lpstr>Times New Roman</vt:lpstr>
      <vt:lpstr>Wingdings</vt:lpstr>
      <vt:lpstr>A1_green</vt:lpstr>
      <vt:lpstr>G7_navy</vt:lpstr>
      <vt:lpstr>G8_purple</vt:lpstr>
      <vt:lpstr>G6_teal</vt:lpstr>
      <vt:lpstr>Modeling Linear Inequalities</vt:lpstr>
      <vt:lpstr>Objectives</vt:lpstr>
      <vt:lpstr>Key Terms (1 of 2)</vt:lpstr>
      <vt:lpstr>Key Terms (2 of 2)</vt:lpstr>
      <vt:lpstr>Essential Question (1 of 3)</vt:lpstr>
      <vt:lpstr>Day 1</vt:lpstr>
      <vt:lpstr>Getting Started</vt:lpstr>
      <vt:lpstr>Fundraising Function (1 of 6)</vt:lpstr>
      <vt:lpstr>Fundraising Function (2 of 6)</vt:lpstr>
      <vt:lpstr>Fundraising Function (3 of 6)</vt:lpstr>
      <vt:lpstr>Fundraising Function (4 of 6)</vt:lpstr>
      <vt:lpstr>Fundraising Function (5 of 6)</vt:lpstr>
      <vt:lpstr>Fundraising Function (6 of 6)</vt:lpstr>
      <vt:lpstr>Activity 3.1</vt:lpstr>
      <vt:lpstr>Modeling Linear Inequalities (1 of 14)</vt:lpstr>
      <vt:lpstr>Modeling Linear Inequalities (2 of 14) </vt:lpstr>
      <vt:lpstr>Modeling Linear Inequalities (3 of 14) </vt:lpstr>
      <vt:lpstr>Modeling Linear Inequalities (4 of 14) </vt:lpstr>
      <vt:lpstr>Modeling Linear Inequalities (5 of 14) </vt:lpstr>
      <vt:lpstr>Modeling Linear Inequalities (6 of 14) </vt:lpstr>
      <vt:lpstr>Modeling Linear Inequalities (7 of 14) </vt:lpstr>
      <vt:lpstr>Modeling Linear Inequalities (8 of 14) </vt:lpstr>
      <vt:lpstr>Modeling Linear Inequalities (9 of 14) </vt:lpstr>
      <vt:lpstr>Modeling Linear Inequalities (10 of 14) </vt:lpstr>
      <vt:lpstr>Modeling Linear Inequalities (11 of 14) </vt:lpstr>
      <vt:lpstr>Modeling Linear Inequalities (12 of 14) </vt:lpstr>
      <vt:lpstr>Modeling Linear Inequalities (13 of 14) </vt:lpstr>
      <vt:lpstr>Modeling Linear Inequalities (14 of 14) </vt:lpstr>
      <vt:lpstr>Day 2</vt:lpstr>
      <vt:lpstr>Essential Question (2 of 3)</vt:lpstr>
      <vt:lpstr>Activity 3.2</vt:lpstr>
      <vt:lpstr>Solving Two-Step Linear Inequalities (1 of 8)</vt:lpstr>
      <vt:lpstr>Solving Two-Step Linear Inequalities (2 of 8) </vt:lpstr>
      <vt:lpstr>Solving Two-Step Linear Inequalities (3 of 8) </vt:lpstr>
      <vt:lpstr>Solving Two-Step Linear Inequalities (4 of 8) </vt:lpstr>
      <vt:lpstr>Solving Two-Step Linear Inequalities (5 of 8) </vt:lpstr>
      <vt:lpstr>Solving Two-Step Linear Inequalities (6 of 8) </vt:lpstr>
      <vt:lpstr>Solving Two-Step Linear Inequalities (7 of 8)</vt:lpstr>
      <vt:lpstr>Solving Two-Step Linear Inequalities (8 of 8)</vt:lpstr>
      <vt:lpstr>Activity 3.3</vt:lpstr>
      <vt:lpstr>Reversing Inequality Signs (1 of 9)</vt:lpstr>
      <vt:lpstr>Reversing Inequality Signs (2 of 9) </vt:lpstr>
      <vt:lpstr>Reversing Inequality Signs (3 of 9) </vt:lpstr>
      <vt:lpstr>Reversing Inequality Signs (4 of 9) </vt:lpstr>
      <vt:lpstr>Reversing Inequality Signs (5 of 9) </vt:lpstr>
      <vt:lpstr>Reversing Inequality Signs (6 of 9) </vt:lpstr>
      <vt:lpstr>Reversing Inequality Signs (7 of 9) </vt:lpstr>
      <vt:lpstr>Reversing Inequality Signs (8 of 9)</vt:lpstr>
      <vt:lpstr>Reversing Inequality Signs (9 of 9)</vt:lpstr>
      <vt:lpstr>Day 3</vt:lpstr>
      <vt:lpstr>Essential Question (3 of 3)</vt:lpstr>
      <vt:lpstr>Activity 3.4</vt:lpstr>
      <vt:lpstr>Solving Other Linear Inequalities (1 of 9)</vt:lpstr>
      <vt:lpstr>Solving Other Linear Inequalities (2 of 9)</vt:lpstr>
      <vt:lpstr>Solving Other Linear Inequalities (3 of 9) </vt:lpstr>
      <vt:lpstr>Solving Other Linear Inequalities (4 of 9) </vt:lpstr>
      <vt:lpstr>Solving Other Linear Inequalities (5 of 9) </vt:lpstr>
      <vt:lpstr>Solving Other Linear Inequalities (6 of 9) </vt:lpstr>
      <vt:lpstr>Solving Other Linear Inequalities (7 of 9) </vt:lpstr>
      <vt:lpstr>Solving Other Linear Inequalities (8 of 9)</vt:lpstr>
      <vt:lpstr>Solving Other Linear Inequalities (9 of 9)</vt:lpstr>
      <vt:lpstr>Talk the Talk</vt:lpstr>
      <vt:lpstr>It’s About Solutions, More or Less (1 of 5) </vt:lpstr>
      <vt:lpstr>It’s About Solutions, More or Less (2 of 5) </vt:lpstr>
      <vt:lpstr>It’s About Solutions, More or Less (3 of 5) </vt:lpstr>
      <vt:lpstr>It’s About Solutions, More or Less (4 of 5)</vt:lpstr>
      <vt:lpstr>It’s About Solutions, More or Less (5 of 5)</vt:lpstr>
      <vt:lpstr>Prepare</vt:lpstr>
      <vt:lpstr>Prepare for Module 3 Topic 2 Lesson 1</vt:lpstr>
      <vt:lpstr>Acknowledgment and Notice</vt:lpstr>
      <vt:lpstr>BLMathematics_AlgI_M3_T1_L3_LessonSlides_ENG_2025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514</cp:revision>
  <dcterms:created xsi:type="dcterms:W3CDTF">2024-02-22T09:58:00Z</dcterms:created>
  <dcterms:modified xsi:type="dcterms:W3CDTF">2025-07-29T21:14:28Z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